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7" r:id="rId2"/>
    <p:sldId id="259" r:id="rId3"/>
    <p:sldId id="375" r:id="rId4"/>
    <p:sldId id="376" r:id="rId5"/>
    <p:sldId id="346" r:id="rId6"/>
    <p:sldId id="377" r:id="rId7"/>
    <p:sldId id="378" r:id="rId8"/>
    <p:sldId id="379" r:id="rId9"/>
    <p:sldId id="380" r:id="rId10"/>
    <p:sldId id="354" r:id="rId11"/>
    <p:sldId id="355" r:id="rId12"/>
    <p:sldId id="356" r:id="rId13"/>
    <p:sldId id="357" r:id="rId14"/>
    <p:sldId id="352" r:id="rId15"/>
    <p:sldId id="358" r:id="rId16"/>
    <p:sldId id="368" r:id="rId17"/>
    <p:sldId id="370" r:id="rId18"/>
    <p:sldId id="371" r:id="rId19"/>
    <p:sldId id="381" r:id="rId20"/>
    <p:sldId id="382" r:id="rId21"/>
    <p:sldId id="37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414D0-E184-4AA4-BD5F-8D40B1B86E72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60257-6251-402E-8D84-8BDE2E36C3F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457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B36274-F2B9-4C45-BBB4-0EDF4CD651A7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565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-223838" y="808038"/>
            <a:ext cx="7185026" cy="404177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3788" y="5118725"/>
            <a:ext cx="5390305" cy="48493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9524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01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43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889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92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9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C798-688E-454D-83B9-3FF834D4A7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45FF8-8614-4885-A146-95D334DA5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D513F-D6D3-4BAD-96C2-9255F2092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DAC39-D7D0-42D3-94E8-D10C55EEA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E9C86-66A7-4633-8370-51A03A44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978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2A252-1A20-4026-B079-3083EC9A0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3EB7-92CC-4F8E-A133-8BEBA323D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9D077-12B7-4EB2-90F9-B023B1449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E18D0-7594-4EC5-ACC4-349F1490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7DD18-E9B9-46D6-8E3B-519A19D67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3142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E15A4-9820-4D47-9B5F-C19A04CE2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8CD93-0769-43D5-B18F-07DE07E27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6005A-3091-4BD9-A7CE-53C2EE54C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9057E-7DCD-46F8-8E0D-97706E0DB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F9A70-D014-40FE-986A-D47AE149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83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55EE7-46E0-4CA6-9CCD-3DA388317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DF1E0-4F99-4900-B7CD-79F7C0D50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74CD9C-826C-47D8-9030-665B8A9A2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6D55C6-FCC6-4514-BAB0-90F47F9A3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4C383-EBF4-4907-9A48-C51D042C2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513CD-C999-402D-8FD6-053D2BD5A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607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463F-B0FD-461B-9E67-6A6A14BEC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F7172-5F61-4567-BE06-FEEE4DDA2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88A2A-A08E-4C21-ADED-3D3A03A0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7CBD3E-0E8E-43B0-BC00-7CF41B418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3D402-1644-4248-A592-381B96E656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33B842-5120-4F2C-85A2-27D5AB760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52EACB-7BBF-4590-9E5B-3D4D353C3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B90EC6-3654-4306-8455-C4B23AAAA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194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0EA5B-D5F9-4539-829E-0AC950E72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BC556A-8409-4098-A6B6-A4DC43599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17F82-A088-4473-A9A4-61F933EC5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35B09-E35E-460B-88F5-0ACC76C8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722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561042-5F58-44D9-ABA4-4EB822CB6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81168-7319-466D-BACE-50BB7FBD0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3C1C4-5DD7-415F-B986-9E5607EE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750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8DA2-EAE3-4A4E-8079-E56D37AAC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F9DFC-0B68-49A8-AC31-17D03FFA2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1A037-63DC-4D64-8A70-F4280DC72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3785A-45D6-47B7-9C3D-3299DB3FE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8BD5C-5200-4400-844B-50CD39AB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D7946-0A09-41E5-90FC-35BC3E5E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8478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8C9B7-4572-4799-960C-64A7D19E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032BC6-CF99-4F97-9C0C-B786177F87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7863D-18A5-4CBA-8D8F-67BBF5E8C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4C808-C762-43DE-B7FB-71437F79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6CFE-B87C-4FC6-80A8-DA75EC5C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4D908-D3B1-4182-8A01-72849497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98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F8218-0194-47F6-B656-3D8284CFB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C202D-A36A-41B2-9547-9E8A6A19A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7E352-D650-4AA8-A8AE-11BEB3947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DC07-F79C-4D25-A49C-48F78ED91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281CE-784B-4106-B470-7A788E4DE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046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99A5B6-176E-4295-8BE8-EE6D91C2E7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7C012-039E-4280-9B95-C774EFEDF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70325-2FDB-40A1-BB39-032EB1C04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01A8-F94F-46CE-8735-AEF580429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A04A4-509A-46C8-948E-0DCDE9AF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4275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8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8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402" lvl="0" indent="-473979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1pPr>
            <a:lvl2pPr marL="1218804" lvl="1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2pPr>
            <a:lvl3pPr marL="1828205" lvl="2" indent="-473979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6"/>
            </a:lvl3pPr>
            <a:lvl4pPr marL="2437607" lvl="3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4pPr>
            <a:lvl5pPr marL="3047010" lvl="4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5pPr>
            <a:lvl6pPr marL="3656412" lvl="5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6pPr>
            <a:lvl7pPr marL="4265813" lvl="6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7pPr>
            <a:lvl8pPr marL="4875215" lvl="7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8pPr>
            <a:lvl9pPr marL="5484617" lvl="8" indent="-473979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6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1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41592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D1A8A-7BCD-4F2C-8DE1-62FAD6A09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3CEEE-3F18-4A30-9316-2E40CCFD3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50F94-F118-4CA0-817B-3D19839F9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9F221-BC55-4752-83DD-C00D00CFF8B8}" type="datetimeFigureOut">
              <a:rPr lang="en-AU" smtClean="0"/>
              <a:t>8/08/2019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33B04-A660-4E3B-92B2-3A16C8F60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C3B12-37CD-4E62-9AF3-B86D6E7CF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19519D-6239-45AD-BEF7-44F2922E829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5671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1384" y="1412776"/>
            <a:ext cx="10883878" cy="1231776"/>
          </a:xfrm>
        </p:spPr>
        <p:txBody>
          <a:bodyPr>
            <a:normAutofit/>
          </a:bodyPr>
          <a:lstStyle/>
          <a:p>
            <a:r>
              <a:rPr lang="en-US" sz="5400" dirty="0"/>
              <a:t>Topic: </a:t>
            </a:r>
            <a:r>
              <a:rPr lang="en-US" sz="4800" dirty="0"/>
              <a:t>Measurement</a:t>
            </a:r>
            <a:endParaRPr lang="en-US" sz="5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1385" y="2688591"/>
            <a:ext cx="10883877" cy="101315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  <a:p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EF5F4-53BC-434F-A186-CAED1579F0B5}"/>
              </a:ext>
            </a:extLst>
          </p:cNvPr>
          <p:cNvSpPr txBox="1"/>
          <p:nvPr/>
        </p:nvSpPr>
        <p:spPr>
          <a:xfrm>
            <a:off x="2388111" y="3434705"/>
            <a:ext cx="7210425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/>
              <a:t>GET ORGANISED for the new unit</a:t>
            </a:r>
          </a:p>
          <a:p>
            <a:r>
              <a:rPr lang="en-US" dirty="0"/>
              <a:t>Use the next 3 pages to fold and glue a folder for your worksheets</a:t>
            </a:r>
          </a:p>
          <a:p>
            <a:pPr fontAlgn="ctr"/>
            <a:r>
              <a:rPr lang="en-AU" dirty="0"/>
              <a:t>Unit Cover page- Measurement and </a:t>
            </a:r>
            <a:r>
              <a:rPr lang="en-AU" b="1" dirty="0"/>
              <a:t>glue in the learning goals</a:t>
            </a:r>
          </a:p>
          <a:p>
            <a:pPr fontAlgn="ctr"/>
            <a:r>
              <a:rPr lang="en-AU" dirty="0"/>
              <a:t>Write these page numbers in your contents page</a:t>
            </a:r>
          </a:p>
        </p:txBody>
      </p:sp>
    </p:spTree>
    <p:extLst>
      <p:ext uri="{BB962C8B-B14F-4D97-AF65-F5344CB8AC3E}">
        <p14:creationId xmlns:p14="http://schemas.microsoft.com/office/powerpoint/2010/main" val="368246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209" y="298357"/>
            <a:ext cx="8608358" cy="1292691"/>
          </a:xfrm>
        </p:spPr>
        <p:txBody>
          <a:bodyPr>
            <a:normAutofit/>
          </a:bodyPr>
          <a:lstStyle/>
          <a:p>
            <a:r>
              <a:rPr lang="en-US" sz="5398" b="1" dirty="0">
                <a:solidFill>
                  <a:schemeClr val="accent2">
                    <a:lumMod val="50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7209" y="2194883"/>
            <a:ext cx="10817582" cy="4023077"/>
          </a:xfrm>
          <a:prstGeom prst="rect">
            <a:avLst/>
          </a:prstGeom>
        </p:spPr>
        <p:txBody>
          <a:bodyPr spcFirstLastPara="1" vert="horz" wrap="square" lIns="91401" tIns="91401" rIns="91401" bIns="91401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399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571500" indent="-571500">
              <a:buFontTx/>
              <a:buChar char="-"/>
            </a:pPr>
            <a:r>
              <a:rPr lang="en-AU" sz="4000" dirty="0">
                <a:latin typeface="Kiwi School Handwriting" panose="00000500000000000000" pitchFamily="2" charset="0"/>
              </a:rPr>
              <a:t>- </a:t>
            </a:r>
            <a:r>
              <a:rPr lang="en-AU" dirty="0"/>
              <a:t>Calculate the surface area of cylinders from a given diagram.</a:t>
            </a:r>
          </a:p>
          <a:p>
            <a:pPr marL="571500" indent="-571500">
              <a:buFontTx/>
              <a:buChar char="-"/>
            </a:pPr>
            <a:r>
              <a:rPr lang="en-AU" dirty="0"/>
              <a:t>- Interpret a familiar worded question to draw a diagram, and calculate the surface area of cylinders. </a:t>
            </a:r>
          </a:p>
          <a:p>
            <a:pPr marL="571500" indent="-571500">
              <a:buFontTx/>
              <a:buChar char="-"/>
            </a:pPr>
            <a:r>
              <a:rPr lang="en-AU" dirty="0"/>
              <a:t> </a:t>
            </a:r>
            <a:endParaRPr lang="en-AU" sz="4000" dirty="0">
              <a:solidFill>
                <a:srgbClr val="FF0000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C209AE-6519-4C6E-82C4-7B303517FFB2}"/>
              </a:ext>
            </a:extLst>
          </p:cNvPr>
          <p:cNvSpPr txBox="1"/>
          <p:nvPr/>
        </p:nvSpPr>
        <p:spPr>
          <a:xfrm>
            <a:off x="1316405" y="743049"/>
            <a:ext cx="10675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Starter </a:t>
            </a:r>
            <a:r>
              <a:rPr lang="mr-IN" sz="3600" b="1" dirty="0">
                <a:solidFill>
                  <a:schemeClr val="tx2"/>
                </a:solidFill>
              </a:rPr>
              <a:t>–</a:t>
            </a:r>
            <a:r>
              <a:rPr lang="en-US" sz="3600" b="1" dirty="0">
                <a:solidFill>
                  <a:schemeClr val="tx2"/>
                </a:solidFill>
              </a:rPr>
              <a:t> Daily 4 a bit shorter to start the new unit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59EF4-0D49-4A39-9DE6-9D1D351C4228}"/>
              </a:ext>
            </a:extLst>
          </p:cNvPr>
          <p:cNvSpPr txBox="1"/>
          <p:nvPr/>
        </p:nvSpPr>
        <p:spPr>
          <a:xfrm>
            <a:off x="652811" y="1304985"/>
            <a:ext cx="112292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/>
              <a:t>1. Find the middle score of the following data set.  </a:t>
            </a:r>
          </a:p>
          <a:p>
            <a:endParaRPr lang="en-US" sz="2400" dirty="0"/>
          </a:p>
          <a:p>
            <a:pPr marL="457200" indent="-457200">
              <a:buAutoNum type="arabicPeriod"/>
            </a:pPr>
            <a:endParaRPr lang="en-US" sz="2400" dirty="0"/>
          </a:p>
          <a:p>
            <a:r>
              <a:rPr lang="en-AU" sz="2400" dirty="0"/>
              <a:t>2. </a:t>
            </a:r>
            <a:r>
              <a:rPr lang="en-US" sz="2400" dirty="0"/>
              <a:t>Which is the best buy: a 2-L bottle of soft drink for $5.30 or a 1.25-L bottle for $3.25?</a:t>
            </a:r>
          </a:p>
          <a:p>
            <a:endParaRPr lang="en-US" sz="2400" dirty="0"/>
          </a:p>
          <a:p>
            <a:r>
              <a:rPr lang="en-US" sz="2400" dirty="0"/>
              <a:t>3. Describe the steps involved in finding the surface area of a 3D shape.</a:t>
            </a:r>
          </a:p>
          <a:p>
            <a:endParaRPr lang="en-US" sz="2400" dirty="0"/>
          </a:p>
          <a:p>
            <a:r>
              <a:rPr lang="en-US" sz="2400" dirty="0"/>
              <a:t>4. Recall and construct a general method for finding the surface area of a 3D shape.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20D660-2E57-4C03-8D66-470A8CFEE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737" y="1557337"/>
            <a:ext cx="313372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02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2429805-A4DF-4BC8-95E7-98F5A6F140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04269"/>
              </p:ext>
            </p:extLst>
          </p:nvPr>
        </p:nvGraphicFramePr>
        <p:xfrm>
          <a:off x="2990850" y="666750"/>
          <a:ext cx="6991351" cy="51281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3108">
                  <a:extLst>
                    <a:ext uri="{9D8B030D-6E8A-4147-A177-3AD203B41FA5}">
                      <a16:colId xmlns:a16="http://schemas.microsoft.com/office/drawing/2014/main" val="2007755918"/>
                    </a:ext>
                  </a:extLst>
                </a:gridCol>
                <a:gridCol w="1448518">
                  <a:extLst>
                    <a:ext uri="{9D8B030D-6E8A-4147-A177-3AD203B41FA5}">
                      <a16:colId xmlns:a16="http://schemas.microsoft.com/office/drawing/2014/main" val="1318177901"/>
                    </a:ext>
                  </a:extLst>
                </a:gridCol>
                <a:gridCol w="1439989">
                  <a:extLst>
                    <a:ext uri="{9D8B030D-6E8A-4147-A177-3AD203B41FA5}">
                      <a16:colId xmlns:a16="http://schemas.microsoft.com/office/drawing/2014/main" val="3604349058"/>
                    </a:ext>
                  </a:extLst>
                </a:gridCol>
                <a:gridCol w="1416726">
                  <a:extLst>
                    <a:ext uri="{9D8B030D-6E8A-4147-A177-3AD203B41FA5}">
                      <a16:colId xmlns:a16="http://schemas.microsoft.com/office/drawing/2014/main" val="3484436595"/>
                    </a:ext>
                  </a:extLst>
                </a:gridCol>
                <a:gridCol w="1433010">
                  <a:extLst>
                    <a:ext uri="{9D8B030D-6E8A-4147-A177-3AD203B41FA5}">
                      <a16:colId xmlns:a16="http://schemas.microsoft.com/office/drawing/2014/main" val="1705968769"/>
                    </a:ext>
                  </a:extLst>
                </a:gridCol>
              </a:tblGrid>
              <a:tr h="31191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effectLst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400">
                          <a:effectLst/>
                        </a:rPr>
                        <a:t>Goal-setting for Year 9 Measurement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107648"/>
                  </a:ext>
                </a:extLst>
              </a:tr>
              <a:tr h="22277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effectLst/>
                        </a:rPr>
                        <a:t>Week/s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effectLst/>
                        </a:rPr>
                        <a:t>A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effectLst/>
                        </a:rPr>
                        <a:t>B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effectLst/>
                        </a:rPr>
                        <a:t>C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000">
                          <a:effectLst/>
                        </a:rPr>
                        <a:t>D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8660618"/>
                  </a:ext>
                </a:extLst>
              </a:tr>
              <a:tr h="22967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4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Solves complex word problems involving surface area of cylinders and solid sectors, including inverse calculations.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Interprets a familiar worded question to draw a diagram, and calculate the surface area of cylinders and solid sectors. 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Calculates the surface area of cylinders and solid sectors from a given diagram. 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</a:rPr>
                        <a:t>Incorrectly uses formula to perform calculation of surface area of cylinders and solid sectors. 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4236078"/>
                  </a:ext>
                </a:extLst>
              </a:tr>
              <a:tr h="229670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5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Solves complex word problems involving volume of cylinders and solid sectors, including inverse calculations.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Interprets a familiar worded question to draw a diagram, and calculate the volume of cylinders and solid sectors.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 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>
                          <a:effectLst/>
                        </a:rPr>
                        <a:t>Calculates the volume of cylinders and solid sectors from a given diagram.</a:t>
                      </a:r>
                      <a:endParaRPr lang="en-A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AU" sz="1100" dirty="0">
                          <a:effectLst/>
                        </a:rPr>
                        <a:t>Incorrectly uses formula to perform calculation of volume of cylinders and solid sectors.</a:t>
                      </a:r>
                      <a:endParaRPr lang="en-A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8754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544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EC66E-C80E-4B8F-83BB-5793126D9FC6}"/>
              </a:ext>
            </a:extLst>
          </p:cNvPr>
          <p:cNvSpPr txBox="1"/>
          <p:nvPr/>
        </p:nvSpPr>
        <p:spPr>
          <a:xfrm>
            <a:off x="2533650" y="1577012"/>
            <a:ext cx="9111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your answer to Q4 on the previous slide consider </a:t>
            </a:r>
            <a:r>
              <a:rPr lang="en-AU" dirty="0"/>
              <a:t>what  shapes are required to make a cylinder?</a:t>
            </a:r>
            <a:r>
              <a:rPr lang="en-US" dirty="0"/>
              <a:t> Write a response.</a:t>
            </a:r>
            <a:endParaRPr lang="en-AU" dirty="0"/>
          </a:p>
        </p:txBody>
      </p:sp>
      <p:sp>
        <p:nvSpPr>
          <p:cNvPr id="13" name="Flowchart: Direct Access Storage 12">
            <a:extLst>
              <a:ext uri="{FF2B5EF4-FFF2-40B4-BE49-F238E27FC236}">
                <a16:creationId xmlns:a16="http://schemas.microsoft.com/office/drawing/2014/main" id="{0838D08B-5F6F-4731-A5AB-AD56F42DEB32}"/>
              </a:ext>
            </a:extLst>
          </p:cNvPr>
          <p:cNvSpPr/>
          <p:nvPr/>
        </p:nvSpPr>
        <p:spPr>
          <a:xfrm rot="16200000">
            <a:off x="4223792" y="2852936"/>
            <a:ext cx="3456384" cy="2304256"/>
          </a:xfrm>
          <a:prstGeom prst="flowChartMagneticDrum">
            <a:avLst/>
          </a:prstGeom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376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4D549E0-BD75-46EF-9A76-F210CC370667}"/>
              </a:ext>
            </a:extLst>
          </p:cNvPr>
          <p:cNvSpPr/>
          <p:nvPr/>
        </p:nvSpPr>
        <p:spPr>
          <a:xfrm>
            <a:off x="0" y="1598962"/>
            <a:ext cx="16668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What does the net of a cylinder look like?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8CFD6F-3D73-434C-A59B-5745C48ED557}"/>
              </a:ext>
            </a:extLst>
          </p:cNvPr>
          <p:cNvSpPr txBox="1"/>
          <p:nvPr/>
        </p:nvSpPr>
        <p:spPr>
          <a:xfrm>
            <a:off x="2959779" y="1642803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8A3C19-E8FB-4269-AB70-C7DF4D1CED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888" y="2875320"/>
            <a:ext cx="5238750" cy="3190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F09EEF-597F-44FD-A4C5-574D9C2C7261}"/>
              </a:ext>
            </a:extLst>
          </p:cNvPr>
          <p:cNvSpPr txBox="1"/>
          <p:nvPr/>
        </p:nvSpPr>
        <p:spPr>
          <a:xfrm>
            <a:off x="9486900" y="2562225"/>
            <a:ext cx="1514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Look at the h and the r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3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04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005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706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309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997598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621557"/>
            <a:ext cx="1209675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5775" y="18536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58566" y="1621557"/>
            <a:ext cx="0" cy="514119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34666" y="35508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334" y="1081457"/>
            <a:ext cx="89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366791" y="361717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Oval 4"/>
          <p:cNvSpPr/>
          <p:nvPr/>
        </p:nvSpPr>
        <p:spPr>
          <a:xfrm>
            <a:off x="7790254" y="284937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928260" y="512630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456229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27639" y="4288450"/>
                <a:ext cx="977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𝐴𝑟𝑒𝑎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39" y="4288450"/>
                <a:ext cx="97738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735961" y="3233272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735960" y="4657783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700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980728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 flipV="1">
            <a:off x="0" y="1631081"/>
            <a:ext cx="12192000" cy="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4901" y="3533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15716" y="1631082"/>
            <a:ext cx="0" cy="521365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69969" y="480625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1085286"/>
            <a:ext cx="1103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366791" y="361717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7790254" y="284937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928260" y="512630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6096000" y="1808762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𝐴𝑟𝑒𝑎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l-GR" i="1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>
            <a:cxnSpLocks/>
          </p:cNvCxnSpPr>
          <p:nvPr/>
        </p:nvCxnSpPr>
        <p:spPr>
          <a:xfrm flipV="1">
            <a:off x="5735961" y="3233272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5735960" y="4657783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514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980729"/>
            <a:ext cx="12192000" cy="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73355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74471" y="18385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193535" y="1732166"/>
            <a:ext cx="0" cy="511256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50535" y="373487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7658" y="1064757"/>
            <a:ext cx="9938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366791" y="361717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7790254" y="284937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928260" y="512630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456229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𝐴𝑟𝑒𝑎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l-GR" i="1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735961" y="3233272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735960" y="4657783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754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192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993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963891"/>
            <a:ext cx="12192000" cy="1683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619250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01709" y="140866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06191" y="1632516"/>
            <a:ext cx="0" cy="5225484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9482" y="321546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596" y="1121298"/>
            <a:ext cx="91257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366791" y="361717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7790254" y="284937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928260" y="512630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456229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𝐴𝑟𝑒𝑎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l-GR" i="1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735961" y="3233272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735960" y="4657783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754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192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709659" y="5427551"/>
            <a:ext cx="2772682" cy="64633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/>
              <a:t>TSA = 2 circles + 1 rectangle</a:t>
            </a:r>
          </a:p>
          <a:p>
            <a:r>
              <a:rPr lang="en-AU" dirty="0"/>
              <a:t>        =  </a:t>
            </a:r>
            <a:r>
              <a:rPr lang="en-AU" dirty="0">
                <a:highlight>
                  <a:srgbClr val="FFFF00"/>
                </a:highlight>
              </a:rPr>
              <a:t>?????????</a:t>
            </a:r>
          </a:p>
        </p:txBody>
      </p:sp>
    </p:spTree>
    <p:extLst>
      <p:ext uri="{BB962C8B-B14F-4D97-AF65-F5344CB8AC3E}">
        <p14:creationId xmlns:p14="http://schemas.microsoft.com/office/powerpoint/2010/main" val="9127391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/>
              <a:t>How do we find the SA of a Cylinder?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1704" y="1417638"/>
            <a:ext cx="5196408" cy="519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222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0" y="980729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526422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7796" y="13398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172866" y="1526422"/>
            <a:ext cx="0" cy="533157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83860" y="306903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309" y="1027417"/>
            <a:ext cx="963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366791" y="361717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7790254" y="284937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928260" y="512630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748925" y="1712186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𝐴𝑟𝑒𝑎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l-GR" i="1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735961" y="3233272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735960" y="4657783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754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192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709659" y="5427550"/>
                <a:ext cx="2772682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2 circles + 1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>
                        <a:highlight>
                          <a:srgbClr val="FFFF00"/>
                        </a:highlight>
                        <a:latin typeface="Cambria Math"/>
                      </a:rPr>
                      <m:t>2</m:t>
                    </m:r>
                    <m:r>
                      <a:rPr lang="el-GR" i="1">
                        <a:highlight>
                          <a:srgbClr val="FFFF00"/>
                        </a:highlight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highlight>
                              <a:srgbClr val="FFFF00"/>
                            </a:highlight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highlight>
                              <a:srgbClr val="FFFF00"/>
                            </a:highlight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highlight>
                          <a:srgbClr val="FFFF00"/>
                        </a:highlight>
                        <a:latin typeface="Cambria Math"/>
                      </a:rPr>
                      <m:t>+2</m:t>
                    </m:r>
                    <m:r>
                      <a:rPr lang="en-AU" i="1">
                        <a:highlight>
                          <a:srgbClr val="FFFF00"/>
                        </a:highlight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highlight>
                          <a:srgbClr val="FFFF00"/>
                        </a:highlight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>
                  <a:highlight>
                    <a:srgbClr val="FFFF00"/>
                  </a:highlight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9659" y="5427550"/>
                <a:ext cx="2772682" cy="923330"/>
              </a:xfrm>
              <a:prstGeom prst="rect">
                <a:avLst/>
              </a:prstGeom>
              <a:blipFill>
                <a:blip r:embed="rId5"/>
                <a:stretch>
                  <a:fillRect l="-1754" t="-2597" r="-1316" b="-8442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6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8"/>
            <a:ext cx="12192000" cy="1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688232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41096" y="219998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91966" y="1688232"/>
            <a:ext cx="0" cy="511256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07111" y="396144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832" y="1036581"/>
            <a:ext cx="89715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h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41" y="4199833"/>
                <a:ext cx="366913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7366791" y="3617175"/>
            <a:ext cx="2664296" cy="151889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/>
          <p:cNvSpPr/>
          <p:nvPr/>
        </p:nvSpPr>
        <p:spPr>
          <a:xfrm>
            <a:off x="7790254" y="2849370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928260" y="5126304"/>
            <a:ext cx="761227" cy="76780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extBox 7"/>
          <p:cNvSpPr txBox="1"/>
          <p:nvPr/>
        </p:nvSpPr>
        <p:spPr>
          <a:xfrm>
            <a:off x="4456229" y="2103868"/>
            <a:ext cx="5574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The cylinder is formed from two circles and one rectangle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</a:rPr>
                        <m:t>𝐴𝑟𝑒𝑎</m:t>
                      </m:r>
                      <m:r>
                        <a:rPr lang="en-AU" i="1">
                          <a:latin typeface="Cambria Math"/>
                        </a:rPr>
                        <m:t>=</m:t>
                      </m:r>
                      <m:r>
                        <a:rPr lang="el-GR" i="1">
                          <a:latin typeface="Cambria Math"/>
                        </a:rPr>
                        <m:t>𝜋</m:t>
                      </m:r>
                      <m:sSup>
                        <m:sSupPr>
                          <m:ctrlPr>
                            <a:rPr lang="en-A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i="1">
                              <a:latin typeface="Cambria Math"/>
                            </a:rPr>
                            <m:t>𝑟</m:t>
                          </m:r>
                        </m:e>
                        <m:sup>
                          <m:r>
                            <a:rPr lang="en-AU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640" y="4288450"/>
                <a:ext cx="141032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5735961" y="3233272"/>
            <a:ext cx="2192299" cy="105517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735960" y="4657783"/>
            <a:ext cx="2434906" cy="8524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𝑟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7045" y="3598949"/>
                <a:ext cx="6161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5754432" y="2452246"/>
            <a:ext cx="4518032" cy="369332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r>
              <a:rPr lang="en-AU" dirty="0"/>
              <a:t>Same length as the circumference of the circle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9192344" y="2849369"/>
            <a:ext cx="72008" cy="749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4456229" y="5832422"/>
                <a:ext cx="4348819" cy="923330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area of</a:t>
                </a:r>
                <a:r>
                  <a:rPr lang="en-AU" dirty="0">
                    <a:solidFill>
                      <a:schemeClr val="accent4">
                        <a:lumMod val="75000"/>
                      </a:schemeClr>
                    </a:solidFill>
                  </a:rPr>
                  <a:t> 2 x </a:t>
                </a:r>
                <a:r>
                  <a:rPr lang="en-AU" dirty="0">
                    <a:solidFill>
                      <a:srgbClr val="FF0000"/>
                    </a:solidFill>
                  </a:rPr>
                  <a:t>circles </a:t>
                </a:r>
                <a:r>
                  <a:rPr lang="en-AU" dirty="0"/>
                  <a:t>+ area of </a:t>
                </a:r>
                <a:r>
                  <a:rPr lang="en-AU" dirty="0">
                    <a:solidFill>
                      <a:schemeClr val="accent5">
                        <a:lumMod val="75000"/>
                      </a:schemeClr>
                    </a:solidFill>
                  </a:rPr>
                  <a:t>1 rectangle</a:t>
                </a: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l-GR" i="1">
                        <a:solidFill>
                          <a:srgbClr val="FF0000"/>
                        </a:solidFill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𝑟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h</m:t>
                    </m:r>
                  </m:oMath>
                </a14:m>
                <a:endParaRPr lang="en-AU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en-AU" dirty="0"/>
                  <a:t>        = </a:t>
                </a:r>
                <a14:m>
                  <m:oMath xmlns:m="http://schemas.openxmlformats.org/officeDocument/2006/math">
                    <m:r>
                      <a:rPr lang="en-AU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l-GR" i="1">
                        <a:solidFill>
                          <a:srgbClr val="FF0000"/>
                        </a:solidFill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</a:rPr>
                      <m:t>2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>
                  <a:solidFill>
                    <a:schemeClr val="accent5">
                      <a:lumMod val="7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6229" y="5832422"/>
                <a:ext cx="4348819" cy="923330"/>
              </a:xfrm>
              <a:prstGeom prst="rect">
                <a:avLst/>
              </a:prstGeom>
              <a:blipFill>
                <a:blip r:embed="rId5"/>
                <a:stretch>
                  <a:fillRect l="-979" t="-3268" r="-559" b="-9150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20264" y="2128261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What is the net made up of?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698" y="5210153"/>
            <a:ext cx="252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tx2"/>
                </a:solidFill>
              </a:rPr>
              <a:t>How do I find the Surface Area?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8593" y="3042904"/>
            <a:ext cx="3346307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We only need the radius and the height to calculate the SA of a cylinder</a:t>
            </a:r>
          </a:p>
        </p:txBody>
      </p:sp>
    </p:spTree>
    <p:extLst>
      <p:ext uri="{BB962C8B-B14F-4D97-AF65-F5344CB8AC3E}">
        <p14:creationId xmlns:p14="http://schemas.microsoft.com/office/powerpoint/2010/main" val="2578431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19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 flipV="1">
            <a:off x="0" y="980729"/>
            <a:ext cx="12192000" cy="49549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0" y="1612032"/>
            <a:ext cx="12192000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979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417571" y="1600538"/>
            <a:ext cx="0" cy="525746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22381" y="444687"/>
            <a:ext cx="2799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Measurement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442" y="1115183"/>
            <a:ext cx="9628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EQ: How do I use formulas to calculate the surface area of cylinders?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3393674" y="1938705"/>
                <a:ext cx="6494883" cy="64633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We do together: Using the formula, 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r>
                  <a:rPr lang="en-AU" dirty="0"/>
                  <a:t>, calculate the surface area of these cylinders</a:t>
                </a:r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3674" y="1938705"/>
                <a:ext cx="6494883" cy="646331"/>
              </a:xfrm>
              <a:prstGeom prst="rect">
                <a:avLst/>
              </a:prstGeom>
              <a:blipFill>
                <a:blip r:embed="rId2"/>
                <a:stretch>
                  <a:fillRect l="-750" t="-3704" b="-1296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099059" y="3124131"/>
                <a:ext cx="2292679" cy="946991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5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6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347.58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𝑐𝑚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059" y="3124131"/>
                <a:ext cx="2292679" cy="946991"/>
              </a:xfrm>
              <a:prstGeom prst="rect">
                <a:avLst/>
              </a:prstGeom>
              <a:blipFill>
                <a:blip r:embed="rId3"/>
                <a:stretch>
                  <a:fillRect l="-2116" t="-2532" b="-5696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/>
          <p:cNvCxnSpPr>
            <a:cxnSpLocks/>
          </p:cNvCxnSpPr>
          <p:nvPr/>
        </p:nvCxnSpPr>
        <p:spPr>
          <a:xfrm>
            <a:off x="5548681" y="3145632"/>
            <a:ext cx="761872" cy="0"/>
          </a:xfrm>
          <a:prstGeom prst="line">
            <a:avLst/>
          </a:prstGeom>
          <a:ln>
            <a:headEnd type="arrow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Flowchart: Magnetic Disk 24"/>
          <p:cNvSpPr/>
          <p:nvPr/>
        </p:nvSpPr>
        <p:spPr>
          <a:xfrm>
            <a:off x="4777827" y="3221967"/>
            <a:ext cx="1553465" cy="1028316"/>
          </a:xfrm>
          <a:prstGeom prst="flowChartMagneticDisk">
            <a:avLst/>
          </a:prstGeom>
          <a:noFill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5569635" y="2776300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5cm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7080" y="3551459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6cm</a:t>
            </a:r>
          </a:p>
        </p:txBody>
      </p:sp>
      <p:sp>
        <p:nvSpPr>
          <p:cNvPr id="21" name="Flowchart: Magnetic Disk 20"/>
          <p:cNvSpPr/>
          <p:nvPr/>
        </p:nvSpPr>
        <p:spPr>
          <a:xfrm rot="5400000">
            <a:off x="4846541" y="463344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8" name="Straight Connector 27"/>
          <p:cNvCxnSpPr/>
          <p:nvPr/>
        </p:nvCxnSpPr>
        <p:spPr>
          <a:xfrm flipV="1">
            <a:off x="5863439" y="531751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09709" y="5429036"/>
            <a:ext cx="500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8m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/>
              <p:cNvSpPr txBox="1"/>
              <p:nvPr/>
            </p:nvSpPr>
            <p:spPr>
              <a:xfrm>
                <a:off x="5165916" y="587470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5916" y="5874703"/>
                <a:ext cx="64379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5863440" y="4725145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/>
              <p:cNvSpPr txBox="1"/>
              <p:nvPr/>
            </p:nvSpPr>
            <p:spPr>
              <a:xfrm>
                <a:off x="7013837" y="4787741"/>
                <a:ext cx="2292679" cy="1200329"/>
              </a:xfrm>
              <a:prstGeom prst="rect">
                <a:avLst/>
              </a:prstGeom>
              <a:noFill/>
              <a:ln>
                <a:solidFill>
                  <a:srgbClr val="7030A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TSA = 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𝑟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𝑟h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</a:t>
                </a:r>
                <a14:m>
                  <m:oMath xmlns:m="http://schemas.openxmlformats.org/officeDocument/2006/math">
                    <m:r>
                      <a:rPr lang="en-AU">
                        <a:latin typeface="Cambria Math"/>
                      </a:rPr>
                      <m:t>2</m:t>
                    </m:r>
                    <m:r>
                      <a:rPr lang="el-GR" i="1">
                        <a:latin typeface="Cambria Math"/>
                      </a:rPr>
                      <m:t>𝜋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+2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𝜋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/>
                      </a:rPr>
                      <m:t>4</m:t>
                    </m:r>
                    <m:r>
                      <a:rPr lang="en-AU" i="1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/>
                      </a:rPr>
                      <m:t>8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= 100.5 + 201.1</a:t>
                </a:r>
              </a:p>
              <a:p>
                <a:r>
                  <a:rPr lang="en-AU" dirty="0"/>
                  <a:t>        =301.6m</a:t>
                </a:r>
                <a:r>
                  <a:rPr lang="en-AU" baseline="30000" dirty="0"/>
                  <a:t>2</a:t>
                </a:r>
                <a:endParaRPr lang="en-AU" dirty="0"/>
              </a:p>
            </p:txBody>
          </p:sp>
        </mc:Choice>
        <mc:Fallback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837" y="4787741"/>
                <a:ext cx="2292679" cy="1200329"/>
              </a:xfrm>
              <a:prstGeom prst="rect">
                <a:avLst/>
              </a:prstGeom>
              <a:blipFill>
                <a:blip r:embed="rId5"/>
                <a:stretch>
                  <a:fillRect l="-2116" t="-2010" b="-6533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4158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/>
      <p:bldP spid="27" grpId="0"/>
      <p:bldP spid="21" grpId="0" animBg="1"/>
      <p:bldP spid="29" grpId="0"/>
      <p:bldP spid="30" grpId="0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5641" y="548680"/>
            <a:ext cx="3392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Complete exercise 3.8 on page 39.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971551"/>
            <a:ext cx="6264696" cy="557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663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8908" y="210919"/>
            <a:ext cx="1934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Worded Questions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55CA355-02E2-408D-A3B9-4812F9FE62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2587385"/>
                  </p:ext>
                </p:extLst>
              </p:nvPr>
            </p:nvGraphicFramePr>
            <p:xfrm>
              <a:off x="1746250" y="672041"/>
              <a:ext cx="9836150" cy="603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8800">
                      <a:extLst>
                        <a:ext uri="{9D8B030D-6E8A-4147-A177-3AD203B41FA5}">
                          <a16:colId xmlns:a16="http://schemas.microsoft.com/office/drawing/2014/main" val="1106748474"/>
                        </a:ext>
                      </a:extLst>
                    </a:gridCol>
                    <a:gridCol w="9277350">
                      <a:extLst>
                        <a:ext uri="{9D8B030D-6E8A-4147-A177-3AD203B41FA5}">
                          <a16:colId xmlns:a16="http://schemas.microsoft.com/office/drawing/2014/main" val="364795877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Find the surface area of a cylindrical plastic container of height 18 cm and with a circle of radius 3 cm at each end, correct to two decimal places.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8765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A log with diameter 60 cm is 3 m in length. Its hollow </a:t>
                          </a:r>
                          <a:r>
                            <a:rPr lang="en-US" b="0" dirty="0" err="1"/>
                            <a:t>centre</a:t>
                          </a:r>
                          <a:r>
                            <a:rPr lang="en-US" b="0" dirty="0"/>
                            <a:t> is 20 cm in diameter. Find the surface area of the log in cm2 , including the ends and the inside, correct to one decimal place.</a:t>
                          </a:r>
                        </a:p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717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A cylindrical roller is used to press crushed rock in preparation for a tennis court. The rectangular tennis court area is 30 m long and 15 m wide. The roller has a width of 1 m and diameter 60 cm. </a:t>
                          </a:r>
                        </a:p>
                        <a:p>
                          <a:pPr marL="342900" indent="-342900">
                            <a:buAutoNum type="alphaLcParenR"/>
                          </a:pPr>
                          <a:r>
                            <a:rPr lang="en-US" b="0" dirty="0"/>
                            <a:t>Find the surface area of the curved part of the roller in cm2 correct to three decimal places. </a:t>
                          </a:r>
                        </a:p>
                        <a:p>
                          <a:pPr marL="342900" indent="-342900">
                            <a:buAutoNum type="alphaLcParenR"/>
                          </a:pPr>
                          <a:r>
                            <a:rPr lang="en-US" b="0" dirty="0"/>
                            <a:t>Find the area, in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b="0" dirty="0"/>
                            <a:t> to two decimal places, of crushed rock that can be pressed after 1 revolution  </a:t>
                          </a:r>
                        </a:p>
                        <a:p>
                          <a:pPr marL="342900" indent="-342900">
                            <a:buAutoNum type="alphaLcParenR"/>
                          </a:pPr>
                          <a:r>
                            <a:rPr lang="en-US" b="0" dirty="0"/>
                            <a:t>Find the minimum number of complete revolutions required to press the entire tennis court area</a:t>
                          </a:r>
                        </a:p>
                        <a:p>
                          <a:pPr marL="0" indent="0">
                            <a:buNone/>
                          </a:pPr>
                          <a:endParaRPr lang="en-US" b="0" dirty="0"/>
                        </a:p>
                        <a:p>
                          <a:pPr marL="342900" indent="-342900">
                            <a:buAutoNum type="alphaLcParenR"/>
                          </a:pP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AutoNum type="alphaLcParenR"/>
                          </a:pP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AutoNum type="alphaLcParenR"/>
                          </a:pP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AutoNum type="alphaLcParenR"/>
                          </a:pPr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marL="342900" indent="-342900">
                            <a:buAutoNum type="alphaLcParenR"/>
                          </a:pP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08725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55CA355-02E2-408D-A3B9-4812F9FE62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2587385"/>
                  </p:ext>
                </p:extLst>
              </p:nvPr>
            </p:nvGraphicFramePr>
            <p:xfrm>
              <a:off x="1746250" y="672041"/>
              <a:ext cx="9836150" cy="60350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58800">
                      <a:extLst>
                        <a:ext uri="{9D8B030D-6E8A-4147-A177-3AD203B41FA5}">
                          <a16:colId xmlns:a16="http://schemas.microsoft.com/office/drawing/2014/main" val="1106748474"/>
                        </a:ext>
                      </a:extLst>
                    </a:gridCol>
                    <a:gridCol w="9277350">
                      <a:extLst>
                        <a:ext uri="{9D8B030D-6E8A-4147-A177-3AD203B41FA5}">
                          <a16:colId xmlns:a16="http://schemas.microsoft.com/office/drawing/2014/main" val="3647958778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1.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Find the surface area of a cylindrical plastic container of height 18 cm and with a circle of radius 3 cm at each end, correct to two decimal places.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7876552"/>
                      </a:ext>
                    </a:extLst>
                  </a:tr>
                  <a:tr h="1737360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2.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A log with diameter 60 cm is 3 m in length. Its hollow </a:t>
                          </a:r>
                          <a:r>
                            <a:rPr lang="en-US" b="0" dirty="0" err="1"/>
                            <a:t>centre</a:t>
                          </a:r>
                          <a:r>
                            <a:rPr lang="en-US" b="0" dirty="0"/>
                            <a:t> is 20 cm in diameter. Find the surface area of the log in cm2 , including the ends and the inside, correct to one decimal place.</a:t>
                          </a:r>
                        </a:p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US" b="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7717126"/>
                      </a:ext>
                    </a:extLst>
                  </a:tr>
                  <a:tr h="3657600">
                    <a:tc>
                      <a:txBody>
                        <a:bodyPr/>
                        <a:lstStyle/>
                        <a:p>
                          <a:r>
                            <a:rPr lang="en-US" b="0" dirty="0">
                              <a:solidFill>
                                <a:schemeClr val="tx1"/>
                              </a:solidFill>
                            </a:rPr>
                            <a:t>3.</a:t>
                          </a:r>
                          <a:endParaRPr lang="en-AU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110" t="-65724" r="-197" b="-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0872535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D1582F-EEBF-4B8B-803A-18C4BCD15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596089"/>
              </p:ext>
            </p:extLst>
          </p:nvPr>
        </p:nvGraphicFramePr>
        <p:xfrm>
          <a:off x="2505075" y="5625041"/>
          <a:ext cx="993457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1106748474"/>
                    </a:ext>
                  </a:extLst>
                </a:gridCol>
                <a:gridCol w="9277350">
                  <a:extLst>
                    <a:ext uri="{9D8B030D-6E8A-4147-A177-3AD203B41FA5}">
                      <a16:colId xmlns:a16="http://schemas.microsoft.com/office/drawing/2014/main" val="364795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dirty="0">
                          <a:solidFill>
                            <a:schemeClr val="tx1"/>
                          </a:solidFill>
                        </a:rPr>
                        <a:t>395.84 cm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87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71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72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761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61355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D555C11-0937-4250-8623-43E9A6536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37" y="1950076"/>
            <a:ext cx="2181225" cy="10390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BF649B-25D2-4A15-9B28-11360E66B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8425" y="4867275"/>
            <a:ext cx="148590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0163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8908" y="210919"/>
            <a:ext cx="2918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ANSWERS Worded Questions</a:t>
            </a:r>
          </a:p>
          <a:p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D1582F-EEBF-4B8B-803A-18C4BCD15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327542"/>
              </p:ext>
            </p:extLst>
          </p:nvPr>
        </p:nvGraphicFramePr>
        <p:xfrm>
          <a:off x="1809750" y="1644650"/>
          <a:ext cx="99345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225">
                  <a:extLst>
                    <a:ext uri="{9D8B030D-6E8A-4147-A177-3AD203B41FA5}">
                      <a16:colId xmlns:a16="http://schemas.microsoft.com/office/drawing/2014/main" val="1106748474"/>
                    </a:ext>
                  </a:extLst>
                </a:gridCol>
                <a:gridCol w="9277350">
                  <a:extLst>
                    <a:ext uri="{9D8B030D-6E8A-4147-A177-3AD203B41FA5}">
                      <a16:colId xmlns:a16="http://schemas.microsoft.com/office/drawing/2014/main" val="3647958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>
                          <a:solidFill>
                            <a:schemeClr val="tx1"/>
                          </a:solidFill>
                        </a:rPr>
                        <a:t>395.84 cm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876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80 424.8 cm2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717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b="0" dirty="0"/>
                        <a:t>a 18 849.556 cm2            b 1.88 m2           c 239</a:t>
                      </a:r>
                      <a:endParaRPr lang="en-AU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0872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369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99656" y="692696"/>
            <a:ext cx="5544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Exit pass.   Answer the following on a piece of paper and hand it in to your teacher.</a:t>
            </a:r>
          </a:p>
          <a:p>
            <a:endParaRPr lang="en-AU" dirty="0"/>
          </a:p>
          <a:p>
            <a:r>
              <a:rPr lang="en-AU" dirty="0"/>
              <a:t>Calculate the SA of the following cylinder.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3" name="Flowchart: Magnetic Disk 2"/>
          <p:cNvSpPr/>
          <p:nvPr/>
        </p:nvSpPr>
        <p:spPr>
          <a:xfrm rot="5400000">
            <a:off x="3105423" y="2473200"/>
            <a:ext cx="1184744" cy="1368152"/>
          </a:xfrm>
          <a:prstGeom prst="flowChartMagneticDisk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4122321" y="3157276"/>
            <a:ext cx="0" cy="592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63753" y="2972609"/>
            <a:ext cx="1307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18m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3424798" y="3714463"/>
                <a:ext cx="64379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21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798" y="3714463"/>
                <a:ext cx="64379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>
            <a:cxnSpLocks/>
          </p:cNvCxnSpPr>
          <p:nvPr/>
        </p:nvCxnSpPr>
        <p:spPr>
          <a:xfrm flipV="1">
            <a:off x="4122322" y="2564905"/>
            <a:ext cx="16537" cy="11495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002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1219</Words>
  <Application>Microsoft Office PowerPoint</Application>
  <PresentationFormat>Widescreen</PresentationFormat>
  <Paragraphs>211</Paragraphs>
  <Slides>21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Cambria Math</vt:lpstr>
      <vt:lpstr>Kiwi School Handwriting</vt:lpstr>
      <vt:lpstr>Office Theme</vt:lpstr>
      <vt:lpstr>Topic: Measurement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How do we find the SA of a Cylinder?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Measurement</dc:title>
  <dc:creator>JAMES Sarah [Baldivis Secondary College]</dc:creator>
  <cp:lastModifiedBy>JAMES Sarah [Baldivis Secondary College]</cp:lastModifiedBy>
  <cp:revision>10</cp:revision>
  <dcterms:created xsi:type="dcterms:W3CDTF">2019-08-07T23:50:45Z</dcterms:created>
  <dcterms:modified xsi:type="dcterms:W3CDTF">2019-08-08T07:00:33Z</dcterms:modified>
</cp:coreProperties>
</file>
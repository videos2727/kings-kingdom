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77" r:id="rId2"/>
    <p:sldId id="259" r:id="rId3"/>
    <p:sldId id="375" r:id="rId4"/>
    <p:sldId id="346" r:id="rId5"/>
    <p:sldId id="377" r:id="rId6"/>
    <p:sldId id="378" r:id="rId7"/>
    <p:sldId id="37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3" d="100"/>
          <a:sy n="63" d="100"/>
        </p:scale>
        <p:origin x="804" y="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AE777E-8712-40BC-B2D0-9204D217D4FD}" type="datetimeFigureOut">
              <a:rPr lang="en-AU" smtClean="0"/>
              <a:t>8/08/2019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E3CD3B-B1A2-40CE-B60B-6CF74DD161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8527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5655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-223838" y="808038"/>
            <a:ext cx="7185026" cy="40417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73788" y="5118725"/>
            <a:ext cx="5390305" cy="48493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95249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1011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436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6889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0927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B8539-2852-44E2-A530-3D72172FC8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1712BD-A2B8-47DA-A117-28D3631F48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0255C-7C07-40C9-A33C-70DF21DC2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211AE-C14C-4A90-8A0B-9009CB22A986}" type="datetimeFigureOut">
              <a:rPr lang="en-AU" smtClean="0"/>
              <a:t>8/08/2019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B887C7-944D-4987-93D5-B63B85613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F49067-2FAF-47DD-9D7D-6458A1CE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EE9A-7D49-4AD7-A4D7-40E3C5D479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4046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0EC5D-186E-4318-9C3F-E6AD8E5BD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D0B12-D2AD-4F35-8C58-F6F865E78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BF04A-3B65-4110-AF7D-B98FA3329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211AE-C14C-4A90-8A0B-9009CB22A986}" type="datetimeFigureOut">
              <a:rPr lang="en-AU" smtClean="0"/>
              <a:t>8/08/2019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C5B5E-5A13-4CC1-A5FC-E8A5BB28D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55EAC-55C7-4860-BDCC-1BDEF7956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EE9A-7D49-4AD7-A4D7-40E3C5D479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1680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2BE9B-D940-4631-A137-C59534CFC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73DE12-BF43-406A-AFEE-F2BDF9FA6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E4BC0-F5A4-4D34-A4E4-20D91ACB0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211AE-C14C-4A90-8A0B-9009CB22A986}" type="datetimeFigureOut">
              <a:rPr lang="en-AU" smtClean="0"/>
              <a:t>8/08/2019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7B762-2DAD-4F2F-B7F4-8EF0715EE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1E662-0EEE-4682-A8C5-19F8910CB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EE9A-7D49-4AD7-A4D7-40E3C5D479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76114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7B6B4-08F1-4263-B499-146BCA1D2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A2343-AC3D-4F6F-9626-4C2FC3A0A3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D479C4-FBBE-4C5A-B9B0-24E9CB8834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3C97CE-A999-44AF-B8FF-66AEE4237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211AE-C14C-4A90-8A0B-9009CB22A986}" type="datetimeFigureOut">
              <a:rPr lang="en-AU" smtClean="0"/>
              <a:t>8/08/2019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076AB1-A5BD-46B9-87A4-A4A2AA212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910241-7DC0-4F48-9FE1-AD538AD66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EE9A-7D49-4AD7-A4D7-40E3C5D479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9546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4D6DB-A6B4-40A4-9438-9FC7059C6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75DED4-2F0F-41E9-9AD7-2A5670A68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FC2D18-B4D3-4249-A8F0-12E2CDE698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4FC4C7-04C0-42FB-8365-B45CA50FCB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C6275A-319E-40BB-9DAB-C2CCE68C6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271295-1DF4-4AA7-A2BE-C3CCF4218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211AE-C14C-4A90-8A0B-9009CB22A986}" type="datetimeFigureOut">
              <a:rPr lang="en-AU" smtClean="0"/>
              <a:t>8/08/2019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AF8B19-338F-4E52-91BC-7C717D6C6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CAFA96-7607-4D69-8189-99CAC3D8E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EE9A-7D49-4AD7-A4D7-40E3C5D479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058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629CC-935C-403B-89D8-5F5319642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D6C6E5-AD8F-452D-A87E-27B490B84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211AE-C14C-4A90-8A0B-9009CB22A986}" type="datetimeFigureOut">
              <a:rPr lang="en-AU" smtClean="0"/>
              <a:t>8/08/2019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C90AFB-AEF6-4777-A3F4-77577313E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06273A-3683-48D6-B40D-561FADB37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EE9A-7D49-4AD7-A4D7-40E3C5D479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0632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033AFD-2002-4029-86A8-F7DC8ED37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211AE-C14C-4A90-8A0B-9009CB22A986}" type="datetimeFigureOut">
              <a:rPr lang="en-AU" smtClean="0"/>
              <a:t>8/08/2019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401384-2062-4698-8CEA-8FD3477EF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BFE4D-D75B-4AF2-9156-2DE8D8728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EE9A-7D49-4AD7-A4D7-40E3C5D479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71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C1908-554D-4026-B56C-B92BA61A2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737EA-488A-4624-9425-D65345DD5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6B9EB3-D380-4195-8223-24BF2ED91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40D18F-C00B-425B-8AEA-4DF289015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211AE-C14C-4A90-8A0B-9009CB22A986}" type="datetimeFigureOut">
              <a:rPr lang="en-AU" smtClean="0"/>
              <a:t>8/08/2019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5F6D77-D6B8-4385-B080-CD66AC8BB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2F9BD7-5137-4F3E-9231-06F59F1DC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EE9A-7D49-4AD7-A4D7-40E3C5D479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2177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C0303-837D-4EE2-BAC2-5F7BF10F5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86E4C5-15DB-4B4C-874E-179E702E0D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3ACF64-8EFB-4733-9BA9-16F1BFECD4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65A99D-88A3-4414-BE3B-D6652C36A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211AE-C14C-4A90-8A0B-9009CB22A986}" type="datetimeFigureOut">
              <a:rPr lang="en-AU" smtClean="0"/>
              <a:t>8/08/2019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82FCBE-4425-4E35-9CD2-411BBB5E4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5B0829-7EEC-42C1-97DF-7BF3844A0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EE9A-7D49-4AD7-A4D7-40E3C5D479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06237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5A892-70AF-4D2C-B3DE-747E67E9D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9FC547-C129-4782-8F6C-3D91BA62E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C79B27-39F3-465A-8332-A1A9FE9E1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211AE-C14C-4A90-8A0B-9009CB22A986}" type="datetimeFigureOut">
              <a:rPr lang="en-AU" smtClean="0"/>
              <a:t>8/08/2019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82C7E-DC28-48C9-8913-D2136B375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29640-59B5-4E5E-8259-4E5ECC74B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EE9A-7D49-4AD7-A4D7-40E3C5D479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5411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EF46DE-A2BB-413E-A75C-13D4104D0B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9AF551-52EB-4484-A4C6-C952EF763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A057EF-BD68-41F4-9F86-C14540910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211AE-C14C-4A90-8A0B-9009CB22A986}" type="datetimeFigureOut">
              <a:rPr lang="en-AU" smtClean="0"/>
              <a:t>8/08/2019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6951B-283D-441E-A922-C59A1EFAD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23BF31-A5C5-4BFD-8443-5BEE4293E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EE9A-7D49-4AD7-A4D7-40E3C5D479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063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8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8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402" lvl="0" indent="-473979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6"/>
            </a:lvl1pPr>
            <a:lvl2pPr marL="1218804" lvl="1" indent="-473979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6"/>
            </a:lvl2pPr>
            <a:lvl3pPr marL="1828205" lvl="2" indent="-473979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6"/>
            </a:lvl3pPr>
            <a:lvl4pPr marL="2437607" lvl="3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4pPr>
            <a:lvl5pPr marL="3047010" lvl="4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5pPr>
            <a:lvl6pPr marL="3656412" lvl="5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6pPr>
            <a:lvl7pPr marL="4265813" lvl="6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7pPr>
            <a:lvl8pPr marL="4875215" lvl="7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8pPr>
            <a:lvl9pPr marL="5484617" lvl="8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402" lvl="0" indent="-473979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6"/>
            </a:lvl1pPr>
            <a:lvl2pPr marL="1218804" lvl="1" indent="-473979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6"/>
            </a:lvl2pPr>
            <a:lvl3pPr marL="1828205" lvl="2" indent="-473979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6"/>
            </a:lvl3pPr>
            <a:lvl4pPr marL="2437607" lvl="3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4pPr>
            <a:lvl5pPr marL="3047010" lvl="4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5pPr>
            <a:lvl6pPr marL="3656412" lvl="5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6pPr>
            <a:lvl7pPr marL="4265813" lvl="6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7pPr>
            <a:lvl8pPr marL="4875215" lvl="7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8pPr>
            <a:lvl9pPr marL="5484617" lvl="8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1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98573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B518C0-1637-4290-8196-EAB3D3C54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591DB-5598-475F-A87A-BD69F9D2BF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4ABEF2-2D90-4CFE-943F-EEF44F7C7F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5211AE-C14C-4A90-8A0B-9009CB22A986}" type="datetimeFigureOut">
              <a:rPr lang="en-AU" smtClean="0"/>
              <a:t>8/08/2019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39E0F-51C3-4701-8B14-F7AA5F32AC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34F44-EEC1-4117-841B-503E26D4ED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44EE9A-7D49-4AD7-A4D7-40E3C5D479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7291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1384" y="1412776"/>
            <a:ext cx="10883878" cy="1231776"/>
          </a:xfrm>
        </p:spPr>
        <p:txBody>
          <a:bodyPr>
            <a:normAutofit/>
          </a:bodyPr>
          <a:lstStyle/>
          <a:p>
            <a:r>
              <a:rPr lang="en-US" sz="5400" dirty="0"/>
              <a:t>Topic: </a:t>
            </a:r>
            <a:r>
              <a:rPr lang="en-US" sz="4800" dirty="0"/>
              <a:t>Measurement</a:t>
            </a:r>
            <a:endParaRPr lang="en-US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1385" y="2688591"/>
            <a:ext cx="10883877" cy="101315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EQ: How do I use formulas to calculate the surface area of solid sectors?</a:t>
            </a:r>
          </a:p>
          <a:p>
            <a:endParaRPr 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2461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209" y="298357"/>
            <a:ext cx="8608358" cy="1292691"/>
          </a:xfrm>
        </p:spPr>
        <p:txBody>
          <a:bodyPr>
            <a:normAutofit/>
          </a:bodyPr>
          <a:lstStyle/>
          <a:p>
            <a:r>
              <a:rPr lang="en-US" sz="5398" b="1" dirty="0">
                <a:solidFill>
                  <a:schemeClr val="accent2">
                    <a:lumMod val="50000"/>
                  </a:schemeClr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687209" y="2194883"/>
            <a:ext cx="10817582" cy="4023077"/>
          </a:xfrm>
          <a:prstGeom prst="rect">
            <a:avLst/>
          </a:prstGeom>
        </p:spPr>
        <p:txBody>
          <a:bodyPr spcFirstLastPara="1" vert="horz" wrap="square" lIns="91401" tIns="91401" rIns="91401" bIns="91401" rtlCol="0" anchor="t" anchorCtr="0">
            <a:normAutofit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4399" dirty="0">
                <a:latin typeface="Kiwi School Handwriting" panose="00000500000000000000" pitchFamily="2" charset="0"/>
              </a:rPr>
              <a:t>Students will be able to</a:t>
            </a:r>
          </a:p>
          <a:p>
            <a:pPr marL="571500" indent="-571500">
              <a:buFontTx/>
              <a:buChar char="-"/>
            </a:pPr>
            <a:r>
              <a:rPr lang="en-AU" sz="4000" dirty="0">
                <a:latin typeface="Kiwi School Handwriting" panose="00000500000000000000" pitchFamily="2" charset="0"/>
              </a:rPr>
              <a:t>- </a:t>
            </a:r>
            <a:r>
              <a:rPr lang="en-AU" dirty="0"/>
              <a:t>Calculate the surface area of solid sectors from a given diagram.</a:t>
            </a:r>
          </a:p>
          <a:p>
            <a:pPr marL="571500" indent="-571500">
              <a:buFontTx/>
              <a:buChar char="-"/>
            </a:pPr>
            <a:r>
              <a:rPr lang="en-AU" dirty="0"/>
              <a:t>- Interpret a familiar worded question to draw a diagram, and calculate the surface area of solid sectors. </a:t>
            </a:r>
          </a:p>
          <a:p>
            <a:pPr marL="571500" indent="-571500">
              <a:buFontTx/>
              <a:buChar char="-"/>
            </a:pPr>
            <a:r>
              <a:rPr lang="en-AU" dirty="0"/>
              <a:t> </a:t>
            </a:r>
            <a:endParaRPr lang="en-AU" sz="4000" dirty="0">
              <a:solidFill>
                <a:srgbClr val="FF0000"/>
              </a:solidFill>
              <a:latin typeface="Kiwi School Handwriting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9C209AE-6519-4C6E-82C4-7B303517FFB2}"/>
              </a:ext>
            </a:extLst>
          </p:cNvPr>
          <p:cNvSpPr txBox="1"/>
          <p:nvPr/>
        </p:nvSpPr>
        <p:spPr>
          <a:xfrm>
            <a:off x="1285925" y="140905"/>
            <a:ext cx="106755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</a:rPr>
              <a:t>Starter </a:t>
            </a:r>
            <a:r>
              <a:rPr lang="mr-IN" sz="3600" b="1" dirty="0">
                <a:solidFill>
                  <a:schemeClr val="tx2"/>
                </a:solidFill>
              </a:rPr>
              <a:t>–</a:t>
            </a:r>
            <a:r>
              <a:rPr lang="en-US" sz="3600" b="1" dirty="0">
                <a:solidFill>
                  <a:schemeClr val="tx2"/>
                </a:solidFill>
              </a:rPr>
              <a:t> Daily 5 (sorry only 4!!)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559EF4-0D49-4A39-9DE6-9D1D351C4228}"/>
              </a:ext>
            </a:extLst>
          </p:cNvPr>
          <p:cNvSpPr txBox="1"/>
          <p:nvPr/>
        </p:nvSpPr>
        <p:spPr>
          <a:xfrm>
            <a:off x="375923" y="991012"/>
            <a:ext cx="1196149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pPr marL="457200" indent="-457200">
              <a:buAutoNum type="arabicPeriod"/>
            </a:pPr>
            <a:r>
              <a:rPr lang="en-AU" sz="2000" dirty="0"/>
              <a:t>Calculate the SA of the following cylinder.</a:t>
            </a:r>
          </a:p>
          <a:p>
            <a:pPr marL="457200" indent="-457200">
              <a:buAutoNum type="arabicPeriod"/>
            </a:pPr>
            <a:endParaRPr lang="en-AU" sz="2000" dirty="0"/>
          </a:p>
          <a:p>
            <a:endParaRPr lang="en-US" sz="2000" dirty="0"/>
          </a:p>
          <a:p>
            <a:pPr marL="457200" indent="-457200">
              <a:buAutoNum type="arabicPeriod"/>
            </a:pPr>
            <a:endParaRPr lang="en-US" sz="2000" dirty="0"/>
          </a:p>
          <a:p>
            <a:r>
              <a:rPr lang="en-AU" sz="2000" dirty="0"/>
              <a:t>2. </a:t>
            </a:r>
            <a:r>
              <a:rPr lang="en-US" sz="2000" dirty="0"/>
              <a:t>Describe the shape of the distribution of the following data in the histogram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3. Two coins are flipped. If this is performed 20 times, what is the expected number of times that both coins would show tails?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4. Calculate the area of this sector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B17E3B7-93F5-4041-9231-BBB8FC1A4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2087" y="991012"/>
            <a:ext cx="1647825" cy="1600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620F1D5-1D69-48CB-A72A-3616A35908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5533" y="2153790"/>
            <a:ext cx="2547938" cy="137637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EC25E43-A9FF-4079-AF12-B0C6C86648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07" y="5215003"/>
            <a:ext cx="1730724" cy="1303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702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6706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EQ: How do I use formulas to calculate the surface area of solid sectors?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69EC66E-C80E-4B8F-83BB-5793126D9FC6}"/>
                  </a:ext>
                </a:extLst>
              </p:cNvPr>
              <p:cNvSpPr txBox="1"/>
              <p:nvPr/>
            </p:nvSpPr>
            <p:spPr>
              <a:xfrm>
                <a:off x="2533650" y="1577012"/>
                <a:ext cx="9111503" cy="8144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The sector area rule A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θ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360</m:t>
                        </m:r>
                      </m:den>
                    </m:f>
                  </m:oMath>
                </a14:m>
                <a:r>
                  <a:rPr lang="en-US" dirty="0"/>
                  <a:t> × π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can be applied to find the surface areas of solids which have ends that are sectors. </a:t>
                </a:r>
                <a:endParaRPr lang="en-AU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69EC66E-C80E-4B8F-83BB-5793126D9F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3650" y="1577012"/>
                <a:ext cx="9111503" cy="814454"/>
              </a:xfrm>
              <a:prstGeom prst="rect">
                <a:avLst/>
              </a:prstGeom>
              <a:blipFill>
                <a:blip r:embed="rId3"/>
                <a:stretch>
                  <a:fillRect l="-602" b="-1127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59A8FC9A-757C-4988-BB66-2EC69CC9B1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0387" y="3009899"/>
            <a:ext cx="7385823" cy="10333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80A3DA-8D01-4FE5-A46F-469060E1CC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4263" y="4636243"/>
            <a:ext cx="6010275" cy="135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761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6706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EQ: How do I use formulas to calculate the surface area of solid sectors?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8CFD6F-3D73-434C-A59B-5745C48ED557}"/>
              </a:ext>
            </a:extLst>
          </p:cNvPr>
          <p:cNvSpPr txBox="1"/>
          <p:nvPr/>
        </p:nvSpPr>
        <p:spPr>
          <a:xfrm>
            <a:off x="2959779" y="1642803"/>
            <a:ext cx="72927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Let’s try another one together: Find the surface area of these 2 solid sectors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273DFE0-AC77-42E6-8A91-4BD1C604CA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3221281"/>
              </p:ext>
            </p:extLst>
          </p:nvPr>
        </p:nvGraphicFramePr>
        <p:xfrm>
          <a:off x="2336422" y="2077926"/>
          <a:ext cx="8128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79623415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161426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262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0293642"/>
                  </a:ext>
                </a:extLst>
              </a:tr>
            </a:tbl>
          </a:graphicData>
        </a:graphic>
      </p:graphicFrame>
      <p:pic>
        <p:nvPicPr>
          <p:cNvPr id="16" name="Picture 15">
            <a:extLst>
              <a:ext uri="{FF2B5EF4-FFF2-40B4-BE49-F238E27FC236}">
                <a16:creationId xmlns:a16="http://schemas.microsoft.com/office/drawing/2014/main" id="{0A44C433-FB16-405C-BA1F-B1784A31A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72" y="2153274"/>
            <a:ext cx="1628775" cy="10572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5688CAD-769C-430F-A3F1-52A8A4032E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4917" y="2082177"/>
            <a:ext cx="1838325" cy="135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38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6706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EQ: How do I use formulas to calculate the surface area of solid sectors?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80B2171-F720-4BD6-898C-C7C3D89D85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0875" y="1509712"/>
            <a:ext cx="5810250" cy="38385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98F0A2C-0072-433F-8DA3-7BBC2F2578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7264" y="3971925"/>
            <a:ext cx="2343150" cy="288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047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6706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EQ: How do I use formulas to calculate the surface area of solid sectors?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3AA514-B5FB-446A-A64C-84666E0914E8}"/>
              </a:ext>
            </a:extLst>
          </p:cNvPr>
          <p:cNvSpPr txBox="1"/>
          <p:nvPr/>
        </p:nvSpPr>
        <p:spPr>
          <a:xfrm>
            <a:off x="3373125" y="1805519"/>
            <a:ext cx="6167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Worded question</a:t>
            </a:r>
            <a:endParaRPr lang="en-A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3B2073-9DF0-4D49-89EE-77E85A232A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8131" y="2760527"/>
            <a:ext cx="8915538" cy="12083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1CB6FED-AA43-459E-BA64-EB1FE2B7B0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529" y="6486874"/>
            <a:ext cx="847725" cy="33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005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273</Words>
  <Application>Microsoft Office PowerPoint</Application>
  <PresentationFormat>Widescreen</PresentationFormat>
  <Paragraphs>68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Kiwi School Handwriting</vt:lpstr>
      <vt:lpstr>Office Theme</vt:lpstr>
      <vt:lpstr>Topic: Measurement</vt:lpstr>
      <vt:lpstr>Learning Intentions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sector area rule A = θ 360 × πr 2 can be applied to find the surface areas of solids which have ends that are sectors. Find the exact surface area of these solids.</dc:title>
  <dc:creator>JAMES Sarah [Baldivis Secondary College]</dc:creator>
  <cp:lastModifiedBy>JAMES Sarah [Baldivis Secondary College]</cp:lastModifiedBy>
  <cp:revision>5</cp:revision>
  <dcterms:created xsi:type="dcterms:W3CDTF">2019-08-08T07:02:36Z</dcterms:created>
  <dcterms:modified xsi:type="dcterms:W3CDTF">2019-08-08T11:17:22Z</dcterms:modified>
</cp:coreProperties>
</file>
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59" r:id="rId3"/>
    <p:sldId id="375" r:id="rId4"/>
    <p:sldId id="376" r:id="rId5"/>
    <p:sldId id="346" r:id="rId6"/>
    <p:sldId id="377" r:id="rId7"/>
    <p:sldId id="381" r:id="rId8"/>
    <p:sldId id="380" r:id="rId9"/>
    <p:sldId id="3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17" autoAdjust="0"/>
  </p:normalViewPr>
  <p:slideViewPr>
    <p:cSldViewPr snapToGrid="0">
      <p:cViewPr>
        <p:scale>
          <a:sx n="63" d="100"/>
          <a:sy n="63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EA780-5A32-4D92-8875-2D6BEC5E34DF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B9DAD-0346-439E-A781-7AC2D6448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31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6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3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19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98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6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E5C4-2138-4DE6-9D3E-8C43AAA9F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F5CAB-BDBA-4C07-8214-016584B53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12952-0EAD-4FE7-AC93-EE534E09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885BB-F20C-414B-B50A-8D9FD36D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DD64B-2A59-4C18-936A-E13622BE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73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97C8-47D9-447C-BAC3-4018E85A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4B321-5F30-43CD-9B88-5201689C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C8FB-65FA-442F-A71A-DB2A46E5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5EF0A-4C06-44C7-AD0E-6BDAFC77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E4BE-F9B4-4FB5-8FF3-15D93380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23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1D8B-E56D-4C8A-8938-DE9DD4F5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21586-B8BB-4854-85DF-37F33F078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718CA-3436-40F5-9987-28CF0921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25D7D-928D-4C7B-9A83-A95AB0DA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159DE-E439-405D-88AB-FE411073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48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0C9-9702-4998-B353-1E453D2A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7370B-A75D-4949-AB63-00E3BF63B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C8A1D-6F98-484F-A352-1199EE287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D95A8-7BEA-4F20-BD10-0BD0425C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A9CC-AB10-4CCF-9B3D-FE498BE55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DC6E6-7397-4844-BF3A-8110D0AE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52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9A83-6AEE-484C-8D03-8A9C03F6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D1B4B-7439-4351-B00C-B922DFF3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0064D-5C5A-4609-9C7D-A5DF0F90D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196A7-7E69-44BA-941E-3D4819067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F2ED-B859-46C1-B831-28A4CF8D0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CDDAE-580D-4E9D-9942-8FDA822E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C5935-B600-4AE9-BED1-804CD5A5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7A03A-CE33-4DA7-8DCA-6C9F21FF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277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F540-6737-4B2B-8F62-64F4FE60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FBDBB-A3CB-49E4-8F7E-BC20709C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1877C-5B9A-476C-89AE-F55CF4BF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B57C6-1103-4633-AA9B-A09B9BAC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648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3AAFF-2023-4940-8764-134387A5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2EE87-C22F-4C40-B4FB-26D93CBD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88AD4-37E5-42D7-94EA-2C11101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58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BC07-1712-47BF-8C5A-8BE8D763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2C9C-77A5-48CF-BDA1-0B1A21AE2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484E7-29BF-4406-84C5-7660C4646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5DBE5-97CC-4717-B01D-52764548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2ACC7-657D-4DBE-A544-82C752D1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71A27-32CD-45EF-BE6D-398168B1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785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D69B-443B-4277-BB0E-617F893D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DDEA5-8623-47B6-AFA8-6A9FCFAD8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8D914-7D5D-4B42-87FF-AE48D2537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69442-EA4F-4AA3-9684-D2E63790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47370-7065-4177-A347-8B28174C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FC0F7-7589-4F5F-A8DA-F2E334E4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23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D31BB-723B-4944-8E0E-C168188A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6FB66-F7E2-4FD0-824B-A66B9F054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2D6E-E12C-4287-B77E-1F385AFB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EE846-BCD4-4F80-B68C-A6B10F84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7E67-3366-4A58-ACD0-877FF404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94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60A1F-F6AB-4741-837F-DB7216C33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67CE1-565A-4019-B500-CC47E532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03D93-B4DA-480E-8F76-B6D434C8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5A520-0A7C-449B-A664-7C27DC84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C5FE9-3177-48F2-A4B4-E0B30415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62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878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B3760-6163-425A-BCD0-0230007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9B23-3BEF-4160-A896-53DD2FDD1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BB4D-FF4F-4A2E-ABA7-DD7587717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2E6C6-26DB-43E4-A41C-C7A9861F382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C787-E2B0-4B41-8F7C-AE483E5F3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918C-D2A5-4BF2-99EC-97B213025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7FC67-3173-417C-B4BF-0544514A33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43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1384" y="1412776"/>
            <a:ext cx="10883878" cy="1231776"/>
          </a:xfrm>
        </p:spPr>
        <p:txBody>
          <a:bodyPr>
            <a:normAutofit/>
          </a:bodyPr>
          <a:lstStyle/>
          <a:p>
            <a:r>
              <a:rPr lang="en-US" sz="5400" dirty="0"/>
              <a:t>Topic: </a:t>
            </a:r>
            <a:r>
              <a:rPr lang="en-US" sz="4800" dirty="0"/>
              <a:t>Measurement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385" y="2688591"/>
            <a:ext cx="10883877" cy="1013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46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7"/>
            <a:ext cx="8608358" cy="1292691"/>
          </a:xfrm>
        </p:spPr>
        <p:txBody>
          <a:bodyPr>
            <a:normAutofit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7209" y="2194883"/>
            <a:ext cx="10817582" cy="4023077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399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4000" dirty="0">
                <a:latin typeface="Kiwi School Handwriting" panose="00000500000000000000" pitchFamily="2" charset="0"/>
              </a:rPr>
              <a:t>- </a:t>
            </a:r>
            <a:r>
              <a:rPr lang="en-AU" dirty="0"/>
              <a:t>Calculate the volume of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cylinders and solid sectors</a:t>
            </a:r>
            <a:r>
              <a:rPr lang="en-AU" dirty="0"/>
              <a:t> from a given diagram.</a:t>
            </a:r>
          </a:p>
          <a:p>
            <a:pPr marL="571500" indent="-571500">
              <a:buFontTx/>
              <a:buChar char="-"/>
            </a:pPr>
            <a:r>
              <a:rPr lang="en-AU" dirty="0"/>
              <a:t>- Interpret a familiar worded question to draw a diagram, and calculate the volume of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cylinders and solid sectors</a:t>
            </a:r>
            <a:r>
              <a:rPr lang="en-AU" dirty="0"/>
              <a:t>. </a:t>
            </a:r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C209AE-6519-4C6E-82C4-7B303517FFB2}"/>
              </a:ext>
            </a:extLst>
          </p:cNvPr>
          <p:cNvSpPr txBox="1"/>
          <p:nvPr/>
        </p:nvSpPr>
        <p:spPr>
          <a:xfrm>
            <a:off x="1316405" y="743049"/>
            <a:ext cx="1067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59EF4-0D49-4A39-9DE6-9D1D351C4228}"/>
              </a:ext>
            </a:extLst>
          </p:cNvPr>
          <p:cNvSpPr txBox="1"/>
          <p:nvPr/>
        </p:nvSpPr>
        <p:spPr>
          <a:xfrm>
            <a:off x="652811" y="1304985"/>
            <a:ext cx="112292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endParaRPr lang="en-US" sz="2400" dirty="0"/>
          </a:p>
          <a:p>
            <a:r>
              <a:rPr lang="en-US" sz="2000" dirty="0"/>
              <a:t>For the data summarized above, the most likely type of distribution is: </a:t>
            </a:r>
          </a:p>
          <a:p>
            <a:r>
              <a:rPr lang="en-US" sz="2000" b="1" dirty="0"/>
              <a:t>A</a:t>
            </a:r>
            <a:r>
              <a:rPr lang="en-US" sz="2000" dirty="0"/>
              <a:t> 	a negatively skewed distribution </a:t>
            </a:r>
          </a:p>
          <a:p>
            <a:r>
              <a:rPr lang="en-US" sz="2000" b="1" dirty="0"/>
              <a:t>B	</a:t>
            </a:r>
            <a:r>
              <a:rPr lang="en-US" sz="2000" dirty="0"/>
              <a:t>a positively skewed distribution </a:t>
            </a:r>
          </a:p>
          <a:p>
            <a:r>
              <a:rPr lang="en-US" sz="2000" b="1" dirty="0"/>
              <a:t>C</a:t>
            </a:r>
            <a:r>
              <a:rPr lang="en-US" sz="2000" dirty="0"/>
              <a:t> 	skewed to the left </a:t>
            </a:r>
          </a:p>
          <a:p>
            <a:r>
              <a:rPr lang="en-US" sz="2000" b="1" dirty="0"/>
              <a:t>D</a:t>
            </a:r>
            <a:r>
              <a:rPr lang="en-US" sz="2000" dirty="0"/>
              <a:t> 	a bimodal distribution </a:t>
            </a:r>
          </a:p>
          <a:p>
            <a:r>
              <a:rPr lang="en-US" sz="2000" b="1" dirty="0"/>
              <a:t>E</a:t>
            </a:r>
            <a:r>
              <a:rPr lang="en-US" sz="2000" dirty="0"/>
              <a:t> 	a symmetric distribution.</a:t>
            </a:r>
          </a:p>
          <a:p>
            <a:endParaRPr lang="en-US" sz="2400" dirty="0"/>
          </a:p>
          <a:p>
            <a:r>
              <a:rPr lang="en-AU" sz="2400" dirty="0"/>
              <a:t>2. </a:t>
            </a:r>
            <a:r>
              <a:rPr lang="en-AU" sz="2000" dirty="0"/>
              <a:t>Calculate the surface area of the cylinder 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35710-8043-48A1-A9EF-CF9662A2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1690966"/>
            <a:ext cx="4457700" cy="723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1310B2-27D4-4ED5-B4BA-E60B36174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65880"/>
            <a:ext cx="27051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02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29805-A4DF-4BC8-95E7-98F5A6F14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91047"/>
              </p:ext>
            </p:extLst>
          </p:nvPr>
        </p:nvGraphicFramePr>
        <p:xfrm>
          <a:off x="2990850" y="666750"/>
          <a:ext cx="6991351" cy="45458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3108">
                  <a:extLst>
                    <a:ext uri="{9D8B030D-6E8A-4147-A177-3AD203B41FA5}">
                      <a16:colId xmlns:a16="http://schemas.microsoft.com/office/drawing/2014/main" val="2007755918"/>
                    </a:ext>
                  </a:extLst>
                </a:gridCol>
                <a:gridCol w="1448518">
                  <a:extLst>
                    <a:ext uri="{9D8B030D-6E8A-4147-A177-3AD203B41FA5}">
                      <a16:colId xmlns:a16="http://schemas.microsoft.com/office/drawing/2014/main" val="1318177901"/>
                    </a:ext>
                  </a:extLst>
                </a:gridCol>
                <a:gridCol w="1439989">
                  <a:extLst>
                    <a:ext uri="{9D8B030D-6E8A-4147-A177-3AD203B41FA5}">
                      <a16:colId xmlns:a16="http://schemas.microsoft.com/office/drawing/2014/main" val="3604349058"/>
                    </a:ext>
                  </a:extLst>
                </a:gridCol>
                <a:gridCol w="1416726">
                  <a:extLst>
                    <a:ext uri="{9D8B030D-6E8A-4147-A177-3AD203B41FA5}">
                      <a16:colId xmlns:a16="http://schemas.microsoft.com/office/drawing/2014/main" val="3484436595"/>
                    </a:ext>
                  </a:extLst>
                </a:gridCol>
                <a:gridCol w="1433010">
                  <a:extLst>
                    <a:ext uri="{9D8B030D-6E8A-4147-A177-3AD203B41FA5}">
                      <a16:colId xmlns:a16="http://schemas.microsoft.com/office/drawing/2014/main" val="1705968769"/>
                    </a:ext>
                  </a:extLst>
                </a:gridCol>
              </a:tblGrid>
              <a:tr h="311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chemeClr val="tx1"/>
                          </a:solidFill>
                          <a:effectLst/>
                        </a:rPr>
                        <a:t>Goal-setting for Year 9 Measurement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07648"/>
                  </a:ext>
                </a:extLst>
              </a:tr>
              <a:tr h="2227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>
                          <a:solidFill>
                            <a:schemeClr val="tx1"/>
                          </a:solidFill>
                          <a:effectLst/>
                        </a:rPr>
                        <a:t>Week/s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b="1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660618"/>
                  </a:ext>
                </a:extLst>
              </a:tr>
              <a:tr h="17144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Solves complex word problems involving surface area of cylinders and solid sectors, including inverse calculations.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Interprets a familiar worded question to draw a diagram, and calculate the surface area of cylinders and solid sectors.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Calculates the surface area of cylinders and solid sectors from a given diagram. 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Incorrectly uses formula to perform calculation of surface area of cylinders and solid sectors. 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36078"/>
                  </a:ext>
                </a:extLst>
              </a:tr>
              <a:tr h="22967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</a:rPr>
                        <a:t>Solves complex word problems involving volume of cylinders and solid sectors, including inverse calculations.</a:t>
                      </a: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Interprets a familiar worded question to draw a diagram, and calculate the volume of cylinders and solid sectors.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</a:rPr>
                        <a:t>Calculates the volume of cylinders and solid sectors from a given diagram.</a:t>
                      </a: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solidFill>
                            <a:schemeClr val="tx1"/>
                          </a:solidFill>
                          <a:effectLst/>
                        </a:rPr>
                        <a:t>Incorrectly uses formula to perform calculation of volume of cylinders and solid sectors.</a:t>
                      </a:r>
                      <a:endParaRPr lang="en-AU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754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44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EC66E-C80E-4B8F-83BB-5793126D9FC6}"/>
              </a:ext>
            </a:extLst>
          </p:cNvPr>
          <p:cNvSpPr txBox="1"/>
          <p:nvPr/>
        </p:nvSpPr>
        <p:spPr>
          <a:xfrm>
            <a:off x="2533650" y="1577012"/>
            <a:ext cx="911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RECALL: What is the general rule for the volume of a solid shape?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BB722-EBCF-4A9D-AFC9-561E84E19B2E}"/>
              </a:ext>
            </a:extLst>
          </p:cNvPr>
          <p:cNvSpPr txBox="1"/>
          <p:nvPr/>
        </p:nvSpPr>
        <p:spPr>
          <a:xfrm>
            <a:off x="3812404" y="2236531"/>
            <a:ext cx="4671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Volume= Area of base x Height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12C2D1-4388-4C85-8CD8-CBCB73ACDE2C}"/>
              </a:ext>
            </a:extLst>
          </p:cNvPr>
          <p:cNvSpPr txBox="1"/>
          <p:nvPr/>
        </p:nvSpPr>
        <p:spPr>
          <a:xfrm>
            <a:off x="2577965" y="3637852"/>
            <a:ext cx="714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Discussion and clarification about  “base “of right prisms and cylinders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FD6D00-E100-4718-9CA4-F90C51B54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416422"/>
              </p:ext>
            </p:extLst>
          </p:nvPr>
        </p:nvGraphicFramePr>
        <p:xfrm>
          <a:off x="2428131" y="4521366"/>
          <a:ext cx="812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241487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83673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Volume formula of a cylinder</a:t>
                      </a: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Volume formula of a solid sector</a:t>
                      </a:r>
                    </a:p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74432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612AECB-8480-482B-A399-500FD0428C65}"/>
              </a:ext>
            </a:extLst>
          </p:cNvPr>
          <p:cNvSpPr txBox="1"/>
          <p:nvPr/>
        </p:nvSpPr>
        <p:spPr>
          <a:xfrm>
            <a:off x="2577965" y="4043988"/>
            <a:ext cx="714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Discussion and formation of the following volume formulas:</a:t>
            </a:r>
          </a:p>
        </p:txBody>
      </p:sp>
    </p:spTree>
    <p:extLst>
      <p:ext uri="{BB962C8B-B14F-4D97-AF65-F5344CB8AC3E}">
        <p14:creationId xmlns:p14="http://schemas.microsoft.com/office/powerpoint/2010/main" val="338376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C1DC9-AD4D-4F48-9387-9D47AE7D65D0}"/>
              </a:ext>
            </a:extLst>
          </p:cNvPr>
          <p:cNvSpPr txBox="1"/>
          <p:nvPr/>
        </p:nvSpPr>
        <p:spPr>
          <a:xfrm>
            <a:off x="2466975" y="1504950"/>
            <a:ext cx="200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do:</a:t>
            </a:r>
            <a:endParaRPr lang="en-A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4320C4-96DB-464B-9013-3A525F8AB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9" y="1805519"/>
            <a:ext cx="4076700" cy="144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19C46A-1090-400B-AB09-342B36721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912" y="3858874"/>
            <a:ext cx="59721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C1DC9-AD4D-4F48-9387-9D47AE7D65D0}"/>
              </a:ext>
            </a:extLst>
          </p:cNvPr>
          <p:cNvSpPr txBox="1"/>
          <p:nvPr/>
        </p:nvSpPr>
        <p:spPr>
          <a:xfrm>
            <a:off x="2466974" y="1504950"/>
            <a:ext cx="4867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do: Find the volume of this cylindrical portion</a:t>
            </a:r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348A6-9C5C-41C2-932B-C8490F3B8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9" y="1504950"/>
            <a:ext cx="1333500" cy="1057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EE4F83-F4A0-4518-A31A-5561C999866F}"/>
              </a:ext>
            </a:extLst>
          </p:cNvPr>
          <p:cNvSpPr/>
          <p:nvPr/>
        </p:nvSpPr>
        <p:spPr>
          <a:xfrm>
            <a:off x="10705783" y="6284230"/>
            <a:ext cx="1181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294.52 m3</a:t>
            </a:r>
          </a:p>
        </p:txBody>
      </p:sp>
    </p:spTree>
    <p:extLst>
      <p:ext uri="{BB962C8B-B14F-4D97-AF65-F5344CB8AC3E}">
        <p14:creationId xmlns:p14="http://schemas.microsoft.com/office/powerpoint/2010/main" val="19585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C1DC9-AD4D-4F48-9387-9D47AE7D65D0}"/>
              </a:ext>
            </a:extLst>
          </p:cNvPr>
          <p:cNvSpPr txBox="1"/>
          <p:nvPr/>
        </p:nvSpPr>
        <p:spPr>
          <a:xfrm>
            <a:off x="2466975" y="1504950"/>
            <a:ext cx="200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do: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264A4-22E6-4837-AA29-EF7DE04F5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847" y="2079036"/>
            <a:ext cx="9667875" cy="695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1F448A-877D-4B80-A578-DCB75EBE0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169" y="3143250"/>
            <a:ext cx="4609245" cy="3600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4855D9-1877-4154-835A-D9A403C419D2}"/>
              </a:ext>
            </a:extLst>
          </p:cNvPr>
          <p:cNvSpPr txBox="1"/>
          <p:nvPr/>
        </p:nvSpPr>
        <p:spPr>
          <a:xfrm>
            <a:off x="2466974" y="3000375"/>
            <a:ext cx="303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tip is to draw a diagram first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835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volume of cylinders and solid sectors?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34FDB-ECBB-44EF-85EA-EEF0F71A3630}"/>
              </a:ext>
            </a:extLst>
          </p:cNvPr>
          <p:cNvSpPr/>
          <p:nvPr/>
        </p:nvSpPr>
        <p:spPr>
          <a:xfrm>
            <a:off x="2809781" y="3244334"/>
            <a:ext cx="6572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Complete Lesson 3_Volume of cylinders and solid sectors worksheet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68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450</Words>
  <Application>Microsoft Office PowerPoint</Application>
  <PresentationFormat>Widescreen</PresentationFormat>
  <Paragraphs>89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Kiwi School Handwriting</vt:lpstr>
      <vt:lpstr>Office Theme</vt:lpstr>
      <vt:lpstr>Topic: Measurement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6</cp:revision>
  <dcterms:created xsi:type="dcterms:W3CDTF">2019-08-08T11:18:28Z</dcterms:created>
  <dcterms:modified xsi:type="dcterms:W3CDTF">2019-08-08T12:08:02Z</dcterms:modified>
</cp:coreProperties>
</file>
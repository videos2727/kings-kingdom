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77" r:id="rId2"/>
    <p:sldId id="278" r:id="rId3"/>
    <p:sldId id="270" r:id="rId4"/>
    <p:sldId id="271" r:id="rId5"/>
    <p:sldId id="258" r:id="rId6"/>
    <p:sldId id="279" r:id="rId7"/>
    <p:sldId id="276" r:id="rId8"/>
    <p:sldId id="275" r:id="rId9"/>
    <p:sldId id="256" r:id="rId10"/>
    <p:sldId id="260" r:id="rId11"/>
    <p:sldId id="272" r:id="rId12"/>
    <p:sldId id="273" r:id="rId13"/>
    <p:sldId id="274" r:id="rId14"/>
    <p:sldId id="268" r:id="rId15"/>
    <p:sldId id="280" r:id="rId16"/>
    <p:sldId id="266" r:id="rId17"/>
    <p:sldId id="267" r:id="rId18"/>
    <p:sldId id="269" r:id="rId19"/>
    <p:sldId id="281" r:id="rId20"/>
    <p:sldId id="283" r:id="rId21"/>
    <p:sldId id="282" r:id="rId22"/>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4461" autoAdjust="0"/>
  </p:normalViewPr>
  <p:slideViewPr>
    <p:cSldViewPr snapToGrid="0">
      <p:cViewPr varScale="1">
        <p:scale>
          <a:sx n="89" d="100"/>
          <a:sy n="89" d="100"/>
        </p:scale>
        <p:origin x="66"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25B9F-CDD9-46F1-A52B-4E09DD88D99B}" type="datetimeFigureOut">
              <a:rPr lang="en-AU" smtClean="0"/>
              <a:t>24/04/2017</a:t>
            </a:fld>
            <a:endParaRPr lang="en-AU"/>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894290-EDB6-49EF-A38B-E3AE19C94E02}" type="slidenum">
              <a:rPr lang="en-AU" smtClean="0"/>
              <a:t>‹#›</a:t>
            </a:fld>
            <a:endParaRPr lang="en-AU"/>
          </a:p>
        </p:txBody>
      </p:sp>
    </p:spTree>
    <p:extLst>
      <p:ext uri="{BB962C8B-B14F-4D97-AF65-F5344CB8AC3E}">
        <p14:creationId xmlns:p14="http://schemas.microsoft.com/office/powerpoint/2010/main" val="3605508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Set – explain the importance to the student for doing well in </a:t>
            </a:r>
            <a:r>
              <a:rPr lang="en-AU" dirty="0" err="1"/>
              <a:t>Naplan</a:t>
            </a:r>
            <a:r>
              <a:rPr lang="en-AU" dirty="0"/>
              <a:t> in year 9.  Reduces stress for year 11 ad 12 as OLNA becomes less of a problem.</a:t>
            </a:r>
          </a:p>
        </p:txBody>
      </p:sp>
      <p:sp>
        <p:nvSpPr>
          <p:cNvPr id="4" name="Slide Number Placeholder 3"/>
          <p:cNvSpPr>
            <a:spLocks noGrp="1"/>
          </p:cNvSpPr>
          <p:nvPr>
            <p:ph type="sldNum" sz="quarter" idx="10"/>
          </p:nvPr>
        </p:nvSpPr>
        <p:spPr/>
        <p:txBody>
          <a:bodyPr/>
          <a:lstStyle/>
          <a:p>
            <a:fld id="{A9894290-EDB6-49EF-A38B-E3AE19C94E02}" type="slidenum">
              <a:rPr lang="en-AU" smtClean="0"/>
              <a:t>2</a:t>
            </a:fld>
            <a:endParaRPr lang="en-AU"/>
          </a:p>
        </p:txBody>
      </p:sp>
    </p:spTree>
    <p:extLst>
      <p:ext uri="{BB962C8B-B14F-4D97-AF65-F5344CB8AC3E}">
        <p14:creationId xmlns:p14="http://schemas.microsoft.com/office/powerpoint/2010/main" val="936903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Go through time conversions- “Fists of 5” of thumbs up check to check everyone is okay with these and has seen then before. </a:t>
            </a:r>
          </a:p>
        </p:txBody>
      </p:sp>
      <p:sp>
        <p:nvSpPr>
          <p:cNvPr id="4" name="Slide Number Placeholder 3"/>
          <p:cNvSpPr>
            <a:spLocks noGrp="1"/>
          </p:cNvSpPr>
          <p:nvPr>
            <p:ph type="sldNum" sz="quarter" idx="10"/>
          </p:nvPr>
        </p:nvSpPr>
        <p:spPr/>
        <p:txBody>
          <a:bodyPr/>
          <a:lstStyle/>
          <a:p>
            <a:fld id="{A9894290-EDB6-49EF-A38B-E3AE19C94E02}" type="slidenum">
              <a:rPr lang="en-AU" smtClean="0"/>
              <a:t>3</a:t>
            </a:fld>
            <a:endParaRPr lang="en-AU"/>
          </a:p>
        </p:txBody>
      </p:sp>
    </p:spTree>
    <p:extLst>
      <p:ext uri="{BB962C8B-B14F-4D97-AF65-F5344CB8AC3E}">
        <p14:creationId xmlns:p14="http://schemas.microsoft.com/office/powerpoint/2010/main" val="82219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Modelling to work through on time calculations.</a:t>
            </a:r>
          </a:p>
        </p:txBody>
      </p:sp>
      <p:sp>
        <p:nvSpPr>
          <p:cNvPr id="4" name="Slide Number Placeholder 3"/>
          <p:cNvSpPr>
            <a:spLocks noGrp="1"/>
          </p:cNvSpPr>
          <p:nvPr>
            <p:ph type="sldNum" sz="quarter" idx="10"/>
          </p:nvPr>
        </p:nvSpPr>
        <p:spPr/>
        <p:txBody>
          <a:bodyPr/>
          <a:lstStyle/>
          <a:p>
            <a:fld id="{A9894290-EDB6-49EF-A38B-E3AE19C94E02}" type="slidenum">
              <a:rPr lang="en-AU" smtClean="0"/>
              <a:t>4</a:t>
            </a:fld>
            <a:endParaRPr lang="en-AU"/>
          </a:p>
        </p:txBody>
      </p:sp>
    </p:spTree>
    <p:extLst>
      <p:ext uri="{BB962C8B-B14F-4D97-AF65-F5344CB8AC3E}">
        <p14:creationId xmlns:p14="http://schemas.microsoft.com/office/powerpoint/2010/main" val="2170413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5</a:t>
            </a:fld>
            <a:endParaRPr lang="en-AU"/>
          </a:p>
        </p:txBody>
      </p:sp>
    </p:spTree>
    <p:extLst>
      <p:ext uri="{BB962C8B-B14F-4D97-AF65-F5344CB8AC3E}">
        <p14:creationId xmlns:p14="http://schemas.microsoft.com/office/powerpoint/2010/main" val="1045313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6</a:t>
            </a:fld>
            <a:endParaRPr lang="en-AU"/>
          </a:p>
        </p:txBody>
      </p:sp>
    </p:spTree>
    <p:extLst>
      <p:ext uri="{BB962C8B-B14F-4D97-AF65-F5344CB8AC3E}">
        <p14:creationId xmlns:p14="http://schemas.microsoft.com/office/powerpoint/2010/main" val="4100621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Notes and nomenclature on angles – seems to be common that they test for knowledge of terminology as much as maths ability so make sure you go through the terms and make sure students are aware of the terms.</a:t>
            </a:r>
          </a:p>
        </p:txBody>
      </p:sp>
      <p:sp>
        <p:nvSpPr>
          <p:cNvPr id="4" name="Slide Number Placeholder 3"/>
          <p:cNvSpPr>
            <a:spLocks noGrp="1"/>
          </p:cNvSpPr>
          <p:nvPr>
            <p:ph type="sldNum" sz="quarter" idx="10"/>
          </p:nvPr>
        </p:nvSpPr>
        <p:spPr/>
        <p:txBody>
          <a:bodyPr/>
          <a:lstStyle/>
          <a:p>
            <a:fld id="{A9894290-EDB6-49EF-A38B-E3AE19C94E02}" type="slidenum">
              <a:rPr lang="en-AU" smtClean="0"/>
              <a:t>7</a:t>
            </a:fld>
            <a:endParaRPr lang="en-AU"/>
          </a:p>
        </p:txBody>
      </p:sp>
    </p:spTree>
    <p:extLst>
      <p:ext uri="{BB962C8B-B14F-4D97-AF65-F5344CB8AC3E}">
        <p14:creationId xmlns:p14="http://schemas.microsoft.com/office/powerpoint/2010/main" val="3646884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Notes and nomenclature on angle relationships – seems to be common that they test for knowledge of terminology as much as maths ability so make sure you go through the terms and make sure students are aware of the terms.</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8</a:t>
            </a:fld>
            <a:endParaRPr lang="en-AU"/>
          </a:p>
        </p:txBody>
      </p:sp>
    </p:spTree>
    <p:extLst>
      <p:ext uri="{BB962C8B-B14F-4D97-AF65-F5344CB8AC3E}">
        <p14:creationId xmlns:p14="http://schemas.microsoft.com/office/powerpoint/2010/main" val="4247278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9</a:t>
            </a:fld>
            <a:endParaRPr lang="en-AU"/>
          </a:p>
        </p:txBody>
      </p:sp>
    </p:spTree>
    <p:extLst>
      <p:ext uri="{BB962C8B-B14F-4D97-AF65-F5344CB8AC3E}">
        <p14:creationId xmlns:p14="http://schemas.microsoft.com/office/powerpoint/2010/main" val="3767827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10</a:t>
            </a:fld>
            <a:endParaRPr lang="en-AU"/>
          </a:p>
        </p:txBody>
      </p:sp>
    </p:spTree>
    <p:extLst>
      <p:ext uri="{BB962C8B-B14F-4D97-AF65-F5344CB8AC3E}">
        <p14:creationId xmlns:p14="http://schemas.microsoft.com/office/powerpoint/2010/main" val="4122493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Notes and nomenclature triangles – again it seems to be common that they test for knowledge of terminology as much as maths ability so make sure you go through the terms and make sure students are aware of the terms.</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11</a:t>
            </a:fld>
            <a:endParaRPr lang="en-AU"/>
          </a:p>
        </p:txBody>
      </p:sp>
    </p:spTree>
    <p:extLst>
      <p:ext uri="{BB962C8B-B14F-4D97-AF65-F5344CB8AC3E}">
        <p14:creationId xmlns:p14="http://schemas.microsoft.com/office/powerpoint/2010/main" val="3346559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12</a:t>
            </a:fld>
            <a:endParaRPr lang="en-AU"/>
          </a:p>
        </p:txBody>
      </p:sp>
    </p:spTree>
    <p:extLst>
      <p:ext uri="{BB962C8B-B14F-4D97-AF65-F5344CB8AC3E}">
        <p14:creationId xmlns:p14="http://schemas.microsoft.com/office/powerpoint/2010/main" val="819015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14</a:t>
            </a:fld>
            <a:endParaRPr lang="en-AU"/>
          </a:p>
        </p:txBody>
      </p:sp>
    </p:spTree>
    <p:extLst>
      <p:ext uri="{BB962C8B-B14F-4D97-AF65-F5344CB8AC3E}">
        <p14:creationId xmlns:p14="http://schemas.microsoft.com/office/powerpoint/2010/main" val="1306929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15</a:t>
            </a:fld>
            <a:endParaRPr lang="en-AU"/>
          </a:p>
        </p:txBody>
      </p:sp>
    </p:spTree>
    <p:extLst>
      <p:ext uri="{BB962C8B-B14F-4D97-AF65-F5344CB8AC3E}">
        <p14:creationId xmlns:p14="http://schemas.microsoft.com/office/powerpoint/2010/main" val="63957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16</a:t>
            </a:fld>
            <a:endParaRPr lang="en-AU"/>
          </a:p>
        </p:txBody>
      </p:sp>
    </p:spTree>
    <p:extLst>
      <p:ext uri="{BB962C8B-B14F-4D97-AF65-F5344CB8AC3E}">
        <p14:creationId xmlns:p14="http://schemas.microsoft.com/office/powerpoint/2010/main" val="464688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17</a:t>
            </a:fld>
            <a:endParaRPr lang="en-AU"/>
          </a:p>
        </p:txBody>
      </p:sp>
    </p:spTree>
    <p:extLst>
      <p:ext uri="{BB962C8B-B14F-4D97-AF65-F5344CB8AC3E}">
        <p14:creationId xmlns:p14="http://schemas.microsoft.com/office/powerpoint/2010/main" val="2717277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18</a:t>
            </a:fld>
            <a:endParaRPr lang="en-AU"/>
          </a:p>
        </p:txBody>
      </p:sp>
    </p:spTree>
    <p:extLst>
      <p:ext uri="{BB962C8B-B14F-4D97-AF65-F5344CB8AC3E}">
        <p14:creationId xmlns:p14="http://schemas.microsoft.com/office/powerpoint/2010/main" val="3435502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Guided practice- students attempt for 2minutes (can be with partner /group)</a:t>
            </a:r>
          </a:p>
          <a:p>
            <a:endParaRPr lang="en-AU" dirty="0"/>
          </a:p>
        </p:txBody>
      </p:sp>
      <p:sp>
        <p:nvSpPr>
          <p:cNvPr id="4" name="Slide Number Placeholder 3"/>
          <p:cNvSpPr>
            <a:spLocks noGrp="1"/>
          </p:cNvSpPr>
          <p:nvPr>
            <p:ph type="sldNum" sz="quarter" idx="10"/>
          </p:nvPr>
        </p:nvSpPr>
        <p:spPr/>
        <p:txBody>
          <a:bodyPr/>
          <a:lstStyle/>
          <a:p>
            <a:fld id="{A9894290-EDB6-49EF-A38B-E3AE19C94E02}" type="slidenum">
              <a:rPr lang="en-AU" smtClean="0"/>
              <a:t>19</a:t>
            </a:fld>
            <a:endParaRPr lang="en-AU"/>
          </a:p>
        </p:txBody>
      </p:sp>
    </p:spTree>
    <p:extLst>
      <p:ext uri="{BB962C8B-B14F-4D97-AF65-F5344CB8AC3E}">
        <p14:creationId xmlns:p14="http://schemas.microsoft.com/office/powerpoint/2010/main" val="1086923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54506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452774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BA98DB-85F7-4057-9FF8-584B97218105}"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255749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BA98DB-85F7-4057-9FF8-584B97218105}"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714755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BA98DB-85F7-4057-9FF8-584B97218105}" type="datetimeFigureOut">
              <a:rPr lang="en-AU" smtClean="0"/>
              <a:t>24/04/2017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45669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BA98DB-85F7-4057-9FF8-584B97218105}" type="datetimeFigureOut">
              <a:rPr lang="en-AU" smtClean="0"/>
              <a:t>24/04/2017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960078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A98DB-85F7-4057-9FF8-584B97218105}" type="datetimeFigureOut">
              <a:rPr lang="en-AU" smtClean="0"/>
              <a:t>24/04/2017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368027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06632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164476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17658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43482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8EBA98DB-85F7-4057-9FF8-584B97218105}" type="datetimeFigureOut">
              <a:rPr lang="en-AU" smtClean="0"/>
              <a:t>24/04/2017</a:t>
            </a:fld>
            <a:endParaRPr lang="en-AU"/>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CC2E16A8-604B-4602-A20D-B6548AA78A64}" type="slidenum">
              <a:rPr lang="en-AU" smtClean="0"/>
              <a:t>‹#›</a:t>
            </a:fld>
            <a:endParaRPr lang="en-AU"/>
          </a:p>
        </p:txBody>
      </p:sp>
    </p:spTree>
    <p:extLst>
      <p:ext uri="{BB962C8B-B14F-4D97-AF65-F5344CB8AC3E}">
        <p14:creationId xmlns:p14="http://schemas.microsoft.com/office/powerpoint/2010/main" val="338252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www.perthnow.com.au/news/western-australia/olna-test-one-in-10-wa-year-12-students-might-not-graduate/news-story/99e5aa25a7b8dfca7932dd17da62a22b"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25786"/>
            <a:ext cx="7886700" cy="1104636"/>
          </a:xfrm>
        </p:spPr>
        <p:txBody>
          <a:bodyPr/>
          <a:lstStyle/>
          <a:p>
            <a:r>
              <a:rPr lang="en-AU" dirty="0" err="1"/>
              <a:t>Naplan</a:t>
            </a:r>
            <a:r>
              <a:rPr lang="en-AU" dirty="0"/>
              <a:t>  Prep – Time/Angles/Triangles/Quadrilaterals</a:t>
            </a:r>
          </a:p>
        </p:txBody>
      </p:sp>
      <p:sp>
        <p:nvSpPr>
          <p:cNvPr id="3" name="Content Placeholder 2"/>
          <p:cNvSpPr>
            <a:spLocks noGrp="1"/>
          </p:cNvSpPr>
          <p:nvPr>
            <p:ph idx="1"/>
          </p:nvPr>
        </p:nvSpPr>
        <p:spPr/>
        <p:txBody>
          <a:bodyPr/>
          <a:lstStyle/>
          <a:p>
            <a:r>
              <a:rPr lang="en-AU"/>
              <a:t>J.Wilson</a:t>
            </a:r>
          </a:p>
        </p:txBody>
      </p:sp>
    </p:spTree>
    <p:extLst>
      <p:ext uri="{BB962C8B-B14F-4D97-AF65-F5344CB8AC3E}">
        <p14:creationId xmlns:p14="http://schemas.microsoft.com/office/powerpoint/2010/main" val="3290314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724908" y="0"/>
            <a:ext cx="4361447" cy="5715000"/>
          </a:xfrm>
          <a:prstGeom prst="rect">
            <a:avLst/>
          </a:prstGeom>
        </p:spPr>
      </p:pic>
      <p:pic>
        <p:nvPicPr>
          <p:cNvPr id="7" name="Picture 6"/>
          <p:cNvPicPr>
            <a:picLocks noChangeAspect="1"/>
          </p:cNvPicPr>
          <p:nvPr/>
        </p:nvPicPr>
        <p:blipFill>
          <a:blip r:embed="rId4"/>
          <a:stretch>
            <a:fillRect/>
          </a:stretch>
        </p:blipFill>
        <p:spPr>
          <a:xfrm>
            <a:off x="152908" y="461639"/>
            <a:ext cx="4432189" cy="2633199"/>
          </a:xfrm>
          <a:prstGeom prst="rect">
            <a:avLst/>
          </a:prstGeom>
        </p:spPr>
      </p:pic>
      <p:sp>
        <p:nvSpPr>
          <p:cNvPr id="8" name="Rectangle 7"/>
          <p:cNvSpPr/>
          <p:nvPr/>
        </p:nvSpPr>
        <p:spPr>
          <a:xfrm>
            <a:off x="152908" y="3642253"/>
            <a:ext cx="4572000" cy="1200329"/>
          </a:xfrm>
          <a:prstGeom prst="rect">
            <a:avLst/>
          </a:prstGeom>
        </p:spPr>
        <p:txBody>
          <a:bodyPr>
            <a:spAutoFit/>
          </a:bodyPr>
          <a:lstStyle/>
          <a:p>
            <a:r>
              <a:rPr lang="en-AU" dirty="0">
                <a:hlinkClick r:id="rId5"/>
              </a:rPr>
              <a:t>http://www.perthnow.com.au/news/western-australia/olna-test-one-in-10-wa-year-12-students-might-not-graduate/news-story/99e5aa25a7b8dfca7932dd17da62a22b</a:t>
            </a:r>
            <a:endParaRPr lang="en-AU" dirty="0"/>
          </a:p>
        </p:txBody>
      </p:sp>
      <p:sp>
        <p:nvSpPr>
          <p:cNvPr id="9" name="Rectangle 8"/>
          <p:cNvSpPr/>
          <p:nvPr/>
        </p:nvSpPr>
        <p:spPr>
          <a:xfrm>
            <a:off x="4724908" y="3284738"/>
            <a:ext cx="4188273" cy="35751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spTree>
    <p:extLst>
      <p:ext uri="{BB962C8B-B14F-4D97-AF65-F5344CB8AC3E}">
        <p14:creationId xmlns:p14="http://schemas.microsoft.com/office/powerpoint/2010/main" val="3730356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3746" y="189571"/>
            <a:ext cx="3189249" cy="646331"/>
          </a:xfrm>
          <a:prstGeom prst="rect">
            <a:avLst/>
          </a:prstGeom>
          <a:noFill/>
        </p:spPr>
        <p:txBody>
          <a:bodyPr wrap="square" rtlCol="0">
            <a:spAutoFit/>
          </a:bodyPr>
          <a:lstStyle/>
          <a:p>
            <a:r>
              <a:rPr lang="en-AU" dirty="0"/>
              <a:t>Time Calculations</a:t>
            </a:r>
          </a:p>
          <a:p>
            <a:endParaRPr lang="en-AU" dirty="0"/>
          </a:p>
        </p:txBody>
      </p:sp>
      <p:pic>
        <p:nvPicPr>
          <p:cNvPr id="5" name="Picture 4"/>
          <p:cNvPicPr>
            <a:picLocks noChangeAspect="1"/>
          </p:cNvPicPr>
          <p:nvPr/>
        </p:nvPicPr>
        <p:blipFill rotWithShape="1">
          <a:blip r:embed="rId3"/>
          <a:srcRect l="3272" t="1693"/>
          <a:stretch/>
        </p:blipFill>
        <p:spPr>
          <a:xfrm>
            <a:off x="2018370" y="835902"/>
            <a:ext cx="5199451" cy="3608020"/>
          </a:xfrm>
          <a:prstGeom prst="rect">
            <a:avLst/>
          </a:prstGeom>
        </p:spPr>
      </p:pic>
    </p:spTree>
    <p:extLst>
      <p:ext uri="{BB962C8B-B14F-4D97-AF65-F5344CB8AC3E}">
        <p14:creationId xmlns:p14="http://schemas.microsoft.com/office/powerpoint/2010/main" val="3147912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998987" y="150923"/>
                <a:ext cx="6429098" cy="3197661"/>
              </a:xfrm>
            </p:spPr>
            <p:txBody>
              <a:bodyPr>
                <a:normAutofit fontScale="92500" lnSpcReduction="20000"/>
              </a:bodyPr>
              <a:lstStyle/>
              <a:p>
                <a:pPr marL="0" indent="0">
                  <a:buNone/>
                </a:pPr>
                <a:r>
                  <a:rPr lang="en-AU" sz="2000" b="1" i="1" dirty="0"/>
                  <a:t>1. How do I </a:t>
                </a:r>
                <a:r>
                  <a:rPr lang="en-AU" sz="1800" b="1" i="1" dirty="0"/>
                  <a:t>calculate</a:t>
                </a:r>
                <a:r>
                  <a:rPr lang="en-AU" sz="2000" b="1" i="1" dirty="0"/>
                  <a:t> 235mins into hours and minutes?</a:t>
                </a:r>
              </a:p>
              <a:p>
                <a:pPr marL="342900" lvl="1" indent="0">
                  <a:buNone/>
                </a:pPr>
                <a:r>
                  <a:rPr lang="en-AU" sz="2000" dirty="0"/>
                  <a:t>		235 </a:t>
                </a:r>
                <a14:m>
                  <m:oMath xmlns:m="http://schemas.openxmlformats.org/officeDocument/2006/math">
                    <m:r>
                      <a:rPr lang="en-AU" sz="2000" b="0" i="0" smtClean="0">
                        <a:latin typeface="Cambria Math" panose="02040503050406030204" pitchFamily="18" charset="0"/>
                        <a:ea typeface="Cambria Math" panose="02040503050406030204" pitchFamily="18" charset="0"/>
                      </a:rPr>
                      <m:t>÷60= </m:t>
                    </m:r>
                  </m:oMath>
                </a14:m>
                <a:r>
                  <a:rPr lang="en-AU" sz="2000" dirty="0"/>
                  <a:t>3.917</a:t>
                </a:r>
              </a:p>
              <a:p>
                <a:pPr marL="342900" lvl="1" indent="0">
                  <a:buNone/>
                </a:pPr>
                <a:r>
                  <a:rPr lang="en-AU" sz="2000" b="1" dirty="0"/>
                  <a:t>This means 3 hours and 0.917 of an hour. </a:t>
                </a:r>
                <a:r>
                  <a:rPr lang="en-AU" sz="2000" dirty="0"/>
                  <a:t> </a:t>
                </a:r>
              </a:p>
              <a:p>
                <a:pPr marL="342900" lvl="1" indent="0">
                  <a:buNone/>
                </a:pPr>
                <a:endParaRPr lang="en-AU" sz="2000" dirty="0"/>
              </a:p>
              <a:p>
                <a:pPr marL="342900" lvl="1" indent="0">
                  <a:buNone/>
                </a:pPr>
                <a:r>
                  <a:rPr lang="en-AU" sz="2000" b="1" dirty="0"/>
                  <a:t>Since an hour is 60mins long then</a:t>
                </a:r>
              </a:p>
              <a:p>
                <a:pPr marL="342900" lvl="1" indent="0">
                  <a:buNone/>
                </a:pPr>
                <a:r>
                  <a:rPr lang="en-AU" sz="2000" dirty="0"/>
                  <a:t> 	         0.917 x 60 = 55mins</a:t>
                </a:r>
              </a:p>
              <a:p>
                <a:pPr marL="342900" lvl="1" indent="0">
                  <a:buNone/>
                </a:pPr>
                <a:endParaRPr lang="en-AU" sz="2000" dirty="0"/>
              </a:p>
              <a:p>
                <a:pPr marL="342900" lvl="1" indent="0">
                  <a:buNone/>
                </a:pPr>
                <a:endParaRPr lang="en-AU" sz="2000" dirty="0"/>
              </a:p>
              <a:p>
                <a:pPr marL="342900" lvl="1" indent="0">
                  <a:buNone/>
                </a:pPr>
                <a:r>
                  <a:rPr lang="en-AU" sz="2000" b="1" dirty="0"/>
                  <a:t>Therefore 235mins = 3 hours and 55 mins</a:t>
                </a:r>
                <a:r>
                  <a:rPr lang="en-AU" sz="2000" dirty="0"/>
                  <a:t>.</a:t>
                </a:r>
              </a:p>
              <a:p>
                <a:pPr marL="342900" lvl="1" indent="0">
                  <a:buNone/>
                </a:pPr>
                <a:endParaRPr lang="en-AU" sz="2000" dirty="0"/>
              </a:p>
              <a:p>
                <a:pPr marL="0" indent="0">
                  <a:buNone/>
                </a:pPr>
                <a:r>
                  <a:rPr lang="en-AU" sz="2000" b="1" i="1" dirty="0"/>
                  <a:t>2. Find the time difference between 7.15 pm and 10.25 pm.</a:t>
                </a:r>
              </a:p>
              <a:p>
                <a:pPr marL="0" indent="0">
                  <a:buNone/>
                </a:pPr>
                <a:r>
                  <a:rPr lang="en-AU" sz="2000" dirty="0"/>
                  <a:t>				</a:t>
                </a:r>
              </a:p>
              <a:p>
                <a:pPr marL="0" indent="0">
                  <a:buNone/>
                </a:pPr>
                <a:endParaRPr lang="en-AU" sz="2000" dirty="0"/>
              </a:p>
              <a:p>
                <a:pPr marL="0" indent="0">
                  <a:buNone/>
                </a:pPr>
                <a:endParaRPr lang="en-AU" sz="2000" dirty="0"/>
              </a:p>
              <a:p>
                <a:pPr marL="0" indent="0">
                  <a:buNone/>
                </a:pPr>
                <a:endParaRPr lang="en-AU"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998987" y="150923"/>
                <a:ext cx="6429098" cy="3197661"/>
              </a:xfrm>
              <a:blipFill>
                <a:blip r:embed="rId3"/>
                <a:stretch>
                  <a:fillRect l="-948" t="-3244"/>
                </a:stretch>
              </a:blipFill>
            </p:spPr>
            <p:txBody>
              <a:bodyPr/>
              <a:lstStyle/>
              <a:p>
                <a:r>
                  <a:rPr lang="en-AU">
                    <a:noFill/>
                  </a:rPr>
                  <a:t> </a:t>
                </a:r>
              </a:p>
            </p:txBody>
          </p:sp>
        </mc:Fallback>
      </mc:AlternateContent>
      <p:sp>
        <p:nvSpPr>
          <p:cNvPr id="4" name="TextBox 3"/>
          <p:cNvSpPr txBox="1"/>
          <p:nvPr/>
        </p:nvSpPr>
        <p:spPr>
          <a:xfrm>
            <a:off x="115410" y="242407"/>
            <a:ext cx="2805344"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sz="1600" dirty="0"/>
              <a:t>Step 1. Divide the total number of minutes by how many minutes are in 1 hour</a:t>
            </a:r>
          </a:p>
        </p:txBody>
      </p:sp>
      <p:sp>
        <p:nvSpPr>
          <p:cNvPr id="5" name="TextBox 4"/>
          <p:cNvSpPr txBox="1"/>
          <p:nvPr/>
        </p:nvSpPr>
        <p:spPr>
          <a:xfrm>
            <a:off x="96822" y="1165497"/>
            <a:ext cx="2805344"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sz="1600" dirty="0"/>
              <a:t>Step 2. Convert the decimal part to minutes by multiplying by 60</a:t>
            </a:r>
          </a:p>
        </p:txBody>
      </p:sp>
      <p:sp>
        <p:nvSpPr>
          <p:cNvPr id="6" name="TextBox 5"/>
          <p:cNvSpPr txBox="1"/>
          <p:nvPr/>
        </p:nvSpPr>
        <p:spPr>
          <a:xfrm>
            <a:off x="96822" y="2046818"/>
            <a:ext cx="2805344"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sz="1600" dirty="0"/>
              <a:t>Step 3. Combine the answers together</a:t>
            </a:r>
          </a:p>
        </p:txBody>
      </p:sp>
      <p:graphicFrame>
        <p:nvGraphicFramePr>
          <p:cNvPr id="7" name="Table 6"/>
          <p:cNvGraphicFramePr>
            <a:graphicFrameLocks noGrp="1"/>
          </p:cNvGraphicFramePr>
          <p:nvPr>
            <p:extLst>
              <p:ext uri="{D42A27DB-BD31-4B8C-83A1-F6EECF244321}">
                <p14:modId xmlns:p14="http://schemas.microsoft.com/office/powerpoint/2010/main" val="2735865460"/>
              </p:ext>
            </p:extLst>
          </p:nvPr>
        </p:nvGraphicFramePr>
        <p:xfrm>
          <a:off x="4545367" y="3057323"/>
          <a:ext cx="3648721" cy="1976316"/>
        </p:xfrm>
        <a:graphic>
          <a:graphicData uri="http://schemas.openxmlformats.org/drawingml/2006/table">
            <a:tbl>
              <a:tblPr firstRow="1" bandRow="1">
                <a:tableStyleId>{5940675A-B579-460E-94D1-54222C63F5DA}</a:tableStyleId>
              </a:tblPr>
              <a:tblGrid>
                <a:gridCol w="1099289">
                  <a:extLst>
                    <a:ext uri="{9D8B030D-6E8A-4147-A177-3AD203B41FA5}">
                      <a16:colId xmlns:a16="http://schemas.microsoft.com/office/drawing/2014/main" val="3937838677"/>
                    </a:ext>
                  </a:extLst>
                </a:gridCol>
                <a:gridCol w="1274716">
                  <a:extLst>
                    <a:ext uri="{9D8B030D-6E8A-4147-A177-3AD203B41FA5}">
                      <a16:colId xmlns:a16="http://schemas.microsoft.com/office/drawing/2014/main" val="548063539"/>
                    </a:ext>
                  </a:extLst>
                </a:gridCol>
                <a:gridCol w="1274716">
                  <a:extLst>
                    <a:ext uri="{9D8B030D-6E8A-4147-A177-3AD203B41FA5}">
                      <a16:colId xmlns:a16="http://schemas.microsoft.com/office/drawing/2014/main" val="4171557867"/>
                    </a:ext>
                  </a:extLst>
                </a:gridCol>
              </a:tblGrid>
              <a:tr h="329386">
                <a:tc>
                  <a:txBody>
                    <a:bodyPr/>
                    <a:lstStyle/>
                    <a:p>
                      <a:endParaRPr lang="en-AU" b="1" dirty="0"/>
                    </a:p>
                  </a:txBody>
                  <a:tcPr/>
                </a:tc>
                <a:tc>
                  <a:txBody>
                    <a:bodyPr/>
                    <a:lstStyle/>
                    <a:p>
                      <a:r>
                        <a:rPr lang="en-AU" b="1" dirty="0"/>
                        <a:t>Hours</a:t>
                      </a:r>
                    </a:p>
                  </a:txBody>
                  <a:tcPr/>
                </a:tc>
                <a:tc>
                  <a:txBody>
                    <a:bodyPr/>
                    <a:lstStyle/>
                    <a:p>
                      <a:r>
                        <a:rPr lang="en-AU" b="1" dirty="0"/>
                        <a:t>Minutes</a:t>
                      </a:r>
                    </a:p>
                  </a:txBody>
                  <a:tcPr/>
                </a:tc>
                <a:extLst>
                  <a:ext uri="{0D108BD9-81ED-4DB2-BD59-A6C34878D82A}">
                    <a16:rowId xmlns:a16="http://schemas.microsoft.com/office/drawing/2014/main" val="3268246402"/>
                  </a:ext>
                </a:extLst>
              </a:tr>
              <a:tr h="329386">
                <a:tc>
                  <a:txBody>
                    <a:bodyPr/>
                    <a:lstStyle/>
                    <a:p>
                      <a:r>
                        <a:rPr lang="en-AU" b="1" dirty="0"/>
                        <a:t>7:15pm</a:t>
                      </a:r>
                    </a:p>
                  </a:txBody>
                  <a:tcPr/>
                </a:tc>
                <a:tc>
                  <a:txBody>
                    <a:bodyPr/>
                    <a:lstStyle/>
                    <a:p>
                      <a:endParaRPr lang="en-AU" b="1" dirty="0"/>
                    </a:p>
                  </a:txBody>
                  <a:tcPr/>
                </a:tc>
                <a:tc>
                  <a:txBody>
                    <a:bodyPr/>
                    <a:lstStyle/>
                    <a:p>
                      <a:endParaRPr lang="en-AU" b="1" dirty="0"/>
                    </a:p>
                  </a:txBody>
                  <a:tcPr/>
                </a:tc>
                <a:extLst>
                  <a:ext uri="{0D108BD9-81ED-4DB2-BD59-A6C34878D82A}">
                    <a16:rowId xmlns:a16="http://schemas.microsoft.com/office/drawing/2014/main" val="2205574152"/>
                  </a:ext>
                </a:extLst>
              </a:tr>
              <a:tr h="329386">
                <a:tc>
                  <a:txBody>
                    <a:bodyPr/>
                    <a:lstStyle/>
                    <a:p>
                      <a:r>
                        <a:rPr lang="en-AU" b="1" dirty="0"/>
                        <a:t>8:00pm</a:t>
                      </a:r>
                    </a:p>
                  </a:txBody>
                  <a:tcPr/>
                </a:tc>
                <a:tc>
                  <a:txBody>
                    <a:bodyPr/>
                    <a:lstStyle/>
                    <a:p>
                      <a:endParaRPr lang="en-AU" b="1"/>
                    </a:p>
                  </a:txBody>
                  <a:tcPr/>
                </a:tc>
                <a:tc>
                  <a:txBody>
                    <a:bodyPr/>
                    <a:lstStyle/>
                    <a:p>
                      <a:endParaRPr lang="en-AU" b="1" dirty="0"/>
                    </a:p>
                  </a:txBody>
                  <a:tcPr/>
                </a:tc>
                <a:extLst>
                  <a:ext uri="{0D108BD9-81ED-4DB2-BD59-A6C34878D82A}">
                    <a16:rowId xmlns:a16="http://schemas.microsoft.com/office/drawing/2014/main" val="3701887884"/>
                  </a:ext>
                </a:extLst>
              </a:tr>
              <a:tr h="329386">
                <a:tc>
                  <a:txBody>
                    <a:bodyPr/>
                    <a:lstStyle/>
                    <a:p>
                      <a:r>
                        <a:rPr lang="en-AU" b="1" dirty="0"/>
                        <a:t>10:00pm</a:t>
                      </a:r>
                    </a:p>
                  </a:txBody>
                  <a:tcPr/>
                </a:tc>
                <a:tc>
                  <a:txBody>
                    <a:bodyPr/>
                    <a:lstStyle/>
                    <a:p>
                      <a:endParaRPr lang="en-AU" b="1" dirty="0"/>
                    </a:p>
                  </a:txBody>
                  <a:tcPr/>
                </a:tc>
                <a:tc>
                  <a:txBody>
                    <a:bodyPr/>
                    <a:lstStyle/>
                    <a:p>
                      <a:endParaRPr lang="en-AU" b="1" dirty="0"/>
                    </a:p>
                  </a:txBody>
                  <a:tcPr/>
                </a:tc>
                <a:extLst>
                  <a:ext uri="{0D108BD9-81ED-4DB2-BD59-A6C34878D82A}">
                    <a16:rowId xmlns:a16="http://schemas.microsoft.com/office/drawing/2014/main" val="3335273455"/>
                  </a:ext>
                </a:extLst>
              </a:tr>
              <a:tr h="329386">
                <a:tc>
                  <a:txBody>
                    <a:bodyPr/>
                    <a:lstStyle/>
                    <a:p>
                      <a:r>
                        <a:rPr lang="en-AU" b="1" dirty="0"/>
                        <a:t>10:25pm</a:t>
                      </a:r>
                    </a:p>
                  </a:txBody>
                  <a:tcPr/>
                </a:tc>
                <a:tc>
                  <a:txBody>
                    <a:bodyPr/>
                    <a:lstStyle/>
                    <a:p>
                      <a:endParaRPr lang="en-AU" b="1" dirty="0"/>
                    </a:p>
                  </a:txBody>
                  <a:tcPr/>
                </a:tc>
                <a:tc>
                  <a:txBody>
                    <a:bodyPr/>
                    <a:lstStyle/>
                    <a:p>
                      <a:endParaRPr lang="en-AU" b="1" dirty="0"/>
                    </a:p>
                  </a:txBody>
                  <a:tcPr/>
                </a:tc>
                <a:extLst>
                  <a:ext uri="{0D108BD9-81ED-4DB2-BD59-A6C34878D82A}">
                    <a16:rowId xmlns:a16="http://schemas.microsoft.com/office/drawing/2014/main" val="4007756215"/>
                  </a:ext>
                </a:extLst>
              </a:tr>
              <a:tr h="32938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b="1" dirty="0"/>
                        <a:t>Total time</a:t>
                      </a:r>
                    </a:p>
                  </a:txBody>
                  <a:tcPr/>
                </a:tc>
                <a:tc>
                  <a:txBody>
                    <a:bodyPr/>
                    <a:lstStyle/>
                    <a:p>
                      <a:endParaRPr lang="en-AU" b="1" dirty="0"/>
                    </a:p>
                  </a:txBody>
                  <a:tcPr/>
                </a:tc>
                <a:tc>
                  <a:txBody>
                    <a:bodyPr/>
                    <a:lstStyle/>
                    <a:p>
                      <a:endParaRPr lang="en-AU" b="1" dirty="0"/>
                    </a:p>
                  </a:txBody>
                  <a:tcPr/>
                </a:tc>
                <a:extLst>
                  <a:ext uri="{0D108BD9-81ED-4DB2-BD59-A6C34878D82A}">
                    <a16:rowId xmlns:a16="http://schemas.microsoft.com/office/drawing/2014/main" val="3116032331"/>
                  </a:ext>
                </a:extLst>
              </a:tr>
            </a:tbl>
          </a:graphicData>
        </a:graphic>
      </p:graphicFrame>
      <p:sp>
        <p:nvSpPr>
          <p:cNvPr id="8" name="TextBox 7"/>
          <p:cNvSpPr txBox="1"/>
          <p:nvPr/>
        </p:nvSpPr>
        <p:spPr>
          <a:xfrm>
            <a:off x="115410" y="3456133"/>
            <a:ext cx="413699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AU" sz="1400" dirty="0"/>
              <a:t>1. What is the difference between 1:15pm and 8pm</a:t>
            </a:r>
          </a:p>
        </p:txBody>
      </p:sp>
      <p:sp>
        <p:nvSpPr>
          <p:cNvPr id="9" name="Left Brace 8"/>
          <p:cNvSpPr/>
          <p:nvPr/>
        </p:nvSpPr>
        <p:spPr>
          <a:xfrm>
            <a:off x="4252403" y="3540480"/>
            <a:ext cx="292963" cy="257453"/>
          </a:xfrm>
          <a:prstGeom prst="leftBrace">
            <a:avLst>
              <a:gd name="adj1" fmla="val 8333"/>
              <a:gd name="adj2" fmla="val 4227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0" name="TextBox 9"/>
          <p:cNvSpPr txBox="1"/>
          <p:nvPr/>
        </p:nvSpPr>
        <p:spPr>
          <a:xfrm>
            <a:off x="115410" y="3848257"/>
            <a:ext cx="413699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AU" sz="1400" dirty="0"/>
              <a:t>2. What is the difference between 8pm and 10pm</a:t>
            </a:r>
          </a:p>
        </p:txBody>
      </p:sp>
      <p:sp>
        <p:nvSpPr>
          <p:cNvPr id="11" name="Left Brace 10"/>
          <p:cNvSpPr/>
          <p:nvPr/>
        </p:nvSpPr>
        <p:spPr>
          <a:xfrm flipV="1">
            <a:off x="4212452" y="3890026"/>
            <a:ext cx="292963" cy="227595"/>
          </a:xfrm>
          <a:prstGeom prst="leftBrace">
            <a:avLst>
              <a:gd name="adj1" fmla="val 8333"/>
              <a:gd name="adj2" fmla="val 561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2" name="TextBox 11"/>
          <p:cNvSpPr txBox="1"/>
          <p:nvPr/>
        </p:nvSpPr>
        <p:spPr>
          <a:xfrm>
            <a:off x="115410" y="4248127"/>
            <a:ext cx="413699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AU" sz="1400" dirty="0"/>
              <a:t>3. What is the difference between 10pm and 10:25pm</a:t>
            </a:r>
          </a:p>
        </p:txBody>
      </p:sp>
      <p:sp>
        <p:nvSpPr>
          <p:cNvPr id="13" name="Left Brace 12"/>
          <p:cNvSpPr/>
          <p:nvPr/>
        </p:nvSpPr>
        <p:spPr>
          <a:xfrm flipV="1">
            <a:off x="4199136" y="4240381"/>
            <a:ext cx="365459" cy="264376"/>
          </a:xfrm>
          <a:prstGeom prst="leftBrace">
            <a:avLst>
              <a:gd name="adj1" fmla="val 8333"/>
              <a:gd name="adj2" fmla="val 561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4" name="TextBox 13"/>
          <p:cNvSpPr txBox="1"/>
          <p:nvPr/>
        </p:nvSpPr>
        <p:spPr>
          <a:xfrm>
            <a:off x="115410" y="4689730"/>
            <a:ext cx="413699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AU" sz="1400" dirty="0"/>
              <a:t>4. Add the minutes together and collect the hours</a:t>
            </a:r>
          </a:p>
        </p:txBody>
      </p:sp>
      <p:sp>
        <p:nvSpPr>
          <p:cNvPr id="15" name="TextBox 14"/>
          <p:cNvSpPr txBox="1"/>
          <p:nvPr/>
        </p:nvSpPr>
        <p:spPr>
          <a:xfrm>
            <a:off x="115410" y="5147625"/>
            <a:ext cx="4243523" cy="52322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AU" sz="1400" dirty="0"/>
              <a:t>5. If the minutes add to give more than 60, readjust your answer.</a:t>
            </a:r>
          </a:p>
        </p:txBody>
      </p:sp>
      <p:sp>
        <p:nvSpPr>
          <p:cNvPr id="16" name="TextBox 15"/>
          <p:cNvSpPr txBox="1"/>
          <p:nvPr/>
        </p:nvSpPr>
        <p:spPr>
          <a:xfrm>
            <a:off x="4676865" y="5147625"/>
            <a:ext cx="3863448" cy="369332"/>
          </a:xfrm>
          <a:prstGeom prst="rect">
            <a:avLst/>
          </a:prstGeom>
          <a:noFill/>
        </p:spPr>
        <p:txBody>
          <a:bodyPr wrap="square" rtlCol="0">
            <a:spAutoFit/>
          </a:bodyPr>
          <a:lstStyle/>
          <a:p>
            <a:r>
              <a:rPr lang="en-AU" dirty="0"/>
              <a:t>2hrs and 70 mins  </a:t>
            </a:r>
            <a:r>
              <a:rPr lang="en-AU" b="1" dirty="0"/>
              <a:t>= 3hrs and 10mins</a:t>
            </a:r>
          </a:p>
        </p:txBody>
      </p:sp>
      <p:sp>
        <p:nvSpPr>
          <p:cNvPr id="17" name="TextBox 16"/>
          <p:cNvSpPr txBox="1"/>
          <p:nvPr/>
        </p:nvSpPr>
        <p:spPr>
          <a:xfrm>
            <a:off x="6942338" y="3676149"/>
            <a:ext cx="763479" cy="369332"/>
          </a:xfrm>
          <a:prstGeom prst="rect">
            <a:avLst/>
          </a:prstGeom>
          <a:noFill/>
        </p:spPr>
        <p:txBody>
          <a:bodyPr wrap="square" rtlCol="0">
            <a:spAutoFit/>
          </a:bodyPr>
          <a:lstStyle/>
          <a:p>
            <a:r>
              <a:rPr lang="en-AU" dirty="0"/>
              <a:t>45</a:t>
            </a:r>
          </a:p>
        </p:txBody>
      </p:sp>
      <p:sp>
        <p:nvSpPr>
          <p:cNvPr id="18" name="TextBox 17"/>
          <p:cNvSpPr txBox="1"/>
          <p:nvPr/>
        </p:nvSpPr>
        <p:spPr>
          <a:xfrm>
            <a:off x="5650638" y="4032683"/>
            <a:ext cx="763479" cy="369332"/>
          </a:xfrm>
          <a:prstGeom prst="rect">
            <a:avLst/>
          </a:prstGeom>
          <a:noFill/>
        </p:spPr>
        <p:txBody>
          <a:bodyPr wrap="square" rtlCol="0">
            <a:spAutoFit/>
          </a:bodyPr>
          <a:lstStyle/>
          <a:p>
            <a:r>
              <a:rPr lang="en-AU" dirty="0"/>
              <a:t>2</a:t>
            </a:r>
          </a:p>
        </p:txBody>
      </p:sp>
      <p:sp>
        <p:nvSpPr>
          <p:cNvPr id="19" name="TextBox 18"/>
          <p:cNvSpPr txBox="1"/>
          <p:nvPr/>
        </p:nvSpPr>
        <p:spPr>
          <a:xfrm>
            <a:off x="6917924" y="4320091"/>
            <a:ext cx="763479" cy="369332"/>
          </a:xfrm>
          <a:prstGeom prst="rect">
            <a:avLst/>
          </a:prstGeom>
          <a:noFill/>
        </p:spPr>
        <p:txBody>
          <a:bodyPr wrap="square" rtlCol="0">
            <a:spAutoFit/>
          </a:bodyPr>
          <a:lstStyle/>
          <a:p>
            <a:r>
              <a:rPr lang="en-AU" dirty="0"/>
              <a:t>25</a:t>
            </a:r>
          </a:p>
        </p:txBody>
      </p:sp>
      <p:sp>
        <p:nvSpPr>
          <p:cNvPr id="20" name="TextBox 19"/>
          <p:cNvSpPr txBox="1"/>
          <p:nvPr/>
        </p:nvSpPr>
        <p:spPr>
          <a:xfrm>
            <a:off x="5650638" y="4664307"/>
            <a:ext cx="763479" cy="369332"/>
          </a:xfrm>
          <a:prstGeom prst="rect">
            <a:avLst/>
          </a:prstGeom>
          <a:noFill/>
        </p:spPr>
        <p:txBody>
          <a:bodyPr wrap="square" rtlCol="0">
            <a:spAutoFit/>
          </a:bodyPr>
          <a:lstStyle/>
          <a:p>
            <a:r>
              <a:rPr lang="en-AU" dirty="0"/>
              <a:t>2</a:t>
            </a:r>
          </a:p>
        </p:txBody>
      </p:sp>
      <p:sp>
        <p:nvSpPr>
          <p:cNvPr id="21" name="TextBox 20"/>
          <p:cNvSpPr txBox="1"/>
          <p:nvPr/>
        </p:nvSpPr>
        <p:spPr>
          <a:xfrm>
            <a:off x="6917923" y="4680395"/>
            <a:ext cx="763479" cy="369332"/>
          </a:xfrm>
          <a:prstGeom prst="rect">
            <a:avLst/>
          </a:prstGeom>
          <a:noFill/>
        </p:spPr>
        <p:txBody>
          <a:bodyPr wrap="square" rtlCol="0">
            <a:spAutoFit/>
          </a:bodyPr>
          <a:lstStyle/>
          <a:p>
            <a:r>
              <a:rPr lang="en-AU" dirty="0"/>
              <a:t>70</a:t>
            </a:r>
          </a:p>
        </p:txBody>
      </p:sp>
    </p:spTree>
    <p:extLst>
      <p:ext uri="{BB962C8B-B14F-4D97-AF65-F5344CB8AC3E}">
        <p14:creationId xmlns:p14="http://schemas.microsoft.com/office/powerpoint/2010/main" val="2664508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p:bldP spid="17" grpId="0"/>
      <p:bldP spid="18"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346625" y="108143"/>
            <a:ext cx="7610475" cy="2867025"/>
          </a:xfrm>
          <a:prstGeom prst="rect">
            <a:avLst/>
          </a:prstGeom>
        </p:spPr>
      </p:pic>
      <p:sp>
        <p:nvSpPr>
          <p:cNvPr id="6" name="TextBox 5"/>
          <p:cNvSpPr txBox="1"/>
          <p:nvPr/>
        </p:nvSpPr>
        <p:spPr>
          <a:xfrm>
            <a:off x="200722" y="379141"/>
            <a:ext cx="869795" cy="369332"/>
          </a:xfrm>
          <a:prstGeom prst="rect">
            <a:avLst/>
          </a:prstGeom>
          <a:noFill/>
        </p:spPr>
        <p:txBody>
          <a:bodyPr wrap="square" rtlCol="0">
            <a:spAutoFit/>
          </a:bodyPr>
          <a:lstStyle/>
          <a:p>
            <a:r>
              <a:rPr lang="en-AU" dirty="0"/>
              <a:t>2016</a:t>
            </a:r>
          </a:p>
        </p:txBody>
      </p:sp>
    </p:spTree>
    <p:extLst>
      <p:ext uri="{BB962C8B-B14F-4D97-AF65-F5344CB8AC3E}">
        <p14:creationId xmlns:p14="http://schemas.microsoft.com/office/powerpoint/2010/main" val="30205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27891" y="264746"/>
            <a:ext cx="7468542" cy="1794766"/>
          </a:xfrm>
          <a:prstGeom prst="rect">
            <a:avLst/>
          </a:prstGeom>
        </p:spPr>
      </p:pic>
      <p:sp>
        <p:nvSpPr>
          <p:cNvPr id="5" name="TextBox 4"/>
          <p:cNvSpPr txBox="1"/>
          <p:nvPr/>
        </p:nvSpPr>
        <p:spPr>
          <a:xfrm>
            <a:off x="229598" y="264746"/>
            <a:ext cx="869795" cy="369332"/>
          </a:xfrm>
          <a:prstGeom prst="rect">
            <a:avLst/>
          </a:prstGeom>
          <a:noFill/>
        </p:spPr>
        <p:txBody>
          <a:bodyPr wrap="square" rtlCol="0">
            <a:spAutoFit/>
          </a:bodyPr>
          <a:lstStyle/>
          <a:p>
            <a:r>
              <a:rPr lang="en-AU" dirty="0"/>
              <a:t>2015</a:t>
            </a:r>
          </a:p>
        </p:txBody>
      </p:sp>
    </p:spTree>
    <p:extLst>
      <p:ext uri="{BB962C8B-B14F-4D97-AF65-F5344CB8AC3E}">
        <p14:creationId xmlns:p14="http://schemas.microsoft.com/office/powerpoint/2010/main" val="2165639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95218" y="1394661"/>
            <a:ext cx="6824546" cy="4562475"/>
          </a:xfrm>
          <a:prstGeom prst="rect">
            <a:avLst/>
          </a:prstGeom>
        </p:spPr>
      </p:pic>
      <p:pic>
        <p:nvPicPr>
          <p:cNvPr id="5" name="Picture 4"/>
          <p:cNvPicPr>
            <a:picLocks noChangeAspect="1"/>
          </p:cNvPicPr>
          <p:nvPr/>
        </p:nvPicPr>
        <p:blipFill>
          <a:blip r:embed="rId4"/>
          <a:stretch>
            <a:fillRect/>
          </a:stretch>
        </p:blipFill>
        <p:spPr>
          <a:xfrm>
            <a:off x="978408" y="194332"/>
            <a:ext cx="6845799" cy="1134610"/>
          </a:xfrm>
          <a:prstGeom prst="rect">
            <a:avLst/>
          </a:prstGeom>
        </p:spPr>
      </p:pic>
      <p:sp>
        <p:nvSpPr>
          <p:cNvPr id="7" name="TextBox 6"/>
          <p:cNvSpPr txBox="1"/>
          <p:nvPr/>
        </p:nvSpPr>
        <p:spPr>
          <a:xfrm>
            <a:off x="2292021" y="161472"/>
            <a:ext cx="6322742"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a:t>The letter, denoting the vertex is always placed in the middle.  Instead of writing the word ‘angle’ we use the sign ∠ before the letters. For example, the angle shown at left can either be named ∠MNP, or ∠PNM.</a:t>
            </a:r>
          </a:p>
        </p:txBody>
      </p:sp>
    </p:spTree>
    <p:extLst>
      <p:ext uri="{BB962C8B-B14F-4D97-AF65-F5344CB8AC3E}">
        <p14:creationId xmlns:p14="http://schemas.microsoft.com/office/powerpoint/2010/main" val="197587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718316" y="0"/>
            <a:ext cx="2015895" cy="2098740"/>
          </a:xfrm>
          <a:prstGeom prst="rect">
            <a:avLst/>
          </a:prstGeom>
        </p:spPr>
      </p:pic>
      <p:pic>
        <p:nvPicPr>
          <p:cNvPr id="5" name="Picture 4"/>
          <p:cNvPicPr>
            <a:picLocks noChangeAspect="1"/>
          </p:cNvPicPr>
          <p:nvPr/>
        </p:nvPicPr>
        <p:blipFill>
          <a:blip r:embed="rId4"/>
          <a:stretch>
            <a:fillRect/>
          </a:stretch>
        </p:blipFill>
        <p:spPr>
          <a:xfrm>
            <a:off x="5599303" y="3494071"/>
            <a:ext cx="2148137" cy="1603539"/>
          </a:xfrm>
          <a:prstGeom prst="rect">
            <a:avLst/>
          </a:prstGeom>
        </p:spPr>
      </p:pic>
      <p:pic>
        <p:nvPicPr>
          <p:cNvPr id="6" name="Picture 5"/>
          <p:cNvPicPr>
            <a:picLocks noChangeAspect="1"/>
          </p:cNvPicPr>
          <p:nvPr/>
        </p:nvPicPr>
        <p:blipFill>
          <a:blip r:embed="rId5"/>
          <a:stretch>
            <a:fillRect/>
          </a:stretch>
        </p:blipFill>
        <p:spPr>
          <a:xfrm>
            <a:off x="6096387" y="1942624"/>
            <a:ext cx="2063290" cy="1502220"/>
          </a:xfrm>
          <a:prstGeom prst="rect">
            <a:avLst/>
          </a:prstGeom>
        </p:spPr>
      </p:pic>
      <p:sp>
        <p:nvSpPr>
          <p:cNvPr id="7" name="Rectangle 6"/>
          <p:cNvSpPr/>
          <p:nvPr/>
        </p:nvSpPr>
        <p:spPr>
          <a:xfrm>
            <a:off x="918017" y="486478"/>
            <a:ext cx="4681286" cy="4093428"/>
          </a:xfrm>
          <a:prstGeom prst="rect">
            <a:avLst/>
          </a:prstGeom>
        </p:spPr>
        <p:txBody>
          <a:bodyPr wrap="square">
            <a:spAutoFit/>
          </a:bodyPr>
          <a:lstStyle/>
          <a:p>
            <a:r>
              <a:rPr lang="en-AU" sz="2000" b="1" u="sng" dirty="0"/>
              <a:t>Corresponding angles</a:t>
            </a:r>
            <a:r>
              <a:rPr lang="en-AU" sz="2000" b="1" dirty="0"/>
              <a:t> are equal in size.</a:t>
            </a:r>
          </a:p>
          <a:p>
            <a:r>
              <a:rPr lang="en-AU" sz="2000" dirty="0"/>
              <a:t>The position of corresponding angles is easy to remember it by the </a:t>
            </a:r>
            <a:r>
              <a:rPr lang="en-AU" sz="2000" b="1" u="sng" dirty="0"/>
              <a:t>‘F’ shape</a:t>
            </a:r>
            <a:r>
              <a:rPr lang="en-AU" sz="2000" dirty="0"/>
              <a:t>.</a:t>
            </a:r>
          </a:p>
          <a:p>
            <a:endParaRPr lang="en-AU" sz="2000" b="1" dirty="0"/>
          </a:p>
          <a:p>
            <a:endParaRPr lang="en-AU" sz="2000" b="1" dirty="0"/>
          </a:p>
          <a:p>
            <a:endParaRPr lang="en-AU" sz="2000" b="1" dirty="0"/>
          </a:p>
          <a:p>
            <a:r>
              <a:rPr lang="en-AU" sz="2000" b="1" u="sng" dirty="0"/>
              <a:t>Alternate angles </a:t>
            </a:r>
            <a:r>
              <a:rPr lang="en-AU" sz="2000" b="1" dirty="0"/>
              <a:t>are equal in size</a:t>
            </a:r>
          </a:p>
          <a:p>
            <a:r>
              <a:rPr lang="en-AU" sz="2000" dirty="0"/>
              <a:t>The position of alternate angles is seen by the </a:t>
            </a:r>
            <a:r>
              <a:rPr lang="en-AU" sz="2000" b="1" u="sng" dirty="0"/>
              <a:t>‘Z’ shape</a:t>
            </a:r>
            <a:r>
              <a:rPr lang="en-AU" sz="2000" dirty="0"/>
              <a:t>.</a:t>
            </a:r>
          </a:p>
          <a:p>
            <a:endParaRPr lang="en-AU" sz="2000" b="1" dirty="0"/>
          </a:p>
          <a:p>
            <a:endParaRPr lang="en-AU" sz="2000" b="1" u="sng" dirty="0"/>
          </a:p>
          <a:p>
            <a:r>
              <a:rPr lang="en-AU" sz="2000" b="1" u="sng" dirty="0"/>
              <a:t>Co-interior angles </a:t>
            </a:r>
            <a:r>
              <a:rPr lang="en-AU" sz="2000" b="1" dirty="0"/>
              <a:t>add up to 180°.</a:t>
            </a:r>
          </a:p>
          <a:p>
            <a:r>
              <a:rPr lang="en-AU" sz="2000" dirty="0"/>
              <a:t>remember it by  the </a:t>
            </a:r>
            <a:r>
              <a:rPr lang="en-AU" sz="2000" b="1" u="sng" dirty="0"/>
              <a:t>‘C’ shape</a:t>
            </a:r>
            <a:r>
              <a:rPr lang="en-AU" sz="2000" dirty="0"/>
              <a:t>.</a:t>
            </a:r>
          </a:p>
        </p:txBody>
      </p:sp>
    </p:spTree>
    <p:extLst>
      <p:ext uri="{BB962C8B-B14F-4D97-AF65-F5344CB8AC3E}">
        <p14:creationId xmlns:p14="http://schemas.microsoft.com/office/powerpoint/2010/main" val="610417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070517" y="300990"/>
            <a:ext cx="5295900" cy="4381500"/>
          </a:xfrm>
          <a:prstGeom prst="rect">
            <a:avLst/>
          </a:prstGeom>
        </p:spPr>
      </p:pic>
      <p:sp>
        <p:nvSpPr>
          <p:cNvPr id="5" name="TextBox 4"/>
          <p:cNvSpPr txBox="1"/>
          <p:nvPr/>
        </p:nvSpPr>
        <p:spPr>
          <a:xfrm>
            <a:off x="200722" y="379141"/>
            <a:ext cx="869795" cy="369332"/>
          </a:xfrm>
          <a:prstGeom prst="rect">
            <a:avLst/>
          </a:prstGeom>
          <a:noFill/>
        </p:spPr>
        <p:txBody>
          <a:bodyPr wrap="square" rtlCol="0">
            <a:spAutoFit/>
          </a:bodyPr>
          <a:lstStyle/>
          <a:p>
            <a:r>
              <a:rPr lang="en-AU" dirty="0"/>
              <a:t>2016</a:t>
            </a:r>
          </a:p>
        </p:txBody>
      </p:sp>
    </p:spTree>
    <p:extLst>
      <p:ext uri="{BB962C8B-B14F-4D97-AF65-F5344CB8AC3E}">
        <p14:creationId xmlns:p14="http://schemas.microsoft.com/office/powerpoint/2010/main" val="3019595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070517" y="563807"/>
            <a:ext cx="4162425" cy="4362450"/>
          </a:xfrm>
          <a:prstGeom prst="rect">
            <a:avLst/>
          </a:prstGeom>
        </p:spPr>
      </p:pic>
      <p:sp>
        <p:nvSpPr>
          <p:cNvPr id="5" name="TextBox 4"/>
          <p:cNvSpPr txBox="1"/>
          <p:nvPr/>
        </p:nvSpPr>
        <p:spPr>
          <a:xfrm>
            <a:off x="200722" y="379141"/>
            <a:ext cx="869795" cy="369332"/>
          </a:xfrm>
          <a:prstGeom prst="rect">
            <a:avLst/>
          </a:prstGeom>
          <a:noFill/>
        </p:spPr>
        <p:txBody>
          <a:bodyPr wrap="square" rtlCol="0">
            <a:spAutoFit/>
          </a:bodyPr>
          <a:lstStyle/>
          <a:p>
            <a:r>
              <a:rPr lang="en-AU" dirty="0"/>
              <a:t>2016</a:t>
            </a:r>
          </a:p>
        </p:txBody>
      </p:sp>
    </p:spTree>
    <p:extLst>
      <p:ext uri="{BB962C8B-B14F-4D97-AF65-F5344CB8AC3E}">
        <p14:creationId xmlns:p14="http://schemas.microsoft.com/office/powerpoint/2010/main" val="2698769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8458" y="226106"/>
            <a:ext cx="2661498" cy="338554"/>
          </a:xfrm>
          <a:prstGeom prst="rect">
            <a:avLst/>
          </a:prstGeom>
          <a:noFill/>
        </p:spPr>
        <p:txBody>
          <a:bodyPr wrap="none" rtlCol="0">
            <a:spAutoFit/>
          </a:bodyPr>
          <a:lstStyle/>
          <a:p>
            <a:r>
              <a:rPr lang="en-AU" sz="1600" b="1" dirty="0"/>
              <a:t>There are 4 types of triangles</a:t>
            </a:r>
            <a:endParaRPr lang="en-AU" sz="1600" dirty="0"/>
          </a:p>
        </p:txBody>
      </p:sp>
      <p:pic>
        <p:nvPicPr>
          <p:cNvPr id="6" name="Picture 5"/>
          <p:cNvPicPr>
            <a:picLocks noChangeAspect="1"/>
          </p:cNvPicPr>
          <p:nvPr/>
        </p:nvPicPr>
        <p:blipFill rotWithShape="1">
          <a:blip r:embed="rId3"/>
          <a:srcRect t="12068"/>
          <a:stretch/>
        </p:blipFill>
        <p:spPr>
          <a:xfrm>
            <a:off x="31000" y="564660"/>
            <a:ext cx="4599538" cy="1611817"/>
          </a:xfrm>
          <a:prstGeom prst="rect">
            <a:avLst/>
          </a:prstGeom>
        </p:spPr>
      </p:pic>
      <p:pic>
        <p:nvPicPr>
          <p:cNvPr id="7" name="Picture 6"/>
          <p:cNvPicPr>
            <a:picLocks noChangeAspect="1"/>
          </p:cNvPicPr>
          <p:nvPr/>
        </p:nvPicPr>
        <p:blipFill rotWithShape="1">
          <a:blip r:embed="rId4"/>
          <a:srcRect l="4927"/>
          <a:stretch/>
        </p:blipFill>
        <p:spPr>
          <a:xfrm>
            <a:off x="4630538" y="550059"/>
            <a:ext cx="4513462" cy="1608344"/>
          </a:xfrm>
          <a:prstGeom prst="rect">
            <a:avLst/>
          </a:prstGeom>
        </p:spPr>
      </p:pic>
      <p:sp>
        <p:nvSpPr>
          <p:cNvPr id="8" name="TextBox 7"/>
          <p:cNvSpPr txBox="1"/>
          <p:nvPr/>
        </p:nvSpPr>
        <p:spPr>
          <a:xfrm>
            <a:off x="168458" y="2221554"/>
            <a:ext cx="5119158" cy="830997"/>
          </a:xfrm>
          <a:prstGeom prst="rect">
            <a:avLst/>
          </a:prstGeom>
          <a:noFill/>
        </p:spPr>
        <p:txBody>
          <a:bodyPr wrap="none" rtlCol="0">
            <a:spAutoFit/>
          </a:bodyPr>
          <a:lstStyle/>
          <a:p>
            <a:r>
              <a:rPr lang="en-AU" sz="1600" b="1" dirty="0"/>
              <a:t>The angles inside a triangle all add together to equal 180</a:t>
            </a:r>
            <a:r>
              <a:rPr lang="en-AU" sz="1600" b="1" baseline="30000" dirty="0"/>
              <a:t>o</a:t>
            </a:r>
            <a:r>
              <a:rPr lang="en-AU" sz="1600" b="1" dirty="0"/>
              <a:t>.</a:t>
            </a:r>
          </a:p>
          <a:p>
            <a:r>
              <a:rPr lang="en-AU" sz="1600" dirty="0"/>
              <a:t>We can use this to find the value of unknown angles</a:t>
            </a:r>
          </a:p>
          <a:p>
            <a:endParaRPr lang="en-AU" sz="1600" dirty="0"/>
          </a:p>
        </p:txBody>
      </p:sp>
      <p:pic>
        <p:nvPicPr>
          <p:cNvPr id="9" name="Picture 8"/>
          <p:cNvPicPr>
            <a:picLocks noChangeAspect="1"/>
          </p:cNvPicPr>
          <p:nvPr/>
        </p:nvPicPr>
        <p:blipFill>
          <a:blip r:embed="rId5"/>
          <a:stretch>
            <a:fillRect/>
          </a:stretch>
        </p:blipFill>
        <p:spPr>
          <a:xfrm>
            <a:off x="476926" y="2899317"/>
            <a:ext cx="7999643" cy="2512977"/>
          </a:xfrm>
          <a:prstGeom prst="rect">
            <a:avLst/>
          </a:prstGeom>
        </p:spPr>
      </p:pic>
      <p:cxnSp>
        <p:nvCxnSpPr>
          <p:cNvPr id="3" name="Straight Connector 2"/>
          <p:cNvCxnSpPr/>
          <p:nvPr/>
        </p:nvCxnSpPr>
        <p:spPr>
          <a:xfrm>
            <a:off x="4603015" y="564660"/>
            <a:ext cx="0" cy="1593743"/>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29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168671" y="125218"/>
            <a:ext cx="6048375" cy="2609850"/>
          </a:xfrm>
          <a:prstGeom prst="rect">
            <a:avLst/>
          </a:prstGeom>
        </p:spPr>
      </p:pic>
    </p:spTree>
    <p:extLst>
      <p:ext uri="{BB962C8B-B14F-4D97-AF65-F5344CB8AC3E}">
        <p14:creationId xmlns:p14="http://schemas.microsoft.com/office/powerpoint/2010/main" val="3486588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225" t="1613" b="1600"/>
          <a:stretch/>
        </p:blipFill>
        <p:spPr>
          <a:xfrm>
            <a:off x="699248" y="408790"/>
            <a:ext cx="7772138" cy="5034580"/>
          </a:xfrm>
          <a:prstGeom prst="rect">
            <a:avLst/>
          </a:prstGeom>
        </p:spPr>
      </p:pic>
    </p:spTree>
    <p:extLst>
      <p:ext uri="{BB962C8B-B14F-4D97-AF65-F5344CB8AC3E}">
        <p14:creationId xmlns:p14="http://schemas.microsoft.com/office/powerpoint/2010/main" val="380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23959" y="135089"/>
            <a:ext cx="5711082" cy="2316508"/>
          </a:xfrm>
          <a:prstGeom prst="rect">
            <a:avLst/>
          </a:prstGeom>
        </p:spPr>
      </p:pic>
    </p:spTree>
    <p:extLst>
      <p:ext uri="{BB962C8B-B14F-4D97-AF65-F5344CB8AC3E}">
        <p14:creationId xmlns:p14="http://schemas.microsoft.com/office/powerpoint/2010/main" val="115347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19944" y="416697"/>
            <a:ext cx="6124575" cy="1733550"/>
          </a:xfrm>
          <a:prstGeom prst="rect">
            <a:avLst/>
          </a:prstGeom>
        </p:spPr>
      </p:pic>
    </p:spTree>
    <p:extLst>
      <p:ext uri="{BB962C8B-B14F-4D97-AF65-F5344CB8AC3E}">
        <p14:creationId xmlns:p14="http://schemas.microsoft.com/office/powerpoint/2010/main" val="1259491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52739" y="358574"/>
            <a:ext cx="5324475" cy="4305300"/>
          </a:xfrm>
          <a:prstGeom prst="rect">
            <a:avLst/>
          </a:prstGeom>
        </p:spPr>
      </p:pic>
      <p:sp>
        <p:nvSpPr>
          <p:cNvPr id="3" name="TextBox 2"/>
          <p:cNvSpPr txBox="1"/>
          <p:nvPr/>
        </p:nvSpPr>
        <p:spPr>
          <a:xfrm>
            <a:off x="8387798" y="-10758"/>
            <a:ext cx="869795" cy="369332"/>
          </a:xfrm>
          <a:prstGeom prst="rect">
            <a:avLst/>
          </a:prstGeom>
          <a:noFill/>
        </p:spPr>
        <p:txBody>
          <a:bodyPr wrap="square" rtlCol="0">
            <a:spAutoFit/>
          </a:bodyPr>
          <a:lstStyle/>
          <a:p>
            <a:r>
              <a:rPr lang="en-AU" dirty="0"/>
              <a:t>2016</a:t>
            </a:r>
          </a:p>
        </p:txBody>
      </p:sp>
    </p:spTree>
    <p:extLst>
      <p:ext uri="{BB962C8B-B14F-4D97-AF65-F5344CB8AC3E}">
        <p14:creationId xmlns:p14="http://schemas.microsoft.com/office/powerpoint/2010/main" val="1563893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3568" y="913767"/>
            <a:ext cx="6067425" cy="3667125"/>
          </a:xfrm>
          <a:prstGeom prst="rect">
            <a:avLst/>
          </a:prstGeom>
        </p:spPr>
      </p:pic>
      <p:sp>
        <p:nvSpPr>
          <p:cNvPr id="3" name="TextBox 2"/>
          <p:cNvSpPr txBox="1"/>
          <p:nvPr/>
        </p:nvSpPr>
        <p:spPr>
          <a:xfrm>
            <a:off x="254662" y="0"/>
            <a:ext cx="869795" cy="369332"/>
          </a:xfrm>
          <a:prstGeom prst="rect">
            <a:avLst/>
          </a:prstGeom>
          <a:noFill/>
        </p:spPr>
        <p:txBody>
          <a:bodyPr wrap="square" rtlCol="0">
            <a:spAutoFit/>
          </a:bodyPr>
          <a:lstStyle/>
          <a:p>
            <a:r>
              <a:rPr lang="en-AU" dirty="0"/>
              <a:t>2015</a:t>
            </a:r>
          </a:p>
        </p:txBody>
      </p:sp>
    </p:spTree>
    <p:extLst>
      <p:ext uri="{BB962C8B-B14F-4D97-AF65-F5344CB8AC3E}">
        <p14:creationId xmlns:p14="http://schemas.microsoft.com/office/powerpoint/2010/main" val="3991098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79737" y="360027"/>
            <a:ext cx="6667500" cy="2047875"/>
          </a:xfrm>
          <a:prstGeom prst="rect">
            <a:avLst/>
          </a:prstGeom>
        </p:spPr>
      </p:pic>
    </p:spTree>
    <p:extLst>
      <p:ext uri="{BB962C8B-B14F-4D97-AF65-F5344CB8AC3E}">
        <p14:creationId xmlns:p14="http://schemas.microsoft.com/office/powerpoint/2010/main" val="3626982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92229" y="299403"/>
            <a:ext cx="4981575" cy="3333750"/>
          </a:xfrm>
          <a:prstGeom prst="rect">
            <a:avLst/>
          </a:prstGeom>
        </p:spPr>
      </p:pic>
    </p:spTree>
    <p:extLst>
      <p:ext uri="{BB962C8B-B14F-4D97-AF65-F5344CB8AC3E}">
        <p14:creationId xmlns:p14="http://schemas.microsoft.com/office/powerpoint/2010/main" val="488626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Practice</a:t>
            </a:r>
          </a:p>
        </p:txBody>
      </p:sp>
      <p:sp>
        <p:nvSpPr>
          <p:cNvPr id="3" name="Content Placeholder 2"/>
          <p:cNvSpPr>
            <a:spLocks noGrp="1"/>
          </p:cNvSpPr>
          <p:nvPr>
            <p:ph idx="1"/>
          </p:nvPr>
        </p:nvSpPr>
        <p:spPr/>
        <p:txBody>
          <a:bodyPr/>
          <a:lstStyle/>
          <a:p>
            <a:r>
              <a:rPr lang="en-AU" dirty="0"/>
              <a:t>Work together in a group and try to complete as many NAPLAN questions as you can in the remaining time.</a:t>
            </a:r>
          </a:p>
        </p:txBody>
      </p:sp>
    </p:spTree>
    <p:extLst>
      <p:ext uri="{BB962C8B-B14F-4D97-AF65-F5344CB8AC3E}">
        <p14:creationId xmlns:p14="http://schemas.microsoft.com/office/powerpoint/2010/main" val="227492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133" y="-179823"/>
            <a:ext cx="7886700" cy="1104636"/>
          </a:xfrm>
        </p:spPr>
        <p:txBody>
          <a:bodyPr/>
          <a:lstStyle/>
          <a:p>
            <a:r>
              <a:rPr lang="en-AU" dirty="0"/>
              <a:t>Quick write</a:t>
            </a:r>
          </a:p>
        </p:txBody>
      </p:sp>
      <p:sp>
        <p:nvSpPr>
          <p:cNvPr id="3" name="Content Placeholder 2"/>
          <p:cNvSpPr>
            <a:spLocks noGrp="1"/>
          </p:cNvSpPr>
          <p:nvPr>
            <p:ph idx="1"/>
          </p:nvPr>
        </p:nvSpPr>
        <p:spPr>
          <a:xfrm>
            <a:off x="714711" y="714530"/>
            <a:ext cx="7886700" cy="3626115"/>
          </a:xfrm>
        </p:spPr>
        <p:txBody>
          <a:bodyPr/>
          <a:lstStyle/>
          <a:p>
            <a:r>
              <a:rPr lang="en-AU" dirty="0"/>
              <a:t>What are the steps to converting minutes to hours?</a:t>
            </a:r>
          </a:p>
          <a:p>
            <a:endParaRPr lang="en-AU" dirty="0"/>
          </a:p>
          <a:p>
            <a:endParaRPr lang="en-AU" dirty="0"/>
          </a:p>
          <a:p>
            <a:endParaRPr lang="en-AU" dirty="0"/>
          </a:p>
          <a:p>
            <a:r>
              <a:rPr lang="en-AU" dirty="0"/>
              <a:t>What are the 3 types of triangles.</a:t>
            </a:r>
          </a:p>
          <a:p>
            <a:endParaRPr lang="en-AU" dirty="0"/>
          </a:p>
          <a:p>
            <a:endParaRPr lang="en-AU" dirty="0"/>
          </a:p>
          <a:p>
            <a:endParaRPr lang="en-AU" dirty="0"/>
          </a:p>
          <a:p>
            <a:r>
              <a:rPr lang="en-AU" dirty="0"/>
              <a:t>Draw and name 4 types of quadrilateral.</a:t>
            </a:r>
          </a:p>
          <a:p>
            <a:endParaRPr lang="en-AU" dirty="0"/>
          </a:p>
        </p:txBody>
      </p:sp>
    </p:spTree>
    <p:extLst>
      <p:ext uri="{BB962C8B-B14F-4D97-AF65-F5344CB8AC3E}">
        <p14:creationId xmlns:p14="http://schemas.microsoft.com/office/powerpoint/2010/main" val="29880003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07FEA2C9-6E64-4028-8A3E-19098D2F43C5}" vid="{975935DD-9AD2-443E-9D3A-1AF4DC2D5A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AVID 2017</Template>
  <TotalTime>235</TotalTime>
  <Words>699</Words>
  <Application>Microsoft Office PowerPoint</Application>
  <PresentationFormat>On-screen Show (16:10)</PresentationFormat>
  <Paragraphs>104</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 Math</vt:lpstr>
      <vt:lpstr>Office Theme</vt:lpstr>
      <vt:lpstr>Naplan  Prep – Time/Angles/Triangles/Quadrilaterals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Practice</vt:lpstr>
      <vt:lpstr>Quick write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E4007446</dc:creator>
  <cp:lastModifiedBy>E4007446</cp:lastModifiedBy>
  <cp:revision>20</cp:revision>
  <dcterms:created xsi:type="dcterms:W3CDTF">2017-04-15T13:23:00Z</dcterms:created>
  <dcterms:modified xsi:type="dcterms:W3CDTF">2017-04-24T07:12:00Z</dcterms:modified>
</cp:coreProperties>
</file>
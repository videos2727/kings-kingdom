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9" r:id="rId2"/>
    <p:sldId id="271" r:id="rId3"/>
    <p:sldId id="264" r:id="rId4"/>
    <p:sldId id="256" r:id="rId5"/>
    <p:sldId id="266" r:id="rId6"/>
    <p:sldId id="267" r:id="rId7"/>
    <p:sldId id="258" r:id="rId8"/>
    <p:sldId id="260" r:id="rId9"/>
    <p:sldId id="268" r:id="rId10"/>
    <p:sldId id="257" r:id="rId11"/>
    <p:sldId id="261" r:id="rId12"/>
    <p:sldId id="263" r:id="rId13"/>
    <p:sldId id="270" r:id="rId14"/>
    <p:sldId id="272" r:id="rId15"/>
    <p:sldId id="259" r:id="rId16"/>
    <p:sldId id="26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8229" autoAdjust="0"/>
  </p:normalViewPr>
  <p:slideViewPr>
    <p:cSldViewPr snapToGrid="0">
      <p:cViewPr varScale="1">
        <p:scale>
          <a:sx n="56" d="100"/>
          <a:sy n="56" d="100"/>
        </p:scale>
        <p:origin x="12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F74534-30F3-498A-9EB8-14157E3DB63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61BA1-F8FC-4B31-8D8A-5D307D538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1520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 students understand the terminology used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E61BA1-F8FC-4B31-8D8A-5D307D538B17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5533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Get students to answer q’s collectively and show how to build Venn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E61BA1-F8FC-4B31-8D8A-5D307D538B17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041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53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998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088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021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9679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182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940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8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084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2216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28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DE017-3DA1-45A0-A49C-B6311D9A23C8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9289-6A49-4672-966D-82DB4F8B1C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40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err="1"/>
              <a:t>Naplan</a:t>
            </a:r>
            <a:r>
              <a:rPr lang="en-AU" dirty="0"/>
              <a:t> </a:t>
            </a:r>
            <a:r>
              <a:rPr lang="en-AU" dirty="0" err="1"/>
              <a:t>Yr</a:t>
            </a:r>
            <a:r>
              <a:rPr lang="en-AU" dirty="0"/>
              <a:t> 9 Stats and Probability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err="1"/>
              <a:t>J.Wilson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913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71018" y="15442"/>
            <a:ext cx="40089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AU" dirty="0"/>
              <a:t>A list of 113 jobs that use Basic Statistics.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926774" cy="7155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900" b="1" dirty="0"/>
              <a:t>Management occupations</a:t>
            </a:r>
          </a:p>
          <a:p>
            <a:r>
              <a:rPr lang="en-AU" sz="900" dirty="0"/>
              <a:t>Advertising, marketing, promotions, public relations, and sales managers</a:t>
            </a:r>
          </a:p>
          <a:p>
            <a:r>
              <a:rPr lang="en-AU" sz="900" dirty="0"/>
              <a:t>Computer and information systems managers</a:t>
            </a:r>
          </a:p>
          <a:p>
            <a:r>
              <a:rPr lang="en-AU" sz="900" dirty="0"/>
              <a:t>Construction managers</a:t>
            </a:r>
          </a:p>
          <a:p>
            <a:r>
              <a:rPr lang="en-AU" sz="900" dirty="0"/>
              <a:t>Education administrators</a:t>
            </a:r>
          </a:p>
          <a:p>
            <a:r>
              <a:rPr lang="en-AU" sz="900" dirty="0"/>
              <a:t>Engineering and natural sciences managers</a:t>
            </a:r>
          </a:p>
          <a:p>
            <a:r>
              <a:rPr lang="en-AU" sz="900" dirty="0"/>
              <a:t>Farmers, ranchers, and agricultural managers</a:t>
            </a:r>
          </a:p>
          <a:p>
            <a:r>
              <a:rPr lang="en-AU" sz="900" dirty="0"/>
              <a:t>Financial managers</a:t>
            </a:r>
          </a:p>
          <a:p>
            <a:r>
              <a:rPr lang="en-AU" sz="900" dirty="0"/>
              <a:t>Food service managers</a:t>
            </a:r>
          </a:p>
          <a:p>
            <a:r>
              <a:rPr lang="en-AU" sz="900" dirty="0"/>
              <a:t>Funeral directors</a:t>
            </a:r>
          </a:p>
          <a:p>
            <a:r>
              <a:rPr lang="en-AU" sz="900" dirty="0"/>
              <a:t>Human resources, training, and labour relations managers and specialists </a:t>
            </a:r>
          </a:p>
          <a:p>
            <a:r>
              <a:rPr lang="en-AU" sz="900" dirty="0"/>
              <a:t>Industrial production managers</a:t>
            </a:r>
          </a:p>
          <a:p>
            <a:r>
              <a:rPr lang="en-AU" sz="900" dirty="0"/>
              <a:t>Lodging managers</a:t>
            </a:r>
          </a:p>
          <a:p>
            <a:r>
              <a:rPr lang="en-AU" sz="900" dirty="0"/>
              <a:t>Medical and health services managers</a:t>
            </a:r>
          </a:p>
          <a:p>
            <a:r>
              <a:rPr lang="en-AU" sz="900" dirty="0"/>
              <a:t>Property, real estate, and community association managers</a:t>
            </a:r>
          </a:p>
          <a:p>
            <a:r>
              <a:rPr lang="en-AU" sz="900" dirty="0"/>
              <a:t>Purchasing managers, buyers, and purchasing agents</a:t>
            </a:r>
          </a:p>
          <a:p>
            <a:r>
              <a:rPr lang="en-AU" sz="900" dirty="0"/>
              <a:t>Top executives</a:t>
            </a:r>
          </a:p>
          <a:p>
            <a:r>
              <a:rPr lang="en-AU" sz="900" b="1" dirty="0"/>
              <a:t>Business and financial operations occupations</a:t>
            </a:r>
          </a:p>
          <a:p>
            <a:r>
              <a:rPr lang="en-AU" sz="900" dirty="0"/>
              <a:t>Accountants and auditors</a:t>
            </a:r>
          </a:p>
          <a:p>
            <a:r>
              <a:rPr lang="en-AU" sz="900" dirty="0"/>
              <a:t>Budget analysts</a:t>
            </a:r>
          </a:p>
          <a:p>
            <a:r>
              <a:rPr lang="en-AU" sz="900" dirty="0"/>
              <a:t>Financial analysts and personal financial advisors</a:t>
            </a:r>
          </a:p>
          <a:p>
            <a:r>
              <a:rPr lang="en-AU" sz="900" dirty="0"/>
              <a:t>Insurance underwriters</a:t>
            </a:r>
          </a:p>
          <a:p>
            <a:r>
              <a:rPr lang="en-AU" sz="900" dirty="0"/>
              <a:t>Loan officers</a:t>
            </a:r>
          </a:p>
          <a:p>
            <a:r>
              <a:rPr lang="en-AU" sz="900" dirty="0"/>
              <a:t>Management analysts</a:t>
            </a:r>
          </a:p>
          <a:p>
            <a:r>
              <a:rPr lang="en-AU" sz="900" b="1" dirty="0"/>
              <a:t>Healthcare support occupations</a:t>
            </a:r>
          </a:p>
          <a:p>
            <a:r>
              <a:rPr lang="en-AU" sz="900" dirty="0"/>
              <a:t>Medical assistants</a:t>
            </a:r>
          </a:p>
          <a:p>
            <a:r>
              <a:rPr lang="en-AU" sz="900" dirty="0"/>
              <a:t>Nursing, psychiatric, and home health aides</a:t>
            </a:r>
          </a:p>
          <a:p>
            <a:r>
              <a:rPr lang="en-AU" sz="900" b="1" dirty="0"/>
              <a:t>Protective service occupations</a:t>
            </a:r>
          </a:p>
          <a:p>
            <a:r>
              <a:rPr lang="en-AU" sz="900" dirty="0"/>
              <a:t>Firefighting occupations</a:t>
            </a:r>
          </a:p>
          <a:p>
            <a:r>
              <a:rPr lang="en-AU" sz="900" dirty="0"/>
              <a:t>Police and detectives</a:t>
            </a:r>
          </a:p>
          <a:p>
            <a:r>
              <a:rPr lang="en-AU" sz="900" b="1" dirty="0"/>
              <a:t>Building and grounds cleaning and maintenance occupations</a:t>
            </a:r>
          </a:p>
          <a:p>
            <a:r>
              <a:rPr lang="en-AU" sz="900" dirty="0"/>
              <a:t>Grounds maintenance workers</a:t>
            </a:r>
          </a:p>
          <a:p>
            <a:r>
              <a:rPr lang="en-AU" sz="900" dirty="0"/>
              <a:t>Personal care and service occupations</a:t>
            </a:r>
          </a:p>
          <a:p>
            <a:r>
              <a:rPr lang="en-AU" sz="900" dirty="0"/>
              <a:t>Gaming services occupations</a:t>
            </a:r>
          </a:p>
          <a:p>
            <a:r>
              <a:rPr lang="en-AU" sz="900" dirty="0"/>
              <a:t>Personal and home care aides</a:t>
            </a:r>
          </a:p>
          <a:p>
            <a:r>
              <a:rPr lang="en-AU" sz="900" b="1" dirty="0"/>
              <a:t>Financial clerks</a:t>
            </a:r>
          </a:p>
          <a:p>
            <a:r>
              <a:rPr lang="en-AU" sz="900" dirty="0"/>
              <a:t>Payroll and timekeeping clerks</a:t>
            </a:r>
          </a:p>
          <a:p>
            <a:r>
              <a:rPr lang="en-AU" sz="900" dirty="0"/>
              <a:t>Tellers</a:t>
            </a:r>
          </a:p>
          <a:p>
            <a:r>
              <a:rPr lang="en-AU" sz="900" dirty="0"/>
              <a:t>Information and record clerks</a:t>
            </a:r>
          </a:p>
          <a:p>
            <a:r>
              <a:rPr lang="en-AU" sz="900" dirty="0"/>
              <a:t>Human resources assistants, except payroll and timekeeping</a:t>
            </a:r>
          </a:p>
          <a:p>
            <a:r>
              <a:rPr lang="en-AU" sz="900" dirty="0"/>
              <a:t>Material recording, scheduling, dispatching, and distributing occupations</a:t>
            </a:r>
          </a:p>
          <a:p>
            <a:r>
              <a:rPr lang="en-AU" sz="900" dirty="0"/>
              <a:t>Stock clerks and order fillers</a:t>
            </a:r>
          </a:p>
          <a:p>
            <a:r>
              <a:rPr lang="en-AU" sz="900" b="1" dirty="0"/>
              <a:t>Other office and administrative support occupations</a:t>
            </a:r>
          </a:p>
          <a:p>
            <a:r>
              <a:rPr lang="en-AU" sz="900" dirty="0"/>
              <a:t>Computer operators</a:t>
            </a:r>
          </a:p>
          <a:p>
            <a:r>
              <a:rPr lang="en-AU" sz="900" dirty="0"/>
              <a:t>Data entry and information processing workers</a:t>
            </a:r>
          </a:p>
          <a:p>
            <a:r>
              <a:rPr lang="en-AU" sz="900" dirty="0"/>
              <a:t>Desktop publishers</a:t>
            </a:r>
          </a:p>
          <a:p>
            <a:r>
              <a:rPr lang="en-AU" sz="900" dirty="0"/>
              <a:t>Office and administrative support worker supervisors and managers</a:t>
            </a:r>
          </a:p>
          <a:p>
            <a:r>
              <a:rPr lang="en-AU" sz="900" b="1" dirty="0"/>
              <a:t>Construction</a:t>
            </a:r>
          </a:p>
          <a:p>
            <a:r>
              <a:rPr lang="en-AU" sz="900" dirty="0"/>
              <a:t>Painters and paperhangers</a:t>
            </a:r>
          </a:p>
          <a:p>
            <a:endParaRPr lang="en-AU" sz="900" dirty="0"/>
          </a:p>
          <a:p>
            <a:endParaRPr lang="en-AU" sz="900" dirty="0"/>
          </a:p>
        </p:txBody>
      </p:sp>
      <p:sp>
        <p:nvSpPr>
          <p:cNvPr id="10" name="Rectangle 9"/>
          <p:cNvSpPr/>
          <p:nvPr/>
        </p:nvSpPr>
        <p:spPr>
          <a:xfrm>
            <a:off x="8100937" y="117693"/>
            <a:ext cx="4045527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900" b="1" dirty="0"/>
              <a:t>Computer and mathematical occupations</a:t>
            </a:r>
          </a:p>
          <a:p>
            <a:r>
              <a:rPr lang="en-AU" sz="900" dirty="0"/>
              <a:t>Actuaries</a:t>
            </a:r>
          </a:p>
          <a:p>
            <a:r>
              <a:rPr lang="en-AU" sz="900" dirty="0"/>
              <a:t>Computer programmers</a:t>
            </a:r>
          </a:p>
          <a:p>
            <a:r>
              <a:rPr lang="en-AU" sz="900" dirty="0"/>
              <a:t>Computer software engineers</a:t>
            </a:r>
          </a:p>
          <a:p>
            <a:r>
              <a:rPr lang="en-AU" sz="900" dirty="0"/>
              <a:t>Computer support specialists and systems administrators</a:t>
            </a:r>
          </a:p>
          <a:p>
            <a:r>
              <a:rPr lang="en-AU" sz="900" dirty="0"/>
              <a:t>Computer systems analysts</a:t>
            </a:r>
          </a:p>
          <a:p>
            <a:r>
              <a:rPr lang="en-AU" sz="900" dirty="0"/>
              <a:t>Mathematicians</a:t>
            </a:r>
          </a:p>
          <a:p>
            <a:r>
              <a:rPr lang="en-AU" sz="900" dirty="0"/>
              <a:t>Statisticians</a:t>
            </a:r>
          </a:p>
          <a:p>
            <a:r>
              <a:rPr lang="en-AU" sz="900" b="1" dirty="0"/>
              <a:t>Architects, surveyors, and cartographers</a:t>
            </a:r>
          </a:p>
          <a:p>
            <a:r>
              <a:rPr lang="en-AU" sz="900" dirty="0"/>
              <a:t>Architects, except landscape and naval</a:t>
            </a:r>
          </a:p>
          <a:p>
            <a:r>
              <a:rPr lang="en-AU" sz="900" dirty="0"/>
              <a:t>Surveyors, cartographers, photogrammetrists, and surveying technicians</a:t>
            </a:r>
          </a:p>
          <a:p>
            <a:r>
              <a:rPr lang="en-AU" sz="900" b="1" dirty="0"/>
              <a:t>Engineers</a:t>
            </a:r>
          </a:p>
          <a:p>
            <a:r>
              <a:rPr lang="en-AU" sz="900" dirty="0"/>
              <a:t>Aerospace engineers</a:t>
            </a:r>
          </a:p>
          <a:p>
            <a:r>
              <a:rPr lang="en-AU" sz="900" dirty="0"/>
              <a:t>Biomedical engineers</a:t>
            </a:r>
          </a:p>
          <a:p>
            <a:r>
              <a:rPr lang="en-AU" sz="900" dirty="0"/>
              <a:t>Chemical engineers</a:t>
            </a:r>
          </a:p>
          <a:p>
            <a:r>
              <a:rPr lang="en-AU" sz="900" dirty="0"/>
              <a:t>Computer hardware engineers</a:t>
            </a:r>
          </a:p>
          <a:p>
            <a:r>
              <a:rPr lang="en-AU" sz="900" dirty="0"/>
              <a:t>Electrical engineers</a:t>
            </a:r>
          </a:p>
          <a:p>
            <a:r>
              <a:rPr lang="en-AU" sz="900" dirty="0"/>
              <a:t>Environmental engineers</a:t>
            </a:r>
          </a:p>
          <a:p>
            <a:r>
              <a:rPr lang="en-AU" sz="900" dirty="0"/>
              <a:t>Industrial engineers</a:t>
            </a:r>
          </a:p>
          <a:p>
            <a:r>
              <a:rPr lang="en-AU" sz="900" dirty="0"/>
              <a:t>Materials engineers</a:t>
            </a:r>
          </a:p>
          <a:p>
            <a:r>
              <a:rPr lang="en-AU" sz="900" dirty="0"/>
              <a:t>Mechanical engineers</a:t>
            </a:r>
          </a:p>
          <a:p>
            <a:r>
              <a:rPr lang="en-AU" sz="900" dirty="0"/>
              <a:t>Nuclear engineers</a:t>
            </a:r>
          </a:p>
          <a:p>
            <a:r>
              <a:rPr lang="en-AU" sz="900" dirty="0"/>
              <a:t>Petroleum engineers</a:t>
            </a:r>
          </a:p>
          <a:p>
            <a:r>
              <a:rPr lang="en-AU" sz="900" b="1" dirty="0"/>
              <a:t>Life scientists</a:t>
            </a:r>
          </a:p>
          <a:p>
            <a:r>
              <a:rPr lang="en-AU" sz="900" dirty="0"/>
              <a:t>Biological scientists</a:t>
            </a:r>
          </a:p>
          <a:p>
            <a:r>
              <a:rPr lang="en-AU" sz="900" dirty="0"/>
              <a:t>Conservation scientists and foresters</a:t>
            </a:r>
          </a:p>
          <a:p>
            <a:r>
              <a:rPr lang="en-AU" sz="900" dirty="0"/>
              <a:t>Medical scientists</a:t>
            </a:r>
          </a:p>
          <a:p>
            <a:r>
              <a:rPr lang="en-AU" sz="900" dirty="0"/>
              <a:t>Physical scientists</a:t>
            </a:r>
          </a:p>
          <a:p>
            <a:r>
              <a:rPr lang="en-AU" sz="900" dirty="0"/>
              <a:t>Atmospheric scientists</a:t>
            </a:r>
          </a:p>
          <a:p>
            <a:r>
              <a:rPr lang="en-AU" sz="900" dirty="0"/>
              <a:t>Chemists and materials scientists</a:t>
            </a:r>
          </a:p>
          <a:p>
            <a:r>
              <a:rPr lang="en-AU" sz="900" dirty="0"/>
              <a:t>Environmental scientists and hydrologists</a:t>
            </a:r>
          </a:p>
          <a:p>
            <a:r>
              <a:rPr lang="en-AU" sz="900" dirty="0"/>
              <a:t>Physicists and astronomers</a:t>
            </a:r>
          </a:p>
          <a:p>
            <a:r>
              <a:rPr lang="en-AU" sz="900" b="1" dirty="0"/>
              <a:t>Social scientists and related occupations</a:t>
            </a:r>
          </a:p>
          <a:p>
            <a:r>
              <a:rPr lang="en-AU" sz="900" dirty="0"/>
              <a:t>Economists</a:t>
            </a:r>
          </a:p>
          <a:p>
            <a:r>
              <a:rPr lang="en-AU" sz="900" dirty="0"/>
              <a:t>Market and survey researchers</a:t>
            </a:r>
          </a:p>
          <a:p>
            <a:r>
              <a:rPr lang="en-AU" sz="900" dirty="0"/>
              <a:t>Psychologists</a:t>
            </a:r>
          </a:p>
          <a:p>
            <a:r>
              <a:rPr lang="en-AU" sz="900" dirty="0"/>
              <a:t>Social scientists, other</a:t>
            </a:r>
          </a:p>
          <a:p>
            <a:r>
              <a:rPr lang="en-AU" sz="900" dirty="0"/>
              <a:t>Urban and regional planners</a:t>
            </a:r>
          </a:p>
          <a:p>
            <a:r>
              <a:rPr lang="en-AU" sz="900" b="1" dirty="0"/>
              <a:t>Sales</a:t>
            </a:r>
          </a:p>
          <a:p>
            <a:r>
              <a:rPr lang="en-AU" sz="900" dirty="0"/>
              <a:t>Real estate brokers and sales agents</a:t>
            </a:r>
          </a:p>
          <a:p>
            <a:r>
              <a:rPr lang="en-AU" sz="900" dirty="0"/>
              <a:t>Travel agents</a:t>
            </a:r>
          </a:p>
          <a:p>
            <a:r>
              <a:rPr lang="en-AU" sz="900" b="1" dirty="0"/>
              <a:t>Assemblers and fabricators</a:t>
            </a:r>
          </a:p>
          <a:p>
            <a:r>
              <a:rPr lang="en-AU" sz="900" dirty="0"/>
              <a:t>Metal workers and plastic workers</a:t>
            </a:r>
          </a:p>
          <a:p>
            <a:r>
              <a:rPr lang="en-AU" sz="900" dirty="0"/>
              <a:t>Computer control programmers and operators</a:t>
            </a:r>
          </a:p>
          <a:p>
            <a:r>
              <a:rPr lang="en-AU" sz="900" b="1" dirty="0"/>
              <a:t>Printing occupations</a:t>
            </a:r>
          </a:p>
          <a:p>
            <a:r>
              <a:rPr lang="en-AU" sz="900" dirty="0"/>
              <a:t>Prepress technicians and workers</a:t>
            </a:r>
          </a:p>
          <a:p>
            <a:r>
              <a:rPr lang="en-AU" sz="900" dirty="0"/>
              <a:t>Other production occupations</a:t>
            </a:r>
          </a:p>
          <a:p>
            <a:r>
              <a:rPr lang="en-AU" sz="900" dirty="0"/>
              <a:t>Semiconductor processors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26774" y="325399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900" b="1" dirty="0"/>
              <a:t>Legal occupations</a:t>
            </a:r>
          </a:p>
          <a:p>
            <a:r>
              <a:rPr lang="en-AU" sz="900" dirty="0"/>
              <a:t>Lawyers</a:t>
            </a:r>
          </a:p>
          <a:p>
            <a:r>
              <a:rPr lang="en-AU" sz="900" b="1" dirty="0"/>
              <a:t>Education, training, library, and museum occupations</a:t>
            </a:r>
          </a:p>
          <a:p>
            <a:r>
              <a:rPr lang="en-AU" sz="900" dirty="0"/>
              <a:t>Archivists, curators, and museum technicians</a:t>
            </a:r>
          </a:p>
          <a:p>
            <a:r>
              <a:rPr lang="en-AU" sz="900" dirty="0"/>
              <a:t>Librarians</a:t>
            </a:r>
          </a:p>
          <a:p>
            <a:r>
              <a:rPr lang="en-AU" sz="900" dirty="0"/>
              <a:t>Teacher assistants</a:t>
            </a:r>
          </a:p>
          <a:p>
            <a:r>
              <a:rPr lang="en-AU" sz="900" dirty="0"/>
              <a:t>Teachers-adult literacy and remedial and self-enrichment education</a:t>
            </a:r>
          </a:p>
          <a:p>
            <a:r>
              <a:rPr lang="en-AU" sz="900" dirty="0"/>
              <a:t>Teachers-preschool, kindergarten, elementary, middle, and secondary</a:t>
            </a:r>
          </a:p>
          <a:p>
            <a:r>
              <a:rPr lang="en-AU" sz="900" dirty="0"/>
              <a:t>Teachers-special education</a:t>
            </a:r>
          </a:p>
          <a:p>
            <a:r>
              <a:rPr lang="en-AU" sz="900" b="1" dirty="0"/>
              <a:t>Art and design occupations</a:t>
            </a:r>
          </a:p>
          <a:p>
            <a:r>
              <a:rPr lang="en-AU" sz="900" dirty="0"/>
              <a:t>Artists and related workers</a:t>
            </a:r>
          </a:p>
          <a:p>
            <a:r>
              <a:rPr lang="en-AU" sz="900" dirty="0"/>
              <a:t>Fashion designers</a:t>
            </a:r>
          </a:p>
          <a:p>
            <a:r>
              <a:rPr lang="en-AU" sz="900" dirty="0"/>
              <a:t>Graphic designers</a:t>
            </a:r>
          </a:p>
          <a:p>
            <a:r>
              <a:rPr lang="en-AU" sz="900" dirty="0"/>
              <a:t>Interior designers</a:t>
            </a:r>
          </a:p>
          <a:p>
            <a:r>
              <a:rPr lang="en-AU" sz="900" b="1" dirty="0"/>
              <a:t>Entertainers and performers, sports and related occupations</a:t>
            </a:r>
          </a:p>
          <a:p>
            <a:r>
              <a:rPr lang="en-AU" sz="900" dirty="0"/>
              <a:t>Athletes, coaches, umpires, and related workers</a:t>
            </a:r>
          </a:p>
          <a:p>
            <a:r>
              <a:rPr lang="en-AU" sz="900" dirty="0"/>
              <a:t>Media and communications-related occupations</a:t>
            </a:r>
          </a:p>
          <a:p>
            <a:r>
              <a:rPr lang="en-AU" sz="900" dirty="0"/>
              <a:t>Announcers</a:t>
            </a:r>
          </a:p>
          <a:p>
            <a:r>
              <a:rPr lang="en-AU" sz="900" dirty="0"/>
              <a:t>News analysts, reporters, and correspondents</a:t>
            </a:r>
          </a:p>
          <a:p>
            <a:r>
              <a:rPr lang="en-AU" sz="900" dirty="0"/>
              <a:t>Public relations specialists</a:t>
            </a:r>
          </a:p>
          <a:p>
            <a:r>
              <a:rPr lang="en-AU" sz="900" dirty="0"/>
              <a:t>Writers and editors</a:t>
            </a:r>
          </a:p>
          <a:p>
            <a:r>
              <a:rPr lang="en-AU" sz="900" b="1" dirty="0"/>
              <a:t>Health diagnosing and treating occupations</a:t>
            </a:r>
          </a:p>
          <a:p>
            <a:r>
              <a:rPr lang="en-AU" sz="900" dirty="0"/>
              <a:t>Chiropractors</a:t>
            </a:r>
          </a:p>
          <a:p>
            <a:r>
              <a:rPr lang="en-AU" sz="900" dirty="0"/>
              <a:t>Dentists</a:t>
            </a:r>
          </a:p>
          <a:p>
            <a:r>
              <a:rPr lang="en-AU" sz="900" dirty="0"/>
              <a:t>Dietitians and nutritionists</a:t>
            </a:r>
          </a:p>
          <a:p>
            <a:r>
              <a:rPr lang="en-AU" sz="900" dirty="0"/>
              <a:t>Optometrists</a:t>
            </a:r>
          </a:p>
          <a:p>
            <a:r>
              <a:rPr lang="en-AU" sz="900" dirty="0"/>
              <a:t>Pharmacists</a:t>
            </a:r>
          </a:p>
          <a:p>
            <a:r>
              <a:rPr lang="en-AU" sz="900" dirty="0"/>
              <a:t>Physical therapists</a:t>
            </a:r>
          </a:p>
          <a:p>
            <a:r>
              <a:rPr lang="en-AU" sz="900" dirty="0"/>
              <a:t>Physicians and surgeons</a:t>
            </a:r>
          </a:p>
          <a:p>
            <a:r>
              <a:rPr lang="en-AU" sz="900" dirty="0"/>
              <a:t>Recreational therapists</a:t>
            </a:r>
          </a:p>
          <a:p>
            <a:r>
              <a:rPr lang="en-AU" sz="900" dirty="0"/>
              <a:t>Registered nurses</a:t>
            </a:r>
          </a:p>
          <a:p>
            <a:r>
              <a:rPr lang="en-AU" sz="900" dirty="0"/>
              <a:t>Veterinarians</a:t>
            </a:r>
          </a:p>
          <a:p>
            <a:r>
              <a:rPr lang="en-AU" sz="900" b="1" dirty="0"/>
              <a:t>Health technologists and technicians</a:t>
            </a:r>
          </a:p>
          <a:p>
            <a:r>
              <a:rPr lang="en-AU" sz="900" dirty="0"/>
              <a:t>Clinical laboratory technologists and technicians</a:t>
            </a:r>
          </a:p>
          <a:p>
            <a:r>
              <a:rPr lang="en-AU" sz="900" dirty="0"/>
              <a:t>Licensed practical and licensed vocational nurses</a:t>
            </a:r>
          </a:p>
          <a:p>
            <a:r>
              <a:rPr lang="en-AU" sz="900" dirty="0"/>
              <a:t>Medical records and health information technicians</a:t>
            </a:r>
          </a:p>
          <a:p>
            <a:r>
              <a:rPr lang="en-AU" sz="900" dirty="0"/>
              <a:t>Nuclear medicine technologists</a:t>
            </a:r>
          </a:p>
          <a:p>
            <a:r>
              <a:rPr lang="en-AU" sz="900" dirty="0"/>
              <a:t>Opticians, dispensing</a:t>
            </a:r>
          </a:p>
          <a:p>
            <a:r>
              <a:rPr lang="en-AU" sz="900" dirty="0"/>
              <a:t>Veterinary technologists and technicians</a:t>
            </a:r>
          </a:p>
          <a:p>
            <a:r>
              <a:rPr lang="en-AU" sz="900" b="1" dirty="0"/>
              <a:t>Farming</a:t>
            </a:r>
          </a:p>
          <a:p>
            <a:r>
              <a:rPr lang="en-AU" sz="900" dirty="0"/>
              <a:t>Agricultural workers</a:t>
            </a:r>
          </a:p>
          <a:p>
            <a:r>
              <a:rPr lang="en-AU" sz="900" dirty="0"/>
              <a:t>Forest, conservation, and logging workers</a:t>
            </a:r>
          </a:p>
          <a:p>
            <a:r>
              <a:rPr lang="en-AU" sz="900" b="1" dirty="0"/>
              <a:t>Electrical and electronic equipment mechanics, installers, and repairers</a:t>
            </a:r>
          </a:p>
          <a:p>
            <a:r>
              <a:rPr lang="en-AU" sz="900" dirty="0"/>
              <a:t>Electronic home entertainment equipment installers and repairers</a:t>
            </a:r>
          </a:p>
          <a:p>
            <a:r>
              <a:rPr lang="en-AU" sz="900" b="1" dirty="0"/>
              <a:t>Other installation, maintenance, and repair occupations</a:t>
            </a:r>
          </a:p>
          <a:p>
            <a:r>
              <a:rPr lang="en-AU" sz="900" dirty="0"/>
              <a:t>Line installers and repairers</a:t>
            </a:r>
          </a:p>
          <a:p>
            <a:r>
              <a:rPr lang="en-AU" sz="900" dirty="0"/>
              <a:t>Maintenance and repair workers, general</a:t>
            </a:r>
          </a:p>
          <a:p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857394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Mode, Median and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err="1"/>
              <a:t>MOD</a:t>
            </a:r>
            <a:r>
              <a:rPr lang="en-AU" sz="3200" dirty="0" err="1"/>
              <a:t>e</a:t>
            </a:r>
            <a:r>
              <a:rPr lang="en-AU" sz="3200" dirty="0"/>
              <a:t> = </a:t>
            </a:r>
            <a:r>
              <a:rPr lang="en-AU" sz="3200" b="1" dirty="0"/>
              <a:t>M</a:t>
            </a:r>
            <a:r>
              <a:rPr lang="en-AU" sz="3200" dirty="0"/>
              <a:t>ost </a:t>
            </a:r>
            <a:r>
              <a:rPr lang="en-AU" sz="3200" b="1" dirty="0"/>
              <a:t>O</a:t>
            </a:r>
            <a:r>
              <a:rPr lang="en-AU" sz="3200" dirty="0"/>
              <a:t>ccurring in </a:t>
            </a:r>
            <a:r>
              <a:rPr lang="en-AU" sz="3200" b="1" dirty="0"/>
              <a:t>D</a:t>
            </a:r>
            <a:r>
              <a:rPr lang="en-AU" sz="3200" dirty="0"/>
              <a:t>ata.</a:t>
            </a:r>
          </a:p>
          <a:p>
            <a:pPr marL="0" indent="0">
              <a:buNone/>
            </a:pPr>
            <a:r>
              <a:rPr lang="en-AU" sz="3200" b="1" dirty="0" err="1"/>
              <a:t>M</a:t>
            </a:r>
            <a:r>
              <a:rPr lang="en-AU" sz="3200" dirty="0" err="1"/>
              <a:t>e</a:t>
            </a:r>
            <a:r>
              <a:rPr lang="en-AU" sz="3200" b="1" dirty="0" err="1"/>
              <a:t>DIA</a:t>
            </a:r>
            <a:r>
              <a:rPr lang="en-AU" sz="3200" dirty="0" err="1"/>
              <a:t>n</a:t>
            </a:r>
            <a:r>
              <a:rPr lang="en-AU" sz="3200" dirty="0"/>
              <a:t> = </a:t>
            </a:r>
            <a:r>
              <a:rPr lang="en-AU" sz="3200" b="1" dirty="0" err="1"/>
              <a:t>M</a:t>
            </a:r>
            <a:r>
              <a:rPr lang="en-AU" sz="3200" dirty="0" err="1"/>
              <a:t>i</a:t>
            </a:r>
            <a:r>
              <a:rPr lang="en-AU" sz="3200" b="1" dirty="0" err="1"/>
              <a:t>D</a:t>
            </a:r>
            <a:r>
              <a:rPr lang="en-AU" sz="3200" dirty="0" err="1"/>
              <a:t>dle</a:t>
            </a:r>
            <a:r>
              <a:rPr lang="en-AU" sz="3200" dirty="0"/>
              <a:t> score when </a:t>
            </a:r>
            <a:r>
              <a:rPr lang="en-AU" sz="3200" b="1" dirty="0"/>
              <a:t>I</a:t>
            </a:r>
            <a:r>
              <a:rPr lang="en-AU" sz="3200" dirty="0"/>
              <a:t>n </a:t>
            </a:r>
            <a:r>
              <a:rPr lang="en-AU" sz="3200" b="1" dirty="0"/>
              <a:t>A</a:t>
            </a:r>
            <a:r>
              <a:rPr lang="en-AU" sz="3200" dirty="0"/>
              <a:t>scending order.</a:t>
            </a:r>
          </a:p>
          <a:p>
            <a:pPr marL="0" indent="0">
              <a:buNone/>
            </a:pPr>
            <a:r>
              <a:rPr lang="en-AU" sz="3200" dirty="0" err="1"/>
              <a:t>me</a:t>
            </a:r>
            <a:r>
              <a:rPr lang="en-AU" sz="3200" b="1" dirty="0" err="1"/>
              <a:t>AN</a:t>
            </a:r>
            <a:r>
              <a:rPr lang="en-AU" sz="3200" dirty="0"/>
              <a:t> = </a:t>
            </a:r>
            <a:r>
              <a:rPr lang="en-AU" sz="3200" b="1" dirty="0"/>
              <a:t>A</a:t>
            </a:r>
            <a:r>
              <a:rPr lang="en-AU" sz="3200" dirty="0"/>
              <a:t>dd </a:t>
            </a:r>
            <a:r>
              <a:rPr lang="en-AU" sz="3200" b="1" dirty="0"/>
              <a:t>N</a:t>
            </a:r>
            <a:r>
              <a:rPr lang="en-AU" sz="3200" dirty="0"/>
              <a:t>umbers, then divide by how many numbers</a:t>
            </a:r>
          </a:p>
          <a:p>
            <a:pPr marL="0" indent="0">
              <a:buNone/>
            </a:pPr>
            <a:r>
              <a:rPr lang="en-AU" sz="3200" dirty="0"/>
              <a:t>Range = Highest – lowest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Try this with the following data.</a:t>
            </a:r>
          </a:p>
          <a:p>
            <a:pPr marL="0" indent="0">
              <a:buNone/>
            </a:pPr>
            <a:r>
              <a:rPr lang="en-AU" sz="3200" dirty="0"/>
              <a:t>	15, 22, 23, 25, 25, 26, 29, 30</a:t>
            </a:r>
          </a:p>
          <a:p>
            <a:pPr marL="0" indent="0">
              <a:buNone/>
            </a:pPr>
            <a:r>
              <a:rPr lang="en-AU" sz="3200" dirty="0"/>
              <a:t>What is the mean , mode, median and range of each?</a:t>
            </a:r>
          </a:p>
        </p:txBody>
      </p:sp>
    </p:spTree>
    <p:extLst>
      <p:ext uri="{BB962C8B-B14F-4D97-AF65-F5344CB8AC3E}">
        <p14:creationId xmlns:p14="http://schemas.microsoft.com/office/powerpoint/2010/main" val="3998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484" y="1271590"/>
            <a:ext cx="7292706" cy="18555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484" y="3127131"/>
            <a:ext cx="7591425" cy="3276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3504" y="235398"/>
            <a:ext cx="5472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791" y="1589649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791" y="3260524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4281516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38531" y="334537"/>
            <a:ext cx="925997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A dot plot shows a set of data as a diagram.</a:t>
            </a:r>
          </a:p>
          <a:p>
            <a:endParaRPr lang="en-AU" sz="2160" dirty="0"/>
          </a:p>
          <a:p>
            <a:r>
              <a:rPr lang="en-AU" sz="2160" dirty="0"/>
              <a:t>	15, 17, 16 , 11, 12, 13, 15, 16, 19, 13, 15</a:t>
            </a:r>
          </a:p>
          <a:p>
            <a:endParaRPr lang="en-AU" sz="2160" dirty="0"/>
          </a:p>
          <a:p>
            <a:r>
              <a:rPr lang="en-AU" sz="2160" dirty="0"/>
              <a:t>To create a dot plot, get the data in order.</a:t>
            </a:r>
          </a:p>
          <a:p>
            <a:endParaRPr lang="en-AU" sz="2160" dirty="0"/>
          </a:p>
          <a:p>
            <a:r>
              <a:rPr lang="en-AU" sz="2160" dirty="0"/>
              <a:t>	11, 12, 13, 13, 15, 15, 15, 16, 16, 17, 19</a:t>
            </a:r>
          </a:p>
          <a:p>
            <a:endParaRPr lang="en-AU" sz="2160" dirty="0"/>
          </a:p>
          <a:p>
            <a:r>
              <a:rPr lang="en-AU" sz="2160" dirty="0"/>
              <a:t>Next create a line that extends from the lowest number to the highest.</a:t>
            </a:r>
          </a:p>
          <a:p>
            <a:endParaRPr lang="en-AU" sz="2160" dirty="0"/>
          </a:p>
          <a:p>
            <a:r>
              <a:rPr lang="en-AU" sz="2160" dirty="0"/>
              <a:t>For every number in the list create a dot above its number on the line</a:t>
            </a:r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920983" y="5406110"/>
            <a:ext cx="7788012" cy="0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35811" y="5406110"/>
            <a:ext cx="7841537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10       11       12       13       14       15       16       17       18       19 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135087" y="2716438"/>
            <a:ext cx="1030373" cy="2314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192222" y="5092215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3" name="Oval 12"/>
          <p:cNvSpPr/>
          <p:nvPr/>
        </p:nvSpPr>
        <p:spPr>
          <a:xfrm>
            <a:off x="3923742" y="5081208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4" name="Oval 13"/>
          <p:cNvSpPr/>
          <p:nvPr/>
        </p:nvSpPr>
        <p:spPr>
          <a:xfrm>
            <a:off x="4655262" y="5073714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5" name="Oval 14"/>
          <p:cNvSpPr/>
          <p:nvPr/>
        </p:nvSpPr>
        <p:spPr>
          <a:xfrm>
            <a:off x="4655262" y="4741314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6" name="Oval 15"/>
          <p:cNvSpPr/>
          <p:nvPr/>
        </p:nvSpPr>
        <p:spPr>
          <a:xfrm>
            <a:off x="6091537" y="5088703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7" name="Oval 16"/>
          <p:cNvSpPr/>
          <p:nvPr/>
        </p:nvSpPr>
        <p:spPr>
          <a:xfrm>
            <a:off x="6091537" y="4741314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8" name="Oval 17"/>
          <p:cNvSpPr/>
          <p:nvPr/>
        </p:nvSpPr>
        <p:spPr>
          <a:xfrm>
            <a:off x="6091537" y="4393660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9" name="Oval 18"/>
          <p:cNvSpPr/>
          <p:nvPr/>
        </p:nvSpPr>
        <p:spPr>
          <a:xfrm>
            <a:off x="6787378" y="5088703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20" name="Oval 19"/>
          <p:cNvSpPr/>
          <p:nvPr/>
        </p:nvSpPr>
        <p:spPr>
          <a:xfrm>
            <a:off x="6787378" y="4741314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21" name="Oval 20"/>
          <p:cNvSpPr/>
          <p:nvPr/>
        </p:nvSpPr>
        <p:spPr>
          <a:xfrm>
            <a:off x="7527812" y="5068921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22" name="Oval 21"/>
          <p:cNvSpPr/>
          <p:nvPr/>
        </p:nvSpPr>
        <p:spPr>
          <a:xfrm>
            <a:off x="8964088" y="5081208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>
            <a:off x="2594516" y="2716436"/>
            <a:ext cx="1329227" cy="2352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37970" y="2658200"/>
            <a:ext cx="1659307" cy="2434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>
            <a:off x="3334950" y="2676894"/>
            <a:ext cx="1315848" cy="2023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</p:cNvCxnSpPr>
          <p:nvPr/>
        </p:nvCxnSpPr>
        <p:spPr>
          <a:xfrm>
            <a:off x="3767623" y="2656214"/>
            <a:ext cx="2268161" cy="2487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</p:cNvCxnSpPr>
          <p:nvPr/>
        </p:nvCxnSpPr>
        <p:spPr>
          <a:xfrm>
            <a:off x="4177987" y="2678518"/>
            <a:ext cx="1857798" cy="2021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4508060" y="2674060"/>
            <a:ext cx="1583478" cy="171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>
            <a:off x="4958575" y="2656212"/>
            <a:ext cx="1817646" cy="2487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>
            <a:off x="5315410" y="2665132"/>
            <a:ext cx="1460810" cy="2035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5765920" y="2674057"/>
            <a:ext cx="1761893" cy="241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</p:cNvCxnSpPr>
          <p:nvPr/>
        </p:nvCxnSpPr>
        <p:spPr>
          <a:xfrm>
            <a:off x="6174048" y="2645353"/>
            <a:ext cx="2790040" cy="2386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38531" y="334537"/>
            <a:ext cx="925997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A dot plot shows a set of data as a diagram.</a:t>
            </a:r>
          </a:p>
          <a:p>
            <a:endParaRPr lang="en-AU" sz="2160" dirty="0"/>
          </a:p>
          <a:p>
            <a:r>
              <a:rPr lang="en-AU" sz="2160" dirty="0"/>
              <a:t>	15, 17, 16 , 11, 12, 13, 15, 16, 19, 13, 15</a:t>
            </a:r>
          </a:p>
          <a:p>
            <a:endParaRPr lang="en-AU" sz="2160" dirty="0"/>
          </a:p>
          <a:p>
            <a:r>
              <a:rPr lang="en-AU" sz="2160" dirty="0"/>
              <a:t>To create a dot plot, get the data in order.</a:t>
            </a:r>
          </a:p>
          <a:p>
            <a:endParaRPr lang="en-AU" sz="2160" dirty="0"/>
          </a:p>
          <a:p>
            <a:r>
              <a:rPr lang="en-AU" sz="2160" dirty="0"/>
              <a:t>	11, 12, 13, 13, 15, 15, 15, 16, 16, 17, 19</a:t>
            </a:r>
          </a:p>
          <a:p>
            <a:endParaRPr lang="en-AU" sz="2160" dirty="0"/>
          </a:p>
          <a:p>
            <a:r>
              <a:rPr lang="en-AU" sz="2160" dirty="0"/>
              <a:t>Next create a line that extends from the lowest number to the highest.</a:t>
            </a:r>
          </a:p>
          <a:p>
            <a:endParaRPr lang="en-AU" sz="2160" dirty="0"/>
          </a:p>
          <a:p>
            <a:r>
              <a:rPr lang="en-AU" sz="2160" dirty="0"/>
              <a:t>For every number in the list create a dot above its number on the line</a:t>
            </a:r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r>
              <a:rPr lang="en-AU" sz="2160" dirty="0"/>
              <a:t>Your turn.</a:t>
            </a:r>
          </a:p>
          <a:p>
            <a:r>
              <a:rPr lang="en-AU" sz="2160" dirty="0"/>
              <a:t>Try make a dot plot with the following.        4, 6, 6, 7, 8, 9, 11</a:t>
            </a:r>
          </a:p>
          <a:p>
            <a:endParaRPr lang="en-AU" sz="216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920983" y="5406110"/>
            <a:ext cx="7788012" cy="0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35811" y="5406110"/>
            <a:ext cx="7841537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10       11       12       13       14       15       16       17       18       19 </a:t>
            </a:r>
          </a:p>
        </p:txBody>
      </p:sp>
      <p:sp>
        <p:nvSpPr>
          <p:cNvPr id="12" name="Oval 11"/>
          <p:cNvSpPr/>
          <p:nvPr/>
        </p:nvSpPr>
        <p:spPr>
          <a:xfrm>
            <a:off x="3192222" y="5092215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3" name="Oval 12"/>
          <p:cNvSpPr/>
          <p:nvPr/>
        </p:nvSpPr>
        <p:spPr>
          <a:xfrm>
            <a:off x="3923742" y="5081208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4" name="Oval 13"/>
          <p:cNvSpPr/>
          <p:nvPr/>
        </p:nvSpPr>
        <p:spPr>
          <a:xfrm>
            <a:off x="4655262" y="5073714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5" name="Oval 14"/>
          <p:cNvSpPr/>
          <p:nvPr/>
        </p:nvSpPr>
        <p:spPr>
          <a:xfrm>
            <a:off x="4655262" y="4741314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6" name="Oval 15"/>
          <p:cNvSpPr/>
          <p:nvPr/>
        </p:nvSpPr>
        <p:spPr>
          <a:xfrm>
            <a:off x="6091537" y="5088703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7" name="Oval 16"/>
          <p:cNvSpPr/>
          <p:nvPr/>
        </p:nvSpPr>
        <p:spPr>
          <a:xfrm>
            <a:off x="6091537" y="4741314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8" name="Oval 17"/>
          <p:cNvSpPr/>
          <p:nvPr/>
        </p:nvSpPr>
        <p:spPr>
          <a:xfrm>
            <a:off x="6091537" y="4393660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19" name="Oval 18"/>
          <p:cNvSpPr/>
          <p:nvPr/>
        </p:nvSpPr>
        <p:spPr>
          <a:xfrm>
            <a:off x="6787378" y="5088703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20" name="Oval 19"/>
          <p:cNvSpPr/>
          <p:nvPr/>
        </p:nvSpPr>
        <p:spPr>
          <a:xfrm>
            <a:off x="6787378" y="4741314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21" name="Oval 20"/>
          <p:cNvSpPr/>
          <p:nvPr/>
        </p:nvSpPr>
        <p:spPr>
          <a:xfrm>
            <a:off x="7527812" y="5068921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  <p:sp>
        <p:nvSpPr>
          <p:cNvPr id="22" name="Oval 21"/>
          <p:cNvSpPr/>
          <p:nvPr/>
        </p:nvSpPr>
        <p:spPr>
          <a:xfrm>
            <a:off x="8964088" y="5081208"/>
            <a:ext cx="214104" cy="22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160"/>
          </a:p>
        </p:txBody>
      </p:sp>
    </p:spTree>
    <p:extLst>
      <p:ext uri="{BB962C8B-B14F-4D97-AF65-F5344CB8AC3E}">
        <p14:creationId xmlns:p14="http://schemas.microsoft.com/office/powerpoint/2010/main" val="52776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971" y="667757"/>
            <a:ext cx="8945169" cy="41012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278" y="298425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223985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549" y="464232"/>
            <a:ext cx="7729703" cy="56692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052" y="464232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3585130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86" y="447357"/>
            <a:ext cx="11732456" cy="6147752"/>
          </a:xfrm>
        </p:spPr>
        <p:txBody>
          <a:bodyPr/>
          <a:lstStyle/>
          <a:p>
            <a:pPr marL="411480" indent="-411480" algn="l">
              <a:buAutoNum type="arabicPeriod"/>
            </a:pPr>
            <a:r>
              <a:rPr lang="en-AU" dirty="0"/>
              <a:t> probability of an event is the chance of that event happening between 0 and 1. it can be written as words, a fraction, decimal or percentage.</a:t>
            </a:r>
          </a:p>
          <a:p>
            <a:pPr marL="411480" indent="-411480" algn="l">
              <a:buAutoNum type="arabicPeriod"/>
            </a:pPr>
            <a:endParaRPr lang="en-AU" dirty="0"/>
          </a:p>
          <a:p>
            <a:pPr marL="411480" indent="-411480" algn="l">
              <a:buAutoNum type="arabicPeriod"/>
            </a:pPr>
            <a:endParaRPr lang="en-AU" dirty="0"/>
          </a:p>
          <a:p>
            <a:pPr marL="411480" indent="-411480" algn="l">
              <a:buAutoNum type="arabicPeriod"/>
            </a:pPr>
            <a:endParaRPr lang="en-AU" dirty="0"/>
          </a:p>
          <a:p>
            <a:pPr marL="411480" indent="-411480" algn="l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11480" indent="-411480" algn="l">
              <a:buFont typeface="Arial" panose="020B0604020202020204" pitchFamily="34" charset="0"/>
              <a:buAutoNum type="arabicPeriod"/>
            </a:pPr>
            <a:r>
              <a:rPr lang="en-US" dirty="0"/>
              <a:t>A Sample Space is a complete list of </a:t>
            </a:r>
            <a:r>
              <a:rPr lang="en-US" b="1" dirty="0"/>
              <a:t>all</a:t>
            </a:r>
            <a:r>
              <a:rPr lang="en-US" dirty="0"/>
              <a:t> possible outcomes.</a:t>
            </a:r>
          </a:p>
          <a:p>
            <a:pPr lvl="2" algn="l"/>
            <a:r>
              <a:rPr lang="en-US" dirty="0" err="1"/>
              <a:t>Eg</a:t>
            </a:r>
            <a:r>
              <a:rPr lang="en-US" dirty="0"/>
              <a:t> tossing a coin - </a:t>
            </a:r>
            <a:r>
              <a:rPr lang="en-US" sz="1680" b="1" dirty="0"/>
              <a:t>S = { H, T }</a:t>
            </a:r>
            <a:endParaRPr lang="en-US" dirty="0"/>
          </a:p>
          <a:p>
            <a:pPr marL="411480" indent="-411480" algn="l">
              <a:buAutoNum type="arabicPeriod"/>
            </a:pPr>
            <a:endParaRPr lang="en-AU" dirty="0"/>
          </a:p>
          <a:p>
            <a:pPr marL="411480" indent="-411480" algn="l">
              <a:buFont typeface="Arial" panose="020B0604020202020204" pitchFamily="34" charset="0"/>
              <a:buAutoNum type="arabicPeriod"/>
            </a:pPr>
            <a:r>
              <a:rPr lang="en-AU" dirty="0"/>
              <a:t>Theoretical probability - is determining the chance of an event occurring</a:t>
            </a:r>
          </a:p>
          <a:p>
            <a:pPr lvl="2" algn="l"/>
            <a:r>
              <a:rPr lang="en-AU" dirty="0"/>
              <a:t>	</a:t>
            </a:r>
          </a:p>
          <a:p>
            <a:pPr marL="411480" indent="-411480" algn="l">
              <a:buAutoNum type="arabicPeriod"/>
            </a:pPr>
            <a:endParaRPr lang="en-AU" dirty="0"/>
          </a:p>
          <a:p>
            <a:pPr marL="411480" indent="-411480" algn="l">
              <a:buFont typeface="Arial" panose="020B0604020202020204" pitchFamily="34" charset="0"/>
              <a:buAutoNum type="arabicPeriod"/>
            </a:pPr>
            <a:r>
              <a:rPr lang="en-US" dirty="0"/>
              <a:t>Experimental probability - Is the number of times an event happens divided by the total number of trials.</a:t>
            </a:r>
          </a:p>
          <a:p>
            <a:pPr marL="1645920" lvl="3" indent="-411480" algn="l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11480" indent="-411480" algn="l">
              <a:buAutoNum type="arabicPeriod"/>
            </a:pPr>
            <a:endParaRPr lang="en-AU" dirty="0"/>
          </a:p>
          <a:p>
            <a:pPr marL="411480" indent="-411480" algn="l">
              <a:buAutoNum type="arabicPeriod"/>
            </a:pPr>
            <a:endParaRPr lang="en-AU" dirty="0"/>
          </a:p>
          <a:p>
            <a:pPr marL="411480" indent="-411480" algn="l">
              <a:buAutoNum type="arabicPeriod"/>
            </a:pPr>
            <a:endParaRPr lang="en-AU" dirty="0"/>
          </a:p>
          <a:p>
            <a:pPr algn="l"/>
            <a:endParaRPr lang="en-AU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091" y="1275239"/>
            <a:ext cx="6960870" cy="11419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776618" y="4650352"/>
                <a:ext cx="5071690" cy="552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4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AU" sz="144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40" i="1">
                              <a:latin typeface="Cambria Math"/>
                            </a:rPr>
                            <m:t>𝑒𝑣𝑒𝑛𝑡</m:t>
                          </m:r>
                        </m:e>
                      </m:d>
                      <m:r>
                        <a:rPr lang="en-AU" sz="144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44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40" i="1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/>
                            </a:rPr>
                            <m:t>𝑜𝑓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/>
                            </a:rPr>
                            <m:t>𝑡𝑖𝑚𝑒𝑠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/>
                            </a:rPr>
                            <m:t>𝑜𝑢𝑡𝑐𝑜𝑚𝑒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/>
                            </a:rPr>
                            <m:t>𝑐𝑎𝑛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/>
                            </a:rPr>
                            <m:t>𝑜𝑐𝑐𝑢𝑟</m:t>
                          </m:r>
                        </m:num>
                        <m:den>
                          <m:r>
                            <a:rPr lang="en-AU" sz="1440" i="1">
                              <a:latin typeface="Cambria Math"/>
                            </a:rPr>
                            <m:t>𝑡𝑜𝑡𝑎𝑙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/>
                            </a:rPr>
                            <m:t>𝑜𝑓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  <m:r>
                        <a:rPr lang="en-AU" sz="144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AU" sz="144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618" y="4650352"/>
                <a:ext cx="5071690" cy="552524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776618" y="5891826"/>
                <a:ext cx="5071690" cy="552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4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AU" sz="144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40" i="1">
                              <a:latin typeface="Cambria Math"/>
                            </a:rPr>
                            <m:t>𝑒𝑣𝑒𝑛𝑡</m:t>
                          </m:r>
                        </m:e>
                      </m:d>
                      <m:r>
                        <a:rPr lang="en-AU" sz="144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44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40" i="1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/>
                            </a:rPr>
                            <m:t>𝑜𝑓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/>
                            </a:rPr>
                            <m:t>𝑡𝑖𝑚𝑒𝑠</m:t>
                          </m:r>
                          <m:r>
                            <a:rPr lang="en-AU" sz="1440" i="1">
                              <a:latin typeface="Cambria Math"/>
                            </a:rPr>
                            <m:t> </m:t>
                          </m:r>
                          <m:r>
                            <a:rPr lang="en-AU" sz="1440" i="1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  <m:r>
                            <a:rPr lang="en-AU" sz="144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40" i="1">
                              <a:latin typeface="Cambria Math" panose="02040503050406030204" pitchFamily="18" charset="0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sz="1440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AU" sz="144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40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4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4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4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40" i="1">
                              <a:latin typeface="Cambria Math" panose="02040503050406030204" pitchFamily="18" charset="0"/>
                            </a:rPr>
                            <m:t>𝑡𝑟𝑖𝑎𝑙𝑠</m:t>
                          </m:r>
                        </m:den>
                      </m:f>
                      <m:r>
                        <a:rPr lang="en-AU" sz="144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AU" sz="144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618" y="5891826"/>
                <a:ext cx="5071690" cy="552524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468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596" y="323557"/>
            <a:ext cx="7086600" cy="4324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3557"/>
            <a:ext cx="4656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Probability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596" y="4647907"/>
            <a:ext cx="7629525" cy="2028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9652" y="846777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9652" y="4647907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74042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222" y="239957"/>
            <a:ext cx="7677150" cy="1876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222" y="2315454"/>
            <a:ext cx="7591425" cy="394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3529" y="239957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528" y="2415466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1922035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37" y="291549"/>
            <a:ext cx="6107493" cy="41819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8365" y="291549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2015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637" y="4473527"/>
            <a:ext cx="7209885" cy="17997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8364" y="4473527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253392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4992" y="176572"/>
            <a:ext cx="110386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A Venn diagram is a way to represent probability data.</a:t>
            </a:r>
          </a:p>
          <a:p>
            <a:endParaRPr lang="en-AU" sz="2400" b="1" dirty="0"/>
          </a:p>
          <a:p>
            <a:r>
              <a:rPr lang="en-AU" sz="2400" dirty="0" err="1"/>
              <a:t>Eg</a:t>
            </a:r>
            <a:r>
              <a:rPr lang="en-AU" sz="2400" dirty="0"/>
              <a:t>.  50 people were surveyed on if they liked Coke or Pepsi.  </a:t>
            </a:r>
          </a:p>
          <a:p>
            <a:endParaRPr lang="en-AU" sz="2400" dirty="0"/>
          </a:p>
          <a:p>
            <a:r>
              <a:rPr lang="en-AU" sz="2400" dirty="0"/>
              <a:t>Results show 24 people like only coke, 12 like only </a:t>
            </a:r>
            <a:r>
              <a:rPr lang="en-AU" sz="2400" dirty="0" err="1"/>
              <a:t>pepsi</a:t>
            </a:r>
            <a:r>
              <a:rPr lang="en-AU" sz="2400" dirty="0"/>
              <a:t>, 10 like both and 4 like neither.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1569" y="2894253"/>
            <a:ext cx="2063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6969" y="2947423"/>
            <a:ext cx="2063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Pepsi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7274" y="2763297"/>
            <a:ext cx="7455877" cy="3764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9" name="Oval 8"/>
          <p:cNvSpPr/>
          <p:nvPr/>
        </p:nvSpPr>
        <p:spPr>
          <a:xfrm>
            <a:off x="2168374" y="3412280"/>
            <a:ext cx="4165838" cy="28285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0" name="Oval 9"/>
          <p:cNvSpPr/>
          <p:nvPr/>
        </p:nvSpPr>
        <p:spPr>
          <a:xfrm>
            <a:off x="5245269" y="3438770"/>
            <a:ext cx="4065190" cy="2802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1" name="TextBox 10"/>
          <p:cNvSpPr txBox="1"/>
          <p:nvPr/>
        </p:nvSpPr>
        <p:spPr>
          <a:xfrm>
            <a:off x="3917019" y="4307116"/>
            <a:ext cx="110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5509" y="4627648"/>
            <a:ext cx="110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6294" y="4435403"/>
            <a:ext cx="110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5854" y="5737794"/>
            <a:ext cx="110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4</a:t>
            </a: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2450047" y="2049396"/>
            <a:ext cx="1487114" cy="2257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</p:cNvCxnSpPr>
          <p:nvPr/>
        </p:nvCxnSpPr>
        <p:spPr>
          <a:xfrm>
            <a:off x="5408366" y="2043067"/>
            <a:ext cx="1576081" cy="26982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 flipH="1">
            <a:off x="5994381" y="2043067"/>
            <a:ext cx="1647939" cy="26982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 flipH="1">
            <a:off x="9027375" y="2057568"/>
            <a:ext cx="515492" cy="3864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012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27274" y="2763297"/>
            <a:ext cx="7455877" cy="3764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5" name="Oval 4"/>
          <p:cNvSpPr/>
          <p:nvPr/>
        </p:nvSpPr>
        <p:spPr>
          <a:xfrm>
            <a:off x="2168374" y="3412280"/>
            <a:ext cx="4165838" cy="28285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6" name="Oval 5"/>
          <p:cNvSpPr/>
          <p:nvPr/>
        </p:nvSpPr>
        <p:spPr>
          <a:xfrm>
            <a:off x="5245269" y="3438770"/>
            <a:ext cx="4065190" cy="2802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" name="TextBox 7"/>
          <p:cNvSpPr txBox="1"/>
          <p:nvPr/>
        </p:nvSpPr>
        <p:spPr>
          <a:xfrm>
            <a:off x="3530627" y="85641"/>
            <a:ext cx="98858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many people in the class like Pizza.</a:t>
            </a:r>
          </a:p>
          <a:p>
            <a:endParaRPr lang="en-AU" sz="2400" dirty="0"/>
          </a:p>
          <a:p>
            <a:r>
              <a:rPr lang="en-AU" sz="2400" dirty="0"/>
              <a:t>How many like McDonalds?</a:t>
            </a:r>
          </a:p>
          <a:p>
            <a:endParaRPr lang="en-AU" sz="2400" dirty="0"/>
          </a:p>
          <a:p>
            <a:r>
              <a:rPr lang="en-AU" sz="2400" dirty="0"/>
              <a:t>How many like both?</a:t>
            </a:r>
          </a:p>
          <a:p>
            <a:endParaRPr lang="en-AU" sz="2400" dirty="0"/>
          </a:p>
          <a:p>
            <a:r>
              <a:rPr lang="en-AU" sz="2400" dirty="0"/>
              <a:t>How many like neither?</a:t>
            </a:r>
          </a:p>
        </p:txBody>
      </p:sp>
    </p:spTree>
    <p:extLst>
      <p:ext uri="{BB962C8B-B14F-4D97-AF65-F5344CB8AC3E}">
        <p14:creationId xmlns:p14="http://schemas.microsoft.com/office/powerpoint/2010/main" val="416965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05" y="289852"/>
            <a:ext cx="8648407" cy="6392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4746" y="520405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64607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1" y="689317"/>
            <a:ext cx="10802842" cy="53945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9459" y="319985"/>
            <a:ext cx="12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847778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Exit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On a piece of paper answer the following.</a:t>
            </a:r>
          </a:p>
          <a:p>
            <a:pPr marL="457200" lvl="1" indent="0">
              <a:buNone/>
            </a:pPr>
            <a:r>
              <a:rPr lang="en-AU" dirty="0"/>
              <a:t>4, 6, 6, 7, 8, 12, 13</a:t>
            </a:r>
          </a:p>
          <a:p>
            <a:pPr marL="457200" lvl="1" indent="0">
              <a:buNone/>
            </a:pPr>
            <a:r>
              <a:rPr lang="en-AU" dirty="0"/>
              <a:t>What is the mean, mode, median and range?  Draw a dot plot.</a:t>
            </a:r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r>
              <a:rPr lang="en-AU" dirty="0"/>
              <a:t>What is the probability of getting a 4 on a 6 sided dice?</a:t>
            </a:r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r>
              <a:rPr lang="en-AU" dirty="0"/>
              <a:t>6 people only  like running, 4 people only like swimming, 2 people like both and 5 people like neither.  Draw a </a:t>
            </a:r>
            <a:r>
              <a:rPr lang="en-AU" dirty="0" err="1"/>
              <a:t>venn</a:t>
            </a:r>
            <a:r>
              <a:rPr lang="en-AU" dirty="0"/>
              <a:t> diagram for this.</a:t>
            </a:r>
          </a:p>
        </p:txBody>
      </p:sp>
    </p:spTree>
    <p:extLst>
      <p:ext uri="{BB962C8B-B14F-4D97-AF65-F5344CB8AC3E}">
        <p14:creationId xmlns:p14="http://schemas.microsoft.com/office/powerpoint/2010/main" val="1134693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918</Words>
  <Application>Microsoft Office PowerPoint</Application>
  <PresentationFormat>Widescreen</PresentationFormat>
  <Paragraphs>258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Naplan Yr 9 Stats and Probability review</vt:lpstr>
      <vt:lpstr>PowerPoint Presentation</vt:lpstr>
      <vt:lpstr>Mode, Median and Mode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Exit pass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18</cp:revision>
  <dcterms:created xsi:type="dcterms:W3CDTF">2017-04-13T12:50:53Z</dcterms:created>
  <dcterms:modified xsi:type="dcterms:W3CDTF">2017-04-26T13:50:12Z</dcterms:modified>
</cp:coreProperties>
</file>
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65" r:id="rId3"/>
    <p:sldId id="256" r:id="rId4"/>
    <p:sldId id="258" r:id="rId5"/>
    <p:sldId id="259" r:id="rId6"/>
    <p:sldId id="260" r:id="rId7"/>
    <p:sldId id="261" r:id="rId8"/>
    <p:sldId id="262" r:id="rId9"/>
    <p:sldId id="263" r:id="rId10"/>
    <p:sldId id="264" r:id="rId11"/>
    <p:sldId id="266"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576" y="-12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interSettings" Target="printerSettings/printerSettings1.bin"/><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5D1D8CB-E84F-5D47-92A8-18A281DDFDA6}" type="datetimeFigureOut">
              <a:rPr lang="en-US" smtClean="0"/>
              <a:t>24/04/2017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E10F97-0C2D-F24F-BA18-9C813D2581C6}" type="slidenum">
              <a:rPr lang="en-US" smtClean="0"/>
              <a:t>‹#›</a:t>
            </a:fld>
            <a:endParaRPr lang="en-US"/>
          </a:p>
        </p:txBody>
      </p:sp>
    </p:spTree>
    <p:extLst>
      <p:ext uri="{BB962C8B-B14F-4D97-AF65-F5344CB8AC3E}">
        <p14:creationId xmlns:p14="http://schemas.microsoft.com/office/powerpoint/2010/main" val="244669305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 the questions as prompts to get students to discuss what information is needed to answer</a:t>
            </a:r>
            <a:r>
              <a:rPr lang="en-US" baseline="0" dirty="0" smtClean="0"/>
              <a:t> the question. Then discuss strategies that may be used (if wrong strategies are suggested, follow them through to show how they will turn out and give students opportunities to change their minds) and model how to complete the problem.</a:t>
            </a:r>
          </a:p>
          <a:p>
            <a:r>
              <a:rPr lang="en-US" baseline="0" dirty="0" smtClean="0"/>
              <a:t>Students should take notes on how to perform each function and use them when completing their practice tests.</a:t>
            </a:r>
            <a:endParaRPr lang="en-US" dirty="0"/>
          </a:p>
        </p:txBody>
      </p:sp>
      <p:sp>
        <p:nvSpPr>
          <p:cNvPr id="4" name="Slide Number Placeholder 3"/>
          <p:cNvSpPr>
            <a:spLocks noGrp="1"/>
          </p:cNvSpPr>
          <p:nvPr>
            <p:ph type="sldNum" sz="quarter" idx="10"/>
          </p:nvPr>
        </p:nvSpPr>
        <p:spPr/>
        <p:txBody>
          <a:bodyPr/>
          <a:lstStyle/>
          <a:p>
            <a:fld id="{94E10F97-0C2D-F24F-BA18-9C813D2581C6}" type="slidenum">
              <a:rPr lang="en-US" smtClean="0"/>
              <a:t>3</a:t>
            </a:fld>
            <a:endParaRPr lang="en-US"/>
          </a:p>
        </p:txBody>
      </p:sp>
    </p:spTree>
    <p:extLst>
      <p:ext uri="{BB962C8B-B14F-4D97-AF65-F5344CB8AC3E}">
        <p14:creationId xmlns:p14="http://schemas.microsoft.com/office/powerpoint/2010/main" val="37510389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E10F97-0C2D-F24F-BA18-9C813D2581C6}" type="slidenum">
              <a:rPr lang="en-US" smtClean="0"/>
              <a:t>4</a:t>
            </a:fld>
            <a:endParaRPr lang="en-US"/>
          </a:p>
        </p:txBody>
      </p:sp>
    </p:spTree>
    <p:extLst>
      <p:ext uri="{BB962C8B-B14F-4D97-AF65-F5344CB8AC3E}">
        <p14:creationId xmlns:p14="http://schemas.microsoft.com/office/powerpoint/2010/main" val="4276310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E10F97-0C2D-F24F-BA18-9C813D2581C6}" type="slidenum">
              <a:rPr lang="en-US" smtClean="0"/>
              <a:t>5</a:t>
            </a:fld>
            <a:endParaRPr lang="en-US"/>
          </a:p>
        </p:txBody>
      </p:sp>
    </p:spTree>
    <p:extLst>
      <p:ext uri="{BB962C8B-B14F-4D97-AF65-F5344CB8AC3E}">
        <p14:creationId xmlns:p14="http://schemas.microsoft.com/office/powerpoint/2010/main" val="2590037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4E10F97-0C2D-F24F-BA18-9C813D2581C6}" type="slidenum">
              <a:rPr lang="en-US" smtClean="0"/>
              <a:t>6</a:t>
            </a:fld>
            <a:endParaRPr lang="en-US"/>
          </a:p>
        </p:txBody>
      </p:sp>
    </p:spTree>
    <p:extLst>
      <p:ext uri="{BB962C8B-B14F-4D97-AF65-F5344CB8AC3E}">
        <p14:creationId xmlns:p14="http://schemas.microsoft.com/office/powerpoint/2010/main" val="1017540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1.6:2</a:t>
            </a:r>
          </a:p>
          <a:p>
            <a:r>
              <a:rPr lang="en-US" dirty="0" smtClean="0"/>
              <a:t>X:5</a:t>
            </a:r>
          </a:p>
          <a:p>
            <a:r>
              <a:rPr lang="en-US" dirty="0" smtClean="0"/>
              <a:t>2/1.6=1.25 therefore</a:t>
            </a:r>
          </a:p>
          <a:p>
            <a:r>
              <a:rPr lang="en-US" dirty="0" smtClean="0"/>
              <a:t>X multiplied by 1.25=4</a:t>
            </a:r>
          </a:p>
          <a:p>
            <a:r>
              <a:rPr lang="en-US" dirty="0" smtClean="0"/>
              <a:t>X=4</a:t>
            </a:r>
            <a:endParaRPr lang="en-US" dirty="0"/>
          </a:p>
        </p:txBody>
      </p:sp>
      <p:sp>
        <p:nvSpPr>
          <p:cNvPr id="4" name="Slide Number Placeholder 3"/>
          <p:cNvSpPr>
            <a:spLocks noGrp="1"/>
          </p:cNvSpPr>
          <p:nvPr>
            <p:ph type="sldNum" sz="quarter" idx="10"/>
          </p:nvPr>
        </p:nvSpPr>
        <p:spPr/>
        <p:txBody>
          <a:bodyPr/>
          <a:lstStyle/>
          <a:p>
            <a:fld id="{94E10F97-0C2D-F24F-BA18-9C813D2581C6}" type="slidenum">
              <a:rPr lang="en-US" smtClean="0"/>
              <a:t>10</a:t>
            </a:fld>
            <a:endParaRPr lang="en-US"/>
          </a:p>
        </p:txBody>
      </p:sp>
    </p:spTree>
    <p:extLst>
      <p:ext uri="{BB962C8B-B14F-4D97-AF65-F5344CB8AC3E}">
        <p14:creationId xmlns:p14="http://schemas.microsoft.com/office/powerpoint/2010/main" val="2334504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Independent practice will take the form of the NAPLAN Practice</a:t>
            </a:r>
            <a:r>
              <a:rPr lang="en-US" baseline="0" dirty="0" smtClean="0"/>
              <a:t> test which should be completed </a:t>
            </a:r>
            <a:r>
              <a:rPr lang="en-US" baseline="0" smtClean="0"/>
              <a:t>in pairs.</a:t>
            </a:r>
            <a:endParaRPr lang="en-US" dirty="0"/>
          </a:p>
        </p:txBody>
      </p:sp>
      <p:sp>
        <p:nvSpPr>
          <p:cNvPr id="4" name="Slide Number Placeholder 3"/>
          <p:cNvSpPr>
            <a:spLocks noGrp="1"/>
          </p:cNvSpPr>
          <p:nvPr>
            <p:ph type="sldNum" sz="quarter" idx="10"/>
          </p:nvPr>
        </p:nvSpPr>
        <p:spPr/>
        <p:txBody>
          <a:bodyPr/>
          <a:lstStyle/>
          <a:p>
            <a:fld id="{94E10F97-0C2D-F24F-BA18-9C813D2581C6}" type="slidenum">
              <a:rPr lang="en-US" smtClean="0"/>
              <a:t>11</a:t>
            </a:fld>
            <a:endParaRPr lang="en-US"/>
          </a:p>
        </p:txBody>
      </p:sp>
    </p:spTree>
    <p:extLst>
      <p:ext uri="{BB962C8B-B14F-4D97-AF65-F5344CB8AC3E}">
        <p14:creationId xmlns:p14="http://schemas.microsoft.com/office/powerpoint/2010/main" val="2562205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1CC324A4-4380-4D2D-9555-16F8695BECF3}"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CC324A4-4380-4D2D-9555-16F8695BECF3}"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CC324A4-4380-4D2D-9555-16F8695BECF3}"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1CC324A4-4380-4D2D-9555-16F8695BECF3}" type="datetimeFigureOut">
              <a:rPr lang="en-AU" smtClean="0"/>
              <a:t>24/04/2017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1CC324A4-4380-4D2D-9555-16F8695BECF3}" type="datetimeFigureOut">
              <a:rPr lang="en-AU" smtClean="0"/>
              <a:t>24/04/2017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1CC324A4-4380-4D2D-9555-16F8695BECF3}" type="datetimeFigureOut">
              <a:rPr lang="en-AU" smtClean="0"/>
              <a:t>24/04/2017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C324A4-4380-4D2D-9555-16F8695BECF3}" type="datetimeFigureOut">
              <a:rPr lang="en-AU" smtClean="0"/>
              <a:t>24/04/2017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C324A4-4380-4D2D-9555-16F8695BECF3}" type="datetimeFigureOut">
              <a:rPr lang="en-AU" smtClean="0"/>
              <a:t>24/04/2017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C324A4-4380-4D2D-9555-16F8695BECF3}" type="datetimeFigureOut">
              <a:rPr lang="en-AU" smtClean="0"/>
              <a:t>24/04/2017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CC324A4-4380-4D2D-9555-16F8695BECF3}"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1CC324A4-4380-4D2D-9555-16F8695BECF3}" type="datetimeFigureOut">
              <a:rPr lang="en-AU" smtClean="0"/>
              <a:t>24/04/2017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B64F0F8-6EBF-46D7-9859-25A244A8B9E3}"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C324A4-4380-4D2D-9555-16F8695BECF3}" type="datetimeFigureOut">
              <a:rPr lang="en-AU" smtClean="0"/>
              <a:t>24/04/2017</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4F0F8-6EBF-46D7-9859-25A244A8B9E3}"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4"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4" Type="http://schemas.openxmlformats.org/officeDocument/2006/relationships/image" Target="../media/image6.png"/><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31640" y="980728"/>
            <a:ext cx="6336704" cy="369332"/>
          </a:xfrm>
          <a:prstGeom prst="rect">
            <a:avLst/>
          </a:prstGeom>
          <a:noFill/>
        </p:spPr>
        <p:txBody>
          <a:bodyPr wrap="square" rtlCol="0">
            <a:spAutoFit/>
          </a:bodyPr>
          <a:lstStyle/>
          <a:p>
            <a:pPr algn="ctr"/>
            <a:r>
              <a:rPr lang="en-AU" b="1" dirty="0" smtClean="0"/>
              <a:t>NAPLAN Practice Time</a:t>
            </a:r>
            <a:endParaRPr lang="en-AU" b="1" dirty="0"/>
          </a:p>
        </p:txBody>
      </p:sp>
      <p:sp>
        <p:nvSpPr>
          <p:cNvPr id="2" name="TextBox 1"/>
          <p:cNvSpPr txBox="1"/>
          <p:nvPr/>
        </p:nvSpPr>
        <p:spPr>
          <a:xfrm>
            <a:off x="2483768" y="1916832"/>
            <a:ext cx="3816424" cy="923330"/>
          </a:xfrm>
          <a:prstGeom prst="rect">
            <a:avLst/>
          </a:prstGeom>
          <a:noFill/>
        </p:spPr>
        <p:txBody>
          <a:bodyPr wrap="square" rtlCol="0">
            <a:spAutoFit/>
          </a:bodyPr>
          <a:lstStyle/>
          <a:p>
            <a:pPr algn="ctr"/>
            <a:r>
              <a:rPr lang="en-US" dirty="0" smtClean="0"/>
              <a:t>Clem Evans</a:t>
            </a:r>
          </a:p>
          <a:p>
            <a:pPr algn="ctr"/>
            <a:r>
              <a:rPr lang="en-US" dirty="0" smtClean="0"/>
              <a:t>Week 1 Term 2</a:t>
            </a:r>
          </a:p>
          <a:p>
            <a:pPr algn="ct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9592" y="836712"/>
            <a:ext cx="6912768" cy="369332"/>
          </a:xfrm>
          <a:prstGeom prst="rect">
            <a:avLst/>
          </a:prstGeom>
          <a:noFill/>
        </p:spPr>
        <p:txBody>
          <a:bodyPr wrap="square" rtlCol="0">
            <a:spAutoFit/>
          </a:bodyPr>
          <a:lstStyle/>
          <a:p>
            <a:pPr algn="ctr"/>
            <a:r>
              <a:rPr lang="en-US" dirty="0" smtClean="0"/>
              <a:t>Why do I need to do NAPLAN?</a:t>
            </a:r>
            <a:endParaRPr lang="en-US" dirty="0"/>
          </a:p>
        </p:txBody>
      </p:sp>
      <p:sp>
        <p:nvSpPr>
          <p:cNvPr id="5" name="TextBox 4"/>
          <p:cNvSpPr txBox="1"/>
          <p:nvPr/>
        </p:nvSpPr>
        <p:spPr>
          <a:xfrm>
            <a:off x="1043608" y="1988840"/>
            <a:ext cx="6984776" cy="4247317"/>
          </a:xfrm>
          <a:prstGeom prst="rect">
            <a:avLst/>
          </a:prstGeom>
          <a:noFill/>
        </p:spPr>
        <p:txBody>
          <a:bodyPr wrap="square" rtlCol="0">
            <a:spAutoFit/>
          </a:bodyPr>
          <a:lstStyle/>
          <a:p>
            <a:r>
              <a:rPr lang="en-US" dirty="0"/>
              <a:t>NAPLAN is the measure through which governments, education authorities, schools, teachers and parents can determine whether or not young Australians have the literacy and numeracy skills that provide the critical foundation for other learning and for their productive and rewarding participation in the community.</a:t>
            </a:r>
          </a:p>
          <a:p>
            <a:endParaRPr lang="en-US" dirty="0"/>
          </a:p>
          <a:p>
            <a:r>
              <a:rPr lang="en-US" dirty="0"/>
              <a:t>The tests provide parents and schools with an understanding of how individual students are performing at the time of the tests. They also provide schools, states and territories with information about how education programs are working and which areas need to be </a:t>
            </a:r>
            <a:r>
              <a:rPr lang="en-US" dirty="0" err="1"/>
              <a:t>prioritised</a:t>
            </a:r>
            <a:r>
              <a:rPr lang="en-US" dirty="0"/>
              <a:t> for improvement.</a:t>
            </a:r>
          </a:p>
          <a:p>
            <a:endParaRPr lang="en-US" dirty="0"/>
          </a:p>
          <a:p>
            <a:r>
              <a:rPr lang="en-US" dirty="0"/>
              <a:t>NAPLAN tests are one aspect of each school’s assessment and reporting process, and do not replace the extensive, ongoing assessments made by teachers about each student’s performance.</a:t>
            </a:r>
          </a:p>
        </p:txBody>
      </p:sp>
    </p:spTree>
    <p:extLst>
      <p:ext uri="{BB962C8B-B14F-4D97-AF65-F5344CB8AC3E}">
        <p14:creationId xmlns:p14="http://schemas.microsoft.com/office/powerpoint/2010/main" val="24682119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cstate="print"/>
          <a:srcRect/>
          <a:stretch>
            <a:fillRect/>
          </a:stretch>
        </p:blipFill>
        <p:spPr bwMode="auto">
          <a:xfrm>
            <a:off x="827584" y="548680"/>
            <a:ext cx="4438650" cy="1409700"/>
          </a:xfrm>
          <a:prstGeom prst="rect">
            <a:avLst/>
          </a:prstGeom>
          <a:noFill/>
          <a:ln w="9525">
            <a:noFill/>
            <a:miter lim="800000"/>
            <a:headEnd/>
            <a:tailEnd/>
          </a:ln>
        </p:spPr>
      </p:pic>
      <p:sp>
        <p:nvSpPr>
          <p:cNvPr id="5" name="TextBox 4"/>
          <p:cNvSpPr txBox="1"/>
          <p:nvPr/>
        </p:nvSpPr>
        <p:spPr>
          <a:xfrm>
            <a:off x="755576" y="2564904"/>
            <a:ext cx="7200800" cy="1477328"/>
          </a:xfrm>
          <a:prstGeom prst="rect">
            <a:avLst/>
          </a:prstGeom>
          <a:noFill/>
        </p:spPr>
        <p:txBody>
          <a:bodyPr wrap="square" rtlCol="0">
            <a:spAutoFit/>
          </a:bodyPr>
          <a:lstStyle/>
          <a:p>
            <a:r>
              <a:rPr lang="en-AU" dirty="0" smtClean="0"/>
              <a:t>How could we solve this problem?</a:t>
            </a:r>
          </a:p>
          <a:p>
            <a:endParaRPr lang="en-AU" dirty="0"/>
          </a:p>
          <a:p>
            <a:r>
              <a:rPr lang="en-AU" dirty="0" smtClean="0"/>
              <a:t>Talk to your partner and come up with a strategy.</a:t>
            </a:r>
          </a:p>
          <a:p>
            <a:endParaRPr lang="en-AU" dirty="0"/>
          </a:p>
          <a:p>
            <a:r>
              <a:rPr lang="en-AU" dirty="0" smtClean="0"/>
              <a:t>Suggestions:</a:t>
            </a:r>
            <a:endParaRPr lang="en-AU"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cstate="print"/>
          <a:srcRect/>
          <a:stretch>
            <a:fillRect/>
          </a:stretch>
        </p:blipFill>
        <p:spPr bwMode="auto">
          <a:xfrm>
            <a:off x="899592" y="692696"/>
            <a:ext cx="3076575" cy="695325"/>
          </a:xfrm>
          <a:prstGeom prst="rect">
            <a:avLst/>
          </a:prstGeom>
          <a:noFill/>
          <a:ln w="9525">
            <a:noFill/>
            <a:miter lim="800000"/>
            <a:headEnd/>
            <a:tailEnd/>
          </a:ln>
        </p:spPr>
      </p:pic>
      <p:pic>
        <p:nvPicPr>
          <p:cNvPr id="2051" name="Picture 3"/>
          <p:cNvPicPr>
            <a:picLocks noChangeAspect="1" noChangeArrowheads="1"/>
          </p:cNvPicPr>
          <p:nvPr/>
        </p:nvPicPr>
        <p:blipFill>
          <a:blip r:embed="rId4" cstate="print"/>
          <a:srcRect/>
          <a:stretch>
            <a:fillRect/>
          </a:stretch>
        </p:blipFill>
        <p:spPr bwMode="auto">
          <a:xfrm>
            <a:off x="899592" y="1484784"/>
            <a:ext cx="4600575" cy="1866900"/>
          </a:xfrm>
          <a:prstGeom prst="rect">
            <a:avLst/>
          </a:prstGeom>
          <a:noFill/>
          <a:ln w="9525">
            <a:noFill/>
            <a:miter lim="800000"/>
            <a:headEnd/>
            <a:tailEnd/>
          </a:ln>
        </p:spPr>
      </p:pic>
      <p:sp>
        <p:nvSpPr>
          <p:cNvPr id="5" name="TextBox 4"/>
          <p:cNvSpPr txBox="1"/>
          <p:nvPr/>
        </p:nvSpPr>
        <p:spPr>
          <a:xfrm>
            <a:off x="683568" y="3429000"/>
            <a:ext cx="7200800" cy="923330"/>
          </a:xfrm>
          <a:prstGeom prst="rect">
            <a:avLst/>
          </a:prstGeom>
          <a:noFill/>
        </p:spPr>
        <p:txBody>
          <a:bodyPr wrap="square" rtlCol="0">
            <a:spAutoFit/>
          </a:bodyPr>
          <a:lstStyle/>
          <a:p>
            <a:r>
              <a:rPr lang="en-AU" dirty="0" smtClean="0"/>
              <a:t>How could we solve this problem?</a:t>
            </a:r>
          </a:p>
          <a:p>
            <a:endParaRPr lang="en-AU" dirty="0"/>
          </a:p>
          <a:p>
            <a:r>
              <a:rPr lang="en-AU" dirty="0" smtClean="0"/>
              <a:t>Suggestions:</a:t>
            </a:r>
            <a:endParaRPr lang="en-AU"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cstate="print"/>
          <a:srcRect/>
          <a:stretch>
            <a:fillRect/>
          </a:stretch>
        </p:blipFill>
        <p:spPr bwMode="auto">
          <a:xfrm>
            <a:off x="611560" y="548680"/>
            <a:ext cx="4848225" cy="1752600"/>
          </a:xfrm>
          <a:prstGeom prst="rect">
            <a:avLst/>
          </a:prstGeom>
          <a:noFill/>
          <a:ln w="9525">
            <a:noFill/>
            <a:miter lim="800000"/>
            <a:headEnd/>
            <a:tailEnd/>
          </a:ln>
        </p:spPr>
      </p:pic>
      <p:sp>
        <p:nvSpPr>
          <p:cNvPr id="4" name="TextBox 3"/>
          <p:cNvSpPr txBox="1"/>
          <p:nvPr/>
        </p:nvSpPr>
        <p:spPr>
          <a:xfrm>
            <a:off x="683568" y="2636912"/>
            <a:ext cx="7200800" cy="1477328"/>
          </a:xfrm>
          <a:prstGeom prst="rect">
            <a:avLst/>
          </a:prstGeom>
          <a:noFill/>
        </p:spPr>
        <p:txBody>
          <a:bodyPr wrap="square" rtlCol="0">
            <a:spAutoFit/>
          </a:bodyPr>
          <a:lstStyle/>
          <a:p>
            <a:r>
              <a:rPr lang="en-AU" dirty="0" smtClean="0"/>
              <a:t>How could we solve this problem?</a:t>
            </a:r>
          </a:p>
          <a:p>
            <a:endParaRPr lang="en-AU" dirty="0"/>
          </a:p>
          <a:p>
            <a:r>
              <a:rPr lang="en-AU" dirty="0" smtClean="0"/>
              <a:t>What information do we need from the question?</a:t>
            </a:r>
          </a:p>
          <a:p>
            <a:endParaRPr lang="en-AU" dirty="0"/>
          </a:p>
          <a:p>
            <a:r>
              <a:rPr lang="en-AU" dirty="0" smtClean="0"/>
              <a:t>Suggestions:</a:t>
            </a:r>
            <a:endParaRPr lang="en-AU"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cstate="print"/>
          <a:srcRect/>
          <a:stretch>
            <a:fillRect/>
          </a:stretch>
        </p:blipFill>
        <p:spPr bwMode="auto">
          <a:xfrm>
            <a:off x="971600" y="620688"/>
            <a:ext cx="2686050" cy="1609725"/>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srcRect/>
          <a:stretch>
            <a:fillRect/>
          </a:stretch>
        </p:blipFill>
        <p:spPr bwMode="auto">
          <a:xfrm>
            <a:off x="1043608" y="2348880"/>
            <a:ext cx="5257800" cy="2638425"/>
          </a:xfrm>
          <a:prstGeom prst="rect">
            <a:avLst/>
          </a:prstGeom>
          <a:noFill/>
          <a:ln w="9525">
            <a:noFill/>
            <a:miter lim="800000"/>
            <a:headEnd/>
            <a:tailEnd/>
          </a:ln>
        </p:spPr>
      </p:pic>
      <p:sp>
        <p:nvSpPr>
          <p:cNvPr id="5" name="TextBox 4"/>
          <p:cNvSpPr txBox="1"/>
          <p:nvPr/>
        </p:nvSpPr>
        <p:spPr>
          <a:xfrm>
            <a:off x="539552" y="4869160"/>
            <a:ext cx="7200800" cy="923330"/>
          </a:xfrm>
          <a:prstGeom prst="rect">
            <a:avLst/>
          </a:prstGeom>
          <a:noFill/>
        </p:spPr>
        <p:txBody>
          <a:bodyPr wrap="square" rtlCol="0">
            <a:spAutoFit/>
          </a:bodyPr>
          <a:lstStyle/>
          <a:p>
            <a:r>
              <a:rPr lang="en-AU" dirty="0" smtClean="0"/>
              <a:t>How could we solve this problem?</a:t>
            </a:r>
          </a:p>
          <a:p>
            <a:endParaRPr lang="en-AU" dirty="0"/>
          </a:p>
          <a:p>
            <a:r>
              <a:rPr lang="en-AU" dirty="0" smtClean="0"/>
              <a:t>Suggestions:</a:t>
            </a:r>
            <a:endParaRPr lang="en-A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cstate="print"/>
          <a:srcRect/>
          <a:stretch>
            <a:fillRect/>
          </a:stretch>
        </p:blipFill>
        <p:spPr bwMode="auto">
          <a:xfrm>
            <a:off x="899592" y="620688"/>
            <a:ext cx="3781425" cy="2600325"/>
          </a:xfrm>
          <a:prstGeom prst="rect">
            <a:avLst/>
          </a:prstGeom>
          <a:noFill/>
          <a:ln w="9525">
            <a:noFill/>
            <a:miter lim="800000"/>
            <a:headEnd/>
            <a:tailEnd/>
          </a:ln>
        </p:spPr>
      </p:pic>
      <p:sp>
        <p:nvSpPr>
          <p:cNvPr id="4" name="TextBox 3"/>
          <p:cNvSpPr txBox="1"/>
          <p:nvPr/>
        </p:nvSpPr>
        <p:spPr>
          <a:xfrm>
            <a:off x="683568" y="3429000"/>
            <a:ext cx="7200800" cy="1477328"/>
          </a:xfrm>
          <a:prstGeom prst="rect">
            <a:avLst/>
          </a:prstGeom>
          <a:noFill/>
        </p:spPr>
        <p:txBody>
          <a:bodyPr wrap="square" rtlCol="0">
            <a:spAutoFit/>
          </a:bodyPr>
          <a:lstStyle/>
          <a:p>
            <a:r>
              <a:rPr lang="en-AU" dirty="0" smtClean="0"/>
              <a:t>How could we solve this problem?</a:t>
            </a:r>
          </a:p>
          <a:p>
            <a:endParaRPr lang="en-AU" dirty="0"/>
          </a:p>
          <a:p>
            <a:r>
              <a:rPr lang="en-AU" dirty="0" smtClean="0"/>
              <a:t>Try it yourself and be prepared to share your strategies.</a:t>
            </a:r>
          </a:p>
          <a:p>
            <a:endParaRPr lang="en-AU" dirty="0"/>
          </a:p>
          <a:p>
            <a:r>
              <a:rPr lang="en-AU" dirty="0" smtClean="0"/>
              <a:t>Suggestions:</a:t>
            </a:r>
            <a:endParaRPr lang="en-AU"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srcRect/>
          <a:stretch>
            <a:fillRect/>
          </a:stretch>
        </p:blipFill>
        <p:spPr bwMode="auto">
          <a:xfrm>
            <a:off x="755576" y="548680"/>
            <a:ext cx="3648075" cy="1514475"/>
          </a:xfrm>
          <a:prstGeom prst="rect">
            <a:avLst/>
          </a:prstGeom>
          <a:noFill/>
          <a:ln w="9525">
            <a:noFill/>
            <a:miter lim="800000"/>
            <a:headEnd/>
            <a:tailEnd/>
          </a:ln>
        </p:spPr>
      </p:pic>
      <p:sp>
        <p:nvSpPr>
          <p:cNvPr id="4" name="TextBox 3"/>
          <p:cNvSpPr txBox="1"/>
          <p:nvPr/>
        </p:nvSpPr>
        <p:spPr>
          <a:xfrm>
            <a:off x="683568" y="2564904"/>
            <a:ext cx="7200800" cy="923330"/>
          </a:xfrm>
          <a:prstGeom prst="rect">
            <a:avLst/>
          </a:prstGeom>
          <a:noFill/>
        </p:spPr>
        <p:txBody>
          <a:bodyPr wrap="square" rtlCol="0">
            <a:spAutoFit/>
          </a:bodyPr>
          <a:lstStyle/>
          <a:p>
            <a:r>
              <a:rPr lang="en-AU" dirty="0" smtClean="0"/>
              <a:t>How could we solve this problem?</a:t>
            </a:r>
          </a:p>
          <a:p>
            <a:endParaRPr lang="en-AU" dirty="0"/>
          </a:p>
          <a:p>
            <a:r>
              <a:rPr lang="en-AU" dirty="0" smtClean="0"/>
              <a:t>Suggestions:</a:t>
            </a:r>
            <a:endParaRPr lang="en-AU"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899592" y="620688"/>
            <a:ext cx="3686175" cy="3333750"/>
          </a:xfrm>
          <a:prstGeom prst="rect">
            <a:avLst/>
          </a:prstGeom>
          <a:noFill/>
          <a:ln w="9525">
            <a:noFill/>
            <a:miter lim="800000"/>
            <a:headEnd/>
            <a:tailEnd/>
          </a:ln>
        </p:spPr>
      </p:pic>
      <p:sp>
        <p:nvSpPr>
          <p:cNvPr id="4" name="TextBox 3"/>
          <p:cNvSpPr txBox="1"/>
          <p:nvPr/>
        </p:nvSpPr>
        <p:spPr>
          <a:xfrm>
            <a:off x="611560" y="3933056"/>
            <a:ext cx="7200800" cy="1477328"/>
          </a:xfrm>
          <a:prstGeom prst="rect">
            <a:avLst/>
          </a:prstGeom>
          <a:noFill/>
        </p:spPr>
        <p:txBody>
          <a:bodyPr wrap="square" rtlCol="0">
            <a:spAutoFit/>
          </a:bodyPr>
          <a:lstStyle/>
          <a:p>
            <a:r>
              <a:rPr lang="en-AU" dirty="0" smtClean="0"/>
              <a:t>How could we solve this problem?</a:t>
            </a:r>
          </a:p>
          <a:p>
            <a:endParaRPr lang="en-AU" dirty="0"/>
          </a:p>
          <a:p>
            <a:r>
              <a:rPr lang="en-AU" dirty="0" smtClean="0"/>
              <a:t>Write down how you increase a number by a %.</a:t>
            </a:r>
          </a:p>
          <a:p>
            <a:endParaRPr lang="en-AU" dirty="0"/>
          </a:p>
          <a:p>
            <a:r>
              <a:rPr lang="en-AU" dirty="0" smtClean="0"/>
              <a:t>Suggestions:</a:t>
            </a:r>
            <a:endParaRPr lang="en-AU"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cstate="print"/>
          <a:srcRect/>
          <a:stretch>
            <a:fillRect/>
          </a:stretch>
        </p:blipFill>
        <p:spPr bwMode="auto">
          <a:xfrm>
            <a:off x="827584" y="620688"/>
            <a:ext cx="3714750" cy="3390900"/>
          </a:xfrm>
          <a:prstGeom prst="rect">
            <a:avLst/>
          </a:prstGeom>
          <a:noFill/>
          <a:ln w="9525">
            <a:noFill/>
            <a:miter lim="800000"/>
            <a:headEnd/>
            <a:tailEnd/>
          </a:ln>
        </p:spPr>
      </p:pic>
      <p:sp>
        <p:nvSpPr>
          <p:cNvPr id="4" name="TextBox 3"/>
          <p:cNvSpPr txBox="1"/>
          <p:nvPr/>
        </p:nvSpPr>
        <p:spPr>
          <a:xfrm>
            <a:off x="611560" y="4005064"/>
            <a:ext cx="7200800" cy="923330"/>
          </a:xfrm>
          <a:prstGeom prst="rect">
            <a:avLst/>
          </a:prstGeom>
          <a:noFill/>
        </p:spPr>
        <p:txBody>
          <a:bodyPr wrap="square" rtlCol="0">
            <a:spAutoFit/>
          </a:bodyPr>
          <a:lstStyle/>
          <a:p>
            <a:r>
              <a:rPr lang="en-AU" dirty="0" smtClean="0"/>
              <a:t>How could we solve this problem?</a:t>
            </a:r>
          </a:p>
          <a:p>
            <a:endParaRPr lang="en-AU" dirty="0"/>
          </a:p>
          <a:p>
            <a:r>
              <a:rPr lang="en-AU" dirty="0" smtClean="0"/>
              <a:t>Suggestions:</a:t>
            </a:r>
            <a:endParaRPr lang="en-AU"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Use your notes from today when you complete your NAPLAN Practice test tomorrow.</a:t>
            </a:r>
            <a:endParaRPr lang="en-US" dirty="0"/>
          </a:p>
        </p:txBody>
      </p:sp>
    </p:spTree>
    <p:extLst>
      <p:ext uri="{BB962C8B-B14F-4D97-AF65-F5344CB8AC3E}">
        <p14:creationId xmlns:p14="http://schemas.microsoft.com/office/powerpoint/2010/main" val="2317793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TotalTime>
  <Words>395</Words>
  <Application>Microsoft Macintosh PowerPoint</Application>
  <PresentationFormat>On-screen Show (4:3)</PresentationFormat>
  <Paragraphs>56</Paragraphs>
  <Slides>11</Slides>
  <Notes>6</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Clem</dc:creator>
  <cp:lastModifiedBy>Department of Education</cp:lastModifiedBy>
  <cp:revision>14</cp:revision>
  <dcterms:created xsi:type="dcterms:W3CDTF">2017-04-22T07:25:48Z</dcterms:created>
  <dcterms:modified xsi:type="dcterms:W3CDTF">2017-04-24T06:32:05Z</dcterms:modified>
</cp:coreProperties>
</file>
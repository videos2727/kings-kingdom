
<file path=[Content_Types].xml><?xml version="1.0" encoding="utf-8"?>
<Types xmlns="http://schemas.openxmlformats.org/package/2006/content-types">
  <Default Extension="png" ContentType="image/png"/>
  <Default Extension="bin" ContentType="audio/unknown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2" r:id="rId2"/>
    <p:sldId id="256" r:id="rId3"/>
    <p:sldId id="257" r:id="rId4"/>
    <p:sldId id="281" r:id="rId5"/>
    <p:sldId id="277" r:id="rId6"/>
    <p:sldId id="286" r:id="rId7"/>
    <p:sldId id="288" r:id="rId8"/>
    <p:sldId id="287" r:id="rId9"/>
    <p:sldId id="279" r:id="rId10"/>
    <p:sldId id="280" r:id="rId11"/>
    <p:sldId id="261" r:id="rId12"/>
    <p:sldId id="285" r:id="rId13"/>
    <p:sldId id="283" r:id="rId14"/>
    <p:sldId id="289" r:id="rId15"/>
    <p:sldId id="274" r:id="rId16"/>
    <p:sldId id="271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>
      <p:cViewPr varScale="1">
        <p:scale>
          <a:sx n="68" d="100"/>
          <a:sy n="68" d="100"/>
        </p:scale>
        <p:origin x="144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A34B5-1EA9-4A8C-A2CE-2492229555B8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49DD-92C5-4D60-A9F9-F4A4F99CC8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7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4643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965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2177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Can be used for more guided practice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94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– worksheet to be printed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311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Alternative / additional Independent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4856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8D49DD-92C5-4D60-A9F9-F4A4F99CC8E7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3156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67EA60-7754-40F1-B21D-667D466A6CEB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0DDD9D-198C-4961-A126-0606D866C5F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4541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DB506F-61F7-4E6A-AFED-3FDD78AB6D9F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A4D51D-F453-4BB3-BEC9-669EFF8F9AA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6848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0CABCC-A959-4430-AF69-A54F277CD7B2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4CF1BF-C3A2-4BCC-A34D-52BA756CE4E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8893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8E5349-9E49-4D9E-A454-CB64F03658B4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F3449-6B72-4A08-8DB9-4348085964C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4736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A04DD9-048A-4507-88AD-898F1165FA68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936AB-0D89-4382-BFE9-6099808E42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204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EE6FD1-D260-4EDC-AB8E-6B9CFFC69074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4CB986-EF9B-43FE-8909-341F2DC27E0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260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2E49E3-181C-455D-9E55-342350B067C9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38F83-9ACF-4ABA-A3EE-3C9A6E06F4C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829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E9D918-7C5C-43D5-BFEC-429EE676E9FB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FA853C-1ADD-4AE1-BC0E-3A35F7DBBDC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514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709FD0E-FCA6-4A02-8EBD-52B264D6F3D0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69B8D-4B74-4888-825B-7888E031078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633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21F48E-7B21-4FF8-BFBC-94667804ED47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9D2CA7-9B9B-4127-A902-3B2E89DD7E7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976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569A1E-05CF-45DB-8066-7F6D9F245FD4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E8DE1-82D8-4C90-804A-20F32DDBD86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405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E23ABA6D-7F81-40F1-A085-5A0847307188}" type="datetimeFigureOut">
              <a:rPr lang="en-GB" altLang="en-US"/>
              <a:pPr/>
              <a:t>30/05/2017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B92E21D-4C63-495F-BA9C-BE15CABAFAC7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pPr eaLnBrk="1" hangingPunct="1"/>
            <a:r>
              <a:rPr lang="en-GB" altLang="en-US" dirty="0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1385391" y="5733256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1727200" y="6021388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817688" y="3429000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55650" y="4508500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844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844675" y="3429000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465388" y="2997200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1380812" y="2992619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30416" y="3715112"/>
            <a:ext cx="3456384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3200" dirty="0"/>
              <a:t>How do we calculate the final distance?</a:t>
            </a:r>
          </a:p>
        </p:txBody>
      </p:sp>
    </p:spTree>
    <p:extLst>
      <p:ext uri="{BB962C8B-B14F-4D97-AF65-F5344CB8AC3E}">
        <p14:creationId xmlns:p14="http://schemas.microsoft.com/office/powerpoint/2010/main" val="29574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Starter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82352" y="1268760"/>
                <a:ext cx="8579296" cy="4525963"/>
              </a:xfrm>
            </p:spPr>
            <p:txBody>
              <a:bodyPr/>
              <a:lstStyle/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Write down a definition of the hypotenuse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12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 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6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 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9</a:t>
                </a:r>
                <a:r>
                  <a:rPr lang="en-GB" altLang="en-US" baseline="30000" dirty="0"/>
                  <a:t>2</a:t>
                </a:r>
                <a:r>
                  <a:rPr lang="en-GB" altLang="en-US" dirty="0"/>
                  <a:t> =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r>
                  <a:rPr lang="en-GB" altLang="en-US" dirty="0"/>
                  <a:t>Which number when squared = 121? (</a:t>
                </a:r>
                <a:r>
                  <a:rPr lang="en-GB" altLang="en-US" dirty="0" err="1"/>
                  <a:t>ie</a:t>
                </a:r>
                <a:r>
                  <a:rPr lang="en-GB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121</m:t>
                        </m:r>
                      </m:e>
                    </m:rad>
                  </m:oMath>
                </a14:m>
                <a:r>
                  <a:rPr lang="en-GB" altLang="en-US" dirty="0"/>
                  <a:t>)</a:t>
                </a:r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endParaRPr lang="en-GB" altLang="en-US" dirty="0"/>
              </a:p>
              <a:p>
                <a:pPr marL="514350" indent="-514350" eaLnBrk="1" hangingPunct="1">
                  <a:buFont typeface="Calibri" panose="020F0502020204030204" pitchFamily="34" charset="0"/>
                  <a:buAutoNum type="alphaLcParenR"/>
                </a:pPr>
                <a:endParaRPr lang="en-GB" altLang="en-US" dirty="0"/>
              </a:p>
            </p:txBody>
          </p:sp>
        </mc:Choice>
        <mc:Fallback xmlns="">
          <p:sp>
            <p:nvSpPr>
              <p:cNvPr id="13314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2352" y="1268760"/>
                <a:ext cx="8579296" cy="4525963"/>
              </a:xfrm>
              <a:blipFill>
                <a:blip r:embed="rId2"/>
                <a:stretch>
                  <a:fillRect l="-1847" t="-2019" r="-4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u="sng">
                <a:solidFill>
                  <a:schemeClr val="bg1"/>
                </a:solidFill>
              </a:rPr>
              <a:t>Pythagoras’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00" y="1737328"/>
            <a:ext cx="8229600" cy="4525963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Learning Objectives: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GB" dirty="0">
              <a:solidFill>
                <a:schemeClr val="bg1"/>
              </a:solidFill>
              <a:ea typeface="+mn-ea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      Be able to find the hypotenuse using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      Pythagoras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      Be able to apply your knowledge to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chemeClr val="bg1"/>
                </a:solidFill>
                <a:ea typeface="+mn-ea"/>
              </a:rPr>
              <a:t>      worded problems</a:t>
            </a:r>
          </a:p>
        </p:txBody>
      </p:sp>
      <p:sp>
        <p:nvSpPr>
          <p:cNvPr id="5" name="Oval 4"/>
          <p:cNvSpPr/>
          <p:nvPr/>
        </p:nvSpPr>
        <p:spPr>
          <a:xfrm>
            <a:off x="323850" y="2924175"/>
            <a:ext cx="576263" cy="5762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23849" y="4081463"/>
            <a:ext cx="576263" cy="57626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343" name="TextBox 7"/>
          <p:cNvSpPr txBox="1">
            <a:spLocks noChangeArrowheads="1"/>
          </p:cNvSpPr>
          <p:nvPr/>
        </p:nvSpPr>
        <p:spPr bwMode="auto">
          <a:xfrm>
            <a:off x="7235825" y="476250"/>
            <a:ext cx="1081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u="sng">
                <a:solidFill>
                  <a:schemeClr val="bg1"/>
                </a:solidFill>
              </a:rPr>
              <a:t>11/03/11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0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Pythagoras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-14314" y="944895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4314" y="488414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2381440" y="956046"/>
            <a:ext cx="0" cy="590195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399854"/>
            <a:ext cx="8357791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400" dirty="0"/>
              <a:t>EQ : How do you use Pythagoras to find the lengths of sides?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29" y="-607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89" y="72484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2729864" y="938022"/>
            <a:ext cx="6234624" cy="2562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GB" sz="2400" dirty="0">
                <a:solidFill>
                  <a:schemeClr val="tx1"/>
                </a:solidFill>
                <a:ea typeface="+mn-ea"/>
              </a:rPr>
              <a:t>c</a:t>
            </a:r>
            <a:r>
              <a:rPr lang="en-GB" sz="2400" baseline="30000" dirty="0">
                <a:solidFill>
                  <a:schemeClr val="tx1"/>
                </a:solidFill>
                <a:ea typeface="+mn-ea"/>
              </a:rPr>
              <a:t>2</a:t>
            </a:r>
            <a:r>
              <a:rPr lang="en-GB" sz="2400" dirty="0">
                <a:solidFill>
                  <a:schemeClr val="tx1"/>
                </a:solidFill>
                <a:ea typeface="+mn-ea"/>
              </a:rPr>
              <a:t> = a</a:t>
            </a:r>
            <a:r>
              <a:rPr lang="en-GB" sz="2400" baseline="30000" dirty="0">
                <a:solidFill>
                  <a:schemeClr val="tx1"/>
                </a:solidFill>
                <a:ea typeface="+mn-ea"/>
              </a:rPr>
              <a:t>2</a:t>
            </a:r>
            <a:r>
              <a:rPr lang="en-GB" sz="2400" dirty="0">
                <a:solidFill>
                  <a:schemeClr val="tx1"/>
                </a:solidFill>
                <a:ea typeface="+mn-ea"/>
              </a:rPr>
              <a:t> + b</a:t>
            </a:r>
            <a:r>
              <a:rPr lang="en-GB" sz="2400" baseline="30000" dirty="0">
                <a:solidFill>
                  <a:schemeClr val="tx1"/>
                </a:solidFill>
                <a:ea typeface="+mn-ea"/>
              </a:rPr>
              <a:t>2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GB" sz="2400" dirty="0">
              <a:solidFill>
                <a:schemeClr val="tx1"/>
              </a:solidFill>
              <a:ea typeface="+mn-ea"/>
            </a:endParaRPr>
          </a:p>
          <a:p>
            <a:pPr marL="514350" indent="-514350" algn="l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sz="2400" dirty="0">
                <a:solidFill>
                  <a:schemeClr val="tx1"/>
                </a:solidFill>
                <a:ea typeface="+mn-ea"/>
              </a:rPr>
              <a:t>Square both the non-hypotenuse sides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sz="2400" dirty="0">
                <a:solidFill>
                  <a:schemeClr val="tx1"/>
                </a:solidFill>
                <a:ea typeface="+mn-ea"/>
              </a:rPr>
              <a:t>Add the results together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GB" sz="2400" dirty="0">
                <a:solidFill>
                  <a:schemeClr val="tx1"/>
                </a:solidFill>
                <a:ea typeface="+mn-ea"/>
              </a:rPr>
              <a:t>Square root your answer to find the length of the hypotenuse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512" y="1301697"/>
            <a:ext cx="2304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you find the length of the longer side?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65" y="3618183"/>
            <a:ext cx="2304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you find the length of the Shorter side?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4670" y="3521919"/>
            <a:ext cx="635198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2400" dirty="0"/>
              <a:t>We can also use Pythagoras’ theorem to find the length of a shorter</a:t>
            </a:r>
          </a:p>
          <a:p>
            <a:pPr algn="ctr" eaLnBrk="1" hangingPunct="1"/>
            <a:endParaRPr lang="en-GB" altLang="en-US" sz="2400" dirty="0"/>
          </a:p>
          <a:p>
            <a:pPr algn="ctr" eaLnBrk="1" hangingPunct="1"/>
            <a:r>
              <a:rPr lang="en-GB" altLang="en-US" sz="2400" dirty="0"/>
              <a:t>a</a:t>
            </a:r>
            <a:r>
              <a:rPr lang="en-GB" altLang="en-US" sz="2400" baseline="30000" dirty="0"/>
              <a:t>2</a:t>
            </a:r>
            <a:r>
              <a:rPr lang="en-GB" altLang="en-US" sz="2400" dirty="0"/>
              <a:t> = c</a:t>
            </a:r>
            <a:r>
              <a:rPr lang="en-GB" altLang="en-US" sz="2400" baseline="30000" dirty="0"/>
              <a:t>2</a:t>
            </a:r>
            <a:r>
              <a:rPr lang="en-GB" altLang="en-US" sz="2400" dirty="0"/>
              <a:t> – b</a:t>
            </a:r>
            <a:r>
              <a:rPr lang="en-GB" altLang="en-US" sz="2400" baseline="30000" dirty="0"/>
              <a:t>2</a:t>
            </a:r>
            <a:endParaRPr lang="en-GB" altLang="en-US" sz="2400" dirty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400" dirty="0"/>
              <a:t>Square the longer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400" dirty="0"/>
              <a:t>Subtract the square of the other known side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GB" altLang="en-US" sz="2400" dirty="0"/>
              <a:t>Square root your answer to get the unknown shorter side</a:t>
            </a:r>
          </a:p>
          <a:p>
            <a:pPr eaLnBrk="1" hangingPunct="1"/>
            <a:endParaRPr lang="en-GB" altLang="en-US" sz="2400" dirty="0"/>
          </a:p>
          <a:p>
            <a:pPr marL="0" indent="0" eaLnBrk="1" hangingPunct="1">
              <a:buNone/>
            </a:pPr>
            <a:r>
              <a:rPr lang="en-GB" altLang="en-US" sz="2400" dirty="0"/>
              <a:t>		</a:t>
            </a:r>
            <a:endParaRPr lang="en-GB" altLang="en-US" sz="2400" baseline="30000" dirty="0"/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en-US" dirty="0"/>
              <a:t>Example</a:t>
            </a:r>
          </a:p>
          <a:p>
            <a:pPr eaLnBrk="1" hangingPunct="1"/>
            <a:r>
              <a:rPr lang="en-GB" altLang="en-US" dirty="0"/>
              <a:t>Find the length of the hypotenuse.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900113" y="2708275"/>
            <a:ext cx="5184775" cy="266541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6388" name="TextBox 4"/>
          <p:cNvSpPr txBox="1">
            <a:spLocks noChangeArrowheads="1"/>
          </p:cNvSpPr>
          <p:nvPr/>
        </p:nvSpPr>
        <p:spPr bwMode="auto">
          <a:xfrm>
            <a:off x="2987675" y="3429000"/>
            <a:ext cx="1223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16389" name="TextBox 5"/>
          <p:cNvSpPr txBox="1">
            <a:spLocks noChangeArrowheads="1"/>
          </p:cNvSpPr>
          <p:nvPr/>
        </p:nvSpPr>
        <p:spPr bwMode="auto">
          <a:xfrm>
            <a:off x="34925" y="3716338"/>
            <a:ext cx="1081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15cm</a:t>
            </a:r>
          </a:p>
        </p:txBody>
      </p:sp>
      <p:sp>
        <p:nvSpPr>
          <p:cNvPr id="16390" name="TextBox 6"/>
          <p:cNvSpPr txBox="1">
            <a:spLocks noChangeArrowheads="1"/>
          </p:cNvSpPr>
          <p:nvPr/>
        </p:nvSpPr>
        <p:spPr bwMode="auto">
          <a:xfrm>
            <a:off x="2700338" y="5414963"/>
            <a:ext cx="1079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23cm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227763" y="2349500"/>
            <a:ext cx="266541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  <a:r>
              <a:rPr lang="en-GB" altLang="en-US" baseline="30000" dirty="0"/>
              <a:t>2</a:t>
            </a:r>
            <a:r>
              <a:rPr lang="en-GB" altLang="en-US" dirty="0"/>
              <a:t> = a</a:t>
            </a:r>
            <a:r>
              <a:rPr lang="en-GB" altLang="en-US" baseline="30000" dirty="0"/>
              <a:t>2</a:t>
            </a:r>
            <a:r>
              <a:rPr lang="en-GB" altLang="en-US" dirty="0"/>
              <a:t> + b</a:t>
            </a:r>
            <a:r>
              <a:rPr lang="en-GB" altLang="en-US" baseline="30000" dirty="0"/>
              <a:t>2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c</a:t>
            </a:r>
            <a:r>
              <a:rPr lang="en-GB" altLang="en-US" baseline="30000" dirty="0"/>
              <a:t>2</a:t>
            </a:r>
            <a:r>
              <a:rPr lang="en-GB" altLang="en-US" dirty="0"/>
              <a:t> = 15</a:t>
            </a:r>
            <a:r>
              <a:rPr lang="en-GB" altLang="en-US" baseline="30000" dirty="0"/>
              <a:t>2</a:t>
            </a:r>
            <a:r>
              <a:rPr lang="en-GB" altLang="en-US" dirty="0"/>
              <a:t> + 23</a:t>
            </a:r>
            <a:r>
              <a:rPr lang="en-GB" altLang="en-US" baseline="30000" dirty="0"/>
              <a:t>2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c</a:t>
            </a:r>
            <a:r>
              <a:rPr lang="en-GB" altLang="en-US" baseline="30000" dirty="0"/>
              <a:t>2</a:t>
            </a:r>
            <a:r>
              <a:rPr lang="en-GB" altLang="en-US" dirty="0"/>
              <a:t> = 225 + 529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c</a:t>
            </a:r>
            <a:r>
              <a:rPr lang="en-GB" altLang="en-US" baseline="30000" dirty="0"/>
              <a:t>2</a:t>
            </a:r>
            <a:r>
              <a:rPr lang="en-GB" altLang="en-US" dirty="0"/>
              <a:t> = 754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c = √754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c = 27.46cm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5" name="Oval 4"/>
          <p:cNvSpPr/>
          <p:nvPr/>
        </p:nvSpPr>
        <p:spPr>
          <a:xfrm>
            <a:off x="323850" y="333375"/>
            <a:ext cx="792163" cy="79216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ight Triangle 5"/>
          <p:cNvSpPr/>
          <p:nvPr/>
        </p:nvSpPr>
        <p:spPr>
          <a:xfrm>
            <a:off x="1403350" y="1844675"/>
            <a:ext cx="4824413" cy="316865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5604" name="TextBox 6"/>
          <p:cNvSpPr txBox="1">
            <a:spLocks noChangeArrowheads="1"/>
          </p:cNvSpPr>
          <p:nvPr/>
        </p:nvSpPr>
        <p:spPr bwMode="auto">
          <a:xfrm>
            <a:off x="323850" y="3132138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12cm</a:t>
            </a:r>
          </a:p>
        </p:txBody>
      </p:sp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3348038" y="4868863"/>
            <a:ext cx="12239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a</a:t>
            </a:r>
          </a:p>
        </p:txBody>
      </p: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3492500" y="2844800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13cm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478588" y="1447581"/>
            <a:ext cx="266541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a</a:t>
            </a:r>
            <a:r>
              <a:rPr lang="en-GB" altLang="en-US" baseline="30000" dirty="0"/>
              <a:t>2</a:t>
            </a:r>
            <a:r>
              <a:rPr lang="en-GB" altLang="en-US" dirty="0"/>
              <a:t> = c</a:t>
            </a:r>
            <a:r>
              <a:rPr lang="en-GB" altLang="en-US" baseline="30000" dirty="0"/>
              <a:t>2</a:t>
            </a:r>
            <a:r>
              <a:rPr lang="en-GB" altLang="en-US" dirty="0"/>
              <a:t> - b</a:t>
            </a:r>
            <a:r>
              <a:rPr lang="en-GB" altLang="en-US" baseline="30000" dirty="0"/>
              <a:t>2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a</a:t>
            </a:r>
            <a:r>
              <a:rPr lang="en-GB" altLang="en-US" baseline="30000" dirty="0"/>
              <a:t>2</a:t>
            </a:r>
            <a:r>
              <a:rPr lang="en-GB" altLang="en-US" dirty="0"/>
              <a:t> = 13</a:t>
            </a:r>
            <a:r>
              <a:rPr lang="en-GB" altLang="en-US" baseline="30000" dirty="0"/>
              <a:t>2</a:t>
            </a:r>
            <a:r>
              <a:rPr lang="en-GB" altLang="en-US" dirty="0"/>
              <a:t> - 12</a:t>
            </a:r>
            <a:r>
              <a:rPr lang="en-GB" altLang="en-US" baseline="30000" dirty="0"/>
              <a:t>2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a</a:t>
            </a:r>
            <a:r>
              <a:rPr lang="en-GB" altLang="en-US" baseline="30000" dirty="0"/>
              <a:t>2</a:t>
            </a:r>
            <a:r>
              <a:rPr lang="en-GB" altLang="en-US" dirty="0"/>
              <a:t> = 169 - 144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a</a:t>
            </a:r>
            <a:r>
              <a:rPr lang="en-GB" altLang="en-US" baseline="30000" dirty="0"/>
              <a:t>2</a:t>
            </a:r>
            <a:r>
              <a:rPr lang="en-GB" altLang="en-US" dirty="0"/>
              <a:t> = 25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a = √25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a = 5 cm</a:t>
            </a:r>
          </a:p>
        </p:txBody>
      </p:sp>
    </p:spTree>
    <p:extLst>
      <p:ext uri="{BB962C8B-B14F-4D97-AF65-F5344CB8AC3E}">
        <p14:creationId xmlns:p14="http://schemas.microsoft.com/office/powerpoint/2010/main" val="23807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Find the length of the missing side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457200" y="2636912"/>
            <a:ext cx="7488237" cy="1141437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7945438" y="2914750"/>
            <a:ext cx="971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3m</a:t>
            </a:r>
          </a:p>
        </p:txBody>
      </p:sp>
      <p:sp>
        <p:nvSpPr>
          <p:cNvPr id="27653" name="TextBox 5"/>
          <p:cNvSpPr txBox="1">
            <a:spLocks noChangeArrowheads="1"/>
          </p:cNvSpPr>
          <p:nvPr/>
        </p:nvSpPr>
        <p:spPr bwMode="auto">
          <a:xfrm>
            <a:off x="3697288" y="3275113"/>
            <a:ext cx="971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25m</a:t>
            </a:r>
          </a:p>
        </p:txBody>
      </p:sp>
      <p:sp>
        <p:nvSpPr>
          <p:cNvPr id="7" name="Oval 6"/>
          <p:cNvSpPr/>
          <p:nvPr/>
        </p:nvSpPr>
        <p:spPr>
          <a:xfrm>
            <a:off x="323850" y="333375"/>
            <a:ext cx="792163" cy="79216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355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1187450" y="2205038"/>
            <a:ext cx="1871663" cy="3455987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1763713" y="1700213"/>
            <a:ext cx="1008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6cm</a:t>
            </a:r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971550" y="3573463"/>
            <a:ext cx="1223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14cm</a:t>
            </a:r>
          </a:p>
        </p:txBody>
      </p:sp>
      <p:sp>
        <p:nvSpPr>
          <p:cNvPr id="26629" name="TextBox 6"/>
          <p:cNvSpPr txBox="1">
            <a:spLocks noChangeArrowheads="1"/>
          </p:cNvSpPr>
          <p:nvPr/>
        </p:nvSpPr>
        <p:spPr bwMode="auto">
          <a:xfrm>
            <a:off x="3059113" y="3419475"/>
            <a:ext cx="10080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323850" y="333375"/>
            <a:ext cx="792163" cy="792163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438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4" name="Right Triangle 3"/>
          <p:cNvSpPr/>
          <p:nvPr/>
        </p:nvSpPr>
        <p:spPr>
          <a:xfrm rot="19195144">
            <a:off x="553054" y="1725762"/>
            <a:ext cx="4681537" cy="158432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3257139" y="3121968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18cm</a:t>
            </a:r>
          </a:p>
        </p:txBody>
      </p:sp>
      <p:sp>
        <p:nvSpPr>
          <p:cNvPr id="18437" name="TextBox 5"/>
          <p:cNvSpPr txBox="1">
            <a:spLocks noChangeArrowheads="1"/>
          </p:cNvSpPr>
          <p:nvPr/>
        </p:nvSpPr>
        <p:spPr bwMode="auto">
          <a:xfrm>
            <a:off x="448851" y="3942706"/>
            <a:ext cx="1152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4m</a:t>
            </a:r>
          </a:p>
        </p:txBody>
      </p:sp>
      <p:sp>
        <p:nvSpPr>
          <p:cNvPr id="18438" name="TextBox 6"/>
          <p:cNvSpPr txBox="1">
            <a:spLocks noChangeArrowheads="1"/>
          </p:cNvSpPr>
          <p:nvPr/>
        </p:nvSpPr>
        <p:spPr bwMode="auto">
          <a:xfrm>
            <a:off x="2104614" y="2286943"/>
            <a:ext cx="1152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4" name="Right Triangle 3"/>
          <p:cNvSpPr/>
          <p:nvPr/>
        </p:nvSpPr>
        <p:spPr>
          <a:xfrm rot="16200000">
            <a:off x="2844006" y="3140869"/>
            <a:ext cx="3240088" cy="295275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5940425" y="4365625"/>
            <a:ext cx="1152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13cm</a:t>
            </a:r>
          </a:p>
        </p:txBody>
      </p:sp>
      <p:sp>
        <p:nvSpPr>
          <p:cNvPr id="19461" name="TextBox 5"/>
          <p:cNvSpPr txBox="1">
            <a:spLocks noChangeArrowheads="1"/>
          </p:cNvSpPr>
          <p:nvPr/>
        </p:nvSpPr>
        <p:spPr bwMode="auto">
          <a:xfrm>
            <a:off x="4067175" y="6165850"/>
            <a:ext cx="1152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10cm</a:t>
            </a:r>
          </a:p>
        </p:txBody>
      </p:sp>
      <p:sp>
        <p:nvSpPr>
          <p:cNvPr id="19462" name="TextBox 6"/>
          <p:cNvSpPr txBox="1">
            <a:spLocks noChangeArrowheads="1"/>
          </p:cNvSpPr>
          <p:nvPr/>
        </p:nvSpPr>
        <p:spPr bwMode="auto">
          <a:xfrm>
            <a:off x="3924300" y="4437063"/>
            <a:ext cx="1152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468313" y="260350"/>
            <a:ext cx="503237" cy="504825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Who Wants To Be A Millionaire - Explain the Rules.mp3">
            <a:hlinkClick r:id="" action="ppaction://media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6353175"/>
            <a:ext cx="3460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Rectangle 103"/>
          <p:cNvSpPr/>
          <p:nvPr/>
        </p:nvSpPr>
        <p:spPr>
          <a:xfrm>
            <a:off x="-2125" y="22160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14.76cm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82043" y="2259138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8.06cm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055635" y="2262432"/>
            <a:ext cx="3026408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7.21m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-2125" y="2257395"/>
            <a:ext cx="3057759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21.10m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82043" y="18866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8.60cm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057707" y="22160"/>
            <a:ext cx="3024336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20cm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88545" y="4499410"/>
            <a:ext cx="3053330" cy="2379966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15.65cm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55635" y="4502704"/>
            <a:ext cx="3026408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8.49m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-2126" y="4502704"/>
            <a:ext cx="3057759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000" dirty="0">
                <a:solidFill>
                  <a:schemeClr val="tx1"/>
                </a:solidFill>
              </a:rPr>
              <a:t>8.54cm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784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schemeClr val="tx1"/>
                </a:solidFill>
              </a:rPr>
              <a:t>Calculate the length of the diagonal BC.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4168" y="2237762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57760" y="2241056"/>
            <a:ext cx="3026408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chemeClr val="tx1"/>
                </a:solidFill>
              </a:rPr>
              <a:t>A ladder leans against a wall 4m tall with one end on the ground 6m from the wall. The other end just reaches a windowsill. Calculate the length of the ladder.</a:t>
            </a:r>
            <a:endParaRPr lang="en-GB" sz="1400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2236019"/>
            <a:ext cx="3057759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84168" y="-2510"/>
            <a:ext cx="3059832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The diagram shows a trapezium ABCD . Calculate the length of CD. 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59832" y="784"/>
            <a:ext cx="3024336" cy="22402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0670" y="4478034"/>
            <a:ext cx="3053330" cy="2379966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57760" y="4481328"/>
            <a:ext cx="3026408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-1" y="4481328"/>
            <a:ext cx="3057759" cy="2376672"/>
          </a:xfrm>
          <a:prstGeom prst="rect">
            <a:avLst/>
          </a:prstGeom>
          <a:gradFill flip="none" rotWithShape="1">
            <a:gsLst>
              <a:gs pos="17999">
                <a:srgbClr val="FEE7F2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path path="circle">
              <a:fillToRect l="100000" b="100000"/>
            </a:path>
            <a:tileRect t="-100000" r="-100000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" name="Right Triangle 21"/>
          <p:cNvSpPr/>
          <p:nvPr/>
        </p:nvSpPr>
        <p:spPr>
          <a:xfrm>
            <a:off x="650875" y="4606925"/>
            <a:ext cx="2303463" cy="12954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403350" y="5876925"/>
            <a:ext cx="1008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8cm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8100" y="5038725"/>
            <a:ext cx="612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3cm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1658938" y="4894263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44" name="Right Triangle 43"/>
          <p:cNvSpPr/>
          <p:nvPr/>
        </p:nvSpPr>
        <p:spPr>
          <a:xfrm rot="10800000">
            <a:off x="3132138" y="476250"/>
            <a:ext cx="2160587" cy="1223963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3995738" y="1042988"/>
            <a:ext cx="647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5292725" y="908050"/>
            <a:ext cx="719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12cm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3995738" y="115888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16cm</a:t>
            </a:r>
          </a:p>
        </p:txBody>
      </p:sp>
      <p:sp>
        <p:nvSpPr>
          <p:cNvPr id="52" name="Right Triangle 51"/>
          <p:cNvSpPr/>
          <p:nvPr/>
        </p:nvSpPr>
        <p:spPr>
          <a:xfrm>
            <a:off x="971550" y="2492375"/>
            <a:ext cx="1152525" cy="1584325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1258888" y="4076700"/>
            <a:ext cx="649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11m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395288" y="3132138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18m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1619250" y="3141663"/>
            <a:ext cx="792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56" name="Right Triangle 55"/>
          <p:cNvSpPr/>
          <p:nvPr/>
        </p:nvSpPr>
        <p:spPr>
          <a:xfrm>
            <a:off x="3995738" y="4652963"/>
            <a:ext cx="1439862" cy="1439862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427538" y="6092825"/>
            <a:ext cx="720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3538538" y="5229225"/>
            <a:ext cx="719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59" name="Right Triangle 58"/>
          <p:cNvSpPr/>
          <p:nvPr/>
        </p:nvSpPr>
        <p:spPr>
          <a:xfrm rot="10800000">
            <a:off x="6804025" y="2708275"/>
            <a:ext cx="1439863" cy="165735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08850" y="2339975"/>
            <a:ext cx="935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4cm</a:t>
            </a: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8243888" y="3203575"/>
            <a:ext cx="936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7164388" y="3357563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4716463" y="5157788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5205413" y="3230563"/>
            <a:ext cx="0" cy="88265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3779838" y="3213100"/>
            <a:ext cx="1425575" cy="882650"/>
          </a:xfrm>
          <a:prstGeom prst="line">
            <a:avLst/>
          </a:prstGeom>
          <a:noFill/>
          <a:ln w="76200" cmpd="tri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3670300" y="4113213"/>
            <a:ext cx="20272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pic>
        <p:nvPicPr>
          <p:cNvPr id="1032" name="Picture 8" descr="NA01441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3" y="3500438"/>
            <a:ext cx="576262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 descr="NA01441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25" y="3644900"/>
            <a:ext cx="43180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5183188" y="3429000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4m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4284663" y="4076700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6m</a:t>
            </a:r>
          </a:p>
        </p:txBody>
      </p:sp>
      <p:sp>
        <p:nvSpPr>
          <p:cNvPr id="66" name="Right Triangle 65"/>
          <p:cNvSpPr/>
          <p:nvPr/>
        </p:nvSpPr>
        <p:spPr>
          <a:xfrm>
            <a:off x="7308850" y="4581525"/>
            <a:ext cx="1008063" cy="177165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7524750" y="6353175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6659563" y="5273675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14cm</a:t>
            </a:r>
          </a:p>
        </p:txBody>
      </p: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7812088" y="527367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h</a:t>
            </a:r>
          </a:p>
        </p:txBody>
      </p:sp>
      <p:sp>
        <p:nvSpPr>
          <p:cNvPr id="70" name="Flowchart: Manual Input 69"/>
          <p:cNvSpPr/>
          <p:nvPr/>
        </p:nvSpPr>
        <p:spPr>
          <a:xfrm rot="5400000">
            <a:off x="7307263" y="414338"/>
            <a:ext cx="936625" cy="1800225"/>
          </a:xfrm>
          <a:prstGeom prst="flowChartManualInp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7380288" y="1709738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15cm</a:t>
            </a: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6300788" y="1133475"/>
            <a:ext cx="792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7308850" y="549275"/>
            <a:ext cx="792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10cm</a:t>
            </a: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6588125" y="549275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A</a:t>
            </a: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8604250" y="1628775"/>
            <a:ext cx="43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D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8243888" y="539750"/>
            <a:ext cx="431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C</a:t>
            </a: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6588125" y="1628775"/>
            <a:ext cx="43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1188" y="908050"/>
            <a:ext cx="1873250" cy="936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1258888" y="1835150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13cm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71438" y="1196975"/>
            <a:ext cx="755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7cm</a:t>
            </a: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323850" y="692150"/>
            <a:ext cx="503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A</a:t>
            </a: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2411413" y="1700213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D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323850" y="1700213"/>
            <a:ext cx="503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C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2411413" y="620713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B</a:t>
            </a:r>
          </a:p>
        </p:txBody>
      </p:sp>
      <p:pic>
        <p:nvPicPr>
          <p:cNvPr id="23654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33375"/>
            <a:ext cx="3413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5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260350"/>
            <a:ext cx="341312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6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325" y="908050"/>
            <a:ext cx="33972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7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2439988"/>
            <a:ext cx="34131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8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3376613"/>
            <a:ext cx="3413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59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636838"/>
            <a:ext cx="34131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0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672013"/>
            <a:ext cx="3397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1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775" y="4652963"/>
            <a:ext cx="3397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62" name="AIEL.m4a">
            <a:hlinkClick r:id="" action="ppaction://media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4652963"/>
            <a:ext cx="34131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Rectangle 112"/>
          <p:cNvSpPr/>
          <p:nvPr/>
        </p:nvSpPr>
        <p:spPr>
          <a:xfrm>
            <a:off x="28136" y="6974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12467" y="2257600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86059" y="2247246"/>
            <a:ext cx="3026408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8299" y="2255857"/>
            <a:ext cx="3057759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12467" y="17328"/>
            <a:ext cx="3059832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088131" y="6974"/>
            <a:ext cx="3024336" cy="224027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18969" y="4484224"/>
            <a:ext cx="3053330" cy="2373776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86059" y="4487518"/>
            <a:ext cx="3026408" cy="237048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746" y="4487606"/>
            <a:ext cx="3057759" cy="2370482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2700000" scaled="0"/>
          </a:gradFill>
          <a:effectLst>
            <a:softEdge rad="3175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600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 nodeType="clickPar">
                      <p:stCondLst>
                        <p:cond delay="0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 nodeType="clickPar">
                      <p:stCondLst>
                        <p:cond delay="0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 nodeType="clickPar">
                      <p:stCondLst>
                        <p:cond delay="0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 nodeType="clickPar">
                      <p:stCondLst>
                        <p:cond delay="0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 nodeType="clickPar">
                      <p:stCondLst>
                        <p:cond delay="0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 nodeType="clickPar">
                      <p:stCondLst>
                        <p:cond delay="0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 nodeType="clickPar">
                      <p:stCondLst>
                        <p:cond delay="0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2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 nodeType="clickPar">
                      <p:stCondLst>
                        <p:cond delay="0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2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 nodeType="clickPar">
                      <p:stCondLst>
                        <p:cond delay="0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2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 nodeType="clickPar">
                      <p:stCondLst>
                        <p:cond delay="0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2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 nodeType="clickPar">
                      <p:stCondLst>
                        <p:cond delay="0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2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 nodeType="clickPar">
                      <p:stCondLst>
                        <p:cond delay="0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2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 nodeType="clickPar">
                      <p:stCondLst>
                        <p:cond delay="0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2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 nodeType="clickPar">
                      <p:stCondLst>
                        <p:cond delay="0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2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tchphrase_Reveal_Sound_Effect_w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43" grpId="0"/>
      <p:bldP spid="44" grpId="0" animBg="1"/>
      <p:bldP spid="45" grpId="0"/>
      <p:bldP spid="46" grpId="0"/>
      <p:bldP spid="47" grpId="0"/>
      <p:bldP spid="52" grpId="0" animBg="1"/>
      <p:bldP spid="53" grpId="0"/>
      <p:bldP spid="54" grpId="0"/>
      <p:bldP spid="55" grpId="0"/>
      <p:bldP spid="56" grpId="0" animBg="1"/>
      <p:bldP spid="57" grpId="0"/>
      <p:bldP spid="58" grpId="0"/>
      <p:bldP spid="59" grpId="0" animBg="1"/>
      <p:bldP spid="60" grpId="0"/>
      <p:bldP spid="61" grpId="0"/>
      <p:bldP spid="62" grpId="0"/>
      <p:bldP spid="63" grpId="0"/>
      <p:bldP spid="64" grpId="0"/>
      <p:bldP spid="65" grpId="0"/>
      <p:bldP spid="66" grpId="0" animBg="1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9" grpId="0" animBg="1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13838" y="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Pythagoras’ Theorem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42034" y="458629"/>
            <a:ext cx="0" cy="810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761899" y="1268730"/>
            <a:ext cx="10801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761899" y="458629"/>
            <a:ext cx="1080135" cy="810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42034" y="728663"/>
            <a:ext cx="8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3899" y="1268730"/>
            <a:ext cx="8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15" name="TextBox 14"/>
          <p:cNvSpPr txBox="1"/>
          <p:nvPr/>
        </p:nvSpPr>
        <p:spPr>
          <a:xfrm rot="19362020">
            <a:off x="3693573" y="400012"/>
            <a:ext cx="1215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hypotenuse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250" y="1686416"/>
            <a:ext cx="51435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Measure the lengths of the sides in the four triangles below and use this information to complete the table underneath.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2239666" y="2213848"/>
            <a:ext cx="2700338" cy="810101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Triangle 17"/>
          <p:cNvSpPr/>
          <p:nvPr/>
        </p:nvSpPr>
        <p:spPr>
          <a:xfrm>
            <a:off x="5382101" y="2023679"/>
            <a:ext cx="1620203" cy="1215152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Triangle 18"/>
          <p:cNvSpPr/>
          <p:nvPr/>
        </p:nvSpPr>
        <p:spPr>
          <a:xfrm>
            <a:off x="2247754" y="3238831"/>
            <a:ext cx="1732169" cy="810101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ight Triangle 19"/>
          <p:cNvSpPr/>
          <p:nvPr/>
        </p:nvSpPr>
        <p:spPr>
          <a:xfrm>
            <a:off x="4301149" y="3643882"/>
            <a:ext cx="2701154" cy="519350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/>
          </p:nvPr>
        </p:nvGraphicFramePr>
        <p:xfrm>
          <a:off x="2047591" y="4509135"/>
          <a:ext cx="5022751" cy="19050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3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Triangle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Short</a:t>
                      </a:r>
                      <a:r>
                        <a:rPr lang="en-GB" sz="1400" baseline="0" dirty="0">
                          <a:solidFill>
                            <a:schemeClr val="tx1"/>
                          </a:solidFill>
                        </a:rPr>
                        <a:t> side 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Short side b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Hypotenuse </a:t>
                      </a:r>
                    </a:p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14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14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sz="14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b)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e)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301149" y="867162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50" y="3782425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2871" y="3626557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1847" y="2734061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2871" y="2608396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0251" y="2469896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5041" y="3765056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251" y="3511454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0759" y="2518499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2941" y="3011060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7213" y="4124136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6876" y="4050571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5303" y="3211559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5404" y="2348850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7213" y="3619295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3037" y="3429000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2203" y="2415492"/>
            <a:ext cx="52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8225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724942"/>
          </a:xfrm>
        </p:spPr>
        <p:txBody>
          <a:bodyPr/>
          <a:lstStyle/>
          <a:p>
            <a:r>
              <a:rPr lang="en-AU" dirty="0"/>
              <a:t>Exercise 7.3 Page 92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913582"/>
            <a:ext cx="5648325" cy="551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03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764704"/>
            <a:ext cx="4786114" cy="5955572"/>
          </a:xfrm>
          <a:prstGeom prst="rect">
            <a:avLst/>
          </a:prstGeom>
        </p:spPr>
      </p:pic>
      <p:sp>
        <p:nvSpPr>
          <p:cNvPr id="5" name="Title 2"/>
          <p:cNvSpPr txBox="1">
            <a:spLocks/>
          </p:cNvSpPr>
          <p:nvPr/>
        </p:nvSpPr>
        <p:spPr bwMode="auto">
          <a:xfrm>
            <a:off x="395536" y="188640"/>
            <a:ext cx="8229600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AU" dirty="0"/>
              <a:t>Exercise 7.4 Page 92</a:t>
            </a:r>
          </a:p>
        </p:txBody>
      </p:sp>
    </p:spTree>
    <p:extLst>
      <p:ext uri="{BB962C8B-B14F-4D97-AF65-F5344CB8AC3E}">
        <p14:creationId xmlns:p14="http://schemas.microsoft.com/office/powerpoint/2010/main" val="3630880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784725"/>
          </a:xfrm>
        </p:spPr>
        <p:txBody>
          <a:bodyPr/>
          <a:lstStyle/>
          <a:p>
            <a:pPr eaLnBrk="1" hangingPunct="1"/>
            <a:r>
              <a:rPr lang="en-GB" altLang="en-US"/>
              <a:t>A plane flies 120km due north, and then heads due east for 80km. How far is the plane from it’s starting point?</a:t>
            </a:r>
          </a:p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</p:txBody>
      </p:sp>
      <p:pic>
        <p:nvPicPr>
          <p:cNvPr id="102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>
            <a:off x="1385391" y="5733256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1727200" y="6021388"/>
            <a:ext cx="219075" cy="219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817688" y="3429000"/>
            <a:ext cx="0" cy="2727325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55650" y="4508500"/>
            <a:ext cx="113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GB" altLang="en-US"/>
              <a:t>120km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844675" y="3429000"/>
            <a:ext cx="2205038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844675" y="3429000"/>
            <a:ext cx="2205038" cy="27400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465388" y="2997200"/>
            <a:ext cx="1296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80km</a:t>
            </a:r>
          </a:p>
        </p:txBody>
      </p:sp>
      <p:pic>
        <p:nvPicPr>
          <p:cNvPr id="16" name="Picture 2" descr="C:\Program Files (x86)\Microsoft Office\MEDIA\CAGCAT10\j0293234.wmf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7" t="10707" r="15422" b="16114"/>
          <a:stretch/>
        </p:blipFill>
        <p:spPr bwMode="auto">
          <a:xfrm rot="5400000">
            <a:off x="1380812" y="2992619"/>
            <a:ext cx="858982" cy="8451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148263" y="3227388"/>
            <a:ext cx="374491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/>
              <a:t>c</a:t>
            </a:r>
            <a:r>
              <a:rPr lang="en-GB" altLang="en-US" sz="3200" baseline="30000"/>
              <a:t>2</a:t>
            </a:r>
            <a:r>
              <a:rPr lang="en-GB" altLang="en-US" sz="3200"/>
              <a:t> = a</a:t>
            </a:r>
            <a:r>
              <a:rPr lang="en-GB" altLang="en-US" sz="3200" baseline="30000"/>
              <a:t>2</a:t>
            </a:r>
            <a:r>
              <a:rPr lang="en-GB" altLang="en-US" sz="3200"/>
              <a:t> + b</a:t>
            </a:r>
            <a:r>
              <a:rPr lang="en-GB" altLang="en-US" sz="3200" baseline="30000"/>
              <a:t>2</a:t>
            </a:r>
          </a:p>
          <a:p>
            <a:pPr eaLnBrk="1" hangingPunct="1"/>
            <a:r>
              <a:rPr lang="en-GB" altLang="en-US" sz="3200"/>
              <a:t>c</a:t>
            </a:r>
            <a:r>
              <a:rPr lang="en-GB" altLang="en-US" sz="3200" baseline="30000"/>
              <a:t>2</a:t>
            </a:r>
            <a:r>
              <a:rPr lang="en-GB" altLang="en-US" sz="3200"/>
              <a:t> = 120</a:t>
            </a:r>
            <a:r>
              <a:rPr lang="en-GB" altLang="en-US" sz="3200" baseline="30000"/>
              <a:t>2</a:t>
            </a:r>
            <a:r>
              <a:rPr lang="en-GB" altLang="en-US" sz="3200"/>
              <a:t> + 80</a:t>
            </a:r>
            <a:r>
              <a:rPr lang="en-GB" altLang="en-US" sz="3200" baseline="30000"/>
              <a:t>2</a:t>
            </a:r>
          </a:p>
          <a:p>
            <a:pPr eaLnBrk="1" hangingPunct="1"/>
            <a:r>
              <a:rPr lang="en-GB" altLang="en-US" sz="3200"/>
              <a:t>c</a:t>
            </a:r>
            <a:r>
              <a:rPr lang="en-GB" altLang="en-US" sz="3200" baseline="30000"/>
              <a:t>2</a:t>
            </a:r>
            <a:r>
              <a:rPr lang="en-GB" altLang="en-US" sz="3200"/>
              <a:t> = 14400 + 6400</a:t>
            </a:r>
          </a:p>
          <a:p>
            <a:pPr eaLnBrk="1" hangingPunct="1"/>
            <a:r>
              <a:rPr lang="en-GB" altLang="en-US" sz="3200"/>
              <a:t>c</a:t>
            </a:r>
            <a:r>
              <a:rPr lang="en-GB" altLang="en-US" sz="3200" baseline="30000"/>
              <a:t>2</a:t>
            </a:r>
            <a:r>
              <a:rPr lang="en-GB" altLang="en-US" sz="3200"/>
              <a:t> = 20800</a:t>
            </a:r>
          </a:p>
          <a:p>
            <a:pPr eaLnBrk="1" hangingPunct="1"/>
            <a:r>
              <a:rPr lang="en-GB" altLang="en-US" sz="3200"/>
              <a:t>c = √20800</a:t>
            </a:r>
          </a:p>
          <a:p>
            <a:pPr eaLnBrk="1" hangingPunct="1"/>
            <a:r>
              <a:rPr lang="en-GB" altLang="en-US" sz="3200"/>
              <a:t>c = 144.22km (2dp)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3.7037E-6 L 0.00035 -0.3974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208 L 0.23733 0.0020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Pythagoras’ Theorem</a:t>
            </a:r>
            <a:br>
              <a:rPr lang="en-GB" altLang="en-US" dirty="0"/>
            </a:br>
            <a:r>
              <a:rPr lang="en-GB" altLang="en-US" dirty="0"/>
              <a:t>Exit pass</a:t>
            </a:r>
          </a:p>
        </p:txBody>
      </p:sp>
      <p:sp>
        <p:nvSpPr>
          <p:cNvPr id="4" name="Right Triangle 3"/>
          <p:cNvSpPr/>
          <p:nvPr/>
        </p:nvSpPr>
        <p:spPr>
          <a:xfrm rot="18896333">
            <a:off x="1016000" y="1025525"/>
            <a:ext cx="2305050" cy="230505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755650" y="2852738"/>
            <a:ext cx="720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10m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2916238" y="2852738"/>
            <a:ext cx="719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/>
              <a:t>10m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34244" y="1643305"/>
            <a:ext cx="358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length of the missing sides</a:t>
            </a:r>
          </a:p>
        </p:txBody>
      </p:sp>
      <p:sp>
        <p:nvSpPr>
          <p:cNvPr id="7" name="Right Triangle 6"/>
          <p:cNvSpPr/>
          <p:nvPr/>
        </p:nvSpPr>
        <p:spPr>
          <a:xfrm rot="20745456">
            <a:off x="693605" y="4420607"/>
            <a:ext cx="3435366" cy="1689193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050925" y="4797152"/>
            <a:ext cx="720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/>
              <a:t>8m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2890012" y="6100550"/>
            <a:ext cx="720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/>
              <a:t>12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603</Words>
  <Application>Microsoft Office PowerPoint</Application>
  <PresentationFormat>On-screen Show (4:3)</PresentationFormat>
  <Paragraphs>217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MS PGothic</vt:lpstr>
      <vt:lpstr>MS PGothic</vt:lpstr>
      <vt:lpstr>Arial</vt:lpstr>
      <vt:lpstr>Calibri</vt:lpstr>
      <vt:lpstr>Cambria Math</vt:lpstr>
      <vt:lpstr>Office Theme</vt:lpstr>
      <vt:lpstr>Pythagoras’ Theorem</vt:lpstr>
      <vt:lpstr>Starter</vt:lpstr>
      <vt:lpstr>Pythagoras’ Theorem</vt:lpstr>
      <vt:lpstr>Topic : Pythagoras</vt:lpstr>
      <vt:lpstr>Pythagoras’ Theorem</vt:lpstr>
      <vt:lpstr>Pythagoras’ Theorem</vt:lpstr>
      <vt:lpstr>Pythagoras’ Theorem</vt:lpstr>
      <vt:lpstr>Pythagoras’ Theorem</vt:lpstr>
      <vt:lpstr>Pythagoras’ Theorem</vt:lpstr>
      <vt:lpstr>Pythagoras’ Theorem</vt:lpstr>
      <vt:lpstr>PowerPoint Presentation</vt:lpstr>
      <vt:lpstr>PowerPoint Presentation</vt:lpstr>
      <vt:lpstr>Exercise 7.3 Page 92</vt:lpstr>
      <vt:lpstr>PowerPoint Presentation</vt:lpstr>
      <vt:lpstr>Pythagoras’ Theorem</vt:lpstr>
      <vt:lpstr>Pythagoras’ Theorem Exit pass</vt:lpstr>
    </vt:vector>
  </TitlesOfParts>
  <Company>Seven Kings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Starter</dc:title>
  <dc:creator>Daniel Burke</dc:creator>
  <cp:lastModifiedBy>E4007446</cp:lastModifiedBy>
  <cp:revision>25</cp:revision>
  <dcterms:created xsi:type="dcterms:W3CDTF">2010-11-25T12:10:37Z</dcterms:created>
  <dcterms:modified xsi:type="dcterms:W3CDTF">2017-05-30T14:30:21Z</dcterms:modified>
</cp:coreProperties>
</file>
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2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16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192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87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196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88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986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21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189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435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0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2936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B366A-F044-4F62-9385-8B1E1D418A73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E226B-566A-43A5-908F-3F7916345E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4239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6447" y="408490"/>
            <a:ext cx="730843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0070C0"/>
                </a:solidFill>
                <a:latin typeface="Chiller" panose="04020404031007020602" pitchFamily="82" charset="0"/>
              </a:rPr>
              <a:t>My Geometry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378" y="4147134"/>
            <a:ext cx="3456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Name:</a:t>
            </a:r>
          </a:p>
          <a:p>
            <a:endParaRPr lang="en-US" sz="2000" b="1" dirty="0"/>
          </a:p>
          <a:p>
            <a:r>
              <a:rPr lang="en-US" sz="2000" b="1" dirty="0"/>
              <a:t>Class: 9-5</a:t>
            </a:r>
          </a:p>
          <a:p>
            <a:endParaRPr lang="en-US" sz="2000" b="1" dirty="0"/>
          </a:p>
          <a:p>
            <a:r>
              <a:rPr lang="en-US" sz="2000" b="1" dirty="0"/>
              <a:t>Teacher: Miss L</a:t>
            </a:r>
          </a:p>
          <a:p>
            <a:endParaRPr lang="en-US" sz="2000" b="1" dirty="0"/>
          </a:p>
          <a:p>
            <a:r>
              <a:rPr lang="en-US" sz="2000" b="1" dirty="0"/>
              <a:t>Term 2 Semester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68" y="3420757"/>
            <a:ext cx="6943219" cy="324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WordArt 4"/>
          <p:cNvSpPr>
            <a:spLocks noChangeArrowheads="1" noChangeShapeType="1" noTextEdit="1"/>
          </p:cNvSpPr>
          <p:nvPr/>
        </p:nvSpPr>
        <p:spPr bwMode="auto">
          <a:xfrm>
            <a:off x="421886" y="389739"/>
            <a:ext cx="5433004" cy="10921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Similar Triangles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21886" y="1481927"/>
            <a:ext cx="68405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/>
              <a:t>Can be overlayed one on top of the other – so it’s easy to see corresponding angles are equal</a:t>
            </a:r>
          </a:p>
        </p:txBody>
      </p:sp>
      <p:sp>
        <p:nvSpPr>
          <p:cNvPr id="16390" name="AutoShape 6"/>
          <p:cNvSpPr>
            <a:spLocks noChangeArrowheads="1"/>
          </p:cNvSpPr>
          <p:nvPr/>
        </p:nvSpPr>
        <p:spPr bwMode="auto">
          <a:xfrm>
            <a:off x="2257036" y="2793420"/>
            <a:ext cx="3024187" cy="324167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6392" name="AutoShape 8"/>
          <p:cNvSpPr>
            <a:spLocks noChangeArrowheads="1"/>
          </p:cNvSpPr>
          <p:nvPr/>
        </p:nvSpPr>
        <p:spPr bwMode="auto">
          <a:xfrm>
            <a:off x="4660511" y="2793420"/>
            <a:ext cx="1871662" cy="2016125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6393" name="AutoShape 9"/>
          <p:cNvSpPr>
            <a:spLocks noChangeArrowheads="1"/>
          </p:cNvSpPr>
          <p:nvPr/>
        </p:nvSpPr>
        <p:spPr bwMode="auto">
          <a:xfrm>
            <a:off x="6373504" y="2793420"/>
            <a:ext cx="1311194" cy="1350963"/>
          </a:xfrm>
          <a:prstGeom prst="rtTriangle">
            <a:avLst/>
          </a:prstGeom>
          <a:solidFill>
            <a:srgbClr val="E05D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500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85185E-6 L -0.197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5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96296E-6 L -0.33893 0.007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53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animBg="1"/>
      <p:bldP spid="1639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408059" y="304066"/>
            <a:ext cx="66246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/>
              <a:t>If 2 triangles are similar, then their matching pairs of sides are in ratio</a:t>
            </a:r>
          </a:p>
        </p:txBody>
      </p:sp>
      <p:grpSp>
        <p:nvGrpSpPr>
          <p:cNvPr id="17429" name="Group 21"/>
          <p:cNvGrpSpPr>
            <a:grpSpLocks/>
          </p:cNvGrpSpPr>
          <p:nvPr/>
        </p:nvGrpSpPr>
        <p:grpSpPr bwMode="auto">
          <a:xfrm>
            <a:off x="4964043" y="968720"/>
            <a:ext cx="4783730" cy="3153604"/>
            <a:chOff x="3016" y="1117"/>
            <a:chExt cx="2540" cy="1532"/>
          </a:xfrm>
        </p:grpSpPr>
        <p:grpSp>
          <p:nvGrpSpPr>
            <p:cNvPr id="17419" name="Group 11"/>
            <p:cNvGrpSpPr>
              <a:grpSpLocks/>
            </p:cNvGrpSpPr>
            <p:nvPr/>
          </p:nvGrpSpPr>
          <p:grpSpPr bwMode="auto">
            <a:xfrm>
              <a:off x="3016" y="1117"/>
              <a:ext cx="2540" cy="1315"/>
              <a:chOff x="3016" y="1117"/>
              <a:chExt cx="2540" cy="1315"/>
            </a:xfrm>
          </p:grpSpPr>
          <p:sp>
            <p:nvSpPr>
              <p:cNvPr id="17416" name="Line 8"/>
              <p:cNvSpPr>
                <a:spLocks noChangeShapeType="1"/>
              </p:cNvSpPr>
              <p:nvPr/>
            </p:nvSpPr>
            <p:spPr bwMode="auto">
              <a:xfrm flipH="1">
                <a:off x="3016" y="1117"/>
                <a:ext cx="408" cy="1315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7" name="Line 9"/>
              <p:cNvSpPr>
                <a:spLocks noChangeShapeType="1"/>
              </p:cNvSpPr>
              <p:nvPr/>
            </p:nvSpPr>
            <p:spPr bwMode="auto">
              <a:xfrm>
                <a:off x="3424" y="1117"/>
                <a:ext cx="2132" cy="1315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8" name="Line 10"/>
              <p:cNvSpPr>
                <a:spLocks noChangeShapeType="1"/>
              </p:cNvSpPr>
              <p:nvPr/>
            </p:nvSpPr>
            <p:spPr bwMode="auto">
              <a:xfrm flipH="1">
                <a:off x="3016" y="2432"/>
                <a:ext cx="2540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7422" name="Text Box 14"/>
            <p:cNvSpPr txBox="1">
              <a:spLocks noChangeArrowheads="1"/>
            </p:cNvSpPr>
            <p:nvPr/>
          </p:nvSpPr>
          <p:spPr bwMode="auto">
            <a:xfrm>
              <a:off x="4331" y="1480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/>
                <a:t>b</a:t>
              </a:r>
            </a:p>
          </p:txBody>
        </p:sp>
        <p:sp>
          <p:nvSpPr>
            <p:cNvPr id="17424" name="Text Box 16"/>
            <p:cNvSpPr txBox="1">
              <a:spLocks noChangeArrowheads="1"/>
            </p:cNvSpPr>
            <p:nvPr/>
          </p:nvSpPr>
          <p:spPr bwMode="auto">
            <a:xfrm>
              <a:off x="4014" y="2416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362DE3"/>
                  </a:solidFill>
                </a:rPr>
                <a:t>f</a:t>
              </a:r>
            </a:p>
          </p:txBody>
        </p:sp>
        <p:sp>
          <p:nvSpPr>
            <p:cNvPr id="17425" name="Text Box 17"/>
            <p:cNvSpPr txBox="1">
              <a:spLocks noChangeArrowheads="1"/>
            </p:cNvSpPr>
            <p:nvPr/>
          </p:nvSpPr>
          <p:spPr bwMode="auto">
            <a:xfrm>
              <a:off x="3061" y="1480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E33D3D"/>
                  </a:solidFill>
                </a:rPr>
                <a:t>d</a:t>
              </a:r>
            </a:p>
          </p:txBody>
        </p:sp>
      </p:grpSp>
      <p:grpSp>
        <p:nvGrpSpPr>
          <p:cNvPr id="17428" name="Group 20"/>
          <p:cNvGrpSpPr>
            <a:grpSpLocks/>
          </p:cNvGrpSpPr>
          <p:nvPr/>
        </p:nvGrpSpPr>
        <p:grpSpPr bwMode="auto">
          <a:xfrm>
            <a:off x="1417910" y="1951037"/>
            <a:ext cx="3238227" cy="2254252"/>
            <a:chOff x="884" y="1298"/>
            <a:chExt cx="1588" cy="898"/>
          </a:xfrm>
        </p:grpSpPr>
        <p:grpSp>
          <p:nvGrpSpPr>
            <p:cNvPr id="17420" name="Group 12"/>
            <p:cNvGrpSpPr>
              <a:grpSpLocks/>
            </p:cNvGrpSpPr>
            <p:nvPr/>
          </p:nvGrpSpPr>
          <p:grpSpPr bwMode="auto">
            <a:xfrm>
              <a:off x="975" y="1298"/>
              <a:ext cx="1497" cy="681"/>
              <a:chOff x="975" y="1298"/>
              <a:chExt cx="1497" cy="681"/>
            </a:xfrm>
          </p:grpSpPr>
          <p:sp>
            <p:nvSpPr>
              <p:cNvPr id="17413" name="Line 5"/>
              <p:cNvSpPr>
                <a:spLocks noChangeShapeType="1"/>
              </p:cNvSpPr>
              <p:nvPr/>
            </p:nvSpPr>
            <p:spPr bwMode="auto">
              <a:xfrm flipH="1">
                <a:off x="975" y="1298"/>
                <a:ext cx="227" cy="681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4" name="Line 6"/>
              <p:cNvSpPr>
                <a:spLocks noChangeShapeType="1"/>
              </p:cNvSpPr>
              <p:nvPr/>
            </p:nvSpPr>
            <p:spPr bwMode="auto">
              <a:xfrm>
                <a:off x="1202" y="1298"/>
                <a:ext cx="1270" cy="681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5" name="Line 7"/>
              <p:cNvSpPr>
                <a:spLocks noChangeShapeType="1"/>
              </p:cNvSpPr>
              <p:nvPr/>
            </p:nvSpPr>
            <p:spPr bwMode="auto">
              <a:xfrm flipH="1">
                <a:off x="975" y="1979"/>
                <a:ext cx="1497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>
              <a:off x="1519" y="1963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362DE3"/>
                  </a:solidFill>
                </a:rPr>
                <a:t>e</a:t>
              </a:r>
            </a:p>
          </p:txBody>
        </p:sp>
        <p:sp>
          <p:nvSpPr>
            <p:cNvPr id="17423" name="Text Box 15"/>
            <p:cNvSpPr txBox="1">
              <a:spLocks noChangeArrowheads="1"/>
            </p:cNvSpPr>
            <p:nvPr/>
          </p:nvSpPr>
          <p:spPr bwMode="auto">
            <a:xfrm>
              <a:off x="1837" y="1434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 dirty="0"/>
                <a:t>a</a:t>
              </a:r>
            </a:p>
          </p:txBody>
        </p:sp>
        <p:sp>
          <p:nvSpPr>
            <p:cNvPr id="17426" name="Text Box 18"/>
            <p:cNvSpPr txBox="1">
              <a:spLocks noChangeArrowheads="1"/>
            </p:cNvSpPr>
            <p:nvPr/>
          </p:nvSpPr>
          <p:spPr bwMode="auto">
            <a:xfrm>
              <a:off x="884" y="1434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 dirty="0">
                  <a:solidFill>
                    <a:srgbClr val="E33D3D"/>
                  </a:solidFill>
                </a:rPr>
                <a:t>c</a:t>
              </a:r>
            </a:p>
          </p:txBody>
        </p:sp>
      </p:grpSp>
      <p:graphicFrame>
        <p:nvGraphicFramePr>
          <p:cNvPr id="17427" name="Object 19"/>
          <p:cNvGraphicFramePr>
            <a:graphicFrameLocks noChangeAspect="1"/>
          </p:cNvGraphicFramePr>
          <p:nvPr>
            <p:extLst/>
          </p:nvPr>
        </p:nvGraphicFramePr>
        <p:xfrm>
          <a:off x="3488556" y="4122324"/>
          <a:ext cx="2447925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711000" imgH="419040" progId="Equation.3">
                  <p:embed/>
                </p:oleObj>
              </mc:Choice>
              <mc:Fallback>
                <p:oleObj name="Equation" r:id="rId3" imgW="711000" imgH="419040" progId="Equation.3">
                  <p:embed/>
                  <p:pic>
                    <p:nvPicPr>
                      <p:cNvPr id="174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556" y="4122324"/>
                        <a:ext cx="2447925" cy="1443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2066371" y="5798770"/>
            <a:ext cx="60483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>
                <a:solidFill>
                  <a:srgbClr val="362DE3"/>
                </a:solidFill>
              </a:rPr>
              <a:t>Provided they’re similar, that is, the angles of one are equal to angles of the other</a:t>
            </a:r>
          </a:p>
        </p:txBody>
      </p:sp>
    </p:spTree>
    <p:extLst>
      <p:ext uri="{BB962C8B-B14F-4D97-AF65-F5344CB8AC3E}">
        <p14:creationId xmlns:p14="http://schemas.microsoft.com/office/powerpoint/2010/main" val="24851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can I determine if two triangles are similar?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88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Similar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936" y="2007449"/>
            <a:ext cx="22875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are Similar Triangles?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167" y="2302247"/>
            <a:ext cx="8017073" cy="274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5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70156" y="916012"/>
            <a:ext cx="4229598" cy="1105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6" y="1612213"/>
            <a:ext cx="11686616" cy="3328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09480" y="2442949"/>
            <a:ext cx="5063320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5909480" y="1979731"/>
            <a:ext cx="5063320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909479" y="2947916"/>
            <a:ext cx="5827595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 8"/>
          <p:cNvSpPr/>
          <p:nvPr/>
        </p:nvSpPr>
        <p:spPr>
          <a:xfrm>
            <a:off x="4874525" y="3778652"/>
            <a:ext cx="5063320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3049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56538"/>
          <a:stretch/>
        </p:blipFill>
        <p:spPr>
          <a:xfrm>
            <a:off x="272956" y="1283467"/>
            <a:ext cx="5581933" cy="437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2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4" y="1695379"/>
            <a:ext cx="11993749" cy="327240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63569" y="2020674"/>
            <a:ext cx="5295331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5363569" y="2525641"/>
            <a:ext cx="5472753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5161128" y="2989262"/>
            <a:ext cx="6043684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4683455" y="3860870"/>
            <a:ext cx="5295331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70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76" y="1962577"/>
            <a:ext cx="11796106" cy="36739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49922" y="2334572"/>
            <a:ext cx="5295331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5349922" y="3167487"/>
            <a:ext cx="5295331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5349922" y="4000402"/>
            <a:ext cx="6441744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776715" y="4818463"/>
            <a:ext cx="6441744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10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5" y="1225669"/>
            <a:ext cx="11900208" cy="33782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29469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776" t="6135"/>
          <a:stretch/>
        </p:blipFill>
        <p:spPr>
          <a:xfrm>
            <a:off x="272956" y="1460310"/>
            <a:ext cx="11748187" cy="42035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68537" y="1460310"/>
            <a:ext cx="5295331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5868537" y="2512285"/>
            <a:ext cx="5295331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5693391" y="3358336"/>
            <a:ext cx="5295331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726243" y="4204387"/>
            <a:ext cx="5295331" cy="819103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5447731" y="5051480"/>
            <a:ext cx="5295331" cy="585922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05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6" y="926547"/>
            <a:ext cx="11723426" cy="355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34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71" y="923143"/>
            <a:ext cx="11395596" cy="363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0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110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Chalkboard</vt:lpstr>
      <vt:lpstr>Chiller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Nine Labuschagne</cp:lastModifiedBy>
  <cp:revision>5</cp:revision>
  <dcterms:created xsi:type="dcterms:W3CDTF">2017-06-20T05:55:00Z</dcterms:created>
  <dcterms:modified xsi:type="dcterms:W3CDTF">2017-06-20T07:28:17Z</dcterms:modified>
</cp:coreProperties>
</file>
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62" r:id="rId2"/>
    <p:sldId id="271" r:id="rId3"/>
    <p:sldId id="257" r:id="rId4"/>
    <p:sldId id="270" r:id="rId5"/>
    <p:sldId id="264" r:id="rId6"/>
    <p:sldId id="266" r:id="rId7"/>
    <p:sldId id="265" r:id="rId8"/>
    <p:sldId id="267" r:id="rId9"/>
    <p:sldId id="268" r:id="rId10"/>
    <p:sldId id="258" r:id="rId11"/>
    <p:sldId id="269" r:id="rId12"/>
    <p:sldId id="272" r:id="rId13"/>
    <p:sldId id="273" r:id="rId14"/>
    <p:sldId id="260" r:id="rId15"/>
    <p:sldId id="261" r:id="rId1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65B14-0C8E-46FE-AE65-468DF5E40CA0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FAA15-9536-4469-9791-C1A5A0609F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46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Proprotion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J. Wilson</a:t>
            </a:r>
          </a:p>
        </p:txBody>
      </p:sp>
    </p:spTree>
    <p:extLst>
      <p:ext uri="{BB962C8B-B14F-4D97-AF65-F5344CB8AC3E}">
        <p14:creationId xmlns:p14="http://schemas.microsoft.com/office/powerpoint/2010/main" val="53788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83551" y="203982"/>
            <a:ext cx="4449795" cy="5237064"/>
            <a:chOff x="283551" y="203982"/>
            <a:chExt cx="4449795" cy="52370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551" y="288021"/>
              <a:ext cx="4449795" cy="5153025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2082018" y="203982"/>
              <a:ext cx="2560320" cy="2370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41783" y="1101970"/>
              <a:ext cx="1565111" cy="2370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806504" y="288021"/>
            <a:ext cx="54793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When drawing people, we can use proportion to help us get the shape right.  The rule of thumb is an adult is eight heads high, a child is 5 heads high and a baby is 4 heads high.</a:t>
            </a:r>
          </a:p>
          <a:p>
            <a:endParaRPr lang="en-AU" dirty="0"/>
          </a:p>
          <a:p>
            <a:r>
              <a:rPr lang="en-AU" dirty="0"/>
              <a:t>Michelle has draw three figures;</a:t>
            </a:r>
          </a:p>
          <a:p>
            <a:r>
              <a:rPr lang="en-AU" dirty="0"/>
              <a:t>	figure 1 has a head of 3cm and a body of 24cm.</a:t>
            </a:r>
          </a:p>
          <a:p>
            <a:r>
              <a:rPr lang="en-AU" dirty="0"/>
              <a:t>	figure 2 has a head of 5cm and a body of 20cm.</a:t>
            </a:r>
          </a:p>
          <a:p>
            <a:r>
              <a:rPr lang="en-AU" dirty="0"/>
              <a:t>	figure 3 has a head of 4cm and a body of 20cm.</a:t>
            </a:r>
          </a:p>
          <a:p>
            <a:endParaRPr lang="en-AU" dirty="0"/>
          </a:p>
          <a:p>
            <a:r>
              <a:rPr lang="en-AU" dirty="0"/>
              <a:t>		Which is the child, which is the adult and 					which is the baby?</a:t>
            </a:r>
          </a:p>
        </p:txBody>
      </p:sp>
    </p:spTree>
    <p:extLst>
      <p:ext uri="{BB962C8B-B14F-4D97-AF65-F5344CB8AC3E}">
        <p14:creationId xmlns:p14="http://schemas.microsoft.com/office/powerpoint/2010/main" val="30157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2800" dirty="0"/>
              <a:t>Topic : Proportion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4556" y="1101604"/>
            <a:ext cx="7058722" cy="4377089"/>
          </a:xfrm>
        </p:spPr>
        <p:txBody>
          <a:bodyPr>
            <a:normAutofit/>
          </a:bodyPr>
          <a:lstStyle/>
          <a:p>
            <a:r>
              <a:rPr lang="en-AU" sz="1600" dirty="0"/>
              <a:t>When 2 ratios simplify to give the same ratio, they are said to be in proportion.</a:t>
            </a:r>
          </a:p>
          <a:p>
            <a:endParaRPr lang="en-AU" sz="1200" dirty="0"/>
          </a:p>
          <a:p>
            <a:r>
              <a:rPr lang="en-AU" sz="1600" dirty="0" err="1"/>
              <a:t>Eg</a:t>
            </a:r>
            <a:r>
              <a:rPr lang="en-AU" sz="1600" dirty="0"/>
              <a:t> 80km every 2h is proportionate to 240km every 6h</a:t>
            </a:r>
          </a:p>
          <a:p>
            <a:r>
              <a:rPr lang="en-AU" sz="1600" dirty="0"/>
              <a:t>80:2 = 240:6</a:t>
            </a:r>
          </a:p>
          <a:p>
            <a:r>
              <a:rPr lang="en-AU" sz="1600" dirty="0"/>
              <a:t>40:1 = 40:1</a:t>
            </a:r>
          </a:p>
          <a:p>
            <a:endParaRPr lang="en-AU" dirty="0"/>
          </a:p>
          <a:p>
            <a:pPr algn="l"/>
            <a:r>
              <a:rPr lang="en-AU" sz="1400" dirty="0"/>
              <a:t>What is the easy way to check for proportionality?	</a:t>
            </a:r>
          </a:p>
          <a:p>
            <a:pPr algn="l"/>
            <a:r>
              <a:rPr lang="en-AU" sz="1400" dirty="0"/>
              <a:t>	1. First check the ratios are using the same units.</a:t>
            </a:r>
          </a:p>
          <a:p>
            <a:pPr algn="l"/>
            <a:r>
              <a:rPr lang="en-AU" sz="1400" dirty="0"/>
              <a:t>				</a:t>
            </a:r>
            <a:r>
              <a:rPr lang="en-AU" sz="1400" dirty="0">
                <a:highlight>
                  <a:srgbClr val="00FFFF"/>
                </a:highlight>
              </a:rPr>
              <a:t>4 kg costs $2 </a:t>
            </a:r>
            <a:r>
              <a:rPr lang="en-AU" sz="1400" dirty="0"/>
              <a:t>and </a:t>
            </a:r>
            <a:r>
              <a:rPr lang="en-AU" sz="1400" dirty="0">
                <a:highlight>
                  <a:srgbClr val="FFFF00"/>
                </a:highlight>
              </a:rPr>
              <a:t>6000g costs $3</a:t>
            </a:r>
            <a:r>
              <a:rPr lang="en-AU" sz="1400" dirty="0"/>
              <a:t>   -  6000g is 6kg so … </a:t>
            </a:r>
          </a:p>
          <a:p>
            <a:pPr algn="l"/>
            <a:r>
              <a:rPr lang="en-AU" sz="1400" dirty="0"/>
              <a:t>		These ratios become      </a:t>
            </a:r>
            <a:r>
              <a:rPr lang="en-AU" sz="1400" dirty="0">
                <a:highlight>
                  <a:srgbClr val="00FFFF"/>
                </a:highlight>
              </a:rPr>
              <a:t>4kg:$2  </a:t>
            </a:r>
            <a:r>
              <a:rPr lang="en-AU" sz="1400" dirty="0"/>
              <a:t>and </a:t>
            </a:r>
            <a:r>
              <a:rPr lang="en-AU" sz="1400" dirty="0">
                <a:highlight>
                  <a:srgbClr val="FFFF00"/>
                </a:highlight>
              </a:rPr>
              <a:t>6kg:$3</a:t>
            </a:r>
          </a:p>
          <a:p>
            <a:pPr algn="l"/>
            <a:r>
              <a:rPr lang="en-AU" sz="1400" dirty="0"/>
              <a:t>	2. Divide the left side by the right side</a:t>
            </a:r>
          </a:p>
          <a:p>
            <a:pPr algn="l"/>
            <a:r>
              <a:rPr lang="en-AU" sz="1400" dirty="0"/>
              <a:t>		</a:t>
            </a:r>
            <a:r>
              <a:rPr lang="en-AU" sz="1400" dirty="0">
                <a:highlight>
                  <a:srgbClr val="00FFFF"/>
                </a:highlight>
              </a:rPr>
              <a:t>4kg:$2  </a:t>
            </a:r>
            <a:r>
              <a:rPr lang="en-AU" sz="1400" dirty="0"/>
              <a:t>becomes </a:t>
            </a:r>
            <a:r>
              <a:rPr lang="en-AU" sz="1400" dirty="0">
                <a:highlight>
                  <a:srgbClr val="00FFFF"/>
                </a:highlight>
              </a:rPr>
              <a:t>4÷2 = 2</a:t>
            </a:r>
            <a:r>
              <a:rPr lang="en-AU" sz="1400" dirty="0"/>
              <a:t>		</a:t>
            </a:r>
            <a:r>
              <a:rPr lang="en-AU" sz="1400" dirty="0">
                <a:highlight>
                  <a:srgbClr val="FFFF00"/>
                </a:highlight>
              </a:rPr>
              <a:t>6kg:$3 </a:t>
            </a:r>
            <a:r>
              <a:rPr lang="en-AU" sz="1400" dirty="0"/>
              <a:t>becomes </a:t>
            </a:r>
            <a:r>
              <a:rPr lang="en-AU" sz="1400" dirty="0">
                <a:highlight>
                  <a:srgbClr val="FFFF00"/>
                </a:highlight>
              </a:rPr>
              <a:t>6÷3 = 2</a:t>
            </a:r>
          </a:p>
          <a:p>
            <a:pPr algn="l"/>
            <a:r>
              <a:rPr lang="en-AU" sz="1400" dirty="0"/>
              <a:t>	3. If they both equal the same amount they are proportional.</a:t>
            </a:r>
          </a:p>
          <a:p>
            <a:pPr algn="l"/>
            <a:r>
              <a:rPr lang="en-AU" sz="1400" dirty="0"/>
              <a:t>			</a:t>
            </a:r>
            <a:endParaRPr lang="en-AU" sz="12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056199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026942"/>
            <a:ext cx="0" cy="469920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3931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400" dirty="0"/>
              <a:t>EQ : How do we know if 2 ratios are in proportion?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34" y="1067350"/>
            <a:ext cx="1482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proportion?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670" y="2710011"/>
            <a:ext cx="1482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we find out if they are in proportion?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265" y="1971347"/>
            <a:ext cx="2226984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dirty="0"/>
              <a:t>These can both be simplified to 40:1.  They are equivalent to each other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216661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graphicFrame>
        <p:nvGraphicFramePr>
          <p:cNvPr id="39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364052"/>
              </p:ext>
            </p:extLst>
          </p:nvPr>
        </p:nvGraphicFramePr>
        <p:xfrm>
          <a:off x="759631" y="406096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4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1876563"/>
              </p:ext>
            </p:extLst>
          </p:nvPr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4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318829"/>
              </p:ext>
            </p:extLst>
          </p:nvPr>
        </p:nvGraphicFramePr>
        <p:xfrm>
          <a:off x="6518324" y="500063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76132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361608" y="3621881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2" name="Oval 1"/>
          <p:cNvSpPr/>
          <p:nvPr/>
        </p:nvSpPr>
        <p:spPr>
          <a:xfrm>
            <a:off x="1001487" y="479059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1496787" y="430006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728365" y="406939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68559" y="2080190"/>
            <a:ext cx="2870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Proportional as $÷Kg gives the same answer each time</a:t>
            </a:r>
          </a:p>
        </p:txBody>
      </p:sp>
      <p:graphicFrame>
        <p:nvGraphicFramePr>
          <p:cNvPr id="3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960481"/>
              </p:ext>
            </p:extLst>
          </p:nvPr>
        </p:nvGraphicFramePr>
        <p:xfrm>
          <a:off x="759631" y="406096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3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4385813"/>
              </p:ext>
            </p:extLst>
          </p:nvPr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3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318829"/>
              </p:ext>
            </p:extLst>
          </p:nvPr>
        </p:nvGraphicFramePr>
        <p:xfrm>
          <a:off x="6518324" y="500063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209566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3205278" y="3398010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357458" y="3623806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2215158"/>
              </p:ext>
            </p:extLst>
          </p:nvPr>
        </p:nvGraphicFramePr>
        <p:xfrm>
          <a:off x="759631" y="406096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1278458"/>
              </p:ext>
            </p:extLst>
          </p:nvPr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1595971"/>
              </p:ext>
            </p:extLst>
          </p:nvPr>
        </p:nvGraphicFramePr>
        <p:xfrm>
          <a:off x="6518324" y="500063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2" name="Oval 1"/>
          <p:cNvSpPr/>
          <p:nvPr/>
        </p:nvSpPr>
        <p:spPr>
          <a:xfrm>
            <a:off x="1001487" y="479059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1496787" y="430006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728365" y="406939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55488" y="2072681"/>
            <a:ext cx="2870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Proportional as $÷Kg gives the same answer each time</a:t>
            </a:r>
          </a:p>
        </p:txBody>
      </p:sp>
      <p:sp>
        <p:nvSpPr>
          <p:cNvPr id="31" name="Oval 30"/>
          <p:cNvSpPr/>
          <p:nvPr/>
        </p:nvSpPr>
        <p:spPr>
          <a:xfrm>
            <a:off x="3871414" y="454229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4350752" y="4068353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4606640" y="380641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/>
          <p:cNvSpPr txBox="1"/>
          <p:nvPr/>
        </p:nvSpPr>
        <p:spPr>
          <a:xfrm>
            <a:off x="3126110" y="2110967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103267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3" name="Arc 2"/>
          <p:cNvSpPr/>
          <p:nvPr/>
        </p:nvSpPr>
        <p:spPr>
          <a:xfrm rot="1162825">
            <a:off x="6204775" y="2545289"/>
            <a:ext cx="1179392" cy="2744944"/>
          </a:xfrm>
          <a:prstGeom prst="arc">
            <a:avLst>
              <a:gd name="adj1" fmla="val 17890145"/>
              <a:gd name="adj2" fmla="val 43714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357458" y="3623806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59631" y="406096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747617"/>
              </p:ext>
            </p:extLst>
          </p:nvPr>
        </p:nvGraphicFramePr>
        <p:xfrm>
          <a:off x="6518324" y="500063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2" name="Oval 1"/>
          <p:cNvSpPr/>
          <p:nvPr/>
        </p:nvSpPr>
        <p:spPr>
          <a:xfrm>
            <a:off x="1001487" y="479059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1496787" y="430006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728365" y="406939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68559" y="2080190"/>
            <a:ext cx="2870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Proportional as $÷Kg gives the same answer each time</a:t>
            </a:r>
          </a:p>
        </p:txBody>
      </p:sp>
      <p:sp>
        <p:nvSpPr>
          <p:cNvPr id="31" name="Oval 30"/>
          <p:cNvSpPr/>
          <p:nvPr/>
        </p:nvSpPr>
        <p:spPr>
          <a:xfrm>
            <a:off x="3871414" y="454229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4350752" y="4068353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4606640" y="380641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3205278" y="3398010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756968" y="502672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/>
          <p:cNvSpPr/>
          <p:nvPr/>
        </p:nvSpPr>
        <p:spPr>
          <a:xfrm>
            <a:off x="7226821" y="429863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/>
          <p:cNvSpPr/>
          <p:nvPr/>
        </p:nvSpPr>
        <p:spPr>
          <a:xfrm>
            <a:off x="7469616" y="347376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/>
          <p:cNvSpPr txBox="1"/>
          <p:nvPr/>
        </p:nvSpPr>
        <p:spPr>
          <a:xfrm>
            <a:off x="3126110" y="2110967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3661" y="2137082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57099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36" grpId="0" animBg="1"/>
      <p:bldP spid="37" grpId="0" animBg="1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3" name="Arc 2"/>
          <p:cNvSpPr/>
          <p:nvPr/>
        </p:nvSpPr>
        <p:spPr>
          <a:xfrm rot="1162825">
            <a:off x="6204775" y="2545289"/>
            <a:ext cx="1179392" cy="2744944"/>
          </a:xfrm>
          <a:prstGeom prst="arc">
            <a:avLst>
              <a:gd name="adj1" fmla="val 17890145"/>
              <a:gd name="adj2" fmla="val 43714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357458" y="3623806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59631" y="406096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6518324" y="500063"/>
          <a:ext cx="10580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68278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2" name="Oval 1"/>
          <p:cNvSpPr/>
          <p:nvPr/>
        </p:nvSpPr>
        <p:spPr>
          <a:xfrm>
            <a:off x="1001487" y="479059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1496787" y="430006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728365" y="406939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68559" y="2080190"/>
            <a:ext cx="2870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Proportional as $÷Kg gives the same answer each time</a:t>
            </a:r>
          </a:p>
        </p:txBody>
      </p:sp>
      <p:sp>
        <p:nvSpPr>
          <p:cNvPr id="31" name="Oval 30"/>
          <p:cNvSpPr/>
          <p:nvPr/>
        </p:nvSpPr>
        <p:spPr>
          <a:xfrm>
            <a:off x="3871414" y="454229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4350752" y="4068353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4606640" y="380641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3205278" y="3398010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756968" y="502672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/>
          <p:cNvSpPr/>
          <p:nvPr/>
        </p:nvSpPr>
        <p:spPr>
          <a:xfrm>
            <a:off x="7226821" y="429863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/>
          <p:cNvSpPr/>
          <p:nvPr/>
        </p:nvSpPr>
        <p:spPr>
          <a:xfrm>
            <a:off x="7469616" y="347376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/>
          <p:cNvSpPr txBox="1"/>
          <p:nvPr/>
        </p:nvSpPr>
        <p:spPr>
          <a:xfrm>
            <a:off x="3126110" y="2110967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3661" y="2137082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32" y="2865205"/>
            <a:ext cx="5480237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 If ratios are graphed, they are proportional only if they form a straight line and go through the origin (point 0,0)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1128267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02041" y="381871"/>
            <a:ext cx="7886700" cy="4893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Are these in proportion?</a:t>
            </a:r>
          </a:p>
          <a:p>
            <a:pPr marL="342900" lvl="1" indent="0">
              <a:buNone/>
            </a:pPr>
            <a:r>
              <a:rPr lang="en-AU" dirty="0"/>
              <a:t>1. Steve bought 3 Chocolates for $2 while Marie bought a packet of 12 for $8?</a:t>
            </a:r>
          </a:p>
          <a:p>
            <a:pPr marL="342900" lvl="1" indent="0">
              <a:buNone/>
            </a:pPr>
            <a:endParaRPr lang="en-AU" dirty="0"/>
          </a:p>
          <a:p>
            <a:pPr marL="342900" lvl="1" indent="0">
              <a:buNone/>
            </a:pPr>
            <a:endParaRPr lang="en-AU" dirty="0"/>
          </a:p>
          <a:p>
            <a:pPr marL="342900" lvl="1" indent="0">
              <a:buNone/>
            </a:pPr>
            <a:endParaRPr lang="en-AU" dirty="0"/>
          </a:p>
          <a:p>
            <a:pPr marL="342900" lvl="1" indent="0">
              <a:buNone/>
            </a:pPr>
            <a:r>
              <a:rPr lang="en-AU" dirty="0"/>
              <a:t>2. A pizza base recipe calls for 2 cups of flour to every 0.5L of water while a second recipe recommends 8 cups to every 2L of water?</a:t>
            </a:r>
          </a:p>
          <a:p>
            <a:pPr marL="342900" lvl="1" indent="0">
              <a:buNone/>
            </a:pPr>
            <a:endParaRPr lang="en-AU" dirty="0"/>
          </a:p>
          <a:p>
            <a:pPr marL="342900" lvl="1" indent="0">
              <a:buNone/>
            </a:pPr>
            <a:endParaRPr lang="en-AU" dirty="0"/>
          </a:p>
          <a:p>
            <a:pPr marL="342900" lvl="1" indent="0">
              <a:buNone/>
            </a:pPr>
            <a:endParaRPr lang="en-AU" dirty="0"/>
          </a:p>
          <a:p>
            <a:pPr marL="342900" lvl="1" indent="0">
              <a:buNone/>
            </a:pPr>
            <a:r>
              <a:rPr lang="en-AU" dirty="0"/>
              <a:t>3. Car one is travelling at  15m per second, car 2 is travelling at 60km per hour?  Are the rates the same?</a:t>
            </a:r>
          </a:p>
          <a:p>
            <a:pPr marL="342900" lvl="1" indent="0">
              <a:buNone/>
            </a:pPr>
            <a:endParaRPr lang="en-AU" dirty="0"/>
          </a:p>
          <a:p>
            <a:pPr marL="342900" lvl="1" indent="0">
              <a:buNone/>
            </a:pPr>
            <a:endParaRPr lang="en-AU" dirty="0"/>
          </a:p>
          <a:p>
            <a:pPr marL="342900" lvl="1" indent="0">
              <a:buNone/>
            </a:pPr>
            <a:r>
              <a:rPr lang="en-AU" dirty="0"/>
              <a:t>4. Mark gets paid $755 per week and Florence gets paid $1510 per fortnight?  Are these equal?</a:t>
            </a:r>
          </a:p>
        </p:txBody>
      </p:sp>
    </p:spTree>
    <p:extLst>
      <p:ext uri="{BB962C8B-B14F-4D97-AF65-F5344CB8AC3E}">
        <p14:creationId xmlns:p14="http://schemas.microsoft.com/office/powerpoint/2010/main" val="2982032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30177" y="395939"/>
            <a:ext cx="7886700" cy="49427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2400" dirty="0"/>
              <a:t>Are these in proportion?</a:t>
            </a:r>
          </a:p>
          <a:p>
            <a:pPr marL="342900" lvl="1" indent="0">
              <a:buNone/>
            </a:pPr>
            <a:r>
              <a:rPr lang="en-AU" sz="2000" dirty="0"/>
              <a:t>1. Steve bought 3 Chocolates for $2 while Marie bought a packet of 12 for $8?</a:t>
            </a:r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r>
              <a:rPr lang="en-AU" sz="2000" dirty="0"/>
              <a:t>2. A pizza base recipe calls for 2 cups of flour to every 0.5L of water while a second recipe recommends 8 cups to every 2L of water?</a:t>
            </a:r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r>
              <a:rPr lang="en-AU" sz="2000" dirty="0"/>
              <a:t>3. Car one is travelling at  15m per second, car 2 is travelling at 60km per hour?  Are the rates the same?</a:t>
            </a:r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endParaRPr lang="en-AU" sz="2000" dirty="0"/>
          </a:p>
          <a:p>
            <a:pPr marL="342900" lvl="1" indent="0">
              <a:buNone/>
            </a:pPr>
            <a:r>
              <a:rPr lang="en-AU" sz="2000" dirty="0"/>
              <a:t>4. Mark gets paid $755 per week and Florence gets paid $1510 per fortnight?  Are these equal?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39217" y="879230"/>
            <a:ext cx="47337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3:2				    12:8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3÷2 = 1.5      			12÷8 = 1.5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	Therefore these are in proportion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8793" y="2104359"/>
            <a:ext cx="47337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2:0.5				    8:2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2÷0.5 = 4     			8÷2 = 14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	Therefore these are in proportion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6351" y="3231246"/>
            <a:ext cx="56505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15m:1second				         60km:1hr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 15m:1second				    60000m:3600seconds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    15÷1 = 15     				      60000÷3600= 16.7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	Therefore these are </a:t>
            </a:r>
            <a:r>
              <a:rPr lang="en-AU" sz="1600" b="1" dirty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in proportion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3814" y="4671819"/>
            <a:ext cx="47337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755:1				    1510:2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755÷1 = 755     			1510÷2 = 755</a:t>
            </a:r>
          </a:p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	Therefore these are in proportion</a:t>
            </a:r>
          </a:p>
        </p:txBody>
      </p:sp>
    </p:spTree>
    <p:extLst>
      <p:ext uri="{BB962C8B-B14F-4D97-AF65-F5344CB8AC3E}">
        <p14:creationId xmlns:p14="http://schemas.microsoft.com/office/powerpoint/2010/main" val="32188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83551" y="203982"/>
            <a:ext cx="4449795" cy="5237064"/>
            <a:chOff x="283551" y="203982"/>
            <a:chExt cx="4449795" cy="52370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551" y="288021"/>
              <a:ext cx="4449795" cy="5153025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2082018" y="203982"/>
              <a:ext cx="2560320" cy="2370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41783" y="1101970"/>
              <a:ext cx="1565111" cy="2370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806504" y="288021"/>
            <a:ext cx="54793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When drawing people, we can use proportion to help us get the shape right.  The rule of thumb is an adult is eight heads high, a child is 5 heads high and a baby is 4 heads high.</a:t>
            </a:r>
          </a:p>
          <a:p>
            <a:endParaRPr lang="en-AU" dirty="0"/>
          </a:p>
          <a:p>
            <a:r>
              <a:rPr lang="en-AU" dirty="0"/>
              <a:t>Michelle has draw three figures;</a:t>
            </a:r>
          </a:p>
          <a:p>
            <a:r>
              <a:rPr lang="en-AU" dirty="0"/>
              <a:t>	figure 1 has a head of 3cm and a body of 24cm.</a:t>
            </a:r>
          </a:p>
          <a:p>
            <a:r>
              <a:rPr lang="en-AU" dirty="0"/>
              <a:t>	figure 2 has a head of 5cm and a body of 20cm.</a:t>
            </a:r>
          </a:p>
          <a:p>
            <a:r>
              <a:rPr lang="en-AU" dirty="0"/>
              <a:t>	figure 3 has a head of 4cm and a body of 20cm.</a:t>
            </a:r>
          </a:p>
          <a:p>
            <a:endParaRPr lang="en-AU" dirty="0"/>
          </a:p>
          <a:p>
            <a:r>
              <a:rPr lang="en-AU" dirty="0"/>
              <a:t>		Which is the child, which is the adult and 					which is the baby?</a:t>
            </a:r>
          </a:p>
        </p:txBody>
      </p:sp>
    </p:spTree>
    <p:extLst>
      <p:ext uri="{BB962C8B-B14F-4D97-AF65-F5344CB8AC3E}">
        <p14:creationId xmlns:p14="http://schemas.microsoft.com/office/powerpoint/2010/main" val="285131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83551" y="203982"/>
            <a:ext cx="4449795" cy="5237064"/>
            <a:chOff x="283551" y="203982"/>
            <a:chExt cx="4449795" cy="52370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551" y="288021"/>
              <a:ext cx="4449795" cy="5153025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2082018" y="203982"/>
              <a:ext cx="2560320" cy="2370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41783" y="1101970"/>
              <a:ext cx="1565111" cy="2370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792129" y="80204"/>
            <a:ext cx="547936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Michelle has draw three figures;</a:t>
            </a:r>
          </a:p>
          <a:p>
            <a:r>
              <a:rPr lang="en-AU" sz="1600" dirty="0"/>
              <a:t>	figure 1 has a head of 3cm and a body of 24cm.</a:t>
            </a:r>
          </a:p>
          <a:p>
            <a:r>
              <a:rPr lang="en-AU" sz="1600" dirty="0"/>
              <a:t>	figure 2 has a head of 5cm and a body of 20cm.</a:t>
            </a:r>
          </a:p>
          <a:p>
            <a:r>
              <a:rPr lang="en-AU" sz="1600" dirty="0"/>
              <a:t>	figure 3 has a head of 4cm and a body of 20cm.</a:t>
            </a:r>
          </a:p>
          <a:p>
            <a:endParaRPr lang="en-AU" sz="1600" dirty="0"/>
          </a:p>
          <a:p>
            <a:r>
              <a:rPr lang="en-AU" sz="1600" dirty="0"/>
              <a:t>An adult has a height to head ratio of 8:1    or  8÷1 = 8</a:t>
            </a:r>
          </a:p>
          <a:p>
            <a:r>
              <a:rPr lang="en-AU" sz="1600" dirty="0"/>
              <a:t>A child has a height to head ratio of 5:1    or  5÷1 = 5</a:t>
            </a:r>
          </a:p>
          <a:p>
            <a:r>
              <a:rPr lang="en-AU" sz="1600" dirty="0"/>
              <a:t>A baby has a height to head ratio of 4:1    or  4÷1 = 4</a:t>
            </a:r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What are the ratios for our 3 figures? (remember to put the height measurement before the head measurement)</a:t>
            </a:r>
          </a:p>
          <a:p>
            <a:r>
              <a:rPr lang="en-AU" sz="1600" dirty="0"/>
              <a:t>		1.  24:3  becomes   24÷3 = 8</a:t>
            </a:r>
          </a:p>
          <a:p>
            <a:r>
              <a:rPr lang="en-AU" sz="1600" dirty="0"/>
              <a:t>		2.  20: 5 becomes    20÷5 = 4</a:t>
            </a:r>
          </a:p>
          <a:p>
            <a:r>
              <a:rPr lang="en-AU" sz="1600" dirty="0"/>
              <a:t>		3.  20:4 becomes    20÷4 = 5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7179578" y="2953561"/>
            <a:ext cx="2497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Adult</a:t>
            </a:r>
          </a:p>
          <a:p>
            <a:r>
              <a:rPr lang="en-AU" dirty="0">
                <a:solidFill>
                  <a:srgbClr val="FF0000"/>
                </a:solidFill>
              </a:rPr>
              <a:t>Baby</a:t>
            </a:r>
          </a:p>
          <a:p>
            <a:r>
              <a:rPr lang="en-AU" dirty="0">
                <a:solidFill>
                  <a:srgbClr val="FF0000"/>
                </a:solidFill>
              </a:rPr>
              <a:t>Child</a:t>
            </a:r>
          </a:p>
        </p:txBody>
      </p:sp>
    </p:spTree>
    <p:extLst>
      <p:ext uri="{BB962C8B-B14F-4D97-AF65-F5344CB8AC3E}">
        <p14:creationId xmlns:p14="http://schemas.microsoft.com/office/powerpoint/2010/main" val="409470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36" y="0"/>
            <a:ext cx="8262132" cy="362611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Complete Exercise 6.4 on page 76 to practice and Graph questions 1 to 9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661" y="349515"/>
            <a:ext cx="6381163" cy="15952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661" y="1944806"/>
            <a:ext cx="675322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05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 to exercise 6.4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01766"/>
            <a:ext cx="7709095" cy="108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84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265</TotalTime>
  <Words>1169</Words>
  <Application>Microsoft Office PowerPoint</Application>
  <PresentationFormat>On-screen Show (16:10)</PresentationFormat>
  <Paragraphs>535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Proprotion</vt:lpstr>
      <vt:lpstr>PowerPoint Presentation</vt:lpstr>
      <vt:lpstr>Topic : Proportion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Answers to exercise 6.4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28</cp:revision>
  <dcterms:created xsi:type="dcterms:W3CDTF">2017-04-12T03:59:21Z</dcterms:created>
  <dcterms:modified xsi:type="dcterms:W3CDTF">2017-04-13T03:21:24Z</dcterms:modified>
</cp:coreProperties>
</file>
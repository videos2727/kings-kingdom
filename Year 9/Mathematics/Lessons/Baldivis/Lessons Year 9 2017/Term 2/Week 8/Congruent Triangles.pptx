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58" r:id="rId5"/>
    <p:sldId id="259" r:id="rId6"/>
    <p:sldId id="260" r:id="rId7"/>
    <p:sldId id="262" r:id="rId8"/>
    <p:sldId id="276" r:id="rId9"/>
    <p:sldId id="277" r:id="rId10"/>
    <p:sldId id="278" r:id="rId11"/>
    <p:sldId id="279" r:id="rId12"/>
    <p:sldId id="264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027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650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649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9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36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94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06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418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404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78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8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E3460-B20B-48FC-8E8B-E8184E9A9149}" type="datetimeFigureOut">
              <a:rPr lang="en-AU" smtClean="0"/>
              <a:t>14/06/2017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C0213-B4E7-4349-AF18-F32F86BC6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55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5754" y="463081"/>
            <a:ext cx="730843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0070C0"/>
                </a:solidFill>
                <a:latin typeface="Chiller" panose="04020404031007020602" pitchFamily="82" charset="0"/>
              </a:rPr>
              <a:t>My Geometry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0378" y="4147134"/>
            <a:ext cx="34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Name:</a:t>
            </a:r>
          </a:p>
          <a:p>
            <a:endParaRPr lang="en-US" sz="2000" b="1" dirty="0"/>
          </a:p>
          <a:p>
            <a:r>
              <a:rPr lang="en-US" sz="2000" b="1" dirty="0"/>
              <a:t>Class: 9-5</a:t>
            </a:r>
          </a:p>
          <a:p>
            <a:endParaRPr lang="en-US" sz="2000" b="1" dirty="0"/>
          </a:p>
          <a:p>
            <a:r>
              <a:rPr lang="en-US" sz="2000" b="1" dirty="0"/>
              <a:t>Teacher: Miss L</a:t>
            </a:r>
          </a:p>
          <a:p>
            <a:endParaRPr lang="en-US" sz="2000" b="1" dirty="0"/>
          </a:p>
          <a:p>
            <a:r>
              <a:rPr lang="en-US" sz="2000" b="1" dirty="0"/>
              <a:t>Term 2 Semester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68" y="3420757"/>
            <a:ext cx="6943219" cy="324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59" y="1842220"/>
            <a:ext cx="8943390" cy="5015780"/>
          </a:xfrm>
          <a:prstGeom prst="rect">
            <a:avLst/>
          </a:prstGeom>
        </p:spPr>
      </p:pic>
      <p:sp>
        <p:nvSpPr>
          <p:cNvPr id="11" name="TextBox 10">
            <a:extLst/>
          </p:cNvPr>
          <p:cNvSpPr txBox="1"/>
          <p:nvPr/>
        </p:nvSpPr>
        <p:spPr>
          <a:xfrm>
            <a:off x="187569" y="2523780"/>
            <a:ext cx="2953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Which shapes are the same?</a:t>
            </a:r>
          </a:p>
          <a:p>
            <a:endParaRPr lang="en-AU" sz="2880" dirty="0"/>
          </a:p>
          <a:p>
            <a:r>
              <a:rPr lang="en-AU" sz="2880" dirty="0"/>
              <a:t>Can you pair them up?</a:t>
            </a:r>
          </a:p>
        </p:txBody>
      </p:sp>
      <p:sp>
        <p:nvSpPr>
          <p:cNvPr id="13" name="Oval 12"/>
          <p:cNvSpPr/>
          <p:nvPr/>
        </p:nvSpPr>
        <p:spPr>
          <a:xfrm>
            <a:off x="3751384" y="4958714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3733799" y="2265124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7819291" y="3990735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673755" y="2237937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5757010" y="5710312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920387" y="2496593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912627" y="3013905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7262745" y="5710312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5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398" y="2084683"/>
            <a:ext cx="2111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Congruent Shapes?</a:t>
            </a:r>
          </a:p>
        </p:txBody>
      </p:sp>
      <p:sp>
        <p:nvSpPr>
          <p:cNvPr id="15" name="Rectangle 14">
            <a:extLst/>
          </p:cNvPr>
          <p:cNvSpPr/>
          <p:nvPr/>
        </p:nvSpPr>
        <p:spPr>
          <a:xfrm>
            <a:off x="2938213" y="1269075"/>
            <a:ext cx="87988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  <a:p>
            <a:endParaRPr lang="en-US" sz="2800" dirty="0"/>
          </a:p>
          <a:p>
            <a:r>
              <a:rPr lang="en-US" sz="2800" dirty="0"/>
              <a:t>If something is flipped, rotated or translated (slide) then it is still congruent.</a:t>
            </a:r>
          </a:p>
          <a:p>
            <a:endParaRPr lang="en-US" sz="2800" dirty="0"/>
          </a:p>
          <a:p>
            <a:r>
              <a:rPr lang="en-US" sz="2800" dirty="0"/>
              <a:t>If something is enlarged, shrunk or stretched it is </a:t>
            </a:r>
            <a:r>
              <a:rPr lang="en-US" sz="2800" b="1" dirty="0"/>
              <a:t>no longer </a:t>
            </a:r>
            <a:r>
              <a:rPr lang="en-US" sz="2800" dirty="0"/>
              <a:t>congruent.</a:t>
            </a:r>
          </a:p>
        </p:txBody>
      </p:sp>
    </p:spTree>
    <p:extLst>
      <p:ext uri="{BB962C8B-B14F-4D97-AF65-F5344CB8AC3E}">
        <p14:creationId xmlns:p14="http://schemas.microsoft.com/office/powerpoint/2010/main" val="323535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FD0-A631-44A5-91BE-D67904D0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06" y="-155887"/>
            <a:ext cx="9464040" cy="1325563"/>
          </a:xfrm>
        </p:spPr>
        <p:txBody>
          <a:bodyPr/>
          <a:lstStyle/>
          <a:p>
            <a:r>
              <a:rPr lang="en-AU" dirty="0"/>
              <a:t>For example:</a:t>
            </a: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1154A42F-33D2-48FD-BE84-D4D90E07C70F}"/>
              </a:ext>
            </a:extLst>
          </p:cNvPr>
          <p:cNvSpPr/>
          <p:nvPr/>
        </p:nvSpPr>
        <p:spPr>
          <a:xfrm>
            <a:off x="1261903" y="2311223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56707A9A-8526-49E4-A6CD-38F5CC211081}"/>
              </a:ext>
            </a:extLst>
          </p:cNvPr>
          <p:cNvSpPr/>
          <p:nvPr/>
        </p:nvSpPr>
        <p:spPr>
          <a:xfrm rot="993291">
            <a:off x="2831884" y="2265680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5FF01CDF-887F-464D-B216-700F8B5C51AB}"/>
              </a:ext>
            </a:extLst>
          </p:cNvPr>
          <p:cNvSpPr/>
          <p:nvPr/>
        </p:nvSpPr>
        <p:spPr>
          <a:xfrm>
            <a:off x="4500040" y="2316163"/>
            <a:ext cx="1623060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E636771-D1E3-42BC-8C8A-290671A76EB6}"/>
              </a:ext>
            </a:extLst>
          </p:cNvPr>
          <p:cNvSpPr/>
          <p:nvPr/>
        </p:nvSpPr>
        <p:spPr>
          <a:xfrm flipH="1">
            <a:off x="5956027" y="2353248"/>
            <a:ext cx="1586526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81D818B-95A6-4C62-B6AC-EC98451210D2}"/>
              </a:ext>
            </a:extLst>
          </p:cNvPr>
          <p:cNvSpPr/>
          <p:nvPr/>
        </p:nvSpPr>
        <p:spPr>
          <a:xfrm>
            <a:off x="7702246" y="2366571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DFE37083-335D-4B19-880B-58D3E8CD66E6}"/>
              </a:ext>
            </a:extLst>
          </p:cNvPr>
          <p:cNvSpPr/>
          <p:nvPr/>
        </p:nvSpPr>
        <p:spPr>
          <a:xfrm>
            <a:off x="8924929" y="3179612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2" name="Star: 7 Points 11">
            <a:extLst>
              <a:ext uri="{FF2B5EF4-FFF2-40B4-BE49-F238E27FC236}">
                <a16:creationId xmlns:a16="http://schemas.microsoft.com/office/drawing/2014/main" id="{70950C93-2398-4278-8A84-CF8F15AAA1CA}"/>
              </a:ext>
            </a:extLst>
          </p:cNvPr>
          <p:cNvSpPr/>
          <p:nvPr/>
        </p:nvSpPr>
        <p:spPr>
          <a:xfrm>
            <a:off x="1009804" y="4915810"/>
            <a:ext cx="1703070" cy="1253755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3" name="Star: 7 Points 12">
            <a:extLst>
              <a:ext uri="{FF2B5EF4-FFF2-40B4-BE49-F238E27FC236}">
                <a16:creationId xmlns:a16="http://schemas.microsoft.com/office/drawing/2014/main" id="{471D2567-293E-42B1-AAC9-6E6CC05E56FC}"/>
              </a:ext>
            </a:extLst>
          </p:cNvPr>
          <p:cNvSpPr/>
          <p:nvPr/>
        </p:nvSpPr>
        <p:spPr>
          <a:xfrm rot="993291">
            <a:off x="2956775" y="5133094"/>
            <a:ext cx="722153" cy="563803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25BDA5A9-9946-4033-8C71-1924335CF5BD}"/>
              </a:ext>
            </a:extLst>
          </p:cNvPr>
          <p:cNvSpPr/>
          <p:nvPr/>
        </p:nvSpPr>
        <p:spPr>
          <a:xfrm flipH="1">
            <a:off x="5311570" y="4768655"/>
            <a:ext cx="2056082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314FBD87-17F3-4C54-A20E-235EC07E207D}"/>
              </a:ext>
            </a:extLst>
          </p:cNvPr>
          <p:cNvSpPr/>
          <p:nvPr/>
        </p:nvSpPr>
        <p:spPr>
          <a:xfrm rot="20563963">
            <a:off x="4712666" y="4643780"/>
            <a:ext cx="379344" cy="185719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C37960AB-7070-46E8-9B45-4BA3B3C8A175}"/>
              </a:ext>
            </a:extLst>
          </p:cNvPr>
          <p:cNvSpPr/>
          <p:nvPr/>
        </p:nvSpPr>
        <p:spPr>
          <a:xfrm>
            <a:off x="7788218" y="4785735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8A1A6CD8-1E8D-4993-B479-F99FD952D68E}"/>
              </a:ext>
            </a:extLst>
          </p:cNvPr>
          <p:cNvSpPr/>
          <p:nvPr/>
        </p:nvSpPr>
        <p:spPr>
          <a:xfrm>
            <a:off x="9785097" y="5565110"/>
            <a:ext cx="1438636" cy="236984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3885F-D7DD-4FA0-8EC9-6C2363622420}"/>
              </a:ext>
            </a:extLst>
          </p:cNvPr>
          <p:cNvSpPr txBox="1"/>
          <p:nvPr/>
        </p:nvSpPr>
        <p:spPr>
          <a:xfrm>
            <a:off x="2312915" y="1365069"/>
            <a:ext cx="1304115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7A00C-EC0F-4467-A725-CDFF1D2C50E8}"/>
              </a:ext>
            </a:extLst>
          </p:cNvPr>
          <p:cNvSpPr txBox="1"/>
          <p:nvPr/>
        </p:nvSpPr>
        <p:spPr>
          <a:xfrm>
            <a:off x="5553038" y="1582545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327B3-7DA1-42C4-B78D-BB4A5E194CEF}"/>
              </a:ext>
            </a:extLst>
          </p:cNvPr>
          <p:cNvSpPr txBox="1"/>
          <p:nvPr/>
        </p:nvSpPr>
        <p:spPr>
          <a:xfrm>
            <a:off x="8118951" y="2660138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E481-282E-46F1-9E8A-066D00C126F0}"/>
              </a:ext>
            </a:extLst>
          </p:cNvPr>
          <p:cNvSpPr txBox="1"/>
          <p:nvPr/>
        </p:nvSpPr>
        <p:spPr>
          <a:xfrm>
            <a:off x="2290025" y="5414995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776F2-975B-418A-B7C7-211A2D221A70}"/>
              </a:ext>
            </a:extLst>
          </p:cNvPr>
          <p:cNvSpPr txBox="1"/>
          <p:nvPr/>
        </p:nvSpPr>
        <p:spPr>
          <a:xfrm>
            <a:off x="4901948" y="4765284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567-1EF6-447B-AE6E-0733866D8850}"/>
              </a:ext>
            </a:extLst>
          </p:cNvPr>
          <p:cNvSpPr txBox="1"/>
          <p:nvPr/>
        </p:nvSpPr>
        <p:spPr>
          <a:xfrm>
            <a:off x="8908187" y="4781510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597ABA-1556-4002-A2E1-9CC5C8872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178" y="195730"/>
            <a:ext cx="7488194" cy="56910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75BE9F-7ED9-470B-AC19-9076A83F499E}"/>
              </a:ext>
            </a:extLst>
          </p:cNvPr>
          <p:cNvSpPr txBox="1"/>
          <p:nvPr/>
        </p:nvSpPr>
        <p:spPr>
          <a:xfrm>
            <a:off x="1158240" y="5886759"/>
            <a:ext cx="1042416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So what is the point?  Why do we care about congruent triangles?</a:t>
            </a:r>
          </a:p>
        </p:txBody>
      </p:sp>
    </p:spTree>
    <p:extLst>
      <p:ext uri="{BB962C8B-B14F-4D97-AF65-F5344CB8AC3E}">
        <p14:creationId xmlns:p14="http://schemas.microsoft.com/office/powerpoint/2010/main" val="403181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78EF3B-B78A-43B4-9C9D-BBE51CAE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347" y="297061"/>
            <a:ext cx="7428574" cy="568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1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184501-CDF4-42B6-9981-7411F9B12F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43"/>
          <a:stretch/>
        </p:blipFill>
        <p:spPr>
          <a:xfrm>
            <a:off x="787538" y="1676478"/>
            <a:ext cx="10794863" cy="265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6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303" y="2262104"/>
            <a:ext cx="2111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SSS Rule</a:t>
            </a:r>
          </a:p>
        </p:txBody>
      </p:sp>
      <p:pic>
        <p:nvPicPr>
          <p:cNvPr id="16" name="Picture 15">
            <a:extLst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087" y="1218235"/>
            <a:ext cx="7405962" cy="546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26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303" y="2262104"/>
            <a:ext cx="2111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SAS Rule</a:t>
            </a:r>
          </a:p>
        </p:txBody>
      </p:sp>
      <p:pic>
        <p:nvPicPr>
          <p:cNvPr id="15" name="Picture 14">
            <a:extLst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35" y="1129178"/>
            <a:ext cx="7685105" cy="564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4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303" y="2262104"/>
            <a:ext cx="2111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RHS Rule</a:t>
            </a:r>
          </a:p>
        </p:txBody>
      </p:sp>
      <p:pic>
        <p:nvPicPr>
          <p:cNvPr id="16" name="Picture 15">
            <a:extLst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089" y="1185396"/>
            <a:ext cx="7721100" cy="565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1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453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388858" y="91261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07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</a:t>
            </a:r>
            <a:r>
              <a:rPr lang="en-AU" sz="2400" b="1" dirty="0">
                <a:latin typeface="Chalkboard"/>
              </a:rPr>
              <a:t> - How do we know if two triangles are congruent?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44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Congruent Triangles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303" y="2262104"/>
            <a:ext cx="2111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AAS Rule</a:t>
            </a:r>
          </a:p>
        </p:txBody>
      </p:sp>
      <p:pic>
        <p:nvPicPr>
          <p:cNvPr id="15" name="Picture 14">
            <a:extLst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052" y="1136086"/>
            <a:ext cx="7828490" cy="572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9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92A59-54B0-45DA-B298-069995AC3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86" y="365125"/>
            <a:ext cx="8478829" cy="6274334"/>
          </a:xfrm>
        </p:spPr>
      </p:pic>
    </p:spTree>
    <p:extLst>
      <p:ext uri="{BB962C8B-B14F-4D97-AF65-F5344CB8AC3E}">
        <p14:creationId xmlns:p14="http://schemas.microsoft.com/office/powerpoint/2010/main" val="234849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53FF-22F6-4537-8BA6-8E1E317B2662}"/>
              </a:ext>
            </a:extLst>
          </p:cNvPr>
          <p:cNvSpPr txBox="1"/>
          <p:nvPr/>
        </p:nvSpPr>
        <p:spPr>
          <a:xfrm>
            <a:off x="1332199" y="281011"/>
            <a:ext cx="263614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Time to try some.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46004-1AC3-4EB7-A7A7-DE7B1E19B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390" y="724210"/>
            <a:ext cx="6183630" cy="2503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053FFB-89EE-4FA1-9DD6-D9F48B17541B}"/>
              </a:ext>
            </a:extLst>
          </p:cNvPr>
          <p:cNvSpPr txBox="1"/>
          <p:nvPr/>
        </p:nvSpPr>
        <p:spPr>
          <a:xfrm>
            <a:off x="1506855" y="3425655"/>
            <a:ext cx="4094032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Can we prove these triangles are congruent?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Yes</a:t>
            </a:r>
          </a:p>
          <a:p>
            <a:endParaRPr lang="en-AU" sz="2160" dirty="0"/>
          </a:p>
          <a:p>
            <a:r>
              <a:rPr lang="en-AU" sz="2160" dirty="0"/>
              <a:t>Why?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Because of the SAS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CA88C0-6AD4-4515-914D-532A9B852528}"/>
                  </a:ext>
                </a:extLst>
              </p:cNvPr>
              <p:cNvSpPr txBox="1"/>
              <p:nvPr/>
            </p:nvSpPr>
            <p:spPr>
              <a:xfrm>
                <a:off x="6296723" y="3924251"/>
                <a:ext cx="496452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160" dirty="0"/>
                  <a:t>How do we show this?</a:t>
                </a:r>
              </a:p>
              <a:p>
                <a:r>
                  <a:rPr lang="en-AU" sz="2160" dirty="0"/>
                  <a:t>PQ = TU</a:t>
                </a:r>
              </a:p>
              <a:p>
                <a:r>
                  <a:rPr lang="en-AU" sz="2160" dirty="0"/>
                  <a:t>SQ = RU</a:t>
                </a:r>
              </a:p>
              <a:p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</m:oMath>
                </a14:m>
                <a:r>
                  <a:rPr lang="en-AU" sz="2160" dirty="0"/>
                  <a:t>PQS =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TUV</m:t>
                    </m:r>
                  </m:oMath>
                </a14:m>
                <a:endParaRPr lang="en-AU" sz="2160" dirty="0">
                  <a:ea typeface="Cambria Math" panose="02040503050406030204" pitchFamily="18" charset="0"/>
                </a:endParaRPr>
              </a:p>
              <a:p>
                <a:r>
                  <a:rPr lang="en-AU" sz="2160" dirty="0"/>
                  <a:t>Therefore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𝑃𝑄𝑆</m:t>
                    </m:r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≅⊿</m:t>
                    </m:r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𝑇𝑈𝑉</m:t>
                    </m:r>
                  </m:oMath>
                </a14:m>
                <a:r>
                  <a:rPr lang="en-AU" sz="2160" dirty="0"/>
                  <a:t> Because of SAS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CA88C0-6AD4-4515-914D-532A9B852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723" y="3924251"/>
                <a:ext cx="4964522" cy="1754326"/>
              </a:xfrm>
              <a:prstGeom prst="rect">
                <a:avLst/>
              </a:prstGeom>
              <a:blipFill>
                <a:blip r:embed="rId3"/>
                <a:stretch>
                  <a:fillRect l="-1597" t="-2431" r="-737" b="-5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0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2D1812-6819-49F7-AC43-9D9C5125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08" y="281011"/>
            <a:ext cx="5033992" cy="29917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C8C28-DF9A-48E1-990E-534B589D195E}"/>
              </a:ext>
            </a:extLst>
          </p:cNvPr>
          <p:cNvSpPr txBox="1"/>
          <p:nvPr/>
        </p:nvSpPr>
        <p:spPr>
          <a:xfrm>
            <a:off x="1332199" y="281011"/>
            <a:ext cx="263614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Time to try some.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AD58E-9FCA-4D71-AAF4-B2D3DF39DDE6}"/>
              </a:ext>
            </a:extLst>
          </p:cNvPr>
          <p:cNvSpPr txBox="1"/>
          <p:nvPr/>
        </p:nvSpPr>
        <p:spPr>
          <a:xfrm>
            <a:off x="1506855" y="3425655"/>
            <a:ext cx="4094032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Can we prove these triangles are congruent?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Yes</a:t>
            </a:r>
          </a:p>
          <a:p>
            <a:endParaRPr lang="en-AU" sz="2160" dirty="0"/>
          </a:p>
          <a:p>
            <a:r>
              <a:rPr lang="en-AU" sz="2160" dirty="0"/>
              <a:t>Why?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Because of either the SAS rule or SSS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5F79F4-2715-4D49-BF04-BE886B3A571C}"/>
                  </a:ext>
                </a:extLst>
              </p:cNvPr>
              <p:cNvSpPr txBox="1"/>
              <p:nvPr/>
            </p:nvSpPr>
            <p:spPr>
              <a:xfrm>
                <a:off x="6162909" y="3425655"/>
                <a:ext cx="4964522" cy="275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160" dirty="0"/>
                  <a:t>How do we show this?</a:t>
                </a:r>
              </a:p>
              <a:p>
                <a:r>
                  <a:rPr lang="en-AU" sz="2160" dirty="0"/>
                  <a:t>KL = MN</a:t>
                </a:r>
              </a:p>
              <a:p>
                <a:r>
                  <a:rPr lang="en-AU" sz="2160" dirty="0"/>
                  <a:t>LM = KN</a:t>
                </a:r>
              </a:p>
              <a:p>
                <a:r>
                  <a:rPr lang="en-AU" sz="2160" dirty="0"/>
                  <a:t>Side KM is shared and therefore the same length</a:t>
                </a:r>
              </a:p>
              <a:p>
                <a14:m>
                  <m:oMath xmlns:m="http://schemas.openxmlformats.org/officeDocument/2006/math">
                    <m:r>
                      <a:rPr lang="en-AU" sz="216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⊿</m:t>
                    </m:r>
                    <m:r>
                      <a:rPr lang="en-AU" sz="216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𝐾𝐿𝑀</m:t>
                    </m:r>
                    <m:r>
                      <a:rPr lang="en-AU" sz="216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≅⊿</m:t>
                    </m:r>
                    <m:r>
                      <a:rPr lang="en-AU" sz="216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𝐾𝑁𝑀</m:t>
                    </m:r>
                  </m:oMath>
                </a14:m>
                <a:r>
                  <a:rPr lang="en-AU" sz="2160" dirty="0"/>
                  <a:t> Because of SSS</a:t>
                </a:r>
              </a:p>
              <a:p>
                <a:r>
                  <a:rPr lang="en-AU" sz="2160" dirty="0"/>
                  <a:t>You could also use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KLM</m:t>
                    </m:r>
                  </m:oMath>
                </a14:m>
                <a:r>
                  <a:rPr lang="en-AU" sz="2160" dirty="0"/>
                  <a:t> = </a:t>
                </a:r>
                <a14:m>
                  <m:oMath xmlns:m="http://schemas.openxmlformats.org/officeDocument/2006/math">
                    <m:r>
                      <a:rPr lang="en-AU" sz="216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AU" sz="216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KN</m:t>
                    </m:r>
                  </m:oMath>
                </a14:m>
                <a:r>
                  <a:rPr lang="en-AU" sz="2160" dirty="0"/>
                  <a:t> and used SAS to prove this.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5F79F4-2715-4D49-BF04-BE886B3A5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909" y="3425655"/>
                <a:ext cx="4964522" cy="2751522"/>
              </a:xfrm>
              <a:prstGeom prst="rect">
                <a:avLst/>
              </a:prstGeom>
              <a:blipFill>
                <a:blip r:embed="rId3"/>
                <a:stretch>
                  <a:fillRect l="-1597" t="-1552" r="-1229" b="-3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91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82BF60-77EF-4E67-BAEA-388D37A95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340" y="547688"/>
            <a:ext cx="5989320" cy="228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8F13DE-E397-4119-8CF6-D82F3FBBE968}"/>
              </a:ext>
            </a:extLst>
          </p:cNvPr>
          <p:cNvSpPr txBox="1"/>
          <p:nvPr/>
        </p:nvSpPr>
        <p:spPr>
          <a:xfrm>
            <a:off x="1506854" y="3425655"/>
            <a:ext cx="8322574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Can we prove these triangles are congruent?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No</a:t>
            </a:r>
          </a:p>
          <a:p>
            <a:endParaRPr lang="en-AU" sz="2160" dirty="0"/>
          </a:p>
          <a:p>
            <a:r>
              <a:rPr lang="en-AU" sz="2160" dirty="0"/>
              <a:t>Why?</a:t>
            </a:r>
          </a:p>
          <a:p>
            <a:endParaRPr lang="en-AU" sz="2160" dirty="0"/>
          </a:p>
          <a:p>
            <a:r>
              <a:rPr lang="en-AU" sz="2160" dirty="0">
                <a:solidFill>
                  <a:srgbClr val="FF0000"/>
                </a:solidFill>
              </a:rPr>
              <a:t>We only know 2 sides are the same – we need 1 more side or the angle between them to PROVE congruency</a:t>
            </a:r>
          </a:p>
        </p:txBody>
      </p:sp>
    </p:spTree>
    <p:extLst>
      <p:ext uri="{BB962C8B-B14F-4D97-AF65-F5344CB8AC3E}">
        <p14:creationId xmlns:p14="http://schemas.microsoft.com/office/powerpoint/2010/main" val="116488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364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Bodoni MT</vt:lpstr>
      <vt:lpstr>Calibri</vt:lpstr>
      <vt:lpstr>Calibri Light</vt:lpstr>
      <vt:lpstr>Cambria Math</vt:lpstr>
      <vt:lpstr>Chalkboard</vt:lpstr>
      <vt:lpstr>Chiller</vt:lpstr>
      <vt:lpstr>Wingdings</vt:lpstr>
      <vt:lpstr>Office Theme</vt:lpstr>
      <vt:lpstr>PowerPoint Presentation</vt:lpstr>
      <vt:lpstr>PowerPoint Presentation</vt:lpstr>
      <vt:lpstr>PowerPoint Presentation</vt:lpstr>
      <vt:lpstr>For 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Nine Labuschagne</cp:lastModifiedBy>
  <cp:revision>7</cp:revision>
  <dcterms:created xsi:type="dcterms:W3CDTF">2017-06-14T12:13:34Z</dcterms:created>
  <dcterms:modified xsi:type="dcterms:W3CDTF">2017-06-14T12:43:01Z</dcterms:modified>
</cp:coreProperties>
</file>
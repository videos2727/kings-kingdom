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1" r:id="rId4"/>
    <p:sldId id="259" r:id="rId5"/>
    <p:sldId id="262" r:id="rId6"/>
    <p:sldId id="257" r:id="rId7"/>
    <p:sldId id="260" r:id="rId8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9" d="100"/>
          <a:sy n="89" d="100"/>
        </p:scale>
        <p:origin x="90" y="8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506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2774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5749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4755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5/06/2017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5669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5/06/2017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0078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5/06/2017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8027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6327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4476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658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4825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A98DB-85F7-4057-9FF8-584B97218105}" type="datetimeFigureOut">
              <a:rPr lang="en-AU" smtClean="0"/>
              <a:t>5/06/2017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2521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0ADCCE3E-27B7-4D86-B331-5E4B68EE7FC2}"/>
              </a:ext>
            </a:extLst>
          </p:cNvPr>
          <p:cNvSpPr/>
          <p:nvPr/>
        </p:nvSpPr>
        <p:spPr>
          <a:xfrm>
            <a:off x="657922" y="791738"/>
            <a:ext cx="2286000" cy="3914078"/>
          </a:xfrm>
          <a:prstGeom prst="triangle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1B11C7-E6B8-4B4C-89EE-FE14784434A6}"/>
              </a:ext>
            </a:extLst>
          </p:cNvPr>
          <p:cNvSpPr txBox="1"/>
          <p:nvPr/>
        </p:nvSpPr>
        <p:spPr>
          <a:xfrm>
            <a:off x="1572322" y="4705816"/>
            <a:ext cx="1159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5C4ADF-D13A-4CEF-8370-8211BEDD7792}"/>
              </a:ext>
            </a:extLst>
          </p:cNvPr>
          <p:cNvSpPr txBox="1"/>
          <p:nvPr/>
        </p:nvSpPr>
        <p:spPr>
          <a:xfrm>
            <a:off x="286214" y="2564111"/>
            <a:ext cx="1159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5CEAE53-AB76-4B07-AA16-B68AFC881451}"/>
                  </a:ext>
                </a:extLst>
              </p:cNvPr>
              <p:cNvSpPr txBox="1"/>
              <p:nvPr/>
            </p:nvSpPr>
            <p:spPr>
              <a:xfrm>
                <a:off x="1182029" y="422406"/>
                <a:ext cx="7471317" cy="30551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800" b="1" dirty="0"/>
                  <a:t>Recipe to find the length of the long side</a:t>
                </a:r>
              </a:p>
              <a:p>
                <a:r>
                  <a:rPr lang="en-AU" dirty="0"/>
                  <a:t>			Ingredients.</a:t>
                </a:r>
              </a:p>
              <a:p>
                <a:r>
                  <a:rPr lang="en-AU" dirty="0"/>
                  <a:t>				1 x right angle triangle</a:t>
                </a:r>
              </a:p>
              <a:p>
                <a:r>
                  <a:rPr lang="en-AU" dirty="0"/>
                  <a:t>				the lengths of the 2 shorter sides</a:t>
                </a:r>
              </a:p>
              <a:p>
                <a:r>
                  <a:rPr lang="en-AU" dirty="0"/>
                  <a:t>		</a:t>
                </a:r>
              </a:p>
              <a:p>
                <a:r>
                  <a:rPr lang="en-AU" dirty="0"/>
                  <a:t>			Method.</a:t>
                </a:r>
              </a:p>
              <a:p>
                <a:r>
                  <a:rPr lang="en-AU" dirty="0"/>
                  <a:t>				1. Square both the shorter sides	</a:t>
                </a:r>
              </a:p>
              <a:p>
                <a:r>
                  <a:rPr lang="en-AU" dirty="0">
                    <a:solidFill>
                      <a:schemeClr val="accent1"/>
                    </a:solidFill>
                  </a:rPr>
                  <a:t>				</a:t>
                </a:r>
                <a:r>
                  <a:rPr lang="en-AU" dirty="0"/>
                  <a:t>2. Add these squares together    		</a:t>
                </a:r>
              </a:p>
              <a:p>
                <a:r>
                  <a:rPr lang="en-AU" dirty="0"/>
                  <a:t>				3. Now find the square root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b="0" i="0" smtClean="0">
                        <a:latin typeface="Cambria Math" panose="02040503050406030204" pitchFamily="18" charset="0"/>
                      </a:rPr>
                      <m:t>use</m:t>
                    </m:r>
                    <m:r>
                      <a:rPr lang="en-AU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AU" b="0" i="0" smtClean="0">
                        <a:latin typeface="Cambria Math" panose="02040503050406030204" pitchFamily="18" charset="0"/>
                      </a:rPr>
                      <m:t>this</m:t>
                    </m:r>
                    <m:r>
                      <a:rPr lang="en-AU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AU" b="0" i="0" smtClean="0">
                        <a:latin typeface="Cambria Math" panose="02040503050406030204" pitchFamily="18" charset="0"/>
                      </a:rPr>
                      <m:t>butt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𝑜𝑛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ad>
                      <m:radPr>
                        <m:degHide m:val="on"/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/>
                    </m:rad>
                  </m:oMath>
                </a14:m>
                <a:r>
                  <a:rPr lang="en-AU" dirty="0"/>
                  <a:t>)</a:t>
                </a:r>
              </a:p>
              <a:p>
                <a:r>
                  <a:rPr lang="en-AU" dirty="0"/>
                  <a:t>					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5CEAE53-AB76-4B07-AA16-B68AFC8814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2029" y="422406"/>
                <a:ext cx="7471317" cy="3055132"/>
              </a:xfrm>
              <a:prstGeom prst="rect">
                <a:avLst/>
              </a:prstGeom>
              <a:blipFill>
                <a:blip r:embed="rId2"/>
                <a:stretch>
                  <a:fillRect l="-1713" t="-179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E482003-7719-4988-A691-D7142A917EB4}"/>
                  </a:ext>
                </a:extLst>
              </p:cNvPr>
              <p:cNvSpPr txBox="1"/>
              <p:nvPr/>
            </p:nvSpPr>
            <p:spPr>
              <a:xfrm>
                <a:off x="4059043" y="3558635"/>
                <a:ext cx="3100039" cy="9559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</m:e>
                      <m:sup>
                        <m:r>
                          <a:rPr lang="en-AU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AU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lang="en-AU" b="1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1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𝟖𝟏</m:t>
                    </m:r>
                    <m:r>
                      <a:rPr lang="en-AU" b="1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1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𝒂𝒏𝒅</m:t>
                    </m:r>
                    <m:sSup>
                      <m:sSupPr>
                        <m:ctrlPr>
                          <a:rPr lang="en-AU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e>
                      <m:sup>
                        <m:r>
                          <a:rPr lang="en-AU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AU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AU" b="1" dirty="0">
                    <a:solidFill>
                      <a:schemeClr val="accent1">
                        <a:lumMod val="75000"/>
                      </a:schemeClr>
                    </a:solidFill>
                  </a:rPr>
                  <a:t> = 36</a:t>
                </a:r>
              </a:p>
              <a:p>
                <a:r>
                  <a:rPr lang="en-AU" b="1" dirty="0">
                    <a:solidFill>
                      <a:schemeClr val="accent1">
                        <a:lumMod val="75000"/>
                      </a:schemeClr>
                    </a:solidFill>
                  </a:rPr>
                  <a:t>	81+ 36 = 117</a:t>
                </a:r>
              </a:p>
              <a:p>
                <a:r>
                  <a:rPr lang="en-AU" b="1" dirty="0">
                    <a:solidFill>
                      <a:schemeClr val="accent1">
                        <a:lumMod val="75000"/>
                      </a:schemeClr>
                    </a:solidFill>
                  </a:rPr>
                  <a:t>  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𝟏𝟏𝟕</m:t>
                        </m:r>
                      </m:e>
                    </m:rad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𝟖𝟐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𝒕𝒐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𝒅𝒑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E482003-7719-4988-A691-D7142A917E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9043" y="3558635"/>
                <a:ext cx="3100039" cy="955967"/>
              </a:xfrm>
              <a:prstGeom prst="rect">
                <a:avLst/>
              </a:prstGeom>
              <a:blipFill>
                <a:blip r:embed="rId3"/>
                <a:stretch>
                  <a:fillRect t="-3185" b="-509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F68E508-5EA9-4AD1-B477-4EC304DCBA2D}"/>
                  </a:ext>
                </a:extLst>
              </p:cNvPr>
              <p:cNvSpPr/>
              <p:nvPr/>
            </p:nvSpPr>
            <p:spPr>
              <a:xfrm>
                <a:off x="2732049" y="4965280"/>
                <a:ext cx="5942268" cy="4032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/>
                  <a:t>Or mathematically we can write   Long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𝑠h𝑜𝑟𝑡</m:t>
                            </m:r>
                          </m:e>
                          <m:sup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AU" i="1">
                            <a:latin typeface="Cambria Math" panose="02040503050406030204" pitchFamily="18" charset="0"/>
                          </a:rPr>
                          <m:t>+ </m:t>
                        </m:r>
                        <m:sSup>
                          <m:sSupPr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𝑠h𝑜𝑟𝑡</m:t>
                            </m:r>
                          </m:e>
                          <m:sup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AU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rad>
                  </m:oMath>
                </a14:m>
                <a:r>
                  <a:rPr lang="en-AU" dirty="0"/>
                  <a:t> </a:t>
                </a:r>
              </a:p>
            </p:txBody>
          </p:sp>
        </mc:Choice>
        <mc:Fallback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F68E508-5EA9-4AD1-B477-4EC304DCBA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2049" y="4965280"/>
                <a:ext cx="5942268" cy="403252"/>
              </a:xfrm>
              <a:prstGeom prst="rect">
                <a:avLst/>
              </a:prstGeom>
              <a:blipFill>
                <a:blip r:embed="rId4"/>
                <a:stretch>
                  <a:fillRect l="-821" b="-2424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9595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0ADCCE3E-27B7-4D86-B331-5E4B68EE7FC2}"/>
              </a:ext>
            </a:extLst>
          </p:cNvPr>
          <p:cNvSpPr/>
          <p:nvPr/>
        </p:nvSpPr>
        <p:spPr>
          <a:xfrm>
            <a:off x="657922" y="791738"/>
            <a:ext cx="2286000" cy="3914078"/>
          </a:xfrm>
          <a:prstGeom prst="triangle">
            <a:avLst>
              <a:gd name="adj" fmla="val 0"/>
            </a:avLst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4E4258-3FAE-4A43-9FE8-E5C149DF30C9}"/>
              </a:ext>
            </a:extLst>
          </p:cNvPr>
          <p:cNvSpPr txBox="1"/>
          <p:nvPr/>
        </p:nvSpPr>
        <p:spPr>
          <a:xfrm>
            <a:off x="1784195" y="4750421"/>
            <a:ext cx="1159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F3B480A-C594-4104-8E5C-9D9707B6C906}"/>
                  </a:ext>
                </a:extLst>
              </p:cNvPr>
              <p:cNvSpPr txBox="1"/>
              <p:nvPr/>
            </p:nvSpPr>
            <p:spPr>
              <a:xfrm>
                <a:off x="1672683" y="396074"/>
                <a:ext cx="7471317" cy="30551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800" b="1" dirty="0"/>
                  <a:t>Recipe to find the length of a short side</a:t>
                </a:r>
              </a:p>
              <a:p>
                <a:r>
                  <a:rPr lang="en-AU" dirty="0"/>
                  <a:t>			Ingredients.</a:t>
                </a:r>
              </a:p>
              <a:p>
                <a:r>
                  <a:rPr lang="en-AU" dirty="0"/>
                  <a:t>				1 x right angle triangle</a:t>
                </a:r>
              </a:p>
              <a:p>
                <a:r>
                  <a:rPr lang="en-AU" dirty="0"/>
                  <a:t>				the lengths of the long side and 1 shorter side</a:t>
                </a:r>
              </a:p>
              <a:p>
                <a:r>
                  <a:rPr lang="en-AU" dirty="0"/>
                  <a:t>		</a:t>
                </a:r>
              </a:p>
              <a:p>
                <a:r>
                  <a:rPr lang="en-AU" dirty="0"/>
                  <a:t>			Method.</a:t>
                </a:r>
              </a:p>
              <a:p>
                <a:r>
                  <a:rPr lang="en-AU" dirty="0"/>
                  <a:t>				1. Square both the long side and shorter side 	</a:t>
                </a:r>
              </a:p>
              <a:p>
                <a:r>
                  <a:rPr lang="en-AU" dirty="0">
                    <a:solidFill>
                      <a:schemeClr val="accent1"/>
                    </a:solidFill>
                  </a:rPr>
                  <a:t>				</a:t>
                </a:r>
                <a:r>
                  <a:rPr lang="en-AU" dirty="0"/>
                  <a:t>2. Subtract the numbers		</a:t>
                </a:r>
              </a:p>
              <a:p>
                <a:r>
                  <a:rPr lang="en-AU" dirty="0"/>
                  <a:t>				3. Now find the square root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b="0" i="0" smtClean="0">
                        <a:latin typeface="Cambria Math" panose="02040503050406030204" pitchFamily="18" charset="0"/>
                      </a:rPr>
                      <m:t>use</m:t>
                    </m:r>
                    <m:r>
                      <a:rPr lang="en-AU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AU" b="0" i="0" smtClean="0">
                        <a:latin typeface="Cambria Math" panose="02040503050406030204" pitchFamily="18" charset="0"/>
                      </a:rPr>
                      <m:t>this</m:t>
                    </m:r>
                    <m:r>
                      <a:rPr lang="en-AU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AU" b="0" i="0" smtClean="0">
                        <a:latin typeface="Cambria Math" panose="02040503050406030204" pitchFamily="18" charset="0"/>
                      </a:rPr>
                      <m:t>butt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𝑜𝑛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ad>
                      <m:radPr>
                        <m:degHide m:val="on"/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/>
                    </m:rad>
                  </m:oMath>
                </a14:m>
                <a:r>
                  <a:rPr lang="en-AU" dirty="0"/>
                  <a:t>)</a:t>
                </a:r>
              </a:p>
              <a:p>
                <a:r>
                  <a:rPr lang="en-AU" dirty="0"/>
                  <a:t>					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F3B480A-C594-4104-8E5C-9D9707B6C9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2683" y="396074"/>
                <a:ext cx="7471317" cy="3055132"/>
              </a:xfrm>
              <a:prstGeom prst="rect">
                <a:avLst/>
              </a:prstGeom>
              <a:blipFill>
                <a:blip r:embed="rId2"/>
                <a:stretch>
                  <a:fillRect l="-1631" t="-199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AA62308-90E1-43FF-B7D6-DE898DB2A47C}"/>
                  </a:ext>
                </a:extLst>
              </p:cNvPr>
              <p:cNvSpPr txBox="1"/>
              <p:nvPr/>
            </p:nvSpPr>
            <p:spPr>
              <a:xfrm>
                <a:off x="4270916" y="3603240"/>
                <a:ext cx="3100039" cy="9684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𝟏𝟓</m:t>
                        </m:r>
                      </m:e>
                      <m:sup>
                        <m:r>
                          <a:rPr lang="en-AU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AU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lang="en-AU" b="1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𝟐𝟐𝟓</m:t>
                    </m:r>
                    <m:r>
                      <a:rPr lang="en-AU" b="1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1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𝒂𝒏𝒅</m:t>
                    </m:r>
                    <m:sSup>
                      <m:sSupPr>
                        <m:ctrlPr>
                          <a:rPr lang="en-AU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e>
                      <m:sup>
                        <m:r>
                          <a:rPr lang="en-AU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AU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AU" b="1" dirty="0">
                    <a:solidFill>
                      <a:schemeClr val="accent1">
                        <a:lumMod val="75000"/>
                      </a:schemeClr>
                    </a:solidFill>
                  </a:rPr>
                  <a:t> = 36</a:t>
                </a:r>
              </a:p>
              <a:p>
                <a:r>
                  <a:rPr lang="en-AU" b="1" dirty="0">
                    <a:solidFill>
                      <a:schemeClr val="accent1">
                        <a:lumMod val="75000"/>
                      </a:schemeClr>
                    </a:solidFill>
                  </a:rPr>
                  <a:t>	225 - 36 = 189</a:t>
                </a:r>
              </a:p>
              <a:p>
                <a:r>
                  <a:rPr lang="en-AU" b="1" dirty="0">
                    <a:solidFill>
                      <a:schemeClr val="accent1">
                        <a:lumMod val="75000"/>
                      </a:schemeClr>
                    </a:solidFill>
                  </a:rPr>
                  <a:t>  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𝟏𝟖𝟗</m:t>
                        </m:r>
                      </m:e>
                    </m:rad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𝟏𝟑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𝟕𝟓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𝒕𝒐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𝒅𝒑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AA62308-90E1-43FF-B7D6-DE898DB2A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0916" y="3603240"/>
                <a:ext cx="3100039" cy="968470"/>
              </a:xfrm>
              <a:prstGeom prst="rect">
                <a:avLst/>
              </a:prstGeom>
              <a:blipFill>
                <a:blip r:embed="rId3"/>
                <a:stretch>
                  <a:fillRect t="-2516" b="-377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4514E17-6098-4C20-A8B9-0C5B0109CB6A}"/>
                  </a:ext>
                </a:extLst>
              </p:cNvPr>
              <p:cNvSpPr/>
              <p:nvPr/>
            </p:nvSpPr>
            <p:spPr>
              <a:xfrm>
                <a:off x="2943922" y="4950485"/>
                <a:ext cx="5903476" cy="4277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/>
                  <a:t>Or mathematically we can write   short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𝑙𝑜𝑛𝑔</m:t>
                            </m:r>
                          </m:e>
                          <m:sup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𝑠h𝑜𝑟𝑡</m:t>
                            </m:r>
                          </m:e>
                          <m:sup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AU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rad>
                  </m:oMath>
                </a14:m>
                <a:r>
                  <a:rPr lang="en-AU" dirty="0"/>
                  <a:t> </a:t>
                </a:r>
              </a:p>
            </p:txBody>
          </p:sp>
        </mc:Choice>
        <mc:Fallback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4514E17-6098-4C20-A8B9-0C5B0109CB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3922" y="4950485"/>
                <a:ext cx="5903476" cy="427746"/>
              </a:xfrm>
              <a:prstGeom prst="rect">
                <a:avLst/>
              </a:prstGeom>
              <a:blipFill>
                <a:blip r:embed="rId4"/>
                <a:stretch>
                  <a:fillRect l="-930" b="-2142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3152AE42-6800-4340-A2B8-8ECB393708DD}"/>
              </a:ext>
            </a:extLst>
          </p:cNvPr>
          <p:cNvSpPr txBox="1"/>
          <p:nvPr/>
        </p:nvSpPr>
        <p:spPr>
          <a:xfrm>
            <a:off x="1867829" y="2379445"/>
            <a:ext cx="507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585683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AA780-E33D-458D-AF53-2FE1E2A7A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142906"/>
            <a:ext cx="8515350" cy="513310"/>
          </a:xfrm>
        </p:spPr>
        <p:txBody>
          <a:bodyPr>
            <a:normAutofit/>
          </a:bodyPr>
          <a:lstStyle/>
          <a:p>
            <a:r>
              <a:rPr lang="en-AU" sz="2400" dirty="0"/>
              <a:t>Recipe to use Pythagoras to check if a triangle has a right angle.</a:t>
            </a: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EA7184E6-9021-4756-8ED9-EA5A7E2F586C}"/>
              </a:ext>
            </a:extLst>
          </p:cNvPr>
          <p:cNvSpPr/>
          <p:nvPr/>
        </p:nvSpPr>
        <p:spPr>
          <a:xfrm>
            <a:off x="657922" y="791738"/>
            <a:ext cx="2286000" cy="3914078"/>
          </a:xfrm>
          <a:prstGeom prst="triangle">
            <a:avLst>
              <a:gd name="adj" fmla="val 0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033680-89A9-493D-BD95-5113F47CC815}"/>
              </a:ext>
            </a:extLst>
          </p:cNvPr>
          <p:cNvSpPr txBox="1"/>
          <p:nvPr/>
        </p:nvSpPr>
        <p:spPr>
          <a:xfrm>
            <a:off x="1784195" y="4750421"/>
            <a:ext cx="1159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C65BE6-FEE4-4007-95B9-D1DB93787827}"/>
              </a:ext>
            </a:extLst>
          </p:cNvPr>
          <p:cNvSpPr txBox="1"/>
          <p:nvPr/>
        </p:nvSpPr>
        <p:spPr>
          <a:xfrm>
            <a:off x="1273797" y="845522"/>
            <a:ext cx="747131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			Ingredients.</a:t>
            </a:r>
          </a:p>
          <a:p>
            <a:r>
              <a:rPr lang="en-AU" dirty="0"/>
              <a:t>				1 x triangle</a:t>
            </a:r>
          </a:p>
          <a:p>
            <a:r>
              <a:rPr lang="en-AU" dirty="0"/>
              <a:t>				the lengths of all sides</a:t>
            </a:r>
          </a:p>
          <a:p>
            <a:r>
              <a:rPr lang="en-AU" dirty="0"/>
              <a:t>		</a:t>
            </a:r>
          </a:p>
          <a:p>
            <a:r>
              <a:rPr lang="en-AU" dirty="0"/>
              <a:t>			Method.</a:t>
            </a:r>
          </a:p>
          <a:p>
            <a:r>
              <a:rPr lang="en-AU" dirty="0"/>
              <a:t>				1. Square all three sides	</a:t>
            </a:r>
          </a:p>
          <a:p>
            <a:r>
              <a:rPr lang="en-AU" dirty="0">
                <a:solidFill>
                  <a:schemeClr val="accent1"/>
                </a:solidFill>
              </a:rPr>
              <a:t>				</a:t>
            </a:r>
            <a:r>
              <a:rPr lang="en-AU" dirty="0"/>
              <a:t>2. Add the squares of the 2 short sides together and 					    compare it to the square of the longer side	</a:t>
            </a:r>
          </a:p>
          <a:p>
            <a:r>
              <a:rPr lang="en-AU" dirty="0"/>
              <a:t>				3. Only if they are the same then it is a right angle triangle</a:t>
            </a:r>
          </a:p>
          <a:p>
            <a:r>
              <a:rPr lang="en-AU" dirty="0"/>
              <a:t>					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6FFBF17-A7B2-48D3-AD73-4FA4A63C23EC}"/>
                  </a:ext>
                </a:extLst>
              </p:cNvPr>
              <p:cNvSpPr txBox="1"/>
              <p:nvPr/>
            </p:nvSpPr>
            <p:spPr>
              <a:xfrm>
                <a:off x="3457378" y="3613997"/>
                <a:ext cx="4944345" cy="955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en-AU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AU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lang="en-AU" b="1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𝟏𝟎𝟎</m:t>
                    </m:r>
                    <m:sSup>
                      <m:sSupPr>
                        <m:ctrlPr>
                          <a:rPr lang="en-AU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                </m:t>
                        </m:r>
                        <m:r>
                          <a:rPr lang="en-AU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  <m:sup>
                        <m:r>
                          <a:rPr lang="en-AU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AU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AU" b="1" dirty="0">
                    <a:solidFill>
                      <a:schemeClr val="accent1">
                        <a:lumMod val="75000"/>
                      </a:schemeClr>
                    </a:solidFill>
                  </a:rPr>
                  <a:t> = 25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               </m:t>
                        </m:r>
                        <m:r>
                          <a:rPr lang="en-AU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𝟏𝟗</m:t>
                        </m:r>
                      </m:e>
                      <m:sup>
                        <m:r>
                          <a:rPr lang="en-AU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AU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lang="en-AU" b="1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𝟑𝟔𝟏</m:t>
                    </m:r>
                  </m:oMath>
                </a14:m>
                <a:endParaRPr lang="en-AU" b="1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r>
                  <a:rPr lang="en-AU" b="1" dirty="0">
                    <a:solidFill>
                      <a:schemeClr val="accent1">
                        <a:lumMod val="75000"/>
                      </a:schemeClr>
                    </a:solidFill>
                  </a:rPr>
                  <a:t>	100 + 25 = 125  which does not equal 361</a:t>
                </a:r>
              </a:p>
              <a:p>
                <a:r>
                  <a:rPr lang="en-AU" b="1" dirty="0">
                    <a:solidFill>
                      <a:schemeClr val="accent1">
                        <a:lumMod val="75000"/>
                      </a:schemeClr>
                    </a:solidFill>
                  </a:rPr>
                  <a:t>   </a:t>
                </a:r>
                <a14:m>
                  <m:oMath xmlns:m="http://schemas.openxmlformats.org/officeDocument/2006/math"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𝒕𝒉𝒊𝒔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𝒊𝒔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𝒏𝒐𝒕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𝒓𝒊𝒈𝒉𝒕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𝒂𝒏𝒈𝒍𝒆𝒅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𝒕𝒓𝒊𝒂𝒏𝒈𝒍𝒆</m:t>
                    </m:r>
                  </m:oMath>
                </a14:m>
                <a:endParaRPr lang="en-AU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6FFBF17-A7B2-48D3-AD73-4FA4A63C23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378" y="3613997"/>
                <a:ext cx="4944345" cy="955646"/>
              </a:xfrm>
              <a:prstGeom prst="rect">
                <a:avLst/>
              </a:prstGeom>
              <a:blipFill>
                <a:blip r:embed="rId2"/>
                <a:stretch>
                  <a:fillRect t="-3185" b="-19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E43618F5-B55D-49AA-BC46-9C5C7A855ECE}"/>
              </a:ext>
            </a:extLst>
          </p:cNvPr>
          <p:cNvSpPr txBox="1"/>
          <p:nvPr/>
        </p:nvSpPr>
        <p:spPr>
          <a:xfrm>
            <a:off x="1867829" y="2379445"/>
            <a:ext cx="507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1B823C-577E-47E4-83CC-180E33E3C614}"/>
              </a:ext>
            </a:extLst>
          </p:cNvPr>
          <p:cNvSpPr txBox="1"/>
          <p:nvPr/>
        </p:nvSpPr>
        <p:spPr>
          <a:xfrm>
            <a:off x="284316" y="2434018"/>
            <a:ext cx="1159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63735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E393A-F414-4E21-9185-70B9A0AD5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Let’s try</a:t>
            </a:r>
            <a:br>
              <a:rPr lang="en-AU" dirty="0"/>
            </a:b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255864-C966-44FE-9A2B-0B496C8DB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156" y="856589"/>
            <a:ext cx="2924175" cy="4305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A75F63-76CA-40A8-896E-27E1D9FA4A1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4914"/>
          <a:stretch/>
        </p:blipFill>
        <p:spPr>
          <a:xfrm>
            <a:off x="4443528" y="856589"/>
            <a:ext cx="3981450" cy="14072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5CA5CF-0A5D-49CF-9667-27264837B1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5040" y="3296347"/>
            <a:ext cx="2638425" cy="135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947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E8FDDA9-1276-4E51-BE72-B067E9E3636D}"/>
              </a:ext>
            </a:extLst>
          </p:cNvPr>
          <p:cNvSpPr txBox="1"/>
          <p:nvPr/>
        </p:nvSpPr>
        <p:spPr>
          <a:xfrm>
            <a:off x="1204858" y="464842"/>
            <a:ext cx="78369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Is this a right angled triangle (according to the measurements not the picture)?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735F21-8696-492D-B767-29795BA6E4C3}"/>
              </a:ext>
            </a:extLst>
          </p:cNvPr>
          <p:cNvSpPr txBox="1"/>
          <p:nvPr/>
        </p:nvSpPr>
        <p:spPr>
          <a:xfrm>
            <a:off x="1893346" y="2485017"/>
            <a:ext cx="1043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566583BF-8DD4-4DCE-9BDD-3B2A14FCE2B5}"/>
              </a:ext>
            </a:extLst>
          </p:cNvPr>
          <p:cNvSpPr/>
          <p:nvPr/>
        </p:nvSpPr>
        <p:spPr>
          <a:xfrm>
            <a:off x="634701" y="1065007"/>
            <a:ext cx="1968650" cy="3281082"/>
          </a:xfrm>
          <a:prstGeom prst="triangle">
            <a:avLst>
              <a:gd name="adj" fmla="val 81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594121-C555-48D3-8414-38FE83340058}"/>
              </a:ext>
            </a:extLst>
          </p:cNvPr>
          <p:cNvSpPr txBox="1"/>
          <p:nvPr/>
        </p:nvSpPr>
        <p:spPr>
          <a:xfrm>
            <a:off x="301215" y="2151550"/>
            <a:ext cx="1043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8FF185-6B85-405F-8C4F-9B442F2C032F}"/>
              </a:ext>
            </a:extLst>
          </p:cNvPr>
          <p:cNvSpPr txBox="1"/>
          <p:nvPr/>
        </p:nvSpPr>
        <p:spPr>
          <a:xfrm>
            <a:off x="1204858" y="4346089"/>
            <a:ext cx="1043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968F113-2BE9-467F-AD86-D67BFB9BA3E4}"/>
                  </a:ext>
                </a:extLst>
              </p:cNvPr>
              <p:cNvSpPr txBox="1"/>
              <p:nvPr/>
            </p:nvSpPr>
            <p:spPr>
              <a:xfrm>
                <a:off x="3485477" y="1565236"/>
                <a:ext cx="4944345" cy="929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𝟏𝟓</m:t>
                        </m:r>
                      </m:e>
                      <m:sup>
                        <m:r>
                          <a:rPr lang="en-AU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AU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lang="en-AU" b="1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𝟐𝟐𝟓</m:t>
                    </m:r>
                    <m:sSup>
                      <m:sSupPr>
                        <m:ctrlPr>
                          <a:rPr lang="en-AU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          </m:t>
                        </m:r>
                        <m:r>
                          <a:rPr lang="en-AU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𝟐𝟎</m:t>
                        </m:r>
                      </m:e>
                      <m:sup>
                        <m:r>
                          <a:rPr lang="en-AU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AU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AU" b="1" dirty="0">
                    <a:solidFill>
                      <a:schemeClr val="accent1">
                        <a:lumMod val="75000"/>
                      </a:schemeClr>
                    </a:solidFill>
                  </a:rPr>
                  <a:t> = 400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            </m:t>
                        </m:r>
                        <m:r>
                          <a:rPr lang="en-AU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𝟐𝟓</m:t>
                        </m:r>
                      </m:e>
                      <m:sup>
                        <m:r>
                          <a:rPr lang="en-AU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AU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lang="en-AU" b="1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AU" b="1" dirty="0">
                    <a:solidFill>
                      <a:schemeClr val="accent1">
                        <a:lumMod val="75000"/>
                      </a:schemeClr>
                    </a:solidFill>
                  </a:rPr>
                  <a:t>625</a:t>
                </a:r>
              </a:p>
              <a:p>
                <a:r>
                  <a:rPr lang="en-AU" b="1" dirty="0">
                    <a:solidFill>
                      <a:schemeClr val="accent1">
                        <a:lumMod val="75000"/>
                      </a:schemeClr>
                    </a:solidFill>
                  </a:rPr>
                  <a:t>	225 + 400 = 625  which is equal 625</a:t>
                </a:r>
              </a:p>
              <a:p>
                <a:r>
                  <a:rPr lang="en-AU" b="1" dirty="0">
                    <a:solidFill>
                      <a:schemeClr val="accent1">
                        <a:lumMod val="75000"/>
                      </a:schemeClr>
                    </a:solidFill>
                  </a:rPr>
                  <a:t>   </a:t>
                </a:r>
                <a14:m>
                  <m:oMath xmlns:m="http://schemas.openxmlformats.org/officeDocument/2006/math"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𝒕𝒉𝒊𝒔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𝒊𝒔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𝒓𝒊𝒈𝒉𝒕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𝒂𝒏𝒈𝒍𝒆𝒅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𝒕𝒓𝒊𝒂𝒏𝒈𝒍𝒆</m:t>
                    </m:r>
                  </m:oMath>
                </a14:m>
                <a:endParaRPr lang="en-AU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968F113-2BE9-467F-AD86-D67BFB9BA3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5477" y="1565236"/>
                <a:ext cx="4944345" cy="929550"/>
              </a:xfrm>
              <a:prstGeom prst="rect">
                <a:avLst/>
              </a:prstGeom>
              <a:blipFill>
                <a:blip r:embed="rId2"/>
                <a:stretch>
                  <a:fillRect t="-3289" b="-526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7151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6522" y="100339"/>
            <a:ext cx="6858000" cy="524130"/>
          </a:xfrm>
        </p:spPr>
        <p:txBody>
          <a:bodyPr>
            <a:noAutofit/>
          </a:bodyPr>
          <a:lstStyle/>
          <a:p>
            <a:pPr algn="l"/>
            <a:r>
              <a:rPr lang="en-AU" sz="3200" dirty="0"/>
              <a:t>Topic : Pythagoras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5281914" y="1453920"/>
                <a:ext cx="3795131" cy="2892806"/>
              </a:xfrm>
            </p:spPr>
            <p:txBody>
              <a:bodyPr>
                <a:normAutofit/>
              </a:bodyPr>
              <a:lstStyle/>
              <a:p>
                <a:pPr algn="l"/>
                <a:r>
                  <a:rPr lang="en-AU" sz="2800" dirty="0"/>
                  <a:t>Line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AU" sz="2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800" b="0" i="1" smtClean="0">
                                <a:latin typeface="Cambria Math" panose="02040503050406030204" pitchFamily="18" charset="0"/>
                              </a:rPr>
                              <m:t>𝑟𝑖𝑠𝑒</m:t>
                            </m:r>
                          </m:e>
                          <m:sup>
                            <m:r>
                              <a:rPr lang="en-AU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+ </m:t>
                        </m:r>
                        <m:sSup>
                          <m:sSupPr>
                            <m:ctrlPr>
                              <a:rPr lang="en-AU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800" b="0" i="1" smtClean="0">
                                <a:latin typeface="Cambria Math" panose="02040503050406030204" pitchFamily="18" charset="0"/>
                              </a:rPr>
                              <m:t>𝑟𝑢𝑛</m:t>
                            </m:r>
                          </m:e>
                          <m:sup>
                            <m:r>
                              <a:rPr lang="en-AU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rad>
                  </m:oMath>
                </a14:m>
                <a:r>
                  <a:rPr lang="en-AU" sz="2800" dirty="0"/>
                  <a:t> 	</a:t>
                </a:r>
              </a:p>
              <a:p>
                <a:pPr algn="l"/>
                <a:r>
                  <a:rPr lang="en-AU" sz="2800" dirty="0"/>
                  <a:t>	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AU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8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sup>
                            <m:r>
                              <a:rPr lang="en-AU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+ </m:t>
                        </m:r>
                        <m:sSup>
                          <m:sSupPr>
                            <m:ctrlPr>
                              <a:rPr lang="en-AU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8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AU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rad>
                  </m:oMath>
                </a14:m>
                <a:endParaRPr lang="en-AU" sz="2800" dirty="0"/>
              </a:p>
              <a:p>
                <a:pPr algn="l"/>
                <a:r>
                  <a:rPr lang="en-AU" sz="2800" dirty="0"/>
                  <a:t>	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64</m:t>
                        </m:r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e>
                    </m:rad>
                  </m:oMath>
                </a14:m>
                <a:endParaRPr lang="en-AU" sz="2800" dirty="0"/>
              </a:p>
              <a:p>
                <a:pPr algn="l"/>
                <a:r>
                  <a:rPr lang="en-AU" sz="2800" dirty="0"/>
                  <a:t>	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80</m:t>
                        </m:r>
                      </m:e>
                    </m:rad>
                  </m:oMath>
                </a14:m>
                <a:endParaRPr lang="en-AU" sz="2800" dirty="0"/>
              </a:p>
              <a:p>
                <a:pPr algn="l"/>
                <a:r>
                  <a:rPr lang="en-AU" sz="2800" dirty="0"/>
                  <a:t>	= 8.94 to 2 </a:t>
                </a:r>
                <a:r>
                  <a:rPr lang="en-AU" sz="2800" dirty="0" err="1"/>
                  <a:t>dp</a:t>
                </a:r>
                <a:endParaRPr lang="en-AU" sz="2800" dirty="0"/>
              </a:p>
              <a:p>
                <a:endParaRPr lang="en-AU" sz="2800" dirty="0"/>
              </a:p>
            </p:txBody>
          </p:sp>
        </mc:Choice>
        <mc:Fallback>
          <p:sp>
            <p:nvSpPr>
              <p:cNvPr id="3" name="Sub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5281914" y="1453920"/>
                <a:ext cx="3795131" cy="2892806"/>
              </a:xfrm>
              <a:blipFill>
                <a:blip r:embed="rId2"/>
                <a:stretch>
                  <a:fillRect l="-3210" t="-189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/>
          <p:cNvCxnSpPr/>
          <p:nvPr/>
        </p:nvCxnSpPr>
        <p:spPr>
          <a:xfrm>
            <a:off x="0" y="613317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67161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cxnSpLocks/>
          </p:cNvCxnSpPr>
          <p:nvPr/>
        </p:nvCxnSpPr>
        <p:spPr>
          <a:xfrm>
            <a:off x="1884556" y="1178312"/>
            <a:ext cx="0" cy="454783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Title 1"/>
          <p:cNvSpPr txBox="1">
            <a:spLocks/>
          </p:cNvSpPr>
          <p:nvPr/>
        </p:nvSpPr>
        <p:spPr>
          <a:xfrm>
            <a:off x="436757" y="633749"/>
            <a:ext cx="6858000" cy="52413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sz="3200" dirty="0"/>
              <a:t>EQ : Length of a line on a graph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734" y="-67294"/>
            <a:ext cx="435641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40" dirty="0"/>
              <a:t>24</a:t>
            </a:r>
          </a:p>
          <a:p>
            <a:r>
              <a:rPr lang="en-AU" sz="1440" dirty="0"/>
              <a:t>7</a:t>
            </a:r>
          </a:p>
          <a:p>
            <a:r>
              <a:rPr lang="en-AU" sz="1440" dirty="0"/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8790" y="77786"/>
            <a:ext cx="1425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4EEC19-5838-42BC-AFC3-A63D498EDE2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3422" r="1233" b="45212"/>
          <a:stretch/>
        </p:blipFill>
        <p:spPr>
          <a:xfrm>
            <a:off x="1936548" y="1235227"/>
            <a:ext cx="3345366" cy="327633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4DA8CB0-5335-42CA-A443-84541544CE9E}"/>
              </a:ext>
            </a:extLst>
          </p:cNvPr>
          <p:cNvCxnSpPr>
            <a:cxnSpLocks/>
          </p:cNvCxnSpPr>
          <p:nvPr/>
        </p:nvCxnSpPr>
        <p:spPr>
          <a:xfrm flipV="1">
            <a:off x="2616773" y="1721004"/>
            <a:ext cx="1120651" cy="2259980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5D80E58-BE25-43CA-BBA2-CBF4AE60E0B1}"/>
              </a:ext>
            </a:extLst>
          </p:cNvPr>
          <p:cNvCxnSpPr>
            <a:cxnSpLocks/>
          </p:cNvCxnSpPr>
          <p:nvPr/>
        </p:nvCxnSpPr>
        <p:spPr>
          <a:xfrm flipV="1">
            <a:off x="2616773" y="3980985"/>
            <a:ext cx="1120651" cy="1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A9F03A7-76A9-4F10-BAE3-13E8126DBE19}"/>
              </a:ext>
            </a:extLst>
          </p:cNvPr>
          <p:cNvCxnSpPr>
            <a:cxnSpLocks/>
          </p:cNvCxnSpPr>
          <p:nvPr/>
        </p:nvCxnSpPr>
        <p:spPr>
          <a:xfrm>
            <a:off x="3737424" y="1721004"/>
            <a:ext cx="0" cy="225998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AB42BB62-FD2B-4DAE-B238-363555EF8B56}"/>
              </a:ext>
            </a:extLst>
          </p:cNvPr>
          <p:cNvSpPr/>
          <p:nvPr/>
        </p:nvSpPr>
        <p:spPr>
          <a:xfrm>
            <a:off x="3453141" y="3699232"/>
            <a:ext cx="241562" cy="246496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AABE481-1CF4-41BD-84B6-980702BB3679}"/>
              </a:ext>
            </a:extLst>
          </p:cNvPr>
          <p:cNvSpPr txBox="1"/>
          <p:nvPr/>
        </p:nvSpPr>
        <p:spPr>
          <a:xfrm>
            <a:off x="2856551" y="4511566"/>
            <a:ext cx="1193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chemeClr val="accent1"/>
                </a:solidFill>
                <a:highlight>
                  <a:srgbClr val="FFFF00"/>
                </a:highlight>
              </a:rPr>
              <a:t>RUN = 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433C75-8880-4E98-A654-A5664B45C4A5}"/>
              </a:ext>
            </a:extLst>
          </p:cNvPr>
          <p:cNvSpPr txBox="1"/>
          <p:nvPr/>
        </p:nvSpPr>
        <p:spPr>
          <a:xfrm>
            <a:off x="4261485" y="2656111"/>
            <a:ext cx="1193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B050"/>
                </a:solidFill>
                <a:highlight>
                  <a:srgbClr val="FFFF00"/>
                </a:highlight>
              </a:rPr>
              <a:t>RISE = 8</a:t>
            </a:r>
          </a:p>
        </p:txBody>
      </p:sp>
      <p:sp>
        <p:nvSpPr>
          <p:cNvPr id="26" name="Right Brace 25">
            <a:extLst>
              <a:ext uri="{FF2B5EF4-FFF2-40B4-BE49-F238E27FC236}">
                <a16:creationId xmlns:a16="http://schemas.microsoft.com/office/drawing/2014/main" id="{CC3154DA-A2ED-4C3D-914C-10705BF1739B}"/>
              </a:ext>
            </a:extLst>
          </p:cNvPr>
          <p:cNvSpPr/>
          <p:nvPr/>
        </p:nvSpPr>
        <p:spPr>
          <a:xfrm>
            <a:off x="3780145" y="1688459"/>
            <a:ext cx="245445" cy="2292525"/>
          </a:xfrm>
          <a:prstGeom prst="rightBrace">
            <a:avLst/>
          </a:prstGeom>
          <a:ln w="5715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Right Brace 26">
            <a:extLst>
              <a:ext uri="{FF2B5EF4-FFF2-40B4-BE49-F238E27FC236}">
                <a16:creationId xmlns:a16="http://schemas.microsoft.com/office/drawing/2014/main" id="{799CB066-7280-4947-9CDF-4969729D80AD}"/>
              </a:ext>
            </a:extLst>
          </p:cNvPr>
          <p:cNvSpPr/>
          <p:nvPr/>
        </p:nvSpPr>
        <p:spPr>
          <a:xfrm rot="5400000">
            <a:off x="3075474" y="3570865"/>
            <a:ext cx="203248" cy="1120651"/>
          </a:xfrm>
          <a:prstGeom prst="rightBrac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5CFADBD-C350-494A-9999-2A918D4A2D4C}"/>
              </a:ext>
            </a:extLst>
          </p:cNvPr>
          <p:cNvSpPr/>
          <p:nvPr/>
        </p:nvSpPr>
        <p:spPr>
          <a:xfrm>
            <a:off x="3694703" y="1664089"/>
            <a:ext cx="85442" cy="11803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1DA3DB8-A867-47D1-9C50-93CD46D7D41F}"/>
              </a:ext>
            </a:extLst>
          </p:cNvPr>
          <p:cNvSpPr/>
          <p:nvPr/>
        </p:nvSpPr>
        <p:spPr>
          <a:xfrm>
            <a:off x="2574094" y="3913631"/>
            <a:ext cx="85442" cy="11803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0379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4" grpId="0"/>
      <p:bldP spid="25" grpId="0"/>
      <p:bldP spid="26" grpId="0" animBg="1"/>
      <p:bldP spid="2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5A1B996-FC6F-4F1D-B163-3723863FF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370" y="416435"/>
            <a:ext cx="2493691" cy="24779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DB3373-A401-4802-BEE5-E3F3B78D4EF0}"/>
              </a:ext>
            </a:extLst>
          </p:cNvPr>
          <p:cNvSpPr txBox="1"/>
          <p:nvPr/>
        </p:nvSpPr>
        <p:spPr>
          <a:xfrm>
            <a:off x="3427607" y="300412"/>
            <a:ext cx="4772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Let’s try these together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CBDF45-E53F-42B2-8AF6-474F1D102F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7387" y="1114058"/>
            <a:ext cx="2609850" cy="15906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E37D79-9FA3-4262-B9D9-281F6B4102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129" y="3088888"/>
            <a:ext cx="2791453" cy="26186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99AA1E-F531-4FFA-8E1E-3EB06B4381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7387" y="3583846"/>
            <a:ext cx="2638425" cy="162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277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07FEA2C9-6E64-4028-8A3E-19098D2F43C5}" vid="{975935DD-9AD2-443E-9D3A-1AF4DC2D5AD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AVID 2017</Template>
  <TotalTime>1284</TotalTime>
  <Words>136</Words>
  <Application>Microsoft Office PowerPoint</Application>
  <PresentationFormat>On-screen Show (16:10)</PresentationFormat>
  <Paragraphs>71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Recipe to use Pythagoras to check if a triangle has a right angle.</vt:lpstr>
      <vt:lpstr>Let’s try </vt:lpstr>
      <vt:lpstr>PowerPoint Presentation</vt:lpstr>
      <vt:lpstr>Topic : Pythagoras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E4007446</dc:creator>
  <cp:lastModifiedBy>E4007446</cp:lastModifiedBy>
  <cp:revision>12</cp:revision>
  <dcterms:created xsi:type="dcterms:W3CDTF">2017-06-05T04:57:57Z</dcterms:created>
  <dcterms:modified xsi:type="dcterms:W3CDTF">2017-06-06T02:22:48Z</dcterms:modified>
</cp:coreProperties>
</file>
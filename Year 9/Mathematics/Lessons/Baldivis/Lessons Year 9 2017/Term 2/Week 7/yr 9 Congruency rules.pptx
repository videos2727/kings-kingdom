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58" r:id="rId6"/>
    <p:sldId id="264" r:id="rId7"/>
    <p:sldId id="262" r:id="rId8"/>
    <p:sldId id="266" r:id="rId9"/>
    <p:sldId id="263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6" d="100"/>
          <a:sy n="86" d="100"/>
        </p:scale>
        <p:origin x="7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Congruency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J. Wilson</a:t>
            </a:r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BFD0-A631-44A5-91BE-D67904D0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05" y="-129906"/>
            <a:ext cx="7886700" cy="1104636"/>
          </a:xfrm>
        </p:spPr>
        <p:txBody>
          <a:bodyPr/>
          <a:lstStyle/>
          <a:p>
            <a:r>
              <a:rPr lang="en-AU" dirty="0"/>
              <a:t>Congruence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55B1A6-0A38-4A94-B708-0F1A92F2FA0E}"/>
              </a:ext>
            </a:extLst>
          </p:cNvPr>
          <p:cNvSpPr/>
          <p:nvPr/>
        </p:nvSpPr>
        <p:spPr>
          <a:xfrm>
            <a:off x="539484" y="630396"/>
            <a:ext cx="84201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Congruent shapes</a:t>
            </a:r>
            <a:r>
              <a:rPr lang="en-US" dirty="0"/>
              <a:t> have the same shape and size. They can fit </a:t>
            </a:r>
            <a:r>
              <a:rPr lang="en-US" b="1" i="1" dirty="0"/>
              <a:t>exactly</a:t>
            </a:r>
            <a:r>
              <a:rPr lang="en-US" dirty="0"/>
              <a:t> on top of each other.</a:t>
            </a:r>
          </a:p>
          <a:p>
            <a:endParaRPr lang="en-US" b="1" dirty="0"/>
          </a:p>
          <a:p>
            <a:r>
              <a:rPr lang="en-US" b="1" dirty="0"/>
              <a:t>If something is flipped, rotated or translated (slide) then it is still congruent.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If something is enlarged, shrunk or stretched it is no longer congruent.</a:t>
            </a:r>
          </a:p>
        </p:txBody>
      </p:sp>
      <p:sp>
        <p:nvSpPr>
          <p:cNvPr id="5" name="Star: 7 Points 4">
            <a:extLst>
              <a:ext uri="{FF2B5EF4-FFF2-40B4-BE49-F238E27FC236}">
                <a16:creationId xmlns:a16="http://schemas.microsoft.com/office/drawing/2014/main" id="{1154A42F-33D2-48FD-BE84-D4D90E07C70F}"/>
              </a:ext>
            </a:extLst>
          </p:cNvPr>
          <p:cNvSpPr/>
          <p:nvPr/>
        </p:nvSpPr>
        <p:spPr>
          <a:xfrm>
            <a:off x="498201" y="1926019"/>
            <a:ext cx="1419225" cy="121920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Star: 7 Points 5">
            <a:extLst>
              <a:ext uri="{FF2B5EF4-FFF2-40B4-BE49-F238E27FC236}">
                <a16:creationId xmlns:a16="http://schemas.microsoft.com/office/drawing/2014/main" id="{56707A9A-8526-49E4-A6CD-38F5CC211081}"/>
              </a:ext>
            </a:extLst>
          </p:cNvPr>
          <p:cNvSpPr/>
          <p:nvPr/>
        </p:nvSpPr>
        <p:spPr>
          <a:xfrm rot="993291">
            <a:off x="1806519" y="1888067"/>
            <a:ext cx="1419225" cy="121920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Lightning Bolt 6">
            <a:extLst>
              <a:ext uri="{FF2B5EF4-FFF2-40B4-BE49-F238E27FC236}">
                <a16:creationId xmlns:a16="http://schemas.microsoft.com/office/drawing/2014/main" id="{5FF01CDF-887F-464D-B216-700F8B5C51AB}"/>
              </a:ext>
            </a:extLst>
          </p:cNvPr>
          <p:cNvSpPr/>
          <p:nvPr/>
        </p:nvSpPr>
        <p:spPr>
          <a:xfrm>
            <a:off x="3196649" y="1930136"/>
            <a:ext cx="1352550" cy="1316292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CE636771-D1E3-42BC-8C8A-290671A76EB6}"/>
              </a:ext>
            </a:extLst>
          </p:cNvPr>
          <p:cNvSpPr/>
          <p:nvPr/>
        </p:nvSpPr>
        <p:spPr>
          <a:xfrm flipH="1">
            <a:off x="4455355" y="1961040"/>
            <a:ext cx="1322105" cy="1316292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381D818B-95A6-4C62-B6AC-EC98451210D2}"/>
              </a:ext>
            </a:extLst>
          </p:cNvPr>
          <p:cNvSpPr/>
          <p:nvPr/>
        </p:nvSpPr>
        <p:spPr>
          <a:xfrm>
            <a:off x="5910538" y="1972142"/>
            <a:ext cx="1771650" cy="786523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DFE37083-335D-4B19-880B-58D3E8CD66E6}"/>
              </a:ext>
            </a:extLst>
          </p:cNvPr>
          <p:cNvSpPr/>
          <p:nvPr/>
        </p:nvSpPr>
        <p:spPr>
          <a:xfrm>
            <a:off x="6929441" y="2649676"/>
            <a:ext cx="1771650" cy="786523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Star: 7 Points 11">
            <a:extLst>
              <a:ext uri="{FF2B5EF4-FFF2-40B4-BE49-F238E27FC236}">
                <a16:creationId xmlns:a16="http://schemas.microsoft.com/office/drawing/2014/main" id="{70950C93-2398-4278-8A84-CF8F15AAA1CA}"/>
              </a:ext>
            </a:extLst>
          </p:cNvPr>
          <p:cNvSpPr/>
          <p:nvPr/>
        </p:nvSpPr>
        <p:spPr>
          <a:xfrm>
            <a:off x="333503" y="4096508"/>
            <a:ext cx="1419225" cy="1044796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Star: 7 Points 12">
            <a:extLst>
              <a:ext uri="{FF2B5EF4-FFF2-40B4-BE49-F238E27FC236}">
                <a16:creationId xmlns:a16="http://schemas.microsoft.com/office/drawing/2014/main" id="{471D2567-293E-42B1-AAC9-6E6CC05E56FC}"/>
              </a:ext>
            </a:extLst>
          </p:cNvPr>
          <p:cNvSpPr/>
          <p:nvPr/>
        </p:nvSpPr>
        <p:spPr>
          <a:xfrm rot="993291">
            <a:off x="1955979" y="4277578"/>
            <a:ext cx="601794" cy="469836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25BDA5A9-9946-4033-8C71-1924335CF5BD}"/>
              </a:ext>
            </a:extLst>
          </p:cNvPr>
          <p:cNvSpPr/>
          <p:nvPr/>
        </p:nvSpPr>
        <p:spPr>
          <a:xfrm flipH="1">
            <a:off x="3918308" y="3973879"/>
            <a:ext cx="1713402" cy="1316292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314FBD87-17F3-4C54-A20E-235EC07E207D}"/>
              </a:ext>
            </a:extLst>
          </p:cNvPr>
          <p:cNvSpPr/>
          <p:nvPr/>
        </p:nvSpPr>
        <p:spPr>
          <a:xfrm rot="20563963">
            <a:off x="3419222" y="3869816"/>
            <a:ext cx="316120" cy="1547665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C37960AB-7070-46E8-9B45-4BA3B3C8A175}"/>
              </a:ext>
            </a:extLst>
          </p:cNvPr>
          <p:cNvSpPr/>
          <p:nvPr/>
        </p:nvSpPr>
        <p:spPr>
          <a:xfrm>
            <a:off x="5982182" y="3988112"/>
            <a:ext cx="1771650" cy="786523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8A1A6CD8-1E8D-4993-B479-F99FD952D68E}"/>
              </a:ext>
            </a:extLst>
          </p:cNvPr>
          <p:cNvSpPr/>
          <p:nvPr/>
        </p:nvSpPr>
        <p:spPr>
          <a:xfrm>
            <a:off x="7646247" y="4637591"/>
            <a:ext cx="1198863" cy="197487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C3885F-D7DD-4FA0-8EC9-6C2363622420}"/>
              </a:ext>
            </a:extLst>
          </p:cNvPr>
          <p:cNvSpPr txBox="1"/>
          <p:nvPr/>
        </p:nvSpPr>
        <p:spPr>
          <a:xfrm>
            <a:off x="1310995" y="2241720"/>
            <a:ext cx="35523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2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920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47A00C-EC0F-4467-A725-CDFF1D2C50E8}"/>
              </a:ext>
            </a:extLst>
          </p:cNvPr>
          <p:cNvSpPr txBox="1"/>
          <p:nvPr/>
        </p:nvSpPr>
        <p:spPr>
          <a:xfrm>
            <a:off x="3925042" y="2094166"/>
            <a:ext cx="35523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2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9200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327B3-7DA1-42C4-B78D-BB4A5E194CEF}"/>
              </a:ext>
            </a:extLst>
          </p:cNvPr>
          <p:cNvSpPr txBox="1"/>
          <p:nvPr/>
        </p:nvSpPr>
        <p:spPr>
          <a:xfrm>
            <a:off x="6257792" y="2216782"/>
            <a:ext cx="35523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2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920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5E481-282E-46F1-9E8A-066D00C126F0}"/>
              </a:ext>
            </a:extLst>
          </p:cNvPr>
          <p:cNvSpPr txBox="1"/>
          <p:nvPr/>
        </p:nvSpPr>
        <p:spPr>
          <a:xfrm>
            <a:off x="1427695" y="3984592"/>
            <a:ext cx="116193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20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92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776F2-975B-418A-B7C7-211A2D221A70}"/>
              </a:ext>
            </a:extLst>
          </p:cNvPr>
          <p:cNvSpPr txBox="1"/>
          <p:nvPr/>
        </p:nvSpPr>
        <p:spPr>
          <a:xfrm>
            <a:off x="3576957" y="3971070"/>
            <a:ext cx="116193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20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92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76C567-1EF6-447B-AE6E-0733866D8850}"/>
              </a:ext>
            </a:extLst>
          </p:cNvPr>
          <p:cNvSpPr txBox="1"/>
          <p:nvPr/>
        </p:nvSpPr>
        <p:spPr>
          <a:xfrm>
            <a:off x="6915489" y="3984592"/>
            <a:ext cx="116193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20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9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597ABA-1556-4002-A2E1-9CC5C8872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17" y="163108"/>
            <a:ext cx="6240162" cy="474252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75BE9F-7ED9-470B-AC19-9076A83F499E}"/>
              </a:ext>
            </a:extLst>
          </p:cNvPr>
          <p:cNvSpPr txBox="1"/>
          <p:nvPr/>
        </p:nvSpPr>
        <p:spPr>
          <a:xfrm>
            <a:off x="457200" y="4905632"/>
            <a:ext cx="868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 what is the point?  Why do we care about congruent triangles?</a:t>
            </a:r>
          </a:p>
        </p:txBody>
      </p:sp>
    </p:spTree>
    <p:extLst>
      <p:ext uri="{BB962C8B-B14F-4D97-AF65-F5344CB8AC3E}">
        <p14:creationId xmlns:p14="http://schemas.microsoft.com/office/powerpoint/2010/main" val="403181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78EF3B-B78A-43B4-9C9D-BBE51CAE1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956" y="247551"/>
            <a:ext cx="6190478" cy="473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1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AB67-3ACF-4436-9AD4-BF0583B0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37596"/>
            <a:ext cx="7239000" cy="410103"/>
          </a:xfrm>
        </p:spPr>
        <p:txBody>
          <a:bodyPr>
            <a:normAutofit fontScale="90000"/>
          </a:bodyPr>
          <a:lstStyle/>
          <a:p>
            <a:r>
              <a:rPr lang="en-AU" dirty="0"/>
              <a:t>Your company is building a steel truss bridge.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EDF7F7-C8AE-4BB0-865F-C76C9A076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647699"/>
            <a:ext cx="3676650" cy="12477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A7E9BD2-2F3E-4049-A385-7D6AA21CE8F0}"/>
              </a:ext>
            </a:extLst>
          </p:cNvPr>
          <p:cNvSpPr txBox="1">
            <a:spLocks/>
          </p:cNvSpPr>
          <p:nvPr/>
        </p:nvSpPr>
        <p:spPr>
          <a:xfrm>
            <a:off x="352425" y="2305577"/>
            <a:ext cx="8362950" cy="904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To make the bridge, you need to weld together 14 identical triangles from steel beams.  You already have 1 triangle made up as below.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B2CBE1F-96D5-4B38-A424-67064A5F3263}"/>
              </a:ext>
            </a:extLst>
          </p:cNvPr>
          <p:cNvSpPr/>
          <p:nvPr/>
        </p:nvSpPr>
        <p:spPr>
          <a:xfrm>
            <a:off x="571500" y="3229502"/>
            <a:ext cx="1304925" cy="1532997"/>
          </a:xfrm>
          <a:prstGeom prst="triangl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A5557-EEC5-4D77-A66D-924E9D361C6A}"/>
              </a:ext>
            </a:extLst>
          </p:cNvPr>
          <p:cNvSpPr txBox="1"/>
          <p:nvPr/>
        </p:nvSpPr>
        <p:spPr>
          <a:xfrm>
            <a:off x="666750" y="442019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73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7E59B-499D-4926-B235-44B5D97EC06E}"/>
              </a:ext>
            </a:extLst>
          </p:cNvPr>
          <p:cNvSpPr txBox="1"/>
          <p:nvPr/>
        </p:nvSpPr>
        <p:spPr>
          <a:xfrm>
            <a:off x="1295400" y="4412744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73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6F08C1-E933-4348-8119-236EC1126B5F}"/>
              </a:ext>
            </a:extLst>
          </p:cNvPr>
          <p:cNvSpPr txBox="1"/>
          <p:nvPr/>
        </p:nvSpPr>
        <p:spPr>
          <a:xfrm>
            <a:off x="990600" y="355335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34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06C9022-DA2C-4E6B-8A3F-B330BB55912D}"/>
              </a:ext>
            </a:extLst>
          </p:cNvPr>
          <p:cNvSpPr txBox="1">
            <a:spLocks/>
          </p:cNvSpPr>
          <p:nvPr/>
        </p:nvSpPr>
        <p:spPr>
          <a:xfrm>
            <a:off x="2347912" y="3229502"/>
            <a:ext cx="6276975" cy="1952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What information do you need to use to make 13 more triangles that are identical to this one?</a:t>
            </a:r>
          </a:p>
          <a:p>
            <a:endParaRPr lang="en-AU" dirty="0"/>
          </a:p>
          <a:p>
            <a:r>
              <a:rPr lang="en-AU" b="1" dirty="0"/>
              <a:t>Can you make a “congruent” triangle with only some of the information?</a:t>
            </a:r>
          </a:p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B21801-0FE7-4C4B-818A-50312C52ED17}"/>
              </a:ext>
            </a:extLst>
          </p:cNvPr>
          <p:cNvSpPr txBox="1"/>
          <p:nvPr/>
        </p:nvSpPr>
        <p:spPr>
          <a:xfrm>
            <a:off x="885825" y="4789525"/>
            <a:ext cx="638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3F69B5-9C33-4D01-B7AE-E9788A431CB3}"/>
              </a:ext>
            </a:extLst>
          </p:cNvPr>
          <p:cNvSpPr txBox="1"/>
          <p:nvPr/>
        </p:nvSpPr>
        <p:spPr>
          <a:xfrm>
            <a:off x="1509712" y="3636457"/>
            <a:ext cx="638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8A918-7A4A-494F-8AB5-0D0A42C453AA}"/>
              </a:ext>
            </a:extLst>
          </p:cNvPr>
          <p:cNvSpPr txBox="1"/>
          <p:nvPr/>
        </p:nvSpPr>
        <p:spPr>
          <a:xfrm>
            <a:off x="423863" y="3620028"/>
            <a:ext cx="566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3876926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184501-CDF4-42B6-9981-7411F9B12F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43"/>
          <a:stretch/>
        </p:blipFill>
        <p:spPr>
          <a:xfrm>
            <a:off x="148281" y="1397064"/>
            <a:ext cx="8995719" cy="221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66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A224B9-9E3D-4DF4-8C3E-60962C48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16" y="148281"/>
            <a:ext cx="3417543" cy="2522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8F1364-A5E5-470C-9751-9E22B20F9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168" y="148281"/>
            <a:ext cx="3434462" cy="2522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B02361-7D59-4599-840D-8AD4F1AB8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168" y="2707220"/>
            <a:ext cx="3794234" cy="2773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1EF9B5-B79B-4C64-B397-5209CDE58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16" y="2831467"/>
            <a:ext cx="3615251" cy="264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0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292A59-54B0-45DA-B298-069995AC3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54" y="304271"/>
            <a:ext cx="7065691" cy="5228612"/>
          </a:xfrm>
        </p:spPr>
      </p:pic>
    </p:spTree>
    <p:extLst>
      <p:ext uri="{BB962C8B-B14F-4D97-AF65-F5344CB8AC3E}">
        <p14:creationId xmlns:p14="http://schemas.microsoft.com/office/powerpoint/2010/main" val="234849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Congruency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5278" y="1305078"/>
            <a:ext cx="6858000" cy="4409921"/>
          </a:xfrm>
        </p:spPr>
        <p:txBody>
          <a:bodyPr>
            <a:normAutofit lnSpcReduction="10000"/>
          </a:bodyPr>
          <a:lstStyle/>
          <a:p>
            <a:pPr algn="l"/>
            <a:r>
              <a:rPr lang="en-AU" sz="2000" dirty="0"/>
              <a:t>Congruent triangles have the same shape and size (they can be rotated, flipped or translated). We don’t need to measure everything to prove something is congruent. </a:t>
            </a:r>
          </a:p>
          <a:p>
            <a:pPr algn="l"/>
            <a:r>
              <a:rPr lang="en-AU" sz="2000" u="sng" dirty="0"/>
              <a:t>SSS -- Side, Side, Side rule.  </a:t>
            </a:r>
          </a:p>
          <a:p>
            <a:pPr lvl="1" algn="l"/>
            <a:r>
              <a:rPr lang="en-AU" sz="2000" dirty="0"/>
              <a:t>If the lengths of all the sides match </a:t>
            </a:r>
          </a:p>
          <a:p>
            <a:pPr algn="l"/>
            <a:r>
              <a:rPr lang="en-AU" sz="2000" u="sng" dirty="0"/>
              <a:t>SAS -- Side Angle Side Rule.</a:t>
            </a:r>
          </a:p>
          <a:p>
            <a:pPr lvl="1" algn="l"/>
            <a:r>
              <a:rPr lang="en-AU" sz="2000" dirty="0"/>
              <a:t>If two sides have equal lengths and the angle between these sides is the same. </a:t>
            </a:r>
          </a:p>
          <a:p>
            <a:pPr algn="l"/>
            <a:r>
              <a:rPr lang="en-AU" sz="2000" u="sng" dirty="0"/>
              <a:t>AAS – Angle </a:t>
            </a:r>
            <a:r>
              <a:rPr lang="en-AU" sz="2000" u="sng" dirty="0" err="1"/>
              <a:t>Angle</a:t>
            </a:r>
            <a:r>
              <a:rPr lang="en-AU" sz="2000" u="sng" dirty="0"/>
              <a:t> Side Rule</a:t>
            </a:r>
          </a:p>
          <a:p>
            <a:pPr lvl="1" algn="l"/>
            <a:r>
              <a:rPr lang="en-AU" sz="2000" dirty="0"/>
              <a:t>Two matching angles are equal and a matching side is equal in length.</a:t>
            </a:r>
          </a:p>
          <a:p>
            <a:pPr algn="l"/>
            <a:r>
              <a:rPr lang="en-AU" sz="2000" u="sng" dirty="0"/>
              <a:t>RHS – Right Angle Hypotenuse Rule</a:t>
            </a:r>
          </a:p>
          <a:p>
            <a:pPr lvl="1" algn="l"/>
            <a:r>
              <a:rPr lang="en-AU" sz="2000" dirty="0"/>
              <a:t>Right-Angled Triangles are congruent if the hypotenuse and one pair of matching sides are equal in length.</a:t>
            </a:r>
          </a:p>
          <a:p>
            <a:endParaRPr lang="en-AU" sz="24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113734" y="633749"/>
            <a:ext cx="9040618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know if two triangles are congruent?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7796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A53FF-22F6-4537-8BA6-8E1E317B2662}"/>
              </a:ext>
            </a:extLst>
          </p:cNvPr>
          <p:cNvSpPr txBox="1"/>
          <p:nvPr/>
        </p:nvSpPr>
        <p:spPr>
          <a:xfrm>
            <a:off x="602166" y="234176"/>
            <a:ext cx="219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Time to try some.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46004-1AC3-4EB7-A7A7-DE7B1E19B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58" y="603508"/>
            <a:ext cx="5153025" cy="2085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053FFB-89EE-4FA1-9DD6-D9F48B17541B}"/>
              </a:ext>
            </a:extLst>
          </p:cNvPr>
          <p:cNvSpPr txBox="1"/>
          <p:nvPr/>
        </p:nvSpPr>
        <p:spPr>
          <a:xfrm>
            <a:off x="747712" y="2854712"/>
            <a:ext cx="34116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Can we prove these triangles are congruent?</a:t>
            </a:r>
          </a:p>
          <a:p>
            <a:endParaRPr lang="en-AU" dirty="0"/>
          </a:p>
          <a:p>
            <a:r>
              <a:rPr lang="en-AU" dirty="0">
                <a:solidFill>
                  <a:srgbClr val="FF0000"/>
                </a:solidFill>
              </a:rPr>
              <a:t>Yes</a:t>
            </a:r>
          </a:p>
          <a:p>
            <a:endParaRPr lang="en-AU" dirty="0"/>
          </a:p>
          <a:p>
            <a:r>
              <a:rPr lang="en-AU" dirty="0"/>
              <a:t>Why?</a:t>
            </a:r>
          </a:p>
          <a:p>
            <a:endParaRPr lang="en-AU" dirty="0"/>
          </a:p>
          <a:p>
            <a:r>
              <a:rPr lang="en-AU" dirty="0">
                <a:solidFill>
                  <a:srgbClr val="FF0000"/>
                </a:solidFill>
              </a:rPr>
              <a:t>Because of the SAS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CA88C0-6AD4-4515-914D-532A9B852528}"/>
                  </a:ext>
                </a:extLst>
              </p:cNvPr>
              <p:cNvSpPr txBox="1"/>
              <p:nvPr/>
            </p:nvSpPr>
            <p:spPr>
              <a:xfrm>
                <a:off x="4739269" y="3270209"/>
                <a:ext cx="413710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How do we show this?</a:t>
                </a:r>
              </a:p>
              <a:p>
                <a:r>
                  <a:rPr lang="en-AU" dirty="0"/>
                  <a:t>PQ = TU</a:t>
                </a:r>
              </a:p>
              <a:p>
                <a:r>
                  <a:rPr lang="en-AU" dirty="0"/>
                  <a:t>SQ = RU</a:t>
                </a:r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AU" dirty="0"/>
                  <a:t>PQS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TUV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AU" dirty="0"/>
                  <a:t>Therefore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⊿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𝑃𝑄𝑆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≅⊿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𝑇𝑈𝑉</m:t>
                    </m:r>
                  </m:oMath>
                </a14:m>
                <a:r>
                  <a:rPr lang="en-AU" dirty="0"/>
                  <a:t> Because of SAS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CA88C0-6AD4-4515-914D-532A9B852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269" y="3270209"/>
                <a:ext cx="4137102" cy="1477328"/>
              </a:xfrm>
              <a:prstGeom prst="rect">
                <a:avLst/>
              </a:prstGeom>
              <a:blipFill>
                <a:blip r:embed="rId3"/>
                <a:stretch>
                  <a:fillRect l="-1178" t="-2058" r="-1178" b="-53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0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2D1812-6819-49F7-AC43-9D9C51254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23" y="234176"/>
            <a:ext cx="4194993" cy="24931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9C8C28-DF9A-48E1-990E-534B589D195E}"/>
              </a:ext>
            </a:extLst>
          </p:cNvPr>
          <p:cNvSpPr txBox="1"/>
          <p:nvPr/>
        </p:nvSpPr>
        <p:spPr>
          <a:xfrm>
            <a:off x="602166" y="234176"/>
            <a:ext cx="219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Time to try some.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AD58E-9FCA-4D71-AAF4-B2D3DF39DDE6}"/>
              </a:ext>
            </a:extLst>
          </p:cNvPr>
          <p:cNvSpPr txBox="1"/>
          <p:nvPr/>
        </p:nvSpPr>
        <p:spPr>
          <a:xfrm>
            <a:off x="747712" y="2854712"/>
            <a:ext cx="34116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Can we prove these triangles are congruent?</a:t>
            </a:r>
          </a:p>
          <a:p>
            <a:endParaRPr lang="en-AU" dirty="0"/>
          </a:p>
          <a:p>
            <a:r>
              <a:rPr lang="en-AU" dirty="0">
                <a:solidFill>
                  <a:srgbClr val="FF0000"/>
                </a:solidFill>
              </a:rPr>
              <a:t>Yes</a:t>
            </a:r>
          </a:p>
          <a:p>
            <a:endParaRPr lang="en-AU" dirty="0"/>
          </a:p>
          <a:p>
            <a:r>
              <a:rPr lang="en-AU" dirty="0"/>
              <a:t>Why?</a:t>
            </a:r>
          </a:p>
          <a:p>
            <a:endParaRPr lang="en-AU" dirty="0"/>
          </a:p>
          <a:p>
            <a:r>
              <a:rPr lang="en-AU" dirty="0">
                <a:solidFill>
                  <a:srgbClr val="FF0000"/>
                </a:solidFill>
              </a:rPr>
              <a:t>Because of either the SAS rule or SSS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5F79F4-2715-4D49-BF04-BE886B3A571C}"/>
                  </a:ext>
                </a:extLst>
              </p:cNvPr>
              <p:cNvSpPr txBox="1"/>
              <p:nvPr/>
            </p:nvSpPr>
            <p:spPr>
              <a:xfrm>
                <a:off x="4627757" y="2854712"/>
                <a:ext cx="413710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How do we show this?</a:t>
                </a:r>
              </a:p>
              <a:p>
                <a:r>
                  <a:rPr lang="en-AU" dirty="0"/>
                  <a:t>KL = MN</a:t>
                </a:r>
              </a:p>
              <a:p>
                <a:r>
                  <a:rPr lang="en-AU" dirty="0"/>
                  <a:t>LM = KN</a:t>
                </a:r>
              </a:p>
              <a:p>
                <a:r>
                  <a:rPr lang="en-AU" dirty="0"/>
                  <a:t>Side KM is shared and therefore the same length</a:t>
                </a:r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⊿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𝑃𝑄𝑆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≅⊿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𝑇𝑈𝑉</m:t>
                    </m:r>
                  </m:oMath>
                </a14:m>
                <a:r>
                  <a:rPr lang="en-AU" dirty="0"/>
                  <a:t> Because of SSS</a:t>
                </a:r>
              </a:p>
              <a:p>
                <a:r>
                  <a:rPr lang="en-AU" dirty="0"/>
                  <a:t>You could also use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KLM</m:t>
                    </m:r>
                  </m:oMath>
                </a14:m>
                <a:r>
                  <a:rPr lang="en-AU" dirty="0"/>
                  <a:t>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KN</m:t>
                    </m:r>
                  </m:oMath>
                </a14:m>
                <a:r>
                  <a:rPr lang="en-AU" dirty="0"/>
                  <a:t> and used SAS to prove this.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5F79F4-2715-4D49-BF04-BE886B3A5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757" y="2854712"/>
                <a:ext cx="4137102" cy="2308324"/>
              </a:xfrm>
              <a:prstGeom prst="rect">
                <a:avLst/>
              </a:prstGeom>
              <a:blipFill>
                <a:blip r:embed="rId3"/>
                <a:stretch>
                  <a:fillRect l="-1178" t="-1319" r="-1767" b="-31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91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82BF60-77EF-4E67-BAEA-388D37A95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6450" y="456407"/>
            <a:ext cx="4991100" cy="190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8F13DE-E397-4119-8CF6-D82F3FBBE968}"/>
              </a:ext>
            </a:extLst>
          </p:cNvPr>
          <p:cNvSpPr txBox="1"/>
          <p:nvPr/>
        </p:nvSpPr>
        <p:spPr>
          <a:xfrm>
            <a:off x="747712" y="2854712"/>
            <a:ext cx="69354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Can we prove these triangles are congruent?</a:t>
            </a:r>
          </a:p>
          <a:p>
            <a:endParaRPr lang="en-AU" dirty="0"/>
          </a:p>
          <a:p>
            <a:r>
              <a:rPr lang="en-AU" dirty="0">
                <a:solidFill>
                  <a:srgbClr val="FF0000"/>
                </a:solidFill>
              </a:rPr>
              <a:t>No</a:t>
            </a:r>
          </a:p>
          <a:p>
            <a:endParaRPr lang="en-AU" dirty="0"/>
          </a:p>
          <a:p>
            <a:r>
              <a:rPr lang="en-AU" dirty="0"/>
              <a:t>Why?</a:t>
            </a:r>
          </a:p>
          <a:p>
            <a:endParaRPr lang="en-AU" dirty="0"/>
          </a:p>
          <a:p>
            <a:r>
              <a:rPr lang="en-AU" dirty="0">
                <a:solidFill>
                  <a:srgbClr val="FF0000"/>
                </a:solidFill>
              </a:rPr>
              <a:t>We only know 2 sides are the same – we need 1 more side or the angle between them to PROVE congruency</a:t>
            </a:r>
          </a:p>
        </p:txBody>
      </p:sp>
    </p:spTree>
    <p:extLst>
      <p:ext uri="{BB962C8B-B14F-4D97-AF65-F5344CB8AC3E}">
        <p14:creationId xmlns:p14="http://schemas.microsoft.com/office/powerpoint/2010/main" val="116488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FFBECE-7343-431D-84E0-65154E6B7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712" y="345920"/>
            <a:ext cx="6343650" cy="4933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C043A5-E37A-402D-83F6-FE7AA0359E37}"/>
              </a:ext>
            </a:extLst>
          </p:cNvPr>
          <p:cNvSpPr txBox="1"/>
          <p:nvPr/>
        </p:nvSpPr>
        <p:spPr>
          <a:xfrm>
            <a:off x="390293" y="345920"/>
            <a:ext cx="149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Page 104</a:t>
            </a:r>
          </a:p>
        </p:txBody>
      </p:sp>
    </p:spTree>
    <p:extLst>
      <p:ext uri="{BB962C8B-B14F-4D97-AF65-F5344CB8AC3E}">
        <p14:creationId xmlns:p14="http://schemas.microsoft.com/office/powerpoint/2010/main" val="313819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BC836-5584-4336-857B-FE6BB0784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84" y="238965"/>
            <a:ext cx="754101" cy="76464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Page 105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16E09-0E85-4938-9E81-E2545E771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2" y="133350"/>
            <a:ext cx="566737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782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88B598-7198-4164-A95F-C8F675CDE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74" y="303778"/>
            <a:ext cx="5842890" cy="514800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D5175F-1076-4F3E-9558-B88B44227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84" y="238965"/>
            <a:ext cx="754101" cy="76464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Page 105</a:t>
            </a:r>
          </a:p>
        </p:txBody>
      </p:sp>
    </p:spTree>
    <p:extLst>
      <p:ext uri="{BB962C8B-B14F-4D97-AF65-F5344CB8AC3E}">
        <p14:creationId xmlns:p14="http://schemas.microsoft.com/office/powerpoint/2010/main" val="2787716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0DE67E-61FD-4537-BADC-F1587F703596}"/>
              </a:ext>
            </a:extLst>
          </p:cNvPr>
          <p:cNvSpPr txBox="1"/>
          <p:nvPr/>
        </p:nvSpPr>
        <p:spPr>
          <a:xfrm>
            <a:off x="468351" y="367990"/>
            <a:ext cx="246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EXIT PASS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25454-106D-4F84-89C9-F24636A7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73" y="737322"/>
            <a:ext cx="755332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98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386</TotalTime>
  <Words>440</Words>
  <Application>Microsoft Office PowerPoint</Application>
  <PresentationFormat>On-screen Show (16:10)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Wingdings</vt:lpstr>
      <vt:lpstr>Office Theme</vt:lpstr>
      <vt:lpstr>Congruency </vt:lpstr>
      <vt:lpstr>Congruence</vt:lpstr>
      <vt:lpstr>PowerPoint Presentation</vt:lpstr>
      <vt:lpstr>PowerPoint Presentation</vt:lpstr>
      <vt:lpstr>Your company is building a steel truss bridge.</vt:lpstr>
      <vt:lpstr>PowerPoint Presentation</vt:lpstr>
      <vt:lpstr>PowerPoint Presentation</vt:lpstr>
      <vt:lpstr>PowerPoint Presentation</vt:lpstr>
      <vt:lpstr>Topic : Congruency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Congruency</dc:title>
  <dc:creator>WILSON James [Baldivis Secondary College]</dc:creator>
  <cp:lastModifiedBy>WILSON James [Baldivis Secondary College]</cp:lastModifiedBy>
  <cp:revision>16</cp:revision>
  <dcterms:created xsi:type="dcterms:W3CDTF">2017-06-07T02:34:07Z</dcterms:created>
  <dcterms:modified xsi:type="dcterms:W3CDTF">2017-06-07T12:54:04Z</dcterms:modified>
</cp:coreProperties>
</file>
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1" r:id="rId4"/>
    <p:sldId id="260" r:id="rId5"/>
    <p:sldId id="262" r:id="rId6"/>
    <p:sldId id="263" r:id="rId7"/>
    <p:sldId id="259" r:id="rId8"/>
    <p:sldId id="266" r:id="rId9"/>
    <p:sldId id="257" r:id="rId10"/>
    <p:sldId id="264" r:id="rId11"/>
    <p:sldId id="265" r:id="rId12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6370" autoAdjust="0"/>
  </p:normalViewPr>
  <p:slideViewPr>
    <p:cSldViewPr snapToGrid="0">
      <p:cViewPr varScale="1">
        <p:scale>
          <a:sx n="136" d="100"/>
          <a:sy n="136" d="100"/>
        </p:scale>
        <p:origin x="31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13/04/2017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77240" y="483582"/>
            <a:ext cx="6858000" cy="1379802"/>
          </a:xfrm>
        </p:spPr>
        <p:txBody>
          <a:bodyPr/>
          <a:lstStyle/>
          <a:p>
            <a:r>
              <a:rPr lang="en-AU" dirty="0"/>
              <a:t>Proportion Problems including money problems</a:t>
            </a:r>
          </a:p>
          <a:p>
            <a:r>
              <a:rPr lang="en-AU" dirty="0" err="1"/>
              <a:t>J.Wilson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96351" y="2454812"/>
            <a:ext cx="8056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	 </a:t>
            </a:r>
            <a:r>
              <a:rPr lang="en-AU" dirty="0" err="1"/>
              <a:t>Aus</a:t>
            </a:r>
            <a:r>
              <a:rPr lang="en-AU" dirty="0"/>
              <a:t>			       			NZ</a:t>
            </a:r>
            <a:br>
              <a:rPr lang="en-AU" dirty="0"/>
            </a:br>
            <a:r>
              <a:rPr lang="en-AU" dirty="0"/>
              <a:t>	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57840"/>
          </a:xfrm>
        </p:spPr>
        <p:txBody>
          <a:bodyPr anchor="t">
            <a:normAutofit fontScale="90000"/>
          </a:bodyPr>
          <a:lstStyle/>
          <a:p>
            <a:pPr/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28650" y="1139484"/>
            <a:ext cx="8124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br>
              <a:rPr lang="en-AU" dirty="0"/>
            </a:br>
            <a:r>
              <a:rPr lang="en-AU" dirty="0"/>
              <a:t>$1 </a:t>
            </a:r>
            <a:r>
              <a:rPr lang="en-AU" dirty="0" err="1"/>
              <a:t>Aus</a:t>
            </a:r>
            <a:r>
              <a:rPr lang="en-AU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315529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/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96351" y="2454812"/>
            <a:ext cx="80563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			 </a:t>
            </a:r>
            <a:r>
              <a:rPr lang="en-AU" dirty="0" err="1"/>
              <a:t>Aus</a:t>
            </a:r>
            <a:r>
              <a:rPr lang="en-AU" dirty="0"/>
              <a:t>			       			NZ</a:t>
            </a:r>
            <a:br>
              <a:rPr lang="en-AU" dirty="0"/>
            </a:br>
            <a:r>
              <a:rPr lang="en-AU" dirty="0"/>
              <a:t>			$1            		costs 	       $1.08</a:t>
            </a:r>
            <a:br>
              <a:rPr lang="en-AU" dirty="0"/>
            </a:br>
            <a:r>
              <a:rPr lang="en-AU" dirty="0"/>
              <a:t>			$23          		costs          	 $ x</a:t>
            </a:r>
            <a:br>
              <a:rPr lang="en-AU" dirty="0"/>
            </a:br>
            <a:br>
              <a:rPr lang="en-AU" dirty="0"/>
            </a:br>
            <a:r>
              <a:rPr lang="en-AU" dirty="0"/>
              <a:t>		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57840"/>
          </a:xfrm>
        </p:spPr>
        <p:txBody>
          <a:bodyPr anchor="t">
            <a:normAutofit fontScale="90000"/>
          </a:bodyPr>
          <a:lstStyle/>
          <a:p>
            <a:pPr/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28650" y="1139484"/>
            <a:ext cx="8124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br>
              <a:rPr lang="en-AU" dirty="0"/>
            </a:br>
            <a:r>
              <a:rPr lang="en-AU" dirty="0"/>
              <a:t>$1 </a:t>
            </a:r>
            <a:r>
              <a:rPr lang="en-AU" dirty="0" err="1"/>
              <a:t>Aus</a:t>
            </a:r>
            <a:r>
              <a:rPr lang="en-AU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3710576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96351" y="2454812"/>
                <a:ext cx="8056392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		 </a:t>
                </a:r>
                <a:r>
                  <a:rPr lang="en-AU" dirty="0" err="1"/>
                  <a:t>Aus</a:t>
                </a:r>
                <a:r>
                  <a:rPr lang="en-AU" dirty="0"/>
                  <a:t>			       			NZ</a:t>
                </a:r>
                <a:br>
                  <a:rPr lang="en-AU" dirty="0"/>
                </a:br>
                <a:r>
                  <a:rPr lang="en-AU" dirty="0"/>
                  <a:t>			$1            		costs 	       $1.08</a:t>
                </a:r>
                <a:br>
                  <a:rPr lang="en-AU" dirty="0"/>
                </a:br>
                <a:r>
                  <a:rPr lang="en-AU" dirty="0"/>
                  <a:t>			$23          		costs          	 $ x</a:t>
                </a:r>
                <a:br>
                  <a:rPr lang="en-AU" dirty="0"/>
                </a:br>
                <a:br>
                  <a:rPr lang="en-AU" dirty="0"/>
                </a:br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        =      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×1.08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</a:t>
                </a: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51" y="2454812"/>
                <a:ext cx="8056392" cy="1754326"/>
              </a:xfrm>
              <a:prstGeom prst="rect">
                <a:avLst/>
              </a:prstGeom>
              <a:blipFill>
                <a:blip r:embed="rId2"/>
                <a:stretch>
                  <a:fillRect t="-209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57840"/>
          </a:xfrm>
        </p:spPr>
        <p:txBody>
          <a:bodyPr anchor="t">
            <a:normAutofit fontScale="90000"/>
          </a:bodyPr>
          <a:lstStyle/>
          <a:p>
            <a:pPr/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686049" y="2896716"/>
            <a:ext cx="2074985" cy="41499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2756388" y="2896716"/>
            <a:ext cx="1934308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8650" y="1139484"/>
            <a:ext cx="8124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br>
              <a:rPr lang="en-AU" dirty="0"/>
            </a:br>
            <a:r>
              <a:rPr lang="en-AU" dirty="0"/>
              <a:t>$1 </a:t>
            </a:r>
            <a:r>
              <a:rPr lang="en-AU" dirty="0" err="1"/>
              <a:t>Aus</a:t>
            </a:r>
            <a:r>
              <a:rPr lang="en-AU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3866194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28650" y="2457932"/>
                <a:ext cx="8056392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		 </a:t>
                </a:r>
                <a:r>
                  <a:rPr lang="en-AU" dirty="0" err="1"/>
                  <a:t>Aus</a:t>
                </a:r>
                <a:r>
                  <a:rPr lang="en-AU" dirty="0"/>
                  <a:t>			       			NZ</a:t>
                </a:r>
                <a:br>
                  <a:rPr lang="en-AU" dirty="0"/>
                </a:br>
                <a:r>
                  <a:rPr lang="en-AU" dirty="0"/>
                  <a:t>			$1            		costs 	       $1.08</a:t>
                </a:r>
                <a:br>
                  <a:rPr lang="en-AU" dirty="0"/>
                </a:br>
                <a:r>
                  <a:rPr lang="en-AU" dirty="0"/>
                  <a:t>			$23          		costs          	 $ x</a:t>
                </a:r>
                <a:br>
                  <a:rPr lang="en-AU" dirty="0"/>
                </a:br>
                <a:br>
                  <a:rPr lang="en-AU" dirty="0"/>
                </a:br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        =      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23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×1.08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	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 23×1.08</m:t>
                    </m:r>
                  </m:oMath>
                </a14:m>
                <a:br>
                  <a:rPr lang="en-AU" dirty="0">
                    <a:ea typeface="Cambria Math" panose="02040503050406030204" pitchFamily="18" charset="0"/>
                  </a:rPr>
                </a:br>
                <a:r>
                  <a:rPr lang="en-AU" dirty="0">
                    <a:ea typeface="Cambria Math" panose="02040503050406030204" pitchFamily="18" charset="0"/>
                  </a:rPr>
                  <a:t>					 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=$24.84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457932"/>
                <a:ext cx="8056392" cy="2031325"/>
              </a:xfrm>
              <a:prstGeom prst="rect">
                <a:avLst/>
              </a:prstGeom>
              <a:blipFill>
                <a:blip r:embed="rId2"/>
                <a:stretch>
                  <a:fillRect t="-150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57840"/>
          </a:xfrm>
        </p:spPr>
        <p:txBody>
          <a:bodyPr anchor="t">
            <a:normAutofit fontScale="90000"/>
          </a:bodyPr>
          <a:lstStyle/>
          <a:p>
            <a:pPr/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686049" y="2896716"/>
            <a:ext cx="2074985" cy="41499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>
            <a:cxnSpLocks/>
          </p:cNvCxnSpPr>
          <p:nvPr/>
        </p:nvCxnSpPr>
        <p:spPr>
          <a:xfrm flipV="1">
            <a:off x="2756388" y="2896716"/>
            <a:ext cx="1934308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8650" y="1139484"/>
            <a:ext cx="8124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br>
              <a:rPr lang="en-AU" dirty="0"/>
            </a:br>
            <a:r>
              <a:rPr lang="en-AU" dirty="0"/>
              <a:t>$1 </a:t>
            </a:r>
            <a:r>
              <a:rPr lang="en-AU" dirty="0" err="1"/>
              <a:t>Aus</a:t>
            </a:r>
            <a:r>
              <a:rPr lang="en-AU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</p:spTree>
    <p:extLst>
      <p:ext uri="{BB962C8B-B14F-4D97-AF65-F5344CB8AC3E}">
        <p14:creationId xmlns:p14="http://schemas.microsoft.com/office/powerpoint/2010/main" val="2056848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984738" y="2078194"/>
                <a:ext cx="805639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ea typeface="Cambria Math" panose="02040503050406030204" pitchFamily="18" charset="0"/>
                  </a:rPr>
                  <a:t>				 </a:t>
                </a:r>
                <a:r>
                  <a:rPr lang="en-AU" dirty="0"/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=$24.84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4738" y="2078194"/>
                <a:ext cx="8056392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757840"/>
          </a:xfrm>
        </p:spPr>
        <p:txBody>
          <a:bodyPr anchor="t">
            <a:normAutofit fontScale="90000"/>
          </a:bodyPr>
          <a:lstStyle/>
          <a:p>
            <a:pPr/>
            <a:r>
              <a:rPr lang="en-AU" sz="2400" dirty="0"/>
              <a:t>Exchange rates are used to work out how much something is worth in another currency.  </a:t>
            </a:r>
            <a:br>
              <a:rPr lang="en-AU" sz="2400" dirty="0"/>
            </a:br>
            <a:br>
              <a:rPr lang="en-AU" sz="2400" dirty="0"/>
            </a:br>
            <a:endParaRPr lang="en-AU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628650" y="1139484"/>
            <a:ext cx="81240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Example</a:t>
            </a:r>
            <a:br>
              <a:rPr lang="en-AU" dirty="0"/>
            </a:br>
            <a:r>
              <a:rPr lang="en-AU" dirty="0"/>
              <a:t>$1 </a:t>
            </a:r>
            <a:r>
              <a:rPr lang="en-AU" dirty="0" err="1"/>
              <a:t>Aus</a:t>
            </a:r>
            <a:r>
              <a:rPr lang="en-AU" dirty="0"/>
              <a:t> : $1.08 NZ  means that something that cost $1 in Australia costs $1.08 in NZ.  These are proportionate.  So how much would a watch cost in New Zealand if it is $23 in Australian dollars.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582" y="2339813"/>
            <a:ext cx="80563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ea typeface="Cambria Math" panose="02040503050406030204" pitchFamily="18" charset="0"/>
              </a:rPr>
              <a:t>Now we know 1 watch costs $24.84, how many watches can I get for $170 NZ?</a:t>
            </a:r>
          </a:p>
          <a:p>
            <a:r>
              <a:rPr lang="en-AU" dirty="0">
                <a:ea typeface="Cambria Math" panose="02040503050406030204" pitchFamily="18" charset="0"/>
              </a:rPr>
              <a:t>		1:$24.84			      x:$170</a:t>
            </a:r>
          </a:p>
          <a:p>
            <a:r>
              <a:rPr lang="en-AU" dirty="0">
                <a:ea typeface="Cambria Math" panose="02040503050406030204" pitchFamily="18" charset="0"/>
              </a:rPr>
              <a:t>		</a:t>
            </a:r>
          </a:p>
          <a:p>
            <a:r>
              <a:rPr lang="en-AU" dirty="0">
                <a:ea typeface="Cambria Math" panose="02040503050406030204" pitchFamily="18" charset="0"/>
              </a:rPr>
              <a:t>		watches					    $</a:t>
            </a:r>
          </a:p>
          <a:p>
            <a:r>
              <a:rPr lang="en-AU" dirty="0">
                <a:ea typeface="Cambria Math" panose="02040503050406030204" pitchFamily="18" charset="0"/>
              </a:rPr>
              <a:t>			1		costs		$24.84</a:t>
            </a:r>
          </a:p>
          <a:p>
            <a:r>
              <a:rPr lang="en-AU" dirty="0">
                <a:ea typeface="Cambria Math" panose="02040503050406030204" pitchFamily="18" charset="0"/>
              </a:rPr>
              <a:t>			x		costs		$170</a:t>
            </a:r>
          </a:p>
          <a:p>
            <a:endParaRPr lang="en-AU" dirty="0">
              <a:ea typeface="Cambria Math" panose="02040503050406030204" pitchFamily="18" charset="0"/>
            </a:endParaRPr>
          </a:p>
          <a:p>
            <a:endParaRPr lang="en-AU" dirty="0">
              <a:ea typeface="Cambria Math" panose="02040503050406030204" pitchFamily="18" charset="0"/>
            </a:endParaRPr>
          </a:p>
          <a:p>
            <a:r>
              <a:rPr lang="en-AU" dirty="0">
                <a:ea typeface="Cambria Math" panose="02040503050406030204" pitchFamily="18" charset="0"/>
              </a:rPr>
              <a:t>			</a:t>
            </a:r>
          </a:p>
          <a:p>
            <a:endParaRPr lang="en-AU" dirty="0"/>
          </a:p>
        </p:txBody>
      </p: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2489101" y="3562972"/>
            <a:ext cx="2075865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2489101" y="3602162"/>
            <a:ext cx="1934308" cy="33762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260253" y="4109295"/>
                <a:ext cx="8492490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×170</m:t>
                    </m:r>
                  </m:oMath>
                </a14:m>
                <a:r>
                  <a:rPr lang="en-AU" dirty="0"/>
                  <a:t>         =      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4.84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	       </a:t>
                </a:r>
                <a14:m>
                  <m:oMath xmlns:m="http://schemas.openxmlformats.org/officeDocument/2006/math">
                    <m:r>
                      <a:rPr lang="en-AU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0" dirty="0" smtClean="0">
                        <a:latin typeface="Cambria Math" panose="02040503050406030204" pitchFamily="18" charset="0"/>
                      </a:rPr>
                      <m:t>70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24.84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			Divide both sides by $24.84</a:t>
                </a:r>
                <a:br>
                  <a:rPr lang="en-AU" dirty="0">
                    <a:ea typeface="Cambria Math" panose="02040503050406030204" pitchFamily="18" charset="0"/>
                  </a:rPr>
                </a:br>
                <a:r>
                  <a:rPr lang="en-AU" dirty="0">
                    <a:ea typeface="Cambria Math" panose="02040503050406030204" pitchFamily="18" charset="0"/>
                  </a:rPr>
                  <a:t>			     	    </a:t>
                </a:r>
                <a:r>
                  <a:rPr lang="en-AU" dirty="0"/>
                  <a:t>170 ÷ 24.84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</a:t>
                </a:r>
              </a:p>
              <a:p>
                <a:r>
                  <a:rPr lang="en-AU" dirty="0"/>
                  <a:t>						6.84 = x        therefore I can buy 6 watches</a:t>
                </a: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253" y="4109295"/>
                <a:ext cx="8492490" cy="1200329"/>
              </a:xfrm>
              <a:prstGeom prst="rect">
                <a:avLst/>
              </a:prstGeom>
              <a:blipFill>
                <a:blip r:embed="rId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7231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>
          <a:xfrm>
            <a:off x="5095706" y="2121182"/>
            <a:ext cx="5263583" cy="2807966"/>
            <a:chOff x="6017250" y="2808580"/>
            <a:chExt cx="5263583" cy="2807966"/>
          </a:xfrm>
        </p:grpSpPr>
        <p:pic>
          <p:nvPicPr>
            <p:cNvPr id="27" name="Picture 26"/>
            <p:cNvPicPr>
              <a:picLocks noChangeAspect="1"/>
            </p:cNvPicPr>
            <p:nvPr/>
          </p:nvPicPr>
          <p:blipFill rotWithShape="1">
            <a:blip r:embed="rId2"/>
            <a:srcRect r="22886"/>
            <a:stretch/>
          </p:blipFill>
          <p:spPr>
            <a:xfrm>
              <a:off x="6128996" y="2808580"/>
              <a:ext cx="2064886" cy="2521633"/>
            </a:xfrm>
            <a:prstGeom prst="rect">
              <a:avLst/>
            </a:prstGeom>
          </p:spPr>
        </p:pic>
        <p:sp>
          <p:nvSpPr>
            <p:cNvPr id="28" name="TextBox 27"/>
            <p:cNvSpPr txBox="1"/>
            <p:nvPr/>
          </p:nvSpPr>
          <p:spPr>
            <a:xfrm rot="16200000">
              <a:off x="4813074" y="4135371"/>
              <a:ext cx="2685351" cy="276999"/>
            </a:xfrm>
            <a:prstGeom prst="rect">
              <a:avLst/>
            </a:prstGeom>
            <a:noFill/>
          </p:spPr>
          <p:txBody>
            <a:bodyPr vert="vert" wrap="square" rtlCol="0">
              <a:spAutoFit/>
            </a:bodyPr>
            <a:lstStyle/>
            <a:p>
              <a:pPr algn="r"/>
              <a:r>
                <a:rPr lang="en-AU" sz="1050" b="1" dirty="0"/>
                <a:t>$</a:t>
              </a:r>
            </a:p>
            <a:p>
              <a:pPr algn="r"/>
              <a:r>
                <a:rPr lang="en-AU" sz="800" dirty="0"/>
                <a:t>34</a:t>
              </a:r>
            </a:p>
            <a:p>
              <a:pPr algn="r"/>
              <a:r>
                <a:rPr lang="en-AU" sz="800" dirty="0"/>
                <a:t>32</a:t>
              </a:r>
            </a:p>
            <a:p>
              <a:pPr algn="r"/>
              <a:r>
                <a:rPr lang="en-AU" sz="800" dirty="0"/>
                <a:t>30</a:t>
              </a:r>
            </a:p>
            <a:p>
              <a:pPr algn="r"/>
              <a:r>
                <a:rPr lang="en-AU" sz="800" dirty="0"/>
                <a:t>28</a:t>
              </a:r>
            </a:p>
            <a:p>
              <a:pPr algn="r"/>
              <a:r>
                <a:rPr lang="en-AU" sz="800" dirty="0"/>
                <a:t>26</a:t>
              </a:r>
            </a:p>
            <a:p>
              <a:pPr algn="r"/>
              <a:r>
                <a:rPr lang="en-AU" sz="800" dirty="0"/>
                <a:t>24</a:t>
              </a:r>
            </a:p>
            <a:p>
              <a:pPr algn="r"/>
              <a:r>
                <a:rPr lang="en-AU" sz="800" dirty="0"/>
                <a:t>22</a:t>
              </a:r>
            </a:p>
            <a:p>
              <a:pPr algn="r"/>
              <a:r>
                <a:rPr lang="en-AU" sz="800" dirty="0"/>
                <a:t>20</a:t>
              </a:r>
            </a:p>
            <a:p>
              <a:pPr algn="r"/>
              <a:r>
                <a:rPr lang="en-AU" sz="800" dirty="0"/>
                <a:t>18</a:t>
              </a:r>
            </a:p>
            <a:p>
              <a:pPr algn="r"/>
              <a:r>
                <a:rPr lang="en-AU" sz="800" dirty="0"/>
                <a:t>16</a:t>
              </a:r>
            </a:p>
            <a:p>
              <a:pPr algn="r"/>
              <a:r>
                <a:rPr lang="en-AU" sz="800" dirty="0"/>
                <a:t>14</a:t>
              </a:r>
            </a:p>
            <a:p>
              <a:pPr algn="r"/>
              <a:r>
                <a:rPr lang="en-AU" sz="800" dirty="0"/>
                <a:t>12</a:t>
              </a:r>
            </a:p>
            <a:p>
              <a:pPr algn="r"/>
              <a:r>
                <a:rPr lang="en-AU" sz="800" dirty="0"/>
                <a:t>10</a:t>
              </a:r>
            </a:p>
            <a:p>
              <a:pPr algn="r"/>
              <a:r>
                <a:rPr lang="en-AU" sz="800" dirty="0"/>
                <a:t>8</a:t>
              </a:r>
            </a:p>
            <a:p>
              <a:pPr algn="r"/>
              <a:r>
                <a:rPr lang="en-AU" sz="800" dirty="0"/>
                <a:t>6</a:t>
              </a:r>
            </a:p>
            <a:p>
              <a:pPr algn="r"/>
              <a:r>
                <a:rPr lang="en-AU" sz="800" dirty="0"/>
                <a:t>4</a:t>
              </a:r>
            </a:p>
            <a:p>
              <a:pPr algn="r"/>
              <a:r>
                <a:rPr lang="en-AU" sz="800" dirty="0"/>
                <a:t>2</a:t>
              </a:r>
            </a:p>
            <a:p>
              <a:pPr algn="r"/>
              <a:r>
                <a:rPr lang="en-AU" sz="800" dirty="0"/>
                <a:t>0</a:t>
              </a:r>
            </a:p>
            <a:p>
              <a:pPr algn="r"/>
              <a:endParaRPr lang="en-AU" sz="8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286803" y="5219711"/>
              <a:ext cx="499403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000" dirty="0"/>
                <a:t>                0.5                  1 </a:t>
              </a:r>
              <a:r>
                <a:rPr lang="en-AU" sz="1050" b="1" dirty="0"/>
                <a:t>Kg</a:t>
              </a:r>
              <a:endParaRPr lang="en-AU" sz="1000" b="1" dirty="0"/>
            </a:p>
          </p:txBody>
        </p:sp>
      </p:grpSp>
      <p:cxnSp>
        <p:nvCxnSpPr>
          <p:cNvPr id="33" name="Straight Connector 32"/>
          <p:cNvCxnSpPr>
            <a:cxnSpLocks/>
          </p:cNvCxnSpPr>
          <p:nvPr/>
        </p:nvCxnSpPr>
        <p:spPr>
          <a:xfrm flipH="1">
            <a:off x="5365259" y="2531901"/>
            <a:ext cx="1296319" cy="21109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900332" y="395544"/>
            <a:ext cx="81381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If the price of steak is $32 per kilogram, how much would 500g cost?</a:t>
            </a:r>
            <a:br>
              <a:rPr lang="en-AU" dirty="0"/>
            </a:br>
            <a:r>
              <a:rPr lang="en-AU" dirty="0"/>
              <a:t>								</a:t>
            </a:r>
          </a:p>
          <a:p>
            <a:br>
              <a:rPr lang="en-AU" dirty="0"/>
            </a:br>
            <a:r>
              <a:rPr lang="en-AU" dirty="0"/>
              <a:t>	</a:t>
            </a:r>
          </a:p>
        </p:txBody>
      </p:sp>
      <p:sp>
        <p:nvSpPr>
          <p:cNvPr id="5" name="Rectangle 4"/>
          <p:cNvSpPr/>
          <p:nvPr/>
        </p:nvSpPr>
        <p:spPr>
          <a:xfrm>
            <a:off x="1659988" y="92085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	$32:1Kg		    = 		        x :500g   </a:t>
            </a:r>
            <a:br>
              <a:rPr lang="en-AU" dirty="0"/>
            </a:br>
            <a:r>
              <a:rPr lang="en-AU" dirty="0"/>
              <a:t>	$32:1Kg                =                   x : 0.5kg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1988" y="920853"/>
            <a:ext cx="2693963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Begin by converting these into the same units.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1" y="2243797"/>
            <a:ext cx="41007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     $ 				Kg</a:t>
            </a:r>
          </a:p>
          <a:p>
            <a:r>
              <a:rPr lang="en-AU" dirty="0"/>
              <a:t>     32		:		1</a:t>
            </a:r>
          </a:p>
          <a:p>
            <a:r>
              <a:rPr lang="en-AU" dirty="0"/>
              <a:t>      x			:		0.5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1536896" y="2705462"/>
            <a:ext cx="1593166" cy="3050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 flipV="1">
            <a:off x="1536896" y="2705462"/>
            <a:ext cx="1593166" cy="2417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Rectangle 23"/>
              <p:cNvSpPr/>
              <p:nvPr/>
            </p:nvSpPr>
            <p:spPr>
              <a:xfrm>
                <a:off x="-372793" y="3544385"/>
                <a:ext cx="4572000" cy="92333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n-AU" dirty="0"/>
                  <a:t>		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32 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×0.5 </m:t>
                    </m:r>
                  </m:oMath>
                </a14:m>
                <a:r>
                  <a:rPr lang="en-AU" dirty="0"/>
                  <a:t>=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AU" dirty="0"/>
                  <a:t> </a:t>
                </a:r>
                <a:br>
                  <a:rPr lang="en-AU" dirty="0"/>
                </a:br>
                <a:r>
                  <a:rPr lang="en-AU" dirty="0"/>
                  <a:t>					</a:t>
                </a:r>
                <a14:m>
                  <m:oMath xmlns:m="http://schemas.openxmlformats.org/officeDocument/2006/math"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16</m:t>
                    </m:r>
                    <m:r>
                      <a:rPr lang="en-AU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br>
                  <a:rPr lang="en-AU" dirty="0">
                    <a:ea typeface="Cambria Math" panose="02040503050406030204" pitchFamily="18" charset="0"/>
                  </a:rPr>
                </a:br>
                <a:r>
                  <a:rPr lang="en-AU" dirty="0">
                    <a:ea typeface="Cambria Math" panose="02040503050406030204" pitchFamily="18" charset="0"/>
                  </a:rPr>
                  <a:t>				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$16=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2793" y="3544385"/>
                <a:ext cx="4572000" cy="923330"/>
              </a:xfrm>
              <a:prstGeom prst="rect">
                <a:avLst/>
              </a:prstGeom>
              <a:blipFill>
                <a:blip r:embed="rId3"/>
                <a:stretch>
                  <a:fillRect t="-328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7057878" y="2012965"/>
            <a:ext cx="1980614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We can also solve using a graph.</a:t>
            </a:r>
          </a:p>
          <a:p>
            <a:r>
              <a:rPr lang="en-AU" dirty="0"/>
              <a:t>Since it is proportional, we know it must form a straight line that goes through the origin.</a:t>
            </a:r>
          </a:p>
        </p:txBody>
      </p:sp>
      <p:sp>
        <p:nvSpPr>
          <p:cNvPr id="31" name="Oval 30"/>
          <p:cNvSpPr/>
          <p:nvPr/>
        </p:nvSpPr>
        <p:spPr>
          <a:xfrm>
            <a:off x="6557963" y="2643188"/>
            <a:ext cx="45719" cy="62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/>
          <p:cNvSpPr/>
          <p:nvPr/>
        </p:nvSpPr>
        <p:spPr>
          <a:xfrm>
            <a:off x="5964954" y="3631416"/>
            <a:ext cx="45719" cy="62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Oval 37"/>
          <p:cNvSpPr/>
          <p:nvPr/>
        </p:nvSpPr>
        <p:spPr>
          <a:xfrm>
            <a:off x="5349845" y="4580541"/>
            <a:ext cx="45719" cy="622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28424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5" grpId="0" animBg="1"/>
      <p:bldP spid="16" grpId="0"/>
      <p:bldP spid="24" grpId="0"/>
      <p:bldP spid="30" grpId="0" animBg="1"/>
      <p:bldP spid="31" grpId="0" animBg="1"/>
      <p:bldP spid="37" grpId="0" animBg="1"/>
      <p:bldP spid="3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9075" y="262296"/>
                <a:ext cx="7886700" cy="2523107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AU" sz="1800" dirty="0"/>
                  <a:t>Marsha works for a company that creates equipment for mining companies that just won a contract to build a crusher 3 times larger than normal.  The usual crusher is weighs 2 tonnes.  How much will the new crusher weigh?</a:t>
                </a:r>
              </a:p>
              <a:p>
                <a:pPr marL="0" indent="0">
                  <a:buNone/>
                </a:pPr>
                <a:r>
                  <a:rPr lang="en-AU" sz="1800" dirty="0"/>
                  <a:t>		Size			weight		</a:t>
                </a:r>
              </a:p>
              <a:p>
                <a:pPr marL="0" indent="0">
                  <a:buNone/>
                </a:pPr>
                <a:r>
                  <a:rPr lang="en-AU" sz="1800" dirty="0"/>
                  <a:t>		      1		:	     2	</a:t>
                </a:r>
              </a:p>
              <a:p>
                <a:pPr marL="0" indent="0">
                  <a:buNone/>
                </a:pPr>
                <a:r>
                  <a:rPr lang="en-AU" sz="1800" dirty="0"/>
                  <a:t>		      3		:	     </a:t>
                </a:r>
                <a14:m>
                  <m:oMath xmlns:m="http://schemas.openxmlformats.org/officeDocument/2006/math">
                    <m:r>
                      <a:rPr lang="en-AU" sz="18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AU" sz="1800" i="1" dirty="0"/>
              </a:p>
              <a:p>
                <a:pPr marL="0" indent="0">
                  <a:buNone/>
                </a:pPr>
                <a:endParaRPr lang="en-AU" sz="1800" i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9075" y="262296"/>
                <a:ext cx="7886700" cy="2523107"/>
              </a:xfrm>
              <a:blipFill>
                <a:blip r:embed="rId2"/>
                <a:stretch>
                  <a:fillRect l="-696" t="-21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/>
          <p:cNvCxnSpPr>
            <a:cxnSpLocks/>
          </p:cNvCxnSpPr>
          <p:nvPr/>
        </p:nvCxnSpPr>
        <p:spPr>
          <a:xfrm>
            <a:off x="2627142" y="1642752"/>
            <a:ext cx="1593166" cy="3050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cxnSpLocks/>
          </p:cNvCxnSpPr>
          <p:nvPr/>
        </p:nvCxnSpPr>
        <p:spPr>
          <a:xfrm flipV="1">
            <a:off x="2627142" y="1642752"/>
            <a:ext cx="1593166" cy="2417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1223889" y="2043424"/>
                <a:ext cx="4220308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=2×3</m:t>
                      </m:r>
                    </m:oMath>
                  </m:oMathPara>
                </a14:m>
                <a:endParaRPr lang="en-AU" b="0" dirty="0">
                  <a:ea typeface="Cambria Math" panose="02040503050406030204" pitchFamily="18" charset="0"/>
                </a:endParaRPr>
              </a:p>
              <a:p>
                <a:r>
                  <a:rPr lang="en-AU" dirty="0"/>
                  <a:t>			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AU" dirty="0"/>
                  <a:t> tonnes</a:t>
                </a: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889" y="2043424"/>
                <a:ext cx="4220308" cy="646331"/>
              </a:xfrm>
              <a:prstGeom prst="rect">
                <a:avLst/>
              </a:prstGeom>
              <a:blipFill>
                <a:blip r:embed="rId3"/>
                <a:stretch>
                  <a:fillRect b="-1415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27075" y="2689755"/>
            <a:ext cx="84511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Robbie is using a map to calculate distances.  The distance between 2 places on the map is 3cm and the scale on the map is 1:100,000.  How far apart are the two places really?</a:t>
            </a:r>
          </a:p>
        </p:txBody>
      </p:sp>
      <p:sp>
        <p:nvSpPr>
          <p:cNvPr id="8" name="Rectangle 7"/>
          <p:cNvSpPr/>
          <p:nvPr/>
        </p:nvSpPr>
        <p:spPr>
          <a:xfrm>
            <a:off x="1819550" y="3218346"/>
            <a:ext cx="35268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Map						World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1886237" y="3403012"/>
                <a:ext cx="3252815" cy="9233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AU" dirty="0"/>
                  <a:t>1    		 	:	       		100,000</a:t>
                </a:r>
              </a:p>
              <a:p>
                <a:pPr algn="ctr"/>
                <a:r>
                  <a:rPr lang="en-AU" dirty="0"/>
                  <a:t>3   			:  			   </a:t>
                </a:r>
                <a14:m>
                  <m:oMath xmlns:m="http://schemas.openxmlformats.org/officeDocument/2006/math">
                    <m:r>
                      <a:rPr lang="en-AU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 </a:t>
                </a:r>
              </a:p>
              <a:p>
                <a:pPr marL="342900" indent="-342900" algn="ctr">
                  <a:buAutoNum type="arabicPlain"/>
                </a:pPr>
                <a:endParaRPr lang="en-AU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6237" y="3403012"/>
                <a:ext cx="3252815" cy="923330"/>
              </a:xfrm>
              <a:prstGeom prst="rect">
                <a:avLst/>
              </a:prstGeom>
              <a:blipFill>
                <a:blip r:embed="rId4"/>
                <a:stretch>
                  <a:fillRect l="-1498" t="-3289" r="-149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/>
          <p:cNvCxnSpPr>
            <a:cxnSpLocks/>
          </p:cNvCxnSpPr>
          <p:nvPr/>
        </p:nvCxnSpPr>
        <p:spPr>
          <a:xfrm>
            <a:off x="2627142" y="3606749"/>
            <a:ext cx="1593166" cy="30502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 flipV="1">
            <a:off x="2627142" y="3606749"/>
            <a:ext cx="1593166" cy="24172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1472828" y="4165859"/>
                <a:ext cx="422030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b="0" dirty="0"/>
                  <a:t>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=3×</m:t>
                    </m:r>
                  </m:oMath>
                </a14:m>
                <a:r>
                  <a:rPr lang="en-AU" b="0" dirty="0">
                    <a:ea typeface="Cambria Math" panose="02040503050406030204" pitchFamily="18" charset="0"/>
                  </a:rPr>
                  <a:t>10000</a:t>
                </a:r>
              </a:p>
              <a:p>
                <a:r>
                  <a:rPr lang="en-AU" dirty="0"/>
                  <a:t>			     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 panose="02040503050406030204" pitchFamily="18" charset="0"/>
                      </a:rPr>
                      <m:t>	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=3000</m:t>
                    </m:r>
                    <m:r>
                      <a:rPr lang="en-AU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AU" dirty="0"/>
                  <a:t>cm</a:t>
                </a:r>
              </a:p>
              <a:p>
                <a:r>
                  <a:rPr lang="en-AU" dirty="0"/>
                  <a:t>			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</m:t>
                    </m:r>
                    <m:r>
                      <a:rPr lang="en-AU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=3000</m:t>
                    </m:r>
                  </m:oMath>
                </a14:m>
                <a:r>
                  <a:rPr lang="en-AU" dirty="0"/>
                  <a:t>m</a:t>
                </a:r>
              </a:p>
              <a:p>
                <a:r>
                  <a:rPr lang="en-AU" dirty="0">
                    <a:ea typeface="Cambria Math" panose="02040503050406030204" pitchFamily="18" charset="0"/>
                  </a:rPr>
                  <a:t>				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AU" dirty="0"/>
                  <a:t>Km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828" y="4165859"/>
                <a:ext cx="4220308" cy="1477328"/>
              </a:xfrm>
              <a:prstGeom prst="rect">
                <a:avLst/>
              </a:prstGeom>
              <a:blipFill>
                <a:blip r:embed="rId5"/>
                <a:stretch>
                  <a:fillRect t="-20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443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  <p:bldP spid="7" grpId="0"/>
      <p:bldP spid="8" grpId="0"/>
      <p:bldP spid="9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Proportion Problems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4556" y="1305079"/>
            <a:ext cx="7167491" cy="1379802"/>
          </a:xfrm>
        </p:spPr>
        <p:txBody>
          <a:bodyPr>
            <a:normAutofit fontScale="70000" lnSpcReduction="20000"/>
          </a:bodyPr>
          <a:lstStyle/>
          <a:p>
            <a:r>
              <a:rPr lang="en-AU" sz="2800" dirty="0"/>
              <a:t>Proportion can be used to solve a number of problems that involve money.  It can also be used to solve problems of scale.</a:t>
            </a:r>
          </a:p>
          <a:p>
            <a:endParaRPr lang="en-AU" sz="2800" dirty="0"/>
          </a:p>
          <a:p>
            <a:r>
              <a:rPr lang="en-AU" sz="2800" dirty="0"/>
              <a:t>We can use a graph or cross multiplication to help us solve these.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6" y="633749"/>
            <a:ext cx="8506522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2400" dirty="0"/>
              <a:t>EQ : What are some of the problems we can solve with proportion?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265471"/>
          </a:xfrm>
        </p:spPr>
        <p:txBody>
          <a:bodyPr>
            <a:normAutofit fontScale="90000"/>
          </a:bodyPr>
          <a:lstStyle/>
          <a:p>
            <a:r>
              <a:rPr lang="en-AU" dirty="0"/>
              <a:t>Complete Exercise 6.9 on page 81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644" y="569742"/>
            <a:ext cx="6959771" cy="513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9177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 to Ex 6.9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8976" y="1180149"/>
            <a:ext cx="8635266" cy="50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097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327</TotalTime>
  <Words>354</Words>
  <Application>Microsoft Office PowerPoint</Application>
  <PresentationFormat>On-screen Show (16:10)</PresentationFormat>
  <Paragraphs>83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Exchange rates are used to work out how much something is worth in another currency.    </vt:lpstr>
      <vt:lpstr>Exchange rates are used to work out how much something is worth in another currency.    </vt:lpstr>
      <vt:lpstr>Exchange rates are used to work out how much something is worth in another currency.    </vt:lpstr>
      <vt:lpstr>Exchange rates are used to work out how much something is worth in another currency.    </vt:lpstr>
      <vt:lpstr>Exchange rates are used to work out how much something is worth in another currency.    </vt:lpstr>
      <vt:lpstr>PowerPoint Presentation</vt:lpstr>
      <vt:lpstr>PowerPoint Presentation</vt:lpstr>
      <vt:lpstr>Topic : Proportion Problems</vt:lpstr>
      <vt:lpstr>Complete Exercise 6.9 on page 81</vt:lpstr>
      <vt:lpstr>Answers to Ex 6.9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12</cp:revision>
  <dcterms:created xsi:type="dcterms:W3CDTF">2017-04-13T03:25:53Z</dcterms:created>
  <dcterms:modified xsi:type="dcterms:W3CDTF">2017-04-13T08:53:53Z</dcterms:modified>
</cp:coreProperties>
</file>
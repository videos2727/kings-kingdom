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7" r:id="rId2"/>
    <p:sldId id="310" r:id="rId3"/>
    <p:sldId id="308" r:id="rId4"/>
    <p:sldId id="315" r:id="rId5"/>
    <p:sldId id="313" r:id="rId6"/>
    <p:sldId id="316" r:id="rId7"/>
    <p:sldId id="317" r:id="rId8"/>
    <p:sldId id="318" r:id="rId9"/>
    <p:sldId id="319" r:id="rId10"/>
    <p:sldId id="320" r:id="rId11"/>
    <p:sldId id="321" r:id="rId12"/>
    <p:sldId id="323" r:id="rId13"/>
    <p:sldId id="324" r:id="rId14"/>
    <p:sldId id="311" r:id="rId15"/>
    <p:sldId id="292" r:id="rId16"/>
    <p:sldId id="291" r:id="rId17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2" d="100"/>
          <a:sy n="102" d="100"/>
        </p:scale>
        <p:origin x="55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75AD73A-AE13-444E-A6A8-7967ABAB8119}" type="datetimeFigureOut">
              <a:rPr lang="en-AU" smtClean="0"/>
              <a:t>14/05/2017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3140968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 9-9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380438"/>
            <a:ext cx="2095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Warm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2060848"/>
            <a:ext cx="7992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Find the Highest Common Factor (HCF) of the following:</a:t>
            </a:r>
          </a:p>
          <a:p>
            <a:endParaRPr lang="en-US" sz="2400" dirty="0"/>
          </a:p>
          <a:p>
            <a:pPr marL="342900" indent="-342900">
              <a:buAutoNum type="alphaLcParenR"/>
            </a:pPr>
            <a:r>
              <a:rPr lang="en-US" sz="2400" dirty="0"/>
              <a:t>9 and 12</a:t>
            </a:r>
          </a:p>
          <a:p>
            <a:pPr marL="342900" indent="-342900">
              <a:buAutoNum type="alphaLcParenR"/>
            </a:pPr>
            <a:r>
              <a:rPr lang="en-US" sz="2400" dirty="0"/>
              <a:t>16 and 18</a:t>
            </a:r>
          </a:p>
          <a:p>
            <a:pPr marL="342900" indent="-342900">
              <a:buAutoNum type="alphaLcParenR"/>
            </a:pPr>
            <a:r>
              <a:rPr lang="en-US" sz="2400" dirty="0"/>
              <a:t>4 and 20</a:t>
            </a:r>
          </a:p>
          <a:p>
            <a:pPr marL="342900" indent="-342900">
              <a:buAutoNum type="alphaLcParenR"/>
            </a:pPr>
            <a:r>
              <a:rPr lang="en-US" sz="2400" dirty="0"/>
              <a:t>45 and 54</a:t>
            </a:r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18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Direct Proportion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use direct proportion in my life?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665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direct proportion?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Direct proportion </a:t>
            </a:r>
            <a:r>
              <a:rPr lang="en-GB" dirty="0"/>
              <a:t>means an increase in one quantity will</a:t>
            </a:r>
          </a:p>
          <a:p>
            <a:r>
              <a:rPr lang="en-GB" dirty="0"/>
              <a:t>cause a similar increase in another quantity.</a:t>
            </a: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18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Direct Proportion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use direct proportion in my life?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783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direct proportion?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can I tell if something is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Direct proportion </a:t>
            </a:r>
            <a:r>
              <a:rPr lang="en-GB" dirty="0"/>
              <a:t>means an increase in one quantity will</a:t>
            </a:r>
          </a:p>
          <a:p>
            <a:r>
              <a:rPr lang="en-GB" dirty="0"/>
              <a:t>cause a similar increase in another quantity.</a:t>
            </a:r>
            <a:endParaRPr lang="en-AU" dirty="0"/>
          </a:p>
          <a:p>
            <a:endParaRPr lang="en-AU" dirty="0"/>
          </a:p>
          <a:p>
            <a:r>
              <a:rPr lang="en-AU" dirty="0"/>
              <a:t>The </a:t>
            </a:r>
            <a:r>
              <a:rPr lang="en-AU" u="sng" dirty="0"/>
              <a:t>direction proportion test</a:t>
            </a:r>
            <a:r>
              <a:rPr lang="en-AU" dirty="0"/>
              <a:t>: </a:t>
            </a:r>
            <a:r>
              <a:rPr lang="en-GB" dirty="0"/>
              <a:t>Double one quantity and the</a:t>
            </a:r>
          </a:p>
          <a:p>
            <a:r>
              <a:rPr lang="en-GB" dirty="0"/>
              <a:t>other quantity will double.</a:t>
            </a:r>
            <a:r>
              <a:rPr lang="en-AU" dirty="0"/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618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" t="3" r="55482" b="43349"/>
          <a:stretch/>
        </p:blipFill>
        <p:spPr>
          <a:xfrm>
            <a:off x="611560" y="548680"/>
            <a:ext cx="3456000" cy="241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6016" y="908720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Does this look like how we converted tables to formulae????</a:t>
            </a:r>
          </a:p>
        </p:txBody>
      </p:sp>
    </p:spTree>
    <p:extLst>
      <p:ext uri="{BB962C8B-B14F-4D97-AF65-F5344CB8AC3E}">
        <p14:creationId xmlns:p14="http://schemas.microsoft.com/office/powerpoint/2010/main" val="2728188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" t="5" r="53621" b="31508"/>
          <a:stretch/>
        </p:blipFill>
        <p:spPr>
          <a:xfrm>
            <a:off x="612000" y="548680"/>
            <a:ext cx="3600000" cy="2916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716016" y="908720"/>
                <a:ext cx="3672408" cy="3265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Jump of +6 eggs for +4 people</a:t>
                </a:r>
              </a:p>
              <a:p>
                <a:endParaRPr lang="en-AU" dirty="0"/>
              </a:p>
              <a:p>
                <a:r>
                  <a:rPr lang="en-AU" dirty="0"/>
                  <a:t>I can use that to find the gradient!</a:t>
                </a:r>
              </a:p>
              <a:p>
                <a:endParaRPr lang="en-AU" dirty="0"/>
              </a:p>
              <a:p>
                <a:r>
                  <a:rPr lang="en-AU" dirty="0"/>
                  <a:t>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So m = 1.5</a:t>
                </a:r>
              </a:p>
              <a:p>
                <a:endParaRPr lang="en-AU" dirty="0"/>
              </a:p>
              <a:p>
                <a:r>
                  <a:rPr lang="en-AU" dirty="0"/>
                  <a:t>c is the y intercept, and I know it is the value of y when x =0, so in this case c=0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908720"/>
                <a:ext cx="3672408" cy="3265253"/>
              </a:xfrm>
              <a:prstGeom prst="rect">
                <a:avLst/>
              </a:prstGeom>
              <a:blipFill>
                <a:blip r:embed="rId3"/>
                <a:stretch>
                  <a:fillRect l="-1495" t="-933" b="-20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442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548680"/>
            <a:ext cx="7762875" cy="4257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83768" y="537321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Wow, this is all related! #crazy</a:t>
            </a:r>
          </a:p>
        </p:txBody>
      </p:sp>
    </p:spTree>
    <p:extLst>
      <p:ext uri="{BB962C8B-B14F-4D97-AF65-F5344CB8AC3E}">
        <p14:creationId xmlns:p14="http://schemas.microsoft.com/office/powerpoint/2010/main" val="1160563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32" y="1196752"/>
            <a:ext cx="54578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3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32" y="1196752"/>
            <a:ext cx="5457825" cy="1371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70652" y="2703076"/>
                <a:ext cx="6120680" cy="161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 = mx + c</a:t>
                </a:r>
              </a:p>
              <a:p>
                <a:endParaRPr lang="en-AU" dirty="0"/>
              </a:p>
              <a:p>
                <a:r>
                  <a:rPr lang="en-AU" dirty="0"/>
                  <a:t>Change in y = 8 (the rise)</a:t>
                </a:r>
              </a:p>
              <a:p>
                <a:r>
                  <a:rPr lang="en-AU" dirty="0"/>
                  <a:t>Change in x = 40 (the run)</a:t>
                </a:r>
              </a:p>
              <a:p>
                <a:r>
                  <a:rPr lang="en-AU" dirty="0"/>
                  <a:t>M = 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652" y="2703076"/>
                <a:ext cx="6120680" cy="1616533"/>
              </a:xfrm>
              <a:prstGeom prst="rect">
                <a:avLst/>
              </a:prstGeom>
              <a:blipFill>
                <a:blip r:embed="rId3"/>
                <a:stretch>
                  <a:fillRect l="-797" t="-1880" b="-3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76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32" y="1196752"/>
            <a:ext cx="5457825" cy="1371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87624" y="2703076"/>
                <a:ext cx="6120680" cy="2711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 = mx + c</a:t>
                </a:r>
              </a:p>
              <a:p>
                <a:endParaRPr lang="en-AU" dirty="0"/>
              </a:p>
              <a:p>
                <a:r>
                  <a:rPr lang="en-AU" dirty="0"/>
                  <a:t>Change in y = 8 (the rise)</a:t>
                </a:r>
              </a:p>
              <a:p>
                <a:r>
                  <a:rPr lang="en-AU" dirty="0"/>
                  <a:t>Change in x = 40 (the run)</a:t>
                </a:r>
              </a:p>
              <a:p>
                <a:r>
                  <a:rPr lang="en-AU" dirty="0"/>
                  <a:t>m = 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y intercept = value of y when x = 0, y=0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703076"/>
                <a:ext cx="6120680" cy="2711512"/>
              </a:xfrm>
              <a:prstGeom prst="rect">
                <a:avLst/>
              </a:prstGeom>
              <a:blipFill>
                <a:blip r:embed="rId3"/>
                <a:stretch>
                  <a:fillRect l="-896" t="-11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19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9759" y="692696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 this example together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32" y="1196752"/>
            <a:ext cx="5457825" cy="1371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87624" y="2703076"/>
                <a:ext cx="6120680" cy="3819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 = mx + c</a:t>
                </a:r>
              </a:p>
              <a:p>
                <a:endParaRPr lang="en-AU" dirty="0"/>
              </a:p>
              <a:p>
                <a:r>
                  <a:rPr lang="en-AU" dirty="0"/>
                  <a:t>Change in y = 8 (the rise)</a:t>
                </a:r>
              </a:p>
              <a:p>
                <a:r>
                  <a:rPr lang="en-AU" dirty="0"/>
                  <a:t>Change in x = 40 (the run)</a:t>
                </a:r>
              </a:p>
              <a:p>
                <a:r>
                  <a:rPr lang="en-AU" dirty="0"/>
                  <a:t>m = 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y intercept = value of y when x = 0, y=0</a:t>
                </a:r>
              </a:p>
              <a:p>
                <a:endParaRPr lang="en-AU" dirty="0"/>
              </a:p>
              <a:p>
                <a:r>
                  <a:rPr lang="en-AU" dirty="0"/>
                  <a:t>y = mx + c</a:t>
                </a:r>
              </a:p>
              <a:p>
                <a:r>
                  <a:rPr lang="en-AU" dirty="0"/>
                  <a:t>Fuel = 0.2 x distance</a:t>
                </a:r>
              </a:p>
              <a:p>
                <a:endParaRPr lang="en-AU" dirty="0"/>
              </a:p>
              <a:p>
                <a:r>
                  <a:rPr lang="en-AU" dirty="0"/>
                  <a:t>Now, page 78, Ex. 6.6, Q 2-7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703076"/>
                <a:ext cx="6120680" cy="3819507"/>
              </a:xfrm>
              <a:prstGeom prst="rect">
                <a:avLst/>
              </a:prstGeom>
              <a:blipFill>
                <a:blip r:embed="rId3"/>
                <a:stretch>
                  <a:fillRect l="-896" t="-7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482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1" b="24851"/>
          <a:stretch/>
        </p:blipFill>
        <p:spPr>
          <a:xfrm>
            <a:off x="1187624" y="764704"/>
            <a:ext cx="6477000" cy="24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0996" y="3645024"/>
            <a:ext cx="6120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Just like before </a:t>
            </a:r>
          </a:p>
          <a:p>
            <a:r>
              <a:rPr lang="en-AU" dirty="0"/>
              <a:t>y = mx + c</a:t>
            </a:r>
          </a:p>
          <a:p>
            <a:r>
              <a:rPr lang="en-AU" dirty="0"/>
              <a:t>y = 2.5x</a:t>
            </a:r>
          </a:p>
          <a:p>
            <a:endParaRPr lang="en-AU" dirty="0"/>
          </a:p>
          <a:p>
            <a:r>
              <a:rPr lang="en-AU" dirty="0"/>
              <a:t>Now we substitute in y = 20 to work out the value of x </a:t>
            </a:r>
          </a:p>
        </p:txBody>
      </p:sp>
    </p:spTree>
    <p:extLst>
      <p:ext uri="{BB962C8B-B14F-4D97-AF65-F5344CB8AC3E}">
        <p14:creationId xmlns:p14="http://schemas.microsoft.com/office/powerpoint/2010/main" val="73217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764704"/>
            <a:ext cx="6477000" cy="32575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7624" y="4581128"/>
            <a:ext cx="396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Now lets work on page 78, Ex. 6.6, Q 2-7</a:t>
            </a:r>
          </a:p>
        </p:txBody>
      </p:sp>
    </p:spTree>
    <p:extLst>
      <p:ext uri="{BB962C8B-B14F-4D97-AF65-F5344CB8AC3E}">
        <p14:creationId xmlns:p14="http://schemas.microsoft.com/office/powerpoint/2010/main" val="4047240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83671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Complete your Summary ensuring you explain the process of using direct proportions and how you will apply it in your life.</a:t>
            </a:r>
          </a:p>
        </p:txBody>
      </p:sp>
    </p:spTree>
    <p:extLst>
      <p:ext uri="{BB962C8B-B14F-4D97-AF65-F5344CB8AC3E}">
        <p14:creationId xmlns:p14="http://schemas.microsoft.com/office/powerpoint/2010/main" val="3130279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  <a:p>
            <a:r>
              <a:rPr lang="en-AU" dirty="0"/>
              <a:t>Ex 6.6, 6.7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486</Words>
  <Application>Microsoft Office PowerPoint</Application>
  <PresentationFormat>On-screen Show (4:3)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Hamilton Stott</cp:lastModifiedBy>
  <cp:revision>95</cp:revision>
  <cp:lastPrinted>2017-05-14T23:47:27Z</cp:lastPrinted>
  <dcterms:created xsi:type="dcterms:W3CDTF">2014-05-14T02:58:57Z</dcterms:created>
  <dcterms:modified xsi:type="dcterms:W3CDTF">2017-05-14T23:47:31Z</dcterms:modified>
</cp:coreProperties>
</file>
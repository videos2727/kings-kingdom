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11" r:id="rId5"/>
    <p:sldId id="300" r:id="rId6"/>
    <p:sldId id="301" r:id="rId7"/>
    <p:sldId id="302" r:id="rId8"/>
    <p:sldId id="303" r:id="rId9"/>
    <p:sldId id="310" r:id="rId10"/>
    <p:sldId id="305" r:id="rId11"/>
    <p:sldId id="307" r:id="rId12"/>
    <p:sldId id="308" r:id="rId13"/>
    <p:sldId id="309" r:id="rId14"/>
    <p:sldId id="306" r:id="rId15"/>
    <p:sldId id="304" r:id="rId16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7" autoAdjust="0"/>
    <p:restoredTop sz="94280" autoAdjust="0"/>
  </p:normalViewPr>
  <p:slideViewPr>
    <p:cSldViewPr>
      <p:cViewPr varScale="1">
        <p:scale>
          <a:sx n="81" d="100"/>
          <a:sy n="81" d="100"/>
        </p:scale>
        <p:origin x="1104" y="60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-238843"/>
            <a:ext cx="7772400" cy="1470025"/>
          </a:xfrm>
        </p:spPr>
        <p:txBody>
          <a:bodyPr/>
          <a:lstStyle/>
          <a:p>
            <a:r>
              <a:rPr lang="en-AU" dirty="0"/>
              <a:t>My Perimeter, Area and Volume 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Name </a:t>
            </a:r>
          </a:p>
          <a:p>
            <a:r>
              <a:rPr lang="en-AU" dirty="0"/>
              <a:t>Class </a:t>
            </a:r>
          </a:p>
          <a:p>
            <a:r>
              <a:rPr lang="en-AU" dirty="0"/>
              <a:t>Term 3 Semester 2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333427" y="1777380"/>
            <a:ext cx="1260140" cy="1396872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rapezoid 4"/>
          <p:cNvSpPr/>
          <p:nvPr/>
        </p:nvSpPr>
        <p:spPr>
          <a:xfrm>
            <a:off x="2699792" y="1777380"/>
            <a:ext cx="1440160" cy="648072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Hexagon 5"/>
          <p:cNvSpPr/>
          <p:nvPr/>
        </p:nvSpPr>
        <p:spPr>
          <a:xfrm>
            <a:off x="5076056" y="1777380"/>
            <a:ext cx="1512168" cy="1368152"/>
          </a:xfrm>
          <a:prstGeom prst="hex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ecagon 6"/>
          <p:cNvSpPr/>
          <p:nvPr/>
        </p:nvSpPr>
        <p:spPr>
          <a:xfrm>
            <a:off x="7596336" y="2281436"/>
            <a:ext cx="1224136" cy="1296144"/>
          </a:xfrm>
          <a:prstGeom prst="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Pie 8"/>
          <p:cNvSpPr/>
          <p:nvPr/>
        </p:nvSpPr>
        <p:spPr>
          <a:xfrm>
            <a:off x="683568" y="4081636"/>
            <a:ext cx="1368152" cy="1440160"/>
          </a:xfrm>
          <a:prstGeom prst="pi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48264" y="4729708"/>
            <a:ext cx="115212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L-Shape 10"/>
          <p:cNvSpPr/>
          <p:nvPr/>
        </p:nvSpPr>
        <p:spPr>
          <a:xfrm>
            <a:off x="323528" y="-22820"/>
            <a:ext cx="936104" cy="1368152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Parallelogram 11"/>
          <p:cNvSpPr/>
          <p:nvPr/>
        </p:nvSpPr>
        <p:spPr>
          <a:xfrm>
            <a:off x="7524328" y="661256"/>
            <a:ext cx="936104" cy="1116124"/>
          </a:xfrm>
          <a:prstGeom prst="parallelogram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2339752" y="3145532"/>
            <a:ext cx="93610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-57150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5903167"/>
            <a:ext cx="276038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5917168"/>
            <a:ext cx="549775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7" y="491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-166836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-565697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6" y="-197033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-166836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-227143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-227143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978" y="-504996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-57150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5903167"/>
            <a:ext cx="367408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5917168"/>
            <a:ext cx="549775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11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491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6252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48017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6252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-50481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300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2" y="6252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6252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48017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7" y="-429006"/>
            <a:ext cx="566502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8901" y="40624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8901" y="8497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8661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7242" y="849734"/>
            <a:ext cx="0" cy="56081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3568" y="-5541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2035" y="-2641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816" y="388071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different shapes?</a:t>
            </a:r>
          </a:p>
        </p:txBody>
      </p:sp>
    </p:spTree>
    <p:extLst>
      <p:ext uri="{BB962C8B-B14F-4D97-AF65-F5344CB8AC3E}">
        <p14:creationId xmlns:p14="http://schemas.microsoft.com/office/powerpoint/2010/main" val="2635242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553244"/>
            <a:ext cx="6912768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Quick write.</a:t>
            </a:r>
          </a:p>
          <a:p>
            <a:r>
              <a:rPr lang="en-AU" sz="3200" dirty="0"/>
              <a:t>	What is area?</a:t>
            </a:r>
          </a:p>
          <a:p>
            <a:endParaRPr lang="en-AU" sz="3200" dirty="0"/>
          </a:p>
          <a:p>
            <a:r>
              <a:rPr lang="en-AU" sz="3200" dirty="0"/>
              <a:t>	How is it measured?</a:t>
            </a:r>
          </a:p>
          <a:p>
            <a:endParaRPr lang="en-AU" sz="3200" dirty="0"/>
          </a:p>
          <a:p>
            <a:endParaRPr lang="en-AU" sz="3200" dirty="0"/>
          </a:p>
          <a:p>
            <a:r>
              <a:rPr lang="en-AU" sz="3200" dirty="0"/>
              <a:t>	When do we need area?</a:t>
            </a:r>
          </a:p>
          <a:p>
            <a:endParaRPr lang="en-AU" sz="3200" dirty="0"/>
          </a:p>
          <a:p>
            <a:r>
              <a:rPr lang="en-AU" sz="3200" dirty="0"/>
              <a:t>	</a:t>
            </a:r>
          </a:p>
          <a:p>
            <a:endParaRPr lang="en-AU" sz="3200" dirty="0"/>
          </a:p>
          <a:p>
            <a:endParaRPr lang="en-AU" sz="3200" dirty="0"/>
          </a:p>
          <a:p>
            <a:endParaRPr lang="en-AU" sz="3200" dirty="0"/>
          </a:p>
          <a:p>
            <a:r>
              <a:rPr lang="en-AU" sz="32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28241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8901" y="40624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8901" y="8497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8661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7242" y="849734"/>
            <a:ext cx="0" cy="56081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3568" y="-5541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2035" y="-2641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816" y="388071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different shapes?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195737" y="849736"/>
            <a:ext cx="6827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The area of a shape is the amount of space exists inside a 2 dimensional space.</a:t>
            </a:r>
          </a:p>
        </p:txBody>
      </p:sp>
    </p:spTree>
    <p:extLst>
      <p:ext uri="{BB962C8B-B14F-4D97-AF65-F5344CB8AC3E}">
        <p14:creationId xmlns:p14="http://schemas.microsoft.com/office/powerpoint/2010/main" val="397541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>
          <a:blip r:embed="rId2"/>
          <a:stretch>
            <a:fillRect/>
          </a:stretch>
        </p:blipFill>
        <p:spPr>
          <a:xfrm>
            <a:off x="2567391" y="1408206"/>
            <a:ext cx="2249207" cy="1260588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26996" y="4525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6996" y="89601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9290" y="-8985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5188" y="889758"/>
            <a:ext cx="27530" cy="576412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9592" y="-3640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0957" y="-3028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911" y="434349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different shapes?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Box 14"/>
              <p:cNvSpPr txBox="1"/>
              <p:nvPr/>
            </p:nvSpPr>
            <p:spPr>
              <a:xfrm>
                <a:off x="5202567" y="1589962"/>
                <a:ext cx="1610768" cy="53927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000" dirty="0">
                    <a:latin typeface="Calibri"/>
                    <a:ea typeface="Calibri"/>
                    <a:cs typeface="Times New Roman"/>
                  </a:rPr>
                  <a:t>Formula: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𝐴𝑟𝑒𝑎</m:t>
                      </m:r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𝑙𝑤</m:t>
                      </m:r>
                    </m:oMath>
                  </m:oMathPara>
                </a14:m>
                <a:endParaRPr lang="en-AU" sz="2000" dirty="0">
                  <a:latin typeface="Calibri"/>
                  <a:ea typeface="Calibri"/>
                  <a:cs typeface="Times New Roman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000" dirty="0">
                    <a:latin typeface="Calibri"/>
                    <a:ea typeface="Times New Roman"/>
                    <a:cs typeface="Times New Roman"/>
                  </a:rPr>
                  <a:t> </a:t>
                </a:r>
                <a:endParaRPr lang="en-AU" sz="20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>
          <p:sp>
            <p:nvSpPr>
              <p:cNvPr id="13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567" y="1589962"/>
                <a:ext cx="1610768" cy="539270"/>
              </a:xfrm>
              <a:prstGeom prst="rect">
                <a:avLst/>
              </a:prstGeom>
              <a:blipFill>
                <a:blip r:embed="rId3"/>
                <a:stretch>
                  <a:fillRect l="-3774" t="-2273" b="-46591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Box 15"/>
              <p:cNvSpPr txBox="1"/>
              <p:nvPr/>
            </p:nvSpPr>
            <p:spPr>
              <a:xfrm>
                <a:off x="5083104" y="2614976"/>
                <a:ext cx="2099432" cy="818515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000" dirty="0">
                    <a:latin typeface="Calibri"/>
                    <a:ea typeface="Calibri"/>
                    <a:cs typeface="Times New Roman"/>
                  </a:rPr>
                  <a:t>Formula: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𝐴𝑟𝑒𝑎</m:t>
                      </m:r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AU" sz="2000" i="1">
                              <a:solidFill>
                                <a:srgbClr val="E36C0A"/>
                              </a:solidFill>
                              <a:latin typeface="Cambria Math" panose="02040503050406030204" pitchFamily="18" charset="0"/>
                              <a:ea typeface="Calibri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AU" sz="2000" i="1">
                              <a:solidFill>
                                <a:srgbClr val="E36C0A"/>
                              </a:solidFill>
                              <a:latin typeface="Cambria Math"/>
                              <a:ea typeface="Calibri"/>
                              <a:cs typeface="Times New Roman"/>
                            </a:rPr>
                            <m:t>1</m:t>
                          </m:r>
                        </m:num>
                        <m:den>
                          <m:r>
                            <a:rPr lang="en-AU" sz="2000" i="1">
                              <a:solidFill>
                                <a:srgbClr val="E36C0A"/>
                              </a:solidFill>
                              <a:latin typeface="Cambria Math"/>
                              <a:ea typeface="Calibri"/>
                              <a:cs typeface="Times New Roman"/>
                            </a:rPr>
                            <m:t>2</m:t>
                          </m:r>
                        </m:den>
                      </m:f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𝑏h</m:t>
                      </m:r>
                    </m:oMath>
                  </m:oMathPara>
                </a14:m>
                <a:endParaRPr lang="en-AU" sz="20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>
          <p:sp>
            <p:nvSpPr>
              <p:cNvPr id="15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104" y="2614976"/>
                <a:ext cx="2099432" cy="818515"/>
              </a:xfrm>
              <a:prstGeom prst="rect">
                <a:avLst/>
              </a:prstGeom>
              <a:blipFill>
                <a:blip r:embed="rId4"/>
                <a:stretch>
                  <a:fillRect l="-3198" t="-1493" b="-44776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56444" y="1589962"/>
            <a:ext cx="1956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Area of a rectangle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2" y="2779435"/>
            <a:ext cx="1802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Area of a triangle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809" y="3849704"/>
            <a:ext cx="5112568" cy="181674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444" y="4121921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Area of circle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4910514" y="4897893"/>
                <a:ext cx="31609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3.14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514" y="4897893"/>
                <a:ext cx="316095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1A0E5B56-DD15-4E40-A967-0A1794E46EB3}"/>
              </a:ext>
            </a:extLst>
          </p:cNvPr>
          <p:cNvPicPr/>
          <p:nvPr/>
        </p:nvPicPr>
        <p:blipFill rotWithShape="1">
          <a:blip r:embed="rId7"/>
          <a:srcRect l="2187" t="19366"/>
          <a:stretch/>
        </p:blipFill>
        <p:spPr bwMode="auto">
          <a:xfrm>
            <a:off x="2592769" y="2647049"/>
            <a:ext cx="2298890" cy="13043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C94E622-2C12-4410-ADFB-FF8F9C5331FE}"/>
              </a:ext>
            </a:extLst>
          </p:cNvPr>
          <p:cNvSpPr txBox="1"/>
          <p:nvPr/>
        </p:nvSpPr>
        <p:spPr>
          <a:xfrm>
            <a:off x="2195737" y="849736"/>
            <a:ext cx="6827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The area of a shape is the amount of space exists inside a 2 dimensional space. The 3 basic shapes are;</a:t>
            </a:r>
          </a:p>
        </p:txBody>
      </p:sp>
    </p:spTree>
    <p:extLst>
      <p:ext uri="{BB962C8B-B14F-4D97-AF65-F5344CB8AC3E}">
        <p14:creationId xmlns:p14="http://schemas.microsoft.com/office/powerpoint/2010/main" val="288091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586" y="76508"/>
            <a:ext cx="5976664" cy="16656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7544" y="-310852"/>
            <a:ext cx="2592288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236" y="1963511"/>
            <a:ext cx="5377720" cy="17773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F673BA-D9BA-454B-8E0D-6EDD24F68177}"/>
              </a:ext>
            </a:extLst>
          </p:cNvPr>
          <p:cNvSpPr txBox="1"/>
          <p:nvPr/>
        </p:nvSpPr>
        <p:spPr>
          <a:xfrm>
            <a:off x="1790554" y="3411076"/>
            <a:ext cx="6552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Find the area of these 2 circles.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8619B5A-3397-4921-BE21-9953355BC7C1}"/>
              </a:ext>
            </a:extLst>
          </p:cNvPr>
          <p:cNvSpPr/>
          <p:nvPr/>
        </p:nvSpPr>
        <p:spPr>
          <a:xfrm>
            <a:off x="2533316" y="3931570"/>
            <a:ext cx="1440160" cy="133631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9E3F3E-395E-4078-AF32-E410278DB517}"/>
              </a:ext>
            </a:extLst>
          </p:cNvPr>
          <p:cNvCxnSpPr>
            <a:stCxn id="6" idx="6"/>
          </p:cNvCxnSpPr>
          <p:nvPr/>
        </p:nvCxnSpPr>
        <p:spPr>
          <a:xfrm flipH="1" flipV="1">
            <a:off x="3234625" y="4590344"/>
            <a:ext cx="738851" cy="9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CF77BE4-3633-4D28-B2ED-75C97A65AAD9}"/>
              </a:ext>
            </a:extLst>
          </p:cNvPr>
          <p:cNvSpPr txBox="1"/>
          <p:nvPr/>
        </p:nvSpPr>
        <p:spPr>
          <a:xfrm>
            <a:off x="3253396" y="4374320"/>
            <a:ext cx="629301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2cm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851871-8573-4A03-A578-9203586AA853}"/>
              </a:ext>
            </a:extLst>
          </p:cNvPr>
          <p:cNvSpPr txBox="1"/>
          <p:nvPr/>
        </p:nvSpPr>
        <p:spPr>
          <a:xfrm>
            <a:off x="179512" y="42754"/>
            <a:ext cx="1584176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together.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AE7293-C9BA-47A2-BD5F-26CDA10F8C65}"/>
              </a:ext>
            </a:extLst>
          </p:cNvPr>
          <p:cNvSpPr/>
          <p:nvPr/>
        </p:nvSpPr>
        <p:spPr>
          <a:xfrm>
            <a:off x="5531033" y="379335"/>
            <a:ext cx="2812249" cy="1467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BBB4BF-93CD-47B4-82F0-3CC068E042FA}"/>
              </a:ext>
            </a:extLst>
          </p:cNvPr>
          <p:cNvSpPr/>
          <p:nvPr/>
        </p:nvSpPr>
        <p:spPr>
          <a:xfrm>
            <a:off x="4754209" y="2213943"/>
            <a:ext cx="2812249" cy="1467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6539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028F89-0A9E-47E9-A8BB-6B84611F5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697260"/>
            <a:ext cx="6516777" cy="10618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C7902E-1B1E-4A55-9551-3D0E79377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697259"/>
            <a:ext cx="2044605" cy="10618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7FE0E8-291F-4B48-B699-6A905E728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2713484"/>
            <a:ext cx="5790666" cy="16367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DD4294-1659-44BC-9521-4B7BC157BDE9}"/>
              </a:ext>
            </a:extLst>
          </p:cNvPr>
          <p:cNvSpPr txBox="1"/>
          <p:nvPr/>
        </p:nvSpPr>
        <p:spPr>
          <a:xfrm>
            <a:off x="7524328" y="2785492"/>
            <a:ext cx="129614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pi = 3.14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2D58B7-13F1-402B-A0EF-01C3A37735EA}"/>
              </a:ext>
            </a:extLst>
          </p:cNvPr>
          <p:cNvSpPr txBox="1"/>
          <p:nvPr/>
        </p:nvSpPr>
        <p:spPr>
          <a:xfrm>
            <a:off x="179512" y="42754"/>
            <a:ext cx="1584176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Your turn.</a:t>
            </a:r>
          </a:p>
        </p:txBody>
      </p:sp>
    </p:spTree>
    <p:extLst>
      <p:ext uri="{BB962C8B-B14F-4D97-AF65-F5344CB8AC3E}">
        <p14:creationId xmlns:p14="http://schemas.microsoft.com/office/powerpoint/2010/main" val="2826519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26996" y="4525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6996" y="89601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9290" y="-8985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5188" y="889758"/>
            <a:ext cx="27530" cy="576412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9592" y="-3640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0957" y="-3028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911" y="434349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different shapes?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21E1B-1695-4A5B-AD7C-03C182E07A40}"/>
              </a:ext>
            </a:extLst>
          </p:cNvPr>
          <p:cNvSpPr txBox="1"/>
          <p:nvPr/>
        </p:nvSpPr>
        <p:spPr>
          <a:xfrm>
            <a:off x="2267744" y="985292"/>
            <a:ext cx="6507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To find the area of complex shapes we can add together or remove the basic shapes</a:t>
            </a:r>
          </a:p>
          <a:p>
            <a:r>
              <a:rPr lang="en-AU" sz="1800" dirty="0"/>
              <a:t>EG the shape below can be split into 2 pieces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85B568-E467-48A8-BFEB-B2E4D0E5BD87}"/>
              </a:ext>
            </a:extLst>
          </p:cNvPr>
          <p:cNvSpPr/>
          <p:nvPr/>
        </p:nvSpPr>
        <p:spPr>
          <a:xfrm>
            <a:off x="2771800" y="1921396"/>
            <a:ext cx="2448272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6F5E0CEC-E972-45C4-BBA9-76DA72950FEF}"/>
              </a:ext>
            </a:extLst>
          </p:cNvPr>
          <p:cNvSpPr/>
          <p:nvPr/>
        </p:nvSpPr>
        <p:spPr>
          <a:xfrm>
            <a:off x="5220072" y="1921396"/>
            <a:ext cx="1944216" cy="144016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0DC8527-B959-44C7-A0C3-B41600CEB5BC}"/>
              </a:ext>
            </a:extLst>
          </p:cNvPr>
          <p:cNvCxnSpPr/>
          <p:nvPr/>
        </p:nvCxnSpPr>
        <p:spPr>
          <a:xfrm>
            <a:off x="2771800" y="3577580"/>
            <a:ext cx="43924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7935C21-3D54-4D26-A5BF-FE216419E3FE}"/>
              </a:ext>
            </a:extLst>
          </p:cNvPr>
          <p:cNvSpPr txBox="1"/>
          <p:nvPr/>
        </p:nvSpPr>
        <p:spPr>
          <a:xfrm>
            <a:off x="3662892" y="3351418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20cm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73E33E4-3899-4B90-A0DB-5AD475B50842}"/>
              </a:ext>
            </a:extLst>
          </p:cNvPr>
          <p:cNvCxnSpPr>
            <a:cxnSpLocks/>
          </p:cNvCxnSpPr>
          <p:nvPr/>
        </p:nvCxnSpPr>
        <p:spPr>
          <a:xfrm flipV="1">
            <a:off x="2574745" y="1908622"/>
            <a:ext cx="0" cy="14320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0DB16DE-9BF3-4523-9654-A5B4C6DAB24C}"/>
              </a:ext>
            </a:extLst>
          </p:cNvPr>
          <p:cNvSpPr txBox="1"/>
          <p:nvPr/>
        </p:nvSpPr>
        <p:spPr>
          <a:xfrm rot="16200000">
            <a:off x="1993210" y="2314629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872FC9-FE35-4294-A5E2-ABF31F08237A}"/>
              </a:ext>
            </a:extLst>
          </p:cNvPr>
          <p:cNvCxnSpPr>
            <a:cxnSpLocks/>
          </p:cNvCxnSpPr>
          <p:nvPr/>
        </p:nvCxnSpPr>
        <p:spPr>
          <a:xfrm>
            <a:off x="5221271" y="3495324"/>
            <a:ext cx="194421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EA52A87-ACAA-49C1-B153-7C8079C72426}"/>
              </a:ext>
            </a:extLst>
          </p:cNvPr>
          <p:cNvSpPr txBox="1"/>
          <p:nvPr/>
        </p:nvSpPr>
        <p:spPr>
          <a:xfrm>
            <a:off x="6112363" y="3269162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5cm</a:t>
            </a:r>
          </a:p>
        </p:txBody>
      </p:sp>
    </p:spTree>
    <p:extLst>
      <p:ext uri="{BB962C8B-B14F-4D97-AF65-F5344CB8AC3E}">
        <p14:creationId xmlns:p14="http://schemas.microsoft.com/office/powerpoint/2010/main" val="1236389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26996" y="4525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6996" y="89601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9290" y="-8985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5188" y="889758"/>
            <a:ext cx="27530" cy="576412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9592" y="-3640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0957" y="-3028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911" y="434349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different shapes?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21E1B-1695-4A5B-AD7C-03C182E07A40}"/>
              </a:ext>
            </a:extLst>
          </p:cNvPr>
          <p:cNvSpPr txBox="1"/>
          <p:nvPr/>
        </p:nvSpPr>
        <p:spPr>
          <a:xfrm>
            <a:off x="2267744" y="985292"/>
            <a:ext cx="6507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To find the area of complex shapes we can add together or remove the basic shapes</a:t>
            </a:r>
          </a:p>
          <a:p>
            <a:r>
              <a:rPr lang="en-AU" sz="1800" dirty="0"/>
              <a:t>EG the shape below can be split into 2 pieces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85B568-E467-48A8-BFEB-B2E4D0E5BD87}"/>
              </a:ext>
            </a:extLst>
          </p:cNvPr>
          <p:cNvSpPr/>
          <p:nvPr/>
        </p:nvSpPr>
        <p:spPr>
          <a:xfrm>
            <a:off x="2771800" y="1921396"/>
            <a:ext cx="2448272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6F5E0CEC-E972-45C4-BBA9-76DA72950FEF}"/>
              </a:ext>
            </a:extLst>
          </p:cNvPr>
          <p:cNvSpPr/>
          <p:nvPr/>
        </p:nvSpPr>
        <p:spPr>
          <a:xfrm>
            <a:off x="5879501" y="1900511"/>
            <a:ext cx="1944216" cy="144016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0DC8527-B959-44C7-A0C3-B41600CEB5BC}"/>
              </a:ext>
            </a:extLst>
          </p:cNvPr>
          <p:cNvCxnSpPr>
            <a:cxnSpLocks/>
          </p:cNvCxnSpPr>
          <p:nvPr/>
        </p:nvCxnSpPr>
        <p:spPr>
          <a:xfrm>
            <a:off x="2771800" y="3577580"/>
            <a:ext cx="24482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7935C21-3D54-4D26-A5BF-FE216419E3FE}"/>
              </a:ext>
            </a:extLst>
          </p:cNvPr>
          <p:cNvSpPr txBox="1"/>
          <p:nvPr/>
        </p:nvSpPr>
        <p:spPr>
          <a:xfrm>
            <a:off x="3662892" y="3351418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15cm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73E33E4-3899-4B90-A0DB-5AD475B50842}"/>
              </a:ext>
            </a:extLst>
          </p:cNvPr>
          <p:cNvCxnSpPr>
            <a:cxnSpLocks/>
          </p:cNvCxnSpPr>
          <p:nvPr/>
        </p:nvCxnSpPr>
        <p:spPr>
          <a:xfrm flipV="1">
            <a:off x="2574745" y="1908622"/>
            <a:ext cx="0" cy="14320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0DB16DE-9BF3-4523-9654-A5B4C6DAB24C}"/>
              </a:ext>
            </a:extLst>
          </p:cNvPr>
          <p:cNvSpPr txBox="1"/>
          <p:nvPr/>
        </p:nvSpPr>
        <p:spPr>
          <a:xfrm rot="16200000">
            <a:off x="1993210" y="2314629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E49279-A589-4CF6-9C32-667D55724AF9}"/>
              </a:ext>
            </a:extLst>
          </p:cNvPr>
          <p:cNvCxnSpPr>
            <a:cxnSpLocks/>
          </p:cNvCxnSpPr>
          <p:nvPr/>
        </p:nvCxnSpPr>
        <p:spPr>
          <a:xfrm>
            <a:off x="5879501" y="3620738"/>
            <a:ext cx="194421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26F7DA5-F5A9-4D00-8FA6-287789656BEB}"/>
              </a:ext>
            </a:extLst>
          </p:cNvPr>
          <p:cNvSpPr txBox="1"/>
          <p:nvPr/>
        </p:nvSpPr>
        <p:spPr>
          <a:xfrm>
            <a:off x="6770593" y="3394576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5cm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82E578A-37EA-45FF-ABF2-96DE34DF180A}"/>
              </a:ext>
            </a:extLst>
          </p:cNvPr>
          <p:cNvCxnSpPr>
            <a:cxnSpLocks/>
          </p:cNvCxnSpPr>
          <p:nvPr/>
        </p:nvCxnSpPr>
        <p:spPr>
          <a:xfrm flipV="1">
            <a:off x="5755410" y="1849388"/>
            <a:ext cx="0" cy="14320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479C082-6E3B-48A0-A6DF-9D96634CA75E}"/>
              </a:ext>
            </a:extLst>
          </p:cNvPr>
          <p:cNvSpPr txBox="1"/>
          <p:nvPr/>
        </p:nvSpPr>
        <p:spPr>
          <a:xfrm rot="16200000">
            <a:off x="5173875" y="2255395"/>
            <a:ext cx="936104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D750C0-195D-415B-A134-C58A46F93C59}"/>
              </a:ext>
            </a:extLst>
          </p:cNvPr>
          <p:cNvSpPr txBox="1"/>
          <p:nvPr/>
        </p:nvSpPr>
        <p:spPr>
          <a:xfrm>
            <a:off x="2267744" y="3642322"/>
            <a:ext cx="6507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To find the area of the whole shape, we find the area of the 2 shapes and add them together.,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26B32D-CECC-46E4-8A9A-F2FF75398612}"/>
              </a:ext>
            </a:extLst>
          </p:cNvPr>
          <p:cNvSpPr txBox="1"/>
          <p:nvPr/>
        </p:nvSpPr>
        <p:spPr>
          <a:xfrm>
            <a:off x="5191889" y="2170413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43BBB4-7074-4A3F-9293-A575003C263A}"/>
              </a:ext>
            </a:extLst>
          </p:cNvPr>
          <p:cNvSpPr txBox="1"/>
          <p:nvPr/>
        </p:nvSpPr>
        <p:spPr>
          <a:xfrm>
            <a:off x="2461262" y="4204767"/>
            <a:ext cx="267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A=length  x width</a:t>
            </a:r>
          </a:p>
          <a:p>
            <a:r>
              <a:rPr lang="en-AU" sz="1800" dirty="0"/>
              <a:t>  = 7 x 15 cm</a:t>
            </a:r>
          </a:p>
          <a:p>
            <a:r>
              <a:rPr lang="en-AU" sz="1800" dirty="0"/>
              <a:t>   = 105cm</a:t>
            </a:r>
            <a:r>
              <a:rPr lang="en-AU" sz="1800" baseline="30000" dirty="0"/>
              <a:t>2</a:t>
            </a:r>
            <a:endParaRPr lang="en-AU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920299-28FA-4CD7-90AB-A05DDE5EFDA3}"/>
              </a:ext>
            </a:extLst>
          </p:cNvPr>
          <p:cNvSpPr txBox="1"/>
          <p:nvPr/>
        </p:nvSpPr>
        <p:spPr>
          <a:xfrm>
            <a:off x="6103214" y="4081982"/>
            <a:ext cx="267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A=1/2 x base  x height</a:t>
            </a:r>
          </a:p>
          <a:p>
            <a:r>
              <a:rPr lang="en-AU" sz="1800" dirty="0"/>
              <a:t>  = 0.5 x 7 x 5 cm</a:t>
            </a:r>
          </a:p>
          <a:p>
            <a:r>
              <a:rPr lang="en-AU" sz="1800" dirty="0"/>
              <a:t>   = 17.5 cm</a:t>
            </a:r>
            <a:r>
              <a:rPr lang="en-AU" sz="1800" baseline="30000" dirty="0"/>
              <a:t>2</a:t>
            </a:r>
            <a:endParaRPr lang="en-AU" sz="1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EA85A8-B67A-4D86-9397-E30E3EFD93A1}"/>
              </a:ext>
            </a:extLst>
          </p:cNvPr>
          <p:cNvSpPr txBox="1"/>
          <p:nvPr/>
        </p:nvSpPr>
        <p:spPr>
          <a:xfrm>
            <a:off x="3502579" y="5005312"/>
            <a:ext cx="4204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Total area = area of rect. + area of triangle</a:t>
            </a:r>
          </a:p>
          <a:p>
            <a:r>
              <a:rPr lang="en-AU" sz="1800" dirty="0"/>
              <a:t>	= 105 + 17.5 = 122.5cm</a:t>
            </a:r>
            <a:r>
              <a:rPr lang="en-AU" sz="1800" baseline="30000" dirty="0"/>
              <a:t>2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3831843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7A4D5C-A77D-4F8B-B628-211FDBE6F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93204"/>
            <a:ext cx="7647650" cy="167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015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7A4D5C-A77D-4F8B-B628-211FDBE6F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93204"/>
            <a:ext cx="7647650" cy="16796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1DBC13-01A6-48FF-96B0-CDA8EC418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872828"/>
            <a:ext cx="6953376" cy="60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952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>
          <a:blip r:embed="rId2"/>
          <a:stretch>
            <a:fillRect/>
          </a:stretch>
        </p:blipFill>
        <p:spPr>
          <a:xfrm>
            <a:off x="2567391" y="1408206"/>
            <a:ext cx="2249207" cy="1260588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26996" y="4525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6996" y="89601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9290" y="-8985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5188" y="889758"/>
            <a:ext cx="27530" cy="576412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9592" y="-3640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0957" y="-3028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911" y="434349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different shapes?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Box 14"/>
              <p:cNvSpPr txBox="1"/>
              <p:nvPr/>
            </p:nvSpPr>
            <p:spPr>
              <a:xfrm>
                <a:off x="5202567" y="1589962"/>
                <a:ext cx="1610768" cy="53927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000" dirty="0">
                    <a:latin typeface="Calibri"/>
                    <a:ea typeface="Calibri"/>
                    <a:cs typeface="Times New Roman"/>
                  </a:rPr>
                  <a:t>Formula: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𝐴𝑟𝑒𝑎</m:t>
                      </m:r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𝑙𝑤</m:t>
                      </m:r>
                    </m:oMath>
                  </m:oMathPara>
                </a14:m>
                <a:endParaRPr lang="en-AU" sz="2000" dirty="0">
                  <a:latin typeface="Calibri"/>
                  <a:ea typeface="Calibri"/>
                  <a:cs typeface="Times New Roman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000" dirty="0">
                    <a:latin typeface="Calibri"/>
                    <a:ea typeface="Times New Roman"/>
                    <a:cs typeface="Times New Roman"/>
                  </a:rPr>
                  <a:t> </a:t>
                </a:r>
                <a:endParaRPr lang="en-AU" sz="20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>
          <p:sp>
            <p:nvSpPr>
              <p:cNvPr id="13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567" y="1589962"/>
                <a:ext cx="1610768" cy="539270"/>
              </a:xfrm>
              <a:prstGeom prst="rect">
                <a:avLst/>
              </a:prstGeom>
              <a:blipFill>
                <a:blip r:embed="rId3"/>
                <a:stretch>
                  <a:fillRect l="-3774" t="-2273" b="-46591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Box 15"/>
              <p:cNvSpPr txBox="1"/>
              <p:nvPr/>
            </p:nvSpPr>
            <p:spPr>
              <a:xfrm>
                <a:off x="5083104" y="2614976"/>
                <a:ext cx="2099432" cy="818515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000" dirty="0">
                    <a:latin typeface="Calibri"/>
                    <a:ea typeface="Calibri"/>
                    <a:cs typeface="Times New Roman"/>
                  </a:rPr>
                  <a:t>Formula: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𝐴𝑟𝑒𝑎</m:t>
                      </m:r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AU" sz="2000" i="1">
                              <a:solidFill>
                                <a:srgbClr val="E36C0A"/>
                              </a:solidFill>
                              <a:latin typeface="Cambria Math" panose="02040503050406030204" pitchFamily="18" charset="0"/>
                              <a:ea typeface="Calibri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AU" sz="2000" i="1">
                              <a:solidFill>
                                <a:srgbClr val="E36C0A"/>
                              </a:solidFill>
                              <a:latin typeface="Cambria Math"/>
                              <a:ea typeface="Calibri"/>
                              <a:cs typeface="Times New Roman"/>
                            </a:rPr>
                            <m:t>1</m:t>
                          </m:r>
                        </m:num>
                        <m:den>
                          <m:r>
                            <a:rPr lang="en-AU" sz="2000" i="1">
                              <a:solidFill>
                                <a:srgbClr val="E36C0A"/>
                              </a:solidFill>
                              <a:latin typeface="Cambria Math"/>
                              <a:ea typeface="Calibri"/>
                              <a:cs typeface="Times New Roman"/>
                            </a:rPr>
                            <m:t>2</m:t>
                          </m:r>
                        </m:den>
                      </m:f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𝑏h</m:t>
                      </m:r>
                    </m:oMath>
                  </m:oMathPara>
                </a14:m>
                <a:endParaRPr lang="en-AU" sz="20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>
          <p:sp>
            <p:nvSpPr>
              <p:cNvPr id="15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104" y="2614976"/>
                <a:ext cx="2099432" cy="818515"/>
              </a:xfrm>
              <a:prstGeom prst="rect">
                <a:avLst/>
              </a:prstGeom>
              <a:blipFill>
                <a:blip r:embed="rId4"/>
                <a:stretch>
                  <a:fillRect l="-3198" t="-1493" b="-44776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56444" y="1589962"/>
            <a:ext cx="1956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Area of a rectangle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2" y="2779435"/>
            <a:ext cx="1802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Area of a triangle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809" y="3849704"/>
            <a:ext cx="5112568" cy="181674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444" y="4121921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Area of circle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4910514" y="4897893"/>
                <a:ext cx="31609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3.14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514" y="4897893"/>
                <a:ext cx="316095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1A0E5B56-DD15-4E40-A967-0A1794E46EB3}"/>
              </a:ext>
            </a:extLst>
          </p:cNvPr>
          <p:cNvPicPr/>
          <p:nvPr/>
        </p:nvPicPr>
        <p:blipFill rotWithShape="1">
          <a:blip r:embed="rId7"/>
          <a:srcRect l="2187" t="19366"/>
          <a:stretch/>
        </p:blipFill>
        <p:spPr bwMode="auto">
          <a:xfrm>
            <a:off x="2592769" y="2647049"/>
            <a:ext cx="2298890" cy="13043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C94E622-2C12-4410-ADFB-FF8F9C5331FE}"/>
              </a:ext>
            </a:extLst>
          </p:cNvPr>
          <p:cNvSpPr txBox="1"/>
          <p:nvPr/>
        </p:nvSpPr>
        <p:spPr>
          <a:xfrm>
            <a:off x="2195737" y="849736"/>
            <a:ext cx="6827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The area of a shape is the amount of space exists inside a 2 dimensional space. The 3 basic shapes are;</a:t>
            </a:r>
          </a:p>
        </p:txBody>
      </p:sp>
    </p:spTree>
    <p:extLst>
      <p:ext uri="{BB962C8B-B14F-4D97-AF65-F5344CB8AC3E}">
        <p14:creationId xmlns:p14="http://schemas.microsoft.com/office/powerpoint/2010/main" val="4232367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4687F3-DE87-4AB3-8490-9527030319E5}"/>
              </a:ext>
            </a:extLst>
          </p:cNvPr>
          <p:cNvSpPr txBox="1"/>
          <p:nvPr/>
        </p:nvSpPr>
        <p:spPr>
          <a:xfrm>
            <a:off x="323528" y="193204"/>
            <a:ext cx="1944216" cy="524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Complete ex 13.2 from Text.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93A08E-A902-43CD-A3E9-428E18B11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29" y="193204"/>
            <a:ext cx="6076950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11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418</Words>
  <Application>Microsoft Office PowerPoint</Application>
  <PresentationFormat>On-screen Show (16:10)</PresentationFormat>
  <Paragraphs>119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Times New Roman</vt:lpstr>
      <vt:lpstr>Office Theme</vt:lpstr>
      <vt:lpstr>My Perimeter, Area and Volume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WILSON James [Baldivis Secondary College]</cp:lastModifiedBy>
  <cp:revision>37</cp:revision>
  <dcterms:created xsi:type="dcterms:W3CDTF">2014-05-14T02:58:57Z</dcterms:created>
  <dcterms:modified xsi:type="dcterms:W3CDTF">2017-09-03T15:21:58Z</dcterms:modified>
</cp:coreProperties>
</file>
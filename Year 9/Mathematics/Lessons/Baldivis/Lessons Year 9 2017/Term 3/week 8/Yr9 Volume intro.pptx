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1" r:id="rId3"/>
    <p:sldId id="263" r:id="rId4"/>
    <p:sldId id="282" r:id="rId5"/>
    <p:sldId id="267" r:id="rId6"/>
    <p:sldId id="266" r:id="rId7"/>
    <p:sldId id="264" r:id="rId8"/>
    <p:sldId id="270" r:id="rId9"/>
    <p:sldId id="269" r:id="rId10"/>
    <p:sldId id="268" r:id="rId11"/>
    <p:sldId id="271" r:id="rId12"/>
    <p:sldId id="277" r:id="rId13"/>
    <p:sldId id="278" r:id="rId14"/>
    <p:sldId id="279" r:id="rId15"/>
    <p:sldId id="280" r:id="rId16"/>
    <p:sldId id="281" r:id="rId17"/>
    <p:sldId id="260" r:id="rId18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>
        <p:scale>
          <a:sx n="125" d="100"/>
          <a:sy n="125" d="100"/>
        </p:scale>
        <p:origin x="-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3"/>
            <a:ext cx="7886700" cy="237728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2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00969"/>
            <a:ext cx="3887391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6"/>
            <a:ext cx="4629150" cy="406135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8/09/2017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924774"/>
            <a:ext cx="18714" cy="575133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an object?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05938" y="1057454"/>
            <a:ext cx="65863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is the amount of space there is inside a 3d object.</a:t>
            </a:r>
          </a:p>
          <a:p>
            <a:pPr marL="285750" indent="-285750">
              <a:buFontTx/>
              <a:buChar char="-"/>
            </a:pPr>
            <a:endParaRPr lang="en-AU" dirty="0"/>
          </a:p>
          <a:p>
            <a:r>
              <a:rPr lang="en-AU" dirty="0"/>
              <a:t>Think of a lunch container and ask yourself how many 1cm cubes could fit inside it.  The answer is the volume of the container.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741" y="-16038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Volume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257783"/>
            <a:ext cx="3439551" cy="175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65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2988" y="393896"/>
            <a:ext cx="52261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F70FDA-4943-4404-8F94-293271300EC2}"/>
              </a:ext>
            </a:extLst>
          </p:cNvPr>
          <p:cNvSpPr txBox="1"/>
          <p:nvPr/>
        </p:nvSpPr>
        <p:spPr>
          <a:xfrm rot="16200000">
            <a:off x="2743122" y="28021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89FE5B-AE85-48BF-982B-C953252AAD61}"/>
              </a:ext>
            </a:extLst>
          </p:cNvPr>
          <p:cNvSpPr txBox="1"/>
          <p:nvPr/>
        </p:nvSpPr>
        <p:spPr>
          <a:xfrm>
            <a:off x="3925368" y="39759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F8BAD1-E93D-4124-BBA0-C45F6335A9B4}"/>
              </a:ext>
            </a:extLst>
          </p:cNvPr>
          <p:cNvSpPr txBox="1"/>
          <p:nvPr/>
        </p:nvSpPr>
        <p:spPr>
          <a:xfrm rot="18877215">
            <a:off x="5499813" y="36408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</p:spTree>
    <p:extLst>
      <p:ext uri="{BB962C8B-B14F-4D97-AF65-F5344CB8AC3E}">
        <p14:creationId xmlns:p14="http://schemas.microsoft.com/office/powerpoint/2010/main" val="1543643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  <a:highlight>
                  <a:srgbClr val="FFFF00"/>
                </a:highlight>
              </a:rPr>
              <a:t>= 100cm</a:t>
            </a:r>
            <a:r>
              <a:rPr lang="en-AU" baseline="30000" dirty="0">
                <a:solidFill>
                  <a:srgbClr val="0070C0"/>
                </a:solidFill>
                <a:highlight>
                  <a:srgbClr val="FFFF00"/>
                </a:highlight>
              </a:rPr>
              <a:t>2</a:t>
            </a:r>
            <a:endParaRPr lang="en-AU" dirty="0">
              <a:solidFill>
                <a:srgbClr val="0070C0"/>
              </a:solidFill>
              <a:highlight>
                <a:srgbClr val="FFFF00"/>
              </a:highlight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many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301740" y="1545929"/>
            <a:ext cx="292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Area</a:t>
            </a:r>
            <a:r>
              <a:rPr lang="en-AU" dirty="0">
                <a:highlight>
                  <a:srgbClr val="FFFF00"/>
                </a:highlight>
              </a:rPr>
              <a:t>= 10 x 10cm = 100cm</a:t>
            </a:r>
            <a:r>
              <a:rPr lang="en-AU" baseline="30000" dirty="0">
                <a:highlight>
                  <a:srgbClr val="FFFF00"/>
                </a:highlight>
              </a:rPr>
              <a:t>2</a:t>
            </a:r>
            <a:endParaRPr lang="en-AU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62BC58-76EE-43FC-9AED-3697AA15D6AF}"/>
              </a:ext>
            </a:extLst>
          </p:cNvPr>
          <p:cNvSpPr txBox="1"/>
          <p:nvPr/>
        </p:nvSpPr>
        <p:spPr>
          <a:xfrm rot="16200000">
            <a:off x="2743122" y="28021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72671E-E7AD-46EA-AF45-641529E1DAA1}"/>
              </a:ext>
            </a:extLst>
          </p:cNvPr>
          <p:cNvSpPr txBox="1"/>
          <p:nvPr/>
        </p:nvSpPr>
        <p:spPr>
          <a:xfrm>
            <a:off x="3925368" y="39759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ADA41F-A075-4E70-961F-334104DD105F}"/>
              </a:ext>
            </a:extLst>
          </p:cNvPr>
          <p:cNvSpPr txBox="1"/>
          <p:nvPr/>
        </p:nvSpPr>
        <p:spPr>
          <a:xfrm rot="18877215">
            <a:off x="5499813" y="36408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E599E4B-0EB5-47D3-BC93-86EADF172F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8302" y="2006829"/>
            <a:ext cx="2061137" cy="204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1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0" y="1473172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1cm back</a:t>
            </a:r>
          </a:p>
          <a:p>
            <a:r>
              <a:rPr lang="en-AU" dirty="0"/>
              <a:t>	= 100cm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EB66E4-E71A-4228-9694-91191A44EB9F}"/>
              </a:ext>
            </a:extLst>
          </p:cNvPr>
          <p:cNvSpPr txBox="1"/>
          <p:nvPr/>
        </p:nvSpPr>
        <p:spPr>
          <a:xfrm rot="16200000">
            <a:off x="2743122" y="28021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582030-1E2C-4C29-B912-649EADD89610}"/>
              </a:ext>
            </a:extLst>
          </p:cNvPr>
          <p:cNvSpPr txBox="1"/>
          <p:nvPr/>
        </p:nvSpPr>
        <p:spPr>
          <a:xfrm>
            <a:off x="3925368" y="39759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5F8839-0F55-4240-A6F6-7EA0E391593F}"/>
              </a:ext>
            </a:extLst>
          </p:cNvPr>
          <p:cNvSpPr txBox="1"/>
          <p:nvPr/>
        </p:nvSpPr>
        <p:spPr>
          <a:xfrm rot="18877215">
            <a:off x="5499813" y="36408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4945FE-78AE-4C97-A61D-EFD05EF3BFC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3685" y="2006829"/>
            <a:ext cx="2061137" cy="20494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74B5342-0378-435C-BDB3-8569E2A0F317}"/>
              </a:ext>
            </a:extLst>
          </p:cNvPr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  <a:highlight>
                  <a:srgbClr val="FFFF00"/>
                </a:highlight>
              </a:rPr>
              <a:t>= 100cm</a:t>
            </a:r>
            <a:r>
              <a:rPr lang="en-AU" baseline="30000" dirty="0">
                <a:solidFill>
                  <a:srgbClr val="0070C0"/>
                </a:solidFill>
                <a:highlight>
                  <a:srgbClr val="FFFF00"/>
                </a:highlight>
              </a:rPr>
              <a:t>2</a:t>
            </a:r>
            <a:endParaRPr lang="en-AU" dirty="0">
              <a:solidFill>
                <a:srgbClr val="0070C0"/>
              </a:solidFill>
              <a:highlight>
                <a:srgbClr val="FFFF00"/>
              </a:highlight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many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750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030" y="1760041"/>
            <a:ext cx="2143125" cy="2143125"/>
          </a:xfrm>
          <a:prstGeom prst="rect">
            <a:avLst/>
          </a:prstGeom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84096" y="1842504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1478719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2cm back</a:t>
            </a:r>
          </a:p>
          <a:p>
            <a:r>
              <a:rPr lang="en-AU" dirty="0"/>
              <a:t>	= 200cm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43485C-EC47-48BE-A56F-4F23A26F2301}"/>
              </a:ext>
            </a:extLst>
          </p:cNvPr>
          <p:cNvSpPr txBox="1"/>
          <p:nvPr/>
        </p:nvSpPr>
        <p:spPr>
          <a:xfrm rot="16200000">
            <a:off x="2743122" y="28021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F30E4B-2CCD-4CC4-8519-E283B6308E76}"/>
              </a:ext>
            </a:extLst>
          </p:cNvPr>
          <p:cNvSpPr txBox="1"/>
          <p:nvPr/>
        </p:nvSpPr>
        <p:spPr>
          <a:xfrm>
            <a:off x="3925368" y="39759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E74371-D380-4F12-9073-74256D320847}"/>
              </a:ext>
            </a:extLst>
          </p:cNvPr>
          <p:cNvSpPr txBox="1"/>
          <p:nvPr/>
        </p:nvSpPr>
        <p:spPr>
          <a:xfrm rot="18877215">
            <a:off x="3147497" y="3630445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E71D77-EFDD-491A-BE3F-82D079E889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7775" y="2008909"/>
            <a:ext cx="2061137" cy="20494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70D9A7-D627-4C83-8CF9-97EE929F4266}"/>
              </a:ext>
            </a:extLst>
          </p:cNvPr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  <a:highlight>
                  <a:srgbClr val="FFFF00"/>
                </a:highlight>
              </a:rPr>
              <a:t>= 100cm</a:t>
            </a:r>
            <a:r>
              <a:rPr lang="en-AU" baseline="30000" dirty="0">
                <a:solidFill>
                  <a:srgbClr val="0070C0"/>
                </a:solidFill>
                <a:highlight>
                  <a:srgbClr val="FFFF00"/>
                </a:highlight>
              </a:rPr>
              <a:t>2</a:t>
            </a:r>
            <a:endParaRPr lang="en-AU" dirty="0">
              <a:solidFill>
                <a:srgbClr val="0070C0"/>
              </a:solidFill>
              <a:highlight>
                <a:srgbClr val="FFFF00"/>
              </a:highlight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many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58951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1478719"/>
            <a:ext cx="2926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3cm back</a:t>
            </a:r>
          </a:p>
          <a:p>
            <a:r>
              <a:rPr lang="en-AU" dirty="0"/>
              <a:t>	= 300cm</a:t>
            </a:r>
            <a:r>
              <a:rPr lang="en-AU" baseline="30000" dirty="0"/>
              <a:t>3</a:t>
            </a:r>
            <a:endParaRPr lang="en-AU" dirty="0"/>
          </a:p>
          <a:p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9DD764-DDAE-4056-85AB-18630BAF17C8}"/>
              </a:ext>
            </a:extLst>
          </p:cNvPr>
          <p:cNvSpPr txBox="1"/>
          <p:nvPr/>
        </p:nvSpPr>
        <p:spPr>
          <a:xfrm rot="16200000">
            <a:off x="2743122" y="28021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CC90E8-27EC-4AFE-B089-BCAED3362D5A}"/>
              </a:ext>
            </a:extLst>
          </p:cNvPr>
          <p:cNvSpPr txBox="1"/>
          <p:nvPr/>
        </p:nvSpPr>
        <p:spPr>
          <a:xfrm>
            <a:off x="3925368" y="39759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B92D1E-7CC7-4863-AF56-604A9A9F8300}"/>
              </a:ext>
            </a:extLst>
          </p:cNvPr>
          <p:cNvSpPr txBox="1"/>
          <p:nvPr/>
        </p:nvSpPr>
        <p:spPr>
          <a:xfrm rot="18877215">
            <a:off x="5499813" y="36408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6D61207-6407-4ACD-8F1A-B8B7A3675E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4273" y="2006829"/>
            <a:ext cx="2061137" cy="20494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1B76B7A-D913-480E-854E-A26835FBC7A5}"/>
              </a:ext>
            </a:extLst>
          </p:cNvPr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  <a:highlight>
                  <a:srgbClr val="FFFF00"/>
                </a:highlight>
              </a:rPr>
              <a:t>= 100cm</a:t>
            </a:r>
            <a:r>
              <a:rPr lang="en-AU" baseline="30000" dirty="0">
                <a:solidFill>
                  <a:srgbClr val="0070C0"/>
                </a:solidFill>
                <a:highlight>
                  <a:srgbClr val="FFFF00"/>
                </a:highlight>
              </a:rPr>
              <a:t>2</a:t>
            </a:r>
            <a:endParaRPr lang="en-AU" dirty="0">
              <a:solidFill>
                <a:srgbClr val="0070C0"/>
              </a:solidFill>
              <a:highlight>
                <a:srgbClr val="FFFF00"/>
              </a:highlight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many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54787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6217921" y="1478719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4cm back</a:t>
            </a:r>
          </a:p>
          <a:p>
            <a:r>
              <a:rPr lang="en-AU" dirty="0"/>
              <a:t>	= 400cm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BBE88-BDFD-4C28-8164-A73478B70134}"/>
              </a:ext>
            </a:extLst>
          </p:cNvPr>
          <p:cNvSpPr txBox="1"/>
          <p:nvPr/>
        </p:nvSpPr>
        <p:spPr>
          <a:xfrm rot="16200000">
            <a:off x="2743122" y="28021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277CE-9AD2-4D56-9448-FAB8C5BD243E}"/>
              </a:ext>
            </a:extLst>
          </p:cNvPr>
          <p:cNvSpPr txBox="1"/>
          <p:nvPr/>
        </p:nvSpPr>
        <p:spPr>
          <a:xfrm>
            <a:off x="3925368" y="39759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5A298D-922F-438F-8630-E96039B7D045}"/>
              </a:ext>
            </a:extLst>
          </p:cNvPr>
          <p:cNvSpPr txBox="1"/>
          <p:nvPr/>
        </p:nvSpPr>
        <p:spPr>
          <a:xfrm rot="18877215">
            <a:off x="5499813" y="36408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9561CD-15E7-46FF-9F01-0827FC732F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05129" y="2006829"/>
            <a:ext cx="2061137" cy="20494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642C02E-21FE-4876-8688-C936F1A4443F}"/>
              </a:ext>
            </a:extLst>
          </p:cNvPr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  <a:highlight>
                  <a:srgbClr val="FFFF00"/>
                </a:highlight>
              </a:rPr>
              <a:t>= 100cm</a:t>
            </a:r>
            <a:r>
              <a:rPr lang="en-AU" baseline="30000" dirty="0">
                <a:solidFill>
                  <a:srgbClr val="0070C0"/>
                </a:solidFill>
                <a:highlight>
                  <a:srgbClr val="FFFF00"/>
                </a:highlight>
              </a:rPr>
              <a:t>2</a:t>
            </a:r>
            <a:endParaRPr lang="en-AU" dirty="0">
              <a:solidFill>
                <a:srgbClr val="0070C0"/>
              </a:solidFill>
              <a:highlight>
                <a:srgbClr val="FFFF00"/>
              </a:highlight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many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378133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1478719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5cm back</a:t>
            </a:r>
          </a:p>
          <a:p>
            <a:r>
              <a:rPr lang="en-AU" dirty="0"/>
              <a:t>	 = 500cm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D6E143-8007-4B01-8FCD-3099F69EAC1E}"/>
              </a:ext>
            </a:extLst>
          </p:cNvPr>
          <p:cNvSpPr txBox="1"/>
          <p:nvPr/>
        </p:nvSpPr>
        <p:spPr>
          <a:xfrm rot="16200000">
            <a:off x="2743122" y="28021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D92198-0AEC-4D18-8AC2-5B33F094E786}"/>
              </a:ext>
            </a:extLst>
          </p:cNvPr>
          <p:cNvSpPr txBox="1"/>
          <p:nvPr/>
        </p:nvSpPr>
        <p:spPr>
          <a:xfrm>
            <a:off x="3925368" y="39759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4B4596-70CB-4857-A65D-35B6082E5695}"/>
              </a:ext>
            </a:extLst>
          </p:cNvPr>
          <p:cNvSpPr txBox="1"/>
          <p:nvPr/>
        </p:nvSpPr>
        <p:spPr>
          <a:xfrm rot="18877215">
            <a:off x="5499813" y="36408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685D596-7FC8-41F6-8624-656D01BBCE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4273" y="2006829"/>
            <a:ext cx="2061137" cy="20494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9FFFA19-A696-4CEC-BDE7-39FD58BAA6F9}"/>
              </a:ext>
            </a:extLst>
          </p:cNvPr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  <a:highlight>
                  <a:srgbClr val="FFFF00"/>
                </a:highlight>
              </a:rPr>
              <a:t>= 100cm</a:t>
            </a:r>
            <a:r>
              <a:rPr lang="en-AU" baseline="30000" dirty="0">
                <a:solidFill>
                  <a:srgbClr val="0070C0"/>
                </a:solidFill>
                <a:highlight>
                  <a:srgbClr val="FFFF00"/>
                </a:highlight>
              </a:rPr>
              <a:t>2</a:t>
            </a:r>
            <a:endParaRPr lang="en-AU" dirty="0">
              <a:solidFill>
                <a:srgbClr val="0070C0"/>
              </a:solidFill>
              <a:highlight>
                <a:srgbClr val="FFFF00"/>
              </a:highlight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many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99443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86335" y="1551476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8302" y="191526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1478719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6cm back</a:t>
            </a:r>
          </a:p>
          <a:p>
            <a:r>
              <a:rPr lang="en-AU" dirty="0"/>
              <a:t>	= 600cm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059A29-41FB-43A3-8664-18D5B6433349}"/>
              </a:ext>
            </a:extLst>
          </p:cNvPr>
          <p:cNvSpPr txBox="1"/>
          <p:nvPr/>
        </p:nvSpPr>
        <p:spPr>
          <a:xfrm rot="16200000">
            <a:off x="2743122" y="28021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EE1F7C-CDE8-4837-BE55-B5E9BAEC718C}"/>
              </a:ext>
            </a:extLst>
          </p:cNvPr>
          <p:cNvSpPr txBox="1"/>
          <p:nvPr/>
        </p:nvSpPr>
        <p:spPr>
          <a:xfrm>
            <a:off x="3925368" y="39759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0FC7C4-7BAA-477D-94B8-5712DE8144A3}"/>
              </a:ext>
            </a:extLst>
          </p:cNvPr>
          <p:cNvSpPr txBox="1"/>
          <p:nvPr/>
        </p:nvSpPr>
        <p:spPr>
          <a:xfrm rot="18877215">
            <a:off x="5499813" y="36408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458D07-85BC-4768-86B6-49EEDA15D9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05129" y="2006829"/>
            <a:ext cx="2061137" cy="20494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C338263-C95E-45B5-88B1-E892BAB08C73}"/>
              </a:ext>
            </a:extLst>
          </p:cNvPr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  <a:highlight>
                  <a:srgbClr val="FFFF00"/>
                </a:highlight>
              </a:rPr>
              <a:t>= 100cm</a:t>
            </a:r>
            <a:r>
              <a:rPr lang="en-AU" baseline="30000" dirty="0">
                <a:solidFill>
                  <a:srgbClr val="0070C0"/>
                </a:solidFill>
                <a:highlight>
                  <a:srgbClr val="FFFF00"/>
                </a:highlight>
              </a:rPr>
              <a:t>2</a:t>
            </a:r>
            <a:endParaRPr lang="en-AU" dirty="0">
              <a:solidFill>
                <a:srgbClr val="0070C0"/>
              </a:solidFill>
              <a:highlight>
                <a:srgbClr val="FFFF00"/>
              </a:highlight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many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515751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2129" y="1478719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79446" y="1551476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06763" y="1624233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36351" y="1696990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63668" y="1769747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90985" y="1842504"/>
            <a:ext cx="2143125" cy="2143125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416622" y="1913181"/>
            <a:ext cx="2143125" cy="2143125"/>
          </a:xfrm>
          <a:prstGeom prst="rect">
            <a:avLst/>
          </a:prstGeom>
          <a:ln>
            <a:noFill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217921" y="1478719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= 100cm</a:t>
            </a:r>
            <a:r>
              <a:rPr lang="en-AU" baseline="30000" dirty="0"/>
              <a:t>2</a:t>
            </a:r>
            <a:r>
              <a:rPr lang="en-AU" dirty="0"/>
              <a:t> x 7cm back</a:t>
            </a:r>
          </a:p>
          <a:p>
            <a:r>
              <a:rPr lang="en-AU" dirty="0"/>
              <a:t>	= 700cm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442F34-4556-4166-BDDE-BE4ED4E5D94F}"/>
              </a:ext>
            </a:extLst>
          </p:cNvPr>
          <p:cNvSpPr txBox="1"/>
          <p:nvPr/>
        </p:nvSpPr>
        <p:spPr>
          <a:xfrm rot="16200000">
            <a:off x="2743122" y="2802157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C1438A-F948-49BE-8AD9-2E581EF6ABEE}"/>
              </a:ext>
            </a:extLst>
          </p:cNvPr>
          <p:cNvSpPr txBox="1"/>
          <p:nvPr/>
        </p:nvSpPr>
        <p:spPr>
          <a:xfrm>
            <a:off x="3925368" y="3975923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AD012B-A78C-4A60-8837-BE4F017761B1}"/>
              </a:ext>
            </a:extLst>
          </p:cNvPr>
          <p:cNvSpPr txBox="1"/>
          <p:nvPr/>
        </p:nvSpPr>
        <p:spPr>
          <a:xfrm rot="18877215">
            <a:off x="5499813" y="3640850"/>
            <a:ext cx="90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10cm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FD6C23-BDA2-426C-8BC0-5B49C7C346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t="4370" r="3826"/>
          <a:stretch/>
        </p:blipFill>
        <p:spPr>
          <a:xfrm>
            <a:off x="3414273" y="2006829"/>
            <a:ext cx="2061137" cy="204947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7E35DF-E0E4-4DF9-86A6-71E626DB3FD7}"/>
              </a:ext>
            </a:extLst>
          </p:cNvPr>
          <p:cNvSpPr/>
          <p:nvPr/>
        </p:nvSpPr>
        <p:spPr>
          <a:xfrm>
            <a:off x="6720634" y="2471977"/>
            <a:ext cx="1920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Volume is in units</a:t>
            </a:r>
            <a:r>
              <a:rPr lang="en-AU" baseline="30000" dirty="0"/>
              <a:t>3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0B73B8-CDB6-4F8C-BCB3-D3C0170DD31B}"/>
              </a:ext>
            </a:extLst>
          </p:cNvPr>
          <p:cNvSpPr txBox="1"/>
          <p:nvPr/>
        </p:nvSpPr>
        <p:spPr>
          <a:xfrm>
            <a:off x="439957" y="393896"/>
            <a:ext cx="7151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find the volume of a rectangular prism:</a:t>
            </a:r>
          </a:p>
          <a:p>
            <a:r>
              <a:rPr lang="en-AU" dirty="0"/>
              <a:t>	1. Calculate the area of the “face” </a:t>
            </a:r>
            <a:r>
              <a:rPr lang="en-AU" dirty="0">
                <a:solidFill>
                  <a:srgbClr val="0070C0"/>
                </a:solidFill>
                <a:highlight>
                  <a:srgbClr val="FFFF00"/>
                </a:highlight>
              </a:rPr>
              <a:t>= 100cm</a:t>
            </a:r>
            <a:r>
              <a:rPr lang="en-AU" baseline="30000" dirty="0">
                <a:solidFill>
                  <a:srgbClr val="0070C0"/>
                </a:solidFill>
                <a:highlight>
                  <a:srgbClr val="FFFF00"/>
                </a:highlight>
              </a:rPr>
              <a:t>2</a:t>
            </a:r>
            <a:endParaRPr lang="en-AU" dirty="0">
              <a:solidFill>
                <a:srgbClr val="0070C0"/>
              </a:solidFill>
              <a:highlight>
                <a:srgbClr val="FFFF00"/>
              </a:highlight>
            </a:endParaRPr>
          </a:p>
          <a:p>
            <a:r>
              <a:rPr lang="en-AU" baseline="30000" dirty="0">
                <a:solidFill>
                  <a:srgbClr val="0070C0"/>
                </a:solidFill>
              </a:rPr>
              <a:t>	</a:t>
            </a:r>
            <a:r>
              <a:rPr lang="en-AU" dirty="0"/>
              <a:t>2. Multiple that area by how many rows it goes back </a:t>
            </a:r>
            <a:r>
              <a:rPr lang="en-AU" baseline="30000" dirty="0">
                <a:solidFill>
                  <a:srgbClr val="0070C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44985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4611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92089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559" y="-54200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/>
              <a:t>24</a:t>
            </a:r>
          </a:p>
          <a:p>
            <a:r>
              <a:rPr lang="en-AU" sz="1100" dirty="0"/>
              <a:t>7</a:t>
            </a:r>
          </a:p>
          <a:p>
            <a:r>
              <a:rPr lang="en-AU" sz="11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2189228" y="924774"/>
            <a:ext cx="18714" cy="575133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08126" y="15049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1170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you find the volume of an object?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05938" y="1057454"/>
            <a:ext cx="658636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Volume is the amount of space there is inside a 3d object.</a:t>
            </a:r>
          </a:p>
          <a:p>
            <a:pPr marL="285750" indent="-285750">
              <a:buFontTx/>
              <a:buChar char="-"/>
            </a:pPr>
            <a:endParaRPr lang="en-AU" dirty="0"/>
          </a:p>
          <a:p>
            <a:r>
              <a:rPr lang="en-AU" dirty="0"/>
              <a:t>Think of a lunch container and ask yourself how many 1cm cubes could fit inside it.  The answer is the volume of the container.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For any prism or cylinder	</a:t>
            </a:r>
          </a:p>
          <a:p>
            <a:r>
              <a:rPr lang="en-AU" dirty="0"/>
              <a:t>	Volume  = area of the face x the length of the object </a:t>
            </a:r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76741" y="-16038"/>
            <a:ext cx="1977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Volume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567" y="2257783"/>
            <a:ext cx="3439551" cy="175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36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7" y="688490"/>
            <a:ext cx="1891576" cy="16244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33" y="1250248"/>
            <a:ext cx="1490214" cy="2502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935" y="1746540"/>
            <a:ext cx="1796583" cy="1959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061" y="434675"/>
            <a:ext cx="2305050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593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7" y="688490"/>
            <a:ext cx="1891576" cy="16244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33" y="1250248"/>
            <a:ext cx="1490214" cy="2502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935" y="1746540"/>
            <a:ext cx="1796583" cy="1959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061" y="434675"/>
            <a:ext cx="2305050" cy="2066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937" y="2633838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40cm</a:t>
            </a:r>
            <a:r>
              <a:rPr lang="en-AU" sz="1600" baseline="30000" dirty="0"/>
              <a:t>2</a:t>
            </a:r>
            <a:r>
              <a:rPr lang="en-AU" sz="1600" dirty="0"/>
              <a:t> x 8cm</a:t>
            </a:r>
          </a:p>
          <a:p>
            <a:r>
              <a:rPr lang="en-AU" sz="1600" dirty="0"/>
              <a:t>               = 320cm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3355755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7" y="688490"/>
            <a:ext cx="1891576" cy="16244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33" y="1250248"/>
            <a:ext cx="1490214" cy="2502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935" y="1746540"/>
            <a:ext cx="1796583" cy="1959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061" y="434675"/>
            <a:ext cx="2305050" cy="2066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937" y="2633838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40cm</a:t>
            </a:r>
            <a:r>
              <a:rPr lang="en-AU" sz="1600" baseline="30000" dirty="0"/>
              <a:t>2</a:t>
            </a:r>
            <a:r>
              <a:rPr lang="en-AU" sz="1600" dirty="0"/>
              <a:t> x 8cm</a:t>
            </a:r>
          </a:p>
          <a:p>
            <a:r>
              <a:rPr lang="en-AU" sz="1600" dirty="0"/>
              <a:t>               = 320cm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2303393" y="3948063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4cm</a:t>
            </a:r>
            <a:r>
              <a:rPr lang="en-AU" sz="1600" baseline="30000" dirty="0"/>
              <a:t>2</a:t>
            </a:r>
            <a:r>
              <a:rPr lang="en-AU" sz="1600" dirty="0"/>
              <a:t> x 3cm</a:t>
            </a:r>
          </a:p>
          <a:p>
            <a:r>
              <a:rPr lang="en-AU" sz="1600" dirty="0"/>
              <a:t>               = 12cm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472597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7" y="688490"/>
            <a:ext cx="1891576" cy="16244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33" y="1250248"/>
            <a:ext cx="1490214" cy="2502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935" y="1746540"/>
            <a:ext cx="1796583" cy="1959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061" y="434675"/>
            <a:ext cx="2305050" cy="2066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937" y="2633838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40cm</a:t>
            </a:r>
            <a:r>
              <a:rPr lang="en-AU" sz="1600" baseline="30000" dirty="0"/>
              <a:t>2</a:t>
            </a:r>
            <a:r>
              <a:rPr lang="en-AU" sz="1600" dirty="0"/>
              <a:t> x 8cm</a:t>
            </a:r>
          </a:p>
          <a:p>
            <a:r>
              <a:rPr lang="en-AU" sz="1600" dirty="0"/>
              <a:t>               = 320cm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2303393" y="3948063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4cm</a:t>
            </a:r>
            <a:r>
              <a:rPr lang="en-AU" sz="1600" baseline="30000" dirty="0"/>
              <a:t>2</a:t>
            </a:r>
            <a:r>
              <a:rPr lang="en-AU" sz="1600" dirty="0"/>
              <a:t> x 3cm</a:t>
            </a:r>
          </a:p>
          <a:p>
            <a:r>
              <a:rPr lang="en-AU" sz="1600" dirty="0"/>
              <a:t>               = 12cm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4821164" y="2633838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3.2m</a:t>
            </a:r>
            <a:r>
              <a:rPr lang="en-AU" sz="1600" baseline="30000" dirty="0"/>
              <a:t>2</a:t>
            </a:r>
            <a:r>
              <a:rPr lang="en-AU" sz="1600" dirty="0"/>
              <a:t> x 3m</a:t>
            </a:r>
          </a:p>
          <a:p>
            <a:r>
              <a:rPr lang="en-AU" sz="1600" dirty="0"/>
              <a:t>               = 9.6m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420288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17" y="688490"/>
            <a:ext cx="1891576" cy="16244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33" y="1250248"/>
            <a:ext cx="1490214" cy="2502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935" y="1746540"/>
            <a:ext cx="1796583" cy="19599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061" y="434675"/>
            <a:ext cx="2305050" cy="20669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937" y="2633838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40cm</a:t>
            </a:r>
            <a:r>
              <a:rPr lang="en-AU" sz="1600" baseline="30000" dirty="0"/>
              <a:t>2</a:t>
            </a:r>
            <a:r>
              <a:rPr lang="en-AU" sz="1600" dirty="0"/>
              <a:t> x 8cm</a:t>
            </a:r>
          </a:p>
          <a:p>
            <a:r>
              <a:rPr lang="en-AU" sz="1600" dirty="0"/>
              <a:t>               = 320cm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2303393" y="3948063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4cm</a:t>
            </a:r>
            <a:r>
              <a:rPr lang="en-AU" sz="1600" baseline="30000" dirty="0"/>
              <a:t>2</a:t>
            </a:r>
            <a:r>
              <a:rPr lang="en-AU" sz="1600" dirty="0"/>
              <a:t> x 3cm</a:t>
            </a:r>
          </a:p>
          <a:p>
            <a:r>
              <a:rPr lang="en-AU" sz="1600" dirty="0"/>
              <a:t>               = 12cm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4821164" y="2633838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3.2m</a:t>
            </a:r>
            <a:r>
              <a:rPr lang="en-AU" sz="1600" baseline="30000" dirty="0"/>
              <a:t>2</a:t>
            </a:r>
            <a:r>
              <a:rPr lang="en-AU" sz="1600" dirty="0"/>
              <a:t> x 3m</a:t>
            </a:r>
          </a:p>
          <a:p>
            <a:r>
              <a:rPr lang="en-AU" sz="1600" dirty="0"/>
              <a:t>               = 9.6m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6813121" y="3948063"/>
            <a:ext cx="24309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Volume = Area x length</a:t>
            </a:r>
          </a:p>
          <a:p>
            <a:r>
              <a:rPr lang="en-AU" sz="1600" dirty="0"/>
              <a:t>               = 17cm</a:t>
            </a:r>
            <a:r>
              <a:rPr lang="en-AU" sz="1600" baseline="30000" dirty="0"/>
              <a:t>2</a:t>
            </a:r>
            <a:r>
              <a:rPr lang="en-AU" sz="1600" dirty="0"/>
              <a:t> x 4cm</a:t>
            </a:r>
          </a:p>
          <a:p>
            <a:r>
              <a:rPr lang="en-AU" sz="1600" dirty="0"/>
              <a:t>               = 68cm</a:t>
            </a:r>
            <a:r>
              <a:rPr lang="en-AU" sz="1600" baseline="30000" dirty="0"/>
              <a:t>3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277381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611"/>
          <a:stretch/>
        </p:blipFill>
        <p:spPr>
          <a:xfrm>
            <a:off x="849854" y="142013"/>
            <a:ext cx="6745044" cy="199315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3315"/>
          <a:stretch/>
        </p:blipFill>
        <p:spPr>
          <a:xfrm>
            <a:off x="914400" y="2135167"/>
            <a:ext cx="7155472" cy="346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505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r11 Volume" id="{7642EB5C-C1E4-4818-A95E-1C4FDF77A8D1}" vid="{EEAE1221-B9DB-490C-B670-831CBC36E5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412</Words>
  <Application>Microsoft Office PowerPoint</Application>
  <PresentationFormat>On-screen Show (16:10)</PresentationFormat>
  <Paragraphs>127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WILSON James [Baldivis Secondary College]</cp:lastModifiedBy>
  <cp:revision>15</cp:revision>
  <dcterms:created xsi:type="dcterms:W3CDTF">2016-07-22T05:41:47Z</dcterms:created>
  <dcterms:modified xsi:type="dcterms:W3CDTF">2017-09-08T04:01:36Z</dcterms:modified>
</cp:coreProperties>
</file>
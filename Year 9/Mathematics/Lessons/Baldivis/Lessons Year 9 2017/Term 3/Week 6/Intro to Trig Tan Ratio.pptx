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gif" ContentType="image/gif"/>
  <Default Extension="jpg" ContentType="image/jpeg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4" r:id="rId2"/>
    <p:sldId id="285" r:id="rId3"/>
    <p:sldId id="286" r:id="rId4"/>
    <p:sldId id="283" r:id="rId5"/>
    <p:sldId id="287" r:id="rId6"/>
    <p:sldId id="257" r:id="rId7"/>
    <p:sldId id="259" r:id="rId8"/>
    <p:sldId id="258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63" r:id="rId21"/>
    <p:sldId id="267" r:id="rId22"/>
    <p:sldId id="268" r:id="rId23"/>
    <p:sldId id="269" r:id="rId24"/>
    <p:sldId id="270" r:id="rId25"/>
    <p:sldId id="27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12"/>
  </p:normalViewPr>
  <p:slideViewPr>
    <p:cSldViewPr>
      <p:cViewPr varScale="1">
        <p:scale>
          <a:sx n="102" d="100"/>
          <a:sy n="102" d="100"/>
        </p:scale>
        <p:origin x="13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22/08/2017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76FE3-CA7B-449B-A89A-B0EE0C6B48E8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76FE3-CA7B-449B-A89A-B0EE0C6B48E8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22/08/2017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 Evans</a:t>
            </a:r>
          </a:p>
          <a:p>
            <a:pPr algn="l"/>
            <a:r>
              <a:rPr lang="en-AU" smtClean="0"/>
              <a:t>Term 3 </a:t>
            </a:r>
            <a:r>
              <a:rPr lang="en-AU" dirty="0" smtClean="0"/>
              <a:t>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fontScale="92500" lnSpcReduction="10000"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Solve the following equations:</a:t>
            </a:r>
          </a:p>
          <a:p>
            <a:pPr>
              <a:buNone/>
            </a:pPr>
            <a:endParaRPr lang="en-GB" dirty="0" smtClean="0"/>
          </a:p>
          <a:p>
            <a:pPr marL="514350" indent="-514350">
              <a:buAutoNum type="arabicParenR"/>
            </a:pPr>
            <a:r>
              <a:rPr lang="en-GB" dirty="0" smtClean="0"/>
              <a:t>20=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15=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8=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7=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16=</a:t>
            </a:r>
          </a:p>
          <a:p>
            <a:pPr marL="514350" indent="-514350">
              <a:buAutoNum type="arabicParenR"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780928"/>
            <a:ext cx="43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 smtClean="0"/>
              <a:t>X</a:t>
            </a:r>
          </a:p>
          <a:p>
            <a:r>
              <a:rPr lang="en-GB" sz="2400" dirty="0" smtClean="0"/>
              <a:t>2</a:t>
            </a:r>
            <a:endParaRPr lang="en-GB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691680" y="3789040"/>
            <a:ext cx="43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 smtClean="0"/>
              <a:t>X</a:t>
            </a:r>
          </a:p>
          <a:p>
            <a:r>
              <a:rPr lang="en-GB" sz="2400" dirty="0" smtClean="0"/>
              <a:t>3</a:t>
            </a:r>
            <a:endParaRPr lang="en-GB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436096" y="2492896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 smtClean="0"/>
              <a:t>32</a:t>
            </a:r>
          </a:p>
          <a:p>
            <a:r>
              <a:rPr lang="en-GB" sz="2400" dirty="0" smtClean="0"/>
              <a:t> X</a:t>
            </a:r>
            <a:endParaRPr lang="en-GB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436096" y="3534107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 smtClean="0"/>
              <a:t>21</a:t>
            </a:r>
          </a:p>
          <a:p>
            <a:r>
              <a:rPr lang="en-GB" sz="2400" dirty="0" smtClean="0"/>
              <a:t> X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652120" y="4941168"/>
            <a:ext cx="64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 smtClean="0"/>
              <a:t>64</a:t>
            </a:r>
          </a:p>
          <a:p>
            <a:r>
              <a:rPr lang="en-GB" sz="2400" dirty="0" smtClean="0"/>
              <a:t> X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34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Trigonometry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find the length of the sides of a right angled triangle if you have a given angle size?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Brandish" pitchFamily="2" charset="0"/>
              </a:rPr>
              <a:t>Trigonometry</a:t>
            </a:r>
            <a:r>
              <a:rPr lang="en-GB" sz="6600" smtClean="0">
                <a:latin typeface="Brandish" pitchFamily="2" charset="0"/>
              </a:rPr>
              <a:t/>
            </a:r>
            <a:br>
              <a:rPr lang="en-GB" sz="6600" smtClean="0">
                <a:latin typeface="Brandish" pitchFamily="2" charset="0"/>
              </a:rPr>
            </a:br>
            <a:r>
              <a:rPr lang="en-GB" sz="6600" smtClean="0">
                <a:latin typeface="Brandish" pitchFamily="2" charset="0"/>
              </a:rPr>
              <a:t>(</a:t>
            </a:r>
            <a:r>
              <a:rPr lang="en-GB" sz="4000" smtClean="0">
                <a:latin typeface="Brandish" pitchFamily="2" charset="0"/>
              </a:rPr>
              <a:t>Triangle Measurement)</a:t>
            </a:r>
            <a:endParaRPr lang="en-GB" sz="6600" dirty="0">
              <a:latin typeface="Brandish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 smtClean="0"/>
              <a:t>We can use trigonometry to find missing angles and lengths of triangles.</a:t>
            </a:r>
          </a:p>
          <a:p>
            <a:r>
              <a:rPr lang="en-GB" dirty="0" smtClean="0"/>
              <a:t>Trigonometry uses three functions, these are called:</a:t>
            </a:r>
          </a:p>
          <a:p>
            <a:pPr lvl="1"/>
            <a:r>
              <a:rPr lang="en-GB" dirty="0" smtClean="0"/>
              <a:t>Sine (shortened to Sin and pronounced “sign”)</a:t>
            </a:r>
          </a:p>
          <a:p>
            <a:pPr lvl="1"/>
            <a:r>
              <a:rPr lang="en-GB" dirty="0" smtClean="0"/>
              <a:t>Cosine (shortened to Cos)</a:t>
            </a:r>
          </a:p>
          <a:p>
            <a:pPr lvl="1"/>
            <a:r>
              <a:rPr lang="en-GB" dirty="0" smtClean="0"/>
              <a:t>Tangent (shortened to Tan)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25760"/>
            <a:ext cx="8229600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5400" dirty="0" smtClean="0">
                <a:latin typeface="Brandish" pitchFamily="2" charset="0"/>
              </a:rPr>
              <a:t>Labelling the sides</a:t>
            </a:r>
            <a:endParaRPr lang="en-GB" sz="5400" dirty="0">
              <a:latin typeface="Brandish" pitchFamily="2" charset="0"/>
            </a:endParaRPr>
          </a:p>
        </p:txBody>
      </p:sp>
      <p:sp>
        <p:nvSpPr>
          <p:cNvPr id="4" name="Right Triangle 3"/>
          <p:cNvSpPr/>
          <p:nvPr/>
        </p:nvSpPr>
        <p:spPr>
          <a:xfrm>
            <a:off x="899592" y="2348880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 rot="2162792">
            <a:off x="2509028" y="3500371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Hypotenuse</a:t>
            </a:r>
            <a:endParaRPr lang="en-GB" sz="4000" dirty="0"/>
          </a:p>
        </p:txBody>
      </p:sp>
      <p:sp>
        <p:nvSpPr>
          <p:cNvPr id="6" name="Rectangle 5"/>
          <p:cNvSpPr/>
          <p:nvPr/>
        </p:nvSpPr>
        <p:spPr>
          <a:xfrm>
            <a:off x="899592" y="5661248"/>
            <a:ext cx="648072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longest side, the one opposite</a:t>
            </a:r>
            <a:r>
              <a:rPr kumimoji="0" lang="en-GB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the right angle is called the hypotenuse</a:t>
            </a: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 smtClean="0">
                <a:latin typeface="+mj-lt"/>
                <a:ea typeface="+mj-ea"/>
                <a:cs typeface="+mj-cs"/>
              </a:rPr>
              <a:t>Before we can use Sin, Cos and Tan we need to be able to label the sides of a right angled triangle</a:t>
            </a: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95436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 smtClean="0">
                <a:latin typeface="Arial Black" pitchFamily="34" charset="0"/>
              </a:rPr>
              <a:t>Labelling the sides</a:t>
            </a:r>
            <a:endParaRPr lang="en-GB" dirty="0">
              <a:latin typeface="Arial Black" pitchFamily="34" charset="0"/>
            </a:endParaRPr>
          </a:p>
        </p:txBody>
      </p:sp>
      <p:sp>
        <p:nvSpPr>
          <p:cNvPr id="4" name="Right Triangle 3"/>
          <p:cNvSpPr/>
          <p:nvPr/>
        </p:nvSpPr>
        <p:spPr>
          <a:xfrm>
            <a:off x="971600" y="170080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 rot="16200000">
            <a:off x="-502694" y="3103096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Opposite</a:t>
            </a:r>
            <a:endParaRPr lang="en-GB" sz="4000" dirty="0"/>
          </a:p>
        </p:txBody>
      </p:sp>
      <p:sp>
        <p:nvSpPr>
          <p:cNvPr id="6" name="Rectangle 5"/>
          <p:cNvSpPr/>
          <p:nvPr/>
        </p:nvSpPr>
        <p:spPr>
          <a:xfrm>
            <a:off x="971599" y="5013176"/>
            <a:ext cx="648072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339752" y="1268760"/>
            <a:ext cx="680424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 smtClean="0">
                <a:latin typeface="Garamond" pitchFamily="18" charset="0"/>
                <a:ea typeface="+mj-ea"/>
                <a:cs typeface="+mj-cs"/>
              </a:rPr>
              <a:t>What we call the other two sides will change depending on which angle we are working with, for example..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20071" y="4869160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dirty="0" smtClean="0"/>
              <a:t>ϴ</a:t>
            </a:r>
            <a:endParaRPr lang="en-GB" sz="4400" dirty="0"/>
          </a:p>
        </p:txBody>
      </p:sp>
      <p:sp>
        <p:nvSpPr>
          <p:cNvPr id="9" name="TextBox 8"/>
          <p:cNvSpPr txBox="1"/>
          <p:nvPr/>
        </p:nvSpPr>
        <p:spPr>
          <a:xfrm>
            <a:off x="2987823" y="5661248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Adjacent</a:t>
            </a:r>
            <a:endParaRPr lang="en-GB" sz="40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419872" y="2276872"/>
            <a:ext cx="572412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 smtClean="0">
                <a:latin typeface="Garamond" pitchFamily="18" charset="0"/>
                <a:ea typeface="+mj-ea"/>
                <a:cs typeface="+mj-cs"/>
              </a:rPr>
              <a:t>If we are given (or need to work out) this angle, we label the other sides like this..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+mj-ea"/>
              <a:cs typeface="+mj-cs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004048" y="3573016"/>
            <a:ext cx="3888432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 smtClean="0">
                <a:latin typeface="Garamond" pitchFamily="18" charset="0"/>
                <a:ea typeface="+mj-ea"/>
                <a:cs typeface="+mj-cs"/>
              </a:rPr>
              <a:t>But if we are working with this angle, we label the sides like this...</a:t>
            </a: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+mj-ea"/>
              <a:cs typeface="+mj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15816" y="5661248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Opposite</a:t>
            </a:r>
            <a:endParaRPr lang="en-GB" sz="4000" dirty="0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-479835" y="3008227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Adjacent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2948E-6 C -0.0349 -0.00393 -0.06771 -0.02174 -0.10278 -0.02682 C -0.13906 -0.04047 -0.17448 -0.03029 -0.21354 -0.02937 C -0.25903 -0.03099 -0.27396 -0.02336 -0.30521 -0.0585 C -0.30625 -0.06359 -0.30521 -0.07099 -0.30851 -0.07399 C -0.33958 -0.1059 -0.30903 -0.04902 -0.33056 -0.0874 C -0.34757 -0.11792 -0.36424 -0.14867 -0.3875 -0.17041 C -0.3941 -0.18844 -0.40365 -0.20393 -0.41285 -0.21943 C -0.41511 -0.23006 -0.42136 -0.2363 -0.42535 -0.24648 C -0.43663 -0.27515 -0.44844 -0.30567 -0.45382 -0.33827 C -0.45434 -0.35515 -0.45556 -0.37249 -0.45556 -0.3896 C -0.45556 -0.40208 -0.45573 -0.4007 -0.4507 -0.4007 " pathEditMode="relative" rAng="0" ptsTypes="fffffffffffA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00" y="-20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/>
      <p:bldP spid="8" grpId="1"/>
      <p:bldP spid="9" grpId="0"/>
      <p:bldP spid="9" grpId="1"/>
      <p:bldP spid="10" grpId="0"/>
      <p:bldP spid="11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28800"/>
            <a:ext cx="7772400" cy="1470025"/>
          </a:xfrm>
        </p:spPr>
        <p:txBody>
          <a:bodyPr/>
          <a:lstStyle/>
          <a:p>
            <a:r>
              <a:rPr lang="en-GB" dirty="0" smtClean="0">
                <a:latin typeface="Aharoni" pitchFamily="2" charset="-79"/>
                <a:cs typeface="Aharoni" pitchFamily="2" charset="-79"/>
              </a:rPr>
              <a:t>Labelling Right Angle Triangle</a:t>
            </a:r>
            <a:endParaRPr lang="en-GB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10 multiple choice questions</a:t>
            </a:r>
            <a:endParaRPr lang="en-GB" sz="4000" dirty="0">
              <a:solidFill>
                <a:schemeClr val="tx1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92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>
            <a:off x="3203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364088" y="2638653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2555776" y="1918573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0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>
            <a:off x="3203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203848" y="1412776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2555776" y="1918573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20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>
            <a:off x="3203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364088" y="2638653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716016" y="1340768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20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>
            <a:off x="3275856" y="1196752"/>
            <a:ext cx="2880320" cy="1080120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203848" y="1196752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139952" y="2276872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20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 rot="20150453">
            <a:off x="3675821" y="766589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491880" y="148478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788024" y="836712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92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 rot="5400000">
            <a:off x="3995065" y="1267889"/>
            <a:ext cx="1585917" cy="230425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004048" y="1486525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355976" y="849486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92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>
            <a:off x="3203848" y="1270501"/>
            <a:ext cx="3240360" cy="1438419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203848" y="1340768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2555776" y="1918573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20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 rot="18919960">
            <a:off x="3566449" y="698212"/>
            <a:ext cx="1224136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646569" y="1704583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 rot="18942414">
            <a:off x="3206409" y="1776591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0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>
            <a:off x="3203848" y="908720"/>
            <a:ext cx="3240360" cy="1656184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203848" y="112474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427984" y="2348880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20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45024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A)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97531" y="3645024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B)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373216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 smtClean="0">
                <a:latin typeface="Century Gothic" pitchFamily="34" charset="0"/>
                <a:cs typeface="Aharoni" pitchFamily="2" charset="-79"/>
              </a:rPr>
              <a:t>C)</a:t>
            </a:r>
            <a:endParaRPr lang="en-GB" sz="4800" dirty="0"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Right Triangle 11"/>
          <p:cNvSpPr/>
          <p:nvPr/>
        </p:nvSpPr>
        <p:spPr>
          <a:xfrm>
            <a:off x="3203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364088" y="2638653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 smtClean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499992" y="1340768"/>
            <a:ext cx="543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 smtClean="0"/>
              <a:t>X</a:t>
            </a:r>
            <a:endParaRPr lang="en-GB" sz="5400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8864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What is the side marked with an X?</a:t>
            </a:r>
            <a:endParaRPr lang="en-GB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5696" y="188640"/>
            <a:ext cx="5853336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Arial Black" pitchFamily="34" charset="0"/>
              </a:rPr>
              <a:t>Tangent (tan)</a:t>
            </a:r>
            <a:endParaRPr lang="en-GB" sz="6600" dirty="0">
              <a:latin typeface="Arial Black" pitchFamily="34" charset="0"/>
            </a:endParaRPr>
          </a:p>
        </p:txBody>
      </p:sp>
      <p:grpSp>
        <p:nvGrpSpPr>
          <p:cNvPr id="3" name="Group 6"/>
          <p:cNvGrpSpPr/>
          <p:nvPr/>
        </p:nvGrpSpPr>
        <p:grpSpPr>
          <a:xfrm>
            <a:off x="971600" y="1052736"/>
            <a:ext cx="3183941" cy="2257734"/>
            <a:chOff x="971599" y="1700808"/>
            <a:chExt cx="5616625" cy="3982751"/>
          </a:xfrm>
        </p:grpSpPr>
        <p:sp>
          <p:nvSpPr>
            <p:cNvPr id="4" name="Right Triangle 3"/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782366" y="4869160"/>
              <a:ext cx="1049670" cy="814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 smtClean="0"/>
                <a:t>50˚</a:t>
              </a:r>
              <a:endParaRPr lang="en-GB" sz="2400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259632" y="3284984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6.4cm (1dp)</a:t>
            </a:r>
            <a:endParaRPr lang="en-GB" sz="2800" dirty="0"/>
          </a:p>
        </p:txBody>
      </p:sp>
      <p:sp>
        <p:nvSpPr>
          <p:cNvPr id="9" name="TextBox 8"/>
          <p:cNvSpPr txBox="1"/>
          <p:nvPr/>
        </p:nvSpPr>
        <p:spPr>
          <a:xfrm rot="16200000">
            <a:off x="113813" y="1906379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10cm</a:t>
            </a:r>
            <a:endParaRPr lang="en-GB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4355976" y="1556792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We use cosine when we have the </a:t>
            </a:r>
            <a:r>
              <a:rPr lang="en-GB" sz="2000" b="1" u="sng" dirty="0" smtClean="0">
                <a:solidFill>
                  <a:srgbClr val="FF0000"/>
                </a:solidFill>
              </a:rPr>
              <a:t>Opposite </a:t>
            </a:r>
            <a:r>
              <a:rPr lang="en-GB" sz="2000" dirty="0" smtClean="0"/>
              <a:t>and </a:t>
            </a:r>
            <a:r>
              <a:rPr lang="en-GB" sz="2000" b="1" u="sng" dirty="0" smtClean="0">
                <a:solidFill>
                  <a:srgbClr val="FF0000"/>
                </a:solidFill>
              </a:rPr>
              <a:t>Adjacent</a:t>
            </a:r>
            <a:r>
              <a:rPr lang="en-GB" sz="2000" dirty="0" smtClean="0"/>
              <a:t> lengths.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27687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The rule we use is:</a:t>
            </a:r>
            <a:endParaRPr lang="en-GB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499992" y="2973145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rgbClr val="7030A0"/>
                </a:solidFill>
              </a:rPr>
              <a:t>Tan</a:t>
            </a:r>
            <a:r>
              <a:rPr lang="el-GR" sz="3600" b="1" dirty="0" smtClean="0">
                <a:solidFill>
                  <a:srgbClr val="7030A0"/>
                </a:solidFill>
              </a:rPr>
              <a:t>ϴ</a:t>
            </a:r>
            <a:r>
              <a:rPr lang="en-GB" sz="3600" b="1" dirty="0" smtClean="0">
                <a:solidFill>
                  <a:srgbClr val="7030A0"/>
                </a:solidFill>
              </a:rPr>
              <a:t>=</a:t>
            </a:r>
            <a:endParaRPr lang="en-GB" sz="3600" b="1" dirty="0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24128" y="2780928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 smtClean="0">
                <a:solidFill>
                  <a:srgbClr val="7030A0"/>
                </a:solidFill>
              </a:rPr>
              <a:t>Opposite</a:t>
            </a:r>
          </a:p>
          <a:p>
            <a:pPr algn="ctr"/>
            <a:r>
              <a:rPr lang="en-GB" sz="3600" b="1" dirty="0" smtClean="0">
                <a:solidFill>
                  <a:srgbClr val="7030A0"/>
                </a:solidFill>
              </a:rPr>
              <a:t>Adjacent</a:t>
            </a:r>
            <a:endParaRPr lang="en-GB" sz="3600" b="1" u="sng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0" y="188640"/>
            <a:ext cx="6480720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Arial Black" pitchFamily="34" charset="0"/>
              </a:rPr>
              <a:t>Tan  Example 1</a:t>
            </a:r>
            <a:endParaRPr lang="en-GB" sz="6600" dirty="0">
              <a:latin typeface="Arial Black" pitchFamily="34" charset="0"/>
            </a:endParaRPr>
          </a:p>
        </p:txBody>
      </p:sp>
      <p:grpSp>
        <p:nvGrpSpPr>
          <p:cNvPr id="3" name="Group 6"/>
          <p:cNvGrpSpPr/>
          <p:nvPr/>
        </p:nvGrpSpPr>
        <p:grpSpPr>
          <a:xfrm>
            <a:off x="971600" y="1052736"/>
            <a:ext cx="3183941" cy="2204267"/>
            <a:chOff x="971599" y="1700808"/>
            <a:chExt cx="5616625" cy="3888432"/>
          </a:xfrm>
        </p:grpSpPr>
        <p:sp>
          <p:nvSpPr>
            <p:cNvPr id="4" name="Right Triangle 3"/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1599" y="2237303"/>
              <a:ext cx="1049670" cy="814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 smtClean="0"/>
                <a:t>53˚</a:t>
              </a:r>
              <a:endParaRPr lang="en-GB" sz="2400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339752" y="328498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 smtClean="0"/>
              <a:t>O</a:t>
            </a:r>
            <a:endParaRPr lang="en-GB" sz="3600" dirty="0"/>
          </a:p>
        </p:txBody>
      </p:sp>
      <p:sp>
        <p:nvSpPr>
          <p:cNvPr id="9" name="TextBox 8"/>
          <p:cNvSpPr txBox="1"/>
          <p:nvPr/>
        </p:nvSpPr>
        <p:spPr>
          <a:xfrm rot="16200000">
            <a:off x="-33815" y="1842126"/>
            <a:ext cx="1217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 smtClean="0"/>
              <a:t>11cm</a:t>
            </a:r>
            <a:endParaRPr lang="en-GB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4067944" y="1556792"/>
            <a:ext cx="46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We can use Tan as the question involves the </a:t>
            </a:r>
            <a:r>
              <a:rPr lang="en-GB" sz="2000" b="1" u="sng" dirty="0" smtClean="0">
                <a:solidFill>
                  <a:srgbClr val="FF0000"/>
                </a:solidFill>
              </a:rPr>
              <a:t>Adjacent </a:t>
            </a:r>
            <a:r>
              <a:rPr lang="en-GB" sz="2000" dirty="0" smtClean="0"/>
              <a:t>and </a:t>
            </a:r>
            <a:r>
              <a:rPr lang="en-GB" sz="2000" b="1" u="sng" dirty="0" smtClean="0">
                <a:solidFill>
                  <a:srgbClr val="FF0000"/>
                </a:solidFill>
              </a:rPr>
              <a:t>Opposite</a:t>
            </a:r>
            <a:r>
              <a:rPr lang="en-GB" sz="2000" dirty="0" smtClean="0"/>
              <a:t> lengths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7584" y="4293096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Tan53=</a:t>
            </a:r>
            <a:endParaRPr lang="en-GB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2339752" y="4077072"/>
            <a:ext cx="648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u="sng" dirty="0"/>
              <a:t>O</a:t>
            </a:r>
            <a:endParaRPr lang="en-GB" sz="3600" u="sng" dirty="0" smtClean="0"/>
          </a:p>
          <a:p>
            <a:pPr algn="ctr"/>
            <a:r>
              <a:rPr lang="en-GB" sz="3600" dirty="0" smtClean="0"/>
              <a:t>11</a:t>
            </a:r>
            <a:endParaRPr lang="en-GB" sz="3600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0" y="252483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The rule we use is:</a:t>
            </a:r>
            <a:endParaRPr lang="en-GB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499992" y="3212976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chemeClr val="accent4">
                    <a:lumMod val="75000"/>
                  </a:schemeClr>
                </a:solidFill>
              </a:rPr>
              <a:t>Tan</a:t>
            </a:r>
            <a:r>
              <a:rPr lang="el-GR" sz="3600" b="1" dirty="0" smtClean="0">
                <a:solidFill>
                  <a:schemeClr val="accent4">
                    <a:lumMod val="75000"/>
                  </a:schemeClr>
                </a:solidFill>
              </a:rPr>
              <a:t>ϴ</a:t>
            </a:r>
            <a:r>
              <a:rPr lang="en-GB" sz="3600" b="1" dirty="0" smtClean="0">
                <a:solidFill>
                  <a:schemeClr val="accent4">
                    <a:lumMod val="75000"/>
                  </a:schemeClr>
                </a:solidFill>
              </a:rPr>
              <a:t>=</a:t>
            </a:r>
            <a:endParaRPr lang="en-GB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24128" y="3020759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 smtClean="0">
                <a:solidFill>
                  <a:schemeClr val="accent4">
                    <a:lumMod val="75000"/>
                  </a:schemeClr>
                </a:solidFill>
              </a:rPr>
              <a:t>Opposite</a:t>
            </a:r>
          </a:p>
          <a:p>
            <a:pPr algn="ctr"/>
            <a:r>
              <a:rPr lang="en-GB" sz="3600" b="1" dirty="0" smtClean="0">
                <a:solidFill>
                  <a:schemeClr val="accent4">
                    <a:lumMod val="75000"/>
                  </a:schemeClr>
                </a:solidFill>
              </a:rPr>
              <a:t>Adjacent</a:t>
            </a:r>
            <a:endParaRPr lang="en-GB" sz="3600" b="1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9592" y="5157192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11 x Tan53= O</a:t>
            </a:r>
            <a:endParaRPr lang="en-GB" sz="3600" dirty="0"/>
          </a:p>
        </p:txBody>
      </p:sp>
      <p:sp>
        <p:nvSpPr>
          <p:cNvPr id="20" name="TextBox 19"/>
          <p:cNvSpPr txBox="1"/>
          <p:nvPr/>
        </p:nvSpPr>
        <p:spPr>
          <a:xfrm>
            <a:off x="827584" y="5877272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14.6 cm (1dp)= O</a:t>
            </a:r>
            <a:endParaRPr lang="en-GB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5696" y="260648"/>
            <a:ext cx="6264696" cy="1143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Arial Black" pitchFamily="34" charset="0"/>
              </a:rPr>
              <a:t>Tan Example 2</a:t>
            </a:r>
            <a:endParaRPr lang="en-GB" sz="6600" dirty="0">
              <a:latin typeface="Arial Black" pitchFamily="34" charset="0"/>
            </a:endParaRPr>
          </a:p>
        </p:txBody>
      </p:sp>
      <p:grpSp>
        <p:nvGrpSpPr>
          <p:cNvPr id="3" name="Group 6"/>
          <p:cNvGrpSpPr/>
          <p:nvPr/>
        </p:nvGrpSpPr>
        <p:grpSpPr>
          <a:xfrm>
            <a:off x="827584" y="836712"/>
            <a:ext cx="3183941" cy="2204267"/>
            <a:chOff x="971599" y="1700808"/>
            <a:chExt cx="5616625" cy="3888432"/>
          </a:xfrm>
        </p:grpSpPr>
        <p:sp>
          <p:nvSpPr>
            <p:cNvPr id="4" name="Right Triangle 3"/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1599" y="2264231"/>
              <a:ext cx="1049670" cy="814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 smtClean="0"/>
                <a:t>35˚</a:t>
              </a:r>
              <a:endParaRPr lang="en-GB" sz="2400" dirty="0"/>
            </a:p>
          </p:txBody>
        </p:sp>
      </p:grpSp>
      <p:sp>
        <p:nvSpPr>
          <p:cNvPr id="8" name="TextBox 7"/>
          <p:cNvSpPr txBox="1"/>
          <p:nvPr/>
        </p:nvSpPr>
        <p:spPr>
          <a:xfrm rot="16200000">
            <a:off x="348502" y="1628800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 smtClean="0"/>
              <a:t>A</a:t>
            </a:r>
            <a:endParaRPr lang="en-GB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1835696" y="2924944"/>
            <a:ext cx="1217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 smtClean="0"/>
              <a:t>21cm</a:t>
            </a:r>
            <a:endParaRPr lang="en-GB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4067944" y="1556792"/>
            <a:ext cx="46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We can use Tan as the question involves the </a:t>
            </a:r>
            <a:r>
              <a:rPr lang="en-GB" sz="2000" b="1" u="sng" dirty="0" smtClean="0">
                <a:solidFill>
                  <a:srgbClr val="FF0000"/>
                </a:solidFill>
              </a:rPr>
              <a:t>Adjacent </a:t>
            </a:r>
            <a:r>
              <a:rPr lang="en-GB" sz="2000" dirty="0" smtClean="0"/>
              <a:t>and </a:t>
            </a:r>
            <a:r>
              <a:rPr lang="en-GB" sz="2000" b="1" u="sng" dirty="0" smtClean="0">
                <a:solidFill>
                  <a:srgbClr val="FF0000"/>
                </a:solidFill>
              </a:rPr>
              <a:t>Opposite</a:t>
            </a:r>
            <a:r>
              <a:rPr lang="en-GB" sz="2000" dirty="0" smtClean="0"/>
              <a:t> lengths</a:t>
            </a:r>
            <a:endParaRPr lang="en-GB" sz="2000" b="1" u="sng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1560" y="4005064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Tan35=</a:t>
            </a:r>
            <a:endParaRPr lang="en-GB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2123728" y="3789040"/>
            <a:ext cx="648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u="sng" dirty="0" smtClean="0"/>
              <a:t>21</a:t>
            </a:r>
          </a:p>
          <a:p>
            <a:pPr algn="ctr"/>
            <a:r>
              <a:rPr lang="en-GB" sz="3600" dirty="0" smtClean="0"/>
              <a:t>A</a:t>
            </a:r>
            <a:endParaRPr lang="en-GB" sz="3600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0" y="252483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The rule we use is:</a:t>
            </a:r>
            <a:endParaRPr lang="en-GB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355976" y="3261177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chemeClr val="accent4">
                    <a:lumMod val="75000"/>
                  </a:schemeClr>
                </a:solidFill>
              </a:rPr>
              <a:t>Tan</a:t>
            </a:r>
            <a:r>
              <a:rPr lang="el-GR" sz="3600" b="1" dirty="0" smtClean="0">
                <a:solidFill>
                  <a:schemeClr val="accent4">
                    <a:lumMod val="75000"/>
                  </a:schemeClr>
                </a:solidFill>
              </a:rPr>
              <a:t>ϴ</a:t>
            </a:r>
            <a:r>
              <a:rPr lang="en-GB" sz="3600" b="1" dirty="0" smtClean="0">
                <a:solidFill>
                  <a:schemeClr val="accent4">
                    <a:lumMod val="75000"/>
                  </a:schemeClr>
                </a:solidFill>
              </a:rPr>
              <a:t>=</a:t>
            </a:r>
            <a:endParaRPr lang="en-GB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96136" y="3068960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 smtClean="0">
                <a:solidFill>
                  <a:schemeClr val="accent4">
                    <a:lumMod val="75000"/>
                  </a:schemeClr>
                </a:solidFill>
              </a:rPr>
              <a:t>Opposite</a:t>
            </a:r>
          </a:p>
          <a:p>
            <a:pPr algn="ctr"/>
            <a:r>
              <a:rPr lang="en-GB" sz="3600" b="1" dirty="0" smtClean="0">
                <a:solidFill>
                  <a:schemeClr val="accent4">
                    <a:lumMod val="75000"/>
                  </a:schemeClr>
                </a:solidFill>
              </a:rPr>
              <a:t>Adjacent</a:t>
            </a:r>
            <a:endParaRPr lang="en-GB" sz="3600" b="1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552" y="4892967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A x Tan35= 21</a:t>
            </a:r>
            <a:endParaRPr lang="en-GB" sz="3600" dirty="0"/>
          </a:p>
        </p:txBody>
      </p:sp>
      <p:sp>
        <p:nvSpPr>
          <p:cNvPr id="20" name="TextBox 19"/>
          <p:cNvSpPr txBox="1"/>
          <p:nvPr/>
        </p:nvSpPr>
        <p:spPr>
          <a:xfrm>
            <a:off x="611560" y="5613047"/>
            <a:ext cx="1944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A=    </a:t>
            </a:r>
            <a:r>
              <a:rPr lang="en-GB" sz="3600" u="sng" dirty="0" smtClean="0"/>
              <a:t>21</a:t>
            </a:r>
          </a:p>
          <a:p>
            <a:r>
              <a:rPr lang="en-GB" sz="3600" dirty="0"/>
              <a:t> </a:t>
            </a:r>
            <a:r>
              <a:rPr lang="en-GB" sz="3600" dirty="0" smtClean="0"/>
              <a:t>    Tan35</a:t>
            </a:r>
            <a:endParaRPr lang="en-GB" sz="3600" u="sng" dirty="0"/>
          </a:p>
        </p:txBody>
      </p:sp>
      <p:sp>
        <p:nvSpPr>
          <p:cNvPr id="21" name="TextBox 20"/>
          <p:cNvSpPr txBox="1"/>
          <p:nvPr/>
        </p:nvSpPr>
        <p:spPr>
          <a:xfrm>
            <a:off x="3635896" y="5589240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A=   29.99 cm (2dp)</a:t>
            </a:r>
            <a:endParaRPr lang="en-GB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8000" b="1" dirty="0" smtClean="0"/>
              <a:t>The three rules</a:t>
            </a:r>
            <a:endParaRPr lang="en-GB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4664"/>
          </a:xfrm>
        </p:spPr>
        <p:txBody>
          <a:bodyPr/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So we have: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08104" y="2564904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chemeClr val="accent4">
                    <a:lumMod val="75000"/>
                  </a:schemeClr>
                </a:solidFill>
              </a:rPr>
              <a:t>Tan</a:t>
            </a:r>
            <a:r>
              <a:rPr lang="el-GR" sz="2400" b="1" dirty="0" smtClean="0">
                <a:solidFill>
                  <a:schemeClr val="accent4">
                    <a:lumMod val="75000"/>
                  </a:schemeClr>
                </a:solidFill>
              </a:rPr>
              <a:t>ϴ</a:t>
            </a:r>
            <a:r>
              <a:rPr lang="en-GB" sz="2400" b="1" dirty="0" smtClean="0">
                <a:solidFill>
                  <a:schemeClr val="accent4">
                    <a:lumMod val="75000"/>
                  </a:schemeClr>
                </a:solidFill>
              </a:rPr>
              <a:t>=</a:t>
            </a:r>
            <a:endParaRPr lang="en-GB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8144" y="2420888"/>
            <a:ext cx="2520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 smtClean="0">
                <a:solidFill>
                  <a:schemeClr val="accent4">
                    <a:lumMod val="75000"/>
                  </a:schemeClr>
                </a:solidFill>
              </a:rPr>
              <a:t>Opposite</a:t>
            </a:r>
          </a:p>
          <a:p>
            <a:pPr algn="ctr"/>
            <a:r>
              <a:rPr lang="en-GB" sz="2400" b="1" dirty="0" smtClean="0">
                <a:solidFill>
                  <a:schemeClr val="accent4">
                    <a:lumMod val="75000"/>
                  </a:schemeClr>
                </a:solidFill>
              </a:rPr>
              <a:t>Adjacent</a:t>
            </a:r>
            <a:endParaRPr lang="en-GB" sz="2400" b="1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99792" y="2564904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00B050"/>
                </a:solidFill>
              </a:rPr>
              <a:t>Cos</a:t>
            </a:r>
            <a:r>
              <a:rPr lang="el-GR" sz="2400" b="1" dirty="0" smtClean="0">
                <a:solidFill>
                  <a:srgbClr val="00B050"/>
                </a:solidFill>
              </a:rPr>
              <a:t>ϴ</a:t>
            </a:r>
            <a:r>
              <a:rPr lang="en-GB" sz="2400" b="1" dirty="0" smtClean="0">
                <a:solidFill>
                  <a:srgbClr val="00B050"/>
                </a:solidFill>
              </a:rPr>
              <a:t>=</a:t>
            </a:r>
            <a:endParaRPr lang="en-GB" sz="24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3888" y="2420888"/>
            <a:ext cx="194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 smtClean="0">
                <a:solidFill>
                  <a:srgbClr val="00B050"/>
                </a:solidFill>
              </a:rPr>
              <a:t>Adjacent</a:t>
            </a:r>
          </a:p>
          <a:p>
            <a:pPr algn="ctr"/>
            <a:r>
              <a:rPr lang="en-GB" sz="2400" b="1" dirty="0" smtClean="0">
                <a:solidFill>
                  <a:srgbClr val="00B050"/>
                </a:solidFill>
              </a:rPr>
              <a:t>Hypotenuse</a:t>
            </a:r>
            <a:r>
              <a:rPr lang="en-GB" sz="2400" b="1" u="sng" dirty="0" smtClean="0">
                <a:solidFill>
                  <a:srgbClr val="00B050"/>
                </a:solidFill>
              </a:rPr>
              <a:t> </a:t>
            </a:r>
            <a:endParaRPr lang="en-GB" sz="2400" b="1" u="sng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2492896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chemeClr val="tx2"/>
                </a:solidFill>
              </a:rPr>
              <a:t>Sin</a:t>
            </a:r>
            <a:r>
              <a:rPr lang="el-GR" sz="2400" b="1" dirty="0" smtClean="0">
                <a:solidFill>
                  <a:schemeClr val="tx2"/>
                </a:solidFill>
              </a:rPr>
              <a:t>ϴ</a:t>
            </a:r>
            <a:r>
              <a:rPr lang="en-GB" sz="2400" b="1" dirty="0" smtClean="0">
                <a:solidFill>
                  <a:schemeClr val="tx2"/>
                </a:solidFill>
              </a:rPr>
              <a:t>=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60" y="2348880"/>
            <a:ext cx="20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 smtClean="0">
                <a:solidFill>
                  <a:schemeClr val="tx2"/>
                </a:solidFill>
              </a:rPr>
              <a:t>Opposite</a:t>
            </a:r>
          </a:p>
          <a:p>
            <a:pPr algn="ctr"/>
            <a:r>
              <a:rPr lang="en-GB" sz="2400" b="1" dirty="0" smtClean="0">
                <a:solidFill>
                  <a:schemeClr val="tx2"/>
                </a:solidFill>
              </a:rPr>
              <a:t>Hypotenuse</a:t>
            </a:r>
            <a:r>
              <a:rPr lang="en-GB" sz="2400" b="1" u="sng" dirty="0" smtClean="0">
                <a:solidFill>
                  <a:schemeClr val="tx2"/>
                </a:solidFill>
              </a:rPr>
              <a:t> </a:t>
            </a:r>
            <a:endParaRPr lang="en-GB" sz="2400" b="1" u="sng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3789040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chemeClr val="tx2"/>
                </a:solidFill>
              </a:rPr>
              <a:t>Sin</a:t>
            </a:r>
            <a:r>
              <a:rPr lang="el-GR" sz="2400" b="1" dirty="0" smtClean="0">
                <a:solidFill>
                  <a:schemeClr val="tx2"/>
                </a:solidFill>
              </a:rPr>
              <a:t>ϴ</a:t>
            </a:r>
            <a:r>
              <a:rPr lang="en-GB" sz="2400" b="1" dirty="0" smtClean="0">
                <a:solidFill>
                  <a:schemeClr val="tx2"/>
                </a:solidFill>
              </a:rPr>
              <a:t>=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1840" y="3789040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chemeClr val="accent4">
                    <a:lumMod val="75000"/>
                  </a:schemeClr>
                </a:solidFill>
              </a:rPr>
              <a:t>Tan</a:t>
            </a:r>
            <a:r>
              <a:rPr lang="el-GR" sz="2400" b="1" dirty="0" smtClean="0">
                <a:solidFill>
                  <a:schemeClr val="accent4">
                    <a:lumMod val="75000"/>
                  </a:schemeClr>
                </a:solidFill>
              </a:rPr>
              <a:t>ϴ</a:t>
            </a:r>
            <a:r>
              <a:rPr lang="en-GB" sz="2400" b="1" dirty="0" smtClean="0">
                <a:solidFill>
                  <a:schemeClr val="accent4">
                    <a:lumMod val="75000"/>
                  </a:schemeClr>
                </a:solidFill>
              </a:rPr>
              <a:t>=</a:t>
            </a:r>
            <a:endParaRPr lang="en-GB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95936" y="3645024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 smtClean="0">
                <a:solidFill>
                  <a:schemeClr val="accent4">
                    <a:lumMod val="75000"/>
                  </a:schemeClr>
                </a:solidFill>
              </a:rPr>
              <a:t>O</a:t>
            </a:r>
          </a:p>
          <a:p>
            <a:pPr algn="ctr"/>
            <a:r>
              <a:rPr lang="en-GB" sz="2400" b="1" dirty="0" smtClean="0">
                <a:solidFill>
                  <a:schemeClr val="accent4">
                    <a:lumMod val="75000"/>
                  </a:schemeClr>
                </a:solidFill>
              </a:rPr>
              <a:t>A</a:t>
            </a:r>
            <a:endParaRPr lang="en-GB" sz="2400" b="1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1680" y="3789040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00B050"/>
                </a:solidFill>
              </a:rPr>
              <a:t>Cos</a:t>
            </a:r>
            <a:r>
              <a:rPr lang="el-GR" sz="2400" b="1" dirty="0" smtClean="0">
                <a:solidFill>
                  <a:srgbClr val="00B050"/>
                </a:solidFill>
              </a:rPr>
              <a:t>ϴ</a:t>
            </a:r>
            <a:r>
              <a:rPr lang="en-GB" sz="2400" b="1" dirty="0" smtClean="0">
                <a:solidFill>
                  <a:srgbClr val="00B050"/>
                </a:solidFill>
              </a:rPr>
              <a:t>=</a:t>
            </a:r>
            <a:endParaRPr lang="en-GB" sz="2400" b="1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55776" y="3645024"/>
            <a:ext cx="504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 smtClean="0">
                <a:solidFill>
                  <a:srgbClr val="00B050"/>
                </a:solidFill>
              </a:rPr>
              <a:t>A</a:t>
            </a:r>
          </a:p>
          <a:p>
            <a:pPr algn="ctr"/>
            <a:r>
              <a:rPr lang="en-GB" sz="2400" b="1" dirty="0" smtClean="0">
                <a:solidFill>
                  <a:srgbClr val="00B050"/>
                </a:solidFill>
              </a:rPr>
              <a:t>H</a:t>
            </a:r>
            <a:endParaRPr lang="en-GB" sz="2400" b="1" u="sng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3608" y="3573016"/>
            <a:ext cx="360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>
                <a:solidFill>
                  <a:schemeClr val="tx2"/>
                </a:solidFill>
              </a:rPr>
              <a:t>O</a:t>
            </a:r>
            <a:endParaRPr lang="en-GB" sz="2400" b="1" u="sng" dirty="0" smtClean="0">
              <a:solidFill>
                <a:schemeClr val="tx2"/>
              </a:solidFill>
            </a:endParaRPr>
          </a:p>
          <a:p>
            <a:pPr algn="ctr"/>
            <a:r>
              <a:rPr lang="en-GB" sz="2400" b="1" dirty="0" smtClean="0">
                <a:solidFill>
                  <a:schemeClr val="tx2"/>
                </a:solidFill>
              </a:rPr>
              <a:t>H</a:t>
            </a:r>
            <a:endParaRPr lang="en-GB" sz="2400" b="1" u="sng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600" y="4725144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 smtClean="0">
                <a:solidFill>
                  <a:schemeClr val="tx2"/>
                </a:solidFill>
              </a:rPr>
              <a:t>SOH</a:t>
            </a:r>
            <a:r>
              <a:rPr lang="en-GB" sz="4400" b="1" dirty="0" smtClean="0">
                <a:solidFill>
                  <a:srgbClr val="00B050"/>
                </a:solidFill>
              </a:rPr>
              <a:t>CAH</a:t>
            </a:r>
            <a:r>
              <a:rPr lang="en-GB" sz="4400" b="1" dirty="0" smtClean="0">
                <a:solidFill>
                  <a:srgbClr val="7030A0"/>
                </a:solidFill>
              </a:rPr>
              <a:t>TOA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520" y="5589240"/>
            <a:ext cx="889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>
                <a:solidFill>
                  <a:schemeClr val="tx2"/>
                </a:solidFill>
              </a:rPr>
              <a:t>There are a few ways to remember this</a:t>
            </a:r>
            <a:endParaRPr lang="en-GB" sz="3600" b="1" dirty="0" smtClean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b="1" dirty="0" smtClean="0">
                <a:solidFill>
                  <a:schemeClr val="tx2"/>
                </a:solidFill>
              </a:rPr>
              <a:t>Silly Old Horses </a:t>
            </a:r>
            <a:r>
              <a:rPr lang="en-GB" sz="2800" b="1" dirty="0" smtClean="0">
                <a:solidFill>
                  <a:srgbClr val="00B050"/>
                </a:solidFill>
              </a:rPr>
              <a:t>Can’t Always Hear </a:t>
            </a:r>
            <a:r>
              <a:rPr lang="en-GB" sz="2800" b="1" dirty="0" smtClean="0">
                <a:solidFill>
                  <a:srgbClr val="7030A0"/>
                </a:solidFill>
              </a:rPr>
              <a:t>The Other Animals</a:t>
            </a:r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700808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 smtClean="0">
                <a:solidFill>
                  <a:schemeClr val="tx2"/>
                </a:solidFill>
              </a:rPr>
              <a:t>SOH</a:t>
            </a:r>
            <a:r>
              <a:rPr lang="en-GB" sz="4400" b="1" dirty="0" smtClean="0">
                <a:solidFill>
                  <a:srgbClr val="00B050"/>
                </a:solidFill>
              </a:rPr>
              <a:t>CAH</a:t>
            </a:r>
            <a:r>
              <a:rPr lang="en-GB" sz="4400" b="1" dirty="0" smtClean="0">
                <a:solidFill>
                  <a:srgbClr val="7030A0"/>
                </a:solidFill>
              </a:rPr>
              <a:t>TOA</a:t>
            </a:r>
          </a:p>
        </p:txBody>
      </p:sp>
      <p:pic>
        <p:nvPicPr>
          <p:cNvPr id="5" name="Picture 4" descr="http://24.media.tumblr.com/tumblr_m9fr0kwZ6N1revo57o1_5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2852936"/>
            <a:ext cx="4829578" cy="3429000"/>
          </a:xfrm>
          <a:prstGeom prst="rect">
            <a:avLst/>
          </a:prstGeom>
          <a:noFill/>
        </p:spPr>
      </p:pic>
      <p:sp>
        <p:nvSpPr>
          <p:cNvPr id="6" name="Oval Callout 5"/>
          <p:cNvSpPr/>
          <p:nvPr/>
        </p:nvSpPr>
        <p:spPr>
          <a:xfrm>
            <a:off x="6156176" y="2060848"/>
            <a:ext cx="2592288" cy="2088232"/>
          </a:xfrm>
          <a:prstGeom prst="wedgeEllipseCallout">
            <a:avLst>
              <a:gd name="adj1" fmla="val -73581"/>
              <a:gd name="adj2" fmla="val 4024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>
                <a:solidFill>
                  <a:schemeClr val="tx1"/>
                </a:solidFill>
              </a:rPr>
              <a:t>WHAT?</a:t>
            </a:r>
            <a:endParaRPr lang="en-GB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768" y="44624"/>
            <a:ext cx="3981128" cy="954360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5400" dirty="0" smtClean="0">
                <a:latin typeface="Brandish" pitchFamily="2" charset="0"/>
              </a:rPr>
              <a:t>Practise</a:t>
            </a:r>
            <a:endParaRPr lang="en-GB" sz="5400" dirty="0">
              <a:latin typeface="Brandish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293"/>
            <a:ext cx="8229600" cy="4525963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GB" sz="2000" dirty="0" smtClean="0"/>
              <a:t>Use Tangent to find the missing lengths on these triangles:</a:t>
            </a:r>
            <a:endParaRPr lang="en-GB" sz="2000" dirty="0"/>
          </a:p>
        </p:txBody>
      </p:sp>
      <p:sp>
        <p:nvSpPr>
          <p:cNvPr id="20" name="Right Triangle 19"/>
          <p:cNvSpPr/>
          <p:nvPr/>
        </p:nvSpPr>
        <p:spPr>
          <a:xfrm>
            <a:off x="996793" y="1907554"/>
            <a:ext cx="1224136" cy="1008112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21" name="TextBox 20"/>
          <p:cNvSpPr txBox="1"/>
          <p:nvPr/>
        </p:nvSpPr>
        <p:spPr>
          <a:xfrm flipH="1">
            <a:off x="601216" y="2132856"/>
            <a:ext cx="22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O</a:t>
            </a:r>
            <a:endParaRPr lang="en-GB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178023" y="2939309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15cm</a:t>
            </a:r>
            <a:endParaRPr lang="en-GB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528440" y="2575053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42˚</a:t>
            </a:r>
            <a:endParaRPr lang="en-GB" b="1" dirty="0"/>
          </a:p>
        </p:txBody>
      </p:sp>
      <p:sp>
        <p:nvSpPr>
          <p:cNvPr id="24" name="Right Triangle 23"/>
          <p:cNvSpPr/>
          <p:nvPr/>
        </p:nvSpPr>
        <p:spPr>
          <a:xfrm>
            <a:off x="4065013" y="1907554"/>
            <a:ext cx="1800200" cy="1008112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25" name="TextBox 24"/>
          <p:cNvSpPr txBox="1"/>
          <p:nvPr/>
        </p:nvSpPr>
        <p:spPr>
          <a:xfrm>
            <a:off x="4518490" y="2939309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11cm</a:t>
            </a:r>
            <a:endParaRPr lang="en-GB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681601" y="2316499"/>
            <a:ext cx="25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6047" y="210421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60˚</a:t>
            </a:r>
            <a:endParaRPr lang="en-GB" b="1" dirty="0"/>
          </a:p>
        </p:txBody>
      </p:sp>
      <p:grpSp>
        <p:nvGrpSpPr>
          <p:cNvPr id="30" name="Group 29"/>
          <p:cNvGrpSpPr/>
          <p:nvPr/>
        </p:nvGrpSpPr>
        <p:grpSpPr>
          <a:xfrm>
            <a:off x="5724128" y="1907554"/>
            <a:ext cx="3059832" cy="646331"/>
            <a:chOff x="5184576" y="3020759"/>
            <a:chExt cx="3059832" cy="646331"/>
          </a:xfrm>
        </p:grpSpPr>
        <p:sp>
          <p:nvSpPr>
            <p:cNvPr id="28" name="TextBox 27"/>
            <p:cNvSpPr txBox="1"/>
            <p:nvPr/>
          </p:nvSpPr>
          <p:spPr>
            <a:xfrm>
              <a:off x="5184576" y="3155483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 smtClean="0">
                  <a:solidFill>
                    <a:schemeClr val="accent4">
                      <a:lumMod val="75000"/>
                    </a:schemeClr>
                  </a:solidFill>
                </a:rPr>
                <a:t>Tan</a:t>
              </a:r>
              <a:r>
                <a:rPr lang="el-GR" b="1" dirty="0" smtClean="0">
                  <a:solidFill>
                    <a:schemeClr val="accent4">
                      <a:lumMod val="75000"/>
                    </a:schemeClr>
                  </a:solidFill>
                </a:rPr>
                <a:t>ϴ</a:t>
              </a:r>
              <a:r>
                <a:rPr lang="en-GB" b="1" dirty="0" smtClean="0">
                  <a:solidFill>
                    <a:schemeClr val="accent4">
                      <a:lumMod val="75000"/>
                    </a:schemeClr>
                  </a:solidFill>
                </a:rPr>
                <a:t>=</a:t>
              </a:r>
              <a:endParaRPr lang="en-GB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24128" y="3020759"/>
              <a:ext cx="25202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 dirty="0" smtClean="0">
                  <a:solidFill>
                    <a:schemeClr val="accent4">
                      <a:lumMod val="75000"/>
                    </a:schemeClr>
                  </a:solidFill>
                </a:rPr>
                <a:t>Opposite</a:t>
              </a:r>
            </a:p>
            <a:p>
              <a:pPr algn="ctr"/>
              <a:r>
                <a:rPr lang="en-GB" b="1" dirty="0" smtClean="0">
                  <a:solidFill>
                    <a:schemeClr val="accent4">
                      <a:lumMod val="75000"/>
                    </a:schemeClr>
                  </a:solidFill>
                </a:rPr>
                <a:t>Adjacent</a:t>
              </a:r>
              <a:endParaRPr lang="en-GB" b="1" u="sng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pic>
        <p:nvPicPr>
          <p:cNvPr id="14339" name="Picture 3" descr="C:\Users\Ben\AppData\Local\Microsoft\Windows\Temporary Internet Files\Content.IE5\W2NO9NUW\MC90041745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0"/>
            <a:ext cx="1222136" cy="10496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673</Words>
  <Application>Microsoft Macintosh PowerPoint</Application>
  <PresentationFormat>On-screen Show (4:3)</PresentationFormat>
  <Paragraphs>245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Aharoni</vt:lpstr>
      <vt:lpstr>Arial Black</vt:lpstr>
      <vt:lpstr>Brandish</vt:lpstr>
      <vt:lpstr>Calibri</vt:lpstr>
      <vt:lpstr>Century Gothic</vt:lpstr>
      <vt:lpstr>Comic Sans MS</vt:lpstr>
      <vt:lpstr>Garamond</vt:lpstr>
      <vt:lpstr>Martina</vt:lpstr>
      <vt:lpstr>Arial</vt:lpstr>
      <vt:lpstr>Office Theme</vt:lpstr>
      <vt:lpstr>Measurement Interactive Notebook</vt:lpstr>
      <vt:lpstr>PowerPoint Presentation</vt:lpstr>
      <vt:lpstr>PowerPoint Presentation</vt:lpstr>
      <vt:lpstr>Warm up</vt:lpstr>
      <vt:lpstr>PowerPoint Presentation</vt:lpstr>
      <vt:lpstr>Trigonometry (Triangle Measurement)</vt:lpstr>
      <vt:lpstr>Labelling the sides</vt:lpstr>
      <vt:lpstr>Labelling the sides</vt:lpstr>
      <vt:lpstr>Labelling Right Angle Triangle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Tangent (tan)</vt:lpstr>
      <vt:lpstr>Tan  Example 1</vt:lpstr>
      <vt:lpstr>Tan Example 2</vt:lpstr>
      <vt:lpstr>The three rules</vt:lpstr>
      <vt:lpstr>Silly Old Horses Can’t Always Hear The Other Animals</vt:lpstr>
      <vt:lpstr>Practise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EVANS Clem [Baldivis Secondary College]</cp:lastModifiedBy>
  <cp:revision>16</cp:revision>
  <dcterms:created xsi:type="dcterms:W3CDTF">2013-03-25T14:33:20Z</dcterms:created>
  <dcterms:modified xsi:type="dcterms:W3CDTF">2017-08-22T06:55:20Z</dcterms:modified>
</cp:coreProperties>
</file>
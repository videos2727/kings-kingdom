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  <p:sldId id="270" r:id="rId4"/>
    <p:sldId id="258" r:id="rId5"/>
    <p:sldId id="261" r:id="rId6"/>
    <p:sldId id="256" r:id="rId7"/>
    <p:sldId id="271" r:id="rId8"/>
    <p:sldId id="263" r:id="rId9"/>
    <p:sldId id="265" r:id="rId10"/>
    <p:sldId id="266" r:id="rId11"/>
    <p:sldId id="267" r:id="rId12"/>
    <p:sldId id="268" r:id="rId13"/>
    <p:sldId id="264" r:id="rId14"/>
    <p:sldId id="269" r:id="rId1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8F1D9D-5851-46A4-81CB-76ED4C87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92" y="791419"/>
            <a:ext cx="7592122" cy="4736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C23CF2-9EC1-4DDD-A45D-14D0410314C1}"/>
              </a:ext>
            </a:extLst>
          </p:cNvPr>
          <p:cNvSpPr txBox="1"/>
          <p:nvPr/>
        </p:nvSpPr>
        <p:spPr>
          <a:xfrm>
            <a:off x="613317" y="323386"/>
            <a:ext cx="49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Name the sides, Opposite, Adjacent, Hypotenuse</a:t>
            </a:r>
          </a:p>
        </p:txBody>
      </p:sp>
    </p:spTree>
    <p:extLst>
      <p:ext uri="{BB962C8B-B14F-4D97-AF65-F5344CB8AC3E}">
        <p14:creationId xmlns:p14="http://schemas.microsoft.com/office/powerpoint/2010/main" val="93277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47F4DA-9AA2-4718-8FDD-F0E3ABCB2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4830" y="3153569"/>
            <a:ext cx="3409950" cy="2190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30767-21D1-4EB1-804F-8711FED1E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267" y="442119"/>
            <a:ext cx="2505075" cy="1933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68100D-91A4-48FF-9678-F6203C6A1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135" y="751560"/>
            <a:ext cx="4638675" cy="310515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0EB4A6-053F-4AD5-B819-95BC6197E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82743"/>
              </p:ext>
            </p:extLst>
          </p:nvPr>
        </p:nvGraphicFramePr>
        <p:xfrm>
          <a:off x="192705" y="379300"/>
          <a:ext cx="3527501" cy="1409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7021">
                  <a:extLst>
                    <a:ext uri="{9D8B030D-6E8A-4147-A177-3AD203B41FA5}">
                      <a16:colId xmlns:a16="http://schemas.microsoft.com/office/drawing/2014/main" val="3860135353"/>
                    </a:ext>
                  </a:extLst>
                </a:gridCol>
                <a:gridCol w="1092819">
                  <a:extLst>
                    <a:ext uri="{9D8B030D-6E8A-4147-A177-3AD203B41FA5}">
                      <a16:colId xmlns:a16="http://schemas.microsoft.com/office/drawing/2014/main" val="1366856571"/>
                    </a:ext>
                  </a:extLst>
                </a:gridCol>
                <a:gridCol w="1467661">
                  <a:extLst>
                    <a:ext uri="{9D8B030D-6E8A-4147-A177-3AD203B41FA5}">
                      <a16:colId xmlns:a16="http://schemas.microsoft.com/office/drawing/2014/main" val="3046121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Opposite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Adjacent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 ÷ A 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10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79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900217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9E8D2B-670B-431B-9D37-72DABE740F42}"/>
                  </a:ext>
                </a:extLst>
              </p:cNvPr>
              <p:cNvSpPr txBox="1"/>
              <p:nvPr/>
            </p:nvSpPr>
            <p:spPr>
              <a:xfrm>
                <a:off x="270764" y="4245647"/>
                <a:ext cx="4669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FF"/>
                    </a:highlight>
                  </a:rPr>
                  <a:t>T</a:t>
                </a:r>
                <a:r>
                  <a:rPr lang="en-AU" sz="2400" dirty="0"/>
                  <a:t>an </a:t>
                </a:r>
                <a14:m>
                  <m:oMath xmlns:m="http://schemas.openxmlformats.org/officeDocument/2006/math">
                    <m:r>
                      <a:rPr lang="en-AU" sz="2400" i="1" smtClean="0"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FF"/>
                    </a:highlight>
                  </a:rPr>
                  <a:t>O</a:t>
                </a:r>
                <a:r>
                  <a:rPr lang="en-AU" sz="2400" dirty="0"/>
                  <a:t>pposite ÷ </a:t>
                </a:r>
                <a:r>
                  <a:rPr lang="en-AU" sz="2400" dirty="0">
                    <a:highlight>
                      <a:srgbClr val="00FFFF"/>
                    </a:highlight>
                  </a:rPr>
                  <a:t>A</a:t>
                </a:r>
                <a:r>
                  <a:rPr lang="en-AU" sz="2400" dirty="0"/>
                  <a:t>djacent</a:t>
                </a:r>
              </a:p>
              <a:p>
                <a:endParaRPr lang="en-AU" sz="2400" dirty="0">
                  <a:highlight>
                    <a:srgbClr val="00FFFF"/>
                  </a:highlight>
                </a:endParaRPr>
              </a:p>
              <a:p>
                <a:r>
                  <a:rPr lang="en-AU" sz="2400" dirty="0">
                    <a:highlight>
                      <a:srgbClr val="00FFFF"/>
                    </a:highlight>
                  </a:rPr>
                  <a:t>CAH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9E8D2B-670B-431B-9D37-72DABE740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64" y="4245647"/>
                <a:ext cx="4669226" cy="1200329"/>
              </a:xfrm>
              <a:prstGeom prst="rect">
                <a:avLst/>
              </a:prstGeom>
              <a:blipFill>
                <a:blip r:embed="rId5"/>
                <a:stretch>
                  <a:fillRect l="-1958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57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46CAD-2951-40BC-8766-6442526798A4}"/>
              </a:ext>
            </a:extLst>
          </p:cNvPr>
          <p:cNvSpPr txBox="1"/>
          <p:nvPr/>
        </p:nvSpPr>
        <p:spPr>
          <a:xfrm>
            <a:off x="379142" y="446049"/>
            <a:ext cx="732072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Some of the uses that Trigonometry is used for …</a:t>
            </a:r>
          </a:p>
          <a:p>
            <a:r>
              <a:rPr lang="en-AU" sz="2800" dirty="0"/>
              <a:t>	Navigation</a:t>
            </a:r>
          </a:p>
          <a:p>
            <a:r>
              <a:rPr lang="en-AU" sz="2800" dirty="0"/>
              <a:t>	Architecture</a:t>
            </a:r>
          </a:p>
          <a:p>
            <a:r>
              <a:rPr lang="en-AU" sz="2800" dirty="0"/>
              <a:t>	Surveying</a:t>
            </a:r>
          </a:p>
          <a:p>
            <a:r>
              <a:rPr lang="en-AU" sz="2800" dirty="0"/>
              <a:t>	Construction</a:t>
            </a:r>
          </a:p>
          <a:p>
            <a:r>
              <a:rPr lang="en-AU" sz="2800" dirty="0"/>
              <a:t>	Engineering</a:t>
            </a:r>
          </a:p>
          <a:p>
            <a:r>
              <a:rPr lang="en-AU" sz="2800" dirty="0"/>
              <a:t>	Astronomy</a:t>
            </a:r>
          </a:p>
          <a:p>
            <a:r>
              <a:rPr lang="en-AU" sz="2800" dirty="0"/>
              <a:t>	Physics</a:t>
            </a:r>
          </a:p>
        </p:txBody>
      </p:sp>
    </p:spTree>
    <p:extLst>
      <p:ext uri="{BB962C8B-B14F-4D97-AF65-F5344CB8AC3E}">
        <p14:creationId xmlns:p14="http://schemas.microsoft.com/office/powerpoint/2010/main" val="553414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1A256-EBED-4E5D-881A-4A05AF20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460" y="3502876"/>
            <a:ext cx="5238750" cy="194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6B5286-8F2E-4DC9-8099-A365F81C1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551" y="1130106"/>
            <a:ext cx="3381375" cy="151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A94ECE-33CF-4751-A8E7-56F44B76A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87" y="234756"/>
            <a:ext cx="4686300" cy="17907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A700FD-94D6-42F0-AB8E-C1F94A8FB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921522"/>
              </p:ext>
            </p:extLst>
          </p:nvPr>
        </p:nvGraphicFramePr>
        <p:xfrm>
          <a:off x="270764" y="2644581"/>
          <a:ext cx="3527501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7021">
                  <a:extLst>
                    <a:ext uri="{9D8B030D-6E8A-4147-A177-3AD203B41FA5}">
                      <a16:colId xmlns:a16="http://schemas.microsoft.com/office/drawing/2014/main" val="3860135353"/>
                    </a:ext>
                  </a:extLst>
                </a:gridCol>
                <a:gridCol w="1092819">
                  <a:extLst>
                    <a:ext uri="{9D8B030D-6E8A-4147-A177-3AD203B41FA5}">
                      <a16:colId xmlns:a16="http://schemas.microsoft.com/office/drawing/2014/main" val="1366856571"/>
                    </a:ext>
                  </a:extLst>
                </a:gridCol>
                <a:gridCol w="1467661">
                  <a:extLst>
                    <a:ext uri="{9D8B030D-6E8A-4147-A177-3AD203B41FA5}">
                      <a16:colId xmlns:a16="http://schemas.microsoft.com/office/drawing/2014/main" val="3046121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Opposite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Hypotenuse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 ÷ H 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10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79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900217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12EC1C-AEEB-4F2F-A916-1003BBD30CDB}"/>
                  </a:ext>
                </a:extLst>
              </p:cNvPr>
              <p:cNvSpPr txBox="1"/>
              <p:nvPr/>
            </p:nvSpPr>
            <p:spPr>
              <a:xfrm>
                <a:off x="270764" y="4245647"/>
                <a:ext cx="4669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FFFF00"/>
                    </a:highlight>
                  </a:rPr>
                  <a:t>S</a:t>
                </a:r>
                <a:r>
                  <a:rPr lang="en-AU" sz="2400" dirty="0"/>
                  <a:t>in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FFFF00"/>
                    </a:highlight>
                  </a:rPr>
                  <a:t>O</a:t>
                </a:r>
                <a:r>
                  <a:rPr lang="en-AU" sz="2400" dirty="0"/>
                  <a:t>pposite ÷ </a:t>
                </a:r>
                <a:r>
                  <a:rPr lang="en-AU" sz="2400" dirty="0">
                    <a:highlight>
                      <a:srgbClr val="FFFF00"/>
                    </a:highlight>
                  </a:rPr>
                  <a:t>H</a:t>
                </a:r>
                <a:r>
                  <a:rPr lang="en-AU" sz="2400" dirty="0"/>
                  <a:t>ypotenuse</a:t>
                </a:r>
              </a:p>
              <a:p>
                <a:endParaRPr lang="en-AU" sz="2400" dirty="0"/>
              </a:p>
              <a:p>
                <a:r>
                  <a:rPr lang="en-AU" sz="2400" dirty="0">
                    <a:highlight>
                      <a:srgbClr val="FFFF00"/>
                    </a:highlight>
                  </a:rPr>
                  <a:t>SOH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12EC1C-AEEB-4F2F-A916-1003BBD30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64" y="4245647"/>
                <a:ext cx="4669226" cy="1200329"/>
              </a:xfrm>
              <a:prstGeom prst="rect">
                <a:avLst/>
              </a:prstGeom>
              <a:blipFill>
                <a:blip r:embed="rId5"/>
                <a:stretch>
                  <a:fillRect l="-1958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4A209C-6ACD-4F36-B252-8BD6FE6E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57" y="891167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>
                <a:latin typeface="Arial Black" pitchFamily="34" charset="0"/>
              </a:rPr>
              <a:t>Sine (sin)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A114F15F-C238-47DE-A4AD-2F53F4351AFE}"/>
              </a:ext>
            </a:extLst>
          </p:cNvPr>
          <p:cNvGrpSpPr/>
          <p:nvPr/>
        </p:nvGrpSpPr>
        <p:grpSpPr>
          <a:xfrm>
            <a:off x="1071961" y="1755263"/>
            <a:ext cx="3183941" cy="2257734"/>
            <a:chOff x="971599" y="1700808"/>
            <a:chExt cx="5616625" cy="398275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17ADF4F-7439-4D95-8B90-A91D85DF937A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B0067B-A3F0-42C4-BEB1-7268BDFEEDF2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D308D6-094A-49E2-BEF1-F47C99CD2BDC}"/>
                </a:ext>
              </a:extLst>
            </p:cNvPr>
            <p:cNvSpPr txBox="1"/>
            <p:nvPr/>
          </p:nvSpPr>
          <p:spPr>
            <a:xfrm>
              <a:off x="4782366" y="4869160"/>
              <a:ext cx="1049670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50˚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EF3524E-9D90-46B7-80F8-E888521DA8E0}"/>
              </a:ext>
            </a:extLst>
          </p:cNvPr>
          <p:cNvSpPr txBox="1"/>
          <p:nvPr/>
        </p:nvSpPr>
        <p:spPr>
          <a:xfrm rot="2110019">
            <a:off x="1681262" y="2452447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14.1cm (1dp)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E0542-6AA3-4BF7-8AC1-BE424E5A45A5}"/>
              </a:ext>
            </a:extLst>
          </p:cNvPr>
          <p:cNvSpPr txBox="1"/>
          <p:nvPr/>
        </p:nvSpPr>
        <p:spPr>
          <a:xfrm rot="16200000">
            <a:off x="214174" y="2608906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10cm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A623C-D07E-4307-962D-D7C0032AEBBA}"/>
              </a:ext>
            </a:extLst>
          </p:cNvPr>
          <p:cNvSpPr txBox="1"/>
          <p:nvPr/>
        </p:nvSpPr>
        <p:spPr>
          <a:xfrm>
            <a:off x="4456337" y="2259319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use Sine when we have the </a:t>
            </a:r>
            <a:r>
              <a:rPr lang="en-GB" sz="2000" b="1" u="sng" dirty="0">
                <a:solidFill>
                  <a:srgbClr val="FF0000"/>
                </a:solidFill>
              </a:rPr>
              <a:t>Opposite </a:t>
            </a:r>
            <a:r>
              <a:rPr lang="en-GB" sz="2000" dirty="0"/>
              <a:t>and </a:t>
            </a:r>
            <a:r>
              <a:rPr lang="en-GB" sz="2000" b="1" u="sng" dirty="0">
                <a:solidFill>
                  <a:srgbClr val="FF0000"/>
                </a:solidFill>
              </a:rPr>
              <a:t>Hypotenuse</a:t>
            </a:r>
            <a:r>
              <a:rPr lang="en-GB" sz="2000" dirty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EEE80-0751-408A-B8B8-ED0826B4B285}"/>
              </a:ext>
            </a:extLst>
          </p:cNvPr>
          <p:cNvSpPr txBox="1"/>
          <p:nvPr/>
        </p:nvSpPr>
        <p:spPr>
          <a:xfrm>
            <a:off x="4672361" y="2979399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rule we use is: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68309-ECC9-462D-86DF-7A2E18855645}"/>
              </a:ext>
            </a:extLst>
          </p:cNvPr>
          <p:cNvSpPr txBox="1"/>
          <p:nvPr/>
        </p:nvSpPr>
        <p:spPr>
          <a:xfrm>
            <a:off x="4600353" y="367567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Sin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C2B28-D347-4C39-8A1E-CEAFBC98D416}"/>
              </a:ext>
            </a:extLst>
          </p:cNvPr>
          <p:cNvSpPr txBox="1"/>
          <p:nvPr/>
        </p:nvSpPr>
        <p:spPr>
          <a:xfrm>
            <a:off x="5824489" y="3483455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Hypotenuse</a:t>
            </a:r>
            <a:endParaRPr lang="en-GB" sz="3600" b="1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68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5E0CD0-0701-4DC3-ACD2-90A789329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1" y="206878"/>
            <a:ext cx="2771775" cy="1933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350789-440B-447C-A89F-CCEDF2DE9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22" y="2140453"/>
            <a:ext cx="4572000" cy="2886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F041BF-4955-4183-A4BC-803AE4C01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103" y="92578"/>
            <a:ext cx="3257550" cy="216217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42D5CB-3039-4AB7-BF4E-2C5AE76C0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207353"/>
              </p:ext>
            </p:extLst>
          </p:nvPr>
        </p:nvGraphicFramePr>
        <p:xfrm>
          <a:off x="5467233" y="2388672"/>
          <a:ext cx="3527501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7021">
                  <a:extLst>
                    <a:ext uri="{9D8B030D-6E8A-4147-A177-3AD203B41FA5}">
                      <a16:colId xmlns:a16="http://schemas.microsoft.com/office/drawing/2014/main" val="3860135353"/>
                    </a:ext>
                  </a:extLst>
                </a:gridCol>
                <a:gridCol w="1092819">
                  <a:extLst>
                    <a:ext uri="{9D8B030D-6E8A-4147-A177-3AD203B41FA5}">
                      <a16:colId xmlns:a16="http://schemas.microsoft.com/office/drawing/2014/main" val="1366856571"/>
                    </a:ext>
                  </a:extLst>
                </a:gridCol>
                <a:gridCol w="1467661">
                  <a:extLst>
                    <a:ext uri="{9D8B030D-6E8A-4147-A177-3AD203B41FA5}">
                      <a16:colId xmlns:a16="http://schemas.microsoft.com/office/drawing/2014/main" val="3046121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Adjacent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Hypotenuse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÷ H 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10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79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900217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774DBF-9933-4F40-897D-D9368C86909F}"/>
                  </a:ext>
                </a:extLst>
              </p:cNvPr>
              <p:cNvSpPr txBox="1"/>
              <p:nvPr/>
            </p:nvSpPr>
            <p:spPr>
              <a:xfrm>
                <a:off x="5229922" y="4041963"/>
                <a:ext cx="4669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00"/>
                    </a:highlight>
                  </a:rPr>
                  <a:t>C</a:t>
                </a:r>
                <a:r>
                  <a:rPr lang="en-AU" sz="2400" dirty="0"/>
                  <a:t>os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00"/>
                    </a:highlight>
                  </a:rPr>
                  <a:t>A</a:t>
                </a:r>
                <a:r>
                  <a:rPr lang="en-AU" sz="2400" dirty="0"/>
                  <a:t>djacent ÷ </a:t>
                </a:r>
                <a:r>
                  <a:rPr lang="en-AU" sz="2400" dirty="0">
                    <a:highlight>
                      <a:srgbClr val="00FF00"/>
                    </a:highlight>
                  </a:rPr>
                  <a:t>H</a:t>
                </a:r>
                <a:r>
                  <a:rPr lang="en-AU" sz="2400" dirty="0"/>
                  <a:t>ypotenuse</a:t>
                </a:r>
              </a:p>
              <a:p>
                <a:endParaRPr lang="en-AU" sz="2400" dirty="0"/>
              </a:p>
              <a:p>
                <a:r>
                  <a:rPr lang="en-AU" sz="2400" dirty="0">
                    <a:highlight>
                      <a:srgbClr val="00FF00"/>
                    </a:highlight>
                  </a:rPr>
                  <a:t>CAH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774DBF-9933-4F40-897D-D9368C869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22" y="4041963"/>
                <a:ext cx="4669226" cy="1200329"/>
              </a:xfrm>
              <a:prstGeom prst="rect">
                <a:avLst/>
              </a:prstGeom>
              <a:blipFill>
                <a:blip r:embed="rId5"/>
                <a:stretch>
                  <a:fillRect l="-2089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4A209C-6ACD-4F36-B252-8BD6FE6E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57" y="891167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>
                <a:latin typeface="Arial Black" pitchFamily="34" charset="0"/>
              </a:rPr>
              <a:t>Cosine (cos)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A114F15F-C238-47DE-A4AD-2F53F4351AFE}"/>
              </a:ext>
            </a:extLst>
          </p:cNvPr>
          <p:cNvGrpSpPr/>
          <p:nvPr/>
        </p:nvGrpSpPr>
        <p:grpSpPr>
          <a:xfrm>
            <a:off x="1071961" y="1755263"/>
            <a:ext cx="3183941" cy="2257734"/>
            <a:chOff x="971599" y="1700808"/>
            <a:chExt cx="5616625" cy="398275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17ADF4F-7439-4D95-8B90-A91D85DF937A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B0067B-A3F0-42C4-BEB1-7268BDFEEDF2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D308D6-094A-49E2-BEF1-F47C99CD2BDC}"/>
                </a:ext>
              </a:extLst>
            </p:cNvPr>
            <p:cNvSpPr txBox="1"/>
            <p:nvPr/>
          </p:nvSpPr>
          <p:spPr>
            <a:xfrm>
              <a:off x="4782366" y="4869160"/>
              <a:ext cx="1049670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50˚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EF3524E-9D90-46B7-80F8-E888521DA8E0}"/>
              </a:ext>
            </a:extLst>
          </p:cNvPr>
          <p:cNvSpPr txBox="1"/>
          <p:nvPr/>
        </p:nvSpPr>
        <p:spPr>
          <a:xfrm rot="2110019">
            <a:off x="1681262" y="2452447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14.1cm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E0542-6AA3-4BF7-8AC1-BE424E5A45A5}"/>
              </a:ext>
            </a:extLst>
          </p:cNvPr>
          <p:cNvSpPr txBox="1"/>
          <p:nvPr/>
        </p:nvSpPr>
        <p:spPr>
          <a:xfrm>
            <a:off x="1561328" y="3959530"/>
            <a:ext cx="2319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6.1 cm (1dp)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A623C-D07E-4307-962D-D7C0032AEBBA}"/>
              </a:ext>
            </a:extLst>
          </p:cNvPr>
          <p:cNvSpPr txBox="1"/>
          <p:nvPr/>
        </p:nvSpPr>
        <p:spPr>
          <a:xfrm>
            <a:off x="4456337" y="2259319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use Sine when we have the </a:t>
            </a:r>
            <a:r>
              <a:rPr lang="en-GB" sz="2000" b="1" u="sng" dirty="0">
                <a:solidFill>
                  <a:srgbClr val="FF0000"/>
                </a:solidFill>
              </a:rPr>
              <a:t>Adjacent </a:t>
            </a:r>
            <a:r>
              <a:rPr lang="en-GB" sz="2000" dirty="0"/>
              <a:t>and </a:t>
            </a:r>
            <a:r>
              <a:rPr lang="en-GB" sz="2000" b="1" u="sng" dirty="0">
                <a:solidFill>
                  <a:srgbClr val="FF0000"/>
                </a:solidFill>
              </a:rPr>
              <a:t>Hypotenuse</a:t>
            </a:r>
            <a:r>
              <a:rPr lang="en-GB" sz="2000" dirty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EEE80-0751-408A-B8B8-ED0826B4B285}"/>
              </a:ext>
            </a:extLst>
          </p:cNvPr>
          <p:cNvSpPr txBox="1"/>
          <p:nvPr/>
        </p:nvSpPr>
        <p:spPr>
          <a:xfrm>
            <a:off x="4672361" y="2979399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rule we use is: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68309-ECC9-462D-86DF-7A2E18855645}"/>
              </a:ext>
            </a:extLst>
          </p:cNvPr>
          <p:cNvSpPr txBox="1"/>
          <p:nvPr/>
        </p:nvSpPr>
        <p:spPr>
          <a:xfrm>
            <a:off x="4600353" y="367567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Cos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C2B28-D347-4C39-8A1E-CEAFBC98D416}"/>
              </a:ext>
            </a:extLst>
          </p:cNvPr>
          <p:cNvSpPr txBox="1"/>
          <p:nvPr/>
        </p:nvSpPr>
        <p:spPr>
          <a:xfrm>
            <a:off x="5824489" y="3483455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Adjacent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Hypotenuse</a:t>
            </a:r>
            <a:endParaRPr lang="en-GB" sz="3600" b="1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55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937C-9DE1-4C38-B08A-BCF943B1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128" y="148154"/>
            <a:ext cx="7886700" cy="552318"/>
          </a:xfrm>
        </p:spPr>
        <p:txBody>
          <a:bodyPr>
            <a:noAutofit/>
          </a:bodyPr>
          <a:lstStyle/>
          <a:p>
            <a:r>
              <a:rPr lang="en-AU" sz="2400" dirty="0"/>
              <a:t>The ratios are programmed into your calculators.  Each angle has it’s own unique value for each of the ratios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E5625-9FE5-4C70-B80D-7647EC482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856589"/>
            <a:ext cx="86106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9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Finding sides.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2996" y="1321443"/>
            <a:ext cx="7817005" cy="3354871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272996" y="1157879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8805644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dirty="0"/>
              <a:t>EQ : How do we Trigonometry to find the lengths of sides?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417D771-A060-41B9-848C-204232F7ECD9}"/>
              </a:ext>
            </a:extLst>
          </p:cNvPr>
          <p:cNvSpPr txBox="1">
            <a:spLocks/>
          </p:cNvSpPr>
          <p:nvPr/>
        </p:nvSpPr>
        <p:spPr>
          <a:xfrm>
            <a:off x="1425397" y="1473843"/>
            <a:ext cx="7369152" cy="3354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2800" dirty="0"/>
              <a:t>We can use SOH CAH TOA to help find the lengths of unknown sides.</a:t>
            </a:r>
          </a:p>
          <a:p>
            <a:pPr algn="l"/>
            <a:r>
              <a:rPr lang="en-AU" sz="2800" dirty="0"/>
              <a:t>SOH stands for</a:t>
            </a:r>
          </a:p>
          <a:p>
            <a:pPr algn="l"/>
            <a:r>
              <a:rPr lang="en-AU" sz="2800" dirty="0"/>
              <a:t>CAH stands for</a:t>
            </a:r>
          </a:p>
          <a:p>
            <a:pPr algn="l"/>
            <a:r>
              <a:rPr lang="en-AU" sz="2800" dirty="0"/>
              <a:t>TOA stands for    </a:t>
            </a:r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23205E-B103-4995-A924-78AC4A3B26D0}"/>
                  </a:ext>
                </a:extLst>
              </p:cNvPr>
              <p:cNvSpPr txBox="1"/>
              <p:nvPr/>
            </p:nvSpPr>
            <p:spPr>
              <a:xfrm>
                <a:off x="4125322" y="2398713"/>
                <a:ext cx="4669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FFFF00"/>
                    </a:highlight>
                  </a:rPr>
                  <a:t>S</a:t>
                </a:r>
                <a:r>
                  <a:rPr lang="en-AU" sz="2400" dirty="0"/>
                  <a:t>in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FFFF00"/>
                    </a:highlight>
                  </a:rPr>
                  <a:t>O</a:t>
                </a:r>
                <a:r>
                  <a:rPr lang="en-AU" sz="2400" dirty="0"/>
                  <a:t>pposite ÷ </a:t>
                </a:r>
                <a:r>
                  <a:rPr lang="en-AU" sz="2400" dirty="0">
                    <a:highlight>
                      <a:srgbClr val="FFFF00"/>
                    </a:highlight>
                  </a:rPr>
                  <a:t>H</a:t>
                </a:r>
                <a:r>
                  <a:rPr lang="en-AU" sz="2400" dirty="0"/>
                  <a:t>ypotenuse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23205E-B103-4995-A924-78AC4A3B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22" y="2398713"/>
                <a:ext cx="4669226" cy="461665"/>
              </a:xfrm>
              <a:prstGeom prst="rect">
                <a:avLst/>
              </a:prstGeom>
              <a:blipFill>
                <a:blip r:embed="rId2"/>
                <a:stretch>
                  <a:fillRect l="-208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2BA79B-490A-4A18-86A2-65834BA0C0D8}"/>
                  </a:ext>
                </a:extLst>
              </p:cNvPr>
              <p:cNvSpPr txBox="1"/>
              <p:nvPr/>
            </p:nvSpPr>
            <p:spPr>
              <a:xfrm>
                <a:off x="4125322" y="2860378"/>
                <a:ext cx="4669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00"/>
                    </a:highlight>
                  </a:rPr>
                  <a:t>C</a:t>
                </a:r>
                <a:r>
                  <a:rPr lang="en-AU" sz="2400" dirty="0"/>
                  <a:t>os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00"/>
                    </a:highlight>
                  </a:rPr>
                  <a:t>A</a:t>
                </a:r>
                <a:r>
                  <a:rPr lang="en-AU" sz="2400" dirty="0"/>
                  <a:t>djacent ÷ </a:t>
                </a:r>
                <a:r>
                  <a:rPr lang="en-AU" sz="2400" dirty="0">
                    <a:highlight>
                      <a:srgbClr val="00FF00"/>
                    </a:highlight>
                  </a:rPr>
                  <a:t>H</a:t>
                </a:r>
                <a:r>
                  <a:rPr lang="en-AU" sz="2400" dirty="0"/>
                  <a:t>ypotenuse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2BA79B-490A-4A18-86A2-65834BA0C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22" y="2860378"/>
                <a:ext cx="4669226" cy="461665"/>
              </a:xfrm>
              <a:prstGeom prst="rect">
                <a:avLst/>
              </a:prstGeom>
              <a:blipFill>
                <a:blip r:embed="rId3"/>
                <a:stretch>
                  <a:fillRect l="-208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6EBBDD-AF0A-441E-A811-EB9ACFD3780D}"/>
                  </a:ext>
                </a:extLst>
              </p:cNvPr>
              <p:cNvSpPr txBox="1"/>
              <p:nvPr/>
            </p:nvSpPr>
            <p:spPr>
              <a:xfrm>
                <a:off x="4125322" y="3322043"/>
                <a:ext cx="4669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FF"/>
                    </a:highlight>
                  </a:rPr>
                  <a:t>T</a:t>
                </a:r>
                <a:r>
                  <a:rPr lang="en-AU" sz="2400" dirty="0"/>
                  <a:t>an </a:t>
                </a:r>
                <a14:m>
                  <m:oMath xmlns:m="http://schemas.openxmlformats.org/officeDocument/2006/math">
                    <m:r>
                      <a:rPr lang="en-AU" sz="2400" i="1" smtClean="0"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FF"/>
                    </a:highlight>
                  </a:rPr>
                  <a:t>O</a:t>
                </a:r>
                <a:r>
                  <a:rPr lang="en-AU" sz="2400" dirty="0"/>
                  <a:t>pposite ÷ </a:t>
                </a:r>
                <a:r>
                  <a:rPr lang="en-AU" sz="2400" dirty="0">
                    <a:highlight>
                      <a:srgbClr val="00FFFF"/>
                    </a:highlight>
                  </a:rPr>
                  <a:t>A</a:t>
                </a:r>
                <a:r>
                  <a:rPr lang="en-AU" sz="2400" dirty="0"/>
                  <a:t>djacent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6EBBDD-AF0A-441E-A811-EB9ACFD37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22" y="3322043"/>
                <a:ext cx="4669226" cy="461665"/>
              </a:xfrm>
              <a:prstGeom prst="rect">
                <a:avLst/>
              </a:prstGeom>
              <a:blipFill>
                <a:blip r:embed="rId4"/>
                <a:stretch>
                  <a:fillRect l="-208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93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Finding sides.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2996" y="1321443"/>
            <a:ext cx="7817005" cy="3354871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272996" y="1157879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8805644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dirty="0"/>
              <a:t>EQ : How do we Trigonometry to find the lengths of sides?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417D771-A060-41B9-848C-204232F7ECD9}"/>
              </a:ext>
            </a:extLst>
          </p:cNvPr>
          <p:cNvSpPr txBox="1">
            <a:spLocks/>
          </p:cNvSpPr>
          <p:nvPr/>
        </p:nvSpPr>
        <p:spPr>
          <a:xfrm>
            <a:off x="1425396" y="1330712"/>
            <a:ext cx="7369152" cy="3354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2800" dirty="0"/>
              <a:t>SOH stands for</a:t>
            </a:r>
          </a:p>
          <a:p>
            <a:pPr algn="l"/>
            <a:r>
              <a:rPr lang="en-AU" sz="2800" dirty="0"/>
              <a:t>CAH stands for</a:t>
            </a:r>
          </a:p>
          <a:p>
            <a:pPr algn="l"/>
            <a:r>
              <a:rPr lang="en-AU" sz="2800" dirty="0"/>
              <a:t>TOA stands for    </a:t>
            </a:r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23205E-B103-4995-A924-78AC4A3B26D0}"/>
                  </a:ext>
                </a:extLst>
              </p:cNvPr>
              <p:cNvSpPr txBox="1"/>
              <p:nvPr/>
            </p:nvSpPr>
            <p:spPr>
              <a:xfrm>
                <a:off x="4273049" y="1330712"/>
                <a:ext cx="4669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FFFF00"/>
                    </a:highlight>
                  </a:rPr>
                  <a:t>S</a:t>
                </a:r>
                <a:r>
                  <a:rPr lang="en-AU" sz="2400" dirty="0"/>
                  <a:t>in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FFFF00"/>
                    </a:highlight>
                  </a:rPr>
                  <a:t>O</a:t>
                </a:r>
                <a:r>
                  <a:rPr lang="en-AU" sz="2400" dirty="0"/>
                  <a:t>pposite ÷ </a:t>
                </a:r>
                <a:r>
                  <a:rPr lang="en-AU" sz="2400" dirty="0">
                    <a:highlight>
                      <a:srgbClr val="FFFF00"/>
                    </a:highlight>
                  </a:rPr>
                  <a:t>H</a:t>
                </a:r>
                <a:r>
                  <a:rPr lang="en-AU" sz="2400" dirty="0"/>
                  <a:t>ypotenuse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23205E-B103-4995-A924-78AC4A3B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049" y="1330712"/>
                <a:ext cx="4669226" cy="461665"/>
              </a:xfrm>
              <a:prstGeom prst="rect">
                <a:avLst/>
              </a:prstGeom>
              <a:blipFill>
                <a:blip r:embed="rId2"/>
                <a:stretch>
                  <a:fillRect l="-208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2BA79B-490A-4A18-86A2-65834BA0C0D8}"/>
                  </a:ext>
                </a:extLst>
              </p:cNvPr>
              <p:cNvSpPr txBox="1"/>
              <p:nvPr/>
            </p:nvSpPr>
            <p:spPr>
              <a:xfrm>
                <a:off x="4273049" y="1792377"/>
                <a:ext cx="466922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00"/>
                    </a:highlight>
                  </a:rPr>
                  <a:t>C</a:t>
                </a:r>
                <a:r>
                  <a:rPr lang="en-AU" sz="2400" dirty="0"/>
                  <a:t>os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00"/>
                    </a:highlight>
                  </a:rPr>
                  <a:t>A</a:t>
                </a:r>
                <a:r>
                  <a:rPr lang="en-AU" sz="2400" dirty="0"/>
                  <a:t>djacent ÷ </a:t>
                </a:r>
                <a:r>
                  <a:rPr lang="en-AU" sz="2400" dirty="0">
                    <a:highlight>
                      <a:srgbClr val="00FF00"/>
                    </a:highlight>
                  </a:rPr>
                  <a:t>H</a:t>
                </a:r>
                <a:r>
                  <a:rPr lang="en-AU" sz="2400" dirty="0"/>
                  <a:t>ypotenuse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2BA79B-490A-4A18-86A2-65834BA0C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049" y="1792377"/>
                <a:ext cx="4669226" cy="461665"/>
              </a:xfrm>
              <a:prstGeom prst="rect">
                <a:avLst/>
              </a:prstGeom>
              <a:blipFill>
                <a:blip r:embed="rId3"/>
                <a:stretch>
                  <a:fillRect l="-2089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6EBBDD-AF0A-441E-A811-EB9ACFD3780D}"/>
                  </a:ext>
                </a:extLst>
              </p:cNvPr>
              <p:cNvSpPr txBox="1"/>
              <p:nvPr/>
            </p:nvSpPr>
            <p:spPr>
              <a:xfrm>
                <a:off x="4273049" y="2254042"/>
                <a:ext cx="4669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FF"/>
                    </a:highlight>
                  </a:rPr>
                  <a:t>T</a:t>
                </a:r>
                <a:r>
                  <a:rPr lang="en-AU" sz="2400" dirty="0"/>
                  <a:t>an </a:t>
                </a:r>
                <a14:m>
                  <m:oMath xmlns:m="http://schemas.openxmlformats.org/officeDocument/2006/math">
                    <m:r>
                      <a:rPr lang="en-AU" sz="2400" i="1" smtClean="0"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FF"/>
                    </a:highlight>
                  </a:rPr>
                  <a:t>O</a:t>
                </a:r>
                <a:r>
                  <a:rPr lang="en-AU" sz="2400" dirty="0"/>
                  <a:t>pposite ÷ </a:t>
                </a:r>
                <a:r>
                  <a:rPr lang="en-AU" sz="2400" dirty="0">
                    <a:highlight>
                      <a:srgbClr val="00FFFF"/>
                    </a:highlight>
                  </a:rPr>
                  <a:t>A</a:t>
                </a:r>
                <a:r>
                  <a:rPr lang="en-AU" sz="2400" dirty="0"/>
                  <a:t>djacent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6EBBDD-AF0A-441E-A811-EB9ACFD37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049" y="2254042"/>
                <a:ext cx="4669226" cy="461665"/>
              </a:xfrm>
              <a:prstGeom prst="rect">
                <a:avLst/>
              </a:prstGeom>
              <a:blipFill>
                <a:blip r:embed="rId4"/>
                <a:stretch>
                  <a:fillRect l="-208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3B547E1-FDD3-459F-A345-8E1AE4317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718" y="3008147"/>
            <a:ext cx="1428750" cy="1752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54E907-6325-4C8A-9110-F95514D253E4}"/>
              </a:ext>
            </a:extLst>
          </p:cNvPr>
          <p:cNvSpPr txBox="1"/>
          <p:nvPr/>
        </p:nvSpPr>
        <p:spPr>
          <a:xfrm>
            <a:off x="2933468" y="2964577"/>
            <a:ext cx="3579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1. Find the important angle.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736DDF-67DE-49AF-A35A-6F41E5E76463}"/>
              </a:ext>
            </a:extLst>
          </p:cNvPr>
          <p:cNvSpPr/>
          <p:nvPr/>
        </p:nvSpPr>
        <p:spPr>
          <a:xfrm>
            <a:off x="2422591" y="4156781"/>
            <a:ext cx="340585" cy="4276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AB585F-0ADA-4068-B30C-526105335942}"/>
              </a:ext>
            </a:extLst>
          </p:cNvPr>
          <p:cNvSpPr txBox="1"/>
          <p:nvPr/>
        </p:nvSpPr>
        <p:spPr>
          <a:xfrm>
            <a:off x="2933468" y="3377479"/>
            <a:ext cx="3579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2. Label the sides.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FEA37-BCED-4604-9A0E-02B764FDF8D4}"/>
              </a:ext>
            </a:extLst>
          </p:cNvPr>
          <p:cNvSpPr txBox="1"/>
          <p:nvPr/>
        </p:nvSpPr>
        <p:spPr>
          <a:xfrm flipH="1">
            <a:off x="2100559" y="3377479"/>
            <a:ext cx="7567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 err="1"/>
              <a:t>Hyp</a:t>
            </a:r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C0268F-0C38-487B-B40F-7DB0BDD488D3}"/>
              </a:ext>
            </a:extLst>
          </p:cNvPr>
          <p:cNvSpPr txBox="1"/>
          <p:nvPr/>
        </p:nvSpPr>
        <p:spPr>
          <a:xfrm flipH="1">
            <a:off x="1045929" y="3542323"/>
            <a:ext cx="75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Opp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8BA365-3757-417A-BBA9-894ACBF80F72}"/>
              </a:ext>
            </a:extLst>
          </p:cNvPr>
          <p:cNvSpPr txBox="1"/>
          <p:nvPr/>
        </p:nvSpPr>
        <p:spPr>
          <a:xfrm flipH="1">
            <a:off x="1927702" y="4685583"/>
            <a:ext cx="7567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 err="1"/>
              <a:t>Adj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AA8F1C-688D-4215-997A-85A2DF59931F}"/>
              </a:ext>
            </a:extLst>
          </p:cNvPr>
          <p:cNvSpPr txBox="1"/>
          <p:nvPr/>
        </p:nvSpPr>
        <p:spPr>
          <a:xfrm>
            <a:off x="2943408" y="3800242"/>
            <a:ext cx="431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3. Which ratio has the sides involved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ABADE9-DFF7-477A-B728-4056E925F442}"/>
              </a:ext>
            </a:extLst>
          </p:cNvPr>
          <p:cNvSpPr txBox="1"/>
          <p:nvPr/>
        </p:nvSpPr>
        <p:spPr>
          <a:xfrm>
            <a:off x="2951954" y="4220582"/>
            <a:ext cx="524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4. Place the information into the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F5047A-4F00-45E8-9149-CF0B0CAA38F2}"/>
                  </a:ext>
                </a:extLst>
              </p:cNvPr>
              <p:cNvSpPr txBox="1"/>
              <p:nvPr/>
            </p:nvSpPr>
            <p:spPr>
              <a:xfrm>
                <a:off x="3526920" y="4639416"/>
                <a:ext cx="2115597" cy="4616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highlight>
                      <a:srgbClr val="00FF00"/>
                    </a:highlight>
                  </a:rPr>
                  <a:t>C</a:t>
                </a:r>
                <a:r>
                  <a:rPr lang="en-AU" sz="2400" dirty="0"/>
                  <a:t>os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AU" sz="2400" dirty="0"/>
                  <a:t>= </a:t>
                </a:r>
                <a:r>
                  <a:rPr lang="en-AU" sz="2400" dirty="0">
                    <a:highlight>
                      <a:srgbClr val="00FF00"/>
                    </a:highlight>
                  </a:rPr>
                  <a:t>10</a:t>
                </a:r>
                <a:r>
                  <a:rPr lang="en-AU" sz="2400" dirty="0"/>
                  <a:t> ÷ </a:t>
                </a:r>
                <a:r>
                  <a:rPr lang="en-AU" sz="2400" dirty="0">
                    <a:highlight>
                      <a:srgbClr val="00FF00"/>
                    </a:highlight>
                  </a:rPr>
                  <a:t>x</a:t>
                </a:r>
                <a:endParaRPr lang="en-AU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F5047A-4F00-45E8-9149-CF0B0CAA3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920" y="4639416"/>
                <a:ext cx="2115597" cy="461665"/>
              </a:xfrm>
              <a:prstGeom prst="rect">
                <a:avLst/>
              </a:prstGeom>
              <a:blipFill>
                <a:blip r:embed="rId6"/>
                <a:stretch>
                  <a:fillRect l="-4298" t="-8974" b="-2692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24E429DA-6695-4B39-ACD4-600F63CDC9D7}"/>
              </a:ext>
            </a:extLst>
          </p:cNvPr>
          <p:cNvSpPr/>
          <p:nvPr/>
        </p:nvSpPr>
        <p:spPr>
          <a:xfrm>
            <a:off x="2100559" y="3456878"/>
            <a:ext cx="583853" cy="289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74BCEA-46AB-4398-BC83-E06C7AE32EB3}"/>
              </a:ext>
            </a:extLst>
          </p:cNvPr>
          <p:cNvSpPr/>
          <p:nvPr/>
        </p:nvSpPr>
        <p:spPr>
          <a:xfrm>
            <a:off x="1908989" y="4736332"/>
            <a:ext cx="583853" cy="289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6F899-654E-4857-82CD-50E3010FA33C}"/>
              </a:ext>
            </a:extLst>
          </p:cNvPr>
          <p:cNvSpPr/>
          <p:nvPr/>
        </p:nvSpPr>
        <p:spPr>
          <a:xfrm>
            <a:off x="4248792" y="1783108"/>
            <a:ext cx="4136925" cy="5258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993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7" grpId="0"/>
      <p:bldP spid="10" grpId="0"/>
      <p:bldP spid="20" grpId="0"/>
      <p:bldP spid="21" grpId="0" animBg="1"/>
      <p:bldP spid="23" grpId="0"/>
      <p:bldP spid="24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Finding sides.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2996" y="1321443"/>
            <a:ext cx="7817005" cy="3354871"/>
          </a:xfrm>
        </p:spPr>
        <p:txBody>
          <a:bodyPr>
            <a:normAutofit/>
          </a:bodyPr>
          <a:lstStyle/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272996" y="1157879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8805644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dirty="0"/>
              <a:t>EQ : How do we Trigonometry to find the lengths of sides?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417D771-A060-41B9-848C-204232F7ECD9}"/>
              </a:ext>
            </a:extLst>
          </p:cNvPr>
          <p:cNvSpPr txBox="1">
            <a:spLocks/>
          </p:cNvSpPr>
          <p:nvPr/>
        </p:nvSpPr>
        <p:spPr>
          <a:xfrm>
            <a:off x="1155003" y="1740914"/>
            <a:ext cx="7369152" cy="3354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AU" sz="2800" dirty="0"/>
          </a:p>
          <a:p>
            <a:pPr algn="l"/>
            <a:endParaRPr lang="en-AU" sz="2800" dirty="0"/>
          </a:p>
          <a:p>
            <a:pPr algn="l"/>
            <a:endParaRPr lang="en-AU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547E1-FDD3-459F-A345-8E1AE431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8" y="1335467"/>
            <a:ext cx="1428750" cy="1752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54E907-6325-4C8A-9110-F95514D253E4}"/>
              </a:ext>
            </a:extLst>
          </p:cNvPr>
          <p:cNvSpPr txBox="1"/>
          <p:nvPr/>
        </p:nvSpPr>
        <p:spPr>
          <a:xfrm>
            <a:off x="2933468" y="1291897"/>
            <a:ext cx="3579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1. Find the important angle.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736DDF-67DE-49AF-A35A-6F41E5E76463}"/>
              </a:ext>
            </a:extLst>
          </p:cNvPr>
          <p:cNvSpPr/>
          <p:nvPr/>
        </p:nvSpPr>
        <p:spPr>
          <a:xfrm>
            <a:off x="2422591" y="2484101"/>
            <a:ext cx="340585" cy="4276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AB585F-0ADA-4068-B30C-526105335942}"/>
              </a:ext>
            </a:extLst>
          </p:cNvPr>
          <p:cNvSpPr txBox="1"/>
          <p:nvPr/>
        </p:nvSpPr>
        <p:spPr>
          <a:xfrm>
            <a:off x="2933468" y="1704799"/>
            <a:ext cx="3579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2. Label the sides.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FEA37-BCED-4604-9A0E-02B764FDF8D4}"/>
              </a:ext>
            </a:extLst>
          </p:cNvPr>
          <p:cNvSpPr txBox="1"/>
          <p:nvPr/>
        </p:nvSpPr>
        <p:spPr>
          <a:xfrm flipH="1">
            <a:off x="2100559" y="1704799"/>
            <a:ext cx="75671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err="1"/>
              <a:t>Hyp</a:t>
            </a:r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C0268F-0C38-487B-B40F-7DB0BDD488D3}"/>
              </a:ext>
            </a:extLst>
          </p:cNvPr>
          <p:cNvSpPr txBox="1"/>
          <p:nvPr/>
        </p:nvSpPr>
        <p:spPr>
          <a:xfrm flipH="1">
            <a:off x="1045929" y="1869643"/>
            <a:ext cx="75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Opp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8BA365-3757-417A-BBA9-894ACBF80F72}"/>
              </a:ext>
            </a:extLst>
          </p:cNvPr>
          <p:cNvSpPr txBox="1"/>
          <p:nvPr/>
        </p:nvSpPr>
        <p:spPr>
          <a:xfrm flipH="1">
            <a:off x="1927702" y="3012903"/>
            <a:ext cx="75671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err="1"/>
              <a:t>Adj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AA8F1C-688D-4215-997A-85A2DF59931F}"/>
              </a:ext>
            </a:extLst>
          </p:cNvPr>
          <p:cNvSpPr txBox="1"/>
          <p:nvPr/>
        </p:nvSpPr>
        <p:spPr>
          <a:xfrm>
            <a:off x="2943408" y="2127562"/>
            <a:ext cx="431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3. Which ratio has the sides involved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ABADE9-DFF7-477A-B728-4056E925F442}"/>
              </a:ext>
            </a:extLst>
          </p:cNvPr>
          <p:cNvSpPr txBox="1"/>
          <p:nvPr/>
        </p:nvSpPr>
        <p:spPr>
          <a:xfrm>
            <a:off x="2951954" y="2458832"/>
            <a:ext cx="524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4. Place the information into the formula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B8930B-FDB9-4F63-9907-464E6BA01E4E}"/>
              </a:ext>
            </a:extLst>
          </p:cNvPr>
          <p:cNvSpPr txBox="1"/>
          <p:nvPr/>
        </p:nvSpPr>
        <p:spPr>
          <a:xfrm>
            <a:off x="2951953" y="3363046"/>
            <a:ext cx="629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5. Reorganise the equation to isolate the unknown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13587B-FBF4-4697-8DA0-F1D30534CC87}"/>
                  </a:ext>
                </a:extLst>
              </p:cNvPr>
              <p:cNvSpPr txBox="1"/>
              <p:nvPr/>
            </p:nvSpPr>
            <p:spPr>
              <a:xfrm>
                <a:off x="3681049" y="2721144"/>
                <a:ext cx="2004085" cy="616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Cos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13587B-FBF4-4697-8DA0-F1D30534C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049" y="2721144"/>
                <a:ext cx="2004085" cy="616644"/>
              </a:xfrm>
              <a:prstGeom prst="rect">
                <a:avLst/>
              </a:prstGeom>
              <a:blipFill>
                <a:blip r:embed="rId3"/>
                <a:stretch>
                  <a:fillRect l="-4863" b="-8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B35C86-2F7E-4D2A-A4F4-0989C27CACD3}"/>
                  </a:ext>
                </a:extLst>
              </p:cNvPr>
              <p:cNvSpPr txBox="1"/>
              <p:nvPr/>
            </p:nvSpPr>
            <p:spPr>
              <a:xfrm>
                <a:off x="3721195" y="3686211"/>
                <a:ext cx="2004085" cy="617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sz="2400" dirty="0"/>
                          <m:t>Cos</m:t>
                        </m:r>
                        <m:r>
                          <m:rPr>
                            <m:nor/>
                          </m:rPr>
                          <a:rPr lang="en-AU" sz="2400" dirty="0"/>
                          <m:t> 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B35C86-2F7E-4D2A-A4F4-0989C27CA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95" y="3686211"/>
                <a:ext cx="2004085" cy="617541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C46C17-4528-425A-9046-6D3BA8FD0F6A}"/>
                  </a:ext>
                </a:extLst>
              </p:cNvPr>
              <p:cNvSpPr txBox="1"/>
              <p:nvPr/>
            </p:nvSpPr>
            <p:spPr>
              <a:xfrm>
                <a:off x="3721195" y="4719884"/>
                <a:ext cx="4359718" cy="617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743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=13.45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C46C17-4528-425A-9046-6D3BA8FD0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95" y="4719884"/>
                <a:ext cx="4359718" cy="617028"/>
              </a:xfrm>
              <a:prstGeom prst="rect">
                <a:avLst/>
              </a:prstGeom>
              <a:blipFill>
                <a:blip r:embed="rId5"/>
                <a:stretch>
                  <a:fillRect b="-99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07A826C7-6E88-4B0E-8428-79869B20FFDE}"/>
              </a:ext>
            </a:extLst>
          </p:cNvPr>
          <p:cNvSpPr/>
          <p:nvPr/>
        </p:nvSpPr>
        <p:spPr>
          <a:xfrm>
            <a:off x="2922498" y="433254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Step 5. solve</a:t>
            </a:r>
          </a:p>
        </p:txBody>
      </p:sp>
    </p:spTree>
    <p:extLst>
      <p:ext uri="{BB962C8B-B14F-4D97-AF65-F5344CB8AC3E}">
        <p14:creationId xmlns:p14="http://schemas.microsoft.com/office/powerpoint/2010/main" val="276813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4BF1AD-BC3D-4F99-856A-413D690BCE25}"/>
              </a:ext>
            </a:extLst>
          </p:cNvPr>
          <p:cNvSpPr txBox="1">
            <a:spLocks/>
          </p:cNvSpPr>
          <p:nvPr/>
        </p:nvSpPr>
        <p:spPr>
          <a:xfrm>
            <a:off x="289931" y="77264"/>
            <a:ext cx="8943278" cy="1283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400" dirty="0"/>
              <a:t>Using SOH CAH TOA to help answer Trigonometry.</a:t>
            </a:r>
            <a:br>
              <a:rPr lang="en-AU" sz="2400" dirty="0"/>
            </a:br>
            <a:r>
              <a:rPr lang="en-AU" sz="2400" dirty="0"/>
              <a:t>Lets try a few..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40E6D-ECC9-4F6C-A2B0-7811620D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32" y="1120116"/>
            <a:ext cx="1143000" cy="1266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C498D0-5FCF-4E55-979E-DEF663DAB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32" y="2583946"/>
            <a:ext cx="1028700" cy="1171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347584-F076-49FB-A12A-6235E3A28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07" y="4137334"/>
            <a:ext cx="10096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94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0605-77C1-4BA4-BBD1-E271A78F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85" y="304271"/>
            <a:ext cx="8943278" cy="454012"/>
          </a:xfrm>
        </p:spPr>
        <p:txBody>
          <a:bodyPr>
            <a:normAutofit fontScale="90000"/>
          </a:bodyPr>
          <a:lstStyle/>
          <a:p>
            <a:r>
              <a:rPr lang="en-AU" dirty="0"/>
              <a:t>Using SOH CAH TOA to help answer Trigonometry.</a:t>
            </a:r>
            <a:br>
              <a:rPr lang="en-AU" dirty="0"/>
            </a:br>
            <a:r>
              <a:rPr lang="en-AU" dirty="0"/>
              <a:t>Lets try a few..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A72EC-D6F9-4D86-8A1A-EE7EEE05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84" y="1098279"/>
            <a:ext cx="1743075" cy="1533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BF89E1-2D34-4D49-B881-BFF8C09EA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9" y="3400308"/>
            <a:ext cx="13335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91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9A52-01A7-44F2-AE5F-A993B8932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Now 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3598886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176</TotalTime>
  <Words>408</Words>
  <Application>Microsoft Office PowerPoint</Application>
  <PresentationFormat>On-screen Show (16:10)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Sine (sin)</vt:lpstr>
      <vt:lpstr>PowerPoint Presentation</vt:lpstr>
      <vt:lpstr>Cosine (cos)</vt:lpstr>
      <vt:lpstr>The ratios are programmed into your calculators.  Each angle has it’s own unique value for each of the ratios</vt:lpstr>
      <vt:lpstr>Topic : Finding sides.</vt:lpstr>
      <vt:lpstr>Topic : Finding sides.</vt:lpstr>
      <vt:lpstr>Topic : Finding sides.</vt:lpstr>
      <vt:lpstr>PowerPoint Presentation</vt:lpstr>
      <vt:lpstr>Using SOH CAH TOA to help answer Trigonometry. Lets try a few..</vt:lpstr>
      <vt:lpstr>Now complete the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17</cp:revision>
  <dcterms:created xsi:type="dcterms:W3CDTF">2017-08-21T14:55:33Z</dcterms:created>
  <dcterms:modified xsi:type="dcterms:W3CDTF">2017-08-23T15:26:55Z</dcterms:modified>
</cp:coreProperties>
</file>
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7" r:id="rId2"/>
    <p:sldId id="310" r:id="rId3"/>
    <p:sldId id="331" r:id="rId4"/>
    <p:sldId id="332" r:id="rId5"/>
    <p:sldId id="333" r:id="rId6"/>
    <p:sldId id="335" r:id="rId7"/>
    <p:sldId id="336" r:id="rId8"/>
    <p:sldId id="325" r:id="rId9"/>
    <p:sldId id="328" r:id="rId10"/>
    <p:sldId id="327" r:id="rId11"/>
    <p:sldId id="329" r:id="rId12"/>
    <p:sldId id="292" r:id="rId13"/>
    <p:sldId id="334" r:id="rId14"/>
    <p:sldId id="291" r:id="rId15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92" d="100"/>
          <a:sy n="92" d="100"/>
        </p:scale>
        <p:origin x="12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9452C717-5C1B-42C9-B30E-5BF0AD93CD3E}"/>
    <pc:docChg chg="addSld delSld modSld sldOrd">
      <pc:chgData name="Hamilton Stott" userId="e28223afab1f786a" providerId="LiveId" clId="{9452C717-5C1B-42C9-B30E-5BF0AD93CD3E}" dt="2017-08-20T14:17:49.532" v="19" actId="2696"/>
      <pc:docMkLst>
        <pc:docMk/>
      </pc:docMkLst>
      <pc:sldChg chg="del">
        <pc:chgData name="Hamilton Stott" userId="e28223afab1f786a" providerId="LiveId" clId="{9452C717-5C1B-42C9-B30E-5BF0AD93CD3E}" dt="2017-08-20T14:17:49.532" v="19" actId="2696"/>
        <pc:sldMkLst>
          <pc:docMk/>
          <pc:sldMk cId="3906858902" sldId="330"/>
        </pc:sldMkLst>
      </pc:sldChg>
      <pc:sldChg chg="modSp add">
        <pc:chgData name="Hamilton Stott" userId="e28223afab1f786a" providerId="LiveId" clId="{9452C717-5C1B-42C9-B30E-5BF0AD93CD3E}" dt="2017-08-20T14:14:43.797" v="12" actId="20577"/>
        <pc:sldMkLst>
          <pc:docMk/>
          <pc:sldMk cId="726076213" sldId="331"/>
        </pc:sldMkLst>
        <pc:spChg chg="mod">
          <ac:chgData name="Hamilton Stott" userId="e28223afab1f786a" providerId="LiveId" clId="{9452C717-5C1B-42C9-B30E-5BF0AD93CD3E}" dt="2017-08-20T14:14:43.797" v="12" actId="20577"/>
          <ac:spMkLst>
            <pc:docMk/>
            <pc:sldMk cId="726076213" sldId="331"/>
            <ac:spMk id="4098" creationId="{2EAC92F1-E7EB-4982-B2FC-5C25E965CAE4}"/>
          </ac:spMkLst>
        </pc:spChg>
      </pc:sldChg>
      <pc:sldChg chg="add">
        <pc:chgData name="Hamilton Stott" userId="e28223afab1f786a" providerId="LiveId" clId="{9452C717-5C1B-42C9-B30E-5BF0AD93CD3E}" dt="2017-08-20T14:15:19.792" v="13"/>
        <pc:sldMkLst>
          <pc:docMk/>
          <pc:sldMk cId="1891707126" sldId="332"/>
        </pc:sldMkLst>
      </pc:sldChg>
      <pc:sldChg chg="add">
        <pc:chgData name="Hamilton Stott" userId="e28223afab1f786a" providerId="LiveId" clId="{9452C717-5C1B-42C9-B30E-5BF0AD93CD3E}" dt="2017-08-20T14:15:51.088" v="14"/>
        <pc:sldMkLst>
          <pc:docMk/>
          <pc:sldMk cId="3962040229" sldId="333"/>
        </pc:sldMkLst>
      </pc:sldChg>
      <pc:sldChg chg="add ord">
        <pc:chgData name="Hamilton Stott" userId="e28223afab1f786a" providerId="LiveId" clId="{9452C717-5C1B-42C9-B30E-5BF0AD93CD3E}" dt="2017-08-20T14:17:19.635" v="18"/>
        <pc:sldMkLst>
          <pc:docMk/>
          <pc:sldMk cId="288431864" sldId="334"/>
        </pc:sldMkLst>
      </pc:sldChg>
      <pc:sldChg chg="add">
        <pc:chgData name="Hamilton Stott" userId="e28223afab1f786a" providerId="LiveId" clId="{9452C717-5C1B-42C9-B30E-5BF0AD93CD3E}" dt="2017-08-20T14:16:51.281" v="16"/>
        <pc:sldMkLst>
          <pc:docMk/>
          <pc:sldMk cId="1606809123" sldId="335"/>
        </pc:sldMkLst>
      </pc:sldChg>
      <pc:sldChg chg="add">
        <pc:chgData name="Hamilton Stott" userId="e28223afab1f786a" providerId="LiveId" clId="{9452C717-5C1B-42C9-B30E-5BF0AD93CD3E}" dt="2017-08-20T14:17:10.760" v="17"/>
        <pc:sldMkLst>
          <pc:docMk/>
          <pc:sldMk cId="238073544" sldId="3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D75AD73A-AE13-444E-A6A8-7967ABAB8119}" type="datetimeFigureOut">
              <a:rPr lang="en-AU" smtClean="0"/>
              <a:t>20/08/2017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692696"/>
            <a:ext cx="6984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My Pythagoras Interactive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3068960"/>
            <a:ext cx="34563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Class: 9-9</a:t>
            </a:r>
          </a:p>
          <a:p>
            <a:endParaRPr lang="en-US" dirty="0"/>
          </a:p>
          <a:p>
            <a:r>
              <a:rPr lang="en-US" dirty="0"/>
              <a:t>Term 2 Semester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BDE01-6189-4EA3-9A45-6A041243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1772816"/>
            <a:ext cx="3384376" cy="370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836712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Warm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68" y="2060848"/>
            <a:ext cx="7992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dirty="0"/>
              <a:t>Evaluate 7</a:t>
            </a:r>
            <a:r>
              <a:rPr lang="en-US" sz="2400" baseline="30000" dirty="0"/>
              <a:t>2</a:t>
            </a:r>
          </a:p>
          <a:p>
            <a:pPr marL="457200" indent="-457200">
              <a:buAutoNum type="arabicParenR"/>
            </a:pPr>
            <a:r>
              <a:rPr lang="en-US" sz="2400" dirty="0"/>
              <a:t>What is the square root of 36?</a:t>
            </a:r>
          </a:p>
          <a:p>
            <a:pPr marL="457200" indent="-457200">
              <a:buAutoNum type="arabicParenR"/>
            </a:pPr>
            <a:r>
              <a:rPr lang="en-US" sz="2400" dirty="0"/>
              <a:t>What angle is the hypotenuse opposite?</a:t>
            </a:r>
          </a:p>
          <a:p>
            <a:pPr marL="457200" indent="-457200">
              <a:buFontTx/>
              <a:buAutoNum type="arabicParenR"/>
            </a:pPr>
            <a:r>
              <a:rPr lang="en-US" sz="2400" dirty="0"/>
              <a:t> 3</a:t>
            </a:r>
            <a:r>
              <a:rPr lang="en-US" sz="2400" baseline="30000" dirty="0"/>
              <a:t>2 </a:t>
            </a:r>
            <a:r>
              <a:rPr lang="en-US" sz="2400" dirty="0"/>
              <a:t>+ 4</a:t>
            </a:r>
            <a:r>
              <a:rPr lang="en-US" sz="2400" baseline="30000" dirty="0"/>
              <a:t>2 </a:t>
            </a:r>
            <a:r>
              <a:rPr lang="en-US" sz="2400" dirty="0"/>
              <a:t>= ?</a:t>
            </a:r>
            <a:r>
              <a:rPr lang="en-US" sz="2400" baseline="30000" dirty="0"/>
              <a:t>2</a:t>
            </a:r>
            <a:endParaRPr lang="en-US" sz="2400" dirty="0"/>
          </a:p>
          <a:p>
            <a:pPr marL="457200" indent="-457200">
              <a:buFontTx/>
              <a:buAutoNum type="arabicParenR"/>
            </a:pPr>
            <a:endParaRPr lang="en-US" sz="2400" dirty="0"/>
          </a:p>
          <a:p>
            <a:pPr marL="457200" indent="-457200">
              <a:buFontTx/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948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2EAC92F1-E7EB-4982-B2FC-5C25E965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Remember me?</a:t>
            </a:r>
            <a:endParaRPr lang="en-AU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AE65-C853-4F51-BC51-3B93EF2EA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To summarise: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		a</a:t>
            </a:r>
            <a:r>
              <a:rPr lang="en-AU" altLang="en-US" baseline="30000"/>
              <a:t>2</a:t>
            </a:r>
            <a:r>
              <a:rPr lang="en-AU" altLang="en-US"/>
              <a:t> + </a:t>
            </a:r>
            <a:r>
              <a:rPr lang="en-US" altLang="en-US"/>
              <a:t>b</a:t>
            </a:r>
            <a:r>
              <a:rPr lang="en-AU" altLang="en-US" baseline="30000"/>
              <a:t>2</a:t>
            </a:r>
            <a:r>
              <a:rPr lang="en-AU" altLang="en-US"/>
              <a:t> = c</a:t>
            </a:r>
            <a:r>
              <a:rPr lang="en-AU" altLang="en-US" baseline="30000"/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baseline="30000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/>
              <a:t>    shorter sides	        longer side (hypotenuse)</a:t>
            </a:r>
            <a:endParaRPr lang="en-AU" altLang="en-US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/>
          </a:p>
          <a:p>
            <a:pPr marL="0" indent="0">
              <a:buFont typeface="Arial" panose="020B0604020202020204" pitchFamily="34" charset="0"/>
              <a:buNone/>
            </a:pPr>
            <a:endParaRPr lang="en-AU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81B7A2-439D-4178-B572-70CAF8AFE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1811338"/>
            <a:ext cx="381635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860E25-AF87-4D48-AEB1-1524F8F28E7A}"/>
              </a:ext>
            </a:extLst>
          </p:cNvPr>
          <p:cNvCxnSpPr/>
          <p:nvPr/>
        </p:nvCxnSpPr>
        <p:spPr>
          <a:xfrm flipH="1" flipV="1">
            <a:off x="3911600" y="3338513"/>
            <a:ext cx="688975" cy="10493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C97904-B756-4037-B737-095BF00271CE}"/>
              </a:ext>
            </a:extLst>
          </p:cNvPr>
          <p:cNvCxnSpPr/>
          <p:nvPr/>
        </p:nvCxnSpPr>
        <p:spPr>
          <a:xfrm flipV="1">
            <a:off x="1881188" y="3338513"/>
            <a:ext cx="488950" cy="9540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BC9F44-99F8-4285-92ED-5392E92F0ACA}"/>
              </a:ext>
            </a:extLst>
          </p:cNvPr>
          <p:cNvCxnSpPr/>
          <p:nvPr/>
        </p:nvCxnSpPr>
        <p:spPr>
          <a:xfrm flipV="1">
            <a:off x="1881188" y="3338513"/>
            <a:ext cx="1260475" cy="9540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07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3E172D6D-F1A8-4E8A-9651-89AD30FB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Pythagoras’ Theorem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C231DDA0-BC16-4E3B-91EE-D4D2432EE87C}"/>
              </a:ext>
            </a:extLst>
          </p:cNvPr>
          <p:cNvSpPr/>
          <p:nvPr/>
        </p:nvSpPr>
        <p:spPr>
          <a:xfrm>
            <a:off x="827088" y="1628775"/>
            <a:ext cx="1657350" cy="1655763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D82338-38AA-4367-BC55-752BFE5599B9}"/>
              </a:ext>
            </a:extLst>
          </p:cNvPr>
          <p:cNvSpPr/>
          <p:nvPr/>
        </p:nvSpPr>
        <p:spPr>
          <a:xfrm>
            <a:off x="539750" y="260350"/>
            <a:ext cx="647700" cy="6477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A97CA-AA39-4FFD-84CD-6419596B6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213100"/>
            <a:ext cx="719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24637-7336-4A72-A9D3-5EA5BD1B2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349500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1DCA1-85FD-494C-A3CC-62AC846DD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205038"/>
            <a:ext cx="6492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4AE5023A-2315-4A28-9991-09ACAB8D7CCF}"/>
              </a:ext>
            </a:extLst>
          </p:cNvPr>
          <p:cNvSpPr/>
          <p:nvPr/>
        </p:nvSpPr>
        <p:spPr>
          <a:xfrm rot="16200000">
            <a:off x="3599656" y="1880394"/>
            <a:ext cx="1800225" cy="865188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98225-E5D1-47B6-80FB-8D95B6D8B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3141663"/>
            <a:ext cx="360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FD81EE-24AE-48C3-9904-3AFF3A910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133600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1C2DA7-0D05-4E56-8D4F-870E66194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060575"/>
            <a:ext cx="360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m</a:t>
            </a: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311EFA44-71C2-4A7E-868B-A43B9A1CCB9A}"/>
              </a:ext>
            </a:extLst>
          </p:cNvPr>
          <p:cNvSpPr/>
          <p:nvPr/>
        </p:nvSpPr>
        <p:spPr>
          <a:xfrm rot="2510793">
            <a:off x="6691313" y="2163763"/>
            <a:ext cx="2016125" cy="10795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390260-D0C7-4346-844C-C8DD70658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700213"/>
            <a:ext cx="43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61AF1D-21A5-471E-AFBD-4B434E196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2339975"/>
            <a:ext cx="43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4D469A-3DCC-4948-9E7F-021C8084A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2924175"/>
            <a:ext cx="4333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917A0-AC81-4816-B1AD-D347E351E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338" y="1916113"/>
            <a:ext cx="158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hypotenuse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B1F95C-D534-4D54-8773-A8B6FD72D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5" y="2132013"/>
            <a:ext cx="1584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hypotenuse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5363C1-2019-4510-A861-CC84ADA774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844675"/>
            <a:ext cx="158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/>
              <a:t>hypotenuse</a:t>
            </a:r>
          </a:p>
        </p:txBody>
      </p:sp>
      <p:sp>
        <p:nvSpPr>
          <p:cNvPr id="9235" name="TextBox 19">
            <a:extLst>
              <a:ext uri="{FF2B5EF4-FFF2-40B4-BE49-F238E27FC236}">
                <a16:creationId xmlns:a16="http://schemas.microsoft.com/office/drawing/2014/main" id="{8C46C6E0-982D-435C-94F5-43B299EEA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05263"/>
            <a:ext cx="7848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/>
              <a:t>Which of these sides is the hypotenuse?</a:t>
            </a:r>
          </a:p>
        </p:txBody>
      </p:sp>
    </p:spTree>
    <p:extLst>
      <p:ext uri="{BB962C8B-B14F-4D97-AF65-F5344CB8AC3E}">
        <p14:creationId xmlns:p14="http://schemas.microsoft.com/office/powerpoint/2010/main" val="189170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8" grpId="1"/>
      <p:bldP spid="9" grpId="0" animBg="1"/>
      <p:bldP spid="10" grpId="0"/>
      <p:bldP spid="11" grpId="0"/>
      <p:bldP spid="12" grpId="0"/>
      <p:bldP spid="12" grpId="1"/>
      <p:bldP spid="13" grpId="0" animBg="1"/>
      <p:bldP spid="14" grpId="0"/>
      <p:bldP spid="15" grpId="0"/>
      <p:bldP spid="15" grpId="1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EB280F4F-2923-4BF0-94EF-953DE1F96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Now to use this formula</a:t>
            </a:r>
            <a:endParaRPr lang="en-AU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D4C7A-8202-4070-926E-5E9C2B4F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Find the length of the hypotenuse for these: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a) 					b)</a:t>
            </a:r>
            <a:endParaRPr lang="en-AU" dirty="0"/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BD05DDA2-404B-461C-B78A-1B7FDE8F7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325688"/>
            <a:ext cx="30670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191FAE-9A76-4F2D-85A2-E38AED4FB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327525"/>
            <a:ext cx="1649413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5">
            <a:extLst>
              <a:ext uri="{FF2B5EF4-FFF2-40B4-BE49-F238E27FC236}">
                <a16:creationId xmlns:a16="http://schemas.microsoft.com/office/drawing/2014/main" id="{2D3CB734-14AF-47F2-A1D3-513BD23F65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293938"/>
            <a:ext cx="23479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325318-E3B0-4DCF-87CA-25BA113EA9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138" y="4335463"/>
            <a:ext cx="1978025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204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1272303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652669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" y="844941"/>
            <a:ext cx="38745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34356" y="1641313"/>
            <a:ext cx="0" cy="434808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0560" y="91753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455" y="1295064"/>
            <a:ext cx="793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latin typeface="Chalkboard"/>
                <a:cs typeface="Chalkboard"/>
              </a:rPr>
              <a:t>EQ – </a:t>
            </a:r>
            <a:r>
              <a:rPr lang="en-AU" b="1" dirty="0"/>
              <a:t>How do we use Pythagoras to find the length of the shorter sides</a:t>
            </a:r>
            <a:endParaRPr lang="en-AU" b="1" dirty="0">
              <a:latin typeface="Chalkboard"/>
              <a:cs typeface="Chalkbo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7456" y="879530"/>
            <a:ext cx="2770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latin typeface="Chalkboard"/>
                <a:cs typeface="Chalkboard"/>
              </a:rPr>
              <a:t>Topic: Pythagoras Theorem</a:t>
            </a:r>
            <a:endParaRPr lang="en-AU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3175" y="1998918"/>
            <a:ext cx="17280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00" b="1" dirty="0"/>
              <a:t>How do you find the length of the Shorter Side?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89664" y="1830250"/>
            <a:ext cx="6029957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2100" dirty="0"/>
              <a:t>We can also use Pythagoras’ theorem to find the length of a shorter</a:t>
            </a:r>
          </a:p>
          <a:p>
            <a:pPr algn="ctr" eaLnBrk="1" hangingPunct="1"/>
            <a:endParaRPr lang="en-GB" altLang="en-US" sz="2100" dirty="0"/>
          </a:p>
          <a:p>
            <a:pPr algn="ctr" eaLnBrk="1" hangingPunct="1"/>
            <a:r>
              <a:rPr lang="en-GB" altLang="en-US" sz="2100" b="1" dirty="0"/>
              <a:t>a</a:t>
            </a:r>
            <a:r>
              <a:rPr lang="en-GB" altLang="en-US" sz="2100" b="1" baseline="30000" dirty="0"/>
              <a:t>2</a:t>
            </a:r>
            <a:r>
              <a:rPr lang="en-GB" altLang="en-US" sz="2100" b="1" dirty="0"/>
              <a:t> = c</a:t>
            </a:r>
            <a:r>
              <a:rPr lang="en-GB" altLang="en-US" sz="2100" b="1" baseline="30000" dirty="0"/>
              <a:t>2</a:t>
            </a:r>
            <a:r>
              <a:rPr lang="en-GB" altLang="en-US" sz="2100" b="1" dirty="0"/>
              <a:t> – b</a:t>
            </a:r>
            <a:r>
              <a:rPr lang="en-GB" altLang="en-US" sz="2100" b="1" baseline="30000" dirty="0"/>
              <a:t>2</a:t>
            </a:r>
          </a:p>
          <a:p>
            <a:pPr algn="ctr" eaLnBrk="1" hangingPunct="1"/>
            <a:endParaRPr lang="en-GB" altLang="en-US" sz="2100" dirty="0"/>
          </a:p>
          <a:p>
            <a:pPr marL="342900" indent="-342900">
              <a:buFont typeface="+mj-lt"/>
              <a:buAutoNum type="arabicPeriod"/>
            </a:pPr>
            <a:r>
              <a:rPr lang="en-GB" altLang="en-US" sz="2100" dirty="0"/>
              <a:t>Square the longer side</a:t>
            </a:r>
          </a:p>
          <a:p>
            <a:pPr marL="342900" indent="-342900">
              <a:buFont typeface="+mj-lt"/>
              <a:buAutoNum type="arabicPeriod"/>
            </a:pPr>
            <a:r>
              <a:rPr lang="en-GB" altLang="en-US" sz="2100" dirty="0"/>
              <a:t>Subtract the square of the other known side</a:t>
            </a:r>
          </a:p>
          <a:p>
            <a:pPr marL="342900" indent="-342900">
              <a:buFont typeface="+mj-lt"/>
              <a:buAutoNum type="arabicPeriod"/>
            </a:pPr>
            <a:r>
              <a:rPr lang="en-GB" altLang="en-US" sz="2100" dirty="0"/>
              <a:t>Square root your answer to get the unknown shorter side</a:t>
            </a:r>
          </a:p>
          <a:p>
            <a:pPr eaLnBrk="1" hangingPunct="1"/>
            <a:endParaRPr lang="en-GB" altLang="en-US" sz="2100" dirty="0"/>
          </a:p>
          <a:p>
            <a:r>
              <a:rPr lang="en-GB" altLang="en-US" sz="2100" dirty="0"/>
              <a:t>		</a:t>
            </a:r>
            <a:endParaRPr lang="en-GB" altLang="en-US" sz="2100" baseline="30000" dirty="0"/>
          </a:p>
        </p:txBody>
      </p:sp>
      <p:sp>
        <p:nvSpPr>
          <p:cNvPr id="3" name="Rectangle 2"/>
          <p:cNvSpPr/>
          <p:nvPr/>
        </p:nvSpPr>
        <p:spPr>
          <a:xfrm>
            <a:off x="4831308" y="2679874"/>
            <a:ext cx="1607024" cy="5930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</p:spTree>
    <p:extLst>
      <p:ext uri="{BB962C8B-B14F-4D97-AF65-F5344CB8AC3E}">
        <p14:creationId xmlns:p14="http://schemas.microsoft.com/office/powerpoint/2010/main" val="1606809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/>
        </p:nvSpPr>
        <p:spPr>
          <a:xfrm>
            <a:off x="2195514" y="2240756"/>
            <a:ext cx="3618310" cy="2376488"/>
          </a:xfrm>
          <a:prstGeom prst="rtTriangl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350"/>
          </a:p>
        </p:txBody>
      </p:sp>
      <p:sp>
        <p:nvSpPr>
          <p:cNvPr id="25604" name="TextBox 6"/>
          <p:cNvSpPr txBox="1">
            <a:spLocks noChangeArrowheads="1"/>
          </p:cNvSpPr>
          <p:nvPr/>
        </p:nvSpPr>
        <p:spPr bwMode="auto">
          <a:xfrm>
            <a:off x="1277542" y="3209925"/>
            <a:ext cx="9179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12cm</a:t>
            </a:r>
          </a:p>
        </p:txBody>
      </p:sp>
      <p:sp>
        <p:nvSpPr>
          <p:cNvPr id="25605" name="TextBox 7"/>
          <p:cNvSpPr txBox="1">
            <a:spLocks noChangeArrowheads="1"/>
          </p:cNvSpPr>
          <p:nvPr/>
        </p:nvSpPr>
        <p:spPr bwMode="auto">
          <a:xfrm>
            <a:off x="3636969" y="4619462"/>
            <a:ext cx="9179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a</a:t>
            </a:r>
          </a:p>
        </p:txBody>
      </p:sp>
      <p:sp>
        <p:nvSpPr>
          <p:cNvPr id="25606" name="TextBox 8"/>
          <p:cNvSpPr txBox="1">
            <a:spLocks noChangeArrowheads="1"/>
          </p:cNvSpPr>
          <p:nvPr/>
        </p:nvSpPr>
        <p:spPr bwMode="auto">
          <a:xfrm>
            <a:off x="3910013" y="2936678"/>
            <a:ext cx="9179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dirty="0"/>
              <a:t>13cm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001941" y="1942936"/>
            <a:ext cx="1999059" cy="36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en-US" sz="2100" dirty="0"/>
              <a:t>a</a:t>
            </a:r>
            <a:r>
              <a:rPr lang="en-GB" altLang="en-US" sz="2100" baseline="30000" dirty="0"/>
              <a:t>2</a:t>
            </a:r>
            <a:r>
              <a:rPr lang="en-GB" altLang="en-US" sz="2100" dirty="0"/>
              <a:t> = c</a:t>
            </a:r>
            <a:r>
              <a:rPr lang="en-GB" altLang="en-US" sz="2100" baseline="30000" dirty="0"/>
              <a:t>2</a:t>
            </a:r>
            <a:r>
              <a:rPr lang="en-GB" altLang="en-US" sz="2100" dirty="0"/>
              <a:t> - b</a:t>
            </a:r>
            <a:r>
              <a:rPr lang="en-GB" altLang="en-US" sz="2100" baseline="30000" dirty="0"/>
              <a:t>2</a:t>
            </a:r>
          </a:p>
          <a:p>
            <a:pPr eaLnBrk="1" hangingPunct="1"/>
            <a:endParaRPr lang="en-GB" altLang="en-US" sz="2100" dirty="0"/>
          </a:p>
          <a:p>
            <a:pPr eaLnBrk="1" hangingPunct="1"/>
            <a:r>
              <a:rPr lang="en-GB" altLang="en-US" sz="2100" dirty="0"/>
              <a:t>a</a:t>
            </a:r>
            <a:r>
              <a:rPr lang="en-GB" altLang="en-US" sz="2100" baseline="30000" dirty="0"/>
              <a:t>2</a:t>
            </a:r>
            <a:r>
              <a:rPr lang="en-GB" altLang="en-US" sz="2100" dirty="0"/>
              <a:t> = 13</a:t>
            </a:r>
            <a:r>
              <a:rPr lang="en-GB" altLang="en-US" sz="2100" baseline="30000" dirty="0"/>
              <a:t>2</a:t>
            </a:r>
            <a:r>
              <a:rPr lang="en-GB" altLang="en-US" sz="2100" dirty="0"/>
              <a:t> - 12</a:t>
            </a:r>
            <a:r>
              <a:rPr lang="en-GB" altLang="en-US" sz="2100" baseline="30000" dirty="0"/>
              <a:t>2</a:t>
            </a:r>
          </a:p>
          <a:p>
            <a:pPr eaLnBrk="1" hangingPunct="1"/>
            <a:endParaRPr lang="en-GB" altLang="en-US" sz="2100" dirty="0"/>
          </a:p>
          <a:p>
            <a:pPr eaLnBrk="1" hangingPunct="1"/>
            <a:r>
              <a:rPr lang="en-GB" altLang="en-US" sz="2100" dirty="0"/>
              <a:t>a</a:t>
            </a:r>
            <a:r>
              <a:rPr lang="en-GB" altLang="en-US" sz="2100" baseline="30000" dirty="0"/>
              <a:t>2</a:t>
            </a:r>
            <a:r>
              <a:rPr lang="en-GB" altLang="en-US" sz="2100" dirty="0"/>
              <a:t> = 169 - 144</a:t>
            </a:r>
          </a:p>
          <a:p>
            <a:pPr eaLnBrk="1" hangingPunct="1"/>
            <a:endParaRPr lang="en-GB" altLang="en-US" sz="2100" dirty="0"/>
          </a:p>
          <a:p>
            <a:pPr eaLnBrk="1" hangingPunct="1"/>
            <a:r>
              <a:rPr lang="en-GB" altLang="en-US" sz="2100" dirty="0"/>
              <a:t>a</a:t>
            </a:r>
            <a:r>
              <a:rPr lang="en-GB" altLang="en-US" sz="2100" baseline="30000" dirty="0"/>
              <a:t>2</a:t>
            </a:r>
            <a:r>
              <a:rPr lang="en-GB" altLang="en-US" sz="2100" dirty="0"/>
              <a:t> = 25</a:t>
            </a:r>
          </a:p>
          <a:p>
            <a:pPr eaLnBrk="1" hangingPunct="1"/>
            <a:endParaRPr lang="en-GB" altLang="en-US" sz="2100" dirty="0"/>
          </a:p>
          <a:p>
            <a:pPr eaLnBrk="1" hangingPunct="1"/>
            <a:r>
              <a:rPr lang="en-GB" altLang="en-US" sz="2100" dirty="0"/>
              <a:t>a = √25</a:t>
            </a:r>
          </a:p>
          <a:p>
            <a:pPr eaLnBrk="1" hangingPunct="1"/>
            <a:endParaRPr lang="en-GB" altLang="en-US" sz="2100" dirty="0"/>
          </a:p>
          <a:p>
            <a:pPr eaLnBrk="1" hangingPunct="1"/>
            <a:r>
              <a:rPr lang="en-GB" altLang="en-US" sz="2100" b="1" dirty="0">
                <a:solidFill>
                  <a:srgbClr val="00B050"/>
                </a:solidFill>
              </a:rPr>
              <a:t>a = 5 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538" y="940643"/>
            <a:ext cx="8802806" cy="553998"/>
          </a:xfrm>
          <a:prstGeom prst="rect">
            <a:avLst/>
          </a:prstGeom>
          <a:solidFill>
            <a:srgbClr val="FF99FF"/>
          </a:solidFill>
          <a:ln w="38100" cmpd="sng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Chalkboard"/>
                <a:cs typeface="Chalkboard"/>
              </a:rP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5513" y="4306722"/>
            <a:ext cx="302027" cy="31052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</p:spTree>
    <p:extLst>
      <p:ext uri="{BB962C8B-B14F-4D97-AF65-F5344CB8AC3E}">
        <p14:creationId xmlns:p14="http://schemas.microsoft.com/office/powerpoint/2010/main" val="23807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228220-3ED3-4A0C-9756-967404DCA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151668"/>
            <a:ext cx="4516556" cy="34218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6A89AF-CDDF-4755-872D-04222B2D9230}"/>
              </a:ext>
            </a:extLst>
          </p:cNvPr>
          <p:cNvSpPr txBox="1"/>
          <p:nvPr/>
        </p:nvSpPr>
        <p:spPr>
          <a:xfrm>
            <a:off x="2771800" y="5808398"/>
            <a:ext cx="5702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length of AB I can break this down into the horizontal and vertical components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2947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228220-3ED3-4A0C-9756-967404DCA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2151668"/>
            <a:ext cx="4516556" cy="34218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6A89AF-CDDF-4755-872D-04222B2D9230}"/>
              </a:ext>
            </a:extLst>
          </p:cNvPr>
          <p:cNvSpPr txBox="1"/>
          <p:nvPr/>
        </p:nvSpPr>
        <p:spPr>
          <a:xfrm>
            <a:off x="2771800" y="5808398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Put in a new point C and draw a right angle triangle</a:t>
            </a:r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0349A-635F-4B85-8AEC-A57478CE4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2119209"/>
            <a:ext cx="4966918" cy="337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7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A89AF-CDDF-4755-872D-04222B2D9230}"/>
              </a:ext>
            </a:extLst>
          </p:cNvPr>
          <p:cNvSpPr txBox="1"/>
          <p:nvPr/>
        </p:nvSpPr>
        <p:spPr>
          <a:xfrm>
            <a:off x="2771800" y="5808398"/>
            <a:ext cx="5702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to find the length from A to B (line AB) I can use Pythagoras</a:t>
            </a:r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3ED96-358E-4C65-BE49-210B2D3A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420" y="2121572"/>
            <a:ext cx="444817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02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176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26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Using Pythagoras on a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apply Pythagoras’ theorem to find the length of a line on a graph?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7420" y="1970140"/>
            <a:ext cx="5702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3ED96-358E-4C65-BE49-210B2D3A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01" y="2007272"/>
            <a:ext cx="3294780" cy="25539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3AC4ED-E917-4546-8669-1411F3287C0C}"/>
              </a:ext>
            </a:extLst>
          </p:cNvPr>
          <p:cNvSpPr txBox="1"/>
          <p:nvPr/>
        </p:nvSpPr>
        <p:spPr>
          <a:xfrm>
            <a:off x="2417780" y="2245244"/>
            <a:ext cx="2874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to find the length from A to B (line AB) I can use Pythagoras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28CAC1-2E29-4FB1-BB73-EC2569485735}"/>
                  </a:ext>
                </a:extLst>
              </p:cNvPr>
              <p:cNvSpPr txBox="1"/>
              <p:nvPr/>
            </p:nvSpPr>
            <p:spPr>
              <a:xfrm>
                <a:off x="2898781" y="3696116"/>
                <a:ext cx="1839606" cy="1973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acc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=9+4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acc>
                        </m:e>
                        <m:sup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3.61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  <a:p>
                <a:r>
                  <a:rPr lang="en-AU" dirty="0"/>
                  <a:t>            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28CAC1-2E29-4FB1-BB73-EC2569485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8781" y="3696116"/>
                <a:ext cx="1839606" cy="1973938"/>
              </a:xfrm>
              <a:prstGeom prst="rect">
                <a:avLst/>
              </a:prstGeom>
              <a:blipFill>
                <a:blip r:embed="rId3"/>
                <a:stretch>
                  <a:fillRect l="-4651" t="-3704" r="-9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793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CC969D7F-ABEB-4ADC-B5D8-6039F742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Plenary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0E3000C7-E10E-43F4-9765-A7DC1E63C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 plane flies due north for 180km, then due west for 260km. How far is the plane from it’s starting position?</a:t>
            </a:r>
          </a:p>
          <a:p>
            <a:pPr eaLnBrk="1" hangingPunct="1"/>
            <a:endParaRPr lang="en-GB" altLang="en-US"/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GB" altLang="en-US"/>
              <a:t>Draw and label a triangle to represent the situation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GB" altLang="en-US"/>
              <a:t>Write out the formula you’d use to answer the question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GB" altLang="en-US"/>
              <a:t>Find the distance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en-GB" altLang="en-US"/>
          </a:p>
          <a:p>
            <a:pPr eaLnBrk="1" hangingPunct="1">
              <a:buFont typeface="Arial" panose="020B0604020202020204" pitchFamily="34" charset="0"/>
              <a:buNone/>
            </a:pPr>
            <a:endParaRPr lang="en-GB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6C523E-0430-402A-A8DA-6887AD28C8F9}"/>
              </a:ext>
            </a:extLst>
          </p:cNvPr>
          <p:cNvSpPr/>
          <p:nvPr/>
        </p:nvSpPr>
        <p:spPr>
          <a:xfrm>
            <a:off x="323850" y="3789363"/>
            <a:ext cx="431800" cy="4318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13B74C-94E1-4C45-B261-91A34ECC4896}"/>
              </a:ext>
            </a:extLst>
          </p:cNvPr>
          <p:cNvSpPr/>
          <p:nvPr/>
        </p:nvSpPr>
        <p:spPr>
          <a:xfrm>
            <a:off x="323850" y="4365625"/>
            <a:ext cx="431800" cy="4318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D340F2-9242-4296-B6A9-C71290FA75E2}"/>
              </a:ext>
            </a:extLst>
          </p:cNvPr>
          <p:cNvSpPr/>
          <p:nvPr/>
        </p:nvSpPr>
        <p:spPr>
          <a:xfrm>
            <a:off x="323850" y="5229225"/>
            <a:ext cx="431800" cy="431800"/>
          </a:xfrm>
          <a:prstGeom prst="ellipse">
            <a:avLst/>
          </a:prstGeom>
          <a:solidFill>
            <a:srgbClr val="33CC33"/>
          </a:solidFill>
          <a:ln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31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  <a:p>
            <a:r>
              <a:rPr lang="en-AU" dirty="0"/>
              <a:t>Ex 7.5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485</Words>
  <Application>Microsoft Office PowerPoint</Application>
  <PresentationFormat>On-screen Show (4:3)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MS PGothic</vt:lpstr>
      <vt:lpstr>Arial</vt:lpstr>
      <vt:lpstr>Calibri</vt:lpstr>
      <vt:lpstr>Cambria Math</vt:lpstr>
      <vt:lpstr>Chalkboard</vt:lpstr>
      <vt:lpstr>Office Theme</vt:lpstr>
      <vt:lpstr>PowerPoint Presentation</vt:lpstr>
      <vt:lpstr>PowerPoint Presentation</vt:lpstr>
      <vt:lpstr>Remember me?</vt:lpstr>
      <vt:lpstr>Pythagoras’ Theorem</vt:lpstr>
      <vt:lpstr>Now to use this formula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Plenary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Hamilton Stott</cp:lastModifiedBy>
  <cp:revision>97</cp:revision>
  <cp:lastPrinted>2017-05-14T23:47:27Z</cp:lastPrinted>
  <dcterms:created xsi:type="dcterms:W3CDTF">2014-05-14T02:58:57Z</dcterms:created>
  <dcterms:modified xsi:type="dcterms:W3CDTF">2017-08-20T14:18:06Z</dcterms:modified>
</cp:coreProperties>
</file>
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58" r:id="rId4"/>
    <p:sldId id="263" r:id="rId5"/>
    <p:sldId id="264" r:id="rId6"/>
    <p:sldId id="262" r:id="rId7"/>
    <p:sldId id="265" r:id="rId8"/>
    <p:sldId id="266" r:id="rId9"/>
    <p:sldId id="267" r:id="rId10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5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5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7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7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1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1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1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35" r="35465" b="67593"/>
          <a:stretch/>
        </p:blipFill>
        <p:spPr>
          <a:xfrm>
            <a:off x="490655" y="80905"/>
            <a:ext cx="7493619" cy="27607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DDA859-B7B1-49AE-822A-57D9387802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93" r="29298" b="26173"/>
          <a:stretch/>
        </p:blipFill>
        <p:spPr>
          <a:xfrm>
            <a:off x="490655" y="2941995"/>
            <a:ext cx="7701488" cy="248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9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CD069-2A4C-4C47-97C5-17D05EB2747D}"/>
              </a:ext>
            </a:extLst>
          </p:cNvPr>
          <p:cNvSpPr txBox="1"/>
          <p:nvPr/>
        </p:nvSpPr>
        <p:spPr>
          <a:xfrm>
            <a:off x="479502" y="296687"/>
            <a:ext cx="8318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The odds of being struck by lightening during a year are about 1 in 700,000 which can be written as 7 x 10</a:t>
            </a:r>
            <a:r>
              <a:rPr lang="en-AU" sz="2800" baseline="300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D39C5-6F74-4B5F-84C3-D785AECD6B1C}"/>
              </a:ext>
            </a:extLst>
          </p:cNvPr>
          <p:cNvSpPr txBox="1"/>
          <p:nvPr/>
        </p:nvSpPr>
        <p:spPr>
          <a:xfrm>
            <a:off x="479502" y="1356731"/>
            <a:ext cx="78616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If you buy a 12 game OZ lotto ticket each week, your chances of winning during the year are 1 in 75,000 or 7.5 x 10</a:t>
            </a:r>
            <a:r>
              <a:rPr lang="en-AU" sz="2800" baseline="30000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11618-A824-46EF-81BA-A3DB6B3D9993}"/>
              </a:ext>
            </a:extLst>
          </p:cNvPr>
          <p:cNvSpPr txBox="1"/>
          <p:nvPr/>
        </p:nvSpPr>
        <p:spPr>
          <a:xfrm>
            <a:off x="479502" y="2832116"/>
            <a:ext cx="78616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You can find the chances of both happening by multiplying each chance together.</a:t>
            </a:r>
            <a:endParaRPr lang="en-AU" sz="2800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F41EB-ACD1-4A5E-95C4-0E00B5FB8FF5}"/>
              </a:ext>
            </a:extLst>
          </p:cNvPr>
          <p:cNvSpPr txBox="1"/>
          <p:nvPr/>
        </p:nvSpPr>
        <p:spPr>
          <a:xfrm>
            <a:off x="479502" y="3998096"/>
            <a:ext cx="786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So how do we do that?</a:t>
            </a:r>
            <a:endParaRPr lang="en-AU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236115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339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1088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292" y="23489"/>
            <a:ext cx="4840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21600" y="1010882"/>
            <a:ext cx="0" cy="545316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5720" y="9273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1" y="53391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-  How do we multiply and divide using scientific notation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7" y="79900"/>
            <a:ext cx="3421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Scientific Notation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141647" y="1064826"/>
            <a:ext cx="67823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Reorganise the problem so that the front numbers (co-</a:t>
            </a:r>
            <a:r>
              <a:rPr lang="en-AU" dirty="0" err="1"/>
              <a:t>efficients</a:t>
            </a:r>
            <a:r>
              <a:rPr lang="en-AU" dirty="0"/>
              <a:t>) are together.</a:t>
            </a:r>
          </a:p>
          <a:p>
            <a:pPr lvl="1"/>
            <a:r>
              <a:rPr lang="en-AU" dirty="0"/>
              <a:t>	7 x 10</a:t>
            </a:r>
            <a:r>
              <a:rPr lang="en-AU" baseline="30000" dirty="0"/>
              <a:t>5</a:t>
            </a:r>
            <a:r>
              <a:rPr lang="en-AU" dirty="0"/>
              <a:t>     x        7.5 x 10</a:t>
            </a:r>
            <a:r>
              <a:rPr lang="en-AU" baseline="30000" dirty="0"/>
              <a:t>4</a:t>
            </a:r>
            <a:r>
              <a:rPr lang="en-AU" dirty="0"/>
              <a:t>	</a:t>
            </a:r>
          </a:p>
          <a:p>
            <a:pPr lvl="1"/>
            <a:r>
              <a:rPr lang="en-AU" dirty="0"/>
              <a:t>             7  x  7.5   x  10</a:t>
            </a:r>
            <a:r>
              <a:rPr lang="en-AU" baseline="30000" dirty="0"/>
              <a:t>5</a:t>
            </a:r>
            <a:r>
              <a:rPr lang="en-AU" dirty="0"/>
              <a:t>  x 10</a:t>
            </a:r>
            <a:r>
              <a:rPr lang="en-AU" baseline="30000" dirty="0"/>
              <a:t>4</a:t>
            </a:r>
          </a:p>
          <a:p>
            <a:pPr lvl="1"/>
            <a:endParaRPr lang="en-AU" baseline="30000" dirty="0"/>
          </a:p>
          <a:p>
            <a:r>
              <a:rPr lang="en-AU" dirty="0"/>
              <a:t>2.   Multiply the coefficients together.</a:t>
            </a:r>
          </a:p>
          <a:p>
            <a:r>
              <a:rPr lang="en-AU" dirty="0"/>
              <a:t>	52.5  x 10</a:t>
            </a:r>
            <a:r>
              <a:rPr lang="en-AU" baseline="30000" dirty="0"/>
              <a:t>5</a:t>
            </a:r>
            <a:r>
              <a:rPr lang="en-AU" dirty="0"/>
              <a:t> x 10</a:t>
            </a:r>
            <a:r>
              <a:rPr lang="en-AU" baseline="30000" dirty="0"/>
              <a:t>4</a:t>
            </a:r>
            <a:endParaRPr lang="en-AU" dirty="0"/>
          </a:p>
          <a:p>
            <a:endParaRPr lang="en-AU" dirty="0"/>
          </a:p>
          <a:p>
            <a:r>
              <a:rPr lang="en-AU" dirty="0"/>
              <a:t>3.   Convert the new number to Scientific Notation</a:t>
            </a:r>
          </a:p>
          <a:p>
            <a:r>
              <a:rPr lang="en-AU" dirty="0"/>
              <a:t>	5.25 x 10</a:t>
            </a:r>
            <a:r>
              <a:rPr lang="en-AU" baseline="30000" dirty="0"/>
              <a:t>1</a:t>
            </a:r>
            <a:r>
              <a:rPr lang="en-AU" dirty="0"/>
              <a:t> x 10</a:t>
            </a:r>
            <a:r>
              <a:rPr lang="en-AU" baseline="30000" dirty="0"/>
              <a:t>5</a:t>
            </a:r>
            <a:r>
              <a:rPr lang="en-AU" dirty="0"/>
              <a:t> x 10</a:t>
            </a:r>
            <a:r>
              <a:rPr lang="en-AU" baseline="30000" dirty="0"/>
              <a:t>4</a:t>
            </a:r>
          </a:p>
          <a:p>
            <a:endParaRPr lang="en-AU" baseline="30000" dirty="0"/>
          </a:p>
          <a:p>
            <a:r>
              <a:rPr lang="en-AU" dirty="0"/>
              <a:t>4.   Use index laws to add the powers of the bases together</a:t>
            </a:r>
          </a:p>
          <a:p>
            <a:r>
              <a:rPr lang="en-AU" dirty="0"/>
              <a:t>	5.25 x 10</a:t>
            </a:r>
            <a:r>
              <a:rPr lang="en-AU" baseline="30000" dirty="0"/>
              <a:t>10</a:t>
            </a:r>
            <a:endParaRPr lang="en-AU" dirty="0"/>
          </a:p>
          <a:p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F5E9C9-E501-429B-BE88-491752DD97A5}"/>
              </a:ext>
            </a:extLst>
          </p:cNvPr>
          <p:cNvSpPr txBox="1"/>
          <p:nvPr/>
        </p:nvSpPr>
        <p:spPr>
          <a:xfrm>
            <a:off x="367990" y="301083"/>
            <a:ext cx="8118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a few.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3E735-C1B5-4F51-A054-65F76D2F8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80" y="813574"/>
            <a:ext cx="2886075" cy="4533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B48D0D-787F-47BF-A81D-345AACE227A3}"/>
              </a:ext>
            </a:extLst>
          </p:cNvPr>
          <p:cNvSpPr/>
          <p:nvPr/>
        </p:nvSpPr>
        <p:spPr>
          <a:xfrm>
            <a:off x="999080" y="1594624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A1A03-6F78-4AAE-9A24-F71F4BAA68B3}"/>
              </a:ext>
            </a:extLst>
          </p:cNvPr>
          <p:cNvSpPr/>
          <p:nvPr/>
        </p:nvSpPr>
        <p:spPr>
          <a:xfrm>
            <a:off x="999079" y="3173540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CBDC8-38D1-47BE-81FE-B65B415024EB}"/>
              </a:ext>
            </a:extLst>
          </p:cNvPr>
          <p:cNvSpPr/>
          <p:nvPr/>
        </p:nvSpPr>
        <p:spPr>
          <a:xfrm>
            <a:off x="999079" y="4938881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09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9E5919-8E99-442D-B90D-A9452CC6A854}"/>
              </a:ext>
            </a:extLst>
          </p:cNvPr>
          <p:cNvSpPr txBox="1"/>
          <p:nvPr/>
        </p:nvSpPr>
        <p:spPr>
          <a:xfrm>
            <a:off x="323385" y="457201"/>
            <a:ext cx="85529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How about dividing with scientific notation?</a:t>
            </a:r>
          </a:p>
          <a:p>
            <a:endParaRPr lang="en-AU" sz="3600" dirty="0"/>
          </a:p>
          <a:p>
            <a:r>
              <a:rPr lang="en-AU" sz="3600" dirty="0"/>
              <a:t>The chance of winning OZ lotto for any single set of numbers is 1 in 45,000,000.</a:t>
            </a:r>
          </a:p>
          <a:p>
            <a:endParaRPr lang="en-AU" sz="3600" dirty="0"/>
          </a:p>
          <a:p>
            <a:r>
              <a:rPr lang="en-AU" sz="3600" dirty="0"/>
              <a:t>If you bought a 16 game ticket every week for 60 years, what are the odds you will win once during that time (that’s 49920 of numbers)?</a:t>
            </a:r>
          </a:p>
        </p:txBody>
      </p:sp>
    </p:spTree>
    <p:extLst>
      <p:ext uri="{BB962C8B-B14F-4D97-AF65-F5344CB8AC3E}">
        <p14:creationId xmlns:p14="http://schemas.microsoft.com/office/powerpoint/2010/main" val="231164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339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1088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292" y="23489"/>
            <a:ext cx="4840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21600" y="1010882"/>
            <a:ext cx="0" cy="545316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5720" y="9273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1" y="53391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-  How do we multiply and divide using scientific notation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7" y="79900"/>
            <a:ext cx="3421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Scientific Notation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141647" y="1064826"/>
            <a:ext cx="67823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Reorganise the problem so that the front numbers (co-</a:t>
            </a:r>
            <a:r>
              <a:rPr lang="en-AU" dirty="0" err="1"/>
              <a:t>efficients</a:t>
            </a:r>
            <a:r>
              <a:rPr lang="en-AU" dirty="0"/>
              <a:t>) are divide together and the bases are divided together.</a:t>
            </a:r>
          </a:p>
          <a:p>
            <a:pPr lvl="1"/>
            <a:r>
              <a:rPr lang="en-AU" dirty="0"/>
              <a:t>	4.5 x 10</a:t>
            </a:r>
            <a:r>
              <a:rPr lang="en-AU" baseline="30000" dirty="0"/>
              <a:t>7</a:t>
            </a:r>
            <a:r>
              <a:rPr lang="en-AU" dirty="0"/>
              <a:t>      ÷       4.922  x 10</a:t>
            </a:r>
            <a:r>
              <a:rPr lang="en-AU" baseline="30000" dirty="0"/>
              <a:t>4</a:t>
            </a:r>
            <a:r>
              <a:rPr lang="en-AU" dirty="0"/>
              <a:t>	</a:t>
            </a:r>
          </a:p>
          <a:p>
            <a:pPr lvl="1"/>
            <a:r>
              <a:rPr lang="en-AU" dirty="0"/>
              <a:t>             4.5 ÷ 4.922   x  10</a:t>
            </a:r>
            <a:r>
              <a:rPr lang="en-AU" baseline="30000" dirty="0"/>
              <a:t>7</a:t>
            </a:r>
            <a:r>
              <a:rPr lang="en-AU" dirty="0"/>
              <a:t> ÷ 10</a:t>
            </a:r>
            <a:r>
              <a:rPr lang="en-AU" baseline="30000" dirty="0"/>
              <a:t>4</a:t>
            </a:r>
          </a:p>
          <a:p>
            <a:pPr lvl="1"/>
            <a:endParaRPr lang="en-AU" baseline="30000" dirty="0"/>
          </a:p>
          <a:p>
            <a:r>
              <a:rPr lang="en-AU" dirty="0"/>
              <a:t>2.   Divide the coefficients by each other</a:t>
            </a:r>
          </a:p>
          <a:p>
            <a:r>
              <a:rPr lang="en-AU" dirty="0"/>
              <a:t>	0.914  x 10</a:t>
            </a:r>
            <a:r>
              <a:rPr lang="en-AU" baseline="30000" dirty="0"/>
              <a:t>7</a:t>
            </a:r>
            <a:r>
              <a:rPr lang="en-AU" dirty="0"/>
              <a:t>  ÷  10</a:t>
            </a:r>
            <a:r>
              <a:rPr lang="en-AU" baseline="30000" dirty="0"/>
              <a:t>4</a:t>
            </a:r>
            <a:endParaRPr lang="en-AU" dirty="0"/>
          </a:p>
          <a:p>
            <a:endParaRPr lang="en-AU" dirty="0"/>
          </a:p>
          <a:p>
            <a:r>
              <a:rPr lang="en-AU" dirty="0"/>
              <a:t>3.   Convert the new number to Scientific Notation</a:t>
            </a:r>
          </a:p>
          <a:p>
            <a:r>
              <a:rPr lang="en-AU" dirty="0"/>
              <a:t>	9.14 x 10</a:t>
            </a:r>
            <a:r>
              <a:rPr lang="en-AU" baseline="30000" dirty="0"/>
              <a:t>-1</a:t>
            </a:r>
            <a:r>
              <a:rPr lang="en-AU" dirty="0"/>
              <a:t> x 10</a:t>
            </a:r>
            <a:r>
              <a:rPr lang="en-AU" baseline="30000" dirty="0"/>
              <a:t>7</a:t>
            </a:r>
            <a:r>
              <a:rPr lang="en-AU" dirty="0"/>
              <a:t> ÷ 10</a:t>
            </a:r>
            <a:r>
              <a:rPr lang="en-AU" baseline="30000" dirty="0"/>
              <a:t>4</a:t>
            </a:r>
          </a:p>
          <a:p>
            <a:endParaRPr lang="en-AU" baseline="30000" dirty="0"/>
          </a:p>
          <a:p>
            <a:r>
              <a:rPr lang="en-AU" dirty="0"/>
              <a:t>4.   Use index laws to add the powers of the bases together</a:t>
            </a:r>
          </a:p>
          <a:p>
            <a:r>
              <a:rPr lang="en-AU" dirty="0"/>
              <a:t>	 9.14 x 10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4417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ED7FFA-FFC8-47FF-AAB9-A2CC6A88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38" y="630561"/>
            <a:ext cx="1619250" cy="48101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F5E9C9-E501-429B-BE88-491752DD97A5}"/>
              </a:ext>
            </a:extLst>
          </p:cNvPr>
          <p:cNvSpPr txBox="1"/>
          <p:nvPr/>
        </p:nvSpPr>
        <p:spPr>
          <a:xfrm>
            <a:off x="367990" y="301083"/>
            <a:ext cx="8118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a few.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B48D0D-787F-47BF-A81D-345AACE227A3}"/>
              </a:ext>
            </a:extLst>
          </p:cNvPr>
          <p:cNvSpPr/>
          <p:nvPr/>
        </p:nvSpPr>
        <p:spPr>
          <a:xfrm>
            <a:off x="999080" y="1594624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A1A03-6F78-4AAE-9A24-F71F4BAA68B3}"/>
              </a:ext>
            </a:extLst>
          </p:cNvPr>
          <p:cNvSpPr/>
          <p:nvPr/>
        </p:nvSpPr>
        <p:spPr>
          <a:xfrm>
            <a:off x="999079" y="3173540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CBDC8-38D1-47BE-81FE-B65B415024EB}"/>
              </a:ext>
            </a:extLst>
          </p:cNvPr>
          <p:cNvSpPr/>
          <p:nvPr/>
        </p:nvSpPr>
        <p:spPr>
          <a:xfrm>
            <a:off x="999079" y="4938881"/>
            <a:ext cx="1554549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32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5611E-65D6-4AF1-A3F2-CAA5E86098F8}"/>
              </a:ext>
            </a:extLst>
          </p:cNvPr>
          <p:cNvSpPr txBox="1"/>
          <p:nvPr/>
        </p:nvSpPr>
        <p:spPr>
          <a:xfrm>
            <a:off x="1639230" y="2330605"/>
            <a:ext cx="375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Time to try the </a:t>
            </a:r>
            <a:r>
              <a:rPr lang="en-AU" dirty="0" err="1"/>
              <a:t>workss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E9D6C-25C2-4B09-BBD8-D38CD389278F}"/>
              </a:ext>
            </a:extLst>
          </p:cNvPr>
          <p:cNvSpPr txBox="1"/>
          <p:nvPr/>
        </p:nvSpPr>
        <p:spPr>
          <a:xfrm>
            <a:off x="758283" y="657922"/>
            <a:ext cx="7560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16 game </a:t>
            </a:r>
            <a:r>
              <a:rPr lang="en-AU" dirty="0" err="1"/>
              <a:t>oz</a:t>
            </a:r>
            <a:r>
              <a:rPr lang="en-AU" dirty="0"/>
              <a:t> </a:t>
            </a:r>
            <a:r>
              <a:rPr lang="en-AU" dirty="0" err="1"/>
              <a:t>lottoticket</a:t>
            </a:r>
            <a:r>
              <a:rPr lang="en-AU" dirty="0"/>
              <a:t> costs $21 so you would spend $65,520 to get a 1 in 910 chance of winning sometime over that 60 years.</a:t>
            </a:r>
          </a:p>
        </p:txBody>
      </p:sp>
    </p:spTree>
    <p:extLst>
      <p:ext uri="{BB962C8B-B14F-4D97-AF65-F5344CB8AC3E}">
        <p14:creationId xmlns:p14="http://schemas.microsoft.com/office/powerpoint/2010/main" val="1462085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52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83C0F4-36BE-4ACB-8690-D1125DDC0F4A}" vid="{C65F8EC1-CBEA-480F-BD1C-EB7EE81841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- jw</Template>
  <TotalTime>1350</TotalTime>
  <Words>242</Words>
  <Application>Microsoft Office PowerPoint</Application>
  <PresentationFormat>On-screen Show (16:10)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18</cp:revision>
  <dcterms:created xsi:type="dcterms:W3CDTF">2016-07-26T14:16:06Z</dcterms:created>
  <dcterms:modified xsi:type="dcterms:W3CDTF">2017-08-20T15:14:56Z</dcterms:modified>
</cp:coreProperties>
</file>
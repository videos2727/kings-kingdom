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54" d="100"/>
          <a:sy n="54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28/08/2017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Sine Ratio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5278" y="1362095"/>
            <a:ext cx="6858000" cy="1379802"/>
          </a:xfrm>
        </p:spPr>
        <p:txBody>
          <a:bodyPr>
            <a:normAutofit fontScale="85000" lnSpcReduction="20000"/>
          </a:bodyPr>
          <a:lstStyle/>
          <a:p>
            <a:r>
              <a:rPr lang="en-AU" sz="2800" dirty="0"/>
              <a:t>Sine (sin for short).</a:t>
            </a:r>
          </a:p>
          <a:p>
            <a:r>
              <a:rPr lang="en-AU" sz="2800" dirty="0"/>
              <a:t>Exists in right triangles</a:t>
            </a:r>
          </a:p>
          <a:p>
            <a:r>
              <a:rPr lang="en-AU" sz="2800" dirty="0"/>
              <a:t>Uses the ratio of the opposite side ÷ hypotenuse to identify the angle size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What is the Sine ratio?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FC196B-F541-472C-B57A-1021528DA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567" y="2918589"/>
            <a:ext cx="6331981" cy="241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A54005F-A784-47D5-A681-C74AE9E47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40" y="3104897"/>
            <a:ext cx="7324725" cy="2238375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DB5A840-0C70-43DB-8A24-BEAC4351C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6" r="24869"/>
          <a:stretch>
            <a:fillRect/>
          </a:stretch>
        </p:blipFill>
        <p:spPr bwMode="auto">
          <a:xfrm>
            <a:off x="5956784" y="0"/>
            <a:ext cx="2586037" cy="494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DA0453-C1B1-458F-A415-1014DF79E864}"/>
              </a:ext>
            </a:extLst>
          </p:cNvPr>
          <p:cNvSpPr/>
          <p:nvPr/>
        </p:nvSpPr>
        <p:spPr>
          <a:xfrm>
            <a:off x="6468112" y="880859"/>
            <a:ext cx="1652588" cy="649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6DB651-EEE7-44D7-8ED0-3D2ED9A1E379}"/>
              </a:ext>
            </a:extLst>
          </p:cNvPr>
          <p:cNvSpPr txBox="1"/>
          <p:nvPr/>
        </p:nvSpPr>
        <p:spPr>
          <a:xfrm>
            <a:off x="388518" y="1068481"/>
            <a:ext cx="5419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Before using your calculator to calculate angles, make sure it is in “Degrees” mode.  </a:t>
            </a:r>
          </a:p>
          <a:p>
            <a:endParaRPr lang="en-AU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B1D3EF-06F4-4F66-AE07-FDB6233FC465}"/>
              </a:ext>
            </a:extLst>
          </p:cNvPr>
          <p:cNvSpPr/>
          <p:nvPr/>
        </p:nvSpPr>
        <p:spPr>
          <a:xfrm>
            <a:off x="6250663" y="1715355"/>
            <a:ext cx="434898" cy="4014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DBD576-EBCC-40C1-B506-206EB2F8A73A}"/>
              </a:ext>
            </a:extLst>
          </p:cNvPr>
          <p:cNvSpPr/>
          <p:nvPr/>
        </p:nvSpPr>
        <p:spPr>
          <a:xfrm flipV="1">
            <a:off x="7570865" y="1715355"/>
            <a:ext cx="434898" cy="4609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1403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91941405-00E8-4497-A460-F60440FEB2DC}"/>
              </a:ext>
            </a:extLst>
          </p:cNvPr>
          <p:cNvSpPr/>
          <p:nvPr/>
        </p:nvSpPr>
        <p:spPr>
          <a:xfrm>
            <a:off x="747132" y="312234"/>
            <a:ext cx="4471639" cy="2007220"/>
          </a:xfrm>
          <a:prstGeom prst="rt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28519-BA71-4519-9AE4-969B9B05A464}"/>
              </a:ext>
            </a:extLst>
          </p:cNvPr>
          <p:cNvSpPr txBox="1"/>
          <p:nvPr/>
        </p:nvSpPr>
        <p:spPr>
          <a:xfrm>
            <a:off x="2542478" y="780585"/>
            <a:ext cx="1215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15cm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2843AD-1E3A-40B4-89C0-8140883E375F}"/>
              </a:ext>
            </a:extLst>
          </p:cNvPr>
          <p:cNvSpPr txBox="1"/>
          <p:nvPr/>
        </p:nvSpPr>
        <p:spPr>
          <a:xfrm>
            <a:off x="139390" y="1224796"/>
            <a:ext cx="1215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 cm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39319-C8EC-4CAC-A67A-9124AE32BB46}"/>
              </a:ext>
            </a:extLst>
          </p:cNvPr>
          <p:cNvSpPr txBox="1"/>
          <p:nvPr/>
        </p:nvSpPr>
        <p:spPr>
          <a:xfrm>
            <a:off x="4248615" y="2028181"/>
            <a:ext cx="97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68FEBD-6815-44FF-B187-C4C46ED34B8D}"/>
                  </a:ext>
                </a:extLst>
              </p:cNvPr>
              <p:cNvSpPr txBox="1"/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𝑜𝑝𝑝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h𝑦𝑝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68FEBD-6815-44FF-B187-C4C46ED34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blipFill>
                <a:blip r:embed="rId2"/>
                <a:stretch>
                  <a:fillRect l="-2694" b="-49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351D58-54E0-44CD-A4E4-88A297B9D489}"/>
                  </a:ext>
                </a:extLst>
              </p:cNvPr>
              <p:cNvSpPr txBox="1"/>
              <p:nvPr/>
            </p:nvSpPr>
            <p:spPr>
              <a:xfrm>
                <a:off x="1148808" y="3050207"/>
                <a:ext cx="1806032" cy="483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351D58-54E0-44CD-A4E4-88A297B9D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3050207"/>
                <a:ext cx="1806032" cy="483915"/>
              </a:xfrm>
              <a:prstGeom prst="rect">
                <a:avLst/>
              </a:prstGeom>
              <a:blipFill>
                <a:blip r:embed="rId3"/>
                <a:stretch>
                  <a:fillRect l="-269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0992671-BE8F-475C-9D7F-FCA0E678E153}"/>
              </a:ext>
            </a:extLst>
          </p:cNvPr>
          <p:cNvSpPr txBox="1"/>
          <p:nvPr/>
        </p:nvSpPr>
        <p:spPr>
          <a:xfrm>
            <a:off x="1148808" y="3737467"/>
            <a:ext cx="180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 Ø = 0.467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0B5B36-A4CC-4FE6-8795-939BFB29A1CC}"/>
              </a:ext>
            </a:extLst>
          </p:cNvPr>
          <p:cNvSpPr txBox="1"/>
          <p:nvPr/>
        </p:nvSpPr>
        <p:spPr>
          <a:xfrm>
            <a:off x="1148808" y="4125478"/>
            <a:ext cx="461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a calculator, press “shift” “sin” 0.467 “=“ 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50EDA652-DDAF-47CA-A3B9-3B469B90B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6" r="24869"/>
          <a:stretch>
            <a:fillRect/>
          </a:stretch>
        </p:blipFill>
        <p:spPr bwMode="auto">
          <a:xfrm>
            <a:off x="6023692" y="526489"/>
            <a:ext cx="2586037" cy="494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B38B83-F2AA-4C68-8D7A-A64356B9896D}"/>
              </a:ext>
            </a:extLst>
          </p:cNvPr>
          <p:cNvSpPr/>
          <p:nvPr/>
        </p:nvSpPr>
        <p:spPr>
          <a:xfrm>
            <a:off x="6535020" y="1378894"/>
            <a:ext cx="1652588" cy="649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96B3E-D37B-407B-BAC3-B17325FB156C}"/>
              </a:ext>
            </a:extLst>
          </p:cNvPr>
          <p:cNvSpPr txBox="1"/>
          <p:nvPr/>
        </p:nvSpPr>
        <p:spPr>
          <a:xfrm>
            <a:off x="1176919" y="4513489"/>
            <a:ext cx="180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Ø = 27.8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F3B706-5322-4634-84FF-78AD81753116}"/>
              </a:ext>
            </a:extLst>
          </p:cNvPr>
          <p:cNvSpPr/>
          <p:nvPr/>
        </p:nvSpPr>
        <p:spPr>
          <a:xfrm>
            <a:off x="6328722" y="2300675"/>
            <a:ext cx="412596" cy="28759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DF7853C-8EBF-4BED-98F7-2363FCD597A8}"/>
              </a:ext>
            </a:extLst>
          </p:cNvPr>
          <p:cNvCxnSpPr>
            <a:cxnSpLocks/>
            <a:endCxn id="17" idx="3"/>
          </p:cNvCxnSpPr>
          <p:nvPr/>
        </p:nvCxnSpPr>
        <p:spPr>
          <a:xfrm flipV="1">
            <a:off x="3880624" y="2546154"/>
            <a:ext cx="2508521" cy="16801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5D639A1-1744-4E74-BA68-722DEE1605A2}"/>
              </a:ext>
            </a:extLst>
          </p:cNvPr>
          <p:cNvSpPr/>
          <p:nvPr/>
        </p:nvSpPr>
        <p:spPr>
          <a:xfrm>
            <a:off x="7316710" y="3222702"/>
            <a:ext cx="412596" cy="28759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D774BC-6EB7-4165-A0C7-964443E3D23E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4506371" y="3366501"/>
            <a:ext cx="2810339" cy="8370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9D333FF-2A3F-4C03-82A4-9E53BC299612}"/>
              </a:ext>
            </a:extLst>
          </p:cNvPr>
          <p:cNvSpPr txBox="1"/>
          <p:nvPr/>
        </p:nvSpPr>
        <p:spPr>
          <a:xfrm>
            <a:off x="2676293" y="216431"/>
            <a:ext cx="2800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find the angle….</a:t>
            </a:r>
          </a:p>
        </p:txBody>
      </p:sp>
    </p:spTree>
    <p:extLst>
      <p:ext uri="{BB962C8B-B14F-4D97-AF65-F5344CB8AC3E}">
        <p14:creationId xmlns:p14="http://schemas.microsoft.com/office/powerpoint/2010/main" val="229380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7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91941405-00E8-4497-A460-F60440FEB2DC}"/>
              </a:ext>
            </a:extLst>
          </p:cNvPr>
          <p:cNvSpPr/>
          <p:nvPr/>
        </p:nvSpPr>
        <p:spPr>
          <a:xfrm>
            <a:off x="1527718" y="557560"/>
            <a:ext cx="3691054" cy="1761893"/>
          </a:xfrm>
          <a:prstGeom prst="rt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28519-BA71-4519-9AE4-969B9B05A464}"/>
              </a:ext>
            </a:extLst>
          </p:cNvPr>
          <p:cNvSpPr txBox="1"/>
          <p:nvPr/>
        </p:nvSpPr>
        <p:spPr>
          <a:xfrm>
            <a:off x="2542478" y="780585"/>
            <a:ext cx="869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 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843AD-1E3A-40B4-89C0-8140883E375F}"/>
                  </a:ext>
                </a:extLst>
              </p:cNvPr>
              <p:cNvSpPr txBox="1"/>
              <p:nvPr/>
            </p:nvSpPr>
            <p:spPr>
              <a:xfrm>
                <a:off x="772454" y="1364597"/>
                <a:ext cx="7527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cm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843AD-1E3A-40B4-89C0-8140883E3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54" y="1364597"/>
                <a:ext cx="752708" cy="369332"/>
              </a:xfrm>
              <a:prstGeom prst="rect">
                <a:avLst/>
              </a:prstGeom>
              <a:blipFill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1039319-C8EC-4CAC-A67A-9124AE32BB46}"/>
              </a:ext>
            </a:extLst>
          </p:cNvPr>
          <p:cNvSpPr txBox="1"/>
          <p:nvPr/>
        </p:nvSpPr>
        <p:spPr>
          <a:xfrm>
            <a:off x="4248615" y="2028181"/>
            <a:ext cx="97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  <a:r>
              <a:rPr lang="en-AU" baseline="30000" dirty="0"/>
              <a:t>o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68FEBD-6815-44FF-B187-C4C46ED34B8D}"/>
                  </a:ext>
                </a:extLst>
              </p:cNvPr>
              <p:cNvSpPr txBox="1"/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𝑜𝑝𝑝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h𝑦𝑝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68FEBD-6815-44FF-B187-C4C46ED34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blipFill>
                <a:blip r:embed="rId3"/>
                <a:stretch>
                  <a:fillRect l="-2694" b="-49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351D58-54E0-44CD-A4E4-88A297B9D489}"/>
                  </a:ext>
                </a:extLst>
              </p:cNvPr>
              <p:cNvSpPr txBox="1"/>
              <p:nvPr/>
            </p:nvSpPr>
            <p:spPr>
              <a:xfrm>
                <a:off x="1148808" y="3050207"/>
                <a:ext cx="1806032" cy="463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25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351D58-54E0-44CD-A4E4-88A297B9D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3050207"/>
                <a:ext cx="1806032" cy="463204"/>
              </a:xfrm>
              <a:prstGeom prst="rect">
                <a:avLst/>
              </a:prstGeom>
              <a:blipFill>
                <a:blip r:embed="rId4"/>
                <a:stretch>
                  <a:fillRect l="-2694" b="-78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992671-BE8F-475C-9D7F-FCA0E678E153}"/>
                  </a:ext>
                </a:extLst>
              </p:cNvPr>
              <p:cNvSpPr txBox="1"/>
              <p:nvPr/>
            </p:nvSpPr>
            <p:spPr>
              <a:xfrm>
                <a:off x="1148808" y="3678087"/>
                <a:ext cx="25645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10 x Sin 25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992671-BE8F-475C-9D7F-FCA0E678E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3678087"/>
                <a:ext cx="2564548" cy="369332"/>
              </a:xfrm>
              <a:prstGeom prst="rect">
                <a:avLst/>
              </a:prstGeom>
              <a:blipFill>
                <a:blip r:embed="rId5"/>
                <a:stretch>
                  <a:fillRect l="-1900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C0B5B36-A4CC-4FE6-8795-939BFB29A1CC}"/>
              </a:ext>
            </a:extLst>
          </p:cNvPr>
          <p:cNvSpPr txBox="1"/>
          <p:nvPr/>
        </p:nvSpPr>
        <p:spPr>
          <a:xfrm>
            <a:off x="1148808" y="4125478"/>
            <a:ext cx="461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a calculator, press 10 “x” “Sin” 25 “=“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50EDA652-DDAF-47CA-A3B9-3B469B90B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6" r="24869"/>
          <a:stretch>
            <a:fillRect/>
          </a:stretch>
        </p:blipFill>
        <p:spPr bwMode="auto">
          <a:xfrm>
            <a:off x="5432155" y="436409"/>
            <a:ext cx="2586037" cy="494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B38B83-F2AA-4C68-8D7A-A64356B9896D}"/>
              </a:ext>
            </a:extLst>
          </p:cNvPr>
          <p:cNvSpPr/>
          <p:nvPr/>
        </p:nvSpPr>
        <p:spPr>
          <a:xfrm>
            <a:off x="5941741" y="1300009"/>
            <a:ext cx="1652588" cy="649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1C96B3E-D37B-407B-BAC3-B17325FB156C}"/>
                  </a:ext>
                </a:extLst>
              </p:cNvPr>
              <p:cNvSpPr txBox="1"/>
              <p:nvPr/>
            </p:nvSpPr>
            <p:spPr>
              <a:xfrm>
                <a:off x="1148808" y="4570396"/>
                <a:ext cx="1806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= 4.23 cm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1C96B3E-D37B-407B-BAC3-B17325FB1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4570396"/>
                <a:ext cx="1806032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3036A3E5-F861-4D06-A9D6-9586E188D830}"/>
              </a:ext>
            </a:extLst>
          </p:cNvPr>
          <p:cNvSpPr/>
          <p:nvPr/>
        </p:nvSpPr>
        <p:spPr>
          <a:xfrm>
            <a:off x="6737079" y="3143774"/>
            <a:ext cx="412596" cy="28759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420A5-7802-470B-A4E5-271A6FD3EA83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4427034" y="3287573"/>
            <a:ext cx="2310045" cy="9159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6968F3D-EB7F-4F54-B108-5929ADA4C0C1}"/>
              </a:ext>
            </a:extLst>
          </p:cNvPr>
          <p:cNvSpPr txBox="1"/>
          <p:nvPr/>
        </p:nvSpPr>
        <p:spPr>
          <a:xfrm>
            <a:off x="1908371" y="159027"/>
            <a:ext cx="4248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find the opposite side….</a:t>
            </a:r>
          </a:p>
        </p:txBody>
      </p:sp>
    </p:spTree>
    <p:extLst>
      <p:ext uri="{BB962C8B-B14F-4D97-AF65-F5344CB8AC3E}">
        <p14:creationId xmlns:p14="http://schemas.microsoft.com/office/powerpoint/2010/main" val="319526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6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91941405-00E8-4497-A460-F60440FEB2DC}"/>
              </a:ext>
            </a:extLst>
          </p:cNvPr>
          <p:cNvSpPr/>
          <p:nvPr/>
        </p:nvSpPr>
        <p:spPr>
          <a:xfrm>
            <a:off x="1638475" y="191890"/>
            <a:ext cx="2107580" cy="2194456"/>
          </a:xfrm>
          <a:prstGeom prst="rt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28519-BA71-4519-9AE4-969B9B05A464}"/>
              </a:ext>
            </a:extLst>
          </p:cNvPr>
          <p:cNvSpPr txBox="1"/>
          <p:nvPr/>
        </p:nvSpPr>
        <p:spPr>
          <a:xfrm>
            <a:off x="916086" y="1040632"/>
            <a:ext cx="869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 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843AD-1E3A-40B4-89C0-8140883E375F}"/>
                  </a:ext>
                </a:extLst>
              </p:cNvPr>
              <p:cNvSpPr txBox="1"/>
              <p:nvPr/>
            </p:nvSpPr>
            <p:spPr>
              <a:xfrm>
                <a:off x="2578486" y="889769"/>
                <a:ext cx="7527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cm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843AD-1E3A-40B4-89C0-8140883E3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486" y="889769"/>
                <a:ext cx="752708" cy="369332"/>
              </a:xfrm>
              <a:prstGeom prst="rect">
                <a:avLst/>
              </a:prstGeom>
              <a:blipFill>
                <a:blip r:embed="rId2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1039319-C8EC-4CAC-A67A-9124AE32BB46}"/>
              </a:ext>
            </a:extLst>
          </p:cNvPr>
          <p:cNvSpPr txBox="1"/>
          <p:nvPr/>
        </p:nvSpPr>
        <p:spPr>
          <a:xfrm>
            <a:off x="3074949" y="2054807"/>
            <a:ext cx="97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50</a:t>
            </a:r>
            <a:r>
              <a:rPr lang="en-AU" baseline="30000" dirty="0"/>
              <a:t>o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68FEBD-6815-44FF-B187-C4C46ED34B8D}"/>
                  </a:ext>
                </a:extLst>
              </p:cNvPr>
              <p:cNvSpPr txBox="1"/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𝑜𝑝𝑝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h𝑦𝑝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68FEBD-6815-44FF-B187-C4C46ED34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blipFill>
                <a:blip r:embed="rId3"/>
                <a:stretch>
                  <a:fillRect l="-2694" b="-49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351D58-54E0-44CD-A4E4-88A297B9D489}"/>
                  </a:ext>
                </a:extLst>
              </p:cNvPr>
              <p:cNvSpPr txBox="1"/>
              <p:nvPr/>
            </p:nvSpPr>
            <p:spPr>
              <a:xfrm>
                <a:off x="1148808" y="3050207"/>
                <a:ext cx="1806032" cy="485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50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351D58-54E0-44CD-A4E4-88A297B9D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3050207"/>
                <a:ext cx="1806032" cy="485518"/>
              </a:xfrm>
              <a:prstGeom prst="rect">
                <a:avLst/>
              </a:prstGeom>
              <a:blipFill>
                <a:blip r:embed="rId4"/>
                <a:stretch>
                  <a:fillRect l="-269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992671-BE8F-475C-9D7F-FCA0E678E153}"/>
                  </a:ext>
                </a:extLst>
              </p:cNvPr>
              <p:cNvSpPr txBox="1"/>
              <p:nvPr/>
            </p:nvSpPr>
            <p:spPr>
              <a:xfrm>
                <a:off x="1148808" y="3678087"/>
                <a:ext cx="2564548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func>
                          <m:func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func>
                      </m:den>
                    </m:f>
                  </m:oMath>
                </a14:m>
                <a:r>
                  <a:rPr lang="en-AU" dirty="0"/>
                  <a:t> 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992671-BE8F-475C-9D7F-FCA0E678E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3678087"/>
                <a:ext cx="2564548" cy="485774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C0B5B36-A4CC-4FE6-8795-939BFB29A1CC}"/>
              </a:ext>
            </a:extLst>
          </p:cNvPr>
          <p:cNvSpPr txBox="1"/>
          <p:nvPr/>
        </p:nvSpPr>
        <p:spPr>
          <a:xfrm>
            <a:off x="1148808" y="4125478"/>
            <a:ext cx="461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a calculator, press 6 “÷” “Sin” 50 “=“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50EDA652-DDAF-47CA-A3B9-3B469B90B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6" r="24869"/>
          <a:stretch>
            <a:fillRect/>
          </a:stretch>
        </p:blipFill>
        <p:spPr bwMode="auto">
          <a:xfrm>
            <a:off x="5432155" y="436409"/>
            <a:ext cx="2586037" cy="494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B38B83-F2AA-4C68-8D7A-A64356B9896D}"/>
              </a:ext>
            </a:extLst>
          </p:cNvPr>
          <p:cNvSpPr/>
          <p:nvPr/>
        </p:nvSpPr>
        <p:spPr>
          <a:xfrm>
            <a:off x="5941741" y="1300009"/>
            <a:ext cx="1652588" cy="649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1C96B3E-D37B-407B-BAC3-B17325FB156C}"/>
                  </a:ext>
                </a:extLst>
              </p:cNvPr>
              <p:cNvSpPr txBox="1"/>
              <p:nvPr/>
            </p:nvSpPr>
            <p:spPr>
              <a:xfrm>
                <a:off x="1148808" y="4570396"/>
                <a:ext cx="1806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= 7.83 cm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1C96B3E-D37B-407B-BAC3-B17325FB1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4570396"/>
                <a:ext cx="1806032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3036A3E5-F861-4D06-A9D6-9586E188D830}"/>
              </a:ext>
            </a:extLst>
          </p:cNvPr>
          <p:cNvSpPr/>
          <p:nvPr/>
        </p:nvSpPr>
        <p:spPr>
          <a:xfrm>
            <a:off x="6737079" y="3143774"/>
            <a:ext cx="412596" cy="28759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420A5-7802-470B-A4E5-271A6FD3EA83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4427034" y="3287573"/>
            <a:ext cx="2310045" cy="9159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057D58E-1E88-4AF0-A166-2D8DB2CACD17}"/>
              </a:ext>
            </a:extLst>
          </p:cNvPr>
          <p:cNvSpPr txBox="1"/>
          <p:nvPr/>
        </p:nvSpPr>
        <p:spPr>
          <a:xfrm>
            <a:off x="2219092" y="212737"/>
            <a:ext cx="4248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find the hypotenuse ….</a:t>
            </a:r>
          </a:p>
        </p:txBody>
      </p:sp>
    </p:spTree>
    <p:extLst>
      <p:ext uri="{BB962C8B-B14F-4D97-AF65-F5344CB8AC3E}">
        <p14:creationId xmlns:p14="http://schemas.microsoft.com/office/powerpoint/2010/main" val="334436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6" grpId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65AE-14C0-4087-AE8C-D2EB4591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11" y="200723"/>
            <a:ext cx="7886700" cy="5073804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Lets try together.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49E89D3D-7F9C-4477-97A7-3445B9CCF963}"/>
              </a:ext>
            </a:extLst>
          </p:cNvPr>
          <p:cNvSpPr/>
          <p:nvPr/>
        </p:nvSpPr>
        <p:spPr>
          <a:xfrm flipH="1">
            <a:off x="512955" y="412595"/>
            <a:ext cx="2129884" cy="1639229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666FF-7884-4F50-B6CE-251E9A951A79}"/>
              </a:ext>
            </a:extLst>
          </p:cNvPr>
          <p:cNvSpPr txBox="1"/>
          <p:nvPr/>
        </p:nvSpPr>
        <p:spPr>
          <a:xfrm>
            <a:off x="780585" y="1773044"/>
            <a:ext cx="64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30</a:t>
            </a:r>
            <a:r>
              <a:rPr lang="en-AU" baseline="30000" dirty="0"/>
              <a:t>o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4F78F2-76B3-4FF5-A046-B8993D4CBD91}"/>
                  </a:ext>
                </a:extLst>
              </p:cNvPr>
              <p:cNvSpPr txBox="1"/>
              <p:nvPr/>
            </p:nvSpPr>
            <p:spPr>
              <a:xfrm>
                <a:off x="2542477" y="1047543"/>
                <a:ext cx="6467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4F78F2-76B3-4FF5-A046-B8993D4CB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477" y="1047543"/>
                <a:ext cx="64677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475BCD-3F9C-4521-8CAA-FC8A2F291FC2}"/>
                  </a:ext>
                </a:extLst>
              </p:cNvPr>
              <p:cNvSpPr txBox="1"/>
              <p:nvPr/>
            </p:nvSpPr>
            <p:spPr>
              <a:xfrm rot="19310344">
                <a:off x="1204331" y="908154"/>
                <a:ext cx="6467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12 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475BCD-3F9C-4521-8CAA-FC8A2F291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10344">
                <a:off x="1204331" y="908154"/>
                <a:ext cx="646770" cy="369332"/>
              </a:xfrm>
              <a:prstGeom prst="rect">
                <a:avLst/>
              </a:prstGeom>
              <a:blipFill>
                <a:blip r:embed="rId3"/>
                <a:stretch>
                  <a:fillRect r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ABD562-D585-4652-8DA7-8A49EB7A8141}"/>
                  </a:ext>
                </a:extLst>
              </p:cNvPr>
              <p:cNvSpPr txBox="1"/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𝑜𝑝𝑝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h𝑦𝑝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ABD562-D585-4652-8DA7-8A49EB7A8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blipFill>
                <a:blip r:embed="rId4"/>
                <a:stretch>
                  <a:fillRect l="-2694" b="-49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42C205-9D3F-47C9-BA36-EDCEEFC29C50}"/>
                  </a:ext>
                </a:extLst>
              </p:cNvPr>
              <p:cNvSpPr txBox="1"/>
              <p:nvPr/>
            </p:nvSpPr>
            <p:spPr>
              <a:xfrm>
                <a:off x="1148808" y="3050207"/>
                <a:ext cx="1806032" cy="463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30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42C205-9D3F-47C9-BA36-EDCEEFC29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3050207"/>
                <a:ext cx="1806032" cy="463204"/>
              </a:xfrm>
              <a:prstGeom prst="rect">
                <a:avLst/>
              </a:prstGeom>
              <a:blipFill>
                <a:blip r:embed="rId5"/>
                <a:stretch>
                  <a:fillRect l="-2694" b="-78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007615-C07B-42D4-BF4D-51F690777B33}"/>
                  </a:ext>
                </a:extLst>
              </p:cNvPr>
              <p:cNvSpPr txBox="1"/>
              <p:nvPr/>
            </p:nvSpPr>
            <p:spPr>
              <a:xfrm>
                <a:off x="1148808" y="3678087"/>
                <a:ext cx="25645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12 x Sin 30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007615-C07B-42D4-BF4D-51F690777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3678087"/>
                <a:ext cx="2564548" cy="369332"/>
              </a:xfrm>
              <a:prstGeom prst="rect">
                <a:avLst/>
              </a:prstGeom>
              <a:blipFill>
                <a:blip r:embed="rId6"/>
                <a:stretch>
                  <a:fillRect l="-1900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B77A0AE-BE3C-4DBF-9935-446CB5C390A9}"/>
              </a:ext>
            </a:extLst>
          </p:cNvPr>
          <p:cNvSpPr txBox="1"/>
          <p:nvPr/>
        </p:nvSpPr>
        <p:spPr>
          <a:xfrm>
            <a:off x="1148808" y="4125478"/>
            <a:ext cx="461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press 12 “x” “Sin” 30 “=“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3CA518-CD51-45A8-9C89-CFBE7A15ED84}"/>
                  </a:ext>
                </a:extLst>
              </p:cNvPr>
              <p:cNvSpPr txBox="1"/>
              <p:nvPr/>
            </p:nvSpPr>
            <p:spPr>
              <a:xfrm>
                <a:off x="1148808" y="4570396"/>
                <a:ext cx="1806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= 6 cm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3CA518-CD51-45A8-9C89-CFBE7A15E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4570396"/>
                <a:ext cx="1806032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82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65AE-14C0-4087-AE8C-D2EB4591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11" y="200723"/>
            <a:ext cx="7886700" cy="5073804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Lets try together.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49E89D3D-7F9C-4477-97A7-3445B9CCF963}"/>
              </a:ext>
            </a:extLst>
          </p:cNvPr>
          <p:cNvSpPr/>
          <p:nvPr/>
        </p:nvSpPr>
        <p:spPr>
          <a:xfrm flipH="1">
            <a:off x="1427355" y="412595"/>
            <a:ext cx="1215484" cy="2051825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666FF-7884-4F50-B6CE-251E9A951A79}"/>
              </a:ext>
            </a:extLst>
          </p:cNvPr>
          <p:cNvSpPr txBox="1"/>
          <p:nvPr/>
        </p:nvSpPr>
        <p:spPr>
          <a:xfrm>
            <a:off x="1572702" y="2128543"/>
            <a:ext cx="64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70</a:t>
            </a:r>
            <a:r>
              <a:rPr lang="en-AU" baseline="30000" dirty="0"/>
              <a:t>o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4F78F2-76B3-4FF5-A046-B8993D4CBD91}"/>
                  </a:ext>
                </a:extLst>
              </p:cNvPr>
              <p:cNvSpPr txBox="1"/>
              <p:nvPr/>
            </p:nvSpPr>
            <p:spPr>
              <a:xfrm>
                <a:off x="1572702" y="1085903"/>
                <a:ext cx="6467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4F78F2-76B3-4FF5-A046-B8993D4CB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02" y="1085903"/>
                <a:ext cx="64677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475BCD-3F9C-4521-8CAA-FC8A2F291FC2}"/>
                  </a:ext>
                </a:extLst>
              </p:cNvPr>
              <p:cNvSpPr txBox="1"/>
              <p:nvPr/>
            </p:nvSpPr>
            <p:spPr>
              <a:xfrm>
                <a:off x="2642839" y="1449658"/>
                <a:ext cx="6467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475BCD-3F9C-4521-8CAA-FC8A2F291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839" y="1449658"/>
                <a:ext cx="64677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27E8F4-49E9-4BE6-989F-454A9ABAAF83}"/>
                  </a:ext>
                </a:extLst>
              </p:cNvPr>
              <p:cNvSpPr txBox="1"/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𝑜𝑝𝑝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h𝑦𝑝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27E8F4-49E9-4BE6-989F-454A9ABAA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blipFill>
                <a:blip r:embed="rId4"/>
                <a:stretch>
                  <a:fillRect l="-2694" b="-49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7A576F-1D18-433E-B965-90BB90A8069F}"/>
                  </a:ext>
                </a:extLst>
              </p:cNvPr>
              <p:cNvSpPr txBox="1"/>
              <p:nvPr/>
            </p:nvSpPr>
            <p:spPr>
              <a:xfrm>
                <a:off x="1148808" y="3050207"/>
                <a:ext cx="1806032" cy="485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70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7A576F-1D18-433E-B965-90BB90A80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3050207"/>
                <a:ext cx="1806032" cy="485518"/>
              </a:xfrm>
              <a:prstGeom prst="rect">
                <a:avLst/>
              </a:prstGeom>
              <a:blipFill>
                <a:blip r:embed="rId5"/>
                <a:stretch>
                  <a:fillRect l="-269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C4394D-6B1C-46C2-A441-BB394994F238}"/>
                  </a:ext>
                </a:extLst>
              </p:cNvPr>
              <p:cNvSpPr txBox="1"/>
              <p:nvPr/>
            </p:nvSpPr>
            <p:spPr>
              <a:xfrm>
                <a:off x="1148808" y="3678087"/>
                <a:ext cx="2564548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func>
                          <m:func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70</m:t>
                            </m:r>
                          </m:e>
                        </m:func>
                      </m:den>
                    </m:f>
                  </m:oMath>
                </a14:m>
                <a:r>
                  <a:rPr lang="en-AU" dirty="0"/>
                  <a:t> 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C4394D-6B1C-46C2-A441-BB394994F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3678087"/>
                <a:ext cx="2564548" cy="485774"/>
              </a:xfrm>
              <a:prstGeom prst="rect">
                <a:avLst/>
              </a:prstGeom>
              <a:blipFill>
                <a:blip r:embed="rId6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87166AD-9D56-416B-893E-9F65627E6E17}"/>
              </a:ext>
            </a:extLst>
          </p:cNvPr>
          <p:cNvSpPr txBox="1"/>
          <p:nvPr/>
        </p:nvSpPr>
        <p:spPr>
          <a:xfrm>
            <a:off x="1148808" y="4125478"/>
            <a:ext cx="461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press 3 “÷” “Sin” 70 “=“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365A6E-BD22-4CFE-824A-9AA1D2705FDD}"/>
                  </a:ext>
                </a:extLst>
              </p:cNvPr>
              <p:cNvSpPr txBox="1"/>
              <p:nvPr/>
            </p:nvSpPr>
            <p:spPr>
              <a:xfrm>
                <a:off x="1148808" y="4570396"/>
                <a:ext cx="1806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= 3.2 cm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365A6E-BD22-4CFE-824A-9AA1D2705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4570396"/>
                <a:ext cx="1806032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29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65AE-14C0-4087-AE8C-D2EB4591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11" y="200723"/>
            <a:ext cx="7886700" cy="5073804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Lets try together.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49E89D3D-7F9C-4477-97A7-3445B9CCF963}"/>
              </a:ext>
            </a:extLst>
          </p:cNvPr>
          <p:cNvSpPr/>
          <p:nvPr/>
        </p:nvSpPr>
        <p:spPr>
          <a:xfrm flipH="1">
            <a:off x="591015" y="412596"/>
            <a:ext cx="2051824" cy="195146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4F78F2-76B3-4FF5-A046-B8993D4CBD91}"/>
                  </a:ext>
                </a:extLst>
              </p:cNvPr>
              <p:cNvSpPr txBox="1"/>
              <p:nvPr/>
            </p:nvSpPr>
            <p:spPr>
              <a:xfrm>
                <a:off x="1187605" y="1080326"/>
                <a:ext cx="6467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4F78F2-76B3-4FF5-A046-B8993D4CB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05" y="1080326"/>
                <a:ext cx="64677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475BCD-3F9C-4521-8CAA-FC8A2F291FC2}"/>
                  </a:ext>
                </a:extLst>
              </p:cNvPr>
              <p:cNvSpPr txBox="1"/>
              <p:nvPr/>
            </p:nvSpPr>
            <p:spPr>
              <a:xfrm>
                <a:off x="2642839" y="1449658"/>
                <a:ext cx="6467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475BCD-3F9C-4521-8CAA-FC8A2F291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839" y="1449658"/>
                <a:ext cx="64677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53FD239-A343-4963-9E2C-BAC3F83D69E4}"/>
              </a:ext>
            </a:extLst>
          </p:cNvPr>
          <p:cNvSpPr txBox="1"/>
          <p:nvPr/>
        </p:nvSpPr>
        <p:spPr>
          <a:xfrm>
            <a:off x="841917" y="2037989"/>
            <a:ext cx="97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D1FC51-DA1F-44BF-BC98-BC38F8975BC6}"/>
                  </a:ext>
                </a:extLst>
              </p:cNvPr>
              <p:cNvSpPr txBox="1"/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𝑜𝑝𝑝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h𝑦𝑝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D1FC51-DA1F-44BF-BC98-BC38F8975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2506690"/>
                <a:ext cx="1806032" cy="493918"/>
              </a:xfrm>
              <a:prstGeom prst="rect">
                <a:avLst/>
              </a:prstGeom>
              <a:blipFill>
                <a:blip r:embed="rId4"/>
                <a:stretch>
                  <a:fillRect l="-2694" b="-49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024B5F-9FAB-41D8-863D-4CE3A8E3A16F}"/>
                  </a:ext>
                </a:extLst>
              </p:cNvPr>
              <p:cNvSpPr txBox="1"/>
              <p:nvPr/>
            </p:nvSpPr>
            <p:spPr>
              <a:xfrm>
                <a:off x="1148808" y="3050207"/>
                <a:ext cx="1806032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 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024B5F-9FAB-41D8-863D-4CE3A8E3A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8" y="3050207"/>
                <a:ext cx="1806032" cy="485774"/>
              </a:xfrm>
              <a:prstGeom prst="rect">
                <a:avLst/>
              </a:prstGeom>
              <a:blipFill>
                <a:blip r:embed="rId5"/>
                <a:stretch>
                  <a:fillRect l="-269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2AC9D48-8C64-4647-90CC-67C88A620D00}"/>
              </a:ext>
            </a:extLst>
          </p:cNvPr>
          <p:cNvSpPr txBox="1"/>
          <p:nvPr/>
        </p:nvSpPr>
        <p:spPr>
          <a:xfrm>
            <a:off x="1148808" y="3737467"/>
            <a:ext cx="180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 Ø = 0.428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E9660-793F-4E02-A39D-C636CA834165}"/>
              </a:ext>
            </a:extLst>
          </p:cNvPr>
          <p:cNvSpPr txBox="1"/>
          <p:nvPr/>
        </p:nvSpPr>
        <p:spPr>
          <a:xfrm>
            <a:off x="1148808" y="4125478"/>
            <a:ext cx="461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press “shift” “sin” 0.428 “=“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F592E3-9C07-4353-9E4C-C63C6BED6C3D}"/>
              </a:ext>
            </a:extLst>
          </p:cNvPr>
          <p:cNvSpPr txBox="1"/>
          <p:nvPr/>
        </p:nvSpPr>
        <p:spPr>
          <a:xfrm>
            <a:off x="1176919" y="4513489"/>
            <a:ext cx="180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Ø = 25.4</a:t>
            </a:r>
            <a:r>
              <a:rPr lang="en-AU" baseline="30000" dirty="0"/>
              <a:t>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4261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BA958-C1F4-466C-BC6D-8D31373734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831"/>
          <a:stretch/>
        </p:blipFill>
        <p:spPr>
          <a:xfrm>
            <a:off x="747403" y="992459"/>
            <a:ext cx="7481383" cy="1784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BC035E-CEB9-4235-BED4-00F09AECA749}"/>
              </a:ext>
            </a:extLst>
          </p:cNvPr>
          <p:cNvSpPr txBox="1"/>
          <p:nvPr/>
        </p:nvSpPr>
        <p:spPr>
          <a:xfrm>
            <a:off x="1538868" y="245327"/>
            <a:ext cx="37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size of the angles.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05EC43-DF37-4F5A-BABA-8D36F2512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407" y="992459"/>
            <a:ext cx="1638294" cy="16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7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BC035E-CEB9-4235-BED4-00F09AECA749}"/>
              </a:ext>
            </a:extLst>
          </p:cNvPr>
          <p:cNvSpPr txBox="1"/>
          <p:nvPr/>
        </p:nvSpPr>
        <p:spPr>
          <a:xfrm>
            <a:off x="1538868" y="245327"/>
            <a:ext cx="37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size of the opposite side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A4C0725A-750A-4561-ABEC-8A8B8C4C12C5}"/>
              </a:ext>
            </a:extLst>
          </p:cNvPr>
          <p:cNvSpPr/>
          <p:nvPr/>
        </p:nvSpPr>
        <p:spPr>
          <a:xfrm flipH="1">
            <a:off x="1070515" y="614659"/>
            <a:ext cx="1427357" cy="160443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D7ABD-8B7B-4B6E-A3A6-82F21EC8349F}"/>
              </a:ext>
            </a:extLst>
          </p:cNvPr>
          <p:cNvSpPr txBox="1"/>
          <p:nvPr/>
        </p:nvSpPr>
        <p:spPr>
          <a:xfrm>
            <a:off x="1204329" y="1887189"/>
            <a:ext cx="57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60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C5F9268-0B27-4F54-8978-F02F71783C35}"/>
              </a:ext>
            </a:extLst>
          </p:cNvPr>
          <p:cNvSpPr/>
          <p:nvPr/>
        </p:nvSpPr>
        <p:spPr>
          <a:xfrm rot="13029166" flipH="1">
            <a:off x="4011959" y="626819"/>
            <a:ext cx="797800" cy="2254029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AB617-389D-40F0-A0CB-28244587BD3C}"/>
              </a:ext>
            </a:extLst>
          </p:cNvPr>
          <p:cNvSpPr txBox="1"/>
          <p:nvPr/>
        </p:nvSpPr>
        <p:spPr>
          <a:xfrm>
            <a:off x="1265664" y="1199836"/>
            <a:ext cx="546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D605C-5AE6-483F-A553-D8A8FF6D8D76}"/>
              </a:ext>
            </a:extLst>
          </p:cNvPr>
          <p:cNvSpPr txBox="1"/>
          <p:nvPr/>
        </p:nvSpPr>
        <p:spPr>
          <a:xfrm rot="19054684">
            <a:off x="3706265" y="1702523"/>
            <a:ext cx="579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DEDF5-E2B1-4FDD-9C12-5C068F2B70A4}"/>
              </a:ext>
            </a:extLst>
          </p:cNvPr>
          <p:cNvSpPr txBox="1"/>
          <p:nvPr/>
        </p:nvSpPr>
        <p:spPr>
          <a:xfrm>
            <a:off x="4673178" y="1507724"/>
            <a:ext cx="546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3m</a:t>
            </a: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2AF35C4-534F-41CF-AB4A-1672EB601A6A}"/>
              </a:ext>
            </a:extLst>
          </p:cNvPr>
          <p:cNvSpPr/>
          <p:nvPr/>
        </p:nvSpPr>
        <p:spPr>
          <a:xfrm>
            <a:off x="6903707" y="944842"/>
            <a:ext cx="1125172" cy="155303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9B03D3-5C52-41EE-8438-8F8E7C76C327}"/>
              </a:ext>
            </a:extLst>
          </p:cNvPr>
          <p:cNvSpPr txBox="1"/>
          <p:nvPr/>
        </p:nvSpPr>
        <p:spPr>
          <a:xfrm>
            <a:off x="6886429" y="1325691"/>
            <a:ext cx="57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60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AC911F-54D1-49D6-A98C-1B877E3F1E19}"/>
              </a:ext>
            </a:extLst>
          </p:cNvPr>
          <p:cNvSpPr txBox="1"/>
          <p:nvPr/>
        </p:nvSpPr>
        <p:spPr>
          <a:xfrm>
            <a:off x="7436168" y="1325691"/>
            <a:ext cx="90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90cm</a:t>
            </a:r>
          </a:p>
        </p:txBody>
      </p:sp>
    </p:spTree>
    <p:extLst>
      <p:ext uri="{BB962C8B-B14F-4D97-AF65-F5344CB8AC3E}">
        <p14:creationId xmlns:p14="http://schemas.microsoft.com/office/powerpoint/2010/main" val="2901219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BC035E-CEB9-4235-BED4-00F09AECA749}"/>
              </a:ext>
            </a:extLst>
          </p:cNvPr>
          <p:cNvSpPr txBox="1"/>
          <p:nvPr/>
        </p:nvSpPr>
        <p:spPr>
          <a:xfrm>
            <a:off x="1538868" y="245327"/>
            <a:ext cx="37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size of the </a:t>
            </a:r>
            <a:r>
              <a:rPr lang="en-AU" dirty="0" err="1"/>
              <a:t>hyotenusee</a:t>
            </a:r>
            <a:r>
              <a:rPr lang="en-AU" dirty="0"/>
              <a:t> side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A4C0725A-750A-4561-ABEC-8A8B8C4C12C5}"/>
              </a:ext>
            </a:extLst>
          </p:cNvPr>
          <p:cNvSpPr/>
          <p:nvPr/>
        </p:nvSpPr>
        <p:spPr>
          <a:xfrm flipH="1">
            <a:off x="256478" y="614659"/>
            <a:ext cx="2241394" cy="1262397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D7ABD-8B7B-4B6E-A3A6-82F21EC8349F}"/>
              </a:ext>
            </a:extLst>
          </p:cNvPr>
          <p:cNvSpPr txBox="1"/>
          <p:nvPr/>
        </p:nvSpPr>
        <p:spPr>
          <a:xfrm>
            <a:off x="604954" y="1569167"/>
            <a:ext cx="57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40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C5F9268-0B27-4F54-8978-F02F71783C35}"/>
              </a:ext>
            </a:extLst>
          </p:cNvPr>
          <p:cNvSpPr/>
          <p:nvPr/>
        </p:nvSpPr>
        <p:spPr>
          <a:xfrm rot="16200000" flipH="1">
            <a:off x="3937453" y="663440"/>
            <a:ext cx="1080656" cy="218078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AB617-389D-40F0-A0CB-28244587BD3C}"/>
              </a:ext>
            </a:extLst>
          </p:cNvPr>
          <p:cNvSpPr txBox="1"/>
          <p:nvPr/>
        </p:nvSpPr>
        <p:spPr>
          <a:xfrm>
            <a:off x="2497872" y="944842"/>
            <a:ext cx="7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D605C-5AE6-483F-A553-D8A8FF6D8D76}"/>
              </a:ext>
            </a:extLst>
          </p:cNvPr>
          <p:cNvSpPr txBox="1"/>
          <p:nvPr/>
        </p:nvSpPr>
        <p:spPr>
          <a:xfrm>
            <a:off x="3766876" y="1158099"/>
            <a:ext cx="579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DEDF5-E2B1-4FDD-9C12-5C068F2B70A4}"/>
              </a:ext>
            </a:extLst>
          </p:cNvPr>
          <p:cNvSpPr txBox="1"/>
          <p:nvPr/>
        </p:nvSpPr>
        <p:spPr>
          <a:xfrm>
            <a:off x="5540609" y="1439969"/>
            <a:ext cx="78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13m</a:t>
            </a: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2AF35C4-534F-41CF-AB4A-1672EB601A6A}"/>
              </a:ext>
            </a:extLst>
          </p:cNvPr>
          <p:cNvSpPr/>
          <p:nvPr/>
        </p:nvSpPr>
        <p:spPr>
          <a:xfrm>
            <a:off x="6903707" y="1158099"/>
            <a:ext cx="1125172" cy="133977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9B03D3-5C52-41EE-8438-8F8E7C76C327}"/>
              </a:ext>
            </a:extLst>
          </p:cNvPr>
          <p:cNvSpPr txBox="1"/>
          <p:nvPr/>
        </p:nvSpPr>
        <p:spPr>
          <a:xfrm>
            <a:off x="6826365" y="1494903"/>
            <a:ext cx="57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50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AC911F-54D1-49D6-A98C-1B877E3F1E19}"/>
              </a:ext>
            </a:extLst>
          </p:cNvPr>
          <p:cNvSpPr txBox="1"/>
          <p:nvPr/>
        </p:nvSpPr>
        <p:spPr>
          <a:xfrm>
            <a:off x="7116297" y="2497873"/>
            <a:ext cx="90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9cm</a:t>
            </a:r>
          </a:p>
        </p:txBody>
      </p:sp>
    </p:spTree>
    <p:extLst>
      <p:ext uri="{BB962C8B-B14F-4D97-AF65-F5344CB8AC3E}">
        <p14:creationId xmlns:p14="http://schemas.microsoft.com/office/powerpoint/2010/main" val="2473660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4333</TotalTime>
  <Words>309</Words>
  <Application>Microsoft Office PowerPoint</Application>
  <PresentationFormat>On-screen Show (16:10)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Sine</vt:lpstr>
      <vt:lpstr>Topic : Sine Ratio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Sine</dc:title>
  <dc:creator>WILSON James [Baldivis Secondary College]</dc:creator>
  <cp:lastModifiedBy>WILSON James [Baldivis Secondary College]</cp:lastModifiedBy>
  <cp:revision>11</cp:revision>
  <dcterms:created xsi:type="dcterms:W3CDTF">2017-08-24T14:45:02Z</dcterms:created>
  <dcterms:modified xsi:type="dcterms:W3CDTF">2017-08-28T15:01:38Z</dcterms:modified>
</cp:coreProperties>
</file>
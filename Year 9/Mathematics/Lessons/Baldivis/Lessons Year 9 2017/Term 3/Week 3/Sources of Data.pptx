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307" r:id="rId2"/>
    <p:sldId id="312" r:id="rId3"/>
    <p:sldId id="310" r:id="rId4"/>
    <p:sldId id="315" r:id="rId5"/>
    <p:sldId id="316" r:id="rId6"/>
    <p:sldId id="317" r:id="rId7"/>
    <p:sldId id="308" r:id="rId8"/>
    <p:sldId id="314" r:id="rId9"/>
    <p:sldId id="311" r:id="rId10"/>
    <p:sldId id="292" r:id="rId11"/>
    <p:sldId id="291"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62" autoAdjust="0"/>
    <p:restoredTop sz="92895" autoAdjust="0"/>
  </p:normalViewPr>
  <p:slideViewPr>
    <p:cSldViewPr>
      <p:cViewPr varScale="1">
        <p:scale>
          <a:sx n="106" d="100"/>
          <a:sy n="106" d="100"/>
        </p:scale>
        <p:origin x="1764" y="10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75AD73A-AE13-444E-A6A8-7967ABAB8119}" type="datetimeFigureOut">
              <a:rPr lang="en-AU" smtClean="0"/>
              <a:pPr/>
              <a:t>13/07/2017</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516DE00-3598-450D-9FD4-B3F4D33F029B}" type="slidenum">
              <a:rPr lang="en-AU" smtClean="0"/>
              <a:pPr/>
              <a:t>‹#›</a:t>
            </a:fld>
            <a:endParaRPr lang="en-AU"/>
          </a:p>
        </p:txBody>
      </p:sp>
    </p:spTree>
    <p:extLst>
      <p:ext uri="{BB962C8B-B14F-4D97-AF65-F5344CB8AC3E}">
        <p14:creationId xmlns:p14="http://schemas.microsoft.com/office/powerpoint/2010/main" val="575940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13/07/2017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3432648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13/07/2017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38355484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03B91B3-E50F-4EFF-8D5F-21DA810ECD9F}" type="datetimeFigureOut">
              <a:rPr lang="en-AU" smtClean="0"/>
              <a:pPr/>
              <a:t>13/07/2017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4180491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303B91B3-E50F-4EFF-8D5F-21DA810ECD9F}" type="datetimeFigureOut">
              <a:rPr lang="en-AU" smtClean="0"/>
              <a:pPr/>
              <a:t>13/07/2017</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1742595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303B91B3-E50F-4EFF-8D5F-21DA810ECD9F}" type="datetimeFigureOut">
              <a:rPr lang="en-AU" smtClean="0"/>
              <a:pPr/>
              <a:t>13/07/2017</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9" name="Slide Number Placeholder 8"/>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200718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303B91B3-E50F-4EFF-8D5F-21DA810ECD9F}" type="datetimeFigureOut">
              <a:rPr lang="en-AU" smtClean="0"/>
              <a:pPr/>
              <a:t>13/07/2017</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5" name="Slide Number Placeholder 4"/>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577235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3B91B3-E50F-4EFF-8D5F-21DA810ECD9F}" type="datetimeFigureOut">
              <a:rPr lang="en-AU" smtClean="0"/>
              <a:pPr/>
              <a:t>13/07/2017</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4" name="Slide Number Placeholder 3"/>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191991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pPr/>
              <a:t>13/07/2017</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818502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03B91B3-E50F-4EFF-8D5F-21DA810ECD9F}" type="datetimeFigureOut">
              <a:rPr lang="en-AU" smtClean="0"/>
              <a:pPr/>
              <a:t>13/07/2017</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7" name="Slide Number Placeholder 6"/>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2383982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13/07/2017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4096369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303B91B3-E50F-4EFF-8D5F-21DA810ECD9F}" type="datetimeFigureOut">
              <a:rPr lang="en-AU" smtClean="0"/>
              <a:pPr/>
              <a:t>13/07/2017</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6" name="Slide Number Placeholder 5"/>
          <p:cNvSpPr>
            <a:spLocks noGrp="1"/>
          </p:cNvSpPr>
          <p:nvPr>
            <p:ph type="sldNum" sz="quarter" idx="12"/>
          </p:nvPr>
        </p:nvSpPr>
        <p:spPr/>
        <p:txBody>
          <a:body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18802157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B91B3-E50F-4EFF-8D5F-21DA810ECD9F}" type="datetimeFigureOut">
              <a:rPr lang="en-AU" smtClean="0"/>
              <a:pPr/>
              <a:t>13/07/2017</a:t>
            </a:fld>
            <a:endParaRPr lang="en-AU"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937BE4-3242-4672-8D3A-460DCD9877AE}" type="slidenum">
              <a:rPr lang="en-AU" smtClean="0"/>
              <a:pPr/>
              <a:t>‹#›</a:t>
            </a:fld>
            <a:endParaRPr lang="en-AU" dirty="0"/>
          </a:p>
        </p:txBody>
      </p:sp>
    </p:spTree>
    <p:extLst>
      <p:ext uri="{BB962C8B-B14F-4D97-AF65-F5344CB8AC3E}">
        <p14:creationId xmlns:p14="http://schemas.microsoft.com/office/powerpoint/2010/main" val="242866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video" Target="https://www.youtube.com/embed/cqXHO7bTPnw"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43608" y="692696"/>
            <a:ext cx="6984776" cy="523220"/>
          </a:xfrm>
          <a:prstGeom prst="rect">
            <a:avLst/>
          </a:prstGeom>
          <a:noFill/>
        </p:spPr>
        <p:txBody>
          <a:bodyPr wrap="square" rtlCol="0">
            <a:spAutoFit/>
          </a:bodyPr>
          <a:lstStyle/>
          <a:p>
            <a:pPr algn="ctr"/>
            <a:r>
              <a:rPr lang="en-US" sz="2800" dirty="0"/>
              <a:t>My Statistics Interactive Notebook</a:t>
            </a:r>
          </a:p>
        </p:txBody>
      </p:sp>
      <p:sp>
        <p:nvSpPr>
          <p:cNvPr id="4" name="TextBox 3"/>
          <p:cNvSpPr txBox="1"/>
          <p:nvPr/>
        </p:nvSpPr>
        <p:spPr>
          <a:xfrm>
            <a:off x="827584" y="3068960"/>
            <a:ext cx="3456384" cy="2031325"/>
          </a:xfrm>
          <a:prstGeom prst="rect">
            <a:avLst/>
          </a:prstGeom>
          <a:noFill/>
        </p:spPr>
        <p:txBody>
          <a:bodyPr wrap="square" rtlCol="0">
            <a:spAutoFit/>
          </a:bodyPr>
          <a:lstStyle/>
          <a:p>
            <a:r>
              <a:rPr lang="en-US" dirty="0"/>
              <a:t>Name:</a:t>
            </a:r>
          </a:p>
          <a:p>
            <a:endParaRPr lang="en-US" dirty="0"/>
          </a:p>
          <a:p>
            <a:r>
              <a:rPr lang="en-US" dirty="0"/>
              <a:t>Class: 9-9</a:t>
            </a:r>
          </a:p>
          <a:p>
            <a:endParaRPr lang="en-US" dirty="0"/>
          </a:p>
          <a:p>
            <a:r>
              <a:rPr lang="en-US" dirty="0"/>
              <a:t>Teacher: </a:t>
            </a:r>
            <a:r>
              <a:rPr lang="en-US" dirty="0" err="1"/>
              <a:t>Mr</a:t>
            </a:r>
            <a:r>
              <a:rPr lang="en-US" dirty="0"/>
              <a:t> Evans</a:t>
            </a:r>
          </a:p>
          <a:p>
            <a:endParaRPr lang="en-US" dirty="0"/>
          </a:p>
          <a:p>
            <a:r>
              <a:rPr lang="en-US" dirty="0"/>
              <a:t>Term 3 Semester 2</a:t>
            </a:r>
          </a:p>
        </p:txBody>
      </p:sp>
      <p:pic>
        <p:nvPicPr>
          <p:cNvPr id="7" name="Picture 6">
            <a:extLst>
              <a:ext uri="{FF2B5EF4-FFF2-40B4-BE49-F238E27FC236}">
                <a16:creationId xmlns:a16="http://schemas.microsoft.com/office/drawing/2014/main" id="{C0548773-B9B4-410A-BC49-020F5D0BE1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7576" y="3501008"/>
            <a:ext cx="4572000" cy="3429000"/>
          </a:xfrm>
          <a:prstGeom prst="rect">
            <a:avLst/>
          </a:prstGeom>
        </p:spPr>
      </p:pic>
      <p:pic>
        <p:nvPicPr>
          <p:cNvPr id="9" name="Picture 8">
            <a:extLst>
              <a:ext uri="{FF2B5EF4-FFF2-40B4-BE49-F238E27FC236}">
                <a16:creationId xmlns:a16="http://schemas.microsoft.com/office/drawing/2014/main" id="{F40B79AE-6BF8-4125-878B-7FC9AF668DD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83970"/>
            <a:ext cx="3707904" cy="1739625"/>
          </a:xfrm>
          <a:prstGeom prst="rect">
            <a:avLst/>
          </a:prstGeom>
        </p:spPr>
      </p:pic>
    </p:spTree>
    <p:extLst>
      <p:ext uri="{BB962C8B-B14F-4D97-AF65-F5344CB8AC3E}">
        <p14:creationId xmlns:p14="http://schemas.microsoft.com/office/powerpoint/2010/main" val="2415318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qXHO7bTPnw">
            <a:hlinkClick r:id="" action="ppaction://media"/>
            <a:extLst>
              <a:ext uri="{FF2B5EF4-FFF2-40B4-BE49-F238E27FC236}">
                <a16:creationId xmlns:a16="http://schemas.microsoft.com/office/drawing/2014/main" id="{C4F18556-082E-4F43-A881-37E2EB90D969}"/>
              </a:ext>
            </a:extLst>
          </p:cNvPr>
          <p:cNvPicPr>
            <a:picLocks noRot="1" noChangeAspect="1"/>
          </p:cNvPicPr>
          <p:nvPr>
            <a:videoFile r:link="rId1"/>
          </p:nvPr>
        </p:nvPicPr>
        <p:blipFill>
          <a:blip r:embed="rId3"/>
          <a:stretch>
            <a:fillRect/>
          </a:stretch>
        </p:blipFill>
        <p:spPr>
          <a:xfrm>
            <a:off x="1499659" y="1124744"/>
            <a:ext cx="5952661" cy="4464496"/>
          </a:xfrm>
          <a:prstGeom prst="rect">
            <a:avLst/>
          </a:prstGeom>
        </p:spPr>
      </p:pic>
    </p:spTree>
    <p:extLst>
      <p:ext uri="{BB962C8B-B14F-4D97-AF65-F5344CB8AC3E}">
        <p14:creationId xmlns:p14="http://schemas.microsoft.com/office/powerpoint/2010/main" val="1235899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5576" y="836712"/>
            <a:ext cx="8064896" cy="523220"/>
          </a:xfrm>
          <a:prstGeom prst="rect">
            <a:avLst/>
          </a:prstGeom>
          <a:noFill/>
        </p:spPr>
        <p:txBody>
          <a:bodyPr wrap="square" rtlCol="0">
            <a:spAutoFit/>
          </a:bodyPr>
          <a:lstStyle/>
          <a:p>
            <a:pPr algn="ctr"/>
            <a:r>
              <a:rPr lang="en-US" sz="2800" b="1" dirty="0"/>
              <a:t>Warm Up</a:t>
            </a:r>
          </a:p>
        </p:txBody>
      </p:sp>
      <p:sp>
        <p:nvSpPr>
          <p:cNvPr id="3" name="TextBox 2"/>
          <p:cNvSpPr txBox="1"/>
          <p:nvPr/>
        </p:nvSpPr>
        <p:spPr>
          <a:xfrm>
            <a:off x="683568" y="1556792"/>
            <a:ext cx="7992888" cy="1200329"/>
          </a:xfrm>
          <a:prstGeom prst="rect">
            <a:avLst/>
          </a:prstGeom>
          <a:noFill/>
        </p:spPr>
        <p:txBody>
          <a:bodyPr wrap="square" rtlCol="0">
            <a:spAutoFit/>
          </a:bodyPr>
          <a:lstStyle/>
          <a:p>
            <a:r>
              <a:rPr lang="en-US" sz="2400" dirty="0"/>
              <a:t>Are these Stem and Leaf Plots skewed, positively, negatively or are they symmetrical?</a:t>
            </a:r>
          </a:p>
          <a:p>
            <a:endParaRPr lang="en-US" sz="2400" dirty="0"/>
          </a:p>
        </p:txBody>
      </p:sp>
      <p:pic>
        <p:nvPicPr>
          <p:cNvPr id="5" name="Picture 4">
            <a:extLst>
              <a:ext uri="{FF2B5EF4-FFF2-40B4-BE49-F238E27FC236}">
                <a16:creationId xmlns:a16="http://schemas.microsoft.com/office/drawing/2014/main" id="{3EF42D67-8026-4A9B-8039-E494DA1A60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7824" y="2492896"/>
            <a:ext cx="2962275" cy="3886200"/>
          </a:xfrm>
          <a:prstGeom prst="rect">
            <a:avLst/>
          </a:prstGeom>
        </p:spPr>
      </p:pic>
      <p:sp>
        <p:nvSpPr>
          <p:cNvPr id="6" name="TextBox 5">
            <a:extLst>
              <a:ext uri="{FF2B5EF4-FFF2-40B4-BE49-F238E27FC236}">
                <a16:creationId xmlns:a16="http://schemas.microsoft.com/office/drawing/2014/main" id="{9E34F9FA-0A8D-490C-AAE9-151B2D841DB6}"/>
              </a:ext>
            </a:extLst>
          </p:cNvPr>
          <p:cNvSpPr txBox="1"/>
          <p:nvPr/>
        </p:nvSpPr>
        <p:spPr>
          <a:xfrm>
            <a:off x="1115616" y="2757121"/>
            <a:ext cx="504056" cy="369332"/>
          </a:xfrm>
          <a:prstGeom prst="rect">
            <a:avLst/>
          </a:prstGeom>
          <a:noFill/>
        </p:spPr>
        <p:txBody>
          <a:bodyPr wrap="square" rtlCol="0">
            <a:spAutoFit/>
          </a:bodyPr>
          <a:lstStyle/>
          <a:p>
            <a:r>
              <a:rPr lang="en-AU" dirty="0"/>
              <a:t>1.</a:t>
            </a:r>
          </a:p>
        </p:txBody>
      </p:sp>
    </p:spTree>
    <p:extLst>
      <p:ext uri="{BB962C8B-B14F-4D97-AF65-F5344CB8AC3E}">
        <p14:creationId xmlns:p14="http://schemas.microsoft.com/office/powerpoint/2010/main" val="2649487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4CD3249-9C88-4B07-A88E-8C7DA5D168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1800" y="764704"/>
            <a:ext cx="3684266" cy="2493021"/>
          </a:xfrm>
          <a:prstGeom prst="rect">
            <a:avLst/>
          </a:prstGeom>
        </p:spPr>
      </p:pic>
      <p:pic>
        <p:nvPicPr>
          <p:cNvPr id="8" name="Picture 7">
            <a:extLst>
              <a:ext uri="{FF2B5EF4-FFF2-40B4-BE49-F238E27FC236}">
                <a16:creationId xmlns:a16="http://schemas.microsoft.com/office/drawing/2014/main" id="{5CC28DE9-E6ED-4E27-B9E9-EA71033109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1800" y="3861048"/>
            <a:ext cx="2933700" cy="2314575"/>
          </a:xfrm>
          <a:prstGeom prst="rect">
            <a:avLst/>
          </a:prstGeom>
        </p:spPr>
      </p:pic>
      <p:sp>
        <p:nvSpPr>
          <p:cNvPr id="9" name="TextBox 8">
            <a:extLst>
              <a:ext uri="{FF2B5EF4-FFF2-40B4-BE49-F238E27FC236}">
                <a16:creationId xmlns:a16="http://schemas.microsoft.com/office/drawing/2014/main" id="{7B9F518A-52B6-4BF9-914E-3822082BF9CF}"/>
              </a:ext>
            </a:extLst>
          </p:cNvPr>
          <p:cNvSpPr txBox="1"/>
          <p:nvPr/>
        </p:nvSpPr>
        <p:spPr>
          <a:xfrm>
            <a:off x="971600" y="764704"/>
            <a:ext cx="720080" cy="369332"/>
          </a:xfrm>
          <a:prstGeom prst="rect">
            <a:avLst/>
          </a:prstGeom>
          <a:noFill/>
        </p:spPr>
        <p:txBody>
          <a:bodyPr wrap="square" rtlCol="0">
            <a:spAutoFit/>
          </a:bodyPr>
          <a:lstStyle/>
          <a:p>
            <a:r>
              <a:rPr lang="en-AU" dirty="0"/>
              <a:t>2.</a:t>
            </a:r>
          </a:p>
        </p:txBody>
      </p:sp>
      <p:sp>
        <p:nvSpPr>
          <p:cNvPr id="10" name="TextBox 9">
            <a:extLst>
              <a:ext uri="{FF2B5EF4-FFF2-40B4-BE49-F238E27FC236}">
                <a16:creationId xmlns:a16="http://schemas.microsoft.com/office/drawing/2014/main" id="{465526DF-1B25-48D0-8817-F0FF8DAB47F0}"/>
              </a:ext>
            </a:extLst>
          </p:cNvPr>
          <p:cNvSpPr txBox="1"/>
          <p:nvPr/>
        </p:nvSpPr>
        <p:spPr>
          <a:xfrm>
            <a:off x="899592" y="3933056"/>
            <a:ext cx="648072" cy="369332"/>
          </a:xfrm>
          <a:prstGeom prst="rect">
            <a:avLst/>
          </a:prstGeom>
          <a:noFill/>
        </p:spPr>
        <p:txBody>
          <a:bodyPr wrap="square" rtlCol="0">
            <a:spAutoFit/>
          </a:bodyPr>
          <a:lstStyle/>
          <a:p>
            <a:r>
              <a:rPr lang="en-AU" dirty="0"/>
              <a:t>3.</a:t>
            </a:r>
          </a:p>
        </p:txBody>
      </p:sp>
    </p:spTree>
    <p:extLst>
      <p:ext uri="{BB962C8B-B14F-4D97-AF65-F5344CB8AC3E}">
        <p14:creationId xmlns:p14="http://schemas.microsoft.com/office/powerpoint/2010/main" val="5887804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1A079BE-AE50-407A-8AC7-45C4209C36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87823" y="692696"/>
            <a:ext cx="3781985" cy="2592288"/>
          </a:xfrm>
          <a:prstGeom prst="rect">
            <a:avLst/>
          </a:prstGeom>
        </p:spPr>
      </p:pic>
      <p:sp>
        <p:nvSpPr>
          <p:cNvPr id="4" name="TextBox 3">
            <a:extLst>
              <a:ext uri="{FF2B5EF4-FFF2-40B4-BE49-F238E27FC236}">
                <a16:creationId xmlns:a16="http://schemas.microsoft.com/office/drawing/2014/main" id="{5A4EA2A9-F815-43E7-BDFB-B08DF338C3EA}"/>
              </a:ext>
            </a:extLst>
          </p:cNvPr>
          <p:cNvSpPr txBox="1"/>
          <p:nvPr/>
        </p:nvSpPr>
        <p:spPr>
          <a:xfrm>
            <a:off x="539552" y="764704"/>
            <a:ext cx="1008112" cy="369332"/>
          </a:xfrm>
          <a:prstGeom prst="rect">
            <a:avLst/>
          </a:prstGeom>
          <a:noFill/>
        </p:spPr>
        <p:txBody>
          <a:bodyPr wrap="square" rtlCol="0">
            <a:spAutoFit/>
          </a:bodyPr>
          <a:lstStyle/>
          <a:p>
            <a:r>
              <a:rPr lang="en-AU" dirty="0"/>
              <a:t>4.</a:t>
            </a:r>
          </a:p>
        </p:txBody>
      </p:sp>
      <p:sp>
        <p:nvSpPr>
          <p:cNvPr id="5" name="TextBox 4">
            <a:extLst>
              <a:ext uri="{FF2B5EF4-FFF2-40B4-BE49-F238E27FC236}">
                <a16:creationId xmlns:a16="http://schemas.microsoft.com/office/drawing/2014/main" id="{1C4961F6-3EBE-4105-9F29-D9847B01CFD1}"/>
              </a:ext>
            </a:extLst>
          </p:cNvPr>
          <p:cNvSpPr txBox="1"/>
          <p:nvPr/>
        </p:nvSpPr>
        <p:spPr>
          <a:xfrm>
            <a:off x="683568" y="3861048"/>
            <a:ext cx="648072" cy="369332"/>
          </a:xfrm>
          <a:prstGeom prst="rect">
            <a:avLst/>
          </a:prstGeom>
          <a:noFill/>
        </p:spPr>
        <p:txBody>
          <a:bodyPr wrap="square" rtlCol="0">
            <a:spAutoFit/>
          </a:bodyPr>
          <a:lstStyle/>
          <a:p>
            <a:r>
              <a:rPr lang="en-AU" dirty="0"/>
              <a:t>5.</a:t>
            </a:r>
          </a:p>
        </p:txBody>
      </p:sp>
      <p:pic>
        <p:nvPicPr>
          <p:cNvPr id="7" name="Picture 6">
            <a:extLst>
              <a:ext uri="{FF2B5EF4-FFF2-40B4-BE49-F238E27FC236}">
                <a16:creationId xmlns:a16="http://schemas.microsoft.com/office/drawing/2014/main" id="{6113D7A7-73EF-4815-9EED-DD52EC62DC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9792" y="3861048"/>
            <a:ext cx="2207215" cy="2736304"/>
          </a:xfrm>
          <a:prstGeom prst="rect">
            <a:avLst/>
          </a:prstGeom>
        </p:spPr>
      </p:pic>
    </p:spTree>
    <p:extLst>
      <p:ext uri="{BB962C8B-B14F-4D97-AF65-F5344CB8AC3E}">
        <p14:creationId xmlns:p14="http://schemas.microsoft.com/office/powerpoint/2010/main" val="1138613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4EA2A9-F815-43E7-BDFB-B08DF338C3EA}"/>
              </a:ext>
            </a:extLst>
          </p:cNvPr>
          <p:cNvSpPr txBox="1"/>
          <p:nvPr/>
        </p:nvSpPr>
        <p:spPr>
          <a:xfrm>
            <a:off x="539552" y="764704"/>
            <a:ext cx="1728192" cy="369332"/>
          </a:xfrm>
          <a:prstGeom prst="rect">
            <a:avLst/>
          </a:prstGeom>
          <a:noFill/>
        </p:spPr>
        <p:txBody>
          <a:bodyPr wrap="square" rtlCol="0">
            <a:spAutoFit/>
          </a:bodyPr>
          <a:lstStyle/>
          <a:p>
            <a:r>
              <a:rPr lang="en-AU" dirty="0"/>
              <a:t>Answers.</a:t>
            </a:r>
          </a:p>
        </p:txBody>
      </p:sp>
      <p:sp>
        <p:nvSpPr>
          <p:cNvPr id="5" name="TextBox 4">
            <a:extLst>
              <a:ext uri="{FF2B5EF4-FFF2-40B4-BE49-F238E27FC236}">
                <a16:creationId xmlns:a16="http://schemas.microsoft.com/office/drawing/2014/main" id="{1C4961F6-3EBE-4105-9F29-D9847B01CFD1}"/>
              </a:ext>
            </a:extLst>
          </p:cNvPr>
          <p:cNvSpPr txBox="1"/>
          <p:nvPr/>
        </p:nvSpPr>
        <p:spPr>
          <a:xfrm>
            <a:off x="755576" y="1268760"/>
            <a:ext cx="6408712" cy="1477328"/>
          </a:xfrm>
          <a:prstGeom prst="rect">
            <a:avLst/>
          </a:prstGeom>
          <a:noFill/>
        </p:spPr>
        <p:txBody>
          <a:bodyPr wrap="square" rtlCol="0">
            <a:spAutoFit/>
          </a:bodyPr>
          <a:lstStyle/>
          <a:p>
            <a:pPr marL="342900" indent="-342900">
              <a:buAutoNum type="arabicPeriod"/>
            </a:pPr>
            <a:r>
              <a:rPr lang="en-AU" dirty="0"/>
              <a:t>Positive</a:t>
            </a:r>
          </a:p>
          <a:p>
            <a:pPr marL="342900" indent="-342900">
              <a:buAutoNum type="arabicPeriod"/>
            </a:pPr>
            <a:r>
              <a:rPr lang="en-AU" dirty="0"/>
              <a:t>Negative</a:t>
            </a:r>
          </a:p>
          <a:p>
            <a:pPr marL="342900" indent="-342900">
              <a:buAutoNum type="arabicPeriod"/>
            </a:pPr>
            <a:r>
              <a:rPr lang="en-AU" dirty="0"/>
              <a:t>Negative</a:t>
            </a:r>
          </a:p>
          <a:p>
            <a:pPr marL="342900" indent="-342900">
              <a:buAutoNum type="arabicPeriod"/>
            </a:pPr>
            <a:r>
              <a:rPr lang="en-AU" dirty="0"/>
              <a:t>Positive</a:t>
            </a:r>
          </a:p>
          <a:p>
            <a:pPr marL="342900" indent="-342900">
              <a:buAutoNum type="arabicPeriod"/>
            </a:pPr>
            <a:r>
              <a:rPr lang="en-AU" dirty="0"/>
              <a:t>Symmetrical</a:t>
            </a:r>
          </a:p>
        </p:txBody>
      </p:sp>
    </p:spTree>
    <p:extLst>
      <p:ext uri="{BB962C8B-B14F-4D97-AF65-F5344CB8AC3E}">
        <p14:creationId xmlns:p14="http://schemas.microsoft.com/office/powerpoint/2010/main" val="37131525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457596" cy="523220"/>
          </a:xfrm>
          <a:prstGeom prst="rect">
            <a:avLst/>
          </a:prstGeom>
          <a:noFill/>
        </p:spPr>
        <p:txBody>
          <a:bodyPr wrap="none" rtlCol="0">
            <a:spAutoFit/>
          </a:bodyPr>
          <a:lstStyle/>
          <a:p>
            <a:r>
              <a:rPr lang="en-AU" sz="2800" dirty="0"/>
              <a:t>Sources of Data</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93471" y="1078502"/>
            <a:ext cx="8620422" cy="830997"/>
          </a:xfrm>
          <a:prstGeom prst="rect">
            <a:avLst/>
          </a:prstGeom>
          <a:noFill/>
        </p:spPr>
        <p:txBody>
          <a:bodyPr wrap="square" rtlCol="0">
            <a:spAutoFit/>
          </a:bodyPr>
          <a:lstStyle/>
          <a:p>
            <a:r>
              <a:rPr lang="en-AU" sz="2400" dirty="0"/>
              <a:t>EQ – What are the different sources of data and how do we classify them?</a:t>
            </a:r>
          </a:p>
        </p:txBody>
      </p:sp>
      <p:sp>
        <p:nvSpPr>
          <p:cNvPr id="3" name="TextBox 2"/>
          <p:cNvSpPr txBox="1"/>
          <p:nvPr/>
        </p:nvSpPr>
        <p:spPr>
          <a:xfrm>
            <a:off x="181315" y="1961950"/>
            <a:ext cx="2338461" cy="646331"/>
          </a:xfrm>
          <a:prstGeom prst="rect">
            <a:avLst/>
          </a:prstGeom>
          <a:noFill/>
        </p:spPr>
        <p:txBody>
          <a:bodyPr wrap="none" rtlCol="0">
            <a:spAutoFit/>
          </a:bodyPr>
          <a:lstStyle/>
          <a:p>
            <a:r>
              <a:rPr lang="en-AU" dirty="0"/>
              <a:t>What are the different </a:t>
            </a:r>
          </a:p>
          <a:p>
            <a:r>
              <a:rPr lang="en-AU" dirty="0"/>
              <a:t>sources of Data?</a:t>
            </a:r>
          </a:p>
        </p:txBody>
      </p:sp>
      <p:sp>
        <p:nvSpPr>
          <p:cNvPr id="20" name="TextBox 19">
            <a:extLst>
              <a:ext uri="{FF2B5EF4-FFF2-40B4-BE49-F238E27FC236}">
                <a16:creationId xmlns:a16="http://schemas.microsoft.com/office/drawing/2014/main" id="{E778B96C-9116-4ED3-84E5-8F05D2F570F5}"/>
              </a:ext>
            </a:extLst>
          </p:cNvPr>
          <p:cNvSpPr txBox="1"/>
          <p:nvPr/>
        </p:nvSpPr>
        <p:spPr>
          <a:xfrm>
            <a:off x="3059832" y="2132856"/>
            <a:ext cx="5904656" cy="4524315"/>
          </a:xfrm>
          <a:prstGeom prst="rect">
            <a:avLst/>
          </a:prstGeom>
          <a:noFill/>
        </p:spPr>
        <p:txBody>
          <a:bodyPr wrap="square" rtlCol="0">
            <a:spAutoFit/>
          </a:bodyPr>
          <a:lstStyle/>
          <a:p>
            <a:r>
              <a:rPr lang="en-AU" b="1" dirty="0"/>
              <a:t>Primary Sources</a:t>
            </a:r>
          </a:p>
          <a:p>
            <a:r>
              <a:rPr lang="en-AU" dirty="0"/>
              <a:t>A primary source provides direct or firsthand evidence about an event, object, person, or work of art. Primary sources include historical and legal documents, eyewitness accounts, results of experiments, statistical data, pieces of creative writing, audio and video recordings, speeches, and art objects. Interviews, surveys, fieldwork, and Internet communications via email and blogs are also primary sources. </a:t>
            </a:r>
          </a:p>
          <a:p>
            <a:r>
              <a:rPr lang="en-AU" b="1" dirty="0"/>
              <a:t>Secondary Sources</a:t>
            </a:r>
          </a:p>
          <a:p>
            <a:r>
              <a:rPr lang="en-AU" dirty="0"/>
              <a:t>Secondary sources describe, discuss, interpret, comment upon, </a:t>
            </a:r>
            <a:r>
              <a:rPr lang="en-AU" dirty="0" err="1"/>
              <a:t>analyze</a:t>
            </a:r>
            <a:r>
              <a:rPr lang="en-AU" dirty="0"/>
              <a:t>, evaluate, summarize, and process primary sources. Secondary source materials can be articles in newspapers or popular magazines, book or movie reviews, or articles found in scholarly journals that discuss or evaluate someone else's original research.</a:t>
            </a:r>
          </a:p>
        </p:txBody>
      </p:sp>
    </p:spTree>
    <p:extLst>
      <p:ext uri="{BB962C8B-B14F-4D97-AF65-F5344CB8AC3E}">
        <p14:creationId xmlns:p14="http://schemas.microsoft.com/office/powerpoint/2010/main" val="3768113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0E04272-9BC6-4229-B7DC-8EE09BAADC80}"/>
              </a:ext>
            </a:extLst>
          </p:cNvPr>
          <p:cNvSpPr txBox="1"/>
          <p:nvPr/>
        </p:nvSpPr>
        <p:spPr>
          <a:xfrm>
            <a:off x="611559" y="1268760"/>
            <a:ext cx="7370685" cy="646331"/>
          </a:xfrm>
          <a:prstGeom prst="rect">
            <a:avLst/>
          </a:prstGeom>
          <a:noFill/>
        </p:spPr>
        <p:txBody>
          <a:bodyPr wrap="square" rtlCol="0">
            <a:spAutoFit/>
          </a:bodyPr>
          <a:lstStyle/>
          <a:p>
            <a:r>
              <a:rPr lang="en-AU" dirty="0"/>
              <a:t>Complete the exercise on Primary and Secondary Data. Use your notes if you need to.</a:t>
            </a:r>
          </a:p>
        </p:txBody>
      </p:sp>
    </p:spTree>
    <p:extLst>
      <p:ext uri="{BB962C8B-B14F-4D97-AF65-F5344CB8AC3E}">
        <p14:creationId xmlns:p14="http://schemas.microsoft.com/office/powerpoint/2010/main" val="2281303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9592" y="836712"/>
            <a:ext cx="7272808" cy="1200329"/>
          </a:xfrm>
          <a:prstGeom prst="rect">
            <a:avLst/>
          </a:prstGeom>
          <a:noFill/>
        </p:spPr>
        <p:txBody>
          <a:bodyPr wrap="square" rtlCol="0">
            <a:spAutoFit/>
          </a:bodyPr>
          <a:lstStyle/>
          <a:p>
            <a:r>
              <a:rPr lang="en-US" sz="2400" dirty="0"/>
              <a:t>Complete your Summary ensuring you explain the difference between Primary </a:t>
            </a:r>
            <a:r>
              <a:rPr lang="en-US" sz="2400"/>
              <a:t>and Secondary </a:t>
            </a:r>
            <a:r>
              <a:rPr lang="en-US" sz="2400" dirty="0"/>
              <a:t>sources of Data.</a:t>
            </a:r>
          </a:p>
        </p:txBody>
      </p:sp>
    </p:spTree>
    <p:extLst>
      <p:ext uri="{BB962C8B-B14F-4D97-AF65-F5344CB8AC3E}">
        <p14:creationId xmlns:p14="http://schemas.microsoft.com/office/powerpoint/2010/main" val="31302798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Notes Review</a:t>
            </a:r>
          </a:p>
        </p:txBody>
      </p:sp>
      <p:sp>
        <p:nvSpPr>
          <p:cNvPr id="3" name="Content Placeholder 2"/>
          <p:cNvSpPr>
            <a:spLocks noGrp="1"/>
          </p:cNvSpPr>
          <p:nvPr>
            <p:ph idx="1"/>
          </p:nvPr>
        </p:nvSpPr>
        <p:spPr/>
        <p:txBody>
          <a:bodyPr>
            <a:normAutofit fontScale="92500" lnSpcReduction="20000"/>
          </a:bodyPr>
          <a:lstStyle/>
          <a:p>
            <a:r>
              <a:rPr lang="en-AU" dirty="0"/>
              <a:t>24, 7 ,30</a:t>
            </a:r>
          </a:p>
          <a:p>
            <a:r>
              <a:rPr lang="en-AU" dirty="0"/>
              <a:t>Date</a:t>
            </a:r>
          </a:p>
          <a:p>
            <a:r>
              <a:rPr lang="en-AU" dirty="0"/>
              <a:t>Title</a:t>
            </a:r>
          </a:p>
          <a:p>
            <a:r>
              <a:rPr lang="en-AU" dirty="0"/>
              <a:t>Essential question</a:t>
            </a:r>
          </a:p>
          <a:p>
            <a:r>
              <a:rPr lang="en-AU" dirty="0"/>
              <a:t>Notes complete </a:t>
            </a:r>
          </a:p>
          <a:p>
            <a:r>
              <a:rPr lang="en-AU" dirty="0"/>
              <a:t>Notes complete with colour and diagrams</a:t>
            </a:r>
          </a:p>
          <a:p>
            <a:r>
              <a:rPr lang="en-AU" dirty="0"/>
              <a:t>Questions completed</a:t>
            </a:r>
          </a:p>
          <a:p>
            <a:r>
              <a:rPr lang="en-AU" dirty="0"/>
              <a:t>Contents page filed in</a:t>
            </a:r>
          </a:p>
          <a:p>
            <a:r>
              <a:rPr lang="en-AU" dirty="0"/>
              <a:t>Formula page filled in</a:t>
            </a:r>
          </a:p>
          <a:p>
            <a:pPr marL="0" indent="0">
              <a:buNone/>
            </a:pPr>
            <a:endParaRPr lang="en-AU" dirty="0"/>
          </a:p>
          <a:p>
            <a:endParaRPr lang="en-AU" dirty="0"/>
          </a:p>
        </p:txBody>
      </p:sp>
    </p:spTree>
    <p:extLst>
      <p:ext uri="{BB962C8B-B14F-4D97-AF65-F5344CB8AC3E}">
        <p14:creationId xmlns:p14="http://schemas.microsoft.com/office/powerpoint/2010/main" val="30699218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Homework</a:t>
            </a:r>
          </a:p>
        </p:txBody>
      </p:sp>
      <p:sp>
        <p:nvSpPr>
          <p:cNvPr id="3" name="Content Placeholder 2"/>
          <p:cNvSpPr>
            <a:spLocks noGrp="1"/>
          </p:cNvSpPr>
          <p:nvPr>
            <p:ph idx="1"/>
          </p:nvPr>
        </p:nvSpPr>
        <p:spPr/>
        <p:txBody>
          <a:bodyPr/>
          <a:lstStyle/>
          <a:p>
            <a:r>
              <a:rPr lang="en-AU" dirty="0"/>
              <a:t>Review your notes and write a summary answering the essential question. </a:t>
            </a:r>
          </a:p>
        </p:txBody>
      </p:sp>
    </p:spTree>
    <p:extLst>
      <p:ext uri="{BB962C8B-B14F-4D97-AF65-F5344CB8AC3E}">
        <p14:creationId xmlns:p14="http://schemas.microsoft.com/office/powerpoint/2010/main" val="763422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1264</TotalTime>
  <Words>290</Words>
  <Application>Microsoft Office PowerPoint</Application>
  <PresentationFormat>On-screen Show (4:3)</PresentationFormat>
  <Paragraphs>48</Paragraphs>
  <Slides>11</Slides>
  <Notes>0</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Notes Review</vt:lpstr>
      <vt:lpstr>Homework</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Venn Diagrams</dc:title>
  <dc:creator>RUST Joanne</dc:creator>
  <cp:lastModifiedBy>Clem</cp:lastModifiedBy>
  <cp:revision>102</cp:revision>
  <dcterms:created xsi:type="dcterms:W3CDTF">2014-05-14T02:58:57Z</dcterms:created>
  <dcterms:modified xsi:type="dcterms:W3CDTF">2017-07-13T06:43:23Z</dcterms:modified>
</cp:coreProperties>
</file>
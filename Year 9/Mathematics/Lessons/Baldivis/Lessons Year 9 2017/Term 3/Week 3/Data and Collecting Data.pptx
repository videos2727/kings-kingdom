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7" r:id="rId2"/>
    <p:sldId id="258" r:id="rId3"/>
    <p:sldId id="265" r:id="rId4"/>
    <p:sldId id="261" r:id="rId5"/>
    <p:sldId id="266" r:id="rId6"/>
    <p:sldId id="267" r:id="rId7"/>
    <p:sldId id="268" r:id="rId8"/>
    <p:sldId id="269" r:id="rId9"/>
    <p:sldId id="271" r:id="rId10"/>
    <p:sldId id="270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10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D782A7-FBB2-4C01-8B96-7ED282F3F976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5E73DF-2440-4CF1-B2CE-89A1299EF45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9609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230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18634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08964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3131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4075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509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5931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51823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23681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24505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60940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0446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9910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84521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47467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5531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892869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83100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0DEEB-5ADC-4D8E-A8C9-526B3F66113C}" type="datetimeFigureOut">
              <a:rPr lang="en-AU" smtClean="0"/>
              <a:t>31/07/2017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C8DC2-D4AF-47DA-8549-2A713D637BB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8191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Data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87210" y="2348881"/>
            <a:ext cx="10817582" cy="40241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pPr marL="0" indent="0">
              <a:buNone/>
            </a:pPr>
            <a:endParaRPr lang="en-AU" sz="2000" dirty="0">
              <a:latin typeface="Kiwi School Handwriting" panose="00000500000000000000" pitchFamily="2" charset="0"/>
            </a:endParaRPr>
          </a:p>
          <a:p>
            <a:r>
              <a:rPr lang="en-AU" sz="3600" dirty="0">
                <a:latin typeface="Kiwi School Handwriting" panose="00000500000000000000" pitchFamily="2" charset="0"/>
              </a:rPr>
              <a:t>Describe the two types of data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Describe the two types of quantitative data 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List the two ways to collect data</a:t>
            </a:r>
            <a:endParaRPr lang="en-US" sz="36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31E7-40FB-4A9B-BB51-9EA5C9F48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48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What’s the Difference??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CDF56-012A-4B58-8436-A5F3CB3FE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78183"/>
            <a:ext cx="2903561" cy="548640"/>
          </a:xfrm>
          <a:ln>
            <a:solidFill>
              <a:schemeClr val="accent1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r>
              <a:rPr lang="en-AU" dirty="0"/>
              <a:t>Students Heights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628834C-DFFE-46C7-9652-F153BDACDD8B}"/>
              </a:ext>
            </a:extLst>
          </p:cNvPr>
          <p:cNvSpPr txBox="1">
            <a:spLocks/>
          </p:cNvSpPr>
          <p:nvPr/>
        </p:nvSpPr>
        <p:spPr>
          <a:xfrm>
            <a:off x="685799" y="3357122"/>
            <a:ext cx="2903561" cy="54864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Temperature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BA6608-BE78-4870-AFB4-95F7009C9F31}"/>
              </a:ext>
            </a:extLst>
          </p:cNvPr>
          <p:cNvSpPr txBox="1">
            <a:spLocks/>
          </p:cNvSpPr>
          <p:nvPr/>
        </p:nvSpPr>
        <p:spPr>
          <a:xfrm>
            <a:off x="685799" y="4519684"/>
            <a:ext cx="2903561" cy="548640"/>
          </a:xfrm>
          <a:prstGeom prst="rect">
            <a:avLst/>
          </a:prstGeom>
          <a:ln>
            <a:solidFill>
              <a:schemeClr val="accent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Number of People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E94C968-ECDC-4003-9E3E-CADC4E3E54EE}"/>
              </a:ext>
            </a:extLst>
          </p:cNvPr>
          <p:cNvSpPr txBox="1">
            <a:spLocks/>
          </p:cNvSpPr>
          <p:nvPr/>
        </p:nvSpPr>
        <p:spPr>
          <a:xfrm>
            <a:off x="7416421" y="2194560"/>
            <a:ext cx="2903561" cy="54864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Country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C32EE75-7763-4049-AA73-FD23C0617191}"/>
              </a:ext>
            </a:extLst>
          </p:cNvPr>
          <p:cNvSpPr txBox="1">
            <a:spLocks/>
          </p:cNvSpPr>
          <p:nvPr/>
        </p:nvSpPr>
        <p:spPr>
          <a:xfrm>
            <a:off x="7416421" y="3357122"/>
            <a:ext cx="2903561" cy="54864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Gender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7906765-0CF9-4F05-892B-2936B7DBDAA1}"/>
              </a:ext>
            </a:extLst>
          </p:cNvPr>
          <p:cNvSpPr txBox="1">
            <a:spLocks/>
          </p:cNvSpPr>
          <p:nvPr/>
        </p:nvSpPr>
        <p:spPr>
          <a:xfrm>
            <a:off x="7416420" y="4519684"/>
            <a:ext cx="2903561" cy="548640"/>
          </a:xfrm>
          <a:prstGeom prst="rect">
            <a:avLst/>
          </a:prstGeom>
          <a:ln>
            <a:solidFill>
              <a:schemeClr val="accent5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dirty="0"/>
              <a:t>Colour</a:t>
            </a:r>
          </a:p>
        </p:txBody>
      </p:sp>
    </p:spTree>
    <p:extLst>
      <p:ext uri="{BB962C8B-B14F-4D97-AF65-F5344CB8AC3E}">
        <p14:creationId xmlns:p14="http://schemas.microsoft.com/office/powerpoint/2010/main" val="12924833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52847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4416" y="168072"/>
            <a:ext cx="1063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8850" y="137990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36" y="1963367"/>
            <a:ext cx="172000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two types of data?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29397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data and how do we collect data?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1199" y="1552322"/>
            <a:ext cx="3396211" cy="461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DATA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3045E5-BE7A-4CDF-A606-AA950C08A2A7}"/>
              </a:ext>
            </a:extLst>
          </p:cNvPr>
          <p:cNvSpPr txBox="1"/>
          <p:nvPr/>
        </p:nvSpPr>
        <p:spPr>
          <a:xfrm>
            <a:off x="2699790" y="2368200"/>
            <a:ext cx="3396211" cy="4615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Quantitative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D39462-624E-40E8-B075-9D71F37236C9}"/>
              </a:ext>
            </a:extLst>
          </p:cNvPr>
          <p:cNvSpPr txBox="1"/>
          <p:nvPr/>
        </p:nvSpPr>
        <p:spPr>
          <a:xfrm>
            <a:off x="8020744" y="2368201"/>
            <a:ext cx="3396211" cy="4615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Qualitative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BFC5313-953F-490C-8956-98F243ABAD95}"/>
              </a:ext>
            </a:extLst>
          </p:cNvPr>
          <p:cNvCxnSpPr>
            <a:cxnSpLocks/>
          </p:cNvCxnSpPr>
          <p:nvPr/>
        </p:nvCxnSpPr>
        <p:spPr>
          <a:xfrm>
            <a:off x="8277991" y="2013859"/>
            <a:ext cx="138400" cy="35434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4382563-9143-49AF-8182-2C6773EFE15C}"/>
              </a:ext>
            </a:extLst>
          </p:cNvPr>
          <p:cNvCxnSpPr>
            <a:cxnSpLocks/>
          </p:cNvCxnSpPr>
          <p:nvPr/>
        </p:nvCxnSpPr>
        <p:spPr>
          <a:xfrm flipH="1">
            <a:off x="5333698" y="2005215"/>
            <a:ext cx="212985" cy="3552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976D68A4-5B5F-446A-A2E0-C96CCAD4D320}"/>
              </a:ext>
            </a:extLst>
          </p:cNvPr>
          <p:cNvSpPr txBox="1"/>
          <p:nvPr/>
        </p:nvSpPr>
        <p:spPr>
          <a:xfrm>
            <a:off x="2699790" y="3083396"/>
            <a:ext cx="3396211" cy="2676758"/>
          </a:xfrm>
          <a:prstGeom prst="rect">
            <a:avLst/>
          </a:prstGeom>
          <a:noFill/>
          <a:ln w="28575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This type of data is represented by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numbers</a:t>
            </a:r>
          </a:p>
          <a:p>
            <a:pPr algn="ctr"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Example:</a:t>
            </a:r>
          </a:p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Height (2m, 1.4m, 0.9m)</a:t>
            </a:r>
          </a:p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Temperature (23°C)</a:t>
            </a:r>
          </a:p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Number of people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E67D0B-E9A0-4812-879D-F465B9BA9330}"/>
              </a:ext>
            </a:extLst>
          </p:cNvPr>
          <p:cNvSpPr txBox="1"/>
          <p:nvPr/>
        </p:nvSpPr>
        <p:spPr>
          <a:xfrm>
            <a:off x="8020743" y="3083396"/>
            <a:ext cx="3396211" cy="2676758"/>
          </a:xfrm>
          <a:prstGeom prst="rect">
            <a:avLst/>
          </a:prstGeom>
          <a:noFill/>
          <a:ln w="28575">
            <a:solidFill>
              <a:schemeClr val="accent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This type of data is represented by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categories</a:t>
            </a:r>
          </a:p>
          <a:p>
            <a:pPr algn="ctr"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Example:</a:t>
            </a:r>
          </a:p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Country (Africa, Australia)</a:t>
            </a:r>
          </a:p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Gender (female, male)</a:t>
            </a: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4" grpId="0" animBg="1"/>
      <p:bldP spid="15" grpId="0" animBg="1"/>
      <p:bldP spid="29" grpId="0" animBg="1"/>
      <p:bldP spid="3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52847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4416" y="168072"/>
            <a:ext cx="1063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8850" y="137990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87" y="2024457"/>
            <a:ext cx="1720003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two types of data?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29397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data and how do we collect data?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984" y="1513588"/>
            <a:ext cx="4383741" cy="4615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Examples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F4383EE7-61F3-4D69-A8E0-73CCF117BF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644" y="2190050"/>
            <a:ext cx="9470717" cy="140355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764AE20-3B47-493A-8920-3256BC2F1759}"/>
              </a:ext>
            </a:extLst>
          </p:cNvPr>
          <p:cNvSpPr/>
          <p:nvPr/>
        </p:nvSpPr>
        <p:spPr>
          <a:xfrm>
            <a:off x="2338204" y="2590016"/>
            <a:ext cx="3994357" cy="890163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0792DB-DC4A-4615-BA27-FDAD90ADBE94}"/>
              </a:ext>
            </a:extLst>
          </p:cNvPr>
          <p:cNvSpPr/>
          <p:nvPr/>
        </p:nvSpPr>
        <p:spPr>
          <a:xfrm>
            <a:off x="7014782" y="2590016"/>
            <a:ext cx="4203678" cy="890163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2644B-1D28-4D64-8530-B5C84933F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644" y="3993571"/>
            <a:ext cx="7987881" cy="2236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112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2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52847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79540" y="1290934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4416" y="168072"/>
            <a:ext cx="1063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8850" y="137990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36" y="1963367"/>
            <a:ext cx="2010285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two types of Quantitative Data?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29397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data and how do we collect data?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1198" y="1457530"/>
            <a:ext cx="3396211" cy="46153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28575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DATA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C3045E5-BE7A-4CDF-A606-AA950C08A2A7}"/>
              </a:ext>
            </a:extLst>
          </p:cNvPr>
          <p:cNvSpPr txBox="1"/>
          <p:nvPr/>
        </p:nvSpPr>
        <p:spPr>
          <a:xfrm>
            <a:off x="5251197" y="2444947"/>
            <a:ext cx="3396211" cy="4615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28575">
            <a:solidFill>
              <a:schemeClr val="accent3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Quantitative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4382563-9143-49AF-8182-2C6773EFE15C}"/>
              </a:ext>
            </a:extLst>
          </p:cNvPr>
          <p:cNvCxnSpPr>
            <a:cxnSpLocks/>
          </p:cNvCxnSpPr>
          <p:nvPr/>
        </p:nvCxnSpPr>
        <p:spPr>
          <a:xfrm flipH="1">
            <a:off x="6969981" y="1963367"/>
            <a:ext cx="1" cy="4048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D5347F7-4101-4A92-B9A3-A0C5B2C4A934}"/>
              </a:ext>
            </a:extLst>
          </p:cNvPr>
          <p:cNvSpPr txBox="1"/>
          <p:nvPr/>
        </p:nvSpPr>
        <p:spPr>
          <a:xfrm>
            <a:off x="2303662" y="3301745"/>
            <a:ext cx="3396211" cy="461537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Discrete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5B1B64-9A5C-4634-AB22-79976470F052}"/>
              </a:ext>
            </a:extLst>
          </p:cNvPr>
          <p:cNvSpPr txBox="1"/>
          <p:nvPr/>
        </p:nvSpPr>
        <p:spPr>
          <a:xfrm>
            <a:off x="8296922" y="3301745"/>
            <a:ext cx="3396211" cy="4615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Continuous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7A3CE40-F9B7-43E9-9DCB-618E4BB0201C}"/>
              </a:ext>
            </a:extLst>
          </p:cNvPr>
          <p:cNvCxnSpPr>
            <a:cxnSpLocks/>
          </p:cNvCxnSpPr>
          <p:nvPr/>
        </p:nvCxnSpPr>
        <p:spPr>
          <a:xfrm flipH="1">
            <a:off x="5495156" y="2889183"/>
            <a:ext cx="1" cy="4048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EDAA688-E476-48EA-A47F-2D2D58BE9279}"/>
              </a:ext>
            </a:extLst>
          </p:cNvPr>
          <p:cNvCxnSpPr>
            <a:cxnSpLocks/>
          </p:cNvCxnSpPr>
          <p:nvPr/>
        </p:nvCxnSpPr>
        <p:spPr>
          <a:xfrm flipH="1">
            <a:off x="8432566" y="2889182"/>
            <a:ext cx="1" cy="4048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B954818-9FB9-46D1-9DFC-38D82C377D85}"/>
              </a:ext>
            </a:extLst>
          </p:cNvPr>
          <p:cNvSpPr txBox="1"/>
          <p:nvPr/>
        </p:nvSpPr>
        <p:spPr>
          <a:xfrm>
            <a:off x="2312386" y="3957697"/>
            <a:ext cx="3396211" cy="2307555"/>
          </a:xfrm>
          <a:prstGeom prst="rect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This type of data is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counted</a:t>
            </a:r>
          </a:p>
          <a:p>
            <a:pPr algn="ctr"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Example:</a:t>
            </a:r>
          </a:p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TVs in the house</a:t>
            </a:r>
          </a:p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Number of people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314E6CD-0227-43D4-A9D6-34C863D63EB3}"/>
              </a:ext>
            </a:extLst>
          </p:cNvPr>
          <p:cNvSpPr txBox="1"/>
          <p:nvPr/>
        </p:nvSpPr>
        <p:spPr>
          <a:xfrm>
            <a:off x="8296921" y="3957697"/>
            <a:ext cx="3396211" cy="2307555"/>
          </a:xfrm>
          <a:prstGeom prst="rect">
            <a:avLst/>
          </a:prstGeom>
          <a:noFill/>
          <a:ln w="28575">
            <a:solidFill>
              <a:schemeClr val="tx2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This type of data is </a:t>
            </a:r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measured</a:t>
            </a:r>
          </a:p>
          <a:p>
            <a:pPr algn="ctr"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algn="ctr"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Example:</a:t>
            </a:r>
          </a:p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Weight</a:t>
            </a:r>
          </a:p>
          <a:p>
            <a:pPr algn="ctr" defTabSz="914126"/>
            <a:r>
              <a:rPr lang="en-US" sz="2399" dirty="0">
                <a:solidFill>
                  <a:prstClr val="black"/>
                </a:solidFill>
                <a:latin typeface="Calibri" panose="020F0502020204030204"/>
              </a:rPr>
              <a:t>Time to run 100m</a:t>
            </a:r>
          </a:p>
        </p:txBody>
      </p:sp>
    </p:spTree>
    <p:extLst>
      <p:ext uri="{BB962C8B-B14F-4D97-AF65-F5344CB8AC3E}">
        <p14:creationId xmlns:p14="http://schemas.microsoft.com/office/powerpoint/2010/main" val="287797796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21" grpId="0" animBg="1"/>
      <p:bldP spid="22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52847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25199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4416" y="168072"/>
            <a:ext cx="1063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8850" y="137990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29397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data and how do we collect data?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53984" y="1513588"/>
            <a:ext cx="4383741" cy="46153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Examples</a:t>
            </a:r>
            <a:endParaRPr lang="en-US" sz="2399" b="1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099BDC74-0F5C-45E4-ABDF-82F0494C8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745" y="2736174"/>
            <a:ext cx="8529095" cy="214972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F09C9C8-2DA5-4DF8-8C6A-2C43B3D1679A}"/>
              </a:ext>
            </a:extLst>
          </p:cNvPr>
          <p:cNvSpPr txBox="1"/>
          <p:nvPr/>
        </p:nvSpPr>
        <p:spPr>
          <a:xfrm>
            <a:off x="158252" y="2241887"/>
            <a:ext cx="2010285" cy="1569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are the two types of Quantitative Data?</a:t>
            </a:r>
          </a:p>
        </p:txBody>
      </p:sp>
    </p:spTree>
    <p:extLst>
      <p:ext uri="{BB962C8B-B14F-4D97-AF65-F5344CB8AC3E}">
        <p14:creationId xmlns:p14="http://schemas.microsoft.com/office/powerpoint/2010/main" val="2261070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52847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79540" y="1290934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4416" y="168072"/>
            <a:ext cx="1063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8850" y="137990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536" y="1963367"/>
            <a:ext cx="2010285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we collect data?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29397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data and how do we collect data?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9630" y="1501830"/>
            <a:ext cx="4622489" cy="1199944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/>
              </a:rPr>
              <a:t>Collecting Data</a:t>
            </a:r>
          </a:p>
          <a:p>
            <a:pPr defTabSz="914126"/>
            <a:endParaRPr lang="en-AU" sz="2399" b="1" dirty="0">
              <a:solidFill>
                <a:prstClr val="black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There are two ways to collect data: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496F6537-7DB1-4769-8358-B7A56AC95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359" y="3212464"/>
            <a:ext cx="3571875" cy="15144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B68163F-3DE9-4A6F-A2B8-87A9E2EA5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6729" y="1626690"/>
            <a:ext cx="3571875" cy="1504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99927FD-C486-44AE-B074-FDA99977CB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932" y="3418140"/>
            <a:ext cx="3009900" cy="13049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362BAC-AA0C-4CB6-A871-291764A54C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3932" y="4862015"/>
            <a:ext cx="2981325" cy="1828800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868AC0E-4214-4514-9B35-92E780E15130}"/>
              </a:ext>
            </a:extLst>
          </p:cNvPr>
          <p:cNvCxnSpPr>
            <a:cxnSpLocks/>
          </p:cNvCxnSpPr>
          <p:nvPr/>
        </p:nvCxnSpPr>
        <p:spPr>
          <a:xfrm>
            <a:off x="9534594" y="4645687"/>
            <a:ext cx="2" cy="236033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DF529AC-C9D2-416B-AD2C-0B6C8956B2EE}"/>
              </a:ext>
            </a:extLst>
          </p:cNvPr>
          <p:cNvCxnSpPr>
            <a:cxnSpLocks/>
          </p:cNvCxnSpPr>
          <p:nvPr/>
        </p:nvCxnSpPr>
        <p:spPr>
          <a:xfrm>
            <a:off x="9250268" y="3082671"/>
            <a:ext cx="0" cy="384011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4182A85A-FCD1-427A-A575-0A6708A54382}"/>
              </a:ext>
            </a:extLst>
          </p:cNvPr>
          <p:cNvSpPr/>
          <p:nvPr/>
        </p:nvSpPr>
        <p:spPr>
          <a:xfrm>
            <a:off x="2793763" y="5176250"/>
            <a:ext cx="4608736" cy="120032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chemeClr val="accent6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AU" sz="2400" b="1" dirty="0"/>
              <a:t>A census is more accurate but samples are quicker and cheaper.</a:t>
            </a:r>
          </a:p>
        </p:txBody>
      </p:sp>
      <p:sp>
        <p:nvSpPr>
          <p:cNvPr id="42" name="AutoShape 2" descr="Image result for number 1">
            <a:extLst>
              <a:ext uri="{FF2B5EF4-FFF2-40B4-BE49-F238E27FC236}">
                <a16:creationId xmlns:a16="http://schemas.microsoft.com/office/drawing/2014/main" id="{DA9A109A-DE27-4CCE-A7B1-0A4910CAAB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9525" y="1719263"/>
            <a:ext cx="45529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43" name="AutoShape 4" descr="Image result for number 1">
            <a:extLst>
              <a:ext uri="{FF2B5EF4-FFF2-40B4-BE49-F238E27FC236}">
                <a16:creationId xmlns:a16="http://schemas.microsoft.com/office/drawing/2014/main" id="{1631FA83-82EE-4253-BA0E-3DB18B97215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71925" y="1871663"/>
            <a:ext cx="45529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1030" name="Picture 6" descr="Number 1 Pink And White Polkadot Clip Art">
            <a:extLst>
              <a:ext uri="{FF2B5EF4-FFF2-40B4-BE49-F238E27FC236}">
                <a16:creationId xmlns:a16="http://schemas.microsoft.com/office/drawing/2014/main" id="{867337FB-1CC9-43A6-A015-87A735A3A5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7659" y="2683391"/>
            <a:ext cx="519665" cy="8964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number 2">
            <a:extLst>
              <a:ext uri="{FF2B5EF4-FFF2-40B4-BE49-F238E27FC236}">
                <a16:creationId xmlns:a16="http://schemas.microsoft.com/office/drawing/2014/main" id="{EC7FCE7B-2219-42F2-936E-5BFDB2A8F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7897" y="1179535"/>
            <a:ext cx="481934" cy="795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6808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2E96548-3B44-4C24-BDE8-C4E05CAFF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657" y="983515"/>
            <a:ext cx="7826370" cy="503514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9F6F4A-8A99-4522-B8B4-EA7F5F426F96}"/>
              </a:ext>
            </a:extLst>
          </p:cNvPr>
          <p:cNvSpPr txBox="1"/>
          <p:nvPr/>
        </p:nvSpPr>
        <p:spPr>
          <a:xfrm>
            <a:off x="300251" y="6265803"/>
            <a:ext cx="7342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FF0000"/>
                </a:solidFill>
              </a:rPr>
              <a:t>a) Census		b) Sample	c) Sample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D83695-87B7-46D1-B5AE-61EA46FC65AD}"/>
              </a:ext>
            </a:extLst>
          </p:cNvPr>
          <p:cNvSpPr txBox="1"/>
          <p:nvPr/>
        </p:nvSpPr>
        <p:spPr>
          <a:xfrm>
            <a:off x="9815621" y="288357"/>
            <a:ext cx="17492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590095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52847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416" y="168072"/>
            <a:ext cx="1063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18850" y="137990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29397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What are the different types of data and how do we collect data?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AutoShape 2" descr="Image result for number 1">
            <a:extLst>
              <a:ext uri="{FF2B5EF4-FFF2-40B4-BE49-F238E27FC236}">
                <a16:creationId xmlns:a16="http://schemas.microsoft.com/office/drawing/2014/main" id="{DA9A109A-DE27-4CCE-A7B1-0A4910CAAB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819525" y="1719263"/>
            <a:ext cx="4552950" cy="3419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7424EE-AAC7-4425-936B-0DDCE8DE50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42" y="1711534"/>
            <a:ext cx="11712572" cy="257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3077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188640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Task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79386" y="2150408"/>
            <a:ext cx="7806309" cy="2503479"/>
          </a:xfrm>
        </p:spPr>
        <p:txBody>
          <a:bodyPr>
            <a:normAutofit/>
          </a:bodyPr>
          <a:lstStyle/>
          <a:p>
            <a:r>
              <a:rPr lang="en-AU" sz="3600" dirty="0"/>
              <a:t>Complete the worksheet</a:t>
            </a:r>
          </a:p>
          <a:p>
            <a:r>
              <a:rPr lang="en-AU" sz="3600" dirty="0"/>
              <a:t>Complete your summary on types of data and how to collect data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1140</TotalTime>
  <Words>368</Words>
  <Application>Microsoft Office PowerPoint</Application>
  <PresentationFormat>Widescreen</PresentationFormat>
  <Paragraphs>99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DJB Fancy Nancy</vt:lpstr>
      <vt:lpstr>Kiwi School Handwriting</vt:lpstr>
      <vt:lpstr>Vapor Trail</vt:lpstr>
      <vt:lpstr>Data</vt:lpstr>
      <vt:lpstr>Learning Intentions</vt:lpstr>
      <vt:lpstr>What’s the Difference??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Nine Labuschagne</dc:creator>
  <cp:lastModifiedBy>Nine Labuschagne</cp:lastModifiedBy>
  <cp:revision>20</cp:revision>
  <dcterms:created xsi:type="dcterms:W3CDTF">2017-07-31T04:58:11Z</dcterms:created>
  <dcterms:modified xsi:type="dcterms:W3CDTF">2017-07-31T23:58:31Z</dcterms:modified>
</cp:coreProperties>
</file>
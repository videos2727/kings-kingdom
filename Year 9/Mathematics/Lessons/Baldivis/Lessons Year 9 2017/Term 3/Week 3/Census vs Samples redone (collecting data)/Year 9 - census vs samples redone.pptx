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
  </p:notesMasterIdLst>
  <p:sldIdLst>
    <p:sldId id="262" r:id="rId2"/>
    <p:sldId id="263" r:id="rId3"/>
    <p:sldId id="265" r:id="rId4"/>
    <p:sldId id="259" r:id="rId5"/>
    <p:sldId id="264" r:id="rId6"/>
    <p:sldId id="266" r:id="rId7"/>
    <p:sldId id="267" r:id="rId8"/>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0300" autoAdjust="0"/>
  </p:normalViewPr>
  <p:slideViewPr>
    <p:cSldViewPr snapToGrid="0">
      <p:cViewPr varScale="1">
        <p:scale>
          <a:sx n="69" d="100"/>
          <a:sy n="69" d="100"/>
        </p:scale>
        <p:origin x="144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E90999-B843-4483-B8C3-3455D48CFAB2}" type="datetimeFigureOut">
              <a:rPr lang="en-AU" smtClean="0"/>
              <a:t>31/07/2017</a:t>
            </a:fld>
            <a:endParaRPr lang="en-AU"/>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A827D0-7F84-4D6C-8395-CE2E6CC05BAF}" type="slidenum">
              <a:rPr lang="en-AU" smtClean="0"/>
              <a:t>‹#›</a:t>
            </a:fld>
            <a:endParaRPr lang="en-AU"/>
          </a:p>
        </p:txBody>
      </p:sp>
    </p:spTree>
    <p:extLst>
      <p:ext uri="{BB962C8B-B14F-4D97-AF65-F5344CB8AC3E}">
        <p14:creationId xmlns:p14="http://schemas.microsoft.com/office/powerpoint/2010/main" val="3025908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Idea is to discuss the data and then ask the question, where does this data come from, is it reliable and what would this data be used for?</a:t>
            </a:r>
          </a:p>
        </p:txBody>
      </p:sp>
      <p:sp>
        <p:nvSpPr>
          <p:cNvPr id="4" name="Slide Number Placeholder 3"/>
          <p:cNvSpPr>
            <a:spLocks noGrp="1"/>
          </p:cNvSpPr>
          <p:nvPr>
            <p:ph type="sldNum" sz="quarter" idx="10"/>
          </p:nvPr>
        </p:nvSpPr>
        <p:spPr/>
        <p:txBody>
          <a:bodyPr/>
          <a:lstStyle/>
          <a:p>
            <a:fld id="{DAA827D0-7F84-4D6C-8395-CE2E6CC05BAF}" type="slidenum">
              <a:rPr lang="en-AU" smtClean="0"/>
              <a:t>1</a:t>
            </a:fld>
            <a:endParaRPr lang="en-AU"/>
          </a:p>
        </p:txBody>
      </p:sp>
    </p:spTree>
    <p:extLst>
      <p:ext uri="{BB962C8B-B14F-4D97-AF65-F5344CB8AC3E}">
        <p14:creationId xmlns:p14="http://schemas.microsoft.com/office/powerpoint/2010/main" val="74918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Discuss that in this case the median and the mode are the measures that were used to help determine the typical Aussie</a:t>
            </a:r>
          </a:p>
        </p:txBody>
      </p:sp>
      <p:sp>
        <p:nvSpPr>
          <p:cNvPr id="4" name="Slide Number Placeholder 3"/>
          <p:cNvSpPr>
            <a:spLocks noGrp="1"/>
          </p:cNvSpPr>
          <p:nvPr>
            <p:ph type="sldNum" sz="quarter" idx="10"/>
          </p:nvPr>
        </p:nvSpPr>
        <p:spPr/>
        <p:txBody>
          <a:bodyPr/>
          <a:lstStyle/>
          <a:p>
            <a:fld id="{DAA827D0-7F84-4D6C-8395-CE2E6CC05BAF}" type="slidenum">
              <a:rPr lang="en-AU" smtClean="0"/>
              <a:t>2</a:t>
            </a:fld>
            <a:endParaRPr lang="en-AU"/>
          </a:p>
        </p:txBody>
      </p:sp>
    </p:spTree>
    <p:extLst>
      <p:ext uri="{BB962C8B-B14F-4D97-AF65-F5344CB8AC3E}">
        <p14:creationId xmlns:p14="http://schemas.microsoft.com/office/powerpoint/2010/main" val="1424508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47BE6B-52E9-4DB5-9634-6473640C7AC5}" type="datetimeFigureOut">
              <a:rPr lang="en-AU" smtClean="0"/>
              <a:t>31/07/2017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2513558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47BE6B-52E9-4DB5-9634-6473640C7AC5}" type="datetimeFigureOut">
              <a:rPr lang="en-AU" smtClean="0"/>
              <a:t>31/07/2017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3210432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747BE6B-52E9-4DB5-9634-6473640C7AC5}" type="datetimeFigureOut">
              <a:rPr lang="en-AU" smtClean="0"/>
              <a:t>31/07/2017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5764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47BE6B-52E9-4DB5-9634-6473640C7AC5}" type="datetimeFigureOut">
              <a:rPr lang="en-AU" smtClean="0"/>
              <a:t>31/07/2017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722398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47BE6B-52E9-4DB5-9634-6473640C7AC5}" type="datetimeFigureOut">
              <a:rPr lang="en-AU" smtClean="0"/>
              <a:t>31/07/2017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2477736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47BE6B-52E9-4DB5-9634-6473640C7AC5}" type="datetimeFigureOut">
              <a:rPr lang="en-AU" smtClean="0"/>
              <a:t>31/07/2017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924277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47BE6B-52E9-4DB5-9634-6473640C7AC5}" type="datetimeFigureOut">
              <a:rPr lang="en-AU" smtClean="0"/>
              <a:t>31/07/2017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134148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747BE6B-52E9-4DB5-9634-6473640C7AC5}" type="datetimeFigureOut">
              <a:rPr lang="en-AU" smtClean="0"/>
              <a:t>31/07/2017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4027499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747BE6B-52E9-4DB5-9634-6473640C7AC5}" type="datetimeFigureOut">
              <a:rPr lang="en-AU" smtClean="0"/>
              <a:t>31/07/2017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16375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47BE6B-52E9-4DB5-9634-6473640C7AC5}" type="datetimeFigureOut">
              <a:rPr lang="en-AU" smtClean="0"/>
              <a:t>31/07/2017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149972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47BE6B-52E9-4DB5-9634-6473640C7AC5}" type="datetimeFigureOut">
              <a:rPr lang="en-AU" smtClean="0"/>
              <a:t>31/07/2017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486973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1747BE6B-52E9-4DB5-9634-6473640C7AC5}" type="datetimeFigureOut">
              <a:rPr lang="en-AU" smtClean="0"/>
              <a:t>31/07/2017</a:t>
            </a:fld>
            <a:endParaRPr lang="en-AU"/>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992F4BB7-8858-40E3-A382-04ACA57A5EFC}" type="slidenum">
              <a:rPr lang="en-AU" smtClean="0"/>
              <a:t>‹#›</a:t>
            </a:fld>
            <a:endParaRPr lang="en-AU"/>
          </a:p>
        </p:txBody>
      </p:sp>
    </p:spTree>
    <p:extLst>
      <p:ext uri="{BB962C8B-B14F-4D97-AF65-F5344CB8AC3E}">
        <p14:creationId xmlns:p14="http://schemas.microsoft.com/office/powerpoint/2010/main" val="422952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026E4-B35A-452B-A2B7-5A00063DD257}"/>
              </a:ext>
            </a:extLst>
          </p:cNvPr>
          <p:cNvSpPr/>
          <p:nvPr/>
        </p:nvSpPr>
        <p:spPr>
          <a:xfrm>
            <a:off x="120475" y="173875"/>
            <a:ext cx="8878957" cy="4031873"/>
          </a:xfrm>
          <a:prstGeom prst="rect">
            <a:avLst/>
          </a:prstGeom>
        </p:spPr>
        <p:txBody>
          <a:bodyPr wrap="square">
            <a:spAutoFit/>
          </a:bodyPr>
          <a:lstStyle/>
          <a:p>
            <a:r>
              <a:rPr lang="en-AU" sz="1600" b="1" dirty="0"/>
              <a:t>Who was the ‘typical’ Australian in 2016?</a:t>
            </a:r>
            <a:br>
              <a:rPr lang="en-AU" sz="1600" dirty="0"/>
            </a:br>
            <a:r>
              <a:rPr lang="en-AU" sz="1600" dirty="0"/>
              <a:t>The ‘typical’ Australian is a 38 year old female. A decade ago, the ‘typical’ Australian would have been a year younger.  In 1911 the ‘typical’ Aussie was a 24 year old male, but women have outnumbered men since 1979.</a:t>
            </a:r>
            <a:br>
              <a:rPr lang="en-AU" sz="1600" dirty="0"/>
            </a:br>
            <a:br>
              <a:rPr lang="en-AU" sz="1600" dirty="0"/>
            </a:br>
            <a:r>
              <a:rPr lang="en-AU" sz="1600" dirty="0"/>
              <a:t>The ‘typical’ Aboriginal and/or Torres Strait Islander person is also female, but she’s younger: 23 years old, in fact.</a:t>
            </a:r>
            <a:br>
              <a:rPr lang="en-AU" sz="1600" dirty="0"/>
            </a:br>
            <a:br>
              <a:rPr lang="en-AU" sz="1600" dirty="0"/>
            </a:br>
            <a:r>
              <a:rPr lang="en-AU" sz="1600" dirty="0"/>
              <a:t>The ‘typical’ Australian male or female was born in Australia, has English ancestry and parents also born in Australia. But while the ‘typical’ Australian has parents born in Australia, if you are from New South Wales, Victoria or Western Australia your actually most likely to have at least one parent who was born overseas.</a:t>
            </a:r>
            <a:br>
              <a:rPr lang="en-AU" sz="1600" dirty="0"/>
            </a:br>
            <a:br>
              <a:rPr lang="en-AU" sz="1600" dirty="0"/>
            </a:br>
            <a:r>
              <a:rPr lang="en-AU" sz="1600" dirty="0"/>
              <a:t>The ‘typical’ Aussie male is 37 years old and spends less than five hours a week on domestic work. The ‘typical’ Aussie female is 38 years old and spends between five and 14 hours a week on domestic work.</a:t>
            </a:r>
            <a:br>
              <a:rPr lang="en-AU" sz="1600" dirty="0"/>
            </a:br>
            <a:endParaRPr lang="en-AU" sz="1600" dirty="0"/>
          </a:p>
        </p:txBody>
      </p:sp>
      <p:sp>
        <p:nvSpPr>
          <p:cNvPr id="3" name="TextBox 2">
            <a:extLst>
              <a:ext uri="{FF2B5EF4-FFF2-40B4-BE49-F238E27FC236}">
                <a16:creationId xmlns:a16="http://schemas.microsoft.com/office/drawing/2014/main" id="{0A330253-C1DF-444A-99D6-CA121AD3EA44}"/>
              </a:ext>
            </a:extLst>
          </p:cNvPr>
          <p:cNvSpPr txBox="1"/>
          <p:nvPr/>
        </p:nvSpPr>
        <p:spPr>
          <a:xfrm>
            <a:off x="603577" y="4439789"/>
            <a:ext cx="8395855" cy="923330"/>
          </a:xfrm>
          <a:prstGeom prst="rect">
            <a:avLst/>
          </a:prstGeom>
          <a:noFill/>
        </p:spPr>
        <p:txBody>
          <a:bodyPr wrap="square" rtlCol="0">
            <a:spAutoFit/>
          </a:bodyPr>
          <a:lstStyle/>
          <a:p>
            <a:r>
              <a:rPr lang="en-AU" dirty="0"/>
              <a:t>How do we know all this? Where does this information come from?</a:t>
            </a:r>
          </a:p>
          <a:p>
            <a:endParaRPr lang="en-AU" dirty="0"/>
          </a:p>
          <a:p>
            <a:r>
              <a:rPr lang="en-AU" dirty="0"/>
              <a:t>How can this information be used? </a:t>
            </a:r>
          </a:p>
        </p:txBody>
      </p:sp>
    </p:spTree>
    <p:extLst>
      <p:ext uri="{BB962C8B-B14F-4D97-AF65-F5344CB8AC3E}">
        <p14:creationId xmlns:p14="http://schemas.microsoft.com/office/powerpoint/2010/main" val="78150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491244-8418-423F-BAEB-C1A2DD84CDC0}"/>
              </a:ext>
            </a:extLst>
          </p:cNvPr>
          <p:cNvPicPr>
            <a:picLocks noChangeAspect="1"/>
          </p:cNvPicPr>
          <p:nvPr/>
        </p:nvPicPr>
        <p:blipFill>
          <a:blip r:embed="rId3"/>
          <a:stretch>
            <a:fillRect/>
          </a:stretch>
        </p:blipFill>
        <p:spPr>
          <a:xfrm>
            <a:off x="1090793" y="159141"/>
            <a:ext cx="6213256" cy="5028525"/>
          </a:xfrm>
          <a:prstGeom prst="rect">
            <a:avLst/>
          </a:prstGeom>
        </p:spPr>
      </p:pic>
      <p:sp>
        <p:nvSpPr>
          <p:cNvPr id="3" name="TextBox 2">
            <a:extLst>
              <a:ext uri="{FF2B5EF4-FFF2-40B4-BE49-F238E27FC236}">
                <a16:creationId xmlns:a16="http://schemas.microsoft.com/office/drawing/2014/main" id="{AD9182C2-3B82-4146-BF49-CE03E2CB395B}"/>
              </a:ext>
            </a:extLst>
          </p:cNvPr>
          <p:cNvSpPr txBox="1"/>
          <p:nvPr/>
        </p:nvSpPr>
        <p:spPr>
          <a:xfrm>
            <a:off x="1090793" y="5340092"/>
            <a:ext cx="8423564" cy="369332"/>
          </a:xfrm>
          <a:prstGeom prst="rect">
            <a:avLst/>
          </a:prstGeom>
          <a:noFill/>
        </p:spPr>
        <p:txBody>
          <a:bodyPr wrap="square" rtlCol="0">
            <a:spAutoFit/>
          </a:bodyPr>
          <a:lstStyle/>
          <a:p>
            <a:r>
              <a:rPr lang="en-AU" dirty="0"/>
              <a:t>What are the 2 measures that were used to create this data?</a:t>
            </a:r>
          </a:p>
        </p:txBody>
      </p:sp>
    </p:spTree>
    <p:extLst>
      <p:ext uri="{BB962C8B-B14F-4D97-AF65-F5344CB8AC3E}">
        <p14:creationId xmlns:p14="http://schemas.microsoft.com/office/powerpoint/2010/main" val="23656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3406C-1569-48AE-AF99-9A221AE4D047}"/>
              </a:ext>
            </a:extLst>
          </p:cNvPr>
          <p:cNvSpPr txBox="1"/>
          <p:nvPr/>
        </p:nvSpPr>
        <p:spPr>
          <a:xfrm>
            <a:off x="604781" y="734442"/>
            <a:ext cx="8693426" cy="2800767"/>
          </a:xfrm>
          <a:prstGeom prst="rect">
            <a:avLst/>
          </a:prstGeom>
          <a:noFill/>
        </p:spPr>
        <p:txBody>
          <a:bodyPr wrap="square" rtlCol="0">
            <a:spAutoFit/>
          </a:bodyPr>
          <a:lstStyle/>
          <a:p>
            <a:r>
              <a:rPr lang="en-AU" sz="3200" dirty="0"/>
              <a:t>Quick Write.</a:t>
            </a:r>
          </a:p>
          <a:p>
            <a:r>
              <a:rPr lang="en-AU" dirty="0"/>
              <a:t>What do you think a Census is?  </a:t>
            </a:r>
          </a:p>
          <a:p>
            <a:endParaRPr lang="en-AU" dirty="0"/>
          </a:p>
          <a:p>
            <a:endParaRPr lang="en-AU" dirty="0"/>
          </a:p>
          <a:p>
            <a:r>
              <a:rPr lang="en-AU" dirty="0"/>
              <a:t>What are the advantages and disadvantages to a census?</a:t>
            </a:r>
          </a:p>
          <a:p>
            <a:endParaRPr lang="en-AU" dirty="0"/>
          </a:p>
          <a:p>
            <a:endParaRPr lang="en-AU" dirty="0"/>
          </a:p>
          <a:p>
            <a:endParaRPr lang="en-AU" dirty="0"/>
          </a:p>
          <a:p>
            <a:r>
              <a:rPr lang="en-AU" dirty="0"/>
              <a:t>What is the alternative?</a:t>
            </a:r>
          </a:p>
        </p:txBody>
      </p:sp>
    </p:spTree>
    <p:extLst>
      <p:ext uri="{BB962C8B-B14F-4D97-AF65-F5344CB8AC3E}">
        <p14:creationId xmlns:p14="http://schemas.microsoft.com/office/powerpoint/2010/main" val="2068686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66907" y="585845"/>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66907" y="1111076"/>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42222" y="-172158"/>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a:cxnSpLocks/>
          </p:cNvCxnSpPr>
          <p:nvPr/>
        </p:nvCxnSpPr>
        <p:spPr>
          <a:xfrm>
            <a:off x="1650299" y="1111076"/>
            <a:ext cx="1" cy="4576133"/>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241388" y="-74869"/>
            <a:ext cx="1584176" cy="461665"/>
          </a:xfrm>
          <a:prstGeom prst="rect">
            <a:avLst/>
          </a:prstGeom>
          <a:noFill/>
        </p:spPr>
        <p:txBody>
          <a:bodyPr wrap="square" rtlCol="0">
            <a:spAutoFit/>
          </a:bodyPr>
          <a:lstStyle/>
          <a:p>
            <a:r>
              <a:rPr lang="en-AU" sz="2400" dirty="0"/>
              <a:t>Date</a:t>
            </a:r>
          </a:p>
        </p:txBody>
      </p:sp>
      <p:sp>
        <p:nvSpPr>
          <p:cNvPr id="3" name="TextBox 2"/>
          <p:cNvSpPr txBox="1"/>
          <p:nvPr/>
        </p:nvSpPr>
        <p:spPr>
          <a:xfrm>
            <a:off x="988328" y="8329"/>
            <a:ext cx="1794530" cy="523220"/>
          </a:xfrm>
          <a:prstGeom prst="rect">
            <a:avLst/>
          </a:prstGeom>
          <a:noFill/>
        </p:spPr>
        <p:txBody>
          <a:bodyPr wrap="none" rtlCol="0">
            <a:spAutoFit/>
          </a:bodyPr>
          <a:lstStyle/>
          <a:p>
            <a:r>
              <a:rPr lang="en-AU" sz="2800" dirty="0"/>
              <a:t>Topic: Data</a:t>
            </a:r>
          </a:p>
        </p:txBody>
      </p:sp>
      <p:sp>
        <p:nvSpPr>
          <p:cNvPr id="8" name="Rectangle 7"/>
          <p:cNvSpPr/>
          <p:nvPr/>
        </p:nvSpPr>
        <p:spPr>
          <a:xfrm>
            <a:off x="1885593" y="1165752"/>
            <a:ext cx="7519736" cy="4524315"/>
          </a:xfrm>
          <a:prstGeom prst="rect">
            <a:avLst/>
          </a:prstGeom>
        </p:spPr>
        <p:txBody>
          <a:bodyPr wrap="square">
            <a:spAutoFit/>
          </a:bodyPr>
          <a:lstStyle/>
          <a:p>
            <a:r>
              <a:rPr lang="en-AU" dirty="0"/>
              <a:t>In a </a:t>
            </a:r>
            <a:r>
              <a:rPr lang="en-AU" b="1" dirty="0"/>
              <a:t>census, </a:t>
            </a:r>
            <a:r>
              <a:rPr lang="en-AU" dirty="0"/>
              <a:t>everyone in a population is surveyed. </a:t>
            </a:r>
          </a:p>
          <a:p>
            <a:r>
              <a:rPr lang="en-AU" dirty="0"/>
              <a:t>In a </a:t>
            </a:r>
            <a:r>
              <a:rPr lang="en-AU" b="1" dirty="0"/>
              <a:t>sample</a:t>
            </a:r>
            <a:r>
              <a:rPr lang="en-AU" dirty="0"/>
              <a:t>, only a section of the population is surveyed. The larger the sample size, the more accurate it is.</a:t>
            </a:r>
          </a:p>
          <a:p>
            <a:r>
              <a:rPr lang="en-AU" dirty="0"/>
              <a:t>	</a:t>
            </a:r>
          </a:p>
          <a:p>
            <a:r>
              <a:rPr lang="en-AU" dirty="0"/>
              <a:t>	</a:t>
            </a:r>
          </a:p>
          <a:p>
            <a:endParaRPr lang="en-AU" dirty="0"/>
          </a:p>
          <a:p>
            <a:endParaRPr lang="en-AU" b="1" dirty="0"/>
          </a:p>
          <a:p>
            <a:endParaRPr lang="en-AU" b="1" dirty="0"/>
          </a:p>
          <a:p>
            <a:endParaRPr lang="en-AU" b="1" dirty="0"/>
          </a:p>
          <a:p>
            <a:endParaRPr lang="en-AU" b="1" dirty="0"/>
          </a:p>
          <a:p>
            <a:r>
              <a:rPr lang="en-AU" b="1" dirty="0"/>
              <a:t>A census is more accurate but samples are quicker and cheaper.</a:t>
            </a:r>
          </a:p>
          <a:p>
            <a:r>
              <a:rPr lang="en-AU" b="1" dirty="0"/>
              <a:t>Examples.</a:t>
            </a:r>
          </a:p>
          <a:p>
            <a:r>
              <a:rPr lang="en-AU" dirty="0"/>
              <a:t>	A survey of year 9 students is conducted and everyone is asked to respond is an example of a census of all year 9 students.</a:t>
            </a:r>
          </a:p>
          <a:p>
            <a:r>
              <a:rPr lang="en-AU" dirty="0"/>
              <a:t>	A phone survey is conducted where every 20</a:t>
            </a:r>
            <a:r>
              <a:rPr lang="en-AU" baseline="30000" dirty="0"/>
              <a:t>th</a:t>
            </a:r>
            <a:r>
              <a:rPr lang="en-AU" dirty="0"/>
              <a:t> person is called is an example of a sample.</a:t>
            </a:r>
          </a:p>
        </p:txBody>
      </p:sp>
      <p:sp>
        <p:nvSpPr>
          <p:cNvPr id="10" name="TextBox 9">
            <a:extLst>
              <a:ext uri="{FF2B5EF4-FFF2-40B4-BE49-F238E27FC236}">
                <a16:creationId xmlns:a16="http://schemas.microsoft.com/office/drawing/2014/main" id="{A2172EFF-D2C1-402F-829E-0E11550D1BA5}"/>
              </a:ext>
            </a:extLst>
          </p:cNvPr>
          <p:cNvSpPr txBox="1"/>
          <p:nvPr/>
        </p:nvSpPr>
        <p:spPr>
          <a:xfrm>
            <a:off x="254866" y="625563"/>
            <a:ext cx="8137792" cy="461665"/>
          </a:xfrm>
          <a:prstGeom prst="rect">
            <a:avLst/>
          </a:prstGeom>
          <a:noFill/>
        </p:spPr>
        <p:txBody>
          <a:bodyPr wrap="square" rtlCol="0">
            <a:spAutoFit/>
          </a:bodyPr>
          <a:lstStyle/>
          <a:p>
            <a:r>
              <a:rPr lang="en-AU" sz="2400" dirty="0"/>
              <a:t>EQ – How can you create a fair survey of a population.</a:t>
            </a:r>
          </a:p>
        </p:txBody>
      </p:sp>
      <p:pic>
        <p:nvPicPr>
          <p:cNvPr id="14" name="Picture 13">
            <a:extLst>
              <a:ext uri="{FF2B5EF4-FFF2-40B4-BE49-F238E27FC236}">
                <a16:creationId xmlns:a16="http://schemas.microsoft.com/office/drawing/2014/main" id="{7584CFB3-6ECC-4B9B-8154-0DC86345A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0319" y="2002884"/>
            <a:ext cx="3701069" cy="1742055"/>
          </a:xfrm>
          <a:prstGeom prst="rect">
            <a:avLst/>
          </a:prstGeom>
        </p:spPr>
      </p:pic>
    </p:spTree>
    <p:extLst>
      <p:ext uri="{BB962C8B-B14F-4D97-AF65-F5344CB8AC3E}">
        <p14:creationId xmlns:p14="http://schemas.microsoft.com/office/powerpoint/2010/main" val="2095624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06573E-1523-44ED-8356-0D540F1034DD}"/>
              </a:ext>
            </a:extLst>
          </p:cNvPr>
          <p:cNvPicPr>
            <a:picLocks noChangeAspect="1"/>
          </p:cNvPicPr>
          <p:nvPr/>
        </p:nvPicPr>
        <p:blipFill>
          <a:blip r:embed="rId2"/>
          <a:stretch>
            <a:fillRect/>
          </a:stretch>
        </p:blipFill>
        <p:spPr>
          <a:xfrm>
            <a:off x="1015765" y="505844"/>
            <a:ext cx="6810375" cy="4381500"/>
          </a:xfrm>
          <a:prstGeom prst="rect">
            <a:avLst/>
          </a:prstGeom>
        </p:spPr>
      </p:pic>
      <p:sp>
        <p:nvSpPr>
          <p:cNvPr id="3" name="TextBox 2">
            <a:extLst>
              <a:ext uri="{FF2B5EF4-FFF2-40B4-BE49-F238E27FC236}">
                <a16:creationId xmlns:a16="http://schemas.microsoft.com/office/drawing/2014/main" id="{9EFDFD21-F98A-415F-84C2-C7F6B2F61D48}"/>
              </a:ext>
            </a:extLst>
          </p:cNvPr>
          <p:cNvSpPr txBox="1"/>
          <p:nvPr/>
        </p:nvSpPr>
        <p:spPr>
          <a:xfrm>
            <a:off x="1275969" y="5023856"/>
            <a:ext cx="7342910" cy="369332"/>
          </a:xfrm>
          <a:prstGeom prst="rect">
            <a:avLst/>
          </a:prstGeom>
          <a:noFill/>
        </p:spPr>
        <p:txBody>
          <a:bodyPr wrap="square" rtlCol="0">
            <a:spAutoFit/>
          </a:bodyPr>
          <a:lstStyle/>
          <a:p>
            <a:r>
              <a:rPr lang="en-AU" dirty="0"/>
              <a:t>a) Census		b) Sample	c) Sample</a:t>
            </a:r>
          </a:p>
        </p:txBody>
      </p:sp>
      <p:sp>
        <p:nvSpPr>
          <p:cNvPr id="4" name="TextBox 3">
            <a:extLst>
              <a:ext uri="{FF2B5EF4-FFF2-40B4-BE49-F238E27FC236}">
                <a16:creationId xmlns:a16="http://schemas.microsoft.com/office/drawing/2014/main" id="{F1719955-5C86-485D-BB0F-C6A9E695270E}"/>
              </a:ext>
            </a:extLst>
          </p:cNvPr>
          <p:cNvSpPr txBox="1"/>
          <p:nvPr/>
        </p:nvSpPr>
        <p:spPr>
          <a:xfrm>
            <a:off x="739860" y="0"/>
            <a:ext cx="1749287" cy="461665"/>
          </a:xfrm>
          <a:prstGeom prst="rect">
            <a:avLst/>
          </a:prstGeom>
          <a:noFill/>
        </p:spPr>
        <p:txBody>
          <a:bodyPr wrap="square" rtlCol="0">
            <a:spAutoFit/>
          </a:bodyPr>
          <a:lstStyle/>
          <a:p>
            <a:r>
              <a:rPr lang="en-AU" sz="2400" dirty="0"/>
              <a:t>Example</a:t>
            </a:r>
          </a:p>
        </p:txBody>
      </p:sp>
    </p:spTree>
    <p:extLst>
      <p:ext uri="{BB962C8B-B14F-4D97-AF65-F5344CB8AC3E}">
        <p14:creationId xmlns:p14="http://schemas.microsoft.com/office/powerpoint/2010/main" val="405634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A1833A-F867-4B8F-B545-AB4F8C989E86}"/>
              </a:ext>
            </a:extLst>
          </p:cNvPr>
          <p:cNvSpPr txBox="1"/>
          <p:nvPr/>
        </p:nvSpPr>
        <p:spPr>
          <a:xfrm>
            <a:off x="332509" y="387927"/>
            <a:ext cx="8672945" cy="3693319"/>
          </a:xfrm>
          <a:prstGeom prst="rect">
            <a:avLst/>
          </a:prstGeom>
          <a:noFill/>
        </p:spPr>
        <p:txBody>
          <a:bodyPr wrap="square" rtlCol="0">
            <a:spAutoFit/>
          </a:bodyPr>
          <a:lstStyle/>
          <a:p>
            <a:r>
              <a:rPr lang="en-AU" b="1" dirty="0"/>
              <a:t>When conducting a sample it is important to choose your sample population carefully as under or over representing a section of a population will result in biased results.</a:t>
            </a:r>
          </a:p>
          <a:p>
            <a:endParaRPr lang="en-AU" b="1" dirty="0"/>
          </a:p>
          <a:p>
            <a:r>
              <a:rPr lang="en-AU" b="1" dirty="0"/>
              <a:t>Example.</a:t>
            </a:r>
          </a:p>
          <a:p>
            <a:r>
              <a:rPr lang="en-AU" dirty="0"/>
              <a:t>A sample of 15 dance students concluded that all students like romantic comedies more than action movies.</a:t>
            </a:r>
          </a:p>
          <a:p>
            <a:endParaRPr lang="en-AU" dirty="0"/>
          </a:p>
          <a:p>
            <a:endParaRPr lang="en-AU" dirty="0"/>
          </a:p>
          <a:p>
            <a:endParaRPr lang="en-AU" dirty="0"/>
          </a:p>
          <a:p>
            <a:endParaRPr lang="en-AU" dirty="0"/>
          </a:p>
          <a:p>
            <a:r>
              <a:rPr lang="en-AU" dirty="0"/>
              <a:t>A recent survey conducted at “Lakelands Retirement Centre” determined that “Antiques Roadshow” was Australia’s favourite tv show.</a:t>
            </a:r>
          </a:p>
          <a:p>
            <a:endParaRPr lang="en-AU" dirty="0"/>
          </a:p>
        </p:txBody>
      </p:sp>
    </p:spTree>
    <p:extLst>
      <p:ext uri="{BB962C8B-B14F-4D97-AF65-F5344CB8AC3E}">
        <p14:creationId xmlns:p14="http://schemas.microsoft.com/office/powerpoint/2010/main" val="3768202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DB0446-2E84-4D06-9CD9-369F73469EB0}"/>
              </a:ext>
            </a:extLst>
          </p:cNvPr>
          <p:cNvSpPr txBox="1"/>
          <p:nvPr/>
        </p:nvSpPr>
        <p:spPr>
          <a:xfrm>
            <a:off x="554182" y="706582"/>
            <a:ext cx="7675418" cy="1200329"/>
          </a:xfrm>
          <a:prstGeom prst="rect">
            <a:avLst/>
          </a:prstGeom>
          <a:noFill/>
        </p:spPr>
        <p:txBody>
          <a:bodyPr wrap="square" rtlCol="0">
            <a:spAutoFit/>
          </a:bodyPr>
          <a:lstStyle/>
          <a:p>
            <a:r>
              <a:rPr lang="en-AU" dirty="0"/>
              <a:t>Complete the worksheet.</a:t>
            </a:r>
          </a:p>
          <a:p>
            <a:endParaRPr lang="en-AU" dirty="0"/>
          </a:p>
          <a:p>
            <a:r>
              <a:rPr lang="en-AU" dirty="0"/>
              <a:t>Discuss the answers with your neighbour and be prepared to share your answers with the class.</a:t>
            </a:r>
          </a:p>
        </p:txBody>
      </p:sp>
    </p:spTree>
    <p:extLst>
      <p:ext uri="{BB962C8B-B14F-4D97-AF65-F5344CB8AC3E}">
        <p14:creationId xmlns:p14="http://schemas.microsoft.com/office/powerpoint/2010/main" val="5839859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4245</TotalTime>
  <Words>277</Words>
  <Application>Microsoft Office PowerPoint</Application>
  <PresentationFormat>On-screen Show (16:10)</PresentationFormat>
  <Paragraphs>51</Paragraphs>
  <Slides>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E4007446</dc:creator>
  <cp:lastModifiedBy>WILSON James [Baldivis Secondary College]</cp:lastModifiedBy>
  <cp:revision>50</cp:revision>
  <dcterms:created xsi:type="dcterms:W3CDTF">2016-04-30T07:20:25Z</dcterms:created>
  <dcterms:modified xsi:type="dcterms:W3CDTF">2017-07-31T14:28:25Z</dcterms:modified>
</cp:coreProperties>
</file>
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4" r:id="rId3"/>
    <p:sldId id="259" r:id="rId4"/>
    <p:sldId id="258" r:id="rId5"/>
    <p:sldId id="262" r:id="rId6"/>
    <p:sldId id="263" r:id="rId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C0CBB0-C4DD-4708-8725-012CD10D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536" y="280801"/>
            <a:ext cx="8519531" cy="521675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A recent study found that many Americans are lost when it comes to tech-related terms.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27% identified "gigabyte" as an insect commonly found in South America.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42% said they believed a "motherboard" was "the deck of a cruise ship."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23% thought an "MP3" was a "Star Wars" robot.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18% identified "Blu-ray" as a marine animal.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11% thought HTML was a sexually transmitted disease.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15% said they believed "software" is comfortable clothing.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12% said "USB" is the acronym for a European country.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Finally 61% of the respondents said it is important to have a good knowledge of technology in this day and 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dirty="0"/>
          </a:p>
          <a:p>
            <a:pPr algn="l"/>
            <a:r>
              <a:rPr lang="en-AU" dirty="0"/>
              <a:t>Meanwhile  - In another survey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75% Americans "believe that most polls you hear about ... are biased toward a particular point of view," while only 19 percent think they are unbiased.</a:t>
            </a:r>
          </a:p>
        </p:txBody>
      </p:sp>
    </p:spTree>
    <p:extLst>
      <p:ext uri="{BB962C8B-B14F-4D97-AF65-F5344CB8AC3E}">
        <p14:creationId xmlns:p14="http://schemas.microsoft.com/office/powerpoint/2010/main" val="177122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170C-39E2-44E7-B971-0FEC06D9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BA91-9258-481E-85B0-A5019D65C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Today’s lesson is on sample question bias and how to avoid it.</a:t>
            </a:r>
          </a:p>
        </p:txBody>
      </p:sp>
    </p:spTree>
    <p:extLst>
      <p:ext uri="{BB962C8B-B14F-4D97-AF65-F5344CB8AC3E}">
        <p14:creationId xmlns:p14="http://schemas.microsoft.com/office/powerpoint/2010/main" val="227909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38238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7319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1316" y="-55080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62297" y="722076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1028" y="-42385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387" y="-55080"/>
            <a:ext cx="1562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Topic: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376401"/>
            <a:ext cx="8137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8869" y="722076"/>
            <a:ext cx="731901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600" dirty="0"/>
          </a:p>
          <a:p>
            <a:r>
              <a:rPr lang="en-AU" sz="1600" b="1" dirty="0"/>
              <a:t>Leading Questions </a:t>
            </a:r>
            <a:r>
              <a:rPr lang="en-AU" sz="1600" dirty="0"/>
              <a:t>will sway your reader to a particular side. 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How dumb is (insert politician) when it comes to foreign policy? </a:t>
            </a:r>
          </a:p>
          <a:p>
            <a:endParaRPr lang="en-AU" sz="1600" dirty="0"/>
          </a:p>
          <a:p>
            <a:r>
              <a:rPr lang="en-AU" sz="1600" b="1" dirty="0"/>
              <a:t>Loaded Questions </a:t>
            </a:r>
            <a:r>
              <a:rPr lang="en-AU" sz="1600" dirty="0"/>
              <a:t>force people into answering the question in a particular way. 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Where do you like to party? Well, what if the respondents don’t like to party?</a:t>
            </a:r>
          </a:p>
          <a:p>
            <a:endParaRPr lang="en-AU" sz="1600" dirty="0"/>
          </a:p>
          <a:p>
            <a:r>
              <a:rPr lang="en-AU" sz="1600" b="1" dirty="0"/>
              <a:t>Double-</a:t>
            </a:r>
            <a:r>
              <a:rPr lang="en-AU" sz="1600" b="1" dirty="0" err="1"/>
              <a:t>Barreled</a:t>
            </a:r>
            <a:r>
              <a:rPr lang="en-AU" sz="1600" b="1" dirty="0"/>
              <a:t> Questions </a:t>
            </a:r>
            <a:r>
              <a:rPr lang="en-AU" sz="1600" dirty="0"/>
              <a:t>forces your respondents to answer two questions at once.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How happy or unhappy are you with the rate of current school board funding and the common-core curriculum? </a:t>
            </a:r>
          </a:p>
          <a:p>
            <a:endParaRPr lang="en-AU" sz="1600" b="1" dirty="0"/>
          </a:p>
          <a:p>
            <a:r>
              <a:rPr lang="en-AU" sz="1600" b="1" dirty="0"/>
              <a:t>Absolute questions </a:t>
            </a:r>
            <a:r>
              <a:rPr lang="en-AU" sz="1600" dirty="0"/>
              <a:t>usually only have the option of a yes or no answer</a:t>
            </a:r>
          </a:p>
          <a:p>
            <a:r>
              <a:rPr lang="en-AU" sz="1600" i="1" dirty="0"/>
              <a:t>Example </a:t>
            </a:r>
            <a:r>
              <a:rPr lang="en-AU" sz="1600" dirty="0"/>
              <a:t>: Do you always shower before bed?</a:t>
            </a:r>
          </a:p>
          <a:p>
            <a:endParaRPr lang="en-AU" sz="1600" dirty="0"/>
          </a:p>
          <a:p>
            <a:r>
              <a:rPr lang="en-AU" sz="1600" b="1" dirty="0"/>
              <a:t>Unclear Questions</a:t>
            </a:r>
            <a:endParaRPr lang="en-AU" sz="1600" dirty="0"/>
          </a:p>
          <a:p>
            <a:r>
              <a:rPr lang="en-AU" sz="1600" dirty="0"/>
              <a:t>Tech jargon and acronyms create bias if people don’t understand the jargon.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4236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2E43D-059C-405C-BE70-6CF08D398CCB}"/>
              </a:ext>
            </a:extLst>
          </p:cNvPr>
          <p:cNvSpPr txBox="1"/>
          <p:nvPr/>
        </p:nvSpPr>
        <p:spPr>
          <a:xfrm>
            <a:off x="744870" y="122663"/>
            <a:ext cx="73682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What is wrong with the following survey questions?  How could they be fixed? Discuss with the person next you and be prepared to share your ideas.</a:t>
            </a:r>
          </a:p>
          <a:p>
            <a:endParaRPr lang="en-AU" dirty="0"/>
          </a:p>
          <a:p>
            <a:r>
              <a:rPr lang="en-AU" dirty="0"/>
              <a:t>When asked if people would like to earn more money and if they were vegetarian, most replied “No”.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survey asked the question.  “Do you support the increasingly disliked and unrespected Prime ministers new policy on education?”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I feel welcomed by staff and other youth at the </a:t>
            </a:r>
            <a:r>
              <a:rPr lang="en-AU" dirty="0" err="1"/>
              <a:t>center</a:t>
            </a:r>
            <a:r>
              <a:rPr lang="en-AU" dirty="0"/>
              <a:t>.        Agree/Disagree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66F1-8BF9-4C29-B333-00A8F56D8541}"/>
              </a:ext>
            </a:extLst>
          </p:cNvPr>
          <p:cNvSpPr txBox="1"/>
          <p:nvPr/>
        </p:nvSpPr>
        <p:spPr>
          <a:xfrm>
            <a:off x="1538868" y="1839951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double barrelled question and needs to be split into 2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FA412-A1AC-4460-B3B9-3E4BC9261EB1}"/>
              </a:ext>
            </a:extLst>
          </p:cNvPr>
          <p:cNvSpPr txBox="1"/>
          <p:nvPr/>
        </p:nvSpPr>
        <p:spPr>
          <a:xfrm>
            <a:off x="1538868" y="3197298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leading question with negative adjectives guiding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44BCC-08F0-43FD-B765-C97172139B8B}"/>
              </a:ext>
            </a:extLst>
          </p:cNvPr>
          <p:cNvSpPr txBox="1"/>
          <p:nvPr/>
        </p:nvSpPr>
        <p:spPr>
          <a:xfrm>
            <a:off x="1642947" y="4314935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also a double barrelled question.  It should be split into a question about staff and a second question about other youth.</a:t>
            </a:r>
          </a:p>
        </p:txBody>
      </p:sp>
    </p:spTree>
    <p:extLst>
      <p:ext uri="{BB962C8B-B14F-4D97-AF65-F5344CB8AC3E}">
        <p14:creationId xmlns:p14="http://schemas.microsoft.com/office/powerpoint/2010/main" val="42462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0891-65C6-40B0-9F5B-F402D875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9142"/>
            <a:ext cx="7886700" cy="476832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How short was Napoleon?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Where do you prefer to buy </a:t>
            </a:r>
            <a:r>
              <a:rPr lang="en-AU" dirty="0" err="1"/>
              <a:t>softdrink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always eat breakfast? (Yes/No)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own an </a:t>
            </a:r>
            <a:r>
              <a:rPr lang="en-AU" dirty="0" err="1"/>
              <a:t>Ipad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461FA-1F1D-476C-BEEA-4C0B305516D4}"/>
              </a:ext>
            </a:extLst>
          </p:cNvPr>
          <p:cNvSpPr txBox="1"/>
          <p:nvPr/>
        </p:nvSpPr>
        <p:spPr>
          <a:xfrm>
            <a:off x="1148575" y="599064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leading question with the adjective of short used to guide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09787-7F7C-482D-A2ED-17FFCF7058E4}"/>
              </a:ext>
            </a:extLst>
          </p:cNvPr>
          <p:cNvSpPr txBox="1"/>
          <p:nvPr/>
        </p:nvSpPr>
        <p:spPr>
          <a:xfrm>
            <a:off x="1538868" y="1839951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loaded question.  What if they don’t buy </a:t>
            </a:r>
            <a:r>
              <a:rPr lang="en-AU" dirty="0" err="1"/>
              <a:t>softdrink</a:t>
            </a:r>
            <a:r>
              <a:rPr lang="en-AU" dirty="0"/>
              <a:t> at all?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EEA91-304F-4968-A136-C016ACE3E5C3}"/>
              </a:ext>
            </a:extLst>
          </p:cNvPr>
          <p:cNvSpPr txBox="1"/>
          <p:nvPr/>
        </p:nvSpPr>
        <p:spPr>
          <a:xfrm>
            <a:off x="1390185" y="2995961"/>
            <a:ext cx="6846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an absolute question.  What if they skip breakfast once last month due to illness?  A better question would be “In an average week how many days (from 0 to 7) do you eat breakfast?”.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49813-2214-4928-B9F7-92AACAB7C91B}"/>
              </a:ext>
            </a:extLst>
          </p:cNvPr>
          <p:cNvSpPr txBox="1"/>
          <p:nvPr/>
        </p:nvSpPr>
        <p:spPr>
          <a:xfrm>
            <a:off x="1390185" y="4585103"/>
            <a:ext cx="6846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jargon based question. “Do you own a Tablet PC (</a:t>
            </a:r>
            <a:r>
              <a:rPr lang="en-AU" dirty="0" err="1"/>
              <a:t>eg</a:t>
            </a:r>
            <a:r>
              <a:rPr lang="en-AU" dirty="0"/>
              <a:t> </a:t>
            </a:r>
            <a:r>
              <a:rPr lang="en-AU" dirty="0" err="1"/>
              <a:t>Ipad</a:t>
            </a:r>
            <a:r>
              <a:rPr lang="en-AU" dirty="0"/>
              <a:t>, Android tablet)” is better as it asks about all devices and gives examples to help the respondent recognise the terminology.</a:t>
            </a:r>
          </a:p>
        </p:txBody>
      </p:sp>
    </p:spTree>
    <p:extLst>
      <p:ext uri="{BB962C8B-B14F-4D97-AF65-F5344CB8AC3E}">
        <p14:creationId xmlns:p14="http://schemas.microsoft.com/office/powerpoint/2010/main" val="61755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96A88-BE26-4987-AAC2-72EBC3D12B5C}"/>
              </a:ext>
            </a:extLst>
          </p:cNvPr>
          <p:cNvSpPr txBox="1"/>
          <p:nvPr/>
        </p:nvSpPr>
        <p:spPr>
          <a:xfrm>
            <a:off x="1092820" y="479502"/>
            <a:ext cx="74824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Complete the worksheet.  Discuss the results with your neighbour and be prepared to share with the class.</a:t>
            </a:r>
          </a:p>
        </p:txBody>
      </p:sp>
    </p:spTree>
    <p:extLst>
      <p:ext uri="{BB962C8B-B14F-4D97-AF65-F5344CB8AC3E}">
        <p14:creationId xmlns:p14="http://schemas.microsoft.com/office/powerpoint/2010/main" val="321574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141</TotalTime>
  <Words>665</Words>
  <Application>Microsoft Office PowerPoint</Application>
  <PresentationFormat>On-screen Show (16:10)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7</cp:revision>
  <dcterms:created xsi:type="dcterms:W3CDTF">2017-07-31T13:21:35Z</dcterms:created>
  <dcterms:modified xsi:type="dcterms:W3CDTF">2017-08-01T01:59:46Z</dcterms:modified>
</cp:coreProperties>
</file>
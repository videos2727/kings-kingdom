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62" r:id="rId2"/>
    <p:sldId id="263" r:id="rId3"/>
    <p:sldId id="265" r:id="rId4"/>
    <p:sldId id="259" r:id="rId5"/>
    <p:sldId id="264" r:id="rId6"/>
    <p:sldId id="269" r:id="rId7"/>
    <p:sldId id="266" r:id="rId8"/>
    <p:sldId id="268" r:id="rId9"/>
    <p:sldId id="261" r:id="rId10"/>
    <p:sldId id="270" r:id="rId11"/>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6" d="100"/>
          <a:sy n="86" d="100"/>
        </p:scale>
        <p:origin x="33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747BE6B-52E9-4DB5-9634-6473640C7AC5}" type="datetimeFigureOut">
              <a:rPr lang="en-AU" smtClean="0"/>
              <a:t>30/07/2017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2513558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47BE6B-52E9-4DB5-9634-6473640C7AC5}" type="datetimeFigureOut">
              <a:rPr lang="en-AU" smtClean="0"/>
              <a:t>30/07/2017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3210432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2"/>
            <a:ext cx="7886700" cy="2377281"/>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824553"/>
            <a:ext cx="7886700" cy="1250156"/>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747BE6B-52E9-4DB5-9634-6473640C7AC5}" type="datetimeFigureOut">
              <a:rPr lang="en-AU" smtClean="0"/>
              <a:t>30/07/2017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5764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521354"/>
            <a:ext cx="3886200" cy="362611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521354"/>
            <a:ext cx="3886200" cy="362611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747BE6B-52E9-4DB5-9634-6473640C7AC5}" type="datetimeFigureOut">
              <a:rPr lang="en-AU" smtClean="0"/>
              <a:t>30/07/2017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722398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04271"/>
            <a:ext cx="7886700" cy="1104636"/>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087563"/>
            <a:ext cx="3868340" cy="307049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087563"/>
            <a:ext cx="3887391" cy="307049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747BE6B-52E9-4DB5-9634-6473640C7AC5}" type="datetimeFigureOut">
              <a:rPr lang="en-AU" smtClean="0"/>
              <a:t>30/07/2017</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2477736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47BE6B-52E9-4DB5-9634-6473640C7AC5}" type="datetimeFigureOut">
              <a:rPr lang="en-AU" smtClean="0"/>
              <a:t>30/07/2017</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924277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47BE6B-52E9-4DB5-9634-6473640C7AC5}" type="datetimeFigureOut">
              <a:rPr lang="en-AU" smtClean="0"/>
              <a:t>30/07/2017</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134148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1747BE6B-52E9-4DB5-9634-6473640C7AC5}" type="datetimeFigureOut">
              <a:rPr lang="en-AU" smtClean="0"/>
              <a:t>30/07/2017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4027499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822855"/>
            <a:ext cx="4629150" cy="406135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1747BE6B-52E9-4DB5-9634-6473640C7AC5}" type="datetimeFigureOut">
              <a:rPr lang="en-AU" smtClean="0"/>
              <a:t>30/07/2017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163752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47BE6B-52E9-4DB5-9634-6473640C7AC5}" type="datetimeFigureOut">
              <a:rPr lang="en-AU" smtClean="0"/>
              <a:t>30/07/2017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1499723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04271"/>
            <a:ext cx="1971675" cy="48431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04271"/>
            <a:ext cx="5800725" cy="484319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47BE6B-52E9-4DB5-9634-6473640C7AC5}" type="datetimeFigureOut">
              <a:rPr lang="en-AU" smtClean="0"/>
              <a:t>30/07/2017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92F4BB7-8858-40E3-A382-04ACA57A5EFC}" type="slidenum">
              <a:rPr lang="en-AU" smtClean="0"/>
              <a:t>‹#›</a:t>
            </a:fld>
            <a:endParaRPr lang="en-AU"/>
          </a:p>
        </p:txBody>
      </p:sp>
    </p:spTree>
    <p:extLst>
      <p:ext uri="{BB962C8B-B14F-4D97-AF65-F5344CB8AC3E}">
        <p14:creationId xmlns:p14="http://schemas.microsoft.com/office/powerpoint/2010/main" val="486973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75000"/>
                  </a:schemeClr>
                </a:solidFill>
              </a:defRPr>
            </a:lvl1pPr>
          </a:lstStyle>
          <a:p>
            <a:fld id="{1747BE6B-52E9-4DB5-9634-6473640C7AC5}" type="datetimeFigureOut">
              <a:rPr lang="en-AU" smtClean="0"/>
              <a:t>30/07/2017</a:t>
            </a:fld>
            <a:endParaRPr lang="en-AU"/>
          </a:p>
        </p:txBody>
      </p:sp>
      <p:sp>
        <p:nvSpPr>
          <p:cNvPr id="5" name="Footer Placeholder 4"/>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75000"/>
                  </a:schemeClr>
                </a:solidFill>
              </a:defRPr>
            </a:lvl1pPr>
          </a:lstStyle>
          <a:p>
            <a:fld id="{992F4BB7-8858-40E3-A382-04ACA57A5EFC}" type="slidenum">
              <a:rPr lang="en-AU" smtClean="0"/>
              <a:t>‹#›</a:t>
            </a:fld>
            <a:endParaRPr lang="en-AU"/>
          </a:p>
        </p:txBody>
      </p:sp>
    </p:spTree>
    <p:extLst>
      <p:ext uri="{BB962C8B-B14F-4D97-AF65-F5344CB8AC3E}">
        <p14:creationId xmlns:p14="http://schemas.microsoft.com/office/powerpoint/2010/main" val="4229524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D026E4-B35A-452B-A2B7-5A00063DD257}"/>
              </a:ext>
            </a:extLst>
          </p:cNvPr>
          <p:cNvSpPr/>
          <p:nvPr/>
        </p:nvSpPr>
        <p:spPr>
          <a:xfrm>
            <a:off x="120475" y="173875"/>
            <a:ext cx="8878957" cy="4031873"/>
          </a:xfrm>
          <a:prstGeom prst="rect">
            <a:avLst/>
          </a:prstGeom>
        </p:spPr>
        <p:txBody>
          <a:bodyPr wrap="square">
            <a:spAutoFit/>
          </a:bodyPr>
          <a:lstStyle/>
          <a:p>
            <a:r>
              <a:rPr lang="en-AU" sz="1600" b="1" dirty="0"/>
              <a:t>Who was the ‘typical’ Australian in 2016?</a:t>
            </a:r>
            <a:br>
              <a:rPr lang="en-AU" sz="1600" dirty="0"/>
            </a:br>
            <a:r>
              <a:rPr lang="en-AU" sz="1600" dirty="0"/>
              <a:t>The ‘typical’ Australian is a 38 year old female. A decade ago, the ‘typical’ Australian would have been a year younger.  In 1911 the ‘typical’ Aussie was a 24 year old male, but women have outnumbered men since 1979.</a:t>
            </a:r>
            <a:br>
              <a:rPr lang="en-AU" sz="1600" dirty="0"/>
            </a:br>
            <a:br>
              <a:rPr lang="en-AU" sz="1600" dirty="0"/>
            </a:br>
            <a:r>
              <a:rPr lang="en-AU" sz="1600" dirty="0"/>
              <a:t>The ‘typical’ Aboriginal and/or Torres Strait Islander person is also female, but she’s younger: 23 years old, in fact.</a:t>
            </a:r>
            <a:br>
              <a:rPr lang="en-AU" sz="1600" dirty="0"/>
            </a:br>
            <a:br>
              <a:rPr lang="en-AU" sz="1600" dirty="0"/>
            </a:br>
            <a:r>
              <a:rPr lang="en-AU" sz="1600" dirty="0"/>
              <a:t>The ‘typical’ Australian male or female was born in Australia, has English ancestry and parents also born in Australia. But while the ‘typical’ Australian has parents born in Australia, if you are from New South Wales, Victoria or Western Australia your actually most likely to have at least one parent who was born overseas.</a:t>
            </a:r>
            <a:br>
              <a:rPr lang="en-AU" sz="1600" dirty="0"/>
            </a:br>
            <a:br>
              <a:rPr lang="en-AU" sz="1600" dirty="0"/>
            </a:br>
            <a:r>
              <a:rPr lang="en-AU" sz="1600" dirty="0"/>
              <a:t>The ‘typical’ Aussie male is 37 years old and spends less than five hours a week on domestic work. The ‘typical’ Aussie female is 38 years old and spends between five and 14 hours a week on domestic work.</a:t>
            </a:r>
            <a:br>
              <a:rPr lang="en-AU" sz="1600" dirty="0"/>
            </a:br>
            <a:endParaRPr lang="en-AU" sz="1600" dirty="0"/>
          </a:p>
        </p:txBody>
      </p:sp>
      <p:sp>
        <p:nvSpPr>
          <p:cNvPr id="3" name="TextBox 2">
            <a:extLst>
              <a:ext uri="{FF2B5EF4-FFF2-40B4-BE49-F238E27FC236}">
                <a16:creationId xmlns:a16="http://schemas.microsoft.com/office/drawing/2014/main" id="{0A330253-C1DF-444A-99D6-CA121AD3EA44}"/>
              </a:ext>
            </a:extLst>
          </p:cNvPr>
          <p:cNvSpPr txBox="1"/>
          <p:nvPr/>
        </p:nvSpPr>
        <p:spPr>
          <a:xfrm>
            <a:off x="603577" y="4439789"/>
            <a:ext cx="8395855" cy="923330"/>
          </a:xfrm>
          <a:prstGeom prst="rect">
            <a:avLst/>
          </a:prstGeom>
          <a:noFill/>
        </p:spPr>
        <p:txBody>
          <a:bodyPr wrap="square" rtlCol="0">
            <a:spAutoFit/>
          </a:bodyPr>
          <a:lstStyle/>
          <a:p>
            <a:r>
              <a:rPr lang="en-AU" dirty="0"/>
              <a:t>How do we know all this? Where does this information come from?</a:t>
            </a:r>
          </a:p>
          <a:p>
            <a:endParaRPr lang="en-AU" dirty="0"/>
          </a:p>
          <a:p>
            <a:r>
              <a:rPr lang="en-AU" dirty="0"/>
              <a:t>How can this information be used? </a:t>
            </a:r>
          </a:p>
        </p:txBody>
      </p:sp>
    </p:spTree>
    <p:extLst>
      <p:ext uri="{BB962C8B-B14F-4D97-AF65-F5344CB8AC3E}">
        <p14:creationId xmlns:p14="http://schemas.microsoft.com/office/powerpoint/2010/main" val="781502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0491244-8418-423F-BAEB-C1A2DD84CDC0}"/>
              </a:ext>
            </a:extLst>
          </p:cNvPr>
          <p:cNvPicPr>
            <a:picLocks noChangeAspect="1"/>
          </p:cNvPicPr>
          <p:nvPr/>
        </p:nvPicPr>
        <p:blipFill>
          <a:blip r:embed="rId2"/>
          <a:stretch>
            <a:fillRect/>
          </a:stretch>
        </p:blipFill>
        <p:spPr>
          <a:xfrm>
            <a:off x="1090793" y="159141"/>
            <a:ext cx="6213256" cy="5028525"/>
          </a:xfrm>
          <a:prstGeom prst="rect">
            <a:avLst/>
          </a:prstGeom>
        </p:spPr>
      </p:pic>
      <p:sp>
        <p:nvSpPr>
          <p:cNvPr id="3" name="TextBox 2">
            <a:extLst>
              <a:ext uri="{FF2B5EF4-FFF2-40B4-BE49-F238E27FC236}">
                <a16:creationId xmlns:a16="http://schemas.microsoft.com/office/drawing/2014/main" id="{AD9182C2-3B82-4146-BF49-CE03E2CB395B}"/>
              </a:ext>
            </a:extLst>
          </p:cNvPr>
          <p:cNvSpPr txBox="1"/>
          <p:nvPr/>
        </p:nvSpPr>
        <p:spPr>
          <a:xfrm>
            <a:off x="1090793" y="5340092"/>
            <a:ext cx="8423564" cy="369332"/>
          </a:xfrm>
          <a:prstGeom prst="rect">
            <a:avLst/>
          </a:prstGeom>
          <a:noFill/>
        </p:spPr>
        <p:txBody>
          <a:bodyPr wrap="square" rtlCol="0">
            <a:spAutoFit/>
          </a:bodyPr>
          <a:lstStyle/>
          <a:p>
            <a:r>
              <a:rPr lang="en-AU" dirty="0"/>
              <a:t>What are the 2 measures that were used to create this data?</a:t>
            </a:r>
          </a:p>
        </p:txBody>
      </p:sp>
    </p:spTree>
    <p:extLst>
      <p:ext uri="{BB962C8B-B14F-4D97-AF65-F5344CB8AC3E}">
        <p14:creationId xmlns:p14="http://schemas.microsoft.com/office/powerpoint/2010/main" val="236562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3406C-1569-48AE-AF99-9A221AE4D047}"/>
              </a:ext>
            </a:extLst>
          </p:cNvPr>
          <p:cNvSpPr txBox="1"/>
          <p:nvPr/>
        </p:nvSpPr>
        <p:spPr>
          <a:xfrm>
            <a:off x="715617" y="872988"/>
            <a:ext cx="8693426" cy="2800767"/>
          </a:xfrm>
          <a:prstGeom prst="rect">
            <a:avLst/>
          </a:prstGeom>
          <a:noFill/>
        </p:spPr>
        <p:txBody>
          <a:bodyPr wrap="square" rtlCol="0">
            <a:spAutoFit/>
          </a:bodyPr>
          <a:lstStyle/>
          <a:p>
            <a:r>
              <a:rPr lang="en-AU" sz="3200" dirty="0"/>
              <a:t>Quick Write.</a:t>
            </a:r>
          </a:p>
          <a:p>
            <a:r>
              <a:rPr lang="en-AU" dirty="0"/>
              <a:t>What do you think a Census is?  </a:t>
            </a:r>
          </a:p>
          <a:p>
            <a:endParaRPr lang="en-AU" dirty="0"/>
          </a:p>
          <a:p>
            <a:endParaRPr lang="en-AU" dirty="0"/>
          </a:p>
          <a:p>
            <a:r>
              <a:rPr lang="en-AU" dirty="0"/>
              <a:t>What are the advantages and disadvantages to a census?</a:t>
            </a:r>
          </a:p>
          <a:p>
            <a:endParaRPr lang="en-AU" dirty="0"/>
          </a:p>
          <a:p>
            <a:endParaRPr lang="en-AU" dirty="0"/>
          </a:p>
          <a:p>
            <a:endParaRPr lang="en-AU" dirty="0"/>
          </a:p>
          <a:p>
            <a:r>
              <a:rPr lang="en-AU" dirty="0"/>
              <a:t>What is the alternative?</a:t>
            </a:r>
          </a:p>
        </p:txBody>
      </p:sp>
    </p:spTree>
    <p:extLst>
      <p:ext uri="{BB962C8B-B14F-4D97-AF65-F5344CB8AC3E}">
        <p14:creationId xmlns:p14="http://schemas.microsoft.com/office/powerpoint/2010/main" val="2068686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66907" y="585845"/>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66907" y="1111076"/>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42222" y="-172158"/>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1562297" y="722076"/>
            <a:ext cx="16207" cy="5725965"/>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241388" y="-74869"/>
            <a:ext cx="1584176" cy="461665"/>
          </a:xfrm>
          <a:prstGeom prst="rect">
            <a:avLst/>
          </a:prstGeom>
          <a:noFill/>
        </p:spPr>
        <p:txBody>
          <a:bodyPr wrap="square" rtlCol="0">
            <a:spAutoFit/>
          </a:bodyPr>
          <a:lstStyle/>
          <a:p>
            <a:r>
              <a:rPr lang="en-AU" sz="2400" dirty="0"/>
              <a:t>Date</a:t>
            </a:r>
          </a:p>
        </p:txBody>
      </p:sp>
      <p:sp>
        <p:nvSpPr>
          <p:cNvPr id="3" name="TextBox 2"/>
          <p:cNvSpPr txBox="1"/>
          <p:nvPr/>
        </p:nvSpPr>
        <p:spPr>
          <a:xfrm>
            <a:off x="988328" y="8329"/>
            <a:ext cx="1794530" cy="523220"/>
          </a:xfrm>
          <a:prstGeom prst="rect">
            <a:avLst/>
          </a:prstGeom>
          <a:noFill/>
        </p:spPr>
        <p:txBody>
          <a:bodyPr wrap="none" rtlCol="0">
            <a:spAutoFit/>
          </a:bodyPr>
          <a:lstStyle/>
          <a:p>
            <a:r>
              <a:rPr lang="en-AU" sz="2800" dirty="0"/>
              <a:t>Topic: Data</a:t>
            </a:r>
          </a:p>
        </p:txBody>
      </p:sp>
      <p:sp>
        <p:nvSpPr>
          <p:cNvPr id="8" name="Rectangle 7"/>
          <p:cNvSpPr/>
          <p:nvPr/>
        </p:nvSpPr>
        <p:spPr>
          <a:xfrm>
            <a:off x="1691171" y="1158774"/>
            <a:ext cx="7519736" cy="3416320"/>
          </a:xfrm>
          <a:prstGeom prst="rect">
            <a:avLst/>
          </a:prstGeom>
        </p:spPr>
        <p:txBody>
          <a:bodyPr wrap="square">
            <a:spAutoFit/>
          </a:bodyPr>
          <a:lstStyle/>
          <a:p>
            <a:r>
              <a:rPr lang="en-AU" dirty="0"/>
              <a:t>In a </a:t>
            </a:r>
            <a:r>
              <a:rPr lang="en-AU" b="1" dirty="0"/>
              <a:t>census, </a:t>
            </a:r>
            <a:r>
              <a:rPr lang="en-AU" dirty="0"/>
              <a:t>everyone in a population is surveyed. </a:t>
            </a:r>
          </a:p>
          <a:p>
            <a:endParaRPr lang="en-AU" dirty="0"/>
          </a:p>
          <a:p>
            <a:r>
              <a:rPr lang="en-AU" dirty="0"/>
              <a:t>In a </a:t>
            </a:r>
            <a:r>
              <a:rPr lang="en-AU" b="1" dirty="0"/>
              <a:t>sample</a:t>
            </a:r>
            <a:r>
              <a:rPr lang="en-AU" dirty="0"/>
              <a:t>, only a section of the population is surveyed. The larger the sample size, the more accurate it is.</a:t>
            </a:r>
          </a:p>
          <a:p>
            <a:r>
              <a:rPr lang="en-AU" dirty="0"/>
              <a:t>	</a:t>
            </a:r>
          </a:p>
          <a:p>
            <a:r>
              <a:rPr lang="en-AU" dirty="0"/>
              <a:t>	</a:t>
            </a:r>
            <a:r>
              <a:rPr lang="en-AU" b="1" dirty="0"/>
              <a:t>A census is more accurate but samples are quicker and cheaper.</a:t>
            </a:r>
          </a:p>
          <a:p>
            <a:endParaRPr lang="en-AU" dirty="0"/>
          </a:p>
          <a:p>
            <a:r>
              <a:rPr lang="en-AU" b="1" dirty="0"/>
              <a:t>Examples.</a:t>
            </a:r>
          </a:p>
          <a:p>
            <a:r>
              <a:rPr lang="en-AU" dirty="0"/>
              <a:t>	A survey of year 9 students is conducted and everyone is asked to respond is an example of a census of all year 9 students.</a:t>
            </a:r>
          </a:p>
          <a:p>
            <a:r>
              <a:rPr lang="en-AU" dirty="0"/>
              <a:t>	A phone survey is conducted where every 20</a:t>
            </a:r>
            <a:r>
              <a:rPr lang="en-AU" baseline="30000" dirty="0"/>
              <a:t>th</a:t>
            </a:r>
            <a:r>
              <a:rPr lang="en-AU" dirty="0"/>
              <a:t> person is called is an example of a sample.</a:t>
            </a:r>
          </a:p>
        </p:txBody>
      </p:sp>
      <p:sp>
        <p:nvSpPr>
          <p:cNvPr id="10" name="TextBox 9">
            <a:extLst>
              <a:ext uri="{FF2B5EF4-FFF2-40B4-BE49-F238E27FC236}">
                <a16:creationId xmlns:a16="http://schemas.microsoft.com/office/drawing/2014/main" id="{A2172EFF-D2C1-402F-829E-0E11550D1BA5}"/>
              </a:ext>
            </a:extLst>
          </p:cNvPr>
          <p:cNvSpPr txBox="1"/>
          <p:nvPr/>
        </p:nvSpPr>
        <p:spPr>
          <a:xfrm>
            <a:off x="254866" y="625563"/>
            <a:ext cx="8137792" cy="461665"/>
          </a:xfrm>
          <a:prstGeom prst="rect">
            <a:avLst/>
          </a:prstGeom>
          <a:noFill/>
        </p:spPr>
        <p:txBody>
          <a:bodyPr wrap="square" rtlCol="0">
            <a:spAutoFit/>
          </a:bodyPr>
          <a:lstStyle/>
          <a:p>
            <a:r>
              <a:rPr lang="en-AU" sz="2400" dirty="0"/>
              <a:t>EQ – How can you create a fair survey of a population.</a:t>
            </a:r>
          </a:p>
        </p:txBody>
      </p:sp>
    </p:spTree>
    <p:extLst>
      <p:ext uri="{BB962C8B-B14F-4D97-AF65-F5344CB8AC3E}">
        <p14:creationId xmlns:p14="http://schemas.microsoft.com/office/powerpoint/2010/main" val="2095624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906573E-1523-44ED-8356-0D540F1034DD}"/>
              </a:ext>
            </a:extLst>
          </p:cNvPr>
          <p:cNvPicPr>
            <a:picLocks noChangeAspect="1"/>
          </p:cNvPicPr>
          <p:nvPr/>
        </p:nvPicPr>
        <p:blipFill>
          <a:blip r:embed="rId2"/>
          <a:stretch>
            <a:fillRect/>
          </a:stretch>
        </p:blipFill>
        <p:spPr>
          <a:xfrm>
            <a:off x="1015765" y="505844"/>
            <a:ext cx="6810375" cy="4381500"/>
          </a:xfrm>
          <a:prstGeom prst="rect">
            <a:avLst/>
          </a:prstGeom>
        </p:spPr>
      </p:pic>
      <p:sp>
        <p:nvSpPr>
          <p:cNvPr id="3" name="TextBox 2">
            <a:extLst>
              <a:ext uri="{FF2B5EF4-FFF2-40B4-BE49-F238E27FC236}">
                <a16:creationId xmlns:a16="http://schemas.microsoft.com/office/drawing/2014/main" id="{9EFDFD21-F98A-415F-84C2-C7F6B2F61D48}"/>
              </a:ext>
            </a:extLst>
          </p:cNvPr>
          <p:cNvSpPr txBox="1"/>
          <p:nvPr/>
        </p:nvSpPr>
        <p:spPr>
          <a:xfrm>
            <a:off x="1275969" y="5023856"/>
            <a:ext cx="7342910" cy="369332"/>
          </a:xfrm>
          <a:prstGeom prst="rect">
            <a:avLst/>
          </a:prstGeom>
          <a:noFill/>
        </p:spPr>
        <p:txBody>
          <a:bodyPr wrap="square" rtlCol="0">
            <a:spAutoFit/>
          </a:bodyPr>
          <a:lstStyle/>
          <a:p>
            <a:r>
              <a:rPr lang="en-AU" dirty="0"/>
              <a:t>a) Census		b) Sample	c) Sample</a:t>
            </a:r>
          </a:p>
        </p:txBody>
      </p:sp>
      <p:sp>
        <p:nvSpPr>
          <p:cNvPr id="4" name="TextBox 3">
            <a:extLst>
              <a:ext uri="{FF2B5EF4-FFF2-40B4-BE49-F238E27FC236}">
                <a16:creationId xmlns:a16="http://schemas.microsoft.com/office/drawing/2014/main" id="{F1719955-5C86-485D-BB0F-C6A9E695270E}"/>
              </a:ext>
            </a:extLst>
          </p:cNvPr>
          <p:cNvSpPr txBox="1"/>
          <p:nvPr/>
        </p:nvSpPr>
        <p:spPr>
          <a:xfrm>
            <a:off x="739860" y="0"/>
            <a:ext cx="1749287" cy="461665"/>
          </a:xfrm>
          <a:prstGeom prst="rect">
            <a:avLst/>
          </a:prstGeom>
          <a:noFill/>
        </p:spPr>
        <p:txBody>
          <a:bodyPr wrap="square" rtlCol="0">
            <a:spAutoFit/>
          </a:bodyPr>
          <a:lstStyle/>
          <a:p>
            <a:r>
              <a:rPr lang="en-AU" sz="2400" dirty="0"/>
              <a:t>Example</a:t>
            </a:r>
          </a:p>
        </p:txBody>
      </p:sp>
    </p:spTree>
    <p:extLst>
      <p:ext uri="{BB962C8B-B14F-4D97-AF65-F5344CB8AC3E}">
        <p14:creationId xmlns:p14="http://schemas.microsoft.com/office/powerpoint/2010/main" val="4056340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B96A88-BE26-4987-AAC2-72EBC3D12B5C}"/>
              </a:ext>
            </a:extLst>
          </p:cNvPr>
          <p:cNvSpPr txBox="1"/>
          <p:nvPr/>
        </p:nvSpPr>
        <p:spPr>
          <a:xfrm>
            <a:off x="1092820" y="479502"/>
            <a:ext cx="7482468" cy="1323439"/>
          </a:xfrm>
          <a:prstGeom prst="rect">
            <a:avLst/>
          </a:prstGeom>
          <a:noFill/>
        </p:spPr>
        <p:txBody>
          <a:bodyPr wrap="square" rtlCol="0">
            <a:spAutoFit/>
          </a:bodyPr>
          <a:lstStyle/>
          <a:p>
            <a:r>
              <a:rPr lang="en-AU" sz="4000" dirty="0"/>
              <a:t>Now complete the Survey vs Census section of your worksheet.</a:t>
            </a:r>
          </a:p>
        </p:txBody>
      </p:sp>
    </p:spTree>
    <p:extLst>
      <p:ext uri="{BB962C8B-B14F-4D97-AF65-F5344CB8AC3E}">
        <p14:creationId xmlns:p14="http://schemas.microsoft.com/office/powerpoint/2010/main" val="1102720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C2E43D-059C-405C-BE70-6CF08D398CCB}"/>
              </a:ext>
            </a:extLst>
          </p:cNvPr>
          <p:cNvSpPr txBox="1"/>
          <p:nvPr/>
        </p:nvSpPr>
        <p:spPr>
          <a:xfrm>
            <a:off x="744870" y="122663"/>
            <a:ext cx="7368209" cy="6186309"/>
          </a:xfrm>
          <a:prstGeom prst="rect">
            <a:avLst/>
          </a:prstGeom>
          <a:noFill/>
        </p:spPr>
        <p:txBody>
          <a:bodyPr wrap="square" rtlCol="0">
            <a:spAutoFit/>
          </a:bodyPr>
          <a:lstStyle/>
          <a:p>
            <a:r>
              <a:rPr lang="en-AU" b="1" dirty="0"/>
              <a:t>What is wrong with the following surveys? Discuss with the person next you and be prepared to share your ideas.</a:t>
            </a:r>
          </a:p>
          <a:p>
            <a:endParaRPr lang="en-AU" dirty="0"/>
          </a:p>
          <a:p>
            <a:r>
              <a:rPr lang="en-AU" dirty="0"/>
              <a:t>A sample of 15 students concluded that all students like romantic comedies more than action movies.</a:t>
            </a:r>
          </a:p>
          <a:p>
            <a:endParaRPr lang="en-AU" dirty="0"/>
          </a:p>
          <a:p>
            <a:endParaRPr lang="en-AU" dirty="0"/>
          </a:p>
          <a:p>
            <a:endParaRPr lang="en-AU" dirty="0"/>
          </a:p>
          <a:p>
            <a:r>
              <a:rPr lang="en-AU" dirty="0"/>
              <a:t>A recent survey conducted at “Lakelands Retirement Centre” determined that “Antiques Roadshow” was Australia’s favourite tv show.</a:t>
            </a:r>
          </a:p>
          <a:p>
            <a:endParaRPr lang="en-AU" dirty="0"/>
          </a:p>
          <a:p>
            <a:endParaRPr lang="en-AU" dirty="0"/>
          </a:p>
          <a:p>
            <a:endParaRPr lang="en-AU" dirty="0"/>
          </a:p>
          <a:p>
            <a:r>
              <a:rPr lang="en-AU" dirty="0"/>
              <a:t>When asked if people would like to earn more money and if they were vegetarian, most replied “No”.</a:t>
            </a:r>
          </a:p>
          <a:p>
            <a:endParaRPr lang="en-AU" dirty="0"/>
          </a:p>
          <a:p>
            <a:endParaRPr lang="en-AU" dirty="0"/>
          </a:p>
          <a:p>
            <a:r>
              <a:rPr lang="en-AU" dirty="0"/>
              <a:t>A survey asked the question.  “Do you support the increasingly disliked and unrespected Prime minister?” </a:t>
            </a:r>
          </a:p>
          <a:p>
            <a:endParaRPr lang="en-AU" dirty="0"/>
          </a:p>
          <a:p>
            <a:endParaRPr lang="en-AU" dirty="0"/>
          </a:p>
          <a:p>
            <a:endParaRPr lang="en-AU" dirty="0"/>
          </a:p>
        </p:txBody>
      </p:sp>
    </p:spTree>
    <p:extLst>
      <p:ext uri="{BB962C8B-B14F-4D97-AF65-F5344CB8AC3E}">
        <p14:creationId xmlns:p14="http://schemas.microsoft.com/office/powerpoint/2010/main" val="4246238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382383"/>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731935"/>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1316" y="-55080"/>
            <a:ext cx="576064" cy="553998"/>
          </a:xfrm>
          <a:prstGeom prst="rect">
            <a:avLst/>
          </a:prstGeom>
          <a:noFill/>
        </p:spPr>
        <p:txBody>
          <a:bodyPr wrap="square" rtlCol="0">
            <a:spAutoFit/>
          </a:bodyPr>
          <a:lstStyle/>
          <a:p>
            <a:r>
              <a:rPr lang="en-AU" sz="1000" dirty="0"/>
              <a:t>24</a:t>
            </a:r>
          </a:p>
          <a:p>
            <a:r>
              <a:rPr lang="en-AU" sz="1000" dirty="0"/>
              <a:t>7</a:t>
            </a:r>
          </a:p>
          <a:p>
            <a:r>
              <a:rPr lang="en-AU" sz="1000" dirty="0"/>
              <a:t>30</a:t>
            </a:r>
          </a:p>
        </p:txBody>
      </p:sp>
      <p:cxnSp>
        <p:nvCxnSpPr>
          <p:cNvPr id="9" name="Straight Connector 8"/>
          <p:cNvCxnSpPr/>
          <p:nvPr/>
        </p:nvCxnSpPr>
        <p:spPr>
          <a:xfrm>
            <a:off x="1562297" y="722076"/>
            <a:ext cx="16207" cy="5725965"/>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141028" y="-42385"/>
            <a:ext cx="1584176" cy="400110"/>
          </a:xfrm>
          <a:prstGeom prst="rect">
            <a:avLst/>
          </a:prstGeom>
          <a:noFill/>
        </p:spPr>
        <p:txBody>
          <a:bodyPr wrap="square" rtlCol="0">
            <a:spAutoFit/>
          </a:bodyPr>
          <a:lstStyle/>
          <a:p>
            <a:r>
              <a:rPr lang="en-AU" sz="2000" dirty="0"/>
              <a:t>Date</a:t>
            </a:r>
          </a:p>
        </p:txBody>
      </p:sp>
      <p:sp>
        <p:nvSpPr>
          <p:cNvPr id="3" name="TextBox 2"/>
          <p:cNvSpPr txBox="1"/>
          <p:nvPr/>
        </p:nvSpPr>
        <p:spPr>
          <a:xfrm>
            <a:off x="1066387" y="-55080"/>
            <a:ext cx="1562864" cy="461665"/>
          </a:xfrm>
          <a:prstGeom prst="rect">
            <a:avLst/>
          </a:prstGeom>
          <a:noFill/>
        </p:spPr>
        <p:txBody>
          <a:bodyPr wrap="none" rtlCol="0">
            <a:spAutoFit/>
          </a:bodyPr>
          <a:lstStyle/>
          <a:p>
            <a:r>
              <a:rPr lang="en-AU" sz="2400" dirty="0"/>
              <a:t>Topic: Data</a:t>
            </a:r>
          </a:p>
        </p:txBody>
      </p:sp>
      <p:sp>
        <p:nvSpPr>
          <p:cNvPr id="5" name="TextBox 4"/>
          <p:cNvSpPr txBox="1"/>
          <p:nvPr/>
        </p:nvSpPr>
        <p:spPr>
          <a:xfrm>
            <a:off x="75315" y="376401"/>
            <a:ext cx="8137792" cy="400110"/>
          </a:xfrm>
          <a:prstGeom prst="rect">
            <a:avLst/>
          </a:prstGeom>
          <a:noFill/>
        </p:spPr>
        <p:txBody>
          <a:bodyPr wrap="square" rtlCol="0">
            <a:spAutoFit/>
          </a:bodyPr>
          <a:lstStyle/>
          <a:p>
            <a:r>
              <a:rPr lang="en-AU" sz="2000" dirty="0"/>
              <a:t>EQ – How can you create a fair survey of a population.</a:t>
            </a:r>
          </a:p>
        </p:txBody>
      </p:sp>
      <p:sp>
        <p:nvSpPr>
          <p:cNvPr id="8" name="Rectangle 7"/>
          <p:cNvSpPr/>
          <p:nvPr/>
        </p:nvSpPr>
        <p:spPr>
          <a:xfrm>
            <a:off x="1668869" y="722076"/>
            <a:ext cx="7319014" cy="5262979"/>
          </a:xfrm>
          <a:prstGeom prst="rect">
            <a:avLst/>
          </a:prstGeom>
        </p:spPr>
        <p:txBody>
          <a:bodyPr wrap="square">
            <a:spAutoFit/>
          </a:bodyPr>
          <a:lstStyle/>
          <a:p>
            <a:r>
              <a:rPr lang="en-AU" sz="1600" b="1" dirty="0"/>
              <a:t>What is a Biased Survey?</a:t>
            </a:r>
            <a:endParaRPr lang="en-AU" sz="1600" dirty="0"/>
          </a:p>
          <a:p>
            <a:r>
              <a:rPr lang="en-AU" sz="1600" dirty="0"/>
              <a:t>A biased survey gets skewed results because of the design of the survey and its questions. </a:t>
            </a:r>
          </a:p>
          <a:p>
            <a:endParaRPr lang="en-AU" sz="1600" dirty="0"/>
          </a:p>
          <a:p>
            <a:r>
              <a:rPr lang="en-AU" sz="1600" b="1" dirty="0"/>
              <a:t>Leading Questions </a:t>
            </a:r>
            <a:r>
              <a:rPr lang="en-AU" sz="1600" dirty="0"/>
              <a:t>will sway your reader to a particular side. </a:t>
            </a:r>
          </a:p>
          <a:p>
            <a:r>
              <a:rPr lang="en-AU" sz="1600" i="1" dirty="0"/>
              <a:t>Example:</a:t>
            </a:r>
            <a:r>
              <a:rPr lang="en-AU" sz="1600" dirty="0"/>
              <a:t> How dumb is (insert politician) when it comes to foreign policy? </a:t>
            </a:r>
          </a:p>
          <a:p>
            <a:endParaRPr lang="en-AU" sz="1600" dirty="0"/>
          </a:p>
          <a:p>
            <a:r>
              <a:rPr lang="en-AU" sz="1600" b="1" dirty="0"/>
              <a:t>Loaded Questions </a:t>
            </a:r>
            <a:r>
              <a:rPr lang="en-AU" sz="1600" dirty="0"/>
              <a:t>force people into answering the question in a particular way. </a:t>
            </a:r>
          </a:p>
          <a:p>
            <a:r>
              <a:rPr lang="en-AU" sz="1600" i="1" dirty="0"/>
              <a:t>Example:</a:t>
            </a:r>
            <a:r>
              <a:rPr lang="en-AU" sz="1600" dirty="0"/>
              <a:t> Where do you like to party? Well, what if the respondents don’t like to party?</a:t>
            </a:r>
          </a:p>
          <a:p>
            <a:endParaRPr lang="en-AU" sz="1600" dirty="0"/>
          </a:p>
          <a:p>
            <a:r>
              <a:rPr lang="en-AU" sz="1600" b="1" dirty="0"/>
              <a:t>Double-</a:t>
            </a:r>
            <a:r>
              <a:rPr lang="en-AU" sz="1600" b="1" dirty="0" err="1"/>
              <a:t>Barreled</a:t>
            </a:r>
            <a:r>
              <a:rPr lang="en-AU" sz="1600" b="1" dirty="0"/>
              <a:t> Questions </a:t>
            </a:r>
            <a:r>
              <a:rPr lang="en-AU" sz="1600" dirty="0"/>
              <a:t>forces your respondents to answer two questions at once.</a:t>
            </a:r>
          </a:p>
          <a:p>
            <a:r>
              <a:rPr lang="en-AU" sz="1600" i="1" dirty="0"/>
              <a:t>Example:</a:t>
            </a:r>
            <a:r>
              <a:rPr lang="en-AU" sz="1600" dirty="0"/>
              <a:t> How happy or unhappy are you with the rate of current school board funding and the common-core curriculum? </a:t>
            </a:r>
          </a:p>
          <a:p>
            <a:endParaRPr lang="en-AU" sz="1600" b="1" dirty="0"/>
          </a:p>
          <a:p>
            <a:r>
              <a:rPr lang="en-AU" sz="1600" b="1" dirty="0"/>
              <a:t>Absolute questions </a:t>
            </a:r>
            <a:r>
              <a:rPr lang="en-AU" sz="1600" dirty="0"/>
              <a:t>usually only have the option of a yes or no answer</a:t>
            </a:r>
          </a:p>
          <a:p>
            <a:r>
              <a:rPr lang="en-AU" sz="1600" i="1" dirty="0"/>
              <a:t>Example </a:t>
            </a:r>
            <a:r>
              <a:rPr lang="en-AU" sz="1600" dirty="0"/>
              <a:t>: Do you always shower before bed?</a:t>
            </a:r>
          </a:p>
          <a:p>
            <a:endParaRPr lang="en-AU" sz="1600" dirty="0"/>
          </a:p>
          <a:p>
            <a:r>
              <a:rPr lang="en-AU" sz="1600" b="1" dirty="0"/>
              <a:t>The Unclear Question</a:t>
            </a:r>
            <a:endParaRPr lang="en-AU" sz="1600" dirty="0"/>
          </a:p>
          <a:p>
            <a:r>
              <a:rPr lang="en-AU" sz="1600" dirty="0"/>
              <a:t>Tech jargon and acronyms create bias if people don’t understand the jargon.</a:t>
            </a:r>
          </a:p>
          <a:p>
            <a:endParaRPr lang="en-AU" sz="1600" dirty="0"/>
          </a:p>
        </p:txBody>
      </p:sp>
    </p:spTree>
    <p:extLst>
      <p:ext uri="{BB962C8B-B14F-4D97-AF65-F5344CB8AC3E}">
        <p14:creationId xmlns:p14="http://schemas.microsoft.com/office/powerpoint/2010/main" val="2342369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221718" y="106633"/>
            <a:ext cx="5308672" cy="2545078"/>
          </a:xfrm>
          <a:prstGeom prst="rect">
            <a:avLst/>
          </a:prstGeom>
        </p:spPr>
      </p:pic>
      <p:pic>
        <p:nvPicPr>
          <p:cNvPr id="3" name="Picture 2"/>
          <p:cNvPicPr>
            <a:picLocks noChangeAspect="1"/>
          </p:cNvPicPr>
          <p:nvPr/>
        </p:nvPicPr>
        <p:blipFill>
          <a:blip r:embed="rId3"/>
          <a:stretch>
            <a:fillRect/>
          </a:stretch>
        </p:blipFill>
        <p:spPr>
          <a:xfrm>
            <a:off x="365961" y="2651711"/>
            <a:ext cx="8164429" cy="3026469"/>
          </a:xfrm>
          <a:prstGeom prst="rect">
            <a:avLst/>
          </a:prstGeom>
        </p:spPr>
      </p:pic>
      <p:sp>
        <p:nvSpPr>
          <p:cNvPr id="4" name="TextBox 3">
            <a:extLst>
              <a:ext uri="{FF2B5EF4-FFF2-40B4-BE49-F238E27FC236}">
                <a16:creationId xmlns:a16="http://schemas.microsoft.com/office/drawing/2014/main" id="{0E7C272B-C08B-43BF-9C7A-E216488384A2}"/>
              </a:ext>
            </a:extLst>
          </p:cNvPr>
          <p:cNvSpPr txBox="1"/>
          <p:nvPr/>
        </p:nvSpPr>
        <p:spPr>
          <a:xfrm>
            <a:off x="288947" y="613317"/>
            <a:ext cx="2932771" cy="923330"/>
          </a:xfrm>
          <a:prstGeom prst="rect">
            <a:avLst/>
          </a:prstGeom>
          <a:noFill/>
        </p:spPr>
        <p:txBody>
          <a:bodyPr wrap="square" rtlCol="0">
            <a:spAutoFit/>
          </a:bodyPr>
          <a:lstStyle/>
          <a:p>
            <a:r>
              <a:rPr lang="en-AU" dirty="0"/>
              <a:t>LETS GO THROUGH THESE TOGETHER.</a:t>
            </a:r>
          </a:p>
          <a:p>
            <a:r>
              <a:rPr lang="en-AU" dirty="0"/>
              <a:t>Are these Biased?  Why?</a:t>
            </a:r>
          </a:p>
        </p:txBody>
      </p:sp>
    </p:spTree>
    <p:extLst>
      <p:ext uri="{BB962C8B-B14F-4D97-AF65-F5344CB8AC3E}">
        <p14:creationId xmlns:p14="http://schemas.microsoft.com/office/powerpoint/2010/main" val="1344326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B96A88-BE26-4987-AAC2-72EBC3D12B5C}"/>
              </a:ext>
            </a:extLst>
          </p:cNvPr>
          <p:cNvSpPr txBox="1"/>
          <p:nvPr/>
        </p:nvSpPr>
        <p:spPr>
          <a:xfrm>
            <a:off x="1092820" y="479502"/>
            <a:ext cx="7482468" cy="1323439"/>
          </a:xfrm>
          <a:prstGeom prst="rect">
            <a:avLst/>
          </a:prstGeom>
          <a:noFill/>
        </p:spPr>
        <p:txBody>
          <a:bodyPr wrap="square" rtlCol="0">
            <a:spAutoFit/>
          </a:bodyPr>
          <a:lstStyle/>
          <a:p>
            <a:r>
              <a:rPr lang="en-AU" sz="4000" dirty="0"/>
              <a:t>Now complete the rest of your worksheet.</a:t>
            </a:r>
          </a:p>
        </p:txBody>
      </p:sp>
    </p:spTree>
    <p:extLst>
      <p:ext uri="{BB962C8B-B14F-4D97-AF65-F5344CB8AC3E}">
        <p14:creationId xmlns:p14="http://schemas.microsoft.com/office/powerpoint/2010/main" val="321574237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4179</TotalTime>
  <Words>435</Words>
  <Application>Microsoft Office PowerPoint</Application>
  <PresentationFormat>On-screen Show (16:10)</PresentationFormat>
  <Paragraphs>73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E4007446</dc:creator>
  <cp:lastModifiedBy>WILSON James [Baldivis Secondary College]</cp:lastModifiedBy>
  <cp:revision>47</cp:revision>
  <dcterms:created xsi:type="dcterms:W3CDTF">2016-04-30T07:20:25Z</dcterms:created>
  <dcterms:modified xsi:type="dcterms:W3CDTF">2017-07-30T14:42:00Z</dcterms:modified>
</cp:coreProperties>
</file>
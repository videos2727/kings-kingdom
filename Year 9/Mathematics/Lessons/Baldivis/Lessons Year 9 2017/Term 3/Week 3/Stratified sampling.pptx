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6"/>
  </p:notesMasterIdLst>
  <p:sldIdLst>
    <p:sldId id="257" r:id="rId2"/>
    <p:sldId id="258" r:id="rId3"/>
    <p:sldId id="265" r:id="rId4"/>
    <p:sldId id="272" r:id="rId5"/>
    <p:sldId id="273" r:id="rId6"/>
    <p:sldId id="274" r:id="rId7"/>
    <p:sldId id="275" r:id="rId8"/>
    <p:sldId id="276" r:id="rId9"/>
    <p:sldId id="261" r:id="rId10"/>
    <p:sldId id="277" r:id="rId11"/>
    <p:sldId id="278" r:id="rId12"/>
    <p:sldId id="279" r:id="rId13"/>
    <p:sldId id="280"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0" autoAdjust="0"/>
    <p:restoredTop sz="94660"/>
  </p:normalViewPr>
  <p:slideViewPr>
    <p:cSldViewPr snapToGrid="0">
      <p:cViewPr varScale="1">
        <p:scale>
          <a:sx n="68" d="100"/>
          <a:sy n="68" d="100"/>
        </p:scale>
        <p:origin x="78" y="7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D782A7-FBB2-4C01-8B96-7ED282F3F976}" type="datetimeFigureOut">
              <a:rPr lang="en-AU" smtClean="0"/>
              <a:t>2/08/2017</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5E73DF-2440-4CF1-B2CE-89A1299EF45E}" type="slidenum">
              <a:rPr lang="en-AU" smtClean="0"/>
              <a:t>‹#›</a:t>
            </a:fld>
            <a:endParaRPr lang="en-AU"/>
          </a:p>
        </p:txBody>
      </p:sp>
    </p:spTree>
    <p:extLst>
      <p:ext uri="{BB962C8B-B14F-4D97-AF65-F5344CB8AC3E}">
        <p14:creationId xmlns:p14="http://schemas.microsoft.com/office/powerpoint/2010/main" val="1849609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Guide students through the question.</a:t>
            </a:r>
          </a:p>
          <a:p>
            <a:r>
              <a:rPr lang="en-AU" dirty="0"/>
              <a:t>Option</a:t>
            </a:r>
            <a:r>
              <a:rPr lang="en-AU" baseline="0" dirty="0"/>
              <a:t> 2: Dot plots handout (Scaffolded for kids who may need </a:t>
            </a:r>
            <a:r>
              <a:rPr lang="en-AU" baseline="0"/>
              <a:t>extra help)</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14</a:t>
            </a:fld>
            <a:endParaRPr lang="en-US"/>
          </a:p>
        </p:txBody>
      </p:sp>
    </p:spTree>
    <p:extLst>
      <p:ext uri="{BB962C8B-B14F-4D97-AF65-F5344CB8AC3E}">
        <p14:creationId xmlns:p14="http://schemas.microsoft.com/office/powerpoint/2010/main" val="34442303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5B50DEEB-5ADC-4D8E-A8C9-526B3F66113C}" type="datetimeFigureOut">
              <a:rPr lang="en-AU" smtClean="0"/>
              <a:t>2/08/2017</a:t>
            </a:fld>
            <a:endParaRPr lang="en-AU"/>
          </a:p>
        </p:txBody>
      </p:sp>
      <p:sp>
        <p:nvSpPr>
          <p:cNvPr id="5" name="Footer Placeholder 4"/>
          <p:cNvSpPr>
            <a:spLocks noGrp="1"/>
          </p:cNvSpPr>
          <p:nvPr>
            <p:ph type="ftr" sz="quarter" idx="11"/>
          </p:nvPr>
        </p:nvSpPr>
        <p:spPr>
          <a:xfrm>
            <a:off x="1371600" y="4323845"/>
            <a:ext cx="6400800" cy="365125"/>
          </a:xfrm>
        </p:spPr>
        <p:txBody>
          <a:bodyPr/>
          <a:lstStyle/>
          <a:p>
            <a:endParaRPr lang="en-AU"/>
          </a:p>
        </p:txBody>
      </p:sp>
      <p:sp>
        <p:nvSpPr>
          <p:cNvPr id="6" name="Slide Number Placeholder 5"/>
          <p:cNvSpPr>
            <a:spLocks noGrp="1"/>
          </p:cNvSpPr>
          <p:nvPr>
            <p:ph type="sldNum" sz="quarter" idx="12"/>
          </p:nvPr>
        </p:nvSpPr>
        <p:spPr>
          <a:xfrm>
            <a:off x="8077200" y="1430866"/>
            <a:ext cx="2743200" cy="365125"/>
          </a:xfrm>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19618634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50DEEB-5ADC-4D8E-A8C9-526B3F66113C}" type="datetimeFigureOut">
              <a:rPr lang="en-AU" smtClean="0"/>
              <a:t>2/08/2017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24608964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5B50DEEB-5ADC-4D8E-A8C9-526B3F66113C}" type="datetimeFigureOut">
              <a:rPr lang="en-AU" smtClean="0"/>
              <a:t>2/08/2017</a:t>
            </a:fld>
            <a:endParaRPr lang="en-AU"/>
          </a:p>
        </p:txBody>
      </p:sp>
      <p:sp>
        <p:nvSpPr>
          <p:cNvPr id="5" name="Footer Placeholder 4"/>
          <p:cNvSpPr>
            <a:spLocks noGrp="1"/>
          </p:cNvSpPr>
          <p:nvPr>
            <p:ph type="ftr" sz="quarter" idx="11"/>
          </p:nvPr>
        </p:nvSpPr>
        <p:spPr>
          <a:xfrm>
            <a:off x="685800" y="381001"/>
            <a:ext cx="6991492" cy="36406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273131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50DEEB-5ADC-4D8E-A8C9-526B3F66113C}" type="datetimeFigureOut">
              <a:rPr lang="en-AU" smtClean="0"/>
              <a:t>2/08/2017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10240754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50DEEB-5ADC-4D8E-A8C9-526B3F66113C}" type="datetimeFigureOut">
              <a:rPr lang="en-AU" smtClean="0"/>
              <a:t>2/08/2017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945091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50DEEB-5ADC-4D8E-A8C9-526B3F66113C}" type="datetimeFigureOut">
              <a:rPr lang="en-AU" smtClean="0"/>
              <a:t>2/08/2017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6759314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50DEEB-5ADC-4D8E-A8C9-526B3F66113C}" type="datetimeFigureOut">
              <a:rPr lang="en-AU" smtClean="0"/>
              <a:t>2/08/2017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22451823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50DEEB-5ADC-4D8E-A8C9-526B3F66113C}" type="datetimeFigureOut">
              <a:rPr lang="en-AU" smtClean="0"/>
              <a:t>2/08/2017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2672368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50DEEB-5ADC-4D8E-A8C9-526B3F66113C}" type="datetimeFigureOut">
              <a:rPr lang="en-AU" smtClean="0"/>
              <a:t>2/08/2017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10424505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50DEEB-5ADC-4D8E-A8C9-526B3F66113C}" type="datetimeFigureOut">
              <a:rPr lang="en-AU" smtClean="0"/>
              <a:t>2/08/2017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15360940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B50DEEB-5ADC-4D8E-A8C9-526B3F66113C}" type="datetimeFigureOut">
              <a:rPr lang="en-AU" smtClean="0"/>
              <a:t>2/08/2017</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14160446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B50DEEB-5ADC-4D8E-A8C9-526B3F66113C}" type="datetimeFigureOut">
              <a:rPr lang="en-AU" smtClean="0"/>
              <a:t>2/08/2017</a:t>
            </a:fld>
            <a:endParaRPr lang="en-AU"/>
          </a:p>
        </p:txBody>
      </p:sp>
      <p:sp>
        <p:nvSpPr>
          <p:cNvPr id="6" name="Footer Placeholder 5"/>
          <p:cNvSpPr>
            <a:spLocks noGrp="1"/>
          </p:cNvSpPr>
          <p:nvPr>
            <p:ph type="ftr" sz="quarter" idx="11"/>
          </p:nvPr>
        </p:nvSpPr>
        <p:spPr>
          <a:xfrm>
            <a:off x="685800" y="379941"/>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CA2C8DC2-D4AF-47DA-8549-2A713D637BB8}" type="slidenum">
              <a:rPr lang="en-AU" smtClean="0"/>
              <a:t>‹#›</a:t>
            </a:fld>
            <a:endParaRPr lang="en-AU"/>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2599101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5B50DEEB-5ADC-4D8E-A8C9-526B3F66113C}" type="datetimeFigureOut">
              <a:rPr lang="en-AU" smtClean="0"/>
              <a:t>2/08/2017</a:t>
            </a:fld>
            <a:endParaRPr lang="en-AU"/>
          </a:p>
        </p:txBody>
      </p:sp>
      <p:sp>
        <p:nvSpPr>
          <p:cNvPr id="6" name="Footer Placeholder 5"/>
          <p:cNvSpPr>
            <a:spLocks noGrp="1"/>
          </p:cNvSpPr>
          <p:nvPr>
            <p:ph type="ftr" sz="quarter" idx="11"/>
          </p:nvPr>
        </p:nvSpPr>
        <p:spPr>
          <a:xfrm>
            <a:off x="685800" y="378883"/>
            <a:ext cx="6991492" cy="365125"/>
          </a:xfrm>
        </p:spPr>
        <p:txBody>
          <a:bodyPr/>
          <a:lstStyle/>
          <a:p>
            <a:endParaRPr lang="en-AU"/>
          </a:p>
        </p:txBody>
      </p:sp>
      <p:sp>
        <p:nvSpPr>
          <p:cNvPr id="7" name="Slide Number Placeholder 6"/>
          <p:cNvSpPr>
            <a:spLocks noGrp="1"/>
          </p:cNvSpPr>
          <p:nvPr>
            <p:ph type="sldNum" sz="quarter" idx="12"/>
          </p:nvPr>
        </p:nvSpPr>
        <p:spPr>
          <a:xfrm>
            <a:off x="10862452" y="381000"/>
            <a:ext cx="643748" cy="365125"/>
          </a:xfrm>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37784521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B50DEEB-5ADC-4D8E-A8C9-526B3F66113C}" type="datetimeFigureOut">
              <a:rPr lang="en-AU" smtClean="0"/>
              <a:t>2/08/2017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17747467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B50DEEB-5ADC-4D8E-A8C9-526B3F66113C}" type="datetimeFigureOut">
              <a:rPr lang="en-AU" smtClean="0"/>
              <a:t>2/08/2017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23255317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50DEEB-5ADC-4D8E-A8C9-526B3F66113C}" type="datetimeFigureOut">
              <a:rPr lang="en-AU" smtClean="0"/>
              <a:t>2/08/2017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3289286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5B50DEEB-5ADC-4D8E-A8C9-526B3F66113C}" type="datetimeFigureOut">
              <a:rPr lang="en-AU" smtClean="0"/>
              <a:t>2/08/2017</a:t>
            </a:fld>
            <a:endParaRPr lang="en-AU"/>
          </a:p>
        </p:txBody>
      </p:sp>
      <p:sp>
        <p:nvSpPr>
          <p:cNvPr id="5" name="Footer Placeholder 4"/>
          <p:cNvSpPr>
            <a:spLocks noGrp="1"/>
          </p:cNvSpPr>
          <p:nvPr>
            <p:ph type="ftr" sz="quarter" idx="11"/>
          </p:nvPr>
        </p:nvSpPr>
        <p:spPr>
          <a:xfrm>
            <a:off x="685800" y="381000"/>
            <a:ext cx="6991492" cy="365125"/>
          </a:xfrm>
        </p:spPr>
        <p:txBody>
          <a:bodyPr/>
          <a:lstStyle/>
          <a:p>
            <a:endParaRPr lang="en-AU"/>
          </a:p>
        </p:txBody>
      </p:sp>
      <p:sp>
        <p:nvSpPr>
          <p:cNvPr id="6" name="Slide Number Placeholder 5"/>
          <p:cNvSpPr>
            <a:spLocks noGrp="1"/>
          </p:cNvSpPr>
          <p:nvPr>
            <p:ph type="sldNum" sz="quarter" idx="12"/>
          </p:nvPr>
        </p:nvSpPr>
        <p:spPr>
          <a:xfrm>
            <a:off x="10862452" y="381000"/>
            <a:ext cx="643748" cy="365125"/>
          </a:xfrm>
        </p:spPr>
        <p:txBody>
          <a:bodyPr/>
          <a:lstStyle/>
          <a:p>
            <a:fld id="{CA2C8DC2-D4AF-47DA-8549-2A713D637BB8}" type="slidenum">
              <a:rPr lang="en-AU" smtClean="0"/>
              <a:t>‹#›</a:t>
            </a:fld>
            <a:endParaRPr lang="en-AU"/>
          </a:p>
        </p:txBody>
      </p:sp>
    </p:spTree>
    <p:extLst>
      <p:ext uri="{BB962C8B-B14F-4D97-AF65-F5344CB8AC3E}">
        <p14:creationId xmlns:p14="http://schemas.microsoft.com/office/powerpoint/2010/main" val="4683100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50DEEB-5ADC-4D8E-A8C9-526B3F66113C}" type="datetimeFigureOut">
              <a:rPr lang="en-AU" smtClean="0"/>
              <a:t>2/08/2017</a:t>
            </a:fld>
            <a:endParaRPr lang="en-AU"/>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A2C8DC2-D4AF-47DA-8549-2A713D637BB8}" type="slidenum">
              <a:rPr lang="en-AU" smtClean="0"/>
              <a:t>‹#›</a:t>
            </a:fld>
            <a:endParaRPr lang="en-AU"/>
          </a:p>
        </p:txBody>
      </p:sp>
    </p:spTree>
    <p:extLst>
      <p:ext uri="{BB962C8B-B14F-4D97-AF65-F5344CB8AC3E}">
        <p14:creationId xmlns:p14="http://schemas.microsoft.com/office/powerpoint/2010/main" val="218819198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b="1" dirty="0">
                <a:solidFill>
                  <a:srgbClr val="0070C0"/>
                </a:solidFill>
                <a:latin typeface="Kiwi School Handwriting" panose="00000500000000000000" pitchFamily="2" charset="0"/>
              </a:rPr>
              <a:t>Sampling</a:t>
            </a:r>
            <a:endParaRPr lang="en-US" b="1" dirty="0">
              <a:solidFill>
                <a:srgbClr val="0070C0"/>
              </a:solidFill>
              <a:latin typeface="DJB Fancy Nancy" panose="02000500000000000000" pitchFamily="2" charset="0"/>
            </a:endParaRPr>
          </a:p>
        </p:txBody>
      </p:sp>
      <p:sp>
        <p:nvSpPr>
          <p:cNvPr id="3" name="Subtitle 2"/>
          <p:cNvSpPr>
            <a:spLocks noGrp="1"/>
          </p:cNvSpPr>
          <p:nvPr>
            <p:ph type="subTitle" idx="1"/>
          </p:nvPr>
        </p:nvSpPr>
        <p:spPr>
          <a:xfrm>
            <a:off x="1367875" y="3628501"/>
            <a:ext cx="9446339" cy="1384675"/>
          </a:xfrm>
        </p:spPr>
        <p:txBody>
          <a:bodyPr>
            <a:normAutofit/>
          </a:bodyPr>
          <a:lstStyle/>
          <a:p>
            <a:r>
              <a:rPr lang="en-US" sz="3200" b="1" dirty="0">
                <a:solidFill>
                  <a:schemeClr val="accent2">
                    <a:lumMod val="75000"/>
                  </a:schemeClr>
                </a:solidFill>
                <a:latin typeface="Kiwi School Handwriting" panose="00000500000000000000" pitchFamily="2" charset="0"/>
              </a:rPr>
              <a:t>Year 9</a:t>
            </a: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2895600" y="764373"/>
            <a:ext cx="8610600" cy="1293028"/>
          </a:xfrm>
        </p:spPr>
        <p:txBody>
          <a:bodyPr>
            <a:normAutofit/>
          </a:bodyPr>
          <a:lstStyle/>
          <a:p>
            <a:r>
              <a:rPr lang="en-US" sz="5400" b="1" dirty="0">
                <a:solidFill>
                  <a:schemeClr val="accent2">
                    <a:lumMod val="75000"/>
                  </a:schemeClr>
                </a:solidFill>
                <a:latin typeface="Kiwi School Handwriting" panose="00000500000000000000" pitchFamily="2" charset="0"/>
              </a:rPr>
              <a:t>Learning Intentions</a:t>
            </a:r>
          </a:p>
        </p:txBody>
      </p:sp>
      <p:sp>
        <p:nvSpPr>
          <p:cNvPr id="14" name="Content Placeholder 13"/>
          <p:cNvSpPr>
            <a:spLocks noGrp="1"/>
          </p:cNvSpPr>
          <p:nvPr>
            <p:ph idx="1"/>
          </p:nvPr>
        </p:nvSpPr>
        <p:spPr>
          <a:xfrm>
            <a:off x="687210" y="2348881"/>
            <a:ext cx="10817582" cy="4024125"/>
          </a:xfrm>
        </p:spPr>
        <p:txBody>
          <a:bodyPr>
            <a:normAutofit/>
          </a:bodyPr>
          <a:lstStyle/>
          <a:p>
            <a:pPr marL="0" indent="0">
              <a:buNone/>
            </a:pPr>
            <a:r>
              <a:rPr lang="en-AU" sz="4400" dirty="0">
                <a:latin typeface="Kiwi School Handwriting" panose="00000500000000000000" pitchFamily="2" charset="0"/>
              </a:rPr>
              <a:t>I will be able to</a:t>
            </a:r>
          </a:p>
          <a:p>
            <a:pPr marL="0" indent="0">
              <a:buNone/>
            </a:pPr>
            <a:endParaRPr lang="en-AU" sz="2000" dirty="0">
              <a:latin typeface="Kiwi School Handwriting" panose="00000500000000000000" pitchFamily="2" charset="0"/>
            </a:endParaRPr>
          </a:p>
          <a:p>
            <a:r>
              <a:rPr lang="en-AU" sz="3600" dirty="0">
                <a:latin typeface="Kiwi School Handwriting" panose="00000500000000000000" pitchFamily="2" charset="0"/>
              </a:rPr>
              <a:t>Describe the impact of sampling</a:t>
            </a:r>
          </a:p>
          <a:p>
            <a:r>
              <a:rPr lang="en-AU" sz="3600" dirty="0">
                <a:latin typeface="Kiwi School Handwriting" panose="00000500000000000000" pitchFamily="2" charset="0"/>
              </a:rPr>
              <a:t>Collect my own data samples</a:t>
            </a:r>
          </a:p>
          <a:p>
            <a:r>
              <a:rPr lang="en-AU" sz="3600" dirty="0">
                <a:latin typeface="Kiwi School Handwriting" panose="00000500000000000000" pitchFamily="2" charset="0"/>
              </a:rPr>
              <a:t>Describe stratified sampling</a:t>
            </a:r>
            <a:endParaRPr lang="en-US" sz="3600" dirty="0">
              <a:latin typeface="Kiwi School Handwriting" panose="00000500000000000000" pitchFamily="2" charset="0"/>
            </a:endParaRPr>
          </a:p>
        </p:txBody>
      </p:sp>
    </p:spTree>
    <p:extLst>
      <p:ext uri="{BB962C8B-B14F-4D97-AF65-F5344CB8AC3E}">
        <p14:creationId xmlns:p14="http://schemas.microsoft.com/office/powerpoint/2010/main" val="17204263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331E7-40FB-4A9B-BB51-9EA5C9F48C91}"/>
              </a:ext>
            </a:extLst>
          </p:cNvPr>
          <p:cNvSpPr>
            <a:spLocks noGrp="1"/>
          </p:cNvSpPr>
          <p:nvPr>
            <p:ph type="title"/>
          </p:nvPr>
        </p:nvSpPr>
        <p:spPr/>
        <p:txBody>
          <a:bodyPr>
            <a:normAutofit/>
          </a:bodyPr>
          <a:lstStyle/>
          <a:p>
            <a:r>
              <a:rPr lang="en-AU" sz="4800" b="1" dirty="0">
                <a:solidFill>
                  <a:schemeClr val="accent2">
                    <a:lumMod val="75000"/>
                  </a:schemeClr>
                </a:solidFill>
                <a:latin typeface="Kiwi School Handwriting" panose="00000500000000000000" pitchFamily="2" charset="0"/>
              </a:rPr>
              <a:t>The littering problem</a:t>
            </a:r>
          </a:p>
        </p:txBody>
      </p:sp>
      <p:sp>
        <p:nvSpPr>
          <p:cNvPr id="12" name="Content Placeholder 13">
            <a:extLst>
              <a:ext uri="{FF2B5EF4-FFF2-40B4-BE49-F238E27FC236}">
                <a16:creationId xmlns:a16="http://schemas.microsoft.com/office/drawing/2014/main" id="{3615184A-2AD2-4A3C-B509-70512E362146}"/>
              </a:ext>
            </a:extLst>
          </p:cNvPr>
          <p:cNvSpPr>
            <a:spLocks noGrp="1"/>
          </p:cNvSpPr>
          <p:nvPr>
            <p:ph idx="1"/>
          </p:nvPr>
        </p:nvSpPr>
        <p:spPr/>
        <p:txBody>
          <a:bodyPr>
            <a:normAutofit lnSpcReduction="10000"/>
          </a:bodyPr>
          <a:lstStyle/>
          <a:p>
            <a:pPr marL="0" indent="0">
              <a:buNone/>
            </a:pPr>
            <a:r>
              <a:rPr lang="en-AU" sz="4400" dirty="0">
                <a:latin typeface="Kiwi School Handwriting" panose="00000500000000000000" pitchFamily="2" charset="0"/>
              </a:rPr>
              <a:t>How bad a problem is littering around Baldivis?</a:t>
            </a:r>
          </a:p>
          <a:p>
            <a:pPr marL="0" indent="0">
              <a:buNone/>
            </a:pPr>
            <a:r>
              <a:rPr lang="en-AU" sz="2000" dirty="0">
                <a:latin typeface="Kiwi School Handwriting" panose="00000500000000000000" pitchFamily="2" charset="0"/>
              </a:rPr>
              <a:t>					</a:t>
            </a:r>
            <a:r>
              <a:rPr lang="en-AU" sz="3200" dirty="0">
                <a:latin typeface="Kiwi School Handwriting" panose="00000500000000000000" pitchFamily="2" charset="0"/>
              </a:rPr>
              <a:t>Score</a:t>
            </a:r>
            <a:endParaRPr lang="en-AU" sz="2000" dirty="0">
              <a:latin typeface="Kiwi School Handwriting" panose="00000500000000000000" pitchFamily="2" charset="0"/>
            </a:endParaRPr>
          </a:p>
          <a:p>
            <a:r>
              <a:rPr lang="en-AU" sz="3600" dirty="0">
                <a:latin typeface="Kiwi School Handwriting" panose="00000500000000000000" pitchFamily="2" charset="0"/>
              </a:rPr>
              <a:t>Major problem		   4</a:t>
            </a:r>
          </a:p>
          <a:p>
            <a:r>
              <a:rPr lang="en-AU" sz="3600" dirty="0">
                <a:latin typeface="Kiwi School Handwriting" panose="00000500000000000000" pitchFamily="2" charset="0"/>
              </a:rPr>
              <a:t>Occasional problem	   3</a:t>
            </a:r>
          </a:p>
          <a:p>
            <a:r>
              <a:rPr lang="en-AU" sz="3600" dirty="0">
                <a:latin typeface="Kiwi School Handwriting" panose="00000500000000000000" pitchFamily="2" charset="0"/>
              </a:rPr>
              <a:t>Minor problem		   2</a:t>
            </a:r>
          </a:p>
          <a:p>
            <a:r>
              <a:rPr lang="en-US" sz="3600" dirty="0">
                <a:latin typeface="Kiwi School Handwriting" panose="00000500000000000000" pitchFamily="2" charset="0"/>
              </a:rPr>
              <a:t>Not a problem		   1</a:t>
            </a:r>
          </a:p>
        </p:txBody>
      </p:sp>
    </p:spTree>
    <p:extLst>
      <p:ext uri="{BB962C8B-B14F-4D97-AF65-F5344CB8AC3E}">
        <p14:creationId xmlns:p14="http://schemas.microsoft.com/office/powerpoint/2010/main" val="12924833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331E7-40FB-4A9B-BB51-9EA5C9F48C91}"/>
              </a:ext>
            </a:extLst>
          </p:cNvPr>
          <p:cNvSpPr>
            <a:spLocks noGrp="1"/>
          </p:cNvSpPr>
          <p:nvPr>
            <p:ph type="title"/>
          </p:nvPr>
        </p:nvSpPr>
        <p:spPr/>
        <p:txBody>
          <a:bodyPr>
            <a:normAutofit/>
          </a:bodyPr>
          <a:lstStyle/>
          <a:p>
            <a:r>
              <a:rPr lang="en-AU" sz="4800" b="1" dirty="0">
                <a:solidFill>
                  <a:schemeClr val="accent2">
                    <a:lumMod val="75000"/>
                  </a:schemeClr>
                </a:solidFill>
                <a:latin typeface="Kiwi School Handwriting" panose="00000500000000000000" pitchFamily="2" charset="0"/>
              </a:rPr>
              <a:t>The littering problem</a:t>
            </a:r>
          </a:p>
        </p:txBody>
      </p:sp>
      <p:sp>
        <p:nvSpPr>
          <p:cNvPr id="12" name="Content Placeholder 13">
            <a:extLst>
              <a:ext uri="{FF2B5EF4-FFF2-40B4-BE49-F238E27FC236}">
                <a16:creationId xmlns:a16="http://schemas.microsoft.com/office/drawing/2014/main" id="{3615184A-2AD2-4A3C-B509-70512E362146}"/>
              </a:ext>
            </a:extLst>
          </p:cNvPr>
          <p:cNvSpPr>
            <a:spLocks noGrp="1"/>
          </p:cNvSpPr>
          <p:nvPr>
            <p:ph idx="1"/>
          </p:nvPr>
        </p:nvSpPr>
        <p:spPr/>
        <p:txBody>
          <a:bodyPr>
            <a:normAutofit/>
          </a:bodyPr>
          <a:lstStyle/>
          <a:p>
            <a:pPr marL="0" indent="0">
              <a:buNone/>
            </a:pPr>
            <a:r>
              <a:rPr lang="en-AU" sz="4400" dirty="0">
                <a:latin typeface="Kiwi School Handwriting" panose="00000500000000000000" pitchFamily="2" charset="0"/>
              </a:rPr>
              <a:t>The teacher will now number off the students in the class into 5 groups. Remember your number.</a:t>
            </a:r>
          </a:p>
          <a:p>
            <a:pPr marL="0" indent="0">
              <a:buNone/>
            </a:pPr>
            <a:r>
              <a:rPr lang="en-AU" sz="2000" dirty="0">
                <a:latin typeface="Kiwi School Handwriting" panose="00000500000000000000" pitchFamily="2" charset="0"/>
              </a:rPr>
              <a:t>		</a:t>
            </a:r>
            <a:endParaRPr lang="en-US" sz="3600" dirty="0">
              <a:latin typeface="Kiwi School Handwriting" panose="00000500000000000000" pitchFamily="2" charset="0"/>
            </a:endParaRPr>
          </a:p>
        </p:txBody>
      </p:sp>
    </p:spTree>
    <p:extLst>
      <p:ext uri="{BB962C8B-B14F-4D97-AF65-F5344CB8AC3E}">
        <p14:creationId xmlns:p14="http://schemas.microsoft.com/office/powerpoint/2010/main" val="22803442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331E7-40FB-4A9B-BB51-9EA5C9F48C91}"/>
              </a:ext>
            </a:extLst>
          </p:cNvPr>
          <p:cNvSpPr>
            <a:spLocks noGrp="1"/>
          </p:cNvSpPr>
          <p:nvPr>
            <p:ph type="title"/>
          </p:nvPr>
        </p:nvSpPr>
        <p:spPr/>
        <p:txBody>
          <a:bodyPr>
            <a:normAutofit/>
          </a:bodyPr>
          <a:lstStyle/>
          <a:p>
            <a:r>
              <a:rPr lang="en-AU" sz="4800" b="1" dirty="0">
                <a:solidFill>
                  <a:schemeClr val="accent2">
                    <a:lumMod val="75000"/>
                  </a:schemeClr>
                </a:solidFill>
                <a:latin typeface="Kiwi School Handwriting" panose="00000500000000000000" pitchFamily="2" charset="0"/>
              </a:rPr>
              <a:t>The littering problem</a:t>
            </a:r>
          </a:p>
        </p:txBody>
      </p:sp>
      <p:sp>
        <p:nvSpPr>
          <p:cNvPr id="12" name="Content Placeholder 13">
            <a:extLst>
              <a:ext uri="{FF2B5EF4-FFF2-40B4-BE49-F238E27FC236}">
                <a16:creationId xmlns:a16="http://schemas.microsoft.com/office/drawing/2014/main" id="{3615184A-2AD2-4A3C-B509-70512E362146}"/>
              </a:ext>
            </a:extLst>
          </p:cNvPr>
          <p:cNvSpPr>
            <a:spLocks noGrp="1"/>
          </p:cNvSpPr>
          <p:nvPr>
            <p:ph idx="1"/>
          </p:nvPr>
        </p:nvSpPr>
        <p:spPr/>
        <p:txBody>
          <a:bodyPr>
            <a:normAutofit/>
          </a:bodyPr>
          <a:lstStyle/>
          <a:p>
            <a:pPr marL="0" indent="0">
              <a:buNone/>
            </a:pPr>
            <a:r>
              <a:rPr lang="en-AU" sz="4400" dirty="0">
                <a:latin typeface="Kiwi School Handwriting" panose="00000500000000000000" pitchFamily="2" charset="0"/>
              </a:rPr>
              <a:t>Now we will record the results from group 2 only.</a:t>
            </a:r>
          </a:p>
          <a:p>
            <a:pPr marL="0" indent="0">
              <a:buNone/>
            </a:pPr>
            <a:endParaRPr lang="en-AU" sz="4400" dirty="0">
              <a:latin typeface="Kiwi School Handwriting" panose="00000500000000000000" pitchFamily="2" charset="0"/>
            </a:endParaRPr>
          </a:p>
          <a:p>
            <a:pPr marL="0" indent="0">
              <a:buNone/>
            </a:pPr>
            <a:r>
              <a:rPr lang="en-AU" sz="4400" dirty="0">
                <a:latin typeface="Kiwi School Handwriting" panose="00000500000000000000" pitchFamily="2" charset="0"/>
              </a:rPr>
              <a:t>Record the number of people in group 2</a:t>
            </a:r>
          </a:p>
          <a:p>
            <a:pPr marL="0" indent="0">
              <a:buNone/>
            </a:pPr>
            <a:r>
              <a:rPr lang="en-AU" sz="4400" dirty="0">
                <a:latin typeface="Kiwi School Handwriting" panose="00000500000000000000" pitchFamily="2" charset="0"/>
              </a:rPr>
              <a:t>Calculate their mean response</a:t>
            </a:r>
          </a:p>
          <a:p>
            <a:pPr marL="0" indent="0">
              <a:buNone/>
            </a:pPr>
            <a:r>
              <a:rPr lang="en-AU" sz="2000" dirty="0">
                <a:latin typeface="Kiwi School Handwriting" panose="00000500000000000000" pitchFamily="2" charset="0"/>
              </a:rPr>
              <a:t>		</a:t>
            </a:r>
            <a:endParaRPr lang="en-US" sz="3600" dirty="0">
              <a:latin typeface="Kiwi School Handwriting" panose="00000500000000000000" pitchFamily="2" charset="0"/>
            </a:endParaRPr>
          </a:p>
        </p:txBody>
      </p:sp>
    </p:spTree>
    <p:extLst>
      <p:ext uri="{BB962C8B-B14F-4D97-AF65-F5344CB8AC3E}">
        <p14:creationId xmlns:p14="http://schemas.microsoft.com/office/powerpoint/2010/main" val="6977491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331E7-40FB-4A9B-BB51-9EA5C9F48C91}"/>
              </a:ext>
            </a:extLst>
          </p:cNvPr>
          <p:cNvSpPr>
            <a:spLocks noGrp="1"/>
          </p:cNvSpPr>
          <p:nvPr>
            <p:ph type="title"/>
          </p:nvPr>
        </p:nvSpPr>
        <p:spPr/>
        <p:txBody>
          <a:bodyPr>
            <a:normAutofit/>
          </a:bodyPr>
          <a:lstStyle/>
          <a:p>
            <a:r>
              <a:rPr lang="en-AU" sz="4800" b="1" dirty="0">
                <a:solidFill>
                  <a:schemeClr val="accent2">
                    <a:lumMod val="75000"/>
                  </a:schemeClr>
                </a:solidFill>
                <a:latin typeface="Kiwi School Handwriting" panose="00000500000000000000" pitchFamily="2" charset="0"/>
              </a:rPr>
              <a:t>The littering problem</a:t>
            </a:r>
          </a:p>
        </p:txBody>
      </p:sp>
      <p:sp>
        <p:nvSpPr>
          <p:cNvPr id="12" name="Content Placeholder 13">
            <a:extLst>
              <a:ext uri="{FF2B5EF4-FFF2-40B4-BE49-F238E27FC236}">
                <a16:creationId xmlns:a16="http://schemas.microsoft.com/office/drawing/2014/main" id="{3615184A-2AD2-4A3C-B509-70512E362146}"/>
              </a:ext>
            </a:extLst>
          </p:cNvPr>
          <p:cNvSpPr>
            <a:spLocks noGrp="1"/>
          </p:cNvSpPr>
          <p:nvPr>
            <p:ph idx="1"/>
          </p:nvPr>
        </p:nvSpPr>
        <p:spPr>
          <a:xfrm>
            <a:off x="548640" y="2194560"/>
            <a:ext cx="10957560" cy="4024125"/>
          </a:xfrm>
        </p:spPr>
        <p:txBody>
          <a:bodyPr>
            <a:normAutofit/>
          </a:bodyPr>
          <a:lstStyle/>
          <a:p>
            <a:pPr marL="0" indent="0">
              <a:buNone/>
            </a:pPr>
            <a:r>
              <a:rPr lang="en-AU" sz="4400" dirty="0">
                <a:latin typeface="Kiwi School Handwriting" panose="00000500000000000000" pitchFamily="2" charset="0"/>
              </a:rPr>
              <a:t>Repeat this for group 2 and group 3.</a:t>
            </a:r>
          </a:p>
          <a:p>
            <a:pPr marL="0" indent="0">
              <a:buNone/>
            </a:pPr>
            <a:endParaRPr lang="en-AU" sz="4400" dirty="0">
              <a:latin typeface="Kiwi School Handwriting" panose="00000500000000000000" pitchFamily="2" charset="0"/>
            </a:endParaRPr>
          </a:p>
          <a:p>
            <a:pPr marL="0" indent="0">
              <a:buNone/>
            </a:pPr>
            <a:r>
              <a:rPr lang="en-AU" sz="4400" dirty="0">
                <a:latin typeface="Kiwi School Handwriting" panose="00000500000000000000" pitchFamily="2" charset="0"/>
              </a:rPr>
              <a:t>Record the number of people in groups 2 and 3</a:t>
            </a:r>
          </a:p>
          <a:p>
            <a:pPr marL="0" indent="0">
              <a:buNone/>
            </a:pPr>
            <a:r>
              <a:rPr lang="en-AU" sz="4400" dirty="0">
                <a:latin typeface="Kiwi School Handwriting" panose="00000500000000000000" pitchFamily="2" charset="0"/>
              </a:rPr>
              <a:t>Calculate their mean response (did it change?)</a:t>
            </a:r>
          </a:p>
          <a:p>
            <a:pPr marL="0" indent="0">
              <a:buNone/>
            </a:pPr>
            <a:r>
              <a:rPr lang="en-AU" sz="2000" dirty="0">
                <a:latin typeface="Kiwi School Handwriting" panose="00000500000000000000" pitchFamily="2" charset="0"/>
              </a:rPr>
              <a:t>		</a:t>
            </a:r>
            <a:endParaRPr lang="en-US" sz="3600" dirty="0">
              <a:latin typeface="Kiwi School Handwriting" panose="00000500000000000000" pitchFamily="2" charset="0"/>
            </a:endParaRPr>
          </a:p>
        </p:txBody>
      </p:sp>
    </p:spTree>
    <p:extLst>
      <p:ext uri="{BB962C8B-B14F-4D97-AF65-F5344CB8AC3E}">
        <p14:creationId xmlns:p14="http://schemas.microsoft.com/office/powerpoint/2010/main" val="3308108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331E7-40FB-4A9B-BB51-9EA5C9F48C91}"/>
              </a:ext>
            </a:extLst>
          </p:cNvPr>
          <p:cNvSpPr>
            <a:spLocks noGrp="1"/>
          </p:cNvSpPr>
          <p:nvPr>
            <p:ph type="title"/>
          </p:nvPr>
        </p:nvSpPr>
        <p:spPr/>
        <p:txBody>
          <a:bodyPr>
            <a:normAutofit/>
          </a:bodyPr>
          <a:lstStyle/>
          <a:p>
            <a:r>
              <a:rPr lang="en-AU" sz="4800" b="1" dirty="0">
                <a:solidFill>
                  <a:schemeClr val="accent2">
                    <a:lumMod val="75000"/>
                  </a:schemeClr>
                </a:solidFill>
                <a:latin typeface="Kiwi School Handwriting" panose="00000500000000000000" pitchFamily="2" charset="0"/>
              </a:rPr>
              <a:t>The littering problem</a:t>
            </a:r>
          </a:p>
        </p:txBody>
      </p:sp>
      <p:sp>
        <p:nvSpPr>
          <p:cNvPr id="12" name="Content Placeholder 13">
            <a:extLst>
              <a:ext uri="{FF2B5EF4-FFF2-40B4-BE49-F238E27FC236}">
                <a16:creationId xmlns:a16="http://schemas.microsoft.com/office/drawing/2014/main" id="{3615184A-2AD2-4A3C-B509-70512E362146}"/>
              </a:ext>
            </a:extLst>
          </p:cNvPr>
          <p:cNvSpPr>
            <a:spLocks noGrp="1"/>
          </p:cNvSpPr>
          <p:nvPr>
            <p:ph idx="1"/>
          </p:nvPr>
        </p:nvSpPr>
        <p:spPr>
          <a:xfrm>
            <a:off x="548640" y="2194560"/>
            <a:ext cx="5064369" cy="4024125"/>
          </a:xfrm>
        </p:spPr>
        <p:txBody>
          <a:bodyPr>
            <a:normAutofit fontScale="92500" lnSpcReduction="10000"/>
          </a:bodyPr>
          <a:lstStyle/>
          <a:p>
            <a:pPr marL="0" indent="0">
              <a:buNone/>
            </a:pPr>
            <a:r>
              <a:rPr lang="en-AU" sz="4400" dirty="0">
                <a:latin typeface="Kiwi School Handwriting" panose="00000500000000000000" pitchFamily="2" charset="0"/>
              </a:rPr>
              <a:t>Continue this process adding one more group at a time until the whole class has been recorded (a census of the whole population).</a:t>
            </a:r>
          </a:p>
          <a:p>
            <a:pPr marL="0" indent="0">
              <a:buNone/>
            </a:pPr>
            <a:r>
              <a:rPr lang="en-AU" sz="2000" dirty="0">
                <a:latin typeface="Kiwi School Handwriting" panose="00000500000000000000" pitchFamily="2" charset="0"/>
              </a:rPr>
              <a:t>		</a:t>
            </a:r>
            <a:endParaRPr lang="en-US" sz="3600" dirty="0">
              <a:latin typeface="Kiwi School Handwriting" panose="00000500000000000000" pitchFamily="2" charset="0"/>
            </a:endParaRPr>
          </a:p>
        </p:txBody>
      </p:sp>
      <p:pic>
        <p:nvPicPr>
          <p:cNvPr id="3" name="Picture 2">
            <a:extLst>
              <a:ext uri="{FF2B5EF4-FFF2-40B4-BE49-F238E27FC236}">
                <a16:creationId xmlns:a16="http://schemas.microsoft.com/office/drawing/2014/main" id="{65E1DADE-FECC-4D2D-BA1A-7F4325C40F0A}"/>
              </a:ext>
            </a:extLst>
          </p:cNvPr>
          <p:cNvPicPr>
            <a:picLocks noChangeAspect="1"/>
          </p:cNvPicPr>
          <p:nvPr/>
        </p:nvPicPr>
        <p:blipFill>
          <a:blip r:embed="rId2"/>
          <a:stretch>
            <a:fillRect/>
          </a:stretch>
        </p:blipFill>
        <p:spPr>
          <a:xfrm>
            <a:off x="6638924" y="2057401"/>
            <a:ext cx="4162425" cy="3835960"/>
          </a:xfrm>
          <a:prstGeom prst="rect">
            <a:avLst/>
          </a:prstGeom>
        </p:spPr>
      </p:pic>
    </p:spTree>
    <p:extLst>
      <p:ext uri="{BB962C8B-B14F-4D97-AF65-F5344CB8AC3E}">
        <p14:creationId xmlns:p14="http://schemas.microsoft.com/office/powerpoint/2010/main" val="37720826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331E7-40FB-4A9B-BB51-9EA5C9F48C91}"/>
              </a:ext>
            </a:extLst>
          </p:cNvPr>
          <p:cNvSpPr>
            <a:spLocks noGrp="1"/>
          </p:cNvSpPr>
          <p:nvPr>
            <p:ph type="title"/>
          </p:nvPr>
        </p:nvSpPr>
        <p:spPr/>
        <p:txBody>
          <a:bodyPr>
            <a:normAutofit/>
          </a:bodyPr>
          <a:lstStyle/>
          <a:p>
            <a:r>
              <a:rPr lang="en-AU" sz="4800" b="1" dirty="0">
                <a:solidFill>
                  <a:schemeClr val="accent2">
                    <a:lumMod val="75000"/>
                  </a:schemeClr>
                </a:solidFill>
                <a:latin typeface="Kiwi School Handwriting" panose="00000500000000000000" pitchFamily="2" charset="0"/>
              </a:rPr>
              <a:t>The littering problem</a:t>
            </a:r>
          </a:p>
        </p:txBody>
      </p:sp>
      <p:sp>
        <p:nvSpPr>
          <p:cNvPr id="12" name="Content Placeholder 13">
            <a:extLst>
              <a:ext uri="{FF2B5EF4-FFF2-40B4-BE49-F238E27FC236}">
                <a16:creationId xmlns:a16="http://schemas.microsoft.com/office/drawing/2014/main" id="{3615184A-2AD2-4A3C-B509-70512E362146}"/>
              </a:ext>
            </a:extLst>
          </p:cNvPr>
          <p:cNvSpPr>
            <a:spLocks noGrp="1"/>
          </p:cNvSpPr>
          <p:nvPr>
            <p:ph idx="1"/>
          </p:nvPr>
        </p:nvSpPr>
        <p:spPr>
          <a:xfrm>
            <a:off x="548640" y="2194560"/>
            <a:ext cx="5064369" cy="4024125"/>
          </a:xfrm>
        </p:spPr>
        <p:txBody>
          <a:bodyPr>
            <a:normAutofit/>
          </a:bodyPr>
          <a:lstStyle/>
          <a:p>
            <a:pPr marL="0" indent="0">
              <a:buNone/>
            </a:pPr>
            <a:r>
              <a:rPr lang="en-AU" sz="4400" dirty="0">
                <a:latin typeface="Kiwi School Handwriting" panose="00000500000000000000" pitchFamily="2" charset="0"/>
              </a:rPr>
              <a:t>As more people were sampled the results became more accurate. However it was also more work.</a:t>
            </a:r>
          </a:p>
          <a:p>
            <a:pPr marL="0" indent="0">
              <a:buNone/>
            </a:pPr>
            <a:r>
              <a:rPr lang="en-AU" sz="2000" dirty="0">
                <a:latin typeface="Kiwi School Handwriting" panose="00000500000000000000" pitchFamily="2" charset="0"/>
              </a:rPr>
              <a:t>		</a:t>
            </a:r>
            <a:endParaRPr lang="en-US" sz="3600" dirty="0">
              <a:latin typeface="Kiwi School Handwriting" panose="00000500000000000000" pitchFamily="2" charset="0"/>
            </a:endParaRPr>
          </a:p>
        </p:txBody>
      </p:sp>
      <p:pic>
        <p:nvPicPr>
          <p:cNvPr id="3" name="Picture 2">
            <a:extLst>
              <a:ext uri="{FF2B5EF4-FFF2-40B4-BE49-F238E27FC236}">
                <a16:creationId xmlns:a16="http://schemas.microsoft.com/office/drawing/2014/main" id="{65E1DADE-FECC-4D2D-BA1A-7F4325C40F0A}"/>
              </a:ext>
            </a:extLst>
          </p:cNvPr>
          <p:cNvPicPr>
            <a:picLocks noChangeAspect="1"/>
          </p:cNvPicPr>
          <p:nvPr/>
        </p:nvPicPr>
        <p:blipFill>
          <a:blip r:embed="rId2"/>
          <a:stretch>
            <a:fillRect/>
          </a:stretch>
        </p:blipFill>
        <p:spPr>
          <a:xfrm>
            <a:off x="6638924" y="2057401"/>
            <a:ext cx="4162425" cy="3835960"/>
          </a:xfrm>
          <a:prstGeom prst="rect">
            <a:avLst/>
          </a:prstGeom>
        </p:spPr>
      </p:pic>
    </p:spTree>
    <p:extLst>
      <p:ext uri="{BB962C8B-B14F-4D97-AF65-F5344CB8AC3E}">
        <p14:creationId xmlns:p14="http://schemas.microsoft.com/office/powerpoint/2010/main" val="41586891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52847"/>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784416" y="168072"/>
            <a:ext cx="1063112"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Data</a:t>
            </a:r>
          </a:p>
        </p:txBody>
      </p:sp>
      <p:sp>
        <p:nvSpPr>
          <p:cNvPr id="11" name="TextBox 10"/>
          <p:cNvSpPr txBox="1"/>
          <p:nvPr/>
        </p:nvSpPr>
        <p:spPr>
          <a:xfrm>
            <a:off x="9718850" y="137990"/>
            <a:ext cx="2160240"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829397"/>
            <a:ext cx="10607625" cy="461537"/>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can I take a more efficient sample</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2" name="Rectangle 1">
            <a:extLst>
              <a:ext uri="{FF2B5EF4-FFF2-40B4-BE49-F238E27FC236}">
                <a16:creationId xmlns:a16="http://schemas.microsoft.com/office/drawing/2014/main" id="{4036AAEB-9945-4746-AA0E-A3F537B5F485}"/>
              </a:ext>
            </a:extLst>
          </p:cNvPr>
          <p:cNvSpPr/>
          <p:nvPr/>
        </p:nvSpPr>
        <p:spPr>
          <a:xfrm>
            <a:off x="2175802" y="1552322"/>
            <a:ext cx="9036149" cy="1323439"/>
          </a:xfrm>
          <a:prstGeom prst="rect">
            <a:avLst/>
          </a:prstGeom>
        </p:spPr>
        <p:txBody>
          <a:bodyPr wrap="square">
            <a:spAutoFit/>
          </a:bodyPr>
          <a:lstStyle/>
          <a:p>
            <a:r>
              <a:rPr lang="en-GB" sz="2000" dirty="0"/>
              <a:t>To improve our sampling we can break a population up into groups, and then sample from each group independently. This is called stratified sampling.</a:t>
            </a:r>
          </a:p>
          <a:p>
            <a:endParaRPr lang="en-GB" sz="2000" dirty="0"/>
          </a:p>
        </p:txBody>
      </p:sp>
    </p:spTree>
    <p:extLst>
      <p:ext uri="{BB962C8B-B14F-4D97-AF65-F5344CB8AC3E}">
        <p14:creationId xmlns:p14="http://schemas.microsoft.com/office/powerpoint/2010/main" val="1013366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52847"/>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784416" y="168072"/>
            <a:ext cx="1063112"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Data</a:t>
            </a:r>
          </a:p>
        </p:txBody>
      </p:sp>
      <p:sp>
        <p:nvSpPr>
          <p:cNvPr id="11" name="TextBox 10"/>
          <p:cNvSpPr txBox="1"/>
          <p:nvPr/>
        </p:nvSpPr>
        <p:spPr>
          <a:xfrm>
            <a:off x="9718850" y="137990"/>
            <a:ext cx="2160240"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829397"/>
            <a:ext cx="10607625" cy="461537"/>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can I take a more efficient sample</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2" name="Rectangle 1">
            <a:extLst>
              <a:ext uri="{FF2B5EF4-FFF2-40B4-BE49-F238E27FC236}">
                <a16:creationId xmlns:a16="http://schemas.microsoft.com/office/drawing/2014/main" id="{4036AAEB-9945-4746-AA0E-A3F537B5F485}"/>
              </a:ext>
            </a:extLst>
          </p:cNvPr>
          <p:cNvSpPr/>
          <p:nvPr/>
        </p:nvSpPr>
        <p:spPr>
          <a:xfrm>
            <a:off x="2175802" y="1552322"/>
            <a:ext cx="9036149" cy="2246769"/>
          </a:xfrm>
          <a:prstGeom prst="rect">
            <a:avLst/>
          </a:prstGeom>
        </p:spPr>
        <p:txBody>
          <a:bodyPr wrap="square">
            <a:spAutoFit/>
          </a:bodyPr>
          <a:lstStyle/>
          <a:p>
            <a:r>
              <a:rPr lang="en-GB" sz="2000" dirty="0"/>
              <a:t>To improve our sampling we can break a population up into groups, and then sample from each group independently. This is called stratified sampling.</a:t>
            </a:r>
          </a:p>
          <a:p>
            <a:endParaRPr lang="en-GB" sz="2000" dirty="0"/>
          </a:p>
          <a:p>
            <a:r>
              <a:rPr lang="en-GB" sz="2000" dirty="0"/>
              <a:t>A </a:t>
            </a:r>
            <a:r>
              <a:rPr lang="en-GB" sz="2000" u="sng" dirty="0"/>
              <a:t>stratified sample </a:t>
            </a:r>
            <a:r>
              <a:rPr lang="en-GB" sz="2000" dirty="0"/>
              <a:t>helps avoid bias because each member of a section of the population has an equal chance of being selected in the sample.</a:t>
            </a:r>
            <a:endParaRPr lang="en-AU" sz="2000" dirty="0"/>
          </a:p>
        </p:txBody>
      </p:sp>
    </p:spTree>
    <p:extLst>
      <p:ext uri="{BB962C8B-B14F-4D97-AF65-F5344CB8AC3E}">
        <p14:creationId xmlns:p14="http://schemas.microsoft.com/office/powerpoint/2010/main" val="26437332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52847"/>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784416" y="168072"/>
            <a:ext cx="1063112"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Data</a:t>
            </a:r>
          </a:p>
        </p:txBody>
      </p:sp>
      <p:sp>
        <p:nvSpPr>
          <p:cNvPr id="11" name="TextBox 10"/>
          <p:cNvSpPr txBox="1"/>
          <p:nvPr/>
        </p:nvSpPr>
        <p:spPr>
          <a:xfrm>
            <a:off x="9718850" y="137990"/>
            <a:ext cx="2160240"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829397"/>
            <a:ext cx="10607625" cy="461537"/>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can I take a more efficient sample</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2" name="Rectangle 1">
            <a:extLst>
              <a:ext uri="{FF2B5EF4-FFF2-40B4-BE49-F238E27FC236}">
                <a16:creationId xmlns:a16="http://schemas.microsoft.com/office/drawing/2014/main" id="{4036AAEB-9945-4746-AA0E-A3F537B5F485}"/>
              </a:ext>
            </a:extLst>
          </p:cNvPr>
          <p:cNvSpPr/>
          <p:nvPr/>
        </p:nvSpPr>
        <p:spPr>
          <a:xfrm>
            <a:off x="2175802" y="1552322"/>
            <a:ext cx="9036149" cy="1015663"/>
          </a:xfrm>
          <a:prstGeom prst="rect">
            <a:avLst/>
          </a:prstGeom>
        </p:spPr>
        <p:txBody>
          <a:bodyPr wrap="square">
            <a:spAutoFit/>
          </a:bodyPr>
          <a:lstStyle/>
          <a:p>
            <a:r>
              <a:rPr lang="en-GB" sz="2000" dirty="0"/>
              <a:t>A </a:t>
            </a:r>
            <a:r>
              <a:rPr lang="en-GB" sz="2000" u="sng" dirty="0"/>
              <a:t>stratified sample </a:t>
            </a:r>
            <a:r>
              <a:rPr lang="en-GB" sz="2000" dirty="0"/>
              <a:t>helps avoid bias because each member of a section of the population has an equal chance of being selected in the sample.</a:t>
            </a:r>
            <a:endParaRPr lang="en-AU" sz="2000" dirty="0"/>
          </a:p>
        </p:txBody>
      </p:sp>
      <p:pic>
        <p:nvPicPr>
          <p:cNvPr id="3" name="Picture 2">
            <a:extLst>
              <a:ext uri="{FF2B5EF4-FFF2-40B4-BE49-F238E27FC236}">
                <a16:creationId xmlns:a16="http://schemas.microsoft.com/office/drawing/2014/main" id="{C107A0D6-3D3E-4D85-A0D1-37BABC54A05F}"/>
              </a:ext>
            </a:extLst>
          </p:cNvPr>
          <p:cNvPicPr>
            <a:picLocks noChangeAspect="1"/>
          </p:cNvPicPr>
          <p:nvPr/>
        </p:nvPicPr>
        <p:blipFill>
          <a:blip r:embed="rId2"/>
          <a:stretch>
            <a:fillRect/>
          </a:stretch>
        </p:blipFill>
        <p:spPr>
          <a:xfrm>
            <a:off x="2175801" y="2567985"/>
            <a:ext cx="9455375" cy="3059092"/>
          </a:xfrm>
          <a:prstGeom prst="rect">
            <a:avLst/>
          </a:prstGeom>
        </p:spPr>
      </p:pic>
      <p:pic>
        <p:nvPicPr>
          <p:cNvPr id="5" name="Picture 4">
            <a:extLst>
              <a:ext uri="{FF2B5EF4-FFF2-40B4-BE49-F238E27FC236}">
                <a16:creationId xmlns:a16="http://schemas.microsoft.com/office/drawing/2014/main" id="{E5A766E7-D5FF-47EC-9997-49539B5AE9CE}"/>
              </a:ext>
            </a:extLst>
          </p:cNvPr>
          <p:cNvPicPr>
            <a:picLocks noChangeAspect="1"/>
          </p:cNvPicPr>
          <p:nvPr/>
        </p:nvPicPr>
        <p:blipFill>
          <a:blip r:embed="rId3"/>
          <a:stretch>
            <a:fillRect/>
          </a:stretch>
        </p:blipFill>
        <p:spPr>
          <a:xfrm>
            <a:off x="4883320" y="4078331"/>
            <a:ext cx="6638120" cy="1548746"/>
          </a:xfrm>
          <a:prstGeom prst="rect">
            <a:avLst/>
          </a:prstGeom>
        </p:spPr>
      </p:pic>
    </p:spTree>
    <p:extLst>
      <p:ext uri="{BB962C8B-B14F-4D97-AF65-F5344CB8AC3E}">
        <p14:creationId xmlns:p14="http://schemas.microsoft.com/office/powerpoint/2010/main" val="30782641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52847"/>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784416" y="168072"/>
            <a:ext cx="1063112"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Data</a:t>
            </a:r>
          </a:p>
        </p:txBody>
      </p:sp>
      <p:sp>
        <p:nvSpPr>
          <p:cNvPr id="11" name="TextBox 10"/>
          <p:cNvSpPr txBox="1"/>
          <p:nvPr/>
        </p:nvSpPr>
        <p:spPr>
          <a:xfrm>
            <a:off x="9718850" y="137990"/>
            <a:ext cx="2160240"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829397"/>
            <a:ext cx="10607625" cy="461537"/>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can I take a more efficient sample</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2" name="Rectangle 1">
            <a:extLst>
              <a:ext uri="{FF2B5EF4-FFF2-40B4-BE49-F238E27FC236}">
                <a16:creationId xmlns:a16="http://schemas.microsoft.com/office/drawing/2014/main" id="{4036AAEB-9945-4746-AA0E-A3F537B5F485}"/>
              </a:ext>
            </a:extLst>
          </p:cNvPr>
          <p:cNvSpPr/>
          <p:nvPr/>
        </p:nvSpPr>
        <p:spPr>
          <a:xfrm>
            <a:off x="2175802" y="1552322"/>
            <a:ext cx="9036149" cy="1015663"/>
          </a:xfrm>
          <a:prstGeom prst="rect">
            <a:avLst/>
          </a:prstGeom>
        </p:spPr>
        <p:txBody>
          <a:bodyPr wrap="square">
            <a:spAutoFit/>
          </a:bodyPr>
          <a:lstStyle/>
          <a:p>
            <a:r>
              <a:rPr lang="en-GB" sz="2000" dirty="0"/>
              <a:t>A </a:t>
            </a:r>
            <a:r>
              <a:rPr lang="en-GB" sz="2000" u="sng" dirty="0"/>
              <a:t>stratified sample </a:t>
            </a:r>
            <a:r>
              <a:rPr lang="en-GB" sz="2000" dirty="0"/>
              <a:t>helps avoid bias because each member of a section of the population has an equal chance of being selected in the sample.</a:t>
            </a:r>
            <a:endParaRPr lang="en-AU" sz="2000" dirty="0"/>
          </a:p>
        </p:txBody>
      </p:sp>
      <p:pic>
        <p:nvPicPr>
          <p:cNvPr id="3" name="Picture 2">
            <a:extLst>
              <a:ext uri="{FF2B5EF4-FFF2-40B4-BE49-F238E27FC236}">
                <a16:creationId xmlns:a16="http://schemas.microsoft.com/office/drawing/2014/main" id="{C107A0D6-3D3E-4D85-A0D1-37BABC54A05F}"/>
              </a:ext>
            </a:extLst>
          </p:cNvPr>
          <p:cNvPicPr>
            <a:picLocks noChangeAspect="1"/>
          </p:cNvPicPr>
          <p:nvPr/>
        </p:nvPicPr>
        <p:blipFill>
          <a:blip r:embed="rId2"/>
          <a:stretch>
            <a:fillRect/>
          </a:stretch>
        </p:blipFill>
        <p:spPr>
          <a:xfrm>
            <a:off x="2175801" y="2567985"/>
            <a:ext cx="9455375" cy="3059092"/>
          </a:xfrm>
          <a:prstGeom prst="rect">
            <a:avLst/>
          </a:prstGeom>
        </p:spPr>
      </p:pic>
    </p:spTree>
    <p:extLst>
      <p:ext uri="{BB962C8B-B14F-4D97-AF65-F5344CB8AC3E}">
        <p14:creationId xmlns:p14="http://schemas.microsoft.com/office/powerpoint/2010/main" val="7396472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52847"/>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784416" y="168072"/>
            <a:ext cx="1063112"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Data</a:t>
            </a:r>
          </a:p>
        </p:txBody>
      </p:sp>
      <p:sp>
        <p:nvSpPr>
          <p:cNvPr id="11" name="TextBox 10"/>
          <p:cNvSpPr txBox="1"/>
          <p:nvPr/>
        </p:nvSpPr>
        <p:spPr>
          <a:xfrm>
            <a:off x="9718850" y="137990"/>
            <a:ext cx="2160240"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829397"/>
            <a:ext cx="10607625" cy="461537"/>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can I take a more efficient sample</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pic>
        <p:nvPicPr>
          <p:cNvPr id="3" name="Picture 2">
            <a:extLst>
              <a:ext uri="{FF2B5EF4-FFF2-40B4-BE49-F238E27FC236}">
                <a16:creationId xmlns:a16="http://schemas.microsoft.com/office/drawing/2014/main" id="{C107A0D6-3D3E-4D85-A0D1-37BABC54A05F}"/>
              </a:ext>
            </a:extLst>
          </p:cNvPr>
          <p:cNvPicPr>
            <a:picLocks noChangeAspect="1"/>
          </p:cNvPicPr>
          <p:nvPr/>
        </p:nvPicPr>
        <p:blipFill>
          <a:blip r:embed="rId2"/>
          <a:stretch>
            <a:fillRect/>
          </a:stretch>
        </p:blipFill>
        <p:spPr>
          <a:xfrm>
            <a:off x="2133597" y="1399009"/>
            <a:ext cx="9455375" cy="3059092"/>
          </a:xfrm>
          <a:prstGeom prst="rect">
            <a:avLst/>
          </a:prstGeom>
        </p:spPr>
      </p:pic>
      <p:sp>
        <p:nvSpPr>
          <p:cNvPr id="6" name="Rectangle 5">
            <a:extLst>
              <a:ext uri="{FF2B5EF4-FFF2-40B4-BE49-F238E27FC236}">
                <a16:creationId xmlns:a16="http://schemas.microsoft.com/office/drawing/2014/main" id="{AE4CBF39-57BC-46A5-88A9-D2EFD57F0D90}"/>
              </a:ext>
            </a:extLst>
          </p:cNvPr>
          <p:cNvSpPr/>
          <p:nvPr/>
        </p:nvSpPr>
        <p:spPr>
          <a:xfrm>
            <a:off x="2133596" y="4739865"/>
            <a:ext cx="9455375" cy="1631216"/>
          </a:xfrm>
          <a:prstGeom prst="rect">
            <a:avLst/>
          </a:prstGeom>
        </p:spPr>
        <p:txBody>
          <a:bodyPr wrap="square">
            <a:spAutoFit/>
          </a:bodyPr>
          <a:lstStyle/>
          <a:p>
            <a:r>
              <a:rPr lang="en-GB" sz="2000" dirty="0"/>
              <a:t>There are many industries that would want someone who can do stratified sampling. Examples of these are nuclear physics, investment bankers, political analysts, Netflix content managers, climate change researchers, wind farm designers, search and rescue planners and AI game programmers. </a:t>
            </a:r>
          </a:p>
        </p:txBody>
      </p:sp>
    </p:spTree>
    <p:extLst>
      <p:ext uri="{BB962C8B-B14F-4D97-AF65-F5344CB8AC3E}">
        <p14:creationId xmlns:p14="http://schemas.microsoft.com/office/powerpoint/2010/main" val="32900922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9656" y="188640"/>
            <a:ext cx="8608358" cy="1293028"/>
          </a:xfrm>
        </p:spPr>
        <p:txBody>
          <a:bodyPr>
            <a:normAutofit/>
          </a:bodyPr>
          <a:lstStyle/>
          <a:p>
            <a:r>
              <a:rPr lang="en-AU" sz="5400" b="1" dirty="0">
                <a:solidFill>
                  <a:schemeClr val="accent1">
                    <a:lumMod val="50000"/>
                  </a:schemeClr>
                </a:solidFill>
                <a:latin typeface="Kiwi School Handwriting" panose="00000500000000000000" pitchFamily="2" charset="0"/>
              </a:rPr>
              <a:t>Task</a:t>
            </a:r>
            <a:endParaRPr lang="en-US" sz="5400" b="1" dirty="0">
              <a:solidFill>
                <a:schemeClr val="accent1">
                  <a:lumMod val="50000"/>
                </a:schemeClr>
              </a:solidFill>
              <a:latin typeface="Kiwi School Handwriting" panose="00000500000000000000" pitchFamily="2" charset="0"/>
            </a:endParaRPr>
          </a:p>
        </p:txBody>
      </p:sp>
      <p:sp>
        <p:nvSpPr>
          <p:cNvPr id="7" name="Content Placeholder 2">
            <a:extLst>
              <a:ext uri="{FF2B5EF4-FFF2-40B4-BE49-F238E27FC236}">
                <a16:creationId xmlns:a16="http://schemas.microsoft.com/office/drawing/2014/main" id="{DAFF9EF6-86A2-42A5-AE9A-3FB82E18F8F6}"/>
              </a:ext>
            </a:extLst>
          </p:cNvPr>
          <p:cNvSpPr>
            <a:spLocks noGrp="1"/>
          </p:cNvSpPr>
          <p:nvPr>
            <p:ph idx="1"/>
          </p:nvPr>
        </p:nvSpPr>
        <p:spPr>
          <a:xfrm>
            <a:off x="2279386" y="2150408"/>
            <a:ext cx="7806309" cy="2503479"/>
          </a:xfrm>
        </p:spPr>
        <p:txBody>
          <a:bodyPr>
            <a:normAutofit/>
          </a:bodyPr>
          <a:lstStyle/>
          <a:p>
            <a:r>
              <a:rPr lang="en-AU" sz="3600" dirty="0"/>
              <a:t>Exercise 19.5, Q 1-4, page 265</a:t>
            </a:r>
          </a:p>
          <a:p>
            <a:r>
              <a:rPr lang="en-AU" sz="3600" dirty="0"/>
              <a:t>Complete your summary and make sure your contents page and glossary are up to date</a:t>
            </a:r>
            <a:endParaRPr lang="en-US" sz="3600" dirty="0"/>
          </a:p>
        </p:txBody>
      </p:sp>
    </p:spTree>
    <p:extLst>
      <p:ext uri="{BB962C8B-B14F-4D97-AF65-F5344CB8AC3E}">
        <p14:creationId xmlns:p14="http://schemas.microsoft.com/office/powerpoint/2010/main" val="7442821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1214</TotalTime>
  <Words>470</Words>
  <Application>Microsoft Office PowerPoint</Application>
  <PresentationFormat>Widescreen</PresentationFormat>
  <Paragraphs>79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Century Gothic</vt:lpstr>
      <vt:lpstr>DJB Fancy Nancy</vt:lpstr>
      <vt:lpstr>Kiwi School Handwriting</vt:lpstr>
      <vt:lpstr>Vapor Trail</vt:lpstr>
      <vt:lpstr>Sampling</vt:lpstr>
      <vt:lpstr>Learning Intentions</vt:lpstr>
      <vt:lpstr>The littering problem</vt:lpstr>
      <vt:lpstr>The littering problem</vt:lpstr>
      <vt:lpstr>The littering problem</vt:lpstr>
      <vt:lpstr>The littering problem</vt:lpstr>
      <vt:lpstr>The littering problem</vt:lpstr>
      <vt:lpstr>The littering problem</vt:lpstr>
      <vt:lpstr>PowerPoint Presentation</vt:lpstr>
      <vt:lpstr>PowerPoint Presentation</vt:lpstr>
      <vt:lpstr>PowerPoint Presentation</vt:lpstr>
      <vt:lpstr>PowerPoint Presentation</vt:lpstr>
      <vt:lpstr>PowerPoint Presentation</vt:lpstr>
      <vt:lpstr>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c:title>
  <dc:creator>Nine Labuschagne</dc:creator>
  <cp:lastModifiedBy>Hamilton Stott</cp:lastModifiedBy>
  <cp:revision>25</cp:revision>
  <dcterms:created xsi:type="dcterms:W3CDTF">2017-07-31T04:58:11Z</dcterms:created>
  <dcterms:modified xsi:type="dcterms:W3CDTF">2017-08-02T14:21:27Z</dcterms:modified>
</cp:coreProperties>
</file>
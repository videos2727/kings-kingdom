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340" r:id="rId2"/>
    <p:sldId id="336" r:id="rId3"/>
    <p:sldId id="328" r:id="rId4"/>
    <p:sldId id="338" r:id="rId5"/>
    <p:sldId id="324" r:id="rId6"/>
    <p:sldId id="337" r:id="rId7"/>
    <p:sldId id="339" r:id="rId8"/>
    <p:sldId id="335" r:id="rId9"/>
    <p:sldId id="291" r:id="rId10"/>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8401" autoAdjust="0"/>
  </p:normalViewPr>
  <p:slideViewPr>
    <p:cSldViewPr>
      <p:cViewPr varScale="1">
        <p:scale>
          <a:sx n="107" d="100"/>
          <a:sy n="107" d="100"/>
        </p:scale>
        <p:origin x="78" y="336"/>
      </p:cViewPr>
      <p:guideLst>
        <p:guide orient="horz" pos="180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19/07/2017</a:t>
            </a:fld>
            <a:endParaRPr lang="en-AU"/>
          </a:p>
        </p:txBody>
      </p:sp>
      <p:sp>
        <p:nvSpPr>
          <p:cNvPr id="4" name="Slide Image Placehold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endParaRPr lang="en-AU"/>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333500"/>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27542"/>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5"/>
            <a:ext cx="2057400" cy="4876271"/>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28865"/>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19/07/2017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8865"/>
            <a:ext cx="8229600" cy="9525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333500"/>
            <a:ext cx="82296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5296959"/>
            <a:ext cx="21336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19/07/2017</a:t>
            </a:fld>
            <a:endParaRPr lang="en-AU" dirty="0"/>
          </a:p>
        </p:txBody>
      </p:sp>
      <p:sp>
        <p:nvSpPr>
          <p:cNvPr id="5" name="Footer Placeholder 4"/>
          <p:cNvSpPr>
            <a:spLocks noGrp="1"/>
          </p:cNvSpPr>
          <p:nvPr>
            <p:ph type="ftr" sz="quarter" idx="3"/>
          </p:nvPr>
        </p:nvSpPr>
        <p:spPr>
          <a:xfrm>
            <a:off x="3124200" y="5296959"/>
            <a:ext cx="2895600" cy="30427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5296959"/>
            <a:ext cx="21336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65BBAD-806F-4B34-A3B1-C09146BADD44}"/>
              </a:ext>
            </a:extLst>
          </p:cNvPr>
          <p:cNvSpPr txBox="1"/>
          <p:nvPr/>
        </p:nvSpPr>
        <p:spPr>
          <a:xfrm>
            <a:off x="2339752" y="1705372"/>
            <a:ext cx="3384376" cy="1323439"/>
          </a:xfrm>
          <a:prstGeom prst="rect">
            <a:avLst/>
          </a:prstGeom>
          <a:noFill/>
        </p:spPr>
        <p:txBody>
          <a:bodyPr wrap="square" rtlCol="0">
            <a:spAutoFit/>
          </a:bodyPr>
          <a:lstStyle/>
          <a:p>
            <a:r>
              <a:rPr lang="en-AU" sz="4400" dirty="0" err="1"/>
              <a:t>Yr</a:t>
            </a:r>
            <a:r>
              <a:rPr lang="en-AU" sz="4400" dirty="0"/>
              <a:t> 9  - Range</a:t>
            </a:r>
          </a:p>
          <a:p>
            <a:endParaRPr lang="en-AU" dirty="0"/>
          </a:p>
          <a:p>
            <a:r>
              <a:rPr lang="en-AU" dirty="0"/>
              <a:t>J. Wilson</a:t>
            </a:r>
          </a:p>
        </p:txBody>
      </p:sp>
    </p:spTree>
    <p:extLst>
      <p:ext uri="{BB962C8B-B14F-4D97-AF65-F5344CB8AC3E}">
        <p14:creationId xmlns:p14="http://schemas.microsoft.com/office/powerpoint/2010/main" val="3370664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F6DFDA-4EBF-4B42-9BB5-ADD06AA6F6C8}"/>
              </a:ext>
            </a:extLst>
          </p:cNvPr>
          <p:cNvSpPr txBox="1"/>
          <p:nvPr/>
        </p:nvSpPr>
        <p:spPr>
          <a:xfrm>
            <a:off x="611560" y="409228"/>
            <a:ext cx="7992888" cy="923330"/>
          </a:xfrm>
          <a:prstGeom prst="rect">
            <a:avLst/>
          </a:prstGeom>
          <a:noFill/>
        </p:spPr>
        <p:txBody>
          <a:bodyPr wrap="square" rtlCol="0">
            <a:spAutoFit/>
          </a:bodyPr>
          <a:lstStyle/>
          <a:p>
            <a:r>
              <a:rPr lang="en-AU" dirty="0"/>
              <a:t>Two scientists have created a new treatment for cancer.  They have run a trial with 30 test subjects each of their new treatment and summarised their data as below.</a:t>
            </a:r>
          </a:p>
          <a:p>
            <a:endParaRPr lang="en-AU" dirty="0"/>
          </a:p>
        </p:txBody>
      </p:sp>
      <p:sp>
        <p:nvSpPr>
          <p:cNvPr id="3" name="TextBox 2">
            <a:extLst>
              <a:ext uri="{FF2B5EF4-FFF2-40B4-BE49-F238E27FC236}">
                <a16:creationId xmlns:a16="http://schemas.microsoft.com/office/drawing/2014/main" id="{ADCFD0D0-58BE-45C4-BE51-5B0B69695364}"/>
              </a:ext>
            </a:extLst>
          </p:cNvPr>
          <p:cNvSpPr txBox="1"/>
          <p:nvPr/>
        </p:nvSpPr>
        <p:spPr>
          <a:xfrm>
            <a:off x="755576" y="1345332"/>
            <a:ext cx="6048672" cy="1754326"/>
          </a:xfrm>
          <a:prstGeom prst="rect">
            <a:avLst/>
          </a:prstGeom>
          <a:noFill/>
        </p:spPr>
        <p:txBody>
          <a:bodyPr wrap="square" rtlCol="0">
            <a:spAutoFit/>
          </a:bodyPr>
          <a:lstStyle/>
          <a:p>
            <a:r>
              <a:rPr lang="en-AU" b="1" dirty="0"/>
              <a:t>Scientist 1.</a:t>
            </a:r>
          </a:p>
          <a:p>
            <a:r>
              <a:rPr lang="en-AU" b="1" dirty="0"/>
              <a:t>Tumour reduction % over 1 month</a:t>
            </a:r>
            <a:endParaRPr lang="en-AU" dirty="0"/>
          </a:p>
          <a:p>
            <a:r>
              <a:rPr lang="en-AU" dirty="0"/>
              <a:t>Mean = 15%</a:t>
            </a:r>
          </a:p>
          <a:p>
            <a:r>
              <a:rPr lang="en-AU" dirty="0"/>
              <a:t>Mode = 13%</a:t>
            </a:r>
          </a:p>
          <a:p>
            <a:r>
              <a:rPr lang="en-AU" dirty="0"/>
              <a:t>Median = 12%</a:t>
            </a:r>
          </a:p>
          <a:p>
            <a:endParaRPr lang="en-AU" dirty="0"/>
          </a:p>
        </p:txBody>
      </p:sp>
      <p:sp>
        <p:nvSpPr>
          <p:cNvPr id="4" name="TextBox 3">
            <a:extLst>
              <a:ext uri="{FF2B5EF4-FFF2-40B4-BE49-F238E27FC236}">
                <a16:creationId xmlns:a16="http://schemas.microsoft.com/office/drawing/2014/main" id="{CA32A122-C0D3-4FFF-ACD7-1690911E980D}"/>
              </a:ext>
            </a:extLst>
          </p:cNvPr>
          <p:cNvSpPr txBox="1"/>
          <p:nvPr/>
        </p:nvSpPr>
        <p:spPr>
          <a:xfrm>
            <a:off x="4788024" y="1347170"/>
            <a:ext cx="6048672" cy="1754326"/>
          </a:xfrm>
          <a:prstGeom prst="rect">
            <a:avLst/>
          </a:prstGeom>
          <a:noFill/>
        </p:spPr>
        <p:txBody>
          <a:bodyPr wrap="square" rtlCol="0">
            <a:spAutoFit/>
          </a:bodyPr>
          <a:lstStyle/>
          <a:p>
            <a:r>
              <a:rPr lang="en-AU" b="1" dirty="0"/>
              <a:t>Scientist 2.</a:t>
            </a:r>
          </a:p>
          <a:p>
            <a:r>
              <a:rPr lang="en-AU" b="1" dirty="0"/>
              <a:t>Tumour reduction % over 1 month</a:t>
            </a:r>
            <a:endParaRPr lang="en-AU" dirty="0"/>
          </a:p>
          <a:p>
            <a:r>
              <a:rPr lang="en-AU" dirty="0"/>
              <a:t>Mean = 15%</a:t>
            </a:r>
          </a:p>
          <a:p>
            <a:r>
              <a:rPr lang="en-AU" dirty="0"/>
              <a:t>Mode = 13%</a:t>
            </a:r>
          </a:p>
          <a:p>
            <a:r>
              <a:rPr lang="en-AU" dirty="0"/>
              <a:t>Median = 12%</a:t>
            </a:r>
          </a:p>
          <a:p>
            <a:endParaRPr lang="en-AU" dirty="0"/>
          </a:p>
        </p:txBody>
      </p:sp>
      <p:sp>
        <p:nvSpPr>
          <p:cNvPr id="5" name="TextBox 4">
            <a:extLst>
              <a:ext uri="{FF2B5EF4-FFF2-40B4-BE49-F238E27FC236}">
                <a16:creationId xmlns:a16="http://schemas.microsoft.com/office/drawing/2014/main" id="{14A36F64-FE89-4234-BBE3-205A45B50546}"/>
              </a:ext>
            </a:extLst>
          </p:cNvPr>
          <p:cNvSpPr txBox="1"/>
          <p:nvPr/>
        </p:nvSpPr>
        <p:spPr>
          <a:xfrm>
            <a:off x="1043608" y="3289548"/>
            <a:ext cx="6661742" cy="646331"/>
          </a:xfrm>
          <a:prstGeom prst="rect">
            <a:avLst/>
          </a:prstGeom>
          <a:noFill/>
        </p:spPr>
        <p:txBody>
          <a:bodyPr wrap="square" rtlCol="0">
            <a:spAutoFit/>
          </a:bodyPr>
          <a:lstStyle/>
          <a:p>
            <a:r>
              <a:rPr lang="en-AU" b="1" dirty="0"/>
              <a:t>How can you decide which new treatment gives the best results?  </a:t>
            </a:r>
            <a:endParaRPr lang="en-AU" dirty="0"/>
          </a:p>
          <a:p>
            <a:endParaRPr lang="en-AU" dirty="0"/>
          </a:p>
        </p:txBody>
      </p:sp>
    </p:spTree>
    <p:extLst>
      <p:ext uri="{BB962C8B-B14F-4D97-AF65-F5344CB8AC3E}">
        <p14:creationId xmlns:p14="http://schemas.microsoft.com/office/powerpoint/2010/main" val="877928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5" y="59171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10269" y="743362"/>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129308"/>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28924" y="-376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129308"/>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755576" y="131409"/>
            <a:ext cx="3086229" cy="523220"/>
          </a:xfrm>
          <a:prstGeom prst="rect">
            <a:avLst/>
          </a:prstGeom>
          <a:noFill/>
        </p:spPr>
        <p:txBody>
          <a:bodyPr wrap="none" rtlCol="0">
            <a:spAutoFit/>
          </a:bodyPr>
          <a:lstStyle/>
          <a:p>
            <a:r>
              <a:rPr lang="en-AU" sz="2800" dirty="0"/>
              <a:t>Measures of Spread</a:t>
            </a:r>
          </a:p>
        </p:txBody>
      </p:sp>
      <p:sp>
        <p:nvSpPr>
          <p:cNvPr id="11" name="TextBox 10"/>
          <p:cNvSpPr txBox="1"/>
          <p:nvPr/>
        </p:nvSpPr>
        <p:spPr>
          <a:xfrm>
            <a:off x="7439175" y="-465146"/>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251520" y="725010"/>
            <a:ext cx="8620422" cy="461665"/>
          </a:xfrm>
          <a:prstGeom prst="rect">
            <a:avLst/>
          </a:prstGeom>
          <a:noFill/>
        </p:spPr>
        <p:txBody>
          <a:bodyPr wrap="square" rtlCol="0">
            <a:spAutoFit/>
          </a:bodyPr>
          <a:lstStyle/>
          <a:p>
            <a:r>
              <a:rPr lang="en-AU" sz="2400" dirty="0"/>
              <a:t>EQ –  </a:t>
            </a:r>
          </a:p>
        </p:txBody>
      </p:sp>
      <p:sp>
        <p:nvSpPr>
          <p:cNvPr id="13" name="TextBox 12"/>
          <p:cNvSpPr txBox="1"/>
          <p:nvPr/>
        </p:nvSpPr>
        <p:spPr>
          <a:xfrm>
            <a:off x="958455" y="791334"/>
            <a:ext cx="8064896" cy="369332"/>
          </a:xfrm>
          <a:prstGeom prst="rect">
            <a:avLst/>
          </a:prstGeom>
          <a:noFill/>
        </p:spPr>
        <p:txBody>
          <a:bodyPr wrap="square" rtlCol="0">
            <a:spAutoFit/>
          </a:bodyPr>
          <a:lstStyle/>
          <a:p>
            <a:r>
              <a:rPr lang="en-AU" dirty="0"/>
              <a:t>Why do we need to use the range of a set of data</a:t>
            </a:r>
          </a:p>
        </p:txBody>
      </p:sp>
      <p:sp>
        <p:nvSpPr>
          <p:cNvPr id="14" name="TextBox 13"/>
          <p:cNvSpPr txBox="1"/>
          <p:nvPr/>
        </p:nvSpPr>
        <p:spPr>
          <a:xfrm>
            <a:off x="277073" y="1232604"/>
            <a:ext cx="2160240" cy="369332"/>
          </a:xfrm>
          <a:prstGeom prst="rect">
            <a:avLst/>
          </a:prstGeom>
          <a:noFill/>
        </p:spPr>
        <p:txBody>
          <a:bodyPr wrap="square" rtlCol="0">
            <a:spAutoFit/>
          </a:bodyPr>
          <a:lstStyle/>
          <a:p>
            <a:r>
              <a:rPr lang="en-AU" dirty="0"/>
              <a:t>What is Range?</a:t>
            </a:r>
          </a:p>
        </p:txBody>
      </p:sp>
      <p:sp>
        <p:nvSpPr>
          <p:cNvPr id="15" name="TextBox 14"/>
          <p:cNvSpPr txBox="1"/>
          <p:nvPr/>
        </p:nvSpPr>
        <p:spPr>
          <a:xfrm>
            <a:off x="2949453" y="1213643"/>
            <a:ext cx="6073898" cy="369332"/>
          </a:xfrm>
          <a:prstGeom prst="rect">
            <a:avLst/>
          </a:prstGeom>
          <a:noFill/>
        </p:spPr>
        <p:txBody>
          <a:bodyPr wrap="square" rtlCol="0">
            <a:spAutoFit/>
          </a:bodyPr>
          <a:lstStyle/>
          <a:p>
            <a:r>
              <a:rPr lang="en-AU" dirty="0"/>
              <a:t>Range is the distance between the largest and smallest values.</a:t>
            </a:r>
          </a:p>
        </p:txBody>
      </p:sp>
      <p:sp>
        <p:nvSpPr>
          <p:cNvPr id="16" name="TextBox 15"/>
          <p:cNvSpPr txBox="1"/>
          <p:nvPr/>
        </p:nvSpPr>
        <p:spPr>
          <a:xfrm>
            <a:off x="257197" y="1635952"/>
            <a:ext cx="2766381" cy="369332"/>
          </a:xfrm>
          <a:prstGeom prst="rect">
            <a:avLst/>
          </a:prstGeom>
          <a:noFill/>
        </p:spPr>
        <p:txBody>
          <a:bodyPr wrap="square" rtlCol="0">
            <a:spAutoFit/>
          </a:bodyPr>
          <a:lstStyle/>
          <a:p>
            <a:r>
              <a:rPr lang="en-AU" dirty="0"/>
              <a:t>How is Range calculated?</a:t>
            </a:r>
          </a:p>
        </p:txBody>
      </p:sp>
      <p:sp>
        <p:nvSpPr>
          <p:cNvPr id="17" name="TextBox 16"/>
          <p:cNvSpPr txBox="1"/>
          <p:nvPr/>
        </p:nvSpPr>
        <p:spPr>
          <a:xfrm>
            <a:off x="3079884" y="1633364"/>
            <a:ext cx="5040560" cy="2031325"/>
          </a:xfrm>
          <a:prstGeom prst="rect">
            <a:avLst/>
          </a:prstGeom>
          <a:noFill/>
        </p:spPr>
        <p:txBody>
          <a:bodyPr wrap="square" rtlCol="0">
            <a:spAutoFit/>
          </a:bodyPr>
          <a:lstStyle/>
          <a:p>
            <a:r>
              <a:rPr lang="en-AU" b="1" dirty="0"/>
              <a:t>Range = Maximum value – Minimum Value.</a:t>
            </a:r>
          </a:p>
          <a:p>
            <a:endParaRPr lang="en-AU" dirty="0"/>
          </a:p>
          <a:p>
            <a:r>
              <a:rPr lang="en-AU" b="1" u="sng" dirty="0"/>
              <a:t>Example: </a:t>
            </a:r>
            <a:r>
              <a:rPr lang="en-AU" b="1" dirty="0"/>
              <a:t>  </a:t>
            </a:r>
            <a:r>
              <a:rPr lang="en-AU" dirty="0"/>
              <a:t>2,4,5,5,7,8,9,11,15,17,19,21</a:t>
            </a:r>
          </a:p>
          <a:p>
            <a:endParaRPr lang="en-AU" dirty="0"/>
          </a:p>
          <a:p>
            <a:r>
              <a:rPr lang="en-AU" dirty="0"/>
              <a:t>Range  =  Max - Min </a:t>
            </a:r>
          </a:p>
          <a:p>
            <a:r>
              <a:rPr lang="en-AU" dirty="0"/>
              <a:t>             =  21 – 2</a:t>
            </a:r>
          </a:p>
          <a:p>
            <a:r>
              <a:rPr lang="en-AU" dirty="0"/>
              <a:t>             =  19</a:t>
            </a:r>
          </a:p>
        </p:txBody>
      </p:sp>
      <p:sp>
        <p:nvSpPr>
          <p:cNvPr id="18" name="TextBox 17">
            <a:extLst>
              <a:ext uri="{FF2B5EF4-FFF2-40B4-BE49-F238E27FC236}">
                <a16:creationId xmlns:a16="http://schemas.microsoft.com/office/drawing/2014/main" id="{0B13C050-D0C1-4253-AFF0-76527E24F654}"/>
              </a:ext>
            </a:extLst>
          </p:cNvPr>
          <p:cNvSpPr txBox="1"/>
          <p:nvPr/>
        </p:nvSpPr>
        <p:spPr>
          <a:xfrm>
            <a:off x="183072" y="3685592"/>
            <a:ext cx="2766381" cy="369332"/>
          </a:xfrm>
          <a:prstGeom prst="rect">
            <a:avLst/>
          </a:prstGeom>
          <a:noFill/>
        </p:spPr>
        <p:txBody>
          <a:bodyPr wrap="square" rtlCol="0">
            <a:spAutoFit/>
          </a:bodyPr>
          <a:lstStyle/>
          <a:p>
            <a:r>
              <a:rPr lang="en-AU" dirty="0"/>
              <a:t>What does range show?</a:t>
            </a:r>
          </a:p>
        </p:txBody>
      </p:sp>
      <p:sp>
        <p:nvSpPr>
          <p:cNvPr id="3" name="Rectangle 2">
            <a:extLst>
              <a:ext uri="{FF2B5EF4-FFF2-40B4-BE49-F238E27FC236}">
                <a16:creationId xmlns:a16="http://schemas.microsoft.com/office/drawing/2014/main" id="{AA727871-D9CF-463E-BF92-630CE6FD7457}"/>
              </a:ext>
            </a:extLst>
          </p:cNvPr>
          <p:cNvSpPr/>
          <p:nvPr/>
        </p:nvSpPr>
        <p:spPr>
          <a:xfrm>
            <a:off x="3143010" y="3701335"/>
            <a:ext cx="5735087" cy="1754326"/>
          </a:xfrm>
          <a:prstGeom prst="rect">
            <a:avLst/>
          </a:prstGeom>
        </p:spPr>
        <p:txBody>
          <a:bodyPr wrap="square">
            <a:spAutoFit/>
          </a:bodyPr>
          <a:lstStyle/>
          <a:p>
            <a:r>
              <a:rPr lang="en-AU" dirty="0"/>
              <a:t>Range shows how well the mean, median or mode represents the data. If the range is large, the mean is does  not represent the data as well as if the range is small, because there must be large differences between individual scores. When scientists run experiments, a small range is a good thing. It shows that your results are reproducible.</a:t>
            </a:r>
          </a:p>
        </p:txBody>
      </p:sp>
    </p:spTree>
    <p:extLst>
      <p:ext uri="{BB962C8B-B14F-4D97-AF65-F5344CB8AC3E}">
        <p14:creationId xmlns:p14="http://schemas.microsoft.com/office/powerpoint/2010/main" val="1872162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F6DFDA-4EBF-4B42-9BB5-ADD06AA6F6C8}"/>
              </a:ext>
            </a:extLst>
          </p:cNvPr>
          <p:cNvSpPr txBox="1"/>
          <p:nvPr/>
        </p:nvSpPr>
        <p:spPr>
          <a:xfrm>
            <a:off x="539552" y="108824"/>
            <a:ext cx="7992888" cy="923330"/>
          </a:xfrm>
          <a:prstGeom prst="rect">
            <a:avLst/>
          </a:prstGeom>
          <a:noFill/>
        </p:spPr>
        <p:txBody>
          <a:bodyPr wrap="square" rtlCol="0">
            <a:spAutoFit/>
          </a:bodyPr>
          <a:lstStyle/>
          <a:p>
            <a:r>
              <a:rPr lang="en-AU" dirty="0"/>
              <a:t>Two scientists have created a new treatment for cancer.  They have run a trial with 30 test subjects each of their new treatment and summarised their data as below.</a:t>
            </a:r>
          </a:p>
          <a:p>
            <a:endParaRPr lang="en-AU" dirty="0"/>
          </a:p>
        </p:txBody>
      </p:sp>
      <p:sp>
        <p:nvSpPr>
          <p:cNvPr id="3" name="TextBox 2">
            <a:extLst>
              <a:ext uri="{FF2B5EF4-FFF2-40B4-BE49-F238E27FC236}">
                <a16:creationId xmlns:a16="http://schemas.microsoft.com/office/drawing/2014/main" id="{ADCFD0D0-58BE-45C4-BE51-5B0B69695364}"/>
              </a:ext>
            </a:extLst>
          </p:cNvPr>
          <p:cNvSpPr txBox="1"/>
          <p:nvPr/>
        </p:nvSpPr>
        <p:spPr>
          <a:xfrm>
            <a:off x="827584" y="697260"/>
            <a:ext cx="6048672" cy="1754326"/>
          </a:xfrm>
          <a:prstGeom prst="rect">
            <a:avLst/>
          </a:prstGeom>
          <a:noFill/>
        </p:spPr>
        <p:txBody>
          <a:bodyPr wrap="square" rtlCol="0">
            <a:spAutoFit/>
          </a:bodyPr>
          <a:lstStyle/>
          <a:p>
            <a:r>
              <a:rPr lang="en-AU" b="1" dirty="0"/>
              <a:t>Scientist 1.</a:t>
            </a:r>
          </a:p>
          <a:p>
            <a:r>
              <a:rPr lang="en-AU" b="1" dirty="0"/>
              <a:t>Tumour reduction % over 1 month</a:t>
            </a:r>
            <a:endParaRPr lang="en-AU" dirty="0"/>
          </a:p>
          <a:p>
            <a:r>
              <a:rPr lang="en-AU" dirty="0"/>
              <a:t>Mean = 15%</a:t>
            </a:r>
          </a:p>
          <a:p>
            <a:r>
              <a:rPr lang="en-AU" dirty="0"/>
              <a:t>Mode = 13%</a:t>
            </a:r>
          </a:p>
          <a:p>
            <a:r>
              <a:rPr lang="en-AU" dirty="0"/>
              <a:t>Median = 12%</a:t>
            </a:r>
          </a:p>
          <a:p>
            <a:endParaRPr lang="en-AU" dirty="0"/>
          </a:p>
        </p:txBody>
      </p:sp>
      <p:sp>
        <p:nvSpPr>
          <p:cNvPr id="4" name="TextBox 3">
            <a:extLst>
              <a:ext uri="{FF2B5EF4-FFF2-40B4-BE49-F238E27FC236}">
                <a16:creationId xmlns:a16="http://schemas.microsoft.com/office/drawing/2014/main" id="{CA32A122-C0D3-4FFF-ACD7-1690911E980D}"/>
              </a:ext>
            </a:extLst>
          </p:cNvPr>
          <p:cNvSpPr txBox="1"/>
          <p:nvPr/>
        </p:nvSpPr>
        <p:spPr>
          <a:xfrm>
            <a:off x="4535996" y="764831"/>
            <a:ext cx="6048672" cy="1754326"/>
          </a:xfrm>
          <a:prstGeom prst="rect">
            <a:avLst/>
          </a:prstGeom>
          <a:noFill/>
        </p:spPr>
        <p:txBody>
          <a:bodyPr wrap="square" rtlCol="0">
            <a:spAutoFit/>
          </a:bodyPr>
          <a:lstStyle/>
          <a:p>
            <a:r>
              <a:rPr lang="en-AU" b="1" dirty="0"/>
              <a:t>Scientist 2.</a:t>
            </a:r>
          </a:p>
          <a:p>
            <a:r>
              <a:rPr lang="en-AU" b="1" dirty="0"/>
              <a:t>Tumour reduction % over 1 month</a:t>
            </a:r>
            <a:endParaRPr lang="en-AU" dirty="0"/>
          </a:p>
          <a:p>
            <a:r>
              <a:rPr lang="en-AU" dirty="0"/>
              <a:t>Mean = 15%</a:t>
            </a:r>
          </a:p>
          <a:p>
            <a:r>
              <a:rPr lang="en-AU" dirty="0"/>
              <a:t>Mode = 13%</a:t>
            </a:r>
          </a:p>
          <a:p>
            <a:r>
              <a:rPr lang="en-AU" dirty="0"/>
              <a:t>Median = 12%</a:t>
            </a:r>
          </a:p>
          <a:p>
            <a:endParaRPr lang="en-AU" dirty="0"/>
          </a:p>
        </p:txBody>
      </p:sp>
      <p:sp>
        <p:nvSpPr>
          <p:cNvPr id="5" name="TextBox 4">
            <a:extLst>
              <a:ext uri="{FF2B5EF4-FFF2-40B4-BE49-F238E27FC236}">
                <a16:creationId xmlns:a16="http://schemas.microsoft.com/office/drawing/2014/main" id="{14A36F64-FE89-4234-BBE3-205A45B50546}"/>
              </a:ext>
            </a:extLst>
          </p:cNvPr>
          <p:cNvSpPr txBox="1"/>
          <p:nvPr/>
        </p:nvSpPr>
        <p:spPr>
          <a:xfrm>
            <a:off x="971600" y="2128420"/>
            <a:ext cx="6661742" cy="369332"/>
          </a:xfrm>
          <a:prstGeom prst="rect">
            <a:avLst/>
          </a:prstGeom>
          <a:noFill/>
        </p:spPr>
        <p:txBody>
          <a:bodyPr wrap="square" rtlCol="0">
            <a:spAutoFit/>
          </a:bodyPr>
          <a:lstStyle/>
          <a:p>
            <a:r>
              <a:rPr lang="en-AU" b="1" dirty="0"/>
              <a:t>How can you decide which new treatment gives the best results?  </a:t>
            </a:r>
            <a:endParaRPr lang="en-AU" dirty="0"/>
          </a:p>
        </p:txBody>
      </p:sp>
      <p:sp>
        <p:nvSpPr>
          <p:cNvPr id="6" name="Rectangle 5">
            <a:extLst>
              <a:ext uri="{FF2B5EF4-FFF2-40B4-BE49-F238E27FC236}">
                <a16:creationId xmlns:a16="http://schemas.microsoft.com/office/drawing/2014/main" id="{52A8EC39-4E23-4D91-B72B-916A26E34C75}"/>
              </a:ext>
            </a:extLst>
          </p:cNvPr>
          <p:cNvSpPr/>
          <p:nvPr/>
        </p:nvSpPr>
        <p:spPr>
          <a:xfrm>
            <a:off x="845028" y="2800833"/>
            <a:ext cx="7902624" cy="1200329"/>
          </a:xfrm>
          <a:prstGeom prst="rect">
            <a:avLst/>
          </a:prstGeom>
        </p:spPr>
        <p:txBody>
          <a:bodyPr wrap="square">
            <a:spAutoFit/>
          </a:bodyPr>
          <a:lstStyle/>
          <a:p>
            <a:r>
              <a:rPr lang="en-AU" dirty="0"/>
              <a:t>-8,-5,-3,-2,-2,1,1,2,3,3,5,6,8,8,11,13,13,13,15,15,18,20,20,20,22,25,30,30,73,95</a:t>
            </a:r>
          </a:p>
          <a:p>
            <a:r>
              <a:rPr lang="en-AU" dirty="0"/>
              <a:t>Range = max-min</a:t>
            </a:r>
          </a:p>
          <a:p>
            <a:r>
              <a:rPr lang="en-AU" dirty="0"/>
              <a:t>            = 95- (-8) </a:t>
            </a:r>
          </a:p>
          <a:p>
            <a:r>
              <a:rPr lang="en-AU" dirty="0"/>
              <a:t>            = 103</a:t>
            </a:r>
          </a:p>
        </p:txBody>
      </p:sp>
      <p:sp>
        <p:nvSpPr>
          <p:cNvPr id="9" name="Rectangle 8">
            <a:extLst>
              <a:ext uri="{FF2B5EF4-FFF2-40B4-BE49-F238E27FC236}">
                <a16:creationId xmlns:a16="http://schemas.microsoft.com/office/drawing/2014/main" id="{4917DAD6-F05D-4181-9269-DDA87E7A7CAC}"/>
              </a:ext>
            </a:extLst>
          </p:cNvPr>
          <p:cNvSpPr/>
          <p:nvPr/>
        </p:nvSpPr>
        <p:spPr>
          <a:xfrm>
            <a:off x="672452" y="4287518"/>
            <a:ext cx="8478180" cy="1477328"/>
          </a:xfrm>
          <a:prstGeom prst="rect">
            <a:avLst/>
          </a:prstGeom>
        </p:spPr>
        <p:txBody>
          <a:bodyPr wrap="square">
            <a:spAutoFit/>
          </a:bodyPr>
          <a:lstStyle/>
          <a:p>
            <a:r>
              <a:rPr lang="en-AU" dirty="0"/>
              <a:t>8,8,9,9,10,10,10,10,11,11,11,11,12,12,12,12,13,13,13,13,13,20,21,21,23,24,25,25,30,30</a:t>
            </a:r>
          </a:p>
          <a:p>
            <a:r>
              <a:rPr lang="en-AU" dirty="0"/>
              <a:t>Range = max-min</a:t>
            </a:r>
          </a:p>
          <a:p>
            <a:r>
              <a:rPr lang="en-AU" dirty="0"/>
              <a:t>            = 30- 8 </a:t>
            </a:r>
          </a:p>
          <a:p>
            <a:r>
              <a:rPr lang="en-AU" dirty="0"/>
              <a:t>            = 22</a:t>
            </a:r>
          </a:p>
          <a:p>
            <a:endParaRPr lang="en-AU" dirty="0"/>
          </a:p>
        </p:txBody>
      </p:sp>
      <p:sp>
        <p:nvSpPr>
          <p:cNvPr id="10" name="Rectangle 9">
            <a:extLst>
              <a:ext uri="{FF2B5EF4-FFF2-40B4-BE49-F238E27FC236}">
                <a16:creationId xmlns:a16="http://schemas.microsoft.com/office/drawing/2014/main" id="{F8F468EE-FF5D-4064-AD0A-77077F03F173}"/>
              </a:ext>
            </a:extLst>
          </p:cNvPr>
          <p:cNvSpPr/>
          <p:nvPr/>
        </p:nvSpPr>
        <p:spPr>
          <a:xfrm>
            <a:off x="701012" y="2560325"/>
            <a:ext cx="2592288" cy="369332"/>
          </a:xfrm>
          <a:prstGeom prst="rect">
            <a:avLst/>
          </a:prstGeom>
        </p:spPr>
        <p:txBody>
          <a:bodyPr wrap="square">
            <a:spAutoFit/>
          </a:bodyPr>
          <a:lstStyle/>
          <a:p>
            <a:r>
              <a:rPr lang="en-AU" b="1" dirty="0"/>
              <a:t>Scientist 1 – Raw Data</a:t>
            </a:r>
          </a:p>
        </p:txBody>
      </p:sp>
      <p:sp>
        <p:nvSpPr>
          <p:cNvPr id="11" name="Rectangle 10">
            <a:extLst>
              <a:ext uri="{FF2B5EF4-FFF2-40B4-BE49-F238E27FC236}">
                <a16:creationId xmlns:a16="http://schemas.microsoft.com/office/drawing/2014/main" id="{FCC68CEF-6A10-440E-8D4E-2F0503D3750F}"/>
              </a:ext>
            </a:extLst>
          </p:cNvPr>
          <p:cNvSpPr/>
          <p:nvPr/>
        </p:nvSpPr>
        <p:spPr>
          <a:xfrm>
            <a:off x="744480" y="4047328"/>
            <a:ext cx="2592288" cy="369332"/>
          </a:xfrm>
          <a:prstGeom prst="rect">
            <a:avLst/>
          </a:prstGeom>
        </p:spPr>
        <p:txBody>
          <a:bodyPr wrap="square">
            <a:spAutoFit/>
          </a:bodyPr>
          <a:lstStyle/>
          <a:p>
            <a:r>
              <a:rPr lang="en-AU" b="1" dirty="0"/>
              <a:t>Scientist 2 – Raw Data</a:t>
            </a:r>
          </a:p>
        </p:txBody>
      </p:sp>
      <p:sp>
        <p:nvSpPr>
          <p:cNvPr id="12" name="TextBox 11">
            <a:extLst>
              <a:ext uri="{FF2B5EF4-FFF2-40B4-BE49-F238E27FC236}">
                <a16:creationId xmlns:a16="http://schemas.microsoft.com/office/drawing/2014/main" id="{04E5A2F2-6F30-4843-A7C7-A5993F250185}"/>
              </a:ext>
            </a:extLst>
          </p:cNvPr>
          <p:cNvSpPr txBox="1"/>
          <p:nvPr/>
        </p:nvSpPr>
        <p:spPr>
          <a:xfrm>
            <a:off x="4067944" y="4873724"/>
            <a:ext cx="4536504" cy="646331"/>
          </a:xfrm>
          <a:prstGeom prst="rect">
            <a:avLst/>
          </a:prstGeom>
          <a:noFill/>
        </p:spPr>
        <p:txBody>
          <a:bodyPr wrap="square" rtlCol="0">
            <a:spAutoFit/>
          </a:bodyPr>
          <a:lstStyle/>
          <a:p>
            <a:r>
              <a:rPr lang="en-AU" dirty="0"/>
              <a:t>Do the treatments still look the same?  Which do you think is the better treatment?</a:t>
            </a:r>
          </a:p>
        </p:txBody>
      </p:sp>
    </p:spTree>
    <p:extLst>
      <p:ext uri="{BB962C8B-B14F-4D97-AF65-F5344CB8AC3E}">
        <p14:creationId xmlns:p14="http://schemas.microsoft.com/office/powerpoint/2010/main" val="196415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4927"/>
            <a:ext cx="8229600" cy="532333"/>
          </a:xfrm>
        </p:spPr>
        <p:txBody>
          <a:bodyPr>
            <a:normAutofit fontScale="90000"/>
          </a:bodyPr>
          <a:lstStyle/>
          <a:p>
            <a:r>
              <a:rPr lang="en-AU" dirty="0"/>
              <a:t>Task - Guided</a:t>
            </a:r>
          </a:p>
        </p:txBody>
      </p:sp>
      <p:sp>
        <p:nvSpPr>
          <p:cNvPr id="4" name="Content Placeholder 3"/>
          <p:cNvSpPr>
            <a:spLocks noGrp="1"/>
          </p:cNvSpPr>
          <p:nvPr>
            <p:ph idx="1"/>
          </p:nvPr>
        </p:nvSpPr>
        <p:spPr>
          <a:xfrm>
            <a:off x="457200" y="695194"/>
            <a:ext cx="8229600" cy="4826602"/>
          </a:xfrm>
        </p:spPr>
        <p:txBody>
          <a:bodyPr>
            <a:normAutofit/>
          </a:bodyPr>
          <a:lstStyle/>
          <a:p>
            <a:pPr>
              <a:buNone/>
            </a:pPr>
            <a:r>
              <a:rPr lang="en-GB" sz="2800" b="1" dirty="0"/>
              <a:t>Work out the Range of each of the following sets of data showing clearly all the steps in your working.  </a:t>
            </a:r>
            <a:endParaRPr lang="en-AU" sz="2800" dirty="0"/>
          </a:p>
          <a:p>
            <a:pPr>
              <a:buNone/>
            </a:pPr>
            <a:r>
              <a:rPr lang="en-GB" sz="2800" b="1" dirty="0"/>
              <a:t> </a:t>
            </a:r>
            <a:endParaRPr lang="en-AU" sz="2800" dirty="0"/>
          </a:p>
          <a:p>
            <a:pPr marL="514350" indent="-514350">
              <a:buFont typeface="+mj-lt"/>
              <a:buAutoNum type="arabicPeriod"/>
            </a:pPr>
            <a:r>
              <a:rPr lang="en-GB" sz="2400" b="1" dirty="0"/>
              <a:t>3,9,12,15,16,18,21</a:t>
            </a:r>
          </a:p>
          <a:p>
            <a:pPr marL="1257300" lvl="3" indent="0">
              <a:buNone/>
            </a:pPr>
            <a:endParaRPr lang="en-GB" sz="1200" b="1" dirty="0"/>
          </a:p>
          <a:p>
            <a:pPr marL="514350" indent="-514350">
              <a:buFont typeface="+mj-lt"/>
              <a:buAutoNum type="arabicPeriod"/>
            </a:pPr>
            <a:endParaRPr lang="en-GB" sz="2400" b="1" dirty="0"/>
          </a:p>
          <a:p>
            <a:pPr marL="514350" indent="-514350">
              <a:buFont typeface="+mj-lt"/>
              <a:buAutoNum type="arabicPeriod"/>
            </a:pPr>
            <a:endParaRPr lang="en-AU" sz="2400" dirty="0"/>
          </a:p>
          <a:p>
            <a:pPr marL="514350" indent="-514350">
              <a:buFont typeface="+mj-lt"/>
              <a:buAutoNum type="arabicPeriod"/>
            </a:pPr>
            <a:r>
              <a:rPr lang="en-GB" sz="2400" b="1" dirty="0"/>
              <a:t>152, 167, 159, 162, 140, 157, 163, 160, 155, 141, 158</a:t>
            </a:r>
          </a:p>
          <a:p>
            <a:pPr>
              <a:buNone/>
            </a:pPr>
            <a:r>
              <a:rPr lang="en-GB" sz="2400" b="1" dirty="0"/>
              <a:t> </a:t>
            </a:r>
            <a:endParaRPr lang="en-AU" sz="2400" dirty="0"/>
          </a:p>
          <a:p>
            <a:pPr>
              <a:buNone/>
            </a:pPr>
            <a:endParaRPr lang="en-AU" b="1" dirty="0"/>
          </a:p>
          <a:p>
            <a:pPr>
              <a:buNone/>
            </a:pPr>
            <a:endParaRPr lang="en-AU" dirty="0"/>
          </a:p>
        </p:txBody>
      </p:sp>
      <p:sp>
        <p:nvSpPr>
          <p:cNvPr id="3" name="TextBox 2">
            <a:extLst>
              <a:ext uri="{FF2B5EF4-FFF2-40B4-BE49-F238E27FC236}">
                <a16:creationId xmlns:a16="http://schemas.microsoft.com/office/drawing/2014/main" id="{38FF3910-D083-49E9-AAAE-9826AD4C1323}"/>
              </a:ext>
            </a:extLst>
          </p:cNvPr>
          <p:cNvSpPr txBox="1"/>
          <p:nvPr/>
        </p:nvSpPr>
        <p:spPr>
          <a:xfrm>
            <a:off x="3995936" y="2170873"/>
            <a:ext cx="2592288" cy="1200329"/>
          </a:xfrm>
          <a:prstGeom prst="rect">
            <a:avLst/>
          </a:prstGeom>
          <a:noFill/>
        </p:spPr>
        <p:txBody>
          <a:bodyPr wrap="square" rtlCol="0">
            <a:spAutoFit/>
          </a:bodyPr>
          <a:lstStyle/>
          <a:p>
            <a:r>
              <a:rPr lang="en-GB" sz="2400" b="1" dirty="0"/>
              <a:t>Range = max – min</a:t>
            </a:r>
          </a:p>
          <a:p>
            <a:r>
              <a:rPr lang="en-GB" sz="2400" b="1" dirty="0"/>
              <a:t>             = 21 – 3</a:t>
            </a:r>
          </a:p>
          <a:p>
            <a:r>
              <a:rPr lang="en-GB" sz="2400" b="1" dirty="0"/>
              <a:t>             = 18</a:t>
            </a:r>
          </a:p>
        </p:txBody>
      </p:sp>
      <p:sp>
        <p:nvSpPr>
          <p:cNvPr id="5" name="Oval 4">
            <a:extLst>
              <a:ext uri="{FF2B5EF4-FFF2-40B4-BE49-F238E27FC236}">
                <a16:creationId xmlns:a16="http://schemas.microsoft.com/office/drawing/2014/main" id="{3C7BDCCA-A38E-43A4-915F-C1E22283F9C5}"/>
              </a:ext>
            </a:extLst>
          </p:cNvPr>
          <p:cNvSpPr/>
          <p:nvPr/>
        </p:nvSpPr>
        <p:spPr>
          <a:xfrm>
            <a:off x="3015227" y="2170873"/>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032902C9-7C7E-4D61-AB2D-46846C37992F}"/>
              </a:ext>
            </a:extLst>
          </p:cNvPr>
          <p:cNvSpPr/>
          <p:nvPr/>
        </p:nvSpPr>
        <p:spPr>
          <a:xfrm>
            <a:off x="899592" y="2170873"/>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791067D3-D09F-41BB-B4FA-9938E3375E23}"/>
              </a:ext>
            </a:extLst>
          </p:cNvPr>
          <p:cNvSpPr txBox="1"/>
          <p:nvPr/>
        </p:nvSpPr>
        <p:spPr>
          <a:xfrm>
            <a:off x="2843808" y="4230475"/>
            <a:ext cx="2592288" cy="1200329"/>
          </a:xfrm>
          <a:prstGeom prst="rect">
            <a:avLst/>
          </a:prstGeom>
          <a:noFill/>
        </p:spPr>
        <p:txBody>
          <a:bodyPr wrap="square" rtlCol="0">
            <a:spAutoFit/>
          </a:bodyPr>
          <a:lstStyle/>
          <a:p>
            <a:r>
              <a:rPr lang="en-GB" sz="2400" b="1" dirty="0"/>
              <a:t>Range = max – min</a:t>
            </a:r>
          </a:p>
          <a:p>
            <a:r>
              <a:rPr lang="en-GB" sz="2400" b="1" dirty="0"/>
              <a:t>             = 167 – 140</a:t>
            </a:r>
          </a:p>
          <a:p>
            <a:r>
              <a:rPr lang="en-GB" sz="2400" b="1" dirty="0"/>
              <a:t>             = 27</a:t>
            </a:r>
          </a:p>
        </p:txBody>
      </p:sp>
      <p:sp>
        <p:nvSpPr>
          <p:cNvPr id="8" name="Oval 7">
            <a:extLst>
              <a:ext uri="{FF2B5EF4-FFF2-40B4-BE49-F238E27FC236}">
                <a16:creationId xmlns:a16="http://schemas.microsoft.com/office/drawing/2014/main" id="{3B3FCCA1-8310-4F57-9838-5287926BDD55}"/>
              </a:ext>
            </a:extLst>
          </p:cNvPr>
          <p:cNvSpPr/>
          <p:nvPr/>
        </p:nvSpPr>
        <p:spPr>
          <a:xfrm>
            <a:off x="1676957" y="3707435"/>
            <a:ext cx="548661"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Oval 8">
            <a:extLst>
              <a:ext uri="{FF2B5EF4-FFF2-40B4-BE49-F238E27FC236}">
                <a16:creationId xmlns:a16="http://schemas.microsoft.com/office/drawing/2014/main" id="{7FD4BA8D-BCBC-4D3B-8287-A5FE92388507}"/>
              </a:ext>
            </a:extLst>
          </p:cNvPr>
          <p:cNvSpPr/>
          <p:nvPr/>
        </p:nvSpPr>
        <p:spPr>
          <a:xfrm>
            <a:off x="3447274" y="3707435"/>
            <a:ext cx="548661"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18845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4927"/>
            <a:ext cx="8229600" cy="532333"/>
          </a:xfrm>
        </p:spPr>
        <p:txBody>
          <a:bodyPr>
            <a:normAutofit fontScale="90000"/>
          </a:bodyPr>
          <a:lstStyle/>
          <a:p>
            <a:r>
              <a:rPr lang="en-AU" dirty="0"/>
              <a:t>Task - Guided</a:t>
            </a:r>
          </a:p>
        </p:txBody>
      </p:sp>
      <p:sp>
        <p:nvSpPr>
          <p:cNvPr id="4" name="Content Placeholder 3"/>
          <p:cNvSpPr>
            <a:spLocks noGrp="1"/>
          </p:cNvSpPr>
          <p:nvPr>
            <p:ph idx="1"/>
          </p:nvPr>
        </p:nvSpPr>
        <p:spPr>
          <a:xfrm>
            <a:off x="457200" y="695194"/>
            <a:ext cx="8229600" cy="3890498"/>
          </a:xfrm>
        </p:spPr>
        <p:txBody>
          <a:bodyPr>
            <a:normAutofit fontScale="70000" lnSpcReduction="20000"/>
          </a:bodyPr>
          <a:lstStyle/>
          <a:p>
            <a:pPr>
              <a:buNone/>
            </a:pPr>
            <a:r>
              <a:rPr lang="en-GB" b="1" dirty="0"/>
              <a:t>Work out the Range of each of the following sets of data showing clearly all the steps in your working.  </a:t>
            </a:r>
          </a:p>
          <a:p>
            <a:pPr>
              <a:buNone/>
            </a:pPr>
            <a:endParaRPr lang="en-AU" dirty="0"/>
          </a:p>
          <a:p>
            <a:pPr>
              <a:buNone/>
            </a:pPr>
            <a:endParaRPr lang="en-AU" dirty="0"/>
          </a:p>
          <a:p>
            <a:pPr>
              <a:buNone/>
            </a:pPr>
            <a:r>
              <a:rPr lang="en-GB" b="1" dirty="0"/>
              <a:t> 3.  1.4, 2.7, 0.2, 3.5, 4.1, 2.3, 1.9, 2.2, 1.6, 2.0, 1.6, 2.6, 2.2 ,1.8, 2.9, 3.0 </a:t>
            </a:r>
          </a:p>
          <a:p>
            <a:pPr marL="514350" indent="-514350">
              <a:buFont typeface="+mj-lt"/>
              <a:buAutoNum type="arabicPeriod" startAt="3"/>
            </a:pPr>
            <a:endParaRPr lang="en-AU" dirty="0"/>
          </a:p>
          <a:p>
            <a:pPr marL="514350" indent="-514350">
              <a:buFont typeface="+mj-lt"/>
              <a:buAutoNum type="arabicPeriod" startAt="3"/>
            </a:pPr>
            <a:endParaRPr lang="en-AU" dirty="0"/>
          </a:p>
          <a:p>
            <a:pPr marL="514350" indent="-514350">
              <a:buFont typeface="+mj-lt"/>
              <a:buAutoNum type="arabicPeriod" startAt="3"/>
            </a:pPr>
            <a:endParaRPr lang="en-AU" dirty="0"/>
          </a:p>
          <a:p>
            <a:pPr marL="0" indent="0">
              <a:buNone/>
            </a:pPr>
            <a:r>
              <a:rPr lang="en-GB" b="1" dirty="0"/>
              <a:t>4.   62,51,48,55,56,43,59,48,57,60,47,55</a:t>
            </a:r>
            <a:endParaRPr lang="en-AU" dirty="0"/>
          </a:p>
          <a:p>
            <a:pPr>
              <a:buNone/>
            </a:pPr>
            <a:r>
              <a:rPr lang="en-GB" b="1" dirty="0"/>
              <a:t> </a:t>
            </a:r>
            <a:endParaRPr lang="en-AU" dirty="0"/>
          </a:p>
          <a:p>
            <a:pPr>
              <a:buNone/>
            </a:pPr>
            <a:endParaRPr lang="en-AU" b="1" dirty="0"/>
          </a:p>
          <a:p>
            <a:pPr>
              <a:buNone/>
            </a:pPr>
            <a:endParaRPr lang="en-AU" dirty="0"/>
          </a:p>
        </p:txBody>
      </p:sp>
      <p:sp>
        <p:nvSpPr>
          <p:cNvPr id="5" name="TextBox 4">
            <a:extLst>
              <a:ext uri="{FF2B5EF4-FFF2-40B4-BE49-F238E27FC236}">
                <a16:creationId xmlns:a16="http://schemas.microsoft.com/office/drawing/2014/main" id="{D6E1FFC2-9166-4BF2-BAA7-7A8DA41EDC4E}"/>
              </a:ext>
            </a:extLst>
          </p:cNvPr>
          <p:cNvSpPr txBox="1"/>
          <p:nvPr/>
        </p:nvSpPr>
        <p:spPr>
          <a:xfrm>
            <a:off x="5232278" y="2189370"/>
            <a:ext cx="2592288" cy="1200329"/>
          </a:xfrm>
          <a:prstGeom prst="rect">
            <a:avLst/>
          </a:prstGeom>
          <a:noFill/>
        </p:spPr>
        <p:txBody>
          <a:bodyPr wrap="square" rtlCol="0">
            <a:spAutoFit/>
          </a:bodyPr>
          <a:lstStyle/>
          <a:p>
            <a:r>
              <a:rPr lang="en-GB" sz="2400" b="1" dirty="0"/>
              <a:t>Range = max – min</a:t>
            </a:r>
          </a:p>
          <a:p>
            <a:r>
              <a:rPr lang="en-GB" sz="2400" b="1" dirty="0"/>
              <a:t>             = 4.1 – 0.2</a:t>
            </a:r>
          </a:p>
          <a:p>
            <a:r>
              <a:rPr lang="en-GB" sz="2400" b="1" dirty="0"/>
              <a:t>             = 3.9</a:t>
            </a:r>
          </a:p>
        </p:txBody>
      </p:sp>
      <p:sp>
        <p:nvSpPr>
          <p:cNvPr id="6" name="Oval 5">
            <a:extLst>
              <a:ext uri="{FF2B5EF4-FFF2-40B4-BE49-F238E27FC236}">
                <a16:creationId xmlns:a16="http://schemas.microsoft.com/office/drawing/2014/main" id="{AD77671E-FA92-40DF-BB37-8E2306D8ADAD}"/>
              </a:ext>
            </a:extLst>
          </p:cNvPr>
          <p:cNvSpPr/>
          <p:nvPr/>
        </p:nvSpPr>
        <p:spPr>
          <a:xfrm>
            <a:off x="2828962" y="1919343"/>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0F82D1EF-D093-4F2A-8F2E-39D5A7B9263F}"/>
              </a:ext>
            </a:extLst>
          </p:cNvPr>
          <p:cNvSpPr/>
          <p:nvPr/>
        </p:nvSpPr>
        <p:spPr>
          <a:xfrm>
            <a:off x="1865403" y="1917571"/>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a:extLst>
              <a:ext uri="{FF2B5EF4-FFF2-40B4-BE49-F238E27FC236}">
                <a16:creationId xmlns:a16="http://schemas.microsoft.com/office/drawing/2014/main" id="{1B532CD0-3C9A-4452-8C72-EBD2E9A2FF1A}"/>
              </a:ext>
            </a:extLst>
          </p:cNvPr>
          <p:cNvSpPr txBox="1"/>
          <p:nvPr/>
        </p:nvSpPr>
        <p:spPr>
          <a:xfrm>
            <a:off x="5232278" y="3983359"/>
            <a:ext cx="2592288" cy="1200329"/>
          </a:xfrm>
          <a:prstGeom prst="rect">
            <a:avLst/>
          </a:prstGeom>
          <a:noFill/>
        </p:spPr>
        <p:txBody>
          <a:bodyPr wrap="square" rtlCol="0">
            <a:spAutoFit/>
          </a:bodyPr>
          <a:lstStyle/>
          <a:p>
            <a:r>
              <a:rPr lang="en-GB" sz="2400" b="1" dirty="0"/>
              <a:t>Range = max – min</a:t>
            </a:r>
          </a:p>
          <a:p>
            <a:r>
              <a:rPr lang="en-GB" sz="2400" b="1" dirty="0"/>
              <a:t>             = 62 – 43</a:t>
            </a:r>
          </a:p>
          <a:p>
            <a:r>
              <a:rPr lang="en-GB" sz="2400" b="1" dirty="0"/>
              <a:t>             = 19</a:t>
            </a:r>
          </a:p>
        </p:txBody>
      </p:sp>
      <p:sp>
        <p:nvSpPr>
          <p:cNvPr id="9" name="Oval 8">
            <a:extLst>
              <a:ext uri="{FF2B5EF4-FFF2-40B4-BE49-F238E27FC236}">
                <a16:creationId xmlns:a16="http://schemas.microsoft.com/office/drawing/2014/main" id="{F4503F0A-96ED-4C03-83CC-F2A7C6E457A4}"/>
              </a:ext>
            </a:extLst>
          </p:cNvPr>
          <p:cNvSpPr/>
          <p:nvPr/>
        </p:nvSpPr>
        <p:spPr>
          <a:xfrm>
            <a:off x="868266" y="3551948"/>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Oval 9">
            <a:extLst>
              <a:ext uri="{FF2B5EF4-FFF2-40B4-BE49-F238E27FC236}">
                <a16:creationId xmlns:a16="http://schemas.microsoft.com/office/drawing/2014/main" id="{3B2FC0A1-83EE-4FA0-B049-3F88EB8A0B85}"/>
              </a:ext>
            </a:extLst>
          </p:cNvPr>
          <p:cNvSpPr/>
          <p:nvPr/>
        </p:nvSpPr>
        <p:spPr>
          <a:xfrm>
            <a:off x="2628715" y="3551948"/>
            <a:ext cx="432048"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85858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2F825-D8B4-49BC-AB00-C26767C01A49}"/>
              </a:ext>
            </a:extLst>
          </p:cNvPr>
          <p:cNvSpPr>
            <a:spLocks noGrp="1"/>
          </p:cNvSpPr>
          <p:nvPr>
            <p:ph type="title"/>
          </p:nvPr>
        </p:nvSpPr>
        <p:spPr>
          <a:xfrm>
            <a:off x="323528" y="381000"/>
            <a:ext cx="8229600" cy="952500"/>
          </a:xfrm>
        </p:spPr>
        <p:txBody>
          <a:bodyPr/>
          <a:lstStyle/>
          <a:p>
            <a:r>
              <a:rPr lang="en-AU" dirty="0"/>
              <a:t>How can you remember all this?</a:t>
            </a:r>
          </a:p>
        </p:txBody>
      </p:sp>
      <p:sp>
        <p:nvSpPr>
          <p:cNvPr id="3" name="Content Placeholder 2">
            <a:extLst>
              <a:ext uri="{FF2B5EF4-FFF2-40B4-BE49-F238E27FC236}">
                <a16:creationId xmlns:a16="http://schemas.microsoft.com/office/drawing/2014/main" id="{03138EA7-F6B6-4848-8361-85EFFD82B475}"/>
              </a:ext>
            </a:extLst>
          </p:cNvPr>
          <p:cNvSpPr>
            <a:spLocks noGrp="1"/>
          </p:cNvSpPr>
          <p:nvPr>
            <p:ph idx="1"/>
          </p:nvPr>
        </p:nvSpPr>
        <p:spPr>
          <a:xfrm>
            <a:off x="855586" y="1561356"/>
            <a:ext cx="7725544" cy="2460104"/>
          </a:xfrm>
        </p:spPr>
        <p:txBody>
          <a:bodyPr/>
          <a:lstStyle/>
          <a:p>
            <a:pPr marL="0" indent="0">
              <a:buNone/>
            </a:pPr>
            <a:r>
              <a:rPr lang="en-AU" dirty="0"/>
              <a:t>Hey, diddle </a:t>
            </a:r>
            <a:r>
              <a:rPr lang="en-AU" dirty="0" err="1"/>
              <a:t>diddle</a:t>
            </a:r>
            <a:r>
              <a:rPr lang="en-AU" dirty="0"/>
              <a:t>, the </a:t>
            </a:r>
            <a:r>
              <a:rPr lang="en-AU" b="1" dirty="0"/>
              <a:t>median's</a:t>
            </a:r>
            <a:r>
              <a:rPr lang="en-AU" dirty="0"/>
              <a:t> the middle,</a:t>
            </a:r>
          </a:p>
          <a:p>
            <a:pPr marL="0" indent="0">
              <a:buNone/>
            </a:pPr>
            <a:r>
              <a:rPr lang="en-AU" dirty="0"/>
              <a:t>You add then divide for the </a:t>
            </a:r>
            <a:r>
              <a:rPr lang="en-AU" b="1" dirty="0"/>
              <a:t>mean</a:t>
            </a:r>
            <a:r>
              <a:rPr lang="en-AU" dirty="0"/>
              <a:t>.</a:t>
            </a:r>
          </a:p>
          <a:p>
            <a:pPr marL="0" indent="0">
              <a:buNone/>
            </a:pPr>
            <a:r>
              <a:rPr lang="en-AU" dirty="0"/>
              <a:t>The </a:t>
            </a:r>
            <a:r>
              <a:rPr lang="en-AU" b="1" dirty="0"/>
              <a:t>mode</a:t>
            </a:r>
            <a:r>
              <a:rPr lang="en-AU" dirty="0"/>
              <a:t> is the one that you see the most,</a:t>
            </a:r>
          </a:p>
          <a:p>
            <a:pPr marL="0" indent="0">
              <a:buNone/>
            </a:pPr>
            <a:r>
              <a:rPr lang="en-AU" dirty="0"/>
              <a:t>And the </a:t>
            </a:r>
            <a:r>
              <a:rPr lang="en-AU" b="1" dirty="0"/>
              <a:t>range</a:t>
            </a:r>
            <a:r>
              <a:rPr lang="en-AU" dirty="0"/>
              <a:t> is the difference between.</a:t>
            </a:r>
          </a:p>
        </p:txBody>
      </p:sp>
    </p:spTree>
    <p:extLst>
      <p:ext uri="{BB962C8B-B14F-4D97-AF65-F5344CB8AC3E}">
        <p14:creationId xmlns:p14="http://schemas.microsoft.com/office/powerpoint/2010/main" val="891389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Task</a:t>
            </a:r>
          </a:p>
        </p:txBody>
      </p:sp>
      <p:sp>
        <p:nvSpPr>
          <p:cNvPr id="4" name="Content Placeholder 3"/>
          <p:cNvSpPr>
            <a:spLocks noGrp="1"/>
          </p:cNvSpPr>
          <p:nvPr>
            <p:ph idx="1"/>
          </p:nvPr>
        </p:nvSpPr>
        <p:spPr/>
        <p:txBody>
          <a:bodyPr/>
          <a:lstStyle/>
          <a:p>
            <a:pPr marL="0" indent="0">
              <a:buNone/>
            </a:pPr>
            <a:r>
              <a:rPr lang="en-AU" dirty="0"/>
              <a:t>Complete worksheets on Mean, Mode, Median and Range</a:t>
            </a:r>
          </a:p>
        </p:txBody>
      </p:sp>
    </p:spTree>
    <p:extLst>
      <p:ext uri="{BB962C8B-B14F-4D97-AF65-F5344CB8AC3E}">
        <p14:creationId xmlns:p14="http://schemas.microsoft.com/office/powerpoint/2010/main" val="4188450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Exit Pass</a:t>
            </a:r>
          </a:p>
        </p:txBody>
      </p:sp>
      <p:sp>
        <p:nvSpPr>
          <p:cNvPr id="3" name="Content Placeholder 2"/>
          <p:cNvSpPr>
            <a:spLocks noGrp="1"/>
          </p:cNvSpPr>
          <p:nvPr>
            <p:ph idx="1"/>
          </p:nvPr>
        </p:nvSpPr>
        <p:spPr>
          <a:xfrm>
            <a:off x="457200" y="1345332"/>
            <a:ext cx="8229600" cy="3771636"/>
          </a:xfrm>
        </p:spPr>
        <p:txBody>
          <a:bodyPr/>
          <a:lstStyle/>
          <a:p>
            <a:pPr marL="0" indent="0">
              <a:buNone/>
            </a:pPr>
            <a:r>
              <a:rPr lang="en-AU" dirty="0"/>
              <a:t>On a sheet of paper write the mean, mode, median and range for the following set of data.</a:t>
            </a:r>
          </a:p>
          <a:p>
            <a:pPr marL="0" indent="0">
              <a:buNone/>
            </a:pPr>
            <a:r>
              <a:rPr lang="en-AU" dirty="0"/>
              <a:t>	8, 14, 16, 16, 7, 9, 19, 15</a:t>
            </a:r>
          </a:p>
        </p:txBody>
      </p:sp>
      <p:sp>
        <p:nvSpPr>
          <p:cNvPr id="5" name="Rectangle 4">
            <a:extLst>
              <a:ext uri="{FF2B5EF4-FFF2-40B4-BE49-F238E27FC236}">
                <a16:creationId xmlns:a16="http://schemas.microsoft.com/office/drawing/2014/main" id="{815E0073-79AB-4C01-98E6-21D4AE904D0F}"/>
              </a:ext>
            </a:extLst>
          </p:cNvPr>
          <p:cNvSpPr/>
          <p:nvPr/>
        </p:nvSpPr>
        <p:spPr>
          <a:xfrm>
            <a:off x="2627784" y="4297660"/>
            <a:ext cx="4572000" cy="1200329"/>
          </a:xfrm>
          <a:prstGeom prst="rect">
            <a:avLst/>
          </a:prstGeom>
        </p:spPr>
        <p:txBody>
          <a:bodyPr>
            <a:spAutoFit/>
          </a:bodyPr>
          <a:lstStyle/>
          <a:p>
            <a:r>
              <a:rPr lang="en-AU" dirty="0">
                <a:solidFill>
                  <a:schemeClr val="bg1">
                    <a:lumMod val="85000"/>
                  </a:schemeClr>
                </a:solidFill>
              </a:rPr>
              <a:t>Mean   13</a:t>
            </a:r>
          </a:p>
          <a:p>
            <a:r>
              <a:rPr lang="en-AU" dirty="0">
                <a:solidFill>
                  <a:schemeClr val="bg1">
                    <a:lumMod val="85000"/>
                  </a:schemeClr>
                </a:solidFill>
              </a:rPr>
              <a:t>Median  14.5</a:t>
            </a:r>
          </a:p>
          <a:p>
            <a:r>
              <a:rPr lang="en-AU" dirty="0">
                <a:solidFill>
                  <a:schemeClr val="bg1">
                    <a:lumMod val="85000"/>
                  </a:schemeClr>
                </a:solidFill>
              </a:rPr>
              <a:t>Mode    16</a:t>
            </a:r>
          </a:p>
          <a:p>
            <a:r>
              <a:rPr lang="en-AU" dirty="0">
                <a:solidFill>
                  <a:schemeClr val="bg1">
                    <a:lumMod val="85000"/>
                  </a:schemeClr>
                </a:solidFill>
              </a:rPr>
              <a:t>Range  12</a:t>
            </a:r>
          </a:p>
        </p:txBody>
      </p:sp>
    </p:spTree>
    <p:extLst>
      <p:ext uri="{BB962C8B-B14F-4D97-AF65-F5344CB8AC3E}">
        <p14:creationId xmlns:p14="http://schemas.microsoft.com/office/powerpoint/2010/main" val="7634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2002</TotalTime>
  <Words>564</Words>
  <Application>Microsoft Office PowerPoint</Application>
  <PresentationFormat>On-screen Show (16:10)</PresentationFormat>
  <Paragraphs>103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Task - Guided</vt:lpstr>
      <vt:lpstr>Task - Guided</vt:lpstr>
      <vt:lpstr>How can you remember all this?</vt:lpstr>
      <vt:lpstr>Task</vt:lpstr>
      <vt:lpstr>Exit Pass</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WILSON James [Baldivis Secondary College]</cp:lastModifiedBy>
  <cp:revision>91</cp:revision>
  <dcterms:created xsi:type="dcterms:W3CDTF">2014-05-14T02:58:57Z</dcterms:created>
  <dcterms:modified xsi:type="dcterms:W3CDTF">2017-07-20T01:57:35Z</dcterms:modified>
</cp:coreProperties>
</file>
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7" r:id="rId2"/>
    <p:sldId id="312" r:id="rId3"/>
    <p:sldId id="310" r:id="rId4"/>
    <p:sldId id="308" r:id="rId5"/>
    <p:sldId id="315" r:id="rId6"/>
    <p:sldId id="316" r:id="rId7"/>
    <p:sldId id="317" r:id="rId8"/>
    <p:sldId id="318" r:id="rId9"/>
    <p:sldId id="313" r:id="rId10"/>
    <p:sldId id="314" r:id="rId11"/>
    <p:sldId id="311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106" d="100"/>
          <a:sy n="106" d="100"/>
        </p:scale>
        <p:origin x="176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13/07/2017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292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13/07/2017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K3-MtrvSW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Statistics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 9-9</a:t>
            </a:r>
          </a:p>
          <a:p>
            <a:endParaRPr lang="en-US" dirty="0"/>
          </a:p>
          <a:p>
            <a:r>
              <a:rPr lang="en-US" dirty="0"/>
              <a:t>Teacher: </a:t>
            </a:r>
            <a:r>
              <a:rPr lang="en-US" dirty="0" err="1"/>
              <a:t>Mr</a:t>
            </a:r>
            <a:r>
              <a:rPr lang="en-US" dirty="0"/>
              <a:t> Evans</a:t>
            </a:r>
          </a:p>
          <a:p>
            <a:endParaRPr lang="en-US" dirty="0"/>
          </a:p>
          <a:p>
            <a:r>
              <a:rPr lang="en-US" dirty="0"/>
              <a:t>Term 3 Semester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548773-B9B4-410A-BC49-020F5D0BE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576" y="3501008"/>
            <a:ext cx="45720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0B79AE-6BF8-4125-878B-7FC9AF668D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970"/>
            <a:ext cx="3707904" cy="173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K3-MtrvSWs">
            <a:hlinkClick r:id="" action="ppaction://media"/>
            <a:extLst>
              <a:ext uri="{FF2B5EF4-FFF2-40B4-BE49-F238E27FC236}">
                <a16:creationId xmlns:a16="http://schemas.microsoft.com/office/drawing/2014/main" id="{5115CF61-720B-4EB3-B17C-651568BDA5A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27584" y="548680"/>
            <a:ext cx="7392822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9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Warm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2060848"/>
            <a:ext cx="7992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do the following mean in relation to Similar Triangle proofs?</a:t>
            </a:r>
          </a:p>
          <a:p>
            <a:endParaRPr lang="en-US" sz="2400" dirty="0"/>
          </a:p>
          <a:p>
            <a:pPr marL="342900" indent="-342900">
              <a:buAutoNum type="alphaLcParenR"/>
            </a:pPr>
            <a:r>
              <a:rPr lang="en-US" sz="2400" dirty="0"/>
              <a:t>SSS</a:t>
            </a:r>
          </a:p>
          <a:p>
            <a:pPr marL="342900" indent="-342900">
              <a:buAutoNum type="alphaLcParenR"/>
            </a:pPr>
            <a:r>
              <a:rPr lang="en-US" sz="2400" dirty="0"/>
              <a:t>SAS</a:t>
            </a:r>
          </a:p>
          <a:p>
            <a:pPr marL="342900" indent="-342900">
              <a:buAutoNum type="alphaLcParenR"/>
            </a:pPr>
            <a:r>
              <a:rPr lang="en-US" sz="2400" dirty="0"/>
              <a:t>RHS</a:t>
            </a:r>
          </a:p>
          <a:p>
            <a:pPr marL="342900" indent="-342900">
              <a:buAutoNum type="alphaLcParenR"/>
            </a:pPr>
            <a:r>
              <a:rPr lang="en-US" sz="2400" dirty="0"/>
              <a:t>AAA</a:t>
            </a:r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measures of location in statistics and how do we find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308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are measures of </a:t>
            </a:r>
          </a:p>
          <a:p>
            <a:r>
              <a:rPr lang="en-AU" dirty="0"/>
              <a:t>location?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512" y="3068960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the measures of location?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A13A-9599-4BC7-ADE9-5DC21BD637B3}"/>
              </a:ext>
            </a:extLst>
          </p:cNvPr>
          <p:cNvSpPr txBox="1"/>
          <p:nvPr/>
        </p:nvSpPr>
        <p:spPr>
          <a:xfrm>
            <a:off x="3059832" y="2132856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The </a:t>
            </a:r>
            <a:r>
              <a:rPr lang="en-AU" b="1"/>
              <a:t>three</a:t>
            </a:r>
            <a:r>
              <a:rPr lang="en-AU"/>
              <a:t> most common </a:t>
            </a:r>
            <a:r>
              <a:rPr lang="en-AU" b="1"/>
              <a:t>measures of location</a:t>
            </a:r>
            <a:r>
              <a:rPr lang="en-AU"/>
              <a:t> are the mean, the median, and the mode.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CDCAE-D359-443C-BAFA-EF2F483F8946}"/>
              </a:ext>
            </a:extLst>
          </p:cNvPr>
          <p:cNvSpPr txBox="1"/>
          <p:nvPr/>
        </p:nvSpPr>
        <p:spPr>
          <a:xfrm>
            <a:off x="3149588" y="2995210"/>
            <a:ext cx="576064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en-US" b="1" dirty="0">
                <a:solidFill>
                  <a:schemeClr val="accent2"/>
                </a:solidFill>
              </a:rPr>
              <a:t>Mean</a:t>
            </a:r>
            <a:r>
              <a:rPr lang="en-US" altLang="en-US" b="1" dirty="0">
                <a:solidFill>
                  <a:schemeClr val="hlink"/>
                </a:solidFill>
              </a:rPr>
              <a:t> – </a:t>
            </a:r>
            <a:r>
              <a:rPr lang="en-US" altLang="en-US" dirty="0"/>
              <a:t>Most commonly used measure of central tendency</a:t>
            </a:r>
          </a:p>
          <a:p>
            <a:pPr>
              <a:lnSpc>
                <a:spcPct val="135000"/>
              </a:lnSpc>
            </a:pPr>
            <a:r>
              <a:rPr lang="en-US" altLang="en-US" b="1" dirty="0">
                <a:solidFill>
                  <a:schemeClr val="accent2"/>
                </a:solidFill>
              </a:rPr>
              <a:t>Average</a:t>
            </a:r>
            <a:r>
              <a:rPr lang="en-US" altLang="en-US" dirty="0"/>
              <a:t> of all observations</a:t>
            </a:r>
          </a:p>
          <a:p>
            <a:pPr>
              <a:lnSpc>
                <a:spcPct val="135000"/>
              </a:lnSpc>
            </a:pPr>
            <a:r>
              <a:rPr lang="en-US" altLang="en-US" dirty="0"/>
              <a:t>The sum of all the scores divided by the number of scores</a:t>
            </a:r>
          </a:p>
          <a:p>
            <a:pPr>
              <a:lnSpc>
                <a:spcPct val="135000"/>
              </a:lnSpc>
            </a:pPr>
            <a:r>
              <a:rPr lang="en-US" altLang="en-US" b="1" dirty="0"/>
              <a:t>Affected by Extreme Values (Outliers)</a:t>
            </a:r>
          </a:p>
          <a:p>
            <a:pPr>
              <a:lnSpc>
                <a:spcPct val="135000"/>
              </a:lnSpc>
            </a:pPr>
            <a:endParaRPr lang="en-US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D9B15E-5695-484F-8D30-2CF999EADCAA}"/>
              </a:ext>
            </a:extLst>
          </p:cNvPr>
          <p:cNvSpPr txBox="1"/>
          <p:nvPr/>
        </p:nvSpPr>
        <p:spPr>
          <a:xfrm>
            <a:off x="3347864" y="4725144"/>
            <a:ext cx="4968552" cy="97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800" b="1" u="sng">
                <a:solidFill>
                  <a:schemeClr val="accent2"/>
                </a:solidFill>
              </a:rPr>
              <a:t>Example I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Data: 8, 4, 2, 6, 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CFE038-2839-4960-8B80-0A74B269E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5668810"/>
            <a:ext cx="3884748" cy="112884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4259AF6-4D63-48E4-853B-2A6924444E4C}"/>
              </a:ext>
            </a:extLst>
          </p:cNvPr>
          <p:cNvSpPr/>
          <p:nvPr/>
        </p:nvSpPr>
        <p:spPr>
          <a:xfrm>
            <a:off x="3707904" y="5697718"/>
            <a:ext cx="1296144" cy="11156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measures of location in statistics and how do we find them?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1" y="2025214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the measures of location?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8CF1A-11C8-4254-BF04-171A8B56146C}"/>
              </a:ext>
            </a:extLst>
          </p:cNvPr>
          <p:cNvSpPr txBox="1"/>
          <p:nvPr/>
        </p:nvSpPr>
        <p:spPr>
          <a:xfrm>
            <a:off x="3059832" y="2132856"/>
            <a:ext cx="5963519" cy="244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800" b="1" u="sng" dirty="0">
                <a:solidFill>
                  <a:schemeClr val="accent2"/>
                </a:solidFill>
              </a:rPr>
              <a:t>Example II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Sample: 10 trees randomly selected from Battle Park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Diameter (inches): </a:t>
            </a:r>
          </a:p>
          <a:p>
            <a:pPr lvl="2">
              <a:lnSpc>
                <a:spcPct val="110000"/>
              </a:lnSpc>
              <a:buFontTx/>
              <a:buNone/>
            </a:pPr>
            <a:r>
              <a:rPr lang="en-US" altLang="en-US" sz="2000" dirty="0"/>
              <a:t>   9.8, 10.2, 10.1, 14.5, 17.5, 13.9, 20.0, 15.5, 7.8, 24.5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129D4-712B-41CB-92BB-DD984D0F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592" y="4794164"/>
            <a:ext cx="4253097" cy="99637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09753AB-4790-4D0A-B8FE-AA5E76046980}"/>
              </a:ext>
            </a:extLst>
          </p:cNvPr>
          <p:cNvSpPr/>
          <p:nvPr/>
        </p:nvSpPr>
        <p:spPr>
          <a:xfrm>
            <a:off x="3563888" y="4725144"/>
            <a:ext cx="1296144" cy="10653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2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measures of location in statistics and how do we find them?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1" y="2025214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the measures of location?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A37B9-996B-449A-96B8-1D91D92BC37A}"/>
              </a:ext>
            </a:extLst>
          </p:cNvPr>
          <p:cNvSpPr txBox="1"/>
          <p:nvPr/>
        </p:nvSpPr>
        <p:spPr>
          <a:xfrm>
            <a:off x="3059832" y="1986693"/>
            <a:ext cx="59635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b="1" dirty="0">
                <a:solidFill>
                  <a:schemeClr val="accent2"/>
                </a:solidFill>
              </a:rPr>
              <a:t>Median</a:t>
            </a:r>
            <a:r>
              <a:rPr lang="en-US" altLang="en-US" dirty="0"/>
              <a:t> – This is the value of a variable such that </a:t>
            </a:r>
            <a:r>
              <a:rPr lang="en-US" altLang="en-US" dirty="0">
                <a:solidFill>
                  <a:srgbClr val="FF0000"/>
                </a:solidFill>
              </a:rPr>
              <a:t>half</a:t>
            </a:r>
            <a:r>
              <a:rPr lang="en-US" altLang="en-US" dirty="0"/>
              <a:t> of the observations are </a:t>
            </a:r>
            <a:r>
              <a:rPr lang="en-US" altLang="en-US" dirty="0">
                <a:solidFill>
                  <a:srgbClr val="FF0000"/>
                </a:solidFill>
              </a:rPr>
              <a:t>above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half</a:t>
            </a:r>
            <a:r>
              <a:rPr lang="en-US" altLang="en-US" dirty="0"/>
              <a:t> are </a:t>
            </a:r>
            <a:r>
              <a:rPr lang="en-US" altLang="en-US" dirty="0">
                <a:solidFill>
                  <a:srgbClr val="FF0000"/>
                </a:solidFill>
              </a:rPr>
              <a:t>below</a:t>
            </a:r>
            <a:r>
              <a:rPr lang="en-US" altLang="en-US" dirty="0"/>
              <a:t> this value i.e. this value divides the distribution into two groups of equal size</a:t>
            </a:r>
          </a:p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dirty="0"/>
              <a:t>When the number of observations is </a:t>
            </a:r>
            <a:r>
              <a:rPr lang="en-US" altLang="en-US" b="1" dirty="0">
                <a:solidFill>
                  <a:schemeClr val="accent2"/>
                </a:solidFill>
              </a:rPr>
              <a:t>odd</a:t>
            </a:r>
            <a:r>
              <a:rPr lang="en-US" altLang="en-US" dirty="0"/>
              <a:t>, the median is simply equal to the </a:t>
            </a:r>
            <a:r>
              <a:rPr lang="en-US" altLang="en-US" b="1" dirty="0">
                <a:solidFill>
                  <a:schemeClr val="accent2"/>
                </a:solidFill>
              </a:rPr>
              <a:t>middle</a:t>
            </a:r>
            <a:r>
              <a:rPr lang="en-US" altLang="en-US" dirty="0"/>
              <a:t> value</a:t>
            </a:r>
          </a:p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dirty="0"/>
              <a:t>When the number of observations is </a:t>
            </a:r>
            <a:r>
              <a:rPr lang="en-US" altLang="en-US" b="1" dirty="0">
                <a:solidFill>
                  <a:schemeClr val="accent2"/>
                </a:solidFill>
              </a:rPr>
              <a:t>even</a:t>
            </a:r>
            <a:r>
              <a:rPr lang="en-US" altLang="en-US" dirty="0"/>
              <a:t>, we take the median to be the </a:t>
            </a:r>
            <a:r>
              <a:rPr lang="en-US" altLang="en-US" b="1" dirty="0">
                <a:solidFill>
                  <a:schemeClr val="accent2"/>
                </a:solidFill>
              </a:rPr>
              <a:t>average</a:t>
            </a:r>
            <a:r>
              <a:rPr lang="en-US" altLang="en-US" dirty="0"/>
              <a:t> of the two values in the middle of the distribution</a:t>
            </a:r>
          </a:p>
          <a:p>
            <a:pPr>
              <a:lnSpc>
                <a:spcPct val="115000"/>
              </a:lnSpc>
              <a:spcBef>
                <a:spcPct val="55000"/>
              </a:spcBef>
            </a:pPr>
            <a:r>
              <a:rPr lang="en-US" altLang="en-US" b="1" dirty="0"/>
              <a:t>Not Affected by Extreme Values</a:t>
            </a:r>
            <a:endParaRPr lang="en-US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6C5C5D-8C6F-47A2-9ADC-D4A64C2206B9}"/>
              </a:ext>
            </a:extLst>
          </p:cNvPr>
          <p:cNvSpPr txBox="1"/>
          <p:nvPr/>
        </p:nvSpPr>
        <p:spPr>
          <a:xfrm>
            <a:off x="3203848" y="5229200"/>
            <a:ext cx="55446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u="sng">
                <a:solidFill>
                  <a:schemeClr val="accent2"/>
                </a:solidFill>
              </a:rPr>
              <a:t>Example I</a:t>
            </a:r>
          </a:p>
          <a:p>
            <a:pPr lvl="1"/>
            <a:r>
              <a:rPr lang="en-US" altLang="en-US" sz="2400"/>
              <a:t>Data: 8, 4, 2, 6, 10 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048DE4-4F96-4D35-9B2A-B5E33FAB849E}"/>
              </a:ext>
            </a:extLst>
          </p:cNvPr>
          <p:cNvSpPr txBox="1"/>
          <p:nvPr/>
        </p:nvSpPr>
        <p:spPr>
          <a:xfrm>
            <a:off x="3203849" y="623731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2, 4, </a:t>
            </a:r>
            <a:r>
              <a:rPr lang="en-US" altLang="en-US">
                <a:solidFill>
                  <a:srgbClr val="FF0000"/>
                </a:solidFill>
              </a:rPr>
              <a:t>6</a:t>
            </a:r>
            <a:r>
              <a:rPr lang="en-US" altLang="en-US"/>
              <a:t>, 8, 10</a:t>
            </a:r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2E0B2387-902D-49A2-BB3E-2DAFAC50F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008" y="6289553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1C3FB-7BB4-4527-A59D-334B7B31FF46}"/>
              </a:ext>
            </a:extLst>
          </p:cNvPr>
          <p:cNvSpPr txBox="1"/>
          <p:nvPr/>
        </p:nvSpPr>
        <p:spPr>
          <a:xfrm>
            <a:off x="5436096" y="6211761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>
                <a:solidFill>
                  <a:schemeClr val="hlink"/>
                </a:solidFill>
              </a:rPr>
              <a:t>median</a:t>
            </a:r>
            <a:r>
              <a:rPr lang="en-US" altLang="en-US"/>
              <a:t>: 6</a:t>
            </a:r>
          </a:p>
        </p:txBody>
      </p:sp>
    </p:spTree>
    <p:extLst>
      <p:ext uri="{BB962C8B-B14F-4D97-AF65-F5344CB8AC3E}">
        <p14:creationId xmlns:p14="http://schemas.microsoft.com/office/powerpoint/2010/main" val="2385660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measures of location in statistics and how do we find them?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1" y="2025214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the measures of location?</a:t>
            </a:r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2E0B2387-902D-49A2-BB3E-2DAFAC50F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848" y="5390878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06A3F-04FF-4E3F-AABA-73209810A6B2}"/>
              </a:ext>
            </a:extLst>
          </p:cNvPr>
          <p:cNvSpPr txBox="1"/>
          <p:nvPr/>
        </p:nvSpPr>
        <p:spPr>
          <a:xfrm>
            <a:off x="2989923" y="2049296"/>
            <a:ext cx="5976664" cy="244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800" b="1" u="sng">
                <a:solidFill>
                  <a:schemeClr val="accent2"/>
                </a:solidFill>
              </a:rPr>
              <a:t>Example II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Sample: 10 trees randomly selected from Battle Park</a:t>
            </a:r>
          </a:p>
          <a:p>
            <a:pPr lvl="1">
              <a:lnSpc>
                <a:spcPct val="110000"/>
              </a:lnSpc>
            </a:pPr>
            <a:r>
              <a:rPr lang="en-US" altLang="en-US" sz="2400"/>
              <a:t>Diameter (inches): </a:t>
            </a:r>
          </a:p>
          <a:p>
            <a:pPr lvl="2">
              <a:lnSpc>
                <a:spcPct val="110000"/>
              </a:lnSpc>
              <a:buFontTx/>
              <a:buNone/>
            </a:pPr>
            <a:r>
              <a:rPr lang="en-US" altLang="en-US" sz="2000"/>
              <a:t>   9.8, 10.2, 10.1, 14.5, 17.5, 13.9, 20.0, 15.5, 7.8, 24.5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CB3F2-AC30-4D81-84AE-6CF5CC28458C}"/>
              </a:ext>
            </a:extLst>
          </p:cNvPr>
          <p:cNvSpPr txBox="1"/>
          <p:nvPr/>
        </p:nvSpPr>
        <p:spPr>
          <a:xfrm>
            <a:off x="3131840" y="4725144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7.8, 9.8, 10.1, 10.2, </a:t>
            </a:r>
            <a:r>
              <a:rPr lang="en-US" altLang="en-US">
                <a:solidFill>
                  <a:srgbClr val="FF0000"/>
                </a:solidFill>
              </a:rPr>
              <a:t>13.9</a:t>
            </a:r>
            <a:r>
              <a:rPr lang="en-US" altLang="en-US"/>
              <a:t>, </a:t>
            </a:r>
            <a:r>
              <a:rPr lang="en-US" altLang="en-US">
                <a:solidFill>
                  <a:srgbClr val="FF0000"/>
                </a:solidFill>
              </a:rPr>
              <a:t>14.5</a:t>
            </a:r>
            <a:r>
              <a:rPr lang="en-US" altLang="en-US"/>
              <a:t>, 15.5, 17.5, 20.0, 24.5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A405C6-6026-4797-9FE4-D9A529EE8837}"/>
              </a:ext>
            </a:extLst>
          </p:cNvPr>
          <p:cNvSpPr txBox="1"/>
          <p:nvPr/>
        </p:nvSpPr>
        <p:spPr>
          <a:xfrm>
            <a:off x="4139952" y="5339224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>
                <a:solidFill>
                  <a:schemeClr val="hlink"/>
                </a:solidFill>
              </a:rPr>
              <a:t>median</a:t>
            </a:r>
            <a:r>
              <a:rPr lang="en-US" altLang="en-US"/>
              <a:t>: (13.9 + 14.5) / 2 = 14.2</a:t>
            </a:r>
          </a:p>
        </p:txBody>
      </p:sp>
    </p:spTree>
    <p:extLst>
      <p:ext uri="{BB962C8B-B14F-4D97-AF65-F5344CB8AC3E}">
        <p14:creationId xmlns:p14="http://schemas.microsoft.com/office/powerpoint/2010/main" val="69076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measures of location in statistics and how do we find them?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1" y="2025214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the measures of location?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18EE4-C17C-4FA7-9449-90861ADB5624}"/>
              </a:ext>
            </a:extLst>
          </p:cNvPr>
          <p:cNvSpPr txBox="1"/>
          <p:nvPr/>
        </p:nvSpPr>
        <p:spPr>
          <a:xfrm>
            <a:off x="3131840" y="2132856"/>
            <a:ext cx="5891511" cy="2322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en-US" b="1" dirty="0">
                <a:solidFill>
                  <a:schemeClr val="accent2"/>
                </a:solidFill>
              </a:rPr>
              <a:t>Mode</a:t>
            </a:r>
            <a:r>
              <a:rPr lang="en-US" altLang="en-US" dirty="0"/>
              <a:t> - This is the </a:t>
            </a:r>
            <a:r>
              <a:rPr lang="en-US" altLang="en-US" b="1" dirty="0">
                <a:solidFill>
                  <a:schemeClr val="hlink"/>
                </a:solidFill>
              </a:rPr>
              <a:t>most</a:t>
            </a:r>
            <a:r>
              <a:rPr lang="en-US" altLang="en-US" dirty="0"/>
              <a:t> frequently occurring value in the distribution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b="1" dirty="0"/>
              <a:t>Value that Occurs Most Often	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b="1" dirty="0"/>
              <a:t>Not Affected by Extreme Values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b="1" dirty="0"/>
              <a:t>There May Not be a Mode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b="1" dirty="0"/>
              <a:t>There May be Several Modes</a:t>
            </a:r>
          </a:p>
          <a:p>
            <a:pPr>
              <a:lnSpc>
                <a:spcPct val="135000"/>
              </a:lnSpc>
            </a:pPr>
            <a:endParaRPr lang="en-US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F54506-D7F7-4F71-8300-B992CD80EE42}"/>
              </a:ext>
            </a:extLst>
          </p:cNvPr>
          <p:cNvSpPr/>
          <p:nvPr/>
        </p:nvSpPr>
        <p:spPr>
          <a:xfrm>
            <a:off x="3508648" y="489694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dirty="0"/>
              <a:t>0   1   2   3   4   5   6   7   8   9   10   11   12   13   </a:t>
            </a:r>
            <a:r>
              <a:rPr lang="en-US" altLang="en-US" dirty="0">
                <a:solidFill>
                  <a:srgbClr val="FFFFCC"/>
                </a:solidFill>
              </a:rPr>
              <a:t>14  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C9263C-2783-49A0-8591-455B8D6D04CA}"/>
              </a:ext>
            </a:extLst>
          </p:cNvPr>
          <p:cNvCxnSpPr/>
          <p:nvPr/>
        </p:nvCxnSpPr>
        <p:spPr>
          <a:xfrm>
            <a:off x="3546140" y="4941168"/>
            <a:ext cx="41942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12" y="4668347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641784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351482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860" y="469045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530" y="4670852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583" y="4395615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530" y="4139772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720" y="467940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755" y="467940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755" y="4437522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id="{2B6CE3B2-E9F8-43D4-904C-B4813CD00B37}"/>
              </a:ext>
            </a:extLst>
          </p:cNvPr>
          <p:cNvSpPr/>
          <p:nvPr/>
        </p:nvSpPr>
        <p:spPr>
          <a:xfrm>
            <a:off x="6052206" y="5211775"/>
            <a:ext cx="105247" cy="44113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410626-471F-4B0C-9BFA-7B365CEEB506}"/>
              </a:ext>
            </a:extLst>
          </p:cNvPr>
          <p:cNvSpPr txBox="1"/>
          <p:nvPr/>
        </p:nvSpPr>
        <p:spPr>
          <a:xfrm>
            <a:off x="6444020" y="5543278"/>
            <a:ext cx="201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Mode = 9</a:t>
            </a:r>
          </a:p>
        </p:txBody>
      </p:sp>
    </p:spTree>
    <p:extLst>
      <p:ext uri="{BB962C8B-B14F-4D97-AF65-F5344CB8AC3E}">
        <p14:creationId xmlns:p14="http://schemas.microsoft.com/office/powerpoint/2010/main" val="391206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692696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try some together.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20DC6-0DFD-49F9-A437-F41312503C0A}"/>
              </a:ext>
            </a:extLst>
          </p:cNvPr>
          <p:cNvSpPr txBox="1"/>
          <p:nvPr/>
        </p:nvSpPr>
        <p:spPr>
          <a:xfrm>
            <a:off x="827584" y="1062028"/>
            <a:ext cx="5976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Mean, Median and Mode of these sets of numbers.</a:t>
            </a:r>
          </a:p>
          <a:p>
            <a:endParaRPr lang="en-AU" dirty="0"/>
          </a:p>
          <a:p>
            <a:pPr marL="342900" indent="-342900">
              <a:buAutoNum type="alphaLcParenR"/>
            </a:pPr>
            <a:r>
              <a:rPr lang="en-AU" dirty="0"/>
              <a:t>3, 3, 5, 6, 6, 6, 7, 8, 12, 14, 15</a:t>
            </a:r>
          </a:p>
          <a:p>
            <a:pPr marL="342900" indent="-342900">
              <a:buAutoNum type="alphaLcParenR"/>
            </a:pPr>
            <a:r>
              <a:rPr lang="en-AU" dirty="0"/>
              <a:t>13, 16, 17, 18, 21, 24, 25, 26</a:t>
            </a:r>
          </a:p>
          <a:p>
            <a:pPr marL="342900" indent="-342900">
              <a:buAutoNum type="alphaLcParenR"/>
            </a:pPr>
            <a:r>
              <a:rPr lang="en-AU" dirty="0"/>
              <a:t>11, 14, 14, 17, 18, 18, 21, 24</a:t>
            </a:r>
          </a:p>
        </p:txBody>
      </p:sp>
    </p:spTree>
    <p:extLst>
      <p:ext uri="{BB962C8B-B14F-4D97-AF65-F5344CB8AC3E}">
        <p14:creationId xmlns:p14="http://schemas.microsoft.com/office/powerpoint/2010/main" val="2728188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02F623-8020-45A4-A58C-03A372629D38}"/>
              </a:ext>
            </a:extLst>
          </p:cNvPr>
          <p:cNvSpPr txBox="1"/>
          <p:nvPr/>
        </p:nvSpPr>
        <p:spPr>
          <a:xfrm>
            <a:off x="755576" y="476672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these on your own. Use your notes if you need to.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F29F7-79CF-44C8-8617-A3BE08C92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7514701" cy="133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E04272-9BC6-4229-B7DC-8EE09BAADC80}"/>
              </a:ext>
            </a:extLst>
          </p:cNvPr>
          <p:cNvSpPr txBox="1"/>
          <p:nvPr/>
        </p:nvSpPr>
        <p:spPr>
          <a:xfrm>
            <a:off x="611560" y="1268760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Mean, Median and Mode for the following.</a:t>
            </a:r>
          </a:p>
        </p:txBody>
      </p:sp>
    </p:spTree>
    <p:extLst>
      <p:ext uri="{BB962C8B-B14F-4D97-AF65-F5344CB8AC3E}">
        <p14:creationId xmlns:p14="http://schemas.microsoft.com/office/powerpoint/2010/main" val="2281303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836712"/>
            <a:ext cx="727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Complete your Summary ensuring you explain the process you use to find the measures of location.</a:t>
            </a:r>
          </a:p>
        </p:txBody>
      </p:sp>
    </p:spTree>
    <p:extLst>
      <p:ext uri="{BB962C8B-B14F-4D97-AF65-F5344CB8AC3E}">
        <p14:creationId xmlns:p14="http://schemas.microsoft.com/office/powerpoint/2010/main" val="3130279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674</Words>
  <Application>Microsoft Office PowerPoint</Application>
  <PresentationFormat>On-screen Show (4:3)</PresentationFormat>
  <Paragraphs>111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98</cp:revision>
  <dcterms:created xsi:type="dcterms:W3CDTF">2014-05-14T02:58:57Z</dcterms:created>
  <dcterms:modified xsi:type="dcterms:W3CDTF">2017-07-13T05:25:27Z</dcterms:modified>
</cp:coreProperties>
</file>
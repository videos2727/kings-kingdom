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7" r:id="rId2"/>
    <p:sldId id="278" r:id="rId3"/>
    <p:sldId id="279" r:id="rId4"/>
    <p:sldId id="280" r:id="rId5"/>
    <p:sldId id="281" r:id="rId6"/>
    <p:sldId id="268" r:id="rId7"/>
    <p:sldId id="269" r:id="rId8"/>
    <p:sldId id="270" r:id="rId9"/>
    <p:sldId id="271" r:id="rId10"/>
    <p:sldId id="272" r:id="rId11"/>
    <p:sldId id="273" r:id="rId12"/>
    <p:sldId id="262" r:id="rId13"/>
    <p:sldId id="274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712"/>
  </p:normalViewPr>
  <p:slideViewPr>
    <p:cSldViewPr snapToGrid="0" snapToObjects="1">
      <p:cViewPr varScale="1">
        <p:scale>
          <a:sx n="107" d="100"/>
          <a:sy n="107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F5C94-B0E0-0C4F-8512-E25941267501}" type="datetimeFigureOut">
              <a:rPr lang="en-US" smtClean="0"/>
              <a:t>8/3/17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94ED0-8521-EB43-B213-E8F2DD96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1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F8E7A757-53E6-2349-AD03-41C8AC4F097C}" type="slidenum">
              <a:rPr lang="en-GB" altLang="en-US" sz="1200">
                <a:solidFill>
                  <a:schemeClr val="tx1"/>
                </a:solidFill>
              </a:rPr>
              <a:pPr/>
              <a:t>6</a:t>
            </a:fld>
            <a:endParaRPr lang="en-GB" altLang="en-US" sz="1200">
              <a:solidFill>
                <a:schemeClr val="tx1"/>
              </a:solidFill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1"/>
              <a:t>Teacher notes</a:t>
            </a:r>
          </a:p>
          <a:p>
            <a:pPr eaLnBrk="1" hangingPunct="1"/>
            <a:r>
              <a:rPr lang="en-GB" altLang="en-US"/>
              <a:t>Talk about the use of index notation as a mathematical shorthand.</a:t>
            </a:r>
          </a:p>
        </p:txBody>
      </p:sp>
    </p:spTree>
    <p:extLst>
      <p:ext uri="{BB962C8B-B14F-4D97-AF65-F5344CB8AC3E}">
        <p14:creationId xmlns:p14="http://schemas.microsoft.com/office/powerpoint/2010/main" val="1656020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9115BA60-42B0-E240-953C-7F3213641769}" type="slidenum">
              <a:rPr lang="en-GB" altLang="en-US" sz="1200">
                <a:solidFill>
                  <a:schemeClr val="tx1"/>
                </a:solidFill>
              </a:rPr>
              <a:pPr/>
              <a:t>7</a:t>
            </a:fld>
            <a:endParaRPr lang="en-GB" altLang="en-US" sz="1200">
              <a:solidFill>
                <a:schemeClr val="tx1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1"/>
              <a:t>Teacher notes</a:t>
            </a:r>
          </a:p>
          <a:p>
            <a:pPr eaLnBrk="1" hangingPunct="1"/>
            <a:r>
              <a:rPr lang="en-GB" altLang="en-US"/>
              <a:t>Emphasize that the indices can only be added when the base is the same.</a:t>
            </a:r>
          </a:p>
        </p:txBody>
      </p:sp>
    </p:spTree>
    <p:extLst>
      <p:ext uri="{BB962C8B-B14F-4D97-AF65-F5344CB8AC3E}">
        <p14:creationId xmlns:p14="http://schemas.microsoft.com/office/powerpoint/2010/main" val="671064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45E14083-BEE3-6543-8FDD-633B87E876DB}" type="slidenum">
              <a:rPr lang="en-GB" altLang="en-US" sz="1200">
                <a:solidFill>
                  <a:schemeClr val="tx1"/>
                </a:solidFill>
              </a:rPr>
              <a:pPr/>
              <a:t>8</a:t>
            </a:fld>
            <a:endParaRPr lang="en-GB" altLang="en-US" sz="1200">
              <a:solidFill>
                <a:schemeClr val="tx1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1"/>
              <a:t>Teacher notes</a:t>
            </a:r>
          </a:p>
          <a:p>
            <a:pPr eaLnBrk="1" hangingPunct="1"/>
            <a:r>
              <a:rPr lang="en-GB" altLang="en-US"/>
              <a:t>Emphasize that the indices can only be subtracted when the base is the same.</a:t>
            </a:r>
          </a:p>
        </p:txBody>
      </p:sp>
    </p:spTree>
    <p:extLst>
      <p:ext uri="{BB962C8B-B14F-4D97-AF65-F5344CB8AC3E}">
        <p14:creationId xmlns:p14="http://schemas.microsoft.com/office/powerpoint/2010/main" val="1888447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4E3BCE44-A83A-CD40-8CCA-1A55832A14B0}" type="slidenum">
              <a:rPr lang="en-GB" altLang="en-US" sz="1200">
                <a:solidFill>
                  <a:schemeClr val="tx1"/>
                </a:solidFill>
              </a:rPr>
              <a:pPr/>
              <a:t>9</a:t>
            </a:fld>
            <a:endParaRPr lang="en-GB" altLang="en-US" sz="1200">
              <a:solidFill>
                <a:schemeClr val="tx1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2880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/>
            <a:fld id="{4DB56267-6746-8D41-BDEE-277D01DA42EB}" type="slidenum">
              <a:rPr lang="en-GB" altLang="en-US" sz="1200" b="1">
                <a:solidFill>
                  <a:schemeClr val="tx1"/>
                </a:solidFill>
              </a:rPr>
              <a:pPr algn="r"/>
              <a:t>10</a:t>
            </a:fld>
            <a:endParaRPr lang="en-GB" altLang="en-US" sz="1200" b="1">
              <a:solidFill>
                <a:schemeClr val="tx1"/>
              </a:solidFill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/>
              <a:t>Teacher notes</a:t>
            </a:r>
          </a:p>
          <a:p>
            <a:pPr eaLnBrk="1" hangingPunct="1"/>
            <a:r>
              <a:rPr lang="en-US" altLang="en-US"/>
              <a:t>Raising a number to the power of –1 is equivalent to finding its reciprocal.</a:t>
            </a:r>
          </a:p>
        </p:txBody>
      </p:sp>
    </p:spTree>
    <p:extLst>
      <p:ext uri="{BB962C8B-B14F-4D97-AF65-F5344CB8AC3E}">
        <p14:creationId xmlns:p14="http://schemas.microsoft.com/office/powerpoint/2010/main" val="310838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/>
            <a:fld id="{1BB2A782-FDE0-854C-A447-25DDD11266BC}" type="slidenum">
              <a:rPr lang="en-GB" altLang="en-US" sz="1200" b="1">
                <a:solidFill>
                  <a:schemeClr val="tx1"/>
                </a:solidFill>
              </a:rPr>
              <a:pPr algn="r"/>
              <a:t>11</a:t>
            </a:fld>
            <a:endParaRPr lang="en-GB" altLang="en-US" sz="1200" b="1">
              <a:solidFill>
                <a:schemeClr val="tx1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1"/>
              <a:t>Teacher notes</a:t>
            </a:r>
          </a:p>
          <a:p>
            <a:pPr eaLnBrk="1" hangingPunct="1"/>
            <a:r>
              <a:rPr lang="en-GB" altLang="en-US"/>
              <a:t>Discuss the general form of each result where </a:t>
            </a:r>
            <a:r>
              <a:rPr lang="en-GB" altLang="en-US" i="1"/>
              <a:t>a</a:t>
            </a:r>
            <a:r>
              <a:rPr lang="en-GB" altLang="en-US"/>
              <a:t> is any number and </a:t>
            </a:r>
            <a:r>
              <a:rPr lang="en-GB" altLang="en-US" i="1"/>
              <a:t>m</a:t>
            </a:r>
            <a:r>
              <a:rPr lang="en-GB" altLang="en-US"/>
              <a:t> and </a:t>
            </a:r>
            <a:r>
              <a:rPr lang="en-GB" altLang="en-US" i="1"/>
              <a:t>n </a:t>
            </a:r>
            <a:r>
              <a:rPr lang="en-GB" altLang="en-US"/>
              <a:t>are integers.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 b="1"/>
              <a:t>Photo credit:</a:t>
            </a:r>
            <a:r>
              <a:rPr lang="en-GB" altLang="en-US"/>
              <a:t> © Shutterstock 2009, Flashon Studio</a:t>
            </a:r>
          </a:p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97794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5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7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9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1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8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98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4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4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AB7C9-EDF0-B842-AA2C-BD79A63FC1DA}" type="datetimeFigureOut">
              <a:rPr lang="en-US" smtClean="0"/>
              <a:t>8/3/17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A1E3A-679A-9D4F-BE0E-7D98433D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04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5188" y="333376"/>
            <a:ext cx="7772400" cy="14700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AU" dirty="0" smtClean="0">
                <a:solidFill>
                  <a:schemeClr val="tx1"/>
                </a:solidFill>
              </a:rPr>
              <a:t>My Number</a:t>
            </a:r>
            <a:br>
              <a:rPr lang="en-AU" dirty="0" smtClean="0">
                <a:solidFill>
                  <a:schemeClr val="tx1"/>
                </a:solidFill>
              </a:rPr>
            </a:br>
            <a:r>
              <a:rPr lang="en-AU" dirty="0" smtClean="0">
                <a:solidFill>
                  <a:schemeClr val="tx1"/>
                </a:solidFill>
              </a:rPr>
              <a:t>Interactive Notebook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572344" y="3812964"/>
            <a:ext cx="9144000" cy="1655762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AU" dirty="0" smtClean="0"/>
              <a:t>Name </a:t>
            </a:r>
            <a:r>
              <a:rPr lang="en-AU" dirty="0" smtClean="0"/>
              <a:t>:</a:t>
            </a:r>
            <a:endParaRPr lang="en-AU" dirty="0"/>
          </a:p>
          <a:p>
            <a:pPr eaLnBrk="1" hangingPunct="1">
              <a:defRPr/>
            </a:pPr>
            <a:r>
              <a:rPr lang="en-AU" dirty="0" smtClean="0"/>
              <a:t>Class :</a:t>
            </a:r>
            <a:endParaRPr lang="en-AU" dirty="0" smtClean="0"/>
          </a:p>
          <a:p>
            <a:pPr eaLnBrk="1" hangingPunct="1">
              <a:defRPr/>
            </a:pPr>
            <a:r>
              <a:rPr lang="en-AU" dirty="0" smtClean="0"/>
              <a:t>   Teacher :</a:t>
            </a:r>
            <a:endParaRPr lang="en-AU" dirty="0" smtClean="0"/>
          </a:p>
          <a:p>
            <a:pPr eaLnBrk="1" hangingPunct="1">
              <a:defRPr/>
            </a:pPr>
            <a:r>
              <a:rPr lang="en-AU" dirty="0" smtClean="0"/>
              <a:t>                      Term </a:t>
            </a:r>
            <a:r>
              <a:rPr lang="en-AU" dirty="0" smtClean="0"/>
              <a:t>3 Semester 2</a:t>
            </a:r>
          </a:p>
        </p:txBody>
      </p:sp>
      <p:sp>
        <p:nvSpPr>
          <p:cNvPr id="16387" name="TextBox 12"/>
          <p:cNvSpPr txBox="1">
            <a:spLocks noChangeArrowheads="1"/>
          </p:cNvSpPr>
          <p:nvPr/>
        </p:nvSpPr>
        <p:spPr bwMode="auto">
          <a:xfrm>
            <a:off x="10272714" y="6488114"/>
            <a:ext cx="549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1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87358" y="1490207"/>
            <a:ext cx="1368152" cy="144655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47728" y="1884135"/>
            <a:ext cx="1368152" cy="144655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31644" y="3572848"/>
            <a:ext cx="1368152" cy="144655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184232" y="2708920"/>
            <a:ext cx="1368152" cy="1446550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31644" y="1902233"/>
            <a:ext cx="1368152" cy="1446550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760296" y="437585"/>
            <a:ext cx="1368152" cy="1993816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31504" y="3068960"/>
            <a:ext cx="1368152" cy="1993816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868308" y="3909817"/>
            <a:ext cx="1368152" cy="1107996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176120" y="4797152"/>
            <a:ext cx="1368152" cy="1227644"/>
          </a:xfrm>
          <a:prstGeom prst="rect">
            <a:avLst/>
          </a:prstGeom>
          <a:blipFill rotWithShape="0"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9891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564" y="1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0" name="TextBox 5"/>
          <p:cNvSpPr txBox="1">
            <a:spLocks noChangeArrowheads="1"/>
          </p:cNvSpPr>
          <p:nvPr/>
        </p:nvSpPr>
        <p:spPr bwMode="auto">
          <a:xfrm>
            <a:off x="1524000" y="64754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2</a:t>
            </a:r>
          </a:p>
        </p:txBody>
      </p:sp>
      <p:sp>
        <p:nvSpPr>
          <p:cNvPr id="17411" name="TextBox 6"/>
          <p:cNvSpPr txBox="1">
            <a:spLocks noChangeArrowheads="1"/>
          </p:cNvSpPr>
          <p:nvPr/>
        </p:nvSpPr>
        <p:spPr bwMode="auto">
          <a:xfrm>
            <a:off x="10272714" y="6488114"/>
            <a:ext cx="549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79537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40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414" name="TextBox 19"/>
          <p:cNvSpPr txBox="1">
            <a:spLocks noChangeArrowheads="1"/>
          </p:cNvSpPr>
          <p:nvPr/>
        </p:nvSpPr>
        <p:spPr bwMode="auto">
          <a:xfrm>
            <a:off x="2101851" y="6350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/>
              <a:t>Contents</a:t>
            </a:r>
          </a:p>
        </p:txBody>
      </p:sp>
      <p:sp>
        <p:nvSpPr>
          <p:cNvPr id="17415" name="TextBox 22"/>
          <p:cNvSpPr txBox="1">
            <a:spLocks noChangeArrowheads="1"/>
          </p:cNvSpPr>
          <p:nvPr/>
        </p:nvSpPr>
        <p:spPr bwMode="auto">
          <a:xfrm>
            <a:off x="1747839" y="374650"/>
            <a:ext cx="6623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417" name="TextBox 16"/>
          <p:cNvSpPr txBox="1">
            <a:spLocks noChangeArrowheads="1"/>
          </p:cNvSpPr>
          <p:nvPr/>
        </p:nvSpPr>
        <p:spPr bwMode="auto">
          <a:xfrm>
            <a:off x="2927351" y="344488"/>
            <a:ext cx="6174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/>
              <a:t>Date</a:t>
            </a:r>
          </a:p>
        </p:txBody>
      </p:sp>
      <p:sp>
        <p:nvSpPr>
          <p:cNvPr id="17418" name="TextBox 17"/>
          <p:cNvSpPr txBox="1">
            <a:spLocks noChangeArrowheads="1"/>
          </p:cNvSpPr>
          <p:nvPr/>
        </p:nvSpPr>
        <p:spPr bwMode="auto">
          <a:xfrm>
            <a:off x="4079875" y="344489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/>
              <a:t>Description</a:t>
            </a:r>
          </a:p>
        </p:txBody>
      </p:sp>
      <p:sp>
        <p:nvSpPr>
          <p:cNvPr id="17419" name="TextBox 20"/>
          <p:cNvSpPr txBox="1">
            <a:spLocks noChangeArrowheads="1"/>
          </p:cNvSpPr>
          <p:nvPr/>
        </p:nvSpPr>
        <p:spPr bwMode="auto">
          <a:xfrm>
            <a:off x="7319964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27252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564" y="1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4" name="TextBox 5"/>
          <p:cNvSpPr txBox="1">
            <a:spLocks noChangeArrowheads="1"/>
          </p:cNvSpPr>
          <p:nvPr/>
        </p:nvSpPr>
        <p:spPr bwMode="auto">
          <a:xfrm>
            <a:off x="1524000" y="64754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6</a:t>
            </a:r>
          </a:p>
        </p:txBody>
      </p:sp>
      <p:sp>
        <p:nvSpPr>
          <p:cNvPr id="18435" name="TextBox 6"/>
          <p:cNvSpPr txBox="1">
            <a:spLocks noChangeArrowheads="1"/>
          </p:cNvSpPr>
          <p:nvPr/>
        </p:nvSpPr>
        <p:spPr bwMode="auto">
          <a:xfrm>
            <a:off x="10272714" y="6526213"/>
            <a:ext cx="549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564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564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400" y="1196976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0" name="TextBox 18"/>
          <p:cNvSpPr txBox="1">
            <a:spLocks noChangeArrowheads="1"/>
          </p:cNvSpPr>
          <p:nvPr/>
        </p:nvSpPr>
        <p:spPr bwMode="auto">
          <a:xfrm>
            <a:off x="6057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000"/>
              <a:t>24</a:t>
            </a:r>
          </a:p>
          <a:p>
            <a:r>
              <a:rPr lang="en-AU" altLang="x-none" sz="1000"/>
              <a:t>7</a:t>
            </a:r>
          </a:p>
          <a:p>
            <a:r>
              <a:rPr lang="en-AU" altLang="x-none" sz="1000"/>
              <a:t>30</a:t>
            </a:r>
          </a:p>
        </p:txBody>
      </p:sp>
      <p:sp>
        <p:nvSpPr>
          <p:cNvPr id="18441" name="TextBox 19"/>
          <p:cNvSpPr txBox="1">
            <a:spLocks noChangeArrowheads="1"/>
          </p:cNvSpPr>
          <p:nvPr/>
        </p:nvSpPr>
        <p:spPr bwMode="auto">
          <a:xfrm>
            <a:off x="6096001" y="601664"/>
            <a:ext cx="12474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000"/>
              <a:t>Essential Question</a:t>
            </a:r>
          </a:p>
        </p:txBody>
      </p:sp>
      <p:sp>
        <p:nvSpPr>
          <p:cNvPr id="18442" name="TextBox 21"/>
          <p:cNvSpPr txBox="1">
            <a:spLocks noChangeArrowheads="1"/>
          </p:cNvSpPr>
          <p:nvPr/>
        </p:nvSpPr>
        <p:spPr bwMode="auto">
          <a:xfrm>
            <a:off x="7391401" y="1196976"/>
            <a:ext cx="51809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000"/>
              <a:t>Notes</a:t>
            </a:r>
          </a:p>
        </p:txBody>
      </p:sp>
      <p:sp>
        <p:nvSpPr>
          <p:cNvPr id="18443" name="TextBox 22"/>
          <p:cNvSpPr txBox="1">
            <a:spLocks noChangeArrowheads="1"/>
          </p:cNvSpPr>
          <p:nvPr/>
        </p:nvSpPr>
        <p:spPr bwMode="auto">
          <a:xfrm>
            <a:off x="6045201" y="1196976"/>
            <a:ext cx="75854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000"/>
              <a:t>Questions</a:t>
            </a:r>
          </a:p>
        </p:txBody>
      </p:sp>
      <p:sp>
        <p:nvSpPr>
          <p:cNvPr id="18444" name="TextBox 23"/>
          <p:cNvSpPr txBox="1">
            <a:spLocks noChangeArrowheads="1"/>
          </p:cNvSpPr>
          <p:nvPr/>
        </p:nvSpPr>
        <p:spPr bwMode="auto">
          <a:xfrm>
            <a:off x="6096001" y="5373689"/>
            <a:ext cx="73289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000"/>
              <a:t>Summary</a:t>
            </a:r>
          </a:p>
        </p:txBody>
      </p:sp>
      <p:sp>
        <p:nvSpPr>
          <p:cNvPr id="18445" name="TextBox 24"/>
          <p:cNvSpPr txBox="1">
            <a:spLocks noChangeArrowheads="1"/>
          </p:cNvSpPr>
          <p:nvPr/>
        </p:nvSpPr>
        <p:spPr bwMode="auto">
          <a:xfrm>
            <a:off x="1674814" y="142875"/>
            <a:ext cx="7748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82191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Box 1"/>
          <p:cNvSpPr txBox="1">
            <a:spLocks noChangeArrowheads="1"/>
          </p:cNvSpPr>
          <p:nvPr/>
        </p:nvSpPr>
        <p:spPr bwMode="auto">
          <a:xfrm>
            <a:off x="10272714" y="6488114"/>
            <a:ext cx="549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107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11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0" name="TextBox 6"/>
          <p:cNvSpPr txBox="1">
            <a:spLocks noChangeArrowheads="1"/>
          </p:cNvSpPr>
          <p:nvPr/>
        </p:nvSpPr>
        <p:spPr bwMode="auto">
          <a:xfrm>
            <a:off x="1617663" y="149225"/>
            <a:ext cx="5762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1600"/>
              <a:t>24</a:t>
            </a:r>
          </a:p>
          <a:p>
            <a:r>
              <a:rPr lang="en-AU" altLang="x-none" sz="1600"/>
              <a:t>7</a:t>
            </a:r>
          </a:p>
          <a:p>
            <a:r>
              <a:rPr lang="en-AU" altLang="x-none" sz="160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40238" y="1916114"/>
            <a:ext cx="0" cy="51133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2" name="TextBox 9"/>
          <p:cNvSpPr txBox="1">
            <a:spLocks noChangeArrowheads="1"/>
          </p:cNvSpPr>
          <p:nvPr/>
        </p:nvSpPr>
        <p:spPr bwMode="auto">
          <a:xfrm>
            <a:off x="2640014" y="404813"/>
            <a:ext cx="20040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2800"/>
              <a:t>Index Laws</a:t>
            </a:r>
          </a:p>
        </p:txBody>
      </p:sp>
      <p:sp>
        <p:nvSpPr>
          <p:cNvPr id="19463" name="TextBox 10"/>
          <p:cNvSpPr txBox="1">
            <a:spLocks noChangeArrowheads="1"/>
          </p:cNvSpPr>
          <p:nvPr/>
        </p:nvSpPr>
        <p:spPr bwMode="auto">
          <a:xfrm>
            <a:off x="8963026" y="106363"/>
            <a:ext cx="1584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2400"/>
              <a:t>Date</a:t>
            </a:r>
          </a:p>
        </p:txBody>
      </p:sp>
      <p:sp>
        <p:nvSpPr>
          <p:cNvPr id="19464" name="TextBox 11"/>
          <p:cNvSpPr txBox="1">
            <a:spLocks noChangeArrowheads="1"/>
          </p:cNvSpPr>
          <p:nvPr/>
        </p:nvSpPr>
        <p:spPr bwMode="auto">
          <a:xfrm>
            <a:off x="1643064" y="1063626"/>
            <a:ext cx="86201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x-none" sz="2400"/>
              <a:t>EQ – Describe how the index laws can be used to simplify expressions with indices.  </a:t>
            </a:r>
          </a:p>
        </p:txBody>
      </p:sp>
    </p:spTree>
    <p:extLst>
      <p:ext uri="{BB962C8B-B14F-4D97-AF65-F5344CB8AC3E}">
        <p14:creationId xmlns:p14="http://schemas.microsoft.com/office/powerpoint/2010/main" val="213015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dirty="0" smtClean="0"/>
              <a:t>Task –Simplify the following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135188" y="1484314"/>
            <a:ext cx="7561262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US" sz="2400" dirty="0"/>
              <a:t>3</a:t>
            </a:r>
            <a:r>
              <a:rPr lang="en-US" sz="2400" baseline="30000" dirty="0"/>
              <a:t>4</a:t>
            </a:r>
            <a:r>
              <a:rPr lang="en-US" sz="2400" dirty="0"/>
              <a:t> x 3</a:t>
            </a:r>
            <a:r>
              <a:rPr lang="en-US" sz="2400" baseline="30000" dirty="0"/>
              <a:t>2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400" dirty="0"/>
              <a:t>3</a:t>
            </a:r>
            <a:r>
              <a:rPr lang="en-US" sz="2400" baseline="30000" dirty="0"/>
              <a:t>7</a:t>
            </a:r>
            <a:r>
              <a:rPr lang="en-US" sz="2400" dirty="0"/>
              <a:t> ÷ 3</a:t>
            </a:r>
            <a:r>
              <a:rPr lang="en-US" sz="2400" baseline="30000" dirty="0"/>
              <a:t>4</a:t>
            </a:r>
            <a:endParaRPr lang="en-US" sz="2400" dirty="0"/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400" dirty="0"/>
              <a:t>(3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  <a:r>
              <a:rPr lang="en-US" sz="2400" baseline="30000" dirty="0"/>
              <a:t>4</a:t>
            </a:r>
            <a:endParaRPr lang="en-US" sz="2400" dirty="0"/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400" dirty="0"/>
              <a:t>(4x3)</a:t>
            </a:r>
            <a:r>
              <a:rPr lang="en-US" sz="2400" baseline="30000" dirty="0"/>
              <a:t>3</a:t>
            </a:r>
          </a:p>
          <a:p>
            <a:pPr marL="342900" indent="-342900">
              <a:buFont typeface="+mj-lt"/>
              <a:buAutoNum type="arabicPeriod"/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Hint: Remember your Index Laws from Term 1.</a:t>
            </a:r>
          </a:p>
        </p:txBody>
      </p:sp>
    </p:spTree>
    <p:extLst>
      <p:ext uri="{BB962C8B-B14F-4D97-AF65-F5344CB8AC3E}">
        <p14:creationId xmlns:p14="http://schemas.microsoft.com/office/powerpoint/2010/main" val="81097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4" name="AutoShape 20"/>
          <p:cNvSpPr>
            <a:spLocks noChangeArrowheads="1"/>
          </p:cNvSpPr>
          <p:nvPr/>
        </p:nvSpPr>
        <p:spPr bwMode="auto">
          <a:xfrm>
            <a:off x="3352800" y="3276601"/>
            <a:ext cx="5487988" cy="1355725"/>
          </a:xfrm>
          <a:prstGeom prst="roundRect">
            <a:avLst>
              <a:gd name="adj" fmla="val 16667"/>
            </a:avLst>
          </a:prstGeom>
          <a:solidFill>
            <a:srgbClr val="CFD2E3">
              <a:alpha val="74901"/>
            </a:srgbClr>
          </a:solidFill>
          <a:ln w="762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 sz="5400">
              <a:solidFill>
                <a:srgbClr val="5B0091"/>
              </a:solidFill>
            </a:endParaRPr>
          </a:p>
        </p:txBody>
      </p:sp>
      <p:sp>
        <p:nvSpPr>
          <p:cNvPr id="4099" name="AutoShape 19"/>
          <p:cNvSpPr>
            <a:spLocks noChangeArrowheads="1"/>
          </p:cNvSpPr>
          <p:nvPr/>
        </p:nvSpPr>
        <p:spPr bwMode="auto">
          <a:xfrm>
            <a:off x="2676526" y="961233"/>
            <a:ext cx="6713537" cy="98107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76200">
            <a:solidFill>
              <a:srgbClr val="4D95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 sz="5400">
              <a:solidFill>
                <a:srgbClr val="5B0091"/>
              </a:solidFill>
            </a:endParaRPr>
          </a:p>
        </p:txBody>
      </p:sp>
      <p:sp>
        <p:nvSpPr>
          <p:cNvPr id="186374" name="Text Box 6"/>
          <p:cNvSpPr txBox="1">
            <a:spLocks noChangeArrowheads="1"/>
          </p:cNvSpPr>
          <p:nvPr/>
        </p:nvSpPr>
        <p:spPr bwMode="auto">
          <a:xfrm>
            <a:off x="2676526" y="1095376"/>
            <a:ext cx="6837363" cy="8223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/>
              <a:t>We use </a:t>
            </a:r>
            <a:r>
              <a:rPr lang="en-GB" b="1">
                <a:solidFill>
                  <a:srgbClr val="FF6600"/>
                </a:solidFill>
              </a:rPr>
              <a:t>index notation</a:t>
            </a:r>
            <a:r>
              <a:rPr lang="en-GB"/>
              <a:t> to show repeated multiplication by the same number.</a:t>
            </a:r>
          </a:p>
        </p:txBody>
      </p:sp>
      <p:sp>
        <p:nvSpPr>
          <p:cNvPr id="186375" name="Text Box 7"/>
          <p:cNvSpPr txBox="1">
            <a:spLocks noChangeArrowheads="1"/>
          </p:cNvSpPr>
          <p:nvPr/>
        </p:nvSpPr>
        <p:spPr bwMode="auto">
          <a:xfrm>
            <a:off x="1930400" y="2049463"/>
            <a:ext cx="1963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For example:</a:t>
            </a:r>
          </a:p>
        </p:txBody>
      </p:sp>
      <p:sp>
        <p:nvSpPr>
          <p:cNvPr id="186376" name="Text Box 8"/>
          <p:cNvSpPr txBox="1">
            <a:spLocks noChangeArrowheads="1"/>
          </p:cNvSpPr>
          <p:nvPr/>
        </p:nvSpPr>
        <p:spPr bwMode="auto">
          <a:xfrm>
            <a:off x="1930400" y="2667000"/>
            <a:ext cx="7653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We can use index notation to write </a:t>
            </a:r>
            <a:r>
              <a:rPr lang="en-GB" altLang="en-US" b="1">
                <a:solidFill>
                  <a:srgbClr val="FF6600"/>
                </a:solidFill>
              </a:rPr>
              <a:t>2 × 2 × 2 × 2 × 2</a:t>
            </a:r>
            <a:r>
              <a:rPr lang="en-GB" altLang="en-US"/>
              <a:t> as:</a:t>
            </a:r>
          </a:p>
        </p:txBody>
      </p:sp>
      <p:sp>
        <p:nvSpPr>
          <p:cNvPr id="186377" name="Text Box 9"/>
          <p:cNvSpPr txBox="1">
            <a:spLocks noChangeArrowheads="1"/>
          </p:cNvSpPr>
          <p:nvPr/>
        </p:nvSpPr>
        <p:spPr bwMode="auto">
          <a:xfrm>
            <a:off x="5222876" y="3559176"/>
            <a:ext cx="657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 sz="4000"/>
              <a:t>2</a:t>
            </a:r>
            <a:r>
              <a:rPr lang="en-GB" altLang="en-US" sz="4000" baseline="30000"/>
              <a:t>5</a:t>
            </a:r>
          </a:p>
        </p:txBody>
      </p:sp>
      <p:sp>
        <p:nvSpPr>
          <p:cNvPr id="186378" name="Text Box 10"/>
          <p:cNvSpPr txBox="1">
            <a:spLocks noChangeArrowheads="1"/>
          </p:cNvSpPr>
          <p:nvPr/>
        </p:nvSpPr>
        <p:spPr bwMode="auto">
          <a:xfrm>
            <a:off x="1930400" y="4814888"/>
            <a:ext cx="6724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This number is read as ‘two to the power of five’.</a:t>
            </a:r>
          </a:p>
        </p:txBody>
      </p:sp>
      <p:sp>
        <p:nvSpPr>
          <p:cNvPr id="186379" name="Text Box 11"/>
          <p:cNvSpPr txBox="1">
            <a:spLocks noChangeArrowheads="1"/>
          </p:cNvSpPr>
          <p:nvPr/>
        </p:nvSpPr>
        <p:spPr bwMode="auto">
          <a:xfrm>
            <a:off x="4075113" y="54864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2</a:t>
            </a:r>
            <a:r>
              <a:rPr lang="en-GB" altLang="en-US" baseline="30000"/>
              <a:t>5</a:t>
            </a:r>
            <a:r>
              <a:rPr lang="en-GB" altLang="en-US"/>
              <a:t> =</a:t>
            </a:r>
          </a:p>
        </p:txBody>
      </p:sp>
      <p:sp>
        <p:nvSpPr>
          <p:cNvPr id="186381" name="Text Box 13"/>
          <p:cNvSpPr txBox="1">
            <a:spLocks noChangeArrowheads="1"/>
          </p:cNvSpPr>
          <p:nvPr/>
        </p:nvSpPr>
        <p:spPr bwMode="auto">
          <a:xfrm>
            <a:off x="4708525" y="5486400"/>
            <a:ext cx="267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>
                <a:solidFill>
                  <a:srgbClr val="000066"/>
                </a:solidFill>
              </a:rPr>
              <a:t>2 × 2 × 2 × 2 × 2 =</a:t>
            </a:r>
          </a:p>
        </p:txBody>
      </p:sp>
      <p:sp>
        <p:nvSpPr>
          <p:cNvPr id="186382" name="Text Box 14"/>
          <p:cNvSpPr txBox="1">
            <a:spLocks noChangeArrowheads="1"/>
          </p:cNvSpPr>
          <p:nvPr/>
        </p:nvSpPr>
        <p:spPr bwMode="auto">
          <a:xfrm>
            <a:off x="7300914" y="54864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32</a:t>
            </a:r>
          </a:p>
        </p:txBody>
      </p:sp>
      <p:sp>
        <p:nvSpPr>
          <p:cNvPr id="186384" name="Text Box 16"/>
          <p:cNvSpPr txBox="1">
            <a:spLocks noChangeArrowheads="1"/>
          </p:cNvSpPr>
          <p:nvPr/>
        </p:nvSpPr>
        <p:spPr bwMode="auto">
          <a:xfrm>
            <a:off x="3951289" y="4202114"/>
            <a:ext cx="763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 sz="2000" b="1">
                <a:solidFill>
                  <a:srgbClr val="FF6600"/>
                </a:solidFill>
              </a:rPr>
              <a:t>base</a:t>
            </a:r>
          </a:p>
        </p:txBody>
      </p:sp>
      <p:sp>
        <p:nvSpPr>
          <p:cNvPr id="186385" name="Text Box 17"/>
          <p:cNvSpPr txBox="1">
            <a:spLocks noChangeArrowheads="1"/>
          </p:cNvSpPr>
          <p:nvPr/>
        </p:nvSpPr>
        <p:spPr bwMode="auto">
          <a:xfrm>
            <a:off x="6450014" y="3352801"/>
            <a:ext cx="1989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 sz="2000" b="1">
                <a:solidFill>
                  <a:srgbClr val="FF6600"/>
                </a:solidFill>
              </a:rPr>
              <a:t>index or power</a:t>
            </a:r>
          </a:p>
        </p:txBody>
      </p:sp>
      <p:sp>
        <p:nvSpPr>
          <p:cNvPr id="186386" name="Line 18"/>
          <p:cNvSpPr>
            <a:spLocks noChangeShapeType="1"/>
          </p:cNvSpPr>
          <p:nvPr/>
        </p:nvSpPr>
        <p:spPr bwMode="auto">
          <a:xfrm flipV="1">
            <a:off x="4637088" y="4038600"/>
            <a:ext cx="533400" cy="2286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6387" name="Line 19"/>
          <p:cNvSpPr>
            <a:spLocks noChangeShapeType="1"/>
          </p:cNvSpPr>
          <p:nvPr/>
        </p:nvSpPr>
        <p:spPr bwMode="auto">
          <a:xfrm flipH="1">
            <a:off x="5856288" y="3581400"/>
            <a:ext cx="533400" cy="2286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3" name="Rectangle 2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70038" y="46038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en-GB" altLang="en-US" sz="2800" b="1">
                <a:solidFill>
                  <a:srgbClr val="000066"/>
                </a:solidFill>
              </a:rPr>
              <a:t>Index notation</a:t>
            </a:r>
          </a:p>
        </p:txBody>
      </p:sp>
    </p:spTree>
    <p:extLst>
      <p:ext uri="{BB962C8B-B14F-4D97-AF65-F5344CB8AC3E}">
        <p14:creationId xmlns:p14="http://schemas.microsoft.com/office/powerpoint/2010/main" val="91968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84" grpId="0" animBg="1"/>
      <p:bldP spid="186375" grpId="0" autoUpdateAnimBg="0"/>
      <p:bldP spid="186376" grpId="0" autoUpdateAnimBg="0"/>
      <p:bldP spid="186377" grpId="0" autoUpdateAnimBg="0"/>
      <p:bldP spid="186378" grpId="0" autoUpdateAnimBg="0"/>
      <p:bldP spid="186379" grpId="0" autoUpdateAnimBg="0"/>
      <p:bldP spid="186381" grpId="0" autoUpdateAnimBg="0"/>
      <p:bldP spid="186382" grpId="0" autoUpdateAnimBg="0"/>
      <p:bldP spid="186384" grpId="0" autoUpdateAnimBg="0"/>
      <p:bldP spid="186385" grpId="0" autoUpdateAnimBg="0"/>
      <p:bldP spid="186386" grpId="0" animBg="1"/>
      <p:bldP spid="18638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7" name="AutoShape 21"/>
          <p:cNvSpPr>
            <a:spLocks noChangeArrowheads="1"/>
          </p:cNvSpPr>
          <p:nvPr/>
        </p:nvSpPr>
        <p:spPr bwMode="auto">
          <a:xfrm>
            <a:off x="1878013" y="1993901"/>
            <a:ext cx="6127750" cy="3357563"/>
          </a:xfrm>
          <a:prstGeom prst="roundRect">
            <a:avLst>
              <a:gd name="adj" fmla="val 6412"/>
            </a:avLst>
          </a:prstGeom>
          <a:solidFill>
            <a:srgbClr val="CFD2E3">
              <a:alpha val="50195"/>
            </a:srgbClr>
          </a:solidFill>
          <a:ln w="762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231464" name="Text Box 40"/>
          <p:cNvSpPr txBox="1">
            <a:spLocks noChangeArrowheads="1"/>
          </p:cNvSpPr>
          <p:nvPr/>
        </p:nvSpPr>
        <p:spPr bwMode="auto">
          <a:xfrm>
            <a:off x="4295776" y="5616575"/>
            <a:ext cx="3598863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/>
              <a:t>What do you notice?</a:t>
            </a:r>
          </a:p>
        </p:txBody>
      </p:sp>
      <p:sp>
        <p:nvSpPr>
          <p:cNvPr id="231461" name="Text Box 37"/>
          <p:cNvSpPr txBox="1">
            <a:spLocks noChangeArrowheads="1"/>
          </p:cNvSpPr>
          <p:nvPr/>
        </p:nvSpPr>
        <p:spPr bwMode="auto">
          <a:xfrm>
            <a:off x="2676526" y="5551488"/>
            <a:ext cx="6837363" cy="850900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/>
              <a:t>When we </a:t>
            </a:r>
            <a:r>
              <a:rPr lang="en-GB">
                <a:solidFill>
                  <a:srgbClr val="FF6600"/>
                </a:solidFill>
              </a:rPr>
              <a:t>multiply</a:t>
            </a:r>
            <a:r>
              <a:rPr lang="en-GB"/>
              <a:t> two numbers with the </a:t>
            </a:r>
            <a:r>
              <a:rPr lang="en-GB">
                <a:solidFill>
                  <a:srgbClr val="FF6600"/>
                </a:solidFill>
              </a:rPr>
              <a:t>same base</a:t>
            </a:r>
            <a:r>
              <a:rPr lang="en-GB"/>
              <a:t> the indices are </a:t>
            </a:r>
            <a:r>
              <a:rPr lang="en-GB">
                <a:solidFill>
                  <a:srgbClr val="FF6600"/>
                </a:solidFill>
              </a:rPr>
              <a:t>added</a:t>
            </a:r>
            <a:r>
              <a:rPr lang="en-GB"/>
              <a:t>.</a:t>
            </a:r>
          </a:p>
        </p:txBody>
      </p:sp>
      <p:sp>
        <p:nvSpPr>
          <p:cNvPr id="5125" name="Text Box 25"/>
          <p:cNvSpPr txBox="1">
            <a:spLocks noChangeArrowheads="1"/>
          </p:cNvSpPr>
          <p:nvPr/>
        </p:nvSpPr>
        <p:spPr bwMode="auto">
          <a:xfrm>
            <a:off x="1930401" y="1068389"/>
            <a:ext cx="84740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When we multiply two numbers written in index form and with the same base we can see an interesting result.</a:t>
            </a:r>
          </a:p>
        </p:txBody>
      </p:sp>
      <p:sp>
        <p:nvSpPr>
          <p:cNvPr id="231450" name="Text Box 26"/>
          <p:cNvSpPr txBox="1">
            <a:spLocks noChangeArrowheads="1"/>
          </p:cNvSpPr>
          <p:nvPr/>
        </p:nvSpPr>
        <p:spPr bwMode="auto">
          <a:xfrm>
            <a:off x="2019300" y="2006600"/>
            <a:ext cx="1963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For example:</a:t>
            </a:r>
          </a:p>
        </p:txBody>
      </p:sp>
      <p:sp>
        <p:nvSpPr>
          <p:cNvPr id="231451" name="Text Box 27"/>
          <p:cNvSpPr txBox="1">
            <a:spLocks noChangeArrowheads="1"/>
          </p:cNvSpPr>
          <p:nvPr/>
        </p:nvSpPr>
        <p:spPr bwMode="auto">
          <a:xfrm>
            <a:off x="2022476" y="2528888"/>
            <a:ext cx="1357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3</a:t>
            </a:r>
            <a:r>
              <a:rPr lang="en-GB" altLang="en-US" baseline="30000"/>
              <a:t>4</a:t>
            </a:r>
            <a:r>
              <a:rPr lang="en-GB" altLang="en-US"/>
              <a:t> × 3</a:t>
            </a:r>
            <a:r>
              <a:rPr lang="en-GB" altLang="en-US" baseline="30000"/>
              <a:t>2</a:t>
            </a:r>
            <a:r>
              <a:rPr lang="en-GB" altLang="en-US"/>
              <a:t> =</a:t>
            </a:r>
          </a:p>
        </p:txBody>
      </p:sp>
      <p:sp>
        <p:nvSpPr>
          <p:cNvPr id="231452" name="Text Box 28"/>
          <p:cNvSpPr txBox="1">
            <a:spLocks noChangeArrowheads="1"/>
          </p:cNvSpPr>
          <p:nvPr/>
        </p:nvSpPr>
        <p:spPr bwMode="auto">
          <a:xfrm>
            <a:off x="3270250" y="2528888"/>
            <a:ext cx="334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(3 × 3 × 3 × 3) × (3 × 3)</a:t>
            </a:r>
          </a:p>
        </p:txBody>
      </p:sp>
      <p:sp>
        <p:nvSpPr>
          <p:cNvPr id="231453" name="Text Box 29"/>
          <p:cNvSpPr txBox="1">
            <a:spLocks noChangeArrowheads="1"/>
          </p:cNvSpPr>
          <p:nvPr/>
        </p:nvSpPr>
        <p:spPr bwMode="auto">
          <a:xfrm>
            <a:off x="3028950" y="2947988"/>
            <a:ext cx="3195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= 3 × 3 × 3 × 3 × 3 × 3</a:t>
            </a:r>
          </a:p>
        </p:txBody>
      </p:sp>
      <p:sp>
        <p:nvSpPr>
          <p:cNvPr id="231454" name="Text Box 30"/>
          <p:cNvSpPr txBox="1">
            <a:spLocks noChangeArrowheads="1"/>
          </p:cNvSpPr>
          <p:nvPr/>
        </p:nvSpPr>
        <p:spPr bwMode="auto">
          <a:xfrm>
            <a:off x="3028951" y="3367088"/>
            <a:ext cx="728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= 3</a:t>
            </a:r>
            <a:r>
              <a:rPr lang="en-GB" altLang="en-US" baseline="30000"/>
              <a:t>6</a:t>
            </a:r>
          </a:p>
        </p:txBody>
      </p:sp>
      <p:sp>
        <p:nvSpPr>
          <p:cNvPr id="231455" name="Text Box 31"/>
          <p:cNvSpPr txBox="1">
            <a:spLocks noChangeArrowheads="1"/>
          </p:cNvSpPr>
          <p:nvPr/>
        </p:nvSpPr>
        <p:spPr bwMode="auto">
          <a:xfrm>
            <a:off x="2022476" y="3976688"/>
            <a:ext cx="1357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7</a:t>
            </a:r>
            <a:r>
              <a:rPr lang="en-GB" altLang="en-US" baseline="30000"/>
              <a:t>3</a:t>
            </a:r>
            <a:r>
              <a:rPr lang="en-GB" altLang="en-US"/>
              <a:t> × 7</a:t>
            </a:r>
            <a:r>
              <a:rPr lang="en-GB" altLang="en-US" baseline="30000"/>
              <a:t>5</a:t>
            </a:r>
            <a:r>
              <a:rPr lang="en-GB" altLang="en-US"/>
              <a:t> =</a:t>
            </a:r>
          </a:p>
        </p:txBody>
      </p:sp>
      <p:sp>
        <p:nvSpPr>
          <p:cNvPr id="231456" name="Text Box 32"/>
          <p:cNvSpPr txBox="1">
            <a:spLocks noChangeArrowheads="1"/>
          </p:cNvSpPr>
          <p:nvPr/>
        </p:nvSpPr>
        <p:spPr bwMode="auto">
          <a:xfrm>
            <a:off x="3270251" y="3976688"/>
            <a:ext cx="437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(7 × 7 × 7) × (7 × 7 × 7 × 7 × 7)</a:t>
            </a:r>
          </a:p>
        </p:txBody>
      </p:sp>
      <p:sp>
        <p:nvSpPr>
          <p:cNvPr id="231457" name="Text Box 33"/>
          <p:cNvSpPr txBox="1">
            <a:spLocks noChangeArrowheads="1"/>
          </p:cNvSpPr>
          <p:nvPr/>
        </p:nvSpPr>
        <p:spPr bwMode="auto">
          <a:xfrm>
            <a:off x="3028951" y="4395788"/>
            <a:ext cx="422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= 7 × 7 × 7 × 7 × 7 × 7 × 7 × 7</a:t>
            </a:r>
          </a:p>
        </p:txBody>
      </p:sp>
      <p:sp>
        <p:nvSpPr>
          <p:cNvPr id="231458" name="Text Box 34"/>
          <p:cNvSpPr txBox="1">
            <a:spLocks noChangeArrowheads="1"/>
          </p:cNvSpPr>
          <p:nvPr/>
        </p:nvSpPr>
        <p:spPr bwMode="auto">
          <a:xfrm>
            <a:off x="3028951" y="4814888"/>
            <a:ext cx="728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= 7</a:t>
            </a:r>
            <a:r>
              <a:rPr lang="en-GB" altLang="en-US" baseline="30000"/>
              <a:t>8</a:t>
            </a:r>
          </a:p>
        </p:txBody>
      </p:sp>
      <p:sp>
        <p:nvSpPr>
          <p:cNvPr id="231465" name="Text Box 41"/>
          <p:cNvSpPr txBox="1">
            <a:spLocks noChangeArrowheads="1"/>
          </p:cNvSpPr>
          <p:nvPr/>
        </p:nvSpPr>
        <p:spPr bwMode="auto">
          <a:xfrm>
            <a:off x="3714751" y="3367088"/>
            <a:ext cx="1211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>
                <a:solidFill>
                  <a:srgbClr val="FF6600"/>
                </a:solidFill>
              </a:rPr>
              <a:t>= 3</a:t>
            </a:r>
            <a:r>
              <a:rPr lang="en-GB" altLang="en-US" baseline="30000">
                <a:solidFill>
                  <a:srgbClr val="FF6600"/>
                </a:solidFill>
              </a:rPr>
              <a:t>(4 + 2)</a:t>
            </a:r>
          </a:p>
        </p:txBody>
      </p:sp>
      <p:sp>
        <p:nvSpPr>
          <p:cNvPr id="231466" name="Text Box 42"/>
          <p:cNvSpPr txBox="1">
            <a:spLocks noChangeArrowheads="1"/>
          </p:cNvSpPr>
          <p:nvPr/>
        </p:nvSpPr>
        <p:spPr bwMode="auto">
          <a:xfrm>
            <a:off x="3714751" y="4814888"/>
            <a:ext cx="1211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>
                <a:solidFill>
                  <a:srgbClr val="FF6600"/>
                </a:solidFill>
              </a:rPr>
              <a:t>= 7</a:t>
            </a:r>
            <a:r>
              <a:rPr lang="en-GB" altLang="en-US" baseline="30000">
                <a:solidFill>
                  <a:srgbClr val="FF6600"/>
                </a:solidFill>
              </a:rPr>
              <a:t>(3 + 5)</a:t>
            </a:r>
          </a:p>
        </p:txBody>
      </p:sp>
      <p:sp>
        <p:nvSpPr>
          <p:cNvPr id="5138" name="Rectangle 2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70038" y="46038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en-GB" altLang="en-US" sz="2800" b="1">
                <a:solidFill>
                  <a:srgbClr val="000066"/>
                </a:solidFill>
              </a:rPr>
              <a:t>The first index law</a:t>
            </a:r>
          </a:p>
        </p:txBody>
      </p:sp>
    </p:spTree>
    <p:extLst>
      <p:ext uri="{BB962C8B-B14F-4D97-AF65-F5344CB8AC3E}">
        <p14:creationId xmlns:p14="http://schemas.microsoft.com/office/powerpoint/2010/main" val="176612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7" grpId="0" animBg="1"/>
      <p:bldP spid="231464" grpId="0" animBg="1" autoUpdateAnimBg="0"/>
      <p:bldP spid="231461" grpId="0" animBg="1" autoUpdateAnimBg="0"/>
      <p:bldP spid="231450" grpId="0" autoUpdateAnimBg="0"/>
      <p:bldP spid="231451" grpId="0" autoUpdateAnimBg="0"/>
      <p:bldP spid="231452" grpId="0" autoUpdateAnimBg="0"/>
      <p:bldP spid="231453" grpId="0" autoUpdateAnimBg="0"/>
      <p:bldP spid="231454" grpId="0" autoUpdateAnimBg="0"/>
      <p:bldP spid="231455" grpId="0" autoUpdateAnimBg="0"/>
      <p:bldP spid="231456" grpId="0" autoUpdateAnimBg="0"/>
      <p:bldP spid="231457" grpId="0" autoUpdateAnimBg="0"/>
      <p:bldP spid="231458" grpId="0" autoUpdateAnimBg="0"/>
      <p:bldP spid="231465" grpId="0" autoUpdateAnimBg="0"/>
      <p:bldP spid="23146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3" name="AutoShape 43"/>
          <p:cNvSpPr>
            <a:spLocks noChangeArrowheads="1"/>
          </p:cNvSpPr>
          <p:nvPr/>
        </p:nvSpPr>
        <p:spPr bwMode="auto">
          <a:xfrm>
            <a:off x="1878013" y="1993900"/>
            <a:ext cx="8159750" cy="3016250"/>
          </a:xfrm>
          <a:prstGeom prst="roundRect">
            <a:avLst>
              <a:gd name="adj" fmla="val 6412"/>
            </a:avLst>
          </a:prstGeom>
          <a:solidFill>
            <a:srgbClr val="CFD2E3">
              <a:alpha val="50195"/>
            </a:srgbClr>
          </a:solidFill>
          <a:ln w="762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280628" name="Text Box 52"/>
          <p:cNvSpPr txBox="1">
            <a:spLocks noChangeArrowheads="1"/>
          </p:cNvSpPr>
          <p:nvPr/>
        </p:nvSpPr>
        <p:spPr bwMode="auto">
          <a:xfrm>
            <a:off x="4295776" y="5127625"/>
            <a:ext cx="3598863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/>
              <a:t>What do you notice?</a:t>
            </a:r>
          </a:p>
        </p:txBody>
      </p:sp>
      <p:sp>
        <p:nvSpPr>
          <p:cNvPr id="280631" name="Text Box 55"/>
          <p:cNvSpPr txBox="1">
            <a:spLocks noChangeArrowheads="1"/>
          </p:cNvSpPr>
          <p:nvPr/>
        </p:nvSpPr>
        <p:spPr bwMode="auto">
          <a:xfrm>
            <a:off x="2676526" y="5105400"/>
            <a:ext cx="6837363" cy="850900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/>
              <a:t>When we </a:t>
            </a:r>
            <a:r>
              <a:rPr lang="en-GB">
                <a:solidFill>
                  <a:srgbClr val="FF6600"/>
                </a:solidFill>
              </a:rPr>
              <a:t>divide</a:t>
            </a:r>
            <a:r>
              <a:rPr lang="en-GB"/>
              <a:t> two numbers with the </a:t>
            </a:r>
            <a:r>
              <a:rPr lang="en-GB">
                <a:solidFill>
                  <a:srgbClr val="FF6600"/>
                </a:solidFill>
              </a:rPr>
              <a:t>same base</a:t>
            </a:r>
            <a:r>
              <a:rPr lang="en-GB"/>
              <a:t> the indices are </a:t>
            </a:r>
            <a:r>
              <a:rPr lang="en-GB">
                <a:solidFill>
                  <a:srgbClr val="FF6600"/>
                </a:solidFill>
              </a:rPr>
              <a:t>subtracted</a:t>
            </a:r>
            <a:r>
              <a:rPr lang="en-GB"/>
              <a:t>.</a:t>
            </a:r>
          </a:p>
        </p:txBody>
      </p:sp>
      <p:sp>
        <p:nvSpPr>
          <p:cNvPr id="6149" name="Text Box 20"/>
          <p:cNvSpPr txBox="1">
            <a:spLocks noChangeArrowheads="1"/>
          </p:cNvSpPr>
          <p:nvPr/>
        </p:nvSpPr>
        <p:spPr bwMode="auto">
          <a:xfrm>
            <a:off x="1930401" y="1068389"/>
            <a:ext cx="84740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When we divide two numbers written in index form and with the same base we can see another interesting result.</a:t>
            </a:r>
          </a:p>
        </p:txBody>
      </p:sp>
      <p:sp>
        <p:nvSpPr>
          <p:cNvPr id="280597" name="Text Box 21"/>
          <p:cNvSpPr txBox="1">
            <a:spLocks noChangeArrowheads="1"/>
          </p:cNvSpPr>
          <p:nvPr/>
        </p:nvSpPr>
        <p:spPr bwMode="auto">
          <a:xfrm>
            <a:off x="2063750" y="2105025"/>
            <a:ext cx="1963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For example:</a:t>
            </a:r>
          </a:p>
        </p:txBody>
      </p:sp>
      <p:sp>
        <p:nvSpPr>
          <p:cNvPr id="280598" name="Text Box 22"/>
          <p:cNvSpPr txBox="1">
            <a:spLocks noChangeArrowheads="1"/>
          </p:cNvSpPr>
          <p:nvPr/>
        </p:nvSpPr>
        <p:spPr bwMode="auto">
          <a:xfrm>
            <a:off x="2022475" y="2828925"/>
            <a:ext cx="1347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4</a:t>
            </a:r>
            <a:r>
              <a:rPr lang="en-GB" altLang="en-US" baseline="30000"/>
              <a:t>5</a:t>
            </a:r>
            <a:r>
              <a:rPr lang="en-GB" altLang="en-US"/>
              <a:t> ÷ 4</a:t>
            </a:r>
            <a:r>
              <a:rPr lang="en-GB" altLang="en-US" baseline="30000"/>
              <a:t>2</a:t>
            </a:r>
            <a:r>
              <a:rPr lang="en-GB" altLang="en-US"/>
              <a:t> =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3409951" y="2638425"/>
            <a:ext cx="2860675" cy="838200"/>
            <a:chOff x="1104" y="1536"/>
            <a:chExt cx="1802" cy="528"/>
          </a:xfrm>
        </p:grpSpPr>
        <p:grpSp>
          <p:nvGrpSpPr>
            <p:cNvPr id="6181" name="Group 24"/>
            <p:cNvGrpSpPr>
              <a:grpSpLocks/>
            </p:cNvGrpSpPr>
            <p:nvPr/>
          </p:nvGrpSpPr>
          <p:grpSpPr bwMode="auto">
            <a:xfrm>
              <a:off x="1104" y="1536"/>
              <a:ext cx="1536" cy="528"/>
              <a:chOff x="1104" y="1536"/>
              <a:chExt cx="1536" cy="528"/>
            </a:xfrm>
          </p:grpSpPr>
          <p:sp>
            <p:nvSpPr>
              <p:cNvPr id="6183" name="Text Box 25"/>
              <p:cNvSpPr txBox="1">
                <a:spLocks noChangeArrowheads="1"/>
              </p:cNvSpPr>
              <p:nvPr/>
            </p:nvSpPr>
            <p:spPr bwMode="auto">
              <a:xfrm>
                <a:off x="1111" y="1536"/>
                <a:ext cx="15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742950" indent="-28575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430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6002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9pPr>
              </a:lstStyle>
              <a:p>
                <a:r>
                  <a:rPr lang="en-GB" altLang="en-US"/>
                  <a:t>4 × 4 × 4 × 4 × 4</a:t>
                </a:r>
              </a:p>
            </p:txBody>
          </p:sp>
          <p:sp>
            <p:nvSpPr>
              <p:cNvPr id="6184" name="Line 26"/>
              <p:cNvSpPr>
                <a:spLocks noChangeShapeType="1"/>
              </p:cNvSpPr>
              <p:nvPr/>
            </p:nvSpPr>
            <p:spPr bwMode="auto">
              <a:xfrm>
                <a:off x="1104" y="1800"/>
                <a:ext cx="1536" cy="0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5" name="Text Box 27"/>
              <p:cNvSpPr txBox="1">
                <a:spLocks noChangeArrowheads="1"/>
              </p:cNvSpPr>
              <p:nvPr/>
            </p:nvSpPr>
            <p:spPr bwMode="auto">
              <a:xfrm>
                <a:off x="1598" y="1776"/>
                <a:ext cx="54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742950" indent="-28575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430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6002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9pPr>
              </a:lstStyle>
              <a:p>
                <a:r>
                  <a:rPr lang="en-GB" altLang="en-US"/>
                  <a:t>4 × 4</a:t>
                </a:r>
              </a:p>
            </p:txBody>
          </p:sp>
        </p:grpSp>
        <p:sp>
          <p:nvSpPr>
            <p:cNvPr id="6182" name="Text Box 28"/>
            <p:cNvSpPr txBox="1">
              <a:spLocks noChangeArrowheads="1"/>
            </p:cNvSpPr>
            <p:nvPr/>
          </p:nvSpPr>
          <p:spPr bwMode="auto">
            <a:xfrm>
              <a:off x="2678" y="1656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=</a:t>
              </a:r>
            </a:p>
          </p:txBody>
        </p:sp>
      </p:grpSp>
      <p:sp>
        <p:nvSpPr>
          <p:cNvPr id="280605" name="Line 29"/>
          <p:cNvSpPr>
            <a:spLocks noChangeShapeType="1"/>
          </p:cNvSpPr>
          <p:nvPr/>
        </p:nvSpPr>
        <p:spPr bwMode="auto">
          <a:xfrm flipV="1">
            <a:off x="3486150" y="27146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06" name="Line 30"/>
          <p:cNvSpPr>
            <a:spLocks noChangeShapeType="1"/>
          </p:cNvSpPr>
          <p:nvPr/>
        </p:nvSpPr>
        <p:spPr bwMode="auto">
          <a:xfrm flipV="1">
            <a:off x="4248150" y="30956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07" name="Line 31"/>
          <p:cNvSpPr>
            <a:spLocks noChangeShapeType="1"/>
          </p:cNvSpPr>
          <p:nvPr/>
        </p:nvSpPr>
        <p:spPr bwMode="auto">
          <a:xfrm flipV="1">
            <a:off x="4019550" y="27146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08" name="Line 32"/>
          <p:cNvSpPr>
            <a:spLocks noChangeShapeType="1"/>
          </p:cNvSpPr>
          <p:nvPr/>
        </p:nvSpPr>
        <p:spPr bwMode="auto">
          <a:xfrm flipV="1">
            <a:off x="4781550" y="30956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09" name="Text Box 33"/>
          <p:cNvSpPr txBox="1">
            <a:spLocks noChangeArrowheads="1"/>
          </p:cNvSpPr>
          <p:nvPr/>
        </p:nvSpPr>
        <p:spPr bwMode="auto">
          <a:xfrm>
            <a:off x="6248401" y="2828925"/>
            <a:ext cx="164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4 × 4 × 4 =</a:t>
            </a:r>
          </a:p>
        </p:txBody>
      </p:sp>
      <p:sp>
        <p:nvSpPr>
          <p:cNvPr id="280610" name="Text Box 34"/>
          <p:cNvSpPr txBox="1">
            <a:spLocks noChangeArrowheads="1"/>
          </p:cNvSpPr>
          <p:nvPr/>
        </p:nvSpPr>
        <p:spPr bwMode="auto">
          <a:xfrm>
            <a:off x="7896226" y="2828925"/>
            <a:ext cx="46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4</a:t>
            </a:r>
            <a:r>
              <a:rPr lang="en-GB" altLang="en-US" baseline="30000"/>
              <a:t>3</a:t>
            </a:r>
          </a:p>
        </p:txBody>
      </p:sp>
      <p:sp>
        <p:nvSpPr>
          <p:cNvPr id="280611" name="Text Box 35"/>
          <p:cNvSpPr txBox="1">
            <a:spLocks noChangeArrowheads="1"/>
          </p:cNvSpPr>
          <p:nvPr/>
        </p:nvSpPr>
        <p:spPr bwMode="auto">
          <a:xfrm>
            <a:off x="2022475" y="4124325"/>
            <a:ext cx="1347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5</a:t>
            </a:r>
            <a:r>
              <a:rPr lang="en-GB" altLang="en-US" baseline="30000"/>
              <a:t>6</a:t>
            </a:r>
            <a:r>
              <a:rPr lang="en-GB" altLang="en-US"/>
              <a:t> ÷ 5</a:t>
            </a:r>
            <a:r>
              <a:rPr lang="en-GB" altLang="en-US" baseline="30000"/>
              <a:t>4</a:t>
            </a:r>
            <a:r>
              <a:rPr lang="en-GB" altLang="en-US"/>
              <a:t> =</a:t>
            </a:r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3409950" y="3933825"/>
            <a:ext cx="3352800" cy="838200"/>
            <a:chOff x="1104" y="2352"/>
            <a:chExt cx="2112" cy="528"/>
          </a:xfrm>
        </p:grpSpPr>
        <p:grpSp>
          <p:nvGrpSpPr>
            <p:cNvPr id="6176" name="Group 37"/>
            <p:cNvGrpSpPr>
              <a:grpSpLocks/>
            </p:cNvGrpSpPr>
            <p:nvPr/>
          </p:nvGrpSpPr>
          <p:grpSpPr bwMode="auto">
            <a:xfrm>
              <a:off x="1104" y="2352"/>
              <a:ext cx="1872" cy="528"/>
              <a:chOff x="1104" y="2352"/>
              <a:chExt cx="1872" cy="528"/>
            </a:xfrm>
          </p:grpSpPr>
          <p:sp>
            <p:nvSpPr>
              <p:cNvPr id="6178" name="Text Box 38"/>
              <p:cNvSpPr txBox="1">
                <a:spLocks noChangeArrowheads="1"/>
              </p:cNvSpPr>
              <p:nvPr/>
            </p:nvSpPr>
            <p:spPr bwMode="auto">
              <a:xfrm>
                <a:off x="1116" y="2352"/>
                <a:ext cx="184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742950" indent="-28575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430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6002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9pPr>
              </a:lstStyle>
              <a:p>
                <a:r>
                  <a:rPr lang="en-GB" altLang="en-US"/>
                  <a:t>5 × 5 × 5 × 5 × 5 × 5</a:t>
                </a:r>
              </a:p>
            </p:txBody>
          </p:sp>
          <p:sp>
            <p:nvSpPr>
              <p:cNvPr id="6179" name="Line 39"/>
              <p:cNvSpPr>
                <a:spLocks noChangeShapeType="1"/>
              </p:cNvSpPr>
              <p:nvPr/>
            </p:nvSpPr>
            <p:spPr bwMode="auto">
              <a:xfrm>
                <a:off x="1104" y="2616"/>
                <a:ext cx="1872" cy="0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0" name="Text Box 40"/>
              <p:cNvSpPr txBox="1">
                <a:spLocks noChangeArrowheads="1"/>
              </p:cNvSpPr>
              <p:nvPr/>
            </p:nvSpPr>
            <p:spPr bwMode="auto">
              <a:xfrm>
                <a:off x="1441" y="2592"/>
                <a:ext cx="119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742950" indent="-28575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430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6002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9pPr>
              </a:lstStyle>
              <a:p>
                <a:r>
                  <a:rPr lang="en-GB" altLang="en-US"/>
                  <a:t>5 × 5 × 5 × 5</a:t>
                </a:r>
              </a:p>
            </p:txBody>
          </p:sp>
        </p:grpSp>
        <p:sp>
          <p:nvSpPr>
            <p:cNvPr id="6177" name="Text Box 41"/>
            <p:cNvSpPr txBox="1">
              <a:spLocks noChangeArrowheads="1"/>
            </p:cNvSpPr>
            <p:nvPr/>
          </p:nvSpPr>
          <p:spPr bwMode="auto">
            <a:xfrm>
              <a:off x="2988" y="2472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=</a:t>
              </a:r>
            </a:p>
          </p:txBody>
        </p:sp>
      </p:grpSp>
      <p:sp>
        <p:nvSpPr>
          <p:cNvPr id="280618" name="Line 42"/>
          <p:cNvSpPr>
            <a:spLocks noChangeShapeType="1"/>
          </p:cNvSpPr>
          <p:nvPr/>
        </p:nvSpPr>
        <p:spPr bwMode="auto">
          <a:xfrm flipV="1">
            <a:off x="3486150" y="40100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19" name="Line 43"/>
          <p:cNvSpPr>
            <a:spLocks noChangeShapeType="1"/>
          </p:cNvSpPr>
          <p:nvPr/>
        </p:nvSpPr>
        <p:spPr bwMode="auto">
          <a:xfrm flipV="1">
            <a:off x="4019550" y="43910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20" name="Line 44"/>
          <p:cNvSpPr>
            <a:spLocks noChangeShapeType="1"/>
          </p:cNvSpPr>
          <p:nvPr/>
        </p:nvSpPr>
        <p:spPr bwMode="auto">
          <a:xfrm flipV="1">
            <a:off x="4019550" y="40100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21" name="Line 45"/>
          <p:cNvSpPr>
            <a:spLocks noChangeShapeType="1"/>
          </p:cNvSpPr>
          <p:nvPr/>
        </p:nvSpPr>
        <p:spPr bwMode="auto">
          <a:xfrm flipV="1">
            <a:off x="4510088" y="43910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22" name="Text Box 46"/>
          <p:cNvSpPr txBox="1">
            <a:spLocks noChangeArrowheads="1"/>
          </p:cNvSpPr>
          <p:nvPr/>
        </p:nvSpPr>
        <p:spPr bwMode="auto">
          <a:xfrm>
            <a:off x="6731000" y="4124325"/>
            <a:ext cx="113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5 × 5 =</a:t>
            </a:r>
          </a:p>
        </p:txBody>
      </p:sp>
      <p:sp>
        <p:nvSpPr>
          <p:cNvPr id="280623" name="Text Box 47"/>
          <p:cNvSpPr txBox="1">
            <a:spLocks noChangeArrowheads="1"/>
          </p:cNvSpPr>
          <p:nvPr/>
        </p:nvSpPr>
        <p:spPr bwMode="auto">
          <a:xfrm>
            <a:off x="7820026" y="4124325"/>
            <a:ext cx="46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5</a:t>
            </a:r>
            <a:r>
              <a:rPr lang="en-GB" altLang="en-US" baseline="30000"/>
              <a:t>2</a:t>
            </a:r>
          </a:p>
        </p:txBody>
      </p:sp>
      <p:sp>
        <p:nvSpPr>
          <p:cNvPr id="280624" name="Line 48"/>
          <p:cNvSpPr>
            <a:spLocks noChangeShapeType="1"/>
          </p:cNvSpPr>
          <p:nvPr/>
        </p:nvSpPr>
        <p:spPr bwMode="auto">
          <a:xfrm flipV="1">
            <a:off x="4519613" y="40100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25" name="Line 49"/>
          <p:cNvSpPr>
            <a:spLocks noChangeShapeType="1"/>
          </p:cNvSpPr>
          <p:nvPr/>
        </p:nvSpPr>
        <p:spPr bwMode="auto">
          <a:xfrm flipV="1">
            <a:off x="5010150" y="43910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26" name="Line 50"/>
          <p:cNvSpPr>
            <a:spLocks noChangeShapeType="1"/>
          </p:cNvSpPr>
          <p:nvPr/>
        </p:nvSpPr>
        <p:spPr bwMode="auto">
          <a:xfrm flipV="1">
            <a:off x="5053013" y="40100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27" name="Line 51"/>
          <p:cNvSpPr>
            <a:spLocks noChangeShapeType="1"/>
          </p:cNvSpPr>
          <p:nvPr/>
        </p:nvSpPr>
        <p:spPr bwMode="auto">
          <a:xfrm flipV="1">
            <a:off x="5543550" y="4391025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629" name="Text Box 53"/>
          <p:cNvSpPr txBox="1">
            <a:spLocks noChangeArrowheads="1"/>
          </p:cNvSpPr>
          <p:nvPr/>
        </p:nvSpPr>
        <p:spPr bwMode="auto">
          <a:xfrm>
            <a:off x="8286751" y="2828925"/>
            <a:ext cx="120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>
                <a:solidFill>
                  <a:srgbClr val="FF6600"/>
                </a:solidFill>
              </a:rPr>
              <a:t>= 4</a:t>
            </a:r>
            <a:r>
              <a:rPr lang="en-GB" altLang="en-US" baseline="30000">
                <a:solidFill>
                  <a:srgbClr val="FF6600"/>
                </a:solidFill>
              </a:rPr>
              <a:t>(5 – 2)</a:t>
            </a:r>
          </a:p>
        </p:txBody>
      </p:sp>
      <p:sp>
        <p:nvSpPr>
          <p:cNvPr id="280630" name="Text Box 54"/>
          <p:cNvSpPr txBox="1">
            <a:spLocks noChangeArrowheads="1"/>
          </p:cNvSpPr>
          <p:nvPr/>
        </p:nvSpPr>
        <p:spPr bwMode="auto">
          <a:xfrm>
            <a:off x="8210551" y="4124325"/>
            <a:ext cx="120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>
                <a:solidFill>
                  <a:srgbClr val="FF6600"/>
                </a:solidFill>
              </a:rPr>
              <a:t>= 5</a:t>
            </a:r>
            <a:r>
              <a:rPr lang="en-GB" altLang="en-US" baseline="30000">
                <a:solidFill>
                  <a:srgbClr val="FF6600"/>
                </a:solidFill>
              </a:rPr>
              <a:t>(6 – 4)</a:t>
            </a:r>
          </a:p>
        </p:txBody>
      </p:sp>
      <p:sp>
        <p:nvSpPr>
          <p:cNvPr id="6174" name="Rectangle 4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70038" y="46038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en-GB" altLang="en-US" sz="2800" b="1">
                <a:solidFill>
                  <a:srgbClr val="000066"/>
                </a:solidFill>
              </a:rPr>
              <a:t>The second index law</a:t>
            </a:r>
          </a:p>
        </p:txBody>
      </p:sp>
    </p:spTree>
    <p:extLst>
      <p:ext uri="{BB962C8B-B14F-4D97-AF65-F5344CB8AC3E}">
        <p14:creationId xmlns:p14="http://schemas.microsoft.com/office/powerpoint/2010/main" val="197663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8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8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8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8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0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80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80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80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8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8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8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3" grpId="0" animBg="1"/>
      <p:bldP spid="280628" grpId="0" animBg="1" autoUpdateAnimBg="0"/>
      <p:bldP spid="280631" grpId="0" animBg="1" autoUpdateAnimBg="0"/>
      <p:bldP spid="280597" grpId="0" autoUpdateAnimBg="0"/>
      <p:bldP spid="280598" grpId="0" autoUpdateAnimBg="0"/>
      <p:bldP spid="280605" grpId="0" animBg="1"/>
      <p:bldP spid="280606" grpId="0" animBg="1"/>
      <p:bldP spid="280607" grpId="0" animBg="1"/>
      <p:bldP spid="280608" grpId="0" animBg="1"/>
      <p:bldP spid="280609" grpId="0" autoUpdateAnimBg="0"/>
      <p:bldP spid="280610" grpId="0" autoUpdateAnimBg="0"/>
      <p:bldP spid="280611" grpId="0" autoUpdateAnimBg="0"/>
      <p:bldP spid="280618" grpId="0" animBg="1"/>
      <p:bldP spid="280619" grpId="0" animBg="1"/>
      <p:bldP spid="280620" grpId="0" animBg="1"/>
      <p:bldP spid="280621" grpId="0" animBg="1"/>
      <p:bldP spid="280622" grpId="0" autoUpdateAnimBg="0"/>
      <p:bldP spid="280623" grpId="0" autoUpdateAnimBg="0"/>
      <p:bldP spid="280624" grpId="0" animBg="1"/>
      <p:bldP spid="280625" grpId="0" animBg="1"/>
      <p:bldP spid="280626" grpId="0" animBg="1"/>
      <p:bldP spid="280627" grpId="0" animBg="1"/>
      <p:bldP spid="280629" grpId="0" autoUpdateAnimBg="0"/>
      <p:bldP spid="28063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5" name="AutoShape 21"/>
          <p:cNvSpPr>
            <a:spLocks noChangeArrowheads="1"/>
          </p:cNvSpPr>
          <p:nvPr/>
        </p:nvSpPr>
        <p:spPr bwMode="auto">
          <a:xfrm>
            <a:off x="1930401" y="4330701"/>
            <a:ext cx="8005763" cy="6651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76200">
            <a:solidFill>
              <a:srgbClr val="4D95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 sz="5400">
              <a:solidFill>
                <a:srgbClr val="5B0091"/>
              </a:solidFill>
            </a:endParaRPr>
          </a:p>
        </p:txBody>
      </p:sp>
      <p:sp>
        <p:nvSpPr>
          <p:cNvPr id="7171" name="Text Box 14"/>
          <p:cNvSpPr txBox="1">
            <a:spLocks noChangeArrowheads="1"/>
          </p:cNvSpPr>
          <p:nvPr/>
        </p:nvSpPr>
        <p:spPr bwMode="auto">
          <a:xfrm>
            <a:off x="1930400" y="1068388"/>
            <a:ext cx="415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Look at the following division:</a:t>
            </a:r>
          </a:p>
        </p:txBody>
      </p:sp>
      <p:sp>
        <p:nvSpPr>
          <p:cNvPr id="227343" name="Text Box 15"/>
          <p:cNvSpPr txBox="1">
            <a:spLocks noChangeArrowheads="1"/>
          </p:cNvSpPr>
          <p:nvPr/>
        </p:nvSpPr>
        <p:spPr bwMode="auto">
          <a:xfrm>
            <a:off x="4876800" y="1611313"/>
            <a:ext cx="1347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6</a:t>
            </a:r>
            <a:r>
              <a:rPr lang="en-GB" altLang="en-US" baseline="30000"/>
              <a:t>4</a:t>
            </a:r>
            <a:r>
              <a:rPr lang="en-GB" altLang="en-US"/>
              <a:t> ÷ 6</a:t>
            </a:r>
            <a:r>
              <a:rPr lang="en-GB" altLang="en-US" baseline="30000"/>
              <a:t>4</a:t>
            </a:r>
            <a:r>
              <a:rPr lang="en-GB" altLang="en-US"/>
              <a:t> =</a:t>
            </a:r>
          </a:p>
        </p:txBody>
      </p:sp>
      <p:sp>
        <p:nvSpPr>
          <p:cNvPr id="227357" name="Text Box 29"/>
          <p:cNvSpPr txBox="1">
            <a:spLocks noChangeArrowheads="1"/>
          </p:cNvSpPr>
          <p:nvPr/>
        </p:nvSpPr>
        <p:spPr bwMode="auto">
          <a:xfrm>
            <a:off x="6138863" y="161131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1</a:t>
            </a:r>
          </a:p>
        </p:txBody>
      </p:sp>
      <p:sp>
        <p:nvSpPr>
          <p:cNvPr id="227358" name="Text Box 30"/>
          <p:cNvSpPr txBox="1">
            <a:spLocks noChangeArrowheads="1"/>
          </p:cNvSpPr>
          <p:nvPr/>
        </p:nvSpPr>
        <p:spPr bwMode="auto">
          <a:xfrm>
            <a:off x="1930400" y="2155825"/>
            <a:ext cx="3983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Using the second index law:</a:t>
            </a:r>
          </a:p>
        </p:txBody>
      </p:sp>
      <p:sp>
        <p:nvSpPr>
          <p:cNvPr id="227359" name="Text Box 31"/>
          <p:cNvSpPr txBox="1">
            <a:spLocks noChangeArrowheads="1"/>
          </p:cNvSpPr>
          <p:nvPr/>
        </p:nvSpPr>
        <p:spPr bwMode="auto">
          <a:xfrm>
            <a:off x="4876800" y="2698750"/>
            <a:ext cx="245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6</a:t>
            </a:r>
            <a:r>
              <a:rPr lang="en-GB" altLang="en-US" baseline="30000"/>
              <a:t>4</a:t>
            </a:r>
            <a:r>
              <a:rPr lang="en-GB" altLang="en-US"/>
              <a:t> ÷ 6</a:t>
            </a:r>
            <a:r>
              <a:rPr lang="en-GB" altLang="en-US" baseline="30000"/>
              <a:t>4</a:t>
            </a:r>
            <a:r>
              <a:rPr lang="en-GB" altLang="en-US"/>
              <a:t> = 6</a:t>
            </a:r>
            <a:r>
              <a:rPr lang="en-GB" altLang="en-US" baseline="30000"/>
              <a:t>(4 – 4)</a:t>
            </a:r>
            <a:r>
              <a:rPr lang="en-GB" altLang="en-US"/>
              <a:t> =</a:t>
            </a:r>
          </a:p>
        </p:txBody>
      </p:sp>
      <p:sp>
        <p:nvSpPr>
          <p:cNvPr id="227360" name="Text Box 32"/>
          <p:cNvSpPr txBox="1">
            <a:spLocks noChangeArrowheads="1"/>
          </p:cNvSpPr>
          <p:nvPr/>
        </p:nvSpPr>
        <p:spPr bwMode="auto">
          <a:xfrm>
            <a:off x="7305676" y="2698750"/>
            <a:ext cx="46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6</a:t>
            </a:r>
            <a:r>
              <a:rPr lang="en-GB" altLang="en-US" baseline="30000"/>
              <a:t>0</a:t>
            </a:r>
          </a:p>
        </p:txBody>
      </p:sp>
      <p:sp>
        <p:nvSpPr>
          <p:cNvPr id="227361" name="Text Box 33"/>
          <p:cNvSpPr txBox="1">
            <a:spLocks noChangeArrowheads="1"/>
          </p:cNvSpPr>
          <p:nvPr/>
        </p:nvSpPr>
        <p:spPr bwMode="auto">
          <a:xfrm>
            <a:off x="1930401" y="3243263"/>
            <a:ext cx="2436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This means that:</a:t>
            </a:r>
          </a:p>
        </p:txBody>
      </p:sp>
      <p:sp>
        <p:nvSpPr>
          <p:cNvPr id="227362" name="Text Box 34"/>
          <p:cNvSpPr txBox="1">
            <a:spLocks noChangeArrowheads="1"/>
          </p:cNvSpPr>
          <p:nvPr/>
        </p:nvSpPr>
        <p:spPr bwMode="auto">
          <a:xfrm>
            <a:off x="4876801" y="3786188"/>
            <a:ext cx="982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6</a:t>
            </a:r>
            <a:r>
              <a:rPr lang="en-GB" altLang="en-US" baseline="30000"/>
              <a:t>0</a:t>
            </a:r>
            <a:r>
              <a:rPr lang="en-GB" altLang="en-US"/>
              <a:t> = 1</a:t>
            </a:r>
          </a:p>
        </p:txBody>
      </p:sp>
      <p:sp>
        <p:nvSpPr>
          <p:cNvPr id="227363" name="Text Box 35"/>
          <p:cNvSpPr txBox="1">
            <a:spLocks noChangeArrowheads="1"/>
          </p:cNvSpPr>
          <p:nvPr/>
        </p:nvSpPr>
        <p:spPr bwMode="auto">
          <a:xfrm>
            <a:off x="1995489" y="4433888"/>
            <a:ext cx="7875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In fact, </a:t>
            </a:r>
            <a:r>
              <a:rPr lang="en-GB" altLang="en-US" i="1"/>
              <a:t>any</a:t>
            </a:r>
            <a:r>
              <a:rPr lang="en-GB" altLang="en-US"/>
              <a:t> number raised to the power of 0 is equal to 1.</a:t>
            </a:r>
          </a:p>
        </p:txBody>
      </p:sp>
      <p:sp>
        <p:nvSpPr>
          <p:cNvPr id="227366" name="Text Box 38"/>
          <p:cNvSpPr txBox="1">
            <a:spLocks noChangeArrowheads="1"/>
          </p:cNvSpPr>
          <p:nvPr/>
        </p:nvSpPr>
        <p:spPr bwMode="auto">
          <a:xfrm>
            <a:off x="1930400" y="5081588"/>
            <a:ext cx="1963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For example:</a:t>
            </a:r>
          </a:p>
        </p:txBody>
      </p:sp>
      <p:sp>
        <p:nvSpPr>
          <p:cNvPr id="227367" name="Text Box 39"/>
          <p:cNvSpPr txBox="1">
            <a:spLocks noChangeArrowheads="1"/>
          </p:cNvSpPr>
          <p:nvPr/>
        </p:nvSpPr>
        <p:spPr bwMode="auto">
          <a:xfrm>
            <a:off x="2900364" y="5626100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10</a:t>
            </a:r>
            <a:r>
              <a:rPr lang="en-GB" altLang="en-US" baseline="30000"/>
              <a:t>0</a:t>
            </a:r>
            <a:r>
              <a:rPr lang="en-GB" altLang="en-US"/>
              <a:t> = 1</a:t>
            </a:r>
          </a:p>
        </p:txBody>
      </p:sp>
      <p:sp>
        <p:nvSpPr>
          <p:cNvPr id="227368" name="Text Box 40"/>
          <p:cNvSpPr txBox="1">
            <a:spLocks noChangeArrowheads="1"/>
          </p:cNvSpPr>
          <p:nvPr/>
        </p:nvSpPr>
        <p:spPr bwMode="auto">
          <a:xfrm>
            <a:off x="4652964" y="5626100"/>
            <a:ext cx="1576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3.452</a:t>
            </a:r>
            <a:r>
              <a:rPr lang="en-GB" altLang="en-US" baseline="30000"/>
              <a:t>0</a:t>
            </a:r>
            <a:r>
              <a:rPr lang="en-GB" altLang="en-US"/>
              <a:t> = 1</a:t>
            </a:r>
          </a:p>
        </p:txBody>
      </p:sp>
      <p:sp>
        <p:nvSpPr>
          <p:cNvPr id="227369" name="Text Box 41"/>
          <p:cNvSpPr txBox="1">
            <a:spLocks noChangeArrowheads="1"/>
          </p:cNvSpPr>
          <p:nvPr/>
        </p:nvSpPr>
        <p:spPr bwMode="auto">
          <a:xfrm>
            <a:off x="6786564" y="5626100"/>
            <a:ext cx="2509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723 538 592</a:t>
            </a:r>
            <a:r>
              <a:rPr lang="en-GB" altLang="en-US" baseline="30000"/>
              <a:t>0</a:t>
            </a:r>
            <a:r>
              <a:rPr lang="en-GB" altLang="en-US"/>
              <a:t> = 1</a:t>
            </a:r>
          </a:p>
        </p:txBody>
      </p:sp>
      <p:sp>
        <p:nvSpPr>
          <p:cNvPr id="7185" name="Rectangle 2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70038" y="46038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en-GB" altLang="en-US" sz="2800" b="1">
                <a:solidFill>
                  <a:srgbClr val="000066"/>
                </a:solidFill>
              </a:rPr>
              <a:t>Zero indices</a:t>
            </a:r>
          </a:p>
        </p:txBody>
      </p:sp>
    </p:spTree>
    <p:extLst>
      <p:ext uri="{BB962C8B-B14F-4D97-AF65-F5344CB8AC3E}">
        <p14:creationId xmlns:p14="http://schemas.microsoft.com/office/powerpoint/2010/main" val="186785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5" grpId="0" animBg="1"/>
      <p:bldP spid="227343" grpId="0" autoUpdateAnimBg="0"/>
      <p:bldP spid="227357" grpId="0" autoUpdateAnimBg="0"/>
      <p:bldP spid="227358" grpId="0" autoUpdateAnimBg="0"/>
      <p:bldP spid="227359" grpId="0" autoUpdateAnimBg="0"/>
      <p:bldP spid="227360" grpId="0" autoUpdateAnimBg="0"/>
      <p:bldP spid="227361" grpId="0" autoUpdateAnimBg="0"/>
      <p:bldP spid="227362" grpId="0" autoUpdateAnimBg="0"/>
      <p:bldP spid="227363" grpId="0" autoUpdateAnimBg="0"/>
      <p:bldP spid="227366" grpId="0" autoUpdateAnimBg="0"/>
      <p:bldP spid="227367" grpId="0" autoUpdateAnimBg="0"/>
      <p:bldP spid="227368" grpId="0" autoUpdateAnimBg="0"/>
      <p:bldP spid="22736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143626" y="4343400"/>
            <a:ext cx="485775" cy="838200"/>
            <a:chOff x="2910" y="2736"/>
            <a:chExt cx="306" cy="528"/>
          </a:xfrm>
        </p:grpSpPr>
        <p:sp>
          <p:nvSpPr>
            <p:cNvPr id="8242" name="Text Box 41"/>
            <p:cNvSpPr txBox="1">
              <a:spLocks noChangeArrowheads="1"/>
            </p:cNvSpPr>
            <p:nvPr/>
          </p:nvSpPr>
          <p:spPr bwMode="auto">
            <a:xfrm>
              <a:off x="2916" y="2976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3</a:t>
              </a:r>
              <a:r>
                <a:rPr lang="en-GB" altLang="en-US" baseline="30000"/>
                <a:t>2</a:t>
              </a:r>
            </a:p>
          </p:txBody>
        </p:sp>
        <p:sp>
          <p:nvSpPr>
            <p:cNvPr id="8243" name="Text Box 39"/>
            <p:cNvSpPr txBox="1">
              <a:spLocks noChangeArrowheads="1"/>
            </p:cNvSpPr>
            <p:nvPr/>
          </p:nvSpPr>
          <p:spPr bwMode="auto">
            <a:xfrm>
              <a:off x="2952" y="273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8244" name="Line 40"/>
            <p:cNvSpPr>
              <a:spLocks noChangeShapeType="1"/>
            </p:cNvSpPr>
            <p:nvPr/>
          </p:nvSpPr>
          <p:spPr bwMode="auto">
            <a:xfrm>
              <a:off x="2910" y="3000"/>
              <a:ext cx="306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670" name="AutoShape 6"/>
          <p:cNvSpPr>
            <a:spLocks noChangeArrowheads="1"/>
          </p:cNvSpPr>
          <p:nvPr/>
        </p:nvSpPr>
        <p:spPr bwMode="auto">
          <a:xfrm>
            <a:off x="2784475" y="1587501"/>
            <a:ext cx="6624638" cy="1038225"/>
          </a:xfrm>
          <a:prstGeom prst="roundRect">
            <a:avLst>
              <a:gd name="adj" fmla="val 16667"/>
            </a:avLst>
          </a:prstGeom>
          <a:solidFill>
            <a:srgbClr val="CFD2E3">
              <a:alpha val="50195"/>
            </a:srgbClr>
          </a:solidFill>
          <a:ln w="7620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 sz="5400">
              <a:solidFill>
                <a:srgbClr val="5B0091"/>
              </a:solidFill>
            </a:endParaRP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7099301" y="1695450"/>
            <a:ext cx="942975" cy="838200"/>
            <a:chOff x="3512" y="1068"/>
            <a:chExt cx="594" cy="528"/>
          </a:xfrm>
        </p:grpSpPr>
        <p:sp>
          <p:nvSpPr>
            <p:cNvPr id="8239" name="Text Box 25"/>
            <p:cNvSpPr txBox="1">
              <a:spLocks noChangeArrowheads="1"/>
            </p:cNvSpPr>
            <p:nvPr/>
          </p:nvSpPr>
          <p:spPr bwMode="auto">
            <a:xfrm>
              <a:off x="3539" y="1308"/>
              <a:ext cx="5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3 × 3</a:t>
              </a:r>
            </a:p>
          </p:txBody>
        </p:sp>
        <p:sp>
          <p:nvSpPr>
            <p:cNvPr id="8240" name="Text Box 23"/>
            <p:cNvSpPr txBox="1">
              <a:spLocks noChangeArrowheads="1"/>
            </p:cNvSpPr>
            <p:nvPr/>
          </p:nvSpPr>
          <p:spPr bwMode="auto">
            <a:xfrm>
              <a:off x="3682" y="106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8241" name="Line 24"/>
            <p:cNvSpPr>
              <a:spLocks noChangeShapeType="1"/>
            </p:cNvSpPr>
            <p:nvPr/>
          </p:nvSpPr>
          <p:spPr bwMode="auto">
            <a:xfrm>
              <a:off x="3512" y="1332"/>
              <a:ext cx="594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1930400" y="1068388"/>
            <a:ext cx="415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Look at the following division:</a:t>
            </a:r>
          </a:p>
        </p:txBody>
      </p:sp>
      <p:sp>
        <p:nvSpPr>
          <p:cNvPr id="278535" name="Text Box 7"/>
          <p:cNvSpPr txBox="1">
            <a:spLocks noChangeArrowheads="1"/>
          </p:cNvSpPr>
          <p:nvPr/>
        </p:nvSpPr>
        <p:spPr bwMode="auto">
          <a:xfrm>
            <a:off x="3200400" y="1885950"/>
            <a:ext cx="1347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3</a:t>
            </a:r>
            <a:r>
              <a:rPr lang="en-GB" altLang="en-US" baseline="30000"/>
              <a:t>2</a:t>
            </a:r>
            <a:r>
              <a:rPr lang="en-GB" altLang="en-US"/>
              <a:t> ÷ 3</a:t>
            </a:r>
            <a:r>
              <a:rPr lang="en-GB" altLang="en-US" baseline="30000"/>
              <a:t>4</a:t>
            </a:r>
            <a:r>
              <a:rPr lang="en-GB" altLang="en-US"/>
              <a:t> =</a:t>
            </a:r>
          </a:p>
        </p:txBody>
      </p:sp>
      <p:grpSp>
        <p:nvGrpSpPr>
          <p:cNvPr id="4" name="Group 42"/>
          <p:cNvGrpSpPr>
            <a:grpSpLocks/>
          </p:cNvGrpSpPr>
          <p:nvPr/>
        </p:nvGrpSpPr>
        <p:grpSpPr bwMode="auto">
          <a:xfrm>
            <a:off x="4581525" y="1695450"/>
            <a:ext cx="2482850" cy="838200"/>
            <a:chOff x="1100" y="1056"/>
            <a:chExt cx="1564" cy="528"/>
          </a:xfrm>
        </p:grpSpPr>
        <p:grpSp>
          <p:nvGrpSpPr>
            <p:cNvPr id="8234" name="Group 21"/>
            <p:cNvGrpSpPr>
              <a:grpSpLocks/>
            </p:cNvGrpSpPr>
            <p:nvPr/>
          </p:nvGrpSpPr>
          <p:grpSpPr bwMode="auto">
            <a:xfrm>
              <a:off x="1100" y="1056"/>
              <a:ext cx="1314" cy="528"/>
              <a:chOff x="1208" y="1248"/>
              <a:chExt cx="1314" cy="528"/>
            </a:xfrm>
          </p:grpSpPr>
          <p:sp>
            <p:nvSpPr>
              <p:cNvPr id="8236" name="Text Box 10"/>
              <p:cNvSpPr txBox="1">
                <a:spLocks noChangeArrowheads="1"/>
              </p:cNvSpPr>
              <p:nvPr/>
            </p:nvSpPr>
            <p:spPr bwMode="auto">
              <a:xfrm>
                <a:off x="1592" y="1248"/>
                <a:ext cx="54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742950" indent="-28575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430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6002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9pPr>
              </a:lstStyle>
              <a:p>
                <a:r>
                  <a:rPr lang="en-GB" altLang="en-US"/>
                  <a:t>3 × 3</a:t>
                </a:r>
              </a:p>
            </p:txBody>
          </p:sp>
          <p:sp>
            <p:nvSpPr>
              <p:cNvPr id="8237" name="Line 11"/>
              <p:cNvSpPr>
                <a:spLocks noChangeShapeType="1"/>
              </p:cNvSpPr>
              <p:nvPr/>
            </p:nvSpPr>
            <p:spPr bwMode="auto">
              <a:xfrm>
                <a:off x="1208" y="1512"/>
                <a:ext cx="1314" cy="0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8" name="Text Box 12"/>
              <p:cNvSpPr txBox="1">
                <a:spLocks noChangeArrowheads="1"/>
              </p:cNvSpPr>
              <p:nvPr/>
            </p:nvSpPr>
            <p:spPr bwMode="auto">
              <a:xfrm>
                <a:off x="1267" y="1488"/>
                <a:ext cx="119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742950" indent="-28575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430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6002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10066"/>
                    </a:solidFill>
                    <a:latin typeface="Arial" charset="0"/>
                    <a:ea typeface="Arial" charset="0"/>
                    <a:cs typeface="Arial" charset="0"/>
                  </a:defRPr>
                </a:lvl9pPr>
              </a:lstStyle>
              <a:p>
                <a:r>
                  <a:rPr lang="en-GB" altLang="en-US"/>
                  <a:t>3 × 3 × 3 × 3</a:t>
                </a:r>
              </a:p>
            </p:txBody>
          </p:sp>
        </p:grpSp>
        <p:sp>
          <p:nvSpPr>
            <p:cNvPr id="8235" name="Text Box 13"/>
            <p:cNvSpPr txBox="1">
              <a:spLocks noChangeArrowheads="1"/>
            </p:cNvSpPr>
            <p:nvPr/>
          </p:nvSpPr>
          <p:spPr bwMode="auto">
            <a:xfrm>
              <a:off x="2436" y="1176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=</a:t>
              </a:r>
            </a:p>
          </p:txBody>
        </p:sp>
      </p:grpSp>
      <p:sp>
        <p:nvSpPr>
          <p:cNvPr id="278542" name="Line 14"/>
          <p:cNvSpPr>
            <a:spLocks noChangeShapeType="1"/>
          </p:cNvSpPr>
          <p:nvPr/>
        </p:nvSpPr>
        <p:spPr bwMode="auto">
          <a:xfrm flipV="1">
            <a:off x="5232400" y="1771650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8543" name="Line 15"/>
          <p:cNvSpPr>
            <a:spLocks noChangeShapeType="1"/>
          </p:cNvSpPr>
          <p:nvPr/>
        </p:nvSpPr>
        <p:spPr bwMode="auto">
          <a:xfrm flipV="1">
            <a:off x="4735513" y="2152650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8544" name="Line 16"/>
          <p:cNvSpPr>
            <a:spLocks noChangeShapeType="1"/>
          </p:cNvSpPr>
          <p:nvPr/>
        </p:nvSpPr>
        <p:spPr bwMode="auto">
          <a:xfrm flipV="1">
            <a:off x="5730875" y="1771650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8545" name="Line 17"/>
          <p:cNvSpPr>
            <a:spLocks noChangeShapeType="1"/>
          </p:cNvSpPr>
          <p:nvPr/>
        </p:nvSpPr>
        <p:spPr bwMode="auto">
          <a:xfrm flipV="1">
            <a:off x="5232400" y="2152650"/>
            <a:ext cx="228600" cy="304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8077200" y="1695450"/>
            <a:ext cx="882650" cy="838200"/>
            <a:chOff x="4128" y="1068"/>
            <a:chExt cx="556" cy="528"/>
          </a:xfrm>
        </p:grpSpPr>
        <p:sp>
          <p:nvSpPr>
            <p:cNvPr id="8230" name="Text Box 30"/>
            <p:cNvSpPr txBox="1">
              <a:spLocks noChangeArrowheads="1"/>
            </p:cNvSpPr>
            <p:nvPr/>
          </p:nvSpPr>
          <p:spPr bwMode="auto">
            <a:xfrm>
              <a:off x="4384" y="1308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3</a:t>
              </a:r>
              <a:r>
                <a:rPr lang="en-GB" altLang="en-US" baseline="30000"/>
                <a:t>2</a:t>
              </a:r>
            </a:p>
          </p:txBody>
        </p:sp>
        <p:sp>
          <p:nvSpPr>
            <p:cNvPr id="8231" name="Text Box 26"/>
            <p:cNvSpPr txBox="1">
              <a:spLocks noChangeArrowheads="1"/>
            </p:cNvSpPr>
            <p:nvPr/>
          </p:nvSpPr>
          <p:spPr bwMode="auto">
            <a:xfrm>
              <a:off x="4128" y="1188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=</a:t>
              </a:r>
            </a:p>
          </p:txBody>
        </p:sp>
        <p:sp>
          <p:nvSpPr>
            <p:cNvPr id="8232" name="Text Box 28"/>
            <p:cNvSpPr txBox="1">
              <a:spLocks noChangeArrowheads="1"/>
            </p:cNvSpPr>
            <p:nvPr/>
          </p:nvSpPr>
          <p:spPr bwMode="auto">
            <a:xfrm>
              <a:off x="4420" y="106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8233" name="Line 29"/>
            <p:cNvSpPr>
              <a:spLocks noChangeShapeType="1"/>
            </p:cNvSpPr>
            <p:nvPr/>
          </p:nvSpPr>
          <p:spPr bwMode="auto">
            <a:xfrm>
              <a:off x="4378" y="1332"/>
              <a:ext cx="306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8560" name="Text Box 32"/>
          <p:cNvSpPr txBox="1">
            <a:spLocks noChangeArrowheads="1"/>
          </p:cNvSpPr>
          <p:nvPr/>
        </p:nvSpPr>
        <p:spPr bwMode="auto">
          <a:xfrm>
            <a:off x="1930400" y="2667000"/>
            <a:ext cx="3983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Using the second index law:</a:t>
            </a:r>
          </a:p>
        </p:txBody>
      </p:sp>
      <p:sp>
        <p:nvSpPr>
          <p:cNvPr id="278561" name="Text Box 33"/>
          <p:cNvSpPr txBox="1">
            <a:spLocks noChangeArrowheads="1"/>
          </p:cNvSpPr>
          <p:nvPr/>
        </p:nvSpPr>
        <p:spPr bwMode="auto">
          <a:xfrm>
            <a:off x="4648200" y="3257550"/>
            <a:ext cx="245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3</a:t>
            </a:r>
            <a:r>
              <a:rPr lang="en-GB" altLang="en-US" baseline="30000"/>
              <a:t>2</a:t>
            </a:r>
            <a:r>
              <a:rPr lang="en-GB" altLang="en-US"/>
              <a:t> ÷ 3</a:t>
            </a:r>
            <a:r>
              <a:rPr lang="en-GB" altLang="en-US" baseline="30000"/>
              <a:t>4</a:t>
            </a:r>
            <a:r>
              <a:rPr lang="en-GB" altLang="en-US"/>
              <a:t> = 3</a:t>
            </a:r>
            <a:r>
              <a:rPr lang="en-GB" altLang="en-US" baseline="30000"/>
              <a:t>(2 – 4)</a:t>
            </a:r>
            <a:r>
              <a:rPr lang="en-GB" altLang="en-US"/>
              <a:t> =</a:t>
            </a:r>
          </a:p>
        </p:txBody>
      </p:sp>
      <p:sp>
        <p:nvSpPr>
          <p:cNvPr id="278562" name="Text Box 34"/>
          <p:cNvSpPr txBox="1">
            <a:spLocks noChangeArrowheads="1"/>
          </p:cNvSpPr>
          <p:nvPr/>
        </p:nvSpPr>
        <p:spPr bwMode="auto">
          <a:xfrm>
            <a:off x="7077075" y="3257550"/>
            <a:ext cx="579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3</a:t>
            </a:r>
            <a:r>
              <a:rPr lang="en-GB" altLang="en-US" baseline="30000"/>
              <a:t>–2</a:t>
            </a:r>
          </a:p>
        </p:txBody>
      </p:sp>
      <p:sp>
        <p:nvSpPr>
          <p:cNvPr id="278563" name="Text Box 35"/>
          <p:cNvSpPr txBox="1">
            <a:spLocks noChangeArrowheads="1"/>
          </p:cNvSpPr>
          <p:nvPr/>
        </p:nvSpPr>
        <p:spPr bwMode="auto">
          <a:xfrm>
            <a:off x="1930400" y="3952875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That means that:</a:t>
            </a:r>
          </a:p>
        </p:txBody>
      </p:sp>
      <p:sp>
        <p:nvSpPr>
          <p:cNvPr id="278564" name="Rectangle 36"/>
          <p:cNvSpPr>
            <a:spLocks noChangeArrowheads="1"/>
          </p:cNvSpPr>
          <p:nvPr/>
        </p:nvSpPr>
        <p:spPr bwMode="auto">
          <a:xfrm>
            <a:off x="5381625" y="4533900"/>
            <a:ext cx="871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3</a:t>
            </a:r>
            <a:r>
              <a:rPr lang="en-GB" altLang="en-US" baseline="30000"/>
              <a:t>–2 </a:t>
            </a:r>
            <a:r>
              <a:rPr lang="en-GB" altLang="en-US"/>
              <a:t>=</a:t>
            </a:r>
            <a:r>
              <a:rPr lang="en-GB" altLang="en-US" baseline="30000"/>
              <a:t> </a:t>
            </a:r>
          </a:p>
        </p:txBody>
      </p:sp>
      <p:sp>
        <p:nvSpPr>
          <p:cNvPr id="278574" name="Text Box 46"/>
          <p:cNvSpPr txBox="1">
            <a:spLocks noChangeArrowheads="1"/>
          </p:cNvSpPr>
          <p:nvPr/>
        </p:nvSpPr>
        <p:spPr bwMode="auto">
          <a:xfrm>
            <a:off x="1930400" y="5448300"/>
            <a:ext cx="142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Similarly:</a:t>
            </a:r>
          </a:p>
        </p:txBody>
      </p:sp>
      <p:sp>
        <p:nvSpPr>
          <p:cNvPr id="278576" name="Rectangle 48"/>
          <p:cNvSpPr>
            <a:spLocks noChangeArrowheads="1"/>
          </p:cNvSpPr>
          <p:nvPr/>
        </p:nvSpPr>
        <p:spPr bwMode="auto">
          <a:xfrm>
            <a:off x="3630614" y="5448300"/>
            <a:ext cx="871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6</a:t>
            </a:r>
            <a:r>
              <a:rPr lang="en-GB" altLang="en-US" baseline="30000"/>
              <a:t>–1 </a:t>
            </a:r>
            <a:r>
              <a:rPr lang="en-GB" altLang="en-US"/>
              <a:t>=</a:t>
            </a:r>
            <a:r>
              <a:rPr lang="en-GB" altLang="en-US" baseline="30000"/>
              <a:t> </a:t>
            </a:r>
          </a:p>
        </p:txBody>
      </p: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4411663" y="5257800"/>
            <a:ext cx="381000" cy="838200"/>
            <a:chOff x="1819" y="3312"/>
            <a:chExt cx="240" cy="528"/>
          </a:xfrm>
        </p:grpSpPr>
        <p:sp>
          <p:nvSpPr>
            <p:cNvPr id="8227" name="Text Box 52"/>
            <p:cNvSpPr txBox="1">
              <a:spLocks noChangeArrowheads="1"/>
            </p:cNvSpPr>
            <p:nvPr/>
          </p:nvSpPr>
          <p:spPr bwMode="auto">
            <a:xfrm>
              <a:off x="1828" y="355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6</a:t>
              </a:r>
              <a:endParaRPr lang="en-GB" altLang="en-US" baseline="30000"/>
            </a:p>
          </p:txBody>
        </p:sp>
        <p:sp>
          <p:nvSpPr>
            <p:cNvPr id="8228" name="Text Box 50"/>
            <p:cNvSpPr txBox="1">
              <a:spLocks noChangeArrowheads="1"/>
            </p:cNvSpPr>
            <p:nvPr/>
          </p:nvSpPr>
          <p:spPr bwMode="auto">
            <a:xfrm>
              <a:off x="1828" y="331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8229" name="Line 51"/>
            <p:cNvSpPr>
              <a:spLocks noChangeShapeType="1"/>
            </p:cNvSpPr>
            <p:nvPr/>
          </p:nvSpPr>
          <p:spPr bwMode="auto">
            <a:xfrm>
              <a:off x="1819" y="3576"/>
              <a:ext cx="240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8582" name="Rectangle 54"/>
          <p:cNvSpPr>
            <a:spLocks noChangeArrowheads="1"/>
          </p:cNvSpPr>
          <p:nvPr/>
        </p:nvSpPr>
        <p:spPr bwMode="auto">
          <a:xfrm>
            <a:off x="5189539" y="5448300"/>
            <a:ext cx="871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7</a:t>
            </a:r>
            <a:r>
              <a:rPr lang="en-GB" altLang="en-US" baseline="30000"/>
              <a:t>–4 </a:t>
            </a:r>
            <a:r>
              <a:rPr lang="en-GB" altLang="en-US"/>
              <a:t>=</a:t>
            </a:r>
            <a:r>
              <a:rPr lang="en-GB" altLang="en-US" baseline="30000"/>
              <a:t> </a:t>
            </a:r>
          </a:p>
        </p:txBody>
      </p: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5951539" y="5257800"/>
            <a:ext cx="485775" cy="838200"/>
            <a:chOff x="2789" y="3312"/>
            <a:chExt cx="306" cy="528"/>
          </a:xfrm>
        </p:grpSpPr>
        <p:sp>
          <p:nvSpPr>
            <p:cNvPr id="8224" name="Text Box 58"/>
            <p:cNvSpPr txBox="1">
              <a:spLocks noChangeArrowheads="1"/>
            </p:cNvSpPr>
            <p:nvPr/>
          </p:nvSpPr>
          <p:spPr bwMode="auto">
            <a:xfrm>
              <a:off x="2795" y="3552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7</a:t>
              </a:r>
              <a:r>
                <a:rPr lang="en-GB" altLang="en-US" baseline="30000"/>
                <a:t>4</a:t>
              </a:r>
            </a:p>
          </p:txBody>
        </p:sp>
        <p:sp>
          <p:nvSpPr>
            <p:cNvPr id="8225" name="Text Box 56"/>
            <p:cNvSpPr txBox="1">
              <a:spLocks noChangeArrowheads="1"/>
            </p:cNvSpPr>
            <p:nvPr/>
          </p:nvSpPr>
          <p:spPr bwMode="auto">
            <a:xfrm>
              <a:off x="2831" y="331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8226" name="Line 57"/>
            <p:cNvSpPr>
              <a:spLocks noChangeShapeType="1"/>
            </p:cNvSpPr>
            <p:nvPr/>
          </p:nvSpPr>
          <p:spPr bwMode="auto">
            <a:xfrm>
              <a:off x="2789" y="3576"/>
              <a:ext cx="306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8587" name="Text Box 59"/>
          <p:cNvSpPr txBox="1">
            <a:spLocks noChangeArrowheads="1"/>
          </p:cNvSpPr>
          <p:nvPr/>
        </p:nvSpPr>
        <p:spPr bwMode="auto">
          <a:xfrm>
            <a:off x="6834189" y="5448300"/>
            <a:ext cx="693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and</a:t>
            </a:r>
          </a:p>
        </p:txBody>
      </p:sp>
      <p:sp>
        <p:nvSpPr>
          <p:cNvPr id="278589" name="Rectangle 61"/>
          <p:cNvSpPr>
            <a:spLocks noChangeArrowheads="1"/>
          </p:cNvSpPr>
          <p:nvPr/>
        </p:nvSpPr>
        <p:spPr bwMode="auto">
          <a:xfrm>
            <a:off x="7924800" y="5448300"/>
            <a:ext cx="871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5</a:t>
            </a:r>
            <a:r>
              <a:rPr lang="en-GB" altLang="en-US" baseline="30000"/>
              <a:t>–3 </a:t>
            </a:r>
            <a:r>
              <a:rPr lang="en-GB" altLang="en-US"/>
              <a:t>=</a:t>
            </a:r>
            <a:r>
              <a:rPr lang="en-GB" altLang="en-US" baseline="30000"/>
              <a:t> </a:t>
            </a:r>
          </a:p>
        </p:txBody>
      </p: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8686801" y="5257800"/>
            <a:ext cx="485775" cy="838200"/>
            <a:chOff x="4512" y="3312"/>
            <a:chExt cx="306" cy="528"/>
          </a:xfrm>
        </p:grpSpPr>
        <p:sp>
          <p:nvSpPr>
            <p:cNvPr id="8221" name="Text Box 65"/>
            <p:cNvSpPr txBox="1">
              <a:spLocks noChangeArrowheads="1"/>
            </p:cNvSpPr>
            <p:nvPr/>
          </p:nvSpPr>
          <p:spPr bwMode="auto">
            <a:xfrm>
              <a:off x="4518" y="3552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5</a:t>
              </a:r>
              <a:r>
                <a:rPr lang="en-GB" altLang="en-US" baseline="30000"/>
                <a:t>3</a:t>
              </a:r>
            </a:p>
          </p:txBody>
        </p:sp>
        <p:sp>
          <p:nvSpPr>
            <p:cNvPr id="8222" name="Text Box 63"/>
            <p:cNvSpPr txBox="1">
              <a:spLocks noChangeArrowheads="1"/>
            </p:cNvSpPr>
            <p:nvPr/>
          </p:nvSpPr>
          <p:spPr bwMode="auto">
            <a:xfrm>
              <a:off x="4554" y="331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8223" name="Line 64"/>
            <p:cNvSpPr>
              <a:spLocks noChangeShapeType="1"/>
            </p:cNvSpPr>
            <p:nvPr/>
          </p:nvSpPr>
          <p:spPr bwMode="auto">
            <a:xfrm>
              <a:off x="4512" y="3576"/>
              <a:ext cx="306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19" name="Rectangle 5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70038" y="46038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en-GB" altLang="en-US" sz="2800" b="1">
                <a:solidFill>
                  <a:srgbClr val="000066"/>
                </a:solidFill>
              </a:rPr>
              <a:t>Negative indices</a:t>
            </a:r>
          </a:p>
        </p:txBody>
      </p:sp>
    </p:spTree>
    <p:extLst>
      <p:ext uri="{BB962C8B-B14F-4D97-AF65-F5344CB8AC3E}">
        <p14:creationId xmlns:p14="http://schemas.microsoft.com/office/powerpoint/2010/main" val="54778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7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7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7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0" grpId="0" animBg="1"/>
      <p:bldP spid="278535" grpId="0" autoUpdateAnimBg="0"/>
      <p:bldP spid="278542" grpId="0" animBg="1"/>
      <p:bldP spid="278543" grpId="0" animBg="1"/>
      <p:bldP spid="278544" grpId="0" animBg="1"/>
      <p:bldP spid="278545" grpId="0" animBg="1"/>
      <p:bldP spid="278560" grpId="0" autoUpdateAnimBg="0"/>
      <p:bldP spid="278561" grpId="0" autoUpdateAnimBg="0"/>
      <p:bldP spid="278562" grpId="0" autoUpdateAnimBg="0"/>
      <p:bldP spid="278563" grpId="0" autoUpdateAnimBg="0"/>
      <p:bldP spid="278564" grpId="0" autoUpdateAnimBg="0"/>
      <p:bldP spid="278574" grpId="0" autoUpdateAnimBg="0"/>
      <p:bldP spid="278576" grpId="0" autoUpdateAnimBg="0"/>
      <p:bldP spid="278582" grpId="0" autoUpdateAnimBg="0"/>
      <p:bldP spid="278587" grpId="0" autoUpdateAnimBg="0"/>
      <p:bldP spid="27858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AutoShape 2"/>
          <p:cNvSpPr>
            <a:spLocks noChangeArrowheads="1"/>
          </p:cNvSpPr>
          <p:nvPr/>
        </p:nvSpPr>
        <p:spPr bwMode="auto">
          <a:xfrm>
            <a:off x="2273301" y="1676400"/>
            <a:ext cx="4600575" cy="4775200"/>
          </a:xfrm>
          <a:prstGeom prst="roundRect">
            <a:avLst>
              <a:gd name="adj" fmla="val 16667"/>
            </a:avLst>
          </a:prstGeom>
          <a:solidFill>
            <a:srgbClr val="CFD2E3">
              <a:alpha val="50195"/>
            </a:srgbClr>
          </a:solidFill>
          <a:ln w="7620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 sz="5400">
              <a:solidFill>
                <a:srgbClr val="5B0091"/>
              </a:solidFill>
            </a:endParaRPr>
          </a:p>
        </p:txBody>
      </p:sp>
      <p:sp>
        <p:nvSpPr>
          <p:cNvPr id="9219" name="Text Box 6"/>
          <p:cNvSpPr txBox="1">
            <a:spLocks noChangeArrowheads="1"/>
          </p:cNvSpPr>
          <p:nvPr/>
        </p:nvSpPr>
        <p:spPr bwMode="auto">
          <a:xfrm>
            <a:off x="1930401" y="1068388"/>
            <a:ext cx="6354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GB" altLang="en-US"/>
              <a:t>We can write all of these results algebraically.</a:t>
            </a:r>
          </a:p>
        </p:txBody>
      </p:sp>
      <p:sp>
        <p:nvSpPr>
          <p:cNvPr id="282683" name="Text Box 59"/>
          <p:cNvSpPr txBox="1">
            <a:spLocks noChangeArrowheads="1"/>
          </p:cNvSpPr>
          <p:nvPr/>
        </p:nvSpPr>
        <p:spPr bwMode="auto">
          <a:xfrm>
            <a:off x="3241676" y="1811339"/>
            <a:ext cx="24860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 sz="2700" b="1" i="1">
                <a:latin typeface="Times New Roman" charset="0"/>
              </a:rPr>
              <a:t>a</a:t>
            </a:r>
            <a:r>
              <a:rPr lang="en-GB" altLang="en-US" sz="2700" b="1" i="1" baseline="30000">
                <a:latin typeface="Times New Roman" charset="0"/>
              </a:rPr>
              <a:t>m</a:t>
            </a:r>
            <a:r>
              <a:rPr lang="en-GB" altLang="en-US" sz="2700" b="1"/>
              <a:t> × </a:t>
            </a:r>
            <a:r>
              <a:rPr lang="en-GB" altLang="en-US" sz="2700" b="1" i="1">
                <a:latin typeface="Times New Roman" charset="0"/>
              </a:rPr>
              <a:t>a</a:t>
            </a:r>
            <a:r>
              <a:rPr lang="en-GB" altLang="en-US" sz="2700" b="1" i="1" baseline="30000">
                <a:latin typeface="Times New Roman" charset="0"/>
              </a:rPr>
              <a:t>n</a:t>
            </a:r>
            <a:r>
              <a:rPr lang="en-GB" altLang="en-US" sz="2700" b="1"/>
              <a:t> = </a:t>
            </a:r>
            <a:r>
              <a:rPr lang="en-GB" altLang="en-US" sz="2700" b="1" i="1">
                <a:latin typeface="Times New Roman" charset="0"/>
              </a:rPr>
              <a:t>a</a:t>
            </a:r>
            <a:r>
              <a:rPr lang="en-GB" altLang="en-US" sz="2700" b="1" baseline="30000"/>
              <a:t>(</a:t>
            </a:r>
            <a:r>
              <a:rPr lang="en-GB" altLang="en-US" sz="2700" b="1" i="1" baseline="30000">
                <a:latin typeface="Times New Roman" charset="0"/>
              </a:rPr>
              <a:t>m + n</a:t>
            </a:r>
            <a:r>
              <a:rPr lang="en-GB" altLang="en-US" sz="2700" b="1" baseline="30000"/>
              <a:t>)</a:t>
            </a:r>
          </a:p>
        </p:txBody>
      </p:sp>
      <p:sp>
        <p:nvSpPr>
          <p:cNvPr id="282684" name="Text Box 60"/>
          <p:cNvSpPr txBox="1">
            <a:spLocks noChangeArrowheads="1"/>
          </p:cNvSpPr>
          <p:nvPr/>
        </p:nvSpPr>
        <p:spPr bwMode="auto">
          <a:xfrm>
            <a:off x="3252789" y="2468564"/>
            <a:ext cx="24209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 sz="2700" b="1" i="1">
                <a:latin typeface="Times New Roman" charset="0"/>
              </a:rPr>
              <a:t>a</a:t>
            </a:r>
            <a:r>
              <a:rPr lang="en-GB" altLang="en-US" sz="2700" b="1" i="1" baseline="30000">
                <a:latin typeface="Times New Roman" charset="0"/>
              </a:rPr>
              <a:t>m</a:t>
            </a:r>
            <a:r>
              <a:rPr lang="en-GB" altLang="en-US" sz="2700" b="1">
                <a:latin typeface="Times New Roman" charset="0"/>
              </a:rPr>
              <a:t> </a:t>
            </a:r>
            <a:r>
              <a:rPr lang="en-GB" altLang="en-US" sz="2700" b="1"/>
              <a:t>÷</a:t>
            </a:r>
            <a:r>
              <a:rPr lang="en-GB" altLang="en-US" sz="2700" b="1">
                <a:latin typeface="Times New Roman" charset="0"/>
              </a:rPr>
              <a:t> </a:t>
            </a:r>
            <a:r>
              <a:rPr lang="en-GB" altLang="en-US" sz="2700" b="1" i="1">
                <a:latin typeface="Times New Roman" charset="0"/>
              </a:rPr>
              <a:t>a</a:t>
            </a:r>
            <a:r>
              <a:rPr lang="en-GB" altLang="en-US" sz="2700" b="1" i="1" baseline="30000">
                <a:latin typeface="Times New Roman" charset="0"/>
              </a:rPr>
              <a:t>n</a:t>
            </a:r>
            <a:r>
              <a:rPr lang="en-GB" altLang="en-US" sz="2700" b="1">
                <a:latin typeface="Times New Roman" charset="0"/>
              </a:rPr>
              <a:t> </a:t>
            </a:r>
            <a:r>
              <a:rPr lang="en-GB" altLang="en-US" sz="2700" b="1"/>
              <a:t>=</a:t>
            </a:r>
            <a:r>
              <a:rPr lang="en-GB" altLang="en-US" sz="2700" b="1">
                <a:latin typeface="Times New Roman" charset="0"/>
              </a:rPr>
              <a:t> </a:t>
            </a:r>
            <a:r>
              <a:rPr lang="en-GB" altLang="en-US" sz="2700" b="1" i="1">
                <a:latin typeface="Times New Roman" charset="0"/>
              </a:rPr>
              <a:t>a</a:t>
            </a:r>
            <a:r>
              <a:rPr lang="en-GB" altLang="en-US" sz="2700" b="1" i="1" baseline="30000">
                <a:latin typeface="Times New Roman" charset="0"/>
              </a:rPr>
              <a:t>(m – n)</a:t>
            </a:r>
          </a:p>
        </p:txBody>
      </p:sp>
      <p:sp>
        <p:nvSpPr>
          <p:cNvPr id="282685" name="Text Box 61"/>
          <p:cNvSpPr txBox="1">
            <a:spLocks noChangeArrowheads="1"/>
          </p:cNvSpPr>
          <p:nvPr/>
        </p:nvSpPr>
        <p:spPr bwMode="auto">
          <a:xfrm>
            <a:off x="3987801" y="3786189"/>
            <a:ext cx="10636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 sz="2700" b="1" i="1">
                <a:latin typeface="Times New Roman" charset="0"/>
              </a:rPr>
              <a:t>a</a:t>
            </a:r>
            <a:r>
              <a:rPr lang="en-GB" altLang="en-US" sz="2700" b="1" baseline="30000"/>
              <a:t>0</a:t>
            </a:r>
            <a:r>
              <a:rPr lang="en-GB" altLang="en-US" sz="2700" b="1"/>
              <a:t> = 1</a:t>
            </a:r>
            <a:endParaRPr lang="en-GB" altLang="en-US" sz="2700" b="1" baseline="3000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910013" y="4445001"/>
            <a:ext cx="1200150" cy="885825"/>
            <a:chOff x="1503" y="2800"/>
            <a:chExt cx="756" cy="558"/>
          </a:xfrm>
        </p:grpSpPr>
        <p:sp>
          <p:nvSpPr>
            <p:cNvPr id="9234" name="Text Box 67"/>
            <p:cNvSpPr txBox="1">
              <a:spLocks noChangeArrowheads="1"/>
            </p:cNvSpPr>
            <p:nvPr/>
          </p:nvSpPr>
          <p:spPr bwMode="auto">
            <a:xfrm>
              <a:off x="2022" y="3041"/>
              <a:ext cx="224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en-US" sz="2700" b="1" i="1">
                  <a:latin typeface="Times New Roman" charset="0"/>
                </a:rPr>
                <a:t>a</a:t>
              </a:r>
              <a:endParaRPr lang="en-GB" altLang="en-US" sz="2700" b="1" i="1" baseline="30000">
                <a:latin typeface="Times New Roman" charset="0"/>
              </a:endParaRPr>
            </a:p>
          </p:txBody>
        </p:sp>
        <p:sp>
          <p:nvSpPr>
            <p:cNvPr id="9235" name="Rectangle 63"/>
            <p:cNvSpPr>
              <a:spLocks noChangeArrowheads="1"/>
            </p:cNvSpPr>
            <p:nvPr/>
          </p:nvSpPr>
          <p:spPr bwMode="auto">
            <a:xfrm>
              <a:off x="1503" y="2921"/>
              <a:ext cx="58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en-US" sz="2700" b="1" i="1">
                  <a:latin typeface="Times New Roman" charset="0"/>
                </a:rPr>
                <a:t>a</a:t>
              </a:r>
              <a:r>
                <a:rPr lang="en-GB" altLang="en-US" sz="2700" b="1" baseline="30000"/>
                <a:t>–1 </a:t>
              </a:r>
              <a:r>
                <a:rPr lang="en-GB" altLang="en-US" sz="2700" b="1"/>
                <a:t>=</a:t>
              </a:r>
              <a:r>
                <a:rPr lang="en-GB" altLang="en-US" b="1" baseline="30000"/>
                <a:t> </a:t>
              </a:r>
            </a:p>
          </p:txBody>
        </p:sp>
        <p:sp>
          <p:nvSpPr>
            <p:cNvPr id="9236" name="Text Box 65"/>
            <p:cNvSpPr txBox="1">
              <a:spLocks noChangeArrowheads="1"/>
            </p:cNvSpPr>
            <p:nvPr/>
          </p:nvSpPr>
          <p:spPr bwMode="auto">
            <a:xfrm>
              <a:off x="2022" y="2800"/>
              <a:ext cx="23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en-US" sz="2700" b="1"/>
                <a:t>1</a:t>
              </a:r>
            </a:p>
          </p:txBody>
        </p:sp>
        <p:sp>
          <p:nvSpPr>
            <p:cNvPr id="9237" name="Line 66"/>
            <p:cNvSpPr>
              <a:spLocks noChangeShapeType="1"/>
            </p:cNvSpPr>
            <p:nvPr/>
          </p:nvSpPr>
          <p:spPr bwMode="auto">
            <a:xfrm>
              <a:off x="2019" y="3064"/>
              <a:ext cx="240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867151" y="5486401"/>
            <a:ext cx="1285875" cy="885825"/>
            <a:chOff x="1476" y="3456"/>
            <a:chExt cx="810" cy="558"/>
          </a:xfrm>
        </p:grpSpPr>
        <p:sp>
          <p:nvSpPr>
            <p:cNvPr id="9230" name="Text Box 73"/>
            <p:cNvSpPr txBox="1">
              <a:spLocks noChangeArrowheads="1"/>
            </p:cNvSpPr>
            <p:nvPr/>
          </p:nvSpPr>
          <p:spPr bwMode="auto">
            <a:xfrm>
              <a:off x="1976" y="3697"/>
              <a:ext cx="304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en-US" sz="2700" b="1" i="1">
                  <a:latin typeface="Times New Roman" charset="0"/>
                </a:rPr>
                <a:t>a</a:t>
              </a:r>
              <a:r>
                <a:rPr lang="en-GB" altLang="en-US" sz="2700" b="1" i="1" baseline="30000">
                  <a:latin typeface="Times New Roman" charset="0"/>
                </a:rPr>
                <a:t>n</a:t>
              </a:r>
            </a:p>
          </p:txBody>
        </p:sp>
        <p:sp>
          <p:nvSpPr>
            <p:cNvPr id="9231" name="Rectangle 69"/>
            <p:cNvSpPr>
              <a:spLocks noChangeArrowheads="1"/>
            </p:cNvSpPr>
            <p:nvPr/>
          </p:nvSpPr>
          <p:spPr bwMode="auto">
            <a:xfrm>
              <a:off x="1476" y="3577"/>
              <a:ext cx="58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en-US" sz="2700" b="1" i="1">
                  <a:latin typeface="Times New Roman" charset="0"/>
                </a:rPr>
                <a:t>a</a:t>
              </a:r>
              <a:r>
                <a:rPr lang="en-GB" altLang="en-US" sz="2700" b="1" baseline="30000"/>
                <a:t>–</a:t>
              </a:r>
              <a:r>
                <a:rPr lang="en-GB" altLang="en-US" sz="2700" b="1" i="1" baseline="30000">
                  <a:latin typeface="Times New Roman" charset="0"/>
                </a:rPr>
                <a:t>n</a:t>
              </a:r>
              <a:r>
                <a:rPr lang="en-GB" altLang="en-US" sz="2700" b="1" baseline="30000"/>
                <a:t> </a:t>
              </a:r>
              <a:r>
                <a:rPr lang="en-GB" altLang="en-US" sz="2700" b="1"/>
                <a:t>=</a:t>
              </a:r>
              <a:r>
                <a:rPr lang="en-GB" altLang="en-US" b="1" baseline="30000"/>
                <a:t> </a:t>
              </a:r>
            </a:p>
          </p:txBody>
        </p:sp>
        <p:sp>
          <p:nvSpPr>
            <p:cNvPr id="9232" name="Text Box 71"/>
            <p:cNvSpPr txBox="1">
              <a:spLocks noChangeArrowheads="1"/>
            </p:cNvSpPr>
            <p:nvPr/>
          </p:nvSpPr>
          <p:spPr bwMode="auto">
            <a:xfrm>
              <a:off x="2016" y="3456"/>
              <a:ext cx="23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en-US" sz="2700" b="1"/>
                <a:t>1</a:t>
              </a:r>
            </a:p>
          </p:txBody>
        </p:sp>
        <p:sp>
          <p:nvSpPr>
            <p:cNvPr id="9233" name="Line 72"/>
            <p:cNvSpPr>
              <a:spLocks noChangeShapeType="1"/>
            </p:cNvSpPr>
            <p:nvPr/>
          </p:nvSpPr>
          <p:spPr bwMode="auto">
            <a:xfrm>
              <a:off x="1980" y="3720"/>
              <a:ext cx="306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2699" name="Text Box 75"/>
          <p:cNvSpPr txBox="1">
            <a:spLocks noChangeArrowheads="1"/>
          </p:cNvSpPr>
          <p:nvPr/>
        </p:nvSpPr>
        <p:spPr bwMode="auto">
          <a:xfrm>
            <a:off x="4024314" y="3127375"/>
            <a:ext cx="10445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 sz="2700" b="1" i="1">
                <a:latin typeface="Times New Roman" charset="0"/>
              </a:rPr>
              <a:t>a</a:t>
            </a:r>
            <a:r>
              <a:rPr lang="en-GB" altLang="en-US" sz="2700" b="1" baseline="30000"/>
              <a:t>1</a:t>
            </a:r>
            <a:r>
              <a:rPr lang="en-GB" altLang="en-US" sz="2700" b="1"/>
              <a:t> = </a:t>
            </a:r>
            <a:r>
              <a:rPr lang="en-GB" altLang="en-US" sz="2700" b="1" i="1">
                <a:latin typeface="Times New Roman" charset="0"/>
              </a:rPr>
              <a:t>a</a:t>
            </a:r>
            <a:endParaRPr lang="en-GB" altLang="en-US" sz="2700" b="1" i="1" baseline="30000">
              <a:latin typeface="Times New Roman" charset="0"/>
            </a:endParaRPr>
          </a:p>
        </p:txBody>
      </p:sp>
      <p:pic>
        <p:nvPicPr>
          <p:cNvPr id="9226" name="Picture 18" descr="girl 2 cop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64" y="1493838"/>
            <a:ext cx="3502025" cy="494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8" name="Rectangle 20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70038" y="46038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en-GB" altLang="en-US" sz="2800" b="1">
                <a:solidFill>
                  <a:srgbClr val="000066"/>
                </a:solidFill>
              </a:rPr>
              <a:t>Using algebra</a:t>
            </a:r>
          </a:p>
        </p:txBody>
      </p:sp>
    </p:spTree>
    <p:extLst>
      <p:ext uri="{BB962C8B-B14F-4D97-AF65-F5344CB8AC3E}">
        <p14:creationId xmlns:p14="http://schemas.microsoft.com/office/powerpoint/2010/main" val="140325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4" grpId="0" animBg="1"/>
      <p:bldP spid="282683" grpId="0" autoUpdateAnimBg="0"/>
      <p:bldP spid="282684" grpId="0" autoUpdateAnimBg="0"/>
      <p:bldP spid="282685" grpId="0" autoUpdateAnimBg="0"/>
      <p:bldP spid="28269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Now let’s try some</a:t>
            </a:r>
            <a:br>
              <a:rPr lang="en-US" sz="2400" dirty="0" smtClean="0"/>
            </a:br>
            <a:r>
              <a:rPr lang="en-US" sz="2400" dirty="0" smtClean="0"/>
              <a:t>Use your Task page to write the problem and your answer.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1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1158F-82EA-9E4C-A3A6-F586A7C6E1CC}" type="slidenum">
              <a:rPr lang="en-US" altLang="x-none"/>
              <a:pPr/>
              <a:t>13</a:t>
            </a:fld>
            <a:endParaRPr lang="en-US" altLang="x-none"/>
          </a:p>
        </p:txBody>
      </p: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4476751" y="44451"/>
            <a:ext cx="3203575" cy="720725"/>
          </a:xfrm>
          <a:prstGeom prst="rect">
            <a:avLst/>
          </a:prstGeom>
          <a:noFill/>
          <a:ln>
            <a:noFill/>
          </a:ln>
          <a:effectLst>
            <a:outerShdw blurRad="63500" dist="46662" dir="2115817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9pPr>
          </a:lstStyle>
          <a:p>
            <a:r>
              <a:rPr lang="en-US" altLang="x-none" sz="4000" b="1">
                <a:effectLst/>
              </a:rPr>
              <a:t>Index Laws</a:t>
            </a:r>
          </a:p>
        </p:txBody>
      </p:sp>
      <p:sp>
        <p:nvSpPr>
          <p:cNvPr id="42004" name="Text Box 20"/>
          <p:cNvSpPr txBox="1">
            <a:spLocks noChangeArrowheads="1"/>
          </p:cNvSpPr>
          <p:nvPr/>
        </p:nvSpPr>
        <p:spPr bwMode="auto">
          <a:xfrm>
            <a:off x="1784350" y="2409826"/>
            <a:ext cx="2666114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2573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7145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1717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3</a:t>
            </a:r>
            <a:r>
              <a:rPr lang="en-US" altLang="x-none" baseline="30000">
                <a:latin typeface="Comic Sans MS" charset="0"/>
              </a:rPr>
              <a:t>9</a:t>
            </a:r>
            <a:r>
              <a:rPr lang="en-US" altLang="x-none">
                <a:latin typeface="Comic Sans MS" charset="0"/>
              </a:rPr>
              <a:t>x3</a:t>
            </a:r>
            <a:r>
              <a:rPr lang="en-US" altLang="x-none" baseline="30000">
                <a:latin typeface="Comic Sans MS" charset="0"/>
              </a:rPr>
              <a:t>7</a:t>
            </a:r>
            <a:r>
              <a:rPr lang="en-US" altLang="x-none">
                <a:latin typeface="Comic Sans MS" charset="0"/>
              </a:rPr>
              <a:t> =	3</a:t>
            </a:r>
            <a:r>
              <a:rPr lang="en-US" altLang="x-none" baseline="30000">
                <a:latin typeface="Comic Sans MS" charset="0"/>
              </a:rPr>
              <a:t>16</a:t>
            </a:r>
            <a:endParaRPr lang="en-US" altLang="x-none">
              <a:latin typeface="Comic Sans MS" charset="0"/>
            </a:endParaRP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2</a:t>
            </a:r>
            <a:r>
              <a:rPr lang="en-US" altLang="x-none" baseline="30000">
                <a:latin typeface="Comic Sans MS" charset="0"/>
              </a:rPr>
              <a:t>8</a:t>
            </a:r>
            <a:r>
              <a:rPr lang="en-US" altLang="x-none">
                <a:latin typeface="Comic Sans MS" charset="0"/>
              </a:rPr>
              <a:t>x2</a:t>
            </a:r>
            <a:r>
              <a:rPr lang="en-US" altLang="x-none" baseline="30000">
                <a:latin typeface="Comic Sans MS" charset="0"/>
              </a:rPr>
              <a:t>3</a:t>
            </a:r>
            <a:r>
              <a:rPr lang="en-US" altLang="x-none">
                <a:latin typeface="Comic Sans MS" charset="0"/>
              </a:rPr>
              <a:t> =	2</a:t>
            </a:r>
            <a:r>
              <a:rPr lang="en-US" altLang="x-none" baseline="30000">
                <a:latin typeface="Comic Sans MS" charset="0"/>
              </a:rPr>
              <a:t>5</a:t>
            </a: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5</a:t>
            </a:r>
            <a:r>
              <a:rPr lang="en-US" altLang="x-none" baseline="30000">
                <a:latin typeface="Comic Sans MS" charset="0"/>
              </a:rPr>
              <a:t>7</a:t>
            </a:r>
            <a:r>
              <a:rPr lang="en-US" altLang="x-none">
                <a:latin typeface="Comic Sans MS" charset="0"/>
              </a:rPr>
              <a:t>x5</a:t>
            </a:r>
            <a:r>
              <a:rPr lang="en-US" altLang="x-none" baseline="30000">
                <a:latin typeface="Comic Sans MS" charset="0"/>
              </a:rPr>
              <a:t>6</a:t>
            </a:r>
            <a:r>
              <a:rPr lang="en-US" altLang="x-none">
                <a:latin typeface="Comic Sans MS" charset="0"/>
              </a:rPr>
              <a:t> =	5</a:t>
            </a:r>
            <a:r>
              <a:rPr lang="en-US" altLang="x-none" baseline="30000">
                <a:latin typeface="Comic Sans MS" charset="0"/>
              </a:rPr>
              <a:t>13</a:t>
            </a: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2</a:t>
            </a:r>
            <a:r>
              <a:rPr lang="en-US" altLang="x-none" baseline="30000">
                <a:latin typeface="Comic Sans MS" charset="0"/>
              </a:rPr>
              <a:t>5</a:t>
            </a:r>
            <a:r>
              <a:rPr lang="en-US" altLang="x-none">
                <a:latin typeface="Comic Sans MS" charset="0"/>
              </a:rPr>
              <a:t>x2</a:t>
            </a:r>
            <a:r>
              <a:rPr lang="en-US" altLang="x-none" baseline="30000">
                <a:latin typeface="Comic Sans MS" charset="0"/>
              </a:rPr>
              <a:t>3</a:t>
            </a:r>
            <a:r>
              <a:rPr lang="en-US" altLang="x-none">
                <a:latin typeface="Comic Sans MS" charset="0"/>
              </a:rPr>
              <a:t> =	2</a:t>
            </a:r>
            <a:r>
              <a:rPr lang="en-US" altLang="x-none" baseline="30000">
                <a:latin typeface="Comic Sans MS" charset="0"/>
              </a:rPr>
              <a:t>8</a:t>
            </a: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7</a:t>
            </a:r>
            <a:r>
              <a:rPr lang="en-US" altLang="x-none" baseline="30000">
                <a:latin typeface="Comic Sans MS" charset="0"/>
              </a:rPr>
              <a:t>6</a:t>
            </a:r>
            <a:r>
              <a:rPr lang="en-US" altLang="x-none">
                <a:latin typeface="Comic Sans MS" charset="0"/>
              </a:rPr>
              <a:t>x7</a:t>
            </a:r>
            <a:r>
              <a:rPr lang="en-US" altLang="x-none" baseline="30000">
                <a:latin typeface="Comic Sans MS" charset="0"/>
              </a:rPr>
              <a:t>3</a:t>
            </a:r>
            <a:r>
              <a:rPr lang="en-US" altLang="x-none">
                <a:latin typeface="Comic Sans MS" charset="0"/>
              </a:rPr>
              <a:t> =	7</a:t>
            </a:r>
            <a:r>
              <a:rPr lang="en-US" altLang="x-none" baseline="30000">
                <a:latin typeface="Comic Sans MS" charset="0"/>
              </a:rPr>
              <a:t>9</a:t>
            </a:r>
          </a:p>
        </p:txBody>
      </p:sp>
      <p:sp>
        <p:nvSpPr>
          <p:cNvPr id="42005" name="Text Box 21"/>
          <p:cNvSpPr txBox="1">
            <a:spLocks noChangeArrowheads="1"/>
          </p:cNvSpPr>
          <p:nvPr/>
        </p:nvSpPr>
        <p:spPr bwMode="auto">
          <a:xfrm>
            <a:off x="1881188" y="1620838"/>
            <a:ext cx="1340432" cy="3693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chemeClr val="bg1"/>
                </a:solidFill>
              </a:rPr>
              <a:t>a</a:t>
            </a:r>
            <a:r>
              <a:rPr lang="en-US" altLang="x-none" b="1" baseline="30000">
                <a:solidFill>
                  <a:schemeClr val="bg1"/>
                </a:solidFill>
              </a:rPr>
              <a:t>m</a:t>
            </a:r>
            <a:r>
              <a:rPr lang="en-US" altLang="x-none">
                <a:solidFill>
                  <a:schemeClr val="bg1"/>
                </a:solidFill>
              </a:rPr>
              <a:t>x</a:t>
            </a:r>
            <a:r>
              <a:rPr lang="en-US" altLang="x-none" b="1">
                <a:solidFill>
                  <a:schemeClr val="bg1"/>
                </a:solidFill>
              </a:rPr>
              <a:t>a</a:t>
            </a:r>
            <a:r>
              <a:rPr lang="en-US" altLang="x-none" b="1" baseline="30000">
                <a:solidFill>
                  <a:schemeClr val="bg1"/>
                </a:solidFill>
              </a:rPr>
              <a:t>n</a:t>
            </a:r>
            <a:r>
              <a:rPr lang="en-US" altLang="x-none" b="1">
                <a:solidFill>
                  <a:schemeClr val="tx2"/>
                </a:solidFill>
              </a:rPr>
              <a:t> </a:t>
            </a:r>
            <a:r>
              <a:rPr lang="en-US" altLang="x-none" b="1">
                <a:solidFill>
                  <a:schemeClr val="bg1"/>
                </a:solidFill>
              </a:rPr>
              <a:t>= a</a:t>
            </a:r>
            <a:r>
              <a:rPr lang="en-US" altLang="x-none" b="1" baseline="30000">
                <a:solidFill>
                  <a:schemeClr val="bg1"/>
                </a:solidFill>
              </a:rPr>
              <a:t>m+n</a:t>
            </a:r>
            <a:endParaRPr lang="en-US" altLang="x-none" b="1">
              <a:solidFill>
                <a:schemeClr val="bg1"/>
              </a:solidFill>
            </a:endParaRPr>
          </a:p>
        </p:txBody>
      </p:sp>
      <p:sp>
        <p:nvSpPr>
          <p:cNvPr id="42007" name="Text Box 23"/>
          <p:cNvSpPr txBox="1">
            <a:spLocks noChangeArrowheads="1"/>
          </p:cNvSpPr>
          <p:nvPr/>
        </p:nvSpPr>
        <p:spPr bwMode="auto">
          <a:xfrm>
            <a:off x="4800600" y="1620838"/>
            <a:ext cx="1326004" cy="3693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chemeClr val="bg1"/>
                </a:solidFill>
              </a:rPr>
              <a:t>a</a:t>
            </a:r>
            <a:r>
              <a:rPr lang="en-US" altLang="x-none" b="1" baseline="30000">
                <a:solidFill>
                  <a:schemeClr val="bg1"/>
                </a:solidFill>
              </a:rPr>
              <a:t>m</a:t>
            </a:r>
            <a:r>
              <a:rPr lang="en-US" altLang="x-none">
                <a:solidFill>
                  <a:schemeClr val="bg1"/>
                </a:solidFill>
              </a:rPr>
              <a:t>÷</a:t>
            </a:r>
            <a:r>
              <a:rPr lang="en-US" altLang="x-none" b="1">
                <a:solidFill>
                  <a:schemeClr val="bg1"/>
                </a:solidFill>
              </a:rPr>
              <a:t>a</a:t>
            </a:r>
            <a:r>
              <a:rPr lang="en-US" altLang="x-none" b="1" baseline="30000">
                <a:solidFill>
                  <a:schemeClr val="bg1"/>
                </a:solidFill>
              </a:rPr>
              <a:t>n</a:t>
            </a:r>
            <a:r>
              <a:rPr lang="en-US" altLang="x-none" b="1">
                <a:solidFill>
                  <a:schemeClr val="bg1"/>
                </a:solidFill>
              </a:rPr>
              <a:t> = a</a:t>
            </a:r>
            <a:r>
              <a:rPr lang="en-US" altLang="x-none" b="1" baseline="30000">
                <a:solidFill>
                  <a:schemeClr val="bg1"/>
                </a:solidFill>
              </a:rPr>
              <a:t>m-n</a:t>
            </a:r>
            <a:endParaRPr lang="en-US" altLang="x-none" b="1">
              <a:solidFill>
                <a:schemeClr val="bg1"/>
              </a:solidFill>
            </a:endParaRPr>
          </a:p>
        </p:txBody>
      </p:sp>
      <p:sp>
        <p:nvSpPr>
          <p:cNvPr id="42009" name="Text Box 25"/>
          <p:cNvSpPr txBox="1">
            <a:spLocks noChangeArrowheads="1"/>
          </p:cNvSpPr>
          <p:nvPr/>
        </p:nvSpPr>
        <p:spPr bwMode="auto">
          <a:xfrm>
            <a:off x="7897814" y="1620838"/>
            <a:ext cx="1262077" cy="3693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chemeClr val="bg1"/>
                </a:solidFill>
              </a:rPr>
              <a:t>(a</a:t>
            </a:r>
            <a:r>
              <a:rPr lang="en-US" altLang="x-none" b="1" baseline="30000">
                <a:solidFill>
                  <a:schemeClr val="bg1"/>
                </a:solidFill>
              </a:rPr>
              <a:t>m</a:t>
            </a:r>
            <a:r>
              <a:rPr lang="en-US" altLang="x-none">
                <a:solidFill>
                  <a:schemeClr val="bg1"/>
                </a:solidFill>
              </a:rPr>
              <a:t>)</a:t>
            </a:r>
            <a:r>
              <a:rPr lang="en-US" altLang="x-none" b="1" baseline="30000">
                <a:solidFill>
                  <a:schemeClr val="bg1"/>
                </a:solidFill>
              </a:rPr>
              <a:t>n</a:t>
            </a:r>
            <a:r>
              <a:rPr lang="en-US" altLang="x-none" b="1">
                <a:solidFill>
                  <a:schemeClr val="bg1"/>
                </a:solidFill>
              </a:rPr>
              <a:t> = a</a:t>
            </a:r>
            <a:r>
              <a:rPr lang="en-US" altLang="x-none" b="1" baseline="30000">
                <a:solidFill>
                  <a:schemeClr val="bg1"/>
                </a:solidFill>
              </a:rPr>
              <a:t>mxn</a:t>
            </a:r>
            <a:endParaRPr lang="en-US" altLang="x-none" b="1">
              <a:solidFill>
                <a:schemeClr val="bg1"/>
              </a:solidFill>
            </a:endParaRPr>
          </a:p>
        </p:txBody>
      </p:sp>
      <p:sp>
        <p:nvSpPr>
          <p:cNvPr id="42012" name="Text Box 28"/>
          <p:cNvSpPr txBox="1">
            <a:spLocks noChangeArrowheads="1"/>
          </p:cNvSpPr>
          <p:nvPr/>
        </p:nvSpPr>
        <p:spPr bwMode="auto">
          <a:xfrm>
            <a:off x="4664075" y="2478088"/>
            <a:ext cx="2597186" cy="3383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2573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7145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1717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132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3</a:t>
            </a:r>
            <a:r>
              <a:rPr lang="en-US" altLang="x-none" baseline="30000">
                <a:latin typeface="Comic Sans MS" charset="0"/>
              </a:rPr>
              <a:t>9</a:t>
            </a:r>
            <a:r>
              <a:rPr lang="en-US" altLang="x-none">
                <a:latin typeface="Comic Sans MS" charset="0"/>
              </a:rPr>
              <a:t>÷3</a:t>
            </a:r>
            <a:r>
              <a:rPr lang="en-US" altLang="x-none" baseline="30000">
                <a:latin typeface="Comic Sans MS" charset="0"/>
              </a:rPr>
              <a:t>7</a:t>
            </a:r>
            <a:r>
              <a:rPr lang="en-US" altLang="x-none">
                <a:latin typeface="Comic Sans MS" charset="0"/>
              </a:rPr>
              <a:t> =	3</a:t>
            </a:r>
            <a:r>
              <a:rPr lang="en-US" altLang="x-none" baseline="30000">
                <a:latin typeface="Comic Sans MS" charset="0"/>
              </a:rPr>
              <a:t>2</a:t>
            </a:r>
            <a:endParaRPr lang="en-US" altLang="x-none">
              <a:latin typeface="Comic Sans MS" charset="0"/>
            </a:endParaRPr>
          </a:p>
          <a:p>
            <a:pPr>
              <a:lnSpc>
                <a:spcPct val="132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2</a:t>
            </a:r>
            <a:r>
              <a:rPr lang="en-US" altLang="x-none" baseline="30000">
                <a:latin typeface="Comic Sans MS" charset="0"/>
              </a:rPr>
              <a:t>8</a:t>
            </a:r>
            <a:r>
              <a:rPr lang="en-US" altLang="x-none" sz="3600">
                <a:latin typeface="Comic Sans MS" charset="0"/>
              </a:rPr>
              <a:t>÷</a:t>
            </a:r>
            <a:r>
              <a:rPr lang="en-US" altLang="x-none">
                <a:latin typeface="Comic Sans MS" charset="0"/>
              </a:rPr>
              <a:t>2</a:t>
            </a:r>
            <a:r>
              <a:rPr lang="en-US" altLang="x-none" baseline="30000">
                <a:latin typeface="Comic Sans MS" charset="0"/>
              </a:rPr>
              <a:t>3</a:t>
            </a:r>
            <a:r>
              <a:rPr lang="en-US" altLang="x-none">
                <a:latin typeface="Comic Sans MS" charset="0"/>
              </a:rPr>
              <a:t> =	2</a:t>
            </a:r>
            <a:r>
              <a:rPr lang="en-US" altLang="x-none" baseline="30000">
                <a:latin typeface="Comic Sans MS" charset="0"/>
              </a:rPr>
              <a:t>5</a:t>
            </a:r>
          </a:p>
          <a:p>
            <a:pPr>
              <a:lnSpc>
                <a:spcPct val="132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5</a:t>
            </a:r>
            <a:r>
              <a:rPr lang="en-US" altLang="x-none" baseline="30000">
                <a:latin typeface="Comic Sans MS" charset="0"/>
              </a:rPr>
              <a:t>7</a:t>
            </a:r>
            <a:r>
              <a:rPr lang="en-US" altLang="x-none" sz="3600">
                <a:latin typeface="Comic Sans MS" charset="0"/>
              </a:rPr>
              <a:t>÷</a:t>
            </a:r>
            <a:r>
              <a:rPr lang="en-US" altLang="x-none">
                <a:latin typeface="Comic Sans MS" charset="0"/>
              </a:rPr>
              <a:t>5</a:t>
            </a:r>
            <a:r>
              <a:rPr lang="en-US" altLang="x-none" baseline="30000">
                <a:latin typeface="Comic Sans MS" charset="0"/>
              </a:rPr>
              <a:t>6</a:t>
            </a:r>
            <a:r>
              <a:rPr lang="en-US" altLang="x-none">
                <a:latin typeface="Comic Sans MS" charset="0"/>
              </a:rPr>
              <a:t> =	5</a:t>
            </a:r>
            <a:endParaRPr lang="en-US" altLang="x-none" baseline="30000">
              <a:latin typeface="Comic Sans MS" charset="0"/>
            </a:endParaRPr>
          </a:p>
          <a:p>
            <a:pPr>
              <a:lnSpc>
                <a:spcPct val="132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2</a:t>
            </a:r>
            <a:r>
              <a:rPr lang="en-US" altLang="x-none" baseline="30000">
                <a:latin typeface="Comic Sans MS" charset="0"/>
              </a:rPr>
              <a:t>5</a:t>
            </a:r>
            <a:r>
              <a:rPr lang="en-US" altLang="x-none" sz="3600">
                <a:latin typeface="Comic Sans MS" charset="0"/>
              </a:rPr>
              <a:t>÷</a:t>
            </a:r>
            <a:r>
              <a:rPr lang="en-US" altLang="x-none">
                <a:latin typeface="Comic Sans MS" charset="0"/>
              </a:rPr>
              <a:t>2</a:t>
            </a:r>
            <a:r>
              <a:rPr lang="en-US" altLang="x-none" baseline="30000">
                <a:latin typeface="Comic Sans MS" charset="0"/>
              </a:rPr>
              <a:t>3</a:t>
            </a:r>
            <a:r>
              <a:rPr lang="en-US" altLang="x-none">
                <a:latin typeface="Comic Sans MS" charset="0"/>
              </a:rPr>
              <a:t> =	2</a:t>
            </a:r>
            <a:r>
              <a:rPr lang="en-US" altLang="x-none" baseline="30000">
                <a:latin typeface="Comic Sans MS" charset="0"/>
              </a:rPr>
              <a:t>2</a:t>
            </a:r>
          </a:p>
          <a:p>
            <a:pPr>
              <a:lnSpc>
                <a:spcPct val="132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7</a:t>
            </a:r>
            <a:r>
              <a:rPr lang="en-US" altLang="x-none" baseline="30000">
                <a:latin typeface="Comic Sans MS" charset="0"/>
              </a:rPr>
              <a:t>6</a:t>
            </a:r>
            <a:r>
              <a:rPr lang="en-US" altLang="x-none" sz="3600">
                <a:latin typeface="Comic Sans MS" charset="0"/>
              </a:rPr>
              <a:t>÷</a:t>
            </a:r>
            <a:r>
              <a:rPr lang="en-US" altLang="x-none">
                <a:latin typeface="Comic Sans MS" charset="0"/>
              </a:rPr>
              <a:t>7</a:t>
            </a:r>
            <a:r>
              <a:rPr lang="en-US" altLang="x-none" baseline="30000">
                <a:latin typeface="Comic Sans MS" charset="0"/>
              </a:rPr>
              <a:t>3</a:t>
            </a:r>
            <a:r>
              <a:rPr lang="en-US" altLang="x-none">
                <a:latin typeface="Comic Sans MS" charset="0"/>
              </a:rPr>
              <a:t> =	7</a:t>
            </a:r>
            <a:r>
              <a:rPr lang="en-US" altLang="x-none" baseline="30000">
                <a:latin typeface="Comic Sans MS" charset="0"/>
              </a:rPr>
              <a:t>3</a:t>
            </a:r>
          </a:p>
        </p:txBody>
      </p:sp>
      <p:sp>
        <p:nvSpPr>
          <p:cNvPr id="42014" name="Text Box 30"/>
          <p:cNvSpPr txBox="1">
            <a:spLocks noChangeArrowheads="1"/>
          </p:cNvSpPr>
          <p:nvPr/>
        </p:nvSpPr>
        <p:spPr bwMode="auto">
          <a:xfrm>
            <a:off x="7608889" y="2408239"/>
            <a:ext cx="2691763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2573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7145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1717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(3</a:t>
            </a:r>
            <a:r>
              <a:rPr lang="en-US" altLang="x-none" baseline="30000">
                <a:latin typeface="Comic Sans MS" charset="0"/>
              </a:rPr>
              <a:t>9</a:t>
            </a:r>
            <a:r>
              <a:rPr lang="en-US" altLang="x-none">
                <a:latin typeface="Comic Sans MS" charset="0"/>
              </a:rPr>
              <a:t>)</a:t>
            </a:r>
            <a:r>
              <a:rPr lang="en-US" altLang="x-none" baseline="30000">
                <a:latin typeface="Comic Sans MS" charset="0"/>
              </a:rPr>
              <a:t>7</a:t>
            </a:r>
            <a:r>
              <a:rPr lang="en-US" altLang="x-none">
                <a:latin typeface="Comic Sans MS" charset="0"/>
              </a:rPr>
              <a:t> =	3</a:t>
            </a:r>
            <a:r>
              <a:rPr lang="en-US" altLang="x-none" baseline="30000">
                <a:latin typeface="Comic Sans MS" charset="0"/>
              </a:rPr>
              <a:t>63</a:t>
            </a:r>
            <a:endParaRPr lang="en-US" altLang="x-none">
              <a:latin typeface="Comic Sans MS" charset="0"/>
            </a:endParaRP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(2</a:t>
            </a:r>
            <a:r>
              <a:rPr lang="en-US" altLang="x-none" baseline="30000">
                <a:latin typeface="Comic Sans MS" charset="0"/>
              </a:rPr>
              <a:t>3</a:t>
            </a:r>
            <a:r>
              <a:rPr lang="en-US" altLang="x-none">
                <a:latin typeface="Comic Sans MS" charset="0"/>
              </a:rPr>
              <a:t>)</a:t>
            </a:r>
            <a:r>
              <a:rPr lang="en-US" altLang="x-none" baseline="30000">
                <a:latin typeface="Comic Sans MS" charset="0"/>
              </a:rPr>
              <a:t>3</a:t>
            </a:r>
            <a:r>
              <a:rPr lang="en-US" altLang="x-none">
                <a:latin typeface="Comic Sans MS" charset="0"/>
              </a:rPr>
              <a:t> =	2</a:t>
            </a:r>
            <a:r>
              <a:rPr lang="en-US" altLang="x-none" baseline="30000">
                <a:latin typeface="Comic Sans MS" charset="0"/>
              </a:rPr>
              <a:t>9</a:t>
            </a: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(5</a:t>
            </a:r>
            <a:r>
              <a:rPr lang="en-US" altLang="x-none" baseline="30000">
                <a:latin typeface="Comic Sans MS" charset="0"/>
              </a:rPr>
              <a:t>7</a:t>
            </a:r>
            <a:r>
              <a:rPr lang="en-US" altLang="x-none">
                <a:latin typeface="Comic Sans MS" charset="0"/>
              </a:rPr>
              <a:t>)</a:t>
            </a:r>
            <a:r>
              <a:rPr lang="en-US" altLang="x-none" baseline="30000">
                <a:latin typeface="Comic Sans MS" charset="0"/>
              </a:rPr>
              <a:t>6</a:t>
            </a:r>
            <a:r>
              <a:rPr lang="en-US" altLang="x-none">
                <a:latin typeface="Comic Sans MS" charset="0"/>
              </a:rPr>
              <a:t> =	5</a:t>
            </a:r>
            <a:r>
              <a:rPr lang="en-US" altLang="x-none" baseline="30000">
                <a:latin typeface="Comic Sans MS" charset="0"/>
              </a:rPr>
              <a:t>42</a:t>
            </a: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(2</a:t>
            </a:r>
            <a:r>
              <a:rPr lang="en-US" altLang="x-none" baseline="30000">
                <a:latin typeface="Comic Sans MS" charset="0"/>
              </a:rPr>
              <a:t>5</a:t>
            </a:r>
            <a:r>
              <a:rPr lang="en-US" altLang="x-none">
                <a:latin typeface="Comic Sans MS" charset="0"/>
              </a:rPr>
              <a:t>)</a:t>
            </a:r>
            <a:r>
              <a:rPr lang="en-US" altLang="x-none" baseline="30000">
                <a:latin typeface="Comic Sans MS" charset="0"/>
              </a:rPr>
              <a:t>3</a:t>
            </a:r>
            <a:r>
              <a:rPr lang="en-US" altLang="x-none">
                <a:latin typeface="Comic Sans MS" charset="0"/>
              </a:rPr>
              <a:t> =	2</a:t>
            </a:r>
            <a:r>
              <a:rPr lang="en-US" altLang="x-none" baseline="30000">
                <a:latin typeface="Comic Sans MS" charset="0"/>
              </a:rPr>
              <a:t>15</a:t>
            </a: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(7</a:t>
            </a:r>
            <a:r>
              <a:rPr lang="en-US" altLang="x-none" baseline="30000">
                <a:latin typeface="Comic Sans MS" charset="0"/>
              </a:rPr>
              <a:t>6</a:t>
            </a:r>
            <a:r>
              <a:rPr lang="en-US" altLang="x-none">
                <a:latin typeface="Comic Sans MS" charset="0"/>
              </a:rPr>
              <a:t>)</a:t>
            </a:r>
            <a:r>
              <a:rPr lang="en-US" altLang="x-none" baseline="30000">
                <a:latin typeface="Comic Sans MS" charset="0"/>
              </a:rPr>
              <a:t>3</a:t>
            </a:r>
            <a:r>
              <a:rPr lang="en-US" altLang="x-none">
                <a:latin typeface="Comic Sans MS" charset="0"/>
              </a:rPr>
              <a:t> =	7</a:t>
            </a:r>
            <a:r>
              <a:rPr lang="en-US" altLang="x-none" baseline="30000">
                <a:latin typeface="Comic Sans MS" charset="0"/>
              </a:rPr>
              <a:t>18</a:t>
            </a:r>
          </a:p>
        </p:txBody>
      </p:sp>
      <p:sp>
        <p:nvSpPr>
          <p:cNvPr id="42015" name="Oval 31"/>
          <p:cNvSpPr>
            <a:spLocks noChangeArrowheads="1"/>
          </p:cNvSpPr>
          <p:nvPr/>
        </p:nvSpPr>
        <p:spPr bwMode="auto">
          <a:xfrm>
            <a:off x="9812948" y="3304839"/>
            <a:ext cx="387956" cy="482116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17" name="Oval 33"/>
          <p:cNvSpPr>
            <a:spLocks noChangeArrowheads="1"/>
          </p:cNvSpPr>
          <p:nvPr/>
        </p:nvSpPr>
        <p:spPr bwMode="auto">
          <a:xfrm>
            <a:off x="9779980" y="2898334"/>
            <a:ext cx="404440" cy="41017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19" name="Oval 35"/>
          <p:cNvSpPr>
            <a:spLocks noChangeArrowheads="1"/>
          </p:cNvSpPr>
          <p:nvPr/>
        </p:nvSpPr>
        <p:spPr bwMode="auto">
          <a:xfrm>
            <a:off x="9796464" y="2513952"/>
            <a:ext cx="404440" cy="42559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0" name="Oval 36"/>
          <p:cNvSpPr>
            <a:spLocks noChangeArrowheads="1"/>
          </p:cNvSpPr>
          <p:nvPr/>
        </p:nvSpPr>
        <p:spPr bwMode="auto">
          <a:xfrm>
            <a:off x="9804706" y="3778744"/>
            <a:ext cx="404440" cy="37350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1" name="Oval 37"/>
          <p:cNvSpPr>
            <a:spLocks noChangeArrowheads="1"/>
          </p:cNvSpPr>
          <p:nvPr/>
        </p:nvSpPr>
        <p:spPr bwMode="auto">
          <a:xfrm>
            <a:off x="9805901" y="4152249"/>
            <a:ext cx="412682" cy="443119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2" name="Oval 38"/>
          <p:cNvSpPr>
            <a:spLocks noChangeArrowheads="1"/>
          </p:cNvSpPr>
          <p:nvPr/>
        </p:nvSpPr>
        <p:spPr bwMode="auto">
          <a:xfrm>
            <a:off x="6798253" y="3858862"/>
            <a:ext cx="488002" cy="48053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3" name="Oval 39"/>
          <p:cNvSpPr>
            <a:spLocks noChangeArrowheads="1"/>
          </p:cNvSpPr>
          <p:nvPr/>
        </p:nvSpPr>
        <p:spPr bwMode="auto">
          <a:xfrm>
            <a:off x="6873046" y="3137309"/>
            <a:ext cx="374686" cy="4085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4" name="Oval 40"/>
          <p:cNvSpPr>
            <a:spLocks noChangeArrowheads="1"/>
          </p:cNvSpPr>
          <p:nvPr/>
        </p:nvSpPr>
        <p:spPr bwMode="auto">
          <a:xfrm>
            <a:off x="6813549" y="2551114"/>
            <a:ext cx="447712" cy="42559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5" name="Oval 41"/>
          <p:cNvSpPr>
            <a:spLocks noChangeArrowheads="1"/>
          </p:cNvSpPr>
          <p:nvPr/>
        </p:nvSpPr>
        <p:spPr bwMode="auto">
          <a:xfrm>
            <a:off x="6813549" y="4569010"/>
            <a:ext cx="399680" cy="49703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6" name="Oval 42"/>
          <p:cNvSpPr>
            <a:spLocks noChangeArrowheads="1"/>
          </p:cNvSpPr>
          <p:nvPr/>
        </p:nvSpPr>
        <p:spPr bwMode="auto">
          <a:xfrm>
            <a:off x="6861581" y="5268169"/>
            <a:ext cx="399680" cy="427181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7" name="Oval 43"/>
          <p:cNvSpPr>
            <a:spLocks noChangeArrowheads="1"/>
          </p:cNvSpPr>
          <p:nvPr/>
        </p:nvSpPr>
        <p:spPr bwMode="auto">
          <a:xfrm>
            <a:off x="3970071" y="3319090"/>
            <a:ext cx="427339" cy="365969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8" name="Oval 44"/>
          <p:cNvSpPr>
            <a:spLocks noChangeArrowheads="1"/>
          </p:cNvSpPr>
          <p:nvPr/>
        </p:nvSpPr>
        <p:spPr bwMode="auto">
          <a:xfrm>
            <a:off x="3889109" y="2919651"/>
            <a:ext cx="451862" cy="392398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9" name="Oval 45"/>
          <p:cNvSpPr>
            <a:spLocks noChangeArrowheads="1"/>
          </p:cNvSpPr>
          <p:nvPr/>
        </p:nvSpPr>
        <p:spPr bwMode="auto">
          <a:xfrm>
            <a:off x="3904013" y="2478089"/>
            <a:ext cx="485460" cy="461456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30" name="Oval 46"/>
          <p:cNvSpPr>
            <a:spLocks noChangeArrowheads="1"/>
          </p:cNvSpPr>
          <p:nvPr/>
        </p:nvSpPr>
        <p:spPr bwMode="auto">
          <a:xfrm>
            <a:off x="3958347" y="3682013"/>
            <a:ext cx="382623" cy="373011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31" name="Oval 47"/>
          <p:cNvSpPr>
            <a:spLocks noChangeArrowheads="1"/>
          </p:cNvSpPr>
          <p:nvPr/>
        </p:nvSpPr>
        <p:spPr bwMode="auto">
          <a:xfrm>
            <a:off x="3971430" y="4122111"/>
            <a:ext cx="390560" cy="352569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32" name="Text Box 48"/>
          <p:cNvSpPr txBox="1">
            <a:spLocks noChangeArrowheads="1"/>
          </p:cNvSpPr>
          <p:nvPr/>
        </p:nvSpPr>
        <p:spPr bwMode="auto">
          <a:xfrm>
            <a:off x="1284288" y="836613"/>
            <a:ext cx="5969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800" b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endParaRPr lang="en-US" altLang="x-none" sz="4800" b="1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2033" name="Text Box 49"/>
          <p:cNvSpPr txBox="1">
            <a:spLocks noChangeArrowheads="1"/>
          </p:cNvSpPr>
          <p:nvPr/>
        </p:nvSpPr>
        <p:spPr bwMode="auto">
          <a:xfrm>
            <a:off x="4346635" y="800516"/>
            <a:ext cx="5969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endParaRPr lang="en-US" altLang="x-none" sz="4800" b="1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2034" name="Text Box 50"/>
          <p:cNvSpPr txBox="1">
            <a:spLocks noChangeArrowheads="1"/>
          </p:cNvSpPr>
          <p:nvPr/>
        </p:nvSpPr>
        <p:spPr bwMode="auto">
          <a:xfrm>
            <a:off x="7586128" y="827058"/>
            <a:ext cx="5969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endParaRPr lang="en-US" altLang="x-none" sz="48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38488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" dur="1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2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" dur="1"/>
                                        <p:tgtEl>
                                          <p:spTgt spid="420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2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 nodeType="clickPar">
                      <p:stCondLst>
                        <p:cond delay="0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" dur="1"/>
                                        <p:tgtEl>
                                          <p:spTgt spid="420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2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 nodeType="clickPar">
                      <p:stCondLst>
                        <p:cond delay="0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4" dur="1"/>
                                        <p:tgtEl>
                                          <p:spTgt spid="4202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2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0" dur="1"/>
                                        <p:tgtEl>
                                          <p:spTgt spid="4202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2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2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6" dur="1"/>
                                        <p:tgtEl>
                                          <p:spTgt spid="4202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2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2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 nodeType="clickPar">
                      <p:stCondLst>
                        <p:cond delay="0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2" dur="1"/>
                                        <p:tgtEl>
                                          <p:spTgt spid="420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2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2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8" dur="1"/>
                                        <p:tgtEl>
                                          <p:spTgt spid="4202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2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2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 nodeType="clickPar">
                      <p:stCondLst>
                        <p:cond delay="0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54" dur="1"/>
                                        <p:tgtEl>
                                          <p:spTgt spid="4202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2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2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 nodeType="clickPar">
                      <p:stCondLst>
                        <p:cond delay="0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0" dur="1"/>
                                        <p:tgtEl>
                                          <p:spTgt spid="420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2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42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 nodeType="clickPar">
                      <p:stCondLst>
                        <p:cond delay="0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6" dur="1"/>
                                        <p:tgtEl>
                                          <p:spTgt spid="4202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2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42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72" dur="1"/>
                                        <p:tgtEl>
                                          <p:spTgt spid="420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2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420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 nodeType="clickPar">
                      <p:stCondLst>
                        <p:cond delay="0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78" dur="1"/>
                                        <p:tgtEl>
                                          <p:spTgt spid="4202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29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42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 nodeType="clickPar">
                      <p:stCondLst>
                        <p:cond delay="0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84" dur="1"/>
                                        <p:tgtEl>
                                          <p:spTgt spid="4203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3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42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90" dur="1"/>
                                        <p:tgtEl>
                                          <p:spTgt spid="4203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031"/>
                  </p:tgtEl>
                </p:cond>
              </p:nextCondLst>
            </p:seq>
          </p:childTnLst>
        </p:cTn>
      </p:par>
    </p:tnLst>
    <p:bldLst>
      <p:bldP spid="42015" grpId="0" animBg="1"/>
      <p:bldP spid="42017" grpId="0" animBg="1"/>
      <p:bldP spid="42019" grpId="0" animBg="1"/>
      <p:bldP spid="42020" grpId="0" animBg="1"/>
      <p:bldP spid="42021" grpId="0" animBg="1"/>
      <p:bldP spid="42022" grpId="0" animBg="1"/>
      <p:bldP spid="42023" grpId="0" animBg="1"/>
      <p:bldP spid="42024" grpId="0" animBg="1"/>
      <p:bldP spid="42025" grpId="0" animBg="1"/>
      <p:bldP spid="42026" grpId="0" animBg="1"/>
      <p:bldP spid="42027" grpId="0" animBg="1"/>
      <p:bldP spid="42028" grpId="0" animBg="1"/>
      <p:bldP spid="42029" grpId="0" animBg="1"/>
      <p:bldP spid="42030" grpId="0" animBg="1"/>
      <p:bldP spid="420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3759-0C11-9546-9B6D-0CE85B15E113}" type="slidenum">
              <a:rPr lang="en-US" altLang="x-none"/>
              <a:pPr/>
              <a:t>14</a:t>
            </a:fld>
            <a:endParaRPr lang="en-US" altLang="x-none"/>
          </a:p>
        </p:txBody>
      </p:sp>
      <p:sp>
        <p:nvSpPr>
          <p:cNvPr id="55330" name="Rectangle 34"/>
          <p:cNvSpPr>
            <a:spLocks noChangeArrowheads="1"/>
          </p:cNvSpPr>
          <p:nvPr/>
        </p:nvSpPr>
        <p:spPr bwMode="auto">
          <a:xfrm>
            <a:off x="7248526" y="1412875"/>
            <a:ext cx="1800225" cy="1150938"/>
          </a:xfrm>
          <a:prstGeom prst="rect">
            <a:avLst/>
          </a:prstGeom>
          <a:solidFill>
            <a:srgbClr val="3333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4476751" y="44451"/>
            <a:ext cx="3203575" cy="720725"/>
          </a:xfrm>
          <a:prstGeom prst="rect">
            <a:avLst/>
          </a:prstGeom>
          <a:noFill/>
          <a:ln>
            <a:noFill/>
          </a:ln>
          <a:effectLst>
            <a:outerShdw blurRad="63500" dist="46662" dir="2115817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9pPr>
          </a:lstStyle>
          <a:p>
            <a:r>
              <a:rPr lang="en-US" altLang="x-none" sz="4000" b="1">
                <a:effectLst/>
              </a:rPr>
              <a:t>Index Laws</a:t>
            </a: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2576514" y="2409826"/>
            <a:ext cx="2969083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2573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7145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1717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 dirty="0">
                <a:latin typeface="Comic Sans MS" charset="0"/>
              </a:rPr>
              <a:t> 	(2x3)</a:t>
            </a:r>
            <a:r>
              <a:rPr lang="en-US" altLang="x-none" baseline="30000" dirty="0">
                <a:latin typeface="Comic Sans MS" charset="0"/>
              </a:rPr>
              <a:t>7</a:t>
            </a:r>
            <a:r>
              <a:rPr lang="en-US" altLang="x-none" dirty="0">
                <a:latin typeface="Comic Sans MS" charset="0"/>
              </a:rPr>
              <a:t> =	2</a:t>
            </a:r>
            <a:r>
              <a:rPr lang="en-US" altLang="x-none" baseline="30000" dirty="0">
                <a:latin typeface="Comic Sans MS" charset="0"/>
              </a:rPr>
              <a:t>7</a:t>
            </a:r>
            <a:r>
              <a:rPr lang="en-US" altLang="x-none" dirty="0">
                <a:latin typeface="Comic Sans MS" charset="0"/>
              </a:rPr>
              <a:t>x3</a:t>
            </a:r>
            <a:r>
              <a:rPr lang="en-US" altLang="x-none" baseline="30000" dirty="0">
                <a:latin typeface="Comic Sans MS" charset="0"/>
              </a:rPr>
              <a:t>7</a:t>
            </a:r>
            <a:endParaRPr lang="en-US" altLang="x-none" dirty="0">
              <a:latin typeface="Comic Sans MS" charset="0"/>
            </a:endParaRP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 dirty="0">
                <a:latin typeface="Comic Sans MS" charset="0"/>
              </a:rPr>
              <a:t> 	(5x2)</a:t>
            </a:r>
            <a:r>
              <a:rPr lang="en-US" altLang="x-none" baseline="30000" dirty="0">
                <a:latin typeface="Comic Sans MS" charset="0"/>
              </a:rPr>
              <a:t>3</a:t>
            </a:r>
            <a:r>
              <a:rPr lang="en-US" altLang="x-none" dirty="0">
                <a:latin typeface="Comic Sans MS" charset="0"/>
              </a:rPr>
              <a:t> =	5</a:t>
            </a:r>
            <a:r>
              <a:rPr lang="en-US" altLang="x-none" baseline="30000" dirty="0">
                <a:latin typeface="Comic Sans MS" charset="0"/>
              </a:rPr>
              <a:t>3</a:t>
            </a:r>
            <a:r>
              <a:rPr lang="en-US" altLang="x-none" dirty="0">
                <a:latin typeface="Comic Sans MS" charset="0"/>
              </a:rPr>
              <a:t>x2</a:t>
            </a:r>
            <a:r>
              <a:rPr lang="en-US" altLang="x-none" baseline="30000" dirty="0">
                <a:latin typeface="Comic Sans MS" charset="0"/>
              </a:rPr>
              <a:t>3</a:t>
            </a: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 dirty="0">
                <a:latin typeface="Comic Sans MS" charset="0"/>
              </a:rPr>
              <a:t> 	(9x5)</a:t>
            </a:r>
            <a:r>
              <a:rPr lang="en-US" altLang="x-none" baseline="30000" dirty="0">
                <a:latin typeface="Comic Sans MS" charset="0"/>
              </a:rPr>
              <a:t>6</a:t>
            </a:r>
            <a:r>
              <a:rPr lang="en-US" altLang="x-none" dirty="0">
                <a:latin typeface="Comic Sans MS" charset="0"/>
              </a:rPr>
              <a:t> =	9</a:t>
            </a:r>
            <a:r>
              <a:rPr lang="en-US" altLang="x-none" baseline="30000" dirty="0">
                <a:latin typeface="Comic Sans MS" charset="0"/>
              </a:rPr>
              <a:t>6</a:t>
            </a:r>
            <a:r>
              <a:rPr lang="en-US" altLang="x-none" dirty="0">
                <a:latin typeface="Comic Sans MS" charset="0"/>
              </a:rPr>
              <a:t>x5</a:t>
            </a:r>
            <a:r>
              <a:rPr lang="en-US" altLang="x-none" baseline="30000" dirty="0">
                <a:latin typeface="Comic Sans MS" charset="0"/>
              </a:rPr>
              <a:t>6</a:t>
            </a: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 dirty="0">
                <a:latin typeface="Comic Sans MS" charset="0"/>
              </a:rPr>
              <a:t> 	(2x6)</a:t>
            </a:r>
            <a:r>
              <a:rPr lang="en-US" altLang="x-none" baseline="30000" dirty="0">
                <a:latin typeface="Comic Sans MS" charset="0"/>
              </a:rPr>
              <a:t>3</a:t>
            </a:r>
            <a:r>
              <a:rPr lang="en-US" altLang="x-none" dirty="0">
                <a:latin typeface="Comic Sans MS" charset="0"/>
              </a:rPr>
              <a:t> =	2</a:t>
            </a:r>
            <a:r>
              <a:rPr lang="en-US" altLang="x-none" baseline="30000" dirty="0">
                <a:latin typeface="Comic Sans MS" charset="0"/>
              </a:rPr>
              <a:t>3</a:t>
            </a:r>
            <a:r>
              <a:rPr lang="en-US" altLang="x-none" dirty="0">
                <a:latin typeface="Comic Sans MS" charset="0"/>
              </a:rPr>
              <a:t>x6</a:t>
            </a:r>
            <a:r>
              <a:rPr lang="en-US" altLang="x-none" baseline="30000" dirty="0">
                <a:latin typeface="Comic Sans MS" charset="0"/>
              </a:rPr>
              <a:t>3</a:t>
            </a: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 dirty="0">
                <a:latin typeface="Comic Sans MS" charset="0"/>
              </a:rPr>
              <a:t> 	(3x7)</a:t>
            </a:r>
            <a:r>
              <a:rPr lang="en-US" altLang="x-none" baseline="30000" dirty="0">
                <a:latin typeface="Comic Sans MS" charset="0"/>
              </a:rPr>
              <a:t>3</a:t>
            </a:r>
            <a:r>
              <a:rPr lang="en-US" altLang="x-none" dirty="0">
                <a:latin typeface="Comic Sans MS" charset="0"/>
              </a:rPr>
              <a:t> =	3</a:t>
            </a:r>
            <a:r>
              <a:rPr lang="en-US" altLang="x-none" baseline="30000" dirty="0">
                <a:latin typeface="Comic Sans MS" charset="0"/>
              </a:rPr>
              <a:t>3</a:t>
            </a:r>
            <a:r>
              <a:rPr lang="en-US" altLang="x-none" dirty="0">
                <a:latin typeface="Comic Sans MS" charset="0"/>
              </a:rPr>
              <a:t>x7</a:t>
            </a:r>
            <a:r>
              <a:rPr lang="en-US" altLang="x-none" baseline="30000" dirty="0">
                <a:latin typeface="Comic Sans MS" charset="0"/>
              </a:rPr>
              <a:t>3</a:t>
            </a:r>
          </a:p>
        </p:txBody>
      </p:sp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6824663" y="2439989"/>
            <a:ext cx="1744388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tabLst>
                <a:tab pos="627063" algn="l"/>
                <a:tab pos="1428750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tabLst>
                <a:tab pos="627063" algn="l"/>
                <a:tab pos="1428750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257300" indent="-342900">
              <a:tabLst>
                <a:tab pos="627063" algn="l"/>
                <a:tab pos="1428750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714500" indent="-342900">
              <a:tabLst>
                <a:tab pos="627063" algn="l"/>
                <a:tab pos="1428750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171700" indent="-342900">
              <a:tabLst>
                <a:tab pos="627063" algn="l"/>
                <a:tab pos="1428750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1428750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1428750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1428750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1428750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2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	=</a:t>
            </a:r>
          </a:p>
          <a:p>
            <a:pPr>
              <a:lnSpc>
                <a:spcPct val="2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	=</a:t>
            </a:r>
            <a:endParaRPr lang="en-US" altLang="x-none" baseline="30000">
              <a:latin typeface="Comic Sans MS" charset="0"/>
            </a:endParaRPr>
          </a:p>
          <a:p>
            <a:pPr>
              <a:lnSpc>
                <a:spcPct val="2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	=</a:t>
            </a:r>
            <a:endParaRPr lang="en-US" altLang="x-none" baseline="30000">
              <a:latin typeface="Comic Sans MS" charset="0"/>
            </a:endParaRPr>
          </a:p>
        </p:txBody>
      </p:sp>
      <p:sp>
        <p:nvSpPr>
          <p:cNvPr id="55315" name="Oval 19"/>
          <p:cNvSpPr>
            <a:spLocks noChangeArrowheads="1"/>
          </p:cNvSpPr>
          <p:nvPr/>
        </p:nvSpPr>
        <p:spPr bwMode="auto">
          <a:xfrm>
            <a:off x="4739313" y="3304028"/>
            <a:ext cx="792896" cy="401636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6" name="Oval 20"/>
          <p:cNvSpPr>
            <a:spLocks noChangeArrowheads="1"/>
          </p:cNvSpPr>
          <p:nvPr/>
        </p:nvSpPr>
        <p:spPr bwMode="auto">
          <a:xfrm>
            <a:off x="4663738" y="2861313"/>
            <a:ext cx="944047" cy="568324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7" name="Oval 21"/>
          <p:cNvSpPr>
            <a:spLocks noChangeArrowheads="1"/>
          </p:cNvSpPr>
          <p:nvPr/>
        </p:nvSpPr>
        <p:spPr bwMode="auto">
          <a:xfrm>
            <a:off x="4634528" y="2439989"/>
            <a:ext cx="1110120" cy="512476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8" name="Oval 22"/>
          <p:cNvSpPr>
            <a:spLocks noChangeArrowheads="1"/>
          </p:cNvSpPr>
          <p:nvPr/>
        </p:nvSpPr>
        <p:spPr bwMode="auto">
          <a:xfrm>
            <a:off x="4677125" y="3670700"/>
            <a:ext cx="807184" cy="487361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9" name="Oval 23"/>
          <p:cNvSpPr>
            <a:spLocks noChangeArrowheads="1"/>
          </p:cNvSpPr>
          <p:nvPr/>
        </p:nvSpPr>
        <p:spPr bwMode="auto">
          <a:xfrm>
            <a:off x="4634528" y="4129662"/>
            <a:ext cx="944047" cy="37804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20" name="Text Box 24"/>
          <p:cNvSpPr txBox="1">
            <a:spLocks noChangeArrowheads="1"/>
          </p:cNvSpPr>
          <p:nvPr/>
        </p:nvSpPr>
        <p:spPr bwMode="auto">
          <a:xfrm>
            <a:off x="2507458" y="763588"/>
            <a:ext cx="5969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800" b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endParaRPr lang="en-US" altLang="x-none" sz="4800" b="1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5321" name="Text Box 25"/>
          <p:cNvSpPr txBox="1">
            <a:spLocks noChangeArrowheads="1"/>
          </p:cNvSpPr>
          <p:nvPr/>
        </p:nvSpPr>
        <p:spPr bwMode="auto">
          <a:xfrm>
            <a:off x="6919122" y="631031"/>
            <a:ext cx="5969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</a:t>
            </a:r>
            <a:endParaRPr lang="en-US" altLang="x-none" sz="4800" b="1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5323" name="Text Box 27"/>
          <p:cNvSpPr txBox="1">
            <a:spLocks noChangeArrowheads="1"/>
          </p:cNvSpPr>
          <p:nvPr/>
        </p:nvSpPr>
        <p:spPr bwMode="auto">
          <a:xfrm>
            <a:off x="2908300" y="1555750"/>
            <a:ext cx="1327608" cy="369332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chemeClr val="bg1"/>
                </a:solidFill>
              </a:rPr>
              <a:t>(ab)</a:t>
            </a:r>
            <a:r>
              <a:rPr lang="en-US" altLang="x-none" b="1" baseline="30000">
                <a:solidFill>
                  <a:schemeClr val="bg1"/>
                </a:solidFill>
              </a:rPr>
              <a:t>n</a:t>
            </a:r>
            <a:r>
              <a:rPr lang="en-US" altLang="x-none" b="1">
                <a:solidFill>
                  <a:schemeClr val="bg1"/>
                </a:solidFill>
              </a:rPr>
              <a:t> = a</a:t>
            </a:r>
            <a:r>
              <a:rPr lang="en-US" altLang="x-none" b="1" baseline="30000">
                <a:solidFill>
                  <a:schemeClr val="bg1"/>
                </a:solidFill>
              </a:rPr>
              <a:t>n</a:t>
            </a:r>
            <a:r>
              <a:rPr lang="en-US" altLang="x-none" b="1">
                <a:solidFill>
                  <a:schemeClr val="bg1"/>
                </a:solidFill>
              </a:rPr>
              <a:t> b</a:t>
            </a:r>
            <a:r>
              <a:rPr lang="en-US" altLang="x-none" b="1" baseline="30000">
                <a:solidFill>
                  <a:schemeClr val="bg1"/>
                </a:solidFill>
              </a:rPr>
              <a:t>n</a:t>
            </a:r>
            <a:endParaRPr lang="en-US" altLang="x-none" b="1">
              <a:solidFill>
                <a:schemeClr val="bg1"/>
              </a:solidFill>
            </a:endParaRPr>
          </a:p>
        </p:txBody>
      </p:sp>
      <p:sp>
        <p:nvSpPr>
          <p:cNvPr id="55324" name="Text Box 28"/>
          <p:cNvSpPr txBox="1">
            <a:spLocks noChangeArrowheads="1"/>
          </p:cNvSpPr>
          <p:nvPr/>
        </p:nvSpPr>
        <p:spPr bwMode="auto">
          <a:xfrm>
            <a:off x="8401050" y="1339851"/>
            <a:ext cx="7064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b="1" u="sng">
                <a:solidFill>
                  <a:schemeClr val="bg1"/>
                </a:solidFill>
              </a:rPr>
              <a:t>a</a:t>
            </a:r>
            <a:r>
              <a:rPr lang="en-US" altLang="x-none" b="1" baseline="30000">
                <a:solidFill>
                  <a:schemeClr val="bg1"/>
                </a:solidFill>
              </a:rPr>
              <a:t>n</a:t>
            </a:r>
            <a:endParaRPr lang="en-US" altLang="x-none" b="1" u="sng">
              <a:solidFill>
                <a:schemeClr val="bg1"/>
              </a:solidFill>
            </a:endParaRPr>
          </a:p>
          <a:p>
            <a:r>
              <a:rPr lang="en-US" altLang="x-none" b="1">
                <a:solidFill>
                  <a:schemeClr val="bg1"/>
                </a:solidFill>
              </a:rPr>
              <a:t>b</a:t>
            </a:r>
            <a:r>
              <a:rPr lang="en-US" altLang="x-none" b="1" baseline="30000">
                <a:solidFill>
                  <a:schemeClr val="bg1"/>
                </a:solidFill>
              </a:rPr>
              <a:t>n</a:t>
            </a:r>
            <a:endParaRPr lang="en-US" altLang="x-none" b="1">
              <a:solidFill>
                <a:schemeClr val="bg1"/>
              </a:solidFill>
            </a:endParaRPr>
          </a:p>
        </p:txBody>
      </p:sp>
      <p:grpSp>
        <p:nvGrpSpPr>
          <p:cNvPr id="55325" name="Group 29"/>
          <p:cNvGrpSpPr>
            <a:grpSpLocks/>
          </p:cNvGrpSpPr>
          <p:nvPr/>
        </p:nvGrpSpPr>
        <p:grpSpPr bwMode="auto">
          <a:xfrm>
            <a:off x="7319964" y="1347788"/>
            <a:ext cx="876300" cy="1073150"/>
            <a:chOff x="1247" y="2709"/>
            <a:chExt cx="552" cy="676"/>
          </a:xfrm>
        </p:grpSpPr>
        <p:sp>
          <p:nvSpPr>
            <p:cNvPr id="55326" name="Text Box 30"/>
            <p:cNvSpPr txBox="1">
              <a:spLocks noChangeArrowheads="1"/>
            </p:cNvSpPr>
            <p:nvPr/>
          </p:nvSpPr>
          <p:spPr bwMode="auto">
            <a:xfrm>
              <a:off x="1247" y="2713"/>
              <a:ext cx="19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x-none" b="1" u="sng">
                  <a:solidFill>
                    <a:schemeClr val="bg1"/>
                  </a:solidFill>
                </a:rPr>
                <a:t>a</a:t>
              </a:r>
              <a:endParaRPr lang="en-US" altLang="x-none" b="1" u="sng" baseline="30000">
                <a:solidFill>
                  <a:schemeClr val="bg1"/>
                </a:solidFill>
              </a:endParaRPr>
            </a:p>
            <a:p>
              <a:r>
                <a:rPr lang="en-US" altLang="x-none" b="1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55327" name="Text Box 31"/>
            <p:cNvSpPr txBox="1">
              <a:spLocks noChangeArrowheads="1"/>
            </p:cNvSpPr>
            <p:nvPr/>
          </p:nvSpPr>
          <p:spPr bwMode="auto">
            <a:xfrm>
              <a:off x="1491" y="2709"/>
              <a:ext cx="16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x-none" b="1" baseline="30000">
                  <a:solidFill>
                    <a:schemeClr val="bg1"/>
                  </a:solidFill>
                </a:rPr>
                <a:t>n</a:t>
              </a:r>
              <a:endParaRPr lang="en-US" altLang="x-none" b="1">
                <a:solidFill>
                  <a:schemeClr val="bg1"/>
                </a:solidFill>
              </a:endParaRPr>
            </a:p>
          </p:txBody>
        </p:sp>
        <p:sp>
          <p:nvSpPr>
            <p:cNvPr id="55328" name="Text Box 32"/>
            <p:cNvSpPr txBox="1">
              <a:spLocks noChangeArrowheads="1"/>
            </p:cNvSpPr>
            <p:nvPr/>
          </p:nvSpPr>
          <p:spPr bwMode="auto">
            <a:xfrm>
              <a:off x="1610" y="2884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x-none" b="1">
                  <a:solidFill>
                    <a:schemeClr val="bg1"/>
                  </a:solidFill>
                </a:rPr>
                <a:t>=</a:t>
              </a:r>
            </a:p>
          </p:txBody>
        </p:sp>
        <p:sp>
          <p:nvSpPr>
            <p:cNvPr id="55329" name="AutoShape 33"/>
            <p:cNvSpPr>
              <a:spLocks noChangeArrowheads="1"/>
            </p:cNvSpPr>
            <p:nvPr/>
          </p:nvSpPr>
          <p:spPr bwMode="auto">
            <a:xfrm>
              <a:off x="1247" y="2795"/>
              <a:ext cx="272" cy="590"/>
            </a:xfrm>
            <a:prstGeom prst="bracketPair">
              <a:avLst>
                <a:gd name="adj" fmla="val 16667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 b="1">
                <a:solidFill>
                  <a:schemeClr val="bg1"/>
                </a:solidFill>
              </a:endParaRPr>
            </a:p>
          </p:txBody>
        </p:sp>
      </p:grpSp>
      <p:sp>
        <p:nvSpPr>
          <p:cNvPr id="55334" name="Text Box 38"/>
          <p:cNvSpPr txBox="1">
            <a:spLocks noChangeArrowheads="1"/>
          </p:cNvSpPr>
          <p:nvPr/>
        </p:nvSpPr>
        <p:spPr bwMode="auto">
          <a:xfrm>
            <a:off x="7732683" y="2790826"/>
            <a:ext cx="3016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u="sng"/>
              <a:t>2</a:t>
            </a:r>
          </a:p>
          <a:p>
            <a:pPr algn="ctr"/>
            <a:r>
              <a:rPr lang="en-US" altLang="x-none"/>
              <a:t>3</a:t>
            </a:r>
          </a:p>
        </p:txBody>
      </p:sp>
      <p:sp>
        <p:nvSpPr>
          <p:cNvPr id="55335" name="AutoShape 39"/>
          <p:cNvSpPr>
            <a:spLocks noChangeArrowheads="1"/>
          </p:cNvSpPr>
          <p:nvPr/>
        </p:nvSpPr>
        <p:spPr bwMode="auto">
          <a:xfrm>
            <a:off x="7607301" y="2863850"/>
            <a:ext cx="506413" cy="935038"/>
          </a:xfrm>
          <a:prstGeom prst="bracketPair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36" name="Text Box 40"/>
          <p:cNvSpPr txBox="1">
            <a:spLocks noChangeArrowheads="1"/>
          </p:cNvSpPr>
          <p:nvPr/>
        </p:nvSpPr>
        <p:spPr bwMode="auto">
          <a:xfrm>
            <a:off x="8061325" y="2754313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4</a:t>
            </a:r>
          </a:p>
        </p:txBody>
      </p:sp>
      <p:sp>
        <p:nvSpPr>
          <p:cNvPr id="55337" name="Text Box 41"/>
          <p:cNvSpPr txBox="1">
            <a:spLocks noChangeArrowheads="1"/>
          </p:cNvSpPr>
          <p:nvPr/>
        </p:nvSpPr>
        <p:spPr bwMode="auto">
          <a:xfrm>
            <a:off x="7674173" y="4016376"/>
            <a:ext cx="4187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u="sng"/>
              <a:t>3</a:t>
            </a:r>
          </a:p>
          <a:p>
            <a:pPr algn="ctr"/>
            <a:r>
              <a:rPr lang="en-US" altLang="x-none"/>
              <a:t>11</a:t>
            </a:r>
          </a:p>
        </p:txBody>
      </p:sp>
      <p:sp>
        <p:nvSpPr>
          <p:cNvPr id="55338" name="AutoShape 42"/>
          <p:cNvSpPr>
            <a:spLocks noChangeArrowheads="1"/>
          </p:cNvSpPr>
          <p:nvPr/>
        </p:nvSpPr>
        <p:spPr bwMode="auto">
          <a:xfrm>
            <a:off x="7608888" y="4089400"/>
            <a:ext cx="506412" cy="935038"/>
          </a:xfrm>
          <a:prstGeom prst="bracketPair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39" name="Text Box 43"/>
          <p:cNvSpPr txBox="1">
            <a:spLocks noChangeArrowheads="1"/>
          </p:cNvSpPr>
          <p:nvPr/>
        </p:nvSpPr>
        <p:spPr bwMode="auto">
          <a:xfrm>
            <a:off x="8062913" y="3979863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2</a:t>
            </a:r>
          </a:p>
        </p:txBody>
      </p:sp>
      <p:sp>
        <p:nvSpPr>
          <p:cNvPr id="55340" name="Text Box 44"/>
          <p:cNvSpPr txBox="1">
            <a:spLocks noChangeArrowheads="1"/>
          </p:cNvSpPr>
          <p:nvPr/>
        </p:nvSpPr>
        <p:spPr bwMode="auto">
          <a:xfrm>
            <a:off x="7678142" y="5240339"/>
            <a:ext cx="4187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u="sng"/>
              <a:t>12</a:t>
            </a:r>
          </a:p>
          <a:p>
            <a:pPr algn="ctr"/>
            <a:r>
              <a:rPr lang="en-US" altLang="x-none"/>
              <a:t>13</a:t>
            </a:r>
          </a:p>
        </p:txBody>
      </p:sp>
      <p:sp>
        <p:nvSpPr>
          <p:cNvPr id="55341" name="AutoShape 45"/>
          <p:cNvSpPr>
            <a:spLocks noChangeArrowheads="1"/>
          </p:cNvSpPr>
          <p:nvPr/>
        </p:nvSpPr>
        <p:spPr bwMode="auto">
          <a:xfrm>
            <a:off x="7610476" y="5313364"/>
            <a:ext cx="506413" cy="935037"/>
          </a:xfrm>
          <a:prstGeom prst="bracketPair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42" name="Text Box 46"/>
          <p:cNvSpPr txBox="1">
            <a:spLocks noChangeArrowheads="1"/>
          </p:cNvSpPr>
          <p:nvPr/>
        </p:nvSpPr>
        <p:spPr bwMode="auto">
          <a:xfrm>
            <a:off x="8064500" y="5203825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5</a:t>
            </a:r>
          </a:p>
        </p:txBody>
      </p:sp>
      <p:sp>
        <p:nvSpPr>
          <p:cNvPr id="55343" name="Text Box 47"/>
          <p:cNvSpPr txBox="1">
            <a:spLocks noChangeArrowheads="1"/>
          </p:cNvSpPr>
          <p:nvPr/>
        </p:nvSpPr>
        <p:spPr bwMode="auto">
          <a:xfrm>
            <a:off x="8809008" y="2790826"/>
            <a:ext cx="3016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u="sng"/>
              <a:t>2</a:t>
            </a:r>
          </a:p>
          <a:p>
            <a:pPr algn="ctr"/>
            <a:r>
              <a:rPr lang="en-US" altLang="x-none"/>
              <a:t>3</a:t>
            </a:r>
          </a:p>
        </p:txBody>
      </p:sp>
      <p:sp>
        <p:nvSpPr>
          <p:cNvPr id="55345" name="Text Box 49"/>
          <p:cNvSpPr txBox="1">
            <a:spLocks noChangeArrowheads="1"/>
          </p:cNvSpPr>
          <p:nvPr/>
        </p:nvSpPr>
        <p:spPr bwMode="auto">
          <a:xfrm>
            <a:off x="8996363" y="2754313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4</a:t>
            </a:r>
          </a:p>
        </p:txBody>
      </p:sp>
      <p:sp>
        <p:nvSpPr>
          <p:cNvPr id="55346" name="Text Box 50"/>
          <p:cNvSpPr txBox="1">
            <a:spLocks noChangeArrowheads="1"/>
          </p:cNvSpPr>
          <p:nvPr/>
        </p:nvSpPr>
        <p:spPr bwMode="auto">
          <a:xfrm>
            <a:off x="8750498" y="4016376"/>
            <a:ext cx="4187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u="sng"/>
              <a:t>3</a:t>
            </a:r>
          </a:p>
          <a:p>
            <a:pPr algn="ctr"/>
            <a:r>
              <a:rPr lang="en-US" altLang="x-none"/>
              <a:t>11</a:t>
            </a:r>
          </a:p>
        </p:txBody>
      </p:sp>
      <p:sp>
        <p:nvSpPr>
          <p:cNvPr id="55348" name="Text Box 52"/>
          <p:cNvSpPr txBox="1">
            <a:spLocks noChangeArrowheads="1"/>
          </p:cNvSpPr>
          <p:nvPr/>
        </p:nvSpPr>
        <p:spPr bwMode="auto">
          <a:xfrm>
            <a:off x="8975725" y="3979863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2</a:t>
            </a:r>
          </a:p>
        </p:txBody>
      </p:sp>
      <p:sp>
        <p:nvSpPr>
          <p:cNvPr id="55349" name="Text Box 53"/>
          <p:cNvSpPr txBox="1">
            <a:spLocks noChangeArrowheads="1"/>
          </p:cNvSpPr>
          <p:nvPr/>
        </p:nvSpPr>
        <p:spPr bwMode="auto">
          <a:xfrm>
            <a:off x="8754467" y="5240339"/>
            <a:ext cx="4187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u="sng"/>
              <a:t>12</a:t>
            </a:r>
          </a:p>
          <a:p>
            <a:pPr algn="ctr"/>
            <a:r>
              <a:rPr lang="en-US" altLang="x-none"/>
              <a:t>13</a:t>
            </a:r>
          </a:p>
        </p:txBody>
      </p:sp>
      <p:sp>
        <p:nvSpPr>
          <p:cNvPr id="55351" name="Text Box 55"/>
          <p:cNvSpPr txBox="1">
            <a:spLocks noChangeArrowheads="1"/>
          </p:cNvSpPr>
          <p:nvPr/>
        </p:nvSpPr>
        <p:spPr bwMode="auto">
          <a:xfrm>
            <a:off x="9069388" y="5203825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5</a:t>
            </a:r>
          </a:p>
        </p:txBody>
      </p:sp>
      <p:sp>
        <p:nvSpPr>
          <p:cNvPr id="55352" name="Text Box 56"/>
          <p:cNvSpPr txBox="1">
            <a:spLocks noChangeArrowheads="1"/>
          </p:cNvSpPr>
          <p:nvPr/>
        </p:nvSpPr>
        <p:spPr bwMode="auto">
          <a:xfrm>
            <a:off x="8996363" y="3244850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4</a:t>
            </a:r>
          </a:p>
        </p:txBody>
      </p:sp>
      <p:sp>
        <p:nvSpPr>
          <p:cNvPr id="55353" name="Text Box 57"/>
          <p:cNvSpPr txBox="1">
            <a:spLocks noChangeArrowheads="1"/>
          </p:cNvSpPr>
          <p:nvPr/>
        </p:nvSpPr>
        <p:spPr bwMode="auto">
          <a:xfrm>
            <a:off x="9048750" y="4397375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2</a:t>
            </a:r>
          </a:p>
        </p:txBody>
      </p:sp>
      <p:sp>
        <p:nvSpPr>
          <p:cNvPr id="55354" name="Text Box 58"/>
          <p:cNvSpPr txBox="1">
            <a:spLocks noChangeArrowheads="1"/>
          </p:cNvSpPr>
          <p:nvPr/>
        </p:nvSpPr>
        <p:spPr bwMode="auto">
          <a:xfrm>
            <a:off x="9069388" y="5657850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5</a:t>
            </a:r>
          </a:p>
        </p:txBody>
      </p:sp>
      <p:sp>
        <p:nvSpPr>
          <p:cNvPr id="55312" name="Oval 16"/>
          <p:cNvSpPr>
            <a:spLocks noChangeArrowheads="1"/>
          </p:cNvSpPr>
          <p:nvPr/>
        </p:nvSpPr>
        <p:spPr bwMode="auto">
          <a:xfrm>
            <a:off x="8631239" y="2692400"/>
            <a:ext cx="835025" cy="115093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55" name="Oval 59"/>
          <p:cNvSpPr>
            <a:spLocks noChangeArrowheads="1"/>
          </p:cNvSpPr>
          <p:nvPr/>
        </p:nvSpPr>
        <p:spPr bwMode="auto">
          <a:xfrm>
            <a:off x="8616951" y="3932239"/>
            <a:ext cx="835025" cy="1150937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56" name="Oval 60"/>
          <p:cNvSpPr>
            <a:spLocks noChangeArrowheads="1"/>
          </p:cNvSpPr>
          <p:nvPr/>
        </p:nvSpPr>
        <p:spPr bwMode="auto">
          <a:xfrm>
            <a:off x="8645526" y="5157789"/>
            <a:ext cx="835025" cy="1150937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664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3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" dur="1"/>
                                        <p:tgtEl>
                                          <p:spTgt spid="553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3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5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" dur="1"/>
                                        <p:tgtEl>
                                          <p:spTgt spid="553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3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 nodeType="clickPar">
                      <p:stCondLst>
                        <p:cond delay="0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" dur="1"/>
                                        <p:tgtEl>
                                          <p:spTgt spid="553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3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5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 nodeType="clickPar">
                      <p:stCondLst>
                        <p:cond delay="0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4" dur="1"/>
                                        <p:tgtEl>
                                          <p:spTgt spid="553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31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5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0" dur="1"/>
                                        <p:tgtEl>
                                          <p:spTgt spid="553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31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53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6" dur="1"/>
                                        <p:tgtEl>
                                          <p:spTgt spid="553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31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5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 nodeType="clickPar">
                      <p:stCondLst>
                        <p:cond delay="0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2" dur="1"/>
                                        <p:tgtEl>
                                          <p:spTgt spid="5535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355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5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8" dur="1"/>
                                        <p:tgtEl>
                                          <p:spTgt spid="5535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356"/>
                  </p:tgtEl>
                </p:cond>
              </p:nextCondLst>
            </p:seq>
          </p:childTnLst>
        </p:cTn>
      </p:par>
    </p:tnLst>
    <p:bldLst>
      <p:bldP spid="55315" grpId="0" animBg="1"/>
      <p:bldP spid="55316" grpId="0" animBg="1"/>
      <p:bldP spid="55317" grpId="0" animBg="1"/>
      <p:bldP spid="55318" grpId="0" animBg="1"/>
      <p:bldP spid="55319" grpId="0" animBg="1"/>
      <p:bldP spid="55312" grpId="0" animBg="1"/>
      <p:bldP spid="55355" grpId="0" animBg="1"/>
      <p:bldP spid="553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D6F16-3A4B-364F-9ED1-330FDBB43EE6}" type="slidenum">
              <a:rPr lang="en-US" altLang="x-none"/>
              <a:pPr/>
              <a:t>15</a:t>
            </a:fld>
            <a:endParaRPr lang="en-US" altLang="x-none"/>
          </a:p>
        </p:txBody>
      </p:sp>
      <p:sp>
        <p:nvSpPr>
          <p:cNvPr id="56366" name="Rectangle 46"/>
          <p:cNvSpPr>
            <a:spLocks noChangeArrowheads="1"/>
          </p:cNvSpPr>
          <p:nvPr/>
        </p:nvSpPr>
        <p:spPr bwMode="auto">
          <a:xfrm>
            <a:off x="7535863" y="1412876"/>
            <a:ext cx="1655762" cy="9366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4476751" y="44451"/>
            <a:ext cx="3203575" cy="720725"/>
          </a:xfrm>
          <a:prstGeom prst="rect">
            <a:avLst/>
          </a:prstGeom>
          <a:noFill/>
          <a:ln>
            <a:noFill/>
          </a:ln>
          <a:effectLst>
            <a:outerShdw blurRad="63500" dist="46662" dir="2115817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ea typeface="Arial" charset="0"/>
                <a:cs typeface="Arial" charset="0"/>
              </a:defRPr>
            </a:lvl9pPr>
          </a:lstStyle>
          <a:p>
            <a:r>
              <a:rPr lang="en-US" altLang="x-none" sz="4000" b="1">
                <a:effectLst/>
              </a:rPr>
              <a:t>Index Laws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2932113" y="2409826"/>
            <a:ext cx="2502608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2573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7145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171700" indent="-342900"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2155825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3</a:t>
            </a:r>
            <a:r>
              <a:rPr lang="en-US" altLang="x-none" baseline="30000">
                <a:latin typeface="Comic Sans MS" charset="0"/>
              </a:rPr>
              <a:t>0</a:t>
            </a:r>
            <a:r>
              <a:rPr lang="en-US" altLang="x-none">
                <a:latin typeface="Comic Sans MS" charset="0"/>
              </a:rPr>
              <a:t> =	1</a:t>
            </a: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52</a:t>
            </a:r>
            <a:r>
              <a:rPr lang="en-US" altLang="x-none" baseline="30000">
                <a:latin typeface="Comic Sans MS" charset="0"/>
              </a:rPr>
              <a:t>0</a:t>
            </a:r>
            <a:r>
              <a:rPr lang="en-US" altLang="x-none">
                <a:latin typeface="Comic Sans MS" charset="0"/>
              </a:rPr>
              <a:t> =	1</a:t>
            </a:r>
            <a:endParaRPr lang="en-US" altLang="x-none" baseline="30000">
              <a:latin typeface="Comic Sans MS" charset="0"/>
            </a:endParaRP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9</a:t>
            </a:r>
            <a:r>
              <a:rPr lang="en-US" altLang="x-none" baseline="30000">
                <a:latin typeface="Comic Sans MS" charset="0"/>
              </a:rPr>
              <a:t>0</a:t>
            </a:r>
            <a:r>
              <a:rPr lang="en-US" altLang="x-none">
                <a:latin typeface="Comic Sans MS" charset="0"/>
              </a:rPr>
              <a:t>x5</a:t>
            </a:r>
            <a:r>
              <a:rPr lang="en-US" altLang="x-none" baseline="30000">
                <a:latin typeface="Comic Sans MS" charset="0"/>
              </a:rPr>
              <a:t>0</a:t>
            </a:r>
            <a:r>
              <a:rPr lang="en-US" altLang="x-none">
                <a:latin typeface="Comic Sans MS" charset="0"/>
              </a:rPr>
              <a:t> =	1</a:t>
            </a:r>
            <a:endParaRPr lang="en-US" altLang="x-none" baseline="30000">
              <a:latin typeface="Comic Sans MS" charset="0"/>
            </a:endParaRP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2x6</a:t>
            </a:r>
            <a:r>
              <a:rPr lang="en-US" altLang="x-none" baseline="30000">
                <a:latin typeface="Comic Sans MS" charset="0"/>
              </a:rPr>
              <a:t>0</a:t>
            </a:r>
            <a:r>
              <a:rPr lang="en-US" altLang="x-none">
                <a:latin typeface="Comic Sans MS" charset="0"/>
              </a:rPr>
              <a:t> =	2</a:t>
            </a:r>
            <a:endParaRPr lang="en-US" altLang="x-none" baseline="30000">
              <a:latin typeface="Comic Sans MS" charset="0"/>
            </a:endParaRPr>
          </a:p>
          <a:p>
            <a:pPr>
              <a:lnSpc>
                <a:spcPct val="1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3</a:t>
            </a:r>
            <a:r>
              <a:rPr lang="en-US" altLang="x-none" baseline="30000">
                <a:latin typeface="Comic Sans MS" charset="0"/>
              </a:rPr>
              <a:t>0</a:t>
            </a:r>
            <a:r>
              <a:rPr lang="en-US" altLang="x-none">
                <a:latin typeface="Comic Sans MS" charset="0"/>
              </a:rPr>
              <a:t>x7 =	7</a:t>
            </a:r>
            <a:endParaRPr lang="en-US" altLang="x-none" baseline="30000">
              <a:latin typeface="Comic Sans MS" charset="0"/>
            </a:endParaRP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7175501" y="2439989"/>
            <a:ext cx="1390445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tabLst>
                <a:tab pos="627063" algn="l"/>
                <a:tab pos="1077913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tabLst>
                <a:tab pos="627063" algn="l"/>
                <a:tab pos="1077913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257300" indent="-342900">
              <a:tabLst>
                <a:tab pos="627063" algn="l"/>
                <a:tab pos="1077913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714500" indent="-342900">
              <a:tabLst>
                <a:tab pos="627063" algn="l"/>
                <a:tab pos="1077913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171700" indent="-342900">
              <a:tabLst>
                <a:tab pos="627063" algn="l"/>
                <a:tab pos="1077913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1077913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1077913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1077913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627063" algn="l"/>
                <a:tab pos="1077913" algn="l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2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3	=</a:t>
            </a:r>
          </a:p>
          <a:p>
            <a:pPr>
              <a:lnSpc>
                <a:spcPct val="2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5	=</a:t>
            </a:r>
            <a:endParaRPr lang="en-US" altLang="x-none" baseline="30000">
              <a:latin typeface="Comic Sans MS" charset="0"/>
            </a:endParaRPr>
          </a:p>
          <a:p>
            <a:pPr>
              <a:lnSpc>
                <a:spcPct val="250000"/>
              </a:lnSpc>
              <a:buFontTx/>
              <a:buAutoNum type="alphaLcParenR"/>
            </a:pPr>
            <a:r>
              <a:rPr lang="en-US" altLang="x-none">
                <a:latin typeface="Comic Sans MS" charset="0"/>
              </a:rPr>
              <a:t> 	7	=</a:t>
            </a:r>
            <a:endParaRPr lang="en-US" altLang="x-none" baseline="30000">
              <a:latin typeface="Comic Sans MS" charset="0"/>
            </a:endParaRP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2701927" y="692151"/>
            <a:ext cx="5969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800" b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endParaRPr lang="en-US" altLang="x-none" sz="4800" b="1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7202542" y="660774"/>
            <a:ext cx="5969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endParaRPr lang="en-US" altLang="x-none" sz="4800" b="1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349" name="Text Box 29"/>
          <p:cNvSpPr txBox="1">
            <a:spLocks noChangeArrowheads="1"/>
          </p:cNvSpPr>
          <p:nvPr/>
        </p:nvSpPr>
        <p:spPr bwMode="auto">
          <a:xfrm>
            <a:off x="8735958" y="2506339"/>
            <a:ext cx="3016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u="sng"/>
              <a:t>1</a:t>
            </a:r>
          </a:p>
          <a:p>
            <a:pPr algn="ctr"/>
            <a:r>
              <a:rPr lang="en-US" altLang="x-none" dirty="0"/>
              <a:t>3</a:t>
            </a:r>
          </a:p>
        </p:txBody>
      </p:sp>
      <p:sp>
        <p:nvSpPr>
          <p:cNvPr id="56351" name="Text Box 31"/>
          <p:cNvSpPr txBox="1">
            <a:spLocks noChangeArrowheads="1"/>
          </p:cNvSpPr>
          <p:nvPr/>
        </p:nvSpPr>
        <p:spPr bwMode="auto">
          <a:xfrm>
            <a:off x="8735957" y="3216007"/>
            <a:ext cx="3016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u="sng"/>
              <a:t>1</a:t>
            </a:r>
          </a:p>
          <a:p>
            <a:pPr algn="ctr"/>
            <a:r>
              <a:rPr lang="en-US" altLang="x-none" dirty="0"/>
              <a:t>5</a:t>
            </a:r>
          </a:p>
        </p:txBody>
      </p:sp>
      <p:sp>
        <p:nvSpPr>
          <p:cNvPr id="56353" name="Text Box 33"/>
          <p:cNvSpPr txBox="1">
            <a:spLocks noChangeArrowheads="1"/>
          </p:cNvSpPr>
          <p:nvPr/>
        </p:nvSpPr>
        <p:spPr bwMode="auto">
          <a:xfrm>
            <a:off x="8726428" y="3949832"/>
            <a:ext cx="3016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u="sng"/>
              <a:t>1</a:t>
            </a:r>
          </a:p>
          <a:p>
            <a:pPr algn="ctr"/>
            <a:r>
              <a:rPr lang="en-US" altLang="x-none" dirty="0"/>
              <a:t>7</a:t>
            </a:r>
          </a:p>
        </p:txBody>
      </p:sp>
      <p:sp>
        <p:nvSpPr>
          <p:cNvPr id="56355" name="Text Box 35"/>
          <p:cNvSpPr txBox="1">
            <a:spLocks noChangeArrowheads="1"/>
          </p:cNvSpPr>
          <p:nvPr/>
        </p:nvSpPr>
        <p:spPr bwMode="auto">
          <a:xfrm>
            <a:off x="8905617" y="2689646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4</a:t>
            </a:r>
          </a:p>
        </p:txBody>
      </p:sp>
      <p:sp>
        <p:nvSpPr>
          <p:cNvPr id="56356" name="Text Box 36"/>
          <p:cNvSpPr txBox="1">
            <a:spLocks noChangeArrowheads="1"/>
          </p:cNvSpPr>
          <p:nvPr/>
        </p:nvSpPr>
        <p:spPr bwMode="auto">
          <a:xfrm>
            <a:off x="8880387" y="4109688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 dirty="0"/>
              <a:t>6</a:t>
            </a:r>
          </a:p>
        </p:txBody>
      </p:sp>
      <p:sp>
        <p:nvSpPr>
          <p:cNvPr id="56357" name="Text Box 37"/>
          <p:cNvSpPr txBox="1">
            <a:spLocks noChangeArrowheads="1"/>
          </p:cNvSpPr>
          <p:nvPr/>
        </p:nvSpPr>
        <p:spPr bwMode="auto">
          <a:xfrm>
            <a:off x="8886799" y="3367861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3</a:t>
            </a:r>
          </a:p>
        </p:txBody>
      </p:sp>
      <p:sp>
        <p:nvSpPr>
          <p:cNvPr id="56361" name="Text Box 41"/>
          <p:cNvSpPr txBox="1">
            <a:spLocks noChangeArrowheads="1"/>
          </p:cNvSpPr>
          <p:nvPr/>
        </p:nvSpPr>
        <p:spPr bwMode="auto">
          <a:xfrm>
            <a:off x="3432176" y="1412875"/>
            <a:ext cx="1655763" cy="73866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endParaRPr lang="en-US" altLang="x-none" sz="1200" b="1"/>
          </a:p>
          <a:p>
            <a:pPr algn="ctr"/>
            <a:r>
              <a:rPr lang="en-US" altLang="x-none" b="1"/>
              <a:t>a</a:t>
            </a:r>
            <a:r>
              <a:rPr lang="en-US" altLang="x-none" b="1" baseline="30000"/>
              <a:t>0</a:t>
            </a:r>
            <a:r>
              <a:rPr lang="en-US" altLang="x-none" b="1"/>
              <a:t> = 1</a:t>
            </a:r>
          </a:p>
          <a:p>
            <a:pPr algn="ctr"/>
            <a:endParaRPr lang="en-US" altLang="x-none" sz="1200" b="1"/>
          </a:p>
        </p:txBody>
      </p:sp>
      <p:sp>
        <p:nvSpPr>
          <p:cNvPr id="56362" name="Text Box 42"/>
          <p:cNvSpPr txBox="1">
            <a:spLocks noChangeArrowheads="1"/>
          </p:cNvSpPr>
          <p:nvPr/>
        </p:nvSpPr>
        <p:spPr bwMode="auto">
          <a:xfrm>
            <a:off x="7543800" y="1617663"/>
            <a:ext cx="5966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/>
              <a:t>a</a:t>
            </a:r>
            <a:r>
              <a:rPr lang="en-US" altLang="x-none" b="1" baseline="30000"/>
              <a:t>-n</a:t>
            </a:r>
            <a:r>
              <a:rPr lang="en-US" altLang="x-none" b="1"/>
              <a:t> =</a:t>
            </a:r>
          </a:p>
        </p:txBody>
      </p:sp>
      <p:grpSp>
        <p:nvGrpSpPr>
          <p:cNvPr id="56363" name="Group 43"/>
          <p:cNvGrpSpPr>
            <a:grpSpLocks/>
          </p:cNvGrpSpPr>
          <p:nvPr/>
        </p:nvGrpSpPr>
        <p:grpSpPr bwMode="auto">
          <a:xfrm>
            <a:off x="8655055" y="1384304"/>
            <a:ext cx="382588" cy="646113"/>
            <a:chOff x="2024" y="2595"/>
            <a:chExt cx="241" cy="407"/>
          </a:xfrm>
        </p:grpSpPr>
        <p:sp>
          <p:nvSpPr>
            <p:cNvPr id="56364" name="Text Box 44"/>
            <p:cNvSpPr txBox="1">
              <a:spLocks noChangeArrowheads="1"/>
            </p:cNvSpPr>
            <p:nvPr/>
          </p:nvSpPr>
          <p:spPr bwMode="auto">
            <a:xfrm>
              <a:off x="2024" y="2595"/>
              <a:ext cx="241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x-none" b="1"/>
                <a:t>1</a:t>
              </a:r>
            </a:p>
            <a:p>
              <a:pPr algn="ctr"/>
              <a:r>
                <a:rPr lang="en-US" altLang="x-none" b="1"/>
                <a:t>a</a:t>
              </a:r>
              <a:r>
                <a:rPr lang="en-US" altLang="x-none" b="1" baseline="30000"/>
                <a:t>n</a:t>
              </a:r>
              <a:endParaRPr lang="en-US" altLang="x-none" b="1"/>
            </a:p>
          </p:txBody>
        </p:sp>
        <p:sp>
          <p:nvSpPr>
            <p:cNvPr id="56365" name="Line 45"/>
            <p:cNvSpPr>
              <a:spLocks noChangeShapeType="1"/>
            </p:cNvSpPr>
            <p:nvPr/>
          </p:nvSpPr>
          <p:spPr bwMode="auto">
            <a:xfrm flipV="1">
              <a:off x="2045" y="2788"/>
              <a:ext cx="199" cy="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368" name="Text Box 48"/>
          <p:cNvSpPr txBox="1">
            <a:spLocks noChangeArrowheads="1"/>
          </p:cNvSpPr>
          <p:nvPr/>
        </p:nvSpPr>
        <p:spPr bwMode="auto">
          <a:xfrm>
            <a:off x="7947025" y="2530662"/>
            <a:ext cx="3930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-4</a:t>
            </a:r>
          </a:p>
        </p:txBody>
      </p:sp>
      <p:sp>
        <p:nvSpPr>
          <p:cNvPr id="56369" name="Text Box 49"/>
          <p:cNvSpPr txBox="1">
            <a:spLocks noChangeArrowheads="1"/>
          </p:cNvSpPr>
          <p:nvPr/>
        </p:nvSpPr>
        <p:spPr bwMode="auto">
          <a:xfrm>
            <a:off x="7967663" y="4040188"/>
            <a:ext cx="3930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-6</a:t>
            </a:r>
          </a:p>
        </p:txBody>
      </p:sp>
      <p:sp>
        <p:nvSpPr>
          <p:cNvPr id="56370" name="Text Box 50"/>
          <p:cNvSpPr txBox="1">
            <a:spLocks noChangeArrowheads="1"/>
          </p:cNvSpPr>
          <p:nvPr/>
        </p:nvSpPr>
        <p:spPr bwMode="auto">
          <a:xfrm>
            <a:off x="7996130" y="3285425"/>
            <a:ext cx="3930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 b="1"/>
              <a:t>-3</a:t>
            </a:r>
          </a:p>
        </p:txBody>
      </p:sp>
      <p:sp>
        <p:nvSpPr>
          <p:cNvPr id="56371" name="Oval 51"/>
          <p:cNvSpPr>
            <a:spLocks noChangeArrowheads="1"/>
          </p:cNvSpPr>
          <p:nvPr/>
        </p:nvSpPr>
        <p:spPr bwMode="auto">
          <a:xfrm>
            <a:off x="5016501" y="2503900"/>
            <a:ext cx="418220" cy="4322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72" name="Oval 52"/>
          <p:cNvSpPr>
            <a:spLocks noChangeArrowheads="1"/>
          </p:cNvSpPr>
          <p:nvPr/>
        </p:nvSpPr>
        <p:spPr bwMode="auto">
          <a:xfrm>
            <a:off x="5016501" y="2924175"/>
            <a:ext cx="418220" cy="4910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73" name="Oval 53"/>
          <p:cNvSpPr>
            <a:spLocks noChangeArrowheads="1"/>
          </p:cNvSpPr>
          <p:nvPr/>
        </p:nvSpPr>
        <p:spPr bwMode="auto">
          <a:xfrm>
            <a:off x="5043581" y="3406862"/>
            <a:ext cx="418220" cy="40646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74" name="Oval 54"/>
          <p:cNvSpPr>
            <a:spLocks noChangeArrowheads="1"/>
          </p:cNvSpPr>
          <p:nvPr/>
        </p:nvSpPr>
        <p:spPr bwMode="auto">
          <a:xfrm>
            <a:off x="5030041" y="3768819"/>
            <a:ext cx="418220" cy="45720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75" name="Oval 55"/>
          <p:cNvSpPr>
            <a:spLocks noChangeArrowheads="1"/>
          </p:cNvSpPr>
          <p:nvPr/>
        </p:nvSpPr>
        <p:spPr bwMode="auto">
          <a:xfrm>
            <a:off x="5043581" y="4154808"/>
            <a:ext cx="445300" cy="35423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76" name="Oval 56"/>
          <p:cNvSpPr>
            <a:spLocks noChangeArrowheads="1"/>
          </p:cNvSpPr>
          <p:nvPr/>
        </p:nvSpPr>
        <p:spPr bwMode="auto">
          <a:xfrm>
            <a:off x="8654792" y="2607809"/>
            <a:ext cx="501649" cy="52070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77" name="Oval 57"/>
          <p:cNvSpPr>
            <a:spLocks noChangeArrowheads="1"/>
          </p:cNvSpPr>
          <p:nvPr/>
        </p:nvSpPr>
        <p:spPr bwMode="auto">
          <a:xfrm>
            <a:off x="8688393" y="3249612"/>
            <a:ext cx="501649" cy="58600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78" name="Oval 58"/>
          <p:cNvSpPr>
            <a:spLocks noChangeArrowheads="1"/>
          </p:cNvSpPr>
          <p:nvPr/>
        </p:nvSpPr>
        <p:spPr bwMode="auto">
          <a:xfrm>
            <a:off x="8649468" y="4016740"/>
            <a:ext cx="474662" cy="5860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178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6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" dur="1"/>
                                        <p:tgtEl>
                                          <p:spTgt spid="5637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37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" dur="1"/>
                                        <p:tgtEl>
                                          <p:spTgt spid="5637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37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6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 nodeType="clickPar">
                      <p:stCondLst>
                        <p:cond delay="0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" dur="1"/>
                                        <p:tgtEl>
                                          <p:spTgt spid="5637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37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6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 nodeType="clickPar">
                      <p:stCondLst>
                        <p:cond delay="0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4" dur="1"/>
                                        <p:tgtEl>
                                          <p:spTgt spid="5637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37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6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0" dur="1"/>
                                        <p:tgtEl>
                                          <p:spTgt spid="5637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37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6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6" dur="1"/>
                                        <p:tgtEl>
                                          <p:spTgt spid="5637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37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6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 nodeType="clickPar">
                      <p:stCondLst>
                        <p:cond delay="0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2" dur="1"/>
                                        <p:tgtEl>
                                          <p:spTgt spid="5637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377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6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8" dur="1"/>
                                        <p:tgtEl>
                                          <p:spTgt spid="5637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378"/>
                  </p:tgtEl>
                </p:cond>
              </p:nextCondLst>
            </p:seq>
          </p:childTnLst>
        </p:cTn>
      </p:par>
    </p:tnLst>
    <p:bldLst>
      <p:bldP spid="56371" grpId="0" animBg="1"/>
      <p:bldP spid="56372" grpId="0" animBg="1"/>
      <p:bldP spid="56373" grpId="0" animBg="1"/>
      <p:bldP spid="56374" grpId="0" animBg="1"/>
      <p:bldP spid="56375" grpId="0" animBg="1"/>
      <p:bldP spid="56376" grpId="0" animBg="1"/>
      <p:bldP spid="56377" grpId="0" animBg="1"/>
      <p:bldP spid="5637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761</Words>
  <Application>Microsoft Macintosh PowerPoint</Application>
  <PresentationFormat>Widescreen</PresentationFormat>
  <Paragraphs>257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Calibri Light</vt:lpstr>
      <vt:lpstr>Comic Sans MS</vt:lpstr>
      <vt:lpstr>Times New Roman</vt:lpstr>
      <vt:lpstr>Arial</vt:lpstr>
      <vt:lpstr>Office Theme</vt:lpstr>
      <vt:lpstr>My Number Interactive Notebook</vt:lpstr>
      <vt:lpstr>PowerPoint Presentation</vt:lpstr>
      <vt:lpstr>PowerPoint Presentation</vt:lpstr>
      <vt:lpstr>PowerPoint Presentation</vt:lpstr>
      <vt:lpstr>Task –Simplify the following</vt:lpstr>
      <vt:lpstr>Index notation</vt:lpstr>
      <vt:lpstr>The first index law</vt:lpstr>
      <vt:lpstr>The second index law</vt:lpstr>
      <vt:lpstr>Zero indices</vt:lpstr>
      <vt:lpstr>Negative indices</vt:lpstr>
      <vt:lpstr>Using algebra</vt:lpstr>
      <vt:lpstr>Now let’s try some Use your Task page to write the problem and your answer.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Number Interactive Notebook</dc:title>
  <dc:creator>EVANS Clem [Baldivis Secondary College]</dc:creator>
  <cp:lastModifiedBy>EVANS Clem [Baldivis Secondary College]</cp:lastModifiedBy>
  <cp:revision>3</cp:revision>
  <dcterms:created xsi:type="dcterms:W3CDTF">2017-08-03T02:33:24Z</dcterms:created>
  <dcterms:modified xsi:type="dcterms:W3CDTF">2017-08-03T05:56:18Z</dcterms:modified>
</cp:coreProperties>
</file>
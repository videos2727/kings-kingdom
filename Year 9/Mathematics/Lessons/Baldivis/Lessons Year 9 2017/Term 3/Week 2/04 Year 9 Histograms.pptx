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31" r:id="rId2"/>
    <p:sldId id="337" r:id="rId3"/>
    <p:sldId id="344" r:id="rId4"/>
    <p:sldId id="334" r:id="rId5"/>
    <p:sldId id="336" r:id="rId6"/>
    <p:sldId id="339" r:id="rId7"/>
    <p:sldId id="338" r:id="rId8"/>
    <p:sldId id="329" r:id="rId9"/>
    <p:sldId id="330" r:id="rId10"/>
    <p:sldId id="341" r:id="rId11"/>
    <p:sldId id="343" r:id="rId12"/>
    <p:sldId id="340" r:id="rId13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89850" autoAdjust="0"/>
  </p:normalViewPr>
  <p:slideViewPr>
    <p:cSldViewPr>
      <p:cViewPr varScale="1">
        <p:scale>
          <a:sx n="86" d="100"/>
          <a:sy n="86" d="100"/>
        </p:scale>
        <p:origin x="672" y="9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4007446\Desktop\yr%20%209%20histogram%20lesson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Sheet2!$A$1:$A$6</c:f>
              <c:strCache>
                <c:ptCount val="6"/>
                <c:pt idx="0">
                  <c:v>1-3</c:v>
                </c:pt>
                <c:pt idx="1">
                  <c:v>4-6</c:v>
                </c:pt>
                <c:pt idx="2">
                  <c:v>7-9</c:v>
                </c:pt>
                <c:pt idx="3">
                  <c:v>10-12</c:v>
                </c:pt>
                <c:pt idx="4">
                  <c:v>13-15</c:v>
                </c:pt>
                <c:pt idx="5">
                  <c:v>16-18</c:v>
                </c:pt>
              </c:strCache>
            </c:strRef>
          </c:cat>
          <c:val>
            <c:numRef>
              <c:f>Sheet2!$B$1:$B$6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56-4273-8B86-6D8ED1D23B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359970872"/>
        <c:axId val="359972512"/>
      </c:barChart>
      <c:catAx>
        <c:axId val="359970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2512"/>
        <c:crosses val="autoZero"/>
        <c:auto val="1"/>
        <c:lblAlgn val="ctr"/>
        <c:lblOffset val="100"/>
        <c:noMultiLvlLbl val="0"/>
      </c:catAx>
      <c:valAx>
        <c:axId val="35997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0.063</cdr:x>
      <cdr:y>0</cdr:y>
    </cdr:from>
    <cdr:to>
      <cdr:x>0.97649</cdr:x>
      <cdr:y>0.92438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C849119-E7B9-48A8-A12F-5BFCFD990AA5}"/>
            </a:ext>
          </a:extLst>
        </cdr:cNvPr>
        <cdr:cNvSpPr/>
      </cdr:nvSpPr>
      <cdr:spPr>
        <a:xfrm xmlns:a="http://schemas.openxmlformats.org/drawingml/2006/main">
          <a:off x="288032" y="0"/>
          <a:ext cx="4176464" cy="25357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68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82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84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178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3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355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Go through with class piece by piece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390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26/07/2017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gif"/><Relationship Id="rId5" Type="http://schemas.openxmlformats.org/officeDocument/2006/relationships/hyperlink" Target="http://www.mathsisfun.com/data/standard-normal-distribution.html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2E964-2C96-4483-A97C-D2C618037D09}"/>
              </a:ext>
            </a:extLst>
          </p:cNvPr>
          <p:cNvSpPr/>
          <p:nvPr/>
        </p:nvSpPr>
        <p:spPr>
          <a:xfrm>
            <a:off x="251520" y="337220"/>
            <a:ext cx="8496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A class of students has measured their heights.</a:t>
            </a:r>
          </a:p>
          <a:p>
            <a:endParaRPr lang="en-AU" dirty="0"/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What is the mean, mode, median and range?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FEB2E-C178-42C5-9E82-7D30E90DA214}"/>
              </a:ext>
            </a:extLst>
          </p:cNvPr>
          <p:cNvSpPr/>
          <p:nvPr/>
        </p:nvSpPr>
        <p:spPr>
          <a:xfrm>
            <a:off x="2411760" y="2785492"/>
            <a:ext cx="25471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Mean = 	  161.0740741</a:t>
            </a:r>
          </a:p>
          <a:p>
            <a:r>
              <a:rPr lang="en-AU" dirty="0"/>
              <a:t>Mode =	  156</a:t>
            </a:r>
          </a:p>
          <a:p>
            <a:r>
              <a:rPr lang="en-AU" dirty="0"/>
              <a:t>Median =   162</a:t>
            </a:r>
          </a:p>
          <a:p>
            <a:r>
              <a:rPr lang="en-AU" dirty="0"/>
              <a:t>Range = 	  35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2D2F6-35C6-4344-A97D-CBCD24DB7D96}"/>
              </a:ext>
            </a:extLst>
          </p:cNvPr>
          <p:cNvSpPr txBox="1"/>
          <p:nvPr/>
        </p:nvSpPr>
        <p:spPr>
          <a:xfrm>
            <a:off x="323528" y="430165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could we present this information diagrammatically?</a:t>
            </a:r>
          </a:p>
        </p:txBody>
      </p:sp>
    </p:spTree>
    <p:extLst>
      <p:ext uri="{BB962C8B-B14F-4D97-AF65-F5344CB8AC3E}">
        <p14:creationId xmlns:p14="http://schemas.microsoft.com/office/powerpoint/2010/main" val="321890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4DFAF-EE34-4E1D-8CDC-6A592D2B9812}"/>
              </a:ext>
            </a:extLst>
          </p:cNvPr>
          <p:cNvSpPr txBox="1"/>
          <p:nvPr/>
        </p:nvSpPr>
        <p:spPr>
          <a:xfrm>
            <a:off x="827584" y="193204"/>
            <a:ext cx="720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/>
              <a:t>Today’s lesson is about histograms. </a:t>
            </a:r>
          </a:p>
          <a:p>
            <a:r>
              <a:rPr lang="en-AU" sz="2000" dirty="0"/>
              <a:t>A histogram looks a lot like a column graph but there are a couple of key differences.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2DB47-FDB8-4991-9DB1-FCD6AEC5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60766"/>
            <a:ext cx="5715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196950-21A1-4981-B121-593AF8F184D6}"/>
              </a:ext>
            </a:extLst>
          </p:cNvPr>
          <p:cNvSpPr txBox="1"/>
          <p:nvPr/>
        </p:nvSpPr>
        <p:spPr>
          <a:xfrm>
            <a:off x="2490960" y="136755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Gaps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6C9F9D-4778-4F15-BFF3-018F0B6C98B5}"/>
              </a:ext>
            </a:extLst>
          </p:cNvPr>
          <p:cNvCxnSpPr>
            <a:cxnSpLocks/>
          </p:cNvCxnSpPr>
          <p:nvPr/>
        </p:nvCxnSpPr>
        <p:spPr>
          <a:xfrm flipH="1">
            <a:off x="2267744" y="1705372"/>
            <a:ext cx="432048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4782A-1ECE-433F-9EAD-F782B4F19E9A}"/>
              </a:ext>
            </a:extLst>
          </p:cNvPr>
          <p:cNvCxnSpPr>
            <a:cxnSpLocks/>
          </p:cNvCxnSpPr>
          <p:nvPr/>
        </p:nvCxnSpPr>
        <p:spPr>
          <a:xfrm flipH="1">
            <a:off x="2627784" y="1705372"/>
            <a:ext cx="144016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3173A9-9740-4309-8291-929D4C3E141D}"/>
              </a:ext>
            </a:extLst>
          </p:cNvPr>
          <p:cNvCxnSpPr>
            <a:cxnSpLocks/>
          </p:cNvCxnSpPr>
          <p:nvPr/>
        </p:nvCxnSpPr>
        <p:spPr>
          <a:xfrm>
            <a:off x="2915816" y="1705372"/>
            <a:ext cx="72008" cy="155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B2E56C-C26A-4E45-AA7C-9B606C8E1D02}"/>
              </a:ext>
            </a:extLst>
          </p:cNvPr>
          <p:cNvCxnSpPr>
            <a:cxnSpLocks/>
          </p:cNvCxnSpPr>
          <p:nvPr/>
        </p:nvCxnSpPr>
        <p:spPr>
          <a:xfrm>
            <a:off x="3026210" y="1729930"/>
            <a:ext cx="297653" cy="153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7F285C-32AC-4C8D-A5B8-EB29BF242B55}"/>
              </a:ext>
            </a:extLst>
          </p:cNvPr>
          <p:cNvSpPr txBox="1"/>
          <p:nvPr/>
        </p:nvSpPr>
        <p:spPr>
          <a:xfrm>
            <a:off x="5606480" y="137251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 Gaps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4435E1-E549-44F4-804F-720ED0B5807D}"/>
              </a:ext>
            </a:extLst>
          </p:cNvPr>
          <p:cNvCxnSpPr>
            <a:cxnSpLocks/>
          </p:cNvCxnSpPr>
          <p:nvPr/>
        </p:nvCxnSpPr>
        <p:spPr>
          <a:xfrm flipH="1">
            <a:off x="5146158" y="1604469"/>
            <a:ext cx="610348" cy="190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38B4E3-F41E-469B-9491-1A375A0C8C02}"/>
              </a:ext>
            </a:extLst>
          </p:cNvPr>
          <p:cNvCxnSpPr>
            <a:cxnSpLocks/>
          </p:cNvCxnSpPr>
          <p:nvPr/>
        </p:nvCxnSpPr>
        <p:spPr>
          <a:xfrm flipH="1">
            <a:off x="5515296" y="1604469"/>
            <a:ext cx="313216" cy="175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453929-9E9B-4D8E-A0BE-E7E09773BD5D}"/>
              </a:ext>
            </a:extLst>
          </p:cNvPr>
          <p:cNvCxnSpPr>
            <a:cxnSpLocks/>
          </p:cNvCxnSpPr>
          <p:nvPr/>
        </p:nvCxnSpPr>
        <p:spPr>
          <a:xfrm flipH="1">
            <a:off x="5868144" y="1604469"/>
            <a:ext cx="104384" cy="165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DC82D8-FE53-473E-9505-1A33000A5EBE}"/>
              </a:ext>
            </a:extLst>
          </p:cNvPr>
          <p:cNvCxnSpPr>
            <a:cxnSpLocks/>
          </p:cNvCxnSpPr>
          <p:nvPr/>
        </p:nvCxnSpPr>
        <p:spPr>
          <a:xfrm>
            <a:off x="6082922" y="1629027"/>
            <a:ext cx="158390" cy="1709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D8DD201-1894-44CC-99A0-DC2485EAA718}"/>
              </a:ext>
            </a:extLst>
          </p:cNvPr>
          <p:cNvSpPr txBox="1"/>
          <p:nvPr/>
        </p:nvSpPr>
        <p:spPr>
          <a:xfrm>
            <a:off x="1598257" y="4365841"/>
            <a:ext cx="2855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categorical and bars can be swapped around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65DE4-BCFF-4D00-A813-EBCA57861DE2}"/>
              </a:ext>
            </a:extLst>
          </p:cNvPr>
          <p:cNvSpPr txBox="1"/>
          <p:nvPr/>
        </p:nvSpPr>
        <p:spPr>
          <a:xfrm>
            <a:off x="4772624" y="4365839"/>
            <a:ext cx="3897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continuous numerical and columns cannot be swapped around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5F3A5B-1E5E-43F7-9E28-723C67031D0A}"/>
              </a:ext>
            </a:extLst>
          </p:cNvPr>
          <p:cNvCxnSpPr/>
          <p:nvPr/>
        </p:nvCxnSpPr>
        <p:spPr>
          <a:xfrm flipV="1">
            <a:off x="1979712" y="3904346"/>
            <a:ext cx="288032" cy="46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62EAE95-B781-4B46-B723-3309BF460727}"/>
              </a:ext>
            </a:extLst>
          </p:cNvPr>
          <p:cNvCxnSpPr>
            <a:cxnSpLocks/>
          </p:cNvCxnSpPr>
          <p:nvPr/>
        </p:nvCxnSpPr>
        <p:spPr>
          <a:xfrm flipH="1" flipV="1">
            <a:off x="6286088" y="3904346"/>
            <a:ext cx="518160" cy="46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6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</p:spTree>
    <p:extLst>
      <p:ext uri="{BB962C8B-B14F-4D97-AF65-F5344CB8AC3E}">
        <p14:creationId xmlns:p14="http://schemas.microsoft.com/office/powerpoint/2010/main" val="33441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83605" y="2309447"/>
            <a:ext cx="8910735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Lets look at the data we used for the warm up.  </a:t>
            </a:r>
          </a:p>
          <a:p>
            <a:r>
              <a:rPr lang="en-AU" dirty="0"/>
              <a:t>146, 148, 151, 153, 153, 154, 155, 156, 156, 156, 157, 159, 162, 162, 162, 163, 164, 164, 165, 165, 168, 168, 173, 174, 177, 181.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The range was found to be 35.</a:t>
            </a:r>
          </a:p>
          <a:p>
            <a:endParaRPr lang="en-AU" dirty="0"/>
          </a:p>
          <a:p>
            <a:r>
              <a:rPr lang="en-AU" dirty="0"/>
              <a:t>I want to create a histogram with between 5 and 20 “classes” (or columns).  If you can choose a class width using a number that is easy to calculate with.  A class width of 10 creates only 4 classes, while a class width of 5 (starting at 145) creates 8 classes.  A class width of 2 is possible but will create 16 classes many of which will have only 1 or 2 results in them.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3DFF95-20AF-4A7A-8B0A-FB79EA312255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87725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98267" y="2201557"/>
            <a:ext cx="8694214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We have decided to use class widths of 5.  Lets create a frequency table from our data.</a:t>
            </a:r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145 – 149</a:t>
            </a:r>
          </a:p>
          <a:p>
            <a:r>
              <a:rPr lang="en-AU" dirty="0"/>
              <a:t>150 – 154 </a:t>
            </a:r>
          </a:p>
          <a:p>
            <a:r>
              <a:rPr lang="en-AU" dirty="0"/>
              <a:t>155 – 159 </a:t>
            </a:r>
          </a:p>
          <a:p>
            <a:r>
              <a:rPr lang="en-AU" dirty="0"/>
              <a:t>160 – 164 </a:t>
            </a:r>
          </a:p>
          <a:p>
            <a:r>
              <a:rPr lang="en-AU" dirty="0"/>
              <a:t>165 – 169 </a:t>
            </a:r>
          </a:p>
          <a:p>
            <a:r>
              <a:rPr lang="en-AU" dirty="0"/>
              <a:t>170 – 174 </a:t>
            </a:r>
          </a:p>
          <a:p>
            <a:r>
              <a:rPr lang="en-AU" dirty="0"/>
              <a:t>175 – 179 </a:t>
            </a:r>
          </a:p>
          <a:p>
            <a:r>
              <a:rPr lang="en-AU" dirty="0"/>
              <a:t>180 – 184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49CA59-A2F8-4BD5-8E8D-DCC0402C14EE}"/>
              </a:ext>
            </a:extLst>
          </p:cNvPr>
          <p:cNvSpPr txBox="1"/>
          <p:nvPr/>
        </p:nvSpPr>
        <p:spPr>
          <a:xfrm>
            <a:off x="1252779" y="3309553"/>
            <a:ext cx="2232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||                   = 2</a:t>
            </a:r>
          </a:p>
          <a:p>
            <a:r>
              <a:rPr lang="en-AU" strike="sngStrike" dirty="0"/>
              <a:t>||||</a:t>
            </a:r>
            <a:r>
              <a:rPr lang="en-AU" dirty="0"/>
              <a:t>               = 5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dirty="0"/>
              <a:t>||||               = 4</a:t>
            </a:r>
          </a:p>
          <a:p>
            <a:r>
              <a:rPr lang="en-AU" dirty="0"/>
              <a:t>||                   = 2</a:t>
            </a:r>
          </a:p>
          <a:p>
            <a:r>
              <a:rPr lang="en-AU" dirty="0"/>
              <a:t>|                     = 1</a:t>
            </a:r>
          </a:p>
          <a:p>
            <a:r>
              <a:rPr lang="en-AU" dirty="0"/>
              <a:t>|                    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D03373-8416-4C8A-BE42-97E7BB8B1415}"/>
              </a:ext>
            </a:extLst>
          </p:cNvPr>
          <p:cNvSpPr txBox="1"/>
          <p:nvPr/>
        </p:nvSpPr>
        <p:spPr>
          <a:xfrm>
            <a:off x="125761" y="1502840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98670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endParaRPr lang="en-AU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1EEE4CC-3B53-40D8-A6C7-5C10A8B2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986385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8957B2-FECA-4832-8089-8B47FE9ECFF7}"/>
              </a:ext>
            </a:extLst>
          </p:cNvPr>
          <p:cNvSpPr txBox="1"/>
          <p:nvPr/>
        </p:nvSpPr>
        <p:spPr>
          <a:xfrm>
            <a:off x="4305072" y="4935439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4694F-E6A5-418A-B324-C9DB5D4EAAAC}"/>
              </a:ext>
            </a:extLst>
          </p:cNvPr>
          <p:cNvSpPr txBox="1"/>
          <p:nvPr/>
        </p:nvSpPr>
        <p:spPr>
          <a:xfrm>
            <a:off x="2093987" y="3100091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06A94B-4FDE-4101-A61B-EF7237735BDF}"/>
              </a:ext>
            </a:extLst>
          </p:cNvPr>
          <p:cNvSpPr/>
          <p:nvPr/>
        </p:nvSpPr>
        <p:spPr>
          <a:xfrm>
            <a:off x="2834284" y="2850433"/>
            <a:ext cx="4618036" cy="187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8B6F2-1E81-49CE-9361-ABE9A90B1B3F}"/>
              </a:ext>
            </a:extLst>
          </p:cNvPr>
          <p:cNvSpPr txBox="1"/>
          <p:nvPr/>
        </p:nvSpPr>
        <p:spPr>
          <a:xfrm>
            <a:off x="3105984" y="3274160"/>
            <a:ext cx="3109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Our maximum frequency is 6 so our y axis must go to at least 6 and we use our class widths to determine the x axis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404FC-85A5-48F5-80A1-A4F700EDCF7E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36A00D-FBF6-4898-8952-79D2BAFF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646" y="2926697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899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8FE347-3C80-4E8D-96D9-03AE5DCF3CDC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pPr marL="342900" indent="-342900">
              <a:buAutoNum type="arabicPeriod"/>
            </a:pPr>
            <a:r>
              <a:rPr lang="en-AU" dirty="0"/>
              <a:t>Use the frequency data from the frequency table to complete the graph and add a title.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B6797062-D970-463E-A9A0-01134D541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094" y="3614301"/>
            <a:ext cx="3925483" cy="1703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FACF6A3-09C4-4BE7-B90A-D83868A07B24}"/>
              </a:ext>
            </a:extLst>
          </p:cNvPr>
          <p:cNvSpPr txBox="1"/>
          <p:nvPr/>
        </p:nvSpPr>
        <p:spPr>
          <a:xfrm>
            <a:off x="4462857" y="5299491"/>
            <a:ext cx="817697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89F6EB-1312-4B73-A189-09CF4C7C4C39}"/>
              </a:ext>
            </a:extLst>
          </p:cNvPr>
          <p:cNvSpPr txBox="1"/>
          <p:nvPr/>
        </p:nvSpPr>
        <p:spPr>
          <a:xfrm>
            <a:off x="2811546" y="3719036"/>
            <a:ext cx="91389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E2AEDB-5599-4C42-B4B2-279CB559AADA}"/>
              </a:ext>
            </a:extLst>
          </p:cNvPr>
          <p:cNvSpPr txBox="1"/>
          <p:nvPr/>
        </p:nvSpPr>
        <p:spPr>
          <a:xfrm>
            <a:off x="3896302" y="3281769"/>
            <a:ext cx="22807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2DCC1A-FBE9-41A1-8957-601AE6E4B0AD}"/>
              </a:ext>
            </a:extLst>
          </p:cNvPr>
          <p:cNvSpPr txBox="1"/>
          <p:nvPr/>
        </p:nvSpPr>
        <p:spPr>
          <a:xfrm>
            <a:off x="6029850" y="3337302"/>
            <a:ext cx="952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E78180-0117-4B80-B864-F2DE71D43093}"/>
              </a:ext>
            </a:extLst>
          </p:cNvPr>
          <p:cNvSpPr txBox="1"/>
          <p:nvPr/>
        </p:nvSpPr>
        <p:spPr>
          <a:xfrm>
            <a:off x="2408036" y="5308595"/>
            <a:ext cx="9792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9AD65F-1CCD-4704-9B79-87E736022E8A}"/>
              </a:ext>
            </a:extLst>
          </p:cNvPr>
          <p:cNvCxnSpPr>
            <a:cxnSpLocks/>
          </p:cNvCxnSpPr>
          <p:nvPr/>
        </p:nvCxnSpPr>
        <p:spPr>
          <a:xfrm flipV="1">
            <a:off x="2878812" y="3852239"/>
            <a:ext cx="336019" cy="143893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B8019A-854D-4083-9754-FA38D6602FEB}"/>
              </a:ext>
            </a:extLst>
          </p:cNvPr>
          <p:cNvCxnSpPr>
            <a:cxnSpLocks/>
          </p:cNvCxnSpPr>
          <p:nvPr/>
        </p:nvCxnSpPr>
        <p:spPr>
          <a:xfrm flipV="1">
            <a:off x="3034772" y="5421245"/>
            <a:ext cx="1408281" cy="4532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847EA3-3D54-4F54-A015-8FCEA326685D}"/>
              </a:ext>
            </a:extLst>
          </p:cNvPr>
          <p:cNvSpPr txBox="1"/>
          <p:nvPr/>
        </p:nvSpPr>
        <p:spPr>
          <a:xfrm>
            <a:off x="4332073" y="4212235"/>
            <a:ext cx="1166768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316CA8-FC41-4E09-BDF6-35AACDFDA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735" y="3308750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25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78856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6307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80868"/>
            <a:ext cx="48005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33" dirty="0"/>
              <a:t>24</a:t>
            </a:r>
          </a:p>
          <a:p>
            <a:r>
              <a:rPr lang="en-AU" sz="1333" dirty="0"/>
              <a:t>7</a:t>
            </a:r>
          </a:p>
          <a:p>
            <a:r>
              <a:rPr lang="en-AU" sz="1333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96666" y="1293825"/>
            <a:ext cx="0" cy="4500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91681" y="337220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595" y="886197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814327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13987" y="3783062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2902" y="1947714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3029" y="1506551"/>
            <a:ext cx="21826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2825" y="1506551"/>
            <a:ext cx="5277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3905" y="4001071"/>
            <a:ext cx="6735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4033905" y="2294380"/>
            <a:ext cx="129037" cy="17066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3"/>
            <a:endCxn id="8" idx="1"/>
          </p:cNvCxnSpPr>
          <p:nvPr/>
        </p:nvCxnSpPr>
        <p:spPr>
          <a:xfrm flipV="1">
            <a:off x="4707487" y="3899793"/>
            <a:ext cx="1306500" cy="26286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69169" y="4176154"/>
            <a:ext cx="660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Scale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7572368" y="3668792"/>
            <a:ext cx="310988" cy="5073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2921" y="2549921"/>
            <a:ext cx="1348391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7C43B2-F342-4399-8086-AAB67A1957E8}"/>
              </a:ext>
            </a:extLst>
          </p:cNvPr>
          <p:cNvSpPr txBox="1"/>
          <p:nvPr/>
        </p:nvSpPr>
        <p:spPr>
          <a:xfrm>
            <a:off x="2362683" y="5012499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the data looks in a histogram is important and can be described in main ways </a:t>
            </a:r>
          </a:p>
        </p:txBody>
      </p:sp>
    </p:spTree>
    <p:extLst>
      <p:ext uri="{BB962C8B-B14F-4D97-AF65-F5344CB8AC3E}">
        <p14:creationId xmlns:p14="http://schemas.microsoft.com/office/powerpoint/2010/main" val="25455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90" y="2165705"/>
            <a:ext cx="1261926" cy="1131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69789" y="2132269"/>
            <a:ext cx="4394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Negative Skew</a:t>
            </a:r>
          </a:p>
          <a:p>
            <a:r>
              <a:rPr lang="en-AU" sz="1500" dirty="0"/>
              <a:t>The long "tail" is on the negative or left side </a:t>
            </a:r>
          </a:p>
          <a:p>
            <a:r>
              <a:rPr lang="en-AU" sz="1500" dirty="0"/>
              <a:t>the peak.  The mean is also on the left of the peak. The Median is closer to the peak and the mode is at the peak.</a:t>
            </a:r>
          </a:p>
          <a:p>
            <a:endParaRPr lang="en-AU" sz="1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711" y="3377139"/>
            <a:ext cx="1406283" cy="1050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69788" y="3377140"/>
            <a:ext cx="45742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Positive Skew</a:t>
            </a:r>
          </a:p>
          <a:p>
            <a:r>
              <a:rPr lang="en-AU" sz="1500" dirty="0"/>
              <a:t>The long tail is on the positive or right </a:t>
            </a:r>
          </a:p>
          <a:p>
            <a:r>
              <a:rPr lang="en-AU" sz="1500" dirty="0"/>
              <a:t>side of the peak.  The mean is also on the right of the peak value.  The median will be close to the peak and the mode is at the peak</a:t>
            </a:r>
          </a:p>
          <a:p>
            <a:endParaRPr lang="en-AU" sz="1500" dirty="0"/>
          </a:p>
        </p:txBody>
      </p:sp>
      <p:sp>
        <p:nvSpPr>
          <p:cNvPr id="9" name="TextBox 8"/>
          <p:cNvSpPr txBox="1"/>
          <p:nvPr/>
        </p:nvSpPr>
        <p:spPr>
          <a:xfrm>
            <a:off x="4583409" y="1048785"/>
            <a:ext cx="422799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Normal Distribution – Not skewed</a:t>
            </a:r>
          </a:p>
          <a:p>
            <a:r>
              <a:rPr lang="en-AU" sz="1500" dirty="0"/>
              <a:t>A </a:t>
            </a:r>
            <a:r>
              <a:rPr lang="en-AU" sz="1500" dirty="0">
                <a:hlinkClick r:id="rId5"/>
              </a:rPr>
              <a:t>Normal Distribution</a:t>
            </a:r>
            <a:r>
              <a:rPr lang="en-AU" sz="1500" dirty="0"/>
              <a:t> is not skewed. </a:t>
            </a:r>
          </a:p>
          <a:p>
            <a:r>
              <a:rPr lang="en-AU" sz="1500" dirty="0"/>
              <a:t>It is perfectly symmetrical and the Mean, mode and median are all exactly at the peak.</a:t>
            </a:r>
          </a:p>
          <a:p>
            <a:endParaRPr lang="en-AU" sz="1500" dirty="0"/>
          </a:p>
        </p:txBody>
      </p:sp>
      <p:sp>
        <p:nvSpPr>
          <p:cNvPr id="12" name="Line 2"/>
          <p:cNvSpPr/>
          <p:nvPr/>
        </p:nvSpPr>
        <p:spPr>
          <a:xfrm flipV="1">
            <a:off x="0" y="620465"/>
            <a:ext cx="9144000" cy="17643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3" name="Line 3"/>
          <p:cNvSpPr/>
          <p:nvPr/>
        </p:nvSpPr>
        <p:spPr>
          <a:xfrm flipV="1">
            <a:off x="0" y="918953"/>
            <a:ext cx="9144000" cy="63503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4" name="CustomShape 4"/>
          <p:cNvSpPr/>
          <p:nvPr/>
        </p:nvSpPr>
        <p:spPr>
          <a:xfrm>
            <a:off x="47087" y="-33479"/>
            <a:ext cx="479700" cy="6837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1333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24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333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333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30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Line 5"/>
          <p:cNvSpPr/>
          <p:nvPr/>
        </p:nvSpPr>
        <p:spPr>
          <a:xfrm>
            <a:off x="2253143" y="998558"/>
            <a:ext cx="36255" cy="4623374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6" name="CustomShape 6"/>
          <p:cNvSpPr/>
          <p:nvPr/>
        </p:nvSpPr>
        <p:spPr>
          <a:xfrm>
            <a:off x="7479624" y="-51588"/>
            <a:ext cx="1319700" cy="380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Date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8"/>
          <p:cNvSpPr/>
          <p:nvPr/>
        </p:nvSpPr>
        <p:spPr>
          <a:xfrm>
            <a:off x="1250930" y="650221"/>
            <a:ext cx="6781200" cy="6849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EQ – How do we describe data distribution. 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9"/>
          <p:cNvSpPr/>
          <p:nvPr/>
        </p:nvSpPr>
        <p:spPr>
          <a:xfrm>
            <a:off x="1659478" y="156608"/>
            <a:ext cx="4197000" cy="481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15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Topic  -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369" y="4606269"/>
            <a:ext cx="44287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b="1" dirty="0" err="1"/>
              <a:t>Biomodal</a:t>
            </a:r>
            <a:endParaRPr lang="en-AU" sz="1500" b="1" dirty="0"/>
          </a:p>
          <a:p>
            <a:r>
              <a:rPr lang="en-AU" sz="1500" dirty="0"/>
              <a:t>Bimodal means it has 2 modes.  </a:t>
            </a:r>
          </a:p>
          <a:p>
            <a:r>
              <a:rPr lang="en-AU" sz="1500" dirty="0"/>
              <a:t>On a graph it has 2 peaks which are its 2 modal values.</a:t>
            </a:r>
          </a:p>
          <a:p>
            <a:endParaRPr lang="en-AU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ED9323-39FB-4B3E-A8B3-4387975788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288" y="4586829"/>
            <a:ext cx="1757164" cy="921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E74403-47A9-4F7B-A82F-E64A32C2EE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19" y="1168534"/>
            <a:ext cx="1645418" cy="100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46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69" y="621767"/>
            <a:ext cx="7056784" cy="49565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07825"/>
              </p:ext>
            </p:extLst>
          </p:nvPr>
        </p:nvGraphicFramePr>
        <p:xfrm>
          <a:off x="4211960" y="3742908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90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276"/>
          <a:stretch/>
        </p:blipFill>
        <p:spPr>
          <a:xfrm>
            <a:off x="1331640" y="553244"/>
            <a:ext cx="7056784" cy="22167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220826"/>
              </p:ext>
            </p:extLst>
          </p:nvPr>
        </p:nvGraphicFramePr>
        <p:xfrm>
          <a:off x="4500431" y="934596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B58C73D-2BF1-4890-846C-8902D4033F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2090925"/>
              </p:ext>
            </p:extLst>
          </p:nvPr>
        </p:nvGraphicFramePr>
        <p:xfrm>
          <a:off x="2051720" y="27700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40AD3A3-107C-4234-A895-A5FB01853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287" y="2806505"/>
            <a:ext cx="989072" cy="24992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DB89DB-7E3C-4C40-B987-EC729FCC50C6}"/>
              </a:ext>
            </a:extLst>
          </p:cNvPr>
          <p:cNvCxnSpPr/>
          <p:nvPr/>
        </p:nvCxnSpPr>
        <p:spPr>
          <a:xfrm>
            <a:off x="1763688" y="2721441"/>
            <a:ext cx="0" cy="249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9FAE58-4831-4B41-8C0A-3F1B03A542EA}"/>
              </a:ext>
            </a:extLst>
          </p:cNvPr>
          <p:cNvCxnSpPr>
            <a:cxnSpLocks/>
          </p:cNvCxnSpPr>
          <p:nvPr/>
        </p:nvCxnSpPr>
        <p:spPr>
          <a:xfrm flipH="1">
            <a:off x="1763688" y="5212498"/>
            <a:ext cx="4717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689A9-3703-4137-BC7B-F0B0D570CD94}"/>
              </a:ext>
            </a:extLst>
          </p:cNvPr>
          <p:cNvSpPr/>
          <p:nvPr/>
        </p:nvSpPr>
        <p:spPr>
          <a:xfrm>
            <a:off x="2051720" y="2721440"/>
            <a:ext cx="4824536" cy="2482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70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F72BAD-A442-4615-B8EB-C41AEF764311}"/>
              </a:ext>
            </a:extLst>
          </p:cNvPr>
          <p:cNvSpPr txBox="1"/>
          <p:nvPr/>
        </p:nvSpPr>
        <p:spPr>
          <a:xfrm>
            <a:off x="1115616" y="1057300"/>
            <a:ext cx="7416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Glue todays worksheet in the LHS of your workbook and show it to your teacher before you leave.</a:t>
            </a:r>
          </a:p>
          <a:p>
            <a:endParaRPr lang="en-AU" sz="3600" dirty="0"/>
          </a:p>
          <a:p>
            <a:r>
              <a:rPr lang="en-AU" sz="3600" dirty="0"/>
              <a:t>Extra practice is on pages 124 and 125 of the Dr Dwyer </a:t>
            </a:r>
            <a:r>
              <a:rPr lang="en-AU" sz="3600" dirty="0" err="1"/>
              <a:t>yr</a:t>
            </a:r>
            <a:r>
              <a:rPr lang="en-AU" sz="3600" dirty="0"/>
              <a:t> 9 text</a:t>
            </a:r>
          </a:p>
        </p:txBody>
      </p:sp>
    </p:spTree>
    <p:extLst>
      <p:ext uri="{BB962C8B-B14F-4D97-AF65-F5344CB8AC3E}">
        <p14:creationId xmlns:p14="http://schemas.microsoft.com/office/powerpoint/2010/main" val="3898112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12720</TotalTime>
  <Words>1078</Words>
  <Application>Microsoft Office PowerPoint</Application>
  <PresentationFormat>On-screen Show (16:10)</PresentationFormat>
  <Paragraphs>178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Berlin Sans FB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100</cp:revision>
  <dcterms:created xsi:type="dcterms:W3CDTF">2014-05-14T02:58:57Z</dcterms:created>
  <dcterms:modified xsi:type="dcterms:W3CDTF">2017-07-26T06:48:11Z</dcterms:modified>
</cp:coreProperties>
</file>
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323" r:id="rId4"/>
    <p:sldId id="319" r:id="rId5"/>
    <p:sldId id="326" r:id="rId6"/>
    <p:sldId id="328" r:id="rId7"/>
    <p:sldId id="329" r:id="rId8"/>
    <p:sldId id="324" r:id="rId9"/>
    <p:sldId id="330" r:id="rId10"/>
    <p:sldId id="318" r:id="rId11"/>
    <p:sldId id="292" r:id="rId12"/>
    <p:sldId id="291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691" autoAdjust="0"/>
  </p:normalViewPr>
  <p:slideViewPr>
    <p:cSldViewPr>
      <p:cViewPr varScale="1">
        <p:scale>
          <a:sx n="81" d="100"/>
          <a:sy n="81" d="100"/>
        </p:scale>
        <p:origin x="528" y="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633" y="277214"/>
            <a:ext cx="6477000" cy="1225021"/>
          </a:xfrm>
        </p:spPr>
        <p:txBody>
          <a:bodyPr/>
          <a:lstStyle/>
          <a:p>
            <a:r>
              <a:rPr lang="en-AU" dirty="0"/>
              <a:t>My Number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2387" y="5407224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165997" y="457234"/>
                <a:ext cx="1140127" cy="1220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333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7333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997" y="457234"/>
                <a:ext cx="1140127" cy="12207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531773" y="1570113"/>
                <a:ext cx="1140127" cy="1220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333" i="1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7333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773" y="1570113"/>
                <a:ext cx="1140127" cy="12207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351703" y="2977374"/>
                <a:ext cx="1140127" cy="1220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333" i="1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7333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03" y="2977374"/>
                <a:ext cx="1140127" cy="12207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312193" y="2257434"/>
                <a:ext cx="1140127" cy="1220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333" i="1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7333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193" y="2257434"/>
                <a:ext cx="1140127" cy="12207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351703" y="1585195"/>
                <a:ext cx="1140127" cy="1220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7333" i="1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7333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703" y="1585195"/>
                <a:ext cx="1140127" cy="12207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792247" y="364654"/>
                <a:ext cx="1140127" cy="1676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55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5500" i="1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5500" i="1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55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247" y="364654"/>
                <a:ext cx="1140127" cy="16768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851587" y="2557467"/>
                <a:ext cx="1140127" cy="1682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55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55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5500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55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587" y="2557467"/>
                <a:ext cx="1140127" cy="1682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6882257" y="3258181"/>
                <a:ext cx="1140127" cy="938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5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55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55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55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257" y="3258181"/>
                <a:ext cx="1140127" cy="9387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72100" y="3997627"/>
                <a:ext cx="1140127" cy="103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55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5500" i="1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55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100" y="3997627"/>
                <a:ext cx="1140127" cy="10382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2067" y="0"/>
            <a:ext cx="60007" cy="5797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2336" y="5395556"/>
            <a:ext cx="28245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2387" y="5407224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42135" y="517240"/>
            <a:ext cx="3869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691680" y="337220"/>
            <a:ext cx="0" cy="48899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43373" y="4836"/>
            <a:ext cx="80797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33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020" y="312056"/>
            <a:ext cx="514628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33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548508" y="337220"/>
            <a:ext cx="0" cy="48899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931705" y="286964"/>
            <a:ext cx="511422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33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1813" y="286964"/>
            <a:ext cx="116574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2113" y="55420"/>
            <a:ext cx="216024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2067" y="0"/>
            <a:ext cx="60007" cy="5797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12068" y="517240"/>
            <a:ext cx="3869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12068" y="997293"/>
            <a:ext cx="3869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74" y="4477680"/>
            <a:ext cx="393845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652120" y="997293"/>
            <a:ext cx="0" cy="348038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9718" y="55575"/>
            <a:ext cx="359966" cy="476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33" dirty="0"/>
              <a:t>24</a:t>
            </a:r>
          </a:p>
          <a:p>
            <a:r>
              <a:rPr lang="en-AU" sz="833" dirty="0"/>
              <a:t>7</a:t>
            </a:r>
          </a:p>
          <a:p>
            <a:r>
              <a:rPr lang="en-AU" sz="833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75" y="501290"/>
            <a:ext cx="982961" cy="220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33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1792" y="997293"/>
            <a:ext cx="439544" cy="220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33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0209" y="997294"/>
            <a:ext cx="620683" cy="220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33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74" y="4477680"/>
            <a:ext cx="596638" cy="2205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33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039" y="118746"/>
            <a:ext cx="59105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500" dirty="0"/>
              <a:t>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38910" y="788557"/>
            <a:ext cx="3180353" cy="81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Don’t forget to keep your INB up to date</a:t>
            </a:r>
            <a:endParaRPr lang="en-AU" sz="2333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74" y="4666913"/>
            <a:ext cx="3801598" cy="9525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67" dirty="0"/>
              <a:t>Have YOU been doing your summaries?</a:t>
            </a:r>
            <a:endParaRPr lang="en-AU" sz="2667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558" y="2380040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783811" y="4839716"/>
            <a:ext cx="4264623" cy="45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33" dirty="0"/>
              <a:t>Your book, your responsibility!</a:t>
            </a:r>
            <a:endParaRPr lang="en-AU" sz="2333" dirty="0"/>
          </a:p>
        </p:txBody>
      </p:sp>
      <p:sp>
        <p:nvSpPr>
          <p:cNvPr id="3" name="Oval 2"/>
          <p:cNvSpPr/>
          <p:nvPr/>
        </p:nvSpPr>
        <p:spPr>
          <a:xfrm>
            <a:off x="4572074" y="29424"/>
            <a:ext cx="207633" cy="5483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4" name="Right Arrow 3"/>
          <p:cNvSpPr/>
          <p:nvPr/>
        </p:nvSpPr>
        <p:spPr>
          <a:xfrm rot="13196492">
            <a:off x="4765465" y="518157"/>
            <a:ext cx="1687501" cy="1086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0"/>
          </a:p>
        </p:txBody>
      </p:sp>
      <p:sp>
        <p:nvSpPr>
          <p:cNvPr id="6" name="TextBox 5"/>
          <p:cNvSpPr txBox="1"/>
          <p:nvPr/>
        </p:nvSpPr>
        <p:spPr>
          <a:xfrm>
            <a:off x="6349658" y="1487992"/>
            <a:ext cx="14627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You should be ticking these off!</a:t>
            </a:r>
            <a:endParaRPr lang="en-AU" sz="1500" dirty="0"/>
          </a:p>
        </p:txBody>
      </p:sp>
    </p:spTree>
    <p:extLst>
      <p:ext uri="{BB962C8B-B14F-4D97-AF65-F5344CB8AC3E}">
        <p14:creationId xmlns:p14="http://schemas.microsoft.com/office/powerpoint/2010/main" val="30189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3" grpId="0" animBg="1"/>
      <p:bldP spid="4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a guess!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57300"/>
            <a:ext cx="7149413" cy="3771636"/>
          </a:xfrm>
        </p:spPr>
        <p:txBody>
          <a:bodyPr>
            <a:normAutofit/>
          </a:bodyPr>
          <a:lstStyle/>
          <a:p>
            <a:r>
              <a:rPr lang="en-US" dirty="0"/>
              <a:t>How many stars do you think there are in the (observable) universe?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100 billion stars in the Milky Way and 100 billion galaxies in the universe so…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10 000 000 000 000 000 000 000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And that’s at the conservative end!!!</a:t>
            </a:r>
          </a:p>
          <a:p>
            <a:r>
              <a:rPr lang="en-US" dirty="0"/>
              <a:t>What about sand on every beach in the world?</a:t>
            </a:r>
          </a:p>
          <a:p>
            <a:r>
              <a:rPr lang="en-US" dirty="0"/>
              <a:t>Or atoms in one grain of sand?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733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270017-517C-46A6-9E7E-6C626A342BBE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273175"/>
          <a:ext cx="8353424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233">
                  <a:extLst>
                    <a:ext uri="{9D8B030D-6E8A-4147-A177-3AD203B41FA5}">
                      <a16:colId xmlns:a16="http://schemas.microsoft.com/office/drawing/2014/main" val="1011943243"/>
                    </a:ext>
                  </a:extLst>
                </a:gridCol>
                <a:gridCol w="288049">
                  <a:extLst>
                    <a:ext uri="{9D8B030D-6E8A-4147-A177-3AD203B41FA5}">
                      <a16:colId xmlns:a16="http://schemas.microsoft.com/office/drawing/2014/main" val="1178757460"/>
                    </a:ext>
                  </a:extLst>
                </a:gridCol>
                <a:gridCol w="1944332">
                  <a:extLst>
                    <a:ext uri="{9D8B030D-6E8A-4147-A177-3AD203B41FA5}">
                      <a16:colId xmlns:a16="http://schemas.microsoft.com/office/drawing/2014/main" val="2751641458"/>
                    </a:ext>
                  </a:extLst>
                </a:gridCol>
                <a:gridCol w="360061">
                  <a:extLst>
                    <a:ext uri="{9D8B030D-6E8A-4147-A177-3AD203B41FA5}">
                      <a16:colId xmlns:a16="http://schemas.microsoft.com/office/drawing/2014/main" val="3683947970"/>
                    </a:ext>
                  </a:extLst>
                </a:gridCol>
                <a:gridCol w="2808479">
                  <a:extLst>
                    <a:ext uri="{9D8B030D-6E8A-4147-A177-3AD203B41FA5}">
                      <a16:colId xmlns:a16="http://schemas.microsoft.com/office/drawing/2014/main" val="4095292571"/>
                    </a:ext>
                  </a:extLst>
                </a:gridCol>
                <a:gridCol w="216037">
                  <a:extLst>
                    <a:ext uri="{9D8B030D-6E8A-4147-A177-3AD203B41FA5}">
                      <a16:colId xmlns:a16="http://schemas.microsoft.com/office/drawing/2014/main" val="2171674077"/>
                    </a:ext>
                  </a:extLst>
                </a:gridCol>
                <a:gridCol w="1368233">
                  <a:extLst>
                    <a:ext uri="{9D8B030D-6E8A-4147-A177-3AD203B41FA5}">
                      <a16:colId xmlns:a16="http://schemas.microsoft.com/office/drawing/2014/main" val="1482396785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230000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100000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10x10x10x10x10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r>
                        <a:rPr lang="en-AU" sz="2000" baseline="30000" dirty="0"/>
                        <a:t>5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extLst>
                  <a:ext uri="{0D108BD9-81ED-4DB2-BD59-A6C34878D82A}">
                    <a16:rowId xmlns:a16="http://schemas.microsoft.com/office/drawing/2014/main" val="201404491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23000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10000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10x10x10x10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r>
                        <a:rPr lang="en-AU" sz="2000" baseline="30000" dirty="0"/>
                        <a:t>4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extLst>
                  <a:ext uri="{0D108BD9-81ED-4DB2-BD59-A6C34878D82A}">
                    <a16:rowId xmlns:a16="http://schemas.microsoft.com/office/drawing/2014/main" val="287073632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2300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10x10x10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r>
                        <a:rPr lang="en-AU" sz="2000" baseline="30000" dirty="0"/>
                        <a:t>3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extLst>
                  <a:ext uri="{0D108BD9-81ED-4DB2-BD59-A6C34878D82A}">
                    <a16:rowId xmlns:a16="http://schemas.microsoft.com/office/drawing/2014/main" val="363075214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230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 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10x10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r>
                        <a:rPr lang="en-AU" sz="2000" baseline="30000" dirty="0"/>
                        <a:t>2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extLst>
                  <a:ext uri="{0D108BD9-81ED-4DB2-BD59-A6C34878D82A}">
                    <a16:rowId xmlns:a16="http://schemas.microsoft.com/office/drawing/2014/main" val="168394244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23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 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 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=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2.3 x 10</a:t>
                      </a:r>
                      <a:endParaRPr lang="en-A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45" marR="91445" marT="45712" marB="45712" anchor="b"/>
                </a:tc>
                <a:extLst>
                  <a:ext uri="{0D108BD9-81ED-4DB2-BD59-A6C34878D82A}">
                    <a16:rowId xmlns:a16="http://schemas.microsoft.com/office/drawing/2014/main" val="305743015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8FE9021-2417-4060-A01D-FF6B36516945}"/>
              </a:ext>
            </a:extLst>
          </p:cNvPr>
          <p:cNvSpPr/>
          <p:nvPr/>
        </p:nvSpPr>
        <p:spPr>
          <a:xfrm>
            <a:off x="611189" y="3665539"/>
            <a:ext cx="1152525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8B67D-3C0E-4DA9-B2C8-4A313644D80E}"/>
              </a:ext>
            </a:extLst>
          </p:cNvPr>
          <p:cNvSpPr/>
          <p:nvPr/>
        </p:nvSpPr>
        <p:spPr>
          <a:xfrm>
            <a:off x="1763713" y="3665539"/>
            <a:ext cx="2303462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84F9B9-3A9B-419A-AFC9-B10153AC5E08}"/>
              </a:ext>
            </a:extLst>
          </p:cNvPr>
          <p:cNvSpPr/>
          <p:nvPr/>
        </p:nvSpPr>
        <p:spPr>
          <a:xfrm>
            <a:off x="4067175" y="3665539"/>
            <a:ext cx="2520950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282ECD-040B-4CB6-B128-16FF7D6C2284}"/>
              </a:ext>
            </a:extLst>
          </p:cNvPr>
          <p:cNvSpPr/>
          <p:nvPr/>
        </p:nvSpPr>
        <p:spPr>
          <a:xfrm>
            <a:off x="7092951" y="3667126"/>
            <a:ext cx="1763713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19B1B4-074A-4F62-A460-8F6CC05B8975}"/>
              </a:ext>
            </a:extLst>
          </p:cNvPr>
          <p:cNvSpPr/>
          <p:nvPr/>
        </p:nvSpPr>
        <p:spPr>
          <a:xfrm>
            <a:off x="595314" y="3140076"/>
            <a:ext cx="1152525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BE2EB1-6C2C-4C8E-A4F8-35B1D07274C1}"/>
              </a:ext>
            </a:extLst>
          </p:cNvPr>
          <p:cNvSpPr/>
          <p:nvPr/>
        </p:nvSpPr>
        <p:spPr>
          <a:xfrm>
            <a:off x="1792288" y="3140076"/>
            <a:ext cx="2303462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533CB3-7729-42F8-A20A-6F9ECE6BD33E}"/>
              </a:ext>
            </a:extLst>
          </p:cNvPr>
          <p:cNvSpPr/>
          <p:nvPr/>
        </p:nvSpPr>
        <p:spPr>
          <a:xfrm>
            <a:off x="4022725" y="3159125"/>
            <a:ext cx="2520950" cy="503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7E0925-04F2-474A-9291-E9E7CD4C75C8}"/>
              </a:ext>
            </a:extLst>
          </p:cNvPr>
          <p:cNvSpPr/>
          <p:nvPr/>
        </p:nvSpPr>
        <p:spPr>
          <a:xfrm>
            <a:off x="7011988" y="3017839"/>
            <a:ext cx="1763712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8540D-2252-4864-942F-DE2EC3772FDC}"/>
              </a:ext>
            </a:extLst>
          </p:cNvPr>
          <p:cNvSpPr/>
          <p:nvPr/>
        </p:nvSpPr>
        <p:spPr>
          <a:xfrm>
            <a:off x="468314" y="2481264"/>
            <a:ext cx="1150937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D9B032-1F63-4037-A44B-8975AD8D0F13}"/>
              </a:ext>
            </a:extLst>
          </p:cNvPr>
          <p:cNvSpPr/>
          <p:nvPr/>
        </p:nvSpPr>
        <p:spPr>
          <a:xfrm>
            <a:off x="1751013" y="2513014"/>
            <a:ext cx="2303462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CEACB5-9198-4B4B-AC02-C5C2BB27FA60}"/>
              </a:ext>
            </a:extLst>
          </p:cNvPr>
          <p:cNvSpPr/>
          <p:nvPr/>
        </p:nvSpPr>
        <p:spPr>
          <a:xfrm>
            <a:off x="4095750" y="2574925"/>
            <a:ext cx="2520950" cy="503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33C67-99C6-4F98-AA68-C1E531DE14CA}"/>
              </a:ext>
            </a:extLst>
          </p:cNvPr>
          <p:cNvSpPr/>
          <p:nvPr/>
        </p:nvSpPr>
        <p:spPr>
          <a:xfrm>
            <a:off x="6884988" y="2532064"/>
            <a:ext cx="1763712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B02F30-8692-4ADC-8EC1-55976DADC839}"/>
              </a:ext>
            </a:extLst>
          </p:cNvPr>
          <p:cNvSpPr/>
          <p:nvPr/>
        </p:nvSpPr>
        <p:spPr>
          <a:xfrm>
            <a:off x="476251" y="1900239"/>
            <a:ext cx="1152525" cy="5032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A849B7-DE46-4CFD-B0EB-DCED45CA7AD5}"/>
              </a:ext>
            </a:extLst>
          </p:cNvPr>
          <p:cNvSpPr/>
          <p:nvPr/>
        </p:nvSpPr>
        <p:spPr>
          <a:xfrm>
            <a:off x="1698626" y="1954214"/>
            <a:ext cx="2303463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A3CCCFA-6E5A-4C8B-BAED-B783EE7AE87D}"/>
              </a:ext>
            </a:extLst>
          </p:cNvPr>
          <p:cNvSpPr/>
          <p:nvPr/>
        </p:nvSpPr>
        <p:spPr>
          <a:xfrm>
            <a:off x="4105276" y="1954214"/>
            <a:ext cx="2906713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D7749A-7311-4265-BADF-73B26E01E7D5}"/>
              </a:ext>
            </a:extLst>
          </p:cNvPr>
          <p:cNvSpPr/>
          <p:nvPr/>
        </p:nvSpPr>
        <p:spPr>
          <a:xfrm>
            <a:off x="7011988" y="1990726"/>
            <a:ext cx="1763712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277E32-5FA3-4A0F-809F-B1F63139C906}"/>
              </a:ext>
            </a:extLst>
          </p:cNvPr>
          <p:cNvSpPr/>
          <p:nvPr/>
        </p:nvSpPr>
        <p:spPr>
          <a:xfrm>
            <a:off x="544514" y="1384301"/>
            <a:ext cx="1152525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F71AD2-C60E-44F6-8F14-F8D845035F3A}"/>
              </a:ext>
            </a:extLst>
          </p:cNvPr>
          <p:cNvSpPr/>
          <p:nvPr/>
        </p:nvSpPr>
        <p:spPr>
          <a:xfrm>
            <a:off x="1684338" y="1384301"/>
            <a:ext cx="2305050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02BE93-D4D9-4E7F-B488-21519334660D}"/>
              </a:ext>
            </a:extLst>
          </p:cNvPr>
          <p:cNvSpPr/>
          <p:nvPr/>
        </p:nvSpPr>
        <p:spPr>
          <a:xfrm>
            <a:off x="4054476" y="1408114"/>
            <a:ext cx="3038475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5EE285-3536-44AB-8340-6CDB0B7BB723}"/>
              </a:ext>
            </a:extLst>
          </p:cNvPr>
          <p:cNvSpPr/>
          <p:nvPr/>
        </p:nvSpPr>
        <p:spPr>
          <a:xfrm>
            <a:off x="6985001" y="1365251"/>
            <a:ext cx="1763713" cy="504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  <p:sp>
        <p:nvSpPr>
          <p:cNvPr id="5178" name="TextBox 28">
            <a:extLst>
              <a:ext uri="{FF2B5EF4-FFF2-40B4-BE49-F238E27FC236}">
                <a16:creationId xmlns:a16="http://schemas.microsoft.com/office/drawing/2014/main" id="{0DD88A63-10EF-40B2-B83F-7C3DFE9F5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4" y="376238"/>
            <a:ext cx="77755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AU" altLang="en-US"/>
              <a:t>As we saw yesterday, we can use Scientific notation on very large numbers.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A46FC0-B135-48A8-85AF-63E3A8E89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4416426"/>
            <a:ext cx="81343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/>
            <a:r>
              <a:rPr lang="en-AU" altLang="en-US" b="1" dirty="0">
                <a:solidFill>
                  <a:srgbClr val="FF0000"/>
                </a:solidFill>
              </a:rPr>
              <a:t>This is know as Scientific Notation and it is a way of writing and comparing really big numbers easily.</a:t>
            </a:r>
            <a:endParaRPr lang="en-AU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0C2498-1388-49DA-A2D7-2599ADFEAE38}"/>
              </a:ext>
            </a:extLst>
          </p:cNvPr>
          <p:cNvSpPr/>
          <p:nvPr/>
        </p:nvSpPr>
        <p:spPr>
          <a:xfrm>
            <a:off x="7056438" y="1057300"/>
            <a:ext cx="1980058" cy="33591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508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2387" y="5407224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11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-28977" y="705570"/>
            <a:ext cx="917297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-28977" y="1105345"/>
            <a:ext cx="9172977" cy="398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5407" y="0"/>
            <a:ext cx="480053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333" dirty="0"/>
              <a:t>24</a:t>
            </a:r>
          </a:p>
          <a:p>
            <a:r>
              <a:rPr lang="en-AU" sz="1333" dirty="0"/>
              <a:t>7</a:t>
            </a:r>
          </a:p>
          <a:p>
            <a:r>
              <a:rPr lang="en-AU" sz="1333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3728" y="1105345"/>
            <a:ext cx="0" cy="4540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1993" y="105397"/>
            <a:ext cx="2416495" cy="45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333" dirty="0"/>
              <a:t>Scientific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28938" y="100308"/>
            <a:ext cx="1320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4" y="745073"/>
            <a:ext cx="93198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EQ – How is scientific (index) notation used to write very large numbers?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8977" y="1136724"/>
            <a:ext cx="2279318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What is scientific notation or standard form?</a:t>
            </a:r>
          </a:p>
          <a:p>
            <a:endParaRPr lang="en-AU" sz="1500" dirty="0"/>
          </a:p>
          <a:p>
            <a:endParaRPr lang="en-AU" sz="1500" dirty="0"/>
          </a:p>
          <a:p>
            <a:endParaRPr lang="en-AU" sz="1500" dirty="0"/>
          </a:p>
          <a:p>
            <a:r>
              <a:rPr lang="en-AU" sz="1500" dirty="0"/>
              <a:t>How do I write in scientific notation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7D82A7-FED4-4203-9B51-0255671AA1FB}"/>
              </a:ext>
            </a:extLst>
          </p:cNvPr>
          <p:cNvGrpSpPr/>
          <p:nvPr/>
        </p:nvGrpSpPr>
        <p:grpSpPr>
          <a:xfrm>
            <a:off x="7121214" y="2561921"/>
            <a:ext cx="2022786" cy="2442713"/>
            <a:chOff x="3445209" y="4341602"/>
            <a:chExt cx="2022786" cy="244271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7D458C9-15D2-41E6-BEC9-6796B42692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87" t="14776" r="49442"/>
            <a:stretch/>
          </p:blipFill>
          <p:spPr>
            <a:xfrm>
              <a:off x="3445209" y="4341602"/>
              <a:ext cx="2022786" cy="2442713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12C6B9-36CD-4564-AAD5-C8FCF38E977D}"/>
                </a:ext>
              </a:extLst>
            </p:cNvPr>
            <p:cNvSpPr/>
            <p:nvPr/>
          </p:nvSpPr>
          <p:spPr>
            <a:xfrm>
              <a:off x="3922295" y="4812632"/>
              <a:ext cx="360947" cy="33688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316279E-2AC5-486F-88C5-BB64F5FBBFEF}"/>
                </a:ext>
              </a:extLst>
            </p:cNvPr>
            <p:cNvSpPr/>
            <p:nvPr/>
          </p:nvSpPr>
          <p:spPr>
            <a:xfrm>
              <a:off x="4932947" y="6345910"/>
              <a:ext cx="204537" cy="29552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F5FFA88-14BA-4A5A-A2D0-8DEB2F542FB6}"/>
                </a:ext>
              </a:extLst>
            </p:cNvPr>
            <p:cNvCxnSpPr>
              <a:stCxn id="19" idx="5"/>
              <a:endCxn id="20" idx="1"/>
            </p:cNvCxnSpPr>
            <p:nvPr/>
          </p:nvCxnSpPr>
          <p:spPr>
            <a:xfrm>
              <a:off x="4230383" y="5100180"/>
              <a:ext cx="732518" cy="12890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1">
            <a:extLst>
              <a:ext uri="{FF2B5EF4-FFF2-40B4-BE49-F238E27FC236}">
                <a16:creationId xmlns:a16="http://schemas.microsoft.com/office/drawing/2014/main" id="{AE587076-76C7-4514-9669-06EB73A34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3023" y="1164036"/>
            <a:ext cx="6950977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write in scientific notation, follow the 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</a:t>
            </a:r>
            <a:r>
              <a:rPr kumimoji="0" lang="en-US" altLang="en-US" sz="2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 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number greater than 1 and but less than 10.</a:t>
            </a:r>
          </a:p>
        </p:txBody>
      </p:sp>
      <p:pic>
        <p:nvPicPr>
          <p:cNvPr id="3074" name="Picture 2" descr="image0.png">
            <a:extLst>
              <a:ext uri="{FF2B5EF4-FFF2-40B4-BE49-F238E27FC236}">
                <a16:creationId xmlns:a16="http://schemas.microsoft.com/office/drawing/2014/main" id="{5AB53A94-2C7A-46B2-82A8-B555088CC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0690" y="1448172"/>
            <a:ext cx="9906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D1BE88B6-DB90-49CC-8085-A4CB2580F6A4}"/>
              </a:ext>
            </a:extLst>
          </p:cNvPr>
          <p:cNvSpPr/>
          <p:nvPr/>
        </p:nvSpPr>
        <p:spPr>
          <a:xfrm>
            <a:off x="2236608" y="2237881"/>
            <a:ext cx="6717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1. Move the decimal place to the </a:t>
            </a:r>
            <a:r>
              <a:rPr lang="en-AU" i="1" dirty="0"/>
              <a:t>left </a:t>
            </a:r>
            <a:r>
              <a:rPr lang="en-AU" dirty="0"/>
              <a:t>until it is just behind the highest number.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678BBB-37D0-468A-BB6A-968CE13FE483}"/>
              </a:ext>
            </a:extLst>
          </p:cNvPr>
          <p:cNvSpPr/>
          <p:nvPr/>
        </p:nvSpPr>
        <p:spPr>
          <a:xfrm>
            <a:off x="2257147" y="2885086"/>
            <a:ext cx="5187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2. Count the number of places the decimal place was shifted – this becomes the power above the 10.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66E227-7C44-4C06-8C3D-C3FE343EFA12}"/>
              </a:ext>
            </a:extLst>
          </p:cNvPr>
          <p:cNvSpPr/>
          <p:nvPr/>
        </p:nvSpPr>
        <p:spPr>
          <a:xfrm>
            <a:off x="2236608" y="3614125"/>
            <a:ext cx="51871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3. Write it in Scientific format.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157103-E8E8-4C9B-B49F-5B4364DAA6EC}"/>
              </a:ext>
            </a:extLst>
          </p:cNvPr>
          <p:cNvSpPr/>
          <p:nvPr/>
        </p:nvSpPr>
        <p:spPr>
          <a:xfrm>
            <a:off x="2257147" y="4122831"/>
            <a:ext cx="518710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 err="1"/>
              <a:t>Eg</a:t>
            </a:r>
            <a:r>
              <a:rPr lang="en-AU" sz="2000" dirty="0"/>
              <a:t>.</a:t>
            </a:r>
          </a:p>
          <a:p>
            <a:endParaRPr lang="en-AU" sz="2000" dirty="0"/>
          </a:p>
          <a:p>
            <a:r>
              <a:rPr lang="en-AU" sz="2000" dirty="0"/>
              <a:t>32 560 000  </a:t>
            </a:r>
          </a:p>
        </p:txBody>
      </p:sp>
      <p:sp>
        <p:nvSpPr>
          <p:cNvPr id="31" name="Arrow: Curved Up 30">
            <a:extLst>
              <a:ext uri="{FF2B5EF4-FFF2-40B4-BE49-F238E27FC236}">
                <a16:creationId xmlns:a16="http://schemas.microsoft.com/office/drawing/2014/main" id="{22847E81-D9CC-42F4-8F93-7BA2067A5C21}"/>
              </a:ext>
            </a:extLst>
          </p:cNvPr>
          <p:cNvSpPr/>
          <p:nvPr/>
        </p:nvSpPr>
        <p:spPr>
          <a:xfrm flipH="1">
            <a:off x="3311481" y="5029441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3" name="Arrow: Curved Up 32">
            <a:extLst>
              <a:ext uri="{FF2B5EF4-FFF2-40B4-BE49-F238E27FC236}">
                <a16:creationId xmlns:a16="http://schemas.microsoft.com/office/drawing/2014/main" id="{C4963E3A-9A1A-4029-A371-6EC166480F07}"/>
              </a:ext>
            </a:extLst>
          </p:cNvPr>
          <p:cNvSpPr/>
          <p:nvPr/>
        </p:nvSpPr>
        <p:spPr>
          <a:xfrm flipH="1">
            <a:off x="3178063" y="5029441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4" name="Arrow: Curved Up 33">
            <a:extLst>
              <a:ext uri="{FF2B5EF4-FFF2-40B4-BE49-F238E27FC236}">
                <a16:creationId xmlns:a16="http://schemas.microsoft.com/office/drawing/2014/main" id="{B16787A4-DA0D-41D1-89D7-0D29A3B4A364}"/>
              </a:ext>
            </a:extLst>
          </p:cNvPr>
          <p:cNvSpPr/>
          <p:nvPr/>
        </p:nvSpPr>
        <p:spPr>
          <a:xfrm flipH="1">
            <a:off x="3028186" y="5029441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5" name="Arrow: Curved Up 34">
            <a:extLst>
              <a:ext uri="{FF2B5EF4-FFF2-40B4-BE49-F238E27FC236}">
                <a16:creationId xmlns:a16="http://schemas.microsoft.com/office/drawing/2014/main" id="{C2E5A453-8940-4551-BF57-B3E0DAF5E247}"/>
              </a:ext>
            </a:extLst>
          </p:cNvPr>
          <p:cNvSpPr/>
          <p:nvPr/>
        </p:nvSpPr>
        <p:spPr>
          <a:xfrm flipH="1">
            <a:off x="2885950" y="5010914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6" name="Arrow: Curved Up 35">
            <a:extLst>
              <a:ext uri="{FF2B5EF4-FFF2-40B4-BE49-F238E27FC236}">
                <a16:creationId xmlns:a16="http://schemas.microsoft.com/office/drawing/2014/main" id="{2B6289FD-0CE2-468B-A585-12D78AA28692}"/>
              </a:ext>
            </a:extLst>
          </p:cNvPr>
          <p:cNvSpPr/>
          <p:nvPr/>
        </p:nvSpPr>
        <p:spPr>
          <a:xfrm flipH="1">
            <a:off x="2752532" y="5009858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7" name="Arrow: Curved Up 36">
            <a:extLst>
              <a:ext uri="{FF2B5EF4-FFF2-40B4-BE49-F238E27FC236}">
                <a16:creationId xmlns:a16="http://schemas.microsoft.com/office/drawing/2014/main" id="{A5CC23BC-0782-4973-8086-1084E125BC67}"/>
              </a:ext>
            </a:extLst>
          </p:cNvPr>
          <p:cNvSpPr/>
          <p:nvPr/>
        </p:nvSpPr>
        <p:spPr>
          <a:xfrm flipH="1">
            <a:off x="2614992" y="5017427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8" name="Arrow: Curved Up 37">
            <a:extLst>
              <a:ext uri="{FF2B5EF4-FFF2-40B4-BE49-F238E27FC236}">
                <a16:creationId xmlns:a16="http://schemas.microsoft.com/office/drawing/2014/main" id="{05E672A8-8BB5-47C3-AD6A-0C85555A0980}"/>
              </a:ext>
            </a:extLst>
          </p:cNvPr>
          <p:cNvSpPr/>
          <p:nvPr/>
        </p:nvSpPr>
        <p:spPr>
          <a:xfrm flipH="1">
            <a:off x="2434948" y="5032167"/>
            <a:ext cx="216586" cy="301138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420DE7-7BF2-429E-B42E-035E99536A87}"/>
              </a:ext>
            </a:extLst>
          </p:cNvPr>
          <p:cNvSpPr txBox="1"/>
          <p:nvPr/>
        </p:nvSpPr>
        <p:spPr>
          <a:xfrm>
            <a:off x="2395434" y="5300349"/>
            <a:ext cx="1276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7   6  5  4  3  2  1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A2212A-A0DF-4B07-9BEE-655746B4E916}"/>
              </a:ext>
            </a:extLst>
          </p:cNvPr>
          <p:cNvSpPr txBox="1"/>
          <p:nvPr/>
        </p:nvSpPr>
        <p:spPr>
          <a:xfrm>
            <a:off x="3686367" y="4676829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= 3.256 x 10</a:t>
            </a:r>
            <a:r>
              <a:rPr lang="en-AU" sz="2400" baseline="30000" dirty="0"/>
              <a:t>7</a:t>
            </a:r>
            <a:endParaRPr lang="en-AU" sz="24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8970FB9-4736-45BB-B4C9-58037DA6EB55}"/>
              </a:ext>
            </a:extLst>
          </p:cNvPr>
          <p:cNvCxnSpPr>
            <a:cxnSpLocks/>
          </p:cNvCxnSpPr>
          <p:nvPr/>
        </p:nvCxnSpPr>
        <p:spPr>
          <a:xfrm flipV="1">
            <a:off x="2614992" y="4861752"/>
            <a:ext cx="2677088" cy="5454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  <p:bldP spid="30" grpId="0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>
            <a:extLst>
              <a:ext uri="{FF2B5EF4-FFF2-40B4-BE49-F238E27FC236}">
                <a16:creationId xmlns:a16="http://schemas.microsoft.com/office/drawing/2014/main" id="{12D70EE6-3FFA-4045-A15C-3F317592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56" r="24869"/>
          <a:stretch>
            <a:fillRect/>
          </a:stretch>
        </p:blipFill>
        <p:spPr bwMode="auto">
          <a:xfrm>
            <a:off x="1331914" y="481014"/>
            <a:ext cx="2586037" cy="494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2A32E2-A1D0-494E-8A37-AB7D8722278D}"/>
              </a:ext>
            </a:extLst>
          </p:cNvPr>
          <p:cNvCxnSpPr>
            <a:cxnSpLocks/>
          </p:cNvCxnSpPr>
          <p:nvPr/>
        </p:nvCxnSpPr>
        <p:spPr>
          <a:xfrm flipH="1">
            <a:off x="2771775" y="2676526"/>
            <a:ext cx="2736850" cy="20875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4" name="TextBox 11">
            <a:extLst>
              <a:ext uri="{FF2B5EF4-FFF2-40B4-BE49-F238E27FC236}">
                <a16:creationId xmlns:a16="http://schemas.microsoft.com/office/drawing/2014/main" id="{1482ED6B-CF27-4C2F-AD49-29F6F3C8D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9" y="2352676"/>
            <a:ext cx="4321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AU" altLang="en-US"/>
              <a:t>3.4  		3 = 3400	</a:t>
            </a:r>
          </a:p>
        </p:txBody>
      </p:sp>
      <p:sp>
        <p:nvSpPr>
          <p:cNvPr id="10245" name="TextBox 12">
            <a:extLst>
              <a:ext uri="{FF2B5EF4-FFF2-40B4-BE49-F238E27FC236}">
                <a16:creationId xmlns:a16="http://schemas.microsoft.com/office/drawing/2014/main" id="{299F402F-2678-4D5C-809F-7249453E0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352676"/>
            <a:ext cx="86995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AU" altLang="en-US"/>
              <a:t>10</a:t>
            </a:r>
            <a:r>
              <a:rPr lang="en-AU" altLang="en-US" i="1" baseline="30000"/>
              <a:t>x</a:t>
            </a:r>
            <a:endParaRPr lang="en-AU" altLang="en-US"/>
          </a:p>
        </p:txBody>
      </p:sp>
      <p:sp>
        <p:nvSpPr>
          <p:cNvPr id="10249" name="TextBox 18">
            <a:extLst>
              <a:ext uri="{FF2B5EF4-FFF2-40B4-BE49-F238E27FC236}">
                <a16:creationId xmlns:a16="http://schemas.microsoft.com/office/drawing/2014/main" id="{3C5FBE65-2D4C-4853-A149-90B622F76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769939"/>
            <a:ext cx="33845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AU" altLang="en-US"/>
              <a:t>Using the calculator.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0DCFC-3BC3-476C-8BDF-469C0A30785E}"/>
              </a:ext>
            </a:extLst>
          </p:cNvPr>
          <p:cNvSpPr/>
          <p:nvPr/>
        </p:nvSpPr>
        <p:spPr>
          <a:xfrm>
            <a:off x="1841500" y="1344614"/>
            <a:ext cx="1652588" cy="649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434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these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181365"/>
            <a:ext cx="4869160" cy="872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322" y="2054021"/>
            <a:ext cx="2418565" cy="8524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887" y="2038005"/>
            <a:ext cx="4499367" cy="8684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813" y="3080268"/>
            <a:ext cx="4699746" cy="6901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976" y="3784382"/>
            <a:ext cx="7061431" cy="8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5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133827"/>
            <a:ext cx="7149413" cy="502792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 many stars do you think there are in the (observable) universe?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100 billion stars in the Milky Way and 100 billion galaxies in the universe so…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10 000 000 000 000 000 000 000 = 1 x 10</a:t>
            </a:r>
            <a:r>
              <a:rPr lang="en-US" baseline="30000" dirty="0">
                <a:solidFill>
                  <a:srgbClr val="FF0000"/>
                </a:solidFill>
              </a:rPr>
              <a:t>22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And that’s at the conservative end!!!</a:t>
            </a:r>
          </a:p>
          <a:p>
            <a:r>
              <a:rPr lang="en-US" dirty="0"/>
              <a:t>What about sand on every beach in the world?</a:t>
            </a:r>
          </a:p>
          <a:p>
            <a:pPr lvl="1"/>
            <a:r>
              <a:rPr lang="en-AU" dirty="0"/>
              <a:t>assuming an average size and using how many grains are in a teaspoon and multiplying up there is approximately </a:t>
            </a:r>
            <a:r>
              <a:rPr lang="en-AU" b="1" dirty="0"/>
              <a:t>7.5</a:t>
            </a:r>
            <a:r>
              <a:rPr lang="en-AU" dirty="0"/>
              <a:t> x </a:t>
            </a:r>
            <a:r>
              <a:rPr lang="en-AU" b="1" dirty="0"/>
              <a:t>10</a:t>
            </a:r>
            <a:r>
              <a:rPr lang="en-AU" b="1" baseline="30000" dirty="0"/>
              <a:t>18</a:t>
            </a:r>
            <a:r>
              <a:rPr lang="en-AU" b="1" dirty="0"/>
              <a:t> grains</a:t>
            </a:r>
            <a:r>
              <a:rPr lang="en-AU" dirty="0"/>
              <a:t> of sand on the beach in the world. </a:t>
            </a:r>
            <a:endParaRPr lang="en-US" dirty="0"/>
          </a:p>
          <a:p>
            <a:r>
              <a:rPr lang="en-US" dirty="0"/>
              <a:t>Or atoms in one grain of sand?</a:t>
            </a:r>
          </a:p>
          <a:p>
            <a:pPr lvl="1"/>
            <a:r>
              <a:rPr lang="en-US" dirty="0"/>
              <a:t>Assuming a size of 0.00265g per grain of sand and that the sand is made from Si0</a:t>
            </a:r>
            <a:r>
              <a:rPr lang="en-US" baseline="-25000" dirty="0"/>
              <a:t>2</a:t>
            </a:r>
            <a:r>
              <a:rPr lang="en-US" dirty="0"/>
              <a:t> the there is 5 x 10</a:t>
            </a:r>
            <a:r>
              <a:rPr lang="en-US" baseline="30000" dirty="0"/>
              <a:t>19</a:t>
            </a:r>
            <a:r>
              <a:rPr lang="en-US" dirty="0"/>
              <a:t> atoms in a grain of sand.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14180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Page 148 11.10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145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1720</TotalTime>
  <Words>417</Words>
  <Application>Microsoft Office PowerPoint</Application>
  <PresentationFormat>On-screen Show (16:10)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My Number Interactive Notebook</vt:lpstr>
      <vt:lpstr>PowerPoint Presentation</vt:lpstr>
      <vt:lpstr>PowerPoint Presentation</vt:lpstr>
      <vt:lpstr>Take a guess!</vt:lpstr>
      <vt:lpstr>PowerPoint Presentation</vt:lpstr>
      <vt:lpstr>PowerPoint Presentation</vt:lpstr>
      <vt:lpstr>PowerPoint Presentation</vt:lpstr>
      <vt:lpstr>Let’s try these together</vt:lpstr>
      <vt:lpstr>PowerPoint Presentation</vt:lpstr>
      <vt:lpstr>Now you try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91</cp:revision>
  <dcterms:created xsi:type="dcterms:W3CDTF">2014-05-14T02:58:57Z</dcterms:created>
  <dcterms:modified xsi:type="dcterms:W3CDTF">2017-08-15T14:43:15Z</dcterms:modified>
</cp:coreProperties>
</file>
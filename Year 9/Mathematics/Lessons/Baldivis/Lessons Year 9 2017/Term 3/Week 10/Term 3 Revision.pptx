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0" r:id="rId2"/>
    <p:sldId id="323" r:id="rId3"/>
    <p:sldId id="259" r:id="rId4"/>
    <p:sldId id="324" r:id="rId5"/>
    <p:sldId id="325" r:id="rId6"/>
    <p:sldId id="327" r:id="rId7"/>
    <p:sldId id="329" r:id="rId8"/>
    <p:sldId id="331" r:id="rId9"/>
    <p:sldId id="332" r:id="rId10"/>
    <p:sldId id="330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18" r:id="rId20"/>
    <p:sldId id="292" r:id="rId21"/>
    <p:sldId id="29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7691" autoAdjust="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18/09/2017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18/09/2017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18/09/2017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18/09/2017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18/09/2017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18/09/2017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18/09/2017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18/09/2017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18/09/2017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18/09/2017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18/09/2017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18/09/2017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18/09/2017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MK3-MtrvSW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US" dirty="0" smtClean="0"/>
              <a:t>Revision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572292" y="946268"/>
            <a:ext cx="38164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Don’t forget to keep your INB up to date</a:t>
            </a:r>
            <a:endParaRPr lang="en-AU" sz="2800" dirty="0"/>
          </a:p>
        </p:txBody>
      </p:sp>
      <p:sp>
        <p:nvSpPr>
          <p:cNvPr id="14" name="Title 2"/>
          <p:cNvSpPr txBox="1">
            <a:spLocks/>
          </p:cNvSpPr>
          <p:nvPr/>
        </p:nvSpPr>
        <p:spPr>
          <a:xfrm>
            <a:off x="4572089" y="5600296"/>
            <a:ext cx="4561918" cy="11430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/>
              <a:t>Have YOU been doing your summaries?</a:t>
            </a:r>
            <a:endParaRPr lang="en-AU" sz="3200" dirty="0"/>
          </a:p>
        </p:txBody>
      </p:sp>
      <p:pic>
        <p:nvPicPr>
          <p:cNvPr id="16" name="Picture 15" descr="Image result for finger yo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70" y="2856048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26173" y="5807659"/>
            <a:ext cx="5117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Your book, your responsibility!</a:t>
            </a:r>
            <a:endParaRPr lang="en-AU" sz="2800" dirty="0"/>
          </a:p>
        </p:txBody>
      </p:sp>
      <p:sp>
        <p:nvSpPr>
          <p:cNvPr id="3" name="Oval 2"/>
          <p:cNvSpPr/>
          <p:nvPr/>
        </p:nvSpPr>
        <p:spPr>
          <a:xfrm>
            <a:off x="4572089" y="35309"/>
            <a:ext cx="249159" cy="6579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ight Arrow 3"/>
          <p:cNvSpPr/>
          <p:nvPr/>
        </p:nvSpPr>
        <p:spPr>
          <a:xfrm rot="13196492">
            <a:off x="4804157" y="621788"/>
            <a:ext cx="2025001" cy="13040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6705190" y="1785590"/>
            <a:ext cx="175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You should be ticking these off!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894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3" grpId="0" animBg="1"/>
      <p:bldP spid="4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Scientific Notation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5842992" cy="10471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86" y="2464825"/>
            <a:ext cx="2902278" cy="10229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64" y="2445605"/>
            <a:ext cx="5399240" cy="10421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696321"/>
            <a:ext cx="5639695" cy="8282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771" y="4541258"/>
            <a:ext cx="8473717" cy="96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50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5842992" cy="10471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86" y="2464825"/>
            <a:ext cx="2902278" cy="102293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696321"/>
            <a:ext cx="5639695" cy="8282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771" y="4541258"/>
            <a:ext cx="8473717" cy="96247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600" y="1932413"/>
            <a:ext cx="1440160" cy="42578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587" y="2858223"/>
            <a:ext cx="2582109" cy="63714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5622" y="2713676"/>
            <a:ext cx="5437850" cy="78169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110424"/>
            <a:ext cx="6916552" cy="46198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423" y="4938631"/>
            <a:ext cx="8820150" cy="819150"/>
          </a:xfrm>
          <a:prstGeom prst="rect">
            <a:avLst/>
          </a:prstGeom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612829" y="33968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Scientific Notation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0400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0B48D0D-787F-47BF-A81D-345AACE227A3}"/>
              </a:ext>
            </a:extLst>
          </p:cNvPr>
          <p:cNvSpPr/>
          <p:nvPr/>
        </p:nvSpPr>
        <p:spPr>
          <a:xfrm>
            <a:off x="999081" y="2166125"/>
            <a:ext cx="1554549" cy="5018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70A1A03-6F78-4AAE-9A24-F71F4BAA68B3}"/>
              </a:ext>
            </a:extLst>
          </p:cNvPr>
          <p:cNvSpPr/>
          <p:nvPr/>
        </p:nvSpPr>
        <p:spPr>
          <a:xfrm>
            <a:off x="999080" y="3745041"/>
            <a:ext cx="1554549" cy="5018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C9CBDC8-38D1-47BE-81FE-B65B415024EB}"/>
              </a:ext>
            </a:extLst>
          </p:cNvPr>
          <p:cNvSpPr/>
          <p:nvPr/>
        </p:nvSpPr>
        <p:spPr>
          <a:xfrm>
            <a:off x="999080" y="5510382"/>
            <a:ext cx="1554549" cy="5018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1275683"/>
            <a:ext cx="1970508" cy="159445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1" y="1489074"/>
            <a:ext cx="3198479" cy="859806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612829" y="33968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Scientific Notation- Multiplying and Dividing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825437" y="2665542"/>
            <a:ext cx="3456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 8 x 9 x 10</a:t>
            </a:r>
            <a:r>
              <a:rPr lang="en-AU" sz="2400" baseline="30000" dirty="0" smtClean="0"/>
              <a:t>6  </a:t>
            </a:r>
            <a:r>
              <a:rPr lang="en-AU" sz="2400" dirty="0" smtClean="0"/>
              <a:t>x 10</a:t>
            </a:r>
            <a:r>
              <a:rPr lang="en-AU" sz="2400" baseline="30000" dirty="0" smtClean="0"/>
              <a:t>5</a:t>
            </a:r>
          </a:p>
          <a:p>
            <a:r>
              <a:rPr lang="en-US" sz="2400" dirty="0" smtClean="0"/>
              <a:t>= 72 x </a:t>
            </a:r>
            <a:r>
              <a:rPr lang="en-AU" sz="2400" dirty="0" smtClean="0"/>
              <a:t>10</a:t>
            </a:r>
            <a:r>
              <a:rPr lang="en-AU" sz="2400" baseline="30000" dirty="0" smtClean="0"/>
              <a:t>6+5</a:t>
            </a:r>
            <a:r>
              <a:rPr lang="en-US" sz="2400" dirty="0" smtClean="0"/>
              <a:t> </a:t>
            </a:r>
          </a:p>
          <a:p>
            <a:r>
              <a:rPr lang="en-US" sz="2400" dirty="0"/>
              <a:t>= </a:t>
            </a:r>
            <a:r>
              <a:rPr lang="en-US" sz="2400" dirty="0" smtClean="0"/>
              <a:t>7.2 </a:t>
            </a:r>
            <a:r>
              <a:rPr lang="en-US" sz="2400" dirty="0"/>
              <a:t>x </a:t>
            </a:r>
            <a:r>
              <a:rPr lang="en-AU" sz="2400" dirty="0" smtClean="0"/>
              <a:t>10</a:t>
            </a:r>
            <a:r>
              <a:rPr lang="en-AU" sz="2400" baseline="30000" dirty="0" smtClean="0"/>
              <a:t>1 </a:t>
            </a:r>
            <a:r>
              <a:rPr lang="en-US" sz="2400" dirty="0"/>
              <a:t>x </a:t>
            </a:r>
            <a:r>
              <a:rPr lang="en-AU" sz="2400" dirty="0" smtClean="0"/>
              <a:t>10</a:t>
            </a:r>
            <a:r>
              <a:rPr lang="en-AU" sz="2400" baseline="30000" dirty="0" smtClean="0"/>
              <a:t>11</a:t>
            </a:r>
            <a:endParaRPr lang="en-US" sz="2400" dirty="0" smtClean="0"/>
          </a:p>
          <a:p>
            <a:r>
              <a:rPr lang="en-US" sz="2400" dirty="0" smtClean="0"/>
              <a:t>= 7.2 </a:t>
            </a:r>
            <a:r>
              <a:rPr lang="en-US" sz="2400" dirty="0"/>
              <a:t>x </a:t>
            </a:r>
            <a:r>
              <a:rPr lang="en-AU" sz="2400" dirty="0" smtClean="0"/>
              <a:t>10</a:t>
            </a:r>
            <a:r>
              <a:rPr lang="en-AU" sz="2400" baseline="30000" dirty="0" smtClean="0"/>
              <a:t>12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48064" y="2636067"/>
            <a:ext cx="3456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 5.05 ÷ 9.2 x 10</a:t>
            </a:r>
            <a:r>
              <a:rPr lang="en-AU" sz="2400" baseline="30000" dirty="0"/>
              <a:t>2</a:t>
            </a:r>
            <a:r>
              <a:rPr lang="en-AU" sz="2400" baseline="30000" dirty="0" smtClean="0"/>
              <a:t> </a:t>
            </a:r>
            <a:r>
              <a:rPr lang="en-AU" sz="2400" dirty="0"/>
              <a:t>÷ </a:t>
            </a:r>
            <a:r>
              <a:rPr lang="en-AU" sz="2400" dirty="0" smtClean="0"/>
              <a:t>10</a:t>
            </a:r>
            <a:r>
              <a:rPr lang="en-AU" sz="2400" baseline="30000" dirty="0" smtClean="0"/>
              <a:t>5</a:t>
            </a:r>
          </a:p>
          <a:p>
            <a:r>
              <a:rPr lang="en-US" sz="2400" dirty="0" smtClean="0"/>
              <a:t>= 0.549 x </a:t>
            </a:r>
            <a:r>
              <a:rPr lang="en-AU" sz="2400" dirty="0" smtClean="0"/>
              <a:t>10</a:t>
            </a:r>
            <a:r>
              <a:rPr lang="en-AU" sz="2400" baseline="30000" dirty="0" smtClean="0"/>
              <a:t>2</a:t>
            </a:r>
            <a:r>
              <a:rPr lang="en-AU" sz="2400" baseline="30000" dirty="0"/>
              <a:t>-</a:t>
            </a:r>
            <a:r>
              <a:rPr lang="en-AU" sz="2400" baseline="30000" dirty="0" smtClean="0"/>
              <a:t>5</a:t>
            </a:r>
            <a:r>
              <a:rPr lang="en-US" sz="2400" dirty="0" smtClean="0"/>
              <a:t> </a:t>
            </a:r>
          </a:p>
          <a:p>
            <a:r>
              <a:rPr lang="en-US" sz="2400" dirty="0"/>
              <a:t>= </a:t>
            </a:r>
            <a:r>
              <a:rPr lang="en-US" sz="2400" dirty="0" smtClean="0"/>
              <a:t>5.49 </a:t>
            </a:r>
            <a:r>
              <a:rPr lang="en-US" sz="2400" dirty="0"/>
              <a:t>x </a:t>
            </a:r>
            <a:r>
              <a:rPr lang="en-AU" sz="2400" dirty="0" smtClean="0"/>
              <a:t>10</a:t>
            </a:r>
            <a:r>
              <a:rPr lang="en-AU" sz="2400" baseline="30000" dirty="0" smtClean="0"/>
              <a:t>-1 </a:t>
            </a:r>
            <a:r>
              <a:rPr lang="en-US" sz="2400" dirty="0"/>
              <a:t>x </a:t>
            </a:r>
            <a:r>
              <a:rPr lang="en-AU" sz="2400" dirty="0" smtClean="0"/>
              <a:t>10</a:t>
            </a:r>
            <a:r>
              <a:rPr lang="en-AU" sz="2400" baseline="30000" dirty="0" smtClean="0"/>
              <a:t>-3</a:t>
            </a:r>
            <a:endParaRPr lang="en-US" sz="2400" dirty="0" smtClean="0"/>
          </a:p>
          <a:p>
            <a:r>
              <a:rPr lang="en-US" sz="2400" dirty="0" smtClean="0"/>
              <a:t>= 5.49 </a:t>
            </a:r>
            <a:r>
              <a:rPr lang="en-US" sz="2400" dirty="0"/>
              <a:t>x </a:t>
            </a:r>
            <a:r>
              <a:rPr lang="en-AU" sz="2400" dirty="0" smtClean="0"/>
              <a:t>10</a:t>
            </a:r>
            <a:r>
              <a:rPr lang="en-AU" sz="2400" baseline="30000" dirty="0" smtClean="0"/>
              <a:t>-4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5373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204" y="116632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Statistics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822722"/>
            <a:ext cx="8856984" cy="5774630"/>
          </a:xfrm>
        </p:spPr>
        <p:txBody>
          <a:bodyPr>
            <a:normAutofit fontScale="25000" lnSpcReduction="2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6400" dirty="0"/>
              <a:t>A survey is a collection of data, either primary or secondary.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6400" dirty="0"/>
              <a:t>For </a:t>
            </a:r>
            <a:r>
              <a:rPr lang="en-US" sz="6400" b="1" dirty="0"/>
              <a:t>primary</a:t>
            </a:r>
            <a:r>
              <a:rPr lang="en-US" sz="6400" dirty="0"/>
              <a:t> data, you collect the data </a:t>
            </a:r>
            <a:r>
              <a:rPr lang="en-US" sz="6400" b="1" dirty="0"/>
              <a:t>yourself</a:t>
            </a:r>
            <a:r>
              <a:rPr lang="en-US" sz="6400" dirty="0"/>
              <a:t>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6400" dirty="0"/>
              <a:t>For </a:t>
            </a:r>
            <a:r>
              <a:rPr lang="en-US" sz="6400" b="1" dirty="0"/>
              <a:t>secondary</a:t>
            </a:r>
            <a:r>
              <a:rPr lang="en-US" sz="6400" dirty="0"/>
              <a:t> data, you get it the data from </a:t>
            </a:r>
            <a:r>
              <a:rPr lang="en-US" sz="6400" b="1" dirty="0"/>
              <a:t>another source </a:t>
            </a:r>
            <a:r>
              <a:rPr lang="en-US" sz="6400" dirty="0"/>
              <a:t>(such as the internet)</a:t>
            </a:r>
          </a:p>
          <a:p>
            <a:pPr>
              <a:spcAft>
                <a:spcPts val="600"/>
              </a:spcAft>
            </a:pPr>
            <a:endParaRPr lang="en-US" sz="6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6400" dirty="0"/>
              <a:t>The different types of data include categorical, discrete numerical and continuous numerical data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6400" b="1" dirty="0"/>
              <a:t>Categorical</a:t>
            </a:r>
            <a:r>
              <a:rPr lang="en-US" sz="6400" dirty="0"/>
              <a:t> is data that is sorted by categories (such as type of pet)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6400" b="1" dirty="0"/>
              <a:t>Discrete Numerical </a:t>
            </a:r>
            <a:r>
              <a:rPr lang="en-US" sz="6400" dirty="0"/>
              <a:t>is data </a:t>
            </a:r>
            <a:r>
              <a:rPr lang="en-US" sz="6400" dirty="0" smtClean="0"/>
              <a:t>that uses whole numbers (</a:t>
            </a:r>
            <a:r>
              <a:rPr lang="en-US" sz="6400" dirty="0" err="1" smtClean="0"/>
              <a:t>eg</a:t>
            </a:r>
            <a:r>
              <a:rPr lang="en-US" sz="6400" dirty="0" smtClean="0"/>
              <a:t> number </a:t>
            </a:r>
            <a:r>
              <a:rPr lang="en-US" sz="6400" dirty="0"/>
              <a:t>of </a:t>
            </a:r>
            <a:r>
              <a:rPr lang="en-US" sz="6400" dirty="0" smtClean="0"/>
              <a:t>pets, </a:t>
            </a:r>
            <a:r>
              <a:rPr lang="en-US" sz="6400" b="1" dirty="0"/>
              <a:t>not</a:t>
            </a:r>
            <a:r>
              <a:rPr lang="en-US" sz="6400" dirty="0"/>
              <a:t> footy </a:t>
            </a:r>
            <a:r>
              <a:rPr lang="en-US" sz="6400" dirty="0" err="1"/>
              <a:t>guernsey</a:t>
            </a:r>
            <a:r>
              <a:rPr lang="en-US" sz="6400" dirty="0"/>
              <a:t> no.)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6400" b="1" dirty="0"/>
              <a:t>Continuous Numerical </a:t>
            </a:r>
            <a:r>
              <a:rPr lang="en-US" sz="6400" dirty="0"/>
              <a:t>is data sorted </a:t>
            </a:r>
            <a:r>
              <a:rPr lang="en-US" sz="6400" dirty="0" smtClean="0"/>
              <a:t>by numbers that are on a continuous scale (such as height)</a:t>
            </a:r>
            <a:endParaRPr lang="en-AU" sz="6400" dirty="0"/>
          </a:p>
          <a:p>
            <a:pPr marL="0" indent="0">
              <a:spcAft>
                <a:spcPts val="600"/>
              </a:spcAft>
              <a:buNone/>
            </a:pPr>
            <a:endParaRPr lang="en-AU" sz="6400" dirty="0"/>
          </a:p>
          <a:p>
            <a:pPr marL="0" indent="0">
              <a:spcAft>
                <a:spcPts val="600"/>
              </a:spcAft>
              <a:buNone/>
            </a:pPr>
            <a:r>
              <a:rPr lang="en-AU" sz="6400" dirty="0"/>
              <a:t>In a </a:t>
            </a:r>
            <a:r>
              <a:rPr lang="en-AU" sz="6400" b="1" dirty="0"/>
              <a:t>census, everyone</a:t>
            </a:r>
            <a:r>
              <a:rPr lang="en-AU" sz="6400" dirty="0"/>
              <a:t> in a population is surveyed.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AU" sz="6400" dirty="0"/>
              <a:t>In a </a:t>
            </a:r>
            <a:r>
              <a:rPr lang="en-AU" sz="6400" b="1" dirty="0"/>
              <a:t>sample</a:t>
            </a:r>
            <a:r>
              <a:rPr lang="en-AU" sz="6400" dirty="0"/>
              <a:t>, only a </a:t>
            </a:r>
            <a:r>
              <a:rPr lang="en-AU" sz="6400" b="1" dirty="0"/>
              <a:t>section</a:t>
            </a:r>
            <a:r>
              <a:rPr lang="en-AU" sz="6400" dirty="0"/>
              <a:t> of the population is surveyed.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AU" sz="6400" dirty="0"/>
              <a:t>A census is more accurate but sample are quicker and cheaper.</a:t>
            </a:r>
          </a:p>
          <a:p>
            <a:pPr>
              <a:spcAft>
                <a:spcPts val="600"/>
              </a:spcAft>
            </a:pPr>
            <a:endParaRPr lang="en-US" sz="6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6400" dirty="0"/>
              <a:t>An </a:t>
            </a:r>
            <a:r>
              <a:rPr lang="en-US" sz="6400" b="1" dirty="0"/>
              <a:t>outlier</a:t>
            </a:r>
            <a:r>
              <a:rPr lang="en-US" sz="6400" dirty="0"/>
              <a:t> is a data point that is an </a:t>
            </a:r>
            <a:r>
              <a:rPr lang="en-US" sz="6400" b="1" dirty="0"/>
              <a:t>extreme value </a:t>
            </a:r>
            <a:r>
              <a:rPr lang="en-US" sz="6400" dirty="0"/>
              <a:t>that skews the data and could be a mistake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AU" sz="6400" dirty="0"/>
              <a:t>A </a:t>
            </a:r>
            <a:r>
              <a:rPr lang="en-AU" sz="6400" b="1" dirty="0"/>
              <a:t>biased</a:t>
            </a:r>
            <a:r>
              <a:rPr lang="en-AU" sz="6400" dirty="0"/>
              <a:t> survey is one that is </a:t>
            </a:r>
            <a:r>
              <a:rPr lang="en-AU" sz="6400" b="1" dirty="0" smtClean="0"/>
              <a:t>unrepresentative</a:t>
            </a:r>
            <a:r>
              <a:rPr lang="en-AU" sz="6400" dirty="0" smtClean="0"/>
              <a:t> because of an unfair sample </a:t>
            </a:r>
            <a:r>
              <a:rPr lang="en-AU" sz="6400" dirty="0"/>
              <a:t>group or survey question</a:t>
            </a:r>
            <a:r>
              <a:rPr lang="en-AU" sz="6400" dirty="0" smtClean="0"/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lang="en-AU" sz="6400" dirty="0" smtClean="0"/>
          </a:p>
          <a:p>
            <a:pPr marL="0" indent="0">
              <a:spcAft>
                <a:spcPts val="600"/>
              </a:spcAft>
              <a:buNone/>
            </a:pPr>
            <a:r>
              <a:rPr lang="en-AU" sz="6400" b="1" dirty="0" smtClean="0"/>
              <a:t>Skewed</a:t>
            </a:r>
            <a:r>
              <a:rPr lang="en-AU" sz="6400" dirty="0" smtClean="0"/>
              <a:t> data is when data is more represented on one side of a graph.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6400" b="1" dirty="0" smtClean="0"/>
              <a:t>Symmetrical</a:t>
            </a:r>
            <a:r>
              <a:rPr lang="en-US" sz="6400" dirty="0" smtClean="0"/>
              <a:t> data is when the graph forms an even hill shape with one peak (two peaks is bimodal)</a:t>
            </a:r>
            <a:endParaRPr lang="en-AU" sz="6400" dirty="0"/>
          </a:p>
          <a:p>
            <a:pPr marL="0" indent="0">
              <a:spcAft>
                <a:spcPts val="600"/>
              </a:spcAft>
              <a:buNone/>
            </a:pPr>
            <a:r>
              <a:rPr lang="en-AU" sz="6400" dirty="0" smtClean="0"/>
              <a:t> </a:t>
            </a:r>
            <a:endParaRPr lang="en-AU" sz="64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28114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K3-MtrvSWs">
            <a:hlinkClick r:id="" action="ppaction://media"/>
            <a:extLst>
              <a:ext uri="{FF2B5EF4-FFF2-40B4-BE49-F238E27FC236}">
                <a16:creationId xmlns="" xmlns:a16="http://schemas.microsoft.com/office/drawing/2014/main" id="{5115CF61-720B-4EB3-B17C-651568BDA5A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27584" y="548680"/>
            <a:ext cx="7392822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3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Measures of Location</a:t>
            </a:r>
            <a:endParaRPr lang="en-AU" dirty="0"/>
          </a:p>
        </p:txBody>
      </p:sp>
      <p:sp>
        <p:nvSpPr>
          <p:cNvPr id="4" name="AutoShape 15">
            <a:extLst>
              <a:ext uri="{FF2B5EF4-FFF2-40B4-BE49-F238E27FC236}">
                <a16:creationId xmlns="" xmlns:a16="http://schemas.microsoft.com/office/drawing/2014/main" id="{2E0B2387-902D-49A2-BB3E-2DAFAC50F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0602" y="4329084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000"/>
          </a:soli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B706A3F-04FF-4E3F-AABA-73209810A6B2}"/>
              </a:ext>
            </a:extLst>
          </p:cNvPr>
          <p:cNvSpPr txBox="1"/>
          <p:nvPr/>
        </p:nvSpPr>
        <p:spPr>
          <a:xfrm>
            <a:off x="487354" y="1600200"/>
            <a:ext cx="6033428" cy="124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en-US" sz="2800" b="1" u="sng" dirty="0" smtClean="0">
                <a:solidFill>
                  <a:schemeClr val="accent2"/>
                </a:solidFill>
              </a:rPr>
              <a:t>Example</a:t>
            </a:r>
            <a:endParaRPr lang="en-US" altLang="en-US" sz="2800" b="1" u="sng" dirty="0">
              <a:solidFill>
                <a:schemeClr val="accent2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en-US" sz="2000" dirty="0" smtClean="0"/>
              <a:t>Diameter of 10 </a:t>
            </a:r>
            <a:r>
              <a:rPr lang="en-US" altLang="en-US" sz="2000" dirty="0"/>
              <a:t>trees randomly selected from Battle Park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 smtClean="0"/>
              <a:t>9.8</a:t>
            </a:r>
            <a:r>
              <a:rPr lang="en-US" altLang="en-US" sz="2000" dirty="0"/>
              <a:t>, 10.2, 10.1, 14.5, 17.5, 13.9, 20.0, 15.5, 7.8, 24.5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F5CB3F2-AC30-4D81-84AE-6CF5CC28458C}"/>
              </a:ext>
            </a:extLst>
          </p:cNvPr>
          <p:cNvSpPr txBox="1"/>
          <p:nvPr/>
        </p:nvSpPr>
        <p:spPr>
          <a:xfrm>
            <a:off x="663551" y="3891466"/>
            <a:ext cx="601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 smtClean="0"/>
              <a:t>Median</a:t>
            </a:r>
            <a:r>
              <a:rPr lang="en-US" altLang="en-US" dirty="0" smtClean="0"/>
              <a:t>:	7.8</a:t>
            </a:r>
            <a:r>
              <a:rPr lang="en-US" altLang="en-US" dirty="0"/>
              <a:t>, 9.8, 10.1, 10.2, </a:t>
            </a:r>
            <a:r>
              <a:rPr lang="en-US" altLang="en-US" dirty="0">
                <a:solidFill>
                  <a:srgbClr val="FF0000"/>
                </a:solidFill>
              </a:rPr>
              <a:t>13.9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rgbClr val="FF0000"/>
                </a:solidFill>
              </a:rPr>
              <a:t>14.5</a:t>
            </a:r>
            <a:r>
              <a:rPr lang="en-US" altLang="en-US" dirty="0"/>
              <a:t>, 15.5, 17.5, 20.0, 24.5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26129D4-712B-41CB-92BB-DD984D0F1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89" y="2797196"/>
            <a:ext cx="4253097" cy="9963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3551" y="2727877"/>
            <a:ext cx="1473024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Mean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98920" y="4290013"/>
            <a:ext cx="1167426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b="1" dirty="0" smtClean="0"/>
              <a:t>Mode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501479" y="4845726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 Mode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37283" y="5519557"/>
            <a:ext cx="4356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Range		</a:t>
            </a:r>
            <a:r>
              <a:rPr lang="en-US" dirty="0" smtClean="0"/>
              <a:t>24.5 – 7.8</a:t>
            </a:r>
            <a:r>
              <a:rPr lang="en-US" dirty="0"/>
              <a:t> </a:t>
            </a:r>
            <a:r>
              <a:rPr lang="en-US" dirty="0" smtClean="0"/>
              <a:t>= 16.7</a:t>
            </a:r>
          </a:p>
        </p:txBody>
      </p:sp>
    </p:spTree>
    <p:extLst>
      <p:ext uri="{BB962C8B-B14F-4D97-AF65-F5344CB8AC3E}">
        <p14:creationId xmlns:p14="http://schemas.microsoft.com/office/powerpoint/2010/main" val="268730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0A4DFAF-EE34-4E1D-8CDC-6A592D2B9812}"/>
              </a:ext>
            </a:extLst>
          </p:cNvPr>
          <p:cNvSpPr txBox="1"/>
          <p:nvPr/>
        </p:nvSpPr>
        <p:spPr>
          <a:xfrm>
            <a:off x="380136" y="248921"/>
            <a:ext cx="8064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A</a:t>
            </a:r>
            <a:r>
              <a:rPr lang="en-AU" sz="2000" b="1" dirty="0" smtClean="0"/>
              <a:t> </a:t>
            </a:r>
            <a:r>
              <a:rPr lang="en-AU" sz="2000" b="1" dirty="0"/>
              <a:t>histogram </a:t>
            </a:r>
            <a:r>
              <a:rPr lang="en-AU" sz="2000" dirty="0"/>
              <a:t>looks </a:t>
            </a:r>
            <a:r>
              <a:rPr lang="en-AU" sz="2000" dirty="0" smtClean="0"/>
              <a:t>like </a:t>
            </a:r>
            <a:r>
              <a:rPr lang="en-AU" sz="2000" dirty="0"/>
              <a:t>a column graph </a:t>
            </a:r>
            <a:r>
              <a:rPr lang="en-AU" sz="2000" dirty="0" smtClean="0"/>
              <a:t>but is for </a:t>
            </a:r>
            <a:r>
              <a:rPr lang="en-AU" sz="2000" b="1" dirty="0" smtClean="0"/>
              <a:t>continuous numerical </a:t>
            </a:r>
            <a:r>
              <a:rPr lang="en-AU" sz="2000" dirty="0" smtClean="0"/>
              <a:t>data. The data are placed into </a:t>
            </a:r>
            <a:r>
              <a:rPr lang="en-AU" sz="2000" b="1" dirty="0" smtClean="0"/>
              <a:t>columns based on intervals </a:t>
            </a:r>
            <a:r>
              <a:rPr lang="en-AU" sz="2000" dirty="0" smtClean="0"/>
              <a:t>rather than categories.  </a:t>
            </a:r>
            <a:endParaRPr lang="en-AU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572DB47-FDB8-4991-9DB1-FCD6AEC5E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700808"/>
            <a:ext cx="5715000" cy="2505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5196950-21A1-4981-B121-593AF8F184D6}"/>
              </a:ext>
            </a:extLst>
          </p:cNvPr>
          <p:cNvSpPr txBox="1"/>
          <p:nvPr/>
        </p:nvSpPr>
        <p:spPr>
          <a:xfrm>
            <a:off x="2130920" y="120759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Gaps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E96C9F9D-4778-4F15-BFF3-018F0B6C98B5}"/>
              </a:ext>
            </a:extLst>
          </p:cNvPr>
          <p:cNvCxnSpPr>
            <a:cxnSpLocks/>
          </p:cNvCxnSpPr>
          <p:nvPr/>
        </p:nvCxnSpPr>
        <p:spPr>
          <a:xfrm flipH="1">
            <a:off x="1907704" y="1545414"/>
            <a:ext cx="432048" cy="140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A5E4782A-1ECE-433F-9EAD-F782B4F19E9A}"/>
              </a:ext>
            </a:extLst>
          </p:cNvPr>
          <p:cNvCxnSpPr>
            <a:cxnSpLocks/>
          </p:cNvCxnSpPr>
          <p:nvPr/>
        </p:nvCxnSpPr>
        <p:spPr>
          <a:xfrm flipH="1">
            <a:off x="2267744" y="1545414"/>
            <a:ext cx="144016" cy="140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C33173A9-9740-4309-8291-929D4C3E141D}"/>
              </a:ext>
            </a:extLst>
          </p:cNvPr>
          <p:cNvCxnSpPr>
            <a:cxnSpLocks/>
          </p:cNvCxnSpPr>
          <p:nvPr/>
        </p:nvCxnSpPr>
        <p:spPr>
          <a:xfrm>
            <a:off x="2555776" y="1545414"/>
            <a:ext cx="72008" cy="1557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="" xmlns:a16="http://schemas.microsoft.com/office/drawing/2014/main" id="{2BB2E56C-C26A-4E45-AA7C-9B606C8E1D02}"/>
              </a:ext>
            </a:extLst>
          </p:cNvPr>
          <p:cNvCxnSpPr>
            <a:cxnSpLocks/>
          </p:cNvCxnSpPr>
          <p:nvPr/>
        </p:nvCxnSpPr>
        <p:spPr>
          <a:xfrm>
            <a:off x="2666171" y="1569971"/>
            <a:ext cx="297653" cy="153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517F285C-32AC-4C8D-A5B8-EB29BF242B55}"/>
              </a:ext>
            </a:extLst>
          </p:cNvPr>
          <p:cNvSpPr txBox="1"/>
          <p:nvPr/>
        </p:nvSpPr>
        <p:spPr>
          <a:xfrm>
            <a:off x="5246440" y="1212559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 Gaps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="" xmlns:a16="http://schemas.microsoft.com/office/drawing/2014/main" id="{974435E1-E549-44F4-804F-720ED0B5807D}"/>
              </a:ext>
            </a:extLst>
          </p:cNvPr>
          <p:cNvCxnSpPr>
            <a:cxnSpLocks/>
          </p:cNvCxnSpPr>
          <p:nvPr/>
        </p:nvCxnSpPr>
        <p:spPr>
          <a:xfrm flipH="1">
            <a:off x="4786118" y="1444511"/>
            <a:ext cx="610348" cy="1904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7638B4E3-F41E-469B-9491-1A375A0C8C02}"/>
              </a:ext>
            </a:extLst>
          </p:cNvPr>
          <p:cNvCxnSpPr>
            <a:cxnSpLocks/>
          </p:cNvCxnSpPr>
          <p:nvPr/>
        </p:nvCxnSpPr>
        <p:spPr>
          <a:xfrm flipH="1">
            <a:off x="5155256" y="1444511"/>
            <a:ext cx="313216" cy="1757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="" xmlns:a16="http://schemas.microsoft.com/office/drawing/2014/main" id="{76453929-9E9B-4D8E-A0BE-E7E09773BD5D}"/>
              </a:ext>
            </a:extLst>
          </p:cNvPr>
          <p:cNvCxnSpPr>
            <a:cxnSpLocks/>
          </p:cNvCxnSpPr>
          <p:nvPr/>
        </p:nvCxnSpPr>
        <p:spPr>
          <a:xfrm flipH="1">
            <a:off x="5508104" y="1444511"/>
            <a:ext cx="104384" cy="1658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1EDC82D8-FE53-473E-9505-1A33000A5EBE}"/>
              </a:ext>
            </a:extLst>
          </p:cNvPr>
          <p:cNvCxnSpPr>
            <a:cxnSpLocks/>
          </p:cNvCxnSpPr>
          <p:nvPr/>
        </p:nvCxnSpPr>
        <p:spPr>
          <a:xfrm>
            <a:off x="5722882" y="1469068"/>
            <a:ext cx="158390" cy="1709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3D8DD201-1894-44CC-99A0-DC2485EAA718}"/>
              </a:ext>
            </a:extLst>
          </p:cNvPr>
          <p:cNvSpPr txBox="1"/>
          <p:nvPr/>
        </p:nvSpPr>
        <p:spPr>
          <a:xfrm>
            <a:off x="1238218" y="4205883"/>
            <a:ext cx="2855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is categorical and bars can be swapped around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AB965DE4-BCFF-4D00-A813-EBCA57861DE2}"/>
              </a:ext>
            </a:extLst>
          </p:cNvPr>
          <p:cNvSpPr txBox="1"/>
          <p:nvPr/>
        </p:nvSpPr>
        <p:spPr>
          <a:xfrm>
            <a:off x="4412584" y="4205881"/>
            <a:ext cx="3897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is continuous numerical and columns cannot be swapped around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D95F3A5B-1E5E-43F7-9E28-723C67031D0A}"/>
              </a:ext>
            </a:extLst>
          </p:cNvPr>
          <p:cNvCxnSpPr/>
          <p:nvPr/>
        </p:nvCxnSpPr>
        <p:spPr>
          <a:xfrm flipV="1">
            <a:off x="1619672" y="3744388"/>
            <a:ext cx="288032" cy="461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="" xmlns:a16="http://schemas.microsoft.com/office/drawing/2014/main" id="{462EAE95-B781-4B46-B723-3309BF460727}"/>
              </a:ext>
            </a:extLst>
          </p:cNvPr>
          <p:cNvCxnSpPr>
            <a:cxnSpLocks/>
          </p:cNvCxnSpPr>
          <p:nvPr/>
        </p:nvCxnSpPr>
        <p:spPr>
          <a:xfrm flipH="1" flipV="1">
            <a:off x="5926048" y="3744388"/>
            <a:ext cx="518160" cy="461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872054"/>
            <a:ext cx="5239097" cy="1963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469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 smtClean="0"/>
              <a:t>Back to Back Stem &amp; Leaf Plots</a:t>
            </a:r>
            <a:endParaRPr lang="en-AU" dirty="0"/>
          </a:p>
        </p:txBody>
      </p:sp>
      <p:sp>
        <p:nvSpPr>
          <p:cNvPr id="3" name="TextBox 4"/>
          <p:cNvSpPr txBox="1">
            <a:spLocks noChangeArrowheads="1"/>
          </p:cNvSpPr>
          <p:nvPr/>
        </p:nvSpPr>
        <p:spPr bwMode="auto">
          <a:xfrm>
            <a:off x="442123" y="1208081"/>
            <a:ext cx="8229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1800" dirty="0"/>
              <a:t>Back to back stem and leaf plots are used to </a:t>
            </a:r>
            <a:r>
              <a:rPr lang="en-AU" altLang="en-US" sz="1800" b="1" dirty="0"/>
              <a:t>display </a:t>
            </a:r>
            <a:r>
              <a:rPr lang="en-AU" altLang="en-US" sz="1800" b="1" dirty="0" smtClean="0"/>
              <a:t>two groups </a:t>
            </a:r>
            <a:r>
              <a:rPr lang="en-AU" altLang="en-US" sz="1800" b="1" dirty="0"/>
              <a:t>of data </a:t>
            </a:r>
            <a:r>
              <a:rPr lang="en-AU" altLang="en-US" sz="1800" dirty="0"/>
              <a:t>together in the one plot</a:t>
            </a:r>
            <a:r>
              <a:rPr lang="en-AU" altLang="en-US" sz="1800" dirty="0" smtClean="0"/>
              <a:t>. It is used primary to </a:t>
            </a:r>
            <a:r>
              <a:rPr lang="en-AU" altLang="en-US" sz="1800" b="1" dirty="0" smtClean="0"/>
              <a:t>compare data</a:t>
            </a:r>
            <a:r>
              <a:rPr lang="en-AU" altLang="en-US" sz="1800" dirty="0" smtClean="0"/>
              <a:t>.</a:t>
            </a:r>
            <a:endParaRPr lang="en-AU" altLang="en-US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1800" dirty="0"/>
              <a:t>The groups are displayed separately but </a:t>
            </a:r>
            <a:r>
              <a:rPr lang="en-AU" altLang="en-US" sz="1800" b="1" dirty="0"/>
              <a:t>share a common </a:t>
            </a:r>
            <a:r>
              <a:rPr lang="en-AU" altLang="en-US" sz="1800" b="1" dirty="0" smtClean="0"/>
              <a:t>stem</a:t>
            </a:r>
            <a:r>
              <a:rPr lang="en-AU" altLang="en-US" sz="1800" dirty="0" smtClean="0"/>
              <a:t>. One </a:t>
            </a:r>
            <a:r>
              <a:rPr lang="en-AU" altLang="en-US" sz="1800" dirty="0"/>
              <a:t>group is displayed on the left hand side, the other on the right hand side.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924944"/>
            <a:ext cx="7944992" cy="339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6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44" y="39069"/>
            <a:ext cx="8229600" cy="65362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Try these questions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88" y="3503509"/>
            <a:ext cx="7763753" cy="32422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61" y="692696"/>
            <a:ext cx="7787208" cy="278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340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Trigonometry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268760"/>
            <a:ext cx="8644335" cy="37444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176" y="3573016"/>
            <a:ext cx="2750706" cy="312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184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0770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49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Trigonometry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63891" y="1053361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use the tangent, sine and cosine formulae to find missing sides ?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5883216" y="5707587"/>
            <a:ext cx="1558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 smtClean="0">
                <a:solidFill>
                  <a:srgbClr val="7030A0"/>
                </a:solidFill>
              </a:rPr>
              <a:t>Tan</a:t>
            </a:r>
            <a:r>
              <a:rPr lang="el-GR" sz="3600" b="1" dirty="0" smtClean="0">
                <a:solidFill>
                  <a:srgbClr val="7030A0"/>
                </a:solidFill>
              </a:rPr>
              <a:t>ϴ</a:t>
            </a:r>
            <a:r>
              <a:rPr lang="en-US" sz="3600" b="1" dirty="0" smtClean="0">
                <a:solidFill>
                  <a:srgbClr val="7030A0"/>
                </a:solidFill>
              </a:rPr>
              <a:t> </a:t>
            </a:r>
            <a:r>
              <a:rPr lang="en-GB" sz="3600" b="1" dirty="0" smtClean="0">
                <a:solidFill>
                  <a:srgbClr val="7030A0"/>
                </a:solidFill>
              </a:rPr>
              <a:t>=</a:t>
            </a:r>
            <a:endParaRPr lang="en-GB" sz="3600" b="1" dirty="0">
              <a:solidFill>
                <a:srgbClr val="7030A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15723" y="5692423"/>
            <a:ext cx="21721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u="sng" dirty="0" smtClean="0">
                <a:solidFill>
                  <a:srgbClr val="7030A0"/>
                </a:solidFill>
              </a:rPr>
              <a:t>Opposite</a:t>
            </a:r>
          </a:p>
          <a:p>
            <a:pPr algn="ctr"/>
            <a:r>
              <a:rPr lang="en-GB" sz="2800" b="1" dirty="0" smtClean="0">
                <a:solidFill>
                  <a:srgbClr val="7030A0"/>
                </a:solidFill>
              </a:rPr>
              <a:t>Adjacent</a:t>
            </a:r>
            <a:endParaRPr lang="en-GB" sz="2800" b="1" u="sng" dirty="0">
              <a:solidFill>
                <a:srgbClr val="7030A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0115" y="2032949"/>
            <a:ext cx="17975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are the </a:t>
            </a:r>
            <a:r>
              <a:rPr lang="en-US" b="1" dirty="0" smtClean="0"/>
              <a:t>steps</a:t>
            </a:r>
            <a:r>
              <a:rPr lang="en-US" dirty="0" smtClean="0"/>
              <a:t> for finding a missing side in trigonometry</a:t>
            </a:r>
            <a:r>
              <a:rPr lang="en-US" b="1" dirty="0" smtClean="0"/>
              <a:t>?</a:t>
            </a:r>
            <a:endParaRPr lang="en-AU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801667" y="3821445"/>
            <a:ext cx="1558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 smtClean="0">
                <a:solidFill>
                  <a:srgbClr val="002060"/>
                </a:solidFill>
              </a:rPr>
              <a:t>Sin </a:t>
            </a:r>
            <a:r>
              <a:rPr lang="el-GR" sz="3600" b="1" dirty="0" smtClean="0">
                <a:solidFill>
                  <a:srgbClr val="002060"/>
                </a:solidFill>
              </a:rPr>
              <a:t>ϴ</a:t>
            </a:r>
            <a:r>
              <a:rPr lang="en-US" sz="3600" b="1" dirty="0" smtClean="0">
                <a:solidFill>
                  <a:srgbClr val="002060"/>
                </a:solidFill>
              </a:rPr>
              <a:t> </a:t>
            </a:r>
            <a:r>
              <a:rPr lang="en-GB" sz="3600" b="1" dirty="0" smtClean="0">
                <a:solidFill>
                  <a:srgbClr val="002060"/>
                </a:solidFill>
              </a:rPr>
              <a:t>=</a:t>
            </a:r>
            <a:endParaRPr lang="en-GB" sz="3600" b="1" dirty="0">
              <a:solidFill>
                <a:srgbClr val="00206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11623" y="3712609"/>
            <a:ext cx="23803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u="sng" dirty="0" smtClean="0">
                <a:solidFill>
                  <a:srgbClr val="002060"/>
                </a:solidFill>
              </a:rPr>
              <a:t>Opposite</a:t>
            </a:r>
          </a:p>
          <a:p>
            <a:pPr algn="ctr"/>
            <a:r>
              <a:rPr lang="en-GB" sz="2800" b="1" dirty="0" smtClean="0">
                <a:solidFill>
                  <a:srgbClr val="002060"/>
                </a:solidFill>
              </a:rPr>
              <a:t>Hypotenuse</a:t>
            </a:r>
            <a:endParaRPr lang="en-GB" sz="2800" b="1" u="sng" dirty="0">
              <a:solidFill>
                <a:srgbClr val="00206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83216" y="4773543"/>
            <a:ext cx="1620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 smtClean="0">
                <a:solidFill>
                  <a:srgbClr val="14BC1C"/>
                </a:solidFill>
              </a:rPr>
              <a:t>Cos </a:t>
            </a:r>
            <a:r>
              <a:rPr lang="el-GR" sz="3600" b="1" dirty="0" smtClean="0">
                <a:solidFill>
                  <a:srgbClr val="14BC1C"/>
                </a:solidFill>
              </a:rPr>
              <a:t>ϴ</a:t>
            </a:r>
            <a:r>
              <a:rPr lang="en-US" sz="3600" b="1" dirty="0" smtClean="0">
                <a:solidFill>
                  <a:srgbClr val="14BC1C"/>
                </a:solidFill>
              </a:rPr>
              <a:t> </a:t>
            </a:r>
            <a:r>
              <a:rPr lang="en-GB" sz="3600" b="1" dirty="0" smtClean="0">
                <a:solidFill>
                  <a:srgbClr val="14BC1C"/>
                </a:solidFill>
              </a:rPr>
              <a:t>=</a:t>
            </a:r>
            <a:endParaRPr lang="en-GB" sz="3600" b="1" dirty="0">
              <a:solidFill>
                <a:srgbClr val="14BC1C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11623" y="4685825"/>
            <a:ext cx="23803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u="sng" dirty="0" smtClean="0">
                <a:solidFill>
                  <a:srgbClr val="14BC1C"/>
                </a:solidFill>
              </a:rPr>
              <a:t>Adjacent</a:t>
            </a:r>
          </a:p>
          <a:p>
            <a:pPr algn="ctr"/>
            <a:r>
              <a:rPr lang="en-GB" sz="2800" b="1" dirty="0" smtClean="0">
                <a:solidFill>
                  <a:srgbClr val="14BC1C"/>
                </a:solidFill>
              </a:rPr>
              <a:t>Hypotenuse</a:t>
            </a:r>
            <a:endParaRPr lang="en-GB" sz="2800" b="1" u="sng" dirty="0">
              <a:solidFill>
                <a:srgbClr val="14BC1C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868891" y="2716488"/>
            <a:ext cx="39829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 smtClean="0">
                <a:solidFill>
                  <a:srgbClr val="002060"/>
                </a:solidFill>
              </a:rPr>
              <a:t>SOH</a:t>
            </a:r>
            <a:r>
              <a:rPr lang="en-GB" sz="4400" b="1" dirty="0" smtClean="0">
                <a:solidFill>
                  <a:srgbClr val="14BC1C"/>
                </a:solidFill>
              </a:rPr>
              <a:t>CAH</a:t>
            </a:r>
            <a:r>
              <a:rPr lang="en-GB" sz="4400" b="1" dirty="0" smtClean="0">
                <a:solidFill>
                  <a:srgbClr val="7030A0"/>
                </a:solidFill>
              </a:rPr>
              <a:t>TOA</a:t>
            </a:r>
            <a:r>
              <a:rPr lang="en-GB" sz="4400" b="1" dirty="0" smtClean="0"/>
              <a:t>!!!</a:t>
            </a:r>
          </a:p>
        </p:txBody>
      </p:sp>
      <p:grpSp>
        <p:nvGrpSpPr>
          <p:cNvPr id="25" name="Group 6"/>
          <p:cNvGrpSpPr/>
          <p:nvPr/>
        </p:nvGrpSpPr>
        <p:grpSpPr>
          <a:xfrm>
            <a:off x="6776010" y="2086151"/>
            <a:ext cx="1967062" cy="1248575"/>
            <a:chOff x="971599" y="1700808"/>
            <a:chExt cx="5616625" cy="3888432"/>
          </a:xfrm>
        </p:grpSpPr>
        <p:sp>
          <p:nvSpPr>
            <p:cNvPr id="26" name="Right Triangle 25"/>
            <p:cNvSpPr/>
            <p:nvPr/>
          </p:nvSpPr>
          <p:spPr>
            <a:xfrm>
              <a:off x="971600" y="1700808"/>
              <a:ext cx="5616624" cy="3888432"/>
            </a:xfrm>
            <a:prstGeom prst="rtTriangl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971599" y="5013176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7610613" y="2215927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x</a:t>
            </a:r>
            <a:endParaRPr lang="en-GB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8EB1225D-70CD-43E7-B449-D13C2018EEFD}"/>
              </a:ext>
            </a:extLst>
          </p:cNvPr>
          <p:cNvSpPr txBox="1"/>
          <p:nvPr/>
        </p:nvSpPr>
        <p:spPr>
          <a:xfrm>
            <a:off x="7902671" y="2888142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/>
              <a:t>ϴ</a:t>
            </a:r>
            <a:endParaRPr lang="en-GB" sz="2800" dirty="0"/>
          </a:p>
        </p:txBody>
      </p:sp>
      <p:sp>
        <p:nvSpPr>
          <p:cNvPr id="30" name="TextBox 29"/>
          <p:cNvSpPr txBox="1"/>
          <p:nvPr/>
        </p:nvSpPr>
        <p:spPr>
          <a:xfrm>
            <a:off x="7400791" y="329476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31216" y="1997797"/>
            <a:ext cx="38451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1. </a:t>
            </a:r>
            <a:r>
              <a:rPr lang="en-US" sz="2200" dirty="0" smtClean="0"/>
              <a:t>Identify which trigonometric function is needed</a:t>
            </a:r>
            <a:endParaRPr lang="en-AU" sz="2200" dirty="0"/>
          </a:p>
        </p:txBody>
      </p:sp>
      <p:sp>
        <p:nvSpPr>
          <p:cNvPr id="31" name="TextBox 30"/>
          <p:cNvSpPr txBox="1"/>
          <p:nvPr/>
        </p:nvSpPr>
        <p:spPr>
          <a:xfrm>
            <a:off x="2008639" y="3435179"/>
            <a:ext cx="38451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2</a:t>
            </a:r>
            <a:r>
              <a:rPr lang="en-US" sz="2200" b="1" dirty="0" smtClean="0"/>
              <a:t>. </a:t>
            </a:r>
            <a:r>
              <a:rPr lang="en-US" sz="2200" dirty="0" smtClean="0"/>
              <a:t>Substitute the numbers into the correct places</a:t>
            </a:r>
            <a:endParaRPr lang="en-AU" sz="2200" dirty="0"/>
          </a:p>
        </p:txBody>
      </p:sp>
      <p:sp>
        <p:nvSpPr>
          <p:cNvPr id="32" name="TextBox 31"/>
          <p:cNvSpPr txBox="1"/>
          <p:nvPr/>
        </p:nvSpPr>
        <p:spPr>
          <a:xfrm>
            <a:off x="1955141" y="4734201"/>
            <a:ext cx="3896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3. </a:t>
            </a:r>
            <a:r>
              <a:rPr lang="en-US" sz="2200" dirty="0" smtClean="0"/>
              <a:t>Rearrange the equation so that the unknown is on one side</a:t>
            </a:r>
            <a:endParaRPr lang="en-AU" sz="2200" dirty="0"/>
          </a:p>
        </p:txBody>
      </p:sp>
      <p:sp>
        <p:nvSpPr>
          <p:cNvPr id="33" name="TextBox 32"/>
          <p:cNvSpPr txBox="1"/>
          <p:nvPr/>
        </p:nvSpPr>
        <p:spPr>
          <a:xfrm>
            <a:off x="2006746" y="6109232"/>
            <a:ext cx="50333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4</a:t>
            </a:r>
            <a:r>
              <a:rPr lang="en-US" sz="2200" b="1" dirty="0" smtClean="0"/>
              <a:t>. </a:t>
            </a:r>
            <a:r>
              <a:rPr lang="en-US" sz="2200" dirty="0"/>
              <a:t>C</a:t>
            </a:r>
            <a:r>
              <a:rPr lang="en-US" sz="2200" dirty="0" smtClean="0"/>
              <a:t>alculate the answer </a:t>
            </a:r>
          </a:p>
          <a:p>
            <a:r>
              <a:rPr lang="en-US" sz="2200" dirty="0" smtClean="0"/>
              <a:t>Note: tan</a:t>
            </a:r>
            <a:r>
              <a:rPr lang="en-US" dirty="0" smtClean="0"/>
              <a:t> </a:t>
            </a:r>
            <a:r>
              <a:rPr lang="el-GR" b="1" dirty="0" smtClean="0"/>
              <a:t>ϴ</a:t>
            </a:r>
            <a:r>
              <a:rPr lang="en-US" b="1" dirty="0" smtClean="0"/>
              <a:t> × y </a:t>
            </a:r>
            <a:r>
              <a:rPr lang="en-US" dirty="0" smtClean="0"/>
              <a:t>must be typed in as (</a:t>
            </a:r>
            <a:r>
              <a:rPr lang="en-US" sz="2200" dirty="0" smtClean="0"/>
              <a:t>tan</a:t>
            </a:r>
            <a:r>
              <a:rPr lang="en-US" dirty="0" smtClean="0"/>
              <a:t> </a:t>
            </a:r>
            <a:r>
              <a:rPr lang="el-GR" b="1" dirty="0" smtClean="0"/>
              <a:t>ϴ</a:t>
            </a:r>
            <a:r>
              <a:rPr lang="en-US" b="1" dirty="0" smtClean="0"/>
              <a:t>) </a:t>
            </a:r>
            <a:r>
              <a:rPr lang="en-US" b="1" dirty="0"/>
              <a:t>× </a:t>
            </a:r>
            <a:r>
              <a:rPr lang="en-US" b="1" dirty="0" smtClean="0"/>
              <a:t>y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946518" y="4283762"/>
            <a:ext cx="4829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</a:rPr>
              <a:t>Opposite is the line that doesn’t form the angle</a:t>
            </a:r>
            <a:endParaRPr lang="en-AU" b="1" i="1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031216" y="5552540"/>
            <a:ext cx="3448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>
                <a:solidFill>
                  <a:srgbClr val="00B0F0"/>
                </a:solidFill>
              </a:rPr>
              <a:t>Switch Sides, Switch Signs</a:t>
            </a:r>
            <a:endParaRPr lang="en-AU" sz="2400" b="1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68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try some together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11" y="1353092"/>
            <a:ext cx="8086030" cy="250309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7891"/>
            <a:ext cx="2989944" cy="28083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86" y="3784695"/>
            <a:ext cx="2789955" cy="29799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9792" y="1772816"/>
            <a:ext cx="3838880" cy="202117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7864" y="3762313"/>
            <a:ext cx="2391394" cy="296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981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the angle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9405"/>
            <a:ext cx="4042792" cy="26401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1417638"/>
            <a:ext cx="986786" cy="3083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2" y="1379405"/>
            <a:ext cx="3971992" cy="40658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4425" y="1726009"/>
            <a:ext cx="153352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29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836712"/>
            <a:ext cx="8197330" cy="1818043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2859" y="86735"/>
            <a:ext cx="7886700" cy="74997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Volume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552949"/>
            <a:ext cx="2119258" cy="8588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638" y="2552948"/>
            <a:ext cx="3716010" cy="95166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4864" y="2892150"/>
            <a:ext cx="3550010" cy="16559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1960" y="5503348"/>
            <a:ext cx="2495142" cy="119722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544" y="3592851"/>
            <a:ext cx="5534823" cy="191049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7704" y="4996155"/>
            <a:ext cx="2126299" cy="172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77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237" y="55093"/>
            <a:ext cx="8229600" cy="1143000"/>
          </a:xfrm>
        </p:spPr>
        <p:txBody>
          <a:bodyPr/>
          <a:lstStyle/>
          <a:p>
            <a:r>
              <a:rPr lang="en-US" dirty="0" smtClean="0"/>
              <a:t>Capacity and Conversions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26" y="3259082"/>
            <a:ext cx="8104793" cy="326626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81635" y="969201"/>
            <a:ext cx="805080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Capacity is the amount of liquid can fit inside a shape</a:t>
            </a:r>
            <a:r>
              <a:rPr lang="en-AU" dirty="0"/>
              <a:t>. For instance, how much water can fit inside a </a:t>
            </a:r>
            <a:r>
              <a:rPr lang="en-AU" dirty="0" smtClean="0"/>
              <a:t>cup.</a:t>
            </a:r>
          </a:p>
          <a:p>
            <a:r>
              <a:rPr lang="en-US" dirty="0" smtClean="0"/>
              <a:t>To calculate capacity, find the volume and convert it from volume units (</a:t>
            </a:r>
            <a:r>
              <a:rPr lang="en-US" dirty="0" err="1" smtClean="0"/>
              <a:t>eg</a:t>
            </a:r>
            <a:r>
              <a:rPr lang="en-US" dirty="0" smtClean="0"/>
              <a:t> </a:t>
            </a:r>
            <a:r>
              <a:rPr lang="en-AU" dirty="0" smtClean="0"/>
              <a:t>cm</a:t>
            </a:r>
            <a:r>
              <a:rPr lang="en-AU" baseline="30000" dirty="0" smtClean="0"/>
              <a:t>3</a:t>
            </a:r>
            <a:r>
              <a:rPr lang="en-AU" dirty="0" smtClean="0"/>
              <a:t>) to capacity (</a:t>
            </a:r>
            <a:r>
              <a:rPr lang="en-AU" dirty="0" err="1" smtClean="0"/>
              <a:t>eg</a:t>
            </a:r>
            <a:r>
              <a:rPr lang="en-AU" dirty="0" smtClean="0"/>
              <a:t> ml)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81634" y="2252641"/>
                <a:ext cx="697068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𝑜𝑙𝑢𝑚𝑒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=100.53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/>
                  <a:t> 			Hint 1 </a:t>
                </a:r>
                <a:r>
                  <a:rPr lang="en-AU" dirty="0"/>
                  <a:t>cm</a:t>
                </a:r>
                <a:r>
                  <a:rPr lang="en-AU" baseline="30000" dirty="0"/>
                  <a:t>3</a:t>
                </a:r>
                <a:r>
                  <a:rPr lang="en-AU" dirty="0"/>
                  <a:t> = 1 mL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Then Capacity = </a:t>
                </a:r>
                <a:r>
                  <a:rPr lang="en-AU" dirty="0" smtClean="0"/>
                  <a:t>100.53 mL</a:t>
                </a:r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34" y="2252641"/>
                <a:ext cx="6970686" cy="923330"/>
              </a:xfrm>
              <a:prstGeom prst="rect">
                <a:avLst/>
              </a:prstGeom>
              <a:blipFill rotWithShape="0">
                <a:blip r:embed="rId3"/>
                <a:stretch>
                  <a:fillRect l="-700" t="-3974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8112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Now you try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err="1" smtClean="0"/>
              <a:t>Exericse</a:t>
            </a:r>
            <a:r>
              <a:rPr lang="en-AU" dirty="0" smtClean="0"/>
              <a:t> 15.2 </a:t>
            </a:r>
            <a:r>
              <a:rPr lang="en-AU" dirty="0" smtClean="0"/>
              <a:t>Page </a:t>
            </a:r>
            <a:r>
              <a:rPr lang="en-AU" dirty="0" smtClean="0"/>
              <a:t>206</a:t>
            </a:r>
            <a:r>
              <a:rPr lang="en-AU" dirty="0" smtClean="0"/>
              <a:t> (Dwyer Book</a:t>
            </a:r>
            <a:r>
              <a:rPr lang="en-AU" dirty="0" smtClean="0"/>
              <a:t>)</a:t>
            </a:r>
          </a:p>
          <a:p>
            <a:r>
              <a:rPr lang="en-US" dirty="0" smtClean="0"/>
              <a:t>Q2 (g) and (h)</a:t>
            </a:r>
          </a:p>
          <a:p>
            <a:r>
              <a:rPr lang="en-US" dirty="0" smtClean="0"/>
              <a:t>Q3 – 17</a:t>
            </a:r>
          </a:p>
          <a:p>
            <a:r>
              <a:rPr lang="en-US" dirty="0" smtClean="0"/>
              <a:t>Exercise 9.16 Page 133 (Dwyer Book)-Stats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0145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</TotalTime>
  <Words>750</Words>
  <Application>Microsoft Office PowerPoint</Application>
  <PresentationFormat>On-screen Show (4:3)</PresentationFormat>
  <Paragraphs>143</Paragraphs>
  <Slides>21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 Math</vt:lpstr>
      <vt:lpstr>Office Theme</vt:lpstr>
      <vt:lpstr>Revision</vt:lpstr>
      <vt:lpstr>PowerPoint Presentation</vt:lpstr>
      <vt:lpstr>PowerPoint Presentation</vt:lpstr>
      <vt:lpstr>Scientific Notation</vt:lpstr>
      <vt:lpstr>PowerPoint Presentation</vt:lpstr>
      <vt:lpstr>PowerPoint Presentation</vt:lpstr>
      <vt:lpstr>Statistics</vt:lpstr>
      <vt:lpstr>PowerPoint Presentation</vt:lpstr>
      <vt:lpstr>Measures of Location</vt:lpstr>
      <vt:lpstr>PowerPoint Presentation</vt:lpstr>
      <vt:lpstr>Back to Back Stem &amp; Leaf Plots</vt:lpstr>
      <vt:lpstr>Try these questions</vt:lpstr>
      <vt:lpstr>Trigonometry</vt:lpstr>
      <vt:lpstr>PowerPoint Presentation</vt:lpstr>
      <vt:lpstr>Let’s try some together</vt:lpstr>
      <vt:lpstr>Finding the angle</vt:lpstr>
      <vt:lpstr>Volume</vt:lpstr>
      <vt:lpstr>Capacity and Conversions</vt:lpstr>
      <vt:lpstr>Now you try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e4057735</cp:lastModifiedBy>
  <cp:revision>94</cp:revision>
  <dcterms:created xsi:type="dcterms:W3CDTF">2014-05-14T02:58:57Z</dcterms:created>
  <dcterms:modified xsi:type="dcterms:W3CDTF">2017-09-18T02:51:40Z</dcterms:modified>
</cp:coreProperties>
</file>
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gif" ContentType="image/gi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5" r:id="rId3"/>
    <p:sldId id="287" r:id="rId4"/>
    <p:sldId id="280" r:id="rId5"/>
    <p:sldId id="261" r:id="rId6"/>
    <p:sldId id="266" r:id="rId7"/>
    <p:sldId id="267" r:id="rId8"/>
    <p:sldId id="274" r:id="rId9"/>
    <p:sldId id="259" r:id="rId10"/>
    <p:sldId id="268" r:id="rId11"/>
    <p:sldId id="263" r:id="rId12"/>
    <p:sldId id="275" r:id="rId13"/>
    <p:sldId id="276" r:id="rId14"/>
    <p:sldId id="278" r:id="rId15"/>
    <p:sldId id="279" r:id="rId16"/>
    <p:sldId id="281" r:id="rId17"/>
    <p:sldId id="282" r:id="rId18"/>
    <p:sldId id="283" r:id="rId19"/>
    <p:sldId id="284" r:id="rId20"/>
    <p:sldId id="285" r:id="rId21"/>
    <p:sldId id="286" r:id="rId22"/>
    <p:sldId id="257" r:id="rId23"/>
    <p:sldId id="258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712"/>
  </p:normalViewPr>
  <p:slideViewPr>
    <p:cSldViewPr>
      <p:cViewPr varScale="1">
        <p:scale>
          <a:sx n="102" d="100"/>
          <a:sy n="102" d="100"/>
        </p:scale>
        <p:origin x="138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9CD2E-2580-47DE-86ED-97C0FA829BC2}" type="datetimeFigureOut">
              <a:rPr lang="en-GB" smtClean="0"/>
              <a:pPr/>
              <a:t>29/08/2017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E1BCB-DA21-49B0-AD6D-DAC5DE86C18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9CD2E-2580-47DE-86ED-97C0FA829BC2}" type="datetimeFigureOut">
              <a:rPr lang="en-GB" smtClean="0"/>
              <a:pPr/>
              <a:t>29/08/2017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E1BCB-DA21-49B0-AD6D-DAC5DE86C18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9CD2E-2580-47DE-86ED-97C0FA829BC2}" type="datetimeFigureOut">
              <a:rPr lang="en-GB" smtClean="0"/>
              <a:pPr/>
              <a:t>29/08/2017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E1BCB-DA21-49B0-AD6D-DAC5DE86C18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9CD2E-2580-47DE-86ED-97C0FA829BC2}" type="datetimeFigureOut">
              <a:rPr lang="en-GB" smtClean="0"/>
              <a:pPr/>
              <a:t>29/08/2017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E1BCB-DA21-49B0-AD6D-DAC5DE86C18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9CD2E-2580-47DE-86ED-97C0FA829BC2}" type="datetimeFigureOut">
              <a:rPr lang="en-GB" smtClean="0"/>
              <a:pPr/>
              <a:t>29/08/2017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E1BCB-DA21-49B0-AD6D-DAC5DE86C18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9CD2E-2580-47DE-86ED-97C0FA829BC2}" type="datetimeFigureOut">
              <a:rPr lang="en-GB" smtClean="0"/>
              <a:pPr/>
              <a:t>29/08/2017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E1BCB-DA21-49B0-AD6D-DAC5DE86C18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9CD2E-2580-47DE-86ED-97C0FA829BC2}" type="datetimeFigureOut">
              <a:rPr lang="en-GB" smtClean="0"/>
              <a:pPr/>
              <a:t>29/08/2017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E1BCB-DA21-49B0-AD6D-DAC5DE86C18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9CD2E-2580-47DE-86ED-97C0FA829BC2}" type="datetimeFigureOut">
              <a:rPr lang="en-GB" smtClean="0"/>
              <a:pPr/>
              <a:t>29/08/2017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E1BCB-DA21-49B0-AD6D-DAC5DE86C18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9CD2E-2580-47DE-86ED-97C0FA829BC2}" type="datetimeFigureOut">
              <a:rPr lang="en-GB" smtClean="0"/>
              <a:pPr/>
              <a:t>29/08/2017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E1BCB-DA21-49B0-AD6D-DAC5DE86C18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9CD2E-2580-47DE-86ED-97C0FA829BC2}" type="datetimeFigureOut">
              <a:rPr lang="en-GB" smtClean="0"/>
              <a:pPr/>
              <a:t>29/08/2017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E1BCB-DA21-49B0-AD6D-DAC5DE86C18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9CD2E-2580-47DE-86ED-97C0FA829BC2}" type="datetimeFigureOut">
              <a:rPr lang="en-GB" smtClean="0"/>
              <a:pPr/>
              <a:t>29/08/2017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E1BCB-DA21-49B0-AD6D-DAC5DE86C18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79CD2E-2580-47DE-86ED-97C0FA829BC2}" type="datetimeFigureOut">
              <a:rPr lang="en-GB" smtClean="0"/>
              <a:pPr/>
              <a:t>29/08/2017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9E1BCB-DA21-49B0-AD6D-DAC5DE86C181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4" Type="http://schemas.openxmlformats.org/officeDocument/2006/relationships/image" Target="../media/image5.jpeg"/><Relationship Id="rId5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gi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79512" y="1071546"/>
            <a:ext cx="864096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u="sng" dirty="0" smtClean="0">
                <a:latin typeface="Comic Sans MS" pitchFamily="66" charset="0"/>
              </a:rPr>
              <a:t>Objective</a:t>
            </a:r>
            <a:r>
              <a:rPr lang="en-GB" sz="2400" b="1" dirty="0" smtClean="0">
                <a:latin typeface="Comic Sans MS" pitchFamily="66" charset="0"/>
              </a:rPr>
              <a:t>: </a:t>
            </a:r>
            <a:r>
              <a:rPr lang="en-GB" sz="2400" dirty="0" smtClean="0">
                <a:latin typeface="Comic Sans MS" pitchFamily="66" charset="0"/>
              </a:rPr>
              <a:t>to be able to calculate a missing angle of a right angled triangle using a given angle and side  (Grade B)</a:t>
            </a:r>
          </a:p>
          <a:p>
            <a:endParaRPr lang="en-GB" sz="2400" dirty="0" smtClean="0">
              <a:latin typeface="Comic Sans MS" pitchFamily="66" charset="0"/>
            </a:endParaRPr>
          </a:p>
          <a:p>
            <a:endParaRPr lang="en-GB" sz="2400" dirty="0">
              <a:latin typeface="Comic Sans MS" pitchFamily="66" charset="0"/>
            </a:endParaRPr>
          </a:p>
          <a:p>
            <a:r>
              <a:rPr lang="en-GB" sz="2400" u="sng" dirty="0" smtClean="0">
                <a:latin typeface="Comic Sans MS" pitchFamily="66" charset="0"/>
              </a:rPr>
              <a:t>By the end of the lesson</a:t>
            </a:r>
            <a:r>
              <a:rPr lang="en-GB" sz="2400" dirty="0" smtClean="0">
                <a:latin typeface="Comic Sans MS" pitchFamily="66" charset="0"/>
              </a:rPr>
              <a:t>:</a:t>
            </a:r>
          </a:p>
          <a:p>
            <a:r>
              <a:rPr lang="en-GB" sz="2400" u="sng" dirty="0" smtClean="0">
                <a:solidFill>
                  <a:srgbClr val="00B050"/>
                </a:solidFill>
                <a:latin typeface="Comic Sans MS" pitchFamily="66" charset="0"/>
              </a:rPr>
              <a:t>All</a:t>
            </a:r>
            <a:r>
              <a:rPr lang="en-GB" sz="2400" dirty="0" smtClean="0">
                <a:latin typeface="Comic Sans MS" pitchFamily="66" charset="0"/>
              </a:rPr>
              <a:t>: will be to identify whether to use sin, cos or tan to find a missing angle</a:t>
            </a:r>
          </a:p>
          <a:p>
            <a:endParaRPr lang="en-GB" sz="2400" dirty="0" smtClean="0">
              <a:latin typeface="Comic Sans MS" pitchFamily="66" charset="0"/>
            </a:endParaRPr>
          </a:p>
          <a:p>
            <a:r>
              <a:rPr lang="en-GB" sz="2400" u="sng" dirty="0" smtClean="0">
                <a:solidFill>
                  <a:srgbClr val="FFC000"/>
                </a:solidFill>
                <a:latin typeface="Comic Sans MS" pitchFamily="66" charset="0"/>
              </a:rPr>
              <a:t>Most</a:t>
            </a:r>
            <a:r>
              <a:rPr lang="en-GB" sz="2400" dirty="0" smtClean="0">
                <a:latin typeface="Comic Sans MS" pitchFamily="66" charset="0"/>
              </a:rPr>
              <a:t>: will be able to calculate a missing angle using sin, cos or tan</a:t>
            </a:r>
          </a:p>
          <a:p>
            <a:endParaRPr lang="en-GB" sz="2400" dirty="0" smtClean="0">
              <a:latin typeface="Comic Sans MS" pitchFamily="66" charset="0"/>
            </a:endParaRPr>
          </a:p>
          <a:p>
            <a:r>
              <a:rPr lang="en-GB" sz="2400" u="sng" dirty="0" smtClean="0">
                <a:solidFill>
                  <a:srgbClr val="FF0000"/>
                </a:solidFill>
                <a:latin typeface="Comic Sans MS" pitchFamily="66" charset="0"/>
              </a:rPr>
              <a:t>Some</a:t>
            </a:r>
            <a:r>
              <a:rPr lang="en-GB" sz="2400" dirty="0" smtClean="0">
                <a:latin typeface="Comic Sans MS" pitchFamily="66" charset="0"/>
              </a:rPr>
              <a:t>: will be to answer missing angle problems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0396" y="476672"/>
            <a:ext cx="24657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800" u="sng" dirty="0" smtClean="0">
                <a:latin typeface="Comic Sans MS" pitchFamily="66" charset="0"/>
              </a:rPr>
              <a:t>Trigonometry</a:t>
            </a:r>
            <a:endParaRPr lang="en-GB" sz="2800" u="sng" dirty="0"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B050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GB" dirty="0" smtClean="0">
                <a:solidFill>
                  <a:schemeClr val="bg1"/>
                </a:solidFill>
                <a:latin typeface="Comic Sans MS" pitchFamily="66" charset="0"/>
              </a:rPr>
              <a:t>Starter</a:t>
            </a:r>
            <a:endParaRPr lang="en-GB" dirty="0">
              <a:solidFill>
                <a:schemeClr val="bg1"/>
              </a:solidFill>
              <a:latin typeface="Comic Sans MS" pitchFamily="66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496" y="2056885"/>
            <a:ext cx="4499992" cy="3066931"/>
          </a:xfrm>
          <a:prstGeom prst="rect">
            <a:avLst/>
          </a:prstGeom>
          <a:noFill/>
          <a:ln w="9525">
            <a:solidFill>
              <a:srgbClr val="00B050"/>
            </a:solidFill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4008" y="1739440"/>
            <a:ext cx="4417109" cy="392180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395536" y="5805264"/>
            <a:ext cx="3168352" cy="836712"/>
          </a:xfrm>
          <a:prstGeom prst="rect">
            <a:avLst/>
          </a:prstGeom>
          <a:ln w="34925">
            <a:solidFill>
              <a:srgbClr val="7030A0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2400" dirty="0" smtClean="0">
                <a:solidFill>
                  <a:srgbClr val="7030A0"/>
                </a:solidFill>
                <a:latin typeface="Comic Sans MS" pitchFamily="66" charset="0"/>
              </a:rPr>
              <a:t>y</a:t>
            </a:r>
            <a:r>
              <a:rPr kumimoji="0" lang="en-GB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= 10.48874539 cm</a:t>
            </a: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2400" noProof="0" dirty="0" smtClean="0">
                <a:solidFill>
                  <a:srgbClr val="7030A0"/>
                </a:solidFill>
                <a:latin typeface="Comic Sans MS" pitchFamily="66" charset="0"/>
              </a:rPr>
              <a:t>y = 10.5 cm</a:t>
            </a:r>
            <a:endParaRPr kumimoji="0" lang="en-GB" sz="2400" b="0" i="0" u="none" strike="noStrike" kern="1200" cap="none" spc="0" normalizeH="0" baseline="0" noProof="0" dirty="0" smtClean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5364088" y="5805264"/>
            <a:ext cx="3528392" cy="836712"/>
          </a:xfrm>
          <a:prstGeom prst="rect">
            <a:avLst/>
          </a:prstGeom>
          <a:ln w="34925">
            <a:solidFill>
              <a:srgbClr val="7030A0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2400" noProof="0" dirty="0" smtClean="0">
                <a:solidFill>
                  <a:srgbClr val="7030A0"/>
                </a:solidFill>
                <a:latin typeface="Comic Sans MS" pitchFamily="66" charset="0"/>
              </a:rPr>
              <a:t>AB</a:t>
            </a:r>
            <a:r>
              <a:rPr kumimoji="0" lang="en-GB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= 8.478708228 m</a:t>
            </a: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2400" dirty="0" smtClean="0">
                <a:solidFill>
                  <a:srgbClr val="7030A0"/>
                </a:solidFill>
                <a:latin typeface="Comic Sans MS" pitchFamily="66" charset="0"/>
              </a:rPr>
              <a:t>AB </a:t>
            </a:r>
            <a:r>
              <a:rPr lang="en-GB" sz="2400" noProof="0" dirty="0" smtClean="0">
                <a:solidFill>
                  <a:srgbClr val="7030A0"/>
                </a:solidFill>
                <a:latin typeface="Comic Sans MS" pitchFamily="66" charset="0"/>
              </a:rPr>
              <a:t>= 8.48 m</a:t>
            </a:r>
            <a:endParaRPr kumimoji="0" lang="en-GB" sz="2400" b="0" i="0" u="none" strike="noStrike" kern="1200" cap="none" spc="0" normalizeH="0" baseline="0" noProof="0" dirty="0" smtClean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1176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6022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Finding a Missing Angle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049" y="1057672"/>
            <a:ext cx="8620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find the </a:t>
            </a:r>
            <a:r>
              <a:rPr lang="en-AU" sz="2400" dirty="0" smtClean="0"/>
              <a:t>size of a missing angle and which trig ratio do you use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2627784" y="3573016"/>
            <a:ext cx="6192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xmlns="" id="{E015462C-A929-4BEC-AFFD-866815A6FAE9}"/>
              </a:ext>
            </a:extLst>
          </p:cNvPr>
          <p:cNvSpPr/>
          <p:nvPr/>
        </p:nvSpPr>
        <p:spPr>
          <a:xfrm>
            <a:off x="4601948" y="2821431"/>
            <a:ext cx="3456384" cy="2376264"/>
          </a:xfrm>
          <a:prstGeom prst="rtTriangl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CE943D35-A3B1-4C58-8B65-681FF2C85D1F}"/>
              </a:ext>
            </a:extLst>
          </p:cNvPr>
          <p:cNvSpPr txBox="1"/>
          <p:nvPr/>
        </p:nvSpPr>
        <p:spPr>
          <a:xfrm>
            <a:off x="6869533" y="4504691"/>
            <a:ext cx="43877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400" dirty="0"/>
              <a:t>ϴ</a:t>
            </a:r>
            <a:endParaRPr lang="en-GB" sz="4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15BE50A2-5E7C-481C-8841-60BFD4F847AD}"/>
              </a:ext>
            </a:extLst>
          </p:cNvPr>
          <p:cNvSpPr txBox="1"/>
          <p:nvPr/>
        </p:nvSpPr>
        <p:spPr>
          <a:xfrm>
            <a:off x="5652120" y="5197695"/>
            <a:ext cx="20265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Adjacent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AA1A526B-20AF-41A0-81E1-9AFAD53FF774}"/>
              </a:ext>
            </a:extLst>
          </p:cNvPr>
          <p:cNvSpPr txBox="1"/>
          <p:nvPr/>
        </p:nvSpPr>
        <p:spPr>
          <a:xfrm rot="16200000">
            <a:off x="3193257" y="3588404"/>
            <a:ext cx="207229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Opposite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4BDEAE66-F198-414B-A0FA-B68D17F67FC5}"/>
              </a:ext>
            </a:extLst>
          </p:cNvPr>
          <p:cNvSpPr txBox="1"/>
          <p:nvPr/>
        </p:nvSpPr>
        <p:spPr>
          <a:xfrm rot="2131123">
            <a:off x="5175335" y="3292569"/>
            <a:ext cx="26910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Hypotenuse</a:t>
            </a:r>
          </a:p>
        </p:txBody>
      </p:sp>
    </p:spTree>
    <p:extLst>
      <p:ext uri="{BB962C8B-B14F-4D97-AF65-F5344CB8AC3E}">
        <p14:creationId xmlns:p14="http://schemas.microsoft.com/office/powerpoint/2010/main" val="1142943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7030A0"/>
          </a:solidFill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GB" dirty="0" smtClean="0">
                <a:solidFill>
                  <a:schemeClr val="bg1"/>
                </a:solidFill>
                <a:latin typeface="Comic Sans MS" pitchFamily="66" charset="0"/>
              </a:rPr>
              <a:t>What do we already know</a:t>
            </a:r>
            <a:endParaRPr lang="en-GB" dirty="0">
              <a:solidFill>
                <a:schemeClr val="bg1"/>
              </a:solidFill>
              <a:latin typeface="Comic Sans MS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56792"/>
            <a:ext cx="9144000" cy="720080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GB" dirty="0" smtClean="0">
                <a:solidFill>
                  <a:srgbClr val="FF0000"/>
                </a:solidFill>
                <a:latin typeface="Comic Sans MS" pitchFamily="66" charset="0"/>
              </a:rPr>
              <a:t>Find a missing side, given 2 sides – we use Pythagoras</a:t>
            </a:r>
          </a:p>
          <a:p>
            <a:pPr>
              <a:buNone/>
            </a:pPr>
            <a:endParaRPr lang="en-GB" dirty="0" smtClean="0">
              <a:solidFill>
                <a:srgbClr val="FF0000"/>
              </a:solidFill>
              <a:latin typeface="Comic Sans MS" pitchFamily="66" charset="0"/>
            </a:endParaRPr>
          </a:p>
          <a:p>
            <a:pPr>
              <a:buNone/>
            </a:pPr>
            <a:endParaRPr lang="en-GB" dirty="0">
              <a:solidFill>
                <a:srgbClr val="FF0000"/>
              </a:solidFill>
              <a:latin typeface="Comic Sans MS" pitchFamily="66" charset="0"/>
            </a:endParaRPr>
          </a:p>
        </p:txBody>
      </p:sp>
      <p:pic>
        <p:nvPicPr>
          <p:cNvPr id="1026" name="Picture 2" descr="http://www.cimt.plymouth.ac.uk/projects/mepres/step-up/sect4/chpq4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2276872"/>
            <a:ext cx="2520280" cy="1595407"/>
          </a:xfrm>
          <a:prstGeom prst="rect">
            <a:avLst/>
          </a:prstGeom>
          <a:noFill/>
        </p:spPr>
      </p:pic>
      <p:pic>
        <p:nvPicPr>
          <p:cNvPr id="1028" name="Picture 4" descr="http://www.cimt.plymouth.ac.uk/projects/mepres/step-up/sect4/cheg3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47175" y="2204864"/>
            <a:ext cx="2361129" cy="1584176"/>
          </a:xfrm>
          <a:prstGeom prst="rect">
            <a:avLst/>
          </a:prstGeom>
          <a:noFill/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0" y="4077072"/>
            <a:ext cx="9180512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Find a missing side, given an angle and 1 side – we use Trigonometry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GB" sz="2200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  <p:pic>
        <p:nvPicPr>
          <p:cNvPr id="1030" name="Picture 6" descr="http://s3.hubimg.com/u/3559358_f520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3528" y="4509120"/>
            <a:ext cx="3978557" cy="2348880"/>
          </a:xfrm>
          <a:prstGeom prst="rect">
            <a:avLst/>
          </a:prstGeom>
          <a:noFill/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148064" y="4560831"/>
            <a:ext cx="2664296" cy="2297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  <a:solidFill>
            <a:srgbClr val="FFFF00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GB" dirty="0" smtClean="0">
                <a:latin typeface="Comic Sans MS" pitchFamily="66" charset="0"/>
              </a:rPr>
              <a:t>What about?</a:t>
            </a:r>
            <a:endParaRPr lang="en-GB" dirty="0">
              <a:latin typeface="Comic Sans MS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96752"/>
            <a:ext cx="9144000" cy="4525963"/>
          </a:xfrm>
        </p:spPr>
        <p:txBody>
          <a:bodyPr/>
          <a:lstStyle/>
          <a:p>
            <a:pPr>
              <a:buNone/>
            </a:pPr>
            <a:r>
              <a:rPr lang="en-GB" dirty="0" smtClean="0">
                <a:latin typeface="Comic Sans MS" pitchFamily="66" charset="0"/>
              </a:rPr>
              <a:t>When we are given a situation when we need to find a missing angle </a:t>
            </a:r>
            <a:endParaRPr lang="en-GB" dirty="0">
              <a:latin typeface="Comic Sans MS" pitchFamily="66" charset="0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2243849"/>
            <a:ext cx="5832648" cy="4569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683568" y="6021288"/>
            <a:ext cx="504056" cy="5040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5508104" y="2177569"/>
            <a:ext cx="3366120" cy="1200329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2400" dirty="0" smtClean="0">
                <a:solidFill>
                  <a:srgbClr val="FF0000"/>
                </a:solidFill>
                <a:latin typeface="Comic Sans MS" pitchFamily="66" charset="0"/>
              </a:rPr>
              <a:t>We need to extend what we know to answer this</a:t>
            </a:r>
            <a:endParaRPr lang="en-GB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0000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GB" dirty="0" smtClean="0">
                <a:solidFill>
                  <a:schemeClr val="bg1"/>
                </a:solidFill>
                <a:latin typeface="Comic Sans MS" pitchFamily="66" charset="0"/>
              </a:rPr>
              <a:t>Inverse Operations </a:t>
            </a:r>
            <a:endParaRPr lang="en-GB" dirty="0">
              <a:solidFill>
                <a:schemeClr val="bg1"/>
              </a:solidFill>
              <a:latin typeface="Comic Sans MS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600200"/>
            <a:ext cx="8640960" cy="4525963"/>
          </a:xfrm>
        </p:spPr>
        <p:txBody>
          <a:bodyPr/>
          <a:lstStyle/>
          <a:p>
            <a:pPr>
              <a:buNone/>
            </a:pPr>
            <a:r>
              <a:rPr lang="en-GB" dirty="0" smtClean="0">
                <a:latin typeface="Comic Sans MS" pitchFamily="66" charset="0"/>
              </a:rPr>
              <a:t>The inverse of 	×	 is	 ÷</a:t>
            </a:r>
          </a:p>
          <a:p>
            <a:pPr>
              <a:buNone/>
            </a:pPr>
            <a:r>
              <a:rPr lang="en-GB" dirty="0" smtClean="0">
                <a:latin typeface="Comic Sans MS" pitchFamily="66" charset="0"/>
              </a:rPr>
              <a:t>The inverse of 	+	 is	 -</a:t>
            </a:r>
          </a:p>
          <a:p>
            <a:pPr>
              <a:buNone/>
            </a:pPr>
            <a:r>
              <a:rPr lang="en-GB" dirty="0" smtClean="0">
                <a:latin typeface="Comic Sans MS" pitchFamily="66" charset="0"/>
              </a:rPr>
              <a:t>The inverse of 	x</a:t>
            </a:r>
            <a:r>
              <a:rPr lang="en-GB" baseline="30000" dirty="0" smtClean="0">
                <a:latin typeface="Comic Sans MS" pitchFamily="66" charset="0"/>
              </a:rPr>
              <a:t>2</a:t>
            </a:r>
            <a:r>
              <a:rPr lang="en-GB" dirty="0" smtClean="0">
                <a:latin typeface="Comic Sans MS" pitchFamily="66" charset="0"/>
              </a:rPr>
              <a:t>	 is 	√x</a:t>
            </a:r>
          </a:p>
          <a:p>
            <a:pPr>
              <a:buNone/>
            </a:pPr>
            <a:endParaRPr lang="en-GB" dirty="0" smtClean="0">
              <a:latin typeface="Comic Sans MS" pitchFamily="66" charset="0"/>
            </a:endParaRPr>
          </a:p>
          <a:p>
            <a:pPr>
              <a:buNone/>
            </a:pPr>
            <a:r>
              <a:rPr lang="en-GB" dirty="0" smtClean="0">
                <a:latin typeface="Comic Sans MS" pitchFamily="66" charset="0"/>
              </a:rPr>
              <a:t>So, what is the inverse of sin, cos and tan?</a:t>
            </a:r>
          </a:p>
          <a:p>
            <a:pPr>
              <a:buNone/>
            </a:pPr>
            <a:endParaRPr lang="en-GB" dirty="0" smtClean="0">
              <a:latin typeface="Comic Sans MS" pitchFamily="66" charset="0"/>
            </a:endParaRPr>
          </a:p>
          <a:p>
            <a:pPr>
              <a:buNone/>
            </a:pPr>
            <a:r>
              <a:rPr lang="en-GB" dirty="0" smtClean="0">
                <a:latin typeface="Comic Sans MS" pitchFamily="66" charset="0"/>
              </a:rPr>
              <a:t>Look on your calculator!</a:t>
            </a:r>
            <a:endParaRPr lang="en-GB" dirty="0"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2050" name="Picture 2" descr="http://www.wilkinsonplus.com/content/ebiz/wilkinsonplus/invt/0288795/0288795_l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6858000" cy="6858000"/>
          </a:xfrm>
          <a:prstGeom prst="rect">
            <a:avLst/>
          </a:prstGeom>
          <a:noFill/>
        </p:spPr>
      </p:pic>
      <p:cxnSp>
        <p:nvCxnSpPr>
          <p:cNvPr id="5" name="Straight Arrow Connector 4"/>
          <p:cNvCxnSpPr/>
          <p:nvPr/>
        </p:nvCxnSpPr>
        <p:spPr>
          <a:xfrm flipH="1">
            <a:off x="3707904" y="2060848"/>
            <a:ext cx="3312368" cy="1656184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/>
          <p:cNvSpPr txBox="1">
            <a:spLocks/>
          </p:cNvSpPr>
          <p:nvPr/>
        </p:nvSpPr>
        <p:spPr>
          <a:xfrm>
            <a:off x="6156176" y="980728"/>
            <a:ext cx="2520280" cy="1080120"/>
          </a:xfrm>
          <a:prstGeom prst="rect">
            <a:avLst/>
          </a:prstGeom>
          <a:ln w="3492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The inverse of</a:t>
            </a:r>
          </a:p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sin is written in</a:t>
            </a:r>
          </a:p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yellow above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5724128" y="4005064"/>
            <a:ext cx="3131840" cy="2232248"/>
          </a:xfrm>
          <a:prstGeom prst="rect">
            <a:avLst/>
          </a:prstGeom>
          <a:ln w="34925">
            <a:solidFill>
              <a:srgbClr val="7030A0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2800" dirty="0" smtClean="0">
                <a:solidFill>
                  <a:srgbClr val="7030A0"/>
                </a:solidFill>
                <a:latin typeface="Comic Sans MS" pitchFamily="66" charset="0"/>
              </a:rPr>
              <a:t>What would I press to get the inverse of sin on my calculator?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70C0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GB" dirty="0" smtClean="0">
                <a:solidFill>
                  <a:schemeClr val="bg1"/>
                </a:solidFill>
                <a:latin typeface="Comic Sans MS" pitchFamily="66" charset="0"/>
              </a:rPr>
              <a:t>Inverse Operations </a:t>
            </a:r>
            <a:endParaRPr lang="en-GB" dirty="0">
              <a:solidFill>
                <a:schemeClr val="bg1"/>
              </a:solidFill>
              <a:latin typeface="Comic Sans MS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600200"/>
            <a:ext cx="8640960" cy="4525963"/>
          </a:xfrm>
        </p:spPr>
        <p:txBody>
          <a:bodyPr/>
          <a:lstStyle/>
          <a:p>
            <a:pPr>
              <a:buNone/>
            </a:pPr>
            <a:endParaRPr lang="en-GB" dirty="0" smtClean="0">
              <a:latin typeface="Comic Sans MS" pitchFamily="66" charset="0"/>
            </a:endParaRPr>
          </a:p>
          <a:p>
            <a:pPr>
              <a:buNone/>
            </a:pPr>
            <a:r>
              <a:rPr lang="en-GB" dirty="0" smtClean="0">
                <a:latin typeface="Comic Sans MS" pitchFamily="66" charset="0"/>
              </a:rPr>
              <a:t>The inverse of 		 is	 </a:t>
            </a:r>
          </a:p>
          <a:p>
            <a:pPr>
              <a:buNone/>
            </a:pPr>
            <a:endParaRPr lang="en-GB" dirty="0" smtClean="0">
              <a:latin typeface="Comic Sans MS" pitchFamily="66" charset="0"/>
            </a:endParaRPr>
          </a:p>
          <a:p>
            <a:pPr>
              <a:buNone/>
            </a:pPr>
            <a:r>
              <a:rPr lang="en-GB" dirty="0" smtClean="0">
                <a:latin typeface="Comic Sans MS" pitchFamily="66" charset="0"/>
              </a:rPr>
              <a:t>The inverse of 		 is	 </a:t>
            </a:r>
          </a:p>
          <a:p>
            <a:pPr>
              <a:buNone/>
            </a:pPr>
            <a:endParaRPr lang="en-GB" dirty="0" smtClean="0">
              <a:latin typeface="Comic Sans MS" pitchFamily="66" charset="0"/>
            </a:endParaRPr>
          </a:p>
          <a:p>
            <a:pPr>
              <a:buNone/>
            </a:pPr>
            <a:r>
              <a:rPr lang="en-GB" dirty="0" smtClean="0">
                <a:latin typeface="Comic Sans MS" pitchFamily="66" charset="0"/>
              </a:rPr>
              <a:t>The inverse of 		 is 	</a:t>
            </a:r>
          </a:p>
          <a:p>
            <a:pPr>
              <a:buNone/>
            </a:pPr>
            <a:endParaRPr lang="en-GB" dirty="0" smtClean="0">
              <a:latin typeface="Comic Sans MS" pitchFamily="66" charset="0"/>
            </a:endParaRPr>
          </a:p>
        </p:txBody>
      </p:sp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29697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491880" y="2204864"/>
            <a:ext cx="936104" cy="561662"/>
          </a:xfrm>
          <a:prstGeom prst="rect">
            <a:avLst/>
          </a:prstGeom>
          <a:noFill/>
        </p:spPr>
      </p:pic>
      <p:sp>
        <p:nvSpPr>
          <p:cNvPr id="29699" name="Rectangle 3"/>
          <p:cNvSpPr>
            <a:spLocks noChangeArrowheads="1"/>
          </p:cNvSpPr>
          <p:nvPr/>
        </p:nvSpPr>
        <p:spPr bwMode="auto">
          <a:xfrm>
            <a:off x="0" y="8858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970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29700" name="Picture 4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724128" y="2158058"/>
            <a:ext cx="1224136" cy="550862"/>
          </a:xfrm>
          <a:prstGeom prst="rect">
            <a:avLst/>
          </a:prstGeom>
          <a:noFill/>
        </p:spPr>
      </p:pic>
      <p:sp>
        <p:nvSpPr>
          <p:cNvPr id="2970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29702" name="Picture 6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419872" y="3356992"/>
            <a:ext cx="936104" cy="585065"/>
          </a:xfrm>
          <a:prstGeom prst="rect">
            <a:avLst/>
          </a:prstGeom>
          <a:noFill/>
        </p:spPr>
      </p:pic>
      <p:sp>
        <p:nvSpPr>
          <p:cNvPr id="2970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29704" name="Picture 8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652120" y="3356992"/>
            <a:ext cx="1356951" cy="576064"/>
          </a:xfrm>
          <a:prstGeom prst="rect">
            <a:avLst/>
          </a:prstGeom>
          <a:noFill/>
        </p:spPr>
      </p:pic>
      <p:sp>
        <p:nvSpPr>
          <p:cNvPr id="29707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29706" name="Picture 10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419872" y="4609526"/>
            <a:ext cx="864096" cy="547666"/>
          </a:xfrm>
          <a:prstGeom prst="rect">
            <a:avLst/>
          </a:prstGeom>
          <a:noFill/>
        </p:spPr>
      </p:pic>
      <p:sp>
        <p:nvSpPr>
          <p:cNvPr id="29709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29708" name="Picture 12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652120" y="4581128"/>
            <a:ext cx="1331347" cy="57606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9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97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97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9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9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7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7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552" y="1628800"/>
            <a:ext cx="3896384" cy="3240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457200" y="130622"/>
            <a:ext cx="8229600" cy="63408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fontScale="9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Calculating a missing angle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mic Sans MS" pitchFamily="66" charset="0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08720"/>
            <a:ext cx="91440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2800" dirty="0" smtClean="0">
                <a:latin typeface="Comic Sans MS" pitchFamily="66" charset="0"/>
              </a:rPr>
              <a:t>Find the size of the angle </a:t>
            </a:r>
            <a:r>
              <a:rPr lang="el-GR" sz="2800" dirty="0" smtClean="0">
                <a:latin typeface="Comic Sans MS" pitchFamily="66" charset="0"/>
              </a:rPr>
              <a:t>Θ</a:t>
            </a:r>
            <a:r>
              <a:rPr lang="en-GB" sz="2800" dirty="0" smtClean="0">
                <a:latin typeface="Comic Sans MS" pitchFamily="66" charset="0"/>
              </a:rPr>
              <a:t>. Round to 1 decimal place</a:t>
            </a:r>
          </a:p>
          <a:p>
            <a:pPr>
              <a:buNone/>
            </a:pPr>
            <a:endParaRPr lang="en-GB" sz="2800" dirty="0">
              <a:latin typeface="Comic Sans MS" pitchFamily="66" charset="0"/>
            </a:endParaRP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860032" y="1772816"/>
            <a:ext cx="1844107" cy="864096"/>
          </a:xfrm>
          <a:prstGeom prst="rect">
            <a:avLst/>
          </a:prstGeom>
          <a:noFill/>
        </p:spPr>
      </p:pic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0" y="12382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300192" y="2636912"/>
            <a:ext cx="800100" cy="428625"/>
          </a:xfrm>
          <a:prstGeom prst="rect">
            <a:avLst/>
          </a:prstGeom>
          <a:noFill/>
        </p:spPr>
      </p:pic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0" y="8858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200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8199" name="Picture 7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716016" y="2636912"/>
            <a:ext cx="800100" cy="428625"/>
          </a:xfrm>
          <a:prstGeom prst="rect">
            <a:avLst/>
          </a:prstGeom>
          <a:noFill/>
        </p:spPr>
      </p:pic>
      <p:sp>
        <p:nvSpPr>
          <p:cNvPr id="8201" name="Rectangle 9"/>
          <p:cNvSpPr>
            <a:spLocks noChangeArrowheads="1"/>
          </p:cNvSpPr>
          <p:nvPr/>
        </p:nvSpPr>
        <p:spPr bwMode="auto">
          <a:xfrm>
            <a:off x="0" y="8858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203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8202" name="Picture 10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796136" y="3501008"/>
            <a:ext cx="1886258" cy="864096"/>
          </a:xfrm>
          <a:prstGeom prst="rect">
            <a:avLst/>
          </a:prstGeom>
          <a:noFill/>
        </p:spPr>
      </p:pic>
      <p:sp>
        <p:nvSpPr>
          <p:cNvPr id="8204" name="Rectangle 12"/>
          <p:cNvSpPr>
            <a:spLocks noChangeArrowheads="1"/>
          </p:cNvSpPr>
          <p:nvPr/>
        </p:nvSpPr>
        <p:spPr bwMode="auto">
          <a:xfrm>
            <a:off x="0" y="12382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206" name="Rectangle 1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8205" name="Picture 13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808937" y="4653136"/>
            <a:ext cx="2795511" cy="491398"/>
          </a:xfrm>
          <a:prstGeom prst="rect">
            <a:avLst/>
          </a:prstGeom>
          <a:noFill/>
        </p:spPr>
      </p:pic>
      <p:sp>
        <p:nvSpPr>
          <p:cNvPr id="8207" name="Rectangle 15"/>
          <p:cNvSpPr>
            <a:spLocks noChangeArrowheads="1"/>
          </p:cNvSpPr>
          <p:nvPr/>
        </p:nvSpPr>
        <p:spPr bwMode="auto">
          <a:xfrm>
            <a:off x="0" y="8858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209" name="Rectangle 1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8208" name="Picture 16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796136" y="5589240"/>
            <a:ext cx="1584176" cy="516579"/>
          </a:xfrm>
          <a:prstGeom prst="rect">
            <a:avLst/>
          </a:prstGeom>
          <a:noFill/>
        </p:spPr>
      </p:pic>
      <p:sp>
        <p:nvSpPr>
          <p:cNvPr id="8210" name="Rectangle 18"/>
          <p:cNvSpPr>
            <a:spLocks noChangeArrowheads="1"/>
          </p:cNvSpPr>
          <p:nvPr/>
        </p:nvSpPr>
        <p:spPr bwMode="auto">
          <a:xfrm>
            <a:off x="0" y="8858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339752" y="1556792"/>
            <a:ext cx="6480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 smtClean="0">
                <a:solidFill>
                  <a:srgbClr val="0070C0"/>
                </a:solidFill>
                <a:latin typeface="Comic Sans MS" pitchFamily="66" charset="0"/>
              </a:rPr>
              <a:t>O</a:t>
            </a:r>
            <a:endParaRPr lang="en-GB" sz="4400" b="1" dirty="0">
              <a:solidFill>
                <a:srgbClr val="0070C0"/>
              </a:solidFill>
              <a:latin typeface="Comic Sans MS" pitchFamily="66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7584" y="1988840"/>
            <a:ext cx="6480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 smtClean="0">
                <a:solidFill>
                  <a:srgbClr val="0070C0"/>
                </a:solidFill>
                <a:latin typeface="Comic Sans MS" pitchFamily="66" charset="0"/>
              </a:rPr>
              <a:t>A</a:t>
            </a:r>
            <a:endParaRPr lang="en-GB" sz="4400" b="1" dirty="0">
              <a:solidFill>
                <a:srgbClr val="0070C0"/>
              </a:solidFill>
              <a:latin typeface="Comic Sans MS" pitchFamily="66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979712" y="3717032"/>
            <a:ext cx="6480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 smtClean="0">
                <a:solidFill>
                  <a:srgbClr val="0070C0"/>
                </a:solidFill>
                <a:latin typeface="Comic Sans MS" pitchFamily="66" charset="0"/>
              </a:rPr>
              <a:t>H</a:t>
            </a:r>
            <a:endParaRPr lang="en-GB" sz="4400" b="1" dirty="0">
              <a:solidFill>
                <a:srgbClr val="0070C0"/>
              </a:solidFill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8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8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8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0622"/>
            <a:ext cx="8229600" cy="634082"/>
          </a:xfrm>
          <a:solidFill>
            <a:srgbClr val="FFC000"/>
          </a:solidFill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GB" dirty="0" smtClean="0">
                <a:solidFill>
                  <a:schemeClr val="bg1"/>
                </a:solidFill>
                <a:latin typeface="Comic Sans MS" pitchFamily="66" charset="0"/>
              </a:rPr>
              <a:t>Calculating a missing angle</a:t>
            </a:r>
            <a:endParaRPr lang="en-GB" dirty="0">
              <a:solidFill>
                <a:schemeClr val="bg1"/>
              </a:solidFill>
              <a:latin typeface="Comic Sans MS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/>
          <a:lstStyle/>
          <a:p>
            <a:endParaRPr lang="en-GB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6512" y="1268760"/>
            <a:ext cx="5256584" cy="4118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07504" y="4725144"/>
            <a:ext cx="504056" cy="5040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0" y="8001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3558" name="Rectangle 6"/>
          <p:cNvSpPr>
            <a:spLocks noChangeArrowheads="1"/>
          </p:cNvSpPr>
          <p:nvPr/>
        </p:nvSpPr>
        <p:spPr bwMode="auto">
          <a:xfrm>
            <a:off x="0" y="12287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3560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356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3564" name="Rectangle 1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3565" name="Rectangle 13"/>
          <p:cNvSpPr>
            <a:spLocks noChangeArrowheads="1"/>
          </p:cNvSpPr>
          <p:nvPr/>
        </p:nvSpPr>
        <p:spPr bwMode="auto">
          <a:xfrm>
            <a:off x="0" y="12287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3567" name="Rectangle 1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3568" name="Rectangle 16"/>
          <p:cNvSpPr>
            <a:spLocks noChangeArrowheads="1"/>
          </p:cNvSpPr>
          <p:nvPr/>
        </p:nvSpPr>
        <p:spPr bwMode="auto">
          <a:xfrm>
            <a:off x="0" y="8858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3570" name="Rectangle 1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3571" name="Rectangle 19"/>
          <p:cNvSpPr>
            <a:spLocks noChangeArrowheads="1"/>
          </p:cNvSpPr>
          <p:nvPr/>
        </p:nvSpPr>
        <p:spPr bwMode="auto">
          <a:xfrm>
            <a:off x="0" y="8858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3573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3574" name="Rectangle 22"/>
          <p:cNvSpPr>
            <a:spLocks noChangeArrowheads="1"/>
          </p:cNvSpPr>
          <p:nvPr/>
        </p:nvSpPr>
        <p:spPr bwMode="auto">
          <a:xfrm>
            <a:off x="0" y="8858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14337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932040" y="1340767"/>
            <a:ext cx="2088232" cy="764249"/>
          </a:xfrm>
          <a:prstGeom prst="rect">
            <a:avLst/>
          </a:prstGeom>
          <a:noFill/>
        </p:spPr>
      </p:pic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0" y="11334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098368" y="2420887"/>
            <a:ext cx="792088" cy="446247"/>
          </a:xfrm>
          <a:prstGeom prst="rect">
            <a:avLst/>
          </a:prstGeom>
          <a:noFill/>
        </p:spPr>
      </p:pic>
      <p:pic>
        <p:nvPicPr>
          <p:cNvPr id="31" name="Picture 4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610536" y="2406689"/>
            <a:ext cx="792088" cy="446247"/>
          </a:xfrm>
          <a:prstGeom prst="rect">
            <a:avLst/>
          </a:prstGeom>
          <a:noFill/>
        </p:spPr>
      </p:pic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14342" name="Picture 6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602424" y="3068960"/>
            <a:ext cx="2353952" cy="792088"/>
          </a:xfrm>
          <a:prstGeom prst="rect">
            <a:avLst/>
          </a:prstGeom>
          <a:noFill/>
        </p:spPr>
      </p:pic>
      <p:sp>
        <p:nvSpPr>
          <p:cNvPr id="14344" name="Rectangle 8"/>
          <p:cNvSpPr>
            <a:spLocks noChangeArrowheads="1"/>
          </p:cNvSpPr>
          <p:nvPr/>
        </p:nvSpPr>
        <p:spPr bwMode="auto">
          <a:xfrm>
            <a:off x="0" y="11334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4346" name="Rectangle 1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14345" name="Picture 9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580112" y="4221089"/>
            <a:ext cx="3024335" cy="446396"/>
          </a:xfrm>
          <a:prstGeom prst="rect">
            <a:avLst/>
          </a:prstGeom>
          <a:noFill/>
        </p:spPr>
      </p:pic>
      <p:sp>
        <p:nvSpPr>
          <p:cNvPr id="14347" name="Rectangle 11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4349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14348" name="Picture 12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580112" y="4941168"/>
            <a:ext cx="1814602" cy="432048"/>
          </a:xfrm>
          <a:prstGeom prst="rect">
            <a:avLst/>
          </a:prstGeom>
          <a:noFill/>
        </p:spPr>
      </p:pic>
      <p:sp>
        <p:nvSpPr>
          <p:cNvPr id="14350" name="Rectangle 14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6632"/>
            <a:ext cx="9144000" cy="792088"/>
          </a:xfrm>
          <a:solidFill>
            <a:srgbClr val="0070C0"/>
          </a:solidFill>
        </p:spPr>
        <p:txBody>
          <a:bodyPr>
            <a:noAutofit/>
          </a:bodyPr>
          <a:lstStyle/>
          <a:p>
            <a:r>
              <a:rPr lang="en-GB" sz="2700" dirty="0" smtClean="0">
                <a:solidFill>
                  <a:schemeClr val="bg1"/>
                </a:solidFill>
                <a:latin typeface="Comic Sans MS" pitchFamily="66" charset="0"/>
              </a:rPr>
              <a:t>Draw these into your books and calculate the value of </a:t>
            </a:r>
            <a:r>
              <a:rPr lang="el-GR" sz="2700" dirty="0" smtClean="0">
                <a:solidFill>
                  <a:schemeClr val="bg1"/>
                </a:solidFill>
                <a:latin typeface="Comic Sans MS" pitchFamily="66" charset="0"/>
              </a:rPr>
              <a:t>Θ</a:t>
            </a:r>
            <a:endParaRPr lang="en-GB" sz="2700" dirty="0">
              <a:solidFill>
                <a:schemeClr val="bg1"/>
              </a:solidFill>
              <a:latin typeface="Comic Sans MS" pitchFamily="66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81" y="1412776"/>
            <a:ext cx="9002015" cy="3024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0" y="1556792"/>
            <a:ext cx="504056" cy="5040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186576" y="980728"/>
            <a:ext cx="48894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b="1" dirty="0" smtClean="0">
                <a:solidFill>
                  <a:srgbClr val="FF0000"/>
                </a:solidFill>
                <a:latin typeface="Comic Sans MS" pitchFamily="66" charset="0"/>
              </a:rPr>
              <a:t>Round the answers to 1 decimal place</a:t>
            </a:r>
            <a:endParaRPr lang="en-GB" sz="2000" b="1" dirty="0">
              <a:solidFill>
                <a:srgbClr val="FF0000"/>
              </a:solidFill>
            </a:endParaRPr>
          </a:p>
        </p:txBody>
      </p:sp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7169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36501" y="4529683"/>
            <a:ext cx="1819275" cy="771525"/>
          </a:xfrm>
          <a:prstGeom prst="rect">
            <a:avLst/>
          </a:prstGeom>
          <a:noFill/>
        </p:spPr>
      </p:pic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0" y="12287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42603" y="5517232"/>
            <a:ext cx="1381125" cy="428625"/>
          </a:xfrm>
          <a:prstGeom prst="rect">
            <a:avLst/>
          </a:prstGeom>
          <a:noFill/>
        </p:spPr>
      </p:pic>
      <p:sp>
        <p:nvSpPr>
          <p:cNvPr id="7174" name="Rectangle 6"/>
          <p:cNvSpPr>
            <a:spLocks noChangeArrowheads="1"/>
          </p:cNvSpPr>
          <p:nvPr/>
        </p:nvSpPr>
        <p:spPr bwMode="auto">
          <a:xfrm>
            <a:off x="0" y="8858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176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7175" name="Picture 7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045719" y="4509120"/>
            <a:ext cx="1750417" cy="792088"/>
          </a:xfrm>
          <a:prstGeom prst="rect">
            <a:avLst/>
          </a:prstGeom>
          <a:noFill/>
        </p:spPr>
      </p:pic>
      <p:sp>
        <p:nvSpPr>
          <p:cNvPr id="7177" name="Rectangle 9"/>
          <p:cNvSpPr>
            <a:spLocks noChangeArrowheads="1"/>
          </p:cNvSpPr>
          <p:nvPr/>
        </p:nvSpPr>
        <p:spPr bwMode="auto">
          <a:xfrm>
            <a:off x="0" y="12287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179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7178" name="Picture 10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067944" y="5502334"/>
            <a:ext cx="1440160" cy="446946"/>
          </a:xfrm>
          <a:prstGeom prst="rect">
            <a:avLst/>
          </a:prstGeom>
          <a:noFill/>
        </p:spPr>
      </p:pic>
      <p:sp>
        <p:nvSpPr>
          <p:cNvPr id="7180" name="Rectangle 12"/>
          <p:cNvSpPr>
            <a:spLocks noChangeArrowheads="1"/>
          </p:cNvSpPr>
          <p:nvPr/>
        </p:nvSpPr>
        <p:spPr bwMode="auto">
          <a:xfrm>
            <a:off x="0" y="8858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182" name="Rectangle 1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7181" name="Picture 13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92280" y="4437112"/>
            <a:ext cx="1866900" cy="781050"/>
          </a:xfrm>
          <a:prstGeom prst="rect">
            <a:avLst/>
          </a:prstGeom>
          <a:noFill/>
        </p:spPr>
      </p:pic>
      <p:sp>
        <p:nvSpPr>
          <p:cNvPr id="7183" name="Rectangle 15"/>
          <p:cNvSpPr>
            <a:spLocks noChangeArrowheads="1"/>
          </p:cNvSpPr>
          <p:nvPr/>
        </p:nvSpPr>
        <p:spPr bwMode="auto">
          <a:xfrm>
            <a:off x="0" y="12382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185" name="Rectangle 1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7184" name="Picture 16"/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92280" y="5445224"/>
            <a:ext cx="1440160" cy="446947"/>
          </a:xfrm>
          <a:prstGeom prst="rect">
            <a:avLst/>
          </a:prstGeom>
          <a:noFill/>
        </p:spPr>
      </p:pic>
      <p:sp>
        <p:nvSpPr>
          <p:cNvPr id="7186" name="Rectangle 18"/>
          <p:cNvSpPr>
            <a:spLocks noChangeArrowheads="1"/>
          </p:cNvSpPr>
          <p:nvPr/>
        </p:nvSpPr>
        <p:spPr bwMode="auto">
          <a:xfrm>
            <a:off x="0" y="8858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7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8352928" cy="1143000"/>
          </a:xfrm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GB" dirty="0" smtClean="0">
                <a:solidFill>
                  <a:schemeClr val="bg1"/>
                </a:solidFill>
                <a:latin typeface="Comic Sans MS" pitchFamily="66" charset="0"/>
              </a:rPr>
              <a:t>Task 1 – Calculating missing angles</a:t>
            </a:r>
            <a:endParaRPr lang="en-GB" dirty="0">
              <a:solidFill>
                <a:schemeClr val="bg1"/>
              </a:solidFill>
              <a:latin typeface="Comic Sans MS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dirty="0" smtClean="0">
                <a:latin typeface="Comic Sans MS" pitchFamily="66" charset="0"/>
              </a:rPr>
              <a:t>On the worksheet – calculate the following missing angles using trigonometry</a:t>
            </a:r>
          </a:p>
          <a:p>
            <a:pPr>
              <a:buNone/>
            </a:pPr>
            <a:endParaRPr lang="en-GB" dirty="0" smtClean="0">
              <a:latin typeface="Comic Sans MS" pitchFamily="66" charset="0"/>
            </a:endParaRPr>
          </a:p>
          <a:p>
            <a:pPr>
              <a:buNone/>
            </a:pPr>
            <a:endParaRPr lang="en-GB" dirty="0" smtClean="0">
              <a:latin typeface="Comic Sans MS" pitchFamily="66" charset="0"/>
            </a:endParaRPr>
          </a:p>
          <a:p>
            <a:pPr>
              <a:buNone/>
            </a:pPr>
            <a:endParaRPr lang="en-GB" dirty="0" smtClean="0">
              <a:latin typeface="Comic Sans MS" pitchFamily="66" charset="0"/>
            </a:endParaRPr>
          </a:p>
          <a:p>
            <a:pPr>
              <a:buNone/>
            </a:pPr>
            <a:r>
              <a:rPr lang="en-GB" b="1" u="sng" dirty="0" smtClean="0">
                <a:solidFill>
                  <a:srgbClr val="FF0000"/>
                </a:solidFill>
                <a:latin typeface="Comic Sans MS" pitchFamily="66" charset="0"/>
              </a:rPr>
              <a:t>Extension</a:t>
            </a:r>
          </a:p>
          <a:p>
            <a:pPr>
              <a:buNone/>
            </a:pPr>
            <a:r>
              <a:rPr lang="en-GB" dirty="0" smtClean="0">
                <a:latin typeface="Comic Sans MS" pitchFamily="66" charset="0"/>
              </a:rPr>
              <a:t>Worksheet – give answers to 1 decimal place</a:t>
            </a:r>
            <a:endParaRPr lang="en-GB" dirty="0"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864" y="197768"/>
            <a:ext cx="8229600" cy="1143000"/>
          </a:xfrm>
          <a:solidFill>
            <a:srgbClr val="FF0000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GB" dirty="0" smtClean="0">
                <a:solidFill>
                  <a:schemeClr val="bg1"/>
                </a:solidFill>
                <a:latin typeface="Comic Sans MS" pitchFamily="66" charset="0"/>
              </a:rPr>
              <a:t>Task 1 - Solutions</a:t>
            </a:r>
            <a:endParaRPr lang="en-GB" dirty="0">
              <a:solidFill>
                <a:schemeClr val="bg1"/>
              </a:solidFill>
              <a:latin typeface="Comic Sans MS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412776"/>
            <a:ext cx="2232248" cy="388843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GB" sz="3100" dirty="0" smtClean="0">
                <a:latin typeface="Times New Roman" pitchFamily="18" charset="0"/>
                <a:cs typeface="Times New Roman" pitchFamily="18" charset="0"/>
              </a:rPr>
              <a:t>1)</a:t>
            </a:r>
          </a:p>
          <a:p>
            <a:pPr>
              <a:buNone/>
            </a:pPr>
            <a:r>
              <a:rPr lang="en-GB" sz="3100" i="1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GB" sz="3100" dirty="0" smtClean="0">
                <a:latin typeface="Times New Roman" pitchFamily="18" charset="0"/>
                <a:cs typeface="Times New Roman" pitchFamily="18" charset="0"/>
              </a:rPr>
              <a:t>= 46.2</a:t>
            </a:r>
            <a:r>
              <a:rPr lang="en-GB" sz="3100" baseline="30000" dirty="0" smtClean="0">
                <a:latin typeface="Times New Roman" pitchFamily="18" charset="0"/>
                <a:cs typeface="Times New Roman" pitchFamily="18" charset="0"/>
              </a:rPr>
              <a:t>o</a:t>
            </a:r>
            <a:endParaRPr lang="en-GB" sz="31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GB" sz="3100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GB" sz="3100" dirty="0" smtClean="0">
                <a:latin typeface="Times New Roman" pitchFamily="18" charset="0"/>
                <a:cs typeface="Times New Roman" pitchFamily="18" charset="0"/>
              </a:rPr>
              <a:t> = 19.7</a:t>
            </a:r>
            <a:r>
              <a:rPr lang="en-GB" sz="3100" baseline="30000" dirty="0" smtClean="0">
                <a:latin typeface="Times New Roman" pitchFamily="18" charset="0"/>
                <a:cs typeface="Times New Roman" pitchFamily="18" charset="0"/>
              </a:rPr>
              <a:t>o</a:t>
            </a:r>
            <a:endParaRPr lang="en-GB" sz="31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GB" sz="3100" i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GB" sz="3100" dirty="0" smtClean="0">
                <a:latin typeface="Times New Roman" pitchFamily="18" charset="0"/>
                <a:cs typeface="Times New Roman" pitchFamily="18" charset="0"/>
              </a:rPr>
              <a:t> = 37.7</a:t>
            </a:r>
            <a:r>
              <a:rPr lang="en-GB" sz="3100" baseline="30000" dirty="0" smtClean="0">
                <a:latin typeface="Times New Roman" pitchFamily="18" charset="0"/>
                <a:cs typeface="Times New Roman" pitchFamily="18" charset="0"/>
              </a:rPr>
              <a:t>o</a:t>
            </a:r>
            <a:endParaRPr lang="en-GB" sz="31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GB" sz="3100" i="1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GB" sz="3100" dirty="0" smtClean="0">
                <a:latin typeface="Times New Roman" pitchFamily="18" charset="0"/>
                <a:cs typeface="Times New Roman" pitchFamily="18" charset="0"/>
              </a:rPr>
              <a:t> = 43.6</a:t>
            </a:r>
            <a:r>
              <a:rPr lang="en-GB" sz="3100" baseline="30000" dirty="0" smtClean="0">
                <a:latin typeface="Times New Roman" pitchFamily="18" charset="0"/>
                <a:cs typeface="Times New Roman" pitchFamily="18" charset="0"/>
              </a:rPr>
              <a:t>o</a:t>
            </a:r>
            <a:endParaRPr lang="en-GB" sz="31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GB" sz="3100" i="1" dirty="0" smtClean="0">
                <a:latin typeface="Times New Roman" pitchFamily="18" charset="0"/>
                <a:cs typeface="Times New Roman" pitchFamily="18" charset="0"/>
              </a:rPr>
              <a:t>e = </a:t>
            </a:r>
            <a:r>
              <a:rPr lang="en-GB" sz="3100" dirty="0" smtClean="0">
                <a:latin typeface="Times New Roman" pitchFamily="18" charset="0"/>
                <a:cs typeface="Times New Roman" pitchFamily="18" charset="0"/>
              </a:rPr>
              <a:t>53.3</a:t>
            </a:r>
            <a:r>
              <a:rPr lang="en-GB" sz="3100" baseline="30000" dirty="0" smtClean="0">
                <a:latin typeface="Times New Roman" pitchFamily="18" charset="0"/>
                <a:cs typeface="Times New Roman" pitchFamily="18" charset="0"/>
              </a:rPr>
              <a:t>o</a:t>
            </a:r>
            <a:endParaRPr lang="en-GB" sz="31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GB" sz="3100" i="1" dirty="0" smtClean="0">
                <a:latin typeface="Times New Roman" pitchFamily="18" charset="0"/>
                <a:cs typeface="Times New Roman" pitchFamily="18" charset="0"/>
              </a:rPr>
              <a:t>f = </a:t>
            </a:r>
            <a:r>
              <a:rPr lang="en-GB" sz="3100" dirty="0" smtClean="0">
                <a:latin typeface="Times New Roman" pitchFamily="18" charset="0"/>
                <a:cs typeface="Times New Roman" pitchFamily="18" charset="0"/>
              </a:rPr>
              <a:t>60.4</a:t>
            </a:r>
            <a:r>
              <a:rPr lang="en-GB" sz="3100" baseline="30000" dirty="0" smtClean="0">
                <a:latin typeface="Times New Roman" pitchFamily="18" charset="0"/>
                <a:cs typeface="Times New Roman" pitchFamily="18" charset="0"/>
              </a:rPr>
              <a:t>o</a:t>
            </a:r>
            <a:endParaRPr lang="en-GB" sz="31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57474" y="1340768"/>
            <a:ext cx="18309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GB" sz="2800" b="1" u="sng" dirty="0" smtClean="0">
                <a:solidFill>
                  <a:srgbClr val="FF0000"/>
                </a:solidFill>
                <a:latin typeface="Comic Sans MS" pitchFamily="66" charset="0"/>
              </a:rPr>
              <a:t>Extension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915816" y="1412776"/>
            <a:ext cx="2232248" cy="33018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31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2)</a:t>
            </a:r>
          </a:p>
          <a:p>
            <a:pPr marL="342900" lvl="0" indent="-342900">
              <a:spcBef>
                <a:spcPct val="20000"/>
              </a:spcBef>
              <a:defRPr/>
            </a:pPr>
            <a:r>
              <a:rPr kumimoji="0" lang="en-GB" sz="31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</a:t>
            </a:r>
            <a:r>
              <a:rPr kumimoji="0" lang="en-GB" sz="31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kumimoji="0" lang="en-GB" sz="31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= </a:t>
            </a:r>
            <a:r>
              <a:rPr kumimoji="0" lang="en-GB" sz="31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23.6</a:t>
            </a:r>
            <a:r>
              <a:rPr lang="en-GB" sz="3100" baseline="30000" dirty="0" smtClean="0">
                <a:latin typeface="Times New Roman" pitchFamily="18" charset="0"/>
                <a:cs typeface="Times New Roman" pitchFamily="18" charset="0"/>
              </a:rPr>
              <a:t>o</a:t>
            </a:r>
            <a:endParaRPr kumimoji="0" lang="en-GB" sz="31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defRPr/>
            </a:pPr>
            <a:r>
              <a:rPr kumimoji="0" lang="en-GB" sz="31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b</a:t>
            </a:r>
            <a:r>
              <a:rPr kumimoji="0" lang="en-GB" sz="31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= 66.4</a:t>
            </a:r>
            <a:r>
              <a:rPr lang="en-GB" sz="3100" baseline="30000" dirty="0" smtClean="0">
                <a:latin typeface="Times New Roman" pitchFamily="18" charset="0"/>
                <a:cs typeface="Times New Roman" pitchFamily="18" charset="0"/>
              </a:rPr>
              <a:t>o</a:t>
            </a:r>
            <a:endParaRPr kumimoji="0" lang="en-GB" sz="31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6300192" y="2060848"/>
            <a:ext cx="2232248" cy="432048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31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1)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31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 </a:t>
            </a:r>
            <a:r>
              <a:rPr kumimoji="0" lang="en-GB" sz="31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= </a:t>
            </a:r>
            <a:r>
              <a:rPr lang="en-GB" sz="3100" dirty="0" smtClean="0">
                <a:latin typeface="Times New Roman" pitchFamily="18" charset="0"/>
                <a:cs typeface="Times New Roman" pitchFamily="18" charset="0"/>
              </a:rPr>
              <a:t>14.5</a:t>
            </a:r>
            <a:r>
              <a:rPr kumimoji="0" lang="en-GB" sz="3100" b="0" i="0" u="none" strike="noStrike" kern="120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o</a:t>
            </a:r>
            <a:endParaRPr kumimoji="0" lang="en-GB" sz="31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31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b</a:t>
            </a:r>
            <a:r>
              <a:rPr kumimoji="0" lang="en-GB" sz="31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= 45.5</a:t>
            </a:r>
            <a:r>
              <a:rPr kumimoji="0" lang="en-GB" sz="3100" b="0" i="0" u="none" strike="noStrike" kern="120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o</a:t>
            </a:r>
            <a:endParaRPr kumimoji="0" lang="en-GB" sz="31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31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c</a:t>
            </a:r>
            <a:r>
              <a:rPr kumimoji="0" lang="en-GB" sz="31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= </a:t>
            </a:r>
            <a:r>
              <a:rPr lang="en-GB" sz="3100" dirty="0" smtClean="0">
                <a:latin typeface="Times New Roman" pitchFamily="18" charset="0"/>
                <a:cs typeface="Times New Roman" pitchFamily="18" charset="0"/>
              </a:rPr>
              <a:t>23.8</a:t>
            </a:r>
            <a:r>
              <a:rPr kumimoji="0" lang="en-GB" sz="3100" b="0" i="0" u="none" strike="noStrike" kern="120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o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GB" sz="31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defRPr/>
            </a:pPr>
            <a:r>
              <a:rPr lang="en-GB" sz="3100" dirty="0" smtClean="0">
                <a:latin typeface="Times New Roman" pitchFamily="18" charset="0"/>
                <a:cs typeface="Times New Roman" pitchFamily="18" charset="0"/>
              </a:rPr>
              <a:t>2) 60</a:t>
            </a:r>
            <a:r>
              <a:rPr lang="en-GB" sz="3100" baseline="30000" dirty="0" smtClean="0">
                <a:latin typeface="Times New Roman" pitchFamily="18" charset="0"/>
                <a:cs typeface="Times New Roman" pitchFamily="18" charset="0"/>
              </a:rPr>
              <a:t>o</a:t>
            </a:r>
          </a:p>
          <a:p>
            <a:pPr marL="342900" lvl="0" indent="-342900">
              <a:spcBef>
                <a:spcPct val="20000"/>
              </a:spcBef>
              <a:defRPr/>
            </a:pPr>
            <a:endParaRPr lang="en-GB" sz="31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defRPr/>
            </a:pPr>
            <a:r>
              <a:rPr lang="en-GB" sz="3100" dirty="0" smtClean="0">
                <a:latin typeface="Times New Roman" pitchFamily="18" charset="0"/>
                <a:cs typeface="Times New Roman" pitchFamily="18" charset="0"/>
              </a:rPr>
              <a:t>3) 11.5</a:t>
            </a:r>
            <a:r>
              <a:rPr lang="en-GB" sz="3100" baseline="30000" dirty="0" smtClean="0">
                <a:latin typeface="Times New Roman" pitchFamily="18" charset="0"/>
                <a:cs typeface="Times New Roman" pitchFamily="18" charset="0"/>
              </a:rPr>
              <a:t>o</a:t>
            </a:r>
            <a:endParaRPr kumimoji="0" lang="en-GB" sz="3100" b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7030A0"/>
          </a:solidFill>
        </p:spPr>
        <p:txBody>
          <a:bodyPr/>
          <a:lstStyle/>
          <a:p>
            <a:r>
              <a:rPr lang="en-GB" dirty="0" smtClean="0">
                <a:solidFill>
                  <a:schemeClr val="bg1"/>
                </a:solidFill>
                <a:latin typeface="Comic Sans MS" pitchFamily="66" charset="0"/>
              </a:rPr>
              <a:t>Task 2 – Past GCSE Questions</a:t>
            </a:r>
            <a:endParaRPr lang="en-GB" dirty="0">
              <a:solidFill>
                <a:schemeClr val="bg1"/>
              </a:solidFill>
              <a:latin typeface="Comic Sans MS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412776"/>
            <a:ext cx="8640960" cy="4525963"/>
          </a:xfrm>
        </p:spPr>
        <p:txBody>
          <a:bodyPr/>
          <a:lstStyle/>
          <a:p>
            <a:pPr algn="ctr">
              <a:buNone/>
            </a:pPr>
            <a:endParaRPr lang="en-GB" dirty="0" smtClean="0">
              <a:latin typeface="Comic Sans MS" pitchFamily="66" charset="0"/>
            </a:endParaRPr>
          </a:p>
          <a:p>
            <a:pPr algn="ctr">
              <a:buNone/>
            </a:pPr>
            <a:r>
              <a:rPr lang="en-GB" dirty="0" smtClean="0">
                <a:latin typeface="Comic Sans MS" pitchFamily="66" charset="0"/>
              </a:rPr>
              <a:t>Complete the following past GCSE questions</a:t>
            </a:r>
          </a:p>
          <a:p>
            <a:pPr algn="ctr">
              <a:buNone/>
            </a:pPr>
            <a:endParaRPr lang="en-GB" dirty="0" smtClean="0">
              <a:latin typeface="Comic Sans MS" pitchFamily="66" charset="0"/>
            </a:endParaRPr>
          </a:p>
          <a:p>
            <a:pPr algn="ctr">
              <a:buNone/>
            </a:pPr>
            <a:r>
              <a:rPr lang="en-GB" dirty="0" smtClean="0">
                <a:latin typeface="Comic Sans MS" pitchFamily="66" charset="0"/>
              </a:rPr>
              <a:t>There are </a:t>
            </a:r>
            <a:r>
              <a:rPr lang="en-GB" b="1" dirty="0" smtClean="0">
                <a:solidFill>
                  <a:srgbClr val="00B050"/>
                </a:solidFill>
                <a:latin typeface="Comic Sans MS" pitchFamily="66" charset="0"/>
              </a:rPr>
              <a:t>green</a:t>
            </a:r>
            <a:r>
              <a:rPr lang="en-GB" dirty="0" smtClean="0">
                <a:latin typeface="Comic Sans MS" pitchFamily="66" charset="0"/>
              </a:rPr>
              <a:t>, </a:t>
            </a:r>
            <a:r>
              <a:rPr lang="en-GB" b="1" dirty="0" smtClean="0">
                <a:solidFill>
                  <a:srgbClr val="FFC000"/>
                </a:solidFill>
                <a:latin typeface="Comic Sans MS" pitchFamily="66" charset="0"/>
              </a:rPr>
              <a:t>amber</a:t>
            </a:r>
            <a:r>
              <a:rPr lang="en-GB" dirty="0" smtClean="0">
                <a:latin typeface="Comic Sans MS" pitchFamily="66" charset="0"/>
              </a:rPr>
              <a:t> and </a:t>
            </a:r>
            <a:r>
              <a:rPr lang="en-GB" b="1" dirty="0" smtClean="0">
                <a:solidFill>
                  <a:srgbClr val="FF0000"/>
                </a:solidFill>
                <a:latin typeface="Comic Sans MS" pitchFamily="66" charset="0"/>
              </a:rPr>
              <a:t>red</a:t>
            </a:r>
            <a:r>
              <a:rPr lang="en-GB" dirty="0" smtClean="0">
                <a:latin typeface="Comic Sans MS" pitchFamily="66" charset="0"/>
              </a:rPr>
              <a:t> sections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GB" dirty="0" smtClean="0">
                <a:solidFill>
                  <a:schemeClr val="bg1"/>
                </a:solidFill>
                <a:latin typeface="Comic Sans MS" pitchFamily="66" charset="0"/>
              </a:rPr>
              <a:t>Task 2 – Solutions</a:t>
            </a:r>
            <a:endParaRPr lang="en-GB" dirty="0">
              <a:solidFill>
                <a:schemeClr val="bg1"/>
              </a:solidFill>
              <a:latin typeface="Comic Sans MS" pitchFamily="66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57406" y="1700808"/>
            <a:ext cx="14782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600" b="1" dirty="0" smtClean="0">
                <a:solidFill>
                  <a:srgbClr val="00B050"/>
                </a:solidFill>
                <a:latin typeface="Comic Sans MS" pitchFamily="66" charset="0"/>
              </a:rPr>
              <a:t>Green</a:t>
            </a:r>
            <a:endParaRPr lang="en-GB" sz="3600" dirty="0"/>
          </a:p>
        </p:txBody>
      </p:sp>
      <p:sp>
        <p:nvSpPr>
          <p:cNvPr id="5" name="Rectangle 4"/>
          <p:cNvSpPr/>
          <p:nvPr/>
        </p:nvSpPr>
        <p:spPr>
          <a:xfrm>
            <a:off x="3707904" y="1702549"/>
            <a:ext cx="16353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600" b="1" dirty="0" smtClean="0">
                <a:solidFill>
                  <a:srgbClr val="FFC000"/>
                </a:solidFill>
                <a:latin typeface="Comic Sans MS" pitchFamily="66" charset="0"/>
              </a:rPr>
              <a:t>Amber</a:t>
            </a:r>
            <a:endParaRPr lang="en-GB" sz="3600" dirty="0"/>
          </a:p>
        </p:txBody>
      </p:sp>
      <p:sp>
        <p:nvSpPr>
          <p:cNvPr id="6" name="Rectangle 5"/>
          <p:cNvSpPr/>
          <p:nvPr/>
        </p:nvSpPr>
        <p:spPr>
          <a:xfrm>
            <a:off x="7596336" y="1700808"/>
            <a:ext cx="100860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600" b="1" dirty="0" smtClean="0">
                <a:solidFill>
                  <a:srgbClr val="FF0000"/>
                </a:solidFill>
                <a:latin typeface="Comic Sans MS" pitchFamily="66" charset="0"/>
              </a:rPr>
              <a:t>Red</a:t>
            </a:r>
            <a:endParaRPr lang="en-GB" sz="3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496" y="4411959"/>
            <a:ext cx="504056" cy="4744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496" y="2420888"/>
            <a:ext cx="443428" cy="427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31840" y="4411959"/>
            <a:ext cx="504056" cy="4744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31840" y="2420888"/>
            <a:ext cx="443428" cy="427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56176" y="4339951"/>
            <a:ext cx="504056" cy="4744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0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56176" y="2348880"/>
            <a:ext cx="443428" cy="427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/>
        </p:nvSpPr>
        <p:spPr>
          <a:xfrm>
            <a:off x="467544" y="2423790"/>
            <a:ext cx="2736304" cy="9951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200" dirty="0" smtClean="0">
                <a:latin typeface="Comic Sans MS" pitchFamily="66" charset="0"/>
              </a:rPr>
              <a:t>x = 51.31781255</a:t>
            </a:r>
            <a:r>
              <a:rPr lang="en-GB" sz="2200" baseline="54000" dirty="0" smtClean="0">
                <a:latin typeface="Times New Roman" pitchFamily="18" charset="0"/>
                <a:cs typeface="Times New Roman" pitchFamily="18" charset="0"/>
              </a:rPr>
              <a:t>o</a:t>
            </a:r>
          </a:p>
          <a:p>
            <a:endParaRPr lang="en-GB" sz="2200" baseline="54000" dirty="0" smtClean="0">
              <a:latin typeface="Comic Sans MS" pitchFamily="66" charset="0"/>
            </a:endParaRPr>
          </a:p>
          <a:p>
            <a:r>
              <a:rPr lang="en-GB" sz="2200" dirty="0" smtClean="0">
                <a:latin typeface="Comic Sans MS" pitchFamily="66" charset="0"/>
              </a:rPr>
              <a:t>x = 51.3</a:t>
            </a:r>
            <a:r>
              <a:rPr lang="en-GB" sz="2200" baseline="54000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GB" sz="2200" dirty="0" smtClean="0">
                <a:latin typeface="Comic Sans MS" pitchFamily="66" charset="0"/>
              </a:rPr>
              <a:t> (1 </a:t>
            </a:r>
            <a:r>
              <a:rPr lang="en-GB" sz="2200" dirty="0" err="1" smtClean="0">
                <a:latin typeface="Comic Sans MS" pitchFamily="66" charset="0"/>
              </a:rPr>
              <a:t>d.p</a:t>
            </a:r>
            <a:r>
              <a:rPr lang="en-GB" sz="2200" dirty="0" smtClean="0">
                <a:latin typeface="Comic Sans MS" pitchFamily="66" charset="0"/>
              </a:rPr>
              <a:t>.)</a:t>
            </a:r>
            <a:endParaRPr lang="en-GB" sz="2200" dirty="0">
              <a:latin typeface="Comic Sans MS" pitchFamily="66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7544" y="4509120"/>
            <a:ext cx="288032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200" dirty="0" smtClean="0">
                <a:latin typeface="Comic Sans MS" pitchFamily="66" charset="0"/>
              </a:rPr>
              <a:t>RPQ = 21.801409..</a:t>
            </a:r>
            <a:r>
              <a:rPr lang="en-GB" sz="2200" baseline="54000" dirty="0" smtClean="0">
                <a:latin typeface="Times New Roman" pitchFamily="18" charset="0"/>
                <a:cs typeface="Times New Roman" pitchFamily="18" charset="0"/>
              </a:rPr>
              <a:t>o</a:t>
            </a:r>
          </a:p>
          <a:p>
            <a:endParaRPr lang="en-GB" sz="2200" dirty="0" smtClean="0">
              <a:latin typeface="Comic Sans MS" pitchFamily="66" charset="0"/>
            </a:endParaRPr>
          </a:p>
          <a:p>
            <a:r>
              <a:rPr lang="en-GB" sz="2200" dirty="0" smtClean="0">
                <a:latin typeface="Comic Sans MS" pitchFamily="66" charset="0"/>
              </a:rPr>
              <a:t>RPQ = 21.8</a:t>
            </a:r>
            <a:r>
              <a:rPr lang="en-GB" sz="2200" baseline="54000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GB" sz="2200" dirty="0" smtClean="0">
                <a:latin typeface="Comic Sans MS" pitchFamily="66" charset="0"/>
              </a:rPr>
              <a:t> (3 </a:t>
            </a:r>
            <a:r>
              <a:rPr lang="en-GB" sz="2200" dirty="0" err="1" smtClean="0">
                <a:latin typeface="Comic Sans MS" pitchFamily="66" charset="0"/>
              </a:rPr>
              <a:t>s.f</a:t>
            </a:r>
            <a:r>
              <a:rPr lang="en-GB" sz="2200" dirty="0" smtClean="0">
                <a:latin typeface="Comic Sans MS" pitchFamily="66" charset="0"/>
              </a:rPr>
              <a:t>)</a:t>
            </a:r>
            <a:endParaRPr lang="en-GB" sz="2200" dirty="0">
              <a:latin typeface="Comic Sans MS" pitchFamily="66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491880" y="2348880"/>
            <a:ext cx="2736304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200" dirty="0" smtClean="0">
                <a:latin typeface="Comic Sans MS" pitchFamily="66" charset="0"/>
              </a:rPr>
              <a:t>y = 34.82448916</a:t>
            </a:r>
            <a:r>
              <a:rPr lang="en-GB" sz="2200" baseline="54000" dirty="0" smtClean="0">
                <a:latin typeface="Times New Roman" pitchFamily="18" charset="0"/>
                <a:cs typeface="Times New Roman" pitchFamily="18" charset="0"/>
              </a:rPr>
              <a:t>o</a:t>
            </a:r>
          </a:p>
          <a:p>
            <a:endParaRPr lang="en-GB" sz="2200" dirty="0" smtClean="0">
              <a:latin typeface="Comic Sans MS" pitchFamily="66" charset="0"/>
            </a:endParaRPr>
          </a:p>
          <a:p>
            <a:r>
              <a:rPr lang="en-GB" sz="2200" dirty="0" smtClean="0">
                <a:latin typeface="Comic Sans MS" pitchFamily="66" charset="0"/>
              </a:rPr>
              <a:t>y = 34.8</a:t>
            </a:r>
            <a:r>
              <a:rPr lang="en-GB" sz="2200" baseline="54000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GB" sz="2200" dirty="0" smtClean="0">
                <a:latin typeface="Comic Sans MS" pitchFamily="66" charset="0"/>
              </a:rPr>
              <a:t> (1 </a:t>
            </a:r>
            <a:r>
              <a:rPr lang="en-GB" sz="2200" dirty="0" err="1" smtClean="0">
                <a:latin typeface="Comic Sans MS" pitchFamily="66" charset="0"/>
              </a:rPr>
              <a:t>d.p</a:t>
            </a:r>
            <a:r>
              <a:rPr lang="en-GB" sz="2200" dirty="0" smtClean="0">
                <a:latin typeface="Comic Sans MS" pitchFamily="66" charset="0"/>
              </a:rPr>
              <a:t>.)</a:t>
            </a:r>
            <a:endParaRPr lang="en-GB" sz="2200" dirty="0">
              <a:latin typeface="Comic Sans MS" pitchFamily="66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563888" y="4437112"/>
            <a:ext cx="2736304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200" dirty="0" smtClean="0">
                <a:latin typeface="Comic Sans MS" pitchFamily="66" charset="0"/>
              </a:rPr>
              <a:t>x = 39.32308918</a:t>
            </a:r>
            <a:r>
              <a:rPr lang="en-GB" sz="2200" baseline="54000" dirty="0" smtClean="0">
                <a:latin typeface="Times New Roman" pitchFamily="18" charset="0"/>
                <a:cs typeface="Times New Roman" pitchFamily="18" charset="0"/>
              </a:rPr>
              <a:t>o</a:t>
            </a:r>
          </a:p>
          <a:p>
            <a:endParaRPr lang="en-GB" sz="2200" dirty="0" smtClean="0">
              <a:latin typeface="Comic Sans MS" pitchFamily="66" charset="0"/>
            </a:endParaRPr>
          </a:p>
          <a:p>
            <a:r>
              <a:rPr lang="en-GB" sz="2200" dirty="0" smtClean="0">
                <a:latin typeface="Comic Sans MS" pitchFamily="66" charset="0"/>
              </a:rPr>
              <a:t>x = 39.3</a:t>
            </a:r>
            <a:r>
              <a:rPr lang="en-GB" sz="2200" baseline="54000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GB" sz="2200" dirty="0" smtClean="0">
                <a:latin typeface="Comic Sans MS" pitchFamily="66" charset="0"/>
              </a:rPr>
              <a:t> (3 </a:t>
            </a:r>
            <a:r>
              <a:rPr lang="en-GB" sz="2200" dirty="0" err="1" smtClean="0">
                <a:latin typeface="Comic Sans MS" pitchFamily="66" charset="0"/>
              </a:rPr>
              <a:t>s.f</a:t>
            </a:r>
            <a:r>
              <a:rPr lang="en-GB" sz="2200" dirty="0" smtClean="0">
                <a:latin typeface="Comic Sans MS" pitchFamily="66" charset="0"/>
              </a:rPr>
              <a:t>.)</a:t>
            </a:r>
            <a:endParaRPr lang="en-GB" sz="2200" dirty="0">
              <a:latin typeface="Comic Sans MS" pitchFamily="66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588224" y="2348880"/>
            <a:ext cx="2736304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200" dirty="0" smtClean="0">
                <a:latin typeface="Comic Sans MS" pitchFamily="66" charset="0"/>
              </a:rPr>
              <a:t>x = 28.07248694</a:t>
            </a:r>
            <a:r>
              <a:rPr lang="en-GB" sz="2200" baseline="54000" dirty="0" smtClean="0">
                <a:latin typeface="Times New Roman" pitchFamily="18" charset="0"/>
                <a:cs typeface="Times New Roman" pitchFamily="18" charset="0"/>
              </a:rPr>
              <a:t>o</a:t>
            </a:r>
          </a:p>
          <a:p>
            <a:endParaRPr lang="en-GB" sz="2200" dirty="0" smtClean="0">
              <a:latin typeface="Comic Sans MS" pitchFamily="66" charset="0"/>
            </a:endParaRPr>
          </a:p>
          <a:p>
            <a:r>
              <a:rPr lang="en-GB" sz="2200" dirty="0" smtClean="0">
                <a:latin typeface="Comic Sans MS" pitchFamily="66" charset="0"/>
              </a:rPr>
              <a:t>x = 28.1</a:t>
            </a:r>
            <a:r>
              <a:rPr lang="en-GB" sz="2200" baseline="54000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GB" sz="2200" dirty="0" smtClean="0">
                <a:latin typeface="Comic Sans MS" pitchFamily="66" charset="0"/>
              </a:rPr>
              <a:t> (3 </a:t>
            </a:r>
            <a:r>
              <a:rPr lang="en-GB" sz="2200" dirty="0" err="1" smtClean="0">
                <a:latin typeface="Comic Sans MS" pitchFamily="66" charset="0"/>
              </a:rPr>
              <a:t>s.f</a:t>
            </a:r>
            <a:r>
              <a:rPr lang="en-GB" sz="2200" dirty="0" smtClean="0">
                <a:latin typeface="Comic Sans MS" pitchFamily="66" charset="0"/>
              </a:rPr>
              <a:t>.)</a:t>
            </a:r>
            <a:endParaRPr lang="en-GB" sz="2200" dirty="0">
              <a:latin typeface="Comic Sans MS" pitchFamily="66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588224" y="4437112"/>
            <a:ext cx="2736304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200" dirty="0" smtClean="0">
                <a:latin typeface="Comic Sans MS" pitchFamily="66" charset="0"/>
              </a:rPr>
              <a:t>CD =2.734499693</a:t>
            </a:r>
          </a:p>
          <a:p>
            <a:endParaRPr lang="en-GB" sz="2200" dirty="0" smtClean="0">
              <a:latin typeface="Comic Sans MS" pitchFamily="66" charset="0"/>
            </a:endParaRPr>
          </a:p>
          <a:p>
            <a:r>
              <a:rPr lang="en-GB" sz="2200" dirty="0" smtClean="0">
                <a:latin typeface="Comic Sans MS" pitchFamily="66" charset="0"/>
              </a:rPr>
              <a:t>x = 77.2</a:t>
            </a:r>
            <a:r>
              <a:rPr lang="en-GB" sz="2200" baseline="54000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GB" sz="2200" dirty="0" smtClean="0">
                <a:latin typeface="Comic Sans MS" pitchFamily="66" charset="0"/>
              </a:rPr>
              <a:t> (1 </a:t>
            </a:r>
            <a:r>
              <a:rPr lang="en-GB" sz="2200" dirty="0" err="1" smtClean="0">
                <a:latin typeface="Comic Sans MS" pitchFamily="66" charset="0"/>
              </a:rPr>
              <a:t>d.p</a:t>
            </a:r>
            <a:r>
              <a:rPr lang="en-GB" sz="2200" dirty="0" smtClean="0">
                <a:latin typeface="Comic Sans MS" pitchFamily="66" charset="0"/>
              </a:rPr>
              <a:t>.)</a:t>
            </a:r>
            <a:endParaRPr lang="en-GB" sz="2200" dirty="0"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1196752"/>
            <a:ext cx="6912768" cy="549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683568" y="5373216"/>
            <a:ext cx="648072" cy="6480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634082"/>
          </a:xfrm>
          <a:solidFill>
            <a:srgbClr val="00B050"/>
          </a:solidFill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GB" dirty="0" smtClean="0">
                <a:solidFill>
                  <a:schemeClr val="bg1"/>
                </a:solidFill>
                <a:latin typeface="Comic Sans MS" pitchFamily="66" charset="0"/>
              </a:rPr>
              <a:t>Green 1</a:t>
            </a:r>
            <a:endParaRPr lang="en-GB" dirty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/>
          <p:cNvGrpSpPr/>
          <p:nvPr/>
        </p:nvGrpSpPr>
        <p:grpSpPr>
          <a:xfrm>
            <a:off x="1259632" y="764704"/>
            <a:ext cx="6624736" cy="5733256"/>
            <a:chOff x="971600" y="0"/>
            <a:chExt cx="4448175" cy="4293096"/>
          </a:xfrm>
        </p:grpSpPr>
        <p:pic>
          <p:nvPicPr>
            <p:cNvPr id="26626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619672" y="0"/>
              <a:ext cx="3152775" cy="2219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6627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971600" y="2426196"/>
              <a:ext cx="4448175" cy="18669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634082"/>
          </a:xfrm>
          <a:solidFill>
            <a:srgbClr val="00B050"/>
          </a:solidFill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GB" dirty="0" smtClean="0">
                <a:solidFill>
                  <a:schemeClr val="bg1"/>
                </a:solidFill>
                <a:latin typeface="Comic Sans MS" pitchFamily="66" charset="0"/>
              </a:rPr>
              <a:t>Green 2</a:t>
            </a:r>
            <a:endParaRPr lang="en-GB" dirty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476672"/>
            <a:ext cx="7704856" cy="62775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971600" y="5733256"/>
            <a:ext cx="504056" cy="5040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899592" y="5733256"/>
            <a:ext cx="504056" cy="5040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57200" y="116632"/>
            <a:ext cx="8229600" cy="63408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fontScale="9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Amber 1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mic Sans MS" pitchFamily="66" charset="0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836712"/>
            <a:ext cx="7872999" cy="5949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6516216" y="1484784"/>
            <a:ext cx="2160240" cy="8640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57200" y="116632"/>
            <a:ext cx="8229600" cy="63408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fontScale="9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Amber 2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mic Sans MS" pitchFamily="66" charset="0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83937" y="836712"/>
            <a:ext cx="6327870" cy="6021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899592" y="5445224"/>
            <a:ext cx="504056" cy="5040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1331640" y="6021288"/>
            <a:ext cx="720080" cy="5040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57200" y="116632"/>
            <a:ext cx="8229600" cy="634082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fontScale="9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Red 1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mic Sans MS" pitchFamily="66" charset="0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1196752"/>
            <a:ext cx="6768752" cy="5112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457200" y="116632"/>
            <a:ext cx="8229600" cy="634082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fontScale="9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Red 2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mic Sans MS" pitchFamily="66" charset="0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0622"/>
            <a:ext cx="8229600" cy="850106"/>
          </a:xfrm>
          <a:solidFill>
            <a:srgbClr val="FFFF00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GB" dirty="0" smtClean="0">
                <a:latin typeface="Comic Sans MS" pitchFamily="66" charset="0"/>
              </a:rPr>
              <a:t>To Finish - June 2012</a:t>
            </a:r>
            <a:endParaRPr lang="en-GB" dirty="0">
              <a:latin typeface="Comic Sans MS" pitchFamily="66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9924" y="1124744"/>
            <a:ext cx="8326532" cy="54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634082"/>
          </a:xfrm>
          <a:solidFill>
            <a:srgbClr val="FFFF00"/>
          </a:solidFill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GB" dirty="0" smtClean="0">
                <a:latin typeface="Comic Sans MS" pitchFamily="66" charset="0"/>
              </a:rPr>
              <a:t>To Finish - March 2012</a:t>
            </a:r>
            <a:endParaRPr lang="en-GB" dirty="0">
              <a:latin typeface="Comic Sans MS" pitchFamily="66" charset="0"/>
            </a:endParaRP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908720"/>
            <a:ext cx="8712968" cy="595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1835696" y="4941168"/>
            <a:ext cx="504056" cy="5040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251520" y="5733256"/>
            <a:ext cx="504056" cy="5040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1471</TotalTime>
  <Words>449</Words>
  <Application>Microsoft Macintosh PowerPoint</Application>
  <PresentationFormat>On-screen Show (4:3)</PresentationFormat>
  <Paragraphs>121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Calibri</vt:lpstr>
      <vt:lpstr>Comic Sans MS</vt:lpstr>
      <vt:lpstr>Times New Roman</vt:lpstr>
      <vt:lpstr>Arial</vt:lpstr>
      <vt:lpstr>Office Theme</vt:lpstr>
      <vt:lpstr>PowerPoint Presentation</vt:lpstr>
      <vt:lpstr>Starter</vt:lpstr>
      <vt:lpstr>PowerPoint Presentation</vt:lpstr>
      <vt:lpstr>What do we already know</vt:lpstr>
      <vt:lpstr>What about?</vt:lpstr>
      <vt:lpstr>Inverse Operations </vt:lpstr>
      <vt:lpstr>PowerPoint Presentation</vt:lpstr>
      <vt:lpstr>Inverse Operations </vt:lpstr>
      <vt:lpstr>PowerPoint Presentation</vt:lpstr>
      <vt:lpstr>Calculating a missing angle</vt:lpstr>
      <vt:lpstr>Draw these into your books and calculate the value of Θ</vt:lpstr>
      <vt:lpstr>Task 1 – Calculating missing angles</vt:lpstr>
      <vt:lpstr>Task 1 - Solutions</vt:lpstr>
      <vt:lpstr>Task 2 – Past GCSE Questions</vt:lpstr>
      <vt:lpstr>Task 2 – Solutions</vt:lpstr>
      <vt:lpstr>Green 1</vt:lpstr>
      <vt:lpstr>Green 2</vt:lpstr>
      <vt:lpstr>PowerPoint Presentation</vt:lpstr>
      <vt:lpstr>PowerPoint Presentation</vt:lpstr>
      <vt:lpstr>PowerPoint Presentation</vt:lpstr>
      <vt:lpstr>PowerPoint Presentation</vt:lpstr>
      <vt:lpstr>To Finish - June 2012</vt:lpstr>
      <vt:lpstr>To Finish - March 2012</vt:lpstr>
    </vt:vector>
  </TitlesOfParts>
  <LinksUpToDate>false</LinksUpToDate>
  <SharedDoc>false</SharedDoc>
  <HyperlinksChanged>false</HyperlinksChanged>
  <AppVersion>15.0037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WhiddonJ</dc:creator>
  <cp:lastModifiedBy>EVANS Clem [Baldivis Secondary College]</cp:lastModifiedBy>
  <cp:revision>102</cp:revision>
  <dcterms:created xsi:type="dcterms:W3CDTF">2013-03-07T11:24:25Z</dcterms:created>
  <dcterms:modified xsi:type="dcterms:W3CDTF">2017-08-29T00:10:19Z</dcterms:modified>
</cp:coreProperties>
</file>
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66" r:id="rId3"/>
    <p:sldId id="257" r:id="rId4"/>
    <p:sldId id="258" r:id="rId5"/>
    <p:sldId id="259" r:id="rId6"/>
    <p:sldId id="267" r:id="rId7"/>
    <p:sldId id="268" r:id="rId8"/>
    <p:sldId id="263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08" autoAdjust="0"/>
  </p:normalViewPr>
  <p:slideViewPr>
    <p:cSldViewPr snapToGrid="0" snapToObjects="1">
      <p:cViewPr varScale="1">
        <p:scale>
          <a:sx n="103" d="100"/>
          <a:sy n="103" d="100"/>
        </p:scale>
        <p:origin x="-110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E61D1-9CC5-D142-B193-F12EF17688B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0DDEAC-81D4-3547-8511-0D8A49B72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1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Link to past experiences or knowledge of the students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Actively involve the students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Relevant to the objective of the upcoming lesson</a:t>
            </a:r>
            <a:r>
              <a:rPr lang="en-AU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Share with students what they are learning or will be able to do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Why the lesson is important</a:t>
            </a:r>
            <a:r>
              <a:rPr lang="en-AU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Practise the skill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Encouragement</a:t>
            </a:r>
            <a:r>
              <a:rPr lang="en-AU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Practise the skill</a:t>
            </a:r>
          </a:p>
          <a:p>
            <a:r>
              <a:rPr lang="en-A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Encouragement</a:t>
            </a:r>
            <a:r>
              <a:rPr lang="en-AU" dirty="0" smtClean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3FA0-A440-9C4E-AAF3-EDB97367F09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CDAE-FEB7-4A4E-8A1C-7B3AA795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06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3FA0-A440-9C4E-AAF3-EDB97367F09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CDAE-FEB7-4A4E-8A1C-7B3AA795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2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3FA0-A440-9C4E-AAF3-EDB97367F09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CDAE-FEB7-4A4E-8A1C-7B3AA795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9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3FA0-A440-9C4E-AAF3-EDB97367F09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CDAE-FEB7-4A4E-8A1C-7B3AA795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5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3FA0-A440-9C4E-AAF3-EDB97367F09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CDAE-FEB7-4A4E-8A1C-7B3AA795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3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3FA0-A440-9C4E-AAF3-EDB97367F09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CDAE-FEB7-4A4E-8A1C-7B3AA795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29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3FA0-A440-9C4E-AAF3-EDB97367F09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CDAE-FEB7-4A4E-8A1C-7B3AA795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7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3FA0-A440-9C4E-AAF3-EDB97367F09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CDAE-FEB7-4A4E-8A1C-7B3AA795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2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3FA0-A440-9C4E-AAF3-EDB97367F09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CDAE-FEB7-4A4E-8A1C-7B3AA795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5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3FA0-A440-9C4E-AAF3-EDB97367F09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CDAE-FEB7-4A4E-8A1C-7B3AA795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6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3FA0-A440-9C4E-AAF3-EDB97367F09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0CDAE-FEB7-4A4E-8A1C-7B3AA795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35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C3FA0-A440-9C4E-AAF3-EDB97367F093}" type="datetimeFigureOut">
              <a:rPr lang="en-US" smtClean="0"/>
              <a:t>6/03/17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0CDAE-FEB7-4A4E-8A1C-7B3AA795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0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9.jpeg"/><Relationship Id="rId5" Type="http://schemas.microsoft.com/office/2007/relationships/hdphoto" Target="../media/hdphoto2.wdp"/><Relationship Id="rId6" Type="http://schemas.openxmlformats.org/officeDocument/2006/relationships/image" Target="../media/image10.jpg"/><Relationship Id="rId7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67073"/>
            <a:ext cx="7772400" cy="2033378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Chalkboard"/>
                <a:cs typeface="Chalkboard"/>
              </a:rPr>
              <a:t>Surface Area</a:t>
            </a:r>
            <a:endParaRPr lang="en-US" sz="60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75000"/>
                </a:schemeClr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Chalkboard"/>
              <a:cs typeface="Chalkboar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Year </a:t>
            </a:r>
            <a:r>
              <a:rPr lang="en-US" b="1" dirty="0" smtClean="0"/>
              <a:t>9</a:t>
            </a:r>
            <a:endParaRPr lang="en-US" b="1" dirty="0" smtClean="0"/>
          </a:p>
          <a:p>
            <a:r>
              <a:rPr lang="en-US" dirty="0" smtClean="0"/>
              <a:t>Week 6</a:t>
            </a:r>
          </a:p>
          <a:p>
            <a:r>
              <a:rPr lang="en-US" dirty="0" smtClean="0"/>
              <a:t>Lesson </a:t>
            </a:r>
            <a:r>
              <a:rPr lang="en-US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339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Shot 2017-03-03 at 3.27.33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03"/>
          <a:stretch/>
        </p:blipFill>
        <p:spPr>
          <a:xfrm>
            <a:off x="-1" y="845442"/>
            <a:ext cx="9144001" cy="432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707886"/>
          </a:xfrm>
          <a:prstGeom prst="rect">
            <a:avLst/>
          </a:prstGeom>
          <a:solidFill>
            <a:srgbClr val="DBEEF4"/>
          </a:solidFill>
          <a:ln w="19050" cmpd="sng">
            <a:solidFill>
              <a:srgbClr val="21596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Chalkboard"/>
                <a:cs typeface="Chalkboard"/>
              </a:rPr>
              <a:t>Beginning of the Lesson</a:t>
            </a:r>
            <a:endParaRPr lang="en-US" sz="40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7231" y="1211844"/>
            <a:ext cx="7314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Chalkboard"/>
                <a:cs typeface="Chalkboard"/>
              </a:rPr>
              <a:t>What do all these objects have in common?</a:t>
            </a:r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4" name="Picture 3" descr="11222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4" t="2409" r="8362" b="2341"/>
          <a:stretch/>
        </p:blipFill>
        <p:spPr>
          <a:xfrm>
            <a:off x="127165" y="1743792"/>
            <a:ext cx="3144069" cy="3511439"/>
          </a:xfrm>
          <a:prstGeom prst="rect">
            <a:avLst/>
          </a:prstGeom>
        </p:spPr>
      </p:pic>
      <p:pic>
        <p:nvPicPr>
          <p:cNvPr id="5" name="Picture 4" descr="bar_-_100g_toblerone_milk_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268" y="3954969"/>
            <a:ext cx="3410698" cy="3410698"/>
          </a:xfrm>
          <a:prstGeom prst="rect">
            <a:avLst/>
          </a:prstGeom>
        </p:spPr>
      </p:pic>
      <p:pic>
        <p:nvPicPr>
          <p:cNvPr id="6" name="Picture 5" descr="rubix_cube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75" y="2062576"/>
            <a:ext cx="3114785" cy="31926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7232" y="5727487"/>
            <a:ext cx="2360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Chalkboard"/>
                <a:cs typeface="Chalkboard"/>
              </a:rPr>
              <a:t>They are 3-D</a:t>
            </a:r>
            <a:endParaRPr lang="en-US" sz="28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1054583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cmpd="sng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Chalkboard"/>
                <a:cs typeface="Chalkboard"/>
              </a:rPr>
              <a:t>Lesson Objectives</a:t>
            </a:r>
            <a:endParaRPr lang="en-US" sz="40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7165" y="1427108"/>
            <a:ext cx="885173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halkboard"/>
                <a:cs typeface="Chalkboard"/>
              </a:rPr>
              <a:t>How to find the surface area of 3-D shapes</a:t>
            </a:r>
            <a:endParaRPr lang="en-US" sz="3200" dirty="0">
              <a:latin typeface="Chalkboard"/>
              <a:cs typeface="Chalkboard"/>
            </a:endParaRPr>
          </a:p>
        </p:txBody>
      </p:sp>
      <p:pic>
        <p:nvPicPr>
          <p:cNvPr id="4" name="Picture 3" descr="1fd6d7cbe992dc70ea166b85c537678d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92"/>
          <a:stretch/>
        </p:blipFill>
        <p:spPr>
          <a:xfrm>
            <a:off x="527051" y="2120900"/>
            <a:ext cx="79057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066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</a:t>
            </a:r>
            <a:r>
              <a:rPr lang="en-AU" sz="2000" b="1" dirty="0" smtClean="0">
                <a:latin typeface="Chalkboard"/>
                <a:cs typeface="Chalkboard"/>
              </a:rPr>
              <a:t>How do you calculate the surface area of different shapes?  </a:t>
            </a:r>
            <a:endParaRPr lang="en-AU" sz="20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7307" y="45022"/>
            <a:ext cx="3028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Surface Area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5122" y="1624725"/>
            <a:ext cx="671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Net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33948" y="1439790"/>
            <a:ext cx="6723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A net is a two-dimensional illustration of all the surfaces of a solid</a:t>
            </a:r>
            <a:endParaRPr lang="en-US" sz="2400" dirty="0">
              <a:latin typeface="Chalkboard"/>
              <a:cs typeface="Chalkboard"/>
            </a:endParaRPr>
          </a:p>
        </p:txBody>
      </p:sp>
      <p:pic>
        <p:nvPicPr>
          <p:cNvPr id="5" name="Picture 4" descr="Screen Shot 2017-03-06 at 3.53.0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608" y="2551330"/>
            <a:ext cx="4064000" cy="1714500"/>
          </a:xfrm>
          <a:prstGeom prst="rect">
            <a:avLst/>
          </a:prstGeom>
        </p:spPr>
      </p:pic>
      <p:pic>
        <p:nvPicPr>
          <p:cNvPr id="8" name="Picture 7" descr="Screen Shot 2017-03-06 at 3.53.1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608" y="4751698"/>
            <a:ext cx="4064000" cy="176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80608" y="4283734"/>
            <a:ext cx="4063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     Solid            Net</a:t>
            </a:r>
            <a:endParaRPr lang="en-US" sz="24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35740826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</a:t>
            </a:r>
            <a:r>
              <a:rPr lang="en-AU" sz="2000" b="1" dirty="0" smtClean="0">
                <a:latin typeface="Chalkboard"/>
                <a:cs typeface="Chalkboard"/>
              </a:rPr>
              <a:t>How do you calculate the surface area of different shapes?  </a:t>
            </a:r>
            <a:endParaRPr lang="en-AU" sz="20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7307" y="45022"/>
            <a:ext cx="3028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Surface Area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5122" y="1624725"/>
            <a:ext cx="671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Net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33948" y="1208957"/>
            <a:ext cx="6723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halkboard"/>
                <a:cs typeface="Chalkboard"/>
              </a:rPr>
              <a:t>N</a:t>
            </a:r>
            <a:r>
              <a:rPr lang="en-US" sz="2400" dirty="0" smtClean="0">
                <a:latin typeface="Chalkboard"/>
                <a:cs typeface="Chalkboard"/>
              </a:rPr>
              <a:t>ame of the solid shapes by looking at it’s net </a:t>
            </a:r>
            <a:endParaRPr lang="en-US" sz="2400" dirty="0">
              <a:latin typeface="Chalkboard"/>
              <a:cs typeface="Chalkboard"/>
            </a:endParaRPr>
          </a:p>
        </p:txBody>
      </p:sp>
      <p:pic>
        <p:nvPicPr>
          <p:cNvPr id="10" name="Picture 9" descr="Screen Shot 2017-03-06 at 4.04.44 PM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948" y="1835336"/>
            <a:ext cx="2854874" cy="2303364"/>
          </a:xfrm>
          <a:prstGeom prst="rect">
            <a:avLst/>
          </a:prstGeom>
        </p:spPr>
      </p:pic>
      <p:pic>
        <p:nvPicPr>
          <p:cNvPr id="16" name="Picture 15" descr="Screen Shot 2017-03-06 at 4.04.39 PM.png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862" y="1804417"/>
            <a:ext cx="2811003" cy="233428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71453" y="4302817"/>
            <a:ext cx="1284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Pyramid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22757" y="4302817"/>
            <a:ext cx="1326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Cylinder</a:t>
            </a:r>
            <a:endParaRPr lang="en-US" sz="2400" dirty="0">
              <a:latin typeface="Chalkboard"/>
              <a:cs typeface="Chalkboard"/>
            </a:endParaRPr>
          </a:p>
        </p:txBody>
      </p:sp>
      <p:pic>
        <p:nvPicPr>
          <p:cNvPr id="19" name="Picture 18" descr="Paint-Step-6-7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948" y="4899231"/>
            <a:ext cx="2635440" cy="1758422"/>
          </a:xfrm>
          <a:prstGeom prst="rect">
            <a:avLst/>
          </a:prstGeom>
        </p:spPr>
      </p:pic>
      <p:pic>
        <p:nvPicPr>
          <p:cNvPr id="20" name="Picture 19" descr="0009374_pringles-sour-cream---onion-165g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048" y="4899231"/>
            <a:ext cx="1844443" cy="184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413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Chalkboard"/>
                <a:cs typeface="Chalkboard"/>
              </a:rPr>
              <a:t>Date</a:t>
            </a:r>
            <a:endParaRPr lang="en-AU" sz="20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 smtClean="0">
                <a:latin typeface="Chalkboard"/>
                <a:cs typeface="Chalkboard"/>
              </a:rPr>
              <a:t>– </a:t>
            </a:r>
            <a:r>
              <a:rPr lang="en-AU" sz="2000" b="1" dirty="0" smtClean="0">
                <a:latin typeface="Chalkboard"/>
                <a:cs typeface="Chalkboard"/>
              </a:rPr>
              <a:t>How do you calculate the surface area of different shapes?  </a:t>
            </a:r>
            <a:endParaRPr lang="en-AU" sz="2000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7307" y="45022"/>
            <a:ext cx="3028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</a:t>
            </a:r>
            <a:r>
              <a:rPr lang="en-AU" sz="2400" b="1" dirty="0" smtClean="0">
                <a:latin typeface="Chalkboard"/>
                <a:cs typeface="Chalkboard"/>
              </a:rPr>
              <a:t>: Surface Area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5122" y="1624725"/>
            <a:ext cx="937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Prism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7942" y="1209226"/>
            <a:ext cx="6723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Prisms are solid, or hollow, objects with two identical ends and rectangular sides</a:t>
            </a:r>
            <a:endParaRPr lang="en-US" sz="2400" dirty="0">
              <a:latin typeface="Chalkboard"/>
              <a:cs typeface="Chalkboard"/>
            </a:endParaRPr>
          </a:p>
        </p:txBody>
      </p:sp>
      <p:pic>
        <p:nvPicPr>
          <p:cNvPr id="5" name="Picture 4" descr="Screen Shot 2017-03-06 at 4.09.39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5"/>
          <a:stretch/>
        </p:blipFill>
        <p:spPr>
          <a:xfrm>
            <a:off x="2426341" y="2260684"/>
            <a:ext cx="6505448" cy="459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756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5847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mpd="sng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halkboard"/>
                <a:cs typeface="Chalkboard"/>
              </a:rPr>
              <a:t>Task</a:t>
            </a:r>
            <a:endParaRPr lang="en-US" sz="3200" dirty="0">
              <a:latin typeface="Chalkboard"/>
              <a:cs typeface="Chalkboard"/>
            </a:endParaRPr>
          </a:p>
        </p:txBody>
      </p:sp>
      <p:pic>
        <p:nvPicPr>
          <p:cNvPr id="3" name="Picture 2" descr="Screen Shot 2017-03-06 at 4.10.3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5041"/>
            <a:ext cx="9144000" cy="38974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3023" y="3476775"/>
            <a:ext cx="1849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2 pentagons 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3023" y="3942892"/>
            <a:ext cx="1739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2 hexagons 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53023" y="4458325"/>
            <a:ext cx="1852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2 heptagons 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42839" y="4919990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2 octagons 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64479" y="3015110"/>
            <a:ext cx="1895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halkboard"/>
                <a:cs typeface="Chalkboard"/>
              </a:rPr>
              <a:t>4</a:t>
            </a:r>
            <a:r>
              <a:rPr lang="en-US" sz="2400" dirty="0" smtClean="0">
                <a:latin typeface="Chalkboard"/>
                <a:cs typeface="Chalkboard"/>
              </a:rPr>
              <a:t> rectangles 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64479" y="3492516"/>
            <a:ext cx="1895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5 rectangles 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64479" y="3942892"/>
            <a:ext cx="1895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6 rectangles 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64479" y="4457285"/>
            <a:ext cx="1895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7 rectangles 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64479" y="4918950"/>
            <a:ext cx="1895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halkboard"/>
                <a:cs typeface="Chalkboard"/>
              </a:rPr>
              <a:t>8 rectangles 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51002" y="3015110"/>
            <a:ext cx="128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halkboard"/>
                <a:cs typeface="Chalkboard"/>
              </a:rPr>
              <a:t>6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51002" y="3492516"/>
            <a:ext cx="128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halkboard"/>
                <a:cs typeface="Chalkboard"/>
              </a:rPr>
              <a:t>7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51002" y="3942892"/>
            <a:ext cx="128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halkboard"/>
                <a:cs typeface="Chalkboard"/>
              </a:rPr>
              <a:t>8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27872" y="4469614"/>
            <a:ext cx="128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halkboard"/>
                <a:cs typeface="Chalkboard"/>
              </a:rPr>
              <a:t>9</a:t>
            </a:r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51002" y="4931279"/>
            <a:ext cx="128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halkboard"/>
                <a:cs typeface="Chalkboard"/>
              </a:rPr>
              <a:t>10</a:t>
            </a:r>
            <a:endParaRPr lang="en-US" sz="24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28080542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5847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mpd="sng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halkboard"/>
                <a:cs typeface="Chalkboard"/>
              </a:rPr>
              <a:t>Task</a:t>
            </a:r>
            <a:endParaRPr lang="en-US" sz="3200" dirty="0">
              <a:latin typeface="Chalkboard"/>
              <a:cs typeface="Chalkbo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67299" y="1208241"/>
            <a:ext cx="521168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Chalkboard"/>
                <a:cs typeface="Chalkboard"/>
              </a:rPr>
              <a:t>Make your own Prisms</a:t>
            </a:r>
          </a:p>
          <a:p>
            <a:endParaRPr lang="en-US" sz="3200" dirty="0">
              <a:latin typeface="Chalkboard"/>
              <a:cs typeface="Chalkboard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 smtClean="0">
                <a:latin typeface="Chalkboard"/>
                <a:cs typeface="Chalkboard"/>
              </a:rPr>
              <a:t>cut along the lines</a:t>
            </a:r>
          </a:p>
          <a:p>
            <a:pPr marL="457200" indent="-457200">
              <a:buFont typeface="Arial"/>
              <a:buChar char="•"/>
            </a:pPr>
            <a:r>
              <a:rPr lang="en-US" sz="3200" dirty="0" smtClean="0">
                <a:latin typeface="Chalkboard"/>
                <a:cs typeface="Chalkboard"/>
              </a:rPr>
              <a:t>glues the sides together</a:t>
            </a:r>
            <a:endParaRPr lang="en-US" sz="32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14180072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247</Words>
  <Application>Microsoft Macintosh PowerPoint</Application>
  <PresentationFormat>On-screen Show (4:3)</PresentationFormat>
  <Paragraphs>69</Paragraphs>
  <Slides>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Surface Area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Surface Area</dc:title>
  <dc:creator>E4093549</dc:creator>
  <cp:lastModifiedBy>E4093549</cp:lastModifiedBy>
  <cp:revision>14</cp:revision>
  <dcterms:created xsi:type="dcterms:W3CDTF">2017-03-06T07:28:07Z</dcterms:created>
  <dcterms:modified xsi:type="dcterms:W3CDTF">2017-03-06T08:17:28Z</dcterms:modified>
</cp:coreProperties>
</file>
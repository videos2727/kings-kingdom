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261" r:id="rId5"/>
    <p:sldId id="342" r:id="rId6"/>
    <p:sldId id="353" r:id="rId7"/>
    <p:sldId id="366" r:id="rId8"/>
    <p:sldId id="354" r:id="rId9"/>
    <p:sldId id="355" r:id="rId10"/>
    <p:sldId id="356" r:id="rId11"/>
    <p:sldId id="357" r:id="rId12"/>
    <p:sldId id="352" r:id="rId13"/>
    <p:sldId id="359" r:id="rId14"/>
    <p:sldId id="358" r:id="rId15"/>
    <p:sldId id="368" r:id="rId16"/>
    <p:sldId id="339" r:id="rId17"/>
    <p:sldId id="362" r:id="rId18"/>
    <p:sldId id="363" r:id="rId19"/>
    <p:sldId id="361" r:id="rId20"/>
    <p:sldId id="369" r:id="rId21"/>
    <p:sldId id="374" r:id="rId22"/>
    <p:sldId id="373" r:id="rId23"/>
    <p:sldId id="370" r:id="rId24"/>
    <p:sldId id="371" r:id="rId25"/>
    <p:sldId id="372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>
      <p:cViewPr varScale="1">
        <p:scale>
          <a:sx n="72" d="100"/>
          <a:sy n="72" d="100"/>
        </p:scale>
        <p:origin x="1350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Perimeter, Area and Volume 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Name </a:t>
            </a:r>
          </a:p>
          <a:p>
            <a:r>
              <a:rPr lang="en-AU" dirty="0"/>
              <a:t>Class </a:t>
            </a:r>
          </a:p>
          <a:p>
            <a:r>
              <a:rPr lang="en-AU" dirty="0"/>
              <a:t>Term 3 Semester 2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333427" y="2348880"/>
            <a:ext cx="1260140" cy="1396872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rapezoid 4"/>
          <p:cNvSpPr/>
          <p:nvPr/>
        </p:nvSpPr>
        <p:spPr>
          <a:xfrm>
            <a:off x="2699792" y="2348880"/>
            <a:ext cx="1440160" cy="648072"/>
          </a:xfrm>
          <a:prstGeom prst="trapezoi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Hexagon 5"/>
          <p:cNvSpPr/>
          <p:nvPr/>
        </p:nvSpPr>
        <p:spPr>
          <a:xfrm>
            <a:off x="5076056" y="2348880"/>
            <a:ext cx="1512168" cy="1368152"/>
          </a:xfrm>
          <a:prstGeom prst="hex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Decagon 6"/>
          <p:cNvSpPr/>
          <p:nvPr/>
        </p:nvSpPr>
        <p:spPr>
          <a:xfrm>
            <a:off x="7596336" y="2852936"/>
            <a:ext cx="1224136" cy="1296144"/>
          </a:xfrm>
          <a:prstGeom prst="decag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Pie 8"/>
          <p:cNvSpPr/>
          <p:nvPr/>
        </p:nvSpPr>
        <p:spPr>
          <a:xfrm>
            <a:off x="683568" y="4653136"/>
            <a:ext cx="1368152" cy="1440160"/>
          </a:xfrm>
          <a:prstGeom prst="pi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48264" y="5301208"/>
            <a:ext cx="115212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L-Shape 10"/>
          <p:cNvSpPr/>
          <p:nvPr/>
        </p:nvSpPr>
        <p:spPr>
          <a:xfrm>
            <a:off x="323528" y="548680"/>
            <a:ext cx="936104" cy="1368152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Parallelogram 11"/>
          <p:cNvSpPr/>
          <p:nvPr/>
        </p:nvSpPr>
        <p:spPr>
          <a:xfrm>
            <a:off x="7524328" y="1232756"/>
            <a:ext cx="936104" cy="1116124"/>
          </a:xfrm>
          <a:prstGeom prst="parallelogram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/>
          <p:cNvSpPr/>
          <p:nvPr/>
        </p:nvSpPr>
        <p:spPr>
          <a:xfrm>
            <a:off x="2339752" y="3717032"/>
            <a:ext cx="936104" cy="93610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06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Surface Area of a Cylinder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process for finding the TSA of a cylinder.</a:t>
            </a:r>
          </a:p>
        </p:txBody>
      </p:sp>
    </p:spTree>
    <p:extLst>
      <p:ext uri="{BB962C8B-B14F-4D97-AF65-F5344CB8AC3E}">
        <p14:creationId xmlns:p14="http://schemas.microsoft.com/office/powerpoint/2010/main" val="146241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What 2 shapes are required to make a cylinder?</a:t>
            </a:r>
          </a:p>
        </p:txBody>
      </p:sp>
      <p:sp>
        <p:nvSpPr>
          <p:cNvPr id="5" name="Flowchart: Direct Access Storage 4"/>
          <p:cNvSpPr/>
          <p:nvPr/>
        </p:nvSpPr>
        <p:spPr>
          <a:xfrm rot="16200000">
            <a:off x="2699792" y="2852936"/>
            <a:ext cx="3456384" cy="2304256"/>
          </a:xfrm>
          <a:prstGeom prst="flowChartMagneticDrum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7558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06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Surface Area of a Cylinder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process for finding the TSA of a cylinder.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228" y="2103868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027" y="2501532"/>
            <a:ext cx="1390008" cy="15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672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06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Surface Area of a Cylinder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process for finding the TSA of a cylinder.</a:t>
            </a:r>
          </a:p>
        </p:txBody>
      </p:sp>
      <p:sp>
        <p:nvSpPr>
          <p:cNvPr id="13" name="Flowchart: Magnetic Disk 12"/>
          <p:cNvSpPr/>
          <p:nvPr/>
        </p:nvSpPr>
        <p:spPr>
          <a:xfrm rot="5400000">
            <a:off x="3411873" y="2636912"/>
            <a:ext cx="1184744" cy="1368152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4428771" y="3320988"/>
            <a:ext cx="0" cy="592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02336" y="3444332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731247" y="3878175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247" y="3878175"/>
                <a:ext cx="366913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26453" y="1952597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2482" y="2141576"/>
            <a:ext cx="2527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tx2"/>
                </a:solidFill>
              </a:rPr>
              <a:t>What does the net of a cylinder look like?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5525249" y="3813664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249" y="3813664"/>
                <a:ext cx="36691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5468700" y="3231005"/>
            <a:ext cx="2664296" cy="15188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Oval 24"/>
          <p:cNvSpPr/>
          <p:nvPr/>
        </p:nvSpPr>
        <p:spPr>
          <a:xfrm>
            <a:off x="5892162" y="2463200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Oval 25"/>
          <p:cNvSpPr/>
          <p:nvPr/>
        </p:nvSpPr>
        <p:spPr>
          <a:xfrm>
            <a:off x="6030168" y="4740134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7" name="Straight Connector 26"/>
          <p:cNvCxnSpPr>
            <a:cxnSpLocks/>
          </p:cNvCxnSpPr>
          <p:nvPr/>
        </p:nvCxnSpPr>
        <p:spPr>
          <a:xfrm flipV="1">
            <a:off x="6254619" y="2862470"/>
            <a:ext cx="407" cy="3944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28184" y="2787907"/>
            <a:ext cx="26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</a:t>
            </a:r>
          </a:p>
        </p:txBody>
      </p:sp>
      <p:cxnSp>
        <p:nvCxnSpPr>
          <p:cNvPr id="31" name="Straight Connector 30"/>
          <p:cNvCxnSpPr>
            <a:cxnSpLocks/>
          </p:cNvCxnSpPr>
          <p:nvPr/>
        </p:nvCxnSpPr>
        <p:spPr>
          <a:xfrm flipV="1">
            <a:off x="6415008" y="4748876"/>
            <a:ext cx="407" cy="3944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88573" y="4674313"/>
            <a:ext cx="26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180431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06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Surface Area of a Cylinder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process for finding the TSA of a cylinder.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5842791" y="3617174"/>
            <a:ext cx="2664296" cy="15188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6266253" y="2849369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6404259" y="5126303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2932228" y="2103868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403639" y="4288450"/>
                <a:ext cx="977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𝐴𝑟𝑒𝑎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639" y="4288450"/>
                <a:ext cx="977382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4211960" y="3233271"/>
            <a:ext cx="2192299" cy="10551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211960" y="4657782"/>
            <a:ext cx="2434906" cy="8524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700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06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Surface Area of a Cylinder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process for finding the TSA of a cylinder.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5842791" y="3617174"/>
            <a:ext cx="2664296" cy="15188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6266253" y="2849369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6404259" y="5126303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2932228" y="2103868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403639" y="4288450"/>
                <a:ext cx="14103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𝐴𝑟𝑒𝑎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l-GR" b="0" i="1" smtClean="0">
                          <a:latin typeface="Cambria Math"/>
                        </a:rPr>
                        <m:t>𝜋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639" y="4288450"/>
                <a:ext cx="14103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>
            <a:cxnSpLocks/>
          </p:cNvCxnSpPr>
          <p:nvPr/>
        </p:nvCxnSpPr>
        <p:spPr>
          <a:xfrm flipV="1">
            <a:off x="4211960" y="3233271"/>
            <a:ext cx="2192299" cy="10551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/>
          </p:cNvCxnSpPr>
          <p:nvPr/>
        </p:nvCxnSpPr>
        <p:spPr>
          <a:xfrm>
            <a:off x="4211960" y="4657782"/>
            <a:ext cx="2434906" cy="8524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514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06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Surface Area of a Cylinder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process for finding the TSA of a cylinder.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5842791" y="3617174"/>
            <a:ext cx="2664296" cy="15188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6266253" y="2849369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6404259" y="5126303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2932228" y="2103868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403639" y="4288450"/>
                <a:ext cx="14103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𝐴𝑟𝑒𝑎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l-GR" b="0" i="1" smtClean="0">
                          <a:latin typeface="Cambria Math"/>
                        </a:rPr>
                        <m:t>𝜋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639" y="4288450"/>
                <a:ext cx="1410321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4211960" y="3233271"/>
            <a:ext cx="2192299" cy="10551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211960" y="4657782"/>
            <a:ext cx="2434906" cy="8524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823044" y="3598949"/>
                <a:ext cx="616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2</m:t>
                      </m:r>
                      <m:r>
                        <a:rPr lang="en-AU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044" y="3598949"/>
                <a:ext cx="61613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4230432" y="2452246"/>
            <a:ext cx="4518032" cy="369332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AU" dirty="0"/>
              <a:t>Same length as the circumference of the circle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7668344" y="2849369"/>
            <a:ext cx="72008" cy="7495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993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06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Surface Area of a Cylinder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process for finding the TSA of a cylinder.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5842791" y="3617174"/>
            <a:ext cx="2664296" cy="15188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6266253" y="2849369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6404259" y="5126303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2932228" y="2103868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403639" y="4288450"/>
                <a:ext cx="14103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𝐴𝑟𝑒𝑎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l-GR" b="0" i="1" smtClean="0">
                          <a:latin typeface="Cambria Math"/>
                        </a:rPr>
                        <m:t>𝜋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639" y="4288450"/>
                <a:ext cx="1410321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4211960" y="3233271"/>
            <a:ext cx="2192299" cy="10551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211960" y="4657782"/>
            <a:ext cx="2434906" cy="8524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823044" y="3598949"/>
                <a:ext cx="616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2</m:t>
                      </m:r>
                      <m:r>
                        <a:rPr lang="en-AU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044" y="3598949"/>
                <a:ext cx="61613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4230432" y="2452246"/>
            <a:ext cx="4518032" cy="369332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AU" dirty="0"/>
              <a:t>Same length as the circumference of the circle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7668344" y="2849369"/>
            <a:ext cx="72008" cy="7495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85659" y="5427550"/>
            <a:ext cx="2772682" cy="64633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/>
              <a:t>TSA = 2 circles + 1 rectangle</a:t>
            </a:r>
          </a:p>
          <a:p>
            <a:r>
              <a:rPr lang="en-AU" dirty="0"/>
              <a:t>        =</a:t>
            </a:r>
          </a:p>
        </p:txBody>
      </p:sp>
    </p:spTree>
    <p:extLst>
      <p:ext uri="{BB962C8B-B14F-4D97-AF65-F5344CB8AC3E}">
        <p14:creationId xmlns:p14="http://schemas.microsoft.com/office/powerpoint/2010/main" val="912739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AU" dirty="0"/>
              <a:t>How do we find the SA of a Cylinder?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1417638"/>
            <a:ext cx="5196408" cy="519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222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06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Surface Area of a Cylinder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process for finding the TSA of a cylinder.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5842791" y="3617174"/>
            <a:ext cx="2664296" cy="15188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6266253" y="2849369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6404259" y="5126303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2932228" y="2103868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403639" y="4288450"/>
                <a:ext cx="14103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𝐴𝑟𝑒𝑎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l-GR" b="0" i="1" smtClean="0">
                          <a:latin typeface="Cambria Math"/>
                        </a:rPr>
                        <m:t>𝜋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639" y="4288450"/>
                <a:ext cx="1410321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4211960" y="3233271"/>
            <a:ext cx="2192299" cy="10551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211960" y="4657782"/>
            <a:ext cx="2434906" cy="8524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823044" y="3598949"/>
                <a:ext cx="616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2</m:t>
                      </m:r>
                      <m:r>
                        <a:rPr lang="en-AU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044" y="3598949"/>
                <a:ext cx="61613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4230432" y="2452246"/>
            <a:ext cx="4518032" cy="369332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AU" dirty="0"/>
              <a:t>Same length as the circumference of the circle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7668344" y="2849369"/>
            <a:ext cx="72008" cy="7495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85659" y="5427550"/>
                <a:ext cx="2772682" cy="646331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2 circles + 1 rectangle</a:t>
                </a:r>
              </a:p>
              <a:p>
                <a:r>
                  <a:rPr lang="en-AU" dirty="0"/>
                  <a:t>        =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𝑟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h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659" y="5427550"/>
                <a:ext cx="2772682" cy="646331"/>
              </a:xfrm>
              <a:prstGeom prst="rect">
                <a:avLst/>
              </a:prstGeom>
              <a:blipFill rotWithShape="1">
                <a:blip r:embed="rId5"/>
                <a:stretch>
                  <a:fillRect l="-1754" t="-3704" r="-1316" b="-12963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6629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06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Surface Area of a Cylinder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process for finding the TSA of a cylinder.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5842791" y="3617174"/>
            <a:ext cx="2664296" cy="15188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6266253" y="2849369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6404259" y="5126303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2932228" y="2103868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403639" y="4288450"/>
                <a:ext cx="14103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𝐴𝑟𝑒𝑎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l-GR" b="0" i="1" smtClean="0">
                          <a:latin typeface="Cambria Math"/>
                        </a:rPr>
                        <m:t>𝜋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639" y="4288450"/>
                <a:ext cx="1410321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4211960" y="3233271"/>
            <a:ext cx="2192299" cy="10551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211960" y="4657782"/>
            <a:ext cx="2434906" cy="8524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823044" y="3598949"/>
                <a:ext cx="616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2</m:t>
                      </m:r>
                      <m:r>
                        <a:rPr lang="en-AU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044" y="3598949"/>
                <a:ext cx="61613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4230432" y="2452246"/>
            <a:ext cx="4518032" cy="369332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AU" dirty="0"/>
              <a:t>Same length as the circumference of the circle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7668344" y="2849369"/>
            <a:ext cx="72008" cy="7495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85659" y="5427550"/>
                <a:ext cx="2772682" cy="923330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2 circles + 1 rectangle</a:t>
                </a:r>
              </a:p>
              <a:p>
                <a:r>
                  <a:rPr lang="en-AU" dirty="0"/>
                  <a:t>        =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𝑟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659" y="5427550"/>
                <a:ext cx="2772682" cy="923330"/>
              </a:xfrm>
              <a:prstGeom prst="rect">
                <a:avLst/>
              </a:prstGeom>
              <a:blipFill rotWithShape="1">
                <a:blip r:embed="rId5"/>
                <a:stretch>
                  <a:fillRect l="-1754" t="-2597" r="-1316" b="-844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368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06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Surface Area of a Cylinder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process for finding the TSA of a cylinder.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5842791" y="3617174"/>
            <a:ext cx="2664296" cy="15188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6266253" y="2849369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6404259" y="5126303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2932228" y="2103868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403639" y="4288450"/>
                <a:ext cx="14103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𝐴𝑟𝑒𝑎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l-GR" b="0" i="1" smtClean="0">
                          <a:latin typeface="Cambria Math"/>
                        </a:rPr>
                        <m:t>𝜋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639" y="4288450"/>
                <a:ext cx="1410321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4211960" y="3233271"/>
            <a:ext cx="2192299" cy="10551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211960" y="4657782"/>
            <a:ext cx="2434906" cy="8524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823044" y="3598949"/>
                <a:ext cx="616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2</m:t>
                      </m:r>
                      <m:r>
                        <a:rPr lang="en-AU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044" y="3598949"/>
                <a:ext cx="61613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4230432" y="2452246"/>
            <a:ext cx="4518032" cy="369332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AU" dirty="0"/>
              <a:t>Same length as the circumference of the circle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7668344" y="2849369"/>
            <a:ext cx="72008" cy="7495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932228" y="5832422"/>
                <a:ext cx="4348819" cy="923330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area of</a:t>
                </a:r>
                <a:r>
                  <a:rPr lang="en-AU" dirty="0">
                    <a:solidFill>
                      <a:schemeClr val="accent4">
                        <a:lumMod val="75000"/>
                      </a:schemeClr>
                    </a:solidFill>
                  </a:rPr>
                  <a:t> 2 x </a:t>
                </a:r>
                <a:r>
                  <a:rPr lang="en-AU" dirty="0">
                    <a:solidFill>
                      <a:srgbClr val="FF0000"/>
                    </a:solidFill>
                  </a:rPr>
                  <a:t>circles </a:t>
                </a:r>
                <a:r>
                  <a:rPr lang="en-AU" dirty="0"/>
                  <a:t>+ area of </a:t>
                </a:r>
                <a:r>
                  <a:rPr lang="en-AU" dirty="0">
                    <a:solidFill>
                      <a:schemeClr val="accent5">
                        <a:lumMod val="75000"/>
                      </a:schemeClr>
                    </a:solidFill>
                  </a:rPr>
                  <a:t>1 rectangle</a:t>
                </a:r>
              </a:p>
              <a:p>
                <a:r>
                  <a:rPr lang="en-AU" dirty="0"/>
                  <a:t>        = </a:t>
                </a:r>
                <a14:m>
                  <m:oMath xmlns:m="http://schemas.openxmlformats.org/officeDocument/2006/math">
                    <m:r>
                      <a:rPr lang="en-AU" b="0" i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2</m:t>
                    </m:r>
                    <m:r>
                      <a:rPr lang="en-AU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l-GR" i="1">
                        <a:solidFill>
                          <a:srgbClr val="FF0000"/>
                        </a:solidFill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/>
                      </a:rPr>
                      <m:t>2</m:t>
                    </m:r>
                    <m:r>
                      <a:rPr lang="en-AU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𝑟</m:t>
                    </m:r>
                    <m:r>
                      <a:rPr lang="en-AU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h</m:t>
                    </m:r>
                  </m:oMath>
                </a14:m>
                <a:endParaRPr lang="en-AU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r>
                  <a:rPr lang="en-AU" dirty="0"/>
                  <a:t>        = </a:t>
                </a:r>
                <a14:m>
                  <m:oMath xmlns:m="http://schemas.openxmlformats.org/officeDocument/2006/math">
                    <m:r>
                      <a:rPr lang="en-AU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l-GR" i="1">
                        <a:solidFill>
                          <a:srgbClr val="FF0000"/>
                        </a:solidFill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</m:t>
                    </m:r>
                    <m:r>
                      <a:rPr lang="en-AU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/>
                      </a:rPr>
                      <m:t>2</m:t>
                    </m:r>
                    <m:r>
                      <a:rPr lang="en-AU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2228" y="5832422"/>
                <a:ext cx="4348819" cy="923330"/>
              </a:xfrm>
              <a:prstGeom prst="rect">
                <a:avLst/>
              </a:prstGeom>
              <a:blipFill rotWithShape="0">
                <a:blip r:embed="rId5"/>
                <a:stretch>
                  <a:fillRect l="-979" t="-3268" r="-559" b="-9150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172482" y="2141576"/>
            <a:ext cx="2527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tx2"/>
                </a:solidFill>
              </a:rPr>
              <a:t>What is the net made up of?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71" y="5427550"/>
            <a:ext cx="2527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tx2"/>
                </a:solidFill>
              </a:rPr>
              <a:t>How do I find the Surface Area?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492" y="3214621"/>
            <a:ext cx="3346307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We only need the radius and the height to calculate the SA of a cylinder</a:t>
            </a:r>
          </a:p>
        </p:txBody>
      </p:sp>
    </p:spTree>
    <p:extLst>
      <p:ext uri="{BB962C8B-B14F-4D97-AF65-F5344CB8AC3E}">
        <p14:creationId xmlns:p14="http://schemas.microsoft.com/office/powerpoint/2010/main" val="2578431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21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Volume of a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formula for the area of a circle is used to find the volume of a cylinder?</a:t>
            </a:r>
          </a:p>
        </p:txBody>
      </p:sp>
      <p:sp>
        <p:nvSpPr>
          <p:cNvPr id="5" name="Flowchart: Magnetic Disk 4"/>
          <p:cNvSpPr/>
          <p:nvPr/>
        </p:nvSpPr>
        <p:spPr>
          <a:xfrm rot="5400000">
            <a:off x="3411873" y="2156060"/>
            <a:ext cx="1184744" cy="1368152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4428771" y="2840136"/>
            <a:ext cx="0" cy="592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75042" y="2951656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731247" y="339732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247" y="3397323"/>
                <a:ext cx="366913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blipFill>
                <a:blip r:embed="rId3"/>
                <a:stretch>
                  <a:fillRect l="-2388" t="-6349" b="-2222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>
            <a:cxnSpLocks/>
          </p:cNvCxnSpPr>
          <p:nvPr/>
        </p:nvCxnSpPr>
        <p:spPr>
          <a:xfrm>
            <a:off x="4245759" y="4326451"/>
            <a:ext cx="761872" cy="0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Flowchart: Magnetic Disk 21"/>
          <p:cNvSpPr/>
          <p:nvPr/>
        </p:nvSpPr>
        <p:spPr>
          <a:xfrm>
            <a:off x="3474904" y="4402786"/>
            <a:ext cx="1553465" cy="1028316"/>
          </a:xfrm>
          <a:prstGeom prst="flowChartMagneticDisk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4266713" y="3957119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4158" y="4732278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6cm</a:t>
            </a:r>
          </a:p>
        </p:txBody>
      </p:sp>
    </p:spTree>
    <p:extLst>
      <p:ext uri="{BB962C8B-B14F-4D97-AF65-F5344CB8AC3E}">
        <p14:creationId xmlns:p14="http://schemas.microsoft.com/office/powerpoint/2010/main" val="4222930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21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Volume of a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formula for the area of a circle is used to find the volume of a cylinder?</a:t>
            </a:r>
          </a:p>
        </p:txBody>
      </p:sp>
      <p:sp>
        <p:nvSpPr>
          <p:cNvPr id="5" name="Flowchart: Magnetic Disk 4"/>
          <p:cNvSpPr/>
          <p:nvPr/>
        </p:nvSpPr>
        <p:spPr>
          <a:xfrm rot="5400000">
            <a:off x="3411873" y="2156060"/>
            <a:ext cx="1184744" cy="1368152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4428771" y="2840136"/>
            <a:ext cx="0" cy="592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75042" y="2951656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731247" y="339732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247" y="3397323"/>
                <a:ext cx="366913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blipFill>
                <a:blip r:embed="rId3"/>
                <a:stretch>
                  <a:fillRect l="-2388" t="-6349" b="-2222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796136" y="4304949"/>
                <a:ext cx="2032608" cy="923330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4304949"/>
                <a:ext cx="2032608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2388" t="-2597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>
            <a:cxnSpLocks/>
          </p:cNvCxnSpPr>
          <p:nvPr/>
        </p:nvCxnSpPr>
        <p:spPr>
          <a:xfrm>
            <a:off x="4245759" y="4326451"/>
            <a:ext cx="761872" cy="0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lowchart: Magnetic Disk 24"/>
          <p:cNvSpPr/>
          <p:nvPr/>
        </p:nvSpPr>
        <p:spPr>
          <a:xfrm>
            <a:off x="3474904" y="4402786"/>
            <a:ext cx="1553465" cy="1028316"/>
          </a:xfrm>
          <a:prstGeom prst="flowChartMagneticDisk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4266713" y="3957119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14158" y="4732278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6cm</a:t>
            </a:r>
          </a:p>
        </p:txBody>
      </p:sp>
    </p:spTree>
    <p:extLst>
      <p:ext uri="{BB962C8B-B14F-4D97-AF65-F5344CB8AC3E}">
        <p14:creationId xmlns:p14="http://schemas.microsoft.com/office/powerpoint/2010/main" val="2655281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/>
          <p:cNvCxnSpPr>
            <a:cxnSpLocks/>
          </p:cNvCxnSpPr>
          <p:nvPr/>
        </p:nvCxnSpPr>
        <p:spPr>
          <a:xfrm>
            <a:off x="4245759" y="4326451"/>
            <a:ext cx="761872" cy="0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21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Volume of a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formula for the area of a circle is used to find the volume of a cylinder?</a:t>
            </a:r>
          </a:p>
        </p:txBody>
      </p:sp>
      <p:sp>
        <p:nvSpPr>
          <p:cNvPr id="5" name="Flowchart: Magnetic Disk 4"/>
          <p:cNvSpPr/>
          <p:nvPr/>
        </p:nvSpPr>
        <p:spPr>
          <a:xfrm rot="5400000">
            <a:off x="3411873" y="2156060"/>
            <a:ext cx="1184744" cy="1368152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4428771" y="2840136"/>
            <a:ext cx="0" cy="592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75042" y="2951656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731247" y="339732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247" y="3397323"/>
                <a:ext cx="366913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lowchart: Magnetic Disk 7"/>
          <p:cNvSpPr/>
          <p:nvPr/>
        </p:nvSpPr>
        <p:spPr>
          <a:xfrm>
            <a:off x="3474904" y="4402786"/>
            <a:ext cx="1553465" cy="1028316"/>
          </a:xfrm>
          <a:prstGeom prst="flowChartMagneticDisk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TextBox 19"/>
          <p:cNvSpPr txBox="1"/>
          <p:nvPr/>
        </p:nvSpPr>
        <p:spPr>
          <a:xfrm>
            <a:off x="4266713" y="3957119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5cm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4158" y="4732278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6cm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blipFill>
                <a:blip r:embed="rId3"/>
                <a:stretch>
                  <a:fillRect l="-2388" t="-6349" b="-2222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796136" y="4304949"/>
                <a:ext cx="2292679" cy="923330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5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6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4304949"/>
                <a:ext cx="2292679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2116" t="-2597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7963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21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Volume of a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formula for the area of a circle is used to find the volume of a cylinder?</a:t>
            </a:r>
          </a:p>
        </p:txBody>
      </p:sp>
      <p:sp>
        <p:nvSpPr>
          <p:cNvPr id="5" name="Flowchart: Magnetic Disk 4"/>
          <p:cNvSpPr/>
          <p:nvPr/>
        </p:nvSpPr>
        <p:spPr>
          <a:xfrm rot="5400000">
            <a:off x="3411873" y="2156060"/>
            <a:ext cx="1184744" cy="1368152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4428771" y="2840136"/>
            <a:ext cx="0" cy="592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75042" y="2951656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731247" y="339732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247" y="3397323"/>
                <a:ext cx="366913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blipFill>
                <a:blip r:embed="rId3"/>
                <a:stretch>
                  <a:fillRect l="-2388" t="-6349" b="-2222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796136" y="4304949"/>
                <a:ext cx="2292679" cy="946991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5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6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 347.58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4304949"/>
                <a:ext cx="2292679" cy="946991"/>
              </a:xfrm>
              <a:prstGeom prst="rect">
                <a:avLst/>
              </a:prstGeom>
              <a:blipFill rotWithShape="1">
                <a:blip r:embed="rId4"/>
                <a:stretch>
                  <a:fillRect l="-2116" t="-2532" b="-56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>
            <a:cxnSpLocks/>
          </p:cNvCxnSpPr>
          <p:nvPr/>
        </p:nvCxnSpPr>
        <p:spPr>
          <a:xfrm>
            <a:off x="4245759" y="4326451"/>
            <a:ext cx="761872" cy="0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lowchart: Magnetic Disk 24"/>
          <p:cNvSpPr/>
          <p:nvPr/>
        </p:nvSpPr>
        <p:spPr>
          <a:xfrm>
            <a:off x="3474904" y="4402786"/>
            <a:ext cx="1553465" cy="1028316"/>
          </a:xfrm>
          <a:prstGeom prst="flowChartMagneticDisk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4266713" y="3957119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14158" y="4732278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6cm</a:t>
            </a:r>
          </a:p>
        </p:txBody>
      </p:sp>
    </p:spTree>
    <p:extLst>
      <p:ext uri="{BB962C8B-B14F-4D97-AF65-F5344CB8AC3E}">
        <p14:creationId xmlns:p14="http://schemas.microsoft.com/office/powerpoint/2010/main" val="1344456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21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Volume of a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formula for the area of a circle is used to find the volume of a cylinder?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blipFill>
                <a:blip r:embed="rId2"/>
                <a:stretch>
                  <a:fillRect l="-2388" t="-6349" b="-2222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5575058" y="3124130"/>
                <a:ext cx="2292679" cy="946991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5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6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 347.58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058" y="3124130"/>
                <a:ext cx="2292679" cy="946991"/>
              </a:xfrm>
              <a:prstGeom prst="rect">
                <a:avLst/>
              </a:prstGeom>
              <a:blipFill>
                <a:blip r:embed="rId3"/>
                <a:stretch>
                  <a:fillRect l="-2116" t="-2532" b="-56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>
            <a:cxnSpLocks/>
          </p:cNvCxnSpPr>
          <p:nvPr/>
        </p:nvCxnSpPr>
        <p:spPr>
          <a:xfrm>
            <a:off x="4024681" y="3145632"/>
            <a:ext cx="761872" cy="0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lowchart: Magnetic Disk 24"/>
          <p:cNvSpPr/>
          <p:nvPr/>
        </p:nvSpPr>
        <p:spPr>
          <a:xfrm>
            <a:off x="3253826" y="3221967"/>
            <a:ext cx="1553465" cy="1028316"/>
          </a:xfrm>
          <a:prstGeom prst="flowChartMagneticDisk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4045635" y="2776300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3080" y="3551459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6cm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3826" y="2036895"/>
            <a:ext cx="767012" cy="844387"/>
          </a:xfrm>
          <a:prstGeom prst="rect">
            <a:avLst/>
          </a:prstGeom>
        </p:spPr>
      </p:pic>
      <p:sp>
        <p:nvSpPr>
          <p:cNvPr id="21" name="Flowchart: Magnetic Disk 20"/>
          <p:cNvSpPr/>
          <p:nvPr/>
        </p:nvSpPr>
        <p:spPr>
          <a:xfrm rot="5400000">
            <a:off x="3322541" y="4633440"/>
            <a:ext cx="1184744" cy="1368152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4339439" y="5317516"/>
            <a:ext cx="0" cy="592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285709" y="5429036"/>
            <a:ext cx="500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8m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3641915" y="5874703"/>
                <a:ext cx="643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915" y="5874703"/>
                <a:ext cx="6437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4339439" y="4725144"/>
            <a:ext cx="16537" cy="11495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5489836" y="4787740"/>
                <a:ext cx="2032608" cy="369332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836" y="4787740"/>
                <a:ext cx="2032608" cy="369332"/>
              </a:xfrm>
              <a:prstGeom prst="rect">
                <a:avLst/>
              </a:prstGeom>
              <a:blipFill>
                <a:blip r:embed="rId6"/>
                <a:stretch>
                  <a:fillRect l="-2388" t="-6349" b="-2222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167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21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Volume of a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formula for the area of a circle is used to find the volume of a cylinder?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blipFill>
                <a:blip r:embed="rId2"/>
                <a:stretch>
                  <a:fillRect l="-2388" t="-6349" b="-2222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5575058" y="3124130"/>
                <a:ext cx="2292679" cy="946991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5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6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 347.58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058" y="3124130"/>
                <a:ext cx="2292679" cy="946991"/>
              </a:xfrm>
              <a:prstGeom prst="rect">
                <a:avLst/>
              </a:prstGeom>
              <a:blipFill>
                <a:blip r:embed="rId3"/>
                <a:stretch>
                  <a:fillRect l="-2116" t="-2532" b="-56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>
            <a:cxnSpLocks/>
          </p:cNvCxnSpPr>
          <p:nvPr/>
        </p:nvCxnSpPr>
        <p:spPr>
          <a:xfrm>
            <a:off x="4024681" y="3145632"/>
            <a:ext cx="761872" cy="0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lowchart: Magnetic Disk 24"/>
          <p:cNvSpPr/>
          <p:nvPr/>
        </p:nvSpPr>
        <p:spPr>
          <a:xfrm>
            <a:off x="3253826" y="3221967"/>
            <a:ext cx="1553465" cy="1028316"/>
          </a:xfrm>
          <a:prstGeom prst="flowChartMagneticDisk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4045635" y="2776300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3080" y="3551459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6cm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3826" y="2036895"/>
            <a:ext cx="767012" cy="844387"/>
          </a:xfrm>
          <a:prstGeom prst="rect">
            <a:avLst/>
          </a:prstGeom>
        </p:spPr>
      </p:pic>
      <p:sp>
        <p:nvSpPr>
          <p:cNvPr id="21" name="Flowchart: Magnetic Disk 20"/>
          <p:cNvSpPr/>
          <p:nvPr/>
        </p:nvSpPr>
        <p:spPr>
          <a:xfrm rot="5400000">
            <a:off x="3322541" y="4633440"/>
            <a:ext cx="1184744" cy="1368152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4339439" y="5317516"/>
            <a:ext cx="0" cy="592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285709" y="5429036"/>
            <a:ext cx="500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8m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3641915" y="5874703"/>
                <a:ext cx="643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915" y="5874703"/>
                <a:ext cx="6437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4339439" y="4725144"/>
            <a:ext cx="16537" cy="11495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5489836" y="4787740"/>
                <a:ext cx="2292679" cy="646331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/>
                      </a:rPr>
                      <m:t>4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/>
                      </a:rPr>
                      <m:t>8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836" y="4787740"/>
                <a:ext cx="2292679" cy="646331"/>
              </a:xfrm>
              <a:prstGeom prst="rect">
                <a:avLst/>
              </a:prstGeom>
              <a:blipFill>
                <a:blip r:embed="rId6"/>
                <a:stretch>
                  <a:fillRect l="-2116" t="-3704" b="-12963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7897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21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Volume of a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formula for the area of a circle is used to find the volume of a cylinder?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blipFill>
                <a:blip r:embed="rId2"/>
                <a:stretch>
                  <a:fillRect l="-2388" t="-6349" b="-2222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5575058" y="3124130"/>
                <a:ext cx="2292679" cy="946991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5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6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 347.58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058" y="3124130"/>
                <a:ext cx="2292679" cy="946991"/>
              </a:xfrm>
              <a:prstGeom prst="rect">
                <a:avLst/>
              </a:prstGeom>
              <a:blipFill>
                <a:blip r:embed="rId3"/>
                <a:stretch>
                  <a:fillRect l="-2116" t="-2532" b="-56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>
            <a:cxnSpLocks/>
          </p:cNvCxnSpPr>
          <p:nvPr/>
        </p:nvCxnSpPr>
        <p:spPr>
          <a:xfrm>
            <a:off x="4024681" y="3145632"/>
            <a:ext cx="761872" cy="0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lowchart: Magnetic Disk 24"/>
          <p:cNvSpPr/>
          <p:nvPr/>
        </p:nvSpPr>
        <p:spPr>
          <a:xfrm>
            <a:off x="3253826" y="3221967"/>
            <a:ext cx="1553465" cy="1028316"/>
          </a:xfrm>
          <a:prstGeom prst="flowChartMagneticDisk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4045635" y="2776300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3080" y="3551459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6cm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3826" y="2036895"/>
            <a:ext cx="767012" cy="844387"/>
          </a:xfrm>
          <a:prstGeom prst="rect">
            <a:avLst/>
          </a:prstGeom>
        </p:spPr>
      </p:pic>
      <p:sp>
        <p:nvSpPr>
          <p:cNvPr id="21" name="Flowchart: Magnetic Disk 20"/>
          <p:cNvSpPr/>
          <p:nvPr/>
        </p:nvSpPr>
        <p:spPr>
          <a:xfrm rot="5400000">
            <a:off x="3322541" y="4633440"/>
            <a:ext cx="1184744" cy="1368152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4339439" y="5317516"/>
            <a:ext cx="0" cy="592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285709" y="5429036"/>
            <a:ext cx="500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8m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3641915" y="5874703"/>
                <a:ext cx="643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915" y="5874703"/>
                <a:ext cx="6437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4339439" y="4725144"/>
            <a:ext cx="16537" cy="11495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5489836" y="4787740"/>
                <a:ext cx="2292679" cy="923330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/>
                      </a:rPr>
                      <m:t>4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/>
                      </a:rPr>
                      <m:t>8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 100.5 + 201.1</a:t>
                </a:r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836" y="4787740"/>
                <a:ext cx="2292679" cy="923330"/>
              </a:xfrm>
              <a:prstGeom prst="rect">
                <a:avLst/>
              </a:prstGeom>
              <a:blipFill>
                <a:blip r:embed="rId6"/>
                <a:stretch>
                  <a:fillRect l="-2116" t="-2597" b="-844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9576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21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Volume of a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formula for the area of a circle is used to find the volume of a cylinder?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blipFill>
                <a:blip r:embed="rId2"/>
                <a:stretch>
                  <a:fillRect l="-2388" t="-6349" b="-2222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5575058" y="3124130"/>
                <a:ext cx="2292679" cy="946991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5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6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 347.58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058" y="3124130"/>
                <a:ext cx="2292679" cy="946991"/>
              </a:xfrm>
              <a:prstGeom prst="rect">
                <a:avLst/>
              </a:prstGeom>
              <a:blipFill>
                <a:blip r:embed="rId3"/>
                <a:stretch>
                  <a:fillRect l="-2116" t="-2532" b="-56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>
            <a:cxnSpLocks/>
          </p:cNvCxnSpPr>
          <p:nvPr/>
        </p:nvCxnSpPr>
        <p:spPr>
          <a:xfrm>
            <a:off x="4024681" y="3145632"/>
            <a:ext cx="761872" cy="0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lowchart: Magnetic Disk 24"/>
          <p:cNvSpPr/>
          <p:nvPr/>
        </p:nvSpPr>
        <p:spPr>
          <a:xfrm>
            <a:off x="3253826" y="3221967"/>
            <a:ext cx="1553465" cy="1028316"/>
          </a:xfrm>
          <a:prstGeom prst="flowChartMagneticDisk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4045635" y="2776300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3080" y="3551459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6cm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3826" y="2036895"/>
            <a:ext cx="767012" cy="844387"/>
          </a:xfrm>
          <a:prstGeom prst="rect">
            <a:avLst/>
          </a:prstGeom>
        </p:spPr>
      </p:pic>
      <p:sp>
        <p:nvSpPr>
          <p:cNvPr id="21" name="Flowchart: Magnetic Disk 20"/>
          <p:cNvSpPr/>
          <p:nvPr/>
        </p:nvSpPr>
        <p:spPr>
          <a:xfrm rot="5400000">
            <a:off x="3322541" y="4633440"/>
            <a:ext cx="1184744" cy="1368152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4339439" y="5317516"/>
            <a:ext cx="0" cy="592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285709" y="5429036"/>
            <a:ext cx="500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8m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3641915" y="5874703"/>
                <a:ext cx="643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915" y="5874703"/>
                <a:ext cx="6437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4339439" y="4725144"/>
            <a:ext cx="16537" cy="11495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5489836" y="4787740"/>
                <a:ext cx="2292679" cy="1200329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/>
                      </a:rPr>
                      <m:t>4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/>
                      </a:rPr>
                      <m:t>8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 100.5 + 201.1</a:t>
                </a:r>
              </a:p>
              <a:p>
                <a:r>
                  <a:rPr lang="en-AU" dirty="0"/>
                  <a:t>        =301.6m</a:t>
                </a:r>
                <a:r>
                  <a:rPr lang="en-AU" baseline="30000" dirty="0"/>
                  <a:t>2</a:t>
                </a:r>
                <a:endParaRPr lang="en-AU" dirty="0"/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836" y="4787740"/>
                <a:ext cx="2292679" cy="1200329"/>
              </a:xfrm>
              <a:prstGeom prst="rect">
                <a:avLst/>
              </a:prstGeom>
              <a:blipFill>
                <a:blip r:embed="rId6"/>
                <a:stretch>
                  <a:fillRect l="-2116" t="-2010" b="-6533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4158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31640" y="548680"/>
            <a:ext cx="33929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Complete exercise 3.8 on page 39.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971550"/>
            <a:ext cx="6264696" cy="557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63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75656" y="692696"/>
            <a:ext cx="55446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Exit pass.   Answer the following on a piece of paper and hand it in to your teacher.</a:t>
            </a:r>
          </a:p>
          <a:p>
            <a:endParaRPr lang="en-AU" dirty="0"/>
          </a:p>
          <a:p>
            <a:r>
              <a:rPr lang="en-AU" dirty="0"/>
              <a:t>Calculate the SA of the following cylinder.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3" name="Flowchart: Magnetic Disk 2"/>
          <p:cNvSpPr/>
          <p:nvPr/>
        </p:nvSpPr>
        <p:spPr>
          <a:xfrm rot="5400000">
            <a:off x="1581423" y="2473200"/>
            <a:ext cx="1184744" cy="1368152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2598321" y="3157276"/>
            <a:ext cx="0" cy="592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339752" y="2972609"/>
            <a:ext cx="1307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18m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900797" y="3714463"/>
                <a:ext cx="643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797" y="3714463"/>
                <a:ext cx="64379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cxnSpLocks/>
          </p:cNvCxnSpPr>
          <p:nvPr/>
        </p:nvCxnSpPr>
        <p:spPr>
          <a:xfrm flipV="1">
            <a:off x="2598321" y="2564904"/>
            <a:ext cx="16537" cy="11495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002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 of a cylinder</Template>
  <TotalTime>32</TotalTime>
  <Words>1196</Words>
  <Application>Microsoft Office PowerPoint</Application>
  <PresentationFormat>On-screen Show (4:3)</PresentationFormat>
  <Paragraphs>276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 Math</vt:lpstr>
      <vt:lpstr>Office Theme</vt:lpstr>
      <vt:lpstr>My Perimeter, Area and Volume Interactive Notebook</vt:lpstr>
      <vt:lpstr>PowerPoint Presentation</vt:lpstr>
      <vt:lpstr>PowerPoint Presentation</vt:lpstr>
      <vt:lpstr>PowerPoint Presentation</vt:lpstr>
      <vt:lpstr>What 2 shapes are required to make a cylinder?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do we find the SA of a Cylinder?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Perimeter, Area and Volume Interactive Notebook</dc:title>
  <dc:creator>E4007446</dc:creator>
  <cp:lastModifiedBy>E4007446</cp:lastModifiedBy>
  <cp:revision>5</cp:revision>
  <dcterms:created xsi:type="dcterms:W3CDTF">2017-03-06T12:42:44Z</dcterms:created>
  <dcterms:modified xsi:type="dcterms:W3CDTF">2017-03-06T13:15:17Z</dcterms:modified>
</cp:coreProperties>
</file>
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68" r:id="rId3"/>
    <p:sldId id="258" r:id="rId4"/>
    <p:sldId id="260" r:id="rId5"/>
    <p:sldId id="269" r:id="rId6"/>
    <p:sldId id="270" r:id="rId7"/>
    <p:sldId id="271" r:id="rId8"/>
    <p:sldId id="272" r:id="rId9"/>
    <p:sldId id="273" r:id="rId10"/>
    <p:sldId id="274" r:id="rId11"/>
    <p:sldId id="276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9494" autoAdjust="0"/>
  </p:normalViewPr>
  <p:slideViewPr>
    <p:cSldViewPr snapToGrid="0" snapToObjects="1">
      <p:cViewPr varScale="1">
        <p:scale>
          <a:sx n="108" d="100"/>
          <a:sy n="108" d="100"/>
        </p:scale>
        <p:origin x="-104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interSettings" Target="printerSettings/printerSettings1.bin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676A8C-E1B0-9245-82EA-77101DF0FEED}" type="datetimeFigureOut">
              <a:rPr lang="en-US" smtClean="0"/>
              <a:t>20/03/17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F7FF9B-3768-6E4A-843C-79DB150DE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83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Link to past experiences or knowledge of the students</a:t>
            </a:r>
          </a:p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Actively involve the students</a:t>
            </a:r>
          </a:p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Relevant to the objective of the upcoming lesson</a:t>
            </a:r>
            <a:r>
              <a:rPr lang="en-AU" dirty="0" smtClean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69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Practise the skill</a:t>
            </a:r>
          </a:p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Encouragement</a:t>
            </a:r>
            <a:r>
              <a:rPr lang="en-AU" dirty="0" smtClean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69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ED99-E019-7B44-B1F3-9F67F59379E7}" type="datetimeFigureOut">
              <a:rPr lang="en-US" smtClean="0"/>
              <a:t>20/03/17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57A9-6683-7C41-A30E-CB58A89DC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2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ED99-E019-7B44-B1F3-9F67F59379E7}" type="datetimeFigureOut">
              <a:rPr lang="en-US" smtClean="0"/>
              <a:t>20/03/17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57A9-6683-7C41-A30E-CB58A89DC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ED99-E019-7B44-B1F3-9F67F59379E7}" type="datetimeFigureOut">
              <a:rPr lang="en-US" smtClean="0"/>
              <a:t>20/03/17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57A9-6683-7C41-A30E-CB58A89DC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1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ED99-E019-7B44-B1F3-9F67F59379E7}" type="datetimeFigureOut">
              <a:rPr lang="en-US" smtClean="0"/>
              <a:t>20/03/17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57A9-6683-7C41-A30E-CB58A89DC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81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ED99-E019-7B44-B1F3-9F67F59379E7}" type="datetimeFigureOut">
              <a:rPr lang="en-US" smtClean="0"/>
              <a:t>20/03/17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57A9-6683-7C41-A30E-CB58A89DC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12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ED99-E019-7B44-B1F3-9F67F59379E7}" type="datetimeFigureOut">
              <a:rPr lang="en-US" smtClean="0"/>
              <a:t>20/03/17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57A9-6683-7C41-A30E-CB58A89DC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03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ED99-E019-7B44-B1F3-9F67F59379E7}" type="datetimeFigureOut">
              <a:rPr lang="en-US" smtClean="0"/>
              <a:t>20/03/17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57A9-6683-7C41-A30E-CB58A89DC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4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ED99-E019-7B44-B1F3-9F67F59379E7}" type="datetimeFigureOut">
              <a:rPr lang="en-US" smtClean="0"/>
              <a:t>20/03/17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57A9-6683-7C41-A30E-CB58A89DC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735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ED99-E019-7B44-B1F3-9F67F59379E7}" type="datetimeFigureOut">
              <a:rPr lang="en-US" smtClean="0"/>
              <a:t>20/03/17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57A9-6683-7C41-A30E-CB58A89DC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05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ED99-E019-7B44-B1F3-9F67F59379E7}" type="datetimeFigureOut">
              <a:rPr lang="en-US" smtClean="0"/>
              <a:t>20/03/17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57A9-6683-7C41-A30E-CB58A89DC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93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ED99-E019-7B44-B1F3-9F67F59379E7}" type="datetimeFigureOut">
              <a:rPr lang="en-US" smtClean="0"/>
              <a:t>20/03/17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657A9-6683-7C41-A30E-CB58A89DC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87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AED99-E019-7B44-B1F3-9F67F59379E7}" type="datetimeFigureOut">
              <a:rPr lang="en-US" smtClean="0"/>
              <a:t>20/03/17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657A9-6683-7C41-A30E-CB58A89DC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46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Year 9 Seating Pla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944765"/>
            <a:ext cx="9144001" cy="471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192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5879" y="1439334"/>
            <a:ext cx="7772400" cy="1495879"/>
          </a:xfrm>
        </p:spPr>
        <p:txBody>
          <a:bodyPr>
            <a:normAutofit/>
          </a:bodyPr>
          <a:lstStyle/>
          <a:p>
            <a:r>
              <a:rPr lang="en-US" sz="7200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Chalkboard"/>
                <a:cs typeface="Chalkboard"/>
              </a:rPr>
              <a:t>Finding A Rule</a:t>
            </a:r>
            <a:endParaRPr lang="en-US" sz="7200" b="1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  <a:latin typeface="Chalkboard"/>
              <a:cs typeface="Chalkboard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Year 9 </a:t>
            </a:r>
          </a:p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Week 8</a:t>
            </a:r>
          </a:p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Lesson 1 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1154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65" y="206725"/>
            <a:ext cx="8851735" cy="707886"/>
          </a:xfrm>
          <a:prstGeom prst="rect">
            <a:avLst/>
          </a:prstGeom>
          <a:solidFill>
            <a:srgbClr val="DBEEF4"/>
          </a:solidFill>
          <a:ln w="19050" cmpd="sng">
            <a:solidFill>
              <a:srgbClr val="21596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Chalkboard"/>
                <a:cs typeface="Chalkboard"/>
              </a:rPr>
              <a:t>Beginning of the Lesson</a:t>
            </a:r>
            <a:endParaRPr lang="en-US" sz="4000" dirty="0">
              <a:latin typeface="Chalkboard"/>
              <a:cs typeface="Chalkboard"/>
            </a:endParaRPr>
          </a:p>
        </p:txBody>
      </p:sp>
      <p:pic>
        <p:nvPicPr>
          <p:cNvPr id="3" name="Picture 2" descr="redden-fig03_x034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2298"/>
            <a:ext cx="4121308" cy="3652534"/>
          </a:xfrm>
          <a:prstGeom prst="rect">
            <a:avLst/>
          </a:prstGeom>
        </p:spPr>
      </p:pic>
      <p:pic>
        <p:nvPicPr>
          <p:cNvPr id="4" name="Picture 3" descr="worldpop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009" y="1392298"/>
            <a:ext cx="4692891" cy="36110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2331" y="5626260"/>
            <a:ext cx="210285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What am I?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746140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you find the rule for a linear relationship? 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7307" y="45022"/>
            <a:ext cx="3211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Finding a Rule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552" y="1887443"/>
            <a:ext cx="21536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What is a linear rule?</a:t>
            </a:r>
            <a:endParaRPr 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309910" y="1827440"/>
            <a:ext cx="67478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 linear rule increases by the same amount each step</a:t>
            </a:r>
            <a:endParaRPr lang="en-US" sz="2800" dirty="0"/>
          </a:p>
        </p:txBody>
      </p:sp>
      <p:pic>
        <p:nvPicPr>
          <p:cNvPr id="5" name="Picture 4" descr="Screen Shot 2017-03-19 at 9.21.2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414" y="3685862"/>
            <a:ext cx="6215364" cy="103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727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443493" y="1109729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you find the rule for a linear relationship? 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7307" y="45022"/>
            <a:ext cx="3211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Finding a Rule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75823" y="1120264"/>
            <a:ext cx="72309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Count the number of matches or dots needed for each step. Write it in a table like the one down below: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Write the </a:t>
            </a:r>
            <a:r>
              <a:rPr lang="en-US" sz="2400" b="1" dirty="0" smtClean="0"/>
              <a:t>rule</a:t>
            </a:r>
            <a:r>
              <a:rPr lang="en-US" sz="2400" dirty="0" smtClean="0"/>
              <a:t> for the pattern (y = mx + c)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Check that the rule is correct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222606"/>
              </p:ext>
            </p:extLst>
          </p:nvPr>
        </p:nvGraphicFramePr>
        <p:xfrm>
          <a:off x="1575827" y="2469763"/>
          <a:ext cx="7230954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5159"/>
                <a:gridCol w="1205159"/>
                <a:gridCol w="1205159"/>
                <a:gridCol w="1205159"/>
                <a:gridCol w="1205159"/>
                <a:gridCol w="120515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Step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Matches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pic>
        <p:nvPicPr>
          <p:cNvPr id="10" name="Picture 9" descr="Screen Shot 2017-03-19 at 9.24.3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823" y="4206522"/>
            <a:ext cx="7336883" cy="128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4599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443493" y="1109729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you find the rule for a linear relationship? 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7307" y="45022"/>
            <a:ext cx="3211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Finding a Rule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75823" y="1120264"/>
            <a:ext cx="72309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Count the number of matches or dots needed for each step.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Write the </a:t>
            </a:r>
            <a:r>
              <a:rPr lang="en-US" sz="2000" b="1" dirty="0" smtClean="0"/>
              <a:t>rule</a:t>
            </a:r>
            <a:r>
              <a:rPr lang="en-US" sz="2000" dirty="0" smtClean="0"/>
              <a:t> for the pattern (y = mx + c)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Check that the rule is correct</a:t>
            </a: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671172"/>
              </p:ext>
            </p:extLst>
          </p:nvPr>
        </p:nvGraphicFramePr>
        <p:xfrm>
          <a:off x="1653931" y="3761023"/>
          <a:ext cx="7230954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5159"/>
                <a:gridCol w="1205159"/>
                <a:gridCol w="1205159"/>
                <a:gridCol w="1205159"/>
                <a:gridCol w="1205159"/>
                <a:gridCol w="120515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Step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Matches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" name="Picture 1" descr="Screen Shot 2017-03-19 at 9.21.2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823" y="2254126"/>
            <a:ext cx="7309062" cy="122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8568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399936" y="1120264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you find the rule for a linear relationship? 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7307" y="45022"/>
            <a:ext cx="3211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Finding a Rule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75823" y="1120264"/>
            <a:ext cx="72309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Write the </a:t>
            </a:r>
            <a:r>
              <a:rPr lang="en-US" sz="2000" b="1" dirty="0" smtClean="0"/>
              <a:t>rule</a:t>
            </a:r>
            <a:r>
              <a:rPr lang="en-US" sz="2000" dirty="0" smtClean="0"/>
              <a:t> for the pattern (y = mx + c)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Check that the rule is correct</a:t>
            </a: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10" name="Picture 9" descr="Screen Shot 2017-03-19 at 9.33.1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207" y="1957983"/>
            <a:ext cx="7702668" cy="144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389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0757" y="759656"/>
            <a:ext cx="71700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You need to higher an electrician to install new cables.  So you have rung around to get some quotes from 3 different electricians.</a:t>
            </a:r>
          </a:p>
          <a:p>
            <a:endParaRPr lang="en-AU" sz="2400" dirty="0"/>
          </a:p>
          <a:p>
            <a:r>
              <a:rPr lang="en-AU" sz="2400" dirty="0"/>
              <a:t>	quote 1 = $100 call out + $40 per hour</a:t>
            </a:r>
          </a:p>
          <a:p>
            <a:endParaRPr lang="en-AU" sz="2400" dirty="0"/>
          </a:p>
          <a:p>
            <a:r>
              <a:rPr lang="en-AU" sz="2400" dirty="0"/>
              <a:t>	quote 2 = $150 call out and $35 per hour</a:t>
            </a:r>
          </a:p>
          <a:p>
            <a:endParaRPr lang="en-AU" sz="2400" dirty="0"/>
          </a:p>
          <a:p>
            <a:r>
              <a:rPr lang="en-AU" sz="2400" dirty="0"/>
              <a:t>	quote 3 = $50 call out and $50 per hour</a:t>
            </a:r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Which quote is cheapest? </a:t>
            </a:r>
          </a:p>
        </p:txBody>
      </p:sp>
    </p:spTree>
    <p:extLst>
      <p:ext uri="{BB962C8B-B14F-4D97-AF65-F5344CB8AC3E}">
        <p14:creationId xmlns:p14="http://schemas.microsoft.com/office/powerpoint/2010/main" val="1059970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399936" y="1120264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you find the rule for a linear relationship? 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7307" y="45022"/>
            <a:ext cx="3211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Finding a Rule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77955" y="1170904"/>
            <a:ext cx="75798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A linear relationship is one that increases by the same amount each </a:t>
            </a:r>
            <a:r>
              <a:rPr lang="en-AU" sz="2400" b="1" dirty="0" smtClean="0"/>
              <a:t>time</a:t>
            </a:r>
          </a:p>
          <a:p>
            <a:endParaRPr lang="en-AU" sz="2400" dirty="0"/>
          </a:p>
          <a:p>
            <a:r>
              <a:rPr lang="en-AU" sz="2400" dirty="0"/>
              <a:t>A linear rule can be written in the format  </a:t>
            </a:r>
            <a:r>
              <a:rPr lang="en-AU" sz="2400" b="1" dirty="0"/>
              <a:t>y = mx + c</a:t>
            </a:r>
          </a:p>
          <a:p>
            <a:r>
              <a:rPr lang="en-AU" sz="2400" dirty="0"/>
              <a:t>			         </a:t>
            </a:r>
            <a:r>
              <a:rPr lang="en-AU" sz="2400" dirty="0" err="1"/>
              <a:t>eg</a:t>
            </a:r>
            <a:r>
              <a:rPr lang="en-AU" sz="2400" dirty="0"/>
              <a:t>.  cost = $</a:t>
            </a:r>
            <a:r>
              <a:rPr lang="en-AU" sz="2400" dirty="0" smtClean="0"/>
              <a:t>40 </a:t>
            </a:r>
            <a:r>
              <a:rPr lang="en-AU" sz="2400" dirty="0"/>
              <a:t>x hour + $</a:t>
            </a:r>
            <a:r>
              <a:rPr lang="en-AU" sz="2400" dirty="0" smtClean="0"/>
              <a:t>100</a:t>
            </a:r>
            <a:endParaRPr lang="en-AU" sz="2400" dirty="0"/>
          </a:p>
          <a:p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Start by creating a table with hours on top and cost underneath</a:t>
            </a:r>
          </a:p>
          <a:p>
            <a:r>
              <a:rPr lang="en-AU" dirty="0"/>
              <a:t> 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048324"/>
              </p:ext>
            </p:extLst>
          </p:nvPr>
        </p:nvGraphicFramePr>
        <p:xfrm>
          <a:off x="1568948" y="4361219"/>
          <a:ext cx="7041967" cy="8933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6817">
                  <a:extLst>
                    <a:ext uri="{9D8B030D-6E8A-4147-A177-3AD203B41FA5}">
                      <a16:colId xmlns="" xmlns:a16="http://schemas.microsoft.com/office/drawing/2014/main" val="278077261"/>
                    </a:ext>
                  </a:extLst>
                </a:gridCol>
                <a:gridCol w="788159">
                  <a:extLst>
                    <a:ext uri="{9D8B030D-6E8A-4147-A177-3AD203B41FA5}">
                      <a16:colId xmlns="" xmlns:a16="http://schemas.microsoft.com/office/drawing/2014/main" val="1969597377"/>
                    </a:ext>
                  </a:extLst>
                </a:gridCol>
                <a:gridCol w="731281">
                  <a:extLst>
                    <a:ext uri="{9D8B030D-6E8A-4147-A177-3AD203B41FA5}">
                      <a16:colId xmlns="" xmlns:a16="http://schemas.microsoft.com/office/drawing/2014/main" val="1627569208"/>
                    </a:ext>
                  </a:extLst>
                </a:gridCol>
                <a:gridCol w="731281">
                  <a:extLst>
                    <a:ext uri="{9D8B030D-6E8A-4147-A177-3AD203B41FA5}">
                      <a16:colId xmlns="" xmlns:a16="http://schemas.microsoft.com/office/drawing/2014/main" val="3110055326"/>
                    </a:ext>
                  </a:extLst>
                </a:gridCol>
                <a:gridCol w="885663">
                  <a:extLst>
                    <a:ext uri="{9D8B030D-6E8A-4147-A177-3AD203B41FA5}">
                      <a16:colId xmlns="" xmlns:a16="http://schemas.microsoft.com/office/drawing/2014/main" val="3557858824"/>
                    </a:ext>
                  </a:extLst>
                </a:gridCol>
                <a:gridCol w="926290">
                  <a:extLst>
                    <a:ext uri="{9D8B030D-6E8A-4147-A177-3AD203B41FA5}">
                      <a16:colId xmlns="" xmlns:a16="http://schemas.microsoft.com/office/drawing/2014/main" val="757867109"/>
                    </a:ext>
                  </a:extLst>
                </a:gridCol>
                <a:gridCol w="820659">
                  <a:extLst>
                    <a:ext uri="{9D8B030D-6E8A-4147-A177-3AD203B41FA5}">
                      <a16:colId xmlns="" xmlns:a16="http://schemas.microsoft.com/office/drawing/2014/main" val="2442703383"/>
                    </a:ext>
                  </a:extLst>
                </a:gridCol>
                <a:gridCol w="761817">
                  <a:extLst>
                    <a:ext uri="{9D8B030D-6E8A-4147-A177-3AD203B41FA5}">
                      <a16:colId xmlns="" xmlns:a16="http://schemas.microsoft.com/office/drawing/2014/main" val="2342154768"/>
                    </a:ext>
                  </a:extLst>
                </a:gridCol>
              </a:tblGrid>
              <a:tr h="446664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32971855"/>
                  </a:ext>
                </a:extLst>
              </a:tr>
              <a:tr h="446664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61149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399936" y="1120264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you find the rule for a linear relationship? 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7307" y="45022"/>
            <a:ext cx="3211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Finding a Rule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77954" y="1176908"/>
            <a:ext cx="732882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this with all 3.</a:t>
            </a:r>
          </a:p>
          <a:p>
            <a:r>
              <a:rPr lang="en-AU" dirty="0"/>
              <a:t>Quote 1  	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endParaRPr lang="en-AU" dirty="0" smtClean="0"/>
          </a:p>
          <a:p>
            <a:r>
              <a:rPr lang="en-AU" dirty="0" smtClean="0"/>
              <a:t>Quote 2			cost = </a:t>
            </a:r>
            <a:r>
              <a:rPr lang="en-AU" b="1" dirty="0" smtClean="0">
                <a:solidFill>
                  <a:srgbClr val="FF0000"/>
                </a:solidFill>
              </a:rPr>
              <a:t>$35 </a:t>
            </a:r>
            <a:r>
              <a:rPr lang="en-AU" dirty="0" smtClean="0"/>
              <a:t>x hours + </a:t>
            </a:r>
            <a:r>
              <a:rPr lang="en-AU" b="1" dirty="0" smtClean="0">
                <a:solidFill>
                  <a:srgbClr val="0070C0"/>
                </a:solidFill>
              </a:rPr>
              <a:t>$150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</a:t>
            </a:r>
            <a:r>
              <a:rPr lang="en-AU" dirty="0" smtClean="0"/>
              <a:t>3			cost = </a:t>
            </a:r>
            <a:r>
              <a:rPr lang="en-AU" b="1" dirty="0" smtClean="0">
                <a:solidFill>
                  <a:srgbClr val="FF0000"/>
                </a:solidFill>
              </a:rPr>
              <a:t>$50 </a:t>
            </a:r>
            <a:r>
              <a:rPr lang="en-AU" dirty="0" smtClean="0"/>
              <a:t>x hours + </a:t>
            </a:r>
            <a:r>
              <a:rPr lang="en-AU" b="1" dirty="0" smtClean="0">
                <a:solidFill>
                  <a:srgbClr val="0070C0"/>
                </a:solidFill>
              </a:rPr>
              <a:t>$50</a:t>
            </a:r>
          </a:p>
          <a:p>
            <a:endParaRPr lang="en-AU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169183"/>
              </p:ext>
            </p:extLst>
          </p:nvPr>
        </p:nvGraphicFramePr>
        <p:xfrm>
          <a:off x="1607257" y="1960562"/>
          <a:ext cx="6623198" cy="8562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3752">
                  <a:extLst>
                    <a:ext uri="{9D8B030D-6E8A-4147-A177-3AD203B41FA5}">
                      <a16:colId xmlns="" xmlns:a16="http://schemas.microsoft.com/office/drawing/2014/main" val="278077261"/>
                    </a:ext>
                  </a:extLst>
                </a:gridCol>
                <a:gridCol w="741289">
                  <a:extLst>
                    <a:ext uri="{9D8B030D-6E8A-4147-A177-3AD203B41FA5}">
                      <a16:colId xmlns="" xmlns:a16="http://schemas.microsoft.com/office/drawing/2014/main" val="1969597377"/>
                    </a:ext>
                  </a:extLst>
                </a:gridCol>
                <a:gridCol w="687793">
                  <a:extLst>
                    <a:ext uri="{9D8B030D-6E8A-4147-A177-3AD203B41FA5}">
                      <a16:colId xmlns="" xmlns:a16="http://schemas.microsoft.com/office/drawing/2014/main" val="1627569208"/>
                    </a:ext>
                  </a:extLst>
                </a:gridCol>
                <a:gridCol w="687793">
                  <a:extLst>
                    <a:ext uri="{9D8B030D-6E8A-4147-A177-3AD203B41FA5}">
                      <a16:colId xmlns="" xmlns:a16="http://schemas.microsoft.com/office/drawing/2014/main" val="3110055326"/>
                    </a:ext>
                  </a:extLst>
                </a:gridCol>
                <a:gridCol w="832994">
                  <a:extLst>
                    <a:ext uri="{9D8B030D-6E8A-4147-A177-3AD203B41FA5}">
                      <a16:colId xmlns="" xmlns:a16="http://schemas.microsoft.com/office/drawing/2014/main" val="3557858824"/>
                    </a:ext>
                  </a:extLst>
                </a:gridCol>
                <a:gridCol w="871206">
                  <a:extLst>
                    <a:ext uri="{9D8B030D-6E8A-4147-A177-3AD203B41FA5}">
                      <a16:colId xmlns="" xmlns:a16="http://schemas.microsoft.com/office/drawing/2014/main" val="757867109"/>
                    </a:ext>
                  </a:extLst>
                </a:gridCol>
                <a:gridCol w="771857">
                  <a:extLst>
                    <a:ext uri="{9D8B030D-6E8A-4147-A177-3AD203B41FA5}">
                      <a16:colId xmlns="" xmlns:a16="http://schemas.microsoft.com/office/drawing/2014/main" val="2442703383"/>
                    </a:ext>
                  </a:extLst>
                </a:gridCol>
                <a:gridCol w="716514">
                  <a:extLst>
                    <a:ext uri="{9D8B030D-6E8A-4147-A177-3AD203B41FA5}">
                      <a16:colId xmlns="" xmlns:a16="http://schemas.microsoft.com/office/drawing/2014/main" val="2342154768"/>
                    </a:ext>
                  </a:extLst>
                </a:gridCol>
              </a:tblGrid>
              <a:tr h="428146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32971855"/>
                  </a:ext>
                </a:extLst>
              </a:tr>
              <a:tr h="428146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59125"/>
              </p:ext>
            </p:extLst>
          </p:nvPr>
        </p:nvGraphicFramePr>
        <p:xfrm>
          <a:off x="1600215" y="3480444"/>
          <a:ext cx="6623198" cy="8562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3752">
                  <a:extLst>
                    <a:ext uri="{9D8B030D-6E8A-4147-A177-3AD203B41FA5}">
                      <a16:colId xmlns="" xmlns:a16="http://schemas.microsoft.com/office/drawing/2014/main" val="278077261"/>
                    </a:ext>
                  </a:extLst>
                </a:gridCol>
                <a:gridCol w="741289">
                  <a:extLst>
                    <a:ext uri="{9D8B030D-6E8A-4147-A177-3AD203B41FA5}">
                      <a16:colId xmlns="" xmlns:a16="http://schemas.microsoft.com/office/drawing/2014/main" val="1969597377"/>
                    </a:ext>
                  </a:extLst>
                </a:gridCol>
                <a:gridCol w="687793">
                  <a:extLst>
                    <a:ext uri="{9D8B030D-6E8A-4147-A177-3AD203B41FA5}">
                      <a16:colId xmlns="" xmlns:a16="http://schemas.microsoft.com/office/drawing/2014/main" val="1627569208"/>
                    </a:ext>
                  </a:extLst>
                </a:gridCol>
                <a:gridCol w="687793">
                  <a:extLst>
                    <a:ext uri="{9D8B030D-6E8A-4147-A177-3AD203B41FA5}">
                      <a16:colId xmlns="" xmlns:a16="http://schemas.microsoft.com/office/drawing/2014/main" val="3110055326"/>
                    </a:ext>
                  </a:extLst>
                </a:gridCol>
                <a:gridCol w="832994">
                  <a:extLst>
                    <a:ext uri="{9D8B030D-6E8A-4147-A177-3AD203B41FA5}">
                      <a16:colId xmlns="" xmlns:a16="http://schemas.microsoft.com/office/drawing/2014/main" val="3557858824"/>
                    </a:ext>
                  </a:extLst>
                </a:gridCol>
                <a:gridCol w="871206">
                  <a:extLst>
                    <a:ext uri="{9D8B030D-6E8A-4147-A177-3AD203B41FA5}">
                      <a16:colId xmlns="" xmlns:a16="http://schemas.microsoft.com/office/drawing/2014/main" val="757867109"/>
                    </a:ext>
                  </a:extLst>
                </a:gridCol>
                <a:gridCol w="771857">
                  <a:extLst>
                    <a:ext uri="{9D8B030D-6E8A-4147-A177-3AD203B41FA5}">
                      <a16:colId xmlns="" xmlns:a16="http://schemas.microsoft.com/office/drawing/2014/main" val="2442703383"/>
                    </a:ext>
                  </a:extLst>
                </a:gridCol>
                <a:gridCol w="716514">
                  <a:extLst>
                    <a:ext uri="{9D8B030D-6E8A-4147-A177-3AD203B41FA5}">
                      <a16:colId xmlns="" xmlns:a16="http://schemas.microsoft.com/office/drawing/2014/main" val="2342154768"/>
                    </a:ext>
                  </a:extLst>
                </a:gridCol>
              </a:tblGrid>
              <a:tr h="428146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32971855"/>
                  </a:ext>
                </a:extLst>
              </a:tr>
              <a:tr h="428146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38466"/>
              </p:ext>
            </p:extLst>
          </p:nvPr>
        </p:nvGraphicFramePr>
        <p:xfrm>
          <a:off x="1607257" y="5182337"/>
          <a:ext cx="6623198" cy="8562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3752">
                  <a:extLst>
                    <a:ext uri="{9D8B030D-6E8A-4147-A177-3AD203B41FA5}">
                      <a16:colId xmlns="" xmlns:a16="http://schemas.microsoft.com/office/drawing/2014/main" val="278077261"/>
                    </a:ext>
                  </a:extLst>
                </a:gridCol>
                <a:gridCol w="741289">
                  <a:extLst>
                    <a:ext uri="{9D8B030D-6E8A-4147-A177-3AD203B41FA5}">
                      <a16:colId xmlns="" xmlns:a16="http://schemas.microsoft.com/office/drawing/2014/main" val="1969597377"/>
                    </a:ext>
                  </a:extLst>
                </a:gridCol>
                <a:gridCol w="687793">
                  <a:extLst>
                    <a:ext uri="{9D8B030D-6E8A-4147-A177-3AD203B41FA5}">
                      <a16:colId xmlns="" xmlns:a16="http://schemas.microsoft.com/office/drawing/2014/main" val="1627569208"/>
                    </a:ext>
                  </a:extLst>
                </a:gridCol>
                <a:gridCol w="687793">
                  <a:extLst>
                    <a:ext uri="{9D8B030D-6E8A-4147-A177-3AD203B41FA5}">
                      <a16:colId xmlns="" xmlns:a16="http://schemas.microsoft.com/office/drawing/2014/main" val="3110055326"/>
                    </a:ext>
                  </a:extLst>
                </a:gridCol>
                <a:gridCol w="832994">
                  <a:extLst>
                    <a:ext uri="{9D8B030D-6E8A-4147-A177-3AD203B41FA5}">
                      <a16:colId xmlns="" xmlns:a16="http://schemas.microsoft.com/office/drawing/2014/main" val="3557858824"/>
                    </a:ext>
                  </a:extLst>
                </a:gridCol>
                <a:gridCol w="871206">
                  <a:extLst>
                    <a:ext uri="{9D8B030D-6E8A-4147-A177-3AD203B41FA5}">
                      <a16:colId xmlns="" xmlns:a16="http://schemas.microsoft.com/office/drawing/2014/main" val="757867109"/>
                    </a:ext>
                  </a:extLst>
                </a:gridCol>
                <a:gridCol w="771857">
                  <a:extLst>
                    <a:ext uri="{9D8B030D-6E8A-4147-A177-3AD203B41FA5}">
                      <a16:colId xmlns="" xmlns:a16="http://schemas.microsoft.com/office/drawing/2014/main" val="2442703383"/>
                    </a:ext>
                  </a:extLst>
                </a:gridCol>
                <a:gridCol w="716514">
                  <a:extLst>
                    <a:ext uri="{9D8B030D-6E8A-4147-A177-3AD203B41FA5}">
                      <a16:colId xmlns="" xmlns:a16="http://schemas.microsoft.com/office/drawing/2014/main" val="2342154768"/>
                    </a:ext>
                  </a:extLst>
                </a:gridCol>
              </a:tblGrid>
              <a:tr h="428146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32971855"/>
                  </a:ext>
                </a:extLst>
              </a:tr>
              <a:tr h="428146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36794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5927" y="160372"/>
            <a:ext cx="6836899" cy="6186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does all of this help?</a:t>
            </a:r>
          </a:p>
          <a:p>
            <a:endParaRPr lang="en-AU" dirty="0"/>
          </a:p>
          <a:p>
            <a:r>
              <a:rPr lang="en-AU" dirty="0" smtClean="0"/>
              <a:t>You </a:t>
            </a:r>
            <a:r>
              <a:rPr lang="en-AU" dirty="0"/>
              <a:t>have now been told that there is 12 hours of work top be completed (it’s a major re-wire of several apartments).  So which is cheapest?</a:t>
            </a:r>
          </a:p>
          <a:p>
            <a:endParaRPr lang="en-AU" dirty="0"/>
          </a:p>
          <a:p>
            <a:r>
              <a:rPr lang="en-AU" dirty="0"/>
              <a:t>Quote 1  			</a:t>
            </a:r>
            <a:r>
              <a:rPr lang="en-AU" dirty="0" smtClean="0"/>
              <a:t>	cost </a:t>
            </a:r>
            <a:r>
              <a:rPr lang="en-AU" dirty="0"/>
              <a:t>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  <a:endParaRPr lang="en-AU" dirty="0"/>
          </a:p>
          <a:p>
            <a:r>
              <a:rPr lang="en-AU" dirty="0"/>
              <a:t>If hours = 12 then		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12 </a:t>
            </a:r>
            <a:r>
              <a:rPr lang="en-AU" b="1" dirty="0">
                <a:solidFill>
                  <a:srgbClr val="0070C0"/>
                </a:solidFill>
              </a:rPr>
              <a:t>+$100</a:t>
            </a:r>
          </a:p>
          <a:p>
            <a:r>
              <a:rPr lang="en-AU" b="1" dirty="0">
                <a:solidFill>
                  <a:srgbClr val="0070C0"/>
                </a:solidFill>
              </a:rPr>
              <a:t>			</a:t>
            </a:r>
            <a:r>
              <a:rPr lang="en-AU" b="1" dirty="0" smtClean="0">
                <a:solidFill>
                  <a:srgbClr val="0070C0"/>
                </a:solidFill>
              </a:rPr>
              <a:t>		</a:t>
            </a:r>
            <a:r>
              <a:rPr lang="en-AU" dirty="0" smtClean="0"/>
              <a:t>cost </a:t>
            </a:r>
            <a:r>
              <a:rPr lang="en-AU" dirty="0"/>
              <a:t>= </a:t>
            </a:r>
            <a:r>
              <a:rPr lang="en-AU" b="1" dirty="0"/>
              <a:t>$580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2  			</a:t>
            </a:r>
            <a:r>
              <a:rPr lang="en-AU" dirty="0" smtClean="0"/>
              <a:t>	cost </a:t>
            </a:r>
            <a:r>
              <a:rPr lang="en-AU" dirty="0"/>
              <a:t>= </a:t>
            </a:r>
            <a:r>
              <a:rPr lang="en-AU" b="1" dirty="0">
                <a:solidFill>
                  <a:srgbClr val="FF0000"/>
                </a:solidFill>
              </a:rPr>
              <a:t>$35 </a:t>
            </a:r>
            <a:r>
              <a:rPr lang="en-AU" dirty="0"/>
              <a:t>x hours + </a:t>
            </a:r>
            <a:r>
              <a:rPr lang="en-AU" b="1" dirty="0">
                <a:solidFill>
                  <a:srgbClr val="0070C0"/>
                </a:solidFill>
              </a:rPr>
              <a:t>$150</a:t>
            </a:r>
          </a:p>
          <a:p>
            <a:r>
              <a:rPr lang="en-AU" dirty="0"/>
              <a:t>If hours = 12 then		cost = </a:t>
            </a:r>
            <a:r>
              <a:rPr lang="en-AU" b="1" dirty="0">
                <a:solidFill>
                  <a:srgbClr val="FF0000"/>
                </a:solidFill>
              </a:rPr>
              <a:t>$35 </a:t>
            </a:r>
            <a:r>
              <a:rPr lang="en-AU" dirty="0"/>
              <a:t>x 12 </a:t>
            </a:r>
            <a:r>
              <a:rPr lang="en-AU" b="1" dirty="0">
                <a:solidFill>
                  <a:srgbClr val="0070C0"/>
                </a:solidFill>
              </a:rPr>
              <a:t>+$150</a:t>
            </a:r>
          </a:p>
          <a:p>
            <a:r>
              <a:rPr lang="en-AU" b="1" dirty="0">
                <a:solidFill>
                  <a:srgbClr val="0070C0"/>
                </a:solidFill>
              </a:rPr>
              <a:t>			</a:t>
            </a:r>
            <a:r>
              <a:rPr lang="en-AU" b="1" dirty="0" smtClean="0">
                <a:solidFill>
                  <a:srgbClr val="0070C0"/>
                </a:solidFill>
              </a:rPr>
              <a:t>		</a:t>
            </a:r>
            <a:r>
              <a:rPr lang="en-AU" dirty="0" smtClean="0"/>
              <a:t>cost </a:t>
            </a:r>
            <a:r>
              <a:rPr lang="en-AU" dirty="0"/>
              <a:t>= </a:t>
            </a:r>
            <a:r>
              <a:rPr lang="en-AU" b="1" dirty="0"/>
              <a:t>$570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			</a:t>
            </a:r>
            <a:r>
              <a:rPr lang="en-AU" dirty="0" smtClean="0"/>
              <a:t>	cost </a:t>
            </a:r>
            <a:r>
              <a:rPr lang="en-AU" dirty="0"/>
              <a:t>= </a:t>
            </a:r>
            <a:r>
              <a:rPr lang="en-AU" b="1" dirty="0">
                <a:solidFill>
                  <a:srgbClr val="FF0000"/>
                </a:solidFill>
              </a:rPr>
              <a:t>$50 </a:t>
            </a:r>
            <a:r>
              <a:rPr lang="en-AU" dirty="0"/>
              <a:t>x hours + </a:t>
            </a:r>
            <a:r>
              <a:rPr lang="en-AU" b="1" dirty="0">
                <a:solidFill>
                  <a:srgbClr val="0070C0"/>
                </a:solidFill>
              </a:rPr>
              <a:t>$50</a:t>
            </a:r>
          </a:p>
          <a:p>
            <a:r>
              <a:rPr lang="en-AU" dirty="0"/>
              <a:t>If hours = 12 then		cost = </a:t>
            </a:r>
            <a:r>
              <a:rPr lang="en-AU" b="1" dirty="0">
                <a:solidFill>
                  <a:srgbClr val="FF0000"/>
                </a:solidFill>
              </a:rPr>
              <a:t>$50 </a:t>
            </a:r>
            <a:r>
              <a:rPr lang="en-AU" dirty="0"/>
              <a:t>x 12 </a:t>
            </a:r>
            <a:r>
              <a:rPr lang="en-AU" b="1" dirty="0">
                <a:solidFill>
                  <a:srgbClr val="0070C0"/>
                </a:solidFill>
              </a:rPr>
              <a:t>+$50</a:t>
            </a:r>
          </a:p>
          <a:p>
            <a:r>
              <a:rPr lang="en-AU" b="1" dirty="0">
                <a:solidFill>
                  <a:srgbClr val="0070C0"/>
                </a:solidFill>
              </a:rPr>
              <a:t>			</a:t>
            </a:r>
            <a:r>
              <a:rPr lang="en-AU" b="1" dirty="0" smtClean="0">
                <a:solidFill>
                  <a:srgbClr val="0070C0"/>
                </a:solidFill>
              </a:rPr>
              <a:t>		</a:t>
            </a:r>
            <a:r>
              <a:rPr lang="en-AU" dirty="0" smtClean="0"/>
              <a:t>cost </a:t>
            </a:r>
            <a:r>
              <a:rPr lang="en-AU" dirty="0"/>
              <a:t>= </a:t>
            </a:r>
            <a:r>
              <a:rPr lang="en-AU" b="1" dirty="0"/>
              <a:t>$650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3" name="Rounded Rectangle 2"/>
          <p:cNvSpPr/>
          <p:nvPr/>
        </p:nvSpPr>
        <p:spPr>
          <a:xfrm>
            <a:off x="3029551" y="2155412"/>
            <a:ext cx="2854769" cy="59419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3029551" y="3495264"/>
            <a:ext cx="2854769" cy="5941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029551" y="4870068"/>
            <a:ext cx="2854769" cy="61843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811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65" y="206725"/>
            <a:ext cx="8851735" cy="5847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mpd="sng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halkboard"/>
                <a:cs typeface="Chalkboard"/>
              </a:rPr>
              <a:t>Task</a:t>
            </a:r>
            <a:endParaRPr lang="en-US" sz="3200" dirty="0">
              <a:latin typeface="Chalkboard"/>
              <a:cs typeface="Chalkboard"/>
            </a:endParaRPr>
          </a:p>
        </p:txBody>
      </p:sp>
      <p:pic>
        <p:nvPicPr>
          <p:cNvPr id="3" name="Picture 2" descr="Screen Shot 2017-03-19 at 9.44.1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3" y="990573"/>
            <a:ext cx="9145363" cy="1677478"/>
          </a:xfrm>
          <a:prstGeom prst="rect">
            <a:avLst/>
          </a:prstGeom>
        </p:spPr>
      </p:pic>
      <p:pic>
        <p:nvPicPr>
          <p:cNvPr id="4" name="Picture 3" descr="Screen Shot 2017-03-19 at 9.44.04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24370"/>
            <a:ext cx="9144000" cy="1614389"/>
          </a:xfrm>
          <a:prstGeom prst="rect">
            <a:avLst/>
          </a:prstGeom>
        </p:spPr>
      </p:pic>
      <p:pic>
        <p:nvPicPr>
          <p:cNvPr id="5" name="Picture 4" descr="Screen Shot 2017-03-19 at 9.44.14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97186"/>
            <a:ext cx="9144000" cy="173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4195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431</Words>
  <Application>Microsoft Macintosh PowerPoint</Application>
  <PresentationFormat>On-screen Show (4:3)</PresentationFormat>
  <Paragraphs>152</Paragraphs>
  <Slides>12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Finding A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E4093549</dc:creator>
  <cp:lastModifiedBy>E4093549</cp:lastModifiedBy>
  <cp:revision>12</cp:revision>
  <dcterms:created xsi:type="dcterms:W3CDTF">2017-03-19T13:16:01Z</dcterms:created>
  <dcterms:modified xsi:type="dcterms:W3CDTF">2017-03-20T00:20:30Z</dcterms:modified>
</cp:coreProperties>
</file>
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7" r:id="rId2"/>
    <p:sldId id="302" r:id="rId3"/>
    <p:sldId id="305" r:id="rId4"/>
    <p:sldId id="306" r:id="rId5"/>
    <p:sldId id="308" r:id="rId6"/>
    <p:sldId id="307" r:id="rId7"/>
    <p:sldId id="309" r:id="rId8"/>
    <p:sldId id="310" r:id="rId9"/>
    <p:sldId id="311" r:id="rId10"/>
    <p:sldId id="312" r:id="rId11"/>
    <p:sldId id="313" r:id="rId12"/>
    <p:sldId id="314" r:id="rId13"/>
    <p:sldId id="30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80" autoAdjust="0"/>
  </p:normalViewPr>
  <p:slideViewPr>
    <p:cSldViewPr>
      <p:cViewPr varScale="1">
        <p:scale>
          <a:sx n="68" d="100"/>
          <a:sy n="68" d="100"/>
        </p:scale>
        <p:origin x="88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97A18-8D5C-4751-8F03-D86DF6784DAF}" type="datetimeFigureOut">
              <a:rPr lang="en-AU" smtClean="0"/>
              <a:t>3/04/2017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9A9EB-C6F6-49DB-81CD-0783ACE879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9485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99A9EB-C6F6-49DB-81CD-0783ACE879C4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2514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3"/>
          <a:stretch>
            <a:fillRect/>
          </a:stretch>
        </p:blipFill>
        <p:spPr>
          <a:xfrm>
            <a:off x="2849894" y="1213562"/>
            <a:ext cx="2703627" cy="1880996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0" y="80361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4709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36512" y="-2738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822364" y="1265278"/>
            <a:ext cx="27530" cy="576412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4888" y="69308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913" y="785433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we can use formulas to find areas of different shapes?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4"/>
              <p:cNvSpPr txBox="1"/>
              <p:nvPr/>
            </p:nvSpPr>
            <p:spPr>
              <a:xfrm>
                <a:off x="5625528" y="1539531"/>
                <a:ext cx="2019092" cy="1003101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400" dirty="0">
                    <a:effectLst/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𝑙𝑤</m:t>
                      </m:r>
                    </m:oMath>
                  </m:oMathPara>
                </a14:m>
                <a:endParaRPr lang="en-AU" sz="240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400" dirty="0">
                    <a:effectLst/>
                    <a:latin typeface="Calibri"/>
                    <a:ea typeface="Times New Roman"/>
                    <a:cs typeface="Times New Roman"/>
                  </a:rPr>
                  <a:t> </a:t>
                </a:r>
                <a:endParaRPr lang="en-AU" sz="2400" dirty="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3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528" y="1539531"/>
                <a:ext cx="2019092" cy="1003101"/>
              </a:xfrm>
              <a:prstGeom prst="rect">
                <a:avLst/>
              </a:prstGeom>
              <a:blipFill>
                <a:blip r:embed="rId4"/>
                <a:stretch>
                  <a:fillRect l="-4834" t="-1829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5"/>
              <p:cNvSpPr txBox="1"/>
              <p:nvPr/>
            </p:nvSpPr>
            <p:spPr>
              <a:xfrm>
                <a:off x="5397243" y="2924632"/>
                <a:ext cx="2099432" cy="818515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400" dirty="0">
                    <a:effectLst/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E36C0A"/>
                              </a:solidFill>
                              <a:effectLst/>
                              <a:latin typeface="Cambria Math" panose="02040503050406030204" pitchFamily="18" charset="0"/>
                              <a:ea typeface="Calibr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AU" sz="2400" i="1">
                              <a:solidFill>
                                <a:srgbClr val="E36C0A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1</m:t>
                          </m:r>
                        </m:num>
                        <m:den>
                          <m:r>
                            <a:rPr lang="en-AU" sz="2400" i="1">
                              <a:solidFill>
                                <a:srgbClr val="E36C0A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𝑏h</m:t>
                      </m:r>
                    </m:oMath>
                  </m:oMathPara>
                </a14:m>
                <a:endParaRPr lang="en-AU" sz="2400" dirty="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243" y="2924632"/>
                <a:ext cx="2099432" cy="818515"/>
              </a:xfrm>
              <a:prstGeom prst="rect">
                <a:avLst/>
              </a:prstGeom>
              <a:blipFill>
                <a:blip r:embed="rId5"/>
                <a:stretch>
                  <a:fillRect l="-4348" t="-2239" b="-69403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51520" y="1746441"/>
            <a:ext cx="195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Area of a rectangle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520" y="3110936"/>
            <a:ext cx="180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Area of a triangle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7824" y="4547408"/>
            <a:ext cx="5897258" cy="209558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0813" y="4797152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Area of circle</a:t>
            </a:r>
          </a:p>
        </p:txBody>
      </p:sp>
      <p:pic>
        <p:nvPicPr>
          <p:cNvPr id="18" name="Picture 17"/>
          <p:cNvPicPr/>
          <p:nvPr/>
        </p:nvPicPr>
        <p:blipFill rotWithShape="1">
          <a:blip r:embed="rId7"/>
          <a:srcRect l="2187" t="19366"/>
          <a:stretch/>
        </p:blipFill>
        <p:spPr bwMode="auto">
          <a:xfrm>
            <a:off x="2849894" y="3022921"/>
            <a:ext cx="2475342" cy="16521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83313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2849894" y="476672"/>
            <a:ext cx="2703627" cy="1880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4"/>
              <p:cNvSpPr txBox="1"/>
              <p:nvPr/>
            </p:nvSpPr>
            <p:spPr>
              <a:xfrm>
                <a:off x="5625528" y="802641"/>
                <a:ext cx="2019092" cy="1003101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400" dirty="0">
                    <a:effectLst/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𝑙𝑤</m:t>
                      </m:r>
                    </m:oMath>
                  </m:oMathPara>
                </a14:m>
                <a:endParaRPr lang="en-AU" sz="240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400" dirty="0">
                    <a:effectLst/>
                    <a:latin typeface="Calibri"/>
                    <a:ea typeface="Times New Roman"/>
                    <a:cs typeface="Times New Roman"/>
                  </a:rPr>
                  <a:t> </a:t>
                </a:r>
                <a:endParaRPr lang="en-AU" sz="2400" dirty="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3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528" y="802641"/>
                <a:ext cx="2019092" cy="1003101"/>
              </a:xfrm>
              <a:prstGeom prst="rect">
                <a:avLst/>
              </a:prstGeom>
              <a:blipFill>
                <a:blip r:embed="rId3"/>
                <a:stretch>
                  <a:fillRect l="-4834" t="-1829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5"/>
              <p:cNvSpPr txBox="1"/>
              <p:nvPr/>
            </p:nvSpPr>
            <p:spPr>
              <a:xfrm>
                <a:off x="5397243" y="2187742"/>
                <a:ext cx="2099432" cy="818515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400" dirty="0">
                    <a:effectLst/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E36C0A"/>
                              </a:solidFill>
                              <a:effectLst/>
                              <a:latin typeface="Cambria Math" panose="02040503050406030204" pitchFamily="18" charset="0"/>
                              <a:ea typeface="Calibr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AU" sz="2400" i="1">
                              <a:solidFill>
                                <a:srgbClr val="E36C0A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1</m:t>
                          </m:r>
                        </m:num>
                        <m:den>
                          <m:r>
                            <a:rPr lang="en-AU" sz="2400" i="1">
                              <a:solidFill>
                                <a:srgbClr val="E36C0A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𝑏h</m:t>
                      </m:r>
                    </m:oMath>
                  </m:oMathPara>
                </a14:m>
                <a:endParaRPr lang="en-AU" sz="2400" dirty="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243" y="2187742"/>
                <a:ext cx="2099432" cy="818515"/>
              </a:xfrm>
              <a:prstGeom prst="rect">
                <a:avLst/>
              </a:prstGeom>
              <a:blipFill>
                <a:blip r:embed="rId4"/>
                <a:stretch>
                  <a:fillRect l="-4348" t="-2239" b="-69403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51520" y="1047838"/>
            <a:ext cx="195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Area of a rectangle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520" y="2412333"/>
            <a:ext cx="180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Area of a triangle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824" y="3810518"/>
            <a:ext cx="5897258" cy="209558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0813" y="4098549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Area of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724128" y="4962645"/>
                <a:ext cx="3160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3.14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4962645"/>
                <a:ext cx="316095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/>
          <p:nvPr/>
        </p:nvPicPr>
        <p:blipFill rotWithShape="1">
          <a:blip r:embed="rId7"/>
          <a:srcRect l="2187" t="19366"/>
          <a:stretch/>
        </p:blipFill>
        <p:spPr bwMode="auto">
          <a:xfrm>
            <a:off x="2849894" y="2258027"/>
            <a:ext cx="2475342" cy="16521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8091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allelogram 8"/>
          <p:cNvSpPr/>
          <p:nvPr/>
        </p:nvSpPr>
        <p:spPr>
          <a:xfrm rot="5400000" flipV="1">
            <a:off x="-282089" y="1128520"/>
            <a:ext cx="1814227" cy="283516"/>
          </a:xfrm>
          <a:prstGeom prst="parallelogram">
            <a:avLst>
              <a:gd name="adj" fmla="val 17215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/>
          <p:cNvSpPr/>
          <p:nvPr/>
        </p:nvSpPr>
        <p:spPr>
          <a:xfrm>
            <a:off x="755576" y="404664"/>
            <a:ext cx="3168352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Parallelogram 5"/>
          <p:cNvSpPr/>
          <p:nvPr/>
        </p:nvSpPr>
        <p:spPr>
          <a:xfrm>
            <a:off x="467544" y="390636"/>
            <a:ext cx="3451869" cy="504056"/>
          </a:xfrm>
          <a:prstGeom prst="parallelogram">
            <a:avLst>
              <a:gd name="adj" fmla="val 5696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Parallelogram 6"/>
          <p:cNvSpPr/>
          <p:nvPr/>
        </p:nvSpPr>
        <p:spPr>
          <a:xfrm>
            <a:off x="494474" y="1686780"/>
            <a:ext cx="3451869" cy="504056"/>
          </a:xfrm>
          <a:prstGeom prst="parallelogram">
            <a:avLst>
              <a:gd name="adj" fmla="val 5696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Parallelogram 7"/>
          <p:cNvSpPr/>
          <p:nvPr/>
        </p:nvSpPr>
        <p:spPr>
          <a:xfrm rot="5400000" flipV="1">
            <a:off x="2870542" y="1155994"/>
            <a:ext cx="1814227" cy="283516"/>
          </a:xfrm>
          <a:prstGeom prst="parallelogram">
            <a:avLst>
              <a:gd name="adj" fmla="val 17215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/>
          <p:cNvSpPr txBox="1"/>
          <p:nvPr/>
        </p:nvSpPr>
        <p:spPr>
          <a:xfrm>
            <a:off x="4484271" y="363164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Total Surface Area of a Rectangular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528" y="2663064"/>
            <a:ext cx="856895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To find the TSA of a Rectangular Prism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/>
              <a:t>Find the area of all 6 sides.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/>
              <a:t>Add all 6 areas together</a:t>
            </a:r>
          </a:p>
          <a:p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467544" y="908720"/>
            <a:ext cx="3168352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3751466" y="1784851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0891" y="982418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 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2058" y="2176984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cm</a:t>
            </a:r>
          </a:p>
        </p:txBody>
      </p:sp>
    </p:spTree>
    <p:extLst>
      <p:ext uri="{BB962C8B-B14F-4D97-AF65-F5344CB8AC3E}">
        <p14:creationId xmlns:p14="http://schemas.microsoft.com/office/powerpoint/2010/main" val="142451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animClr clrSpc="rgb" dir="cw">
                                      <p:cBhvr>
                                        <p:cTn id="7" dur="1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8" dur="1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5" dur="250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animClr clrSpc="rgb" dir="cw">
                                      <p:cBhvr>
                                        <p:cTn id="21" dur="2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22" dur="2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2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29" dur="2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2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animClr clrSpc="rgb" dir="cw">
                                      <p:cBhvr>
                                        <p:cTn id="35" dur="2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36" dur="2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2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animClr clrSpc="rgb" dir="cw">
                                      <p:cBhvr>
                                        <p:cTn id="42" dur="2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43" dur="2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allelogram 8"/>
          <p:cNvSpPr/>
          <p:nvPr/>
        </p:nvSpPr>
        <p:spPr>
          <a:xfrm rot="5400000" flipV="1">
            <a:off x="-282089" y="1128520"/>
            <a:ext cx="1814227" cy="283516"/>
          </a:xfrm>
          <a:prstGeom prst="parallelogram">
            <a:avLst>
              <a:gd name="adj" fmla="val 17215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/>
          <p:cNvSpPr/>
          <p:nvPr/>
        </p:nvSpPr>
        <p:spPr>
          <a:xfrm>
            <a:off x="755576" y="404664"/>
            <a:ext cx="3168352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Parallelogram 5"/>
          <p:cNvSpPr/>
          <p:nvPr/>
        </p:nvSpPr>
        <p:spPr>
          <a:xfrm>
            <a:off x="467544" y="390636"/>
            <a:ext cx="3451869" cy="504056"/>
          </a:xfrm>
          <a:prstGeom prst="parallelogram">
            <a:avLst>
              <a:gd name="adj" fmla="val 5696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Parallelogram 6"/>
          <p:cNvSpPr/>
          <p:nvPr/>
        </p:nvSpPr>
        <p:spPr>
          <a:xfrm>
            <a:off x="494474" y="1686780"/>
            <a:ext cx="3451869" cy="504056"/>
          </a:xfrm>
          <a:prstGeom prst="parallelogram">
            <a:avLst>
              <a:gd name="adj" fmla="val 5696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Parallelogram 7"/>
          <p:cNvSpPr/>
          <p:nvPr/>
        </p:nvSpPr>
        <p:spPr>
          <a:xfrm rot="5400000" flipV="1">
            <a:off x="2870542" y="1155994"/>
            <a:ext cx="1814227" cy="283516"/>
          </a:xfrm>
          <a:prstGeom prst="parallelogram">
            <a:avLst>
              <a:gd name="adj" fmla="val 17215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3908700" y="210764"/>
            <a:ext cx="51394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/>
              <a:t>Find the area of all 6 sides.</a:t>
            </a:r>
          </a:p>
          <a:p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467544" y="908720"/>
            <a:ext cx="3168352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323528" y="2518435"/>
            <a:ext cx="88204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1. Choose 2 sides that are the same to start with.</a:t>
            </a:r>
          </a:p>
          <a:p>
            <a:r>
              <a:rPr lang="en-AU" sz="3200" dirty="0"/>
              <a:t>2. Calculate their area.</a:t>
            </a:r>
          </a:p>
          <a:p>
            <a:r>
              <a:rPr lang="en-AU" sz="3200" dirty="0"/>
              <a:t>	A= Length x Width</a:t>
            </a:r>
          </a:p>
          <a:p>
            <a:r>
              <a:rPr lang="en-AU" sz="3200" dirty="0"/>
              <a:t>	   = 7 x 5cm</a:t>
            </a:r>
          </a:p>
          <a:p>
            <a:r>
              <a:rPr lang="en-AU" sz="3200" dirty="0"/>
              <a:t>	   = 35cm</a:t>
            </a:r>
            <a:r>
              <a:rPr lang="en-AU" sz="3200" baseline="30000" dirty="0"/>
              <a:t>2</a:t>
            </a:r>
            <a:r>
              <a:rPr lang="en-AU" sz="3200" dirty="0"/>
              <a:t> each side</a:t>
            </a:r>
          </a:p>
          <a:p>
            <a:r>
              <a:rPr lang="en-AU" sz="3200" dirty="0"/>
              <a:t> 	therefore combined they are 70cm</a:t>
            </a:r>
            <a:r>
              <a:rPr lang="en-AU" sz="3200" baseline="30000" dirty="0"/>
              <a:t>2</a:t>
            </a:r>
            <a:endParaRPr lang="en-AU" sz="3200" dirty="0"/>
          </a:p>
          <a:p>
            <a:r>
              <a:rPr lang="en-AU" sz="3200" dirty="0"/>
              <a:t>Sides 1 and 2 area 70cm</a:t>
            </a:r>
            <a:r>
              <a:rPr lang="en-AU" sz="3200" baseline="30000" dirty="0"/>
              <a:t>2</a:t>
            </a:r>
            <a:r>
              <a:rPr lang="en-AU" sz="3200" dirty="0"/>
              <a:t> combined</a:t>
            </a:r>
          </a:p>
          <a:p>
            <a:endParaRPr lang="en-AU" sz="3200" dirty="0"/>
          </a:p>
          <a:p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3751466" y="1784851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91" y="982418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 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2058" y="2176984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cm</a:t>
            </a:r>
          </a:p>
        </p:txBody>
      </p:sp>
    </p:spTree>
    <p:extLst>
      <p:ext uri="{BB962C8B-B14F-4D97-AF65-F5344CB8AC3E}">
        <p14:creationId xmlns:p14="http://schemas.microsoft.com/office/powerpoint/2010/main" val="378385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F0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allelogram 8"/>
          <p:cNvSpPr/>
          <p:nvPr/>
        </p:nvSpPr>
        <p:spPr>
          <a:xfrm rot="5400000" flipV="1">
            <a:off x="-282089" y="1128520"/>
            <a:ext cx="1814227" cy="283516"/>
          </a:xfrm>
          <a:prstGeom prst="parallelogram">
            <a:avLst>
              <a:gd name="adj" fmla="val 172150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/>
          <p:cNvSpPr/>
          <p:nvPr/>
        </p:nvSpPr>
        <p:spPr>
          <a:xfrm>
            <a:off x="755576" y="404664"/>
            <a:ext cx="3168352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Parallelogram 6"/>
          <p:cNvSpPr/>
          <p:nvPr/>
        </p:nvSpPr>
        <p:spPr>
          <a:xfrm>
            <a:off x="494474" y="1686780"/>
            <a:ext cx="3451869" cy="504056"/>
          </a:xfrm>
          <a:prstGeom prst="parallelogram">
            <a:avLst>
              <a:gd name="adj" fmla="val 5696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Parallelogram 7"/>
          <p:cNvSpPr/>
          <p:nvPr/>
        </p:nvSpPr>
        <p:spPr>
          <a:xfrm rot="5400000" flipV="1">
            <a:off x="2870542" y="1155994"/>
            <a:ext cx="1814227" cy="283516"/>
          </a:xfrm>
          <a:prstGeom prst="parallelogram">
            <a:avLst>
              <a:gd name="adj" fmla="val 172150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3908700" y="210764"/>
            <a:ext cx="513949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/>
              <a:t>Find the area of all 6 sides.</a:t>
            </a:r>
          </a:p>
          <a:p>
            <a:r>
              <a:rPr lang="en-AU" sz="2000" dirty="0"/>
              <a:t>	Sides 1 and 2 area 70cm</a:t>
            </a:r>
            <a:r>
              <a:rPr lang="en-AU" sz="2000" baseline="30000" dirty="0"/>
              <a:t>2</a:t>
            </a:r>
            <a:r>
              <a:rPr lang="en-AU" sz="2000" dirty="0"/>
              <a:t> combined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/>
          </a:p>
          <a:p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467544" y="908720"/>
            <a:ext cx="3168352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249211" y="2460325"/>
            <a:ext cx="88204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1. Choose 2 more sides that are the same.</a:t>
            </a:r>
          </a:p>
          <a:p>
            <a:r>
              <a:rPr lang="en-AU" sz="3200" dirty="0"/>
              <a:t>2. Calculate their area.</a:t>
            </a:r>
          </a:p>
          <a:p>
            <a:r>
              <a:rPr lang="en-AU" sz="3200" dirty="0"/>
              <a:t>	A= Length x Width</a:t>
            </a:r>
          </a:p>
          <a:p>
            <a:r>
              <a:rPr lang="en-AU" sz="3200" dirty="0"/>
              <a:t>	   = 15 x 5cm</a:t>
            </a:r>
          </a:p>
          <a:p>
            <a:r>
              <a:rPr lang="en-AU" sz="3200" dirty="0"/>
              <a:t>	   = 75cm</a:t>
            </a:r>
            <a:r>
              <a:rPr lang="en-AU" sz="3200" baseline="30000" dirty="0"/>
              <a:t>2</a:t>
            </a:r>
            <a:r>
              <a:rPr lang="en-AU" sz="3200" dirty="0"/>
              <a:t> each side</a:t>
            </a:r>
          </a:p>
          <a:p>
            <a:r>
              <a:rPr lang="en-AU" sz="3200" dirty="0"/>
              <a:t> 	therefore combined they are 150cm</a:t>
            </a:r>
            <a:r>
              <a:rPr lang="en-AU" sz="3200" baseline="30000" dirty="0"/>
              <a:t>2</a:t>
            </a:r>
            <a:endParaRPr lang="en-AU" sz="3200" dirty="0"/>
          </a:p>
          <a:p>
            <a:r>
              <a:rPr lang="en-AU" sz="3200" dirty="0"/>
              <a:t>Sides 3 and 4 area 150cm</a:t>
            </a:r>
            <a:r>
              <a:rPr lang="en-AU" sz="3200" baseline="30000" dirty="0"/>
              <a:t>2</a:t>
            </a:r>
            <a:r>
              <a:rPr lang="en-AU" sz="3200" dirty="0"/>
              <a:t> combined</a:t>
            </a:r>
          </a:p>
          <a:p>
            <a:endParaRPr lang="en-AU" sz="3200" dirty="0"/>
          </a:p>
          <a:p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3769674" y="1727899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91" y="982418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 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2058" y="2176984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467544" y="390636"/>
            <a:ext cx="3451869" cy="504056"/>
          </a:xfrm>
          <a:prstGeom prst="parallelogram">
            <a:avLst>
              <a:gd name="adj" fmla="val 5696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094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allelogram 8"/>
          <p:cNvSpPr/>
          <p:nvPr/>
        </p:nvSpPr>
        <p:spPr>
          <a:xfrm rot="5400000" flipV="1">
            <a:off x="-282089" y="1128520"/>
            <a:ext cx="1814227" cy="283516"/>
          </a:xfrm>
          <a:prstGeom prst="parallelogram">
            <a:avLst>
              <a:gd name="adj" fmla="val 172150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/>
          <p:cNvSpPr/>
          <p:nvPr/>
        </p:nvSpPr>
        <p:spPr>
          <a:xfrm>
            <a:off x="755576" y="404664"/>
            <a:ext cx="3168352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Parallelogram 6"/>
          <p:cNvSpPr/>
          <p:nvPr/>
        </p:nvSpPr>
        <p:spPr>
          <a:xfrm>
            <a:off x="494474" y="1686780"/>
            <a:ext cx="3451869" cy="504056"/>
          </a:xfrm>
          <a:prstGeom prst="parallelogram">
            <a:avLst>
              <a:gd name="adj" fmla="val 5696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Parallelogram 7"/>
          <p:cNvSpPr/>
          <p:nvPr/>
        </p:nvSpPr>
        <p:spPr>
          <a:xfrm rot="5400000" flipV="1">
            <a:off x="2870542" y="1155994"/>
            <a:ext cx="1814227" cy="283516"/>
          </a:xfrm>
          <a:prstGeom prst="parallelogram">
            <a:avLst>
              <a:gd name="adj" fmla="val 172150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3908700" y="210764"/>
            <a:ext cx="51394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/>
              <a:t>Find the area of all 6 sides.</a:t>
            </a:r>
          </a:p>
          <a:p>
            <a:r>
              <a:rPr lang="en-AU" sz="2000" dirty="0"/>
              <a:t>	Sides 1 and 2 area 70cm</a:t>
            </a:r>
            <a:r>
              <a:rPr lang="en-AU" sz="2000" baseline="30000" dirty="0"/>
              <a:t>2</a:t>
            </a:r>
            <a:r>
              <a:rPr lang="en-AU" sz="2000" dirty="0"/>
              <a:t> combined</a:t>
            </a:r>
          </a:p>
          <a:p>
            <a:r>
              <a:rPr lang="en-AU" sz="2000" dirty="0"/>
              <a:t>	Sides 3 and 4 area 150cm</a:t>
            </a:r>
            <a:r>
              <a:rPr lang="en-AU" sz="2000" baseline="30000" dirty="0"/>
              <a:t>2</a:t>
            </a:r>
            <a:r>
              <a:rPr lang="en-AU" sz="2000" dirty="0"/>
              <a:t> combined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467544" y="908720"/>
            <a:ext cx="3168352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249211" y="2460325"/>
            <a:ext cx="88204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1. Choose the last 2 sides that are the same.</a:t>
            </a:r>
          </a:p>
          <a:p>
            <a:r>
              <a:rPr lang="en-AU" sz="3200" dirty="0"/>
              <a:t>2. Calculate their area.</a:t>
            </a:r>
          </a:p>
          <a:p>
            <a:r>
              <a:rPr lang="en-AU" sz="3200" dirty="0"/>
              <a:t>	A= Length x Width</a:t>
            </a:r>
          </a:p>
          <a:p>
            <a:r>
              <a:rPr lang="en-AU" sz="3200" dirty="0"/>
              <a:t>	   = 15 x 7cm</a:t>
            </a:r>
          </a:p>
          <a:p>
            <a:r>
              <a:rPr lang="en-AU" sz="3200" dirty="0"/>
              <a:t>	   = 105cm</a:t>
            </a:r>
            <a:r>
              <a:rPr lang="en-AU" sz="3200" baseline="30000" dirty="0"/>
              <a:t>2</a:t>
            </a:r>
            <a:r>
              <a:rPr lang="en-AU" sz="3200" dirty="0"/>
              <a:t> each side</a:t>
            </a:r>
          </a:p>
          <a:p>
            <a:r>
              <a:rPr lang="en-AU" sz="3200" dirty="0"/>
              <a:t> 	therefore combined they are 210cm</a:t>
            </a:r>
            <a:r>
              <a:rPr lang="en-AU" sz="3200" baseline="30000" dirty="0"/>
              <a:t>2</a:t>
            </a:r>
            <a:endParaRPr lang="en-AU" sz="3200" dirty="0"/>
          </a:p>
          <a:p>
            <a:r>
              <a:rPr lang="en-AU" sz="3200" dirty="0"/>
              <a:t>Sides 5 and 6 area 210cm</a:t>
            </a:r>
            <a:r>
              <a:rPr lang="en-AU" sz="3200" baseline="30000" dirty="0"/>
              <a:t>2</a:t>
            </a:r>
            <a:r>
              <a:rPr lang="en-AU" sz="3200" dirty="0"/>
              <a:t> combined</a:t>
            </a:r>
          </a:p>
          <a:p>
            <a:endParaRPr lang="en-AU" sz="3200" dirty="0"/>
          </a:p>
          <a:p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3769674" y="1727899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91" y="982418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 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2058" y="2176984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467544" y="390636"/>
            <a:ext cx="3451869" cy="504056"/>
          </a:xfrm>
          <a:prstGeom prst="parallelogram">
            <a:avLst>
              <a:gd name="adj" fmla="val 5696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091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mph" presetSubtype="0" repeatCount="indefinite" fill="remov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0" dur="1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11" dur="1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2" dur="1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1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7" dur="1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18" dur="1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9" dur="1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allelogram 8"/>
          <p:cNvSpPr/>
          <p:nvPr/>
        </p:nvSpPr>
        <p:spPr>
          <a:xfrm rot="5400000" flipV="1">
            <a:off x="-282089" y="1128520"/>
            <a:ext cx="1814227" cy="283516"/>
          </a:xfrm>
          <a:prstGeom prst="parallelogram">
            <a:avLst>
              <a:gd name="adj" fmla="val 172150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/>
          <p:cNvSpPr/>
          <p:nvPr/>
        </p:nvSpPr>
        <p:spPr>
          <a:xfrm>
            <a:off x="755576" y="404664"/>
            <a:ext cx="3168352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Parallelogram 6"/>
          <p:cNvSpPr/>
          <p:nvPr/>
        </p:nvSpPr>
        <p:spPr>
          <a:xfrm>
            <a:off x="494474" y="1686780"/>
            <a:ext cx="3451869" cy="504056"/>
          </a:xfrm>
          <a:prstGeom prst="parallelogram">
            <a:avLst>
              <a:gd name="adj" fmla="val 5696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Parallelogram 7"/>
          <p:cNvSpPr/>
          <p:nvPr/>
        </p:nvSpPr>
        <p:spPr>
          <a:xfrm rot="5400000" flipV="1">
            <a:off x="2870542" y="1155994"/>
            <a:ext cx="1814227" cy="283516"/>
          </a:xfrm>
          <a:prstGeom prst="parallelogram">
            <a:avLst>
              <a:gd name="adj" fmla="val 172150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3908700" y="210764"/>
            <a:ext cx="51394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/>
              <a:t>Find the area of all 6 sides.</a:t>
            </a:r>
          </a:p>
          <a:p>
            <a:r>
              <a:rPr lang="en-AU" sz="2000" dirty="0"/>
              <a:t>	Sides 1 and 2 area 70cm</a:t>
            </a:r>
            <a:r>
              <a:rPr lang="en-AU" sz="2000" baseline="30000" dirty="0"/>
              <a:t>2</a:t>
            </a:r>
            <a:r>
              <a:rPr lang="en-AU" sz="2000" dirty="0"/>
              <a:t> combined</a:t>
            </a:r>
          </a:p>
          <a:p>
            <a:r>
              <a:rPr lang="en-AU" sz="2000" dirty="0"/>
              <a:t>	Sides 3 and 4 area 150cm</a:t>
            </a:r>
            <a:r>
              <a:rPr lang="en-AU" sz="2000" baseline="30000" dirty="0"/>
              <a:t>2</a:t>
            </a:r>
            <a:r>
              <a:rPr lang="en-AU" sz="2000" dirty="0"/>
              <a:t> combined</a:t>
            </a:r>
          </a:p>
          <a:p>
            <a:r>
              <a:rPr lang="en-AU" sz="2000" dirty="0"/>
              <a:t>	Sides 5 and 6 area 210cm</a:t>
            </a:r>
            <a:r>
              <a:rPr lang="en-AU" sz="2000" baseline="30000" dirty="0"/>
              <a:t>2</a:t>
            </a:r>
            <a:r>
              <a:rPr lang="en-AU" sz="2000" dirty="0"/>
              <a:t> combined</a:t>
            </a:r>
          </a:p>
          <a:p>
            <a:endParaRPr lang="en-AU" sz="2000" dirty="0"/>
          </a:p>
          <a:p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467544" y="908720"/>
            <a:ext cx="3168352" cy="129614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249211" y="2460325"/>
            <a:ext cx="882047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Now add all the sides together.</a:t>
            </a:r>
          </a:p>
          <a:p>
            <a:r>
              <a:rPr lang="en-AU" sz="3200" dirty="0"/>
              <a:t>	Sides 1 and 2 area 70cm</a:t>
            </a:r>
            <a:r>
              <a:rPr lang="en-AU" sz="3200" baseline="30000" dirty="0"/>
              <a:t>2</a:t>
            </a:r>
            <a:r>
              <a:rPr lang="en-AU" sz="3200" dirty="0"/>
              <a:t> combined</a:t>
            </a:r>
          </a:p>
          <a:p>
            <a:r>
              <a:rPr lang="en-AU" sz="3200" dirty="0"/>
              <a:t>	Sides 3 and 4 area 150cm</a:t>
            </a:r>
            <a:r>
              <a:rPr lang="en-AU" sz="3200" baseline="30000" dirty="0"/>
              <a:t>2</a:t>
            </a:r>
            <a:r>
              <a:rPr lang="en-AU" sz="3200" dirty="0"/>
              <a:t> combined</a:t>
            </a:r>
          </a:p>
          <a:p>
            <a:r>
              <a:rPr lang="en-AU" sz="3200" dirty="0"/>
              <a:t>	Sides 5 and 6 area 210cm</a:t>
            </a:r>
            <a:r>
              <a:rPr lang="en-AU" sz="3200" baseline="30000" dirty="0"/>
              <a:t>2</a:t>
            </a:r>
            <a:r>
              <a:rPr lang="en-AU" sz="3200" dirty="0"/>
              <a:t> combined</a:t>
            </a:r>
          </a:p>
          <a:p>
            <a:endParaRPr lang="en-AU" sz="3200" dirty="0"/>
          </a:p>
          <a:p>
            <a:r>
              <a:rPr lang="en-AU" sz="3200" dirty="0"/>
              <a:t>TSA = 70 + 150 + 210 = 430cm</a:t>
            </a:r>
            <a:r>
              <a:rPr lang="en-AU" sz="3200" baseline="30000" dirty="0"/>
              <a:t>2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3769674" y="1727899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91" y="982418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 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2058" y="2176984"/>
            <a:ext cx="87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467544" y="390636"/>
            <a:ext cx="3451869" cy="504056"/>
          </a:xfrm>
          <a:prstGeom prst="parallelogram">
            <a:avLst>
              <a:gd name="adj" fmla="val 5696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072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sosceles Triangle 9"/>
          <p:cNvSpPr/>
          <p:nvPr/>
        </p:nvSpPr>
        <p:spPr>
          <a:xfrm rot="20230340">
            <a:off x="90500" y="630183"/>
            <a:ext cx="1584176" cy="2088232"/>
          </a:xfrm>
          <a:prstGeom prst="triangle">
            <a:avLst>
              <a:gd name="adj" fmla="val 9770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Isosceles Triangle 15"/>
          <p:cNvSpPr/>
          <p:nvPr/>
        </p:nvSpPr>
        <p:spPr>
          <a:xfrm rot="20230340">
            <a:off x="2354288" y="630184"/>
            <a:ext cx="1584176" cy="2088232"/>
          </a:xfrm>
          <a:prstGeom prst="triangle">
            <a:avLst>
              <a:gd name="adj" fmla="val 9770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Parallelogram 11"/>
          <p:cNvSpPr/>
          <p:nvPr/>
        </p:nvSpPr>
        <p:spPr>
          <a:xfrm>
            <a:off x="539552" y="421927"/>
            <a:ext cx="2904254" cy="2504744"/>
          </a:xfrm>
          <a:prstGeom prst="parallelogram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Parallelogram 16"/>
          <p:cNvSpPr/>
          <p:nvPr/>
        </p:nvSpPr>
        <p:spPr>
          <a:xfrm flipV="1">
            <a:off x="1173556" y="404661"/>
            <a:ext cx="3151817" cy="1944218"/>
          </a:xfrm>
          <a:prstGeom prst="parallelogram">
            <a:avLst>
              <a:gd name="adj" fmla="val 4517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Parallelogram 17"/>
          <p:cNvSpPr/>
          <p:nvPr/>
        </p:nvSpPr>
        <p:spPr>
          <a:xfrm>
            <a:off x="683568" y="2348880"/>
            <a:ext cx="3597932" cy="577792"/>
          </a:xfrm>
          <a:prstGeom prst="parallelogram">
            <a:avLst>
              <a:gd name="adj" fmla="val 23619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/>
          <p:cNvSpPr txBox="1"/>
          <p:nvPr/>
        </p:nvSpPr>
        <p:spPr>
          <a:xfrm>
            <a:off x="4716016" y="404661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start, find the area of the 2 triangles</a:t>
            </a:r>
          </a:p>
          <a:p>
            <a:pPr lvl="1"/>
            <a:r>
              <a:rPr lang="en-AU" dirty="0"/>
              <a:t>triangles are 24m</a:t>
            </a:r>
            <a:r>
              <a:rPr lang="en-AU" baseline="30000" dirty="0"/>
              <a:t>2</a:t>
            </a:r>
            <a:r>
              <a:rPr lang="en-AU" dirty="0"/>
              <a:t> combined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799942" y="3356992"/>
                <a:ext cx="7948522" cy="3463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area of the 2 triangles</a:t>
                </a:r>
              </a:p>
              <a:p>
                <a:r>
                  <a:rPr lang="en-AU" sz="2800" dirty="0"/>
                  <a:t>	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𝑎𝑟𝑒𝑎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𝐵𝑎𝑠𝑒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𝐻𝑒𝑖𝑔h𝑡</m:t>
                    </m:r>
                  </m:oMath>
                </a14:m>
                <a:endParaRPr lang="en-AU" sz="2800" dirty="0"/>
              </a:p>
              <a:p>
                <a:r>
                  <a:rPr lang="en-AU" sz="2800" dirty="0"/>
                  <a:t>	          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r>
                  <a:rPr lang="en-AU" sz="2800" dirty="0"/>
                  <a:t>                      =  12m</a:t>
                </a:r>
                <a:r>
                  <a:rPr lang="en-AU" sz="2800" baseline="30000" dirty="0"/>
                  <a:t>2</a:t>
                </a:r>
                <a:endParaRPr lang="en-AU" sz="2800" dirty="0"/>
              </a:p>
              <a:p>
                <a:r>
                  <a:rPr lang="en-AU" sz="2800" dirty="0"/>
                  <a:t>Therefore added together, both triangles are 24m</a:t>
                </a:r>
                <a:r>
                  <a:rPr lang="en-AU" sz="2800" baseline="30000" dirty="0"/>
                  <a:t>2</a:t>
                </a:r>
                <a:r>
                  <a:rPr lang="en-AU" sz="2800" dirty="0"/>
                  <a:t> combined</a:t>
                </a:r>
              </a:p>
              <a:p>
                <a:endParaRPr lang="en-AU" sz="28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42" y="3356992"/>
                <a:ext cx="7948522" cy="3463512"/>
              </a:xfrm>
              <a:prstGeom prst="rect">
                <a:avLst/>
              </a:prstGeom>
              <a:blipFill>
                <a:blip r:embed="rId2"/>
                <a:stretch>
                  <a:fillRect l="-1534" t="-17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2102056" y="84250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0647" y="157972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6m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443806" y="421927"/>
            <a:ext cx="0" cy="22556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60304" y="264529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4m</a:t>
            </a:r>
          </a:p>
        </p:txBody>
      </p:sp>
      <p:sp>
        <p:nvSpPr>
          <p:cNvPr id="32" name="TextBox 31"/>
          <p:cNvSpPr txBox="1"/>
          <p:nvPr/>
        </p:nvSpPr>
        <p:spPr>
          <a:xfrm rot="3610663">
            <a:off x="3653358" y="136507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7m</a:t>
            </a:r>
          </a:p>
        </p:txBody>
      </p:sp>
      <p:sp>
        <p:nvSpPr>
          <p:cNvPr id="33" name="TextBox 32"/>
          <p:cNvSpPr txBox="1"/>
          <p:nvPr/>
        </p:nvSpPr>
        <p:spPr>
          <a:xfrm rot="17240426">
            <a:off x="2580196" y="115345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7m</a:t>
            </a:r>
          </a:p>
        </p:txBody>
      </p:sp>
    </p:spTree>
    <p:extLst>
      <p:ext uri="{BB962C8B-B14F-4D97-AF65-F5344CB8AC3E}">
        <p14:creationId xmlns:p14="http://schemas.microsoft.com/office/powerpoint/2010/main" val="376198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5B3D7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5B3D7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rallelogram 16"/>
          <p:cNvSpPr/>
          <p:nvPr/>
        </p:nvSpPr>
        <p:spPr>
          <a:xfrm flipV="1">
            <a:off x="1173556" y="404661"/>
            <a:ext cx="3151817" cy="1944218"/>
          </a:xfrm>
          <a:prstGeom prst="parallelogram">
            <a:avLst>
              <a:gd name="adj" fmla="val 4517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Isosceles Triangle 9"/>
          <p:cNvSpPr/>
          <p:nvPr/>
        </p:nvSpPr>
        <p:spPr>
          <a:xfrm rot="20230340">
            <a:off x="90500" y="630183"/>
            <a:ext cx="1584176" cy="2088232"/>
          </a:xfrm>
          <a:prstGeom prst="triangle">
            <a:avLst>
              <a:gd name="adj" fmla="val 9770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Isosceles Triangle 15"/>
          <p:cNvSpPr/>
          <p:nvPr/>
        </p:nvSpPr>
        <p:spPr>
          <a:xfrm rot="20230340">
            <a:off x="2354288" y="630184"/>
            <a:ext cx="1584176" cy="2088232"/>
          </a:xfrm>
          <a:prstGeom prst="triangle">
            <a:avLst>
              <a:gd name="adj" fmla="val 9770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Parallelogram 11"/>
          <p:cNvSpPr/>
          <p:nvPr/>
        </p:nvSpPr>
        <p:spPr>
          <a:xfrm>
            <a:off x="539552" y="421927"/>
            <a:ext cx="2904254" cy="2504744"/>
          </a:xfrm>
          <a:prstGeom prst="parallelogram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Parallelogram 17"/>
          <p:cNvSpPr/>
          <p:nvPr/>
        </p:nvSpPr>
        <p:spPr>
          <a:xfrm>
            <a:off x="683568" y="2348880"/>
            <a:ext cx="3597932" cy="577792"/>
          </a:xfrm>
          <a:prstGeom prst="parallelogram">
            <a:avLst>
              <a:gd name="adj" fmla="val 23619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/>
          <p:cNvSpPr txBox="1"/>
          <p:nvPr/>
        </p:nvSpPr>
        <p:spPr>
          <a:xfrm>
            <a:off x="4716016" y="404661"/>
            <a:ext cx="38884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start, find the area of the 2 triangles</a:t>
            </a:r>
          </a:p>
          <a:p>
            <a:pPr lvl="1"/>
            <a:r>
              <a:rPr lang="en-AU" dirty="0"/>
              <a:t>triangles are 24m</a:t>
            </a:r>
            <a:r>
              <a:rPr lang="en-AU" baseline="30000" dirty="0"/>
              <a:t>2</a:t>
            </a:r>
            <a:r>
              <a:rPr lang="en-AU" dirty="0"/>
              <a:t> combined</a:t>
            </a:r>
          </a:p>
          <a:p>
            <a:endParaRPr lang="en-AU" dirty="0"/>
          </a:p>
          <a:p>
            <a:r>
              <a:rPr lang="en-AU" dirty="0"/>
              <a:t>Now find the area of the 3 rectangles</a:t>
            </a:r>
          </a:p>
          <a:p>
            <a:pPr lvl="1"/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799942" y="3356992"/>
                <a:ext cx="794852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area of the Rectangle 1</a:t>
                </a:r>
              </a:p>
              <a:p>
                <a:r>
                  <a:rPr lang="en-AU" sz="2800" dirty="0"/>
                  <a:t>	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𝑎𝑟𝑒𝑎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𝑤𝑖𝑑𝑡h</m:t>
                    </m:r>
                  </m:oMath>
                </a14:m>
                <a:endParaRPr lang="en-AU" sz="2800" dirty="0"/>
              </a:p>
              <a:p>
                <a:r>
                  <a:rPr lang="en-AU" sz="2800" dirty="0"/>
                  <a:t>	           =   </a:t>
                </a:r>
                <a14:m>
                  <m:oMath xmlns:m="http://schemas.openxmlformats.org/officeDocument/2006/math">
                    <m:r>
                      <a:rPr lang="en-AU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r>
                  <a:rPr lang="en-AU" sz="2800" dirty="0"/>
                  <a:t>                      =  35 m</a:t>
                </a:r>
                <a:r>
                  <a:rPr lang="en-AU" sz="2800" baseline="30000" dirty="0"/>
                  <a:t>2</a:t>
                </a:r>
                <a:endParaRPr lang="en-AU" sz="2800" dirty="0"/>
              </a:p>
              <a:p>
                <a:endParaRPr lang="en-AU" sz="28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42" y="3356992"/>
                <a:ext cx="7948522" cy="2246769"/>
              </a:xfrm>
              <a:prstGeom prst="rect">
                <a:avLst/>
              </a:prstGeom>
              <a:blipFill>
                <a:blip r:embed="rId2"/>
                <a:stretch>
                  <a:fillRect l="-1534" t="-27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2102056" y="84250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0647" y="157972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6m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443806" y="421927"/>
            <a:ext cx="0" cy="22556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60304" y="264529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4m</a:t>
            </a:r>
          </a:p>
        </p:txBody>
      </p:sp>
      <p:sp>
        <p:nvSpPr>
          <p:cNvPr id="32" name="TextBox 31"/>
          <p:cNvSpPr txBox="1"/>
          <p:nvPr/>
        </p:nvSpPr>
        <p:spPr>
          <a:xfrm rot="3610663">
            <a:off x="3653358" y="136507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7m</a:t>
            </a:r>
          </a:p>
        </p:txBody>
      </p:sp>
      <p:sp>
        <p:nvSpPr>
          <p:cNvPr id="33" name="TextBox 32"/>
          <p:cNvSpPr txBox="1"/>
          <p:nvPr/>
        </p:nvSpPr>
        <p:spPr>
          <a:xfrm rot="17240426">
            <a:off x="2580196" y="115345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7m</a:t>
            </a:r>
          </a:p>
        </p:txBody>
      </p:sp>
    </p:spTree>
    <p:extLst>
      <p:ext uri="{BB962C8B-B14F-4D97-AF65-F5344CB8AC3E}">
        <p14:creationId xmlns:p14="http://schemas.microsoft.com/office/powerpoint/2010/main" val="246472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CDDC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arallelogram 17"/>
          <p:cNvSpPr/>
          <p:nvPr/>
        </p:nvSpPr>
        <p:spPr>
          <a:xfrm>
            <a:off x="683568" y="2348880"/>
            <a:ext cx="3597932" cy="577792"/>
          </a:xfrm>
          <a:prstGeom prst="parallelogram">
            <a:avLst>
              <a:gd name="adj" fmla="val 23619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Parallelogram 16"/>
          <p:cNvSpPr/>
          <p:nvPr/>
        </p:nvSpPr>
        <p:spPr>
          <a:xfrm flipV="1">
            <a:off x="1173556" y="404661"/>
            <a:ext cx="3151817" cy="1944218"/>
          </a:xfrm>
          <a:prstGeom prst="parallelogram">
            <a:avLst>
              <a:gd name="adj" fmla="val 4517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Isosceles Triangle 9"/>
          <p:cNvSpPr/>
          <p:nvPr/>
        </p:nvSpPr>
        <p:spPr>
          <a:xfrm rot="20230340">
            <a:off x="90500" y="630183"/>
            <a:ext cx="1584176" cy="2088232"/>
          </a:xfrm>
          <a:prstGeom prst="triangle">
            <a:avLst>
              <a:gd name="adj" fmla="val 9770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Isosceles Triangle 15"/>
          <p:cNvSpPr/>
          <p:nvPr/>
        </p:nvSpPr>
        <p:spPr>
          <a:xfrm rot="20230340">
            <a:off x="2354288" y="630184"/>
            <a:ext cx="1584176" cy="2088232"/>
          </a:xfrm>
          <a:prstGeom prst="triangle">
            <a:avLst>
              <a:gd name="adj" fmla="val 9770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Parallelogram 11"/>
          <p:cNvSpPr/>
          <p:nvPr/>
        </p:nvSpPr>
        <p:spPr>
          <a:xfrm>
            <a:off x="539552" y="421927"/>
            <a:ext cx="2904254" cy="2504744"/>
          </a:xfrm>
          <a:prstGeom prst="parallelogram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/>
          <p:cNvSpPr txBox="1"/>
          <p:nvPr/>
        </p:nvSpPr>
        <p:spPr>
          <a:xfrm>
            <a:off x="4716016" y="404661"/>
            <a:ext cx="38884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start, find the area of the 2 triangles</a:t>
            </a:r>
          </a:p>
          <a:p>
            <a:pPr lvl="1"/>
            <a:r>
              <a:rPr lang="en-AU" dirty="0"/>
              <a:t>triangles are 24m</a:t>
            </a:r>
            <a:r>
              <a:rPr lang="en-AU" baseline="30000" dirty="0"/>
              <a:t>2</a:t>
            </a:r>
            <a:r>
              <a:rPr lang="en-AU" dirty="0"/>
              <a:t> combined</a:t>
            </a:r>
          </a:p>
          <a:p>
            <a:endParaRPr lang="en-AU" dirty="0"/>
          </a:p>
          <a:p>
            <a:r>
              <a:rPr lang="en-AU" dirty="0"/>
              <a:t>Now find the area of the 3 rectangles</a:t>
            </a:r>
          </a:p>
          <a:p>
            <a:r>
              <a:rPr lang="en-AU" dirty="0"/>
              <a:t>	Rectangle 1 = 35m</a:t>
            </a:r>
            <a:r>
              <a:rPr lang="en-AU" baseline="30000" dirty="0"/>
              <a:t>2</a:t>
            </a:r>
            <a:endParaRPr lang="en-AU" dirty="0"/>
          </a:p>
          <a:p>
            <a:r>
              <a:rPr lang="en-AU" dirty="0"/>
              <a:t>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799942" y="3356992"/>
                <a:ext cx="794852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area of the Rectangle 2</a:t>
                </a:r>
              </a:p>
              <a:p>
                <a:r>
                  <a:rPr lang="en-AU" sz="2800" dirty="0"/>
                  <a:t>	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𝑎𝑟𝑒𝑎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𝑤𝑖𝑑𝑡h</m:t>
                    </m:r>
                  </m:oMath>
                </a14:m>
                <a:endParaRPr lang="en-AU" sz="2800" dirty="0"/>
              </a:p>
              <a:p>
                <a:r>
                  <a:rPr lang="en-AU" sz="2800" dirty="0"/>
                  <a:t>	           =   </a:t>
                </a:r>
                <a14:m>
                  <m:oMath xmlns:m="http://schemas.openxmlformats.org/officeDocument/2006/math">
                    <m:r>
                      <a:rPr lang="en-AU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r>
                  <a:rPr lang="en-AU" sz="2800" dirty="0"/>
                  <a:t>                      =  20 m</a:t>
                </a:r>
                <a:r>
                  <a:rPr lang="en-AU" sz="2800" baseline="30000" dirty="0"/>
                  <a:t>2</a:t>
                </a:r>
                <a:endParaRPr lang="en-AU" sz="2800" dirty="0"/>
              </a:p>
              <a:p>
                <a:endParaRPr lang="en-AU" sz="28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42" y="3356992"/>
                <a:ext cx="7948522" cy="2246769"/>
              </a:xfrm>
              <a:prstGeom prst="rect">
                <a:avLst/>
              </a:prstGeom>
              <a:blipFill>
                <a:blip r:embed="rId2"/>
                <a:stretch>
                  <a:fillRect l="-1534" t="-27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2102056" y="84250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0647" y="157972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6m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443806" y="421927"/>
            <a:ext cx="0" cy="22556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60304" y="264529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4m</a:t>
            </a:r>
          </a:p>
        </p:txBody>
      </p:sp>
      <p:sp>
        <p:nvSpPr>
          <p:cNvPr id="32" name="TextBox 31"/>
          <p:cNvSpPr txBox="1"/>
          <p:nvPr/>
        </p:nvSpPr>
        <p:spPr>
          <a:xfrm rot="3610663">
            <a:off x="3653358" y="136507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7m</a:t>
            </a:r>
          </a:p>
        </p:txBody>
      </p:sp>
      <p:sp>
        <p:nvSpPr>
          <p:cNvPr id="33" name="TextBox 32"/>
          <p:cNvSpPr txBox="1"/>
          <p:nvPr/>
        </p:nvSpPr>
        <p:spPr>
          <a:xfrm rot="17240426">
            <a:off x="2580196" y="115345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7m</a:t>
            </a:r>
          </a:p>
        </p:txBody>
      </p:sp>
    </p:spTree>
    <p:extLst>
      <p:ext uri="{BB962C8B-B14F-4D97-AF65-F5344CB8AC3E}">
        <p14:creationId xmlns:p14="http://schemas.microsoft.com/office/powerpoint/2010/main" val="388956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arallelogram 17"/>
          <p:cNvSpPr/>
          <p:nvPr/>
        </p:nvSpPr>
        <p:spPr>
          <a:xfrm>
            <a:off x="683568" y="2348880"/>
            <a:ext cx="3597932" cy="577792"/>
          </a:xfrm>
          <a:prstGeom prst="parallelogram">
            <a:avLst>
              <a:gd name="adj" fmla="val 23619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Parallelogram 16"/>
          <p:cNvSpPr/>
          <p:nvPr/>
        </p:nvSpPr>
        <p:spPr>
          <a:xfrm flipV="1">
            <a:off x="1173556" y="404661"/>
            <a:ext cx="3151817" cy="1944218"/>
          </a:xfrm>
          <a:prstGeom prst="parallelogram">
            <a:avLst>
              <a:gd name="adj" fmla="val 4517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Isosceles Triangle 9"/>
          <p:cNvSpPr/>
          <p:nvPr/>
        </p:nvSpPr>
        <p:spPr>
          <a:xfrm rot="20230340">
            <a:off x="90500" y="630183"/>
            <a:ext cx="1584176" cy="2088232"/>
          </a:xfrm>
          <a:prstGeom prst="triangle">
            <a:avLst>
              <a:gd name="adj" fmla="val 9770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Isosceles Triangle 15"/>
          <p:cNvSpPr/>
          <p:nvPr/>
        </p:nvSpPr>
        <p:spPr>
          <a:xfrm rot="20230340">
            <a:off x="2354288" y="630184"/>
            <a:ext cx="1584176" cy="2088232"/>
          </a:xfrm>
          <a:prstGeom prst="triangle">
            <a:avLst>
              <a:gd name="adj" fmla="val 9770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Parallelogram 11"/>
          <p:cNvSpPr/>
          <p:nvPr/>
        </p:nvSpPr>
        <p:spPr>
          <a:xfrm>
            <a:off x="539552" y="421927"/>
            <a:ext cx="2904254" cy="2504744"/>
          </a:xfrm>
          <a:prstGeom prst="parallelogram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/>
          <p:cNvSpPr txBox="1"/>
          <p:nvPr/>
        </p:nvSpPr>
        <p:spPr>
          <a:xfrm>
            <a:off x="4716016" y="404661"/>
            <a:ext cx="38884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start, find the area of the 2 triangles</a:t>
            </a:r>
          </a:p>
          <a:p>
            <a:pPr lvl="1"/>
            <a:r>
              <a:rPr lang="en-AU" dirty="0"/>
              <a:t>triangles are 24m</a:t>
            </a:r>
            <a:r>
              <a:rPr lang="en-AU" baseline="30000" dirty="0"/>
              <a:t>2</a:t>
            </a:r>
            <a:r>
              <a:rPr lang="en-AU" dirty="0"/>
              <a:t> combined</a:t>
            </a:r>
          </a:p>
          <a:p>
            <a:endParaRPr lang="en-AU" dirty="0"/>
          </a:p>
          <a:p>
            <a:r>
              <a:rPr lang="en-AU" dirty="0"/>
              <a:t>Now find the area of the 3 rectangles</a:t>
            </a:r>
          </a:p>
          <a:p>
            <a:r>
              <a:rPr lang="en-AU" dirty="0"/>
              <a:t>	Rectangle 1 = 35m</a:t>
            </a:r>
            <a:r>
              <a:rPr lang="en-AU" baseline="30000" dirty="0"/>
              <a:t>2</a:t>
            </a:r>
            <a:endParaRPr lang="en-AU" dirty="0"/>
          </a:p>
          <a:p>
            <a:r>
              <a:rPr lang="en-AU" dirty="0"/>
              <a:t>	Rectangle 2 = 20m</a:t>
            </a:r>
            <a:r>
              <a:rPr lang="en-AU" baseline="30000" dirty="0"/>
              <a:t>2</a:t>
            </a:r>
            <a:endParaRPr lang="en-AU" dirty="0"/>
          </a:p>
          <a:p>
            <a:r>
              <a:rPr lang="en-AU" dirty="0"/>
              <a:t>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799942" y="3356992"/>
                <a:ext cx="794852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area of the Rectangle 3</a:t>
                </a:r>
              </a:p>
              <a:p>
                <a:r>
                  <a:rPr lang="en-AU" sz="2800" dirty="0"/>
                  <a:t>	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𝑎𝑟𝑒𝑎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𝑤𝑖𝑑𝑡h</m:t>
                    </m:r>
                  </m:oMath>
                </a14:m>
                <a:endParaRPr lang="en-AU" sz="2800" dirty="0"/>
              </a:p>
              <a:p>
                <a:r>
                  <a:rPr lang="en-AU" sz="2800" dirty="0"/>
                  <a:t>	           =   </a:t>
                </a:r>
                <a14:m>
                  <m:oMath xmlns:m="http://schemas.openxmlformats.org/officeDocument/2006/math">
                    <m:r>
                      <a:rPr lang="en-AU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r>
                  <a:rPr lang="en-AU" sz="2800" dirty="0"/>
                  <a:t>                      =  35 m</a:t>
                </a:r>
                <a:r>
                  <a:rPr lang="en-AU" sz="2800" baseline="30000" dirty="0"/>
                  <a:t>2</a:t>
                </a:r>
                <a:endParaRPr lang="en-AU" sz="2800" dirty="0"/>
              </a:p>
              <a:p>
                <a:endParaRPr lang="en-AU" sz="28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42" y="3356992"/>
                <a:ext cx="7948522" cy="2246769"/>
              </a:xfrm>
              <a:prstGeom prst="rect">
                <a:avLst/>
              </a:prstGeom>
              <a:blipFill>
                <a:blip r:embed="rId2"/>
                <a:stretch>
                  <a:fillRect l="-1534" t="-27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2102056" y="84250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0647" y="157972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6m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443806" y="421927"/>
            <a:ext cx="0" cy="22556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60304" y="264529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4m</a:t>
            </a:r>
          </a:p>
        </p:txBody>
      </p:sp>
      <p:sp>
        <p:nvSpPr>
          <p:cNvPr id="32" name="TextBox 31"/>
          <p:cNvSpPr txBox="1"/>
          <p:nvPr/>
        </p:nvSpPr>
        <p:spPr>
          <a:xfrm rot="3610663">
            <a:off x="3653358" y="136507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7m</a:t>
            </a:r>
          </a:p>
        </p:txBody>
      </p:sp>
      <p:sp>
        <p:nvSpPr>
          <p:cNvPr id="33" name="TextBox 32"/>
          <p:cNvSpPr txBox="1"/>
          <p:nvPr/>
        </p:nvSpPr>
        <p:spPr>
          <a:xfrm rot="17240426">
            <a:off x="2580196" y="115345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7m</a:t>
            </a:r>
          </a:p>
        </p:txBody>
      </p:sp>
    </p:spTree>
    <p:extLst>
      <p:ext uri="{BB962C8B-B14F-4D97-AF65-F5344CB8AC3E}">
        <p14:creationId xmlns:p14="http://schemas.microsoft.com/office/powerpoint/2010/main" val="374953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/>
          <p:cNvSpPr/>
          <p:nvPr/>
        </p:nvSpPr>
        <p:spPr>
          <a:xfrm>
            <a:off x="755576" y="548680"/>
            <a:ext cx="2304256" cy="2736304"/>
          </a:xfrm>
          <a:prstGeom prst="can">
            <a:avLst>
              <a:gd name="adj" fmla="val 3354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2051720" y="82742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10mm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208721" y="174145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12mm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835696" y="908720"/>
            <a:ext cx="12241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563888" y="548680"/>
                <a:ext cx="489654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For a cylinder, use the formula.</a:t>
                </a:r>
              </a:p>
              <a:p>
                <a:endParaRPr lang="en-AU" sz="2800" dirty="0"/>
              </a:p>
              <a:p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AU" sz="2800" dirty="0"/>
                  <a:t> is approximately 3.14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548680"/>
                <a:ext cx="4896544" cy="1384995"/>
              </a:xfrm>
              <a:prstGeom prst="rect">
                <a:avLst/>
              </a:prstGeom>
              <a:blipFill>
                <a:blip r:embed="rId2"/>
                <a:stretch>
                  <a:fillRect l="-2615" t="-3965" b="-118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20098" y="3284984"/>
                <a:ext cx="8616398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sz="2800" dirty="0"/>
              </a:p>
              <a:p>
                <a:r>
                  <a:rPr lang="en-AU" sz="2800" dirty="0"/>
                  <a:t>TSA = 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2×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𝑟𝑎𝑑𝑖𝑢𝑠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h𝑒𝑖𝑔h𝑡</m:t>
                    </m:r>
                  </m:oMath>
                </a14:m>
                <a:endParaRPr lang="en-AU" sz="2800" dirty="0"/>
              </a:p>
              <a:p>
                <a:r>
                  <a:rPr lang="en-AU" sz="2800" dirty="0"/>
                  <a:t>       = 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×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</m:oMath>
                </a14:m>
                <a:endParaRPr lang="en-AU" sz="2800" dirty="0"/>
              </a:p>
              <a:p>
                <a:r>
                  <a:rPr lang="en-AU" sz="2800" dirty="0"/>
                  <a:t>       = </a:t>
                </a:r>
                <a14:m>
                  <m:oMath xmlns:m="http://schemas.openxmlformats.org/officeDocument/2006/math"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3.14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3.14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</m:oMath>
                </a14:m>
                <a:endParaRPr lang="en-AU" sz="2800" dirty="0"/>
              </a:p>
              <a:p>
                <a:r>
                  <a:rPr lang="en-AU" sz="2800" dirty="0"/>
                  <a:t>       = 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628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753.6</m:t>
                    </m:r>
                  </m:oMath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r>
                  <a:rPr lang="en-AU" sz="2800" dirty="0"/>
                  <a:t>       =  1381.6mm</a:t>
                </a:r>
                <a:r>
                  <a:rPr lang="en-AU" sz="2800" baseline="30000" dirty="0"/>
                  <a:t>2</a:t>
                </a:r>
                <a:endParaRPr lang="en-AU" sz="2800" dirty="0"/>
              </a:p>
              <a:p>
                <a:endParaRPr lang="en-AU" sz="2800" dirty="0"/>
              </a:p>
              <a:p>
                <a:endParaRPr lang="en-AU" sz="2800" dirty="0"/>
              </a:p>
              <a:p>
                <a:endParaRPr lang="en-AU" sz="28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8" y="3284984"/>
                <a:ext cx="8616398" cy="3970318"/>
              </a:xfrm>
              <a:prstGeom prst="rect">
                <a:avLst/>
              </a:prstGeom>
              <a:blipFill>
                <a:blip r:embed="rId3"/>
                <a:stretch>
                  <a:fillRect l="-14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25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/>
          <p:cNvSpPr/>
          <p:nvPr/>
        </p:nvSpPr>
        <p:spPr>
          <a:xfrm>
            <a:off x="4714125" y="5070371"/>
            <a:ext cx="897260" cy="61537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315026" y="4209810"/>
            <a:ext cx="7021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surface area of composite shapes you need to break the shapes down into shapes you can work with.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88640"/>
            <a:ext cx="6923149" cy="3932572"/>
          </a:xfrm>
          <a:prstGeom prst="rect">
            <a:avLst/>
          </a:prstGeom>
        </p:spPr>
      </p:pic>
      <p:sp>
        <p:nvSpPr>
          <p:cNvPr id="6" name="Pentagon 5"/>
          <p:cNvSpPr/>
          <p:nvPr/>
        </p:nvSpPr>
        <p:spPr>
          <a:xfrm rot="16200000">
            <a:off x="1869067" y="5226575"/>
            <a:ext cx="1377863" cy="814191"/>
          </a:xfrm>
          <a:prstGeom prst="homePlat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Pentagon 2"/>
          <p:cNvSpPr/>
          <p:nvPr/>
        </p:nvSpPr>
        <p:spPr>
          <a:xfrm rot="16200000">
            <a:off x="1284088" y="5534706"/>
            <a:ext cx="1377863" cy="814191"/>
          </a:xfrm>
          <a:prstGeom prst="homePlat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" name="Straight Connector 4"/>
          <p:cNvCxnSpPr>
            <a:stCxn id="3" idx="3"/>
            <a:endCxn id="6" idx="3"/>
          </p:cNvCxnSpPr>
          <p:nvPr/>
        </p:nvCxnSpPr>
        <p:spPr>
          <a:xfrm flipV="1">
            <a:off x="1973020" y="4944739"/>
            <a:ext cx="584979" cy="308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2363414" y="5347659"/>
            <a:ext cx="584979" cy="308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380116" y="6322602"/>
            <a:ext cx="584979" cy="308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1562794" y="5374305"/>
            <a:ext cx="584979" cy="308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1591589" y="6322602"/>
            <a:ext cx="584979" cy="308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13096" y="5098804"/>
            <a:ext cx="9651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=</a:t>
            </a:r>
          </a:p>
        </p:txBody>
      </p:sp>
      <p:sp>
        <p:nvSpPr>
          <p:cNvPr id="14" name="Cube 13"/>
          <p:cNvSpPr/>
          <p:nvPr/>
        </p:nvSpPr>
        <p:spPr>
          <a:xfrm>
            <a:off x="6423162" y="4894914"/>
            <a:ext cx="1052186" cy="1425530"/>
          </a:xfrm>
          <a:prstGeom prst="cube">
            <a:avLst>
              <a:gd name="adj" fmla="val 34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Isosceles Triangle 14"/>
          <p:cNvSpPr/>
          <p:nvPr/>
        </p:nvSpPr>
        <p:spPr>
          <a:xfrm>
            <a:off x="4156780" y="5412750"/>
            <a:ext cx="897260" cy="61537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9" name="Straight Connector 18"/>
          <p:cNvCxnSpPr>
            <a:stCxn id="15" idx="0"/>
            <a:endCxn id="17" idx="0"/>
          </p:cNvCxnSpPr>
          <p:nvPr/>
        </p:nvCxnSpPr>
        <p:spPr>
          <a:xfrm flipV="1">
            <a:off x="4605410" y="5070371"/>
            <a:ext cx="557345" cy="3423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5054040" y="5677377"/>
            <a:ext cx="557345" cy="3423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4178265" y="5677378"/>
            <a:ext cx="557345" cy="3423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04832" y="5528370"/>
            <a:ext cx="9651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472016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5239</TotalTime>
  <Words>424</Words>
  <Application>Microsoft Office PowerPoint</Application>
  <PresentationFormat>On-screen Show (4:3)</PresentationFormat>
  <Paragraphs>151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E4007446</cp:lastModifiedBy>
  <cp:revision>46</cp:revision>
  <dcterms:created xsi:type="dcterms:W3CDTF">2014-05-14T02:58:57Z</dcterms:created>
  <dcterms:modified xsi:type="dcterms:W3CDTF">2017-04-03T15:30:29Z</dcterms:modified>
</cp:coreProperties>
</file>
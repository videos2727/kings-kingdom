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75" r:id="rId3"/>
    <p:sldId id="276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1" r:id="rId16"/>
    <p:sldId id="270" r:id="rId17"/>
    <p:sldId id="272" r:id="rId18"/>
    <p:sldId id="273" r:id="rId19"/>
    <p:sldId id="274" r:id="rId20"/>
  </p:sldIdLst>
  <p:sldSz cx="9144000" cy="5715000" type="screen16x10"/>
  <p:notesSz cx="6858000" cy="9144000"/>
  <p:defaultTextStyle>
    <a:defPPr>
      <a:defRPr lang="en-US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7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4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60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60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5"/>
            <a:ext cx="1971675" cy="4843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304275"/>
            <a:ext cx="5800725" cy="4843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4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4/04/2017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210637" y="1915703"/>
            <a:ext cx="5687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are 5 index laws we have covered.  It is your turn to see if you can think of all 5 and write them down on the LHS of the page.</a:t>
            </a:r>
          </a:p>
        </p:txBody>
      </p:sp>
    </p:spTree>
    <p:extLst>
      <p:ext uri="{BB962C8B-B14F-4D97-AF65-F5344CB8AC3E}">
        <p14:creationId xmlns:p14="http://schemas.microsoft.com/office/powerpoint/2010/main" val="170407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210637" y="1915703"/>
            <a:ext cx="56873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There are 5 index laws we have covered.  It is your turn to see if you can think of all 5 and write them down on the LHS of the page.</a:t>
            </a:r>
          </a:p>
          <a:p>
            <a:endParaRPr lang="en-AU" dirty="0"/>
          </a:p>
          <a:p>
            <a:r>
              <a:rPr lang="en-AU" dirty="0"/>
              <a:t>Now let’s see how good your memory is…</a:t>
            </a:r>
          </a:p>
        </p:txBody>
      </p:sp>
    </p:spTree>
    <p:extLst>
      <p:ext uri="{BB962C8B-B14F-4D97-AF65-F5344CB8AC3E}">
        <p14:creationId xmlns:p14="http://schemas.microsoft.com/office/powerpoint/2010/main" val="1755980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</p:spTree>
    <p:extLst>
      <p:ext uri="{BB962C8B-B14F-4D97-AF65-F5344CB8AC3E}">
        <p14:creationId xmlns:p14="http://schemas.microsoft.com/office/powerpoint/2010/main" val="400030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16"/>
          <p:cNvSpPr/>
          <p:nvPr/>
        </p:nvSpPr>
        <p:spPr>
          <a:xfrm>
            <a:off x="5959151" y="1299474"/>
            <a:ext cx="2809210" cy="40445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</p:spTree>
    <p:extLst>
      <p:ext uri="{BB962C8B-B14F-4D97-AF65-F5344CB8AC3E}">
        <p14:creationId xmlns:p14="http://schemas.microsoft.com/office/powerpoint/2010/main" val="37455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CustomShape 17"/>
          <p:cNvSpPr/>
          <p:nvPr/>
        </p:nvSpPr>
        <p:spPr>
          <a:xfrm>
            <a:off x="2258294" y="2150336"/>
            <a:ext cx="2816124" cy="442139"/>
          </a:xfrm>
          <a:prstGeom prst="rect">
            <a:avLst/>
          </a:prstGeom>
          <a:blipFill>
            <a:blip r:embed="rId3"/>
            <a:srcRect/>
            <a:stretch>
              <a:fillRect l="-4214" b="-164078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16"/>
          <p:cNvSpPr/>
          <p:nvPr/>
        </p:nvSpPr>
        <p:spPr>
          <a:xfrm>
            <a:off x="5959151" y="1299474"/>
            <a:ext cx="2809210" cy="4044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95" y="223691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2</a:t>
            </a:r>
          </a:p>
        </p:txBody>
      </p:sp>
    </p:spTree>
    <p:extLst>
      <p:ext uri="{BB962C8B-B14F-4D97-AF65-F5344CB8AC3E}">
        <p14:creationId xmlns:p14="http://schemas.microsoft.com/office/powerpoint/2010/main" val="416813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CustomShape 17"/>
          <p:cNvSpPr/>
          <p:nvPr/>
        </p:nvSpPr>
        <p:spPr>
          <a:xfrm>
            <a:off x="2258294" y="2150336"/>
            <a:ext cx="2816124" cy="442139"/>
          </a:xfrm>
          <a:prstGeom prst="rect">
            <a:avLst/>
          </a:prstGeom>
          <a:blipFill>
            <a:blip r:embed="rId3"/>
            <a:srcRect/>
            <a:stretch>
              <a:fillRect l="-4214" b="-164078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16"/>
          <p:cNvSpPr/>
          <p:nvPr/>
        </p:nvSpPr>
        <p:spPr>
          <a:xfrm>
            <a:off x="5959151" y="1299474"/>
            <a:ext cx="2809210" cy="4044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19"/>
          <p:cNvSpPr/>
          <p:nvPr/>
        </p:nvSpPr>
        <p:spPr>
          <a:xfrm>
            <a:off x="5851358" y="2150336"/>
            <a:ext cx="2698679" cy="40445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95" y="223691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2</a:t>
            </a:r>
          </a:p>
        </p:txBody>
      </p:sp>
    </p:spTree>
    <p:extLst>
      <p:ext uri="{BB962C8B-B14F-4D97-AF65-F5344CB8AC3E}">
        <p14:creationId xmlns:p14="http://schemas.microsoft.com/office/powerpoint/2010/main" val="214263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CustomShape 17"/>
          <p:cNvSpPr/>
          <p:nvPr/>
        </p:nvSpPr>
        <p:spPr>
          <a:xfrm>
            <a:off x="2258294" y="2150336"/>
            <a:ext cx="2816124" cy="442139"/>
          </a:xfrm>
          <a:prstGeom prst="rect">
            <a:avLst/>
          </a:prstGeom>
          <a:blipFill>
            <a:blip r:embed="rId3"/>
            <a:srcRect/>
            <a:stretch>
              <a:fillRect l="-4214" b="-164078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16"/>
          <p:cNvSpPr/>
          <p:nvPr/>
        </p:nvSpPr>
        <p:spPr>
          <a:xfrm>
            <a:off x="5959151" y="1299474"/>
            <a:ext cx="2809210" cy="4044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19"/>
          <p:cNvSpPr/>
          <p:nvPr/>
        </p:nvSpPr>
        <p:spPr>
          <a:xfrm>
            <a:off x="5851358" y="2150336"/>
            <a:ext cx="2698679" cy="40445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14"/>
          <p:cNvSpPr/>
          <p:nvPr/>
        </p:nvSpPr>
        <p:spPr>
          <a:xfrm>
            <a:off x="2340194" y="3083238"/>
            <a:ext cx="2131096" cy="49793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en-AU" sz="11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95" y="223691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823" y="3096373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3</a:t>
            </a:r>
          </a:p>
        </p:txBody>
      </p:sp>
    </p:spTree>
    <p:extLst>
      <p:ext uri="{BB962C8B-B14F-4D97-AF65-F5344CB8AC3E}">
        <p14:creationId xmlns:p14="http://schemas.microsoft.com/office/powerpoint/2010/main" val="945433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CustomShape 17"/>
          <p:cNvSpPr/>
          <p:nvPr/>
        </p:nvSpPr>
        <p:spPr>
          <a:xfrm>
            <a:off x="2258294" y="2150336"/>
            <a:ext cx="2816124" cy="442139"/>
          </a:xfrm>
          <a:prstGeom prst="rect">
            <a:avLst/>
          </a:prstGeom>
          <a:blipFill>
            <a:blip r:embed="rId3"/>
            <a:srcRect/>
            <a:stretch>
              <a:fillRect l="-4214" b="-164078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16"/>
          <p:cNvSpPr/>
          <p:nvPr/>
        </p:nvSpPr>
        <p:spPr>
          <a:xfrm>
            <a:off x="5959151" y="1299474"/>
            <a:ext cx="2809210" cy="4044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19"/>
          <p:cNvSpPr/>
          <p:nvPr/>
        </p:nvSpPr>
        <p:spPr>
          <a:xfrm>
            <a:off x="5851358" y="2150336"/>
            <a:ext cx="2698679" cy="40445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14"/>
          <p:cNvSpPr/>
          <p:nvPr/>
        </p:nvSpPr>
        <p:spPr>
          <a:xfrm>
            <a:off x="2340194" y="3083238"/>
            <a:ext cx="2131096" cy="49793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en-AU" sz="11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AU" sz="20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p>
                      </m:sSup>
                      <m:r>
                        <a:rPr lang="en-AU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AU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blipFill rotWithShape="0">
                <a:blip r:embed="rId7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95" y="223691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823" y="3096373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3</a:t>
            </a:r>
          </a:p>
        </p:txBody>
      </p:sp>
    </p:spTree>
    <p:extLst>
      <p:ext uri="{BB962C8B-B14F-4D97-AF65-F5344CB8AC3E}">
        <p14:creationId xmlns:p14="http://schemas.microsoft.com/office/powerpoint/2010/main" val="2863190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CustomShape 17"/>
          <p:cNvSpPr/>
          <p:nvPr/>
        </p:nvSpPr>
        <p:spPr>
          <a:xfrm>
            <a:off x="2258294" y="2150336"/>
            <a:ext cx="2816124" cy="442139"/>
          </a:xfrm>
          <a:prstGeom prst="rect">
            <a:avLst/>
          </a:prstGeom>
          <a:blipFill>
            <a:blip r:embed="rId3"/>
            <a:srcRect/>
            <a:stretch>
              <a:fillRect l="-4214" b="-164078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16"/>
          <p:cNvSpPr/>
          <p:nvPr/>
        </p:nvSpPr>
        <p:spPr>
          <a:xfrm>
            <a:off x="5959151" y="1299474"/>
            <a:ext cx="2809210" cy="4044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19"/>
          <p:cNvSpPr/>
          <p:nvPr/>
        </p:nvSpPr>
        <p:spPr>
          <a:xfrm>
            <a:off x="5851358" y="2150336"/>
            <a:ext cx="2698679" cy="40445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14"/>
          <p:cNvSpPr/>
          <p:nvPr/>
        </p:nvSpPr>
        <p:spPr>
          <a:xfrm>
            <a:off x="2340194" y="3083238"/>
            <a:ext cx="2131096" cy="49793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en-AU" sz="11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414480" y="3761923"/>
                <a:ext cx="1805828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480" y="3761923"/>
                <a:ext cx="1805828" cy="78624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AU" sz="20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p>
                      </m:sSup>
                      <m:r>
                        <a:rPr lang="en-AU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AU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95" y="223691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823" y="3096373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095" y="3910960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4</a:t>
            </a:r>
          </a:p>
        </p:txBody>
      </p:sp>
    </p:spTree>
    <p:extLst>
      <p:ext uri="{BB962C8B-B14F-4D97-AF65-F5344CB8AC3E}">
        <p14:creationId xmlns:p14="http://schemas.microsoft.com/office/powerpoint/2010/main" val="239526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CustomShape 17"/>
          <p:cNvSpPr/>
          <p:nvPr/>
        </p:nvSpPr>
        <p:spPr>
          <a:xfrm>
            <a:off x="2258294" y="2150336"/>
            <a:ext cx="2816124" cy="442139"/>
          </a:xfrm>
          <a:prstGeom prst="rect">
            <a:avLst/>
          </a:prstGeom>
          <a:blipFill>
            <a:blip r:embed="rId3"/>
            <a:srcRect/>
            <a:stretch>
              <a:fillRect l="-4214" b="-164078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16"/>
          <p:cNvSpPr/>
          <p:nvPr/>
        </p:nvSpPr>
        <p:spPr>
          <a:xfrm>
            <a:off x="5959151" y="1299474"/>
            <a:ext cx="2809210" cy="4044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19"/>
          <p:cNvSpPr/>
          <p:nvPr/>
        </p:nvSpPr>
        <p:spPr>
          <a:xfrm>
            <a:off x="5851358" y="2150336"/>
            <a:ext cx="2698679" cy="40445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14"/>
          <p:cNvSpPr/>
          <p:nvPr/>
        </p:nvSpPr>
        <p:spPr>
          <a:xfrm>
            <a:off x="2340194" y="3083238"/>
            <a:ext cx="2131096" cy="49793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en-AU" sz="11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414480" y="3761923"/>
                <a:ext cx="1805828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480" y="3761923"/>
                <a:ext cx="1805828" cy="78624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AU" sz="20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p>
                      </m:sSup>
                      <m:r>
                        <a:rPr lang="en-AU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AU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959151" y="3789260"/>
                <a:ext cx="1805828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151" y="3789260"/>
                <a:ext cx="1805828" cy="6127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95" y="223691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823" y="3096373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095" y="3910960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4</a:t>
            </a:r>
          </a:p>
        </p:txBody>
      </p:sp>
    </p:spTree>
    <p:extLst>
      <p:ext uri="{BB962C8B-B14F-4D97-AF65-F5344CB8AC3E}">
        <p14:creationId xmlns:p14="http://schemas.microsoft.com/office/powerpoint/2010/main" val="218105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CustomShape 17"/>
          <p:cNvSpPr/>
          <p:nvPr/>
        </p:nvSpPr>
        <p:spPr>
          <a:xfrm>
            <a:off x="2258294" y="2150336"/>
            <a:ext cx="2816124" cy="442139"/>
          </a:xfrm>
          <a:prstGeom prst="rect">
            <a:avLst/>
          </a:prstGeom>
          <a:blipFill>
            <a:blip r:embed="rId3"/>
            <a:srcRect/>
            <a:stretch>
              <a:fillRect l="-4214" b="-164078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16"/>
          <p:cNvSpPr/>
          <p:nvPr/>
        </p:nvSpPr>
        <p:spPr>
          <a:xfrm>
            <a:off x="5959151" y="1299474"/>
            <a:ext cx="2809210" cy="4044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19"/>
          <p:cNvSpPr/>
          <p:nvPr/>
        </p:nvSpPr>
        <p:spPr>
          <a:xfrm>
            <a:off x="5851358" y="2150336"/>
            <a:ext cx="2698679" cy="40445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14"/>
          <p:cNvSpPr/>
          <p:nvPr/>
        </p:nvSpPr>
        <p:spPr>
          <a:xfrm>
            <a:off x="2340194" y="3083238"/>
            <a:ext cx="2131096" cy="49793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en-AU" sz="11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414480" y="4821698"/>
                <a:ext cx="21849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480" y="4821698"/>
                <a:ext cx="2184916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414480" y="3761923"/>
                <a:ext cx="1805828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480" y="3761923"/>
                <a:ext cx="1805828" cy="78624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AU" sz="20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p>
                      </m:sSup>
                      <m:r>
                        <a:rPr lang="en-AU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AU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959151" y="3789260"/>
                <a:ext cx="1805828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151" y="3789260"/>
                <a:ext cx="1805828" cy="6127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95" y="223691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823" y="3096373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095" y="3910960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823" y="4778954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5</a:t>
            </a:r>
          </a:p>
        </p:txBody>
      </p:sp>
    </p:spTree>
    <p:extLst>
      <p:ext uri="{BB962C8B-B14F-4D97-AF65-F5344CB8AC3E}">
        <p14:creationId xmlns:p14="http://schemas.microsoft.com/office/powerpoint/2010/main" val="3929825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index laws?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303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Index law revision</a:t>
            </a:r>
            <a:endParaRPr lang="en-AU" sz="2400" dirty="0"/>
          </a:p>
        </p:txBody>
      </p:sp>
      <p:sp>
        <p:nvSpPr>
          <p:cNvPr id="14" name="CustomShape 14"/>
          <p:cNvSpPr/>
          <p:nvPr/>
        </p:nvSpPr>
        <p:spPr>
          <a:xfrm>
            <a:off x="2340194" y="1209339"/>
            <a:ext cx="2734224" cy="47585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CustomShape 17"/>
          <p:cNvSpPr/>
          <p:nvPr/>
        </p:nvSpPr>
        <p:spPr>
          <a:xfrm>
            <a:off x="2258294" y="2150336"/>
            <a:ext cx="2816124" cy="442139"/>
          </a:xfrm>
          <a:prstGeom prst="rect">
            <a:avLst/>
          </a:prstGeom>
          <a:blipFill>
            <a:blip r:embed="rId3"/>
            <a:srcRect/>
            <a:stretch>
              <a:fillRect l="-4214" b="-164078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CustomShape 16"/>
          <p:cNvSpPr/>
          <p:nvPr/>
        </p:nvSpPr>
        <p:spPr>
          <a:xfrm>
            <a:off x="5959151" y="1299474"/>
            <a:ext cx="2809210" cy="40445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CustomShape 19"/>
          <p:cNvSpPr/>
          <p:nvPr/>
        </p:nvSpPr>
        <p:spPr>
          <a:xfrm>
            <a:off x="5851358" y="2150336"/>
            <a:ext cx="2698679" cy="40445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CustomShape 14"/>
          <p:cNvSpPr/>
          <p:nvPr/>
        </p:nvSpPr>
        <p:spPr>
          <a:xfrm>
            <a:off x="2340194" y="3083238"/>
            <a:ext cx="2131096" cy="49793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1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 </a:t>
            </a:r>
            <a:endParaRPr lang="en-AU" sz="11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414480" y="4821698"/>
                <a:ext cx="21849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480" y="4821698"/>
                <a:ext cx="2184916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414480" y="3761923"/>
                <a:ext cx="1805828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480" y="3761923"/>
                <a:ext cx="1805828" cy="78624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sz="20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AU" sz="20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sup>
                      </m:sSup>
                      <m:r>
                        <a:rPr lang="en-AU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AU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358" y="3000603"/>
                <a:ext cx="2439642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959151" y="3789260"/>
                <a:ext cx="1805828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151" y="3789260"/>
                <a:ext cx="1805828" cy="6127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5959151" y="4729364"/>
            <a:ext cx="2590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>
                <a:solidFill>
                  <a:srgbClr val="7030A0"/>
                </a:solidFill>
              </a:rPr>
              <a:t>Except 0</a:t>
            </a:r>
            <a:r>
              <a:rPr lang="en-AU" i="1" baseline="30000" dirty="0">
                <a:solidFill>
                  <a:srgbClr val="7030A0"/>
                </a:solidFill>
              </a:rPr>
              <a:t>0</a:t>
            </a:r>
            <a:r>
              <a:rPr lang="en-AU" i="1" dirty="0">
                <a:solidFill>
                  <a:srgbClr val="7030A0"/>
                </a:solidFill>
              </a:rPr>
              <a:t> which has no 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908" y="131426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95" y="2236917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823" y="3096373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095" y="3910960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823" y="4778954"/>
            <a:ext cx="14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Index Law 5</a:t>
            </a:r>
          </a:p>
        </p:txBody>
      </p:sp>
    </p:spTree>
    <p:extLst>
      <p:ext uri="{BB962C8B-B14F-4D97-AF65-F5344CB8AC3E}">
        <p14:creationId xmlns:p14="http://schemas.microsoft.com/office/powerpoint/2010/main" val="739446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Your turn …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4</a:t>
                </a:r>
                <a:r>
                  <a:rPr lang="en-AU" baseline="30000" dirty="0"/>
                  <a:t>5</a:t>
                </a:r>
                <a:r>
                  <a:rPr lang="en-AU" dirty="0"/>
                  <a:t> x 4</a:t>
                </a:r>
                <a:r>
                  <a:rPr lang="en-AU" baseline="30000" dirty="0"/>
                  <a:t>8</a:t>
                </a:r>
                <a:r>
                  <a:rPr lang="en-AU" dirty="0"/>
                  <a:t> 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16</a:t>
                </a:r>
                <a:r>
                  <a:rPr lang="en-AU" baseline="30000" dirty="0"/>
                  <a:t>40</a:t>
                </a:r>
                <a:r>
                  <a:rPr lang="en-AU" dirty="0"/>
                  <a:t> 	b) 16</a:t>
                </a:r>
                <a:r>
                  <a:rPr lang="en-AU" baseline="30000" dirty="0"/>
                  <a:t>13</a:t>
                </a:r>
                <a:r>
                  <a:rPr lang="en-AU" dirty="0"/>
                  <a:t>		c) 4</a:t>
                </a:r>
                <a:r>
                  <a:rPr lang="en-AU" baseline="30000" dirty="0"/>
                  <a:t>40</a:t>
                </a:r>
                <a:r>
                  <a:rPr lang="en-AU" dirty="0"/>
                  <a:t>		d) 4</a:t>
                </a:r>
                <a:r>
                  <a:rPr lang="en-AU" baseline="30000" dirty="0"/>
                  <a:t>13</a:t>
                </a:r>
              </a:p>
              <a:p>
                <a:pPr lvl="1"/>
                <a:endParaRPr lang="en-AU" baseline="30000" dirty="0"/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2"/>
                </a:pPr>
                <a:r>
                  <a:rPr lang="en-AU" dirty="0"/>
                  <a:t>3</a:t>
                </a:r>
                <a:r>
                  <a:rPr lang="en-AU" baseline="30000" dirty="0"/>
                  <a:t>9</a:t>
                </a:r>
                <a:r>
                  <a:rPr lang="en-AU" dirty="0"/>
                  <a:t> ÷ 3</a:t>
                </a:r>
                <a:r>
                  <a:rPr lang="en-AU" baseline="30000" dirty="0"/>
                  <a:t>3</a:t>
                </a:r>
                <a:r>
                  <a:rPr lang="en-AU" dirty="0"/>
                  <a:t> =</a:t>
                </a:r>
              </a:p>
              <a:p>
                <a:pPr lvl="1"/>
                <a:r>
                  <a:rPr lang="en-AU" dirty="0"/>
                  <a:t>a)  1</a:t>
                </a:r>
                <a:r>
                  <a:rPr lang="en-AU" baseline="30000" dirty="0"/>
                  <a:t>3</a:t>
                </a:r>
                <a:r>
                  <a:rPr lang="en-AU" dirty="0"/>
                  <a:t>	b)</a:t>
                </a:r>
                <a:r>
                  <a:rPr lang="en-AU" baseline="30000" dirty="0"/>
                  <a:t> </a:t>
                </a:r>
                <a:r>
                  <a:rPr lang="en-AU" dirty="0"/>
                  <a:t>3</a:t>
                </a:r>
                <a:r>
                  <a:rPr lang="en-AU" baseline="30000" dirty="0"/>
                  <a:t>3</a:t>
                </a:r>
                <a:r>
                  <a:rPr lang="en-AU" dirty="0"/>
                  <a:t>		c) 3</a:t>
                </a:r>
                <a:r>
                  <a:rPr lang="en-AU" baseline="30000" dirty="0"/>
                  <a:t>6</a:t>
                </a:r>
                <a:r>
                  <a:rPr lang="en-AU" dirty="0"/>
                  <a:t>		d) 1</a:t>
                </a:r>
                <a:r>
                  <a:rPr lang="en-AU" baseline="30000" dirty="0"/>
                  <a:t>6</a:t>
                </a:r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3"/>
                </a:pPr>
                <a:r>
                  <a:rPr lang="en-AU" dirty="0"/>
                  <a:t>(d</a:t>
                </a:r>
                <a:r>
                  <a:rPr lang="en-AU" baseline="30000" dirty="0"/>
                  <a:t>4</a:t>
                </a:r>
                <a:r>
                  <a:rPr lang="en-AU" dirty="0"/>
                  <a:t>)</a:t>
                </a:r>
                <a:r>
                  <a:rPr lang="en-AU" baseline="30000" dirty="0"/>
                  <a:t>5</a:t>
                </a:r>
                <a:r>
                  <a:rPr lang="en-AU" dirty="0"/>
                  <a:t> =</a:t>
                </a:r>
              </a:p>
              <a:p>
                <a:r>
                  <a:rPr lang="en-AU" dirty="0"/>
                  <a:t>         a)  d</a:t>
                </a:r>
                <a:r>
                  <a:rPr lang="en-AU" baseline="30000" dirty="0"/>
                  <a:t>9</a:t>
                </a:r>
                <a:r>
                  <a:rPr lang="en-AU" dirty="0"/>
                  <a:t> 	b) 5d</a:t>
                </a:r>
                <a:r>
                  <a:rPr lang="en-AU" baseline="30000" dirty="0"/>
                  <a:t>9</a:t>
                </a:r>
                <a:r>
                  <a:rPr lang="en-AU" dirty="0"/>
                  <a:t>		c) d</a:t>
                </a:r>
                <a:r>
                  <a:rPr lang="en-AU" baseline="30000" dirty="0"/>
                  <a:t>20</a:t>
                </a:r>
                <a:r>
                  <a:rPr lang="en-AU" dirty="0"/>
                  <a:t>		d) 5d</a:t>
                </a:r>
                <a:r>
                  <a:rPr lang="en-AU" baseline="30000" dirty="0"/>
                  <a:t>20</a:t>
                </a:r>
                <a:r>
                  <a:rPr lang="en-AU" dirty="0"/>
                  <a:t> </a:t>
                </a:r>
                <a:endParaRPr lang="en-AU" baseline="30000" dirty="0"/>
              </a:p>
              <a:p>
                <a:endParaRPr lang="en-AU" dirty="0"/>
              </a:p>
              <a:p>
                <a:pPr marL="342900" indent="-342900">
                  <a:buAutoNum type="arabicPeriod" startAt="4"/>
                </a:pPr>
                <a:r>
                  <a:rPr lang="en-AU" dirty="0"/>
                  <a:t>m</a:t>
                </a:r>
                <a:r>
                  <a:rPr lang="en-AU" baseline="30000" dirty="0"/>
                  <a:t>0</a:t>
                </a:r>
                <a:r>
                  <a:rPr lang="en-AU" dirty="0"/>
                  <a:t>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	b) 0		c) m		d) 27</a:t>
                </a:r>
              </a:p>
              <a:p>
                <a:pPr lvl="1"/>
                <a:endParaRPr lang="en-AU" dirty="0"/>
              </a:p>
              <a:p>
                <a:pPr marL="342900" indent="-342900"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        a)  -2		b) g</a:t>
                </a:r>
                <a:r>
                  <a:rPr lang="en-AU" baseline="30000" dirty="0"/>
                  <a:t>2		</a:t>
                </a:r>
                <a:r>
                  <a:rPr lang="en-AU" dirty="0"/>
                  <a:t>c)g</a:t>
                </a:r>
                <a:r>
                  <a:rPr lang="en-AU" baseline="30000" dirty="0"/>
                  <a:t>-2</a:t>
                </a:r>
                <a:r>
                  <a:rPr lang="en-AU" dirty="0"/>
                  <a:t>	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:pPr marL="342900" indent="-342900">
                  <a:buAutoNum type="arabicPeriod" startAt="2"/>
                </a:pPr>
                <a:endParaRPr lang="en-AU" dirty="0"/>
              </a:p>
              <a:p>
                <a:pPr lvl="1"/>
                <a:endParaRPr lang="en-AU" dirty="0"/>
              </a:p>
              <a:p>
                <a:pPr lvl="1"/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blipFill rotWithShape="0">
                <a:blip r:embed="rId2"/>
                <a:stretch>
                  <a:fillRect l="-599" t="-6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4266114" y="2526833"/>
                <a:ext cx="611771" cy="6613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114" y="2526833"/>
                <a:ext cx="611771" cy="6613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50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Your turn …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4</a:t>
                </a:r>
                <a:r>
                  <a:rPr lang="en-AU" baseline="30000" dirty="0"/>
                  <a:t>5</a:t>
                </a:r>
                <a:r>
                  <a:rPr lang="en-AU" dirty="0"/>
                  <a:t> x 4</a:t>
                </a:r>
                <a:r>
                  <a:rPr lang="en-AU" baseline="30000" dirty="0"/>
                  <a:t>8</a:t>
                </a:r>
                <a:r>
                  <a:rPr lang="en-AU" dirty="0"/>
                  <a:t> 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16</a:t>
                </a:r>
                <a:r>
                  <a:rPr lang="en-AU" baseline="30000" dirty="0"/>
                  <a:t>40</a:t>
                </a:r>
                <a:r>
                  <a:rPr lang="en-AU" dirty="0"/>
                  <a:t> 	b) 16</a:t>
                </a:r>
                <a:r>
                  <a:rPr lang="en-AU" baseline="30000" dirty="0"/>
                  <a:t>13</a:t>
                </a:r>
                <a:r>
                  <a:rPr lang="en-AU" dirty="0"/>
                  <a:t>		c) 4</a:t>
                </a:r>
                <a:r>
                  <a:rPr lang="en-AU" baseline="30000" dirty="0"/>
                  <a:t>40</a:t>
                </a:r>
                <a:r>
                  <a:rPr lang="en-AU" dirty="0"/>
                  <a:t>		d) 4</a:t>
                </a:r>
                <a:r>
                  <a:rPr lang="en-AU" baseline="30000" dirty="0"/>
                  <a:t>13</a:t>
                </a:r>
              </a:p>
              <a:p>
                <a:pPr lvl="1"/>
                <a:endParaRPr lang="en-AU" baseline="30000" dirty="0"/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2"/>
                </a:pPr>
                <a:r>
                  <a:rPr lang="en-AU" dirty="0"/>
                  <a:t>3</a:t>
                </a:r>
                <a:r>
                  <a:rPr lang="en-AU" baseline="30000" dirty="0"/>
                  <a:t>9</a:t>
                </a:r>
                <a:r>
                  <a:rPr lang="en-AU" dirty="0"/>
                  <a:t> ÷ 3</a:t>
                </a:r>
                <a:r>
                  <a:rPr lang="en-AU" baseline="30000" dirty="0"/>
                  <a:t>3</a:t>
                </a:r>
                <a:r>
                  <a:rPr lang="en-AU" dirty="0"/>
                  <a:t> =</a:t>
                </a:r>
              </a:p>
              <a:p>
                <a:pPr lvl="1"/>
                <a:r>
                  <a:rPr lang="en-AU" dirty="0"/>
                  <a:t>a)  1</a:t>
                </a:r>
                <a:r>
                  <a:rPr lang="en-AU" baseline="30000" dirty="0"/>
                  <a:t>3</a:t>
                </a:r>
                <a:r>
                  <a:rPr lang="en-AU" dirty="0"/>
                  <a:t>	b)</a:t>
                </a:r>
                <a:r>
                  <a:rPr lang="en-AU" baseline="30000" dirty="0"/>
                  <a:t> </a:t>
                </a:r>
                <a:r>
                  <a:rPr lang="en-AU" dirty="0"/>
                  <a:t>3</a:t>
                </a:r>
                <a:r>
                  <a:rPr lang="en-AU" baseline="30000" dirty="0"/>
                  <a:t>3</a:t>
                </a:r>
                <a:r>
                  <a:rPr lang="en-AU" dirty="0"/>
                  <a:t>		c) 3</a:t>
                </a:r>
                <a:r>
                  <a:rPr lang="en-AU" baseline="30000" dirty="0"/>
                  <a:t>6</a:t>
                </a:r>
                <a:r>
                  <a:rPr lang="en-AU" dirty="0"/>
                  <a:t>		d) 1</a:t>
                </a:r>
                <a:r>
                  <a:rPr lang="en-AU" baseline="30000" dirty="0"/>
                  <a:t>6</a:t>
                </a:r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3"/>
                </a:pPr>
                <a:r>
                  <a:rPr lang="en-AU" dirty="0"/>
                  <a:t>(d</a:t>
                </a:r>
                <a:r>
                  <a:rPr lang="en-AU" baseline="30000" dirty="0"/>
                  <a:t>4</a:t>
                </a:r>
                <a:r>
                  <a:rPr lang="en-AU" dirty="0"/>
                  <a:t>)</a:t>
                </a:r>
                <a:r>
                  <a:rPr lang="en-AU" baseline="30000" dirty="0"/>
                  <a:t>5</a:t>
                </a:r>
                <a:r>
                  <a:rPr lang="en-AU" dirty="0"/>
                  <a:t> =</a:t>
                </a:r>
              </a:p>
              <a:p>
                <a:r>
                  <a:rPr lang="en-AU" dirty="0"/>
                  <a:t>         a)  d</a:t>
                </a:r>
                <a:r>
                  <a:rPr lang="en-AU" baseline="30000" dirty="0"/>
                  <a:t>9</a:t>
                </a:r>
                <a:r>
                  <a:rPr lang="en-AU" dirty="0"/>
                  <a:t> 	b) 5d</a:t>
                </a:r>
                <a:r>
                  <a:rPr lang="en-AU" baseline="30000" dirty="0"/>
                  <a:t>9</a:t>
                </a:r>
                <a:r>
                  <a:rPr lang="en-AU" dirty="0"/>
                  <a:t>		c) d</a:t>
                </a:r>
                <a:r>
                  <a:rPr lang="en-AU" baseline="30000" dirty="0"/>
                  <a:t>20</a:t>
                </a:r>
                <a:r>
                  <a:rPr lang="en-AU" dirty="0"/>
                  <a:t>		d) 5d</a:t>
                </a:r>
                <a:r>
                  <a:rPr lang="en-AU" baseline="30000" dirty="0"/>
                  <a:t>20</a:t>
                </a:r>
                <a:r>
                  <a:rPr lang="en-AU" dirty="0"/>
                  <a:t> </a:t>
                </a:r>
                <a:endParaRPr lang="en-AU" baseline="30000" dirty="0"/>
              </a:p>
              <a:p>
                <a:endParaRPr lang="en-AU" dirty="0"/>
              </a:p>
              <a:p>
                <a:pPr marL="342900" indent="-342900">
                  <a:buAutoNum type="arabicPeriod" startAt="4"/>
                </a:pPr>
                <a:r>
                  <a:rPr lang="en-AU" dirty="0"/>
                  <a:t>m</a:t>
                </a:r>
                <a:r>
                  <a:rPr lang="en-AU" baseline="30000" dirty="0"/>
                  <a:t>0</a:t>
                </a:r>
                <a:r>
                  <a:rPr lang="en-AU" dirty="0"/>
                  <a:t>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	b) 0		c) m		d) 27</a:t>
                </a:r>
              </a:p>
              <a:p>
                <a:pPr lvl="1"/>
                <a:endParaRPr lang="en-AU" dirty="0"/>
              </a:p>
              <a:p>
                <a:pPr marL="342900" indent="-342900"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        a)  -2		b) g</a:t>
                </a:r>
                <a:r>
                  <a:rPr lang="en-AU" baseline="30000" dirty="0"/>
                  <a:t>2		</a:t>
                </a:r>
                <a:r>
                  <a:rPr lang="en-AU" dirty="0"/>
                  <a:t>c)g</a:t>
                </a:r>
                <a:r>
                  <a:rPr lang="en-AU" baseline="30000" dirty="0"/>
                  <a:t>-2</a:t>
                </a:r>
                <a:r>
                  <a:rPr lang="en-AU" dirty="0"/>
                  <a:t>	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:pPr marL="342900" indent="-342900">
                  <a:buAutoNum type="arabicPeriod" startAt="2"/>
                </a:pPr>
                <a:endParaRPr lang="en-AU" dirty="0"/>
              </a:p>
              <a:p>
                <a:pPr lvl="1"/>
                <a:endParaRPr lang="en-AU" dirty="0"/>
              </a:p>
              <a:p>
                <a:pPr lvl="1"/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blipFill rotWithShape="0">
                <a:blip r:embed="rId2"/>
                <a:stretch>
                  <a:fillRect l="-599" t="-6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5868237" y="1225899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9823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Your turn …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4</a:t>
                </a:r>
                <a:r>
                  <a:rPr lang="en-AU" baseline="30000" dirty="0"/>
                  <a:t>5</a:t>
                </a:r>
                <a:r>
                  <a:rPr lang="en-AU" dirty="0"/>
                  <a:t> x 4</a:t>
                </a:r>
                <a:r>
                  <a:rPr lang="en-AU" baseline="30000" dirty="0"/>
                  <a:t>8</a:t>
                </a:r>
                <a:r>
                  <a:rPr lang="en-AU" dirty="0"/>
                  <a:t> 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16</a:t>
                </a:r>
                <a:r>
                  <a:rPr lang="en-AU" baseline="30000" dirty="0"/>
                  <a:t>40</a:t>
                </a:r>
                <a:r>
                  <a:rPr lang="en-AU" dirty="0"/>
                  <a:t> 	b) 16</a:t>
                </a:r>
                <a:r>
                  <a:rPr lang="en-AU" baseline="30000" dirty="0"/>
                  <a:t>13</a:t>
                </a:r>
                <a:r>
                  <a:rPr lang="en-AU" dirty="0"/>
                  <a:t>		c) 4</a:t>
                </a:r>
                <a:r>
                  <a:rPr lang="en-AU" baseline="30000" dirty="0"/>
                  <a:t>40</a:t>
                </a:r>
                <a:r>
                  <a:rPr lang="en-AU" dirty="0"/>
                  <a:t>		d) 4</a:t>
                </a:r>
                <a:r>
                  <a:rPr lang="en-AU" baseline="30000" dirty="0"/>
                  <a:t>13</a:t>
                </a:r>
              </a:p>
              <a:p>
                <a:pPr lvl="1"/>
                <a:endParaRPr lang="en-AU" baseline="30000" dirty="0"/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2"/>
                </a:pPr>
                <a:r>
                  <a:rPr lang="en-AU" dirty="0"/>
                  <a:t>3</a:t>
                </a:r>
                <a:r>
                  <a:rPr lang="en-AU" baseline="30000" dirty="0"/>
                  <a:t>9</a:t>
                </a:r>
                <a:r>
                  <a:rPr lang="en-AU" dirty="0"/>
                  <a:t> ÷ 3</a:t>
                </a:r>
                <a:r>
                  <a:rPr lang="en-AU" baseline="30000" dirty="0"/>
                  <a:t>3</a:t>
                </a:r>
                <a:r>
                  <a:rPr lang="en-AU" dirty="0"/>
                  <a:t> =</a:t>
                </a:r>
              </a:p>
              <a:p>
                <a:pPr lvl="1"/>
                <a:r>
                  <a:rPr lang="en-AU" dirty="0"/>
                  <a:t>a)  1</a:t>
                </a:r>
                <a:r>
                  <a:rPr lang="en-AU" baseline="30000" dirty="0"/>
                  <a:t>3</a:t>
                </a:r>
                <a:r>
                  <a:rPr lang="en-AU" dirty="0"/>
                  <a:t>	b)</a:t>
                </a:r>
                <a:r>
                  <a:rPr lang="en-AU" baseline="30000" dirty="0"/>
                  <a:t> </a:t>
                </a:r>
                <a:r>
                  <a:rPr lang="en-AU" dirty="0"/>
                  <a:t>3</a:t>
                </a:r>
                <a:r>
                  <a:rPr lang="en-AU" baseline="30000" dirty="0"/>
                  <a:t>3</a:t>
                </a:r>
                <a:r>
                  <a:rPr lang="en-AU" dirty="0"/>
                  <a:t>		c) 3</a:t>
                </a:r>
                <a:r>
                  <a:rPr lang="en-AU" baseline="30000" dirty="0"/>
                  <a:t>6</a:t>
                </a:r>
                <a:r>
                  <a:rPr lang="en-AU" dirty="0"/>
                  <a:t>		d) 1</a:t>
                </a:r>
                <a:r>
                  <a:rPr lang="en-AU" baseline="30000" dirty="0"/>
                  <a:t>6</a:t>
                </a:r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3"/>
                </a:pPr>
                <a:r>
                  <a:rPr lang="en-AU" dirty="0"/>
                  <a:t>(d</a:t>
                </a:r>
                <a:r>
                  <a:rPr lang="en-AU" baseline="30000" dirty="0"/>
                  <a:t>4</a:t>
                </a:r>
                <a:r>
                  <a:rPr lang="en-AU" dirty="0"/>
                  <a:t>)</a:t>
                </a:r>
                <a:r>
                  <a:rPr lang="en-AU" baseline="30000" dirty="0"/>
                  <a:t>5</a:t>
                </a:r>
                <a:r>
                  <a:rPr lang="en-AU" dirty="0"/>
                  <a:t> =</a:t>
                </a:r>
              </a:p>
              <a:p>
                <a:r>
                  <a:rPr lang="en-AU" dirty="0"/>
                  <a:t>         a)  d</a:t>
                </a:r>
                <a:r>
                  <a:rPr lang="en-AU" baseline="30000" dirty="0"/>
                  <a:t>9</a:t>
                </a:r>
                <a:r>
                  <a:rPr lang="en-AU" dirty="0"/>
                  <a:t> 	b) 5d</a:t>
                </a:r>
                <a:r>
                  <a:rPr lang="en-AU" baseline="30000" dirty="0"/>
                  <a:t>9</a:t>
                </a:r>
                <a:r>
                  <a:rPr lang="en-AU" dirty="0"/>
                  <a:t>		c) d</a:t>
                </a:r>
                <a:r>
                  <a:rPr lang="en-AU" baseline="30000" dirty="0"/>
                  <a:t>20</a:t>
                </a:r>
                <a:r>
                  <a:rPr lang="en-AU" dirty="0"/>
                  <a:t>		d) 5d</a:t>
                </a:r>
                <a:r>
                  <a:rPr lang="en-AU" baseline="30000" dirty="0"/>
                  <a:t>20</a:t>
                </a:r>
                <a:r>
                  <a:rPr lang="en-AU" dirty="0"/>
                  <a:t> </a:t>
                </a:r>
                <a:endParaRPr lang="en-AU" baseline="30000" dirty="0"/>
              </a:p>
              <a:p>
                <a:endParaRPr lang="en-AU" dirty="0"/>
              </a:p>
              <a:p>
                <a:pPr marL="342900" indent="-342900">
                  <a:buAutoNum type="arabicPeriod" startAt="4"/>
                </a:pPr>
                <a:r>
                  <a:rPr lang="en-AU" dirty="0"/>
                  <a:t>m</a:t>
                </a:r>
                <a:r>
                  <a:rPr lang="en-AU" baseline="30000" dirty="0"/>
                  <a:t>0</a:t>
                </a:r>
                <a:r>
                  <a:rPr lang="en-AU" dirty="0"/>
                  <a:t>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	b) 0		c) m		d) 27</a:t>
                </a:r>
              </a:p>
              <a:p>
                <a:pPr lvl="1"/>
                <a:endParaRPr lang="en-AU" dirty="0"/>
              </a:p>
              <a:p>
                <a:pPr marL="342900" indent="-342900"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        a)  -2		b) g</a:t>
                </a:r>
                <a:r>
                  <a:rPr lang="en-AU" baseline="30000" dirty="0"/>
                  <a:t>2		</a:t>
                </a:r>
                <a:r>
                  <a:rPr lang="en-AU" dirty="0"/>
                  <a:t>c)g</a:t>
                </a:r>
                <a:r>
                  <a:rPr lang="en-AU" baseline="30000" dirty="0"/>
                  <a:t>-2</a:t>
                </a:r>
                <a:r>
                  <a:rPr lang="en-AU" dirty="0"/>
                  <a:t>	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:pPr marL="342900" indent="-342900">
                  <a:buAutoNum type="arabicPeriod" startAt="2"/>
                </a:pPr>
                <a:endParaRPr lang="en-AU" dirty="0"/>
              </a:p>
              <a:p>
                <a:pPr lvl="1"/>
                <a:endParaRPr lang="en-AU" dirty="0"/>
              </a:p>
              <a:p>
                <a:pPr lvl="1"/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blipFill rotWithShape="0">
                <a:blip r:embed="rId2"/>
                <a:stretch>
                  <a:fillRect l="-599" t="-6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5868237" y="1225899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3980821" y="2124899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7365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Your turn …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4</a:t>
                </a:r>
                <a:r>
                  <a:rPr lang="en-AU" baseline="30000" dirty="0"/>
                  <a:t>5</a:t>
                </a:r>
                <a:r>
                  <a:rPr lang="en-AU" dirty="0"/>
                  <a:t> x 4</a:t>
                </a:r>
                <a:r>
                  <a:rPr lang="en-AU" baseline="30000" dirty="0"/>
                  <a:t>8</a:t>
                </a:r>
                <a:r>
                  <a:rPr lang="en-AU" dirty="0"/>
                  <a:t> 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16</a:t>
                </a:r>
                <a:r>
                  <a:rPr lang="en-AU" baseline="30000" dirty="0"/>
                  <a:t>40</a:t>
                </a:r>
                <a:r>
                  <a:rPr lang="en-AU" dirty="0"/>
                  <a:t> 	b) 16</a:t>
                </a:r>
                <a:r>
                  <a:rPr lang="en-AU" baseline="30000" dirty="0"/>
                  <a:t>13</a:t>
                </a:r>
                <a:r>
                  <a:rPr lang="en-AU" dirty="0"/>
                  <a:t>		c) 4</a:t>
                </a:r>
                <a:r>
                  <a:rPr lang="en-AU" baseline="30000" dirty="0"/>
                  <a:t>40</a:t>
                </a:r>
                <a:r>
                  <a:rPr lang="en-AU" dirty="0"/>
                  <a:t>		d) 4</a:t>
                </a:r>
                <a:r>
                  <a:rPr lang="en-AU" baseline="30000" dirty="0"/>
                  <a:t>13</a:t>
                </a:r>
              </a:p>
              <a:p>
                <a:pPr lvl="1"/>
                <a:endParaRPr lang="en-AU" baseline="30000" dirty="0"/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2"/>
                </a:pPr>
                <a:r>
                  <a:rPr lang="en-AU" dirty="0"/>
                  <a:t>3</a:t>
                </a:r>
                <a:r>
                  <a:rPr lang="en-AU" baseline="30000" dirty="0"/>
                  <a:t>9</a:t>
                </a:r>
                <a:r>
                  <a:rPr lang="en-AU" dirty="0"/>
                  <a:t> ÷ 3</a:t>
                </a:r>
                <a:r>
                  <a:rPr lang="en-AU" baseline="30000" dirty="0"/>
                  <a:t>3</a:t>
                </a:r>
                <a:r>
                  <a:rPr lang="en-AU" dirty="0"/>
                  <a:t> =</a:t>
                </a:r>
              </a:p>
              <a:p>
                <a:pPr lvl="1"/>
                <a:r>
                  <a:rPr lang="en-AU" dirty="0"/>
                  <a:t>a)  1</a:t>
                </a:r>
                <a:r>
                  <a:rPr lang="en-AU" baseline="30000" dirty="0"/>
                  <a:t>3</a:t>
                </a:r>
                <a:r>
                  <a:rPr lang="en-AU" dirty="0"/>
                  <a:t>	b)</a:t>
                </a:r>
                <a:r>
                  <a:rPr lang="en-AU" baseline="30000" dirty="0"/>
                  <a:t> </a:t>
                </a:r>
                <a:r>
                  <a:rPr lang="en-AU" dirty="0"/>
                  <a:t>3</a:t>
                </a:r>
                <a:r>
                  <a:rPr lang="en-AU" baseline="30000" dirty="0"/>
                  <a:t>3</a:t>
                </a:r>
                <a:r>
                  <a:rPr lang="en-AU" dirty="0"/>
                  <a:t>		c) 3</a:t>
                </a:r>
                <a:r>
                  <a:rPr lang="en-AU" baseline="30000" dirty="0"/>
                  <a:t>6</a:t>
                </a:r>
                <a:r>
                  <a:rPr lang="en-AU" dirty="0"/>
                  <a:t>		d) 1</a:t>
                </a:r>
                <a:r>
                  <a:rPr lang="en-AU" baseline="30000" dirty="0"/>
                  <a:t>6</a:t>
                </a:r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3"/>
                </a:pPr>
                <a:r>
                  <a:rPr lang="en-AU" dirty="0"/>
                  <a:t>(d</a:t>
                </a:r>
                <a:r>
                  <a:rPr lang="en-AU" baseline="30000" dirty="0"/>
                  <a:t>4</a:t>
                </a:r>
                <a:r>
                  <a:rPr lang="en-AU" dirty="0"/>
                  <a:t>)</a:t>
                </a:r>
                <a:r>
                  <a:rPr lang="en-AU" baseline="30000" dirty="0"/>
                  <a:t>5</a:t>
                </a:r>
                <a:r>
                  <a:rPr lang="en-AU" dirty="0"/>
                  <a:t> =</a:t>
                </a:r>
              </a:p>
              <a:p>
                <a:r>
                  <a:rPr lang="en-AU" dirty="0"/>
                  <a:t>         a)  d</a:t>
                </a:r>
                <a:r>
                  <a:rPr lang="en-AU" baseline="30000" dirty="0"/>
                  <a:t>9</a:t>
                </a:r>
                <a:r>
                  <a:rPr lang="en-AU" dirty="0"/>
                  <a:t> 	b) 5d</a:t>
                </a:r>
                <a:r>
                  <a:rPr lang="en-AU" baseline="30000" dirty="0"/>
                  <a:t>9</a:t>
                </a:r>
                <a:r>
                  <a:rPr lang="en-AU" dirty="0"/>
                  <a:t>		c) d</a:t>
                </a:r>
                <a:r>
                  <a:rPr lang="en-AU" baseline="30000" dirty="0"/>
                  <a:t>20</a:t>
                </a:r>
                <a:r>
                  <a:rPr lang="en-AU" dirty="0"/>
                  <a:t>		d) 5d</a:t>
                </a:r>
                <a:r>
                  <a:rPr lang="en-AU" baseline="30000" dirty="0"/>
                  <a:t>20</a:t>
                </a:r>
                <a:r>
                  <a:rPr lang="en-AU" dirty="0"/>
                  <a:t> </a:t>
                </a:r>
                <a:endParaRPr lang="en-AU" baseline="30000" dirty="0"/>
              </a:p>
              <a:p>
                <a:endParaRPr lang="en-AU" dirty="0"/>
              </a:p>
              <a:p>
                <a:pPr marL="342900" indent="-342900">
                  <a:buAutoNum type="arabicPeriod" startAt="4"/>
                </a:pPr>
                <a:r>
                  <a:rPr lang="en-AU" dirty="0"/>
                  <a:t>m</a:t>
                </a:r>
                <a:r>
                  <a:rPr lang="en-AU" baseline="30000" dirty="0"/>
                  <a:t>0</a:t>
                </a:r>
                <a:r>
                  <a:rPr lang="en-AU" dirty="0"/>
                  <a:t>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	b) 0		c) m		d) 27</a:t>
                </a:r>
              </a:p>
              <a:p>
                <a:pPr lvl="1"/>
                <a:endParaRPr lang="en-AU" dirty="0"/>
              </a:p>
              <a:p>
                <a:pPr marL="342900" indent="-342900"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        a)  -2		b) g</a:t>
                </a:r>
                <a:r>
                  <a:rPr lang="en-AU" baseline="30000" dirty="0"/>
                  <a:t>2		</a:t>
                </a:r>
                <a:r>
                  <a:rPr lang="en-AU" dirty="0"/>
                  <a:t>c)g</a:t>
                </a:r>
                <a:r>
                  <a:rPr lang="en-AU" baseline="30000" dirty="0"/>
                  <a:t>-2</a:t>
                </a:r>
                <a:r>
                  <a:rPr lang="en-AU" dirty="0"/>
                  <a:t>	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:pPr marL="342900" indent="-342900">
                  <a:buAutoNum type="arabicPeriod" startAt="2"/>
                </a:pPr>
                <a:endParaRPr lang="en-AU" dirty="0"/>
              </a:p>
              <a:p>
                <a:pPr lvl="1"/>
                <a:endParaRPr lang="en-AU" dirty="0"/>
              </a:p>
              <a:p>
                <a:pPr lvl="1"/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blipFill rotWithShape="0">
                <a:blip r:embed="rId2"/>
                <a:stretch>
                  <a:fillRect l="-599" t="-6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5868237" y="1225899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3980821" y="2124899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/>
          <p:cNvSpPr/>
          <p:nvPr/>
        </p:nvSpPr>
        <p:spPr>
          <a:xfrm>
            <a:off x="3980821" y="2823657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4876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Your turn …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4</a:t>
                </a:r>
                <a:r>
                  <a:rPr lang="en-AU" baseline="30000" dirty="0"/>
                  <a:t>5</a:t>
                </a:r>
                <a:r>
                  <a:rPr lang="en-AU" dirty="0"/>
                  <a:t> x 4</a:t>
                </a:r>
                <a:r>
                  <a:rPr lang="en-AU" baseline="30000" dirty="0"/>
                  <a:t>8</a:t>
                </a:r>
                <a:r>
                  <a:rPr lang="en-AU" dirty="0"/>
                  <a:t> 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16</a:t>
                </a:r>
                <a:r>
                  <a:rPr lang="en-AU" baseline="30000" dirty="0"/>
                  <a:t>40</a:t>
                </a:r>
                <a:r>
                  <a:rPr lang="en-AU" dirty="0"/>
                  <a:t> 	b) 16</a:t>
                </a:r>
                <a:r>
                  <a:rPr lang="en-AU" baseline="30000" dirty="0"/>
                  <a:t>13</a:t>
                </a:r>
                <a:r>
                  <a:rPr lang="en-AU" dirty="0"/>
                  <a:t>		c) 4</a:t>
                </a:r>
                <a:r>
                  <a:rPr lang="en-AU" baseline="30000" dirty="0"/>
                  <a:t>40</a:t>
                </a:r>
                <a:r>
                  <a:rPr lang="en-AU" dirty="0"/>
                  <a:t>		d) 4</a:t>
                </a:r>
                <a:r>
                  <a:rPr lang="en-AU" baseline="30000" dirty="0"/>
                  <a:t>13</a:t>
                </a:r>
              </a:p>
              <a:p>
                <a:pPr lvl="1"/>
                <a:endParaRPr lang="en-AU" baseline="30000" dirty="0"/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2"/>
                </a:pPr>
                <a:r>
                  <a:rPr lang="en-AU" dirty="0"/>
                  <a:t>3</a:t>
                </a:r>
                <a:r>
                  <a:rPr lang="en-AU" baseline="30000" dirty="0"/>
                  <a:t>9</a:t>
                </a:r>
                <a:r>
                  <a:rPr lang="en-AU" dirty="0"/>
                  <a:t> ÷ 3</a:t>
                </a:r>
                <a:r>
                  <a:rPr lang="en-AU" baseline="30000" dirty="0"/>
                  <a:t>3</a:t>
                </a:r>
                <a:r>
                  <a:rPr lang="en-AU" dirty="0"/>
                  <a:t> =</a:t>
                </a:r>
              </a:p>
              <a:p>
                <a:pPr lvl="1"/>
                <a:r>
                  <a:rPr lang="en-AU" dirty="0"/>
                  <a:t>a)  1</a:t>
                </a:r>
                <a:r>
                  <a:rPr lang="en-AU" baseline="30000" dirty="0"/>
                  <a:t>3</a:t>
                </a:r>
                <a:r>
                  <a:rPr lang="en-AU" dirty="0"/>
                  <a:t>	b)</a:t>
                </a:r>
                <a:r>
                  <a:rPr lang="en-AU" baseline="30000" dirty="0"/>
                  <a:t> </a:t>
                </a:r>
                <a:r>
                  <a:rPr lang="en-AU" dirty="0"/>
                  <a:t>3</a:t>
                </a:r>
                <a:r>
                  <a:rPr lang="en-AU" baseline="30000" dirty="0"/>
                  <a:t>3</a:t>
                </a:r>
                <a:r>
                  <a:rPr lang="en-AU" dirty="0"/>
                  <a:t>		c) 3</a:t>
                </a:r>
                <a:r>
                  <a:rPr lang="en-AU" baseline="30000" dirty="0"/>
                  <a:t>6</a:t>
                </a:r>
                <a:r>
                  <a:rPr lang="en-AU" dirty="0"/>
                  <a:t>		d) 1</a:t>
                </a:r>
                <a:r>
                  <a:rPr lang="en-AU" baseline="30000" dirty="0"/>
                  <a:t>6</a:t>
                </a:r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3"/>
                </a:pPr>
                <a:r>
                  <a:rPr lang="en-AU" dirty="0"/>
                  <a:t>(d</a:t>
                </a:r>
                <a:r>
                  <a:rPr lang="en-AU" baseline="30000" dirty="0"/>
                  <a:t>4</a:t>
                </a:r>
                <a:r>
                  <a:rPr lang="en-AU" dirty="0"/>
                  <a:t>)</a:t>
                </a:r>
                <a:r>
                  <a:rPr lang="en-AU" baseline="30000" dirty="0"/>
                  <a:t>5</a:t>
                </a:r>
                <a:r>
                  <a:rPr lang="en-AU" dirty="0"/>
                  <a:t> =</a:t>
                </a:r>
              </a:p>
              <a:p>
                <a:r>
                  <a:rPr lang="en-AU" dirty="0"/>
                  <a:t>         a)  d</a:t>
                </a:r>
                <a:r>
                  <a:rPr lang="en-AU" baseline="30000" dirty="0"/>
                  <a:t>9</a:t>
                </a:r>
                <a:r>
                  <a:rPr lang="en-AU" dirty="0"/>
                  <a:t> 	b) 5d</a:t>
                </a:r>
                <a:r>
                  <a:rPr lang="en-AU" baseline="30000" dirty="0"/>
                  <a:t>9</a:t>
                </a:r>
                <a:r>
                  <a:rPr lang="en-AU" dirty="0"/>
                  <a:t>		c) d</a:t>
                </a:r>
                <a:r>
                  <a:rPr lang="en-AU" baseline="30000" dirty="0"/>
                  <a:t>20</a:t>
                </a:r>
                <a:r>
                  <a:rPr lang="en-AU" dirty="0"/>
                  <a:t>		d) 5d</a:t>
                </a:r>
                <a:r>
                  <a:rPr lang="en-AU" baseline="30000" dirty="0"/>
                  <a:t>20</a:t>
                </a:r>
                <a:r>
                  <a:rPr lang="en-AU" dirty="0"/>
                  <a:t> </a:t>
                </a:r>
                <a:endParaRPr lang="en-AU" baseline="30000" dirty="0"/>
              </a:p>
              <a:p>
                <a:endParaRPr lang="en-AU" dirty="0"/>
              </a:p>
              <a:p>
                <a:pPr marL="342900" indent="-342900">
                  <a:buAutoNum type="arabicPeriod" startAt="4"/>
                </a:pPr>
                <a:r>
                  <a:rPr lang="en-AU" dirty="0"/>
                  <a:t>m</a:t>
                </a:r>
                <a:r>
                  <a:rPr lang="en-AU" baseline="30000" dirty="0"/>
                  <a:t>0</a:t>
                </a:r>
                <a:r>
                  <a:rPr lang="en-AU" dirty="0"/>
                  <a:t>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	b) 0		c) m		d) 27</a:t>
                </a:r>
              </a:p>
              <a:p>
                <a:pPr lvl="1"/>
                <a:endParaRPr lang="en-AU" dirty="0"/>
              </a:p>
              <a:p>
                <a:pPr marL="342900" indent="-342900"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        a)  -2		b) g</a:t>
                </a:r>
                <a:r>
                  <a:rPr lang="en-AU" baseline="30000" dirty="0"/>
                  <a:t>2		</a:t>
                </a:r>
                <a:r>
                  <a:rPr lang="en-AU" dirty="0"/>
                  <a:t>c)g</a:t>
                </a:r>
                <a:r>
                  <a:rPr lang="en-AU" baseline="30000" dirty="0"/>
                  <a:t>-2</a:t>
                </a:r>
                <a:r>
                  <a:rPr lang="en-AU" dirty="0"/>
                  <a:t>	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:pPr marL="342900" indent="-342900">
                  <a:buAutoNum type="arabicPeriod" startAt="2"/>
                </a:pPr>
                <a:endParaRPr lang="en-AU" dirty="0"/>
              </a:p>
              <a:p>
                <a:pPr lvl="1"/>
                <a:endParaRPr lang="en-AU" dirty="0"/>
              </a:p>
              <a:p>
                <a:pPr lvl="1"/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blipFill rotWithShape="0">
                <a:blip r:embed="rId2"/>
                <a:stretch>
                  <a:fillRect l="-599" t="-6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5868237" y="1225899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3980821" y="2124899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/>
          <p:cNvSpPr/>
          <p:nvPr/>
        </p:nvSpPr>
        <p:spPr>
          <a:xfrm>
            <a:off x="815590" y="3738057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3980821" y="2825402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5296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Your turn …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4</a:t>
                </a:r>
                <a:r>
                  <a:rPr lang="en-AU" baseline="30000" dirty="0"/>
                  <a:t>5</a:t>
                </a:r>
                <a:r>
                  <a:rPr lang="en-AU" dirty="0"/>
                  <a:t> x 4</a:t>
                </a:r>
                <a:r>
                  <a:rPr lang="en-AU" baseline="30000" dirty="0"/>
                  <a:t>8</a:t>
                </a:r>
                <a:r>
                  <a:rPr lang="en-AU" dirty="0"/>
                  <a:t> 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16</a:t>
                </a:r>
                <a:r>
                  <a:rPr lang="en-AU" baseline="30000" dirty="0"/>
                  <a:t>40</a:t>
                </a:r>
                <a:r>
                  <a:rPr lang="en-AU" dirty="0"/>
                  <a:t> 	b) 16</a:t>
                </a:r>
                <a:r>
                  <a:rPr lang="en-AU" baseline="30000" dirty="0"/>
                  <a:t>13</a:t>
                </a:r>
                <a:r>
                  <a:rPr lang="en-AU" dirty="0"/>
                  <a:t>		c) 4</a:t>
                </a:r>
                <a:r>
                  <a:rPr lang="en-AU" baseline="30000" dirty="0"/>
                  <a:t>40</a:t>
                </a:r>
                <a:r>
                  <a:rPr lang="en-AU" dirty="0"/>
                  <a:t>		d) 4</a:t>
                </a:r>
                <a:r>
                  <a:rPr lang="en-AU" baseline="30000" dirty="0"/>
                  <a:t>13</a:t>
                </a:r>
              </a:p>
              <a:p>
                <a:pPr lvl="1"/>
                <a:endParaRPr lang="en-AU" baseline="30000" dirty="0"/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2"/>
                </a:pPr>
                <a:r>
                  <a:rPr lang="en-AU" dirty="0"/>
                  <a:t>3</a:t>
                </a:r>
                <a:r>
                  <a:rPr lang="en-AU" baseline="30000" dirty="0"/>
                  <a:t>9</a:t>
                </a:r>
                <a:r>
                  <a:rPr lang="en-AU" dirty="0"/>
                  <a:t> ÷ 3</a:t>
                </a:r>
                <a:r>
                  <a:rPr lang="en-AU" baseline="30000" dirty="0"/>
                  <a:t>3</a:t>
                </a:r>
                <a:r>
                  <a:rPr lang="en-AU" dirty="0"/>
                  <a:t> =</a:t>
                </a:r>
              </a:p>
              <a:p>
                <a:pPr lvl="1"/>
                <a:r>
                  <a:rPr lang="en-AU" dirty="0"/>
                  <a:t>a)  1</a:t>
                </a:r>
                <a:r>
                  <a:rPr lang="en-AU" baseline="30000" dirty="0"/>
                  <a:t>3</a:t>
                </a:r>
                <a:r>
                  <a:rPr lang="en-AU" dirty="0"/>
                  <a:t>	b)</a:t>
                </a:r>
                <a:r>
                  <a:rPr lang="en-AU" baseline="30000" dirty="0"/>
                  <a:t> </a:t>
                </a:r>
                <a:r>
                  <a:rPr lang="en-AU" dirty="0"/>
                  <a:t>3</a:t>
                </a:r>
                <a:r>
                  <a:rPr lang="en-AU" baseline="30000" dirty="0"/>
                  <a:t>3</a:t>
                </a:r>
                <a:r>
                  <a:rPr lang="en-AU" dirty="0"/>
                  <a:t>		c) 3</a:t>
                </a:r>
                <a:r>
                  <a:rPr lang="en-AU" baseline="30000" dirty="0"/>
                  <a:t>6</a:t>
                </a:r>
                <a:r>
                  <a:rPr lang="en-AU" dirty="0"/>
                  <a:t>		d) 1</a:t>
                </a:r>
                <a:r>
                  <a:rPr lang="en-AU" baseline="30000" dirty="0"/>
                  <a:t>6</a:t>
                </a:r>
              </a:p>
              <a:p>
                <a:pPr lvl="1"/>
                <a:endParaRPr lang="en-AU" baseline="30000" dirty="0"/>
              </a:p>
              <a:p>
                <a:pPr marL="342900" indent="-342900">
                  <a:buAutoNum type="arabicPeriod" startAt="3"/>
                </a:pPr>
                <a:r>
                  <a:rPr lang="en-AU" dirty="0"/>
                  <a:t>(d</a:t>
                </a:r>
                <a:r>
                  <a:rPr lang="en-AU" baseline="30000" dirty="0"/>
                  <a:t>4</a:t>
                </a:r>
                <a:r>
                  <a:rPr lang="en-AU" dirty="0"/>
                  <a:t>)</a:t>
                </a:r>
                <a:r>
                  <a:rPr lang="en-AU" baseline="30000" dirty="0"/>
                  <a:t>5</a:t>
                </a:r>
                <a:r>
                  <a:rPr lang="en-AU" dirty="0"/>
                  <a:t> =</a:t>
                </a:r>
              </a:p>
              <a:p>
                <a:r>
                  <a:rPr lang="en-AU" dirty="0"/>
                  <a:t>         a)  d</a:t>
                </a:r>
                <a:r>
                  <a:rPr lang="en-AU" baseline="30000" dirty="0"/>
                  <a:t>9</a:t>
                </a:r>
                <a:r>
                  <a:rPr lang="en-AU" dirty="0"/>
                  <a:t> 	b) 5d</a:t>
                </a:r>
                <a:r>
                  <a:rPr lang="en-AU" baseline="30000" dirty="0"/>
                  <a:t>9</a:t>
                </a:r>
                <a:r>
                  <a:rPr lang="en-AU" dirty="0"/>
                  <a:t>		c) d</a:t>
                </a:r>
                <a:r>
                  <a:rPr lang="en-AU" baseline="30000" dirty="0"/>
                  <a:t>20</a:t>
                </a:r>
                <a:r>
                  <a:rPr lang="en-AU" dirty="0"/>
                  <a:t>		d) 5d</a:t>
                </a:r>
                <a:r>
                  <a:rPr lang="en-AU" baseline="30000" dirty="0"/>
                  <a:t>20</a:t>
                </a:r>
                <a:r>
                  <a:rPr lang="en-AU" dirty="0"/>
                  <a:t> </a:t>
                </a:r>
                <a:endParaRPr lang="en-AU" baseline="30000" dirty="0"/>
              </a:p>
              <a:p>
                <a:endParaRPr lang="en-AU" dirty="0"/>
              </a:p>
              <a:p>
                <a:pPr marL="342900" indent="-342900">
                  <a:buAutoNum type="arabicPeriod" startAt="4"/>
                </a:pPr>
                <a:r>
                  <a:rPr lang="en-AU" dirty="0"/>
                  <a:t>m</a:t>
                </a:r>
                <a:r>
                  <a:rPr lang="en-AU" baseline="30000" dirty="0"/>
                  <a:t>0</a:t>
                </a:r>
                <a:r>
                  <a:rPr lang="en-AU" dirty="0"/>
                  <a:t> = </a:t>
                </a:r>
              </a:p>
              <a:p>
                <a:pPr marL="800089" lvl="1" indent="-342900">
                  <a:buAutoNum type="alphaLcParenR"/>
                </a:pPr>
                <a:r>
                  <a:rPr lang="en-AU" dirty="0"/>
                  <a:t>1	b) 0		c) m		d) 27</a:t>
                </a:r>
              </a:p>
              <a:p>
                <a:pPr lvl="1"/>
                <a:endParaRPr lang="en-AU" dirty="0"/>
              </a:p>
              <a:p>
                <a:pPr marL="342900" indent="-342900">
                  <a:buAutoNum type="arabicPeriod" startAt="5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        a)  -2		b) g</a:t>
                </a:r>
                <a:r>
                  <a:rPr lang="en-AU" baseline="30000" dirty="0"/>
                  <a:t>2		</a:t>
                </a:r>
                <a:r>
                  <a:rPr lang="en-AU" dirty="0"/>
                  <a:t>c)g</a:t>
                </a:r>
                <a:r>
                  <a:rPr lang="en-AU" baseline="30000" dirty="0"/>
                  <a:t>-2</a:t>
                </a:r>
                <a:r>
                  <a:rPr lang="en-AU" dirty="0"/>
                  <a:t>	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dirty="0"/>
              </a:p>
              <a:p>
                <a:pPr marL="342900" indent="-342900">
                  <a:buAutoNum type="arabicPeriod" startAt="2"/>
                </a:pPr>
                <a:endParaRPr lang="en-AU" dirty="0"/>
              </a:p>
              <a:p>
                <a:pPr lvl="1"/>
                <a:endParaRPr lang="en-AU" dirty="0"/>
              </a:p>
              <a:p>
                <a:pPr lvl="1"/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41" y="401934"/>
                <a:ext cx="8139164" cy="5647315"/>
              </a:xfrm>
              <a:prstGeom prst="rect">
                <a:avLst/>
              </a:prstGeom>
              <a:blipFill rotWithShape="0">
                <a:blip r:embed="rId2"/>
                <a:stretch>
                  <a:fillRect l="-599" t="-6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5868237" y="1225899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3980821" y="2124899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/>
          <p:cNvSpPr/>
          <p:nvPr/>
        </p:nvSpPr>
        <p:spPr>
          <a:xfrm>
            <a:off x="785445" y="3697863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3980821" y="2825402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2183841" y="4704373"/>
            <a:ext cx="733530" cy="4019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71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0977E4C-76EF-4FCD-9C02-C8D490E8EFBA}" vid="{C09BC989-AE4B-4384-86A8-BD46923AB8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2 - jw</Template>
  <TotalTime>4525</TotalTime>
  <Words>493</Words>
  <Application>Microsoft Office PowerPoint</Application>
  <PresentationFormat>On-screen Show (16:10)</PresentationFormat>
  <Paragraphs>288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8</cp:revision>
  <dcterms:created xsi:type="dcterms:W3CDTF">2016-11-10T13:22:13Z</dcterms:created>
  <dcterms:modified xsi:type="dcterms:W3CDTF">2017-04-04T02:06:33Z</dcterms:modified>
</cp:coreProperties>
</file>
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31" r:id="rId2"/>
    <p:sldId id="330" r:id="rId3"/>
    <p:sldId id="328" r:id="rId4"/>
    <p:sldId id="305" r:id="rId5"/>
    <p:sldId id="306" r:id="rId6"/>
    <p:sldId id="307" r:id="rId7"/>
    <p:sldId id="308" r:id="rId8"/>
    <p:sldId id="309" r:id="rId9"/>
    <p:sldId id="310" r:id="rId10"/>
    <p:sldId id="311" r:id="rId11"/>
    <p:sldId id="312" r:id="rId12"/>
    <p:sldId id="319" r:id="rId13"/>
    <p:sldId id="325" r:id="rId14"/>
    <p:sldId id="326" r:id="rId15"/>
    <p:sldId id="329" r:id="rId16"/>
    <p:sldId id="332" r:id="rId17"/>
    <p:sldId id="334" r:id="rId18"/>
    <p:sldId id="335" r:id="rId19"/>
    <p:sldId id="291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660" autoAdjust="0"/>
    <p:restoredTop sz="89165" autoAdjust="0"/>
  </p:normalViewPr>
  <p:slideViewPr>
    <p:cSldViewPr>
      <p:cViewPr>
        <p:scale>
          <a:sx n="75" d="100"/>
          <a:sy n="75" d="100"/>
        </p:scale>
        <p:origin x="152" y="4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10/3/17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3624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Independent practice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72526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9800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10/3/17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10/3/17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10/3/17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10/3/17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10/3/17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10/3/17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10/3/17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10/3/17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10/3/17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10/3/17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10/3/17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10/3/17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ZcSrJPiQvHQ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Yr</a:t>
            </a:r>
            <a:r>
              <a:rPr lang="en-US" dirty="0" smtClean="0"/>
              <a:t> 10 Week 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6000" dirty="0" smtClean="0"/>
              <a:t>Algebra</a:t>
            </a:r>
          </a:p>
          <a:p>
            <a:pPr marL="0" indent="0" algn="ctr">
              <a:buNone/>
            </a:pPr>
            <a:r>
              <a:rPr lang="en-US" dirty="0" smtClean="0"/>
              <a:t>Gradient review</a:t>
            </a:r>
            <a:endParaRPr lang="en-US" dirty="0" smtClean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K. Farmer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225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Success Criteria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You will know you are successful in achieving the objective by…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1233054" y="3048000"/>
            <a:ext cx="679532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800" dirty="0" smtClean="0"/>
              <a:t>Locate the gradient in an algebraic equation. 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800" dirty="0" smtClean="0"/>
              <a:t>Demonstrate how to plot a line of a distinct gradient.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96174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616" y="908720"/>
            <a:ext cx="643349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Hook</a:t>
            </a:r>
          </a:p>
          <a:p>
            <a:endParaRPr lang="en-US" sz="3600" dirty="0"/>
          </a:p>
          <a:p>
            <a:r>
              <a:rPr lang="en-US" sz="3600" dirty="0" smtClean="0"/>
              <a:t>Slope </a:t>
            </a:r>
            <a:r>
              <a:rPr lang="en-US" sz="3600" dirty="0" err="1" smtClean="0"/>
              <a:t>Dood</a:t>
            </a:r>
            <a:r>
              <a:rPr lang="en-US" sz="3600" dirty="0" smtClean="0"/>
              <a:t> video</a:t>
            </a:r>
          </a:p>
          <a:p>
            <a:endParaRPr lang="en-US" sz="3600" dirty="0"/>
          </a:p>
          <a:p>
            <a:r>
              <a:rPr lang="en-US" sz="3600" dirty="0">
                <a:hlinkClick r:id="rId2"/>
              </a:rPr>
              <a:t>https://</a:t>
            </a:r>
            <a:r>
              <a:rPr lang="en-US" sz="3600" dirty="0" smtClean="0">
                <a:hlinkClick r:id="rId2"/>
              </a:rPr>
              <a:t>www.youtube.com/watch?v=ZcSrJPiQvHQ</a:t>
            </a:r>
            <a:endParaRPr lang="en-US" sz="3600" dirty="0" smtClean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84903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57508"/>
            <a:ext cx="2448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Gradient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Gradient?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21639" y="2173581"/>
            <a:ext cx="1835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gradient?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223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550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Gradient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Gradient?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21639" y="2173581"/>
            <a:ext cx="1835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gradient?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67720" y="2128486"/>
            <a:ext cx="4583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gradient of a line is a measure of its slope. </a:t>
            </a:r>
          </a:p>
        </p:txBody>
      </p:sp>
    </p:spTree>
    <p:extLst>
      <p:ext uri="{BB962C8B-B14F-4D97-AF65-F5344CB8AC3E}">
        <p14:creationId xmlns:p14="http://schemas.microsoft.com/office/powerpoint/2010/main" val="462022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550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Gradient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Gradient?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21639" y="2173581"/>
            <a:ext cx="1835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gradient?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67720" y="2128486"/>
            <a:ext cx="4583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gradient of a line is a measure of its slope.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7720" y="2480391"/>
            <a:ext cx="48190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It is a number that shows the steepness of a line.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8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550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Gradient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Gradient?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21639" y="2173581"/>
            <a:ext cx="1835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gradient?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67720" y="2128486"/>
            <a:ext cx="4583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gradient of a line is a measure of its slope.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7720" y="2480391"/>
            <a:ext cx="48190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It is a number that shows the steepness of a line. 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067720" y="2899256"/>
            <a:ext cx="5997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It is calculated by knowing how far a line rises or falls (called the </a:t>
            </a:r>
            <a:r>
              <a:rPr lang="en-US" i="1"/>
              <a:t>rise</a:t>
            </a:r>
            <a:r>
              <a:rPr lang="en-US"/>
              <a:t>) within a certain horizontal distance (called the </a:t>
            </a:r>
            <a:r>
              <a:rPr lang="en-US" i="1"/>
              <a:t>run</a:t>
            </a:r>
            <a:r>
              <a:rPr lang="en-US"/>
              <a:t>).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667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550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Gradient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Gradient?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21639" y="2173581"/>
            <a:ext cx="1835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gradient?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67720" y="2128486"/>
            <a:ext cx="4583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gradient of a line is a measure of its slope.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7720" y="2480391"/>
            <a:ext cx="48190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It is a number that shows the steepness of a line. 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067720" y="2899256"/>
            <a:ext cx="5997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It is calculated by knowing how far a line rises or falls (called the </a:t>
            </a:r>
            <a:r>
              <a:rPr lang="en-US" i="1"/>
              <a:t>rise</a:t>
            </a:r>
            <a:r>
              <a:rPr lang="en-US"/>
              <a:t>) within a certain horizontal distance (called the </a:t>
            </a:r>
            <a:r>
              <a:rPr lang="en-US" i="1"/>
              <a:t>run</a:t>
            </a:r>
            <a:r>
              <a:rPr lang="en-US"/>
              <a:t>). </a:t>
            </a:r>
          </a:p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067720" y="3608973"/>
            <a:ext cx="5009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gradient is equal to the </a:t>
            </a:r>
            <a:r>
              <a:rPr lang="en-US" i="1" dirty="0"/>
              <a:t>rise </a:t>
            </a:r>
            <a:r>
              <a:rPr lang="en-US" dirty="0"/>
              <a:t>divided by the </a:t>
            </a:r>
            <a:r>
              <a:rPr lang="en-US" i="1" dirty="0"/>
              <a:t>run</a:t>
            </a:r>
            <a:r>
              <a:rPr lang="en-US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195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550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smtClean="0"/>
              <a:t>Gradient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Gradient?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21639" y="2173581"/>
            <a:ext cx="1835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gradient?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67720" y="2128486"/>
            <a:ext cx="4583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gradient of a line is a measure of its slope.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7720" y="2480391"/>
            <a:ext cx="48190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It is a number that shows the steepness of a line. 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067720" y="2899256"/>
            <a:ext cx="5997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It is calculated by knowing how far a line rises or falls (called the </a:t>
            </a:r>
            <a:r>
              <a:rPr lang="en-US" i="1"/>
              <a:t>rise</a:t>
            </a:r>
            <a:r>
              <a:rPr lang="en-US"/>
              <a:t>) within a certain horizontal distance (called the </a:t>
            </a:r>
            <a:r>
              <a:rPr lang="en-US" i="1"/>
              <a:t>run</a:t>
            </a:r>
            <a:r>
              <a:rPr lang="en-US"/>
              <a:t>). </a:t>
            </a:r>
          </a:p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067720" y="3608973"/>
            <a:ext cx="5009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gradient is equal to the </a:t>
            </a:r>
            <a:r>
              <a:rPr lang="en-US" i="1" dirty="0"/>
              <a:t>rise </a:t>
            </a:r>
            <a:r>
              <a:rPr lang="en-US" dirty="0"/>
              <a:t>divided by the </a:t>
            </a:r>
            <a:r>
              <a:rPr lang="en-US" i="1" dirty="0"/>
              <a:t>run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067720" y="4091224"/>
            <a:ext cx="41879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 letter </a:t>
            </a:r>
            <a:r>
              <a:rPr lang="en-US" i="1"/>
              <a:t>m </a:t>
            </a:r>
            <a:r>
              <a:rPr lang="en-US"/>
              <a:t>is used to represent gradient.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154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Gradient?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21639" y="2173581"/>
            <a:ext cx="1835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gradient?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67720" y="2128486"/>
            <a:ext cx="4583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gradient of a line is a measure of its slope.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7720" y="2480391"/>
            <a:ext cx="48190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It is a number that shows the steepness of a line. 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067720" y="2899256"/>
            <a:ext cx="5997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It is calculated by knowing how far a line rises or falls (called the </a:t>
            </a:r>
            <a:r>
              <a:rPr lang="en-US" i="1"/>
              <a:t>rise</a:t>
            </a:r>
            <a:r>
              <a:rPr lang="en-US"/>
              <a:t>) within a certain horizontal distance (called the </a:t>
            </a:r>
            <a:r>
              <a:rPr lang="en-US" i="1"/>
              <a:t>run</a:t>
            </a:r>
            <a:r>
              <a:rPr lang="en-US"/>
              <a:t>). </a:t>
            </a:r>
          </a:p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067720" y="3608973"/>
            <a:ext cx="5009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gradient is equal to the </a:t>
            </a:r>
            <a:r>
              <a:rPr lang="en-US" i="1" dirty="0"/>
              <a:t>rise </a:t>
            </a:r>
            <a:r>
              <a:rPr lang="en-US" dirty="0"/>
              <a:t>divided by the </a:t>
            </a:r>
            <a:r>
              <a:rPr lang="en-US" i="1" dirty="0"/>
              <a:t>run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067720" y="4091224"/>
            <a:ext cx="41879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 letter </a:t>
            </a:r>
            <a:r>
              <a:rPr lang="en-US" i="1"/>
              <a:t>m </a:t>
            </a:r>
            <a:r>
              <a:rPr lang="en-US"/>
              <a:t>is used to represent gradient. </a:t>
            </a:r>
          </a:p>
          <a:p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5058" y="4704579"/>
            <a:ext cx="4724400" cy="901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15616" y="404664"/>
            <a:ext cx="14550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smtClean="0"/>
              <a:t>Gradient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860010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Gradient?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21639" y="2173581"/>
            <a:ext cx="1835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gradient?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67720" y="2128486"/>
            <a:ext cx="4583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gradient of a line is a measure of its slope.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7720" y="2480391"/>
            <a:ext cx="48190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It is a number that shows the steepness of a line. 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067720" y="2899256"/>
            <a:ext cx="5997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It is calculated by knowing how far a line rises or falls (called the </a:t>
            </a:r>
            <a:r>
              <a:rPr lang="en-US" i="1"/>
              <a:t>rise</a:t>
            </a:r>
            <a:r>
              <a:rPr lang="en-US"/>
              <a:t>) within a certain horizontal distance (called the </a:t>
            </a:r>
            <a:r>
              <a:rPr lang="en-US" i="1"/>
              <a:t>run</a:t>
            </a:r>
            <a:r>
              <a:rPr lang="en-US"/>
              <a:t>). </a:t>
            </a:r>
          </a:p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067720" y="3608973"/>
            <a:ext cx="5009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gradient is equal to the </a:t>
            </a:r>
            <a:r>
              <a:rPr lang="en-US" i="1" dirty="0"/>
              <a:t>rise </a:t>
            </a:r>
            <a:r>
              <a:rPr lang="en-US" dirty="0"/>
              <a:t>divided by the </a:t>
            </a:r>
            <a:r>
              <a:rPr lang="en-US" i="1" dirty="0"/>
              <a:t>run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067720" y="4091224"/>
            <a:ext cx="41879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 letter </a:t>
            </a:r>
            <a:r>
              <a:rPr lang="en-US" i="1"/>
              <a:t>m </a:t>
            </a:r>
            <a:r>
              <a:rPr lang="en-US"/>
              <a:t>is used to represent gradient. </a:t>
            </a:r>
          </a:p>
          <a:p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5058" y="4704579"/>
            <a:ext cx="4724400" cy="901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054401" y="5606279"/>
            <a:ext cx="60110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Engineers apply their knowledge of gradients when designing roads, bridges, railway lines and buildings. </a:t>
            </a:r>
          </a:p>
          <a:p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1115616" y="404664"/>
            <a:ext cx="14550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smtClean="0"/>
              <a:t>Gradient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045820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728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Gradient?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1115616" y="404664"/>
            <a:ext cx="14550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smtClean="0"/>
              <a:t>Gradient</a:t>
            </a:r>
            <a:endParaRPr lang="en-AU" sz="28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852" y="2579202"/>
            <a:ext cx="2462305" cy="17662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9633" y="4653136"/>
            <a:ext cx="235274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If the line slopes up from left to right, the rise is positive and the gradient is positive. </a:t>
            </a:r>
          </a:p>
          <a:p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287" y="6005542"/>
            <a:ext cx="2197100" cy="635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347864" y="4602004"/>
            <a:ext cx="274231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If the line slopes down from left to right, the rise is considered to be negative and the gradient is negative. </a:t>
            </a:r>
          </a:p>
          <a:p>
            <a:endParaRPr lang="en-US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167" y="2544609"/>
            <a:ext cx="2422480" cy="193254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147" y="5903942"/>
            <a:ext cx="2349500" cy="7366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05332" y="2060848"/>
            <a:ext cx="834313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mtClean="0">
                <a:latin typeface="ACaslon" charset="0"/>
              </a:rPr>
              <a:t>Important Note:  Always </a:t>
            </a:r>
            <a:r>
              <a:rPr lang="en-US" dirty="0">
                <a:latin typeface="ACaslon" charset="0"/>
              </a:rPr>
              <a:t>move from left to right when considering the rise and the run</a:t>
            </a:r>
            <a:r>
              <a:rPr lang="en-US" dirty="0" smtClean="0">
                <a:latin typeface="ACaslon" charset="0"/>
              </a:rPr>
              <a:t>.</a:t>
            </a:r>
          </a:p>
          <a:p>
            <a:r>
              <a:rPr lang="en-US" dirty="0">
                <a:latin typeface="ACaslon" charset="0"/>
              </a:rPr>
              <a:t/>
            </a:r>
            <a:br>
              <a:rPr lang="en-US" dirty="0">
                <a:latin typeface="ACaslon" charset="0"/>
              </a:rPr>
            </a:b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88789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728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Gradient?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1115616" y="404664"/>
            <a:ext cx="14550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smtClean="0"/>
              <a:t>Gradient</a:t>
            </a:r>
            <a:endParaRPr lang="en-AU" sz="2800" dirty="0"/>
          </a:p>
        </p:txBody>
      </p:sp>
      <p:sp>
        <p:nvSpPr>
          <p:cNvPr id="3" name="Rectangle 2"/>
          <p:cNvSpPr/>
          <p:nvPr/>
        </p:nvSpPr>
        <p:spPr>
          <a:xfrm>
            <a:off x="384786" y="2103239"/>
            <a:ext cx="83551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charset="0"/>
              <a:buChar char="•"/>
            </a:pPr>
            <a:r>
              <a:rPr lang="en-US" dirty="0">
                <a:solidFill>
                  <a:srgbClr val="D80000"/>
                </a:solidFill>
                <a:latin typeface="ACaslon" charset="0"/>
              </a:rPr>
              <a:t>The gradient can also be zero (when a line is horizontal) and </a:t>
            </a:r>
            <a:r>
              <a:rPr lang="en-US" dirty="0" err="1" smtClean="0">
                <a:solidFill>
                  <a:srgbClr val="D80000"/>
                </a:solidFill>
                <a:latin typeface="ACaslon" charset="0"/>
              </a:rPr>
              <a:t>underfined</a:t>
            </a:r>
            <a:r>
              <a:rPr lang="en-US" dirty="0" smtClean="0">
                <a:solidFill>
                  <a:srgbClr val="D80000"/>
                </a:solidFill>
                <a:latin typeface="ACaslon" charset="0"/>
              </a:rPr>
              <a:t> </a:t>
            </a:r>
            <a:r>
              <a:rPr lang="en-US" dirty="0">
                <a:solidFill>
                  <a:srgbClr val="D80000"/>
                </a:solidFill>
                <a:latin typeface="ACaslon" charset="0"/>
              </a:rPr>
              <a:t>(when a line is vertical). </a:t>
            </a:r>
            <a:endParaRPr lang="en-US" sz="800" dirty="0">
              <a:solidFill>
                <a:srgbClr val="D80000"/>
              </a:solidFill>
              <a:effectLst/>
              <a:latin typeface="ZapfDingbats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55" y="2863199"/>
            <a:ext cx="25400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547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728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Gradient?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1115616" y="404664"/>
            <a:ext cx="14550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smtClean="0"/>
              <a:t>Gradient</a:t>
            </a:r>
            <a:endParaRPr lang="en-AU" sz="2800" dirty="0"/>
          </a:p>
        </p:txBody>
      </p:sp>
      <p:sp>
        <p:nvSpPr>
          <p:cNvPr id="3" name="Rectangle 2"/>
          <p:cNvSpPr/>
          <p:nvPr/>
        </p:nvSpPr>
        <p:spPr>
          <a:xfrm>
            <a:off x="384786" y="2103239"/>
            <a:ext cx="83551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charset="0"/>
              <a:buChar char="•"/>
            </a:pPr>
            <a:r>
              <a:rPr lang="en-US" dirty="0">
                <a:solidFill>
                  <a:srgbClr val="D80000"/>
                </a:solidFill>
                <a:latin typeface="ACaslon" charset="0"/>
              </a:rPr>
              <a:t>The gradient can also be zero (when a line is horizontal) and </a:t>
            </a:r>
            <a:r>
              <a:rPr lang="en-US" dirty="0" smtClean="0">
                <a:solidFill>
                  <a:srgbClr val="D80000"/>
                </a:solidFill>
                <a:latin typeface="ACaslon" charset="0"/>
              </a:rPr>
              <a:t>undefined </a:t>
            </a:r>
            <a:r>
              <a:rPr lang="en-US" dirty="0">
                <a:solidFill>
                  <a:srgbClr val="D80000"/>
                </a:solidFill>
                <a:latin typeface="ACaslon" charset="0"/>
              </a:rPr>
              <a:t>(when a line is vertical). </a:t>
            </a:r>
            <a:endParaRPr lang="en-US" sz="800" dirty="0">
              <a:solidFill>
                <a:srgbClr val="D80000"/>
              </a:solidFill>
              <a:effectLst/>
              <a:latin typeface="ZapfDingbats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55" y="2863199"/>
            <a:ext cx="2540000" cy="2095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164" y="2897770"/>
            <a:ext cx="2247900" cy="20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794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Guided 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Slope Foldable - Work through </a:t>
            </a:r>
            <a:r>
              <a:rPr lang="en-US" dirty="0"/>
              <a:t>as a </a:t>
            </a:r>
            <a:r>
              <a:rPr lang="en-US" dirty="0" smtClean="0"/>
              <a:t>class.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9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 smtClean="0"/>
              <a:t>Check for understanding</a:t>
            </a:r>
            <a:endParaRPr lang="en-AU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2091384" y="1700808"/>
            <a:ext cx="48172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Completion of gradient foldable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93693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 smtClean="0"/>
              <a:t>Gradient revision questions as attached.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29401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Closure 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Exit Pass Attached.</a:t>
            </a: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486938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1544</TotalTime>
  <Words>754</Words>
  <Application>Microsoft Macintosh PowerPoint</Application>
  <PresentationFormat>On-screen Show (4:3)</PresentationFormat>
  <Paragraphs>149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ACaslon</vt:lpstr>
      <vt:lpstr>ZapfDingbats</vt:lpstr>
      <vt:lpstr>Arial</vt:lpstr>
      <vt:lpstr>Calibri</vt:lpstr>
      <vt:lpstr>Office Theme</vt:lpstr>
      <vt:lpstr>Yr 10 Week 7</vt:lpstr>
      <vt:lpstr>Success Criteria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Activity</vt:lpstr>
      <vt:lpstr>Closure activity</vt:lpstr>
      <vt:lpstr>Homework</vt:lpstr>
    </vt:vector>
  </TitlesOfParts>
  <Company>The Department of Education</Company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Kath Farmer</cp:lastModifiedBy>
  <cp:revision>101</cp:revision>
  <dcterms:created xsi:type="dcterms:W3CDTF">2014-05-14T02:58:57Z</dcterms:created>
  <dcterms:modified xsi:type="dcterms:W3CDTF">2017-03-10T09:56:46Z</dcterms:modified>
</cp:coreProperties>
</file>
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9" r:id="rId2"/>
    <p:sldId id="261" r:id="rId3"/>
    <p:sldId id="263" r:id="rId4"/>
    <p:sldId id="262" r:id="rId5"/>
    <p:sldId id="278" r:id="rId6"/>
    <p:sldId id="279" r:id="rId7"/>
    <p:sldId id="280" r:id="rId8"/>
    <p:sldId id="281" r:id="rId9"/>
    <p:sldId id="264" r:id="rId10"/>
    <p:sldId id="265" r:id="rId11"/>
    <p:sldId id="266" r:id="rId12"/>
    <p:sldId id="277" r:id="rId13"/>
    <p:sldId id="267" r:id="rId14"/>
    <p:sldId id="268" r:id="rId15"/>
    <p:sldId id="271" r:id="rId16"/>
    <p:sldId id="276" r:id="rId17"/>
    <p:sldId id="274" r:id="rId18"/>
    <p:sldId id="272" r:id="rId19"/>
    <p:sldId id="289" r:id="rId20"/>
    <p:sldId id="273" r:id="rId21"/>
    <p:sldId id="260" r:id="rId22"/>
    <p:sldId id="275" r:id="rId23"/>
    <p:sldId id="282" r:id="rId24"/>
    <p:sldId id="285" r:id="rId25"/>
    <p:sldId id="286" r:id="rId26"/>
    <p:sldId id="283" r:id="rId27"/>
    <p:sldId id="284" r:id="rId28"/>
    <p:sldId id="288" r:id="rId29"/>
    <p:sldId id="287" r:id="rId30"/>
    <p:sldId id="25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3" autoAdjust="0"/>
    <p:restoredTop sz="94194" autoAdjust="0"/>
  </p:normalViewPr>
  <p:slideViewPr>
    <p:cSldViewPr>
      <p:cViewPr varScale="1">
        <p:scale>
          <a:sx n="72" d="100"/>
          <a:sy n="72" d="100"/>
        </p:scale>
        <p:origin x="1620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B0D2E-A517-4AC4-96DE-3105AA030104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99C6F-262A-46E2-A6F0-2866892AF66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75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B78C9D-31C2-418C-91D7-97357483D33F}" type="slidenum">
              <a:rPr lang="en-US" smtClean="0">
                <a:cs typeface="Arial" charset="0"/>
              </a:rPr>
              <a:pPr/>
              <a:t>1</a:t>
            </a:fld>
            <a:endParaRPr lang="en-US" dirty="0">
              <a:cs typeface="Arial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288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</a:t>
            </a:r>
            <a:r>
              <a:rPr lang="en-GB" baseline="0" dirty="0"/>
              <a:t> bring some interaction to the lesson ask students to name a number in Set A. For good practice also emphasis to arrange numbers with set from smallest to largest.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37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</a:t>
            </a:r>
            <a:r>
              <a:rPr lang="en-GB" baseline="0" dirty="0"/>
              <a:t> bring some interaction to the lesson ask students to name a number in Set A. For good practice also emphasis to arrange numbers with set from smallest to largest.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8253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Students could be</a:t>
            </a:r>
            <a:r>
              <a:rPr lang="en-GB" baseline="0" dirty="0"/>
              <a:t> asked to draw this Venn Diagram in there books for reference to all of the lessons Q’s.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528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Different Venn</a:t>
            </a:r>
            <a:r>
              <a:rPr lang="en-GB" baseline="0" dirty="0"/>
              <a:t> Diagrams available depending on ability. </a:t>
            </a:r>
          </a:p>
          <a:p>
            <a:r>
              <a:rPr lang="en-GB" baseline="0" dirty="0"/>
              <a:t>Could be used to increase level of differentiation in class for mixed ability classes.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269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Different Venn</a:t>
            </a:r>
            <a:r>
              <a:rPr lang="en-GB" baseline="0" dirty="0"/>
              <a:t> Diagrams available depending on ability. </a:t>
            </a:r>
          </a:p>
          <a:p>
            <a:r>
              <a:rPr lang="en-GB" baseline="0" dirty="0"/>
              <a:t>Could be used to increase level of differentiation in class for mixed ability classes.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6429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Different Venn</a:t>
            </a:r>
            <a:r>
              <a:rPr lang="en-GB" baseline="0" dirty="0"/>
              <a:t> Diagrams available depending on ability. </a:t>
            </a:r>
          </a:p>
          <a:p>
            <a:r>
              <a:rPr lang="en-GB" baseline="0" dirty="0"/>
              <a:t>Could be used to increase level of differentiation in class for mixed ability classes.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2908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5753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3409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Simple plenary</a:t>
            </a:r>
            <a:r>
              <a:rPr lang="en-GB" baseline="0" dirty="0"/>
              <a:t> asking what is wrong with the sets and subsets describing the Venn diagram above.</a:t>
            </a:r>
          </a:p>
          <a:p>
            <a:endParaRPr lang="en-GB" baseline="0" dirty="0"/>
          </a:p>
          <a:p>
            <a:r>
              <a:rPr lang="en-GB" baseline="0" dirty="0"/>
              <a:t>Could (Can) you draw a Venn diagram (on the board) that matches one of the descriptors below.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912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DBA4D8-8FEA-4169-BB78-2C529799F2AA}" type="slidenum">
              <a:rPr lang="en-GB" altLang="en-US"/>
              <a:pPr eaLnBrk="1" hangingPunct="1"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4484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BB51-4380-4E69-AFF7-3B0E0F118A86}" type="datetimeFigureOut">
              <a:rPr lang="en-GB" smtClean="0"/>
              <a:pPr/>
              <a:t>06/10/2017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1835696" y="1"/>
            <a:ext cx="1933388" cy="500042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Aspirational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80312" y="1"/>
            <a:ext cx="1763688" cy="500042"/>
          </a:xfrm>
          <a:prstGeom prst="roundRect">
            <a:avLst/>
          </a:prstGeom>
          <a:solidFill>
            <a:srgbClr val="00B0F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tx1"/>
                </a:solidFill>
              </a:rPr>
              <a:t>Engaged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79912" y="0"/>
            <a:ext cx="1872208" cy="500042"/>
          </a:xfrm>
          <a:prstGeom prst="roundRect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0" y="1"/>
            <a:ext cx="1835696" cy="500041"/>
          </a:xfrm>
          <a:prstGeom prst="roundRect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tx1"/>
                </a:solidFill>
              </a:rPr>
              <a:t>Resilient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52120" y="1"/>
            <a:ext cx="1728192" cy="500042"/>
          </a:xfrm>
          <a:prstGeom prst="roundRect">
            <a:avLst/>
          </a:prstGeom>
          <a:solidFill>
            <a:srgbClr val="FACEED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tx1"/>
                </a:solidFill>
              </a:rPr>
              <a:t>Supportive</a:t>
            </a:r>
          </a:p>
        </p:txBody>
      </p:sp>
      <p:sp>
        <p:nvSpPr>
          <p:cNvPr id="3095" name="Rectangle 9"/>
          <p:cNvSpPr>
            <a:spLocks noChangeArrowheads="1"/>
          </p:cNvSpPr>
          <p:nvPr/>
        </p:nvSpPr>
        <p:spPr bwMode="auto">
          <a:xfrm>
            <a:off x="2033972" y="798659"/>
            <a:ext cx="5508104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u="sng" dirty="0">
                <a:latin typeface="Comic Sans MS" pitchFamily="66" charset="0"/>
              </a:rPr>
              <a:t>Venn Diagrams</a:t>
            </a:r>
          </a:p>
        </p:txBody>
      </p:sp>
      <p:sp>
        <p:nvSpPr>
          <p:cNvPr id="3096" name="Rectangle 2"/>
          <p:cNvSpPr>
            <a:spLocks noGrp="1" noChangeArrowheads="1"/>
          </p:cNvSpPr>
          <p:nvPr>
            <p:ph type="title"/>
          </p:nvPr>
        </p:nvSpPr>
        <p:spPr>
          <a:xfrm>
            <a:off x="2248309" y="524339"/>
            <a:ext cx="6807621" cy="548637"/>
          </a:xfrm>
        </p:spPr>
        <p:txBody>
          <a:bodyPr>
            <a:normAutofit fontScale="90000"/>
          </a:bodyPr>
          <a:lstStyle/>
          <a:p>
            <a:pPr algn="r" eaLnBrk="1" hangingPunct="1"/>
            <a:fld id="{1CBF70FF-8D4D-4112-BFC2-4E6BD59896A6}" type="datetime5">
              <a:rPr lang="en-GB" sz="3200" b="1" u="sng" smtClean="0">
                <a:latin typeface="Comic Sans MS" pitchFamily="66" charset="0"/>
              </a:rPr>
              <a:t>6-Oct-17</a:t>
            </a:fld>
            <a:endParaRPr lang="en-US" sz="3200" b="1" u="sng" dirty="0">
              <a:latin typeface="Comic Sans MS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1290127"/>
            <a:ext cx="820891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/>
              <a:t>Learning Objective</a:t>
            </a:r>
            <a:r>
              <a:rPr lang="en-GB" sz="3200" b="1" dirty="0"/>
              <a:t>: </a:t>
            </a:r>
          </a:p>
          <a:p>
            <a:r>
              <a:rPr lang="en-GB" sz="3200" b="1" dirty="0"/>
              <a:t> Be               in my construction of Venn diagrams. </a:t>
            </a:r>
            <a:endParaRPr lang="en-GB" sz="3200" b="1" u="sng" dirty="0"/>
          </a:p>
          <a:p>
            <a:endParaRPr lang="en-GB" sz="2400" u="sng" dirty="0"/>
          </a:p>
          <a:p>
            <a:r>
              <a:rPr lang="en-GB" sz="2400" u="sng" dirty="0"/>
              <a:t>Starter:</a:t>
            </a:r>
          </a:p>
          <a:p>
            <a:pPr marL="514350" indent="-514350">
              <a:buAutoNum type="arabicParenR"/>
            </a:pPr>
            <a:r>
              <a:rPr lang="en-GB" sz="2400" dirty="0"/>
              <a:t>454 + 528</a:t>
            </a:r>
          </a:p>
          <a:p>
            <a:pPr marL="514350" indent="-514350">
              <a:buAutoNum type="arabicParenR"/>
            </a:pPr>
            <a:r>
              <a:rPr lang="en-GB" sz="2400" dirty="0"/>
              <a:t>768 – 375</a:t>
            </a:r>
          </a:p>
          <a:p>
            <a:pPr marL="514350" indent="-514350">
              <a:buAutoNum type="arabicParenR"/>
            </a:pPr>
            <a:r>
              <a:rPr lang="en-GB" sz="2400" dirty="0"/>
              <a:t>23 x 7</a:t>
            </a:r>
          </a:p>
          <a:p>
            <a:pPr marL="514350" indent="-514350">
              <a:buAutoNum type="arabicParenR"/>
            </a:pPr>
            <a:r>
              <a:rPr lang="en-GB" sz="2400" dirty="0"/>
              <a:t>354 ÷ 6</a:t>
            </a:r>
          </a:p>
          <a:p>
            <a:pPr marL="514350" indent="-514350">
              <a:buAutoNum type="arabicParenR"/>
            </a:pPr>
            <a:r>
              <a:rPr lang="en-GB" sz="2400" dirty="0"/>
              <a:t>In a class of 30 students, of which 8 girls who liked hockey and 4 boys did not. </a:t>
            </a:r>
          </a:p>
          <a:p>
            <a:r>
              <a:rPr lang="en-GB" sz="2400" dirty="0"/>
              <a:t>       If there are 17 girls in the class, how many boys like hockey?</a:t>
            </a:r>
          </a:p>
          <a:p>
            <a:endParaRPr lang="en-GB" sz="2800" dirty="0"/>
          </a:p>
          <a:p>
            <a:endParaRPr lang="en-GB" sz="2000" b="1" dirty="0"/>
          </a:p>
          <a:p>
            <a:pPr lvl="2"/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1293183" y="1808430"/>
            <a:ext cx="1085026" cy="432048"/>
          </a:xfrm>
          <a:prstGeom prst="roundRect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tx1"/>
                </a:solidFill>
              </a:rPr>
              <a:t>resilient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585" y="3466660"/>
            <a:ext cx="986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= 982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3784" y="3833081"/>
            <a:ext cx="986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70C0"/>
                </a:solidFill>
              </a:rPr>
              <a:t>= </a:t>
            </a:r>
            <a:r>
              <a:rPr lang="en-GB" sz="2400" b="1" dirty="0">
                <a:solidFill>
                  <a:srgbClr val="0070C0"/>
                </a:solidFill>
              </a:rPr>
              <a:t>393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98217" y="4199708"/>
            <a:ext cx="986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70C0"/>
                </a:solidFill>
              </a:rPr>
              <a:t>= </a:t>
            </a:r>
            <a:r>
              <a:rPr lang="en-GB" sz="2400" b="1" dirty="0">
                <a:solidFill>
                  <a:srgbClr val="0070C0"/>
                </a:solidFill>
              </a:rPr>
              <a:t>161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9686" y="6082272"/>
            <a:ext cx="374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9 boys like hockey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8309" y="4566335"/>
            <a:ext cx="986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= 59</a:t>
            </a:r>
          </a:p>
        </p:txBody>
      </p:sp>
    </p:spTree>
    <p:extLst>
      <p:ext uri="{BB962C8B-B14F-4D97-AF65-F5344CB8AC3E}">
        <p14:creationId xmlns:p14="http://schemas.microsoft.com/office/powerpoint/2010/main" val="328887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GB" dirty="0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maths, a </a:t>
            </a:r>
            <a:r>
              <a:rPr lang="en-GB" i="1" dirty="0"/>
              <a:t>set</a:t>
            </a:r>
            <a:r>
              <a:rPr lang="en-GB" dirty="0"/>
              <a:t>, is a collection of items/numbers.</a:t>
            </a:r>
          </a:p>
          <a:p>
            <a:endParaRPr lang="en-GB" dirty="0"/>
          </a:p>
          <a:p>
            <a:r>
              <a:rPr lang="en-GB" dirty="0"/>
              <a:t>Similar to school, where classes are often called </a:t>
            </a:r>
            <a:r>
              <a:rPr lang="en-GB" i="1" dirty="0"/>
              <a:t>sets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In school a set is collections of students. </a:t>
            </a:r>
          </a:p>
        </p:txBody>
      </p:sp>
    </p:spTree>
    <p:extLst>
      <p:ext uri="{BB962C8B-B14F-4D97-AF65-F5344CB8AC3E}">
        <p14:creationId xmlns:p14="http://schemas.microsoft.com/office/powerpoint/2010/main" val="383945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GB" dirty="0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First up we need to introduce some new notation (symbols) that mathematicians use when defining sets.  </a:t>
            </a:r>
          </a:p>
          <a:p>
            <a:pPr marL="400050" lvl="1" indent="0">
              <a:buNone/>
            </a:pPr>
            <a:r>
              <a:rPr lang="en-GB" b="1" u="sng" dirty="0"/>
              <a:t>Example</a:t>
            </a:r>
          </a:p>
          <a:p>
            <a:pPr marL="0" indent="0" algn="ctr">
              <a:buNone/>
            </a:pPr>
            <a:r>
              <a:rPr lang="en-GB" b="1" dirty="0"/>
              <a:t>A = {1, 2, 4, 5, 8}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This means that the set </a:t>
            </a:r>
            <a:r>
              <a:rPr lang="en-GB" b="1" dirty="0"/>
              <a:t>A</a:t>
            </a:r>
            <a:r>
              <a:rPr lang="en-GB" dirty="0"/>
              <a:t> contains the numbers </a:t>
            </a:r>
            <a:r>
              <a:rPr lang="en-GB" b="1" dirty="0"/>
              <a:t>1, 2, 4, 5 </a:t>
            </a:r>
            <a:r>
              <a:rPr lang="en-GB" dirty="0"/>
              <a:t>and</a:t>
            </a:r>
            <a:r>
              <a:rPr lang="en-GB" b="1" dirty="0"/>
              <a:t> 8</a:t>
            </a:r>
            <a:r>
              <a:rPr lang="en-GB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0734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VENN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Venn diagrams are a way we can collect, and often sort, </a:t>
            </a:r>
            <a:r>
              <a:rPr lang="en-GB" i="1" dirty="0"/>
              <a:t>sets</a:t>
            </a:r>
            <a:r>
              <a:rPr lang="en-GB" dirty="0"/>
              <a:t>. 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reason we use Venn diagrams is that they provide a really nice visual way of sorting </a:t>
            </a:r>
            <a:r>
              <a:rPr lang="en-GB" i="1" dirty="0"/>
              <a:t>sets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919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1560" y="3068960"/>
            <a:ext cx="7848872" cy="3312368"/>
          </a:xfrm>
          <a:prstGeom prst="rect">
            <a:avLst/>
          </a:prstGeom>
          <a:solidFill>
            <a:schemeClr val="lt1">
              <a:alpha val="0"/>
            </a:schemeClr>
          </a:solidFill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VENN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Venn Diagram quite simply consists of a Box with Circles in it. </a:t>
            </a:r>
          </a:p>
        </p:txBody>
      </p:sp>
      <p:sp>
        <p:nvSpPr>
          <p:cNvPr id="5" name="Oval 4"/>
          <p:cNvSpPr/>
          <p:nvPr/>
        </p:nvSpPr>
        <p:spPr>
          <a:xfrm>
            <a:off x="1517032" y="3282993"/>
            <a:ext cx="2401924" cy="2736304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5197098" y="3284984"/>
            <a:ext cx="2401924" cy="2736304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49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2672558"/>
            <a:ext cx="7442007" cy="3132706"/>
          </a:xfrm>
          <a:prstGeom prst="rect">
            <a:avLst/>
          </a:prstGeom>
          <a:solidFill>
            <a:schemeClr val="lt1">
              <a:alpha val="0"/>
            </a:schemeClr>
          </a:solidFill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VENN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Quite often you will see the circles overlapping like this: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But what’s the difference?  Let’s have a look….</a:t>
            </a:r>
          </a:p>
        </p:txBody>
      </p:sp>
      <p:sp>
        <p:nvSpPr>
          <p:cNvPr id="5" name="Oval 4"/>
          <p:cNvSpPr/>
          <p:nvPr/>
        </p:nvSpPr>
        <p:spPr>
          <a:xfrm>
            <a:off x="1545178" y="2852936"/>
            <a:ext cx="3194012" cy="2736304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4139952" y="2852936"/>
            <a:ext cx="2999153" cy="2736304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95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2888940"/>
            <a:ext cx="7442007" cy="3780778"/>
          </a:xfrm>
          <a:prstGeom prst="rect">
            <a:avLst/>
          </a:prstGeom>
          <a:solidFill>
            <a:schemeClr val="lt1">
              <a:alpha val="0"/>
            </a:schemeClr>
          </a:solidFill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745"/>
            <a:ext cx="8229600" cy="1143000"/>
          </a:xfrm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VENN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71745"/>
            <a:ext cx="8892480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Set A contains the numbers 1, 3, 4, 5, 6, &amp; 7.</a:t>
            </a:r>
          </a:p>
          <a:p>
            <a:pPr marL="0" indent="0">
              <a:buNone/>
            </a:pPr>
            <a:r>
              <a:rPr lang="en-GB" dirty="0"/>
              <a:t>Using set notation we  can write; A = { 1, 3, 4, 5, 6, 7}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Oval 5"/>
          <p:cNvSpPr/>
          <p:nvPr/>
        </p:nvSpPr>
        <p:spPr>
          <a:xfrm>
            <a:off x="4067944" y="3100545"/>
            <a:ext cx="3744416" cy="3312368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1547664" y="3118368"/>
            <a:ext cx="3744416" cy="3312368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25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0996" y="2884163"/>
            <a:ext cx="7442007" cy="3780778"/>
          </a:xfrm>
          <a:prstGeom prst="rect">
            <a:avLst/>
          </a:prstGeom>
          <a:solidFill>
            <a:schemeClr val="lt1">
              <a:alpha val="0"/>
            </a:schemeClr>
          </a:solidFill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745"/>
            <a:ext cx="8229600" cy="1143000"/>
          </a:xfrm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VENN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1745"/>
            <a:ext cx="8229600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Set B contains the numbers 2, 4, 7, 8, &amp; 9.</a:t>
            </a:r>
          </a:p>
          <a:p>
            <a:pPr marL="0" indent="0">
              <a:buNone/>
            </a:pPr>
            <a:r>
              <a:rPr lang="en-GB" dirty="0"/>
              <a:t> Using set notation;         B = { 2, 4, 7, 8, 9}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Oval 5"/>
          <p:cNvSpPr/>
          <p:nvPr/>
        </p:nvSpPr>
        <p:spPr>
          <a:xfrm>
            <a:off x="4067944" y="3100545"/>
            <a:ext cx="3744416" cy="3312368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1547664" y="3118368"/>
            <a:ext cx="3744416" cy="3312368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99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23528" y="2204864"/>
            <a:ext cx="8640960" cy="450230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860"/>
            <a:ext cx="8229600" cy="1143000"/>
          </a:xfrm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208" y="12339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sets A and B are now in the Venn diagram below.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997260" y="2492896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779912" y="2492896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4285047" y="43018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5058" y="2573644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99475" y="3378506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7002" y="364063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95598" y="440174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22178" y="286104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76728" y="288347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3690" y="456396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28119" y="364063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68304" y="2582384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7392" y="328150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573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/>
        </p:nvSpPr>
        <p:spPr>
          <a:xfrm>
            <a:off x="943313" y="2346568"/>
            <a:ext cx="4392488" cy="3600400"/>
          </a:xfrm>
          <a:prstGeom prst="ellipse">
            <a:avLst/>
          </a:prstGeom>
          <a:solidFill>
            <a:srgbClr val="FFFF00">
              <a:alpha val="0"/>
            </a:srgbClr>
          </a:solidFill>
          <a:ln w="142875"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251520" y="2060848"/>
            <a:ext cx="8640960" cy="450230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61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Set A = {    ,     ,      ,     ,      ,  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925252" y="2348880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707904" y="2348880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4213039" y="415782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93050" y="2429628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7467" y="32344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4994" y="349661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6127" y="419491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50170" y="271702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04720" y="273945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51682" y="441994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56111" y="349661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6296" y="24383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5384" y="313748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57200" y="108331"/>
            <a:ext cx="8229600" cy="1143000"/>
          </a:xfrm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VENN DIAGRAM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57440" y="273945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53026" y="420672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32748" y="313265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71766" y="349430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324831" y="323118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0724" y="415550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479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-0.00903 L 0.00243 -0.0088 C 0.00139 -0.01227 -0.00243 -0.02593 -0.0033 -0.03033 C -0.00382 -0.03334 -0.00382 -0.03658 -0.00451 -0.03936 C -0.00503 -0.04213 -0.00607 -0.04445 -0.00677 -0.04699 C -0.00833 -0.05417 -0.01007 -0.06111 -0.01128 -0.06829 C -0.01232 -0.07454 -0.01441 -0.0875 -0.0158 -0.09398 C -0.01736 -0.10093 -0.02066 -0.11297 -0.02257 -0.11991 C -0.02361 -0.12338 -0.025 -0.12686 -0.02604 -0.13033 C -0.02691 -0.13334 -0.02743 -0.13658 -0.0283 -0.13959 C -0.02934 -0.1426 -0.03073 -0.14561 -0.03177 -0.14861 C -0.03246 -0.15116 -0.03316 -0.15371 -0.03403 -0.15625 C -0.03785 -0.18218 -0.03559 -0.17153 -0.03958 -0.18797 L -0.04184 -0.19723 L -0.04305 -0.20162 C -0.04305 -0.20255 -0.04496 -0.21991 -0.04531 -0.2213 C -0.04583 -0.22315 -0.04739 -0.22408 -0.04757 -0.22593 C -0.04809 -0.22986 -0.04757 -0.23403 -0.04757 -0.23797 " pathEditMode="relative" rAng="0" ptsTypes="AAAAAAAAAAAAAAAA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7" y="-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-0.0088 L 0.00364 -0.00857 C 0.00625 -0.02917 0.00642 -0.03241 0.01146 -0.05579 C 0.01302 -0.06297 0.01475 -0.06991 0.01597 -0.07709 C 0.01892 -0.09375 0.02135 -0.11042 0.02396 -0.12709 C 0.02639 -0.1426 0.03281 -0.18241 0.0342 -0.19537 C 0.03541 -0.20602 0.03663 -0.21644 0.03767 -0.22709 C 0.03889 -0.24074 0.03958 -0.2544 0.04097 -0.26806 L 0.04323 -0.28935 C 0.04357 -0.30232 0.04392 -0.31551 0.04444 -0.32871 C 0.04479 -0.33727 0.04548 -0.34584 0.04548 -0.3544 C 0.04548 -0.36412 0.04583 -0.37385 0.04444 -0.3831 C 0.04271 -0.39468 0.03958 -0.38889 0.03767 -0.39676 C 0.03715 -0.39838 0.0368 -0.39977 0.03646 -0.40139 C 0.03593 -0.40371 0.03507 -0.40949 0.0342 -0.41204 C 0.0335 -0.41366 0.03246 -0.41482 0.03194 -0.41644 C 0.03142 -0.41806 0.03125 -0.41968 0.03073 -0.42107 C 0.03021 -0.42269 0.02916 -0.42408 0.02847 -0.4257 C 0.0276 -0.42848 0.02708 -0.43172 0.02621 -0.43473 C 0.02587 -0.43635 0.02604 -0.43843 0.02517 -0.43935 L 0.0217 -0.44236 C 0.02048 -0.44908 0.01944 -0.44699 0.0217 -0.44977 " pathEditMode="relative" rAng="0" ptsTypes="AAAAAAAAAAAAAAAAAAAAAA">
                                      <p:cBhvr>
                                        <p:cTn id="1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-2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94 0.00533 L 0.00694 0.00556 C 0.00451 0.00116 0.00243 -0.00301 2.5E-6 -0.00694 C -0.00174 -0.00995 -0.00382 -0.01296 -0.00573 -0.01597 C -0.01511 -0.03217 0.00034 -0.00694 -0.01025 -0.02662 C -0.01111 -0.02824 -0.0125 -0.02963 -0.01354 -0.03125 C -0.01406 -0.03263 -0.01424 -0.03426 -0.01476 -0.03564 C -0.02049 -0.05092 -0.01337 -0.02777 -0.01927 -0.04629 C -0.02222 -0.05555 -0.01806 -0.04583 -0.02275 -0.05833 C -0.02327 -0.05995 -0.02431 -0.06134 -0.025 -0.06296 C -0.02587 -0.06551 -0.02639 -0.06805 -0.02726 -0.0706 C -0.0316 -0.08379 -0.02726 -0.06898 -0.03299 -0.08426 C -0.03351 -0.08564 -0.03334 -0.0875 -0.03403 -0.08865 C -0.03611 -0.09305 -0.03924 -0.09629 -0.0408 -0.10092 C -0.04601 -0.11458 -0.03959 -0.09814 -0.05 -0.11898 C -0.0507 -0.1206 -0.05139 -0.12222 -0.05226 -0.12361 C -0.0533 -0.12523 -0.05469 -0.12638 -0.05573 -0.12824 C -0.06285 -0.14027 -0.05695 -0.13449 -0.06354 -0.14027 C -0.0658 -0.14884 -0.06302 -0.1412 -0.06927 -0.1493 C -0.07136 -0.15208 -0.07327 -0.15532 -0.075 -0.15833 C -0.07656 -0.16134 -0.07761 -0.16504 -0.07952 -0.16759 C -0.08212 -0.17106 -0.08507 -0.1743 -0.0875 -0.17824 C -0.08906 -0.18055 -0.09028 -0.18333 -0.09202 -0.18564 C -0.09341 -0.1875 -0.09514 -0.18865 -0.09653 -0.19027 C -0.09931 -0.19351 -0.10139 -0.19814 -0.10452 -0.20092 C -0.10573 -0.20185 -0.10695 -0.20277 -0.10799 -0.20393 C -0.11354 -0.21018 -0.10868 -0.2074 -0.11476 -0.20995 C -0.1158 -0.21157 -0.11719 -0.21273 -0.11823 -0.21458 C -0.11979 -0.21736 -0.12084 -0.22106 -0.12275 -0.22361 C -0.1257 -0.22754 -0.12934 -0.23171 -0.13073 -0.23726 L -0.13403 -0.25092 L -0.13525 -0.25532 L -0.13629 -0.25995 C -0.13663 -0.26713 -0.13663 -0.27407 -0.1375 -0.28125 C -0.13785 -0.28426 -0.13802 -0.28796 -0.13976 -0.29027 L -0.1408 -0.29166 " pathEditMode="relative" rAng="0" ptsTypes="AAAAAAAAAAAAAAAAAAAAAAAAAAAAAAAAAA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96" y="-1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.00093 L 8.33333E-7 0.00116 C 0.00139 -0.00717 0.00295 -0.01528 0.00451 -0.02338 C 0.00521 -0.02801 0.00608 -0.03241 0.00677 -0.03704 C 0.00712 -0.04004 0.00712 -0.04329 0.00781 -0.04606 C 0.00833 -0.04838 0.00937 -0.05023 0.01007 -0.05231 C 0.01233 -0.08379 0.00972 -0.05532 0.01354 -0.08102 C 0.01406 -0.08449 0.01406 -0.08819 0.01476 -0.09166 C 0.01528 -0.09514 0.01615 -0.09861 0.01701 -0.10231 C 0.01736 -0.10416 0.01771 -0.10625 0.01805 -0.10833 C 0.01858 -0.11088 0.01892 -0.11319 0.01927 -0.11574 C 0.01962 -0.11875 0.01979 -0.12199 0.02031 -0.125 C 0.02066 -0.12639 0.02118 -0.12801 0.02153 -0.1294 C 0.02205 -0.13171 0.02292 -0.13773 0.02378 -0.14004 C 0.0243 -0.14166 0.02535 -0.14305 0.02604 -0.14467 C 0.02795 -0.14954 0.02969 -0.15486 0.03177 -0.15972 C 0.03316 -0.16319 0.0349 -0.16666 0.03628 -0.17037 C 0.03976 -0.17963 0.03924 -0.18148 0.04305 -0.19004 C 0.04514 -0.19467 0.04809 -0.19884 0.04983 -0.2037 C 0.05104 -0.20671 0.05226 -0.20972 0.0533 -0.21273 C 0.05903 -0.23217 0.05434 -0.22014 0.05903 -0.23403 C 0.05972 -0.23611 0.06042 -0.23819 0.06128 -0.24004 C 0.06198 -0.24166 0.06302 -0.24282 0.06354 -0.24467 C 0.06441 -0.24745 0.06476 -0.25092 0.0658 -0.2537 C 0.07101 -0.26736 0.0684 -0.26204 0.07257 -0.27037 C 0.07274 -0.27106 0.07413 -0.27963 0.07483 -0.28102 C 0.07569 -0.28264 0.07708 -0.28403 0.0783 -0.28541 C 0.07865 -0.2875 0.07899 -0.28958 0.07934 -0.29166 C 0.08003 -0.29467 0.08125 -0.29745 0.0816 -0.30069 C 0.08316 -0.31227 0.08229 -0.30671 0.08403 -0.31736 C 0.08351 -0.32176 0.08385 -0.32662 0.08281 -0.33102 C 0.08229 -0.33287 0.08021 -0.33379 0.07934 -0.33541 C 0.07812 -0.33796 0.0783 -0.33912 0.0783 -0.34143 " pathEditMode="relative" rAng="0" ptsTypes="AAAAAAAAAAAAAAAAAAAAAAAAAAAAAAAAA">
                                      <p:cBhvr>
                                        <p:cTn id="2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1" y="-1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764 L 0.00104 -0.00741 C 0.01129 0.01481 0.01476 0.02361 0.02934 0.04676 C 0.03316 0.05301 0.03629 0.05995 0.0408 0.06504 C 0.05191 0.07777 0.06372 0.08935 0.07604 0.09976 C 0.08351 0.10648 0.09045 0.11458 0.09861 0.11967 C 0.10209 0.12152 0.10573 0.12314 0.10886 0.12569 C 0.11146 0.12754 0.11302 0.13171 0.1158 0.1331 C 0.11962 0.13541 0.12413 0.13518 0.1283 0.13634 C 0.1349 0.13426 0.15295 0.13009 0.16129 0.12569 C 0.16597 0.12314 0.17014 0.11921 0.17483 0.11643 C 0.1783 0.11458 0.18177 0.11273 0.18507 0.11041 C 0.19115 0.10648 0.19722 0.10254 0.2033 0.09838 C 0.20521 0.09699 0.20712 0.0956 0.20903 0.09375 C 0.2132 0.08958 0.21736 0.08495 0.22153 0.08009 C 0.22344 0.07777 0.22552 0.07546 0.22709 0.07268 C 0.2316 0.06481 0.23525 0.05625 0.23959 0.04838 C 0.2507 0.02893 0.2375 0.05717 0.24879 0.03472 C 0.24965 0.03287 0.25018 0.03055 0.25104 0.0287 C 0.25504 0.01967 0.25434 0.02106 0.25903 0.01504 C 0.26146 0.00138 0.25816 0.01782 0.26459 -0.00463 C 0.26528 -0.00649 0.26545 -0.00857 0.2658 -0.01065 C 0.26736 -0.02084 0.26788 -0.03125 0.27031 -0.04098 C 0.27275 -0.05047 0.27257 -0.04977 0.27483 -0.06528 C 0.27726 -0.08241 0.28021 -0.09931 0.2816 -0.11667 C 0.28281 -0.12987 0.28386 -0.14306 0.28507 -0.15602 C 0.28542 -0.15857 0.28594 -0.16112 0.28629 -0.16366 C 0.28715 -0.17176 0.2875 -0.17987 0.28854 -0.18797 C 0.28924 -0.19352 0.29323 -0.20764 0.2941 -0.21204 C 0.29479 -0.21459 0.29479 -0.21713 0.29531 -0.21968 C 0.29584 -0.22223 0.29688 -0.22477 0.29757 -0.22732 C 0.3 -0.23704 0.29705 -0.22987 0.30104 -0.23797 C 0.30139 -0.24144 0.30156 -0.24491 0.30209 -0.24838 C 0.30243 -0.25 0.30313 -0.25139 0.3033 -0.25301 C 0.304 -0.26621 0.30347 -0.2794 0.30434 -0.29237 C 0.30469 -0.29561 0.30677 -0.29838 0.30677 -0.30139 L 0.30677 -0.3044 " pathEditMode="relative" rAng="0" ptsTypes="AAAAAAAAAAAAAAAAAAAAAAAAAAAAAAAAAAAAA">
                                      <p:cBhvr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78" y="-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00996 L -2.77778E-7 -0.00972 C -0.00104 -0.02315 -0.00191 -0.02662 -2.77778E-7 -0.04028 C 0.00087 -0.04514 0.0026 -0.04931 0.00347 -0.05394 C 0.00451 -0.05857 0.00469 -0.0632 0.00573 -0.06759 C 0.00712 -0.07338 0.00903 -0.07871 0.01024 -0.08426 C 0.01163 -0.09028 0.0125 -0.09653 0.01372 -0.10255 C 0.01441 -0.10602 0.01528 -0.10949 0.01597 -0.1132 C 0.02049 -0.13542 0.02552 -0.15834 0.02743 -0.18125 C 0.02847 -0.19398 0.02951 -0.20648 0.03073 -0.21921 L 0.03194 -0.22986 C 0.03281 -0.24815 0.0316 -0.24954 0.0342 -0.26158 C 0.03455 -0.2632 0.03472 -0.26482 0.03542 -0.26621 C 0.03594 -0.26783 0.03681 -0.26921 0.03767 -0.2706 C 0.03802 -0.27269 0.03906 -0.27917 0.03993 -0.28125 C 0.04045 -0.28287 0.04132 -0.28426 0.04219 -0.28588 C 0.04288 -0.28982 0.04392 -0.29375 0.04444 -0.29792 C 0.04514 -0.30394 0.04618 -0.31389 0.04792 -0.31921 L 0.05017 -0.32685 C 0.05035 -0.33009 0.05139 -0.34884 0.05243 -0.35394 C 0.05295 -0.35671 0.05399 -0.35903 0.05469 -0.36158 C 0.05504 -0.36459 0.05538 -0.36759 0.05573 -0.3706 C 0.05608 -0.37222 0.0566 -0.37361 0.05694 -0.37523 C 0.05747 -0.37824 0.05764 -0.38125 0.05816 -0.38426 C 0.06024 -0.39954 0.0592 -0.39514 0.06146 -0.40394 C 0.06181 -0.40695 0.06233 -0.41019 0.06267 -0.4132 C 0.06302 -0.41713 0.06319 -0.4213 0.06372 -0.42523 C 0.06406 -0.42685 0.06476 -0.42824 0.06493 -0.42986 C 0.0651 -0.43334 0.06493 -0.43681 0.06493 -0.44028 " pathEditMode="relative" rAng="0" ptsTypes="AAAAAAAAAAAAAAAAAAAAAAAAAAAAA">
                                      <p:cBhvr>
                                        <p:cTn id="3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7" y="-2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51520" y="2060848"/>
            <a:ext cx="8640960" cy="450230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3695824" y="2320273"/>
            <a:ext cx="4392488" cy="3600400"/>
          </a:xfrm>
          <a:prstGeom prst="ellipse">
            <a:avLst/>
          </a:prstGeom>
          <a:solidFill>
            <a:srgbClr val="FFFF00">
              <a:alpha val="0"/>
            </a:srgbClr>
          </a:solidFill>
          <a:ln w="142875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61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Set B = {    ,     ,      ,     ,  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857267" y="2332428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707904" y="2348880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4213039" y="415782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93050" y="2429628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7467" y="32344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4994" y="349661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6127" y="419491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50170" y="271702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04720" y="273945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51682" y="441994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56111" y="349661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6296" y="24383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5384" y="313748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57200" y="108331"/>
            <a:ext cx="8229600" cy="1143000"/>
          </a:xfrm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VENN DIAGRAM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57440" y="273945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53026" y="420672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32748" y="313265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71766" y="349430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324831" y="323118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0724" y="415550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0323" y="273945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44828" y="313979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18644" y="415298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51682" y="442291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61714" y="35130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165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1759 L -0.00365 -0.01736 C -0.00834 -0.01667 -0.01285 -0.01621 -0.01737 -0.01458 C -0.0224 -0.01273 -0.02726 -0.00949 -0.03212 -0.00695 C -0.06476 0.00949 -0.01806 -0.01366 -0.05035 0.00046 C -0.05417 0.00231 -0.05782 0.00509 -0.06164 0.00671 C -0.07032 0.01018 -0.07917 0.01273 -0.08785 0.01574 C -0.0908 0.01667 -0.09393 0.01805 -0.09688 0.01875 C -0.1007 0.01967 -0.10452 0.02037 -0.10834 0.02176 C -0.11198 0.02338 -0.1158 0.02523 -0.11962 0.02639 C -0.12865 0.0287 -0.13802 0.0294 -0.14688 0.03241 C -0.16962 0.04004 -0.15434 0.03542 -0.18559 0.04305 C -0.1875 0.04352 -0.18924 0.04421 -0.19115 0.04444 L -0.20938 0.04745 L -0.21858 0.04907 L -0.22865 0.05069 C -0.24879 0.05 -0.26893 0.05046 -0.28889 0.04907 C -0.29098 0.04884 -0.29271 0.04676 -0.29462 0.04606 C -0.29723 0.04514 -0.3 0.04491 -0.30261 0.04444 C -0.30487 0.04352 -0.30712 0.04236 -0.30938 0.04143 C -0.31198 0.04051 -0.31476 0.03958 -0.31737 0.03842 C -0.32014 0.03727 -0.32257 0.03518 -0.32535 0.03379 C -0.33091 0.03125 -0.3382 0.02986 -0.34358 0.02639 C -0.34584 0.02477 -0.34809 0.02338 -0.35035 0.02176 C -0.35226 0.02037 -0.354 0.01852 -0.35608 0.01713 C -0.36441 0.01157 -0.36302 0.01412 -0.37084 0.0081 C -0.37309 0.00625 -0.37518 0.0037 -0.37761 0.00208 C -0.39323 -0.00926 -0.3783 0.00393 -0.39237 -0.00695 C -0.3948 -0.0088 -0.39688 -0.01088 -0.39914 -0.01296 C -0.4007 -0.01458 -0.40209 -0.01644 -0.40365 -0.01759 C -0.40469 -0.01829 -0.40608 -0.01852 -0.40712 -0.01921 C -0.40973 -0.02176 -0.41233 -0.02454 -0.41511 -0.02662 C -0.41806 -0.02894 -0.42118 -0.03056 -0.42414 -0.03287 C -0.42605 -0.03426 -0.42796 -0.03588 -0.42987 -0.03727 C -0.43125 -0.03843 -0.43299 -0.03912 -0.43438 -0.04028 C -0.43577 -0.04167 -0.43664 -0.04352 -0.43785 -0.04491 C -0.43959 -0.04699 -0.44566 -0.05116 -0.44688 -0.05255 C -0.45 -0.05533 -0.45261 -0.05926 -0.45591 -0.06158 C -0.45747 -0.0625 -0.45921 -0.0632 -0.46059 -0.06458 C -0.47136 -0.07477 -0.45608 -0.06389 -0.46841 -0.07222 C -0.47969 -0.09213 -0.46233 -0.06227 -0.47761 -0.08426 C -0.48056 -0.08843 -0.48282 -0.09329 -0.48559 -0.09792 C -0.48698 -0.10046 -0.49011 -0.10556 -0.49011 -0.10533 C -0.4941 -0.12153 -0.49011 -0.1081 -0.49688 -0.12361 C -0.50087 -0.13287 -0.5 -0.13218 -0.50261 -0.1419 C -0.5033 -0.14445 -0.50382 -0.14699 -0.50487 -0.14954 C -0.5066 -0.15371 -0.51059 -0.16158 -0.51059 -0.16134 C -0.51094 -0.16412 -0.51112 -0.16667 -0.51164 -0.16921 C -0.51233 -0.17222 -0.51355 -0.175 -0.51389 -0.17824 C -0.5165 -0.19491 -0.51493 -0.18843 -0.51737 -0.19792 C -0.51771 -0.20139 -0.51858 -0.20486 -0.51841 -0.20857 C -0.51823 -0.22361 -0.51719 -0.23889 -0.51615 -0.25394 C -0.51598 -0.25764 -0.51546 -0.26111 -0.51511 -0.26458 C -0.51476 -0.26852 -0.51424 -0.27269 -0.51389 -0.27662 C -0.51355 -0.28125 -0.5132 -0.28588 -0.51285 -0.29028 C -0.5125 -0.29398 -0.51198 -0.29746 -0.51164 -0.30093 C -0.51112 -0.30741 -0.51112 -0.31412 -0.51059 -0.3206 C -0.51025 -0.32361 -0.50973 -0.32662 -0.50938 -0.32963 C -0.50712 -0.35533 -0.50955 -0.33796 -0.50712 -0.35394 C -0.50608 -0.36945 -0.50608 -0.36968 -0.50487 -0.38426 C -0.50487 -0.38403 -0.50313 -0.40371 -0.50261 -0.40556 C -0.50122 -0.40972 -0.49862 -0.41042 -0.49584 -0.41158 C -0.49427 -0.41204 -0.49271 -0.4125 -0.49115 -0.41296 C -0.49011 -0.41343 -0.48889 -0.41412 -0.48785 -0.41458 C -0.48629 -0.41667 -0.48455 -0.41829 -0.48334 -0.4206 C -0.47605 -0.43333 -0.4875 -0.41968 -0.47639 -0.43426 C -0.46754 -0.4463 -0.479 -0.42708 -0.46962 -0.4419 C -0.46164 -0.45463 -0.47396 -0.43773 -0.46389 -0.45093 C -0.4632 -0.45394 -0.46198 -0.45695 -0.46164 -0.45996 C -0.46042 -0.4757 -0.46059 -0.46921 -0.46059 -0.47963 L -0.46285 -0.47824 " pathEditMode="relative" rAng="0" ptsTypes="AAAAAAAAAAAAAA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47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2 -0.00625 L -0.0092 -0.00602 C -0.01389 -0.00833 -0.0184 -0.01065 -0.02291 -0.0125 C -0.03489 -0.01713 -0.02152 -0.00972 -0.03663 -0.0169 C -0.05139 -0.02407 -0.02812 -0.01551 -0.04791 -0.02292 C -0.05052 -0.02407 -0.0533 -0.02477 -0.0559 -0.02616 C -0.07691 -0.03657 -0.05573 -0.02755 -0.07517 -0.03819 C -0.08784 -0.04514 -0.08698 -0.04074 -0.10139 -0.05185 C -0.10399 -0.05394 -0.10659 -0.05579 -0.1092 -0.05787 C -0.11319 -0.06111 -0.11753 -0.06574 -0.1217 -0.06852 C -0.12291 -0.06921 -0.12413 -0.06944 -0.12517 -0.06991 C -0.12934 -0.07546 -0.13316 -0.08171 -0.13767 -0.08657 C -0.13993 -0.08912 -0.14236 -0.09144 -0.14444 -0.09421 C -0.14913 -0.10023 -0.15364 -0.10625 -0.15816 -0.1125 C -0.15972 -0.11435 -0.16146 -0.1162 -0.16267 -0.11852 C -0.16823 -0.1294 -0.16666 -0.12731 -0.17413 -0.13819 C -0.18264 -0.15093 -0.17066 -0.13125 -0.18316 -0.15185 C -0.18437 -0.1537 -0.18559 -0.15579 -0.18663 -0.15787 C -0.19861 -0.18542 -0.18646 -0.16065 -0.1934 -0.17454 C -0.19531 -0.18472 -0.19357 -0.17685 -0.1967 -0.18819 C -0.19722 -0.18958 -0.19757 -0.1912 -0.19791 -0.19259 C -0.19861 -0.19514 -0.19948 -0.19769 -0.20017 -0.20023 C -0.20052 -0.20185 -0.20087 -0.20324 -0.20139 -0.20486 C -0.20538 -0.21921 -0.20208 -0.20671 -0.20468 -0.2169 C -0.20503 -0.21991 -0.20538 -0.22315 -0.2059 -0.22593 C -0.20642 -0.22917 -0.20764 -0.23194 -0.20816 -0.23519 C -0.20955 -0.24444 -0.20816 -0.24051 -0.21146 -0.24722 C -0.21111 -0.25486 -0.21128 -0.2625 -0.21041 -0.26991 C -0.21041 -0.26968 -0.20764 -0.28125 -0.20694 -0.28356 C -0.20659 -0.28519 -0.2059 -0.28657 -0.2059 -0.28819 L -0.2059 -0.2956 " pathEditMode="relative" rAng="0" ptsTypes="AAAAAAAAAAAAAAAAAAAAAAAAAAAAAAA">
                                      <p:cBhvr>
                                        <p:cTn id="1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22" y="-1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5.18519E-6 L -1.94444E-6 -5.18519E-6 C 0.0007 0.00462 0.00053 0.00948 0.00226 0.01365 C 0.00313 0.01573 0.00538 0.0155 0.00677 0.01666 C 0.00956 0.01897 0.01215 0.02152 0.01475 0.0243 C 0.01598 0.02569 0.01685 0.02754 0.01824 0.0287 C 0.01962 0.03008 0.02119 0.03078 0.02274 0.03194 C 0.02569 0.03795 0.0264 0.03981 0.03177 0.04536 C 0.03281 0.04652 0.03403 0.04652 0.03525 0.04698 C 0.04167 0.05555 0.03559 0.04814 0.04652 0.05763 C 0.0481 0.05902 0.04949 0.06087 0.05105 0.06203 C 0.05296 0.06342 0.05487 0.06411 0.05677 0.06527 C 0.07032 0.07337 0.05643 0.06666 0.07153 0.07268 C 0.07379 0.0736 0.07605 0.07476 0.07848 0.07569 C 0.08074 0.07684 0.08282 0.078 0.08525 0.0787 C 0.0868 0.07939 0.0882 0.07985 0.08975 0.08032 C 0.09272 0.08101 0.09584 0.08124 0.09879 0.08194 C 0.10591 0.0787 0.09844 0.08217 0.10678 0.07731 C 0.11112 0.07476 0.11303 0.0743 0.11702 0.07129 C 0.11945 0.06944 0.12153 0.06712 0.12379 0.06527 C 0.1264 0.06295 0.129 0.06087 0.13178 0.05902 C 0.13508 0.05694 0.1389 0.05555 0.14202 0.053 C 0.14532 0.05045 0.14792 0.04675 0.15105 0.04397 C 0.15435 0.0412 0.15799 0.03911 0.16129 0.03633 C 0.16754 0.03101 0.17292 0.02407 0.17952 0.01967 C 0.18664 0.01504 0.18438 0.01689 0.19324 0.00763 C 0.19775 0.00254 0.20261 -0.00209 0.20678 -0.00765 C 0.21112 -0.0132 0.21459 -0.0176 0.21824 -0.02431 C 0.22362 -0.03473 0.23056 -0.04422 0.23403 -0.05603 C 0.24081 -0.07848 0.2323 -0.05047 0.23855 -0.06968 C 0.23942 -0.07223 0.24011 -0.07478 0.24098 -0.07732 C 0.24532 -0.09029 0.24081 -0.0757 0.24653 -0.09098 C 0.24897 -0.097 0.24966 -0.10232 0.25105 -0.10904 C 0.25313 -0.1183 0.2514 -0.10834 0.25348 -0.1213 C 0.25296 -0.13242 0.25365 -0.14353 0.25226 -0.15464 C 0.25192 -0.15672 0.24983 -0.15742 0.24879 -0.15904 C 0.24324 -0.16783 0.2481 -0.16274 0.24202 -0.16806 C 0.23785 -0.17663 0.24202 -0.16922 0.23403 -0.17871 C 0.23213 -0.18126 0.23039 -0.18404 0.22848 -0.18635 C 0.22744 -0.18751 0.22605 -0.18843 0.22501 -0.18936 C 0.22344 -0.19075 0.22206 -0.19237 0.22049 -0.19399 C 0.21928 -0.19492 0.21824 -0.1963 0.21702 -0.197 C 0.21563 -0.19769 0.2139 -0.19792 0.21251 -0.19839 C 0.2106 -0.19931 0.20869 -0.2007 0.20678 -0.2014 C 0.20539 -0.20209 0.20383 -0.20255 0.20226 -0.20302 C 0.19775 -0.20417 0.18855 -0.20603 0.18855 -0.20603 C 0.17379 -0.20556 0.15903 -0.2058 0.14428 -0.20464 C 0.1415 -0.20441 0.13907 -0.20255 0.13629 -0.2014 C 0.13334 -0.20047 0.13022 -0.19955 0.12726 -0.19839 C 0.12466 -0.19746 0.12206 -0.1963 0.11928 -0.19538 C 0.1132 -0.1933 0.1073 -0.19121 0.10105 -0.18936 C 0.09723 -0.1882 0.08594 -0.18496 0.08177 -0.18334 C 0.06511 -0.1764 0.08438 -0.1838 0.07275 -0.17732 C 0.07136 -0.1764 0.06962 -0.17663 0.06824 -0.1757 C 0.03455 -0.15695 0.08629 -0.1838 0.04879 -0.16205 C 0.04098 -0.15765 0.03247 -0.15556 0.02501 -0.15001 C 0.02049 -0.14677 0.01076 -0.13913 0.00574 -0.13635 C -0.00034 -0.13311 -0.00642 -0.13033 -0.0125 -0.12732 C -0.02361 -0.12154 -0.0125 -0.12663 -0.025 -0.1213 C -0.02726 -0.12015 -0.02952 -0.11876 -0.03177 -0.11806 C -0.04497 -0.11436 -0.03854 -0.11575 -0.05122 -0.11367 C -0.06424 -0.10857 -0.05643 -0.11112 -0.075 -0.10765 L -0.08299 -0.10603 C -0.09202 -0.10649 -0.10122 -0.10672 -0.11025 -0.10765 C -0.1125 -0.10788 -0.11493 -0.10811 -0.11702 -0.10904 C -0.12223 -0.11158 -0.12709 -0.11482 -0.13177 -0.11806 C -0.14219 -0.12524 -0.15348 -0.13635 -0.16146 -0.147 C -0.17795 -0.16899 -0.17848 -0.17061 -0.18629 -0.18635 C -0.18056 -0.23612 -0.18716 -0.197 -0.17726 -0.23172 C -0.17657 -0.23427 -0.17657 -0.23681 -0.17622 -0.23936 C -0.17309 -0.25487 -0.17466 -0.2507 -0.17049 -0.25904 C -0.16771 -0.28427 -0.17118 -0.2551 -0.16702 -0.28033 C -0.16129 -0.31482 -0.16736 -0.28126 -0.16372 -0.30904 C -0.16337 -0.31066 -0.16285 -0.31205 -0.1625 -0.31367 C -0.16216 -0.31552 -0.16181 -0.3176 -0.16146 -0.31968 C -0.16077 -0.32269 -0.15903 -0.32871 -0.15903 -0.32871 C -0.15816 -0.34283 -0.15799 -0.34746 -0.15677 -0.36066 C -0.15643 -0.36413 -0.15625 -0.3676 -0.15573 -0.3713 C -0.15538 -0.37269 -0.15486 -0.37408 -0.15452 -0.3757 C -0.15295 -0.38404 -0.15365 -0.3845 -0.15226 -0.39399 C -0.15209 -0.39607 -0.15157 -0.39792 -0.15122 -0.40001 C -0.1507 -0.40255 -0.15035 -0.4051 -0.15 -0.40765 C -0.14966 -0.40927 -0.14844 -0.41621 -0.14775 -0.41806 C -0.14705 -0.41968 -0.14601 -0.42107 -0.14549 -0.42269 C -0.14445 -0.4257 -0.14393 -0.42871 -0.14323 -0.43172 C -0.14202 -0.43681 -0.14202 -0.43473 -0.14202 -0.43774 " pathEditMode="relative" ptsTypes="AAAAAAAAAAAAAAAAAAAAAAAAAAAAAAAAAAAAAAAAAAAA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 0.02338 L -0.0033 0.02361 C -0.0059 0.02592 -0.00868 0.02824 -0.01111 0.03102 C -0.02066 0.0412 -0.00538 0.03125 -0.02587 0.04768 C -0.03767 0.05694 -0.02517 0.04652 -0.03837 0.05972 C -0.04063 0.06203 -0.04323 0.06342 -0.04531 0.06574 C -0.04774 0.06852 -0.04965 0.07222 -0.05208 0.075 C -0.05451 0.07777 -0.05729 0.08009 -0.06007 0.0824 C -0.06615 0.08773 -0.06337 0.0831 -0.0691 0.09004 C -0.07222 0.09398 -0.07483 0.09861 -0.07813 0.10208 C -0.08542 0.11018 -0.10504 0.12847 -0.11337 0.13402 C -0.11649 0.13611 -0.11962 0.13773 -0.12257 0.14004 C -0.12465 0.14166 -0.12622 0.14421 -0.12813 0.14606 C -0.13004 0.14791 -0.13212 0.14884 -0.13385 0.15069 C -0.13524 0.15185 -0.13594 0.15393 -0.13733 0.15532 C -0.13872 0.15648 -0.14045 0.15694 -0.14184 0.15833 C -0.1434 0.15949 -0.14479 0.16134 -0.14635 0.16273 C -0.14774 0.16389 -0.14948 0.16458 -0.15087 0.16574 C -0.1526 0.16713 -0.15382 0.16898 -0.15556 0.17037 C -0.15729 0.17199 -0.1592 0.17338 -0.16111 0.175 C -0.16198 0.17639 -0.1625 0.17824 -0.16337 0.17939 C -0.1658 0.18264 -0.16736 0.18264 -0.17031 0.18402 C -0.17222 0.18495 -0.17413 0.18564 -0.17587 0.18703 C -0.18629 0.19467 -0.17569 0.18935 -0.18385 0.19305 C -0.18542 0.19467 -0.18681 0.19606 -0.18837 0.19768 C -0.18958 0.19861 -0.1908 0.19953 -0.19184 0.20069 C -0.19375 0.20254 -0.19549 0.20509 -0.19757 0.20671 C -0.19931 0.2081 -0.20156 0.20833 -0.20313 0.20972 C -0.20677 0.21296 -0.20972 0.21736 -0.21337 0.22037 C -0.21667 0.22291 -0.21944 0.225 -0.22257 0.22801 C -0.22413 0.22939 -0.22552 0.23125 -0.22708 0.2324 C -0.2309 0.23564 -0.23403 0.23657 -0.23837 0.23865 L -0.24184 0.24004 C -0.24306 0.24051 -0.24427 0.24074 -0.24531 0.24166 C -0.24792 0.24398 -0.24896 0.24537 -0.25208 0.24606 C -0.25538 0.24676 -0.25885 0.24722 -0.26233 0.24768 C -0.27014 0.25115 -0.26042 0.24699 -0.27135 0.25069 C -0.27257 0.25115 -0.27361 0.25208 -0.27483 0.25208 C -0.28351 0.25347 -0.30087 0.25532 -0.30087 0.25555 C -0.30816 0.25856 -0.30052 0.25532 -0.31337 0.25833 C -0.32135 0.25995 -0.31476 0.26018 -0.32483 0.26134 C -0.3316 0.26203 -0.33837 0.26203 -0.34531 0.26273 C -0.34861 0.26319 -0.35208 0.26389 -0.35556 0.26435 C -0.3566 0.26481 -0.35781 0.26504 -0.35885 0.26574 C -0.36007 0.26666 -0.36111 0.26805 -0.36233 0.26875 C -0.36372 0.26967 -0.36528 0.26967 -0.36684 0.27037 C -0.36806 0.27083 -0.3691 0.27129 -0.37031 0.27199 C -0.37309 0.26041 -0.37049 0.27453 -0.36563 0.25208 C -0.36424 0.24514 -0.36337 0.23773 -0.36111 0.23102 C -0.36007 0.22754 -0.35868 0.22407 -0.35781 0.22037 C -0.35556 0.2118 -0.3533 0.20347 -0.35208 0.19467 C -0.35174 0.19213 -0.35156 0.18935 -0.35087 0.18703 C -0.35017 0.18426 -0.34844 0.18217 -0.34757 0.17939 C -0.34583 0.17453 -0.34479 0.16921 -0.34306 0.16435 C -0.33872 0.15254 -0.33281 0.14166 -0.32934 0.12939 C -0.32066 0.0993 -0.32517 0.11342 -0.31111 0.075 C -0.30434 0.05602 -0.30677 0.06435 -0.30087 0.04606 C -0.30017 0.04375 -0.29931 0.0412 -0.29861 0.03865 C -0.29809 0.03657 -0.29826 0.03426 -0.29757 0.0324 C -0.29635 0.02963 -0.29444 0.02754 -0.29306 0.025 C -0.29254 0.02199 -0.29254 0.01875 -0.29184 0.01574 C -0.29149 0.01412 -0.2901 0.01296 -0.28958 0.01134 C -0.28872 0.00879 -0.28802 0.00625 -0.28733 0.0037 C -0.28229 -0.01459 -0.28715 0.00324 -0.28385 -0.01297 C -0.28333 -0.01598 -0.28229 -0.01898 -0.2816 -0.02199 C -0.28073 -0.02848 -0.27934 -0.04121 -0.27813 -0.0463 C -0.27743 -0.04977 -0.27691 -0.05348 -0.27587 -0.05695 C -0.275 -0.06042 -0.27344 -0.06389 -0.27257 -0.0676 C -0.27153 -0.07153 -0.27118 -0.0757 -0.27031 -0.07963 C -0.26927 -0.08426 -0.26788 -0.08866 -0.26684 -0.09329 C -0.26528 -0.10023 -0.26372 -0.10741 -0.26233 -0.11436 C -0.26111 -0.11991 -0.26042 -0.1257 -0.25885 -0.13102 C -0.25816 -0.13357 -0.25729 -0.13611 -0.2566 -0.13866 C -0.25608 -0.14074 -0.2559 -0.14283 -0.25556 -0.14468 C -0.25521 -0.1463 -0.25469 -0.14769 -0.25434 -0.14931 C -0.25347 -0.15324 -0.2533 -0.15625 -0.25208 -0.15996 C -0.24601 -0.17848 -0.2533 -0.15533 -0.24757 -0.17061 C -0.24705 -0.17199 -0.2467 -0.17361 -0.24635 -0.175 C -0.24583 -0.17732 -0.24497 -0.18334 -0.2441 -0.18565 C -0.24358 -0.18727 -0.24236 -0.18866 -0.24184 -0.19028 C -0.2408 -0.19306 -0.24097 -0.19653 -0.23958 -0.19931 C -0.23733 -0.20371 -0.23715 -0.20348 -0.23611 -0.20834 C -0.23403 -0.21922 -0.23559 -0.21551 -0.23385 -0.22963 C -0.23368 -0.23125 -0.23281 -0.23403 -0.23281 -0.2338 " pathEditMode="relative" rAng="0" ptsTypes="AAAAAAAAAAAAAAAAAAAAAAAAAAAAAAAAAAAAA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20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926 L 0.00104 0.00949 C 0.00799 -0.01181 0.00399 3.7037E-7 0.01354 -0.02569 C 0.0151 -0.02963 0.01684 -0.03357 0.01806 -0.03773 L 0.02257 -0.05301 C 0.02552 -0.07222 0.02101 -0.04491 0.0283 -0.07407 C 0.02986 -0.08009 0.0309 -0.08611 0.03177 -0.09236 C 0.03247 -0.09838 0.03316 -0.1044 0.03403 -0.11065 C 0.03438 -0.11296 0.0349 -0.11551 0.03507 -0.11806 C 0.03698 -0.13588 0.0349 -0.12662 0.0375 -0.13634 C 0.03819 -0.14375 0.03906 -0.15139 0.03976 -0.15903 C 0.0401 -0.16366 0.04115 -0.16806 0.0408 -0.17269 C 0.03958 -0.18982 0.03958 -0.20787 0.03507 -0.22407 C 0.03021 -0.24213 0.01997 -0.25093 0.01128 -0.26343 C 0.00885 -0.2669 0.00677 -0.27083 0.00451 -0.27407 C -0.00382 -0.28588 -0.01823 -0.30347 -0.02622 -0.31204 C -0.03385 -0.32014 -0.04167 -0.32824 -0.05017 -0.33472 C -0.0592 -0.34167 -0.05556 -0.33843 -0.06146 -0.34375 C -0.06597 -0.33982 -0.06997 -0.33403 -0.07517 -0.33171 C -0.08663 -0.32662 -0.08559 -0.32755 -0.10122 -0.31667 C -0.10365 -0.31482 -0.10573 -0.3125 -0.10799 -0.31042 C -0.11823 -0.30232 -0.12865 -0.29468 -0.13872 -0.28634 C -0.14201 -0.28357 -0.14462 -0.27986 -0.14792 -0.27708 C -0.15382 -0.27199 -0.1599 -0.26667 -0.16597 -0.26204 C -0.16788 -0.26065 -0.16997 -0.26019 -0.1717 -0.25903 C -0.17865 -0.25417 -0.18507 -0.24838 -0.19219 -0.24375 C -0.20625 -0.23472 -0.21024 -0.23542 -0.22622 -0.23171 C -0.22847 -0.23125 -0.23073 -0.23056 -0.23316 -0.23032 C -0.23611 -0.22963 -0.23924 -0.2294 -0.24219 -0.2287 C -0.2467 -0.22778 -0.2559 -0.22569 -0.2559 -0.22546 C -0.26424 -0.22616 -0.27257 -0.22639 -0.2809 -0.22708 C -0.28194 -0.22732 -0.28333 -0.22755 -0.2842 -0.2287 C -0.28542 -0.23032 -0.28594 -0.23264 -0.28646 -0.23472 C -0.28733 -0.23773 -0.28819 -0.24074 -0.28872 -0.24375 C -0.28924 -0.2463 -0.28958 -0.24884 -0.28993 -0.25139 C -0.29028 -0.25347 -0.29062 -0.25556 -0.29097 -0.25741 C -0.2908 -0.26227 -0.29045 -0.28125 -0.28872 -0.28935 C -0.28819 -0.2919 -0.28733 -0.29444 -0.28646 -0.29676 C -0.28611 -0.3 -0.28594 -0.30301 -0.28542 -0.30602 C -0.28542 -0.30579 -0.28247 -0.31736 -0.28194 -0.31968 C -0.2809 -0.32361 -0.27986 -0.32732 -0.27969 -0.33171 C -0.27934 -0.33773 -0.27969 -0.34375 -0.27969 -0.34977 " pathEditMode="relative" rAng="0" ptsTypes="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22" y="-1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8" grpId="0"/>
      <p:bldP spid="29" grpId="0"/>
      <p:bldP spid="30" grpId="0"/>
      <p:bldP spid="3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6632"/>
            <a:ext cx="5976664" cy="655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83591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23528" y="1052736"/>
            <a:ext cx="8640960" cy="404063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860"/>
            <a:ext cx="8229600" cy="878936"/>
          </a:xfrm>
          <a:solidFill>
            <a:srgbClr val="FF000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872" y="5140726"/>
            <a:ext cx="6712255" cy="138128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dirty="0"/>
              <a:t>List set A and set B</a:t>
            </a:r>
          </a:p>
          <a:p>
            <a:pPr marL="0" indent="0">
              <a:buNone/>
            </a:pPr>
            <a:r>
              <a:rPr lang="en-GB" dirty="0"/>
              <a:t>A = {   ,   ,   ,   ,   ,   }           B = {   ,   ,   ,   ,   }</a:t>
            </a:r>
          </a:p>
          <a:p>
            <a:pPr marL="0" indent="0">
              <a:buNone/>
            </a:pPr>
            <a:r>
              <a:rPr lang="en-GB" dirty="0"/>
              <a:t>A = {1, 2 , 3, 4, 6, 7}         B = {1, 4, 5, 8, 9}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997260" y="1340768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779912" y="1340768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515547" y="169676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32260" y="1427896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99475" y="222637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5134" y="332732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08135" y="318680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336" y="251321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76728" y="173134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44188" y="378974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28119" y="248850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82150" y="314970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3057" y="1430570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95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3854352" y="2477639"/>
            <a:ext cx="4314474" cy="3600400"/>
          </a:xfrm>
          <a:prstGeom prst="ellipse">
            <a:avLst/>
          </a:prstGeom>
          <a:solidFill>
            <a:srgbClr val="FFFF00">
              <a:alpha val="0"/>
            </a:srgbClr>
          </a:solidFill>
          <a:ln w="142875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938687" y="2492896"/>
            <a:ext cx="4314474" cy="3600400"/>
          </a:xfrm>
          <a:prstGeom prst="ellipse">
            <a:avLst/>
          </a:prstGeom>
          <a:solidFill>
            <a:srgbClr val="FFFF00">
              <a:alpha val="0"/>
            </a:srgbClr>
          </a:solidFill>
          <a:ln w="142875"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251520" y="2204864"/>
            <a:ext cx="8640960" cy="450230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101" y="156183"/>
            <a:ext cx="8229600" cy="821196"/>
          </a:xfrm>
          <a:solidFill>
            <a:srgbClr val="92D050"/>
          </a:solidFill>
        </p:spPr>
        <p:txBody>
          <a:bodyPr/>
          <a:lstStyle/>
          <a:p>
            <a:r>
              <a:rPr lang="en-GB" b="1" dirty="0"/>
              <a:t>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296" y="105972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An intersection refers to the numbers that appear in all (</a:t>
            </a:r>
            <a:r>
              <a:rPr lang="en-GB" b="1" dirty="0">
                <a:solidFill>
                  <a:srgbClr val="FF0000"/>
                </a:solidFill>
              </a:rPr>
              <a:t>both</a:t>
            </a:r>
            <a:r>
              <a:rPr lang="en-GB" dirty="0"/>
              <a:t>) of the sets (</a:t>
            </a:r>
            <a:r>
              <a:rPr lang="en-GB" b="1" dirty="0">
                <a:solidFill>
                  <a:srgbClr val="FF0000"/>
                </a:solidFill>
              </a:rPr>
              <a:t>circles</a:t>
            </a:r>
            <a:r>
              <a:rPr lang="en-GB" dirty="0"/>
              <a:t>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4213039" y="43018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93050" y="2573644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7467" y="3378506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4994" y="364063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6127" y="433893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50170" y="286104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04720" y="288347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51682" y="456396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56111" y="364063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6296" y="2582384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4938" y="325998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33975" y="325998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07405" y="428793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943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101" y="156183"/>
            <a:ext cx="8229600" cy="821196"/>
          </a:xfrm>
          <a:solidFill>
            <a:srgbClr val="92D050"/>
          </a:solidFill>
        </p:spPr>
        <p:txBody>
          <a:bodyPr/>
          <a:lstStyle/>
          <a:p>
            <a:r>
              <a:rPr lang="en-GB" b="1" dirty="0"/>
              <a:t>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296" y="1059726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6101" y="4149459"/>
                <a:ext cx="8574376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 intersection of A and B is the subset of 4 and 7.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We can write this as,</a:t>
                </a:r>
              </a:p>
              <a:p>
                <a:pPr algn="ctr"/>
                <a:endParaRPr lang="en-GB" sz="2400" dirty="0"/>
              </a:p>
              <a:p>
                <a:pPr algn="ctr"/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𝐀</m:t>
                    </m:r>
                    <m:nary>
                      <m:naryPr>
                        <m:chr m:val="⋂"/>
                        <m:subHide m:val="on"/>
                        <m:supHide m:val="on"/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={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2400" b="1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01" y="4149459"/>
                <a:ext cx="8574376" cy="2492990"/>
              </a:xfrm>
              <a:prstGeom prst="rect">
                <a:avLst/>
              </a:prstGeom>
              <a:blipFill rotWithShape="0">
                <a:blip r:embed="rId3"/>
                <a:stretch>
                  <a:fillRect l="-1066" t="-1956" b="-56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327" y="1264946"/>
            <a:ext cx="4753148" cy="252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42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6632"/>
            <a:ext cx="5976664" cy="655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9219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23528" y="1052736"/>
            <a:ext cx="8640960" cy="404063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860"/>
            <a:ext cx="8229600" cy="878936"/>
          </a:xfrm>
          <a:solidFill>
            <a:srgbClr val="FF000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15872" y="5140726"/>
                <a:ext cx="6712255" cy="138128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List the intersection of A and B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𝐀</m:t>
                    </m:r>
                    <m:nary>
                      <m:naryPr>
                        <m:chr m:val="⋂"/>
                        <m:subHide m:val="on"/>
                        <m:sup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</m:oMath>
                </a14:m>
                <a:r>
                  <a:rPr lang="en-GB" dirty="0"/>
                  <a:t> = {    ,    }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𝐀</m:t>
                    </m:r>
                    <m:nary>
                      <m:naryPr>
                        <m:chr m:val="⋂"/>
                        <m:subHide m:val="on"/>
                        <m:sup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</m:oMath>
                </a14:m>
                <a:r>
                  <a:rPr lang="en-GB" dirty="0"/>
                  <a:t> = {1, 4}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5872" y="5140726"/>
                <a:ext cx="6712255" cy="1381286"/>
              </a:xfrm>
              <a:blipFill rotWithShape="0">
                <a:blip r:embed="rId2"/>
                <a:stretch>
                  <a:fillRect t="-11454" b="-13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997260" y="1340768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779912" y="1340768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515547" y="169676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32260" y="1427896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99475" y="222637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5134" y="332732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08135" y="318680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336" y="251321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76728" y="173134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44188" y="378974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28119" y="248850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82150" y="314970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3057" y="1430570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443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51520" y="2204864"/>
            <a:ext cx="8640960" cy="450230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3854352" y="2477639"/>
            <a:ext cx="4314474" cy="3600400"/>
          </a:xfrm>
          <a:prstGeom prst="ellipse">
            <a:avLst/>
          </a:prstGeom>
          <a:solidFill>
            <a:schemeClr val="tx1">
              <a:alpha val="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938687" y="2492896"/>
            <a:ext cx="4314474" cy="3600400"/>
          </a:xfrm>
          <a:prstGeom prst="ellipse">
            <a:avLst/>
          </a:prstGeom>
          <a:solidFill>
            <a:srgbClr val="FFFF00">
              <a:alpha val="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296" y="105972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 union refers to the numbers that appear in any of the sets (circles).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4213039" y="43018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93050" y="2573644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7467" y="3378506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4994" y="364063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6127" y="433893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50170" y="286104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04720" y="288347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51682" y="456396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56111" y="364063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6296" y="2582384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4938" y="325998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366101" y="156183"/>
            <a:ext cx="8229600" cy="821196"/>
          </a:xfrm>
          <a:solidFill>
            <a:srgbClr val="0070C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UNION</a:t>
            </a:r>
          </a:p>
        </p:txBody>
      </p:sp>
    </p:spTree>
    <p:extLst>
      <p:ext uri="{BB962C8B-B14F-4D97-AF65-F5344CB8AC3E}">
        <p14:creationId xmlns:p14="http://schemas.microsoft.com/office/powerpoint/2010/main" val="359001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15" y="1159808"/>
            <a:ext cx="8010917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 union you will know about is the United Kingdom.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is the union of England, Northern Ireland, Scotland &amp; Wales.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366101" y="156183"/>
            <a:ext cx="8229600" cy="821196"/>
          </a:xfrm>
          <a:solidFill>
            <a:srgbClr val="0070C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UNION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908373"/>
            <a:ext cx="2016224" cy="1210406"/>
          </a:xfrm>
          <a:prstGeom prst="rect">
            <a:avLst/>
          </a:prstGeom>
          <a:ln w="19050">
            <a:solidFill>
              <a:schemeClr val="accent1">
                <a:shade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73" y="3831505"/>
            <a:ext cx="2266226" cy="12872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38" y="5373216"/>
            <a:ext cx="2068562" cy="1270000"/>
          </a:xfrm>
          <a:prstGeom prst="rect">
            <a:avLst/>
          </a:prstGeom>
          <a:ln w="19050">
            <a:solidFill>
              <a:schemeClr val="accent1">
                <a:shade val="50000"/>
              </a:schemeClr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17" y="5301208"/>
            <a:ext cx="2288085" cy="1342008"/>
          </a:xfrm>
          <a:prstGeom prst="rect">
            <a:avLst/>
          </a:prstGeom>
          <a:ln w="12700">
            <a:solidFill>
              <a:schemeClr val="accent1">
                <a:shade val="50000"/>
              </a:schemeClr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15" y="2420888"/>
            <a:ext cx="8146186" cy="422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6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296" y="1059726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6101" y="3978926"/>
                <a:ext cx="82296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 union of A and B is the subset of numbers 1, 2, 3, 4, 5, 6, 7, 8 and 9.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We can write this as,</a:t>
                </a:r>
              </a:p>
              <a:p>
                <a:pPr algn="ctr"/>
                <a:endParaRPr lang="en-GB" sz="2400" dirty="0"/>
              </a:p>
              <a:p>
                <a:pPr algn="ctr"/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𝐀</m:t>
                    </m:r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nor/>
                      </m:rPr>
                      <a:rPr lang="en-GB" sz="2400" dirty="0"/>
                      <m:t>1, 2, 3, 4, 5, 6, 7, 8</m:t>
                    </m:r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2400" b="1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01" y="3978926"/>
                <a:ext cx="8229600" cy="2862322"/>
              </a:xfrm>
              <a:prstGeom prst="rect">
                <a:avLst/>
              </a:prstGeom>
              <a:blipFill rotWithShape="0">
                <a:blip r:embed="rId2"/>
                <a:stretch>
                  <a:fillRect l="-1111" t="-1706" r="-1333" b="-42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6101" y="156183"/>
            <a:ext cx="8229600" cy="821196"/>
          </a:xfrm>
          <a:solidFill>
            <a:srgbClr val="0070C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UNION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66" y="1157397"/>
            <a:ext cx="4983460" cy="266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6632"/>
            <a:ext cx="5976664" cy="655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25242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23528" y="1052736"/>
            <a:ext cx="8640960" cy="404063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860"/>
            <a:ext cx="8229600" cy="878936"/>
          </a:xfrm>
          <a:solidFill>
            <a:srgbClr val="FF000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15872" y="5140725"/>
                <a:ext cx="6712255" cy="1558905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 algn="ctr">
                  <a:buNone/>
                </a:pPr>
                <a:r>
                  <a:rPr lang="en-GB" sz="6200" dirty="0"/>
                  <a:t>List the union of A and B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6200" b="1">
                        <a:latin typeface="Cambria Math" panose="02040503050406030204" pitchFamily="18" charset="0"/>
                      </a:rPr>
                      <m:t>𝐀</m:t>
                    </m:r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GB" sz="6200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6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</m:oMath>
                </a14:m>
                <a:r>
                  <a:rPr lang="en-GB" sz="6200" dirty="0"/>
                  <a:t> = {  ,    ,    ,    ,    ,    ,    ,    ,    }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6200" b="1">
                        <a:latin typeface="Cambria Math" panose="02040503050406030204" pitchFamily="18" charset="0"/>
                      </a:rPr>
                      <m:t>𝐀</m:t>
                    </m:r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GB" sz="6200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6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</m:oMath>
                </a14:m>
                <a:r>
                  <a:rPr lang="en-GB" sz="6200" b="1" dirty="0"/>
                  <a:t> = </a:t>
                </a:r>
                <a14:m>
                  <m:oMath xmlns:m="http://schemas.openxmlformats.org/officeDocument/2006/math">
                    <m:r>
                      <a:rPr lang="en-GB" sz="6200" b="1" i="1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GB" sz="6200" dirty="0"/>
                      <m:t>1, 2, 3, 5, 6, 7, 8</m:t>
                    </m:r>
                    <m:r>
                      <a:rPr lang="en-GB" sz="62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6200" b="1" i="1" dirty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GB" sz="62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6200" b="1" i="1" dirty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sz="6200" b="1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6200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5872" y="5140725"/>
                <a:ext cx="6712255" cy="1558905"/>
              </a:xfrm>
              <a:blipFill rotWithShape="0">
                <a:blip r:embed="rId2"/>
                <a:stretch>
                  <a:fillRect t="-11328" b="-13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019572" y="1340768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779912" y="1340768"/>
            <a:ext cx="4392488" cy="3600400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556136" y="173134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32260" y="1427896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99475" y="222637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5134" y="332732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08135" y="318680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336" y="251321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76728" y="173134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44188" y="378974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28119" y="248850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06622" y="314970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3057" y="1430570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650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860"/>
            <a:ext cx="8229600" cy="878936"/>
          </a:xfrm>
          <a:solidFill>
            <a:srgbClr val="00206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4318" y="1196752"/>
            <a:ext cx="8229600" cy="532859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You are now going to be given a Venn Diagram.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need to name the following sets/subsets: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AutoNum type="alphaLcParenR"/>
            </a:pPr>
            <a:r>
              <a:rPr lang="en-GB" dirty="0">
                <a:solidFill>
                  <a:srgbClr val="00B050"/>
                </a:solidFill>
              </a:rPr>
              <a:t>Name all of your sets</a:t>
            </a:r>
          </a:p>
          <a:p>
            <a:pPr marL="514350" indent="-514350">
              <a:buAutoNum type="alphaLcParenR"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Describe all of the intersections that exist between your sets.</a:t>
            </a:r>
          </a:p>
          <a:p>
            <a:pPr marL="514350" indent="-514350">
              <a:buAutoNum type="alphaLcParenR"/>
            </a:pPr>
            <a:r>
              <a:rPr lang="en-GB" dirty="0">
                <a:solidFill>
                  <a:srgbClr val="FF0000"/>
                </a:solidFill>
              </a:rPr>
              <a:t>Name all of the unions that exist between your sets. </a:t>
            </a:r>
          </a:p>
        </p:txBody>
      </p:sp>
    </p:spTree>
    <p:extLst>
      <p:ext uri="{BB962C8B-B14F-4D97-AF65-F5344CB8AC3E}">
        <p14:creationId xmlns:p14="http://schemas.microsoft.com/office/powerpoint/2010/main" val="300440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860"/>
            <a:ext cx="8229600" cy="878936"/>
          </a:xfrm>
          <a:solidFill>
            <a:srgbClr val="00206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242185" y="1124744"/>
            <a:ext cx="465963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84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860"/>
            <a:ext cx="8229600" cy="878936"/>
          </a:xfrm>
          <a:solidFill>
            <a:srgbClr val="00206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4318" y="1196752"/>
            <a:ext cx="8229600" cy="532859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You are now going to be given a Venn Diagram.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need to name the following sets/subsets.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AutoNum type="alphaLcParenR"/>
            </a:pPr>
            <a:r>
              <a:rPr lang="en-GB" dirty="0">
                <a:solidFill>
                  <a:srgbClr val="00B050"/>
                </a:solidFill>
              </a:rPr>
              <a:t>Name all of your sets</a:t>
            </a:r>
          </a:p>
          <a:p>
            <a:pPr marL="514350" indent="-514350">
              <a:buAutoNum type="alphaLcParenR"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Describe all of the intersections that exist between your sets.</a:t>
            </a:r>
          </a:p>
          <a:p>
            <a:pPr marL="514350" indent="-514350">
              <a:buAutoNum type="alphaLcParenR"/>
            </a:pPr>
            <a:r>
              <a:rPr lang="en-GB" dirty="0">
                <a:solidFill>
                  <a:srgbClr val="FF0000"/>
                </a:solidFill>
              </a:rPr>
              <a:t>Name all of the unions that exist between your sets. </a:t>
            </a:r>
          </a:p>
        </p:txBody>
      </p:sp>
    </p:spTree>
    <p:extLst>
      <p:ext uri="{BB962C8B-B14F-4D97-AF65-F5344CB8AC3E}">
        <p14:creationId xmlns:p14="http://schemas.microsoft.com/office/powerpoint/2010/main" val="3307961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8936"/>
          </a:xfrm>
          <a:solidFill>
            <a:srgbClr val="00206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ANSWERS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878936"/>
            <a:ext cx="5328592" cy="3603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39752" y="4577011"/>
                <a:ext cx="446449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arenR"/>
                </a:pPr>
                <a:r>
                  <a:rPr lang="en-GB" sz="2400" dirty="0">
                    <a:solidFill>
                      <a:srgbClr val="00B050"/>
                    </a:solidFill>
                  </a:rPr>
                  <a:t>  A = {1, 3, 4, 5, 6, 8}</a:t>
                </a:r>
              </a:p>
              <a:p>
                <a:r>
                  <a:rPr lang="en-GB" sz="2400" dirty="0">
                    <a:solidFill>
                      <a:srgbClr val="00B050"/>
                    </a:solidFill>
                  </a:rPr>
                  <a:t>       B = {2, 4, 5, 6, 7, 8, 9}</a:t>
                </a:r>
              </a:p>
              <a:p>
                <a:r>
                  <a:rPr lang="en-GB" sz="2400" b="0" dirty="0">
                    <a:solidFill>
                      <a:schemeClr val="accent6">
                        <a:lumMod val="75000"/>
                      </a:schemeClr>
                    </a:solidFill>
                  </a:rPr>
                  <a:t>b)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4, 5, 8</m:t>
                        </m:r>
                      </m:e>
                    </m:d>
                  </m:oMath>
                </a14:m>
                <a:endParaRPr lang="en-GB" sz="2400" b="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</a:rPr>
                  <a:t>c)  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2, 3, 4, 5,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6, 7, 8, 9}</m:t>
                    </m:r>
                  </m:oMath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4577011"/>
                <a:ext cx="4464496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2186" t="-3502" b="-81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01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8936"/>
          </a:xfrm>
          <a:solidFill>
            <a:srgbClr val="00206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ANSWERS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917" y="878936"/>
            <a:ext cx="6458165" cy="28610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83568" y="3767779"/>
                <a:ext cx="2664296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arenR"/>
                </a:pPr>
                <a:r>
                  <a:rPr lang="en-GB" sz="2400" dirty="0">
                    <a:solidFill>
                      <a:srgbClr val="00B050"/>
                    </a:solidFill>
                  </a:rPr>
                  <a:t> A = {1, 4, 5, 6}</a:t>
                </a:r>
              </a:p>
              <a:p>
                <a:r>
                  <a:rPr lang="en-GB" sz="2400" dirty="0">
                    <a:solidFill>
                      <a:srgbClr val="00B050"/>
                    </a:solidFill>
                  </a:rPr>
                  <a:t>       B = {2, 6, 7, 8, 9}</a:t>
                </a:r>
              </a:p>
              <a:p>
                <a:r>
                  <a:rPr lang="en-GB" sz="2400" dirty="0">
                    <a:solidFill>
                      <a:srgbClr val="00B050"/>
                    </a:solidFill>
                  </a:rPr>
                  <a:t>       C = {3, 5, 6, 7}</a:t>
                </a:r>
              </a:p>
              <a:p>
                <a:endParaRPr lang="en-GB" sz="2400" dirty="0">
                  <a:solidFill>
                    <a:srgbClr val="00B050"/>
                  </a:solidFill>
                </a:endParaRPr>
              </a:p>
              <a:p>
                <a:pPr marL="457200" indent="-457200">
                  <a:buAutoNum type="alphaLcParenR" startAt="2"/>
                </a:pP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en-GB" sz="24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5, 6</m:t>
                        </m:r>
                      </m:e>
                    </m:d>
                  </m:oMath>
                </a14:m>
                <a:endParaRPr lang="en-GB" sz="24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6, 7</m:t>
                        </m:r>
                      </m:e>
                    </m:d>
                  </m:oMath>
                </a14:m>
                <a:endParaRPr lang="en-GB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767779"/>
                <a:ext cx="2664296" cy="2677656"/>
              </a:xfrm>
              <a:prstGeom prst="rect">
                <a:avLst/>
              </a:prstGeom>
              <a:blipFill rotWithShape="0">
                <a:blip r:embed="rId4"/>
                <a:stretch>
                  <a:fillRect l="-3661" t="-2050" r="-32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851920" y="4321777"/>
                <a:ext cx="496855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lphaLcParenR" startAt="3"/>
                </a:pP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1, 2 4, 5, 6, 7, 8, 9</m:t>
                        </m:r>
                      </m:e>
                    </m:d>
                  </m:oMath>
                </a14:m>
                <a:endParaRPr lang="en-GB" sz="24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3, 4, 5, 6, 7}</m:t>
                    </m:r>
                  </m:oMath>
                </a14:m>
                <a:endParaRPr lang="en-GB" sz="2400" dirty="0">
                  <a:solidFill>
                    <a:srgbClr val="FF0000"/>
                  </a:solidFill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 3, 5, 6, 7, 8, 9}</m:t>
                    </m:r>
                  </m:oMath>
                </a14:m>
                <a:endParaRPr lang="en-GB" sz="2400" dirty="0">
                  <a:solidFill>
                    <a:srgbClr val="FF0000"/>
                  </a:solidFill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2, 3, 4, 5, 6, 7, 8, 9}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4321777"/>
                <a:ext cx="4968552" cy="1569660"/>
              </a:xfrm>
              <a:prstGeom prst="rect">
                <a:avLst/>
              </a:prstGeom>
              <a:blipFill rotWithShape="0">
                <a:blip r:embed="rId5"/>
                <a:stretch>
                  <a:fillRect l="-1840" t="-3502" r="-123" b="-46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17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GB" b="1" dirty="0"/>
              <a:t>SPOT THE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Can you spot the mistakes that have been made in defining information about this Venn diagram.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Hint: </a:t>
            </a:r>
          </a:p>
          <a:p>
            <a:pPr marL="0" indent="0">
              <a:buNone/>
            </a:pPr>
            <a:r>
              <a:rPr lang="en-GB" dirty="0"/>
              <a:t>There are more than (&gt;) 2.</a:t>
            </a:r>
          </a:p>
        </p:txBody>
      </p:sp>
    </p:spTree>
    <p:extLst>
      <p:ext uri="{BB962C8B-B14F-4D97-AF65-F5344CB8AC3E}">
        <p14:creationId xmlns:p14="http://schemas.microsoft.com/office/powerpoint/2010/main" val="341015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456735" y="1526487"/>
            <a:ext cx="6336704" cy="331236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87" y="3187"/>
            <a:ext cx="8229600" cy="878936"/>
          </a:xfrm>
          <a:solidFill>
            <a:srgbClr val="FF000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PLENARY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23728" y="5157192"/>
                <a:ext cx="5481501" cy="155890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1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GB" b="1" dirty="0"/>
                  <a:t> =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GB" dirty="0"/>
                      <m:t>1, </m:t>
                    </m:r>
                    <m:r>
                      <m:rPr>
                        <m:nor/>
                      </m:rPr>
                      <a:rPr lang="en-GB" b="0" i="0" dirty="0" smtClean="0"/>
                      <m:t>2, 4</m:t>
                    </m:r>
                    <m:r>
                      <m:rPr>
                        <m:nor/>
                      </m:rPr>
                      <a:rPr lang="en-GB" dirty="0"/>
                      <m:t>, </m:t>
                    </m:r>
                    <m:r>
                      <m:rPr>
                        <m:nor/>
                      </m:rPr>
                      <a:rPr lang="en-GB" b="0" i="0" dirty="0" smtClean="0"/>
                      <m:t>5</m:t>
                    </m:r>
                    <m:r>
                      <m:rPr>
                        <m:nor/>
                      </m:rPr>
                      <a:rPr lang="en-GB" dirty="0"/>
                      <m:t>,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𝐀</m:t>
                    </m:r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</m:oMath>
                </a14:m>
                <a:r>
                  <a:rPr lang="en-GB" b="1" dirty="0"/>
                  <a:t> =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 2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b="1" dirty="0"/>
                  <a:t> =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GB" dirty="0"/>
                      <m:t>1, 2, 3, </m:t>
                    </m:r>
                    <m:r>
                      <m:rPr>
                        <m:nor/>
                      </m:rPr>
                      <a:rPr lang="en-GB" b="0" i="0" dirty="0" smtClean="0"/>
                      <m:t>4, 4</m:t>
                    </m:r>
                    <m:r>
                      <m:rPr>
                        <m:nor/>
                      </m:rPr>
                      <a:rPr lang="en-GB" dirty="0"/>
                      <m:t>, 6, 7, 8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3728" y="5157192"/>
                <a:ext cx="5481501" cy="1558905"/>
              </a:xfrm>
              <a:blipFill rotWithShape="0">
                <a:blip r:embed="rId3"/>
                <a:stretch>
                  <a:fillRect t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006363" y="1706932"/>
            <a:ext cx="3221157" cy="2951477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4151724" y="1712992"/>
            <a:ext cx="3221157" cy="2951477"/>
          </a:xfrm>
          <a:prstGeom prst="ellipse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 flipH="1">
            <a:off x="3152383" y="1731745"/>
            <a:ext cx="48301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76326" y="1538607"/>
            <a:ext cx="4116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09059" y="2786560"/>
            <a:ext cx="3928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1018" y="2328594"/>
            <a:ext cx="3928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58859" y="3626391"/>
            <a:ext cx="3928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61976" y="1800958"/>
            <a:ext cx="3928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73255" y="3644758"/>
            <a:ext cx="3928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71614" y="3112758"/>
            <a:ext cx="3928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89298" y="2917203"/>
            <a:ext cx="3928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06363" y="2693448"/>
            <a:ext cx="10199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19690" y="1610949"/>
            <a:ext cx="4293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7" y="1349494"/>
            <a:ext cx="9144000" cy="4866593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2001918" y="5018446"/>
            <a:ext cx="720080" cy="682447"/>
          </a:xfrm>
          <a:prstGeom prst="ellipse">
            <a:avLst/>
          </a:prstGeom>
          <a:solidFill>
            <a:srgbClr val="FFFF0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3307227" y="5491934"/>
            <a:ext cx="903264" cy="682447"/>
          </a:xfrm>
          <a:prstGeom prst="ellipse">
            <a:avLst/>
          </a:prstGeom>
          <a:solidFill>
            <a:srgbClr val="FFFF0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4324256" y="5936644"/>
            <a:ext cx="903264" cy="682447"/>
          </a:xfrm>
          <a:prstGeom prst="ellipse">
            <a:avLst/>
          </a:prstGeom>
          <a:solidFill>
            <a:srgbClr val="FFFF0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5621623" y="5936643"/>
            <a:ext cx="648064" cy="682447"/>
          </a:xfrm>
          <a:prstGeom prst="ellipse">
            <a:avLst/>
          </a:prstGeom>
          <a:solidFill>
            <a:srgbClr val="FFFF0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0" y="880488"/>
            <a:ext cx="91439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500" dirty="0"/>
              <a:t>Discuss with the person next to you the mistakes you can identify….</a:t>
            </a:r>
          </a:p>
        </p:txBody>
      </p:sp>
    </p:spTree>
    <p:extLst>
      <p:ext uri="{BB962C8B-B14F-4D97-AF65-F5344CB8AC3E}">
        <p14:creationId xmlns:p14="http://schemas.microsoft.com/office/powerpoint/2010/main" val="338240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www.cutevector.com/incl/data/big/0572-red-green-yellow-traffic-ligh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2636912"/>
            <a:ext cx="3803650" cy="277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55575" y="1033604"/>
            <a:ext cx="7993063" cy="5220419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altLang="en-US" sz="2800" dirty="0">
                <a:latin typeface="Comic Sans MS" panose="030F0702030302020204" pitchFamily="66" charset="0"/>
              </a:rPr>
              <a:t>Now rate yourself for this lesson/topic using the following code:</a:t>
            </a:r>
          </a:p>
          <a:p>
            <a:pPr marL="0" indent="0">
              <a:buNone/>
            </a:pPr>
            <a:endParaRPr lang="en-GB" altLang="en-US" sz="2800" dirty="0">
              <a:latin typeface="Comic Sans MS" panose="030F0702030302020204" pitchFamily="66" charset="0"/>
            </a:endParaRPr>
          </a:p>
          <a:p>
            <a:r>
              <a:rPr lang="en-GB" altLang="en-US" sz="2400" b="1" dirty="0">
                <a:latin typeface="Comic Sans MS" panose="030F0702030302020204" pitchFamily="66" charset="0"/>
              </a:rPr>
              <a:t>U – </a:t>
            </a:r>
            <a:r>
              <a:rPr lang="en-GB" alt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Little (unsatisfactory) effort!</a:t>
            </a:r>
          </a:p>
          <a:p>
            <a:r>
              <a:rPr lang="en-GB" altLang="en-US" sz="2400" b="1" dirty="0">
                <a:latin typeface="Comic Sans MS" panose="030F0702030302020204" pitchFamily="66" charset="0"/>
              </a:rPr>
              <a:t>S – </a:t>
            </a:r>
            <a:r>
              <a:rPr lang="en-GB" altLang="en-US" sz="2400" b="1" dirty="0">
                <a:solidFill>
                  <a:srgbClr val="FFC000"/>
                </a:solidFill>
                <a:latin typeface="Comic Sans MS" panose="030F0702030302020204" pitchFamily="66" charset="0"/>
              </a:rPr>
              <a:t>Some effort, still room for improvement!!</a:t>
            </a:r>
          </a:p>
          <a:p>
            <a:r>
              <a:rPr lang="en-GB" altLang="en-US" sz="2400" b="1" dirty="0">
                <a:latin typeface="Comic Sans MS" panose="030F0702030302020204" pitchFamily="66" charset="0"/>
              </a:rPr>
              <a:t>E – </a:t>
            </a:r>
            <a:r>
              <a:rPr lang="en-GB" alt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Excellent effort!!!</a:t>
            </a:r>
            <a:endParaRPr lang="en-GB" alt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alt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altLang="en-US" sz="2400" b="1" dirty="0">
              <a:latin typeface="Comic Sans MS" panose="030F0702030302020204" pitchFamily="66" charset="0"/>
            </a:endParaRPr>
          </a:p>
          <a:p>
            <a:r>
              <a:rPr lang="en-GB" altLang="en-US" sz="2400" b="1" dirty="0">
                <a:latin typeface="Comic Sans MS" panose="030F0702030302020204" pitchFamily="66" charset="0"/>
              </a:rPr>
              <a:t>     </a:t>
            </a:r>
            <a:r>
              <a:rPr lang="en-GB" alt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Little understanding</a:t>
            </a:r>
          </a:p>
          <a:p>
            <a:r>
              <a:rPr lang="en-GB" altLang="en-US" sz="2400" b="1" dirty="0">
                <a:latin typeface="Comic Sans MS" panose="030F0702030302020204" pitchFamily="66" charset="0"/>
              </a:rPr>
              <a:t>     </a:t>
            </a:r>
            <a:r>
              <a:rPr lang="en-GB" altLang="en-US" sz="2400" b="1" dirty="0">
                <a:solidFill>
                  <a:srgbClr val="FFC000"/>
                </a:solidFill>
                <a:latin typeface="Comic Sans MS" panose="030F0702030302020204" pitchFamily="66" charset="0"/>
              </a:rPr>
              <a:t>Some understanding, not completely sure</a:t>
            </a:r>
          </a:p>
          <a:p>
            <a:r>
              <a:rPr lang="en-GB" altLang="en-US" sz="2400" b="1" dirty="0">
                <a:latin typeface="Comic Sans MS" panose="030F0702030302020204" pitchFamily="66" charset="0"/>
              </a:rPr>
              <a:t>     </a:t>
            </a:r>
            <a:r>
              <a:rPr lang="en-GB" alt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Excellent understanding</a:t>
            </a:r>
          </a:p>
        </p:txBody>
      </p:sp>
      <p:sp>
        <p:nvSpPr>
          <p:cNvPr id="14340" name="WordArt 6"/>
          <p:cNvSpPr>
            <a:spLocks noChangeArrowheads="1" noChangeShapeType="1" noTextEdit="1"/>
          </p:cNvSpPr>
          <p:nvPr/>
        </p:nvSpPr>
        <p:spPr bwMode="auto">
          <a:xfrm>
            <a:off x="1331640" y="193031"/>
            <a:ext cx="6480175" cy="792163"/>
          </a:xfrm>
          <a:prstGeom prst="rect">
            <a:avLst/>
          </a:prstGeom>
          <a:effectLst/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b="1" u="sng" kern="10" dirty="0">
                <a:ln w="12700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23000">
                      <a:srgbClr val="00B050"/>
                    </a:gs>
                    <a:gs pos="44000">
                      <a:srgbClr val="FFFF00"/>
                    </a:gs>
                    <a:gs pos="65000">
                      <a:srgbClr val="FFC000"/>
                    </a:gs>
                    <a:gs pos="86000">
                      <a:srgbClr val="FF0000"/>
                    </a:gs>
                  </a:gsLst>
                  <a:lin ang="0" scaled="1"/>
                </a:gradFill>
                <a:latin typeface="Comic Sans MS" panose="030F0702030302020204" pitchFamily="66" charset="0"/>
              </a:rPr>
              <a:t>Self Evaluation</a:t>
            </a:r>
          </a:p>
        </p:txBody>
      </p:sp>
      <p:sp>
        <p:nvSpPr>
          <p:cNvPr id="3" name="AutoShape 2" descr="Image result for emoji faces"/>
          <p:cNvSpPr>
            <a:spLocks noChangeAspect="1" noChangeArrowheads="1"/>
          </p:cNvSpPr>
          <p:nvPr/>
        </p:nvSpPr>
        <p:spPr bwMode="auto">
          <a:xfrm>
            <a:off x="155575" y="-411163"/>
            <a:ext cx="857250" cy="8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64" y="5104311"/>
            <a:ext cx="449148" cy="4491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64" y="5667000"/>
            <a:ext cx="505935" cy="5059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64" y="4585861"/>
            <a:ext cx="522701" cy="43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62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3618</TotalTime>
  <Words>1379</Words>
  <Application>Microsoft Office PowerPoint</Application>
  <PresentationFormat>On-screen Show (4:3)</PresentationFormat>
  <Paragraphs>301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Comic Sans MS</vt:lpstr>
      <vt:lpstr>Office Theme</vt:lpstr>
      <vt:lpstr>6-Oct-17</vt:lpstr>
      <vt:lpstr>SETS</vt:lpstr>
      <vt:lpstr>SETS</vt:lpstr>
      <vt:lpstr>VENN DIAGRAM</vt:lpstr>
      <vt:lpstr>VENN DIAGRAM</vt:lpstr>
      <vt:lpstr>VENN DIAGRAM</vt:lpstr>
      <vt:lpstr>VENN DIAGRAM</vt:lpstr>
      <vt:lpstr>VENN DIAGRAM</vt:lpstr>
      <vt:lpstr>EXAMPLE</vt:lpstr>
      <vt:lpstr>VENN DIAGRAM</vt:lpstr>
      <vt:lpstr>VENN DIAGRAM</vt:lpstr>
      <vt:lpstr>PowerPoint Presentation</vt:lpstr>
      <vt:lpstr>QUESTION</vt:lpstr>
      <vt:lpstr>INTERSECTION</vt:lpstr>
      <vt:lpstr>INTERSECTION</vt:lpstr>
      <vt:lpstr>PowerPoint Presentation</vt:lpstr>
      <vt:lpstr>QUESTION</vt:lpstr>
      <vt:lpstr>UNION</vt:lpstr>
      <vt:lpstr>UNION</vt:lpstr>
      <vt:lpstr>UNION</vt:lpstr>
      <vt:lpstr>PowerPoint Presentation</vt:lpstr>
      <vt:lpstr>QUESTION</vt:lpstr>
      <vt:lpstr>QUESTION</vt:lpstr>
      <vt:lpstr>QUESTION</vt:lpstr>
      <vt:lpstr>QUESTION</vt:lpstr>
      <vt:lpstr>ANSWERS</vt:lpstr>
      <vt:lpstr>ANSWERS</vt:lpstr>
      <vt:lpstr>SPOT THE MISTAKES</vt:lpstr>
      <vt:lpstr>PLENARY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20th September 2013</dc:title>
  <dc:creator>Nathan Hardee</dc:creator>
  <cp:lastModifiedBy>Clem</cp:lastModifiedBy>
  <cp:revision>85</cp:revision>
  <dcterms:created xsi:type="dcterms:W3CDTF">2013-09-24T13:23:41Z</dcterms:created>
  <dcterms:modified xsi:type="dcterms:W3CDTF">2017-10-06T07:06:43Z</dcterms:modified>
</cp:coreProperties>
</file>
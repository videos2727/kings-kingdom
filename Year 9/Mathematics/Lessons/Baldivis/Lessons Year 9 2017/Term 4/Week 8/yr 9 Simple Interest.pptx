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7" r:id="rId1"/>
  </p:sldMasterIdLst>
  <p:sldIdLst>
    <p:sldId id="262" r:id="rId2"/>
    <p:sldId id="264" r:id="rId3"/>
    <p:sldId id="265" r:id="rId4"/>
    <p:sldId id="257" r:id="rId5"/>
    <p:sldId id="258" r:id="rId6"/>
    <p:sldId id="259" r:id="rId7"/>
    <p:sldId id="260" r:id="rId8"/>
    <p:sldId id="261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4" autoAdjust="0"/>
  </p:normalViewPr>
  <p:slideViewPr>
    <p:cSldViewPr>
      <p:cViewPr varScale="1">
        <p:scale>
          <a:sx n="57" d="100"/>
          <a:sy n="57" d="100"/>
        </p:scale>
        <p:origin x="52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C474-0861-469D-881C-742CE7BBD56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3145661"/>
      </p:ext>
    </p:extLst>
  </p:cSld>
  <p:clrMapOvr>
    <a:masterClrMapping/>
  </p:clrMapOvr>
  <p:transition spd="slow">
    <p:split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B033-6292-441D-A43D-D93E0CFEA2C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784082"/>
      </p:ext>
    </p:extLst>
  </p:cSld>
  <p:clrMapOvr>
    <a:masterClrMapping/>
  </p:clrMapOvr>
  <p:transition spd="slow">
    <p:split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56244-4CA3-4F17-8A68-2DA021E4D0AC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511114"/>
      </p:ext>
    </p:extLst>
  </p:cSld>
  <p:clrMapOvr>
    <a:masterClrMapping/>
  </p:clrMapOvr>
  <p:transition spd="slow">
    <p:split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5103-04B6-48C9-857C-7C45C1A9B82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6077536"/>
      </p:ext>
    </p:extLst>
  </p:cSld>
  <p:clrMapOvr>
    <a:masterClrMapping/>
  </p:clrMapOvr>
  <p:transition spd="slow">
    <p:split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E7DD-A85C-4923-917F-183CED04BD5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4048030"/>
      </p:ext>
    </p:extLst>
  </p:cSld>
  <p:clrMapOvr>
    <a:masterClrMapping/>
  </p:clrMapOvr>
  <p:transition spd="slow">
    <p:split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E486-A83F-434A-AA11-7CC2D43A825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4280015"/>
      </p:ext>
    </p:extLst>
  </p:cSld>
  <p:clrMapOvr>
    <a:masterClrMapping/>
  </p:clrMapOvr>
  <p:transition spd="slow">
    <p:split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F081-AAB1-44D7-9EDF-9A578B8D0FDC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3416476"/>
      </p:ext>
    </p:extLst>
  </p:cSld>
  <p:clrMapOvr>
    <a:masterClrMapping/>
  </p:clrMapOvr>
  <p:transition spd="slow">
    <p:split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B137-FC94-423B-AA90-2A537E2F059A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391262"/>
      </p:ext>
    </p:extLst>
  </p:cSld>
  <p:clrMapOvr>
    <a:masterClrMapping/>
  </p:clrMapOvr>
  <p:transition spd="slow">
    <p:split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CCDBF-3802-4C8E-9B6A-455C990D555D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1713632"/>
      </p:ext>
    </p:extLst>
  </p:cSld>
  <p:clrMapOvr>
    <a:masterClrMapping/>
  </p:clrMapOvr>
  <p:transition spd="slow">
    <p:split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3016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559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1399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8476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9598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752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6E7-67C4-440E-8D97-16C0A3B16E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3717636"/>
      </p:ext>
    </p:extLst>
  </p:cSld>
  <p:clrMapOvr>
    <a:masterClrMapping/>
  </p:clrMapOvr>
  <p:transition spd="slow">
    <p:split dir="in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8948-F4CD-41AC-B5EC-D1C210B89F9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0788873"/>
      </p:ext>
    </p:extLst>
  </p:cSld>
  <p:clrMapOvr>
    <a:masterClrMapping/>
  </p:clrMapOvr>
  <p:transition spd="slow">
    <p:split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2179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  <p:sldLayoutId id="2147483949" r:id="rId12"/>
    <p:sldLayoutId id="2147483950" r:id="rId13"/>
    <p:sldLayoutId id="2147483951" r:id="rId14"/>
    <p:sldLayoutId id="2147483952" r:id="rId15"/>
    <p:sldLayoutId id="2147483953" r:id="rId16"/>
    <p:sldLayoutId id="2147483954" r:id="rId17"/>
  </p:sldLayoutIdLst>
  <p:transition spd="slow">
    <p:split dir="in"/>
  </p:transition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1472" y="428604"/>
            <a:ext cx="24804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Interest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2976" y="1500174"/>
            <a:ext cx="72152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Suppose you want to buy a car, or a house, or something else but you don’t have the ready cash to pay for it. Then you may have to </a:t>
            </a:r>
            <a:r>
              <a:rPr lang="en-AU" b="1" dirty="0">
                <a:solidFill>
                  <a:srgbClr val="FFFF00"/>
                </a:solidFill>
              </a:rPr>
              <a:t>BORROW</a:t>
            </a:r>
            <a:r>
              <a:rPr lang="en-AU" dirty="0">
                <a:solidFill>
                  <a:srgbClr val="FFFF00"/>
                </a:solidFill>
              </a:rPr>
              <a:t> </a:t>
            </a:r>
            <a:r>
              <a:rPr lang="en-AU" dirty="0"/>
              <a:t>the money from a bank. If you do this, then the bank charges an extra fee for the privilege of borrowing money from them.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2976" y="3714752"/>
            <a:ext cx="7500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This is called </a:t>
            </a:r>
            <a:r>
              <a:rPr lang="en-AU" b="1" u="sng" dirty="0">
                <a:solidFill>
                  <a:srgbClr val="FFFF00"/>
                </a:solidFill>
              </a:rPr>
              <a:t>INTEREST</a:t>
            </a:r>
            <a:r>
              <a:rPr lang="en-AU" dirty="0">
                <a:solidFill>
                  <a:srgbClr val="FFFF00"/>
                </a:solidFill>
              </a:rPr>
              <a:t>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4414" y="4429132"/>
            <a:ext cx="7072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you’re in the fortunate position of having money to </a:t>
            </a:r>
            <a:r>
              <a:rPr lang="en-AU" dirty="0">
                <a:solidFill>
                  <a:srgbClr val="FFFF00"/>
                </a:solidFill>
              </a:rPr>
              <a:t>INVEST</a:t>
            </a:r>
            <a:r>
              <a:rPr lang="en-AU" dirty="0"/>
              <a:t> (the opposite of borrowing), then the bank will pay </a:t>
            </a:r>
            <a:r>
              <a:rPr lang="en-AU" b="1" i="1" u="sng" dirty="0"/>
              <a:t>you</a:t>
            </a:r>
            <a:r>
              <a:rPr lang="en-AU" dirty="0"/>
              <a:t> interest!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20907588">
            <a:off x="357158" y="500042"/>
            <a:ext cx="4643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How it works……….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158" y="1571612"/>
            <a:ext cx="81439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Suppose I borrow $2000 (called the </a:t>
            </a:r>
            <a:r>
              <a:rPr lang="en-AU" b="1" dirty="0"/>
              <a:t>Principal, </a:t>
            </a:r>
            <a:r>
              <a:rPr lang="en-AU" dirty="0"/>
              <a:t>or</a:t>
            </a:r>
            <a:r>
              <a:rPr lang="en-AU" b="1" dirty="0"/>
              <a:t> “P”</a:t>
            </a:r>
            <a:r>
              <a:rPr lang="en-AU" dirty="0"/>
              <a:t>)</a:t>
            </a:r>
            <a:r>
              <a:rPr lang="en-AU" b="1" dirty="0"/>
              <a:t> </a:t>
            </a:r>
            <a:r>
              <a:rPr lang="en-AU" dirty="0"/>
              <a:t>for one year </a:t>
            </a:r>
            <a:r>
              <a:rPr lang="en-AU" b="1" dirty="0"/>
              <a:t>(T = 1) </a:t>
            </a:r>
            <a:r>
              <a:rPr lang="en-AU" dirty="0"/>
              <a:t>and the interest is 15% per annum.</a:t>
            </a:r>
          </a:p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357158" y="2494942"/>
            <a:ext cx="8143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Then the amount of interest I pay is equal to $2000 × 15% ÷ 100 × 1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58" y="2995008"/>
            <a:ext cx="8001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Which equals $300.  </a:t>
            </a: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285720" y="3714752"/>
            <a:ext cx="8501122" cy="1588"/>
          </a:xfrm>
          <a:prstGeom prst="line">
            <a:avLst/>
          </a:prstGeom>
          <a:solidFill>
            <a:schemeClr val="accent1"/>
          </a:solidFill>
          <a:ln w="38100" cap="sq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357158" y="3829955"/>
            <a:ext cx="8143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Suppose I borrow $5000 for two years </a:t>
            </a:r>
            <a:r>
              <a:rPr lang="en-AU" b="1" dirty="0"/>
              <a:t>(T = 2) </a:t>
            </a:r>
            <a:r>
              <a:rPr lang="en-AU" dirty="0"/>
              <a:t>and the interest is 12% per annum.</a:t>
            </a:r>
          </a:p>
          <a:p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357158" y="4753285"/>
            <a:ext cx="8143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Then the amount of interest I pay is equal to $5000 × 12% ÷ 100 × 2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158" y="5253351"/>
            <a:ext cx="8001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Which equals $1200. 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177480" y="2548307"/>
            <a:ext cx="6408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I borrow $P for T years</a:t>
            </a:r>
            <a:r>
              <a:rPr lang="en-AU" sz="2400" b="1" dirty="0"/>
              <a:t> </a:t>
            </a:r>
            <a:r>
              <a:rPr lang="en-AU" sz="2400" dirty="0"/>
              <a:t>and the interest is R% per annum.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2403" y="3490098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Then the amount of interest I pay is equal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9792" y="4001522"/>
            <a:ext cx="47149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/>
              <a:t>I = </a:t>
            </a:r>
            <a:r>
              <a:rPr lang="en-AU" sz="7200" u="sng" dirty="0"/>
              <a:t>PRT</a:t>
            </a:r>
          </a:p>
          <a:p>
            <a:pPr algn="ctr"/>
            <a:r>
              <a:rPr lang="en-AU" sz="7200" dirty="0"/>
              <a:t>      100</a:t>
            </a:r>
          </a:p>
          <a:p>
            <a:pPr algn="ctr"/>
            <a:endParaRPr lang="en-AU" sz="72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C58526-CB03-4C05-9F86-CFAA08F3EE2E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148175-9ADE-4957-B85B-053D29224569}"/>
              </a:ext>
            </a:extLst>
          </p:cNvPr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6FD608-557B-4F15-848D-86C2316A34F7}"/>
              </a:ext>
            </a:extLst>
          </p:cNvPr>
          <p:cNvSpPr txBox="1"/>
          <p:nvPr/>
        </p:nvSpPr>
        <p:spPr>
          <a:xfrm>
            <a:off x="395536" y="694543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you calculate interest?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2BEC7C-E5A6-4CD6-8066-B1D13954FAAB}"/>
              </a:ext>
            </a:extLst>
          </p:cNvPr>
          <p:cNvSpPr txBox="1"/>
          <p:nvPr/>
        </p:nvSpPr>
        <p:spPr>
          <a:xfrm>
            <a:off x="395536" y="99912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Simple Interest?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7A3D6E-02D1-4D15-98B2-35074056017E}"/>
              </a:ext>
            </a:extLst>
          </p:cNvPr>
          <p:cNvCxnSpPr>
            <a:cxnSpLocks/>
          </p:cNvCxnSpPr>
          <p:nvPr/>
        </p:nvCxnSpPr>
        <p:spPr>
          <a:xfrm>
            <a:off x="1619672" y="1340768"/>
            <a:ext cx="0" cy="551723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0C18DC9-2254-42C8-AC1A-8280B50E8367}"/>
              </a:ext>
            </a:extLst>
          </p:cNvPr>
          <p:cNvSpPr txBox="1"/>
          <p:nvPr/>
        </p:nvSpPr>
        <p:spPr>
          <a:xfrm>
            <a:off x="1763691" y="1399880"/>
            <a:ext cx="7488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Principal: The amount you either borrow or invest</a:t>
            </a:r>
          </a:p>
          <a:p>
            <a:r>
              <a:rPr lang="en-AU" sz="2000" dirty="0"/>
              <a:t>Rate: The percentage rate per annum (pa means per year)</a:t>
            </a:r>
          </a:p>
          <a:p>
            <a:r>
              <a:rPr lang="en-AU" sz="2000" dirty="0"/>
              <a:t>Time: The number of years you borrow or invest the principal.</a:t>
            </a:r>
          </a:p>
        </p:txBody>
      </p:sp>
    </p:spTree>
  </p:cSld>
  <p:clrMapOvr>
    <a:masterClrMapping/>
  </p:clrMapOvr>
  <p:transition spd="slow">
    <p:wheel spokes="8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Example 1 – simple interest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AU" dirty="0"/>
              <a:t>Joe wants to borrow </a:t>
            </a:r>
            <a:r>
              <a:rPr lang="en-AU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$2000</a:t>
            </a:r>
            <a:r>
              <a:rPr lang="en-AU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AU" dirty="0"/>
              <a:t>from a bank to buy a new car. He will take </a:t>
            </a:r>
            <a:r>
              <a:rPr lang="en-AU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 years</a:t>
            </a:r>
            <a:r>
              <a:rPr lang="en-AU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AU" dirty="0"/>
              <a:t>to pay the money back, and the bank’s interest rate is </a:t>
            </a:r>
            <a:r>
              <a:rPr lang="en-AU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8%</a:t>
            </a:r>
            <a:r>
              <a:rPr lang="en-AU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AU" i="1" dirty="0"/>
              <a:t>per annum </a:t>
            </a:r>
            <a:r>
              <a:rPr lang="en-AU" dirty="0"/>
              <a:t>(per year)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interest does he pay?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does he pay altogether?</a:t>
            </a:r>
          </a:p>
        </p:txBody>
      </p:sp>
    </p:spTree>
  </p:cSld>
  <p:clrMapOvr>
    <a:masterClrMapping/>
  </p:clrMapOvr>
  <p:transition spd="slow"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Joe’s solution</a:t>
            </a:r>
          </a:p>
        </p:txBody>
      </p:sp>
      <p:sp>
        <p:nvSpPr>
          <p:cNvPr id="28675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3600" dirty="0"/>
              <a:t>List your information systematically…..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AU" sz="36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3600" b="1" dirty="0"/>
              <a:t>Amount (principal)……P = 2000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3600" b="1" dirty="0"/>
              <a:t>Rate…………………….R = 8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3600" b="1" dirty="0"/>
              <a:t>Time……………………T = 2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AU" sz="36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3600" dirty="0"/>
              <a:t>The formula  </a:t>
            </a:r>
            <a:r>
              <a:rPr lang="en-AU" sz="3600" b="1" dirty="0"/>
              <a:t>I = </a:t>
            </a:r>
            <a:r>
              <a:rPr lang="en-AU" sz="3600" b="1" u="sng" dirty="0"/>
              <a:t>PRT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AU" sz="3600" b="1" dirty="0"/>
              <a:t>                               100</a:t>
            </a:r>
          </a:p>
        </p:txBody>
      </p:sp>
    </p:spTree>
  </p:cSld>
  <p:clrMapOvr>
    <a:masterClrMapping/>
  </p:clrMapOvr>
  <p:transition spd="slow"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AU" sz="4000" b="1" dirty="0"/>
              <a:t>I = </a:t>
            </a:r>
            <a:r>
              <a:rPr lang="en-AU" sz="4000" b="1" u="sng" dirty="0"/>
              <a:t>PRT</a:t>
            </a:r>
            <a:endParaRPr lang="en-AU" sz="4000" b="1" dirty="0"/>
          </a:p>
          <a:p>
            <a:pPr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AU" sz="4000" b="1" dirty="0"/>
              <a:t>        100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AU" sz="4000" b="1" dirty="0"/>
              <a:t>	= </a:t>
            </a:r>
            <a:r>
              <a:rPr lang="en-AU" sz="4000" b="1" u="sng" dirty="0"/>
              <a:t>2000 × 8 × 2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AU" sz="4000" b="1" dirty="0"/>
              <a:t>                100</a:t>
            </a:r>
          </a:p>
          <a:p>
            <a:pPr>
              <a:buFont typeface="Wingdings" pitchFamily="2" charset="2"/>
              <a:buNone/>
            </a:pPr>
            <a:r>
              <a:rPr lang="en-AU" sz="4000" b="1" dirty="0"/>
              <a:t>	= $320</a:t>
            </a:r>
          </a:p>
          <a:p>
            <a:pPr>
              <a:buFont typeface="Wingdings" pitchFamily="2" charset="2"/>
              <a:buNone/>
            </a:pPr>
            <a:r>
              <a:rPr lang="en-AU" sz="4000" b="1" i="1" dirty="0"/>
              <a:t>Joe pays $320 interest and the</a:t>
            </a:r>
          </a:p>
          <a:p>
            <a:pPr>
              <a:buFont typeface="Wingdings" pitchFamily="2" charset="2"/>
              <a:buNone/>
            </a:pPr>
            <a:r>
              <a:rPr lang="en-AU" sz="4000" b="1" i="1" dirty="0"/>
              <a:t>Total cost is $2320</a:t>
            </a:r>
          </a:p>
        </p:txBody>
      </p:sp>
    </p:spTree>
  </p:cSld>
  <p:clrMapOvr>
    <a:masterClrMapping/>
  </p:clrMapOvr>
  <p:transition spd="slow"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Example 3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AU"/>
              <a:t>Susie borrows $4500 for a holiday. She expects to pay it off after 1 ½ years. The bank charges 9% </a:t>
            </a:r>
            <a:r>
              <a:rPr lang="en-AU" i="1"/>
              <a:t>per annum </a:t>
            </a:r>
            <a:r>
              <a:rPr lang="en-AU"/>
              <a:t>interest.</a:t>
            </a:r>
          </a:p>
          <a:p>
            <a:pPr>
              <a:buFont typeface="Wingdings" pitchFamily="2" charset="2"/>
              <a:buNone/>
            </a:pPr>
            <a:endParaRPr lang="en-AU"/>
          </a:p>
          <a:p>
            <a:pPr>
              <a:buFont typeface="Wingdings" pitchFamily="2" charset="2"/>
              <a:buNone/>
            </a:pPr>
            <a:r>
              <a:rPr lang="en-AU"/>
              <a:t>How much interest does Susie pay? </a:t>
            </a:r>
          </a:p>
          <a:p>
            <a:pPr>
              <a:buFont typeface="Wingdings" pitchFamily="2" charset="2"/>
              <a:buNone/>
            </a:pPr>
            <a:r>
              <a:rPr lang="en-AU"/>
              <a:t>How much does she pay altogether?</a:t>
            </a:r>
          </a:p>
        </p:txBody>
      </p:sp>
    </p:spTree>
  </p:cSld>
  <p:clrMapOvr>
    <a:masterClrMapping/>
  </p:clrMapOvr>
  <p:transition spd="slow">
    <p:split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Susie’s solution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dirty="0"/>
              <a:t>List your information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dirty="0"/>
              <a:t>		P = 4500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dirty="0"/>
              <a:t>		R = 9%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dirty="0"/>
              <a:t>		T = 1.5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AU" dirty="0"/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AU" dirty="0"/>
              <a:t>Interest = </a:t>
            </a:r>
            <a:r>
              <a:rPr lang="en-AU" u="sng" dirty="0"/>
              <a:t>PRT</a:t>
            </a:r>
            <a:endParaRPr lang="en-AU" dirty="0"/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AU" dirty="0"/>
              <a:t>                  100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AU" dirty="0"/>
              <a:t>		    = </a:t>
            </a:r>
            <a:r>
              <a:rPr lang="en-AU" u="sng" dirty="0"/>
              <a:t>4500 × 9 × 1.5 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AU" dirty="0"/>
              <a:t>				  100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dirty="0"/>
              <a:t>		    = $607.50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29256" y="3786190"/>
            <a:ext cx="3000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Total = 4500 + 607.50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6" y="4181781"/>
            <a:ext cx="34290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</a:rPr>
              <a:t>     = $5107.50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47" grpId="0" build="p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Example 4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41475"/>
            <a:ext cx="7772400" cy="17875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AU" dirty="0"/>
              <a:t>Steph invests $6000 at 14% p.a. interest for 5 years.  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did Steph earn? </a:t>
            </a:r>
          </a:p>
        </p:txBody>
      </p:sp>
      <p:sp>
        <p:nvSpPr>
          <p:cNvPr id="4" name="Rectangle 3"/>
          <p:cNvSpPr/>
          <p:nvPr/>
        </p:nvSpPr>
        <p:spPr>
          <a:xfrm>
            <a:off x="254244" y="3148715"/>
            <a:ext cx="383900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3600" b="1" cap="all" spc="0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71670" y="3617302"/>
            <a:ext cx="30718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I = </a:t>
            </a:r>
            <a:r>
              <a:rPr lang="en-AU" sz="3200" u="sng" dirty="0"/>
              <a:t>PRT</a:t>
            </a:r>
          </a:p>
          <a:p>
            <a:pPr algn="ctr"/>
            <a:r>
              <a:rPr lang="en-AU" sz="3200" dirty="0"/>
              <a:t>    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7950" y="3714752"/>
            <a:ext cx="2214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R = 14</a:t>
            </a:r>
          </a:p>
          <a:p>
            <a:r>
              <a:rPr lang="en-AU" dirty="0">
                <a:solidFill>
                  <a:srgbClr val="FFFF00"/>
                </a:solidFill>
              </a:rPr>
              <a:t>T = 5</a:t>
            </a:r>
          </a:p>
          <a:p>
            <a:r>
              <a:rPr lang="en-AU" dirty="0">
                <a:solidFill>
                  <a:srgbClr val="FFFF00"/>
                </a:solidFill>
              </a:rPr>
              <a:t>P = 6000</a:t>
            </a:r>
          </a:p>
          <a:p>
            <a:r>
              <a:rPr lang="en-AU" dirty="0">
                <a:solidFill>
                  <a:srgbClr val="FFFF00"/>
                </a:solidFill>
              </a:rPr>
              <a:t>I =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488" y="5746501"/>
            <a:ext cx="200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I = $4200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2132" y="5500702"/>
            <a:ext cx="3214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So Steph would have earned $4200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D1B819-443A-4138-BB98-E1B8901222F8}"/>
              </a:ext>
            </a:extLst>
          </p:cNvPr>
          <p:cNvSpPr txBox="1"/>
          <p:nvPr/>
        </p:nvSpPr>
        <p:spPr>
          <a:xfrm>
            <a:off x="1887375" y="4669283"/>
            <a:ext cx="39404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I = </a:t>
            </a:r>
            <a:r>
              <a:rPr lang="en-AU" sz="3200" u="sng" dirty="0"/>
              <a:t>6000 x 14 x 5</a:t>
            </a:r>
          </a:p>
          <a:p>
            <a:pPr algn="ctr"/>
            <a:r>
              <a:rPr lang="en-AU" sz="3200" dirty="0"/>
              <a:t>     100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 build="p"/>
      <p:bldP spid="4" grpId="0"/>
      <p:bldP spid="5" grpId="0"/>
      <p:bldP spid="6" grpId="0"/>
      <p:bldP spid="9" grpId="0"/>
      <p:bldP spid="10" grpId="0"/>
      <p:bldP spid="11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139</TotalTime>
  <Words>493</Words>
  <Application>Microsoft Office PowerPoint</Application>
  <PresentationFormat>On-screen Show (4:3)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Calisto MT</vt:lpstr>
      <vt:lpstr>Trebuchet MS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Example 1 – simple interest</vt:lpstr>
      <vt:lpstr>Joe’s solution</vt:lpstr>
      <vt:lpstr>PowerPoint Presentation</vt:lpstr>
      <vt:lpstr>Example 3</vt:lpstr>
      <vt:lpstr>Susie’s solution</vt:lpstr>
      <vt:lpstr>Example 4</vt:lpstr>
    </vt:vector>
  </TitlesOfParts>
  <Company>BGGS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Interest </dc:title>
  <dc:creator>BGGS</dc:creator>
  <cp:lastModifiedBy>WILSON James [Baldivis Secondary College]</cp:lastModifiedBy>
  <cp:revision>20</cp:revision>
  <cp:lastPrinted>1601-01-01T00:00:00Z</cp:lastPrinted>
  <dcterms:created xsi:type="dcterms:W3CDTF">2001-02-14T02:34:26Z</dcterms:created>
  <dcterms:modified xsi:type="dcterms:W3CDTF">2017-11-28T15:59:13Z</dcterms:modified>
</cp:coreProperties>
</file>
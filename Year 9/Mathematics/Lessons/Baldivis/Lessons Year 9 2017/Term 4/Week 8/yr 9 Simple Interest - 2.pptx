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7" r:id="rId1"/>
  </p:sldMasterIdLst>
  <p:sldIdLst>
    <p:sldId id="262" r:id="rId2"/>
    <p:sldId id="269" r:id="rId3"/>
    <p:sldId id="270" r:id="rId4"/>
    <p:sldId id="271" r:id="rId5"/>
    <p:sldId id="272" r:id="rId6"/>
    <p:sldId id="265" r:id="rId7"/>
    <p:sldId id="257" r:id="rId8"/>
    <p:sldId id="258" r:id="rId9"/>
    <p:sldId id="259" r:id="rId10"/>
    <p:sldId id="260" r:id="rId11"/>
    <p:sldId id="261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4" autoAdjust="0"/>
  </p:normalViewPr>
  <p:slideViewPr>
    <p:cSldViewPr>
      <p:cViewPr varScale="1">
        <p:scale>
          <a:sx n="57" d="100"/>
          <a:sy n="57" d="100"/>
        </p:scale>
        <p:origin x="52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C474-0861-469D-881C-742CE7BBD56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145661"/>
      </p:ext>
    </p:extLst>
  </p:cSld>
  <p:clrMapOvr>
    <a:masterClrMapping/>
  </p:clrMapOvr>
  <p:transition spd="slow"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B033-6292-441D-A43D-D93E0CFEA2C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784082"/>
      </p:ext>
    </p:extLst>
  </p:cSld>
  <p:clrMapOvr>
    <a:masterClrMapping/>
  </p:clrMapOvr>
  <p:transition spd="slow"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56244-4CA3-4F17-8A68-2DA021E4D0A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511114"/>
      </p:ext>
    </p:extLst>
  </p:cSld>
  <p:clrMapOvr>
    <a:masterClrMapping/>
  </p:clrMapOvr>
  <p:transition spd="slow"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5103-04B6-48C9-857C-7C45C1A9B82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077536"/>
      </p:ext>
    </p:extLst>
  </p:cSld>
  <p:clrMapOvr>
    <a:masterClrMapping/>
  </p:clrMapOvr>
  <p:transition spd="slow"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E7DD-A85C-4923-917F-183CED04BD5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048030"/>
      </p:ext>
    </p:extLst>
  </p:cSld>
  <p:clrMapOvr>
    <a:masterClrMapping/>
  </p:clrMapOvr>
  <p:transition spd="slow"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E486-A83F-434A-AA11-7CC2D43A825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4280015"/>
      </p:ext>
    </p:extLst>
  </p:cSld>
  <p:clrMapOvr>
    <a:masterClrMapping/>
  </p:clrMapOvr>
  <p:transition spd="slow"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F081-AAB1-44D7-9EDF-9A578B8D0FD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416476"/>
      </p:ext>
    </p:extLst>
  </p:cSld>
  <p:clrMapOvr>
    <a:masterClrMapping/>
  </p:clrMapOvr>
  <p:transition spd="slow"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B137-FC94-423B-AA90-2A537E2F059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91262"/>
      </p:ext>
    </p:extLst>
  </p:cSld>
  <p:clrMapOvr>
    <a:masterClrMapping/>
  </p:clrMapOvr>
  <p:transition spd="slow"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CCDBF-3802-4C8E-9B6A-455C990D555D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713632"/>
      </p:ext>
    </p:extLst>
  </p:cSld>
  <p:clrMapOvr>
    <a:masterClrMapping/>
  </p:clrMapOvr>
  <p:transition spd="slow"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301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559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99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476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598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52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6E7-67C4-440E-8D97-16C0A3B16E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717636"/>
      </p:ext>
    </p:extLst>
  </p:cSld>
  <p:clrMapOvr>
    <a:masterClrMapping/>
  </p:clrMapOvr>
  <p:transition spd="slow">
    <p:split dir="in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8948-F4CD-41AC-B5EC-D1C210B89F9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788873"/>
      </p:ext>
    </p:extLst>
  </p:cSld>
  <p:clrMapOvr>
    <a:masterClrMapping/>
  </p:clrMapOvr>
  <p:transition spd="slow"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17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</p:sldLayoutIdLst>
  <p:transition spd="slow">
    <p:split dir="in"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428604"/>
            <a:ext cx="2480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500174"/>
            <a:ext cx="7215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Steve wants to work out how much money he needs to invest to earn $4000 over a single year.  The best rate he can find advertised is 7%.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51C35-AACF-4E96-A902-41237CD7E74E}"/>
              </a:ext>
            </a:extLst>
          </p:cNvPr>
          <p:cNvSpPr txBox="1"/>
          <p:nvPr/>
        </p:nvSpPr>
        <p:spPr>
          <a:xfrm>
            <a:off x="1475656" y="2676976"/>
            <a:ext cx="4714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</a:t>
            </a:r>
            <a:r>
              <a:rPr lang="en-AU" sz="7200" u="sng" dirty="0"/>
              <a:t>PRT</a:t>
            </a:r>
          </a:p>
          <a:p>
            <a:pPr algn="ctr"/>
            <a:r>
              <a:rPr lang="en-AU" sz="7200" dirty="0"/>
              <a:t>      100</a:t>
            </a:r>
          </a:p>
          <a:p>
            <a:pPr algn="ctr"/>
            <a:endParaRPr lang="en-AU" sz="7200" dirty="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428604"/>
            <a:ext cx="2480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500174"/>
            <a:ext cx="7215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Steve wants to work out how much money he needs to invest to earn $4000 over a single year.  The best rate he can find advertised is 7%.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51C35-AACF-4E96-A902-41237CD7E74E}"/>
              </a:ext>
            </a:extLst>
          </p:cNvPr>
          <p:cNvSpPr txBox="1"/>
          <p:nvPr/>
        </p:nvSpPr>
        <p:spPr>
          <a:xfrm>
            <a:off x="1142976" y="2924944"/>
            <a:ext cx="6840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x 100 = PRT</a:t>
            </a:r>
          </a:p>
          <a:p>
            <a:pPr algn="ctr"/>
            <a:r>
              <a:rPr lang="en-AU" sz="7200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829335699"/>
      </p:ext>
    </p:extLst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428604"/>
            <a:ext cx="2480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500174"/>
            <a:ext cx="7215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Steve wants to work out how much money he needs to invest to earn $4000 over a single year.  The best rate he can find advertised is 7%.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51C35-AACF-4E96-A902-41237CD7E74E}"/>
              </a:ext>
            </a:extLst>
          </p:cNvPr>
          <p:cNvSpPr txBox="1"/>
          <p:nvPr/>
        </p:nvSpPr>
        <p:spPr>
          <a:xfrm>
            <a:off x="1142976" y="2924944"/>
            <a:ext cx="6840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u="sng" dirty="0"/>
              <a:t>I x 100 </a:t>
            </a:r>
            <a:r>
              <a:rPr lang="en-AU" sz="7200" dirty="0"/>
              <a:t>= P</a:t>
            </a:r>
          </a:p>
          <a:p>
            <a:r>
              <a:rPr lang="en-AU" sz="7200" dirty="0"/>
              <a:t>         RT   </a:t>
            </a:r>
          </a:p>
          <a:p>
            <a:pPr algn="ctr"/>
            <a:r>
              <a:rPr lang="en-AU" sz="7200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791076602"/>
      </p:ext>
    </p:extLst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428604"/>
            <a:ext cx="2480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500174"/>
            <a:ext cx="7215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Steve wants to work out how much money he needs to invest to earn $4000 over a single year.  The best rate he can find advertised is 7%.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51C35-AACF-4E96-A902-41237CD7E74E}"/>
              </a:ext>
            </a:extLst>
          </p:cNvPr>
          <p:cNvSpPr txBox="1"/>
          <p:nvPr/>
        </p:nvSpPr>
        <p:spPr>
          <a:xfrm>
            <a:off x="1330215" y="2708920"/>
            <a:ext cx="6840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u="sng" dirty="0"/>
              <a:t>4000 x 100 </a:t>
            </a:r>
            <a:r>
              <a:rPr lang="en-AU" sz="7200" dirty="0"/>
              <a:t>= P</a:t>
            </a:r>
          </a:p>
          <a:p>
            <a:r>
              <a:rPr lang="en-AU" sz="7200" dirty="0"/>
              <a:t>         7x1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83C0F-5F03-4F42-89DD-864D35643F26}"/>
              </a:ext>
            </a:extLst>
          </p:cNvPr>
          <p:cNvSpPr txBox="1"/>
          <p:nvPr/>
        </p:nvSpPr>
        <p:spPr>
          <a:xfrm>
            <a:off x="1330215" y="5001055"/>
            <a:ext cx="6840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$57143 = P</a:t>
            </a:r>
          </a:p>
        </p:txBody>
      </p:sp>
    </p:spTree>
    <p:extLst>
      <p:ext uri="{BB962C8B-B14F-4D97-AF65-F5344CB8AC3E}">
        <p14:creationId xmlns:p14="http://schemas.microsoft.com/office/powerpoint/2010/main" val="3704243175"/>
      </p:ext>
    </p:extLst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B9277-D3BA-4B46-9E5F-761DA91386F4}"/>
              </a:ext>
            </a:extLst>
          </p:cNvPr>
          <p:cNvSpPr txBox="1"/>
          <p:nvPr/>
        </p:nvSpPr>
        <p:spPr>
          <a:xfrm>
            <a:off x="1547664" y="692696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just like any equation we can modify our Simple Interest calculation to find out any unknown quantity.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21314-D14C-44E7-B003-2305B2797149}"/>
              </a:ext>
            </a:extLst>
          </p:cNvPr>
          <p:cNvSpPr txBox="1"/>
          <p:nvPr/>
        </p:nvSpPr>
        <p:spPr>
          <a:xfrm>
            <a:off x="-972616" y="1556792"/>
            <a:ext cx="6840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5400" dirty="0"/>
              <a:t>P = </a:t>
            </a:r>
            <a:r>
              <a:rPr lang="en-AU" sz="5400" u="sng" dirty="0"/>
              <a:t>I x 100</a:t>
            </a:r>
            <a:endParaRPr lang="en-AU" sz="5400" dirty="0"/>
          </a:p>
          <a:p>
            <a:r>
              <a:rPr lang="en-AU" sz="5400" dirty="0"/>
              <a:t>                   RT   </a:t>
            </a:r>
          </a:p>
          <a:p>
            <a:pPr algn="ctr"/>
            <a:r>
              <a:rPr lang="en-AU" sz="5400" dirty="0"/>
              <a:t>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AE4F7-6965-4AE0-B8CF-E333D51049EE}"/>
              </a:ext>
            </a:extLst>
          </p:cNvPr>
          <p:cNvSpPr txBox="1"/>
          <p:nvPr/>
        </p:nvSpPr>
        <p:spPr>
          <a:xfrm>
            <a:off x="3563888" y="1564267"/>
            <a:ext cx="6840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5400" dirty="0"/>
              <a:t>R = </a:t>
            </a:r>
            <a:r>
              <a:rPr lang="en-AU" sz="5400" u="sng" dirty="0"/>
              <a:t>I x 100</a:t>
            </a:r>
            <a:endParaRPr lang="en-AU" sz="5400" dirty="0"/>
          </a:p>
          <a:p>
            <a:r>
              <a:rPr lang="en-AU" sz="5400" dirty="0"/>
              <a:t>                   PT   </a:t>
            </a:r>
          </a:p>
          <a:p>
            <a:pPr algn="ctr"/>
            <a:r>
              <a:rPr lang="en-AU" sz="5400" dirty="0"/>
              <a:t>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98FB9-FCA7-4D13-804A-637FBC971A4A}"/>
              </a:ext>
            </a:extLst>
          </p:cNvPr>
          <p:cNvSpPr txBox="1"/>
          <p:nvPr/>
        </p:nvSpPr>
        <p:spPr>
          <a:xfrm>
            <a:off x="1043608" y="4001071"/>
            <a:ext cx="6840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5400" dirty="0"/>
              <a:t>T = </a:t>
            </a:r>
            <a:r>
              <a:rPr lang="en-AU" sz="5400" u="sng" dirty="0"/>
              <a:t>I x 100</a:t>
            </a:r>
            <a:endParaRPr lang="en-AU" sz="5400" dirty="0"/>
          </a:p>
          <a:p>
            <a:r>
              <a:rPr lang="en-AU" sz="5400" dirty="0"/>
              <a:t>                   PR   </a:t>
            </a:r>
          </a:p>
          <a:p>
            <a:pPr algn="ctr"/>
            <a:r>
              <a:rPr lang="en-AU" sz="5400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073006127"/>
      </p:ext>
    </p:extLst>
  </p:cSld>
  <p:clrMapOvr>
    <a:masterClrMapping/>
  </p:clrMapOvr>
  <p:transition spd="slow"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99592" y="2842377"/>
            <a:ext cx="47149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I = </a:t>
            </a:r>
            <a:r>
              <a:rPr lang="en-AU" sz="4800" u="sng" dirty="0"/>
              <a:t>PRT</a:t>
            </a:r>
          </a:p>
          <a:p>
            <a:pPr algn="ctr"/>
            <a:r>
              <a:rPr lang="en-AU" sz="4800" dirty="0"/>
              <a:t>      100</a:t>
            </a:r>
          </a:p>
          <a:p>
            <a:pPr algn="ctr"/>
            <a:endParaRPr lang="en-AU" sz="48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366457" y="796001"/>
            <a:ext cx="8411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EQ: How do you use the simple interest formula to find other variables?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395536" y="9991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 - 2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1619672" y="1340768"/>
            <a:ext cx="0" cy="551723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409F38-2029-4D98-B776-9DF945F1EB5E}"/>
              </a:ext>
            </a:extLst>
          </p:cNvPr>
          <p:cNvSpPr txBox="1"/>
          <p:nvPr/>
        </p:nvSpPr>
        <p:spPr>
          <a:xfrm>
            <a:off x="2202764" y="1593024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rearrange our Simple Interest calculation to find out any unknown quantity.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53D2C7-D33E-45E1-97B1-9CCCBB942012}"/>
              </a:ext>
            </a:extLst>
          </p:cNvPr>
          <p:cNvSpPr txBox="1"/>
          <p:nvPr/>
        </p:nvSpPr>
        <p:spPr>
          <a:xfrm>
            <a:off x="0" y="4818879"/>
            <a:ext cx="6840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P = </a:t>
            </a:r>
            <a:r>
              <a:rPr lang="en-AU" sz="4800" u="sng" dirty="0"/>
              <a:t>I x 100</a:t>
            </a:r>
            <a:endParaRPr lang="en-AU" sz="4800" dirty="0"/>
          </a:p>
          <a:p>
            <a:r>
              <a:rPr lang="en-AU" sz="4800" dirty="0"/>
              <a:t>                      RT   </a:t>
            </a:r>
          </a:p>
          <a:p>
            <a:pPr algn="ctr"/>
            <a:r>
              <a:rPr lang="en-AU" sz="4800" dirty="0"/>
              <a:t>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61607B-0C2A-414C-8D5B-753EB9CD2516}"/>
              </a:ext>
            </a:extLst>
          </p:cNvPr>
          <p:cNvSpPr txBox="1"/>
          <p:nvPr/>
        </p:nvSpPr>
        <p:spPr>
          <a:xfrm>
            <a:off x="3700372" y="2730342"/>
            <a:ext cx="6840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R = </a:t>
            </a:r>
            <a:r>
              <a:rPr lang="en-AU" sz="4800" u="sng" dirty="0"/>
              <a:t>I x 100</a:t>
            </a:r>
            <a:endParaRPr lang="en-AU" sz="4800" dirty="0"/>
          </a:p>
          <a:p>
            <a:r>
              <a:rPr lang="en-AU" sz="4800" dirty="0"/>
              <a:t>                      PT   </a:t>
            </a:r>
          </a:p>
          <a:p>
            <a:pPr algn="ctr"/>
            <a:r>
              <a:rPr lang="en-AU" sz="4800" dirty="0"/>
              <a:t>  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709EA2-0C4D-4DFD-8C82-62CD0B129F82}"/>
              </a:ext>
            </a:extLst>
          </p:cNvPr>
          <p:cNvSpPr txBox="1"/>
          <p:nvPr/>
        </p:nvSpPr>
        <p:spPr>
          <a:xfrm>
            <a:off x="3813792" y="4872755"/>
            <a:ext cx="6840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T = </a:t>
            </a:r>
            <a:r>
              <a:rPr lang="en-AU" sz="4800" u="sng" dirty="0"/>
              <a:t>I x 100</a:t>
            </a:r>
            <a:endParaRPr lang="en-AU" sz="4800" dirty="0"/>
          </a:p>
          <a:p>
            <a:r>
              <a:rPr lang="en-AU" sz="4800" dirty="0"/>
              <a:t>                      PR   </a:t>
            </a:r>
          </a:p>
          <a:p>
            <a:pPr algn="ctr"/>
            <a:r>
              <a:rPr lang="en-AU" sz="4800" dirty="0"/>
              <a:t>      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Example 1 – simple interest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Joe wants to borrows 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$2000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AU" dirty="0"/>
              <a:t>from a bank to buy a new car. The bank’s interest rate is 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8%</a:t>
            </a:r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AU" i="1" dirty="0"/>
              <a:t>per annum </a:t>
            </a:r>
            <a:r>
              <a:rPr lang="en-AU" dirty="0"/>
              <a:t>(per year) and he eventually pays back $640.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long did Joe take to repay the loan?</a:t>
            </a:r>
          </a:p>
        </p:txBody>
      </p:sp>
    </p:spTree>
  </p:cSld>
  <p:clrMapOvr>
    <a:masterClrMapping/>
  </p:clrMapOvr>
  <p:transition spd="slow"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Joe’s solution</a:t>
            </a:r>
          </a:p>
        </p:txBody>
      </p:sp>
      <p:sp>
        <p:nvSpPr>
          <p:cNvPr id="28675" name="Rectangle 1027"/>
          <p:cNvSpPr>
            <a:spLocks noGrp="1" noChangeArrowheads="1"/>
          </p:cNvSpPr>
          <p:nvPr>
            <p:ph idx="1"/>
          </p:nvPr>
        </p:nvSpPr>
        <p:spPr>
          <a:xfrm>
            <a:off x="685346" y="1580050"/>
            <a:ext cx="7765322" cy="508931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dirty="0"/>
              <a:t>List your information systematically…..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AU" sz="36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b="1" dirty="0"/>
              <a:t>Amount (principal)……P = 2000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b="1" dirty="0"/>
              <a:t>Rate…………………….R = 0.08</a:t>
            </a:r>
          </a:p>
          <a:p>
            <a:pPr>
              <a:lnSpc>
                <a:spcPct val="90000"/>
              </a:lnSpc>
              <a:buNone/>
            </a:pPr>
            <a:r>
              <a:rPr lang="en-AU" sz="3600" b="1" dirty="0"/>
              <a:t>Interest………………….I = 640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b="1" dirty="0"/>
              <a:t>Time……………………T = ?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AU" sz="36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sz="3600" dirty="0"/>
              <a:t>The formula  T = </a:t>
            </a:r>
            <a:r>
              <a:rPr lang="en-AU" sz="3600" u="sng" dirty="0"/>
              <a:t>I x 100</a:t>
            </a:r>
            <a:endParaRPr lang="en-AU" sz="3600" dirty="0"/>
          </a:p>
          <a:p>
            <a:pPr marL="36900" indent="0">
              <a:buNone/>
            </a:pPr>
            <a:r>
              <a:rPr lang="en-AU" sz="3600" dirty="0"/>
              <a:t>                                 PR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AU" sz="3600" b="1" dirty="0"/>
          </a:p>
        </p:txBody>
      </p:sp>
    </p:spTree>
  </p:cSld>
  <p:clrMapOvr>
    <a:masterClrMapping/>
  </p:clrMapOvr>
  <p:transition spd="slow"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sz="4000" b="1" dirty="0"/>
              <a:t>T = </a:t>
            </a:r>
            <a:r>
              <a:rPr lang="en-AU" sz="4000" b="1" u="sng" dirty="0"/>
              <a:t>I x 100</a:t>
            </a:r>
            <a:endParaRPr lang="en-AU" sz="4000" b="1" dirty="0"/>
          </a:p>
          <a:p>
            <a:pPr marL="369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b="1" dirty="0"/>
              <a:t>           PR  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sz="4000" b="1" dirty="0"/>
              <a:t>	= </a:t>
            </a:r>
            <a:r>
              <a:rPr lang="en-AU" sz="4000" b="1" u="sng" dirty="0"/>
              <a:t>640 x 100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AU" sz="4000" b="1" dirty="0"/>
              <a:t>       2000 x 8</a:t>
            </a:r>
          </a:p>
          <a:p>
            <a:pPr>
              <a:buFont typeface="Wingdings" pitchFamily="2" charset="2"/>
              <a:buNone/>
            </a:pPr>
            <a:r>
              <a:rPr lang="en-AU" sz="4000" b="1" dirty="0"/>
              <a:t>	= 4</a:t>
            </a:r>
          </a:p>
          <a:p>
            <a:pPr>
              <a:buFont typeface="Wingdings" pitchFamily="2" charset="2"/>
              <a:buNone/>
            </a:pPr>
            <a:r>
              <a:rPr lang="en-AU" sz="4000" b="1" i="1" dirty="0"/>
              <a:t>Joe takes 4 years to repay the loan</a:t>
            </a:r>
          </a:p>
        </p:txBody>
      </p:sp>
    </p:spTree>
  </p:cSld>
  <p:clrMapOvr>
    <a:masterClrMapping/>
  </p:clrMapOvr>
  <p:transition spd="slow"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Example 3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Susie borrows $4500 for a holiday. She expects to pay it off after 1 ½ years. She pays  $810 in interest.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What is the interest rate Susie was charged?</a:t>
            </a:r>
          </a:p>
        </p:txBody>
      </p:sp>
    </p:spTree>
  </p:cSld>
  <p:clrMapOvr>
    <a:masterClrMapping/>
  </p:clrMapOvr>
  <p:transition spd="slow"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Susie’s solution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List your information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		P = 4500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		I = $810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		T = 1.5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AU" dirty="0"/>
          </a:p>
          <a:p>
            <a:pPr marL="369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Rate = </a:t>
            </a:r>
            <a:r>
              <a:rPr lang="en-AU" u="sng" dirty="0"/>
              <a:t>I x 100</a:t>
            </a:r>
            <a:endParaRPr lang="en-AU" dirty="0"/>
          </a:p>
          <a:p>
            <a:pPr marL="369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               PT   </a:t>
            </a:r>
          </a:p>
          <a:p>
            <a:pPr marL="369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	   = </a:t>
            </a:r>
            <a:r>
              <a:rPr lang="en-AU" u="sng" dirty="0"/>
              <a:t>810 x 100</a:t>
            </a:r>
          </a:p>
          <a:p>
            <a:pPr marL="3690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             4500 × 1.5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AU" dirty="0"/>
              <a:t>		    = 12%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Steph’s investment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41475"/>
            <a:ext cx="7772400" cy="17875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 err="1"/>
              <a:t>Steph</a:t>
            </a:r>
            <a:r>
              <a:rPr lang="en-AU" dirty="0"/>
              <a:t> invests some money at 14% p.a. interest for 5 years, and earns $4200 interest.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did </a:t>
            </a:r>
            <a:r>
              <a:rPr lang="en-AU" dirty="0" err="1"/>
              <a:t>Steph</a:t>
            </a:r>
            <a:r>
              <a:rPr lang="en-AU" dirty="0"/>
              <a:t> invest? 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58" y="3214686"/>
            <a:ext cx="383900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7950" y="3714752"/>
            <a:ext cx="22145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R = 0.14</a:t>
            </a:r>
          </a:p>
          <a:p>
            <a:r>
              <a:rPr lang="en-AU" dirty="0">
                <a:solidFill>
                  <a:srgbClr val="FFFF00"/>
                </a:solidFill>
              </a:rPr>
              <a:t>T = 5</a:t>
            </a:r>
          </a:p>
          <a:p>
            <a:r>
              <a:rPr lang="en-AU" dirty="0">
                <a:solidFill>
                  <a:srgbClr val="FFFF00"/>
                </a:solidFill>
              </a:rPr>
              <a:t>I = 4200</a:t>
            </a:r>
          </a:p>
          <a:p>
            <a:r>
              <a:rPr lang="en-AU" dirty="0">
                <a:solidFill>
                  <a:srgbClr val="FFFF00"/>
                </a:solidFill>
              </a:rPr>
              <a:t>P =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9792" y="592498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P = 6000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32" y="5500702"/>
            <a:ext cx="3214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So </a:t>
            </a:r>
            <a:r>
              <a:rPr lang="en-AU" dirty="0" err="1">
                <a:solidFill>
                  <a:srgbClr val="FFFF00"/>
                </a:solidFill>
              </a:rPr>
              <a:t>Steph</a:t>
            </a:r>
            <a:r>
              <a:rPr lang="en-AU" dirty="0">
                <a:solidFill>
                  <a:srgbClr val="FFFF00"/>
                </a:solidFill>
              </a:rPr>
              <a:t> would have invested $6000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EE3B2-8E23-4CDB-AFCF-3B7B1364E3B1}"/>
              </a:ext>
            </a:extLst>
          </p:cNvPr>
          <p:cNvSpPr txBox="1"/>
          <p:nvPr/>
        </p:nvSpPr>
        <p:spPr>
          <a:xfrm>
            <a:off x="0" y="3736193"/>
            <a:ext cx="6840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 = </a:t>
            </a:r>
            <a:r>
              <a:rPr lang="en-AU" sz="3200" u="sng" dirty="0"/>
              <a:t>I x 100</a:t>
            </a:r>
            <a:endParaRPr lang="en-AU" sz="3200" dirty="0"/>
          </a:p>
          <a:p>
            <a:r>
              <a:rPr lang="en-AU" sz="3200" dirty="0"/>
              <a:t>                                 RT 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E5F96-80F8-4251-9C33-E95FC2C79646}"/>
              </a:ext>
            </a:extLst>
          </p:cNvPr>
          <p:cNvSpPr txBox="1"/>
          <p:nvPr/>
        </p:nvSpPr>
        <p:spPr>
          <a:xfrm>
            <a:off x="0" y="4767244"/>
            <a:ext cx="6840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 = </a:t>
            </a:r>
            <a:r>
              <a:rPr lang="en-AU" sz="3200" u="sng" dirty="0"/>
              <a:t>4200 x 100</a:t>
            </a:r>
            <a:endParaRPr lang="en-AU" sz="3200" dirty="0"/>
          </a:p>
          <a:p>
            <a:r>
              <a:rPr lang="en-AU" sz="3200" dirty="0"/>
              <a:t>                                14x5        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 build="p"/>
      <p:bldP spid="4" grpId="0"/>
      <p:bldP spid="6" grpId="0"/>
      <p:bldP spid="9" grpId="0"/>
      <p:bldP spid="10" grpId="0"/>
      <p:bldP spid="11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201</TotalTime>
  <Words>470</Words>
  <Application>Microsoft Office PowerPoint</Application>
  <PresentationFormat>On-screen Show (4:3)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Calisto MT</vt:lpstr>
      <vt:lpstr>Trebuchet MS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 – simple interest</vt:lpstr>
      <vt:lpstr>Joe’s solution</vt:lpstr>
      <vt:lpstr>PowerPoint Presentation</vt:lpstr>
      <vt:lpstr>Example 3</vt:lpstr>
      <vt:lpstr>Susie’s solution</vt:lpstr>
      <vt:lpstr>Steph’s investment</vt:lpstr>
    </vt:vector>
  </TitlesOfParts>
  <Company>BGGS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 </dc:title>
  <dc:creator>BGGS</dc:creator>
  <cp:lastModifiedBy>WILSON James [Baldivis Secondary College]</cp:lastModifiedBy>
  <cp:revision>23</cp:revision>
  <cp:lastPrinted>1601-01-01T00:00:00Z</cp:lastPrinted>
  <dcterms:created xsi:type="dcterms:W3CDTF">2001-02-14T02:34:26Z</dcterms:created>
  <dcterms:modified xsi:type="dcterms:W3CDTF">2017-11-28T15:47:21Z</dcterms:modified>
</cp:coreProperties>
</file>
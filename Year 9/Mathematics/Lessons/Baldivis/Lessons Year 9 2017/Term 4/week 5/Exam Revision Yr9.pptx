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9"/>
  </p:notesMasterIdLst>
  <p:sldIdLst>
    <p:sldId id="257" r:id="rId2"/>
    <p:sldId id="258" r:id="rId3"/>
    <p:sldId id="260" r:id="rId4"/>
    <p:sldId id="265" r:id="rId5"/>
    <p:sldId id="263" r:id="rId6"/>
    <p:sldId id="264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A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1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7C9D4-A157-4624-BFE0-90F936DBE01E}" type="datetimeFigureOut">
              <a:rPr lang="en-AU" smtClean="0"/>
              <a:t>14/11/2017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63F31-4CAC-4DF4-8B9C-8B85362767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7501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849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686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6A6A178-3F9A-4FBA-BEE0-C3EE6D34CCF1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1896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C8ABD84-2EE6-497E-89C1-8B283E7653FC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5416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996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9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3F2FDE6C-CEF8-491C-BE5F-453E9AE941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524D5F9-32B5-4210-83AA-B298E8D2691E}" type="slidenum">
              <a:rPr lang="en-US" altLang="en-US" sz="1200" smtClean="0"/>
              <a:pPr/>
              <a:t>21</a:t>
            </a:fld>
            <a:endParaRPr lang="en-US" altLang="en-US" sz="12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D6F28A2-905C-4F85-8D23-0026E73877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B33F9AD5-632A-40A4-8457-5E3A0D5C20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33902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250DA-1A36-49EC-A938-FE29BAEF7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27D00E-36A5-4838-ADD8-EC488788A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01DC7-F451-4564-BD7D-C52C4A43D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FE618-8F8A-423E-8E78-C123F5475663}" type="datetimeFigureOut">
              <a:rPr lang="en-AU" smtClean="0"/>
              <a:t>14/11/2017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70710-637D-4A85-9916-D3D9BDA2C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A6CEC-63F5-4D0C-B75E-9434249A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F7F47-8F97-4C5B-81B4-84C212EA8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9465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02BA7-0120-4B47-AC67-744E44D77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BCF40-D0EC-411A-AEFC-15B576AAF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21206-471E-48B0-BCCD-05A8D0942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FE618-8F8A-423E-8E78-C123F5475663}" type="datetimeFigureOut">
              <a:rPr lang="en-AU" smtClean="0"/>
              <a:t>14/11/2017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5170A-E439-4311-B048-5DEB71620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D5325-B374-484F-B881-6A9F26585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F7F47-8F97-4C5B-81B4-84C212EA8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0381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FCAA4-454C-4C2C-AE13-4AB8C0BBB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7AC3B-D55D-47B6-863E-38A4C5C71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235BC-BEA6-48C1-8C7C-B554E85BD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FE618-8F8A-423E-8E78-C123F5475663}" type="datetimeFigureOut">
              <a:rPr lang="en-AU" smtClean="0"/>
              <a:t>14/11/2017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9263B-6B04-4E3B-B689-070D7C44C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91070-F532-4FA7-867E-AF509875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F7F47-8F97-4C5B-81B4-84C212EA8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8415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4687D-5EE0-4862-AE73-1DB83E621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4CE6C-3C9F-4959-B658-53EA9B39BF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07391-EE45-4151-B1C7-9E563AF59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B239DC-6F34-4079-97D7-2C2621FDB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FE618-8F8A-423E-8E78-C123F5475663}" type="datetimeFigureOut">
              <a:rPr lang="en-AU" smtClean="0"/>
              <a:t>14/11/2017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A0F1A-1802-460F-A333-5DF7905E1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2F12B-2D41-4560-AE59-D9368E04A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F7F47-8F97-4C5B-81B4-84C212EA8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0565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ECACF-BE83-4783-A755-9D64154E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31CED-9150-413F-8500-2A9ABC582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80A39-32D2-4BAD-98DA-F5EE550D5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F2AE7C-0AF3-4C15-B5C4-C59AAE7D06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87A434-9D61-4218-92A0-8029C79B67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D4B807-BEC7-41B1-85A4-7589265D2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FE618-8F8A-423E-8E78-C123F5475663}" type="datetimeFigureOut">
              <a:rPr lang="en-AU" smtClean="0"/>
              <a:t>14/11/2017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C311F8-FA30-4ABC-A8B3-C3CB7945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D9DB58-99A3-4DE9-8952-13E6139B7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F7F47-8F97-4C5B-81B4-84C212EA8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911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A052B-268B-48FF-8983-D39483FEC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EF6C84-F4D3-41D3-95F3-8068163D5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FE618-8F8A-423E-8E78-C123F5475663}" type="datetimeFigureOut">
              <a:rPr lang="en-AU" smtClean="0"/>
              <a:t>14/11/2017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91CB88-13FA-4A3D-8149-DA5ECC38A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120FFF-6EBF-4C1F-AA63-B979C9550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F7F47-8F97-4C5B-81B4-84C212EA8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1242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6832EE-83DA-4503-A1E3-C5132E117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FE618-8F8A-423E-8E78-C123F5475663}" type="datetimeFigureOut">
              <a:rPr lang="en-AU" smtClean="0"/>
              <a:t>14/11/2017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E1B087-424F-4867-80B1-4AAE72FB4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00ECD-AABF-4DBF-BAF3-38D74D293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F7F47-8F97-4C5B-81B4-84C212EA8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859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1A4EF-14DD-4B68-9E98-0674A7D9D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3C1B5-BB0C-4B9A-8F02-2A7084F9D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8A3DA-FC3A-4AFA-9701-D58A8011A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14AE36-4FD4-4862-9A10-8DE60D156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FE618-8F8A-423E-8E78-C123F5475663}" type="datetimeFigureOut">
              <a:rPr lang="en-AU" smtClean="0"/>
              <a:t>14/11/2017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A50E3-336F-4851-B6DC-8F2CA1750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D3DA2-08EC-47A8-8577-CCF84FB26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F7F47-8F97-4C5B-81B4-84C212EA8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0974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D6639-7518-4DD5-80A6-C71998BB6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F94D20-A838-4500-83B8-5F6E92D3CA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4736A-06C6-4880-BA13-E946E70A0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5394E3-0844-4F2D-8A20-0CA820CF4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FE618-8F8A-423E-8E78-C123F5475663}" type="datetimeFigureOut">
              <a:rPr lang="en-AU" smtClean="0"/>
              <a:t>14/11/2017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BAB28-69AA-4A8C-9C2F-9B64759E4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A78C0-2728-433C-A0F7-6D54D4D54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F7F47-8F97-4C5B-81B4-84C212EA8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1659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12B40-7F50-4707-8767-355E901CF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B9F0E-1011-442F-BE56-CC38BF46B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12CA3-A6A1-497B-8705-8B490A4CA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FE618-8F8A-423E-8E78-C123F5475663}" type="datetimeFigureOut">
              <a:rPr lang="en-AU" smtClean="0"/>
              <a:t>14/11/2017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31DD2-C05A-4504-A596-3482912A8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20449-AA80-4719-A98E-2836BFCF2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F7F47-8F97-4C5B-81B4-84C212EA8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0252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E6D41F-E4DD-41B9-9DB3-B8762B25D7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C5CED9-7004-4FFF-8AF8-C0FE200C5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FD922-7B6A-4567-BFDE-41F784235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FE618-8F8A-423E-8E78-C123F5475663}" type="datetimeFigureOut">
              <a:rPr lang="en-AU" smtClean="0"/>
              <a:t>14/11/2017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6088E-8285-4A8F-BDD8-452DA8936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B3387-9C06-48F4-8930-02002E092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F7F47-8F97-4C5B-81B4-84C212EA8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6737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3B2EB8-B739-4436-8376-181041722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2B2C9-7105-48B5-B2E5-271EC91DA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3EF07-966D-4A6D-9B43-0EE2055CB6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FE618-8F8A-423E-8E78-C123F5475663}" type="datetimeFigureOut">
              <a:rPr lang="en-AU" smtClean="0"/>
              <a:t>14/11/2017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3736F-F871-4F2A-8160-123B878C0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0C781-BDE5-447A-89CF-E78D91227C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F7F47-8F97-4C5B-81B4-84C212EA8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6746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Exam Revision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4667535"/>
            <a:ext cx="9446339" cy="158758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9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55B5C2F-44A8-44C5-A4EE-38EAB0945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398293" cy="33982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E6EC5B-0BF2-4204-B2FA-D557A0AFB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2107" y="3398293"/>
            <a:ext cx="3323230" cy="33232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E96E78-CCFD-43C7-95BA-864FF6D332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0"/>
            <a:ext cx="5953125" cy="32575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CE210D-1C26-4520-B13F-FC2F456E86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1368" y="3063567"/>
            <a:ext cx="3794433" cy="379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4A1D5FB-E2FD-4989-B5F9-3CA3E4026E0C}"/>
              </a:ext>
            </a:extLst>
          </p:cNvPr>
          <p:cNvSpPr txBox="1">
            <a:spLocks/>
          </p:cNvSpPr>
          <p:nvPr/>
        </p:nvSpPr>
        <p:spPr>
          <a:xfrm>
            <a:off x="3270676" y="123213"/>
            <a:ext cx="8725706" cy="11237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Data</a:t>
            </a:r>
            <a:endParaRPr lang="en-US" sz="60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AF63F0-FC9F-4DCF-B4D2-2119772A9FE6}"/>
                  </a:ext>
                </a:extLst>
              </p:cNvPr>
              <p:cNvSpPr txBox="1"/>
              <p:nvPr/>
            </p:nvSpPr>
            <p:spPr>
              <a:xfrm>
                <a:off x="200622" y="832859"/>
                <a:ext cx="10389105" cy="22427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5000"/>
                  </a:lnSpc>
                </a:pPr>
                <a:r>
                  <a:rPr lang="en-US" altLang="en-US" sz="2400" b="1" dirty="0">
                    <a:solidFill>
                      <a:schemeClr val="accent2"/>
                    </a:solidFill>
                  </a:rPr>
                  <a:t>Mean</a:t>
                </a:r>
                <a:endParaRPr lang="en-US" altLang="en-US" sz="2400" b="1" dirty="0">
                  <a:solidFill>
                    <a:schemeClr val="hlink"/>
                  </a:solidFill>
                </a:endParaRPr>
              </a:p>
              <a:p>
                <a:pPr marL="285750" indent="-285750">
                  <a:lnSpc>
                    <a:spcPct val="135000"/>
                  </a:lnSpc>
                  <a:buFont typeface="Arial" charset="0"/>
                  <a:buChar char="•"/>
                </a:pPr>
                <a:r>
                  <a:rPr lang="en-US" altLang="en-US" sz="2400" dirty="0"/>
                  <a:t>Also known as the </a:t>
                </a:r>
                <a:r>
                  <a:rPr lang="en-US" altLang="en-US" sz="2400" b="1" dirty="0">
                    <a:solidFill>
                      <a:schemeClr val="accent2"/>
                    </a:solidFill>
                  </a:rPr>
                  <a:t>Average</a:t>
                </a:r>
                <a:r>
                  <a:rPr lang="en-US" altLang="en-US" sz="2400" dirty="0"/>
                  <a:t> of all observations.</a:t>
                </a:r>
              </a:p>
              <a:p>
                <a:pPr marL="285750" indent="-285750">
                  <a:lnSpc>
                    <a:spcPct val="135000"/>
                  </a:lnSpc>
                  <a:buFont typeface="Arial" charset="0"/>
                  <a:buChar char="•"/>
                </a:pPr>
                <a:r>
                  <a:rPr lang="en-US" sz="2400" dirty="0"/>
                  <a:t>Mean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400" i="1">
                            <a:latin typeface="Cambria Math" charset="0"/>
                          </a:rPr>
                          <m:t>𝑠𝑢𝑚</m:t>
                        </m:r>
                        <m:r>
                          <a:rPr lang="en-CA" sz="2400" i="1">
                            <a:latin typeface="Cambria Math" charset="0"/>
                          </a:rPr>
                          <m:t> </m:t>
                        </m:r>
                        <m:r>
                          <a:rPr lang="en-CA" sz="2400" i="1">
                            <a:latin typeface="Cambria Math" charset="0"/>
                          </a:rPr>
                          <m:t>𝑜𝑓</m:t>
                        </m:r>
                        <m:r>
                          <a:rPr lang="en-CA" sz="2400" i="1">
                            <a:latin typeface="Cambria Math" charset="0"/>
                          </a:rPr>
                          <m:t> </m:t>
                        </m:r>
                        <m:r>
                          <a:rPr lang="en-CA" sz="2400" i="1">
                            <a:latin typeface="Cambria Math" charset="0"/>
                          </a:rPr>
                          <m:t>𝑠𝑐𝑜𝑟𝑒𝑠</m:t>
                        </m:r>
                      </m:num>
                      <m:den>
                        <m:r>
                          <a:rPr lang="en-CA" sz="2400" i="1">
                            <a:latin typeface="Cambria Math" charset="0"/>
                          </a:rPr>
                          <m:t>𝑛𝑢𝑚𝑏𝑒𝑟</m:t>
                        </m:r>
                        <m:r>
                          <a:rPr lang="en-CA" sz="2400" i="1">
                            <a:latin typeface="Cambria Math" charset="0"/>
                          </a:rPr>
                          <m:t> </m:t>
                        </m:r>
                        <m:r>
                          <a:rPr lang="en-CA" sz="2400" i="1">
                            <a:latin typeface="Cambria Math" charset="0"/>
                          </a:rPr>
                          <m:t>𝑜𝑓</m:t>
                        </m:r>
                        <m:r>
                          <a:rPr lang="en-CA" sz="2400" i="1">
                            <a:latin typeface="Cambria Math" charset="0"/>
                          </a:rPr>
                          <m:t> </m:t>
                        </m:r>
                        <m:r>
                          <a:rPr lang="en-CA" sz="2400" i="1">
                            <a:latin typeface="Cambria Math" charset="0"/>
                          </a:rPr>
                          <m:t>𝑠𝑐𝑜𝑟𝑒𝑠</m:t>
                        </m:r>
                      </m:den>
                    </m:f>
                  </m:oMath>
                </a14:m>
                <a:endParaRPr lang="en-US" altLang="en-US" sz="2400" dirty="0"/>
              </a:p>
              <a:p>
                <a:pPr>
                  <a:lnSpc>
                    <a:spcPct val="135000"/>
                  </a:lnSpc>
                </a:pPr>
                <a:endParaRPr lang="en-US" alt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AF63F0-FC9F-4DCF-B4D2-2119772A9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22" y="832859"/>
                <a:ext cx="10389105" cy="2242793"/>
              </a:xfrm>
              <a:prstGeom prst="rect">
                <a:avLst/>
              </a:prstGeom>
              <a:blipFill>
                <a:blip r:embed="rId2"/>
                <a:stretch>
                  <a:fillRect l="-9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B73D0BE-03FF-4567-B22B-2F8C2B123FBB}"/>
              </a:ext>
            </a:extLst>
          </p:cNvPr>
          <p:cNvSpPr txBox="1"/>
          <p:nvPr/>
        </p:nvSpPr>
        <p:spPr>
          <a:xfrm>
            <a:off x="200622" y="2784774"/>
            <a:ext cx="10288897" cy="941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Bef>
                <a:spcPct val="55000"/>
              </a:spcBef>
            </a:pPr>
            <a:r>
              <a:rPr lang="en-US" altLang="en-US" sz="2400" b="1" dirty="0">
                <a:solidFill>
                  <a:schemeClr val="accent2"/>
                </a:solidFill>
              </a:rPr>
              <a:t>Median</a:t>
            </a:r>
            <a:r>
              <a:rPr lang="en-US" altLang="en-US" sz="2400" dirty="0"/>
              <a:t> – This is the middle value if the values are in order. If there are two middle values then add them together and divide by 2.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D037D8-E5CD-4BD8-805C-6BC41900DDAF}"/>
              </a:ext>
            </a:extLst>
          </p:cNvPr>
          <p:cNvSpPr/>
          <p:nvPr/>
        </p:nvSpPr>
        <p:spPr>
          <a:xfrm>
            <a:off x="200622" y="3933071"/>
            <a:ext cx="50597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Mode</a:t>
            </a:r>
            <a:r>
              <a:rPr lang="en-US" sz="2400" dirty="0"/>
              <a:t> = The value that occurs the most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D5C6E7-EBF6-465F-BF13-8E437E2A5759}"/>
              </a:ext>
            </a:extLst>
          </p:cNvPr>
          <p:cNvSpPr/>
          <p:nvPr/>
        </p:nvSpPr>
        <p:spPr>
          <a:xfrm>
            <a:off x="200622" y="4565902"/>
            <a:ext cx="117957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Range</a:t>
            </a:r>
            <a:r>
              <a:rPr lang="en-US" sz="2400" dirty="0"/>
              <a:t> = The maximum value </a:t>
            </a:r>
            <a:r>
              <a:rPr lang="mr-IN" sz="2400" dirty="0"/>
              <a:t>–</a:t>
            </a:r>
            <a:r>
              <a:rPr lang="en-US" sz="2400" dirty="0"/>
              <a:t> the minimum value</a:t>
            </a:r>
          </a:p>
          <a:p>
            <a:endParaRPr lang="en-US" sz="2400" dirty="0"/>
          </a:p>
          <a:p>
            <a:r>
              <a:rPr lang="en-US" sz="2400" b="1" dirty="0">
                <a:solidFill>
                  <a:schemeClr val="accent2"/>
                </a:solidFill>
              </a:rPr>
              <a:t>Outlier</a:t>
            </a:r>
            <a:r>
              <a:rPr lang="en-US" sz="2400" dirty="0"/>
              <a:t> = Outliers are unusual values and we need to know how the affect our measures of location and spread.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3AA4CF-7B31-4DE9-8CF3-10ABC6A27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58" y="745332"/>
            <a:ext cx="11739286" cy="439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0518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>
            <a:extLst>
              <a:ext uri="{FF2B5EF4-FFF2-40B4-BE49-F238E27FC236}">
                <a16:creationId xmlns:a16="http://schemas.microsoft.com/office/drawing/2014/main" id="{412FD93C-D4A3-4447-876C-1C0759EB9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1125538"/>
            <a:ext cx="8820150" cy="193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Here are the marks gained by 30 students in an examination: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63   58   61   52   59   65   69   75   70   54   57   63   76   81   64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68   59   40   65   74   80   44   47   53   70   81   68   49   57   61</a:t>
            </a:r>
          </a:p>
          <a:p>
            <a:pPr eaLnBrk="1" hangingPunct="1">
              <a:spcBef>
                <a:spcPct val="50000"/>
              </a:spcBef>
              <a:defRPr/>
            </a:pPr>
            <a:endParaRPr lang="en-US" altLang="en-US" sz="22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891" name="Text Box 3">
            <a:extLst>
              <a:ext uri="{FF2B5EF4-FFF2-40B4-BE49-F238E27FC236}">
                <a16:creationId xmlns:a16="http://schemas.microsoft.com/office/drawing/2014/main" id="{E6552E8D-AC73-45A2-9733-80CEF9EA7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7589" y="158750"/>
            <a:ext cx="68595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GB" altLang="en-US" sz="36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Stem and Leaf Diagrams</a:t>
            </a:r>
            <a:endParaRPr lang="en-US" altLang="en-US" sz="36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1749" name="Line 5"/>
          <p:cNvSpPr>
            <a:spLocks noChangeShapeType="1"/>
          </p:cNvSpPr>
          <p:nvPr/>
        </p:nvSpPr>
        <p:spPr bwMode="auto">
          <a:xfrm>
            <a:off x="4710729" y="3104158"/>
            <a:ext cx="0" cy="3030538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7894" name="Text Box 6">
            <a:extLst>
              <a:ext uri="{FF2B5EF4-FFF2-40B4-BE49-F238E27FC236}">
                <a16:creationId xmlns:a16="http://schemas.microsoft.com/office/drawing/2014/main" id="{E6EA5937-F715-4362-8FFA-32EAC785A97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742785" y="4529734"/>
            <a:ext cx="3200876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4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5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7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8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895" name="Text Box 7">
            <a:extLst>
              <a:ext uri="{FF2B5EF4-FFF2-40B4-BE49-F238E27FC236}">
                <a16:creationId xmlns:a16="http://schemas.microsoft.com/office/drawing/2014/main" id="{43A36025-F0BE-47FA-8BC5-5FA36AD69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2681289"/>
            <a:ext cx="88201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76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98588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920875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43163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9003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3575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8147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719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Add a KEY:</a:t>
            </a:r>
            <a:endParaRPr lang="en-US" altLang="en-US" sz="2200" b="1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896" name="Text Box 8">
            <a:extLst>
              <a:ext uri="{FF2B5EF4-FFF2-40B4-BE49-F238E27FC236}">
                <a16:creationId xmlns:a16="http://schemas.microsoft.com/office/drawing/2014/main" id="{1A44BD82-9CAB-4BBE-BD24-16DB3D6A6F6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128567" y="1807965"/>
            <a:ext cx="615553" cy="321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0   4   7   9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897" name="Text Box 9">
            <a:extLst>
              <a:ext uri="{FF2B5EF4-FFF2-40B4-BE49-F238E27FC236}">
                <a16:creationId xmlns:a16="http://schemas.microsoft.com/office/drawing/2014/main" id="{C933063F-E9B1-48C5-B3BD-1DDAE8C8DBD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604815" y="1947665"/>
            <a:ext cx="615553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2   3   4   7   7   8   9   9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898" name="Text Box 10">
            <a:extLst>
              <a:ext uri="{FF2B5EF4-FFF2-40B4-BE49-F238E27FC236}">
                <a16:creationId xmlns:a16="http://schemas.microsoft.com/office/drawing/2014/main" id="{12648527-57AD-44EC-9251-10E2840D2DB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7123929" y="2066727"/>
            <a:ext cx="615553" cy="521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1   1   3   3   4   5   5   8   8   9</a:t>
            </a:r>
            <a:endParaRPr lang="en-US" altLang="en-US" sz="28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899" name="Text Box 11">
            <a:extLst>
              <a:ext uri="{FF2B5EF4-FFF2-40B4-BE49-F238E27FC236}">
                <a16:creationId xmlns:a16="http://schemas.microsoft.com/office/drawing/2014/main" id="{21ACEAC2-6D56-49FC-97BA-5E198B6E6230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557191" y="3254177"/>
            <a:ext cx="615553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0   0   4   5   6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900" name="Text Box 12">
            <a:extLst>
              <a:ext uri="{FF2B5EF4-FFF2-40B4-BE49-F238E27FC236}">
                <a16:creationId xmlns:a16="http://schemas.microsoft.com/office/drawing/2014/main" id="{58F8D7C7-AD48-468A-8117-7291938A3CF6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582590" y="3912990"/>
            <a:ext cx="615553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0   1   1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901" name="Rectangle 13">
            <a:extLst>
              <a:ext uri="{FF2B5EF4-FFF2-40B4-BE49-F238E27FC236}">
                <a16:creationId xmlns:a16="http://schemas.microsoft.com/office/drawing/2014/main" id="{C052970E-A650-459D-8B38-F8C2A0D7A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9450" y="4083050"/>
            <a:ext cx="1874838" cy="838200"/>
          </a:xfrm>
          <a:prstGeom prst="rect">
            <a:avLst/>
          </a:prstGeom>
          <a:solidFill>
            <a:schemeClr val="bg1"/>
          </a:solidFill>
          <a:ln w="28575">
            <a:solidFill>
              <a:srgbClr val="66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GB" altLang="en-US" sz="3200" b="1">
                <a:solidFill>
                  <a:srgbClr val="66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5</a:t>
            </a:r>
            <a:r>
              <a:rPr lang="en-US" altLang="en-US" sz="3200" b="1">
                <a:solidFill>
                  <a:srgbClr val="66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|2 = 52</a:t>
            </a:r>
          </a:p>
        </p:txBody>
      </p:sp>
    </p:spTree>
    <p:extLst>
      <p:ext uri="{BB962C8B-B14F-4D97-AF65-F5344CB8AC3E}">
        <p14:creationId xmlns:p14="http://schemas.microsoft.com/office/powerpoint/2010/main" val="4278196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5" grpId="0"/>
      <p:bldP spid="3790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179B149-95DE-4C30-8742-C1AD33D53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950" y="989677"/>
            <a:ext cx="8972550" cy="195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Here are the ages of patients on admission to a hospital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Males: 2  13  24  39  45  45  48  56  58  59  59  62  64  64  68  69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Females: 1  12 14  23 28  37 39  39  42 42  45 46  51 57 58  63  65  71  88</a:t>
            </a:r>
          </a:p>
          <a:p>
            <a:pPr eaLnBrk="1" hangingPunct="1">
              <a:spcBef>
                <a:spcPct val="50000"/>
              </a:spcBef>
              <a:defRPr/>
            </a:pPr>
            <a:endParaRPr lang="en-US" altLang="en-US" sz="22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4819" name="Text Box 3">
            <a:extLst>
              <a:ext uri="{FF2B5EF4-FFF2-40B4-BE49-F238E27FC236}">
                <a16:creationId xmlns:a16="http://schemas.microsoft.com/office/drawing/2014/main" id="{3B698D6F-0F90-48DD-A782-602B7AA67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774" y="257294"/>
            <a:ext cx="94669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GB" altLang="en-US" sz="3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Back to Back Stem and Leaf Diagrams</a:t>
            </a:r>
            <a:endParaRPr lang="en-US" altLang="en-US" sz="36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pic>
        <p:nvPicPr>
          <p:cNvPr id="12292" name="Picture 4" descr="j0219107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4028" y="4503761"/>
            <a:ext cx="2075512" cy="1682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5692776" y="2648945"/>
            <a:ext cx="0" cy="353695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4822" name="Text Box 6">
            <a:extLst>
              <a:ext uri="{FF2B5EF4-FFF2-40B4-BE49-F238E27FC236}">
                <a16:creationId xmlns:a16="http://schemas.microsoft.com/office/drawing/2014/main" id="{D2B8A832-9C63-465B-8DC8-A2151B9AD48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538011" y="4388052"/>
            <a:ext cx="3785652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0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1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2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3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4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5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7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8</a:t>
            </a:r>
            <a:endParaRPr lang="en-US" altLang="en-US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4824" name="Text Box 8">
            <a:extLst>
              <a:ext uri="{FF2B5EF4-FFF2-40B4-BE49-F238E27FC236}">
                <a16:creationId xmlns:a16="http://schemas.microsoft.com/office/drawing/2014/main" id="{2E685DA1-AB05-44F8-A554-BD0988B2C54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614269" y="3154363"/>
            <a:ext cx="61555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  </a:t>
            </a:r>
            <a:endParaRPr lang="en-US" altLang="en-US" sz="28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12296" name="Line 5"/>
          <p:cNvSpPr>
            <a:spLocks noChangeShapeType="1"/>
          </p:cNvSpPr>
          <p:nvPr/>
        </p:nvSpPr>
        <p:spPr bwMode="auto">
          <a:xfrm>
            <a:off x="5187951" y="2677521"/>
            <a:ext cx="0" cy="3508375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A8C20FC9-5123-4D5F-9FE8-DA43075565C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701769" y="3320458"/>
            <a:ext cx="2954655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r"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2</a:t>
            </a:r>
          </a:p>
          <a:p>
            <a:pPr algn="r"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3</a:t>
            </a:r>
          </a:p>
          <a:p>
            <a:pPr algn="r"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4</a:t>
            </a:r>
          </a:p>
          <a:p>
            <a:pPr algn="r"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9</a:t>
            </a:r>
          </a:p>
          <a:p>
            <a:pPr algn="r"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8 5 5</a:t>
            </a:r>
          </a:p>
          <a:p>
            <a:pPr algn="r"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9 9 8 6</a:t>
            </a:r>
          </a:p>
          <a:p>
            <a:pPr algn="r"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9 8 6 4 4 2 </a:t>
            </a:r>
            <a:endParaRPr lang="en-US" altLang="en-US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25" name="Text Box 8">
            <a:extLst>
              <a:ext uri="{FF2B5EF4-FFF2-40B4-BE49-F238E27FC236}">
                <a16:creationId xmlns:a16="http://schemas.microsoft.com/office/drawing/2014/main" id="{F3302A92-3022-459E-92AB-6A74BACDB3B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765943" y="3706221"/>
            <a:ext cx="3785652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1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2 4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3 8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7 9 9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2 2 5 6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1 7 8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3 5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1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8 </a:t>
            </a:r>
            <a:endParaRPr lang="en-US" altLang="en-US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8E8855AD-EAB5-4BC2-A1D1-8F6E1A4F2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607" y="3926548"/>
            <a:ext cx="1874838" cy="838200"/>
          </a:xfrm>
          <a:prstGeom prst="rect">
            <a:avLst/>
          </a:prstGeom>
          <a:solidFill>
            <a:schemeClr val="bg1"/>
          </a:solidFill>
          <a:ln w="28575">
            <a:solidFill>
              <a:srgbClr val="66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GB" altLang="en-US" sz="3200" b="1" dirty="0">
                <a:solidFill>
                  <a:srgbClr val="66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4</a:t>
            </a:r>
            <a:r>
              <a:rPr lang="en-US" altLang="en-US" sz="3200" b="1" dirty="0">
                <a:solidFill>
                  <a:srgbClr val="66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|2 = 52</a:t>
            </a:r>
          </a:p>
        </p:txBody>
      </p:sp>
    </p:spTree>
    <p:extLst>
      <p:ext uri="{BB962C8B-B14F-4D97-AF65-F5344CB8AC3E}">
        <p14:creationId xmlns:p14="http://schemas.microsoft.com/office/powerpoint/2010/main" val="2616910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4" grpId="0"/>
      <p:bldP spid="15" grpId="0"/>
      <p:bldP spid="25" grpId="0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C1354EA-1930-4569-8748-5CF8124C7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005" y="1550011"/>
            <a:ext cx="9416516" cy="4086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18AE9B-3E7E-4AD4-9B9A-5AC4B8F44B0C}"/>
              </a:ext>
            </a:extLst>
          </p:cNvPr>
          <p:cNvSpPr txBox="1"/>
          <p:nvPr/>
        </p:nvSpPr>
        <p:spPr>
          <a:xfrm>
            <a:off x="6084510" y="5636525"/>
            <a:ext cx="1352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Height(cm)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58BE0B-F367-483D-90A8-1191126D8A6E}"/>
              </a:ext>
            </a:extLst>
          </p:cNvPr>
          <p:cNvSpPr txBox="1"/>
          <p:nvPr/>
        </p:nvSpPr>
        <p:spPr>
          <a:xfrm>
            <a:off x="482931" y="2590698"/>
            <a:ext cx="1511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Frequency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765BB1-4A31-4EAB-88B0-4F4721C1405D}"/>
              </a:ext>
            </a:extLst>
          </p:cNvPr>
          <p:cNvSpPr txBox="1"/>
          <p:nvPr/>
        </p:nvSpPr>
        <p:spPr>
          <a:xfrm>
            <a:off x="3500162" y="383359"/>
            <a:ext cx="3771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/>
              <a:t>Heights of students in 8-7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8CEBEA-F0C4-4C70-A4EF-6DFF869C4AC3}"/>
              </a:ext>
            </a:extLst>
          </p:cNvPr>
          <p:cNvSpPr txBox="1"/>
          <p:nvPr/>
        </p:nvSpPr>
        <p:spPr>
          <a:xfrm>
            <a:off x="7026369" y="475692"/>
            <a:ext cx="1574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FC0E98-4EA6-43D8-8337-6B2BA7570B39}"/>
              </a:ext>
            </a:extLst>
          </p:cNvPr>
          <p:cNvSpPr txBox="1"/>
          <p:nvPr/>
        </p:nvSpPr>
        <p:spPr>
          <a:xfrm>
            <a:off x="374899" y="5768611"/>
            <a:ext cx="1619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Labels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8A8A348-ECBF-4517-A3F7-A0430451E921}"/>
              </a:ext>
            </a:extLst>
          </p:cNvPr>
          <p:cNvCxnSpPr>
            <a:cxnSpLocks/>
          </p:cNvCxnSpPr>
          <p:nvPr/>
        </p:nvCxnSpPr>
        <p:spPr>
          <a:xfrm flipV="1">
            <a:off x="611017" y="3184449"/>
            <a:ext cx="426213" cy="241514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83FBC5F-2D24-4AD3-A519-EE56E4820E87}"/>
              </a:ext>
            </a:extLst>
          </p:cNvPr>
          <p:cNvCxnSpPr>
            <a:cxnSpLocks/>
          </p:cNvCxnSpPr>
          <p:nvPr/>
        </p:nvCxnSpPr>
        <p:spPr>
          <a:xfrm flipV="1">
            <a:off x="1184452" y="5836580"/>
            <a:ext cx="4697733" cy="13234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031651E-4099-4537-AB77-0CBC338A21ED}"/>
              </a:ext>
            </a:extLst>
          </p:cNvPr>
          <p:cNvSpPr txBox="1"/>
          <p:nvPr/>
        </p:nvSpPr>
        <p:spPr>
          <a:xfrm>
            <a:off x="8796015" y="3498104"/>
            <a:ext cx="1929193" cy="64633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No Gaps between the columns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B605B6-FECF-45D3-B159-470455E4E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7390" y="214573"/>
            <a:ext cx="3191697" cy="26708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963910F-98A6-41D0-A235-A20F102B1B49}"/>
              </a:ext>
            </a:extLst>
          </p:cNvPr>
          <p:cNvSpPr txBox="1"/>
          <p:nvPr/>
        </p:nvSpPr>
        <p:spPr>
          <a:xfrm>
            <a:off x="374899" y="214573"/>
            <a:ext cx="2453608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200" u="sng" dirty="0"/>
              <a:t>Histograms</a:t>
            </a:r>
          </a:p>
        </p:txBody>
      </p:sp>
    </p:spTree>
    <p:extLst>
      <p:ext uri="{BB962C8B-B14F-4D97-AF65-F5344CB8AC3E}">
        <p14:creationId xmlns:p14="http://schemas.microsoft.com/office/powerpoint/2010/main" val="125752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4A015D8-834F-4002-9866-CFA2B9FE9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70985"/>
            <a:ext cx="12192000" cy="465189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0DAB1C6-D0E1-4ACD-BCD0-BA0945EC80E1}"/>
              </a:ext>
            </a:extLst>
          </p:cNvPr>
          <p:cNvSpPr txBox="1">
            <a:spLocks/>
          </p:cNvSpPr>
          <p:nvPr/>
        </p:nvSpPr>
        <p:spPr>
          <a:xfrm>
            <a:off x="1733148" y="191452"/>
            <a:ext cx="8725706" cy="11237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Scientific Notation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438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8B7C1D-7E3C-4CD2-8944-220B74949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9" y="960106"/>
            <a:ext cx="12172551" cy="396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496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4A9767-E906-4400-A7F1-4CC4A56AD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4" y="971977"/>
            <a:ext cx="12132354" cy="55653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36D06E5-9201-4F4F-950B-4E44188502A4}"/>
              </a:ext>
            </a:extLst>
          </p:cNvPr>
          <p:cNvSpPr/>
          <p:nvPr/>
        </p:nvSpPr>
        <p:spPr>
          <a:xfrm>
            <a:off x="5513696" y="2142699"/>
            <a:ext cx="3207224" cy="1733265"/>
          </a:xfrm>
          <a:prstGeom prst="rect">
            <a:avLst/>
          </a:prstGeom>
          <a:solidFill>
            <a:srgbClr val="FCFAD5"/>
          </a:solidFill>
          <a:ln>
            <a:solidFill>
              <a:srgbClr val="FCFA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C695715-038A-4794-AF87-54D267E33841}"/>
              </a:ext>
            </a:extLst>
          </p:cNvPr>
          <p:cNvSpPr txBox="1">
            <a:spLocks/>
          </p:cNvSpPr>
          <p:nvPr/>
        </p:nvSpPr>
        <p:spPr>
          <a:xfrm>
            <a:off x="4421875" y="81782"/>
            <a:ext cx="7606472" cy="89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0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Pythagoras Theorem</a:t>
            </a:r>
            <a:endParaRPr lang="en-US" sz="40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071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1EF781-60B5-40FC-94AA-E1E5858F2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976"/>
            <a:ext cx="12192000" cy="648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105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CE0DA8-0D77-4996-B95B-67BB28FDF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82" y="81782"/>
            <a:ext cx="5300192" cy="215645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0597F05-2C99-4A07-A018-C5797E843328}"/>
              </a:ext>
            </a:extLst>
          </p:cNvPr>
          <p:cNvSpPr txBox="1">
            <a:spLocks/>
          </p:cNvSpPr>
          <p:nvPr/>
        </p:nvSpPr>
        <p:spPr>
          <a:xfrm>
            <a:off x="5841241" y="81782"/>
            <a:ext cx="6187105" cy="8735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0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Measurement </a:t>
            </a:r>
            <a:endParaRPr lang="en-US" sz="40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3EB7AB-AB4C-4B00-9DC7-AF562EA51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44" y="2675175"/>
            <a:ext cx="11703873" cy="279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39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FA6756-2678-4C78-A015-AB0D73E81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552" y="0"/>
            <a:ext cx="9436361" cy="685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672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B84D76-CB27-4AC2-9DB7-836C04C7B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19" y="1416095"/>
            <a:ext cx="11855976" cy="280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212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CA5689-FDFC-4CA4-B882-EAE5936E5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4" y="689993"/>
            <a:ext cx="11981229" cy="459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47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27102C-3E14-4E51-8788-0D878D138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61" y="219856"/>
            <a:ext cx="11389809" cy="597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994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48814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Midpoint of a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find the midpoint?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50B339C-1DB3-435B-A87C-BB4DED9F6205}"/>
              </a:ext>
            </a:extLst>
          </p:cNvPr>
          <p:cNvSpPr txBox="1"/>
          <p:nvPr/>
        </p:nvSpPr>
        <p:spPr>
          <a:xfrm>
            <a:off x="577502" y="1509692"/>
            <a:ext cx="8175185" cy="26776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Find the midpoint between A(1,5) and B(4,2)</a:t>
            </a:r>
          </a:p>
          <a:p>
            <a:pPr defTabSz="914126"/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Step 1: </a:t>
            </a:r>
            <a:r>
              <a:rPr lang="en-AU" sz="2800" dirty="0"/>
              <a:t>Find the midpoint for the x – coordinates</a:t>
            </a:r>
          </a:p>
          <a:p>
            <a:pPr defTabSz="914126"/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Step 2: </a:t>
            </a:r>
            <a:r>
              <a:rPr lang="en-AU" sz="2800" dirty="0"/>
              <a:t>Find the midpoint for the y – coordinates</a:t>
            </a:r>
          </a:p>
          <a:p>
            <a:pPr defTabSz="914126"/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Step 3: </a:t>
            </a:r>
            <a:r>
              <a:rPr lang="en-AU" sz="2800" dirty="0"/>
              <a:t>Put the answers in coordinate form</a:t>
            </a:r>
          </a:p>
          <a:p>
            <a:pPr defTabSz="914126"/>
            <a:endParaRPr lang="en-AU" sz="2800" b="1" dirty="0">
              <a:solidFill>
                <a:schemeClr val="accent4">
                  <a:lumMod val="75000"/>
                </a:schemeClr>
              </a:solidFill>
            </a:endParaRPr>
          </a:p>
          <a:p>
            <a:pPr defTabSz="914126"/>
            <a:endParaRPr lang="en-AU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EA39BA-7A6A-4B7D-BBC3-28916F4E0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754" y="2282137"/>
            <a:ext cx="3823886" cy="37247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CB7EEF8-D921-4866-BDEF-083BEC0A4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343" y="3830433"/>
            <a:ext cx="3794466" cy="12570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3C29390-E31E-45CE-B023-67BA3876D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8695" y="3830433"/>
            <a:ext cx="3581043" cy="12570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2BAD19-0B12-4F41-8BEF-5ECA98E9AF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326" y="5601645"/>
            <a:ext cx="6528094" cy="95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940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120650"/>
            <a:ext cx="8229600" cy="628650"/>
          </a:xfrm>
        </p:spPr>
        <p:txBody>
          <a:bodyPr>
            <a:noAutofit/>
          </a:bodyPr>
          <a:lstStyle/>
          <a:p>
            <a:pPr algn="l"/>
            <a:r>
              <a:rPr lang="en-AU" sz="3840" dirty="0"/>
              <a:t>Topic : Length of a Line 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09600" y="735981"/>
            <a:ext cx="10972800" cy="1338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09600" y="1400594"/>
            <a:ext cx="10972800" cy="1338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1133708" y="760499"/>
            <a:ext cx="8229600" cy="628956"/>
          </a:xfrm>
          <a:prstGeom prst="rect">
            <a:avLst/>
          </a:prstGeom>
        </p:spPr>
        <p:txBody>
          <a:bodyPr vert="horz" lIns="109728" tIns="54864" rIns="109728" bIns="54864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840" dirty="0"/>
              <a:t>EQ : How do you find the length of  line?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082" y="-80753"/>
            <a:ext cx="522769" cy="890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728" dirty="0"/>
              <a:t>24</a:t>
            </a:r>
          </a:p>
          <a:p>
            <a:r>
              <a:rPr lang="en-AU" sz="1728" dirty="0"/>
              <a:t>7</a:t>
            </a:r>
          </a:p>
          <a:p>
            <a:r>
              <a:rPr lang="en-AU" sz="1728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52148" y="93344"/>
            <a:ext cx="171091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80" dirty="0"/>
              <a:t>Date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12C8F17-5E29-4FD4-A315-2BA250031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556" y="1546394"/>
            <a:ext cx="4251960" cy="38633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8DFA8AF-F0A7-4D91-A61A-D531B2209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155" y="3368259"/>
            <a:ext cx="1828800" cy="1714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610CC01-DA10-483C-A3EB-8C3559D31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0844" y="2608165"/>
            <a:ext cx="80010" cy="88011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A2DBBFA-63DE-43EF-B342-B4CFFA950AC4}"/>
              </a:ext>
            </a:extLst>
          </p:cNvPr>
          <p:cNvCxnSpPr/>
          <p:nvPr/>
        </p:nvCxnSpPr>
        <p:spPr>
          <a:xfrm flipV="1">
            <a:off x="4484435" y="2596735"/>
            <a:ext cx="1670694" cy="8458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19FF11BD-1016-4544-AE65-B432DAB91B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6900" y="3162519"/>
            <a:ext cx="457200" cy="5829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061F83C-46FD-43B8-8FE2-6450B42981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362" y="3162519"/>
            <a:ext cx="457200" cy="58293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BED8742-D1BC-4452-AF01-B219A78C36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6986" y="2738635"/>
            <a:ext cx="457200" cy="5829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6FB333-2246-4F9A-A8F6-315C581C1C9D}"/>
              </a:ext>
            </a:extLst>
          </p:cNvPr>
          <p:cNvSpPr txBox="1"/>
          <p:nvPr/>
        </p:nvSpPr>
        <p:spPr>
          <a:xfrm>
            <a:off x="7545289" y="1578216"/>
            <a:ext cx="3813718" cy="4376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/>
              <a:t>How do we find the distance between 2 points?</a:t>
            </a:r>
          </a:p>
          <a:p>
            <a:endParaRPr lang="en-AU" sz="2160" b="1" dirty="0"/>
          </a:p>
          <a:p>
            <a:r>
              <a:rPr lang="en-AU" sz="2160" b="1" dirty="0"/>
              <a:t>Using Pythagoras.</a:t>
            </a:r>
          </a:p>
          <a:p>
            <a:r>
              <a:rPr lang="en-AU" sz="2160" i="1" dirty="0"/>
              <a:t>	</a:t>
            </a:r>
            <a:r>
              <a:rPr lang="en-AU" sz="2400" i="1" dirty="0"/>
              <a:t>d</a:t>
            </a:r>
            <a:r>
              <a:rPr lang="en-AU" sz="2400" i="1" baseline="30000" dirty="0"/>
              <a:t>2</a:t>
            </a:r>
            <a:r>
              <a:rPr lang="en-AU" sz="2400" i="1" dirty="0"/>
              <a:t> = a</a:t>
            </a:r>
            <a:r>
              <a:rPr lang="en-AU" sz="2400" i="1" baseline="30000" dirty="0"/>
              <a:t>2</a:t>
            </a:r>
            <a:r>
              <a:rPr lang="en-AU" sz="2400" i="1" dirty="0"/>
              <a:t> + b</a:t>
            </a:r>
            <a:r>
              <a:rPr lang="en-AU" sz="2400" i="1" baseline="30000" dirty="0"/>
              <a:t>2</a:t>
            </a:r>
            <a:r>
              <a:rPr lang="en-AU" sz="2400" i="1" dirty="0"/>
              <a:t> </a:t>
            </a:r>
            <a:endParaRPr lang="en-AU" sz="2880" baseline="30000" dirty="0"/>
          </a:p>
          <a:p>
            <a:endParaRPr lang="en-AU" sz="2400" baseline="30000" dirty="0"/>
          </a:p>
          <a:p>
            <a:endParaRPr lang="en-AU" sz="2400" baseline="30000" dirty="0"/>
          </a:p>
          <a:p>
            <a:endParaRPr lang="en-AU" sz="2400" baseline="30000" dirty="0"/>
          </a:p>
          <a:p>
            <a:endParaRPr lang="en-AU" sz="2400" baseline="30000" dirty="0"/>
          </a:p>
          <a:p>
            <a:endParaRPr lang="en-AU" sz="2400" i="1" baseline="30000" dirty="0"/>
          </a:p>
          <a:p>
            <a:endParaRPr lang="en-AU" sz="2400" i="1" baseline="30000" dirty="0"/>
          </a:p>
          <a:p>
            <a:endParaRPr lang="en-AU" sz="2400" i="1" baseline="30000" dirty="0"/>
          </a:p>
          <a:p>
            <a:endParaRPr lang="en-AU" sz="2400" i="1" baseline="30000" dirty="0"/>
          </a:p>
          <a:p>
            <a:endParaRPr lang="en-AU" sz="2400" i="1" baseline="30000" dirty="0"/>
          </a:p>
          <a:p>
            <a:r>
              <a:rPr lang="en-AU" sz="2400" i="1" dirty="0"/>
              <a:t> d = 4.47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C3BBB8D-E119-430F-ADB7-3E775C6D91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2665" y="3442553"/>
            <a:ext cx="2498900" cy="163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37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87385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Gradient of a Line between two coordinates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difference to just doing rise / run 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50B339C-1DB3-435B-A87C-BB4DED9F6205}"/>
              </a:ext>
            </a:extLst>
          </p:cNvPr>
          <p:cNvSpPr txBox="1"/>
          <p:nvPr/>
        </p:nvSpPr>
        <p:spPr>
          <a:xfrm>
            <a:off x="464841" y="1387627"/>
            <a:ext cx="6315419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Using a formula: Gradient of the Line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D75413-7F6C-45F6-AC5E-6C5B12E03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266" y="1827341"/>
            <a:ext cx="2684451" cy="17749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B389B2-33CD-41C5-A6A7-95A6A07EA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821" y="1977989"/>
            <a:ext cx="5144561" cy="455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828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555F78BE-1BFB-4DD0-9838-D1EF3F40F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879" y="1027906"/>
            <a:ext cx="8686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en-US" sz="2400" dirty="0">
                <a:latin typeface="Arial" panose="020B0604020202020204" pitchFamily="34" charset="0"/>
              </a:rPr>
              <a:t>Probabilities are written as fractions or decimals from 0 to 1, or as </a:t>
            </a:r>
            <a:r>
              <a:rPr kumimoji="0" lang="en-US" altLang="en-US" sz="2400" dirty="0" err="1">
                <a:latin typeface="Arial" panose="020B0604020202020204" pitchFamily="34" charset="0"/>
              </a:rPr>
              <a:t>percents</a:t>
            </a:r>
            <a:r>
              <a:rPr kumimoji="0" lang="en-US" altLang="en-US" sz="2400" dirty="0">
                <a:latin typeface="Arial" panose="020B0604020202020204" pitchFamily="34" charset="0"/>
              </a:rPr>
              <a:t> from 0% to 100%.</a:t>
            </a:r>
          </a:p>
        </p:txBody>
      </p:sp>
      <p:pic>
        <p:nvPicPr>
          <p:cNvPr id="33796" name="Picture 4">
            <a:extLst>
              <a:ext uri="{FF2B5EF4-FFF2-40B4-BE49-F238E27FC236}">
                <a16:creationId xmlns:a16="http://schemas.microsoft.com/office/drawing/2014/main" id="{572EFE89-6AB3-4463-80C7-245CA6482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313" y="1977888"/>
            <a:ext cx="8763000" cy="179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046734BE-2C04-4DA9-94D4-DD5350B35442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Probability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B83547B-CA03-4BE4-9722-F4DA388CE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513" y="4341351"/>
            <a:ext cx="8686800" cy="1569660"/>
          </a:xfrm>
          <a:prstGeom prst="rect">
            <a:avLst/>
          </a:prstGeom>
          <a:noFill/>
          <a:ln w="38100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en-US" sz="2400" dirty="0">
                <a:latin typeface="Arial" panose="020B0604020202020204" pitchFamily="34" charset="0"/>
              </a:rPr>
              <a:t>A </a:t>
            </a:r>
            <a:r>
              <a:rPr kumimoji="0" lang="en-US" altLang="en-US" sz="2400" u="sng" dirty="0">
                <a:latin typeface="Arial" panose="020B0604020202020204" pitchFamily="34" charset="0"/>
              </a:rPr>
              <a:t>Sample Space </a:t>
            </a:r>
            <a:r>
              <a:rPr kumimoji="0" lang="en-US" altLang="en-US" sz="2400" dirty="0">
                <a:latin typeface="Arial" panose="020B0604020202020204" pitchFamily="34" charset="0"/>
              </a:rPr>
              <a:t>is a list of all the possible outcomes.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kumimoji="0" lang="en-US" altLang="en-US" sz="2400" dirty="0" err="1">
                <a:latin typeface="Arial" panose="020B0604020202020204" pitchFamily="34" charset="0"/>
              </a:rPr>
              <a:t>Eg</a:t>
            </a:r>
            <a:r>
              <a:rPr kumimoji="0" lang="en-US" altLang="en-US" sz="2400" dirty="0">
                <a:latin typeface="Arial" panose="020B0604020202020204" pitchFamily="34" charset="0"/>
              </a:rPr>
              <a:t>            flipping a coin = {heads, tails}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kumimoji="0" lang="en-US" altLang="en-US" sz="2400" dirty="0">
                <a:latin typeface="Arial" panose="020B0604020202020204" pitchFamily="34" charset="0"/>
              </a:rPr>
              <a:t>	      rolling a dice =   {1,2,3,4,5,6}	</a:t>
            </a:r>
          </a:p>
        </p:txBody>
      </p:sp>
    </p:spTree>
    <p:extLst>
      <p:ext uri="{BB962C8B-B14F-4D97-AF65-F5344CB8AC3E}">
        <p14:creationId xmlns:p14="http://schemas.microsoft.com/office/powerpoint/2010/main" val="23961582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A18E80B-4F5C-4D49-8E98-D72745A4D57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133600" y="150813"/>
            <a:ext cx="10058400" cy="1449387"/>
          </a:xfrm>
        </p:spPr>
        <p:txBody>
          <a:bodyPr/>
          <a:lstStyle/>
          <a:p>
            <a:pPr eaLnBrk="1" hangingPunct="1"/>
            <a:r>
              <a:rPr lang="en-US" altLang="en-US" dirty="0"/>
              <a:t>Probability - Experimental vs. Theoretical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56650E1-AC6F-474F-9D18-26B101FAC95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857375"/>
            <a:ext cx="8047038" cy="4351338"/>
          </a:xfrm>
          <a:ln w="38100">
            <a:solidFill>
              <a:srgbClr val="7030A0"/>
            </a:solidFill>
          </a:ln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altLang="en-US" sz="2800" b="1" dirty="0"/>
              <a:t>Experimental probability:</a:t>
            </a:r>
          </a:p>
          <a:p>
            <a:pPr algn="ctr" eaLnBrk="1" hangingPunct="1">
              <a:buFontTx/>
              <a:buNone/>
            </a:pPr>
            <a:r>
              <a:rPr lang="en-US" altLang="en-US" sz="2800" b="1" dirty="0"/>
              <a:t>P(event) = </a:t>
            </a:r>
            <a:r>
              <a:rPr lang="en-US" altLang="en-US" sz="2800" b="1" u="sng" dirty="0"/>
              <a:t>number of times event occurs</a:t>
            </a:r>
          </a:p>
          <a:p>
            <a:pPr algn="ctr" eaLnBrk="1" hangingPunct="1">
              <a:buFontTx/>
              <a:buNone/>
            </a:pPr>
            <a:r>
              <a:rPr lang="en-US" altLang="en-US" sz="2800" b="1" dirty="0"/>
              <a:t>                        total number of trials</a:t>
            </a:r>
          </a:p>
          <a:p>
            <a:pPr algn="ctr" eaLnBrk="1" hangingPunct="1">
              <a:buFontTx/>
              <a:buNone/>
            </a:pPr>
            <a:endParaRPr lang="en-US" altLang="en-US" sz="2800" b="1" dirty="0"/>
          </a:p>
          <a:p>
            <a:pPr eaLnBrk="1" hangingPunct="1">
              <a:buFontTx/>
              <a:buNone/>
            </a:pPr>
            <a:r>
              <a:rPr lang="en-US" altLang="en-US" sz="2800" b="1" dirty="0"/>
              <a:t>Theoretical probability:</a:t>
            </a:r>
          </a:p>
          <a:p>
            <a:pPr algn="ctr" eaLnBrk="1" hangingPunct="1">
              <a:buFontTx/>
              <a:buNone/>
            </a:pPr>
            <a:r>
              <a:rPr lang="en-US" altLang="en-US" sz="2800" b="1" dirty="0"/>
              <a:t>P(E) =    </a:t>
            </a:r>
            <a:r>
              <a:rPr lang="en-US" altLang="en-US" sz="2800" b="1" u="sng" dirty="0"/>
              <a:t>number of favorable outcomes_</a:t>
            </a:r>
            <a:r>
              <a:rPr lang="en-US" altLang="en-US" sz="2800" b="1" dirty="0"/>
              <a:t>      </a:t>
            </a:r>
          </a:p>
          <a:p>
            <a:pPr algn="ctr" eaLnBrk="1" hangingPunct="1">
              <a:buFontTx/>
              <a:buNone/>
            </a:pPr>
            <a:r>
              <a:rPr lang="en-US" altLang="en-US" sz="2800" b="1" dirty="0"/>
              <a:t>               total number of possible outcomes</a:t>
            </a:r>
          </a:p>
        </p:txBody>
      </p:sp>
    </p:spTree>
    <p:extLst>
      <p:ext uri="{BB962C8B-B14F-4D97-AF65-F5344CB8AC3E}">
        <p14:creationId xmlns:p14="http://schemas.microsoft.com/office/powerpoint/2010/main" val="152162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F8B80C50-FE5A-46D7-8156-75388141DF1D}"/>
              </a:ext>
            </a:extLst>
          </p:cNvPr>
          <p:cNvSpPr txBox="1">
            <a:spLocks/>
          </p:cNvSpPr>
          <p:nvPr/>
        </p:nvSpPr>
        <p:spPr bwMode="auto">
          <a:xfrm>
            <a:off x="1817495" y="3839715"/>
            <a:ext cx="7500938" cy="785812"/>
          </a:xfrm>
          <a:prstGeom prst="rect">
            <a:avLst/>
          </a:prstGeom>
          <a:solidFill>
            <a:srgbClr val="F2D18E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indent="-273050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AU" altLang="en-US" dirty="0"/>
              <a:t>Expected frequency=probability × number of trials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F59131-88CA-413C-94C8-7326BD3430F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503964" y="1593880"/>
          <a:ext cx="8127999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272706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4748979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885599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2000" b="1" dirty="0"/>
                        <a:t>House roof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b="1" dirty="0"/>
                        <a:t>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b="1" dirty="0"/>
                        <a:t>Relative 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178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000" b="1" dirty="0"/>
                        <a:t>Tiles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b="1" dirty="0"/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b="1" dirty="0"/>
                        <a:t>192 ÷ 400 = 0.48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577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000" b="1" dirty="0"/>
                        <a:t>Shingles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000" b="1" dirty="0"/>
                        <a:t>4 ÷ 400 = 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86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000" b="1" dirty="0"/>
                        <a:t>Tin/Steel sheet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b="1" dirty="0"/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000" b="1" dirty="0"/>
                        <a:t>204 ÷ 400 = 0.51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533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4064B5-D610-4BAA-845A-EDB27B7CF816}"/>
                  </a:ext>
                </a:extLst>
              </p:cNvPr>
              <p:cNvSpPr txBox="1"/>
              <p:nvPr/>
            </p:nvSpPr>
            <p:spPr>
              <a:xfrm>
                <a:off x="1398967" y="472507"/>
                <a:ext cx="9293716" cy="8644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4064B5-D610-4BAA-845A-EDB27B7CF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967" y="472507"/>
                <a:ext cx="9293716" cy="864404"/>
              </a:xfrm>
              <a:prstGeom prst="rect">
                <a:avLst/>
              </a:prstGeom>
              <a:blipFill>
                <a:blip r:embed="rId2"/>
                <a:stretch>
                  <a:fillRect l="-1639" b="-49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C745CF3-852D-41F5-BDB1-81B8DAF16B77}"/>
              </a:ext>
            </a:extLst>
          </p:cNvPr>
          <p:cNvSpPr txBox="1"/>
          <p:nvPr/>
        </p:nvSpPr>
        <p:spPr>
          <a:xfrm>
            <a:off x="3528812" y="3198985"/>
            <a:ext cx="3631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Total = 400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3C73E2-DB9C-410C-A3DD-EAD06D949E9E}"/>
              </a:ext>
            </a:extLst>
          </p:cNvPr>
          <p:cNvSpPr txBox="1"/>
          <p:nvPr/>
        </p:nvSpPr>
        <p:spPr>
          <a:xfrm>
            <a:off x="1398967" y="5022761"/>
            <a:ext cx="97621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If there were 1200 homes, how many would have tiled roofs?</a:t>
            </a:r>
          </a:p>
          <a:p>
            <a:r>
              <a:rPr lang="en-AU" sz="2800" dirty="0"/>
              <a:t>	1200 x 0.48 = 576</a:t>
            </a:r>
          </a:p>
        </p:txBody>
      </p:sp>
    </p:spTree>
    <p:extLst>
      <p:ext uri="{BB962C8B-B14F-4D97-AF65-F5344CB8AC3E}">
        <p14:creationId xmlns:p14="http://schemas.microsoft.com/office/powerpoint/2010/main" val="325727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539E7F-0628-4248-8E70-66C234A9B60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29613" y="1276350"/>
            <a:ext cx="3862387" cy="523875"/>
          </a:xfrm>
          <a:gradFill flip="none" rotWithShape="1">
            <a:gsLst>
              <a:gs pos="0">
                <a:srgbClr val="D9CFAB"/>
              </a:gs>
              <a:gs pos="64999">
                <a:srgbClr val="F0EBD5"/>
              </a:gs>
              <a:gs pos="100000">
                <a:srgbClr val="D1C39F"/>
              </a:gs>
            </a:gsLst>
            <a:path path="shape">
              <a:fillToRect l="50000" t="50000" r="50000" b="50000"/>
            </a:path>
            <a:tileRect/>
          </a:gradFill>
          <a:ln w="3175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>
              <a:lnSpc>
                <a:spcPct val="80000"/>
              </a:lnSpc>
              <a:buNone/>
              <a:defRPr/>
            </a:pPr>
            <a:r>
              <a:rPr lang="en-AU" dirty="0"/>
              <a:t>	T</a:t>
            </a:r>
            <a:r>
              <a:rPr lang="en-AU" dirty="0">
                <a:solidFill>
                  <a:srgbClr val="0000FF"/>
                </a:solidFill>
              </a:rPr>
              <a:t>ree diagram</a:t>
            </a:r>
            <a:r>
              <a:rPr lang="en-AU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9195F1-0315-4E1E-B199-55E27D5244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57188"/>
            <a:ext cx="3214688" cy="642937"/>
          </a:xfrm>
          <a:solidFill>
            <a:srgbClr val="51CCF7"/>
          </a:solidFill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AU" b="1"/>
              <a:t>Probability</a:t>
            </a:r>
            <a:endParaRPr lang="en-AU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7537EE-85E8-4EB2-9275-04F47E4A87A8}"/>
              </a:ext>
            </a:extLst>
          </p:cNvPr>
          <p:cNvSpPr/>
          <p:nvPr/>
        </p:nvSpPr>
        <p:spPr>
          <a:xfrm>
            <a:off x="1524000" y="1"/>
            <a:ext cx="9144000" cy="142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5D504B-97B8-4E68-94D3-B159FAC1B30C}"/>
              </a:ext>
            </a:extLst>
          </p:cNvPr>
          <p:cNvSpPr/>
          <p:nvPr/>
        </p:nvSpPr>
        <p:spPr>
          <a:xfrm>
            <a:off x="1344612" y="6218238"/>
            <a:ext cx="9144000" cy="142875"/>
          </a:xfrm>
          <a:prstGeom prst="rect">
            <a:avLst/>
          </a:prstGeom>
          <a:gradFill>
            <a:gsLst>
              <a:gs pos="0">
                <a:srgbClr val="D9CFAB"/>
              </a:gs>
              <a:gs pos="64999">
                <a:srgbClr val="F0EBD5"/>
              </a:gs>
              <a:gs pos="100000">
                <a:srgbClr val="D1C39F"/>
              </a:gs>
            </a:gsLst>
            <a:path path="shape">
              <a:fillToRect l="50000" t="50000" r="50000" b="5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6EA457-68E4-4DA6-84BD-1726EC4F8896}"/>
              </a:ext>
            </a:extLst>
          </p:cNvPr>
          <p:cNvSpPr/>
          <p:nvPr/>
        </p:nvSpPr>
        <p:spPr>
          <a:xfrm>
            <a:off x="1344612" y="6218238"/>
            <a:ext cx="9144000" cy="142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AU"/>
          </a:p>
        </p:txBody>
      </p:sp>
      <p:pic>
        <p:nvPicPr>
          <p:cNvPr id="6151" name="Picture 22" descr="j0338158">
            <a:extLst>
              <a:ext uri="{FF2B5EF4-FFF2-40B4-BE49-F238E27FC236}">
                <a16:creationId xmlns:a16="http://schemas.microsoft.com/office/drawing/2014/main" id="{36041C78-938F-4E54-8ACF-B41E4C8B1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3212" y="215108"/>
            <a:ext cx="1870075" cy="174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2" name="Text Box 24">
            <a:extLst>
              <a:ext uri="{FF2B5EF4-FFF2-40B4-BE49-F238E27FC236}">
                <a16:creationId xmlns:a16="http://schemas.microsoft.com/office/drawing/2014/main" id="{F78E86DA-BE98-49ED-A97E-6D94C7A34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8550" y="2447925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170" name="Text Box 26">
            <a:extLst>
              <a:ext uri="{FF2B5EF4-FFF2-40B4-BE49-F238E27FC236}">
                <a16:creationId xmlns:a16="http://schemas.microsoft.com/office/drawing/2014/main" id="{28DC8DAB-AC69-4B3F-84AE-70664BE3C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11388"/>
            <a:ext cx="8604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dirty="0" err="1">
                <a:solidFill>
                  <a:srgbClr val="0000FF"/>
                </a:solidFill>
                <a:latin typeface="Arial" panose="020B0604020202020204" pitchFamily="34" charset="0"/>
              </a:rPr>
              <a:t>Eg</a:t>
            </a:r>
            <a:r>
              <a:rPr lang="en-GB" altLang="en-US" sz="1800" dirty="0">
                <a:solidFill>
                  <a:srgbClr val="0000FF"/>
                </a:solidFill>
                <a:latin typeface="Arial" panose="020B0604020202020204" pitchFamily="34" charset="0"/>
              </a:rPr>
              <a:t>.</a:t>
            </a:r>
            <a:r>
              <a:rPr lang="en-GB" altLang="en-US" sz="1800" dirty="0">
                <a:latin typeface="Arial" panose="020B0604020202020204" pitchFamily="34" charset="0"/>
              </a:rPr>
              <a:t> Three coins are thrown together. Use a tree diagram to show the sample space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6171" name="Text Box 27">
            <a:extLst>
              <a:ext uri="{FF2B5EF4-FFF2-40B4-BE49-F238E27FC236}">
                <a16:creationId xmlns:a16="http://schemas.microsoft.com/office/drawing/2014/main" id="{3ACA4188-9F9C-4BD0-9F0D-09CF3E4A9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0675" y="2709863"/>
            <a:ext cx="1111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solidFill>
                  <a:srgbClr val="0000FF"/>
                </a:solidFill>
                <a:latin typeface="Arial" panose="020B0604020202020204" pitchFamily="34" charset="0"/>
              </a:rPr>
              <a:t>First coin</a:t>
            </a:r>
            <a:endParaRPr lang="en-US" altLang="en-US" sz="180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6155" name="Text Box 30">
            <a:extLst>
              <a:ext uri="{FF2B5EF4-FFF2-40B4-BE49-F238E27FC236}">
                <a16:creationId xmlns:a16="http://schemas.microsoft.com/office/drawing/2014/main" id="{9B7D972E-CA4A-4FB5-8237-5BA1322C3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8825" y="2636838"/>
            <a:ext cx="1492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dirty="0">
                <a:solidFill>
                  <a:srgbClr val="0000FF"/>
                </a:solidFill>
                <a:latin typeface="Arial" panose="020B0604020202020204" pitchFamily="34" charset="0"/>
              </a:rPr>
              <a:t>Second Coin</a:t>
            </a:r>
            <a:endParaRPr lang="en-US" altLang="en-US" sz="1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6156" name="Text Box 31">
            <a:extLst>
              <a:ext uri="{FF2B5EF4-FFF2-40B4-BE49-F238E27FC236}">
                <a16:creationId xmlns:a16="http://schemas.microsoft.com/office/drawing/2014/main" id="{FA745BEF-3558-464F-90E6-E44A6C758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8412" y="2571750"/>
            <a:ext cx="1187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solidFill>
                  <a:srgbClr val="0000FF"/>
                </a:solidFill>
                <a:latin typeface="Arial" panose="020B0604020202020204" pitchFamily="34" charset="0"/>
              </a:rPr>
              <a:t>Third coin</a:t>
            </a:r>
            <a:endParaRPr lang="en-US" altLang="en-US" sz="180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6178" name="Text Box 34">
            <a:extLst>
              <a:ext uri="{FF2B5EF4-FFF2-40B4-BE49-F238E27FC236}">
                <a16:creationId xmlns:a16="http://schemas.microsoft.com/office/drawing/2014/main" id="{C2F8F4E7-F75B-451B-910F-F46D743D1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787" y="3429000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H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179" name="Text Box 35">
            <a:extLst>
              <a:ext uri="{FF2B5EF4-FFF2-40B4-BE49-F238E27FC236}">
                <a16:creationId xmlns:a16="http://schemas.microsoft.com/office/drawing/2014/main" id="{4709CDCF-D1A6-4D3D-8317-E002425DB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275" y="4797425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T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180" name="Line 36">
            <a:extLst>
              <a:ext uri="{FF2B5EF4-FFF2-40B4-BE49-F238E27FC236}">
                <a16:creationId xmlns:a16="http://schemas.microsoft.com/office/drawing/2014/main" id="{5544165D-6490-4A5D-9D5B-44E794F01E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72151" y="3076576"/>
            <a:ext cx="936625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181" name="Line 37">
            <a:extLst>
              <a:ext uri="{FF2B5EF4-FFF2-40B4-BE49-F238E27FC236}">
                <a16:creationId xmlns:a16="http://schemas.microsoft.com/office/drawing/2014/main" id="{BF991546-24EF-43E0-AE19-50C31104298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2151" y="3363913"/>
            <a:ext cx="936625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188" name="Text Box 44">
            <a:extLst>
              <a:ext uri="{FF2B5EF4-FFF2-40B4-BE49-F238E27FC236}">
                <a16:creationId xmlns:a16="http://schemas.microsoft.com/office/drawing/2014/main" id="{881E2C78-E393-462E-87D6-358897510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9887" y="2903537"/>
            <a:ext cx="3127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400">
                <a:latin typeface="Arial" panose="020B0604020202020204" pitchFamily="34" charset="0"/>
              </a:rPr>
              <a:t>H</a:t>
            </a:r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6189" name="Text Box 45">
            <a:extLst>
              <a:ext uri="{FF2B5EF4-FFF2-40B4-BE49-F238E27FC236}">
                <a16:creationId xmlns:a16="http://schemas.microsoft.com/office/drawing/2014/main" id="{675BC1A3-B98F-46A5-97D8-B1722D1F10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212" y="3579812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>
                <a:latin typeface="Arial" panose="020B0604020202020204" pitchFamily="34" charset="0"/>
              </a:rPr>
              <a:t>H</a:t>
            </a:r>
            <a:endParaRPr lang="en-US" altLang="en-US" sz="1600">
              <a:latin typeface="Arial" panose="020B0604020202020204" pitchFamily="34" charset="0"/>
            </a:endParaRPr>
          </a:p>
        </p:txBody>
      </p:sp>
      <p:sp>
        <p:nvSpPr>
          <p:cNvPr id="6190" name="Text Box 46">
            <a:extLst>
              <a:ext uri="{FF2B5EF4-FFF2-40B4-BE49-F238E27FC236}">
                <a16:creationId xmlns:a16="http://schemas.microsoft.com/office/drawing/2014/main" id="{23C837CE-A75A-4147-AD9D-9EE73EC4CF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1326" y="4271962"/>
            <a:ext cx="312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400">
                <a:latin typeface="Arial" panose="020B0604020202020204" pitchFamily="34" charset="0"/>
              </a:rPr>
              <a:t>H</a:t>
            </a:r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6191" name="Text Box 47">
            <a:extLst>
              <a:ext uri="{FF2B5EF4-FFF2-40B4-BE49-F238E27FC236}">
                <a16:creationId xmlns:a16="http://schemas.microsoft.com/office/drawing/2014/main" id="{66EE1ED9-56EA-4FB2-BF8C-3CB89D90F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1326" y="5064125"/>
            <a:ext cx="312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400">
                <a:latin typeface="Arial" panose="020B0604020202020204" pitchFamily="34" charset="0"/>
              </a:rPr>
              <a:t>H</a:t>
            </a:r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6192" name="Text Box 48">
            <a:extLst>
              <a:ext uri="{FF2B5EF4-FFF2-40B4-BE49-F238E27FC236}">
                <a16:creationId xmlns:a16="http://schemas.microsoft.com/office/drawing/2014/main" id="{8986450D-1617-4039-8A5A-4249E6EF8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5287" y="3292475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400">
                <a:latin typeface="Arial" panose="020B0604020202020204" pitchFamily="34" charset="0"/>
              </a:rPr>
              <a:t>T</a:t>
            </a:r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6193" name="Text Box 49">
            <a:extLst>
              <a:ext uri="{FF2B5EF4-FFF2-40B4-BE49-F238E27FC236}">
                <a16:creationId xmlns:a16="http://schemas.microsoft.com/office/drawing/2014/main" id="{BF35A91B-909D-4771-A0D7-A9CE42883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212" y="3984625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400">
                <a:latin typeface="Arial" panose="020B0604020202020204" pitchFamily="34" charset="0"/>
              </a:rPr>
              <a:t>T</a:t>
            </a:r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6194" name="Text Box 50">
            <a:extLst>
              <a:ext uri="{FF2B5EF4-FFF2-40B4-BE49-F238E27FC236}">
                <a16:creationId xmlns:a16="http://schemas.microsoft.com/office/drawing/2014/main" id="{8217A30F-C99E-4AC4-A49E-877C5DD0C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725" y="4703762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400">
                <a:latin typeface="Arial" panose="020B0604020202020204" pitchFamily="34" charset="0"/>
              </a:rPr>
              <a:t>T</a:t>
            </a:r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6195" name="Text Box 51">
            <a:extLst>
              <a:ext uri="{FF2B5EF4-FFF2-40B4-BE49-F238E27FC236}">
                <a16:creationId xmlns:a16="http://schemas.microsoft.com/office/drawing/2014/main" id="{FADB8D83-397E-4A70-8A94-62C64A226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212" y="5424487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400">
                <a:latin typeface="Arial" panose="020B0604020202020204" pitchFamily="34" charset="0"/>
              </a:rPr>
              <a:t>T</a:t>
            </a:r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6196" name="Text Box 52">
            <a:extLst>
              <a:ext uri="{FF2B5EF4-FFF2-40B4-BE49-F238E27FC236}">
                <a16:creationId xmlns:a16="http://schemas.microsoft.com/office/drawing/2014/main" id="{858DADEA-AE2C-42A7-B148-3E65166D1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5887" y="3789363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T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197" name="Text Box 53">
            <a:extLst>
              <a:ext uri="{FF2B5EF4-FFF2-40B4-BE49-F238E27FC236}">
                <a16:creationId xmlns:a16="http://schemas.microsoft.com/office/drawing/2014/main" id="{5B518B9F-6075-4B49-9E31-0138BA318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8912" y="5229225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T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198" name="Text Box 54">
            <a:extLst>
              <a:ext uri="{FF2B5EF4-FFF2-40B4-BE49-F238E27FC236}">
                <a16:creationId xmlns:a16="http://schemas.microsoft.com/office/drawing/2014/main" id="{353E3925-FAD4-44CE-A772-FF3DA1BF0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3141663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H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199" name="Text Box 55">
            <a:extLst>
              <a:ext uri="{FF2B5EF4-FFF2-40B4-BE49-F238E27FC236}">
                <a16:creationId xmlns:a16="http://schemas.microsoft.com/office/drawing/2014/main" id="{87CBFC1B-9BCC-46E9-ACA6-EE6860A2D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025" y="4516438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H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01" name="Line 57">
            <a:extLst>
              <a:ext uri="{FF2B5EF4-FFF2-40B4-BE49-F238E27FC236}">
                <a16:creationId xmlns:a16="http://schemas.microsoft.com/office/drawing/2014/main" id="{F42CC5AC-7396-411B-AD1E-17C9B83EBF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56026" y="3363913"/>
            <a:ext cx="1368425" cy="288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03" name="Line 59">
            <a:extLst>
              <a:ext uri="{FF2B5EF4-FFF2-40B4-BE49-F238E27FC236}">
                <a16:creationId xmlns:a16="http://schemas.microsoft.com/office/drawing/2014/main" id="{A3393C8E-F92B-4D87-998E-A830EE63B2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6026" y="3652838"/>
            <a:ext cx="1368425" cy="358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05" name="Line 61">
            <a:extLst>
              <a:ext uri="{FF2B5EF4-FFF2-40B4-BE49-F238E27FC236}">
                <a16:creationId xmlns:a16="http://schemas.microsoft.com/office/drawing/2014/main" id="{48F45A74-59E7-4B38-8A1F-92DC4BE322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28825" y="3652838"/>
            <a:ext cx="1079500" cy="5746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06" name="Line 62">
            <a:extLst>
              <a:ext uri="{FF2B5EF4-FFF2-40B4-BE49-F238E27FC236}">
                <a16:creationId xmlns:a16="http://schemas.microsoft.com/office/drawing/2014/main" id="{C1EAD4C6-8E11-41AC-965A-D461EBF0F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28825" y="4227513"/>
            <a:ext cx="1008062" cy="720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07" name="Line 63">
            <a:extLst>
              <a:ext uri="{FF2B5EF4-FFF2-40B4-BE49-F238E27FC236}">
                <a16:creationId xmlns:a16="http://schemas.microsoft.com/office/drawing/2014/main" id="{D08FFC50-EFF3-4466-8E08-9B6BD58B47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56026" y="4730751"/>
            <a:ext cx="1368425" cy="288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08" name="Line 64">
            <a:extLst>
              <a:ext uri="{FF2B5EF4-FFF2-40B4-BE49-F238E27FC236}">
                <a16:creationId xmlns:a16="http://schemas.microsoft.com/office/drawing/2014/main" id="{5085CF56-9A34-40F3-89F7-83F99E05BD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6026" y="5019676"/>
            <a:ext cx="1368425" cy="358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09" name="Line 65">
            <a:extLst>
              <a:ext uri="{FF2B5EF4-FFF2-40B4-BE49-F238E27FC236}">
                <a16:creationId xmlns:a16="http://schemas.microsoft.com/office/drawing/2014/main" id="{8F5BAE76-9ABF-4F28-8C04-F3095E6A9A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45176" y="3724276"/>
            <a:ext cx="936625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10" name="Line 66">
            <a:extLst>
              <a:ext uri="{FF2B5EF4-FFF2-40B4-BE49-F238E27FC236}">
                <a16:creationId xmlns:a16="http://schemas.microsoft.com/office/drawing/2014/main" id="{28E81511-456A-41E4-8EE0-BF8951C897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45176" y="4445001"/>
            <a:ext cx="936625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11" name="Line 67">
            <a:extLst>
              <a:ext uri="{FF2B5EF4-FFF2-40B4-BE49-F238E27FC236}">
                <a16:creationId xmlns:a16="http://schemas.microsoft.com/office/drawing/2014/main" id="{042A3228-9590-4C18-B991-57E1680398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45176" y="5165726"/>
            <a:ext cx="936625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13" name="Line 69">
            <a:extLst>
              <a:ext uri="{FF2B5EF4-FFF2-40B4-BE49-F238E27FC236}">
                <a16:creationId xmlns:a16="http://schemas.microsoft.com/office/drawing/2014/main" id="{10ADC6A7-2E9E-459F-96F0-D02F38B7EC6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5176" y="4011613"/>
            <a:ext cx="936625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14" name="Line 70">
            <a:extLst>
              <a:ext uri="{FF2B5EF4-FFF2-40B4-BE49-F238E27FC236}">
                <a16:creationId xmlns:a16="http://schemas.microsoft.com/office/drawing/2014/main" id="{44B618EB-33B8-49C3-8995-AABC98EF3F1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5176" y="4732338"/>
            <a:ext cx="936625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15" name="Line 71">
            <a:extLst>
              <a:ext uri="{FF2B5EF4-FFF2-40B4-BE49-F238E27FC236}">
                <a16:creationId xmlns:a16="http://schemas.microsoft.com/office/drawing/2014/main" id="{E15A1FB3-ECEA-4274-BAFE-F1DF33CC28F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5176" y="5453063"/>
            <a:ext cx="936625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16" name="Text Box 72">
            <a:extLst>
              <a:ext uri="{FF2B5EF4-FFF2-40B4-BE49-F238E27FC236}">
                <a16:creationId xmlns:a16="http://schemas.microsoft.com/office/drawing/2014/main" id="{5B8EAEC5-0C75-438A-B0FF-A8E5CFC3E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7637" y="2860675"/>
            <a:ext cx="812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=HHH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17" name="Text Box 73">
            <a:extLst>
              <a:ext uri="{FF2B5EF4-FFF2-40B4-BE49-F238E27FC236}">
                <a16:creationId xmlns:a16="http://schemas.microsoft.com/office/drawing/2014/main" id="{80370E3E-0F27-4BFD-802F-48BBD23E6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3037" y="3213100"/>
            <a:ext cx="787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=HHT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18" name="Text Box 74">
            <a:extLst>
              <a:ext uri="{FF2B5EF4-FFF2-40B4-BE49-F238E27FC236}">
                <a16:creationId xmlns:a16="http://schemas.microsoft.com/office/drawing/2014/main" id="{6AC787BE-AA1E-4122-A768-2FDDE5660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3037" y="3573463"/>
            <a:ext cx="78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=HTH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19" name="Text Box 75">
            <a:extLst>
              <a:ext uri="{FF2B5EF4-FFF2-40B4-BE49-F238E27FC236}">
                <a16:creationId xmlns:a16="http://schemas.microsoft.com/office/drawing/2014/main" id="{705EC795-AC3F-4DEA-AE18-A2E84FDF5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275" y="3933825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=HTT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20" name="Text Box 76">
            <a:extLst>
              <a:ext uri="{FF2B5EF4-FFF2-40B4-BE49-F238E27FC236}">
                <a16:creationId xmlns:a16="http://schemas.microsoft.com/office/drawing/2014/main" id="{E01D1ED6-3317-4753-95DF-88C7B018A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3037" y="4294188"/>
            <a:ext cx="78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=THH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21" name="Text Box 77">
            <a:extLst>
              <a:ext uri="{FF2B5EF4-FFF2-40B4-BE49-F238E27FC236}">
                <a16:creationId xmlns:a16="http://schemas.microsoft.com/office/drawing/2014/main" id="{B7CF254D-3D31-47F8-8203-B436A48D4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275" y="4652963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=THT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22" name="Text Box 78">
            <a:extLst>
              <a:ext uri="{FF2B5EF4-FFF2-40B4-BE49-F238E27FC236}">
                <a16:creationId xmlns:a16="http://schemas.microsoft.com/office/drawing/2014/main" id="{49D943A5-45E5-46B0-8281-82F9E8297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275" y="5013325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=TTH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23" name="Text Box 79">
            <a:extLst>
              <a:ext uri="{FF2B5EF4-FFF2-40B4-BE49-F238E27FC236}">
                <a16:creationId xmlns:a16="http://schemas.microsoft.com/office/drawing/2014/main" id="{0EEA7FAA-BD54-4650-8145-148058738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275" y="5400675"/>
            <a:ext cx="736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=TTT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24" name="Text Box 80">
            <a:extLst>
              <a:ext uri="{FF2B5EF4-FFF2-40B4-BE49-F238E27FC236}">
                <a16:creationId xmlns:a16="http://schemas.microsoft.com/office/drawing/2014/main" id="{54EF7D10-0CCF-450A-A95F-D58C26F77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805488"/>
            <a:ext cx="6527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solidFill>
                  <a:srgbClr val="0000FF"/>
                </a:solidFill>
                <a:latin typeface="Arial" panose="020B0604020202020204" pitchFamily="34" charset="0"/>
              </a:rPr>
              <a:t>Q.</a:t>
            </a:r>
            <a:r>
              <a:rPr lang="en-GB" altLang="en-US" sz="1800">
                <a:latin typeface="Arial" panose="020B0604020202020204" pitchFamily="34" charset="0"/>
              </a:rPr>
              <a:t> What is the probability that I will get at least 2 heads? 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25" name="Text Box 81">
            <a:extLst>
              <a:ext uri="{FF2B5EF4-FFF2-40B4-BE49-F238E27FC236}">
                <a16:creationId xmlns:a16="http://schemas.microsoft.com/office/drawing/2014/main" id="{AF1698ED-CBFE-43F3-9AE2-BEA1F07AE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2200" y="5805488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solidFill>
                  <a:srgbClr val="0000FF"/>
                </a:solidFill>
                <a:latin typeface="Arial" panose="020B0604020202020204" pitchFamily="34" charset="0"/>
              </a:rPr>
              <a:t>=4/8</a:t>
            </a:r>
            <a:endParaRPr lang="en-US" altLang="en-US" sz="180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6226" name="Text Box 82">
            <a:extLst>
              <a:ext uri="{FF2B5EF4-FFF2-40B4-BE49-F238E27FC236}">
                <a16:creationId xmlns:a16="http://schemas.microsoft.com/office/drawing/2014/main" id="{31677265-5BDD-4CD6-9E37-D80308D5D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4362" y="5805488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2"/>
                </a:solidFill>
                <a:latin typeface="Constantia" panose="02030602050306030303" pitchFamily="18" charset="0"/>
              </a:defRPr>
            </a:lvl2pPr>
            <a:lvl3pPr marL="1143000" indent="-228600" algn="l" eaLnBrk="0" hangingPunct="0">
              <a:spcBef>
                <a:spcPts val="300"/>
              </a:spcBef>
              <a:buClr>
                <a:srgbClr val="A7003F"/>
              </a:buClr>
              <a:buSzPct val="85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algn="l" eaLnBrk="0" hangingPunct="0">
              <a:spcBef>
                <a:spcPts val="300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9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algn="l" eaLnBrk="0" hangingPunct="0">
              <a:spcBef>
                <a:spcPts val="338"/>
              </a:spcBef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C9004D"/>
              </a:buClr>
              <a:buSzPct val="85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solidFill>
                  <a:srgbClr val="0000FF"/>
                </a:solidFill>
                <a:latin typeface="Arial" panose="020B0604020202020204" pitchFamily="34" charset="0"/>
              </a:rPr>
              <a:t>=1/2</a:t>
            </a:r>
            <a:endParaRPr lang="en-US" altLang="en-US" sz="180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91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2000"/>
                                        <p:tgtEl>
                                          <p:spTgt spid="6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2000"/>
                                        <p:tgtEl>
                                          <p:spTgt spid="6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2000"/>
                                        <p:tgtEl>
                                          <p:spTgt spid="6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0" grpId="0"/>
      <p:bldP spid="6171" grpId="0"/>
      <p:bldP spid="6178" grpId="0"/>
      <p:bldP spid="6179" grpId="0"/>
      <p:bldP spid="6188" grpId="0"/>
      <p:bldP spid="6189" grpId="0"/>
      <p:bldP spid="6190" grpId="0"/>
      <p:bldP spid="6191" grpId="0"/>
      <p:bldP spid="6192" grpId="0"/>
      <p:bldP spid="6193" grpId="0"/>
      <p:bldP spid="6194" grpId="0"/>
      <p:bldP spid="6195" grpId="0"/>
      <p:bldP spid="6196" grpId="0"/>
      <p:bldP spid="6197" grpId="0"/>
      <p:bldP spid="6198" grpId="0"/>
      <p:bldP spid="6199" grpId="0"/>
      <p:bldP spid="6216" grpId="0"/>
      <p:bldP spid="6217" grpId="0"/>
      <p:bldP spid="6218" grpId="0"/>
      <p:bldP spid="6219" grpId="0"/>
      <p:bldP spid="6220" grpId="0"/>
      <p:bldP spid="6221" grpId="0"/>
      <p:bldP spid="6222" grpId="0"/>
      <p:bldP spid="6223" grpId="0"/>
      <p:bldP spid="6224" grpId="0"/>
      <p:bldP spid="62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5596A9-249B-4D60-BA6D-E01E220BEC86}"/>
              </a:ext>
            </a:extLst>
          </p:cNvPr>
          <p:cNvSpPr txBox="1"/>
          <p:nvPr/>
        </p:nvSpPr>
        <p:spPr>
          <a:xfrm>
            <a:off x="313900" y="1271239"/>
            <a:ext cx="1223591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A two way table is another way to display the outcomes of a 2 step experiment. We can then use the results to calculate probability.</a:t>
            </a:r>
          </a:p>
          <a:p>
            <a:endParaRPr lang="en-AU" sz="3200" dirty="0"/>
          </a:p>
          <a:p>
            <a:r>
              <a:rPr lang="en-AU" sz="3200" b="1" u="sng" dirty="0"/>
              <a:t>Example</a:t>
            </a:r>
          </a:p>
          <a:p>
            <a:r>
              <a:rPr lang="en-AU" sz="3200" dirty="0"/>
              <a:t>a dice is thrown and a coin is tossed.  Determine the possible outcomes</a:t>
            </a:r>
          </a:p>
          <a:p>
            <a:endParaRPr lang="en-AU" sz="3200" dirty="0"/>
          </a:p>
          <a:p>
            <a:endParaRPr lang="en-AU" sz="3200" dirty="0"/>
          </a:p>
          <a:p>
            <a:endParaRPr lang="en-AU" sz="3200" dirty="0"/>
          </a:p>
          <a:p>
            <a:endParaRPr lang="en-AU" sz="3200" dirty="0"/>
          </a:p>
          <a:p>
            <a:endParaRPr lang="en-AU" sz="3200" dirty="0"/>
          </a:p>
          <a:p>
            <a:pPr marL="342900" indent="-342900">
              <a:buAutoNum type="arabicPeriod"/>
            </a:pPr>
            <a:endParaRPr lang="en-AU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14E787-F03B-460B-86DC-3CC2E745847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46160" y="4025839"/>
          <a:ext cx="10809029" cy="2603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4147">
                  <a:extLst>
                    <a:ext uri="{9D8B030D-6E8A-4147-A177-3AD203B41FA5}">
                      <a16:colId xmlns:a16="http://schemas.microsoft.com/office/drawing/2014/main" val="3014162300"/>
                    </a:ext>
                  </a:extLst>
                </a:gridCol>
                <a:gridCol w="1544147">
                  <a:extLst>
                    <a:ext uri="{9D8B030D-6E8A-4147-A177-3AD203B41FA5}">
                      <a16:colId xmlns:a16="http://schemas.microsoft.com/office/drawing/2014/main" val="1322356628"/>
                    </a:ext>
                  </a:extLst>
                </a:gridCol>
                <a:gridCol w="1544147">
                  <a:extLst>
                    <a:ext uri="{9D8B030D-6E8A-4147-A177-3AD203B41FA5}">
                      <a16:colId xmlns:a16="http://schemas.microsoft.com/office/drawing/2014/main" val="969324940"/>
                    </a:ext>
                  </a:extLst>
                </a:gridCol>
                <a:gridCol w="1544147">
                  <a:extLst>
                    <a:ext uri="{9D8B030D-6E8A-4147-A177-3AD203B41FA5}">
                      <a16:colId xmlns:a16="http://schemas.microsoft.com/office/drawing/2014/main" val="2605306098"/>
                    </a:ext>
                  </a:extLst>
                </a:gridCol>
                <a:gridCol w="1544147">
                  <a:extLst>
                    <a:ext uri="{9D8B030D-6E8A-4147-A177-3AD203B41FA5}">
                      <a16:colId xmlns:a16="http://schemas.microsoft.com/office/drawing/2014/main" val="2334317384"/>
                    </a:ext>
                  </a:extLst>
                </a:gridCol>
                <a:gridCol w="1544147">
                  <a:extLst>
                    <a:ext uri="{9D8B030D-6E8A-4147-A177-3AD203B41FA5}">
                      <a16:colId xmlns:a16="http://schemas.microsoft.com/office/drawing/2014/main" val="3890996410"/>
                    </a:ext>
                  </a:extLst>
                </a:gridCol>
                <a:gridCol w="1544147">
                  <a:extLst>
                    <a:ext uri="{9D8B030D-6E8A-4147-A177-3AD203B41FA5}">
                      <a16:colId xmlns:a16="http://schemas.microsoft.com/office/drawing/2014/main" val="2000944312"/>
                    </a:ext>
                  </a:extLst>
                </a:gridCol>
              </a:tblGrid>
              <a:tr h="466519">
                <a:tc>
                  <a:txBody>
                    <a:bodyPr/>
                    <a:lstStyle/>
                    <a:p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649534"/>
                  </a:ext>
                </a:extLst>
              </a:tr>
              <a:tr h="1234903">
                <a:tc>
                  <a:txBody>
                    <a:bodyPr/>
                    <a:lstStyle/>
                    <a:p>
                      <a:r>
                        <a:rPr lang="en-AU" sz="2800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/>
                        <a:t>1, Heads</a:t>
                      </a:r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/>
                        <a:t>2, Heads</a:t>
                      </a:r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/>
                        <a:t>3, Heads</a:t>
                      </a:r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/>
                        <a:t>4, Heads</a:t>
                      </a:r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/>
                        <a:t>6, Heads</a:t>
                      </a:r>
                      <a:endParaRPr lang="en-A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357324"/>
                  </a:ext>
                </a:extLst>
              </a:tr>
              <a:tr h="850710">
                <a:tc>
                  <a:txBody>
                    <a:bodyPr/>
                    <a:lstStyle/>
                    <a:p>
                      <a:r>
                        <a:rPr lang="en-AU" sz="2800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/>
                        <a:t>1, Tails</a:t>
                      </a:r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/>
                        <a:t>2, Tails</a:t>
                      </a:r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/>
                        <a:t>4, Tails</a:t>
                      </a:r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/>
                        <a:t>5, Tails</a:t>
                      </a:r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564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94997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78C48-69EA-42DF-936D-0033DB90A42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543800" y="130175"/>
            <a:ext cx="4648200" cy="1177925"/>
          </a:xfrm>
        </p:spPr>
        <p:txBody>
          <a:bodyPr/>
          <a:lstStyle/>
          <a:p>
            <a:r>
              <a:rPr lang="en-AU" dirty="0"/>
              <a:t>Venn diagrams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E70C7-0E43-404C-9E6D-99ACFB468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7" y="1425945"/>
            <a:ext cx="11401425" cy="28479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F4CB27-F332-426D-BDB9-C13576D0448D}"/>
              </a:ext>
            </a:extLst>
          </p:cNvPr>
          <p:cNvSpPr txBox="1"/>
          <p:nvPr/>
        </p:nvSpPr>
        <p:spPr>
          <a:xfrm>
            <a:off x="3230088" y="4619501"/>
            <a:ext cx="3289465" cy="369332"/>
          </a:xfrm>
          <a:prstGeom prst="rect">
            <a:avLst/>
          </a:prstGeom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b="1" dirty="0"/>
              <a:t>Total number of boys is 7 + 18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DF2742E-FF4D-42A5-807A-6970FA80F4AC}"/>
              </a:ext>
            </a:extLst>
          </p:cNvPr>
          <p:cNvCxnSpPr>
            <a:cxnSpLocks/>
          </p:cNvCxnSpPr>
          <p:nvPr/>
        </p:nvCxnSpPr>
        <p:spPr>
          <a:xfrm flipH="1" flipV="1">
            <a:off x="3562598" y="3079828"/>
            <a:ext cx="2192743" cy="15396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711E26-A473-4ECE-8BD9-E81E97DAA91D}"/>
              </a:ext>
            </a:extLst>
          </p:cNvPr>
          <p:cNvSpPr txBox="1"/>
          <p:nvPr/>
        </p:nvSpPr>
        <p:spPr>
          <a:xfrm>
            <a:off x="3014236" y="349356"/>
            <a:ext cx="3289465" cy="369332"/>
          </a:xfrm>
          <a:prstGeom prst="rect">
            <a:avLst/>
          </a:prstGeom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b="1" dirty="0"/>
              <a:t>Total number of blonde boys is 7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BC314D-9F67-41D2-9C01-9AC36DB5E337}"/>
              </a:ext>
            </a:extLst>
          </p:cNvPr>
          <p:cNvCxnSpPr>
            <a:cxnSpLocks/>
          </p:cNvCxnSpPr>
          <p:nvPr/>
        </p:nvCxnSpPr>
        <p:spPr>
          <a:xfrm flipH="1">
            <a:off x="2502620" y="797930"/>
            <a:ext cx="2540027" cy="200345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BC24788-3ABF-49A3-BD0A-0833A79094DC}"/>
              </a:ext>
            </a:extLst>
          </p:cNvPr>
          <p:cNvSpPr txBox="1"/>
          <p:nvPr/>
        </p:nvSpPr>
        <p:spPr>
          <a:xfrm>
            <a:off x="831273" y="5696090"/>
            <a:ext cx="3611938" cy="923330"/>
          </a:xfrm>
          <a:prstGeom prst="rect">
            <a:avLst/>
          </a:prstGeom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b="1" dirty="0"/>
              <a:t>Total number of girls is 10 + 12 (blondes who aren’t boys or people who aren’t boys or blonde)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D5F8D91-DB2F-475F-B4E6-C37937C58522}"/>
              </a:ext>
            </a:extLst>
          </p:cNvPr>
          <p:cNvCxnSpPr>
            <a:cxnSpLocks/>
          </p:cNvCxnSpPr>
          <p:nvPr/>
        </p:nvCxnSpPr>
        <p:spPr>
          <a:xfrm flipH="1" flipV="1">
            <a:off x="1508166" y="3112856"/>
            <a:ext cx="1721922" cy="258323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EA8E314-8879-48CD-BA02-A607CA879530}"/>
              </a:ext>
            </a:extLst>
          </p:cNvPr>
          <p:cNvCxnSpPr>
            <a:cxnSpLocks/>
          </p:cNvCxnSpPr>
          <p:nvPr/>
        </p:nvCxnSpPr>
        <p:spPr>
          <a:xfrm flipH="1" flipV="1">
            <a:off x="950028" y="1867372"/>
            <a:ext cx="2707572" cy="382871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C548E7E-CF2C-4991-9BB5-538E69DBD284}"/>
              </a:ext>
            </a:extLst>
          </p:cNvPr>
          <p:cNvCxnSpPr>
            <a:cxnSpLocks/>
          </p:cNvCxnSpPr>
          <p:nvPr/>
        </p:nvCxnSpPr>
        <p:spPr>
          <a:xfrm flipH="1" flipV="1">
            <a:off x="2666012" y="3033614"/>
            <a:ext cx="2659023" cy="158588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A8770EA-8357-4662-BD72-148D8EA1F3EB}"/>
              </a:ext>
            </a:extLst>
          </p:cNvPr>
          <p:cNvSpPr txBox="1"/>
          <p:nvPr/>
        </p:nvSpPr>
        <p:spPr>
          <a:xfrm>
            <a:off x="7564777" y="4749838"/>
            <a:ext cx="3086051" cy="646331"/>
          </a:xfrm>
          <a:prstGeom prst="rect">
            <a:avLst/>
          </a:prstGeom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b="1" dirty="0"/>
              <a:t>The total number of people in the group is 12 + 10 + 7 + 18</a:t>
            </a:r>
          </a:p>
        </p:txBody>
      </p:sp>
    </p:spTree>
    <p:extLst>
      <p:ext uri="{BB962C8B-B14F-4D97-AF65-F5344CB8AC3E}">
        <p14:creationId xmlns:p14="http://schemas.microsoft.com/office/powerpoint/2010/main" val="1340692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3" grpId="0" animBg="1"/>
      <p:bldP spid="2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2299EC-8704-46E5-A440-568A4F10E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70" y="1930802"/>
            <a:ext cx="10769428" cy="412880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25FC531-9D39-4384-9481-CA3D45AE9E5D}"/>
              </a:ext>
            </a:extLst>
          </p:cNvPr>
          <p:cNvSpPr txBox="1">
            <a:spLocks/>
          </p:cNvSpPr>
          <p:nvPr/>
        </p:nvSpPr>
        <p:spPr>
          <a:xfrm>
            <a:off x="3018331" y="354737"/>
            <a:ext cx="6187105" cy="8735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0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Expanding Brackets </a:t>
            </a:r>
            <a:endParaRPr lang="en-US" sz="40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6217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057089-A701-4ECE-A67F-0E2A7DCAD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392" y="251487"/>
            <a:ext cx="8393373" cy="641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882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803</Words>
  <Application>Microsoft Office PowerPoint</Application>
  <PresentationFormat>Widescreen</PresentationFormat>
  <Paragraphs>207</Paragraphs>
  <Slides>27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ＭＳ Ｐゴシック</vt:lpstr>
      <vt:lpstr>Arial</vt:lpstr>
      <vt:lpstr>Calibri</vt:lpstr>
      <vt:lpstr>Calibri Light</vt:lpstr>
      <vt:lpstr>Cambria Math</vt:lpstr>
      <vt:lpstr>Constantia</vt:lpstr>
      <vt:lpstr>DJB Fancy Nancy</vt:lpstr>
      <vt:lpstr>Kiwi School Handwriting</vt:lpstr>
      <vt:lpstr>Kristen ITC</vt:lpstr>
      <vt:lpstr>Mangal</vt:lpstr>
      <vt:lpstr>Wingdings 2</vt:lpstr>
      <vt:lpstr>Office Theme</vt:lpstr>
      <vt:lpstr>Exam Revision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Topic : Length of a Line </vt:lpstr>
      <vt:lpstr>PowerPoint Presentation</vt:lpstr>
      <vt:lpstr>PowerPoint Presentation</vt:lpstr>
      <vt:lpstr>Probability - Experimental vs. Theoretical</vt:lpstr>
      <vt:lpstr>PowerPoint Presentation</vt:lpstr>
      <vt:lpstr>Probability</vt:lpstr>
      <vt:lpstr>PowerPoint Presentation</vt:lpstr>
      <vt:lpstr>Venn diagrams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 Revision</dc:title>
  <dc:creator>Nine Labuschagne</dc:creator>
  <cp:lastModifiedBy>Nine Labuschagne</cp:lastModifiedBy>
  <cp:revision>11</cp:revision>
  <dcterms:created xsi:type="dcterms:W3CDTF">2017-11-14T07:07:27Z</dcterms:created>
  <dcterms:modified xsi:type="dcterms:W3CDTF">2017-11-14T07:54:09Z</dcterms:modified>
</cp:coreProperties>
</file>
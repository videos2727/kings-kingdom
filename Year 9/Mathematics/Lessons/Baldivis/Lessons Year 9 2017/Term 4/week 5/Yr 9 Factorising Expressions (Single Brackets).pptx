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3" r:id="rId18"/>
    <p:sldId id="274" r:id="rId19"/>
    <p:sldId id="276" r:id="rId20"/>
    <p:sldId id="275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2"/>
  </p:normalViewPr>
  <p:slideViewPr>
    <p:cSldViewPr>
      <p:cViewPr varScale="1">
        <p:scale>
          <a:sx n="102" d="100"/>
          <a:sy n="102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668AC-5E3C-4455-9D69-87FE84F87D28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4D199-8258-41D5-A5FE-68D878FBF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61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62493D4-4479-4FC9-8193-210490FBCDBD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48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8A5BD3D-83C8-481C-8029-41BDFE064E6E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22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92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43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90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96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53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89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97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42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38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0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5AA11-BE27-420A-B8E1-11A14B5A3D8B}" type="datetimeFigureOut">
              <a:rPr lang="en-GB" smtClean="0"/>
              <a:t>14/11/2017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1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692696"/>
            <a:ext cx="7772400" cy="866527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r>
              <a:rPr lang="en-GB" b="1" u="sng" spc="300" dirty="0" smtClean="0">
                <a:solidFill>
                  <a:schemeClr val="bg1"/>
                </a:solidFill>
              </a:rPr>
              <a:t>Factorising Expressions</a:t>
            </a:r>
            <a:endParaRPr lang="en-GB" b="1" u="sng" spc="300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type="subTitle" idx="1"/>
          </p:nvPr>
        </p:nvSpPr>
        <p:spPr>
          <a:xfrm>
            <a:off x="611560" y="1628800"/>
            <a:ext cx="7848872" cy="108012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LO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To be able to factorise expressions into single brackets </a:t>
            </a:r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83568" y="2854749"/>
            <a:ext cx="1728192" cy="7116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STARTER:</a:t>
            </a:r>
          </a:p>
          <a:p>
            <a:pPr algn="l"/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861320"/>
            <a:ext cx="5327118" cy="3804840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79512" y="3754899"/>
            <a:ext cx="3377922" cy="19063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solidFill>
                  <a:schemeClr val="tx1"/>
                </a:solidFill>
              </a:rPr>
              <a:t>Here is a checkout queue in Sainsbury's.</a:t>
            </a:r>
            <a:br>
              <a:rPr lang="en-US" sz="2800" dirty="0" smtClean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>Which line do you join? </a:t>
            </a:r>
            <a:r>
              <a:rPr lang="en-US" sz="2800" b="1" dirty="0" smtClean="0">
                <a:solidFill>
                  <a:schemeClr val="tx1"/>
                </a:solidFill>
              </a:rPr>
              <a:t>Why?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5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5365" name="TextBox 7"/>
          <p:cNvSpPr txBox="1">
            <a:spLocks noChangeArrowheads="1"/>
          </p:cNvSpPr>
          <p:nvPr/>
        </p:nvSpPr>
        <p:spPr bwMode="auto">
          <a:xfrm>
            <a:off x="430908" y="333374"/>
            <a:ext cx="80654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600" dirty="0">
                <a:latin typeface="+mn-lt"/>
              </a:rPr>
              <a:t>What is the highest common factor of .....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10 and 15</a:t>
            </a:r>
          </a:p>
        </p:txBody>
      </p:sp>
      <p:sp>
        <p:nvSpPr>
          <p:cNvPr id="1536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5368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536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5370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7231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6389" name="TextBox 7"/>
          <p:cNvSpPr txBox="1">
            <a:spLocks noChangeArrowheads="1"/>
          </p:cNvSpPr>
          <p:nvPr/>
        </p:nvSpPr>
        <p:spPr bwMode="auto">
          <a:xfrm>
            <a:off x="1233982" y="334241"/>
            <a:ext cx="71649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9 and 12</a:t>
            </a:r>
          </a:p>
        </p:txBody>
      </p:sp>
      <p:sp>
        <p:nvSpPr>
          <p:cNvPr id="1639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6392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639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6394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10701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7413" name="TextBox 7"/>
          <p:cNvSpPr txBox="1">
            <a:spLocks noChangeArrowheads="1"/>
          </p:cNvSpPr>
          <p:nvPr/>
        </p:nvSpPr>
        <p:spPr bwMode="auto">
          <a:xfrm>
            <a:off x="899592" y="333374"/>
            <a:ext cx="75334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15 and 20</a:t>
            </a:r>
          </a:p>
        </p:txBody>
      </p:sp>
      <p:sp>
        <p:nvSpPr>
          <p:cNvPr id="1741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741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741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741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60619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1325376" y="333375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18 and 30</a:t>
            </a:r>
          </a:p>
        </p:txBody>
      </p:sp>
      <p:sp>
        <p:nvSpPr>
          <p:cNvPr id="18439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8440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8441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8442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3650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9461" name="TextBox 7"/>
          <p:cNvSpPr txBox="1">
            <a:spLocks noChangeArrowheads="1"/>
          </p:cNvSpPr>
          <p:nvPr/>
        </p:nvSpPr>
        <p:spPr bwMode="auto">
          <a:xfrm>
            <a:off x="980162" y="361084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16 and 24</a:t>
            </a:r>
          </a:p>
        </p:txBody>
      </p:sp>
      <p:sp>
        <p:nvSpPr>
          <p:cNvPr id="1946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946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946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946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47164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0485" name="TextBox 7"/>
          <p:cNvSpPr txBox="1">
            <a:spLocks noChangeArrowheads="1"/>
          </p:cNvSpPr>
          <p:nvPr/>
        </p:nvSpPr>
        <p:spPr bwMode="auto">
          <a:xfrm>
            <a:off x="1146626" y="333375"/>
            <a:ext cx="72417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12 and 36</a:t>
            </a:r>
          </a:p>
        </p:txBody>
      </p:sp>
      <p:sp>
        <p:nvSpPr>
          <p:cNvPr id="2048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048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048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049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8145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2533" name="TextBox 7"/>
          <p:cNvSpPr txBox="1">
            <a:spLocks noChangeArrowheads="1"/>
          </p:cNvSpPr>
          <p:nvPr/>
        </p:nvSpPr>
        <p:spPr bwMode="auto">
          <a:xfrm>
            <a:off x="827584" y="333374"/>
            <a:ext cx="7848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20 and 30</a:t>
            </a:r>
          </a:p>
        </p:txBody>
      </p:sp>
      <p:sp>
        <p:nvSpPr>
          <p:cNvPr id="2253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253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253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253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4815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581" name="TextBox 7"/>
          <p:cNvSpPr txBox="1">
            <a:spLocks noChangeArrowheads="1"/>
          </p:cNvSpPr>
          <p:nvPr/>
        </p:nvSpPr>
        <p:spPr bwMode="auto">
          <a:xfrm>
            <a:off x="827584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28 and 70</a:t>
            </a:r>
          </a:p>
        </p:txBody>
      </p:sp>
      <p:sp>
        <p:nvSpPr>
          <p:cNvPr id="2458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458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458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458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850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09739" y="5084763"/>
                <a:ext cx="2483644" cy="143986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1" y="5084763"/>
                <a:ext cx="3311525" cy="14398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57776" y="3429002"/>
                <a:ext cx="2484835" cy="143986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1" y="3429001"/>
                <a:ext cx="3313113" cy="14398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971600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TextBox 8"/>
              <p:cNvSpPr txBox="1">
                <a:spLocks noChangeArrowheads="1"/>
              </p:cNvSpPr>
              <p:nvPr/>
            </p:nvSpPr>
            <p:spPr bwMode="auto">
              <a:xfrm>
                <a:off x="2250282" y="1484314"/>
                <a:ext cx="4589860" cy="1225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72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sz="72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7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72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7200" i="1">
                        <a:latin typeface="Cambria Math"/>
                      </a:rPr>
                      <m:t>𝑥</m:t>
                    </m:r>
                  </m:oMath>
                </a14:m>
                <a:endParaRPr lang="en-GB" sz="7200" dirty="0">
                  <a:latin typeface="+mn-lt"/>
                </a:endParaRPr>
              </a:p>
            </p:txBody>
          </p:sp>
        </mc:Choice>
        <mc:Fallback xmlns="">
          <p:sp>
            <p:nvSpPr>
              <p:cNvPr id="25606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6" y="1484314"/>
                <a:ext cx="6119813" cy="1225272"/>
              </a:xfrm>
              <a:prstGeom prst="rect">
                <a:avLst/>
              </a:prstGeom>
              <a:blipFill rotWithShape="0">
                <a:blip r:embed="rId4"/>
                <a:stretch>
                  <a:fillRect t="-16418" b="-407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560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560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561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63335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6629" name="TextBox 7"/>
          <p:cNvSpPr txBox="1">
            <a:spLocks noChangeArrowheads="1"/>
          </p:cNvSpPr>
          <p:nvPr/>
        </p:nvSpPr>
        <p:spPr bwMode="auto">
          <a:xfrm>
            <a:off x="1043608" y="333375"/>
            <a:ext cx="7488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38 and 57</a:t>
            </a:r>
          </a:p>
        </p:txBody>
      </p:sp>
      <p:sp>
        <p:nvSpPr>
          <p:cNvPr id="2663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6632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663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6634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83624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619268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800" b="1" u="sng" dirty="0" smtClean="0">
                <a:latin typeface="+mj-lt"/>
              </a:rPr>
              <a:t>Factorising Expressions</a:t>
            </a: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Factorising is the opposite of expansion.</a:t>
            </a: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It puts an expression back into brackets.</a:t>
            </a: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 algn="ctr">
              <a:buNone/>
            </a:pPr>
            <a:endParaRPr lang="en-GB" sz="2800" dirty="0" smtClean="0">
              <a:latin typeface="+mj-lt"/>
            </a:endParaRP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We have to find the Highest Common Factor </a:t>
            </a: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of all terms to factorise.</a:t>
            </a:r>
            <a:endParaRPr lang="en-GB" sz="28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30571" y="2118047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Expanding</a:t>
            </a:r>
            <a:endParaRPr lang="en-GB" sz="2400" b="1" dirty="0"/>
          </a:p>
        </p:txBody>
      </p:sp>
      <p:sp>
        <p:nvSpPr>
          <p:cNvPr id="5" name="Curved Down Arrow 4"/>
          <p:cNvSpPr/>
          <p:nvPr/>
        </p:nvSpPr>
        <p:spPr>
          <a:xfrm>
            <a:off x="1259632" y="2708920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0800000">
            <a:off x="1166748" y="4026400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490" y="3361564"/>
            <a:ext cx="1717137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3(</a:t>
            </a:r>
            <a:r>
              <a:rPr lang="en-GB" sz="2800" b="1" dirty="0" smtClean="0">
                <a:solidFill>
                  <a:srgbClr val="FF0000"/>
                </a:solidFill>
              </a:rPr>
              <a:t>2t</a:t>
            </a:r>
            <a:r>
              <a:rPr lang="en-GB" sz="2800" b="1" dirty="0" smtClean="0"/>
              <a:t> + </a:t>
            </a:r>
            <a:r>
              <a:rPr lang="en-GB" sz="2800" b="1" dirty="0" smtClean="0">
                <a:solidFill>
                  <a:srgbClr val="00B050"/>
                </a:solidFill>
              </a:rPr>
              <a:t>3m</a:t>
            </a:r>
            <a:r>
              <a:rPr lang="en-GB" sz="2800" b="1" dirty="0" smtClean="0"/>
              <a:t>)</a:t>
            </a:r>
            <a:endParaRPr lang="en-GB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2573842" y="3357836"/>
            <a:ext cx="130997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6t + </a:t>
            </a:r>
            <a:r>
              <a:rPr lang="en-GB" sz="2800" b="1" dirty="0" smtClean="0">
                <a:solidFill>
                  <a:srgbClr val="00B050"/>
                </a:solidFill>
              </a:rPr>
              <a:t>9m</a:t>
            </a:r>
            <a:endParaRPr lang="en-GB" sz="2800" b="1" dirty="0"/>
          </a:p>
        </p:txBody>
      </p:sp>
      <p:sp>
        <p:nvSpPr>
          <p:cNvPr id="12" name="Rectangle 11"/>
          <p:cNvSpPr/>
          <p:nvPr/>
        </p:nvSpPr>
        <p:spPr>
          <a:xfrm>
            <a:off x="1405019" y="4653136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Factorising</a:t>
            </a:r>
            <a:endParaRPr lang="en-GB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5461648" y="2118046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Expanding</a:t>
            </a:r>
            <a:endParaRPr lang="en-GB" sz="2400" b="1" dirty="0"/>
          </a:p>
        </p:txBody>
      </p:sp>
      <p:sp>
        <p:nvSpPr>
          <p:cNvPr id="14" name="Curved Down Arrow 13"/>
          <p:cNvSpPr/>
          <p:nvPr/>
        </p:nvSpPr>
        <p:spPr>
          <a:xfrm>
            <a:off x="5290709" y="2708919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 rot="10800000">
            <a:off x="5197825" y="4026399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76587" y="3361563"/>
            <a:ext cx="166263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4(</a:t>
            </a:r>
            <a:r>
              <a:rPr lang="en-GB" sz="2800" b="1" dirty="0" smtClean="0">
                <a:solidFill>
                  <a:srgbClr val="FF0000"/>
                </a:solidFill>
              </a:rPr>
              <a:t>5</a:t>
            </a:r>
            <a:r>
              <a:rPr lang="en-GB" sz="2800" b="1" dirty="0">
                <a:solidFill>
                  <a:srgbClr val="FF0000"/>
                </a:solidFill>
              </a:rPr>
              <a:t>y</a:t>
            </a:r>
            <a:r>
              <a:rPr lang="en-GB" sz="2800" b="1" dirty="0" smtClean="0"/>
              <a:t> + </a:t>
            </a:r>
            <a:r>
              <a:rPr lang="en-GB" sz="2800" b="1" dirty="0" smtClean="0">
                <a:solidFill>
                  <a:srgbClr val="00B050"/>
                </a:solidFill>
              </a:rPr>
              <a:t>2p</a:t>
            </a:r>
            <a:r>
              <a:rPr lang="en-GB" sz="2800" b="1" dirty="0" smtClean="0"/>
              <a:t>)</a:t>
            </a:r>
            <a:endParaRPr lang="en-GB" sz="2800" b="1" dirty="0"/>
          </a:p>
        </p:txBody>
      </p:sp>
      <p:sp>
        <p:nvSpPr>
          <p:cNvPr id="17" name="Rectangle 16"/>
          <p:cNvSpPr/>
          <p:nvPr/>
        </p:nvSpPr>
        <p:spPr>
          <a:xfrm>
            <a:off x="6604919" y="3357835"/>
            <a:ext cx="143821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20y + </a:t>
            </a:r>
            <a:r>
              <a:rPr lang="en-GB" sz="2800" b="1" dirty="0" smtClean="0">
                <a:solidFill>
                  <a:srgbClr val="00B050"/>
                </a:solidFill>
              </a:rPr>
              <a:t>8</a:t>
            </a:r>
            <a:r>
              <a:rPr lang="en-GB" sz="2800" b="1" dirty="0">
                <a:solidFill>
                  <a:srgbClr val="00B050"/>
                </a:solidFill>
              </a:rPr>
              <a:t>p</a:t>
            </a:r>
            <a:endParaRPr lang="en-GB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5436096" y="4653135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Factorising</a:t>
            </a:r>
            <a:endParaRPr lang="en-GB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1755955" y="4026107"/>
            <a:ext cx="973343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HCF = 3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87032" y="3978452"/>
            <a:ext cx="599844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HCF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4690" y="3978452"/>
            <a:ext cx="500458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249843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7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8" grpId="0" animBg="1"/>
      <p:bldP spid="20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1 – Factorise the following: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2746648" cy="471338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 smtClean="0"/>
              <a:t>Level 5b</a:t>
            </a:r>
          </a:p>
          <a:p>
            <a:pPr marL="514350" indent="-514350">
              <a:buAutoNum type="arabicParenR"/>
            </a:pPr>
            <a:r>
              <a:rPr lang="en-GB" dirty="0" smtClean="0"/>
              <a:t>2x + 6</a:t>
            </a:r>
          </a:p>
          <a:p>
            <a:pPr marL="514350" indent="-514350">
              <a:buAutoNum type="arabicParenR"/>
            </a:pPr>
            <a:r>
              <a:rPr lang="en-GB" dirty="0" smtClean="0"/>
              <a:t>4m + 12</a:t>
            </a:r>
          </a:p>
          <a:p>
            <a:pPr marL="514350" indent="-514350">
              <a:buAutoNum type="arabicParenR"/>
            </a:pPr>
            <a:r>
              <a:rPr lang="en-GB" dirty="0" smtClean="0"/>
              <a:t>16y + 10n</a:t>
            </a:r>
          </a:p>
          <a:p>
            <a:pPr marL="514350" indent="-514350">
              <a:buAutoNum type="arabicParenR"/>
            </a:pPr>
            <a:r>
              <a:rPr lang="en-GB" dirty="0" smtClean="0"/>
              <a:t>20p – 15r</a:t>
            </a:r>
          </a:p>
          <a:p>
            <a:pPr marL="514350" indent="-514350">
              <a:buAutoNum type="arabicParenR"/>
            </a:pPr>
            <a:r>
              <a:rPr lang="en-GB" dirty="0" smtClean="0"/>
              <a:t>15b – 5t</a:t>
            </a:r>
          </a:p>
          <a:p>
            <a:pPr marL="514350" indent="-514350">
              <a:buAutoNum type="arabicParenR"/>
            </a:pPr>
            <a:r>
              <a:rPr lang="en-GB" dirty="0" smtClean="0"/>
              <a:t>9 + 3x</a:t>
            </a:r>
          </a:p>
          <a:p>
            <a:pPr marL="514350" indent="-514350">
              <a:buAutoNum type="arabicParenR"/>
            </a:pPr>
            <a:r>
              <a:rPr lang="en-GB" dirty="0" smtClean="0"/>
              <a:t>12x + 16e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0" indent="0">
              <a:buNone/>
            </a:pPr>
            <a:endParaRPr lang="en-GB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 smtClean="0"/>
                  <a:t>Level 5a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12x + 16e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15b - 5t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9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0" smtClean="0">
                        <a:latin typeface="Cambria Math"/>
                      </a:rPr>
                      <m:t>−10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y</m:t>
                    </m:r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4xy + 3x</a:t>
                </a:r>
                <a:endParaRPr lang="en-GB" b="0" dirty="0" smtClean="0"/>
              </a:p>
              <a:p>
                <a:pPr marL="0" indent="0">
                  <a:buNone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blipFill rotWithShape="1">
                <a:blip r:embed="rId2"/>
                <a:stretch>
                  <a:fillRect l="-5765" t="-1680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 smtClean="0"/>
                  <a:t>Level 6c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4xy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 smtClean="0"/>
                  <a:t>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+ 4x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21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 smtClean="0"/>
                  <a:t>15c - 10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𝑝𝑟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 −</m:t>
                    </m:r>
                    <m:r>
                      <a:rPr lang="en-GB" b="0" i="1" smtClean="0">
                        <a:latin typeface="Cambria Math"/>
                      </a:rPr>
                      <m:t>𝑝𝑟</m:t>
                    </m:r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blipFill rotWithShape="1">
                <a:blip r:embed="rId3"/>
                <a:stretch>
                  <a:fillRect l="-5556" t="-1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45909" y="5915454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9</a:t>
            </a:r>
            <a:endParaRPr lang="en-GB" sz="6000" dirty="0"/>
          </a:p>
        </p:txBody>
      </p:sp>
      <p:sp>
        <p:nvSpPr>
          <p:cNvPr id="7" name="Oval 6"/>
          <p:cNvSpPr/>
          <p:nvPr/>
        </p:nvSpPr>
        <p:spPr>
          <a:xfrm>
            <a:off x="516365" y="582438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/>
            <a:r>
              <a:rPr lang="en-GB" sz="2800" dirty="0" smtClean="0"/>
              <a:t>10</a:t>
            </a:r>
            <a:endParaRPr lang="en-GB" sz="2800" dirty="0"/>
          </a:p>
        </p:txBody>
      </p:sp>
      <p:sp>
        <p:nvSpPr>
          <p:cNvPr id="8" name="Oval 7"/>
          <p:cNvSpPr/>
          <p:nvPr/>
        </p:nvSpPr>
        <p:spPr>
          <a:xfrm>
            <a:off x="2160351" y="5843627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2914983" y="6101315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7</a:t>
            </a:r>
            <a:endParaRPr lang="en-GB" sz="6000" dirty="0"/>
          </a:p>
        </p:txBody>
      </p:sp>
      <p:sp>
        <p:nvSpPr>
          <p:cNvPr id="10" name="Oval 9"/>
          <p:cNvSpPr/>
          <p:nvPr/>
        </p:nvSpPr>
        <p:spPr>
          <a:xfrm>
            <a:off x="3744527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6</a:t>
            </a:r>
            <a:endParaRPr lang="en-GB" sz="6000" dirty="0"/>
          </a:p>
        </p:txBody>
      </p:sp>
      <p:sp>
        <p:nvSpPr>
          <p:cNvPr id="11" name="Oval 10"/>
          <p:cNvSpPr/>
          <p:nvPr/>
        </p:nvSpPr>
        <p:spPr>
          <a:xfrm>
            <a:off x="5386711" y="60901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4</a:t>
            </a:r>
            <a:endParaRPr lang="en-GB" sz="6000" dirty="0"/>
          </a:p>
        </p:txBody>
      </p:sp>
      <p:sp>
        <p:nvSpPr>
          <p:cNvPr id="12" name="Oval 11"/>
          <p:cNvSpPr/>
          <p:nvPr/>
        </p:nvSpPr>
        <p:spPr>
          <a:xfrm>
            <a:off x="4612544" y="5898679"/>
            <a:ext cx="800078" cy="742433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5</a:t>
            </a:r>
            <a:endParaRPr lang="en-GB" sz="6000" dirty="0"/>
          </a:p>
        </p:txBody>
      </p:sp>
      <p:sp>
        <p:nvSpPr>
          <p:cNvPr id="13" name="Oval 12"/>
          <p:cNvSpPr/>
          <p:nvPr/>
        </p:nvSpPr>
        <p:spPr>
          <a:xfrm>
            <a:off x="6216255" y="58986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3</a:t>
            </a:r>
            <a:endParaRPr lang="en-GB" sz="6000" dirty="0"/>
          </a:p>
        </p:txBody>
      </p:sp>
      <p:sp>
        <p:nvSpPr>
          <p:cNvPr id="14" name="Oval 13"/>
          <p:cNvSpPr/>
          <p:nvPr/>
        </p:nvSpPr>
        <p:spPr>
          <a:xfrm>
            <a:off x="7128959" y="592076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2</a:t>
            </a:r>
            <a:endParaRPr lang="en-GB" sz="6000" dirty="0"/>
          </a:p>
        </p:txBody>
      </p:sp>
      <p:sp>
        <p:nvSpPr>
          <p:cNvPr id="15" name="Oval 14"/>
          <p:cNvSpPr/>
          <p:nvPr/>
        </p:nvSpPr>
        <p:spPr>
          <a:xfrm>
            <a:off x="7932398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056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2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9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9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7000"/>
                            </p:stCondLst>
                            <p:childTnLst>
                              <p:par>
                                <p:cTn id="26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9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6000"/>
                            </p:stCondLst>
                            <p:childTnLst>
                              <p:par>
                                <p:cTn id="33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9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5000"/>
                            </p:stCondLst>
                            <p:childTnLst>
                              <p:par>
                                <p:cTn id="40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9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4000"/>
                            </p:stCondLst>
                            <p:childTnLst>
                              <p:par>
                                <p:cTn id="47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9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3000"/>
                            </p:stCondLst>
                            <p:childTnLst>
                              <p:par>
                                <p:cTn id="54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9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00"/>
                            </p:stCondLst>
                            <p:childTnLst>
                              <p:par>
                                <p:cTn id="61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31000"/>
                            </p:stCondLst>
                            <p:childTnLst>
                              <p:par>
                                <p:cTn id="68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9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8" y="72450"/>
            <a:ext cx="8064896" cy="678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392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496944" cy="408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</a:t>
            </a:r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57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677"/>
            <a:ext cx="9144000" cy="6682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28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71600" y="764704"/>
            <a:ext cx="6275040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Factorising Expressions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1484784"/>
            <a:ext cx="7848872" cy="936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LO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To be able to factorise expressions with numbers and letters into single 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brackets</a:t>
            </a:r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13" y="3501008"/>
            <a:ext cx="725355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837213" y="2577837"/>
            <a:ext cx="7253551" cy="923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STARTER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Match the expansion to the factorised form (write down both in your books)…</a:t>
            </a:r>
          </a:p>
          <a:p>
            <a:pPr algn="l"/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549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3450"/>
            <a:ext cx="725355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89" y="3429000"/>
            <a:ext cx="7264281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75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82" y="541991"/>
            <a:ext cx="915318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95536" y="2882"/>
            <a:ext cx="4824536" cy="539109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1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82" y="5157192"/>
            <a:ext cx="909089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79512" y="4862471"/>
            <a:ext cx="1656184" cy="3014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Extension:</a:t>
            </a:r>
            <a:endParaRPr lang="en-GB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53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7544" y="23962"/>
            <a:ext cx="4824536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Answers to Activity 1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044"/>
            <a:ext cx="9144000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0"/>
            <a:ext cx="9144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6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3886189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Plenary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8" y="1124744"/>
            <a:ext cx="8607650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" y="3573016"/>
            <a:ext cx="8692124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90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495</Words>
  <Application>Microsoft Macintosh PowerPoint</Application>
  <PresentationFormat>On-screen Show (4:3)</PresentationFormat>
  <Paragraphs>182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Aharoni</vt:lpstr>
      <vt:lpstr>Calibri</vt:lpstr>
      <vt:lpstr>Cambria Math</vt:lpstr>
      <vt:lpstr>Arial</vt:lpstr>
      <vt:lpstr>Office Theme</vt:lpstr>
      <vt:lpstr>Factorising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 1 – Factorise the following:</vt:lpstr>
      <vt:lpstr>PowerPoint Presentation</vt:lpstr>
      <vt:lpstr>Task </vt:lpstr>
      <vt:lpstr>PowerPoint Presentation</vt:lpstr>
      <vt:lpstr>Factorising Expressions</vt:lpstr>
      <vt:lpstr>PowerPoint Presentation</vt:lpstr>
      <vt:lpstr>Activity 1</vt:lpstr>
      <vt:lpstr>Answers to Activity 1</vt:lpstr>
      <vt:lpstr>Plenary</vt:lpstr>
    </vt:vector>
  </TitlesOfParts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Goldspink</dc:creator>
  <cp:lastModifiedBy>EVANS Clem [Baldivis Secondary College]</cp:lastModifiedBy>
  <cp:revision>10</cp:revision>
  <dcterms:created xsi:type="dcterms:W3CDTF">2014-02-24T16:34:55Z</dcterms:created>
  <dcterms:modified xsi:type="dcterms:W3CDTF">2017-11-14T00:08:57Z</dcterms:modified>
</cp:coreProperties>
</file>
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36" r:id="rId2"/>
    <p:sldId id="331" r:id="rId3"/>
    <p:sldId id="319" r:id="rId4"/>
    <p:sldId id="321" r:id="rId5"/>
    <p:sldId id="326" r:id="rId6"/>
    <p:sldId id="328" r:id="rId7"/>
    <p:sldId id="329" r:id="rId8"/>
    <p:sldId id="333" r:id="rId9"/>
    <p:sldId id="335" r:id="rId10"/>
    <p:sldId id="337" r:id="rId11"/>
    <p:sldId id="338" r:id="rId12"/>
    <p:sldId id="340" r:id="rId13"/>
    <p:sldId id="339" r:id="rId14"/>
    <p:sldId id="341" r:id="rId15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9" autoAdjust="0"/>
    <p:restoredTop sz="96803" autoAdjust="0"/>
  </p:normalViewPr>
  <p:slideViewPr>
    <p:cSldViewPr>
      <p:cViewPr varScale="1">
        <p:scale>
          <a:sx n="90" d="100"/>
          <a:sy n="90" d="100"/>
        </p:scale>
        <p:origin x="834" y="8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175657A-4512-4A0A-A4F3-F950C7416845}"/>
              </a:ext>
            </a:extLst>
          </p:cNvPr>
          <p:cNvSpPr txBox="1"/>
          <p:nvPr/>
        </p:nvSpPr>
        <p:spPr>
          <a:xfrm>
            <a:off x="539552" y="481236"/>
            <a:ext cx="83529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2800" dirty="0"/>
              <a:t> 6(a + 4) = 6a + 24		2.  g(g - 2) = g</a:t>
            </a:r>
            <a:r>
              <a:rPr lang="en-AU" sz="2800" baseline="30000" dirty="0"/>
              <a:t>2</a:t>
            </a:r>
            <a:r>
              <a:rPr lang="en-AU" sz="2800" dirty="0"/>
              <a:t> -2g</a:t>
            </a:r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/>
            </a:pPr>
            <a:endParaRPr lang="en-AU" sz="2800" dirty="0"/>
          </a:p>
          <a:p>
            <a:pPr marL="342900" indent="-342900">
              <a:buAutoNum type="arabicPeriod" startAt="3"/>
            </a:pPr>
            <a:r>
              <a:rPr lang="en-AU" sz="2800" dirty="0"/>
              <a:t>  4p(2 + 1) = 8p + 4p		4.  6(t + t</a:t>
            </a:r>
            <a:r>
              <a:rPr lang="en-AU" sz="2800" baseline="30000" dirty="0"/>
              <a:t>2</a:t>
            </a:r>
            <a:r>
              <a:rPr lang="en-AU" sz="2800" dirty="0"/>
              <a:t>) =  6t + 6t</a:t>
            </a:r>
            <a:r>
              <a:rPr lang="en-AU" sz="2800" baseline="30000" dirty="0"/>
              <a:t>2</a:t>
            </a:r>
            <a:endParaRPr lang="en-AU" sz="2800" dirty="0"/>
          </a:p>
          <a:p>
            <a:pPr marL="342900" indent="-342900">
              <a:buAutoNum type="arabicPeriod" startAt="3"/>
            </a:pPr>
            <a:endParaRPr lang="en-AU" sz="2800" dirty="0"/>
          </a:p>
          <a:p>
            <a:pPr marL="342900" indent="-342900">
              <a:buAutoNum type="arabicPeriod" startAt="3"/>
            </a:pPr>
            <a:endParaRPr lang="en-AU" sz="2800" dirty="0"/>
          </a:p>
          <a:p>
            <a:pPr marL="342900" indent="-342900">
              <a:buAutoNum type="arabicPeriod" startAt="3"/>
            </a:pPr>
            <a:endParaRPr lang="en-AU" sz="2800" dirty="0"/>
          </a:p>
          <a:p>
            <a:r>
              <a:rPr lang="en-AU" sz="2800" dirty="0"/>
              <a:t>5.  -2c(c + d) = -2c</a:t>
            </a:r>
            <a:r>
              <a:rPr lang="en-AU" sz="2800" baseline="30000" dirty="0"/>
              <a:t>2</a:t>
            </a:r>
            <a:r>
              <a:rPr lang="en-AU" sz="2800" dirty="0"/>
              <a:t> -2cd		6.   -b(b – 4) = -b</a:t>
            </a:r>
            <a:r>
              <a:rPr lang="en-AU" sz="2800" baseline="30000" dirty="0"/>
              <a:t>2</a:t>
            </a:r>
            <a:r>
              <a:rPr lang="en-AU" sz="2800" dirty="0"/>
              <a:t> +4b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EC1EDFD-8A70-4F8D-B7CB-619390374EE1}"/>
              </a:ext>
            </a:extLst>
          </p:cNvPr>
          <p:cNvSpPr/>
          <p:nvPr/>
        </p:nvSpPr>
        <p:spPr>
          <a:xfrm>
            <a:off x="2483768" y="337220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6BE2796-BD70-4C6B-B739-DCD636E5EB23}"/>
              </a:ext>
            </a:extLst>
          </p:cNvPr>
          <p:cNvSpPr/>
          <p:nvPr/>
        </p:nvSpPr>
        <p:spPr>
          <a:xfrm>
            <a:off x="6948264" y="419987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2CC2EA2-AC83-4B04-9202-976BEFAF62CF}"/>
              </a:ext>
            </a:extLst>
          </p:cNvPr>
          <p:cNvSpPr/>
          <p:nvPr/>
        </p:nvSpPr>
        <p:spPr>
          <a:xfrm>
            <a:off x="2771800" y="2142359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CC5F0EB-2A46-4484-8A33-9C998FE0409E}"/>
              </a:ext>
            </a:extLst>
          </p:cNvPr>
          <p:cNvSpPr/>
          <p:nvPr/>
        </p:nvSpPr>
        <p:spPr>
          <a:xfrm>
            <a:off x="7092280" y="2111734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B9AD074-DCF1-4827-BAEA-D4D90B25817D}"/>
              </a:ext>
            </a:extLst>
          </p:cNvPr>
          <p:cNvSpPr/>
          <p:nvPr/>
        </p:nvSpPr>
        <p:spPr>
          <a:xfrm>
            <a:off x="2771800" y="3803482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2E78FEB-4261-4965-A391-5464D7959CBD}"/>
              </a:ext>
            </a:extLst>
          </p:cNvPr>
          <p:cNvSpPr/>
          <p:nvPr/>
        </p:nvSpPr>
        <p:spPr>
          <a:xfrm>
            <a:off x="7308304" y="3864731"/>
            <a:ext cx="144016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4918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From last lesson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444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390666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6804" y="1159915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37549"/>
            <a:ext cx="4392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3B33E0E-B7EE-4A04-92AF-C113E79608A4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A38BCF9-E01F-4843-8A0A-EA9A347300AD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91222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37549"/>
            <a:ext cx="43924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41ADA950-EE3B-4C45-B87B-6EB3CA1D1920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ADA950-EE3B-4C45-B87B-6EB3CA1D1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06875521-0E94-4391-9E3D-14651AE8BFF4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3747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875521-0E94-4391-9E3D-14651AE8B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3747554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="" xmlns:a16="http://schemas.microsoft.com/office/drawing/2014/main" id="{23130CAB-DB1E-4BCE-9ABC-F6774AE8882C}"/>
              </a:ext>
            </a:extLst>
          </p:cNvPr>
          <p:cNvSpPr/>
          <p:nvPr/>
        </p:nvSpPr>
        <p:spPr>
          <a:xfrm>
            <a:off x="2682840" y="1623361"/>
            <a:ext cx="25584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Arrow: Down 22">
            <a:extLst>
              <a:ext uri="{FF2B5EF4-FFF2-40B4-BE49-F238E27FC236}">
                <a16:creationId xmlns="" xmlns:a16="http://schemas.microsoft.com/office/drawing/2014/main" id="{D501077D-496B-4850-BC4B-AE63298E836B}"/>
              </a:ext>
            </a:extLst>
          </p:cNvPr>
          <p:cNvSpPr/>
          <p:nvPr/>
        </p:nvSpPr>
        <p:spPr>
          <a:xfrm>
            <a:off x="3346082" y="1623361"/>
            <a:ext cx="25584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8F191B57-DB79-411F-A1ED-0B8150AB1AA7}"/>
              </a:ext>
            </a:extLst>
          </p:cNvPr>
          <p:cNvSpPr/>
          <p:nvPr/>
        </p:nvSpPr>
        <p:spPr>
          <a:xfrm>
            <a:off x="2802577" y="2029230"/>
            <a:ext cx="676893" cy="9645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80E3B7-9381-4AD6-AEE3-60F767DDB9DE}"/>
              </a:ext>
            </a:extLst>
          </p:cNvPr>
          <p:cNvSpPr/>
          <p:nvPr/>
        </p:nvSpPr>
        <p:spPr>
          <a:xfrm>
            <a:off x="4247716" y="2029230"/>
            <a:ext cx="540308" cy="400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16F8635D-AAAC-4FFF-999E-2CB1C98C9698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34CFD7B-70CD-4CB8-AF63-3CF3014CA113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23797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37549"/>
            <a:ext cx="43924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  <a:p>
            <a:pPr marL="3543300" lvl="7" indent="-342900">
              <a:buFontTx/>
              <a:buAutoNum type="arabicPeriod"/>
            </a:pPr>
            <a:r>
              <a:rPr lang="en-AU" sz="2400" b="1" dirty="0"/>
              <a:t>O</a:t>
            </a:r>
            <a:r>
              <a:rPr lang="en-AU" dirty="0"/>
              <a:t>uter</a:t>
            </a:r>
          </a:p>
          <a:p>
            <a:pPr marL="3543300" lvl="7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90C4E164-BC3F-4732-806D-200C13345957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C4E164-BC3F-4732-806D-200C13345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0F6FB6FF-A40F-4C7C-92C5-871A8DE96A89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3747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F6FB6FF-A40F-4C7C-92C5-871A8DE96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3747554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Down 23">
            <a:extLst>
              <a:ext uri="{FF2B5EF4-FFF2-40B4-BE49-F238E27FC236}">
                <a16:creationId xmlns="" xmlns:a16="http://schemas.microsoft.com/office/drawing/2014/main" id="{D3B90091-24B8-4B15-959A-C833E9F586B3}"/>
              </a:ext>
            </a:extLst>
          </p:cNvPr>
          <p:cNvSpPr/>
          <p:nvPr/>
        </p:nvSpPr>
        <p:spPr>
          <a:xfrm>
            <a:off x="2690567" y="1623361"/>
            <a:ext cx="25584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Down 24">
            <a:extLst>
              <a:ext uri="{FF2B5EF4-FFF2-40B4-BE49-F238E27FC236}">
                <a16:creationId xmlns="" xmlns:a16="http://schemas.microsoft.com/office/drawing/2014/main" id="{559A5304-727F-4116-B799-EF298379C0F6}"/>
              </a:ext>
            </a:extLst>
          </p:cNvPr>
          <p:cNvSpPr/>
          <p:nvPr/>
        </p:nvSpPr>
        <p:spPr>
          <a:xfrm>
            <a:off x="3769893" y="1615488"/>
            <a:ext cx="255842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C8CBE449-B313-431E-B284-9742D12ECCD0}"/>
              </a:ext>
            </a:extLst>
          </p:cNvPr>
          <p:cNvSpPr/>
          <p:nvPr/>
        </p:nvSpPr>
        <p:spPr>
          <a:xfrm>
            <a:off x="2802577" y="2029230"/>
            <a:ext cx="676893" cy="9645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Freeform: Shape 26">
            <a:extLst>
              <a:ext uri="{FF2B5EF4-FFF2-40B4-BE49-F238E27FC236}">
                <a16:creationId xmlns="" xmlns:a16="http://schemas.microsoft.com/office/drawing/2014/main" id="{C10CDB5A-4C5A-4853-A9C6-FF9797311B02}"/>
              </a:ext>
            </a:extLst>
          </p:cNvPr>
          <p:cNvSpPr/>
          <p:nvPr/>
        </p:nvSpPr>
        <p:spPr>
          <a:xfrm>
            <a:off x="2812001" y="1851397"/>
            <a:ext cx="1024370" cy="274286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FB74F9D5-9AAF-4A58-A85D-85E3E07E811C}"/>
              </a:ext>
            </a:extLst>
          </p:cNvPr>
          <p:cNvSpPr/>
          <p:nvPr/>
        </p:nvSpPr>
        <p:spPr>
          <a:xfrm>
            <a:off x="4541464" y="1964663"/>
            <a:ext cx="540308" cy="400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FD3B0241-2766-49F2-AAFC-9D3BD38E7A35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94F33821-746F-4FFB-821D-70F483E00395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312383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37549"/>
            <a:ext cx="4392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  <a:p>
            <a:pPr marL="3543300" lvl="7" indent="-342900">
              <a:buFontTx/>
              <a:buAutoNum type="arabicPeriod"/>
            </a:pPr>
            <a:r>
              <a:rPr lang="en-AU" sz="2400" b="1" dirty="0"/>
              <a:t>O</a:t>
            </a:r>
            <a:r>
              <a:rPr lang="en-AU" dirty="0"/>
              <a:t>uter</a:t>
            </a:r>
          </a:p>
          <a:p>
            <a:pPr marL="3543300" lvl="7" indent="-342900">
              <a:buFontTx/>
              <a:buAutoNum type="arabicPeriod"/>
            </a:pPr>
            <a:r>
              <a:rPr lang="en-AU" sz="2400" b="1" dirty="0"/>
              <a:t>I</a:t>
            </a:r>
            <a:r>
              <a:rPr lang="en-AU" dirty="0"/>
              <a:t>nner</a:t>
            </a:r>
          </a:p>
          <a:p>
            <a:pPr marL="3543300" lvl="7" indent="-342900">
              <a:buFontTx/>
              <a:buAutoNum type="arabicPeriod"/>
            </a:pPr>
            <a:endParaRPr lang="en-AU" dirty="0"/>
          </a:p>
          <a:p>
            <a:pPr marL="3543300" lvl="7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6102E86-5F24-4A13-96FA-2790AE36FBD2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102E86-5F24-4A13-96FA-2790AE36F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7D01936A-AABB-409E-A161-952C0883DC48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01936A-AABB-409E-A161-952C0883D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Down 23">
            <a:extLst>
              <a:ext uri="{FF2B5EF4-FFF2-40B4-BE49-F238E27FC236}">
                <a16:creationId xmlns="" xmlns:a16="http://schemas.microsoft.com/office/drawing/2014/main" id="{E3C5C12A-5737-45C0-B04D-9BF422294C0C}"/>
              </a:ext>
            </a:extLst>
          </p:cNvPr>
          <p:cNvSpPr/>
          <p:nvPr/>
        </p:nvSpPr>
        <p:spPr>
          <a:xfrm>
            <a:off x="30212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row: Down 24">
            <a:extLst>
              <a:ext uri="{FF2B5EF4-FFF2-40B4-BE49-F238E27FC236}">
                <a16:creationId xmlns="" xmlns:a16="http://schemas.microsoft.com/office/drawing/2014/main" id="{D37245A8-86F3-4B97-ABEB-24FB1676D1B2}"/>
              </a:ext>
            </a:extLst>
          </p:cNvPr>
          <p:cNvSpPr/>
          <p:nvPr/>
        </p:nvSpPr>
        <p:spPr>
          <a:xfrm>
            <a:off x="3316905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0AF3A108-6484-483A-B318-699117211E59}"/>
              </a:ext>
            </a:extLst>
          </p:cNvPr>
          <p:cNvSpPr/>
          <p:nvPr/>
        </p:nvSpPr>
        <p:spPr>
          <a:xfrm>
            <a:off x="2802577" y="2029230"/>
            <a:ext cx="687168" cy="100580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Freeform: Shape 26">
            <a:extLst>
              <a:ext uri="{FF2B5EF4-FFF2-40B4-BE49-F238E27FC236}">
                <a16:creationId xmlns="" xmlns:a16="http://schemas.microsoft.com/office/drawing/2014/main" id="{CFA9B006-35B2-438F-B0E8-739AD576B06E}"/>
              </a:ext>
            </a:extLst>
          </p:cNvPr>
          <p:cNvSpPr/>
          <p:nvPr/>
        </p:nvSpPr>
        <p:spPr>
          <a:xfrm>
            <a:off x="2812001" y="1851396"/>
            <a:ext cx="1039920" cy="28602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57B6C37E-4D7E-4FC5-A398-C8EEB29F7DD4}"/>
              </a:ext>
            </a:extLst>
          </p:cNvPr>
          <p:cNvSpPr/>
          <p:nvPr/>
        </p:nvSpPr>
        <p:spPr>
          <a:xfrm flipV="1">
            <a:off x="3133314" y="2303516"/>
            <a:ext cx="367182" cy="95046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4A2D360C-761A-4D17-AFE3-53E960BBF324}"/>
              </a:ext>
            </a:extLst>
          </p:cNvPr>
          <p:cNvSpPr/>
          <p:nvPr/>
        </p:nvSpPr>
        <p:spPr>
          <a:xfrm>
            <a:off x="5129560" y="2067505"/>
            <a:ext cx="540308" cy="400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64FB6114-7292-4DB5-8839-E649CC39634B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4ECB4D9F-0523-4DF7-BF93-1FD87510A0D4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59397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D304FE05-C285-4D01-9A36-B1BE38640F70}"/>
              </a:ext>
            </a:extLst>
          </p:cNvPr>
          <p:cNvSpPr txBox="1"/>
          <p:nvPr/>
        </p:nvSpPr>
        <p:spPr>
          <a:xfrm>
            <a:off x="4572000" y="1137549"/>
            <a:ext cx="43924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O</a:t>
            </a:r>
            <a:r>
              <a:rPr lang="en-AU" dirty="0"/>
              <a:t>uter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I</a:t>
            </a:r>
            <a:r>
              <a:rPr lang="en-AU" dirty="0"/>
              <a:t>nner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L</a:t>
            </a:r>
            <a:r>
              <a:rPr lang="en-AU" dirty="0"/>
              <a:t>ast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EF182FA-4F5A-4EF7-A659-94A679EA8EC6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F182FA-4F5A-4EF7-A659-94A679EA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56A0933C-4847-477D-BE46-7573C58882FB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A0933C-4847-477D-BE46-7573C5888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row: Down 35">
            <a:extLst>
              <a:ext uri="{FF2B5EF4-FFF2-40B4-BE49-F238E27FC236}">
                <a16:creationId xmlns="" xmlns:a16="http://schemas.microsoft.com/office/drawing/2014/main" id="{F62B6A51-FA95-47A2-9F0A-6B9E3A29E0EA}"/>
              </a:ext>
            </a:extLst>
          </p:cNvPr>
          <p:cNvSpPr/>
          <p:nvPr/>
        </p:nvSpPr>
        <p:spPr>
          <a:xfrm>
            <a:off x="30212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Arrow: Down 36">
            <a:extLst>
              <a:ext uri="{FF2B5EF4-FFF2-40B4-BE49-F238E27FC236}">
                <a16:creationId xmlns="" xmlns:a16="http://schemas.microsoft.com/office/drawing/2014/main" id="{66B6EE40-63F0-4DF6-A3F4-027891F58E63}"/>
              </a:ext>
            </a:extLst>
          </p:cNvPr>
          <p:cNvSpPr/>
          <p:nvPr/>
        </p:nvSpPr>
        <p:spPr>
          <a:xfrm>
            <a:off x="36891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AB4FA0B6-D55F-4AE8-96B8-B55D0858BD36}"/>
              </a:ext>
            </a:extLst>
          </p:cNvPr>
          <p:cNvSpPr/>
          <p:nvPr/>
        </p:nvSpPr>
        <p:spPr>
          <a:xfrm>
            <a:off x="2802577" y="2029230"/>
            <a:ext cx="687168" cy="100580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="" xmlns:a16="http://schemas.microsoft.com/office/drawing/2014/main" id="{41EF6736-E2D6-4B39-B1C6-D7F50CD2ADFE}"/>
              </a:ext>
            </a:extLst>
          </p:cNvPr>
          <p:cNvSpPr/>
          <p:nvPr/>
        </p:nvSpPr>
        <p:spPr>
          <a:xfrm>
            <a:off x="2812001" y="1851396"/>
            <a:ext cx="1039920" cy="28602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="" xmlns:a16="http://schemas.microsoft.com/office/drawing/2014/main" id="{07454928-B887-424F-BCC8-AB389CD52789}"/>
              </a:ext>
            </a:extLst>
          </p:cNvPr>
          <p:cNvSpPr/>
          <p:nvPr/>
        </p:nvSpPr>
        <p:spPr>
          <a:xfrm flipV="1">
            <a:off x="3133314" y="2303516"/>
            <a:ext cx="367182" cy="95046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66F70FC9-0F78-4FCF-B3FB-347553C5B1FE}"/>
              </a:ext>
            </a:extLst>
          </p:cNvPr>
          <p:cNvSpPr/>
          <p:nvPr/>
        </p:nvSpPr>
        <p:spPr>
          <a:xfrm>
            <a:off x="5595854" y="1981750"/>
            <a:ext cx="540308" cy="400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="" xmlns:a16="http://schemas.microsoft.com/office/drawing/2014/main" id="{C39D45B9-E5BB-480B-ADF7-EFA2BC3BA69C}"/>
              </a:ext>
            </a:extLst>
          </p:cNvPr>
          <p:cNvSpPr/>
          <p:nvPr/>
        </p:nvSpPr>
        <p:spPr>
          <a:xfrm flipV="1">
            <a:off x="3144652" y="2313019"/>
            <a:ext cx="707269" cy="195541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7A8274F-E19E-4233-855B-FA2B22DAC69A}"/>
              </a:ext>
            </a:extLst>
          </p:cNvPr>
          <p:cNvSpPr txBox="1"/>
          <p:nvPr/>
        </p:nvSpPr>
        <p:spPr>
          <a:xfrm>
            <a:off x="2566720" y="2532965"/>
            <a:ext cx="324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</a:t>
            </a:r>
            <a:r>
              <a:rPr lang="en-AU" sz="2400" u="sng" dirty="0"/>
              <a:t>PLAN</a:t>
            </a:r>
            <a:r>
              <a:rPr lang="en-AU" dirty="0"/>
              <a:t> has been </a:t>
            </a:r>
            <a:r>
              <a:rPr lang="en-AU" sz="2400" u="sng" dirty="0" err="1"/>
              <a:t>FOIL</a:t>
            </a:r>
            <a:r>
              <a:rPr lang="en-AU" dirty="0" err="1"/>
              <a:t>ed</a:t>
            </a:r>
            <a:endParaRPr lang="en-AU" dirty="0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1006A192-6310-4345-9125-9EF470300FF6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0393B16-5848-4C59-8222-A6C5CFA9E4A8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23607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41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D304FE05-C285-4D01-9A36-B1BE38640F70}"/>
              </a:ext>
            </a:extLst>
          </p:cNvPr>
          <p:cNvSpPr txBox="1"/>
          <p:nvPr/>
        </p:nvSpPr>
        <p:spPr>
          <a:xfrm>
            <a:off x="4572000" y="1137549"/>
            <a:ext cx="43924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O</a:t>
            </a:r>
            <a:r>
              <a:rPr lang="en-AU" dirty="0"/>
              <a:t>uter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I</a:t>
            </a:r>
            <a:r>
              <a:rPr lang="en-AU" dirty="0"/>
              <a:t>nner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L</a:t>
            </a:r>
            <a:r>
              <a:rPr lang="en-AU" dirty="0"/>
              <a:t>ast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EF182FA-4F5A-4EF7-A659-94A679EA8EC6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F182FA-4F5A-4EF7-A659-94A679EA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56A0933C-4847-477D-BE46-7573C58882FB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A0933C-4847-477D-BE46-7573C5888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row: Down 35">
            <a:extLst>
              <a:ext uri="{FF2B5EF4-FFF2-40B4-BE49-F238E27FC236}">
                <a16:creationId xmlns="" xmlns:a16="http://schemas.microsoft.com/office/drawing/2014/main" id="{F62B6A51-FA95-47A2-9F0A-6B9E3A29E0EA}"/>
              </a:ext>
            </a:extLst>
          </p:cNvPr>
          <p:cNvSpPr/>
          <p:nvPr/>
        </p:nvSpPr>
        <p:spPr>
          <a:xfrm>
            <a:off x="30212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Arrow: Down 36">
            <a:extLst>
              <a:ext uri="{FF2B5EF4-FFF2-40B4-BE49-F238E27FC236}">
                <a16:creationId xmlns="" xmlns:a16="http://schemas.microsoft.com/office/drawing/2014/main" id="{66B6EE40-63F0-4DF6-A3F4-027891F58E63}"/>
              </a:ext>
            </a:extLst>
          </p:cNvPr>
          <p:cNvSpPr/>
          <p:nvPr/>
        </p:nvSpPr>
        <p:spPr>
          <a:xfrm>
            <a:off x="36891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AB4FA0B6-D55F-4AE8-96B8-B55D0858BD36}"/>
              </a:ext>
            </a:extLst>
          </p:cNvPr>
          <p:cNvSpPr/>
          <p:nvPr/>
        </p:nvSpPr>
        <p:spPr>
          <a:xfrm>
            <a:off x="2802577" y="2029230"/>
            <a:ext cx="687168" cy="100580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="" xmlns:a16="http://schemas.microsoft.com/office/drawing/2014/main" id="{41EF6736-E2D6-4B39-B1C6-D7F50CD2ADFE}"/>
              </a:ext>
            </a:extLst>
          </p:cNvPr>
          <p:cNvSpPr/>
          <p:nvPr/>
        </p:nvSpPr>
        <p:spPr>
          <a:xfrm>
            <a:off x="2812001" y="1851396"/>
            <a:ext cx="1039920" cy="28602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="" xmlns:a16="http://schemas.microsoft.com/office/drawing/2014/main" id="{07454928-B887-424F-BCC8-AB389CD52789}"/>
              </a:ext>
            </a:extLst>
          </p:cNvPr>
          <p:cNvSpPr/>
          <p:nvPr/>
        </p:nvSpPr>
        <p:spPr>
          <a:xfrm flipV="1">
            <a:off x="3133314" y="2303516"/>
            <a:ext cx="367182" cy="95046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="" xmlns:a16="http://schemas.microsoft.com/office/drawing/2014/main" id="{C39D45B9-E5BB-480B-ADF7-EFA2BC3BA69C}"/>
              </a:ext>
            </a:extLst>
          </p:cNvPr>
          <p:cNvSpPr/>
          <p:nvPr/>
        </p:nvSpPr>
        <p:spPr>
          <a:xfrm flipV="1">
            <a:off x="3144652" y="2313019"/>
            <a:ext cx="707269" cy="195541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DEE80028-CF3A-4B6F-A158-3C4F8D35A730}"/>
              </a:ext>
            </a:extLst>
          </p:cNvPr>
          <p:cNvSpPr txBox="1"/>
          <p:nvPr/>
        </p:nvSpPr>
        <p:spPr>
          <a:xfrm>
            <a:off x="2566720" y="2532965"/>
            <a:ext cx="324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</a:t>
            </a:r>
            <a:r>
              <a:rPr lang="en-AU" sz="2400" u="sng" dirty="0"/>
              <a:t>PLAN</a:t>
            </a:r>
            <a:r>
              <a:rPr lang="en-AU" dirty="0"/>
              <a:t> has been </a:t>
            </a:r>
            <a:r>
              <a:rPr lang="en-AU" sz="2400" u="sng" dirty="0" err="1"/>
              <a:t>FOIL</a:t>
            </a:r>
            <a:r>
              <a:rPr lang="en-AU" dirty="0" err="1"/>
              <a:t>ed</a:t>
            </a:r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DDB2E10-B321-4A32-BFF4-5C4C8461DFAE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63E008C-7563-4FEB-B7D8-1A8B98F0876F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</p:spTree>
    <p:extLst>
      <p:ext uri="{BB962C8B-B14F-4D97-AF65-F5344CB8AC3E}">
        <p14:creationId xmlns:p14="http://schemas.microsoft.com/office/powerpoint/2010/main" val="822222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D304FE05-C285-4D01-9A36-B1BE38640F70}"/>
              </a:ext>
            </a:extLst>
          </p:cNvPr>
          <p:cNvSpPr txBox="1"/>
          <p:nvPr/>
        </p:nvSpPr>
        <p:spPr>
          <a:xfrm>
            <a:off x="4572000" y="1137549"/>
            <a:ext cx="43924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distribute means to expand.  To distribute 2 brackets we can use the FOIL method.</a:t>
            </a:r>
          </a:p>
          <a:p>
            <a:endParaRPr lang="en-AU" dirty="0"/>
          </a:p>
          <a:p>
            <a:pPr marL="3543300" lvl="7" indent="-342900">
              <a:buAutoNum type="arabicPeriod"/>
            </a:pPr>
            <a:r>
              <a:rPr lang="en-AU" sz="2400" b="1" dirty="0"/>
              <a:t>F</a:t>
            </a:r>
            <a:r>
              <a:rPr lang="en-AU" dirty="0"/>
              <a:t>irst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O</a:t>
            </a:r>
            <a:r>
              <a:rPr lang="en-AU" dirty="0"/>
              <a:t>uter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I</a:t>
            </a:r>
            <a:r>
              <a:rPr lang="en-AU" dirty="0"/>
              <a:t>nner</a:t>
            </a:r>
          </a:p>
          <a:p>
            <a:pPr marL="3543300" lvl="7" indent="-342900">
              <a:buAutoNum type="arabicPeriod"/>
            </a:pPr>
            <a:r>
              <a:rPr lang="en-AU" sz="2400" b="1" dirty="0"/>
              <a:t>L</a:t>
            </a:r>
            <a:r>
              <a:rPr lang="en-AU" dirty="0"/>
              <a:t>ast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98140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89" y="1205066"/>
            <a:ext cx="1854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distributive 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91" y="2029230"/>
            <a:ext cx="1831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expand Brackets?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5197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10272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5" y="-34258"/>
            <a:ext cx="5760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</a:p>
          <a:p>
            <a:r>
              <a:rPr lang="en-AU" sz="1050" dirty="0"/>
              <a:t>7</a:t>
            </a:r>
          </a:p>
          <a:p>
            <a:r>
              <a:rPr lang="en-AU" sz="1050" dirty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4288" y="3516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EF182FA-4F5A-4EF7-A659-94A679EA8EC6}"/>
                  </a:ext>
                </a:extLst>
              </p:cNvPr>
              <p:cNvSpPr txBox="1"/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F182FA-4F5A-4EF7-A659-94A679EA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74" y="1281147"/>
                <a:ext cx="1656184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56A0933C-4847-477D-BE46-7573C58882FB}"/>
                  </a:ext>
                </a:extLst>
              </p:cNvPr>
              <p:cNvSpPr txBox="1"/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b="1" dirty="0"/>
                  <a:t>=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A0933C-4847-477D-BE46-7573C5888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38" y="2029230"/>
                <a:ext cx="504369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row: Down 35">
            <a:extLst>
              <a:ext uri="{FF2B5EF4-FFF2-40B4-BE49-F238E27FC236}">
                <a16:creationId xmlns="" xmlns:a16="http://schemas.microsoft.com/office/drawing/2014/main" id="{F62B6A51-FA95-47A2-9F0A-6B9E3A29E0EA}"/>
              </a:ext>
            </a:extLst>
          </p:cNvPr>
          <p:cNvSpPr/>
          <p:nvPr/>
        </p:nvSpPr>
        <p:spPr>
          <a:xfrm>
            <a:off x="30212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Arrow: Down 36">
            <a:extLst>
              <a:ext uri="{FF2B5EF4-FFF2-40B4-BE49-F238E27FC236}">
                <a16:creationId xmlns="" xmlns:a16="http://schemas.microsoft.com/office/drawing/2014/main" id="{66B6EE40-63F0-4DF6-A3F4-027891F58E63}"/>
              </a:ext>
            </a:extLst>
          </p:cNvPr>
          <p:cNvSpPr/>
          <p:nvPr/>
        </p:nvSpPr>
        <p:spPr>
          <a:xfrm>
            <a:off x="3689180" y="1633364"/>
            <a:ext cx="34432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="" xmlns:a16="http://schemas.microsoft.com/office/drawing/2014/main" id="{AB4FA0B6-D55F-4AE8-96B8-B55D0858BD36}"/>
              </a:ext>
            </a:extLst>
          </p:cNvPr>
          <p:cNvSpPr/>
          <p:nvPr/>
        </p:nvSpPr>
        <p:spPr>
          <a:xfrm>
            <a:off x="2802577" y="2029230"/>
            <a:ext cx="687168" cy="100580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="" xmlns:a16="http://schemas.microsoft.com/office/drawing/2014/main" id="{41EF6736-E2D6-4B39-B1C6-D7F50CD2ADFE}"/>
              </a:ext>
            </a:extLst>
          </p:cNvPr>
          <p:cNvSpPr/>
          <p:nvPr/>
        </p:nvSpPr>
        <p:spPr>
          <a:xfrm>
            <a:off x="2812001" y="1851396"/>
            <a:ext cx="1039920" cy="286023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="" xmlns:a16="http://schemas.microsoft.com/office/drawing/2014/main" id="{07454928-B887-424F-BCC8-AB389CD52789}"/>
              </a:ext>
            </a:extLst>
          </p:cNvPr>
          <p:cNvSpPr/>
          <p:nvPr/>
        </p:nvSpPr>
        <p:spPr>
          <a:xfrm flipV="1">
            <a:off x="3133314" y="2303516"/>
            <a:ext cx="367182" cy="95046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="" xmlns:a16="http://schemas.microsoft.com/office/drawing/2014/main" id="{C39D45B9-E5BB-480B-ADF7-EFA2BC3BA69C}"/>
              </a:ext>
            </a:extLst>
          </p:cNvPr>
          <p:cNvSpPr/>
          <p:nvPr/>
        </p:nvSpPr>
        <p:spPr>
          <a:xfrm flipV="1">
            <a:off x="3144652" y="2313019"/>
            <a:ext cx="707269" cy="195541"/>
          </a:xfrm>
          <a:custGeom>
            <a:avLst/>
            <a:gdLst>
              <a:gd name="connsiteX0" fmla="*/ 0 w 676893"/>
              <a:gd name="connsiteY0" fmla="*/ 160833 h 160833"/>
              <a:gd name="connsiteX1" fmla="*/ 201880 w 676893"/>
              <a:gd name="connsiteY1" fmla="*/ 42080 h 160833"/>
              <a:gd name="connsiteX2" fmla="*/ 415636 w 676893"/>
              <a:gd name="connsiteY2" fmla="*/ 6454 h 160833"/>
              <a:gd name="connsiteX3" fmla="*/ 676893 w 676893"/>
              <a:gd name="connsiteY3" fmla="*/ 160833 h 16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93" h="160833">
                <a:moveTo>
                  <a:pt x="0" y="160833"/>
                </a:moveTo>
                <a:cubicBezTo>
                  <a:pt x="66303" y="114321"/>
                  <a:pt x="132607" y="67810"/>
                  <a:pt x="201880" y="42080"/>
                </a:cubicBezTo>
                <a:cubicBezTo>
                  <a:pt x="271153" y="16350"/>
                  <a:pt x="336467" y="-13338"/>
                  <a:pt x="415636" y="6454"/>
                </a:cubicBezTo>
                <a:cubicBezTo>
                  <a:pt x="494805" y="26246"/>
                  <a:pt x="585849" y="93539"/>
                  <a:pt x="676893" y="160833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DEE80028-CF3A-4B6F-A158-3C4F8D35A730}"/>
              </a:ext>
            </a:extLst>
          </p:cNvPr>
          <p:cNvSpPr txBox="1"/>
          <p:nvPr/>
        </p:nvSpPr>
        <p:spPr>
          <a:xfrm>
            <a:off x="2566720" y="2532965"/>
            <a:ext cx="324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</a:t>
            </a:r>
            <a:r>
              <a:rPr lang="en-AU" sz="2400" u="sng" dirty="0"/>
              <a:t>PLAN</a:t>
            </a:r>
            <a:r>
              <a:rPr lang="en-AU" dirty="0"/>
              <a:t> has been </a:t>
            </a:r>
            <a:r>
              <a:rPr lang="en-AU" sz="2400" u="sng" dirty="0" err="1"/>
              <a:t>FOIL</a:t>
            </a:r>
            <a:r>
              <a:rPr lang="en-AU" dirty="0" err="1"/>
              <a:t>ed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EEC834A-3DBD-4421-813E-D73FD649F505}"/>
              </a:ext>
            </a:extLst>
          </p:cNvPr>
          <p:cNvSpPr/>
          <p:nvPr/>
        </p:nvSpPr>
        <p:spPr>
          <a:xfrm>
            <a:off x="2196244" y="31618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Examples</a:t>
            </a:r>
          </a:p>
          <a:p>
            <a:endParaRPr lang="en-AU" dirty="0"/>
          </a:p>
          <a:p>
            <a:r>
              <a:rPr lang="en-AU" dirty="0"/>
              <a:t>(x</a:t>
            </a:r>
            <a:r>
              <a:rPr lang="en-AU" baseline="30000" dirty="0"/>
              <a:t>2</a:t>
            </a:r>
            <a:r>
              <a:rPr lang="en-AU" dirty="0"/>
              <a:t> + 3)(x + 4) = x</a:t>
            </a:r>
            <a:r>
              <a:rPr lang="en-AU" baseline="30000" dirty="0"/>
              <a:t>2</a:t>
            </a:r>
            <a:r>
              <a:rPr lang="en-AU" dirty="0"/>
              <a:t>•x +x</a:t>
            </a:r>
            <a:r>
              <a:rPr lang="en-AU" baseline="30000" dirty="0"/>
              <a:t>2</a:t>
            </a:r>
            <a:r>
              <a:rPr lang="en-AU" dirty="0"/>
              <a:t>•4 + 3•x +3•4</a:t>
            </a:r>
          </a:p>
          <a:p>
            <a:r>
              <a:rPr lang="en-AU" dirty="0"/>
              <a:t>	       = x</a:t>
            </a:r>
            <a:r>
              <a:rPr lang="en-AU" baseline="30000" dirty="0"/>
              <a:t>3</a:t>
            </a:r>
            <a:r>
              <a:rPr lang="en-AU" dirty="0"/>
              <a:t> + 4x</a:t>
            </a:r>
            <a:r>
              <a:rPr lang="en-AU" baseline="30000" dirty="0"/>
              <a:t>2</a:t>
            </a:r>
            <a:r>
              <a:rPr lang="en-AU" dirty="0"/>
              <a:t> + 3x + 12</a:t>
            </a:r>
          </a:p>
          <a:p>
            <a:endParaRPr lang="en-AU" dirty="0"/>
          </a:p>
          <a:p>
            <a:r>
              <a:rPr lang="en-AU" dirty="0"/>
              <a:t>(2d + 4)(d - 3) = 2d•d +2d•-3 + 4•d + -3•4</a:t>
            </a:r>
          </a:p>
          <a:p>
            <a:r>
              <a:rPr lang="en-AU" dirty="0"/>
              <a:t>                         = 2d</a:t>
            </a:r>
            <a:r>
              <a:rPr lang="en-AU" baseline="30000" dirty="0"/>
              <a:t>2</a:t>
            </a:r>
            <a:r>
              <a:rPr lang="en-AU" dirty="0"/>
              <a:t> + -6d + 4d + -12</a:t>
            </a:r>
          </a:p>
          <a:p>
            <a:r>
              <a:rPr lang="en-AU" dirty="0"/>
              <a:t>	       = 2d</a:t>
            </a:r>
            <a:r>
              <a:rPr lang="en-AU" baseline="30000" dirty="0"/>
              <a:t>2</a:t>
            </a:r>
            <a:r>
              <a:rPr lang="en-AU" dirty="0"/>
              <a:t> -2d -12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875B3FE8-DFBE-4A3E-AE8C-18D70BB06143}"/>
              </a:ext>
            </a:extLst>
          </p:cNvPr>
          <p:cNvSpPr/>
          <p:nvPr/>
        </p:nvSpPr>
        <p:spPr>
          <a:xfrm flipV="1">
            <a:off x="3689180" y="3669086"/>
            <a:ext cx="2107011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C8A10B8D-9F1C-468A-851E-DF019E7D3820}"/>
              </a:ext>
            </a:extLst>
          </p:cNvPr>
          <p:cNvSpPr/>
          <p:nvPr/>
        </p:nvSpPr>
        <p:spPr>
          <a:xfrm flipV="1">
            <a:off x="3755061" y="3976774"/>
            <a:ext cx="2107011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E470F3B1-9E68-44CA-8CAE-FA3C84F3189A}"/>
              </a:ext>
            </a:extLst>
          </p:cNvPr>
          <p:cNvSpPr/>
          <p:nvPr/>
        </p:nvSpPr>
        <p:spPr>
          <a:xfrm flipV="1">
            <a:off x="3727330" y="4445174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3B483183-415F-4C37-943C-3AE9C6FD1A53}"/>
              </a:ext>
            </a:extLst>
          </p:cNvPr>
          <p:cNvSpPr/>
          <p:nvPr/>
        </p:nvSpPr>
        <p:spPr>
          <a:xfrm flipV="1">
            <a:off x="3707904" y="4771512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7D9A63B0-1CF6-450C-8EBB-F173F4A018D8}"/>
              </a:ext>
            </a:extLst>
          </p:cNvPr>
          <p:cNvSpPr/>
          <p:nvPr/>
        </p:nvSpPr>
        <p:spPr>
          <a:xfrm flipV="1">
            <a:off x="3727330" y="5113582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3C3DB134-747C-462C-B8CF-66939EFA0955}"/>
              </a:ext>
            </a:extLst>
          </p:cNvPr>
          <p:cNvSpPr txBox="1"/>
          <p:nvPr/>
        </p:nvSpPr>
        <p:spPr>
          <a:xfrm>
            <a:off x="1044133" y="-34258"/>
            <a:ext cx="3265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Expanding 2 Brackets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172662E7-F3D0-4141-8BE2-E621A5141619}"/>
              </a:ext>
            </a:extLst>
          </p:cNvPr>
          <p:cNvSpPr txBox="1"/>
          <p:nvPr/>
        </p:nvSpPr>
        <p:spPr>
          <a:xfrm>
            <a:off x="75315" y="5197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expand 2 brackets?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176" y="3743562"/>
            <a:ext cx="3384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(x + 4)</a:t>
            </a:r>
            <a:r>
              <a:rPr lang="en-AU" baseline="30000" dirty="0" smtClean="0"/>
              <a:t>2</a:t>
            </a:r>
            <a:r>
              <a:rPr lang="en-AU" dirty="0" smtClean="0"/>
              <a:t> = (x+4) (x+4)</a:t>
            </a:r>
          </a:p>
          <a:p>
            <a:r>
              <a:rPr lang="en-AU" dirty="0"/>
              <a:t> </a:t>
            </a:r>
            <a:r>
              <a:rPr lang="en-AU" dirty="0" smtClean="0"/>
              <a:t>             = </a:t>
            </a:r>
            <a:r>
              <a:rPr lang="en-AU" dirty="0" err="1" smtClean="0"/>
              <a:t>x•x</a:t>
            </a:r>
            <a:r>
              <a:rPr lang="en-AU" dirty="0" smtClean="0"/>
              <a:t> +x•4 + x•4 + 4•4</a:t>
            </a:r>
          </a:p>
          <a:p>
            <a:r>
              <a:rPr lang="en-AU" dirty="0"/>
              <a:t> </a:t>
            </a:r>
            <a:r>
              <a:rPr lang="en-AU" dirty="0" smtClean="0"/>
              <a:t>             =x</a:t>
            </a:r>
            <a:r>
              <a:rPr lang="en-AU" baseline="30000" dirty="0" smtClean="0"/>
              <a:t>2</a:t>
            </a:r>
            <a:r>
              <a:rPr lang="en-AU" dirty="0" smtClean="0"/>
              <a:t> + 4x + 4x +16</a:t>
            </a:r>
          </a:p>
          <a:p>
            <a:r>
              <a:rPr lang="en-AU" dirty="0"/>
              <a:t> </a:t>
            </a:r>
            <a:r>
              <a:rPr lang="en-AU" dirty="0" smtClean="0"/>
              <a:t>             =</a:t>
            </a:r>
            <a:r>
              <a:rPr lang="en-AU" dirty="0"/>
              <a:t>x</a:t>
            </a:r>
            <a:r>
              <a:rPr lang="en-AU" baseline="30000" dirty="0"/>
              <a:t>2</a:t>
            </a:r>
            <a:r>
              <a:rPr lang="en-AU" dirty="0"/>
              <a:t> + 8</a:t>
            </a:r>
            <a:r>
              <a:rPr lang="en-AU" dirty="0" smtClean="0"/>
              <a:t>x </a:t>
            </a:r>
            <a:r>
              <a:rPr lang="en-AU" dirty="0"/>
              <a:t>+16</a:t>
            </a:r>
          </a:p>
          <a:p>
            <a:endParaRPr lang="en-AU" dirty="0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E470F3B1-9E68-44CA-8CAE-FA3C84F3189A}"/>
              </a:ext>
            </a:extLst>
          </p:cNvPr>
          <p:cNvSpPr/>
          <p:nvPr/>
        </p:nvSpPr>
        <p:spPr>
          <a:xfrm flipV="1">
            <a:off x="7128229" y="3742448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B483183-415F-4C37-943C-3AE9C6FD1A53}"/>
              </a:ext>
            </a:extLst>
          </p:cNvPr>
          <p:cNvSpPr/>
          <p:nvPr/>
        </p:nvSpPr>
        <p:spPr>
          <a:xfrm flipV="1">
            <a:off x="7108803" y="4081636"/>
            <a:ext cx="2448272" cy="267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7D9A63B0-1CF6-450C-8EBB-F173F4A018D8}"/>
              </a:ext>
            </a:extLst>
          </p:cNvPr>
          <p:cNvSpPr/>
          <p:nvPr/>
        </p:nvSpPr>
        <p:spPr>
          <a:xfrm flipV="1">
            <a:off x="7128229" y="4318512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7D9A63B0-1CF6-450C-8EBB-F173F4A018D8}"/>
              </a:ext>
            </a:extLst>
          </p:cNvPr>
          <p:cNvSpPr/>
          <p:nvPr/>
        </p:nvSpPr>
        <p:spPr>
          <a:xfrm flipV="1">
            <a:off x="7125659" y="4657700"/>
            <a:ext cx="2448272" cy="33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27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6716667-E2D5-4420-ABC9-0F4CC6C867C7}"/>
              </a:ext>
            </a:extLst>
          </p:cNvPr>
          <p:cNvSpPr txBox="1"/>
          <p:nvPr/>
        </p:nvSpPr>
        <p:spPr>
          <a:xfrm>
            <a:off x="323528" y="769268"/>
            <a:ext cx="3888432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What is the value of;</a:t>
            </a:r>
          </a:p>
          <a:p>
            <a:endParaRPr lang="en-AU" sz="2400" dirty="0"/>
          </a:p>
          <a:p>
            <a:r>
              <a:rPr lang="en-AU" sz="2400" dirty="0"/>
              <a:t>(2 + 5) x (4 + 6) =   7 x 10 = 70</a:t>
            </a:r>
          </a:p>
          <a:p>
            <a:endParaRPr lang="en-AU" sz="2400" dirty="0"/>
          </a:p>
          <a:p>
            <a:r>
              <a:rPr lang="en-AU" sz="2400" dirty="0"/>
              <a:t>	Or </a:t>
            </a:r>
          </a:p>
          <a:p>
            <a:endParaRPr lang="en-AU" sz="2400" dirty="0"/>
          </a:p>
          <a:p>
            <a:r>
              <a:rPr lang="en-AU" sz="2400" dirty="0"/>
              <a:t>2x4  + 2x6 + 5x4 + 5x6 =   </a:t>
            </a:r>
          </a:p>
          <a:p>
            <a:r>
              <a:rPr lang="en-AU" sz="2400" dirty="0"/>
              <a:t>  8   +  12  +  20  + 30 =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58DA947-74E0-4545-A58C-C3C435A34C82}"/>
              </a:ext>
            </a:extLst>
          </p:cNvPr>
          <p:cNvSpPr txBox="1"/>
          <p:nvPr/>
        </p:nvSpPr>
        <p:spPr>
          <a:xfrm>
            <a:off x="5076056" y="769268"/>
            <a:ext cx="3816424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What is the value of;</a:t>
            </a:r>
          </a:p>
          <a:p>
            <a:endParaRPr lang="en-AU" sz="2400" dirty="0"/>
          </a:p>
          <a:p>
            <a:r>
              <a:rPr lang="en-AU" sz="2400" dirty="0"/>
              <a:t>(4 - 2) x (7 + 3) =   2 x 10 = 20</a:t>
            </a:r>
          </a:p>
          <a:p>
            <a:endParaRPr lang="en-AU" sz="2400" dirty="0"/>
          </a:p>
          <a:p>
            <a:r>
              <a:rPr lang="en-AU" sz="2400" dirty="0"/>
              <a:t>	Or </a:t>
            </a:r>
          </a:p>
          <a:p>
            <a:endParaRPr lang="en-AU" sz="2400" dirty="0"/>
          </a:p>
          <a:p>
            <a:r>
              <a:rPr lang="en-AU" sz="2400" dirty="0"/>
              <a:t>4x7  + 4x3 - 2x7 - 2x3 =   </a:t>
            </a:r>
          </a:p>
          <a:p>
            <a:r>
              <a:rPr lang="en-AU" sz="2400" dirty="0"/>
              <a:t>  28  +   12  - 14  -   6   =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335DF82-4DBB-4879-9F50-8C6C5F24D9BD}"/>
              </a:ext>
            </a:extLst>
          </p:cNvPr>
          <p:cNvSpPr/>
          <p:nvPr/>
        </p:nvSpPr>
        <p:spPr>
          <a:xfrm>
            <a:off x="2477498" y="1273324"/>
            <a:ext cx="159044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8AC65F9-7597-4315-86A5-6957338677CB}"/>
              </a:ext>
            </a:extLst>
          </p:cNvPr>
          <p:cNvSpPr/>
          <p:nvPr/>
        </p:nvSpPr>
        <p:spPr>
          <a:xfrm>
            <a:off x="467544" y="3456216"/>
            <a:ext cx="3312368" cy="265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AF0B452-31D4-468F-90D5-ACBA6B172FAC}"/>
              </a:ext>
            </a:extLst>
          </p:cNvPr>
          <p:cNvSpPr/>
          <p:nvPr/>
        </p:nvSpPr>
        <p:spPr>
          <a:xfrm>
            <a:off x="7164288" y="1417340"/>
            <a:ext cx="159044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9114CE-6059-4355-BD93-893F2440A1D3}"/>
              </a:ext>
            </a:extLst>
          </p:cNvPr>
          <p:cNvSpPr/>
          <p:nvPr/>
        </p:nvSpPr>
        <p:spPr>
          <a:xfrm>
            <a:off x="5220072" y="3361556"/>
            <a:ext cx="33123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19320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does this </a:t>
            </a:r>
            <a:r>
              <a:rPr lang="en-AU" dirty="0" smtClean="0"/>
              <a:t>really work</a:t>
            </a:r>
            <a:r>
              <a:rPr lang="en-AU" dirty="0" smtClean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933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96" y="193204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LHS – complete the following using the foil method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001516"/>
            <a:ext cx="5438775" cy="857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49" y="697260"/>
            <a:ext cx="4676775" cy="742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29" y="1737271"/>
            <a:ext cx="5067300" cy="781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97" y="4134197"/>
            <a:ext cx="52006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5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24" y="1561356"/>
            <a:ext cx="6464120" cy="21446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7664" y="625252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331640" y="4287122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Now complete Exercise 18.13 from your text on page 252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410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5212"/>
            <a:ext cx="6835130" cy="52168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7584" y="0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Expanding – Alternative / extra questions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65212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/>
              <a:t>1</a:t>
            </a:r>
            <a:endParaRPr lang="en-AU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1489348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2</a:t>
            </a:r>
            <a:endParaRPr lang="en-AU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76039" y="3937620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/>
              <a:t>3</a:t>
            </a:r>
            <a:endParaRPr lang="en-AU" sz="1400" b="1" dirty="0"/>
          </a:p>
        </p:txBody>
      </p:sp>
    </p:spTree>
    <p:extLst>
      <p:ext uri="{BB962C8B-B14F-4D97-AF65-F5344CB8AC3E}">
        <p14:creationId xmlns:p14="http://schemas.microsoft.com/office/powerpoint/2010/main" val="2644757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481236"/>
            <a:ext cx="3206477" cy="50589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7584" y="19320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06518" y="430494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/>
              <a:t>1</a:t>
            </a:r>
            <a:endParaRPr lang="en-AU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655509" y="1579518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2</a:t>
            </a:r>
            <a:endParaRPr lang="en-AU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25234" y="4102221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/>
              <a:t>3</a:t>
            </a:r>
            <a:endParaRPr lang="en-AU" sz="1400" b="1" dirty="0"/>
          </a:p>
        </p:txBody>
      </p:sp>
    </p:spTree>
    <p:extLst>
      <p:ext uri="{BB962C8B-B14F-4D97-AF65-F5344CB8AC3E}">
        <p14:creationId xmlns:p14="http://schemas.microsoft.com/office/powerpoint/2010/main" val="202517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509</Words>
  <Application>Microsoft Office PowerPoint</Application>
  <PresentationFormat>On-screen Show (16:10)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E4007446</cp:lastModifiedBy>
  <cp:revision>100</cp:revision>
  <dcterms:created xsi:type="dcterms:W3CDTF">2014-05-14T02:58:57Z</dcterms:created>
  <dcterms:modified xsi:type="dcterms:W3CDTF">2017-11-05T14:35:06Z</dcterms:modified>
</cp:coreProperties>
</file>
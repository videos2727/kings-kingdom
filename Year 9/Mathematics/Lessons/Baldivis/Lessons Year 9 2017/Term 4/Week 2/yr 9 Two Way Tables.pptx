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5" r:id="rId4"/>
    <p:sldId id="264" r:id="rId5"/>
    <p:sldId id="263" r:id="rId6"/>
    <p:sldId id="259" r:id="rId7"/>
    <p:sldId id="257" r:id="rId8"/>
    <p:sldId id="260" r:id="rId9"/>
    <p:sldId id="261" r:id="rId10"/>
    <p:sldId id="262" r:id="rId11"/>
    <p:sldId id="266" r:id="rId12"/>
    <p:sldId id="267" r:id="rId1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648171"/>
          </a:xfrm>
        </p:spPr>
        <p:txBody>
          <a:bodyPr>
            <a:normAutofit fontScale="90000"/>
          </a:bodyPr>
          <a:lstStyle/>
          <a:p>
            <a:r>
              <a:rPr lang="en-AU" dirty="0"/>
              <a:t>Two Way Tables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B5B3BA2-EBA5-4E1B-8BFF-4C2134BC7058}"/>
              </a:ext>
            </a:extLst>
          </p:cNvPr>
          <p:cNvSpPr txBox="1">
            <a:spLocks/>
          </p:cNvSpPr>
          <p:nvPr/>
        </p:nvSpPr>
        <p:spPr>
          <a:xfrm>
            <a:off x="740274" y="2203914"/>
            <a:ext cx="7920880" cy="762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dirty="0"/>
              <a:t>Objective:  To interpret, construct and find probabilities from a two-way table.</a:t>
            </a:r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2C5116-3C5D-4A51-9AE5-88ACC85520FC}"/>
              </a:ext>
            </a:extLst>
          </p:cNvPr>
          <p:cNvSpPr txBox="1"/>
          <p:nvPr/>
        </p:nvSpPr>
        <p:spPr>
          <a:xfrm>
            <a:off x="301083" y="468351"/>
            <a:ext cx="8541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Yesterday we saw how we could use tree diagrams to represent the chances of an event and calculate probabilities.</a:t>
            </a:r>
          </a:p>
          <a:p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 Draw a tree diagram for rolling a dice and flipping a coin.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80EFE-BF7F-4E92-8158-41FFB1547C77}"/>
              </a:ext>
            </a:extLst>
          </p:cNvPr>
          <p:cNvSpPr txBox="1"/>
          <p:nvPr/>
        </p:nvSpPr>
        <p:spPr>
          <a:xfrm>
            <a:off x="397727" y="4938417"/>
            <a:ext cx="854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Is there another way to represent this?.</a:t>
            </a:r>
          </a:p>
        </p:txBody>
      </p:sp>
    </p:spTree>
    <p:extLst>
      <p:ext uri="{BB962C8B-B14F-4D97-AF65-F5344CB8AC3E}">
        <p14:creationId xmlns:p14="http://schemas.microsoft.com/office/powerpoint/2010/main" val="133388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D1C4-0B31-4EB8-98B9-04CB557C1F78}"/>
              </a:ext>
            </a:extLst>
          </p:cNvPr>
          <p:cNvSpPr txBox="1"/>
          <p:nvPr/>
        </p:nvSpPr>
        <p:spPr>
          <a:xfrm>
            <a:off x="2118732" y="1271239"/>
            <a:ext cx="73486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two way table is another way to display the outcomes of a 2 step experiment. We can then use the results to calculate probability.</a:t>
            </a:r>
          </a:p>
          <a:p>
            <a:endParaRPr lang="en-AU" dirty="0"/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271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D1C4-0B31-4EB8-98B9-04CB557C1F78}"/>
              </a:ext>
            </a:extLst>
          </p:cNvPr>
          <p:cNvSpPr txBox="1"/>
          <p:nvPr/>
        </p:nvSpPr>
        <p:spPr>
          <a:xfrm>
            <a:off x="2118732" y="1271239"/>
            <a:ext cx="73486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two way table is another way to display the outcomes of a 2 step experiment. We can then use the results to calculate probability.</a:t>
            </a:r>
          </a:p>
          <a:p>
            <a:endParaRPr lang="en-AU" dirty="0"/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D9F60-43BA-474A-A482-FC484089D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417330"/>
              </p:ext>
            </p:extLst>
          </p:nvPr>
        </p:nvGraphicFramePr>
        <p:xfrm>
          <a:off x="2466279" y="274630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22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D1C4-0B31-4EB8-98B9-04CB557C1F78}"/>
              </a:ext>
            </a:extLst>
          </p:cNvPr>
          <p:cNvSpPr txBox="1"/>
          <p:nvPr/>
        </p:nvSpPr>
        <p:spPr>
          <a:xfrm>
            <a:off x="2118732" y="1271239"/>
            <a:ext cx="73486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two way table is another way to display the outcomes of a 2 step experiment. We can then use the results to calculate probability.</a:t>
            </a:r>
          </a:p>
          <a:p>
            <a:endParaRPr lang="en-AU" dirty="0"/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D9F60-43BA-474A-A482-FC484089D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76939"/>
              </p:ext>
            </p:extLst>
          </p:nvPr>
        </p:nvGraphicFramePr>
        <p:xfrm>
          <a:off x="2466279" y="274630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24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D1C4-0B31-4EB8-98B9-04CB557C1F78}"/>
              </a:ext>
            </a:extLst>
          </p:cNvPr>
          <p:cNvSpPr txBox="1"/>
          <p:nvPr/>
        </p:nvSpPr>
        <p:spPr>
          <a:xfrm>
            <a:off x="2118732" y="1271239"/>
            <a:ext cx="73486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two way table is another way to display the outcomes of a 2 step experiment. We can then use the results to calculate probability.</a:t>
            </a:r>
          </a:p>
          <a:p>
            <a:endParaRPr lang="en-AU" dirty="0"/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D9F60-43BA-474A-A482-FC484089D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815939"/>
              </p:ext>
            </p:extLst>
          </p:nvPr>
        </p:nvGraphicFramePr>
        <p:xfrm>
          <a:off x="2466279" y="274630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57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D1C4-0B31-4EB8-98B9-04CB557C1F78}"/>
              </a:ext>
            </a:extLst>
          </p:cNvPr>
          <p:cNvSpPr txBox="1"/>
          <p:nvPr/>
        </p:nvSpPr>
        <p:spPr>
          <a:xfrm>
            <a:off x="2118732" y="1271239"/>
            <a:ext cx="73486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two way table is another way to display the outcomes of a 2 step experiment. We can then use the results to calculate probability.</a:t>
            </a:r>
          </a:p>
          <a:p>
            <a:endParaRPr lang="en-AU" dirty="0"/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D9F60-43BA-474A-A482-FC484089D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9254"/>
              </p:ext>
            </p:extLst>
          </p:nvPr>
        </p:nvGraphicFramePr>
        <p:xfrm>
          <a:off x="2466279" y="274630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1, 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2, 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3, 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4, 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5, 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6, Heads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1, Tails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2, Tails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3, Tails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4, Tails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5, Tails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D1C4-0B31-4EB8-98B9-04CB557C1F78}"/>
              </a:ext>
            </a:extLst>
          </p:cNvPr>
          <p:cNvSpPr txBox="1"/>
          <p:nvPr/>
        </p:nvSpPr>
        <p:spPr>
          <a:xfrm>
            <a:off x="2118732" y="1271239"/>
            <a:ext cx="73486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two way table is another way to display the outcomes of a 2 step experiment. We can then use the results to calculate probability.</a:t>
            </a:r>
          </a:p>
          <a:p>
            <a:endParaRPr lang="en-AU" dirty="0"/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the probability of;</a:t>
            </a:r>
          </a:p>
          <a:p>
            <a:r>
              <a:rPr lang="en-AU" dirty="0"/>
              <a:t>	1. getting a 4 and a tails?   P(4 and T) = 1/12</a:t>
            </a:r>
          </a:p>
          <a:p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D9F60-43BA-474A-A482-FC484089DD40}"/>
              </a:ext>
            </a:extLst>
          </p:cNvPr>
          <p:cNvGraphicFramePr>
            <a:graphicFrameLocks noGrp="1"/>
          </p:cNvGraphicFramePr>
          <p:nvPr/>
        </p:nvGraphicFramePr>
        <p:xfrm>
          <a:off x="2466279" y="274630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A1E62A25-A5E5-4D5D-8EC8-FE00C1D9C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09" y="3031268"/>
            <a:ext cx="2199338" cy="5425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1DA1FE-C689-4C62-85C7-591A87306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098" y="3031268"/>
            <a:ext cx="2199338" cy="5425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E17063-48E3-4007-BF0D-275A226A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3" y="3113049"/>
            <a:ext cx="2199338" cy="5425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1A4A9A-32C0-4D4A-A046-B8CD12081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3" y="3417825"/>
            <a:ext cx="2199338" cy="5425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3BE1EA-AD34-4A54-A064-569BD793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193" y="3042849"/>
            <a:ext cx="2199338" cy="5425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BE181E-87E5-4B76-8DEB-62C9B9FC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331" y="3445046"/>
            <a:ext cx="2199338" cy="5425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2F4104-C053-41A8-AF07-662D88671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013" y="3398013"/>
            <a:ext cx="2199338" cy="5425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3744351-2E59-4FAA-8BC0-5EEEC59AB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310" y="3384344"/>
            <a:ext cx="2199338" cy="5425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7D2797-C0B9-46FF-8921-D462B641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992" y="3065323"/>
            <a:ext cx="2199338" cy="5425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9163A1-44B0-4C6B-B1C4-7606BBF56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992" y="3438294"/>
            <a:ext cx="2199338" cy="54259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49F2034-C3D4-41A2-ACFF-E0D0970A9887}"/>
              </a:ext>
            </a:extLst>
          </p:cNvPr>
          <p:cNvSpPr/>
          <p:nvPr/>
        </p:nvSpPr>
        <p:spPr>
          <a:xfrm flipH="1">
            <a:off x="3930362" y="4289252"/>
            <a:ext cx="1032792" cy="702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12E837-C8CA-4B76-A531-B7BE9F90D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854" y="3038164"/>
            <a:ext cx="2199338" cy="54259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0E3A83B-D800-493C-899C-E19F28F34E81}"/>
              </a:ext>
            </a:extLst>
          </p:cNvPr>
          <p:cNvSpPr/>
          <p:nvPr/>
        </p:nvSpPr>
        <p:spPr>
          <a:xfrm flipH="1">
            <a:off x="5108119" y="4216276"/>
            <a:ext cx="1900839" cy="702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178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8BD1C4-0B31-4EB8-98B9-04CB557C1F78}"/>
                  </a:ext>
                </a:extLst>
              </p:cNvPr>
              <p:cNvSpPr txBox="1"/>
              <p:nvPr/>
            </p:nvSpPr>
            <p:spPr>
              <a:xfrm>
                <a:off x="2118732" y="1271239"/>
                <a:ext cx="7348653" cy="380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two way table is another way to display the outcomes of a 2 step experiment. We can then use the results to calculate probability.</a:t>
                </a:r>
              </a:p>
              <a:p>
                <a:endParaRPr lang="en-AU" dirty="0"/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What is the probability of;</a:t>
                </a:r>
              </a:p>
              <a:p>
                <a:r>
                  <a:rPr lang="en-AU" dirty="0"/>
                  <a:t>	1. getting a 4 and a tails?   P(4 and T) = 1/12</a:t>
                </a:r>
              </a:p>
              <a:p>
                <a:r>
                  <a:rPr lang="en-AU" dirty="0"/>
                  <a:t>	2. Getting less than 5 and a Heads?  P(&lt;5 and H)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8BD1C4-0B31-4EB8-98B9-04CB557C1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732" y="1271239"/>
                <a:ext cx="7348653" cy="3808863"/>
              </a:xfrm>
              <a:prstGeom prst="rect">
                <a:avLst/>
              </a:prstGeom>
              <a:blipFill>
                <a:blip r:embed="rId2"/>
                <a:stretch>
                  <a:fillRect l="-747" t="-962" b="-3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D9F60-43BA-474A-A482-FC484089DD40}"/>
              </a:ext>
            </a:extLst>
          </p:cNvPr>
          <p:cNvGraphicFramePr>
            <a:graphicFrameLocks noGrp="1"/>
          </p:cNvGraphicFramePr>
          <p:nvPr/>
        </p:nvGraphicFramePr>
        <p:xfrm>
          <a:off x="2466279" y="274630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E9AD3EB5-AD97-4D31-9C3C-C0D7A2108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098" y="3031268"/>
            <a:ext cx="2199338" cy="5425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0EB265-7D4C-4141-8680-8D35D211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000" y="3067647"/>
            <a:ext cx="2199338" cy="5425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4BFC51-4993-48AE-BF89-3B3866DE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098" y="3440526"/>
            <a:ext cx="2199338" cy="5425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078774-6495-4085-946D-D4BDD1809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000" y="3428916"/>
            <a:ext cx="2199338" cy="54259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6C50458-7B14-42CA-BFAA-7EA2D61F13C2}"/>
              </a:ext>
            </a:extLst>
          </p:cNvPr>
          <p:cNvSpPr/>
          <p:nvPr/>
        </p:nvSpPr>
        <p:spPr>
          <a:xfrm>
            <a:off x="4651916" y="4595371"/>
            <a:ext cx="1313986" cy="702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A48F0F-45E4-47AF-B672-90DFFBC67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318" y="3409160"/>
            <a:ext cx="2199338" cy="5425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86FEAE8-E847-4932-9E8D-62B0E2E65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697" y="3409160"/>
            <a:ext cx="2199338" cy="542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0F6746-8108-4059-A282-7F2564B43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965" y="3428915"/>
            <a:ext cx="2199338" cy="54259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668D63-3C88-42F0-BACB-39DF96012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365" y="3401976"/>
            <a:ext cx="2199338" cy="54259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D07B766-233E-4CFB-B329-7A0E3B0ECABD}"/>
              </a:ext>
            </a:extLst>
          </p:cNvPr>
          <p:cNvSpPr/>
          <p:nvPr/>
        </p:nvSpPr>
        <p:spPr>
          <a:xfrm>
            <a:off x="6024945" y="4595370"/>
            <a:ext cx="2555776" cy="702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05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8BD1C4-0B31-4EB8-98B9-04CB557C1F78}"/>
                  </a:ext>
                </a:extLst>
              </p:cNvPr>
              <p:cNvSpPr txBox="1"/>
              <p:nvPr/>
            </p:nvSpPr>
            <p:spPr>
              <a:xfrm>
                <a:off x="1840995" y="1178312"/>
                <a:ext cx="7348653" cy="4637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two way table is another way to display the outcomes of a 2 step experiment. We can then use the results to calculate probability.</a:t>
                </a:r>
              </a:p>
              <a:p>
                <a:endParaRPr lang="en-AU" dirty="0"/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What is the probability of;</a:t>
                </a:r>
              </a:p>
              <a:p>
                <a:r>
                  <a:rPr lang="en-AU" dirty="0"/>
                  <a:t>	1. getting a 4 and a tails?   P(4 and T) = 1/12</a:t>
                </a:r>
              </a:p>
              <a:p>
                <a:r>
                  <a:rPr lang="en-AU" dirty="0"/>
                  <a:t>	2. Getting less than 5 and a Heads?  P(&lt;5 and H)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	3. Getting anything but a 3 and a tails? P (not 3 and t12ails)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 marL="342900" indent="-342900">
                  <a:buAutoNum type="arabicPeriod"/>
                </a:pPr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8BD1C4-0B31-4EB8-98B9-04CB557C1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995" y="1178312"/>
                <a:ext cx="7348653" cy="4637103"/>
              </a:xfrm>
              <a:prstGeom prst="rect">
                <a:avLst/>
              </a:prstGeom>
              <a:blipFill>
                <a:blip r:embed="rId2"/>
                <a:stretch>
                  <a:fillRect l="-664" t="-6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EDDCBB3-4089-4600-A0C0-653F8446719C}"/>
              </a:ext>
            </a:extLst>
          </p:cNvPr>
          <p:cNvSpPr/>
          <p:nvPr/>
        </p:nvSpPr>
        <p:spPr>
          <a:xfrm>
            <a:off x="5848343" y="4941915"/>
            <a:ext cx="2713935" cy="702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751" y="66287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Two way tables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create a 2 way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87D9D0-3A6D-45DF-A03C-C18249A2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766" y="1362075"/>
            <a:ext cx="6970209" cy="1760266"/>
          </a:xfrm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BD9F60-43BA-474A-A482-FC484089D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489974"/>
              </p:ext>
            </p:extLst>
          </p:nvPr>
        </p:nvGraphicFramePr>
        <p:xfrm>
          <a:off x="2466279" y="2746304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0141623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2235662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9693249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053060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343173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89099641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94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4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3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64688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36217A5-58B6-4C43-9519-2903A5E03251}"/>
              </a:ext>
            </a:extLst>
          </p:cNvPr>
          <p:cNvSpPr/>
          <p:nvPr/>
        </p:nvSpPr>
        <p:spPr>
          <a:xfrm>
            <a:off x="4884586" y="4913424"/>
            <a:ext cx="1058424" cy="702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EC0828-A878-4945-81E5-A2A53391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201" y="3031268"/>
            <a:ext cx="2199338" cy="5425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8ACAF8-D5A0-406E-8043-8338FA118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201" y="3427026"/>
            <a:ext cx="2199338" cy="5425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DC736B-C8A3-4589-BD41-5A313190D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161" y="3053391"/>
            <a:ext cx="2199338" cy="5425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09F0F2-DB39-4BCE-B1B5-AEFE8CDC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248" y="3012634"/>
            <a:ext cx="2199338" cy="5425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71A8CE-E5D3-48A3-8E6D-4502220F2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413" y="3031268"/>
            <a:ext cx="2199338" cy="5425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DEBCEF-5851-4BA2-B711-112A9CF51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326" y="3031268"/>
            <a:ext cx="2199338" cy="5425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B7F4BD-16DF-4CC0-B73C-B995E22CC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310" y="3031268"/>
            <a:ext cx="2199338" cy="5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29DE-E6F6-4214-918E-11B8236C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364802"/>
          </a:xfrm>
        </p:spPr>
        <p:txBody>
          <a:bodyPr>
            <a:normAutofit fontScale="90000"/>
          </a:bodyPr>
          <a:lstStyle/>
          <a:p>
            <a:r>
              <a:rPr lang="en-AU" dirty="0"/>
              <a:t>Worked example.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88F6-4FD7-4C15-9466-1FA03502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69074"/>
            <a:ext cx="7886700" cy="447839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Jeff owns a brown shirt, a white shirt and a black shirt.  He </a:t>
            </a:r>
            <a:r>
              <a:rPr lang="en-AU" dirty="0" err="1"/>
              <a:t>alos</a:t>
            </a:r>
            <a:r>
              <a:rPr lang="en-AU" dirty="0"/>
              <a:t> owns a pair of black pants and a pair of blue jeans.  How many combinations can he make from these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FB38C-C6FA-49F6-AD1E-577C6FFD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385" y="1766095"/>
            <a:ext cx="1038225" cy="3381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73BDBE-BCAC-427A-BF37-4A5B8E93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835" y="1561307"/>
            <a:ext cx="3133725" cy="1895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95017-B098-4397-943A-B414FDC1E5BB}"/>
              </a:ext>
            </a:extLst>
          </p:cNvPr>
          <p:cNvSpPr txBox="1"/>
          <p:nvPr/>
        </p:nvSpPr>
        <p:spPr>
          <a:xfrm>
            <a:off x="2813712" y="4244007"/>
            <a:ext cx="587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today Jeff is wearing a brown shirt and blue jeans?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BE4CA5-7C47-493A-887F-45BE3CCF1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028" y="1941970"/>
            <a:ext cx="2199338" cy="542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A3D7AC-88E0-4CA3-A94E-34F92AD67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028" y="2426380"/>
            <a:ext cx="2199338" cy="542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1D725E-1F04-40AF-9139-563CABE76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955" y="1914984"/>
            <a:ext cx="2199338" cy="5425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C588C8-CF50-4C44-B20D-7FC8068D3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22" y="2386118"/>
            <a:ext cx="2199338" cy="542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7C5691-2F07-405B-864D-CE48408DB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967" y="2816256"/>
            <a:ext cx="2199338" cy="5425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8944FE-66A5-42D5-A523-E49933C4D6CE}"/>
              </a:ext>
            </a:extLst>
          </p:cNvPr>
          <p:cNvSpPr txBox="1"/>
          <p:nvPr/>
        </p:nvSpPr>
        <p:spPr>
          <a:xfrm>
            <a:off x="2813713" y="3609182"/>
            <a:ext cx="5268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that;</a:t>
            </a:r>
          </a:p>
          <a:p>
            <a:r>
              <a:rPr lang="en-AU" dirty="0"/>
              <a:t>	today Jeff is wearing a white shirt and blue jeans?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DA88A-4BDF-4111-8AE2-EBE92F8F6EF9}"/>
              </a:ext>
            </a:extLst>
          </p:cNvPr>
          <p:cNvSpPr txBox="1"/>
          <p:nvPr/>
        </p:nvSpPr>
        <p:spPr>
          <a:xfrm>
            <a:off x="2813712" y="4642440"/>
            <a:ext cx="6330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today Jeff is not wearing a white shirt but is wearing pants?</a:t>
            </a:r>
          </a:p>
        </p:txBody>
      </p:sp>
    </p:spTree>
    <p:extLst>
      <p:ext uri="{BB962C8B-B14F-4D97-AF65-F5344CB8AC3E}">
        <p14:creationId xmlns:p14="http://schemas.microsoft.com/office/powerpoint/2010/main" val="69601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F501-ABF3-450B-B2EA-5503767A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629" y="2105776"/>
            <a:ext cx="7886700" cy="1104636"/>
          </a:xfrm>
        </p:spPr>
        <p:txBody>
          <a:bodyPr/>
          <a:lstStyle/>
          <a:p>
            <a:r>
              <a:rPr lang="en-AU" dirty="0"/>
              <a:t>Complete Ex 14.5 page 194</a:t>
            </a:r>
          </a:p>
        </p:txBody>
      </p:sp>
    </p:spTree>
    <p:extLst>
      <p:ext uri="{BB962C8B-B14F-4D97-AF65-F5344CB8AC3E}">
        <p14:creationId xmlns:p14="http://schemas.microsoft.com/office/powerpoint/2010/main" val="297142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1031</TotalTime>
  <Words>809</Words>
  <Application>Microsoft Office PowerPoint</Application>
  <PresentationFormat>On-screen Show (16:10)</PresentationFormat>
  <Paragraphs>232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Two Way Tables</vt:lpstr>
      <vt:lpstr>PowerPoint Presentation</vt:lpstr>
      <vt:lpstr>Topic : Two way tables</vt:lpstr>
      <vt:lpstr>Topic : Two way tables</vt:lpstr>
      <vt:lpstr>Topic : Two way tables</vt:lpstr>
      <vt:lpstr>Topic : Two way tables</vt:lpstr>
      <vt:lpstr>Topic : Two way tables</vt:lpstr>
      <vt:lpstr>Topic : Two way tables</vt:lpstr>
      <vt:lpstr>Topic : Two way tables</vt:lpstr>
      <vt:lpstr>Topic : Two way tables</vt:lpstr>
      <vt:lpstr>Worked example. </vt:lpstr>
      <vt:lpstr>Complete Ex 14.5 page 194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Way Tables</dc:title>
  <dc:creator>WILSON James [Baldivis Secondary College]</dc:creator>
  <cp:lastModifiedBy>WILSON James [Baldivis Secondary College]</cp:lastModifiedBy>
  <cp:revision>23</cp:revision>
  <dcterms:created xsi:type="dcterms:W3CDTF">2017-10-15T08:38:07Z</dcterms:created>
  <dcterms:modified xsi:type="dcterms:W3CDTF">2017-10-16T14:29:41Z</dcterms:modified>
</cp:coreProperties>
</file>
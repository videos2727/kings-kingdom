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61" r:id="rId3"/>
    <p:sldId id="262" r:id="rId4"/>
    <p:sldId id="265" r:id="rId5"/>
    <p:sldId id="263" r:id="rId6"/>
    <p:sldId id="266" r:id="rId7"/>
    <p:sldId id="267" r:id="rId8"/>
    <p:sldId id="270" r:id="rId9"/>
    <p:sldId id="268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5CEC6-8CE5-4A74-8C51-1A71DB288014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ECCCD-AD85-4093-8F6A-2F240E0E6C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11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52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F2FDE6C-CEF8-491C-BE5F-453E9AE94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24D5F9-32B5-4210-83AA-B298E8D2691E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D6F28A2-905C-4F85-8D23-0026E73877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33F9AD5-632A-40A4-8457-5E3A0D5C2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610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52EC-38B0-4758-BC3D-C3D5A6AC0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6158E-8602-46D3-95F5-B504CD9CF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2F4DC-9653-4537-847D-2340D2E9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EF5D8-B5B6-470B-85AE-93F8E80F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05ED-3831-4370-812C-F5B2A5DD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31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B687-AD17-4FE9-8ED6-E8171208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646B-BA2B-4147-8056-C3F605EC6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66B9-3608-4BBC-8E3D-48E4B96E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C3DFD-86C3-42C1-A621-2D4E9816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A124-A8C1-4122-84DF-4C2B773E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65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5653-13A8-462A-B528-0A472B95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F9161-1743-4BAC-8FC9-F89F70B2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50207-119D-4C4C-BECA-5C770456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C3ED-8AB7-43D5-978C-86DB664C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440DA-57F1-4287-9432-EAF8585F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8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8314-C6DC-4BC0-917D-D4064CD8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2C90-DDF6-4F36-BAFE-55E58E90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A8890-AB23-449E-ABE6-CC90D468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25441-D782-49F0-8FA5-FFA0100C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8A0B9-E1F4-45B3-843F-F71E1B17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9622A-C996-46E2-9C50-A6D92304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11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EE94-190A-4984-9C6A-65E71E37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3F22F-A4F5-4894-8FAE-30539195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99DE-EDCB-41D8-A004-A16E4E3FC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E8B6F-6144-473D-A9F2-C5E88E328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AC02A-8BE5-448D-B402-F8B528E2E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F2345-236C-414D-A7B6-7C1F2AD2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BD1D9-C0A3-4133-955F-244C2B1B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799EE-075B-4CEB-A8FA-F9F3F37D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417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8C76-D73C-4F23-83D6-01A64AA9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B199B-F1A0-4D83-A814-E09FE435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A4910-D696-4CB5-B4BC-A16C0A9A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B0BEC-2E55-4982-8410-9CDBE93D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30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F1763-98CD-46CB-A0C7-7D97E1A6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11937-766B-4EBF-8F28-1E20A230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A20C-D792-4DB7-9D7A-92513EAF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2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54A8-B4B4-4EB8-A0C8-E5AC70B2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016DF-495C-4A0F-9EEC-05298014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29C96-915E-4E65-BFE1-5B83F3B5D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C694D-5FE5-4C7B-A72A-4B2BE299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395AB-BE49-4AFC-B171-B8BA6EDE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02EF9-C7BA-432A-AE2D-8CE71D82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63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AC0D-96D5-4268-9E42-4D84CFB1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0F7DC-DE34-4F44-B52D-4613A87C8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93480-1947-4D37-BA40-E4439F2A0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5CF77-F139-409D-A502-EEE3DA79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44D0-E1BC-451E-AAF1-3E6A83C3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0064E-DEB5-4E29-9B11-279C33C7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24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25F2-D209-463A-BE04-7567728B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E3E36-E696-44F0-B6D4-CF44F0313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9B50-70F9-4B80-8510-D2D32A54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57192-ECD7-4D50-A98D-18F2D045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3CB3-CDB8-41C2-9D09-9D1CD535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65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B30A10-F4E1-46E2-BBE4-F1FD579EE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8FB9-035E-4028-BBDD-4F1A0A82F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F8B65-C14B-420C-B65D-46A4A560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BF25-2D46-4412-BBB2-A516B70C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9F9C6-8D52-4364-AE53-DC581BC7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33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4E01A-AFC8-4FA2-997D-BE8CF3CF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8FB91-699A-4F1B-A790-C473F7B9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0B1F8-B536-4AF2-9D23-F215B30E8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6E54B-E816-4CA6-A155-B44FC8F9FA72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2AC8-E394-42C0-8D53-03DC0FB2A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C3540-D6E9-4B86-A159-BECAC0A5E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92232-7F97-4934-8506-D8EA878D7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30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577502" y="1509692"/>
            <a:ext cx="8175185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midpoint between A(1,5) and B(4,2)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1: </a:t>
            </a:r>
            <a:r>
              <a:rPr lang="en-AU" sz="2800" dirty="0"/>
              <a:t>Find the midpoint for the x – coordinates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2: </a:t>
            </a:r>
            <a:r>
              <a:rPr lang="en-AU" sz="2800" dirty="0"/>
              <a:t>Find the midpoint for the y – coordinates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3: </a:t>
            </a:r>
            <a:r>
              <a:rPr lang="en-AU" sz="2800" dirty="0"/>
              <a:t>Put the answers in coordinate form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A39BA-7A6A-4B7D-BBC3-28916F4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754" y="2282137"/>
            <a:ext cx="3823886" cy="3724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B7EEF8-D921-4866-BDEF-083BEC0A4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3" y="3830433"/>
            <a:ext cx="3794466" cy="1257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C29390-E31E-45CE-B023-67BA3876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695" y="3830433"/>
            <a:ext cx="3581043" cy="1257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2BAD19-0B12-4F41-8BEF-5ECA98E9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26" y="5601645"/>
            <a:ext cx="6528094" cy="9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4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D81423-4B0E-4B45-8282-E197A539C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38" y="268941"/>
            <a:ext cx="11220576" cy="629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4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A6937C-C493-4291-BCDD-0BE55524A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95" y="197224"/>
            <a:ext cx="11365364" cy="628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55F78BE-1BFB-4DD0-9838-D1EF3F40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879" y="1027906"/>
            <a:ext cx="8686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Probabilities are written as fractions or decimals from 0 to 1, or as </a:t>
            </a:r>
            <a:r>
              <a:rPr kumimoji="0" lang="en-US" altLang="en-US" sz="2400" dirty="0" err="1">
                <a:latin typeface="Arial" panose="020B0604020202020204" pitchFamily="34" charset="0"/>
              </a:rPr>
              <a:t>percents</a:t>
            </a:r>
            <a:r>
              <a:rPr kumimoji="0" lang="en-US" altLang="en-US" sz="2400" dirty="0">
                <a:latin typeface="Arial" panose="020B0604020202020204" pitchFamily="34" charset="0"/>
              </a:rPr>
              <a:t> from 0% to 100%.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572EFE89-6AB3-4463-80C7-245CA6482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13" y="1977888"/>
            <a:ext cx="87630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46734BE-2C04-4DA9-94D4-DD5350B35442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Probability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83547B-CA03-4BE4-9722-F4DA388C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313" y="4058963"/>
            <a:ext cx="8686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A </a:t>
            </a:r>
            <a:r>
              <a:rPr kumimoji="0" lang="en-US" altLang="en-US" sz="2400" u="sng" dirty="0">
                <a:latin typeface="Arial" panose="020B0604020202020204" pitchFamily="34" charset="0"/>
              </a:rPr>
              <a:t>Sample Space </a:t>
            </a:r>
            <a:r>
              <a:rPr kumimoji="0" lang="en-US" altLang="en-US" sz="2400" dirty="0">
                <a:latin typeface="Arial" panose="020B0604020202020204" pitchFamily="34" charset="0"/>
              </a:rPr>
              <a:t>is a list of all the possible outcomes.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 err="1">
                <a:latin typeface="Arial" panose="020B0604020202020204" pitchFamily="34" charset="0"/>
              </a:rPr>
              <a:t>Eg</a:t>
            </a:r>
            <a:r>
              <a:rPr kumimoji="0" lang="en-US" altLang="en-US" sz="2400" dirty="0">
                <a:latin typeface="Arial" panose="020B0604020202020204" pitchFamily="34" charset="0"/>
              </a:rPr>
              <a:t>            flipping a coin = {heads, tails}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	      rolling a dice =   {1,2,3,4,5,6}	</a:t>
            </a:r>
          </a:p>
        </p:txBody>
      </p:sp>
    </p:spTree>
    <p:extLst>
      <p:ext uri="{BB962C8B-B14F-4D97-AF65-F5344CB8AC3E}">
        <p14:creationId xmlns:p14="http://schemas.microsoft.com/office/powerpoint/2010/main" val="2396158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18E80B-4F5C-4D49-8E98-D72745A4D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Probability - Experimental </a:t>
            </a:r>
            <a:r>
              <a:rPr lang="en-US" altLang="en-US" dirty="0" err="1"/>
              <a:t>vs.Theoretical</a:t>
            </a:r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6650E1-AC6F-474F-9D18-26B101FAC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4304" y="1414807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Experimental probability: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P(event) = </a:t>
            </a:r>
            <a:r>
              <a:rPr lang="en-US" altLang="en-US" u="sng" dirty="0"/>
              <a:t>number of times event occurs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                        total number of trials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dirty="0"/>
              <a:t>Theoretical probability: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P(E) =    </a:t>
            </a:r>
            <a:r>
              <a:rPr lang="en-US" altLang="en-US" u="sng" dirty="0"/>
              <a:t>number of favorable outcomes____</a:t>
            </a:r>
            <a:r>
              <a:rPr lang="en-US" altLang="en-US" dirty="0"/>
              <a:t>      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               total number of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15216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984137-5F47-4543-9D65-64B391020FD0}"/>
              </a:ext>
            </a:extLst>
          </p:cNvPr>
          <p:cNvSpPr txBox="1"/>
          <p:nvPr/>
        </p:nvSpPr>
        <p:spPr>
          <a:xfrm>
            <a:off x="2576233" y="275722"/>
            <a:ext cx="6800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</a:t>
            </a:r>
          </a:p>
          <a:p>
            <a:pPr marL="342900" indent="-342900">
              <a:buAutoNum type="arabicPeriod"/>
            </a:pPr>
            <a:r>
              <a:rPr lang="en-AU" dirty="0"/>
              <a:t>What is the sample space for year groups at a high school?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A bag of mixed chocolates contains pieces of dark chocolate, milk chocolate, white chocolate and “marbled chocolate.  Write the sample space?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14359-FAE7-4C0F-8F04-0CFC3239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644" y="2329507"/>
            <a:ext cx="5934075" cy="2864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A56D21-F0E9-465B-9B79-5BE944BCC57D}"/>
              </a:ext>
            </a:extLst>
          </p:cNvPr>
          <p:cNvSpPr txBox="1"/>
          <p:nvPr/>
        </p:nvSpPr>
        <p:spPr>
          <a:xfrm>
            <a:off x="2576233" y="2329507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900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984137-5F47-4543-9D65-64B391020FD0}"/>
              </a:ext>
            </a:extLst>
          </p:cNvPr>
          <p:cNvSpPr txBox="1"/>
          <p:nvPr/>
        </p:nvSpPr>
        <p:spPr>
          <a:xfrm>
            <a:off x="2576233" y="275722"/>
            <a:ext cx="6800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</a:t>
            </a:r>
          </a:p>
          <a:p>
            <a:pPr marL="342900" indent="-342900">
              <a:buAutoNum type="arabicPeriod"/>
            </a:pPr>
            <a:r>
              <a:rPr lang="en-AU" dirty="0"/>
              <a:t>What is the sample space for year groups at a high school?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A bag of mixed chocolates contains pieces of dark chocolate, milk chocolate, white chocolate and “marbled chocolate.  Write the sample space?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14359-FAE7-4C0F-8F04-0CFC3239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644" y="2329507"/>
            <a:ext cx="5934075" cy="2864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A56D21-F0E9-465B-9B79-5BE944BCC57D}"/>
              </a:ext>
            </a:extLst>
          </p:cNvPr>
          <p:cNvSpPr txBox="1"/>
          <p:nvPr/>
        </p:nvSpPr>
        <p:spPr>
          <a:xfrm>
            <a:off x="2576233" y="2329507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564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539E7F-0628-4248-8E70-66C234A9B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517" y="1277127"/>
            <a:ext cx="3862388" cy="523875"/>
          </a:xfrm>
          <a:gradFill flip="none" rotWithShape="1">
            <a:gsLst>
              <a:gs pos="0">
                <a:srgbClr val="D9CFAB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>
              <a:lnSpc>
                <a:spcPct val="80000"/>
              </a:lnSpc>
              <a:buNone/>
              <a:defRPr/>
            </a:pPr>
            <a:r>
              <a:rPr lang="en-AU" dirty="0"/>
              <a:t>	T</a:t>
            </a:r>
            <a:r>
              <a:rPr lang="en-AU" dirty="0">
                <a:solidFill>
                  <a:srgbClr val="0000FF"/>
                </a:solidFill>
              </a:rPr>
              <a:t>ree diagram</a:t>
            </a:r>
            <a:r>
              <a:rPr lang="en-AU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9195F1-0315-4E1E-B199-55E27D52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926" y="357166"/>
            <a:ext cx="3214710" cy="642942"/>
          </a:xfrm>
          <a:solidFill>
            <a:srgbClr val="51CCF7"/>
          </a:solidFill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AU" b="1"/>
              <a:t>Probability</a:t>
            </a:r>
            <a:endParaRPr lang="en-AU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537EE-85E8-4EB2-9275-04F47E4A87A8}"/>
              </a:ext>
            </a:extLst>
          </p:cNvPr>
          <p:cNvSpPr/>
          <p:nvPr/>
        </p:nvSpPr>
        <p:spPr>
          <a:xfrm>
            <a:off x="1524000" y="1"/>
            <a:ext cx="9144000" cy="142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D504B-97B8-4E68-94D3-B159FAC1B30C}"/>
              </a:ext>
            </a:extLst>
          </p:cNvPr>
          <p:cNvSpPr/>
          <p:nvPr/>
        </p:nvSpPr>
        <p:spPr>
          <a:xfrm>
            <a:off x="1344612" y="6218238"/>
            <a:ext cx="9144000" cy="142875"/>
          </a:xfrm>
          <a:prstGeom prst="rect">
            <a:avLst/>
          </a:prstGeom>
          <a:gradFill>
            <a:gsLst>
              <a:gs pos="0">
                <a:srgbClr val="D9CFAB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EA457-68E4-4DA6-84BD-1726EC4F8896}"/>
              </a:ext>
            </a:extLst>
          </p:cNvPr>
          <p:cNvSpPr/>
          <p:nvPr/>
        </p:nvSpPr>
        <p:spPr>
          <a:xfrm>
            <a:off x="1344612" y="6218238"/>
            <a:ext cx="9144000" cy="142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pic>
        <p:nvPicPr>
          <p:cNvPr id="6151" name="Picture 22" descr="j0338158">
            <a:extLst>
              <a:ext uri="{FF2B5EF4-FFF2-40B4-BE49-F238E27FC236}">
                <a16:creationId xmlns:a16="http://schemas.microsoft.com/office/drawing/2014/main" id="{36041C78-938F-4E54-8ACF-B41E4C8B1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212" y="215108"/>
            <a:ext cx="1870075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24">
            <a:extLst>
              <a:ext uri="{FF2B5EF4-FFF2-40B4-BE49-F238E27FC236}">
                <a16:creationId xmlns:a16="http://schemas.microsoft.com/office/drawing/2014/main" id="{F78E86DA-BE98-49ED-A97E-6D94C7A34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2447925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70" name="Text Box 26">
            <a:extLst>
              <a:ext uri="{FF2B5EF4-FFF2-40B4-BE49-F238E27FC236}">
                <a16:creationId xmlns:a16="http://schemas.microsoft.com/office/drawing/2014/main" id="{28DC8DAB-AC69-4B3F-84AE-70664BE3C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11388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 err="1">
                <a:solidFill>
                  <a:srgbClr val="0000FF"/>
                </a:solidFill>
                <a:latin typeface="Arial" panose="020B0604020202020204" pitchFamily="34" charset="0"/>
              </a:rPr>
              <a:t>Eg</a:t>
            </a:r>
            <a:r>
              <a:rPr lang="en-GB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.</a:t>
            </a:r>
            <a:r>
              <a:rPr lang="en-GB" altLang="en-US" sz="1800" dirty="0">
                <a:latin typeface="Arial" panose="020B0604020202020204" pitchFamily="34" charset="0"/>
              </a:rPr>
              <a:t> Three coins are thrown together. Use a tree diagram to show the sample space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171" name="Text Box 27">
            <a:extLst>
              <a:ext uri="{FF2B5EF4-FFF2-40B4-BE49-F238E27FC236}">
                <a16:creationId xmlns:a16="http://schemas.microsoft.com/office/drawing/2014/main" id="{3ACA4188-9F9C-4BD0-9F0D-09CF3E4A9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2709863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First coin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55" name="Text Box 30">
            <a:extLst>
              <a:ext uri="{FF2B5EF4-FFF2-40B4-BE49-F238E27FC236}">
                <a16:creationId xmlns:a16="http://schemas.microsoft.com/office/drawing/2014/main" id="{9B7D972E-CA4A-4FB5-8237-5BA1322C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2636838"/>
            <a:ext cx="149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Second Coin</a:t>
            </a:r>
            <a:endParaRPr lang="en-US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56" name="Text Box 31">
            <a:extLst>
              <a:ext uri="{FF2B5EF4-FFF2-40B4-BE49-F238E27FC236}">
                <a16:creationId xmlns:a16="http://schemas.microsoft.com/office/drawing/2014/main" id="{FA745BEF-3558-464F-90E6-E44A6C758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2" y="2571750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Third coin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78" name="Text Box 34">
            <a:extLst>
              <a:ext uri="{FF2B5EF4-FFF2-40B4-BE49-F238E27FC236}">
                <a16:creationId xmlns:a16="http://schemas.microsoft.com/office/drawing/2014/main" id="{C2F8F4E7-F75B-451B-910F-F46D743D1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7" y="3429000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79" name="Text Box 35">
            <a:extLst>
              <a:ext uri="{FF2B5EF4-FFF2-40B4-BE49-F238E27FC236}">
                <a16:creationId xmlns:a16="http://schemas.microsoft.com/office/drawing/2014/main" id="{4709CDCF-D1A6-4D3D-8317-E002425D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4797425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80" name="Line 36">
            <a:extLst>
              <a:ext uri="{FF2B5EF4-FFF2-40B4-BE49-F238E27FC236}">
                <a16:creationId xmlns:a16="http://schemas.microsoft.com/office/drawing/2014/main" id="{5544165D-6490-4A5D-9D5B-44E794F01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2151" y="307657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81" name="Line 37">
            <a:extLst>
              <a:ext uri="{FF2B5EF4-FFF2-40B4-BE49-F238E27FC236}">
                <a16:creationId xmlns:a16="http://schemas.microsoft.com/office/drawing/2014/main" id="{BF991546-24EF-43E0-AE19-50C311042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1" y="336391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88" name="Text Box 44">
            <a:extLst>
              <a:ext uri="{FF2B5EF4-FFF2-40B4-BE49-F238E27FC236}">
                <a16:creationId xmlns:a16="http://schemas.microsoft.com/office/drawing/2014/main" id="{881E2C78-E393-462E-87D6-358897510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7" y="2903537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89" name="Text Box 45">
            <a:extLst>
              <a:ext uri="{FF2B5EF4-FFF2-40B4-BE49-F238E27FC236}">
                <a16:creationId xmlns:a16="http://schemas.microsoft.com/office/drawing/2014/main" id="{675BC1A3-B98F-46A5-97D8-B1722D1F1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3579812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>
                <a:latin typeface="Arial" panose="020B0604020202020204" pitchFamily="34" charset="0"/>
              </a:rPr>
              <a:t>H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6190" name="Text Box 46">
            <a:extLst>
              <a:ext uri="{FF2B5EF4-FFF2-40B4-BE49-F238E27FC236}">
                <a16:creationId xmlns:a16="http://schemas.microsoft.com/office/drawing/2014/main" id="{23C837CE-A75A-4147-AD9D-9EE73EC4C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6" y="4271962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1" name="Text Box 47">
            <a:extLst>
              <a:ext uri="{FF2B5EF4-FFF2-40B4-BE49-F238E27FC236}">
                <a16:creationId xmlns:a16="http://schemas.microsoft.com/office/drawing/2014/main" id="{66EE1ED9-56EA-4FB2-BF8C-3CB89D90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6" y="50641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2" name="Text Box 48">
            <a:extLst>
              <a:ext uri="{FF2B5EF4-FFF2-40B4-BE49-F238E27FC236}">
                <a16:creationId xmlns:a16="http://schemas.microsoft.com/office/drawing/2014/main" id="{8986450D-1617-4039-8A5A-4249E6EF8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7" y="329247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3" name="Text Box 49">
            <a:extLst>
              <a:ext uri="{FF2B5EF4-FFF2-40B4-BE49-F238E27FC236}">
                <a16:creationId xmlns:a16="http://schemas.microsoft.com/office/drawing/2014/main" id="{BF35A91B-909D-4771-A0D7-A9CE42883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398462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4" name="Text Box 50">
            <a:extLst>
              <a:ext uri="{FF2B5EF4-FFF2-40B4-BE49-F238E27FC236}">
                <a16:creationId xmlns:a16="http://schemas.microsoft.com/office/drawing/2014/main" id="{8217A30F-C99E-4AC4-A49E-877C5DD0C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4703762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5" name="Text Box 51">
            <a:extLst>
              <a:ext uri="{FF2B5EF4-FFF2-40B4-BE49-F238E27FC236}">
                <a16:creationId xmlns:a16="http://schemas.microsoft.com/office/drawing/2014/main" id="{FADB8D83-397E-4A70-8A94-62C64A226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5424487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6" name="Text Box 52">
            <a:extLst>
              <a:ext uri="{FF2B5EF4-FFF2-40B4-BE49-F238E27FC236}">
                <a16:creationId xmlns:a16="http://schemas.microsoft.com/office/drawing/2014/main" id="{858DADEA-AE2C-42A7-B148-3E65166D1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5887" y="3789363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7" name="Text Box 53">
            <a:extLst>
              <a:ext uri="{FF2B5EF4-FFF2-40B4-BE49-F238E27FC236}">
                <a16:creationId xmlns:a16="http://schemas.microsoft.com/office/drawing/2014/main" id="{5B518B9F-6075-4B49-9E31-0138BA318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2" y="5229225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8" name="Text Box 54">
            <a:extLst>
              <a:ext uri="{FF2B5EF4-FFF2-40B4-BE49-F238E27FC236}">
                <a16:creationId xmlns:a16="http://schemas.microsoft.com/office/drawing/2014/main" id="{353E3925-FAD4-44CE-A772-FF3DA1BF0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3141663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9" name="Text Box 55">
            <a:extLst>
              <a:ext uri="{FF2B5EF4-FFF2-40B4-BE49-F238E27FC236}">
                <a16:creationId xmlns:a16="http://schemas.microsoft.com/office/drawing/2014/main" id="{87CBFC1B-9BCC-46E9-ACA6-EE6860A2D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4516438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01" name="Line 57">
            <a:extLst>
              <a:ext uri="{FF2B5EF4-FFF2-40B4-BE49-F238E27FC236}">
                <a16:creationId xmlns:a16="http://schemas.microsoft.com/office/drawing/2014/main" id="{F42CC5AC-7396-411B-AD1E-17C9B83EB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6" y="3363913"/>
            <a:ext cx="13684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3" name="Line 59">
            <a:extLst>
              <a:ext uri="{FF2B5EF4-FFF2-40B4-BE49-F238E27FC236}">
                <a16:creationId xmlns:a16="http://schemas.microsoft.com/office/drawing/2014/main" id="{A3393C8E-F92B-4D87-998E-A830EE63B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6" y="3652838"/>
            <a:ext cx="136842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5" name="Line 61">
            <a:extLst>
              <a:ext uri="{FF2B5EF4-FFF2-40B4-BE49-F238E27FC236}">
                <a16:creationId xmlns:a16="http://schemas.microsoft.com/office/drawing/2014/main" id="{48F45A74-59E7-4B38-8A1F-92DC4BE322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8825" y="3652838"/>
            <a:ext cx="1079500" cy="574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6" name="Line 62">
            <a:extLst>
              <a:ext uri="{FF2B5EF4-FFF2-40B4-BE49-F238E27FC236}">
                <a16:creationId xmlns:a16="http://schemas.microsoft.com/office/drawing/2014/main" id="{C1EAD4C6-8E11-41AC-965A-D461EBF0F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8825" y="4227513"/>
            <a:ext cx="1008062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7" name="Line 63">
            <a:extLst>
              <a:ext uri="{FF2B5EF4-FFF2-40B4-BE49-F238E27FC236}">
                <a16:creationId xmlns:a16="http://schemas.microsoft.com/office/drawing/2014/main" id="{D08FFC50-EFF3-4466-8E08-9B6BD58B4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6" y="4730751"/>
            <a:ext cx="13684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8" name="Line 64">
            <a:extLst>
              <a:ext uri="{FF2B5EF4-FFF2-40B4-BE49-F238E27FC236}">
                <a16:creationId xmlns:a16="http://schemas.microsoft.com/office/drawing/2014/main" id="{5085CF56-9A34-40F3-89F7-83F99E05B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6" y="5019676"/>
            <a:ext cx="136842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9" name="Line 65">
            <a:extLst>
              <a:ext uri="{FF2B5EF4-FFF2-40B4-BE49-F238E27FC236}">
                <a16:creationId xmlns:a16="http://schemas.microsoft.com/office/drawing/2014/main" id="{8F5BAE76-9ABF-4F28-8C04-F3095E6A9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372427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0" name="Line 66">
            <a:extLst>
              <a:ext uri="{FF2B5EF4-FFF2-40B4-BE49-F238E27FC236}">
                <a16:creationId xmlns:a16="http://schemas.microsoft.com/office/drawing/2014/main" id="{28E81511-456A-41E4-8EE0-BF8951C897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4445001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1" name="Line 67">
            <a:extLst>
              <a:ext uri="{FF2B5EF4-FFF2-40B4-BE49-F238E27FC236}">
                <a16:creationId xmlns:a16="http://schemas.microsoft.com/office/drawing/2014/main" id="{042A3228-9590-4C18-B991-57E1680398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516572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3" name="Line 69">
            <a:extLst>
              <a:ext uri="{FF2B5EF4-FFF2-40B4-BE49-F238E27FC236}">
                <a16:creationId xmlns:a16="http://schemas.microsoft.com/office/drawing/2014/main" id="{10ADC6A7-2E9E-459F-96F0-D02F38B7E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401161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4" name="Line 70">
            <a:extLst>
              <a:ext uri="{FF2B5EF4-FFF2-40B4-BE49-F238E27FC236}">
                <a16:creationId xmlns:a16="http://schemas.microsoft.com/office/drawing/2014/main" id="{44B618EB-33B8-49C3-8995-AABC98EF3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4732338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5" name="Line 71">
            <a:extLst>
              <a:ext uri="{FF2B5EF4-FFF2-40B4-BE49-F238E27FC236}">
                <a16:creationId xmlns:a16="http://schemas.microsoft.com/office/drawing/2014/main" id="{E15A1FB3-ECEA-4274-BAFE-F1DF33CC2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545306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6" name="Text Box 72">
            <a:extLst>
              <a:ext uri="{FF2B5EF4-FFF2-40B4-BE49-F238E27FC236}">
                <a16:creationId xmlns:a16="http://schemas.microsoft.com/office/drawing/2014/main" id="{5B8EAEC5-0C75-438A-B0FF-A8E5CFC3E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37" y="2860675"/>
            <a:ext cx="81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=HHH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7" name="Text Box 73">
            <a:extLst>
              <a:ext uri="{FF2B5EF4-FFF2-40B4-BE49-F238E27FC236}">
                <a16:creationId xmlns:a16="http://schemas.microsoft.com/office/drawing/2014/main" id="{80370E3E-0F27-4BFD-802F-48BBD23E6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3213100"/>
            <a:ext cx="787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=HHT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8" name="Text Box 74">
            <a:extLst>
              <a:ext uri="{FF2B5EF4-FFF2-40B4-BE49-F238E27FC236}">
                <a16:creationId xmlns:a16="http://schemas.microsoft.com/office/drawing/2014/main" id="{6AC787BE-AA1E-4122-A768-2FDDE5660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3573463"/>
            <a:ext cx="78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=HTH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9" name="Text Box 75">
            <a:extLst>
              <a:ext uri="{FF2B5EF4-FFF2-40B4-BE49-F238E27FC236}">
                <a16:creationId xmlns:a16="http://schemas.microsoft.com/office/drawing/2014/main" id="{705EC795-AC3F-4DEA-AE18-A2E84FDF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393382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=HTT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0" name="Text Box 76">
            <a:extLst>
              <a:ext uri="{FF2B5EF4-FFF2-40B4-BE49-F238E27FC236}">
                <a16:creationId xmlns:a16="http://schemas.microsoft.com/office/drawing/2014/main" id="{E01D1ED6-3317-4753-95DF-88C7B018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4294188"/>
            <a:ext cx="78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=THH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1" name="Text Box 77">
            <a:extLst>
              <a:ext uri="{FF2B5EF4-FFF2-40B4-BE49-F238E27FC236}">
                <a16:creationId xmlns:a16="http://schemas.microsoft.com/office/drawing/2014/main" id="{B7CF254D-3D31-47F8-8203-B436A48D4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652963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=THT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2" name="Text Box 78">
            <a:extLst>
              <a:ext uri="{FF2B5EF4-FFF2-40B4-BE49-F238E27FC236}">
                <a16:creationId xmlns:a16="http://schemas.microsoft.com/office/drawing/2014/main" id="{49D943A5-45E5-46B0-8281-82F9E8297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501332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=TTH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3" name="Text Box 79">
            <a:extLst>
              <a:ext uri="{FF2B5EF4-FFF2-40B4-BE49-F238E27FC236}">
                <a16:creationId xmlns:a16="http://schemas.microsoft.com/office/drawing/2014/main" id="{0EEA7FAA-BD54-4650-8145-148058738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5400675"/>
            <a:ext cx="736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=TTT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4" name="Text Box 80">
            <a:extLst>
              <a:ext uri="{FF2B5EF4-FFF2-40B4-BE49-F238E27FC236}">
                <a16:creationId xmlns:a16="http://schemas.microsoft.com/office/drawing/2014/main" id="{54EF7D10-0CCF-450A-A95F-D58C26F77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805488"/>
            <a:ext cx="652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Q.</a:t>
            </a:r>
            <a:r>
              <a:rPr lang="en-GB" altLang="en-US" sz="1800">
                <a:latin typeface="Arial" panose="020B0604020202020204" pitchFamily="34" charset="0"/>
              </a:rPr>
              <a:t> What is the probability that I will get at least 2 heads?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5" name="Text Box 81">
            <a:extLst>
              <a:ext uri="{FF2B5EF4-FFF2-40B4-BE49-F238E27FC236}">
                <a16:creationId xmlns:a16="http://schemas.microsoft.com/office/drawing/2014/main" id="{AF1698ED-CBFE-43F3-9AE2-BEA1F07AE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5805488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=4/8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226" name="Text Box 82">
            <a:extLst>
              <a:ext uri="{FF2B5EF4-FFF2-40B4-BE49-F238E27FC236}">
                <a16:creationId xmlns:a16="http://schemas.microsoft.com/office/drawing/2014/main" id="{31677265-5BDD-4CD6-9E37-D80308D5D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2" y="5805488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=1/2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91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0"/>
                                        <p:tgtEl>
                                          <p:spTgt spid="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00"/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0" grpId="0"/>
      <p:bldP spid="6171" grpId="0"/>
      <p:bldP spid="6178" grpId="0"/>
      <p:bldP spid="6179" grpId="0"/>
      <p:bldP spid="6188" grpId="0"/>
      <p:bldP spid="6189" grpId="0"/>
      <p:bldP spid="6190" grpId="0"/>
      <p:bldP spid="6191" grpId="0"/>
      <p:bldP spid="6192" grpId="0"/>
      <p:bldP spid="6193" grpId="0"/>
      <p:bldP spid="6194" grpId="0"/>
      <p:bldP spid="6195" grpId="0"/>
      <p:bldP spid="6196" grpId="0"/>
      <p:bldP spid="6197" grpId="0"/>
      <p:bldP spid="6198" grpId="0"/>
      <p:bldP spid="6199" grpId="0"/>
      <p:bldP spid="6216" grpId="0"/>
      <p:bldP spid="6217" grpId="0"/>
      <p:bldP spid="6218" grpId="0"/>
      <p:bldP spid="6219" grpId="0"/>
      <p:bldP spid="6220" grpId="0"/>
      <p:bldP spid="6221" grpId="0"/>
      <p:bldP spid="6222" grpId="0"/>
      <p:bldP spid="6223" grpId="0"/>
      <p:bldP spid="6224" grpId="0"/>
      <p:bldP spid="62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5596A9-249B-4D60-BA6D-E01E220BEC86}"/>
              </a:ext>
            </a:extLst>
          </p:cNvPr>
          <p:cNvSpPr txBox="1"/>
          <p:nvPr/>
        </p:nvSpPr>
        <p:spPr>
          <a:xfrm>
            <a:off x="313900" y="1271239"/>
            <a:ext cx="1223591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 two way table is another way to display the outcomes of a 2 step experiment. We can then use the results to calculate probability.</a:t>
            </a:r>
          </a:p>
          <a:p>
            <a:endParaRPr lang="en-AU" sz="3200" dirty="0"/>
          </a:p>
          <a:p>
            <a:r>
              <a:rPr lang="en-AU" sz="3200" b="1" u="sng" dirty="0"/>
              <a:t>Example</a:t>
            </a:r>
          </a:p>
          <a:p>
            <a:r>
              <a:rPr lang="en-AU" sz="3200" dirty="0"/>
              <a:t>a dice is thrown and a coin is tossed.  Determine the possible outcomes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pPr marL="342900" indent="-342900">
              <a:buAutoNum type="arabicPeriod"/>
            </a:pPr>
            <a:endParaRPr lang="en-AU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4E787-F03B-460B-86DC-3CC2E7458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338090"/>
              </p:ext>
            </p:extLst>
          </p:nvPr>
        </p:nvGraphicFramePr>
        <p:xfrm>
          <a:off x="846160" y="4025839"/>
          <a:ext cx="10809029" cy="2603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14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466519"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1234903">
                <a:tc>
                  <a:txBody>
                    <a:bodyPr/>
                    <a:lstStyle/>
                    <a:p>
                      <a:r>
                        <a:rPr lang="en-AU" sz="2800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1,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2,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3,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4,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6, Heads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850710">
                <a:tc>
                  <a:txBody>
                    <a:bodyPr/>
                    <a:lstStyle/>
                    <a:p>
                      <a:r>
                        <a:rPr lang="en-AU" sz="2800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1,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2,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4,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5,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499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F6F9B-8AAB-4EA9-B776-A1C6658E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67" y="860612"/>
            <a:ext cx="10598751" cy="4145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9853D4-5B12-4969-AAC8-2913563C6FA6}"/>
              </a:ext>
            </a:extLst>
          </p:cNvPr>
          <p:cNvSpPr txBox="1"/>
          <p:nvPr/>
        </p:nvSpPr>
        <p:spPr>
          <a:xfrm>
            <a:off x="513875" y="860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DDBB8-BBCF-440B-B497-758FA80CEC21}"/>
              </a:ext>
            </a:extLst>
          </p:cNvPr>
          <p:cNvSpPr txBox="1"/>
          <p:nvPr/>
        </p:nvSpPr>
        <p:spPr>
          <a:xfrm>
            <a:off x="545365" y="3031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57090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CB8F82-AEF2-4735-8DB8-D9645DB4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88" y="0"/>
            <a:ext cx="7082118" cy="7172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9ACE81-1E98-48DA-A26B-F25803B3DDD2}"/>
              </a:ext>
            </a:extLst>
          </p:cNvPr>
          <p:cNvSpPr/>
          <p:nvPr/>
        </p:nvSpPr>
        <p:spPr>
          <a:xfrm>
            <a:off x="2115671" y="2528047"/>
            <a:ext cx="8444753" cy="4329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41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8C48-69EA-42DF-936D-0033DB90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Venn diagrams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E70C7-0E43-404C-9E6D-99ACFB46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425945"/>
            <a:ext cx="11401425" cy="2847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F4CB27-F332-426D-BDB9-C13576D0448D}"/>
              </a:ext>
            </a:extLst>
          </p:cNvPr>
          <p:cNvSpPr txBox="1"/>
          <p:nvPr/>
        </p:nvSpPr>
        <p:spPr>
          <a:xfrm>
            <a:off x="3230088" y="4619501"/>
            <a:ext cx="3289465" cy="369332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boys is 7 + 18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F2742E-FF4D-42A5-807A-6970FA80F4AC}"/>
              </a:ext>
            </a:extLst>
          </p:cNvPr>
          <p:cNvCxnSpPr>
            <a:cxnSpLocks/>
          </p:cNvCxnSpPr>
          <p:nvPr/>
        </p:nvCxnSpPr>
        <p:spPr>
          <a:xfrm flipH="1" flipV="1">
            <a:off x="3562597" y="3079827"/>
            <a:ext cx="2375065" cy="16764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711E26-A473-4ECE-8BD9-E81E97DAA91D}"/>
              </a:ext>
            </a:extLst>
          </p:cNvPr>
          <p:cNvSpPr txBox="1"/>
          <p:nvPr/>
        </p:nvSpPr>
        <p:spPr>
          <a:xfrm>
            <a:off x="1585355" y="5150072"/>
            <a:ext cx="3289465" cy="369332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blonde boys is 7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BC314D-9F67-41D2-9C01-9AC36DB5E337}"/>
              </a:ext>
            </a:extLst>
          </p:cNvPr>
          <p:cNvCxnSpPr>
            <a:cxnSpLocks/>
          </p:cNvCxnSpPr>
          <p:nvPr/>
        </p:nvCxnSpPr>
        <p:spPr>
          <a:xfrm flipH="1" flipV="1">
            <a:off x="2612572" y="3170713"/>
            <a:ext cx="2013856" cy="20417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C24788-3ABF-49A3-BD0A-0833A79094DC}"/>
              </a:ext>
            </a:extLst>
          </p:cNvPr>
          <p:cNvSpPr txBox="1"/>
          <p:nvPr/>
        </p:nvSpPr>
        <p:spPr>
          <a:xfrm>
            <a:off x="831273" y="5696090"/>
            <a:ext cx="3611938" cy="923330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girls is 10 + 12 (blondes who aren’t boys or people who aren’t boys or blonde)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5F8D91-DB2F-475F-B4E6-C37937C58522}"/>
              </a:ext>
            </a:extLst>
          </p:cNvPr>
          <p:cNvCxnSpPr>
            <a:cxnSpLocks/>
          </p:cNvCxnSpPr>
          <p:nvPr/>
        </p:nvCxnSpPr>
        <p:spPr>
          <a:xfrm flipH="1" flipV="1">
            <a:off x="1508166" y="3112856"/>
            <a:ext cx="1721922" cy="26956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A8E314-8879-48CD-BA02-A607CA879530}"/>
              </a:ext>
            </a:extLst>
          </p:cNvPr>
          <p:cNvCxnSpPr>
            <a:cxnSpLocks/>
          </p:cNvCxnSpPr>
          <p:nvPr/>
        </p:nvCxnSpPr>
        <p:spPr>
          <a:xfrm flipH="1" flipV="1">
            <a:off x="950027" y="1867372"/>
            <a:ext cx="2779815" cy="39411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548E7E-CF2C-4991-9BB5-538E69DBD284}"/>
              </a:ext>
            </a:extLst>
          </p:cNvPr>
          <p:cNvCxnSpPr>
            <a:cxnSpLocks/>
          </p:cNvCxnSpPr>
          <p:nvPr/>
        </p:nvCxnSpPr>
        <p:spPr>
          <a:xfrm flipH="1" flipV="1">
            <a:off x="2666011" y="3033613"/>
            <a:ext cx="2891641" cy="16919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A8770EA-8357-4662-BD72-148D8EA1F3EB}"/>
              </a:ext>
            </a:extLst>
          </p:cNvPr>
          <p:cNvSpPr txBox="1"/>
          <p:nvPr/>
        </p:nvSpPr>
        <p:spPr>
          <a:xfrm>
            <a:off x="7564777" y="4749838"/>
            <a:ext cx="3086051" cy="646331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The total number of people in the group is 12 + 10 + 7 + 18</a:t>
            </a:r>
          </a:p>
        </p:txBody>
      </p:sp>
    </p:spTree>
    <p:extLst>
      <p:ext uri="{BB962C8B-B14F-4D97-AF65-F5344CB8AC3E}">
        <p14:creationId xmlns:p14="http://schemas.microsoft.com/office/powerpoint/2010/main" val="134069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8B80C50-FE5A-46D7-8156-75388141DF1D}"/>
              </a:ext>
            </a:extLst>
          </p:cNvPr>
          <p:cNvSpPr txBox="1">
            <a:spLocks/>
          </p:cNvSpPr>
          <p:nvPr/>
        </p:nvSpPr>
        <p:spPr bwMode="auto">
          <a:xfrm>
            <a:off x="1817495" y="3839715"/>
            <a:ext cx="7500938" cy="785812"/>
          </a:xfrm>
          <a:prstGeom prst="rect">
            <a:avLst/>
          </a:prstGeom>
          <a:solidFill>
            <a:srgbClr val="F2D18E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indent="-273050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AU" altLang="en-US" dirty="0"/>
              <a:t>Expected frequency=probability × number of trials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F59131-88CA-413C-94C8-7326BD343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46820"/>
              </p:ext>
            </p:extLst>
          </p:nvPr>
        </p:nvGraphicFramePr>
        <p:xfrm>
          <a:off x="1503964" y="1593880"/>
          <a:ext cx="812799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72706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474897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8559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House 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Relative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17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192 ÷ 400 = 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77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Shingles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b="1" dirty="0"/>
                        <a:t>4 ÷ 400 = 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86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Tin/Steel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b="1" dirty="0"/>
                        <a:t>204 ÷ 400 = 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33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064B5-D610-4BAA-845A-EDB27B7CF816}"/>
                  </a:ext>
                </a:extLst>
              </p:cNvPr>
              <p:cNvSpPr txBox="1"/>
              <p:nvPr/>
            </p:nvSpPr>
            <p:spPr>
              <a:xfrm>
                <a:off x="1398967" y="472507"/>
                <a:ext cx="9293716" cy="864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064B5-D610-4BAA-845A-EDB27B7CF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967" y="472507"/>
                <a:ext cx="9293716" cy="864404"/>
              </a:xfrm>
              <a:prstGeom prst="rect">
                <a:avLst/>
              </a:prstGeom>
              <a:blipFill>
                <a:blip r:embed="rId2"/>
                <a:stretch>
                  <a:fillRect l="-1639" b="-4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C745CF3-852D-41F5-BDB1-81B8DAF16B77}"/>
              </a:ext>
            </a:extLst>
          </p:cNvPr>
          <p:cNvSpPr txBox="1"/>
          <p:nvPr/>
        </p:nvSpPr>
        <p:spPr>
          <a:xfrm>
            <a:off x="3528812" y="3198985"/>
            <a:ext cx="363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Total = 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C73E2-DB9C-410C-A3DD-EAD06D949E9E}"/>
              </a:ext>
            </a:extLst>
          </p:cNvPr>
          <p:cNvSpPr txBox="1"/>
          <p:nvPr/>
        </p:nvSpPr>
        <p:spPr>
          <a:xfrm>
            <a:off x="1398967" y="5022761"/>
            <a:ext cx="9762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there were 1200 homes, how many would have tiled roofs?</a:t>
            </a:r>
          </a:p>
          <a:p>
            <a:r>
              <a:rPr lang="en-AU" sz="2800" dirty="0"/>
              <a:t>	1200 x 0.48 = 576</a:t>
            </a:r>
          </a:p>
        </p:txBody>
      </p:sp>
    </p:spTree>
    <p:extLst>
      <p:ext uri="{BB962C8B-B14F-4D97-AF65-F5344CB8AC3E}">
        <p14:creationId xmlns:p14="http://schemas.microsoft.com/office/powerpoint/2010/main" val="32572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507</Words>
  <Application>Microsoft Office PowerPoint</Application>
  <PresentationFormat>Widescreen</PresentationFormat>
  <Paragraphs>119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Cambria Math</vt:lpstr>
      <vt:lpstr>Constantia</vt:lpstr>
      <vt:lpstr>Kiwi School Handwriting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Probability - Experimental vs.Theoretical</vt:lpstr>
      <vt:lpstr>PowerPoint Presentation</vt:lpstr>
      <vt:lpstr>PowerPoint Presentation</vt:lpstr>
      <vt:lpstr>Probability</vt:lpstr>
      <vt:lpstr>PowerPoint Presentation</vt:lpstr>
      <vt:lpstr>PowerPoint Presentation</vt:lpstr>
      <vt:lpstr>PowerPoint Presentation</vt:lpstr>
      <vt:lpstr>Venn diagrams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17</cp:revision>
  <dcterms:created xsi:type="dcterms:W3CDTF">2017-10-30T13:21:43Z</dcterms:created>
  <dcterms:modified xsi:type="dcterms:W3CDTF">2017-11-01T08:26:26Z</dcterms:modified>
</cp:coreProperties>
</file>
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9" r:id="rId2"/>
    <p:sldId id="258" r:id="rId3"/>
    <p:sldId id="261" r:id="rId4"/>
    <p:sldId id="260" r:id="rId5"/>
    <p:sldId id="267" r:id="rId6"/>
    <p:sldId id="268" r:id="rId7"/>
    <p:sldId id="265" r:id="rId8"/>
    <p:sldId id="262" r:id="rId9"/>
    <p:sldId id="263" r:id="rId10"/>
    <p:sldId id="264" r:id="rId11"/>
    <p:sldId id="269" r:id="rId12"/>
    <p:sldId id="270" r:id="rId13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86" d="100"/>
          <a:sy n="86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4E33DD-17E4-4B37-8B43-5237BB7DFCBD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0915D-6E8B-483A-98DE-46DBDE105B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2588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6F1D0B05-416A-4F16-820F-01B0FBCAAD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AF349D18-1C8D-433D-9AE8-F5771CC4B3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2773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BCEE232-9C8A-44F5-8E65-152C03EA9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69E8C0-4FCF-4F3C-9C3E-36C6B5D22B9B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20398D4B-2AB4-4303-86E0-A006505B75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F293680-3EFE-46E2-B4A7-AFAA3285A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6189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BCEE232-9C8A-44F5-8E65-152C03EA9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69E8C0-4FCF-4F3C-9C3E-36C6B5D22B9B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20398D4B-2AB4-4303-86E0-A006505B75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F293680-3EFE-46E2-B4A7-AFAA3285A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3917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E2788C36-1387-4812-967D-1B1A450594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B5C2758A-026D-4E20-BDAE-397BAEA32A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4888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3DB779ED-5937-4049-82C1-73C3D0AC7E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D31BFA22-42DC-4C6E-B98D-DCF0E55F6A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7961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71DD8E6C-FADD-4585-AD2B-9F18E27806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F317871E-5149-4810-B722-DC6D58367F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1377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C305-30D4-4AE7-B6AF-F63CD5A0F1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L.O. – to have an understanding or ratios, rates, unit rates and how to calculate a best buy.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DD8C0B-20DC-4B79-80CE-61FB24B946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Success, use ratios to split amounts and use unit rates to calculate best buys.</a:t>
            </a:r>
          </a:p>
        </p:txBody>
      </p:sp>
    </p:spTree>
    <p:extLst>
      <p:ext uri="{BB962C8B-B14F-4D97-AF65-F5344CB8AC3E}">
        <p14:creationId xmlns:p14="http://schemas.microsoft.com/office/powerpoint/2010/main" val="2143446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B9835-B7D9-453A-99B0-D5AE59C5F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05871"/>
            <a:ext cx="7886700" cy="36261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/>
              <a:t>You and a friend have started a landscaping company.  You invested $500 and your friend has invested $300 in tools and equipment.</a:t>
            </a:r>
          </a:p>
          <a:p>
            <a:pPr marL="0" indent="0">
              <a:buNone/>
            </a:pPr>
            <a:endParaRPr lang="en-AU" sz="2800" dirty="0"/>
          </a:p>
          <a:p>
            <a:pPr marL="0" indent="0">
              <a:buNone/>
            </a:pPr>
            <a:r>
              <a:rPr lang="en-AU" sz="2800" dirty="0"/>
              <a:t>The company has just made $4000 profit in the first month.  How should the money be shared?</a:t>
            </a:r>
          </a:p>
          <a:p>
            <a:endParaRPr lang="en-AU" sz="2800" dirty="0"/>
          </a:p>
          <a:p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814602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Ratios, rates and best buys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How do I find the best buy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B34B423-C8DC-4CF1-98B0-76DA0B1B452F}"/>
              </a:ext>
            </a:extLst>
          </p:cNvPr>
          <p:cNvSpPr txBox="1">
            <a:spLocks/>
          </p:cNvSpPr>
          <p:nvPr/>
        </p:nvSpPr>
        <p:spPr>
          <a:xfrm>
            <a:off x="2062976" y="1309039"/>
            <a:ext cx="7712723" cy="29841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000" i="1" u="sng" dirty="0">
                <a:latin typeface="Arial" panose="020B0604020202020204" pitchFamily="34" charset="0"/>
              </a:rPr>
              <a:t>ratio</a:t>
            </a:r>
            <a:r>
              <a:rPr lang="en-US" altLang="en-US" sz="2000" dirty="0">
                <a:latin typeface="Arial" panose="020B0604020202020204" pitchFamily="34" charset="0"/>
              </a:rPr>
              <a:t> – a comparison of two numbers of the same type.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 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          </a:t>
            </a:r>
            <a:r>
              <a:rPr lang="en-US" altLang="en-US" sz="2000" dirty="0" err="1">
                <a:latin typeface="Arial" panose="020B0604020202020204" pitchFamily="34" charset="0"/>
              </a:rPr>
              <a:t>eg</a:t>
            </a:r>
            <a:r>
              <a:rPr lang="en-US" altLang="en-US" sz="2000" dirty="0">
                <a:latin typeface="Arial" panose="020B0604020202020204" pitchFamily="34" charset="0"/>
              </a:rPr>
              <a:t> length : length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             volume : volume</a:t>
            </a:r>
            <a:br>
              <a:rPr lang="en-US" altLang="en-US" sz="2000" dirty="0">
                <a:latin typeface="Arial" panose="020B0604020202020204" pitchFamily="34" charset="0"/>
              </a:rPr>
            </a:br>
            <a:endParaRPr lang="en-US" altLang="en-US" sz="2000" dirty="0">
              <a:latin typeface="Arial" panose="020B0604020202020204" pitchFamily="34" charset="0"/>
            </a:endParaRPr>
          </a:p>
          <a:p>
            <a:pPr algn="l"/>
            <a:r>
              <a:rPr lang="en-US" altLang="en-US" sz="2000" i="1" u="sng" dirty="0">
                <a:latin typeface="Arial" panose="020B0604020202020204" pitchFamily="34" charset="0"/>
              </a:rPr>
              <a:t>rate</a:t>
            </a:r>
            <a:r>
              <a:rPr lang="en-US" altLang="en-US" sz="2000" dirty="0">
                <a:latin typeface="Arial" panose="020B0604020202020204" pitchFamily="34" charset="0"/>
              </a:rPr>
              <a:t> – a ratio that compares different kinds of units</a:t>
            </a:r>
            <a:br>
              <a:rPr lang="en-US" altLang="en-US" sz="2000" dirty="0">
                <a:latin typeface="Arial" panose="020B0604020202020204" pitchFamily="34" charset="0"/>
              </a:rPr>
            </a:b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           </a:t>
            </a:r>
            <a:r>
              <a:rPr lang="en-US" altLang="en-US" sz="2000" dirty="0" err="1">
                <a:latin typeface="Arial" panose="020B0604020202020204" pitchFamily="34" charset="0"/>
              </a:rPr>
              <a:t>eg</a:t>
            </a:r>
            <a:r>
              <a:rPr lang="en-US" altLang="en-US" sz="2000" dirty="0">
                <a:latin typeface="Arial" panose="020B0604020202020204" pitchFamily="34" charset="0"/>
              </a:rPr>
              <a:t> km per hour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                 $ per </a:t>
            </a:r>
            <a:r>
              <a:rPr lang="en-US" altLang="en-US" sz="2000" dirty="0" err="1">
                <a:latin typeface="Arial" panose="020B0604020202020204" pitchFamily="34" charset="0"/>
              </a:rPr>
              <a:t>litre</a:t>
            </a:r>
            <a:br>
              <a:rPr lang="en-US" altLang="en-US" sz="2000" dirty="0">
                <a:latin typeface="Arial" panose="020B0604020202020204" pitchFamily="34" charset="0"/>
              </a:rPr>
            </a:b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501957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2">
            <a:extLst>
              <a:ext uri="{FF2B5EF4-FFF2-40B4-BE49-F238E27FC236}">
                <a16:creationId xmlns:a16="http://schemas.microsoft.com/office/drawing/2014/main" id="{B9D24294-C4CD-4393-A9C9-3F10A11E0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779" y="762000"/>
            <a:ext cx="8218449" cy="4191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4000" dirty="0">
                <a:solidFill>
                  <a:srgbClr val="001236"/>
                </a:solidFill>
                <a:latin typeface="+mj-lt"/>
              </a:rPr>
              <a:t>There are </a:t>
            </a:r>
            <a:r>
              <a:rPr lang="en-US" altLang="en-US" sz="4000" dirty="0">
                <a:solidFill>
                  <a:srgbClr val="FF0000"/>
                </a:solidFill>
                <a:latin typeface="+mj-lt"/>
              </a:rPr>
              <a:t>two</a:t>
            </a:r>
            <a:r>
              <a:rPr lang="en-US" altLang="en-US" sz="4000" dirty="0">
                <a:solidFill>
                  <a:srgbClr val="001236"/>
                </a:solidFill>
                <a:latin typeface="+mj-lt"/>
              </a:rPr>
              <a:t> different types of ratios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3600" dirty="0">
                <a:solidFill>
                  <a:srgbClr val="001236"/>
                </a:solidFill>
                <a:latin typeface="+mj-lt"/>
              </a:rPr>
              <a:t>.</a:t>
            </a:r>
            <a:r>
              <a:rPr lang="en-US" altLang="en-US" sz="3600" dirty="0">
                <a:solidFill>
                  <a:srgbClr val="FF0000"/>
                </a:solidFill>
                <a:latin typeface="+mj-lt"/>
              </a:rPr>
              <a:t>Part-to-Part</a:t>
            </a:r>
            <a:r>
              <a:rPr lang="en-US" altLang="en-US" sz="3600" dirty="0">
                <a:solidFill>
                  <a:srgbClr val="001236"/>
                </a:solidFill>
                <a:latin typeface="+mj-lt"/>
              </a:rPr>
              <a:t> Ratios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rgbClr val="001236"/>
                </a:solidFill>
                <a:latin typeface="+mj-lt"/>
              </a:rPr>
              <a:t>Example: Tamara’s dogs to cats is 2 to 8 or 1 to 4</a:t>
            </a:r>
          </a:p>
          <a:p>
            <a:pPr lvl="2">
              <a:buFont typeface="Arial" panose="020B0604020202020204" pitchFamily="34" charset="0"/>
              <a:buNone/>
            </a:pPr>
            <a:endParaRPr lang="en-US" altLang="en-US" sz="1100" dirty="0">
              <a:solidFill>
                <a:srgbClr val="001236"/>
              </a:solidFill>
              <a:latin typeface="+mj-lt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3600" dirty="0">
                <a:solidFill>
                  <a:srgbClr val="001236"/>
                </a:solidFill>
                <a:latin typeface="+mj-lt"/>
              </a:rPr>
              <a:t>.</a:t>
            </a:r>
            <a:r>
              <a:rPr lang="en-US" altLang="en-US" sz="3600" dirty="0">
                <a:solidFill>
                  <a:srgbClr val="FF0000"/>
                </a:solidFill>
                <a:latin typeface="+mj-lt"/>
              </a:rPr>
              <a:t>Part –to-Whole </a:t>
            </a:r>
            <a:r>
              <a:rPr lang="en-US" altLang="en-US" sz="3600" dirty="0">
                <a:solidFill>
                  <a:srgbClr val="001236"/>
                </a:solidFill>
                <a:latin typeface="+mj-lt"/>
              </a:rPr>
              <a:t>Ratios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rgbClr val="001236"/>
                </a:solidFill>
                <a:latin typeface="+mj-lt"/>
              </a:rPr>
              <a:t>Example: Tamara’s dogs to total pets is 2 to 10 or </a:t>
            </a:r>
            <a:r>
              <a:rPr lang="en-US" altLang="en-US" sz="3200" dirty="0">
                <a:solidFill>
                  <a:srgbClr val="FF0000"/>
                </a:solidFill>
                <a:latin typeface="+mj-lt"/>
              </a:rPr>
              <a:t>1 to 5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600" dirty="0">
              <a:latin typeface="+mj-lt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3200" dirty="0">
                <a:latin typeface="+mj-lt"/>
              </a:rPr>
              <a:t> 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3200" dirty="0">
                <a:latin typeface="+mj-lt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4165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>
            <a:extLst>
              <a:ext uri="{FF2B5EF4-FFF2-40B4-BE49-F238E27FC236}">
                <a16:creationId xmlns:a16="http://schemas.microsoft.com/office/drawing/2014/main" id="{4808F94F-77F5-4B8F-AC75-EED83817EC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Let’s try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DC4EE57-59F7-45D2-B03D-86557A58C0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44482" indent="-444482">
              <a:buNone/>
            </a:pPr>
            <a:r>
              <a:rPr lang="en-US" altLang="en-US" dirty="0"/>
              <a:t>The class has 30 students. Fourteen are girls.</a:t>
            </a:r>
          </a:p>
          <a:p>
            <a:pPr marL="444482" indent="-444482">
              <a:buNone/>
            </a:pPr>
            <a:r>
              <a:rPr lang="en-US" altLang="en-US" dirty="0"/>
              <a:t>Write the ratio for……</a:t>
            </a:r>
          </a:p>
          <a:p>
            <a:pPr marL="444482" indent="-444482">
              <a:buNone/>
            </a:pPr>
            <a:r>
              <a:rPr lang="en-US" altLang="en-US" dirty="0"/>
              <a:t>	Girls to boys  </a:t>
            </a:r>
            <a:r>
              <a:rPr lang="en-US" altLang="en-US" dirty="0">
                <a:solidFill>
                  <a:srgbClr val="FF6600"/>
                </a:solidFill>
              </a:rPr>
              <a:t>14:16</a:t>
            </a:r>
            <a:r>
              <a:rPr lang="en-US" altLang="en-US" dirty="0"/>
              <a:t> = 7 to 8 or 7/8</a:t>
            </a:r>
          </a:p>
          <a:p>
            <a:pPr marL="444482" indent="-444482">
              <a:buNone/>
            </a:pPr>
            <a:r>
              <a:rPr lang="en-US" altLang="en-US" dirty="0"/>
              <a:t>	Boys to girls   </a:t>
            </a:r>
            <a:r>
              <a:rPr lang="en-US" altLang="en-US" dirty="0">
                <a:solidFill>
                  <a:srgbClr val="FF6600"/>
                </a:solidFill>
              </a:rPr>
              <a:t>16:14</a:t>
            </a:r>
            <a:r>
              <a:rPr lang="en-US" altLang="en-US" dirty="0"/>
              <a:t> = 8 to 7 or 8/7</a:t>
            </a:r>
          </a:p>
          <a:p>
            <a:pPr marL="444482" indent="-444482">
              <a:buNone/>
            </a:pPr>
            <a:r>
              <a:rPr lang="en-US" altLang="en-US" dirty="0"/>
              <a:t>	Girls to all students  </a:t>
            </a:r>
            <a:r>
              <a:rPr lang="en-US" altLang="en-US" dirty="0">
                <a:solidFill>
                  <a:srgbClr val="FF6600"/>
                </a:solidFill>
              </a:rPr>
              <a:t>14:30</a:t>
            </a:r>
            <a:r>
              <a:rPr lang="en-US" altLang="en-US" dirty="0"/>
              <a:t> = 7 to 15 or 7/15</a:t>
            </a:r>
          </a:p>
          <a:p>
            <a:pPr marL="444482" indent="-444482">
              <a:buNone/>
            </a:pPr>
            <a:r>
              <a:rPr lang="en-US" altLang="en-US" dirty="0"/>
              <a:t>	Boys to all students  </a:t>
            </a:r>
            <a:r>
              <a:rPr lang="en-US" altLang="en-US" dirty="0">
                <a:solidFill>
                  <a:srgbClr val="FF6600"/>
                </a:solidFill>
              </a:rPr>
              <a:t>16:30</a:t>
            </a:r>
            <a:r>
              <a:rPr lang="en-US" altLang="en-US" dirty="0"/>
              <a:t> = 8 to 15 or 8/15</a:t>
            </a:r>
          </a:p>
          <a:p>
            <a:pPr marL="444482" indent="-444482"/>
            <a:endParaRPr lang="en-US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9C2888-8A45-4477-AA05-37682A9A7959}"/>
              </a:ext>
            </a:extLst>
          </p:cNvPr>
          <p:cNvSpPr/>
          <p:nvPr/>
        </p:nvSpPr>
        <p:spPr>
          <a:xfrm>
            <a:off x="2587083" y="2308302"/>
            <a:ext cx="2475571" cy="3456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918D98-9DCF-4C92-9874-C05EE458504D}"/>
              </a:ext>
            </a:extLst>
          </p:cNvPr>
          <p:cNvSpPr/>
          <p:nvPr/>
        </p:nvSpPr>
        <p:spPr>
          <a:xfrm>
            <a:off x="2587083" y="2653990"/>
            <a:ext cx="2475571" cy="3456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D59892-DA67-4F63-9066-9EC339D243F7}"/>
              </a:ext>
            </a:extLst>
          </p:cNvPr>
          <p:cNvSpPr/>
          <p:nvPr/>
        </p:nvSpPr>
        <p:spPr>
          <a:xfrm>
            <a:off x="3334214" y="2999678"/>
            <a:ext cx="2598235" cy="441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C5555-503E-4148-9AD1-89B298E99F71}"/>
              </a:ext>
            </a:extLst>
          </p:cNvPr>
          <p:cNvSpPr/>
          <p:nvPr/>
        </p:nvSpPr>
        <p:spPr>
          <a:xfrm>
            <a:off x="3334213" y="3384592"/>
            <a:ext cx="2598235" cy="441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7607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>
            <a:extLst>
              <a:ext uri="{FF2B5EF4-FFF2-40B4-BE49-F238E27FC236}">
                <a16:creationId xmlns:a16="http://schemas.microsoft.com/office/drawing/2014/main" id="{4808F94F-77F5-4B8F-AC75-EED83817EC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9446" y="305931"/>
            <a:ext cx="7886700" cy="1104636"/>
          </a:xfrm>
        </p:spPr>
        <p:txBody>
          <a:bodyPr/>
          <a:lstStyle/>
          <a:p>
            <a:r>
              <a:rPr lang="en-US" altLang="en-US" dirty="0"/>
              <a:t>To divide by a ratio.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DC4EE57-59F7-45D2-B03D-86557A58C0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8650" y="1521355"/>
            <a:ext cx="7886700" cy="485866"/>
          </a:xfrm>
        </p:spPr>
        <p:txBody>
          <a:bodyPr/>
          <a:lstStyle/>
          <a:p>
            <a:pPr marL="444482" indent="-444482">
              <a:buNone/>
            </a:pPr>
            <a:r>
              <a:rPr lang="en-US" altLang="en-US" dirty="0"/>
              <a:t>1. Add the different parts of the ratio together.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9769001-E358-440A-8270-33D491457C22}"/>
              </a:ext>
            </a:extLst>
          </p:cNvPr>
          <p:cNvSpPr txBox="1">
            <a:spLocks noChangeArrowheads="1"/>
          </p:cNvSpPr>
          <p:nvPr/>
        </p:nvSpPr>
        <p:spPr>
          <a:xfrm>
            <a:off x="1728903" y="1981203"/>
            <a:ext cx="7886700" cy="4858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482" indent="-444482">
              <a:buFont typeface="Arial" panose="020B0604020202020204" pitchFamily="34" charset="0"/>
              <a:buNone/>
            </a:pPr>
            <a:r>
              <a:rPr lang="en-US" altLang="en-US" dirty="0" err="1"/>
              <a:t>Eg</a:t>
            </a:r>
            <a:r>
              <a:rPr lang="en-US" altLang="en-US" dirty="0"/>
              <a:t> 1:4   1+4= 5		1:3:5   1+3+5 = 9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D1904BF-6B5B-4324-8092-9900EA1D16BC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2467069"/>
            <a:ext cx="7886700" cy="931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482" indent="-444482">
              <a:buFont typeface="Arial" panose="020B0604020202020204" pitchFamily="34" charset="0"/>
              <a:buNone/>
            </a:pPr>
            <a:r>
              <a:rPr lang="en-US" altLang="en-US" dirty="0"/>
              <a:t>2. Divide the amount by the total number of parts in each ratio.  </a:t>
            </a:r>
          </a:p>
          <a:p>
            <a:pPr marL="444482" indent="-444482">
              <a:buFont typeface="Arial" panose="020B0604020202020204" pitchFamily="34" charset="0"/>
              <a:buNone/>
            </a:pPr>
            <a:r>
              <a:rPr lang="en-US" altLang="en-US" dirty="0"/>
              <a:t>	</a:t>
            </a:r>
            <a:r>
              <a:rPr lang="en-US" altLang="en-US" dirty="0" err="1"/>
              <a:t>Eg</a:t>
            </a:r>
            <a:r>
              <a:rPr lang="en-US" altLang="en-US" dirty="0"/>
              <a:t> divide $450 by the above ratios.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CBC8C86-D307-4B89-B2F9-7C21021FEDA0}"/>
              </a:ext>
            </a:extLst>
          </p:cNvPr>
          <p:cNvSpPr txBox="1">
            <a:spLocks noChangeArrowheads="1"/>
          </p:cNvSpPr>
          <p:nvPr/>
        </p:nvSpPr>
        <p:spPr>
          <a:xfrm>
            <a:off x="1728903" y="3256551"/>
            <a:ext cx="7886700" cy="15116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482" indent="-444482">
              <a:buNone/>
            </a:pPr>
            <a:r>
              <a:rPr lang="en-US" altLang="en-US" dirty="0" err="1"/>
              <a:t>Eg</a:t>
            </a:r>
            <a:r>
              <a:rPr lang="en-US" altLang="en-US" dirty="0"/>
              <a:t> 1:4   1+4= 5			 1:3:5   1+3+5 = 9</a:t>
            </a:r>
          </a:p>
          <a:p>
            <a:pPr marL="444482" indent="-444482">
              <a:buFont typeface="Arial" panose="020B0604020202020204" pitchFamily="34" charset="0"/>
              <a:buNone/>
            </a:pPr>
            <a:r>
              <a:rPr lang="en-US" altLang="en-US" dirty="0"/>
              <a:t>450 ÷ 5 = $90 per share		    	$450 ÷ 9 = $50 per share</a:t>
            </a:r>
          </a:p>
          <a:p>
            <a:pPr marL="444482" indent="-444482">
              <a:buFont typeface="Arial" panose="020B0604020202020204" pitchFamily="34" charset="0"/>
              <a:buNone/>
            </a:pPr>
            <a:endParaRPr lang="en-US" alt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49DE5A7-B56D-4F1C-8AB2-CEF665536828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4188072"/>
            <a:ext cx="7886700" cy="931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482" indent="-444482">
              <a:buFont typeface="Arial" panose="020B0604020202020204" pitchFamily="34" charset="0"/>
              <a:buNone/>
            </a:pPr>
            <a:r>
              <a:rPr lang="en-US" altLang="en-US" dirty="0"/>
              <a:t>3. Multiply each section of the ratio by the amount per share</a:t>
            </a:r>
          </a:p>
          <a:p>
            <a:pPr marL="444482" indent="-444482">
              <a:buFont typeface="Arial" panose="020B0604020202020204" pitchFamily="34" charset="0"/>
              <a:buNone/>
            </a:pPr>
            <a:r>
              <a:rPr lang="en-US" altLang="en-US" dirty="0"/>
              <a:t>	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7F0DAC6-29EF-4EEE-8B24-25658932656E}"/>
              </a:ext>
            </a:extLst>
          </p:cNvPr>
          <p:cNvSpPr txBox="1">
            <a:spLocks noChangeArrowheads="1"/>
          </p:cNvSpPr>
          <p:nvPr/>
        </p:nvSpPr>
        <p:spPr>
          <a:xfrm>
            <a:off x="1728903" y="4653238"/>
            <a:ext cx="7886700" cy="15116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482" indent="-444482">
              <a:buNone/>
            </a:pPr>
            <a:r>
              <a:rPr lang="en-US" altLang="en-US" dirty="0"/>
              <a:t>1 x 90 : 4 x 90					 1x50 :3x50 :5x50</a:t>
            </a:r>
          </a:p>
          <a:p>
            <a:pPr marL="444482" indent="-444482">
              <a:buNone/>
            </a:pPr>
            <a:r>
              <a:rPr lang="en-US" altLang="en-US" dirty="0"/>
              <a:t>       90 : 360						       50:150:250</a:t>
            </a:r>
          </a:p>
        </p:txBody>
      </p:sp>
    </p:spTree>
    <p:extLst>
      <p:ext uri="{BB962C8B-B14F-4D97-AF65-F5344CB8AC3E}">
        <p14:creationId xmlns:p14="http://schemas.microsoft.com/office/powerpoint/2010/main" val="5823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9F9F14-1D9D-4DB0-9987-FCE392DB5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19" y="1052736"/>
            <a:ext cx="8764403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47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6D821BAF-6FB5-4E82-A57C-513EC64D0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0" y="571500"/>
            <a:ext cx="6413500" cy="508000"/>
          </a:xfrm>
        </p:spPr>
        <p:txBody>
          <a:bodyPr>
            <a:normAutofit fontScale="90000"/>
          </a:bodyPr>
          <a:lstStyle/>
          <a:p>
            <a:r>
              <a:rPr lang="en-US" altLang="en-US" b="1">
                <a:solidFill>
                  <a:srgbClr val="001236"/>
                </a:solidFill>
                <a:latin typeface="+mn-lt"/>
              </a:rPr>
              <a:t>Rates</a:t>
            </a:r>
          </a:p>
        </p:txBody>
      </p:sp>
      <p:sp>
        <p:nvSpPr>
          <p:cNvPr id="14338" name="Content Placeholder 2">
            <a:extLst>
              <a:ext uri="{FF2B5EF4-FFF2-40B4-BE49-F238E27FC236}">
                <a16:creationId xmlns:a16="http://schemas.microsoft.com/office/drawing/2014/main" id="{90CDF1BB-DADA-4B10-AD8D-4CAF572FE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0" y="1079500"/>
            <a:ext cx="6604000" cy="3810000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sz="2800" dirty="0">
                <a:solidFill>
                  <a:srgbClr val="001236"/>
                </a:solidFill>
              </a:rPr>
              <a:t>A </a:t>
            </a:r>
            <a:r>
              <a:rPr lang="en-US" sz="2800" dirty="0">
                <a:solidFill>
                  <a:srgbClr val="FF0000"/>
                </a:solidFill>
              </a:rPr>
              <a:t>rate</a:t>
            </a:r>
            <a:r>
              <a:rPr lang="en-US" sz="2800" dirty="0">
                <a:solidFill>
                  <a:srgbClr val="001236"/>
                </a:solidFill>
              </a:rPr>
              <a:t> is a ratio that compares </a:t>
            </a:r>
            <a:r>
              <a:rPr lang="en-US" sz="2800" dirty="0">
                <a:solidFill>
                  <a:srgbClr val="FF0000"/>
                </a:solidFill>
              </a:rPr>
              <a:t>two</a:t>
            </a:r>
            <a:r>
              <a:rPr lang="en-US" sz="2800" dirty="0">
                <a:solidFill>
                  <a:srgbClr val="001236"/>
                </a:solidFill>
              </a:rPr>
              <a:t> different </a:t>
            </a:r>
            <a:r>
              <a:rPr lang="en-US" sz="2800" dirty="0">
                <a:solidFill>
                  <a:srgbClr val="FF0000"/>
                </a:solidFill>
              </a:rPr>
              <a:t>quantities</a:t>
            </a:r>
            <a:r>
              <a:rPr lang="en-US" sz="2800" dirty="0">
                <a:solidFill>
                  <a:srgbClr val="001236"/>
                </a:solidFill>
              </a:rPr>
              <a:t> or </a:t>
            </a:r>
            <a:r>
              <a:rPr lang="en-US" sz="2800" dirty="0">
                <a:solidFill>
                  <a:srgbClr val="FF0000"/>
                </a:solidFill>
              </a:rPr>
              <a:t>measurements</a:t>
            </a:r>
            <a:r>
              <a:rPr lang="en-US" sz="2800" dirty="0">
                <a:solidFill>
                  <a:srgbClr val="001236"/>
                </a:solidFill>
              </a:rPr>
              <a:t>.</a:t>
            </a:r>
          </a:p>
          <a:p>
            <a:pPr marL="0" indent="0">
              <a:buNone/>
              <a:defRPr/>
            </a:pPr>
            <a:endParaRPr lang="en-US" sz="600" dirty="0">
              <a:solidFill>
                <a:srgbClr val="001236"/>
              </a:solidFill>
            </a:endParaRPr>
          </a:p>
          <a:p>
            <a:pPr marL="0" indent="0">
              <a:buNone/>
              <a:defRPr/>
            </a:pPr>
            <a:r>
              <a:rPr lang="en-US" sz="2800" dirty="0">
                <a:solidFill>
                  <a:srgbClr val="001236"/>
                </a:solidFill>
              </a:rPr>
              <a:t>Rates can be </a:t>
            </a:r>
            <a:r>
              <a:rPr lang="en-US" sz="2800" dirty="0">
                <a:solidFill>
                  <a:srgbClr val="FF0000"/>
                </a:solidFill>
              </a:rPr>
              <a:t>simplified</a:t>
            </a:r>
          </a:p>
          <a:p>
            <a:pPr marL="0" indent="0">
              <a:buNone/>
              <a:defRPr/>
            </a:pPr>
            <a:endParaRPr lang="en-US" sz="600" dirty="0">
              <a:solidFill>
                <a:srgbClr val="001236"/>
              </a:solidFill>
            </a:endParaRPr>
          </a:p>
          <a:p>
            <a:pPr marL="0" indent="0">
              <a:buNone/>
              <a:defRPr/>
            </a:pPr>
            <a:r>
              <a:rPr lang="en-US" sz="2800" dirty="0">
                <a:solidFill>
                  <a:srgbClr val="001236"/>
                </a:solidFill>
              </a:rPr>
              <a:t>Rates us the words </a:t>
            </a:r>
            <a:r>
              <a:rPr lang="en-US" sz="2800" dirty="0">
                <a:solidFill>
                  <a:srgbClr val="FF0000"/>
                </a:solidFill>
              </a:rPr>
              <a:t>per</a:t>
            </a:r>
            <a:r>
              <a:rPr lang="en-US" sz="2800" dirty="0">
                <a:solidFill>
                  <a:srgbClr val="001236"/>
                </a:solidFill>
              </a:rPr>
              <a:t> and </a:t>
            </a:r>
            <a:r>
              <a:rPr lang="en-US" sz="2800" dirty="0">
                <a:solidFill>
                  <a:srgbClr val="FF0000"/>
                </a:solidFill>
              </a:rPr>
              <a:t>for</a:t>
            </a:r>
          </a:p>
          <a:p>
            <a:pPr marL="0" indent="0">
              <a:buNone/>
              <a:defRPr/>
            </a:pPr>
            <a:endParaRPr lang="en-US" sz="300" dirty="0"/>
          </a:p>
          <a:p>
            <a:pPr marL="342900" lvl="1" indent="0">
              <a:buNone/>
              <a:defRPr/>
            </a:pPr>
            <a:r>
              <a:rPr lang="en-US" dirty="0">
                <a:solidFill>
                  <a:srgbClr val="001236"/>
                </a:solidFill>
                <a:latin typeface="+mn-lt"/>
                <a:cs typeface="David" pitchFamily="34" charset="-79"/>
              </a:rPr>
              <a:t>Example:  Driving 55 miles </a:t>
            </a:r>
            <a:r>
              <a:rPr lang="en-US" b="1" dirty="0">
                <a:solidFill>
                  <a:srgbClr val="001236"/>
                </a:solidFill>
                <a:latin typeface="+mn-lt"/>
                <a:cs typeface="David" pitchFamily="34" charset="-79"/>
              </a:rPr>
              <a:t>per</a:t>
            </a:r>
            <a:r>
              <a:rPr lang="en-US" dirty="0">
                <a:solidFill>
                  <a:srgbClr val="001236"/>
                </a:solidFill>
                <a:latin typeface="+mn-lt"/>
                <a:cs typeface="David" pitchFamily="34" charset="-79"/>
              </a:rPr>
              <a:t> hour</a:t>
            </a:r>
          </a:p>
          <a:p>
            <a:pPr marL="380985" lvl="1" indent="0">
              <a:buNone/>
              <a:defRPr/>
            </a:pPr>
            <a:endParaRPr lang="en-US" sz="600" dirty="0">
              <a:solidFill>
                <a:srgbClr val="001236"/>
              </a:solidFill>
              <a:cs typeface="David" pitchFamily="34" charset="-79"/>
            </a:endParaRPr>
          </a:p>
          <a:p>
            <a:pPr marL="342900" lvl="1" indent="0">
              <a:buNone/>
              <a:defRPr/>
            </a:pPr>
            <a:r>
              <a:rPr lang="en-US" dirty="0">
                <a:solidFill>
                  <a:srgbClr val="001236"/>
                </a:solidFill>
                <a:latin typeface="+mn-lt"/>
                <a:cs typeface="David" pitchFamily="34" charset="-79"/>
              </a:rPr>
              <a:t>Example: 3 tickets for $1</a:t>
            </a:r>
          </a:p>
          <a:p>
            <a:pPr marL="380985" lvl="1" indent="0">
              <a:buNone/>
              <a:defRPr/>
            </a:pPr>
            <a:endParaRPr lang="en-US" dirty="0">
              <a:solidFill>
                <a:srgbClr val="001236"/>
              </a:solidFill>
              <a:latin typeface="+mn-lt"/>
            </a:endParaRPr>
          </a:p>
          <a:p>
            <a:pPr marL="0" indent="0">
              <a:buNone/>
              <a:defRPr/>
            </a:pPr>
            <a:endParaRPr lang="en-US" sz="2000" dirty="0"/>
          </a:p>
          <a:p>
            <a:pPr marL="0" indent="0">
              <a:buNone/>
              <a:defRPr/>
            </a:pPr>
            <a:r>
              <a:rPr lang="en-US" sz="2000" dirty="0"/>
              <a:t> </a:t>
            </a:r>
          </a:p>
          <a:p>
            <a:pPr marL="0" indent="0">
              <a:buNone/>
              <a:defRPr/>
            </a:pPr>
            <a:r>
              <a:rPr lang="en-US" sz="2000" dirty="0"/>
              <a:t> 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12AC39B-F0D7-4B8F-BC4F-2CE423DC0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333" y="3315229"/>
            <a:ext cx="412750" cy="205053"/>
          </a:xfrm>
          <a:prstGeom prst="rightArrow">
            <a:avLst>
              <a:gd name="adj1" fmla="val 50000"/>
              <a:gd name="adj2" fmla="val 45747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500">
              <a:latin typeface="+mn-lt"/>
            </a:endParaRPr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D5E4783A-30D8-4E86-AF0A-39E7BED61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386" y="3176324"/>
            <a:ext cx="605896" cy="482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3604CB6B-9490-427A-AFD8-EDB4D0756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0" y="3873500"/>
            <a:ext cx="412750" cy="205053"/>
          </a:xfrm>
          <a:prstGeom prst="rightArrow">
            <a:avLst>
              <a:gd name="adj1" fmla="val 50000"/>
              <a:gd name="adj2" fmla="val 45747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500">
              <a:latin typeface="+mn-lt"/>
            </a:endParaRP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89DBD38E-2A15-4190-B412-EDEF520AB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0" y="3765021"/>
            <a:ext cx="635000" cy="384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3030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7" grpId="0"/>
      <p:bldP spid="2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69D834B3-119A-4942-A6E5-F24595CD0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0" y="571500"/>
            <a:ext cx="6413500" cy="508000"/>
          </a:xfrm>
        </p:spPr>
        <p:txBody>
          <a:bodyPr>
            <a:normAutofit fontScale="90000"/>
          </a:bodyPr>
          <a:lstStyle/>
          <a:p>
            <a:r>
              <a:rPr lang="en-US" altLang="en-US" b="1">
                <a:solidFill>
                  <a:srgbClr val="001236"/>
                </a:solidFill>
                <a:latin typeface="+mn-lt"/>
              </a:rPr>
              <a:t>Unit Rates</a:t>
            </a:r>
          </a:p>
        </p:txBody>
      </p:sp>
      <p:sp>
        <p:nvSpPr>
          <p:cNvPr id="14338" name="Content Placeholder 2">
            <a:extLst>
              <a:ext uri="{FF2B5EF4-FFF2-40B4-BE49-F238E27FC236}">
                <a16:creationId xmlns:a16="http://schemas.microsoft.com/office/drawing/2014/main" id="{120EF47E-C617-4A2F-A703-24596092C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0" y="1079500"/>
            <a:ext cx="6604000" cy="19685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750" dirty="0">
                <a:solidFill>
                  <a:srgbClr val="001236"/>
                </a:solidFill>
              </a:rPr>
              <a:t>A </a:t>
            </a:r>
            <a:r>
              <a:rPr lang="en-US" sz="2750" dirty="0">
                <a:solidFill>
                  <a:srgbClr val="FF0000"/>
                </a:solidFill>
              </a:rPr>
              <a:t>unit rate</a:t>
            </a:r>
            <a:r>
              <a:rPr lang="en-US" sz="2750" dirty="0">
                <a:solidFill>
                  <a:srgbClr val="001236"/>
                </a:solidFill>
              </a:rPr>
              <a:t> is a rate per one unit.  In unit rate the denominator is </a:t>
            </a:r>
            <a:r>
              <a:rPr lang="en-US" sz="2750" dirty="0">
                <a:solidFill>
                  <a:srgbClr val="FF0000"/>
                </a:solidFill>
              </a:rPr>
              <a:t>always </a:t>
            </a:r>
            <a:r>
              <a:rPr lang="en-US" sz="2750" dirty="0">
                <a:solidFill>
                  <a:srgbClr val="001236"/>
                </a:solidFill>
              </a:rPr>
              <a:t>one.</a:t>
            </a:r>
          </a:p>
          <a:p>
            <a:pPr marL="0" indent="0">
              <a:buNone/>
              <a:defRPr/>
            </a:pPr>
            <a:endParaRPr lang="en-US" sz="500" dirty="0">
              <a:solidFill>
                <a:srgbClr val="001236"/>
              </a:solidFill>
            </a:endParaRPr>
          </a:p>
          <a:p>
            <a:pPr marL="342900" lvl="1" indent="0">
              <a:buNone/>
              <a:defRPr/>
            </a:pPr>
            <a:r>
              <a:rPr lang="en-US" dirty="0">
                <a:solidFill>
                  <a:srgbClr val="001236"/>
                </a:solidFill>
                <a:latin typeface="+mn-lt"/>
              </a:rPr>
              <a:t>Example: Miguel types 180 words in 4 min.  How many words can he type per minute?</a:t>
            </a:r>
          </a:p>
          <a:p>
            <a:pPr marL="380985" lvl="1" indent="0">
              <a:buNone/>
              <a:defRPr/>
            </a:pPr>
            <a:endParaRPr lang="en-US" dirty="0">
              <a:solidFill>
                <a:srgbClr val="001236"/>
              </a:solidFill>
              <a:latin typeface="+mn-lt"/>
            </a:endParaRPr>
          </a:p>
          <a:p>
            <a:pPr marL="380985" lvl="1" indent="0">
              <a:buNone/>
              <a:defRPr/>
            </a:pPr>
            <a:endParaRPr lang="en-US" dirty="0">
              <a:solidFill>
                <a:srgbClr val="001236"/>
              </a:solidFill>
              <a:latin typeface="+mn-lt"/>
            </a:endParaRPr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6E7B6ADD-DFAF-4991-9FC8-8D642BF93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761" y="2931584"/>
            <a:ext cx="1136385" cy="518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AutoShape 4">
            <a:extLst>
              <a:ext uri="{FF2B5EF4-FFF2-40B4-BE49-F238E27FC236}">
                <a16:creationId xmlns:a16="http://schemas.microsoft.com/office/drawing/2014/main" id="{5925C0E5-3F18-4BDE-B4DC-DCDFF4A11DB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095500" y="3683000"/>
            <a:ext cx="0" cy="259292"/>
          </a:xfrm>
          <a:prstGeom prst="straightConnector1">
            <a:avLst/>
          </a:prstGeom>
          <a:noFill/>
          <a:ln w="349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" name="AutoShape 3">
            <a:extLst>
              <a:ext uri="{FF2B5EF4-FFF2-40B4-BE49-F238E27FC236}">
                <a16:creationId xmlns:a16="http://schemas.microsoft.com/office/drawing/2014/main" id="{15261930-1653-4D16-98C3-D6C48C25E31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619500" y="3652573"/>
            <a:ext cx="0" cy="259292"/>
          </a:xfrm>
          <a:prstGeom prst="straightConnector1">
            <a:avLst/>
          </a:prstGeom>
          <a:noFill/>
          <a:ln w="349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AutoShape 7">
            <a:extLst>
              <a:ext uri="{FF2B5EF4-FFF2-40B4-BE49-F238E27FC236}">
                <a16:creationId xmlns:a16="http://schemas.microsoft.com/office/drawing/2014/main" id="{812359E6-6D43-4A93-8BDC-FB2D10520D0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43500" y="3542771"/>
            <a:ext cx="0" cy="259292"/>
          </a:xfrm>
          <a:prstGeom prst="straightConnector1">
            <a:avLst/>
          </a:prstGeom>
          <a:noFill/>
          <a:ln w="349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11" name="Rectangle 8">
            <a:extLst>
              <a:ext uri="{FF2B5EF4-FFF2-40B4-BE49-F238E27FC236}">
                <a16:creationId xmlns:a16="http://schemas.microsoft.com/office/drawing/2014/main" id="{6F5C7567-63EB-4F71-A392-A8CFD1BFB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1" y="28918"/>
            <a:ext cx="6463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500">
              <a:latin typeface="+mn-lt"/>
            </a:endParaRPr>
          </a:p>
        </p:txBody>
      </p:sp>
      <p:sp>
        <p:nvSpPr>
          <p:cNvPr id="47112" name="Rectangle 9">
            <a:extLst>
              <a:ext uri="{FF2B5EF4-FFF2-40B4-BE49-F238E27FC236}">
                <a16:creationId xmlns:a16="http://schemas.microsoft.com/office/drawing/2014/main" id="{C7883FF6-4EAF-4399-92ED-55F12D2FF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219418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500">
              <a:latin typeface="+mn-lt"/>
            </a:endParaRP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66D73DBD-09B0-493B-B918-36880ECE2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0" y="2964916"/>
            <a:ext cx="889000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500">
                <a:latin typeface="+mn-lt"/>
              </a:rPr>
              <a:t> =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D933A89C-B309-4427-A5F6-9EA808A7A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0" y="2905063"/>
            <a:ext cx="380149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167">
                <a:latin typeface="+mn-lt"/>
              </a:rPr>
              <a:t>  or  </a:t>
            </a:r>
            <a:r>
              <a:rPr lang="en-US" altLang="en-US" sz="2500">
                <a:latin typeface="+mn-lt"/>
              </a:rPr>
              <a:t>        words per minute</a:t>
            </a:r>
          </a:p>
          <a:p>
            <a:pPr eaLnBrk="0" hangingPunct="0"/>
            <a:endParaRPr lang="en-US" altLang="en-US" sz="1500">
              <a:latin typeface="+mn-lt"/>
            </a:endParaRP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E6AF98DE-4900-4C10-9608-2DD4A8912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1480" y="3534895"/>
            <a:ext cx="5211683" cy="1092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167" dirty="0">
                <a:latin typeface="+mn-lt"/>
              </a:rPr>
              <a:t>	</a:t>
            </a:r>
            <a:r>
              <a:rPr lang="en-US" altLang="en-US" sz="2500" dirty="0">
                <a:latin typeface="+mn-lt"/>
              </a:rPr>
              <a:t>	  </a:t>
            </a:r>
          </a:p>
          <a:p>
            <a:pPr eaLnBrk="0" hangingPunct="0"/>
            <a:r>
              <a:rPr lang="en-US" altLang="en-US" sz="1167" dirty="0">
                <a:latin typeface="+mn-lt"/>
              </a:rPr>
              <a:t>             </a:t>
            </a:r>
            <a:r>
              <a:rPr lang="en-US" altLang="en-US" sz="2500" dirty="0">
                <a:latin typeface="+mn-lt"/>
              </a:rPr>
              <a:t>rate              unit rate        word form</a:t>
            </a:r>
          </a:p>
          <a:p>
            <a:pPr eaLnBrk="0" hangingPunct="0"/>
            <a:endParaRPr lang="en-US" altLang="en-US" sz="1500" dirty="0">
              <a:latin typeface="+mn-lt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E7214442-0804-473E-8CC2-14957E276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449" y="2901416"/>
            <a:ext cx="1113896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500">
                <a:latin typeface="+mn-lt"/>
              </a:rPr>
              <a:t> </a:t>
            </a:r>
            <a:r>
              <a:rPr lang="en-US" altLang="en-US" sz="2500" b="1">
                <a:solidFill>
                  <a:srgbClr val="FF0000"/>
                </a:solidFill>
                <a:latin typeface="+mn-lt"/>
              </a:rPr>
              <a:t>45</a:t>
            </a:r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4EE1CE1B-4C68-43EA-BD3C-3D1F9FA55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1657" y="2798354"/>
            <a:ext cx="1113896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500">
                <a:latin typeface="+mn-lt"/>
              </a:rPr>
              <a:t> </a:t>
            </a:r>
            <a:r>
              <a:rPr lang="en-US" altLang="en-US" sz="2500" b="1" u="sng">
                <a:solidFill>
                  <a:srgbClr val="FF0000"/>
                </a:solidFill>
                <a:latin typeface="+mn-lt"/>
              </a:rPr>
              <a:t>45     </a:t>
            </a:r>
            <a:r>
              <a:rPr lang="en-US" altLang="en-US" sz="2500" b="1">
                <a:solidFill>
                  <a:srgbClr val="FF0000"/>
                </a:solidFill>
                <a:latin typeface="+mn-lt"/>
              </a:rPr>
              <a:t>    </a:t>
            </a:r>
            <a:r>
              <a:rPr lang="en-US" altLang="en-US" sz="2500" b="1" u="sng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en-US" sz="833" b="1">
                <a:solidFill>
                  <a:srgbClr val="FF0000"/>
                </a:solidFill>
                <a:latin typeface="+mn-lt"/>
              </a:rPr>
              <a:t>.</a:t>
            </a:r>
            <a:r>
              <a:rPr lang="en-US" altLang="en-US" sz="2500" b="1">
                <a:solidFill>
                  <a:srgbClr val="FF0000"/>
                </a:solidFill>
                <a:latin typeface="+mn-lt"/>
              </a:rPr>
              <a:t>       1</a:t>
            </a:r>
            <a:endParaRPr lang="en-US" altLang="en-US" sz="2500" b="1" u="sng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882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7" grpId="0"/>
      <p:bldP spid="3" grpId="0" animBg="1"/>
      <p:bldP spid="4" grpId="0" animBg="1"/>
      <p:bldP spid="5" grpId="0" animBg="1"/>
      <p:bldP spid="9" grpId="0"/>
      <p:bldP spid="10" grpId="0"/>
      <p:bldP spid="11" grpId="0"/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2">
            <a:extLst>
              <a:ext uri="{FF2B5EF4-FFF2-40B4-BE49-F238E27FC236}">
                <a16:creationId xmlns:a16="http://schemas.microsoft.com/office/drawing/2014/main" id="{B092B71A-D460-405A-AB5F-BCD5AA413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571500"/>
            <a:ext cx="6667500" cy="4513456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  <a:defRPr/>
            </a:pPr>
            <a:r>
              <a:rPr lang="en-US" sz="2800" dirty="0">
                <a:solidFill>
                  <a:srgbClr val="001236"/>
                </a:solidFill>
              </a:rPr>
              <a:t>Unit rates make it easier to make </a:t>
            </a:r>
            <a:r>
              <a:rPr lang="en-US" sz="2800" dirty="0">
                <a:solidFill>
                  <a:srgbClr val="FF0000"/>
                </a:solidFill>
              </a:rPr>
              <a:t>comparisons</a:t>
            </a:r>
            <a:r>
              <a:rPr lang="en-US" sz="2800" dirty="0"/>
              <a:t> such as which is the better buy.</a:t>
            </a:r>
            <a:endParaRPr lang="en-US" sz="600" dirty="0">
              <a:solidFill>
                <a:srgbClr val="001236"/>
              </a:solidFill>
            </a:endParaRPr>
          </a:p>
          <a:p>
            <a:pPr marL="342900" lvl="1" indent="0">
              <a:buNone/>
              <a:defRPr/>
            </a:pPr>
            <a:r>
              <a:rPr lang="en-US" sz="2000" dirty="0">
                <a:solidFill>
                  <a:srgbClr val="001236"/>
                </a:solidFill>
              </a:rPr>
              <a:t>Example; Steve buys 2 kg of flour for $6  while Ron buys 1.5kg for $4.  Which is the better value? </a:t>
            </a:r>
          </a:p>
          <a:p>
            <a:pPr marL="342900" lvl="1" indent="0">
              <a:buNone/>
              <a:defRPr/>
            </a:pPr>
            <a:endParaRPr lang="en-US" sz="2000" dirty="0">
              <a:solidFill>
                <a:srgbClr val="001236"/>
              </a:solidFill>
              <a:latin typeface="+mn-lt"/>
            </a:endParaRPr>
          </a:p>
          <a:p>
            <a:pPr marL="342900" lvl="1" indent="0">
              <a:buNone/>
              <a:defRPr/>
            </a:pPr>
            <a:r>
              <a:rPr lang="en-US" sz="2000" dirty="0">
                <a:solidFill>
                  <a:srgbClr val="001236"/>
                </a:solidFill>
              </a:rPr>
              <a:t>$ per kg requires $ ÷ kg so    </a:t>
            </a:r>
          </a:p>
          <a:p>
            <a:pPr marL="342900" lvl="1" indent="0">
              <a:buNone/>
              <a:defRPr/>
            </a:pPr>
            <a:r>
              <a:rPr lang="en-US" sz="2000" dirty="0">
                <a:solidFill>
                  <a:srgbClr val="001236"/>
                </a:solidFill>
              </a:rPr>
              <a:t>	6 ÷ 2 = $3 per kg     vs    4 ÷ 1.5 = $2.7 per kg</a:t>
            </a:r>
          </a:p>
          <a:p>
            <a:pPr marL="342900" lvl="1" indent="0">
              <a:buNone/>
              <a:defRPr/>
            </a:pPr>
            <a:endParaRPr lang="en-US" sz="2000" dirty="0">
              <a:solidFill>
                <a:srgbClr val="001236"/>
              </a:solidFill>
              <a:latin typeface="+mn-lt"/>
            </a:endParaRPr>
          </a:p>
          <a:p>
            <a:pPr marL="342900" lvl="1" indent="0">
              <a:buNone/>
              <a:defRPr/>
            </a:pPr>
            <a:r>
              <a:rPr lang="en-US" sz="2000" dirty="0">
                <a:solidFill>
                  <a:srgbClr val="001236"/>
                </a:solidFill>
              </a:rPr>
              <a:t>Therefor Ron has the best buy since he pays less per kg.</a:t>
            </a:r>
            <a:endParaRPr lang="en-US" sz="2000" dirty="0">
              <a:solidFill>
                <a:srgbClr val="001236"/>
              </a:solidFill>
              <a:latin typeface="+mn-lt"/>
            </a:endParaRPr>
          </a:p>
          <a:p>
            <a:pPr marL="380985" lvl="1" indent="0">
              <a:buNone/>
              <a:defRPr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9427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Ratios, rates and best buys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How do I find the best buy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B34B423-C8DC-4CF1-98B0-76DA0B1B452F}"/>
              </a:ext>
            </a:extLst>
          </p:cNvPr>
          <p:cNvSpPr txBox="1">
            <a:spLocks/>
          </p:cNvSpPr>
          <p:nvPr/>
        </p:nvSpPr>
        <p:spPr>
          <a:xfrm>
            <a:off x="1973765" y="2050372"/>
            <a:ext cx="7170235" cy="356428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br>
              <a:rPr lang="en-US" altLang="en-US" sz="1800" dirty="0">
                <a:latin typeface="Arial" panose="020B0604020202020204" pitchFamily="34" charset="0"/>
              </a:rPr>
            </a:b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i="1" u="sng" dirty="0">
                <a:latin typeface="Arial" panose="020B0604020202020204" pitchFamily="34" charset="0"/>
              </a:rPr>
              <a:t>Unit rate </a:t>
            </a:r>
            <a:r>
              <a:rPr lang="en-US" altLang="en-US" sz="1800" dirty="0">
                <a:latin typeface="Arial" panose="020B0604020202020204" pitchFamily="34" charset="0"/>
              </a:rPr>
              <a:t>– when we find the rate for a single unit.</a:t>
            </a:r>
            <a:br>
              <a:rPr lang="en-US" altLang="en-US" sz="1800" dirty="0">
                <a:latin typeface="Arial" panose="020B0604020202020204" pitchFamily="34" charset="0"/>
              </a:rPr>
            </a:b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          so 360 km for 6 hours is a rate 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               360 ÷ 60 = 60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	therefore  </a:t>
            </a:r>
            <a:r>
              <a:rPr lang="en-US" altLang="en-US" sz="1800" b="1" dirty="0">
                <a:latin typeface="Arial" panose="020B0604020202020204" pitchFamily="34" charset="0"/>
              </a:rPr>
              <a:t>60 km for 1 hour </a:t>
            </a:r>
            <a:r>
              <a:rPr lang="en-US" altLang="en-US" sz="1800" dirty="0">
                <a:latin typeface="Arial" panose="020B0604020202020204" pitchFamily="34" charset="0"/>
              </a:rPr>
              <a:t>is the unit rate</a:t>
            </a:r>
            <a:br>
              <a:rPr lang="en-US" altLang="en-US" sz="1800" dirty="0">
                <a:latin typeface="Arial" panose="020B0604020202020204" pitchFamily="34" charset="0"/>
              </a:rPr>
            </a:b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To find the </a:t>
            </a:r>
            <a:r>
              <a:rPr lang="en-US" altLang="en-US" sz="1800" i="1" u="sng" dirty="0">
                <a:latin typeface="Arial" panose="020B0604020202020204" pitchFamily="34" charset="0"/>
              </a:rPr>
              <a:t>best buy</a:t>
            </a:r>
            <a:r>
              <a:rPr lang="en-US" altLang="en-US" sz="1800" dirty="0">
                <a:latin typeface="Arial" panose="020B0604020202020204" pitchFamily="34" charset="0"/>
              </a:rPr>
              <a:t>, find the unit rate and identify which is the cheapest.</a:t>
            </a:r>
            <a:br>
              <a:rPr lang="en-US" altLang="en-US" sz="1800" dirty="0">
                <a:latin typeface="Arial" panose="020B0604020202020204" pitchFamily="34" charset="0"/>
              </a:rPr>
            </a:b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           </a:t>
            </a:r>
            <a:r>
              <a:rPr lang="en-US" altLang="en-US" sz="1800" dirty="0" err="1">
                <a:latin typeface="Arial" panose="020B0604020202020204" pitchFamily="34" charset="0"/>
              </a:rPr>
              <a:t>Eg</a:t>
            </a:r>
            <a:r>
              <a:rPr lang="en-US" altLang="en-US" sz="1800" dirty="0">
                <a:latin typeface="Arial" panose="020B0604020202020204" pitchFamily="34" charset="0"/>
              </a:rPr>
              <a:t>  10 cans of coke costs $9.20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	13.20 ÷ 10 = $0.92 per 1 can</a:t>
            </a:r>
            <a:br>
              <a:rPr lang="en-US" altLang="en-US" sz="1800" dirty="0">
                <a:latin typeface="Arial" panose="020B0604020202020204" pitchFamily="34" charset="0"/>
              </a:rPr>
            </a:b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	    24 cans of coke costs $18.60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	          18.6 ÷ 24 = $0.775</a:t>
            </a:r>
            <a:br>
              <a:rPr lang="en-US" altLang="en-US" sz="1800" dirty="0">
                <a:latin typeface="Arial" panose="020B0604020202020204" pitchFamily="34" charset="0"/>
              </a:rPr>
            </a:b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so the 24 can pack costs less per can so it is the best buy.</a:t>
            </a:r>
            <a:br>
              <a:rPr lang="en-US" altLang="en-US" sz="1800" dirty="0">
                <a:latin typeface="Arial" panose="020B0604020202020204" pitchFamily="34" charset="0"/>
              </a:rPr>
            </a:b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3874621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880870-64BF-4A07-B735-9401397AC2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204"/>
          <a:stretch/>
        </p:blipFill>
        <p:spPr>
          <a:xfrm>
            <a:off x="639801" y="702527"/>
            <a:ext cx="7209669" cy="16726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C94FF4-6BC5-41CD-A98B-F9CACF58ED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538"/>
          <a:stretch/>
        </p:blipFill>
        <p:spPr>
          <a:xfrm>
            <a:off x="639801" y="3468029"/>
            <a:ext cx="7007844" cy="110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60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1503</TotalTime>
  <Words>406</Words>
  <Application>Microsoft Office PowerPoint</Application>
  <PresentationFormat>On-screen Show (16:10)</PresentationFormat>
  <Paragraphs>80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David</vt:lpstr>
      <vt:lpstr>Wingdings</vt:lpstr>
      <vt:lpstr>Office Theme</vt:lpstr>
      <vt:lpstr>L.O. – to have an understanding or ratios, rates, unit rates and how to calculate a best buy.</vt:lpstr>
      <vt:lpstr>PowerPoint Presentation</vt:lpstr>
      <vt:lpstr>Topic : Ratios, rates and best buys</vt:lpstr>
      <vt:lpstr>PowerPoint Presentation</vt:lpstr>
      <vt:lpstr>Let’s try</vt:lpstr>
      <vt:lpstr>To divide by a ratio. </vt:lpstr>
      <vt:lpstr>PowerPoint Presentation</vt:lpstr>
      <vt:lpstr>Rates</vt:lpstr>
      <vt:lpstr>Unit Rates</vt:lpstr>
      <vt:lpstr>PowerPoint Presentation</vt:lpstr>
      <vt:lpstr>Topic : Ratios, rates and best buys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: Ratios, rates and best buys</dc:title>
  <dc:creator>WILSON James [Baldivis Secondary College]</dc:creator>
  <cp:lastModifiedBy>WILSON James [Baldivis Secondary College]</cp:lastModifiedBy>
  <cp:revision>11</cp:revision>
  <dcterms:created xsi:type="dcterms:W3CDTF">2017-11-17T03:27:05Z</dcterms:created>
  <dcterms:modified xsi:type="dcterms:W3CDTF">2017-11-20T14:10:47Z</dcterms:modified>
</cp:coreProperties>
</file>
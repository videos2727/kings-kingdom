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78" r:id="rId11"/>
    <p:sldId id="277" r:id="rId12"/>
    <p:sldId id="271" r:id="rId13"/>
    <p:sldId id="270" r:id="rId14"/>
    <p:sldId id="273" r:id="rId15"/>
    <p:sldId id="274" r:id="rId16"/>
    <p:sldId id="27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55B00-6DD2-46F2-B72D-23CDAF0F4146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0686A9E-742F-448C-A8D8-5763D5BC198A}">
      <dgm:prSet/>
      <dgm:spPr/>
      <dgm:t>
        <a:bodyPr/>
        <a:lstStyle/>
        <a:p>
          <a:r>
            <a:rPr lang="en-US" dirty="0"/>
            <a:t>Find HCF</a:t>
          </a:r>
        </a:p>
      </dgm:t>
    </dgm:pt>
    <dgm:pt modelId="{FF5EC75D-A54B-4740-9A32-1E82D92D8010}" type="parTrans" cxnId="{C8DBDAB0-47FE-4549-A0B1-6055FAB79E6C}">
      <dgm:prSet/>
      <dgm:spPr/>
      <dgm:t>
        <a:bodyPr/>
        <a:lstStyle/>
        <a:p>
          <a:endParaRPr lang="en-US"/>
        </a:p>
      </dgm:t>
    </dgm:pt>
    <dgm:pt modelId="{8A2423BF-64AB-476F-8DB8-AFE99BEEC6AA}" type="sibTrans" cxnId="{C8DBDAB0-47FE-4549-A0B1-6055FAB79E6C}">
      <dgm:prSet/>
      <dgm:spPr/>
      <dgm:t>
        <a:bodyPr/>
        <a:lstStyle/>
        <a:p>
          <a:endParaRPr lang="en-US"/>
        </a:p>
      </dgm:t>
    </dgm:pt>
    <dgm:pt modelId="{DA6E93DB-C24F-4A46-A272-B9D2201DB368}">
      <dgm:prSet/>
      <dgm:spPr/>
      <dgm:t>
        <a:bodyPr/>
        <a:lstStyle/>
        <a:p>
          <a:r>
            <a:rPr lang="en-US" dirty="0"/>
            <a:t>Find the </a:t>
          </a:r>
          <a:r>
            <a:rPr lang="en-US" b="1" dirty="0"/>
            <a:t>highest common factor </a:t>
          </a:r>
          <a:r>
            <a:rPr lang="en-US" dirty="0"/>
            <a:t>(HCF)</a:t>
          </a:r>
        </a:p>
      </dgm:t>
    </dgm:pt>
    <dgm:pt modelId="{6F75AB7A-FAC2-429E-ADED-CA63EED1FF59}" type="parTrans" cxnId="{27BE2A3E-08B0-46B9-9989-A06C97793918}">
      <dgm:prSet/>
      <dgm:spPr/>
      <dgm:t>
        <a:bodyPr/>
        <a:lstStyle/>
        <a:p>
          <a:endParaRPr lang="en-US"/>
        </a:p>
      </dgm:t>
    </dgm:pt>
    <dgm:pt modelId="{EDF98C7D-E371-4CF2-B5E0-364B6D6E6171}" type="sibTrans" cxnId="{27BE2A3E-08B0-46B9-9989-A06C97793918}">
      <dgm:prSet/>
      <dgm:spPr/>
      <dgm:t>
        <a:bodyPr/>
        <a:lstStyle/>
        <a:p>
          <a:endParaRPr lang="en-US"/>
        </a:p>
      </dgm:t>
    </dgm:pt>
    <dgm:pt modelId="{4C4513D9-2629-4F74-BD45-0B95E37132FE}">
      <dgm:prSet/>
      <dgm:spPr/>
      <dgm:t>
        <a:bodyPr/>
        <a:lstStyle/>
        <a:p>
          <a:r>
            <a:rPr lang="en-US"/>
            <a:t>Rewrite</a:t>
          </a:r>
        </a:p>
      </dgm:t>
    </dgm:pt>
    <dgm:pt modelId="{49A2230E-E2F3-4662-AD21-950CA6A1C0D0}" type="parTrans" cxnId="{7F66984C-582A-4929-8C6C-995A58FCA6D8}">
      <dgm:prSet/>
      <dgm:spPr/>
      <dgm:t>
        <a:bodyPr/>
        <a:lstStyle/>
        <a:p>
          <a:endParaRPr lang="en-US"/>
        </a:p>
      </dgm:t>
    </dgm:pt>
    <dgm:pt modelId="{BA8FE4B3-B743-4E84-B304-8213EB255F5D}" type="sibTrans" cxnId="{7F66984C-582A-4929-8C6C-995A58FCA6D8}">
      <dgm:prSet/>
      <dgm:spPr/>
      <dgm:t>
        <a:bodyPr/>
        <a:lstStyle/>
        <a:p>
          <a:endParaRPr lang="en-US"/>
        </a:p>
      </dgm:t>
    </dgm:pt>
    <dgm:pt modelId="{FD937E31-FE07-4E37-9C25-617A323096BF}">
      <dgm:prSet/>
      <dgm:spPr/>
      <dgm:t>
        <a:bodyPr/>
        <a:lstStyle/>
        <a:p>
          <a:r>
            <a:rPr lang="en-US" dirty="0"/>
            <a:t>Rewrite the equation with each term as a </a:t>
          </a:r>
          <a:r>
            <a:rPr lang="en-US" dirty="0">
              <a:solidFill>
                <a:schemeClr val="accent1"/>
              </a:solidFill>
            </a:rPr>
            <a:t>product</a:t>
          </a:r>
          <a:r>
            <a:rPr lang="en-US" dirty="0"/>
            <a:t> of the HCF</a:t>
          </a:r>
        </a:p>
      </dgm:t>
    </dgm:pt>
    <dgm:pt modelId="{364C0E1D-BD90-4F97-ADE0-64D77FFF3C7C}" type="parTrans" cxnId="{CF704F69-381A-4D90-A42C-3330ACCFE39E}">
      <dgm:prSet/>
      <dgm:spPr/>
      <dgm:t>
        <a:bodyPr/>
        <a:lstStyle/>
        <a:p>
          <a:endParaRPr lang="en-US"/>
        </a:p>
      </dgm:t>
    </dgm:pt>
    <dgm:pt modelId="{A5A18DE9-3435-481C-81F8-37D26D395900}" type="sibTrans" cxnId="{CF704F69-381A-4D90-A42C-3330ACCFE39E}">
      <dgm:prSet/>
      <dgm:spPr/>
      <dgm:t>
        <a:bodyPr/>
        <a:lstStyle/>
        <a:p>
          <a:endParaRPr lang="en-US"/>
        </a:p>
      </dgm:t>
    </dgm:pt>
    <dgm:pt modelId="{E88CE4C3-5E13-471D-968F-9380FF6A1543}">
      <dgm:prSet/>
      <dgm:spPr/>
      <dgm:t>
        <a:bodyPr/>
        <a:lstStyle/>
        <a:p>
          <a:r>
            <a:rPr lang="en-US"/>
            <a:t>Factor out</a:t>
          </a:r>
        </a:p>
      </dgm:t>
    </dgm:pt>
    <dgm:pt modelId="{A0C079AD-B696-47BF-B3FA-FEDC5A37E53F}" type="parTrans" cxnId="{84984562-3537-44DE-9CE2-BA5798E9832A}">
      <dgm:prSet/>
      <dgm:spPr/>
      <dgm:t>
        <a:bodyPr/>
        <a:lstStyle/>
        <a:p>
          <a:endParaRPr lang="en-US"/>
        </a:p>
      </dgm:t>
    </dgm:pt>
    <dgm:pt modelId="{72E5B24A-11E9-4710-A861-22ED4D789369}" type="sibTrans" cxnId="{84984562-3537-44DE-9CE2-BA5798E9832A}">
      <dgm:prSet/>
      <dgm:spPr/>
      <dgm:t>
        <a:bodyPr/>
        <a:lstStyle/>
        <a:p>
          <a:endParaRPr lang="en-US"/>
        </a:p>
      </dgm:t>
    </dgm:pt>
    <dgm:pt modelId="{7B8AD5F3-4729-4D37-80EA-67C8F3D06272}">
      <dgm:prSet/>
      <dgm:spPr/>
      <dgm:t>
        <a:bodyPr/>
        <a:lstStyle/>
        <a:p>
          <a:r>
            <a:rPr lang="en-US"/>
            <a:t>Factor out the HCF</a:t>
          </a:r>
        </a:p>
      </dgm:t>
    </dgm:pt>
    <dgm:pt modelId="{FB4F2219-45D1-401E-9EB7-8326D3E5D4A9}" type="parTrans" cxnId="{2D0ADBCA-549B-4FF7-BAD5-7BC559406E9A}">
      <dgm:prSet/>
      <dgm:spPr/>
      <dgm:t>
        <a:bodyPr/>
        <a:lstStyle/>
        <a:p>
          <a:endParaRPr lang="en-US"/>
        </a:p>
      </dgm:t>
    </dgm:pt>
    <dgm:pt modelId="{8C6441D0-A2DB-49D9-936C-35E6AF4969BD}" type="sibTrans" cxnId="{2D0ADBCA-549B-4FF7-BAD5-7BC559406E9A}">
      <dgm:prSet/>
      <dgm:spPr/>
      <dgm:t>
        <a:bodyPr/>
        <a:lstStyle/>
        <a:p>
          <a:endParaRPr lang="en-US"/>
        </a:p>
      </dgm:t>
    </dgm:pt>
    <dgm:pt modelId="{C373B567-50DE-45C8-9EB6-0CDA4FDBF5C4}" type="pres">
      <dgm:prSet presAssocID="{79A55B00-6DD2-46F2-B72D-23CDAF0F41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227E70-FF7A-4BFA-A65D-53D013D9B744}" type="pres">
      <dgm:prSet presAssocID="{E88CE4C3-5E13-471D-968F-9380FF6A1543}" presName="boxAndChildren" presStyleCnt="0"/>
      <dgm:spPr/>
    </dgm:pt>
    <dgm:pt modelId="{A16EFFEA-B1A8-481B-B7D8-CFD5473E6B76}" type="pres">
      <dgm:prSet presAssocID="{E88CE4C3-5E13-471D-968F-9380FF6A1543}" presName="parentTextBox" presStyleLbl="alignNode1" presStyleIdx="0" presStyleCnt="3"/>
      <dgm:spPr/>
      <dgm:t>
        <a:bodyPr/>
        <a:lstStyle/>
        <a:p>
          <a:endParaRPr lang="en-US"/>
        </a:p>
      </dgm:t>
    </dgm:pt>
    <dgm:pt modelId="{03258B88-2388-44DF-87A7-F440F5B56429}" type="pres">
      <dgm:prSet presAssocID="{E88CE4C3-5E13-471D-968F-9380FF6A1543}" presName="descendantBox" presStyleLbl="bgAccFollowNode1" presStyleIdx="0" presStyleCnt="3"/>
      <dgm:spPr/>
      <dgm:t>
        <a:bodyPr/>
        <a:lstStyle/>
        <a:p>
          <a:endParaRPr lang="en-US"/>
        </a:p>
      </dgm:t>
    </dgm:pt>
    <dgm:pt modelId="{6D0E4D51-EB28-4A65-A280-EE202E630D55}" type="pres">
      <dgm:prSet presAssocID="{BA8FE4B3-B743-4E84-B304-8213EB255F5D}" presName="sp" presStyleCnt="0"/>
      <dgm:spPr/>
    </dgm:pt>
    <dgm:pt modelId="{8D49B401-3CDF-46C9-9536-C65FC64D9EA6}" type="pres">
      <dgm:prSet presAssocID="{4C4513D9-2629-4F74-BD45-0B95E37132FE}" presName="arrowAndChildren" presStyleCnt="0"/>
      <dgm:spPr/>
    </dgm:pt>
    <dgm:pt modelId="{629FD962-1FF9-405A-82F3-FB4BEC02ED6D}" type="pres">
      <dgm:prSet presAssocID="{4C4513D9-2629-4F74-BD45-0B95E37132FE}" presName="parentTextArrow" presStyleLbl="node1" presStyleIdx="0" presStyleCnt="0"/>
      <dgm:spPr/>
      <dgm:t>
        <a:bodyPr/>
        <a:lstStyle/>
        <a:p>
          <a:endParaRPr lang="en-US"/>
        </a:p>
      </dgm:t>
    </dgm:pt>
    <dgm:pt modelId="{B8AF76BF-9582-49D7-B076-51AAB162978F}" type="pres">
      <dgm:prSet presAssocID="{4C4513D9-2629-4F74-BD45-0B95E37132FE}" presName="arrow" presStyleLbl="alignNode1" presStyleIdx="1" presStyleCnt="3"/>
      <dgm:spPr/>
      <dgm:t>
        <a:bodyPr/>
        <a:lstStyle/>
        <a:p>
          <a:endParaRPr lang="en-US"/>
        </a:p>
      </dgm:t>
    </dgm:pt>
    <dgm:pt modelId="{5779566C-ACED-40A0-A97C-606BD11E7E2F}" type="pres">
      <dgm:prSet presAssocID="{4C4513D9-2629-4F74-BD45-0B95E37132FE}" presName="descendantArrow" presStyleLbl="bgAccFollowNode1" presStyleIdx="1" presStyleCnt="3"/>
      <dgm:spPr/>
      <dgm:t>
        <a:bodyPr/>
        <a:lstStyle/>
        <a:p>
          <a:endParaRPr lang="en-US"/>
        </a:p>
      </dgm:t>
    </dgm:pt>
    <dgm:pt modelId="{98A27B47-7D7B-4EF7-B063-777A284ACF41}" type="pres">
      <dgm:prSet presAssocID="{8A2423BF-64AB-476F-8DB8-AFE99BEEC6AA}" presName="sp" presStyleCnt="0"/>
      <dgm:spPr/>
    </dgm:pt>
    <dgm:pt modelId="{6D4A3036-4DB1-442A-A0EB-6EFAECD37125}" type="pres">
      <dgm:prSet presAssocID="{00686A9E-742F-448C-A8D8-5763D5BC198A}" presName="arrowAndChildren" presStyleCnt="0"/>
      <dgm:spPr/>
    </dgm:pt>
    <dgm:pt modelId="{B5A849EE-4C43-4155-BB58-0BEF3DBA78E9}" type="pres">
      <dgm:prSet presAssocID="{00686A9E-742F-448C-A8D8-5763D5BC198A}" presName="parentTextArrow" presStyleLbl="node1" presStyleIdx="0" presStyleCnt="0"/>
      <dgm:spPr/>
      <dgm:t>
        <a:bodyPr/>
        <a:lstStyle/>
        <a:p>
          <a:endParaRPr lang="en-US"/>
        </a:p>
      </dgm:t>
    </dgm:pt>
    <dgm:pt modelId="{D5405279-8DD9-43BE-96A0-D09C2BB9E09C}" type="pres">
      <dgm:prSet presAssocID="{00686A9E-742F-448C-A8D8-5763D5BC198A}" presName="arrow" presStyleLbl="alignNode1" presStyleIdx="2" presStyleCnt="3"/>
      <dgm:spPr/>
      <dgm:t>
        <a:bodyPr/>
        <a:lstStyle/>
        <a:p>
          <a:endParaRPr lang="en-US"/>
        </a:p>
      </dgm:t>
    </dgm:pt>
    <dgm:pt modelId="{D7DA9BD4-ECF5-4CBC-A8E8-39667F230E25}" type="pres">
      <dgm:prSet presAssocID="{00686A9E-742F-448C-A8D8-5763D5BC198A}" presName="descendantArrow" presStyleLbl="bgAccFollowNode1" presStyleIdx="2" presStyleCnt="3"/>
      <dgm:spPr/>
      <dgm:t>
        <a:bodyPr/>
        <a:lstStyle/>
        <a:p>
          <a:endParaRPr lang="en-US"/>
        </a:p>
      </dgm:t>
    </dgm:pt>
  </dgm:ptLst>
  <dgm:cxnLst>
    <dgm:cxn modelId="{2D0ADBCA-549B-4FF7-BAD5-7BC559406E9A}" srcId="{E88CE4C3-5E13-471D-968F-9380FF6A1543}" destId="{7B8AD5F3-4729-4D37-80EA-67C8F3D06272}" srcOrd="0" destOrd="0" parTransId="{FB4F2219-45D1-401E-9EB7-8326D3E5D4A9}" sibTransId="{8C6441D0-A2DB-49D9-936C-35E6AF4969BD}"/>
    <dgm:cxn modelId="{C8DBDAB0-47FE-4549-A0B1-6055FAB79E6C}" srcId="{79A55B00-6DD2-46F2-B72D-23CDAF0F4146}" destId="{00686A9E-742F-448C-A8D8-5763D5BC198A}" srcOrd="0" destOrd="0" parTransId="{FF5EC75D-A54B-4740-9A32-1E82D92D8010}" sibTransId="{8A2423BF-64AB-476F-8DB8-AFE99BEEC6AA}"/>
    <dgm:cxn modelId="{46B742BD-C91B-4258-AB8A-ECF3E50732F1}" type="presOf" srcId="{00686A9E-742F-448C-A8D8-5763D5BC198A}" destId="{B5A849EE-4C43-4155-BB58-0BEF3DBA78E9}" srcOrd="0" destOrd="0" presId="urn:microsoft.com/office/officeart/2016/7/layout/VerticalDownArrowProcess"/>
    <dgm:cxn modelId="{A0112158-C009-4909-835F-3E07AFE02FA5}" type="presOf" srcId="{E88CE4C3-5E13-471D-968F-9380FF6A1543}" destId="{A16EFFEA-B1A8-481B-B7D8-CFD5473E6B76}" srcOrd="0" destOrd="0" presId="urn:microsoft.com/office/officeart/2016/7/layout/VerticalDownArrowProcess"/>
    <dgm:cxn modelId="{8AD6611F-86BA-4B47-AD2C-47CCBBCAEB7E}" type="presOf" srcId="{FD937E31-FE07-4E37-9C25-617A323096BF}" destId="{5779566C-ACED-40A0-A97C-606BD11E7E2F}" srcOrd="0" destOrd="0" presId="urn:microsoft.com/office/officeart/2016/7/layout/VerticalDownArrowProcess"/>
    <dgm:cxn modelId="{C67ADA30-B6EB-4C9C-8075-07F909065BB4}" type="presOf" srcId="{79A55B00-6DD2-46F2-B72D-23CDAF0F4146}" destId="{C373B567-50DE-45C8-9EB6-0CDA4FDBF5C4}" srcOrd="0" destOrd="0" presId="urn:microsoft.com/office/officeart/2016/7/layout/VerticalDownArrowProcess"/>
    <dgm:cxn modelId="{4B3B57AD-2AA0-4255-83DC-BA1F0A6269B5}" type="presOf" srcId="{DA6E93DB-C24F-4A46-A272-B9D2201DB368}" destId="{D7DA9BD4-ECF5-4CBC-A8E8-39667F230E25}" srcOrd="0" destOrd="0" presId="urn:microsoft.com/office/officeart/2016/7/layout/VerticalDownArrowProcess"/>
    <dgm:cxn modelId="{AFDA1751-1C57-42F1-842B-2E8BE09E52F8}" type="presOf" srcId="{00686A9E-742F-448C-A8D8-5763D5BC198A}" destId="{D5405279-8DD9-43BE-96A0-D09C2BB9E09C}" srcOrd="1" destOrd="0" presId="urn:microsoft.com/office/officeart/2016/7/layout/VerticalDownArrowProcess"/>
    <dgm:cxn modelId="{3AF594BF-9B58-4E89-9E50-11C6E28C15AD}" type="presOf" srcId="{4C4513D9-2629-4F74-BD45-0B95E37132FE}" destId="{629FD962-1FF9-405A-82F3-FB4BEC02ED6D}" srcOrd="0" destOrd="0" presId="urn:microsoft.com/office/officeart/2016/7/layout/VerticalDownArrowProcess"/>
    <dgm:cxn modelId="{7F66984C-582A-4929-8C6C-995A58FCA6D8}" srcId="{79A55B00-6DD2-46F2-B72D-23CDAF0F4146}" destId="{4C4513D9-2629-4F74-BD45-0B95E37132FE}" srcOrd="1" destOrd="0" parTransId="{49A2230E-E2F3-4662-AD21-950CA6A1C0D0}" sibTransId="{BA8FE4B3-B743-4E84-B304-8213EB255F5D}"/>
    <dgm:cxn modelId="{84984562-3537-44DE-9CE2-BA5798E9832A}" srcId="{79A55B00-6DD2-46F2-B72D-23CDAF0F4146}" destId="{E88CE4C3-5E13-471D-968F-9380FF6A1543}" srcOrd="2" destOrd="0" parTransId="{A0C079AD-B696-47BF-B3FA-FEDC5A37E53F}" sibTransId="{72E5B24A-11E9-4710-A861-22ED4D789369}"/>
    <dgm:cxn modelId="{CF704F69-381A-4D90-A42C-3330ACCFE39E}" srcId="{4C4513D9-2629-4F74-BD45-0B95E37132FE}" destId="{FD937E31-FE07-4E37-9C25-617A323096BF}" srcOrd="0" destOrd="0" parTransId="{364C0E1D-BD90-4F97-ADE0-64D77FFF3C7C}" sibTransId="{A5A18DE9-3435-481C-81F8-37D26D395900}"/>
    <dgm:cxn modelId="{CC4B8148-2DB5-4D42-9EAE-BFF1F2D642F6}" type="presOf" srcId="{7B8AD5F3-4729-4D37-80EA-67C8F3D06272}" destId="{03258B88-2388-44DF-87A7-F440F5B56429}" srcOrd="0" destOrd="0" presId="urn:microsoft.com/office/officeart/2016/7/layout/VerticalDownArrowProcess"/>
    <dgm:cxn modelId="{16072559-696D-46F6-BAC4-F0252DD7E701}" type="presOf" srcId="{4C4513D9-2629-4F74-BD45-0B95E37132FE}" destId="{B8AF76BF-9582-49D7-B076-51AAB162978F}" srcOrd="1" destOrd="0" presId="urn:microsoft.com/office/officeart/2016/7/layout/VerticalDownArrowProcess"/>
    <dgm:cxn modelId="{27BE2A3E-08B0-46B9-9989-A06C97793918}" srcId="{00686A9E-742F-448C-A8D8-5763D5BC198A}" destId="{DA6E93DB-C24F-4A46-A272-B9D2201DB368}" srcOrd="0" destOrd="0" parTransId="{6F75AB7A-FAC2-429E-ADED-CA63EED1FF59}" sibTransId="{EDF98C7D-E371-4CF2-B5E0-364B6D6E6171}"/>
    <dgm:cxn modelId="{BD675790-01F2-47FD-A9AD-D80955C63FD9}" type="presParOf" srcId="{C373B567-50DE-45C8-9EB6-0CDA4FDBF5C4}" destId="{C9227E70-FF7A-4BFA-A65D-53D013D9B744}" srcOrd="0" destOrd="0" presId="urn:microsoft.com/office/officeart/2016/7/layout/VerticalDownArrowProcess"/>
    <dgm:cxn modelId="{8DC23D28-DE42-46D0-963F-5693024676D7}" type="presParOf" srcId="{C9227E70-FF7A-4BFA-A65D-53D013D9B744}" destId="{A16EFFEA-B1A8-481B-B7D8-CFD5473E6B76}" srcOrd="0" destOrd="0" presId="urn:microsoft.com/office/officeart/2016/7/layout/VerticalDownArrowProcess"/>
    <dgm:cxn modelId="{8B2C55F5-2B1F-490D-9D84-30E48E5F3570}" type="presParOf" srcId="{C9227E70-FF7A-4BFA-A65D-53D013D9B744}" destId="{03258B88-2388-44DF-87A7-F440F5B56429}" srcOrd="1" destOrd="0" presId="urn:microsoft.com/office/officeart/2016/7/layout/VerticalDownArrowProcess"/>
    <dgm:cxn modelId="{5ACB57FF-6387-4364-A647-752F7D5AE610}" type="presParOf" srcId="{C373B567-50DE-45C8-9EB6-0CDA4FDBF5C4}" destId="{6D0E4D51-EB28-4A65-A280-EE202E630D55}" srcOrd="1" destOrd="0" presId="urn:microsoft.com/office/officeart/2016/7/layout/VerticalDownArrowProcess"/>
    <dgm:cxn modelId="{3ED10F47-A914-4F87-A897-AE3D9D124BC3}" type="presParOf" srcId="{C373B567-50DE-45C8-9EB6-0CDA4FDBF5C4}" destId="{8D49B401-3CDF-46C9-9536-C65FC64D9EA6}" srcOrd="2" destOrd="0" presId="urn:microsoft.com/office/officeart/2016/7/layout/VerticalDownArrowProcess"/>
    <dgm:cxn modelId="{316E7339-DAAE-4B70-BCE3-4B5E17AAB329}" type="presParOf" srcId="{8D49B401-3CDF-46C9-9536-C65FC64D9EA6}" destId="{629FD962-1FF9-405A-82F3-FB4BEC02ED6D}" srcOrd="0" destOrd="0" presId="urn:microsoft.com/office/officeart/2016/7/layout/VerticalDownArrowProcess"/>
    <dgm:cxn modelId="{004E231A-3D05-48B5-BBC5-3BEA17753A50}" type="presParOf" srcId="{8D49B401-3CDF-46C9-9536-C65FC64D9EA6}" destId="{B8AF76BF-9582-49D7-B076-51AAB162978F}" srcOrd="1" destOrd="0" presId="urn:microsoft.com/office/officeart/2016/7/layout/VerticalDownArrowProcess"/>
    <dgm:cxn modelId="{34215C17-C16D-4646-BD12-893C6E4199B6}" type="presParOf" srcId="{8D49B401-3CDF-46C9-9536-C65FC64D9EA6}" destId="{5779566C-ACED-40A0-A97C-606BD11E7E2F}" srcOrd="2" destOrd="0" presId="urn:microsoft.com/office/officeart/2016/7/layout/VerticalDownArrowProcess"/>
    <dgm:cxn modelId="{5913E605-9321-4513-A88C-5F1EADFA6C7B}" type="presParOf" srcId="{C373B567-50DE-45C8-9EB6-0CDA4FDBF5C4}" destId="{98A27B47-7D7B-4EF7-B063-777A284ACF41}" srcOrd="3" destOrd="0" presId="urn:microsoft.com/office/officeart/2016/7/layout/VerticalDownArrowProcess"/>
    <dgm:cxn modelId="{5FADEB06-D8D8-4ABE-ACF3-4CC86E312A36}" type="presParOf" srcId="{C373B567-50DE-45C8-9EB6-0CDA4FDBF5C4}" destId="{6D4A3036-4DB1-442A-A0EB-6EFAECD37125}" srcOrd="4" destOrd="0" presId="urn:microsoft.com/office/officeart/2016/7/layout/VerticalDownArrowProcess"/>
    <dgm:cxn modelId="{54D7444F-FE4A-47B8-BDF6-E21E176E6D1B}" type="presParOf" srcId="{6D4A3036-4DB1-442A-A0EB-6EFAECD37125}" destId="{B5A849EE-4C43-4155-BB58-0BEF3DBA78E9}" srcOrd="0" destOrd="0" presId="urn:microsoft.com/office/officeart/2016/7/layout/VerticalDownArrowProcess"/>
    <dgm:cxn modelId="{61C928E6-3DCB-4AF8-B8B2-F24262640AB6}" type="presParOf" srcId="{6D4A3036-4DB1-442A-A0EB-6EFAECD37125}" destId="{D5405279-8DD9-43BE-96A0-D09C2BB9E09C}" srcOrd="1" destOrd="0" presId="urn:microsoft.com/office/officeart/2016/7/layout/VerticalDownArrowProcess"/>
    <dgm:cxn modelId="{0390F9FF-156E-406A-A601-F36D9419DEE5}" type="presParOf" srcId="{6D4A3036-4DB1-442A-A0EB-6EFAECD37125}" destId="{D7DA9BD4-ECF5-4CBC-A8E8-39667F230E25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6EFFEA-B1A8-481B-B7D8-CFD5473E6B76}">
      <dsp:nvSpPr>
        <dsp:cNvPr id="0" name=""/>
        <dsp:cNvSpPr/>
      </dsp:nvSpPr>
      <dsp:spPr>
        <a:xfrm>
          <a:off x="0" y="3257557"/>
          <a:ext cx="1454150" cy="1069202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4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19" tIns="177800" rIns="103419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Factor out</a:t>
          </a:r>
        </a:p>
      </dsp:txBody>
      <dsp:txXfrm>
        <a:off x="0" y="3257557"/>
        <a:ext cx="1454150" cy="1069202"/>
      </dsp:txXfrm>
    </dsp:sp>
    <dsp:sp modelId="{03258B88-2388-44DF-87A7-F440F5B56429}">
      <dsp:nvSpPr>
        <dsp:cNvPr id="0" name=""/>
        <dsp:cNvSpPr/>
      </dsp:nvSpPr>
      <dsp:spPr>
        <a:xfrm>
          <a:off x="1454149" y="3257557"/>
          <a:ext cx="4362450" cy="106920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1" tIns="254000" rIns="88491" bIns="2540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Factor out the HCF</a:t>
          </a:r>
        </a:p>
      </dsp:txBody>
      <dsp:txXfrm>
        <a:off x="1454149" y="3257557"/>
        <a:ext cx="4362450" cy="1069202"/>
      </dsp:txXfrm>
    </dsp:sp>
    <dsp:sp modelId="{B8AF76BF-9582-49D7-B076-51AAB162978F}">
      <dsp:nvSpPr>
        <dsp:cNvPr id="0" name=""/>
        <dsp:cNvSpPr/>
      </dsp:nvSpPr>
      <dsp:spPr>
        <a:xfrm rot="10800000">
          <a:off x="0" y="1629161"/>
          <a:ext cx="1454150" cy="16444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-830078"/>
                <a:satOff val="-670"/>
                <a:lumOff val="1373"/>
                <a:alphaOff val="0"/>
                <a:tint val="98000"/>
                <a:lumMod val="102000"/>
              </a:schemeClr>
              <a:schemeClr val="accent4">
                <a:hueOff val="-830078"/>
                <a:satOff val="-670"/>
                <a:lumOff val="1373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4">
              <a:hueOff val="-830078"/>
              <a:satOff val="-670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19" tIns="177800" rIns="103419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Rewrite</a:t>
          </a:r>
        </a:p>
      </dsp:txBody>
      <dsp:txXfrm rot="-10800000">
        <a:off x="0" y="1629161"/>
        <a:ext cx="1454150" cy="1068882"/>
      </dsp:txXfrm>
    </dsp:sp>
    <dsp:sp modelId="{5779566C-ACED-40A0-A97C-606BD11E7E2F}">
      <dsp:nvSpPr>
        <dsp:cNvPr id="0" name=""/>
        <dsp:cNvSpPr/>
      </dsp:nvSpPr>
      <dsp:spPr>
        <a:xfrm>
          <a:off x="1454149" y="1629161"/>
          <a:ext cx="4362450" cy="1068882"/>
        </a:xfrm>
        <a:prstGeom prst="rect">
          <a:avLst/>
        </a:prstGeom>
        <a:solidFill>
          <a:schemeClr val="accent4">
            <a:tint val="40000"/>
            <a:alpha val="90000"/>
            <a:hueOff val="-719648"/>
            <a:satOff val="-432"/>
            <a:lumOff val="184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-719648"/>
              <a:satOff val="-432"/>
              <a:lumOff val="1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1" tIns="254000" rIns="88491" bIns="2540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Rewrite the equation with each term as a </a:t>
          </a:r>
          <a:r>
            <a:rPr lang="en-US" sz="2000" kern="1200" dirty="0">
              <a:solidFill>
                <a:schemeClr val="accent1"/>
              </a:solidFill>
            </a:rPr>
            <a:t>product</a:t>
          </a:r>
          <a:r>
            <a:rPr lang="en-US" sz="2000" kern="1200" dirty="0"/>
            <a:t> of the HCF</a:t>
          </a:r>
        </a:p>
      </dsp:txBody>
      <dsp:txXfrm>
        <a:off x="1454149" y="1629161"/>
        <a:ext cx="4362450" cy="1068882"/>
      </dsp:txXfrm>
    </dsp:sp>
    <dsp:sp modelId="{D5405279-8DD9-43BE-96A0-D09C2BB9E09C}">
      <dsp:nvSpPr>
        <dsp:cNvPr id="0" name=""/>
        <dsp:cNvSpPr/>
      </dsp:nvSpPr>
      <dsp:spPr>
        <a:xfrm rot="10800000">
          <a:off x="0" y="764"/>
          <a:ext cx="1454150" cy="16444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-1660156"/>
                <a:satOff val="-1340"/>
                <a:lumOff val="2746"/>
                <a:alphaOff val="0"/>
                <a:tint val="98000"/>
                <a:lumMod val="102000"/>
              </a:schemeClr>
              <a:schemeClr val="accent4">
                <a:hueOff val="-1660156"/>
                <a:satOff val="-1340"/>
                <a:lumOff val="2746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4">
              <a:hueOff val="-1660156"/>
              <a:satOff val="-1340"/>
              <a:lumOff val="27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19" tIns="177800" rIns="103419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Find HCF</a:t>
          </a:r>
        </a:p>
      </dsp:txBody>
      <dsp:txXfrm rot="-10800000">
        <a:off x="0" y="764"/>
        <a:ext cx="1454150" cy="1068882"/>
      </dsp:txXfrm>
    </dsp:sp>
    <dsp:sp modelId="{D7DA9BD4-ECF5-4CBC-A8E8-39667F230E25}">
      <dsp:nvSpPr>
        <dsp:cNvPr id="0" name=""/>
        <dsp:cNvSpPr/>
      </dsp:nvSpPr>
      <dsp:spPr>
        <a:xfrm>
          <a:off x="1454149" y="764"/>
          <a:ext cx="4362450" cy="1068882"/>
        </a:xfrm>
        <a:prstGeom prst="rect">
          <a:avLst/>
        </a:prstGeom>
        <a:solidFill>
          <a:schemeClr val="accent4">
            <a:tint val="40000"/>
            <a:alpha val="90000"/>
            <a:hueOff val="-1439297"/>
            <a:satOff val="-864"/>
            <a:lumOff val="367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-1439297"/>
              <a:satOff val="-864"/>
              <a:lumOff val="36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1" tIns="254000" rIns="88491" bIns="2540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Find the </a:t>
          </a:r>
          <a:r>
            <a:rPr lang="en-US" sz="2000" b="1" kern="1200" dirty="0"/>
            <a:t>highest common factor </a:t>
          </a:r>
          <a:r>
            <a:rPr lang="en-US" sz="2000" kern="1200" dirty="0"/>
            <a:t>(HCF)</a:t>
          </a:r>
        </a:p>
      </dsp:txBody>
      <dsp:txXfrm>
        <a:off x="1454149" y="764"/>
        <a:ext cx="4362450" cy="1068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11/20/2019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Lesson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144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9772-FCD0-4102-A534-4C8E1616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 Distributive Law</a:t>
            </a:r>
            <a:br>
              <a:rPr lang="en-AU" dirty="0" smtClean="0"/>
            </a:br>
            <a:r>
              <a:rPr lang="en-AU" dirty="0" smtClean="0"/>
              <a:t>EQ: How do I expand binomial brackets?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803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825F-D633-4051-AEC9-6DB74EEA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/>
              <a:t>Topic Distributive Law</a:t>
            </a:r>
            <a:br>
              <a:rPr lang="en-AU" dirty="0"/>
            </a:br>
            <a:r>
              <a:rPr lang="en-AU" dirty="0"/>
              <a:t>EQ: How do I expand binomial brackets?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42441D-FBCA-46D8-84DE-C572105EB2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00" y="2571491"/>
                <a:ext cx="10554574" cy="3636511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3200" dirty="0"/>
                  <a:t> =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+ 3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=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42441D-FBCA-46D8-84DE-C572105EB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00" y="2571491"/>
                <a:ext cx="10554574" cy="36365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DBE17E59-720A-4DE0-BBC7-30EB8D570723}"/>
              </a:ext>
            </a:extLst>
          </p:cNvPr>
          <p:cNvSpPr/>
          <p:nvPr/>
        </p:nvSpPr>
        <p:spPr>
          <a:xfrm>
            <a:off x="5521483" y="3094711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Distributive Law: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a(b + c) = 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x b + a x c 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ab + ac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" y="2397475"/>
            <a:ext cx="6078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i="1" dirty="0"/>
              <a:t>Expanding: Single pair of brackets</a:t>
            </a:r>
          </a:p>
        </p:txBody>
      </p:sp>
    </p:spTree>
    <p:extLst>
      <p:ext uri="{BB962C8B-B14F-4D97-AF65-F5344CB8AC3E}">
        <p14:creationId xmlns:p14="http://schemas.microsoft.com/office/powerpoint/2010/main" val="378067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DB40B6-1E7F-4E77-A96A-5D9D3FEAE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9855" b="18883"/>
          <a:stretch/>
        </p:blipFill>
        <p:spPr>
          <a:xfrm>
            <a:off x="1393623" y="2871520"/>
            <a:ext cx="9394388" cy="272407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82079A-623A-45D7-B36A-F7B4AEFC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Your go…</a:t>
            </a:r>
          </a:p>
        </p:txBody>
      </p:sp>
    </p:spTree>
    <p:extLst>
      <p:ext uri="{BB962C8B-B14F-4D97-AF65-F5344CB8AC3E}">
        <p14:creationId xmlns:p14="http://schemas.microsoft.com/office/powerpoint/2010/main" val="1080758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87A029-B880-4D14-B568-FF301877E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8054"/>
          <a:stretch/>
        </p:blipFill>
        <p:spPr>
          <a:xfrm>
            <a:off x="1758730" y="3868697"/>
            <a:ext cx="6992995" cy="143934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82079A-623A-45D7-B36A-F7B4AEFC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Little bit harder…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CE62E727-A2A7-4729-9103-EFF3B1241B90}"/>
              </a:ext>
            </a:extLst>
          </p:cNvPr>
          <p:cNvSpPr/>
          <p:nvPr/>
        </p:nvSpPr>
        <p:spPr>
          <a:xfrm>
            <a:off x="5255228" y="287552"/>
            <a:ext cx="5057696" cy="299297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Same rules apply as before!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(b + c + d)=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x b + a x c + a x d 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ab + ac + ad </a:t>
            </a:r>
          </a:p>
        </p:txBody>
      </p:sp>
    </p:spTree>
    <p:extLst>
      <p:ext uri="{BB962C8B-B14F-4D97-AF65-F5344CB8AC3E}">
        <p14:creationId xmlns:p14="http://schemas.microsoft.com/office/powerpoint/2010/main" val="298180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AD28-11BE-4791-9DC9-0D9B8E41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Distributive Law</a:t>
            </a:r>
            <a:br>
              <a:rPr lang="en-AU" dirty="0"/>
            </a:br>
            <a:r>
              <a:rPr lang="en-AU" dirty="0"/>
              <a:t>EQ: How do I expand binomial brackets?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B0733-F85F-4014-B1FF-BD3E2624CE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800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+16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+63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B0733-F85F-4014-B1FF-BD3E2624C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18B0F00C-228D-421D-A538-BF96A2CB288C}"/>
              </a:ext>
            </a:extLst>
          </p:cNvPr>
          <p:cNvSpPr/>
          <p:nvPr/>
        </p:nvSpPr>
        <p:spPr>
          <a:xfrm>
            <a:off x="5436833" y="2736170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Two available methods:</a:t>
            </a:r>
          </a:p>
          <a:p>
            <a:pPr marL="342900" indent="-342900" algn="ctr">
              <a:buAutoNum type="arabicPeriod"/>
            </a:pPr>
            <a:r>
              <a:rPr lang="en-AU" sz="2400" dirty="0"/>
              <a:t>Table method</a:t>
            </a:r>
          </a:p>
          <a:p>
            <a:pPr marL="342900" indent="-342900" algn="ctr">
              <a:buAutoNum type="arabicPeriod"/>
            </a:pPr>
            <a:r>
              <a:rPr lang="en-AU" sz="2400" dirty="0"/>
              <a:t>FOIL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712" y="2643970"/>
            <a:ext cx="53030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i="1" dirty="0"/>
              <a:t>Expanding: Binomial brackets</a:t>
            </a:r>
          </a:p>
        </p:txBody>
      </p:sp>
    </p:spTree>
    <p:extLst>
      <p:ext uri="{BB962C8B-B14F-4D97-AF65-F5344CB8AC3E}">
        <p14:creationId xmlns:p14="http://schemas.microsoft.com/office/powerpoint/2010/main" val="399794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8622-3090-4FB5-AB54-4130FB35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Distributive Law</a:t>
            </a:r>
            <a:br>
              <a:rPr lang="en-AU" dirty="0"/>
            </a:br>
            <a:r>
              <a:rPr lang="en-AU" dirty="0"/>
              <a:t>EQ: How do I expand binomial brackets?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BD2881-405E-4A36-8492-132CFB2BC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00" y="2684105"/>
                <a:ext cx="10554574" cy="3636511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32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32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28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28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2800" b="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BD2881-405E-4A36-8492-132CFB2BC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00" y="2684105"/>
                <a:ext cx="10554574" cy="36365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F9C1D27-488D-4530-B989-2D7193D479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121284"/>
                  </p:ext>
                </p:extLst>
              </p:nvPr>
            </p:nvGraphicFramePr>
            <p:xfrm>
              <a:off x="1018563" y="3900055"/>
              <a:ext cx="4239594" cy="2664558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413198">
                      <a:extLst>
                        <a:ext uri="{9D8B030D-6E8A-4147-A177-3AD203B41FA5}">
                          <a16:colId xmlns:a16="http://schemas.microsoft.com/office/drawing/2014/main" val="2302852312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3943325568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2676768138"/>
                        </a:ext>
                      </a:extLst>
                    </a:gridCol>
                  </a:tblGrid>
                  <a:tr h="888186">
                    <a:tc>
                      <a:txBody>
                        <a:bodyPr/>
                        <a:lstStyle/>
                        <a:p>
                          <a:pPr algn="ctr"/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36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722709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36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/>
                            <a:t>+7</a:t>
                          </a:r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AU" sz="28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2334186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/>
                            <a:t>+9</a:t>
                          </a:r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0" dirty="0"/>
                            <a:t>+63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5154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F9C1D27-488D-4530-B989-2D7193D479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121284"/>
                  </p:ext>
                </p:extLst>
              </p:nvPr>
            </p:nvGraphicFramePr>
            <p:xfrm>
              <a:off x="1018563" y="3900055"/>
              <a:ext cx="4239594" cy="2664558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413198">
                      <a:extLst>
                        <a:ext uri="{9D8B030D-6E8A-4147-A177-3AD203B41FA5}">
                          <a16:colId xmlns:a16="http://schemas.microsoft.com/office/drawing/2014/main" val="2302852312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3943325568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2676768138"/>
                        </a:ext>
                      </a:extLst>
                    </a:gridCol>
                  </a:tblGrid>
                  <a:tr h="888186">
                    <a:tc>
                      <a:txBody>
                        <a:bodyPr/>
                        <a:lstStyle/>
                        <a:p>
                          <a:pPr algn="ctr"/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1" t="-685" r="-100862" b="-2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722709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1" t="-100685" r="-200862" b="-1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1" t="-100685" r="-100862" b="-1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31" t="-100685" r="-862" b="-113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2334186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1" t="-200685" r="-100862" b="-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0" dirty="0"/>
                            <a:t>+63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5154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01DC38-0099-466E-B92B-EE19CC9C7802}"/>
                  </a:ext>
                </a:extLst>
              </p:cNvPr>
              <p:cNvSpPr txBox="1"/>
              <p:nvPr/>
            </p:nvSpPr>
            <p:spPr>
              <a:xfrm>
                <a:off x="6456350" y="4025306"/>
                <a:ext cx="470397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+63</m:t>
                      </m:r>
                    </m:oMath>
                  </m:oMathPara>
                </a14:m>
                <a:endParaRPr lang="en-AU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+63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01DC38-0099-466E-B92B-EE19CC9C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350" y="4025306"/>
                <a:ext cx="4703975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810000" y="2235619"/>
            <a:ext cx="58897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i="1" dirty="0"/>
              <a:t>Binomial brackets: Table method</a:t>
            </a:r>
          </a:p>
        </p:txBody>
      </p:sp>
    </p:spTree>
    <p:extLst>
      <p:ext uri="{BB962C8B-B14F-4D97-AF65-F5344CB8AC3E}">
        <p14:creationId xmlns:p14="http://schemas.microsoft.com/office/powerpoint/2010/main" val="330916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699F3-D47A-4F13-8248-1AE0C7C8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28" y="2075378"/>
            <a:ext cx="10571998" cy="970450"/>
          </a:xfrm>
        </p:spPr>
        <p:txBody>
          <a:bodyPr/>
          <a:lstStyle/>
          <a:p>
            <a:r>
              <a:rPr lang="en-AU" sz="2800" i="1" dirty="0"/>
              <a:t>Binomial brackets: FOIL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99AA34-51EE-4E74-8FA2-FB6F0D190C62}"/>
                  </a:ext>
                </a:extLst>
              </p:cNvPr>
              <p:cNvSpPr txBox="1"/>
              <p:nvPr/>
            </p:nvSpPr>
            <p:spPr>
              <a:xfrm>
                <a:off x="6551633" y="2483401"/>
                <a:ext cx="390269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F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/>
              </a:p>
              <a:p>
                <a:r>
                  <a:rPr lang="en-AU" sz="2400" dirty="0"/>
                  <a:t>O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I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L =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9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+7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+63=</m:t>
                    </m:r>
                  </m:oMath>
                </a14:m>
                <a:endParaRPr lang="en-AU" sz="2400" b="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r>
                  <a:rPr lang="en-AU" sz="2400" b="0" dirty="0"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+16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+63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99AA34-51EE-4E74-8FA2-FB6F0D190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633" y="2483401"/>
                <a:ext cx="3902697" cy="3416320"/>
              </a:xfrm>
              <a:prstGeom prst="rect">
                <a:avLst/>
              </a:prstGeom>
              <a:blipFill>
                <a:blip r:embed="rId2"/>
                <a:stretch>
                  <a:fillRect l="-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>
            <a:extLst>
              <a:ext uri="{FF2B5EF4-FFF2-40B4-BE49-F238E27FC236}">
                <a16:creationId xmlns:a16="http://schemas.microsoft.com/office/drawing/2014/main" id="{E96C1FB8-C8B9-4256-8FDD-607A83F1FFD0}"/>
              </a:ext>
            </a:extLst>
          </p:cNvPr>
          <p:cNvSpPr/>
          <p:nvPr/>
        </p:nvSpPr>
        <p:spPr>
          <a:xfrm>
            <a:off x="7522594" y="2347278"/>
            <a:ext cx="980388" cy="546755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5070338-F164-4B8A-BB10-9E05E2724DBD}"/>
              </a:ext>
            </a:extLst>
          </p:cNvPr>
          <p:cNvSpPr/>
          <p:nvPr/>
        </p:nvSpPr>
        <p:spPr>
          <a:xfrm>
            <a:off x="7524161" y="2358273"/>
            <a:ext cx="1487867" cy="546755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E930B7F-1FF9-43FC-8931-F1ADF666600A}"/>
              </a:ext>
            </a:extLst>
          </p:cNvPr>
          <p:cNvSpPr/>
          <p:nvPr/>
        </p:nvSpPr>
        <p:spPr>
          <a:xfrm rot="10800000">
            <a:off x="8012788" y="2680359"/>
            <a:ext cx="980388" cy="546755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247918-9CC5-43FD-9B8E-C5C5D37CB514}"/>
              </a:ext>
            </a:extLst>
          </p:cNvPr>
          <p:cNvSpPr/>
          <p:nvPr/>
        </p:nvSpPr>
        <p:spPr>
          <a:xfrm rot="10800000">
            <a:off x="8014356" y="2681926"/>
            <a:ext cx="488626" cy="430487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C724538-B75B-443C-91D3-6FCC7311DE27}"/>
              </a:ext>
            </a:extLst>
          </p:cNvPr>
          <p:cNvSpPr/>
          <p:nvPr/>
        </p:nvSpPr>
        <p:spPr>
          <a:xfrm>
            <a:off x="1307664" y="3299195"/>
            <a:ext cx="3902697" cy="30998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/>
              <a:t>F </a:t>
            </a:r>
            <a:r>
              <a:rPr lang="en-AU" sz="2000" dirty="0">
                <a:sym typeface="Wingdings" panose="05000000000000000000" pitchFamily="2" charset="2"/>
              </a:rPr>
              <a:t> First terms</a:t>
            </a:r>
            <a:endParaRPr lang="en-AU" sz="2000" dirty="0"/>
          </a:p>
          <a:p>
            <a:r>
              <a:rPr lang="en-AU" sz="2000" dirty="0"/>
              <a:t>O </a:t>
            </a:r>
            <a:r>
              <a:rPr lang="en-AU" sz="2000" dirty="0">
                <a:sym typeface="Wingdings" panose="05000000000000000000" pitchFamily="2" charset="2"/>
              </a:rPr>
              <a:t> Outside terms</a:t>
            </a:r>
            <a:endParaRPr lang="en-AU" sz="2000" dirty="0"/>
          </a:p>
          <a:p>
            <a:r>
              <a:rPr lang="en-AU" sz="2000" dirty="0"/>
              <a:t>I </a:t>
            </a:r>
            <a:r>
              <a:rPr lang="en-AU" sz="2000" dirty="0">
                <a:sym typeface="Wingdings" panose="05000000000000000000" pitchFamily="2" charset="2"/>
              </a:rPr>
              <a:t> Inner terms</a:t>
            </a:r>
            <a:endParaRPr lang="en-AU" sz="2000" dirty="0"/>
          </a:p>
          <a:p>
            <a:r>
              <a:rPr lang="en-AU" sz="2000" dirty="0"/>
              <a:t>L </a:t>
            </a:r>
            <a:r>
              <a:rPr lang="en-AU" sz="2000" dirty="0">
                <a:sym typeface="Wingdings" panose="05000000000000000000" pitchFamily="2" charset="2"/>
              </a:rPr>
              <a:t> Last terms</a:t>
            </a:r>
            <a:endParaRPr lang="en-AU" sz="2000" dirty="0"/>
          </a:p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A68622-3090-4FB5-AB54-4130FB35CD70}"/>
              </a:ext>
            </a:extLst>
          </p:cNvPr>
          <p:cNvSpPr txBox="1">
            <a:spLocks/>
          </p:cNvSpPr>
          <p:nvPr/>
        </p:nvSpPr>
        <p:spPr>
          <a:xfrm>
            <a:off x="962400" y="5995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Topic Distributive Law</a:t>
            </a:r>
            <a:br>
              <a:rPr lang="en-AU" smtClean="0"/>
            </a:br>
            <a:r>
              <a:rPr lang="en-AU" smtClean="0"/>
              <a:t>EQ: How do I expand binomial brackets?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34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2079A-623A-45D7-B36A-F7B4AEFC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You try…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A77E63-3092-43A9-B6BE-65CC21AF162A}"/>
              </a:ext>
            </a:extLst>
          </p:cNvPr>
          <p:cNvGrpSpPr/>
          <p:nvPr/>
        </p:nvGrpSpPr>
        <p:grpSpPr>
          <a:xfrm>
            <a:off x="263951" y="3124014"/>
            <a:ext cx="11476535" cy="1936874"/>
            <a:chOff x="819150" y="3623945"/>
            <a:chExt cx="10553700" cy="1611948"/>
          </a:xfrm>
        </p:grpSpPr>
        <p:pic>
          <p:nvPicPr>
            <p:cNvPr id="10" name="Content Placeholder 4">
              <a:extLst>
                <a:ext uri="{FF2B5EF4-FFF2-40B4-BE49-F238E27FC236}">
                  <a16:creationId xmlns:a16="http://schemas.microsoft.com/office/drawing/2014/main" id="{E3228809-0968-4449-B41A-AC4B0DA66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150" y="4441827"/>
              <a:ext cx="10553700" cy="794066"/>
            </a:xfrm>
            <a:prstGeom prst="rect">
              <a:avLst/>
            </a:prstGeom>
            <a:effectLst>
              <a:outerShdw blurRad="50800" dir="14400000">
                <a:srgbClr val="000000">
                  <a:alpha val="40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7684964-24AF-4202-BB49-3166322BC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" y="3623945"/>
              <a:ext cx="10553700" cy="66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0691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Lesson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176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9772-FCD0-4102-A534-4C8E1616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 Reverse distributive Law</a:t>
            </a:r>
            <a:br>
              <a:rPr lang="en-AU" dirty="0" smtClean="0"/>
            </a:br>
            <a:r>
              <a:rPr lang="en-AU" dirty="0" smtClean="0"/>
              <a:t>EQ: How do I factorise?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840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22B77-FA16-4D4E-BAA6-811C61DB3E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6EF34F-3BAD-4CD8-B05E-03BA773AE86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050631" y="1050634"/>
            <a:ext cx="6857997" cy="4756735"/>
          </a:xfrm>
          <a:custGeom>
            <a:avLst/>
            <a:gdLst>
              <a:gd name="connsiteX0" fmla="*/ 6857997 w 6857997"/>
              <a:gd name="connsiteY0" fmla="*/ 0 h 4756735"/>
              <a:gd name="connsiteX1" fmla="*/ 6857997 w 6857997"/>
              <a:gd name="connsiteY1" fmla="*/ 4458285 h 4756735"/>
              <a:gd name="connsiteX2" fmla="*/ 4861980 w 6857997"/>
              <a:gd name="connsiteY2" fmla="*/ 4458285 h 4756735"/>
              <a:gd name="connsiteX3" fmla="*/ 4480980 w 6857997"/>
              <a:gd name="connsiteY3" fmla="*/ 4744036 h 4756735"/>
              <a:gd name="connsiteX4" fmla="*/ 4472514 w 6857997"/>
              <a:gd name="connsiteY4" fmla="*/ 4747210 h 4756735"/>
              <a:gd name="connsiteX5" fmla="*/ 4459814 w 6857997"/>
              <a:gd name="connsiteY5" fmla="*/ 4751973 h 4756735"/>
              <a:gd name="connsiteX6" fmla="*/ 4447114 w 6857997"/>
              <a:gd name="connsiteY6" fmla="*/ 4756735 h 4756735"/>
              <a:gd name="connsiteX7" fmla="*/ 4436530 w 6857997"/>
              <a:gd name="connsiteY7" fmla="*/ 4756735 h 4756735"/>
              <a:gd name="connsiteX8" fmla="*/ 4423830 w 6857997"/>
              <a:gd name="connsiteY8" fmla="*/ 4756735 h 4756735"/>
              <a:gd name="connsiteX9" fmla="*/ 4413247 w 6857997"/>
              <a:gd name="connsiteY9" fmla="*/ 4751973 h 4756735"/>
              <a:gd name="connsiteX10" fmla="*/ 4400547 w 6857997"/>
              <a:gd name="connsiteY10" fmla="*/ 4747210 h 4756735"/>
              <a:gd name="connsiteX11" fmla="*/ 4392080 w 6857997"/>
              <a:gd name="connsiteY11" fmla="*/ 4744036 h 4756735"/>
              <a:gd name="connsiteX12" fmla="*/ 4011080 w 6857997"/>
              <a:gd name="connsiteY12" fmla="*/ 4458285 h 4756735"/>
              <a:gd name="connsiteX13" fmla="*/ 0 w 6857997"/>
              <a:gd name="connsiteY13" fmla="*/ 4458285 h 4756735"/>
              <a:gd name="connsiteX14" fmla="*/ 1 w 6857997"/>
              <a:gd name="connsiteY14" fmla="*/ 0 h 475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57997" h="4756735">
                <a:moveTo>
                  <a:pt x="6857997" y="0"/>
                </a:moveTo>
                <a:lnTo>
                  <a:pt x="6857997" y="4458285"/>
                </a:lnTo>
                <a:lnTo>
                  <a:pt x="4861980" y="4458285"/>
                </a:lnTo>
                <a:lnTo>
                  <a:pt x="4480980" y="4744036"/>
                </a:lnTo>
                <a:lnTo>
                  <a:pt x="4472514" y="4747210"/>
                </a:lnTo>
                <a:lnTo>
                  <a:pt x="4459814" y="4751973"/>
                </a:lnTo>
                <a:lnTo>
                  <a:pt x="4447114" y="4756735"/>
                </a:lnTo>
                <a:lnTo>
                  <a:pt x="4436530" y="4756735"/>
                </a:lnTo>
                <a:lnTo>
                  <a:pt x="4423830" y="4756735"/>
                </a:lnTo>
                <a:lnTo>
                  <a:pt x="4413247" y="4751973"/>
                </a:lnTo>
                <a:lnTo>
                  <a:pt x="4400547" y="4747210"/>
                </a:lnTo>
                <a:lnTo>
                  <a:pt x="4392080" y="4744036"/>
                </a:lnTo>
                <a:lnTo>
                  <a:pt x="4011080" y="4458285"/>
                </a:lnTo>
                <a:lnTo>
                  <a:pt x="0" y="445828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1DB48-C53C-4B4F-97A9-0073B250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54" y="1918252"/>
            <a:ext cx="3365439" cy="3997635"/>
          </a:xfrm>
        </p:spPr>
        <p:txBody>
          <a:bodyPr anchor="t">
            <a:normAutofit/>
          </a:bodyPr>
          <a:lstStyle/>
          <a:p>
            <a:r>
              <a:rPr lang="en-AU" sz="4400"/>
              <a:t>Factorising: Reverse distributive law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49F61B1-6671-4583-BB3A-2D9C7D44A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964671"/>
              </p:ext>
            </p:extLst>
          </p:nvPr>
        </p:nvGraphicFramePr>
        <p:xfrm>
          <a:off x="5556250" y="1262063"/>
          <a:ext cx="5816600" cy="4327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8527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8974-AD8A-40A0-9683-8CB4878F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612" y="1872557"/>
            <a:ext cx="10571998" cy="970450"/>
          </a:xfrm>
        </p:spPr>
        <p:txBody>
          <a:bodyPr/>
          <a:lstStyle/>
          <a:p>
            <a:r>
              <a:rPr lang="en-AU" sz="2800" i="1" dirty="0"/>
              <a:t>Factorising: Reverse distributive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25E611-7704-4D5B-A423-45DF4A4F13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6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AU" sz="3600" dirty="0"/>
                  <a:t> =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AU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600" dirty="0"/>
                  <a:t>=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36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25E611-7704-4D5B-A423-45DF4A4F1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C28417F8-C9E1-436F-8F57-A4B808FBA07B}"/>
              </a:ext>
            </a:extLst>
          </p:cNvPr>
          <p:cNvSpPr/>
          <p:nvPr/>
        </p:nvSpPr>
        <p:spPr>
          <a:xfrm>
            <a:off x="5512247" y="2766807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Distributive Law: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a(b + c) = 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x b + a x c 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ab + ac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49059A40-3D37-4CFF-8230-E68343B8B733}"/>
              </a:ext>
            </a:extLst>
          </p:cNvPr>
          <p:cNvSpPr/>
          <p:nvPr/>
        </p:nvSpPr>
        <p:spPr>
          <a:xfrm>
            <a:off x="5664647" y="2919207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  <a:p>
            <a:pPr algn="ctr"/>
            <a:endParaRPr lang="en-AU" dirty="0"/>
          </a:p>
          <a:p>
            <a:pPr algn="ctr"/>
            <a:r>
              <a:rPr lang="en-AU" sz="2000" dirty="0"/>
              <a:t>REVERSE Distributive Law: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/>
              <a:t>ab + ac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>
                <a:solidFill>
                  <a:schemeClr val="accent6"/>
                </a:solidFill>
              </a:rPr>
              <a:t>a</a:t>
            </a:r>
            <a:r>
              <a:rPr lang="en-AU" sz="2000" dirty="0"/>
              <a:t> x b + </a:t>
            </a:r>
            <a:r>
              <a:rPr lang="en-AU" sz="2000" dirty="0">
                <a:solidFill>
                  <a:schemeClr val="accent6"/>
                </a:solidFill>
              </a:rPr>
              <a:t>a</a:t>
            </a:r>
            <a:r>
              <a:rPr lang="en-AU" sz="2000" dirty="0"/>
              <a:t> x c =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>
                <a:solidFill>
                  <a:schemeClr val="accent6"/>
                </a:solidFill>
              </a:rPr>
              <a:t>a</a:t>
            </a:r>
            <a:r>
              <a:rPr lang="en-AU" sz="2000" dirty="0"/>
              <a:t>(b + c) = </a:t>
            </a:r>
          </a:p>
          <a:p>
            <a:pPr algn="ctr"/>
            <a:endParaRPr lang="en-AU" dirty="0"/>
          </a:p>
          <a:p>
            <a:pPr algn="ctr"/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9E9772-FCD0-4102-A534-4C8E1616AE03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Topic Reverse distributive Law</a:t>
            </a:r>
            <a:br>
              <a:rPr lang="en-AU" smtClean="0"/>
            </a:br>
            <a:r>
              <a:rPr lang="en-AU" smtClean="0"/>
              <a:t>EQ: How do I factorise?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653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CC0A-0B5E-4521-AE5C-2EA18FED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Here’s another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B1AE24-406F-4042-BDD4-AD8BC44DAD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94791" y="2665428"/>
                <a:ext cx="4356604" cy="697584"/>
              </a:xfrm>
              <a:prstGeom prst="rect">
                <a:avLst/>
              </a:prstGeom>
              <a:ln>
                <a:noFill/>
              </a:ln>
              <a:effectLst>
                <a:outerShdw blurRad="50800" dir="14400000">
                  <a:srgbClr val="000000">
                    <a:alpha val="40000"/>
                  </a:srgbClr>
                </a:outerShdw>
              </a:effectLst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B1AE24-406F-4042-BDD4-AD8BC44D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791" y="2665428"/>
                <a:ext cx="4356604" cy="697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r="14400000">
                  <a:srgbClr val="00000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94603-6A24-4D0F-9021-6CCF3B593D4F}"/>
                  </a:ext>
                </a:extLst>
              </p:cNvPr>
              <p:cNvSpPr txBox="1"/>
              <p:nvPr/>
            </p:nvSpPr>
            <p:spPr>
              <a:xfrm>
                <a:off x="1894791" y="3655246"/>
                <a:ext cx="435660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solidFill>
                      <a:schemeClr val="accent6"/>
                    </a:solidFill>
                  </a:rPr>
                  <a:t>HCF = </a:t>
                </a:r>
                <a14:m>
                  <m:oMath xmlns:m="http://schemas.openxmlformats.org/officeDocument/2006/math">
                    <m:r>
                      <a:rPr lang="en-AU" sz="2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800" dirty="0">
                  <a:solidFill>
                    <a:schemeClr val="accent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94603-6A24-4D0F-9021-6CCF3B593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791" y="3655246"/>
                <a:ext cx="4356604" cy="954107"/>
              </a:xfrm>
              <a:prstGeom prst="rect">
                <a:avLst/>
              </a:prstGeom>
              <a:blipFill>
                <a:blip r:embed="rId3"/>
                <a:stretch>
                  <a:fillRect l="-2941" t="-70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E38CDE-7B35-47ED-AABA-E0DC96AE1733}"/>
                  </a:ext>
                </a:extLst>
              </p:cNvPr>
              <p:cNvSpPr txBox="1"/>
              <p:nvPr/>
            </p:nvSpPr>
            <p:spPr>
              <a:xfrm>
                <a:off x="1894791" y="5094020"/>
                <a:ext cx="43566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(1+2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E38CDE-7B35-47ED-AABA-E0DC96AE1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791" y="5094020"/>
                <a:ext cx="435660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loud 11">
            <a:extLst>
              <a:ext uri="{FF2B5EF4-FFF2-40B4-BE49-F238E27FC236}">
                <a16:creationId xmlns:a16="http://schemas.microsoft.com/office/drawing/2014/main" id="{A1984F71-9807-49DE-956D-17DDDB823B0C}"/>
              </a:ext>
            </a:extLst>
          </p:cNvPr>
          <p:cNvSpPr/>
          <p:nvPr/>
        </p:nvSpPr>
        <p:spPr>
          <a:xfrm>
            <a:off x="6534202" y="2678418"/>
            <a:ext cx="3516198" cy="267721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b="1" dirty="0">
              <a:solidFill>
                <a:schemeClr val="accent6"/>
              </a:solidFill>
            </a:endParaRPr>
          </a:p>
          <a:p>
            <a:pPr algn="ctr"/>
            <a:r>
              <a:rPr lang="en-AU" sz="2800" b="1" dirty="0">
                <a:solidFill>
                  <a:schemeClr val="accent6"/>
                </a:solidFill>
              </a:rPr>
              <a:t>The HCF can include a variable</a:t>
            </a:r>
          </a:p>
          <a:p>
            <a:pPr algn="ctr"/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B67A0B-3206-4F8A-9C4D-0E0202049F1F}"/>
              </a:ext>
            </a:extLst>
          </p:cNvPr>
          <p:cNvSpPr/>
          <p:nvPr/>
        </p:nvSpPr>
        <p:spPr>
          <a:xfrm>
            <a:off x="1611984" y="2592371"/>
            <a:ext cx="3516198" cy="356333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58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11655D-86DD-44E5-9999-B2135809D20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11443580-A880-4C5F-9EB1-FC254EC650C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DB62CA-A458-4E84-AA8F-DB786CDF8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14" y="1807672"/>
            <a:ext cx="11288972" cy="135467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6E51D9-03DC-46DB-BC65-42171194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5151992"/>
            <a:ext cx="10930487" cy="673446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You try…</a:t>
            </a:r>
          </a:p>
        </p:txBody>
      </p:sp>
    </p:spTree>
    <p:extLst>
      <p:ext uri="{BB962C8B-B14F-4D97-AF65-F5344CB8AC3E}">
        <p14:creationId xmlns:p14="http://schemas.microsoft.com/office/powerpoint/2010/main" val="2866487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1E37D9-2D1C-47CD-936B-A4C262E12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14" y="3376981"/>
            <a:ext cx="11288972" cy="1636900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817FC-583D-43BE-A857-C850CA1B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Little bit harder…</a:t>
            </a:r>
          </a:p>
        </p:txBody>
      </p:sp>
    </p:spTree>
    <p:extLst>
      <p:ext uri="{BB962C8B-B14F-4D97-AF65-F5344CB8AC3E}">
        <p14:creationId xmlns:p14="http://schemas.microsoft.com/office/powerpoint/2010/main" val="290306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CCC6F4-C0D3-4E31-A1FF-6A1D7E902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8049" y="2004708"/>
            <a:ext cx="7585922" cy="470327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EF8A89-8A37-4F1C-8EA4-11AE5B0D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Challenge questions</a:t>
            </a:r>
          </a:p>
        </p:txBody>
      </p:sp>
      <p:pic>
        <p:nvPicPr>
          <p:cNvPr id="6" name="Graphic 5" descr="Brain in head">
            <a:extLst>
              <a:ext uri="{FF2B5EF4-FFF2-40B4-BE49-F238E27FC236}">
                <a16:creationId xmlns:a16="http://schemas.microsoft.com/office/drawing/2014/main" id="{DE1D9097-B5DF-418F-9B1B-4F2221DB8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8558" y="2598737"/>
            <a:ext cx="3410933" cy="341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60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452</TotalTime>
  <Words>301</Words>
  <Application>Microsoft Office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Cambria Math</vt:lpstr>
      <vt:lpstr>Century Gothic</vt:lpstr>
      <vt:lpstr>Wingdings</vt:lpstr>
      <vt:lpstr>Wingdings 2</vt:lpstr>
      <vt:lpstr>Quotable</vt:lpstr>
      <vt:lpstr>Lesson 1</vt:lpstr>
      <vt:lpstr>Topic Distributive Law EQ: How do I expand binomial brackets?</vt:lpstr>
      <vt:lpstr> Topic Distributive Law EQ: How do I expand binomial brackets?</vt:lpstr>
      <vt:lpstr>Your go…</vt:lpstr>
      <vt:lpstr>Little bit harder…</vt:lpstr>
      <vt:lpstr>Topic Distributive Law EQ: How do I expand binomial brackets?</vt:lpstr>
      <vt:lpstr>Topic Distributive Law EQ: How do I expand binomial brackets?</vt:lpstr>
      <vt:lpstr>Binomial brackets: FOIL method</vt:lpstr>
      <vt:lpstr>You try…</vt:lpstr>
      <vt:lpstr>Lesson 2</vt:lpstr>
      <vt:lpstr>Topic Reverse distributive Law EQ: How do I factorise?</vt:lpstr>
      <vt:lpstr>Factorising: Reverse distributive law</vt:lpstr>
      <vt:lpstr>Factorising: Reverse distributive law</vt:lpstr>
      <vt:lpstr>Here’s another example…</vt:lpstr>
      <vt:lpstr>You try…</vt:lpstr>
      <vt:lpstr>Little bit harder…</vt:lpstr>
      <vt:lpstr>Challenge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Revision - Lesson 1 of 3</dc:title>
  <dc:creator>Abigail Stephenson</dc:creator>
  <cp:lastModifiedBy>MORGAN Adam [Baldivis Secondary College]</cp:lastModifiedBy>
  <cp:revision>26</cp:revision>
  <dcterms:created xsi:type="dcterms:W3CDTF">2018-04-18T05:14:44Z</dcterms:created>
  <dcterms:modified xsi:type="dcterms:W3CDTF">2019-11-20T01:01:21Z</dcterms:modified>
</cp:coreProperties>
</file>
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2" r:id="rId2"/>
    <p:sldId id="297" r:id="rId3"/>
    <p:sldId id="298" r:id="rId4"/>
    <p:sldId id="311" r:id="rId5"/>
    <p:sldId id="301" r:id="rId6"/>
    <p:sldId id="299" r:id="rId7"/>
    <p:sldId id="300" r:id="rId8"/>
    <p:sldId id="260" r:id="rId9"/>
    <p:sldId id="291" r:id="rId10"/>
    <p:sldId id="292" r:id="rId11"/>
    <p:sldId id="293" r:id="rId12"/>
    <p:sldId id="294" r:id="rId13"/>
    <p:sldId id="295" r:id="rId14"/>
    <p:sldId id="303" r:id="rId15"/>
    <p:sldId id="296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304" r:id="rId36"/>
    <p:sldId id="305" r:id="rId37"/>
    <p:sldId id="306" r:id="rId38"/>
    <p:sldId id="307" r:id="rId39"/>
    <p:sldId id="290" r:id="rId40"/>
    <p:sldId id="308" r:id="rId41"/>
    <p:sldId id="309" r:id="rId42"/>
    <p:sldId id="310" r:id="rId43"/>
  </p:sldIdLst>
  <p:sldSz cx="9144000" cy="5715000" type="screen16x10"/>
  <p:notesSz cx="6858000" cy="9144000"/>
  <p:defaultTextStyle>
    <a:defPPr>
      <a:defRPr lang="en-US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9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7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4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60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60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5"/>
            <a:ext cx="1971675" cy="4843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304275"/>
            <a:ext cx="5800725" cy="4843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4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18/03/2017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microsoft.com/office/2007/relationships/hdphoto" Target="../media/hdphoto2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6341" y="932155"/>
            <a:ext cx="7048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Graphing a parabola</a:t>
            </a:r>
          </a:p>
          <a:p>
            <a:r>
              <a:rPr lang="en-AU" dirty="0"/>
              <a:t>	</a:t>
            </a:r>
            <a:r>
              <a:rPr lang="en-AU" dirty="0" err="1"/>
              <a:t>J.Wilson</a:t>
            </a:r>
            <a:r>
              <a:rPr lang="en-AU" dirty="0"/>
              <a:t> </a:t>
            </a:r>
          </a:p>
          <a:p>
            <a:endParaRPr lang="en-AU" dirty="0"/>
          </a:p>
          <a:p>
            <a:r>
              <a:rPr lang="en-AU" dirty="0"/>
              <a:t>Materials.</a:t>
            </a:r>
          </a:p>
          <a:p>
            <a:r>
              <a:rPr lang="en-AU" dirty="0"/>
              <a:t>	Graph paper (</a:t>
            </a:r>
            <a:r>
              <a:rPr lang="en-AU" dirty="0" err="1"/>
              <a:t>ie</a:t>
            </a:r>
            <a:r>
              <a:rPr lang="en-AU" dirty="0"/>
              <a:t> -10 to 10 with the </a:t>
            </a:r>
            <a:r>
              <a:rPr lang="en-AU" dirty="0" err="1"/>
              <a:t>xy</a:t>
            </a:r>
            <a:r>
              <a:rPr lang="en-AU" dirty="0"/>
              <a:t> tables paper works well) </a:t>
            </a:r>
          </a:p>
        </p:txBody>
      </p:sp>
    </p:spTree>
    <p:extLst>
      <p:ext uri="{BB962C8B-B14F-4D97-AF65-F5344CB8AC3E}">
        <p14:creationId xmlns:p14="http://schemas.microsoft.com/office/powerpoint/2010/main" val="670575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0224" y="468351"/>
            <a:ext cx="221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parabola?</a:t>
            </a:r>
          </a:p>
        </p:txBody>
      </p:sp>
    </p:spTree>
    <p:extLst>
      <p:ext uri="{BB962C8B-B14F-4D97-AF65-F5344CB8AC3E}">
        <p14:creationId xmlns:p14="http://schemas.microsoft.com/office/powerpoint/2010/main" val="305284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8" y="1184136"/>
            <a:ext cx="4758431" cy="37511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153" y="326986"/>
            <a:ext cx="5284151" cy="416558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0224" y="468351"/>
            <a:ext cx="221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parabola?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9754" y="4275594"/>
            <a:ext cx="541205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Can you think of where you might find a parabola in the real world?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8741" y="1166469"/>
            <a:ext cx="2627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positive parabola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8342" y="2973156"/>
            <a:ext cx="2923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negative  parabola</a:t>
            </a:r>
          </a:p>
        </p:txBody>
      </p:sp>
    </p:spTree>
    <p:extLst>
      <p:ext uri="{BB962C8B-B14F-4D97-AF65-F5344CB8AC3E}">
        <p14:creationId xmlns:p14="http://schemas.microsoft.com/office/powerpoint/2010/main" val="2041913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83771"/>
            <a:ext cx="3635619" cy="27267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518" y="3376920"/>
            <a:ext cx="3868701" cy="21729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354" y="3376920"/>
            <a:ext cx="2829860" cy="212239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82" y="1000522"/>
            <a:ext cx="3015928" cy="226194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6967" y="300337"/>
            <a:ext cx="3687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Objects affected by gravity follow a parabolic arc.</a:t>
            </a:r>
          </a:p>
        </p:txBody>
      </p:sp>
    </p:spTree>
    <p:extLst>
      <p:ext uri="{BB962C8B-B14F-4D97-AF65-F5344CB8AC3E}">
        <p14:creationId xmlns:p14="http://schemas.microsoft.com/office/powerpoint/2010/main" val="4043761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rabolas - Remix!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54923" y="831429"/>
            <a:ext cx="7949728" cy="44165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9150" y="295422"/>
            <a:ext cx="668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Parabolas area also used in arches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7841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8" y="1184136"/>
            <a:ext cx="4758431" cy="37511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153" y="326986"/>
            <a:ext cx="5284151" cy="416558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0224" y="468351"/>
            <a:ext cx="221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parabola?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8740" y="4166839"/>
            <a:ext cx="6966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Can you think of where you might find a parabola?</a:t>
            </a:r>
          </a:p>
          <a:p>
            <a:endParaRPr lang="en-AU" dirty="0"/>
          </a:p>
          <a:p>
            <a:r>
              <a:rPr lang="en-AU" dirty="0"/>
              <a:t>Quick write, all the locations you saw a parabola in the video or pictures.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1853" y="1589104"/>
            <a:ext cx="2627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positive parabola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59797" y="2553321"/>
            <a:ext cx="2923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negative  parabola</a:t>
            </a:r>
          </a:p>
        </p:txBody>
      </p:sp>
    </p:spTree>
    <p:extLst>
      <p:ext uri="{BB962C8B-B14F-4D97-AF65-F5344CB8AC3E}">
        <p14:creationId xmlns:p14="http://schemas.microsoft.com/office/powerpoint/2010/main" val="2633517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8" y="1184136"/>
            <a:ext cx="4758431" cy="37511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153" y="326986"/>
            <a:ext cx="5284151" cy="416558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0224" y="468351"/>
            <a:ext cx="221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parabola?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8741" y="4166839"/>
            <a:ext cx="5412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Can you think of where you might find a parabola?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2819" y="4653067"/>
            <a:ext cx="78281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Quick write, all the locations you saw a parabola in the video</a:t>
            </a:r>
            <a:r>
              <a:rPr lang="en-AU" dirty="0"/>
              <a:t> or pictures</a:t>
            </a:r>
            <a:r>
              <a:rPr lang="en-AU" dirty="0"/>
              <a:t>.</a:t>
            </a:r>
          </a:p>
          <a:p>
            <a:r>
              <a:rPr lang="en-AU" dirty="0"/>
              <a:t>Share your list with the person next to you.  Did they have any that you missed?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853" y="1589104"/>
            <a:ext cx="2627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positive parabola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9797" y="2553321"/>
            <a:ext cx="2923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is a negative  parabola</a:t>
            </a:r>
          </a:p>
        </p:txBody>
      </p:sp>
    </p:spTree>
    <p:extLst>
      <p:ext uri="{BB962C8B-B14F-4D97-AF65-F5344CB8AC3E}">
        <p14:creationId xmlns:p14="http://schemas.microsoft.com/office/powerpoint/2010/main" val="193928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(I have used x= -3 to x=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095670"/>
              </p:ext>
            </p:extLst>
          </p:nvPr>
        </p:nvGraphicFramePr>
        <p:xfrm>
          <a:off x="2250286" y="3281905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30373" y="4080659"/>
                <a:ext cx="885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373" y="4080659"/>
                <a:ext cx="885371" cy="276999"/>
              </a:xfrm>
              <a:prstGeom prst="rect">
                <a:avLst/>
              </a:prstGeom>
              <a:blipFill>
                <a:blip r:embed="rId2"/>
                <a:stretch>
                  <a:fillRect l="-6164" t="-4348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130373" y="4357658"/>
                <a:ext cx="1198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(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373" y="4357658"/>
                <a:ext cx="1198149" cy="276999"/>
              </a:xfrm>
              <a:prstGeom prst="rect">
                <a:avLst/>
              </a:prstGeom>
              <a:blipFill>
                <a:blip r:embed="rId3"/>
                <a:stretch>
                  <a:fillRect l="-4569" t="-4444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 rot="611346">
            <a:off x="2979970" y="3275425"/>
            <a:ext cx="291402" cy="1133293"/>
            <a:chOff x="3035705" y="3273451"/>
            <a:chExt cx="291402" cy="1084207"/>
          </a:xfrm>
        </p:grpSpPr>
        <p:sp>
          <p:nvSpPr>
            <p:cNvPr id="8" name="Oval 7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/>
            <p:cNvCxnSpPr>
              <a:stCxn id="8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149429" y="4685719"/>
                <a:ext cx="7798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a:rPr lang="en-AU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429" y="4685719"/>
                <a:ext cx="779829" cy="276999"/>
              </a:xfrm>
              <a:prstGeom prst="rect">
                <a:avLst/>
              </a:prstGeom>
              <a:blipFill>
                <a:blip r:embed="rId4"/>
                <a:stretch>
                  <a:fillRect l="-7031" r="-7031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2679630" y="3866681"/>
            <a:ext cx="695230" cy="1096038"/>
            <a:chOff x="2679630" y="3943811"/>
            <a:chExt cx="695230" cy="1593445"/>
          </a:xfrm>
        </p:grpSpPr>
        <p:cxnSp>
          <p:nvCxnSpPr>
            <p:cNvPr id="23" name="Straight Arrow Connector 22"/>
            <p:cNvCxnSpPr>
              <a:stCxn id="22" idx="7"/>
            </p:cNvCxnSpPr>
            <p:nvPr/>
          </p:nvCxnSpPr>
          <p:spPr>
            <a:xfrm flipV="1">
              <a:off x="3010370" y="3943811"/>
              <a:ext cx="364490" cy="127413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2679630" y="5163155"/>
              <a:ext cx="387486" cy="374101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760582" y="4313423"/>
            <a:ext cx="3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0411" y="363408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99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21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759123"/>
              </p:ext>
            </p:extLst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58453" y="4100731"/>
                <a:ext cx="8340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453" y="4100731"/>
                <a:ext cx="834074" cy="276999"/>
              </a:xfrm>
              <a:prstGeom prst="rect">
                <a:avLst/>
              </a:prstGeom>
              <a:blipFill>
                <a:blip r:embed="rId2"/>
                <a:stretch>
                  <a:fillRect l="-6569" t="-4444" r="-146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858453" y="4377730"/>
                <a:ext cx="1198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453" y="4377730"/>
                <a:ext cx="1198149" cy="276999"/>
              </a:xfrm>
              <a:prstGeom prst="rect">
                <a:avLst/>
              </a:prstGeom>
              <a:blipFill>
                <a:blip r:embed="rId3"/>
                <a:stretch>
                  <a:fillRect l="-4592" t="-4348" r="-1531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 rot="884307">
            <a:off x="3705261" y="3284441"/>
            <a:ext cx="291402" cy="1210936"/>
            <a:chOff x="3035705" y="3273451"/>
            <a:chExt cx="291402" cy="1084207"/>
          </a:xfrm>
        </p:grpSpPr>
        <p:sp>
          <p:nvSpPr>
            <p:cNvPr id="8" name="Oval 7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/>
            <p:cNvCxnSpPr>
              <a:stCxn id="8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866853" y="4684450"/>
                <a:ext cx="80850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  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AU" b="1" dirty="0">
                    <a:solidFill>
                      <a:srgbClr val="002060"/>
                    </a:solidFill>
                  </a:rPr>
                  <a:t> 4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853" y="4684450"/>
                <a:ext cx="808502" cy="276999"/>
              </a:xfrm>
              <a:prstGeom prst="rect">
                <a:avLst/>
              </a:prstGeom>
              <a:blipFill>
                <a:blip r:embed="rId4"/>
                <a:stretch>
                  <a:fillRect l="-10526" t="-28261" r="-15789" b="-5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3419600" y="3950636"/>
            <a:ext cx="695230" cy="1010813"/>
            <a:chOff x="2679630" y="3943811"/>
            <a:chExt cx="695230" cy="1593445"/>
          </a:xfrm>
        </p:grpSpPr>
        <p:cxnSp>
          <p:nvCxnSpPr>
            <p:cNvPr id="23" name="Straight Arrow Connector 22"/>
            <p:cNvCxnSpPr>
              <a:stCxn id="22" idx="7"/>
            </p:cNvCxnSpPr>
            <p:nvPr/>
          </p:nvCxnSpPr>
          <p:spPr>
            <a:xfrm flipV="1">
              <a:off x="3010370" y="3943811"/>
              <a:ext cx="364490" cy="127413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2679630" y="5163155"/>
              <a:ext cx="387486" cy="374101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521675" y="4339943"/>
            <a:ext cx="3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8992" y="3648272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1583" y="3606782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63415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21" grpId="0"/>
      <p:bldP spid="24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661045" y="4080659"/>
                <a:ext cx="8340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045" y="4080659"/>
                <a:ext cx="834074" cy="276999"/>
              </a:xfrm>
              <a:prstGeom prst="rect">
                <a:avLst/>
              </a:prstGeom>
              <a:blipFill>
                <a:blip r:embed="rId2"/>
                <a:stretch>
                  <a:fillRect l="-6618" t="-4348" r="-2206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661045" y="4357658"/>
                <a:ext cx="1198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045" y="4357658"/>
                <a:ext cx="1198149" cy="276999"/>
              </a:xfrm>
              <a:prstGeom prst="rect">
                <a:avLst/>
              </a:prstGeom>
              <a:blipFill>
                <a:blip r:embed="rId3"/>
                <a:stretch>
                  <a:fillRect l="-4592" t="-4444" r="-1531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 rot="835316">
            <a:off x="4467055" y="3284733"/>
            <a:ext cx="291402" cy="1170905"/>
            <a:chOff x="3035705" y="3273451"/>
            <a:chExt cx="291402" cy="1084207"/>
          </a:xfrm>
        </p:grpSpPr>
        <p:sp>
          <p:nvSpPr>
            <p:cNvPr id="8" name="Oval 7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/>
            <p:cNvCxnSpPr>
              <a:stCxn id="8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655434" y="4642341"/>
                <a:ext cx="7189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434" y="4642341"/>
                <a:ext cx="718915" cy="276999"/>
              </a:xfrm>
              <a:prstGeom prst="rect">
                <a:avLst/>
              </a:prstGeom>
              <a:blipFill>
                <a:blip r:embed="rId4"/>
                <a:stretch>
                  <a:fillRect l="-7627" r="-678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4044860" y="3930565"/>
            <a:ext cx="872562" cy="988776"/>
            <a:chOff x="2679630" y="3943811"/>
            <a:chExt cx="695230" cy="1593445"/>
          </a:xfrm>
        </p:grpSpPr>
        <p:cxnSp>
          <p:nvCxnSpPr>
            <p:cNvPr id="23" name="Straight Arrow Connector 22"/>
            <p:cNvCxnSpPr>
              <a:stCxn id="22" idx="7"/>
            </p:cNvCxnSpPr>
            <p:nvPr/>
          </p:nvCxnSpPr>
          <p:spPr>
            <a:xfrm flipV="1">
              <a:off x="3010370" y="3943811"/>
              <a:ext cx="364490" cy="127413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2679630" y="5163155"/>
              <a:ext cx="387486" cy="374101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298524" y="4337684"/>
            <a:ext cx="3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9511" y="364344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4090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8" grpId="0"/>
      <p:bldP spid="24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374723" y="4080659"/>
                <a:ext cx="8340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723" y="4080659"/>
                <a:ext cx="834074" cy="276999"/>
              </a:xfrm>
              <a:prstGeom prst="rect">
                <a:avLst/>
              </a:prstGeom>
              <a:blipFill>
                <a:blip r:embed="rId2"/>
                <a:stretch>
                  <a:fillRect l="-6618" t="-4348" r="-2206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374723" y="4357658"/>
                <a:ext cx="1198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723" y="4357658"/>
                <a:ext cx="1198149" cy="276999"/>
              </a:xfrm>
              <a:prstGeom prst="rect">
                <a:avLst/>
              </a:prstGeom>
              <a:blipFill>
                <a:blip r:embed="rId3"/>
                <a:stretch>
                  <a:fillRect l="-4592" t="-4444" r="-1531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 rot="738035">
            <a:off x="5220332" y="3256465"/>
            <a:ext cx="272591" cy="1200500"/>
            <a:chOff x="3035705" y="3273451"/>
            <a:chExt cx="291402" cy="1084207"/>
          </a:xfrm>
        </p:grpSpPr>
        <p:sp>
          <p:nvSpPr>
            <p:cNvPr id="8" name="Oval 7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/>
            <p:cNvCxnSpPr>
              <a:stCxn id="8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369112" y="4642341"/>
                <a:ext cx="7189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112" y="4642341"/>
                <a:ext cx="718915" cy="276999"/>
              </a:xfrm>
              <a:prstGeom prst="rect">
                <a:avLst/>
              </a:prstGeom>
              <a:blipFill>
                <a:blip r:embed="rId4"/>
                <a:stretch>
                  <a:fillRect l="-7627" r="-678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4748542" y="3930565"/>
            <a:ext cx="882558" cy="988776"/>
            <a:chOff x="2679630" y="3943811"/>
            <a:chExt cx="695230" cy="1593445"/>
          </a:xfrm>
        </p:grpSpPr>
        <p:cxnSp>
          <p:nvCxnSpPr>
            <p:cNvPr id="23" name="Straight Arrow Connector 22"/>
            <p:cNvCxnSpPr>
              <a:stCxn id="22" idx="7"/>
            </p:cNvCxnSpPr>
            <p:nvPr/>
          </p:nvCxnSpPr>
          <p:spPr>
            <a:xfrm flipV="1">
              <a:off x="3010370" y="3943811"/>
              <a:ext cx="364490" cy="127413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2679630" y="5163155"/>
              <a:ext cx="387486" cy="374101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046311" y="4352685"/>
            <a:ext cx="3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9511" y="364344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419" y="362216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58776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18" grpId="0"/>
      <p:bldP spid="24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088394" y="4080659"/>
                <a:ext cx="885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394" y="4080659"/>
                <a:ext cx="885371" cy="276999"/>
              </a:xfrm>
              <a:prstGeom prst="rect">
                <a:avLst/>
              </a:prstGeom>
              <a:blipFill>
                <a:blip r:embed="rId2"/>
                <a:stretch>
                  <a:fillRect l="-6207" t="-4348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88394" y="4357658"/>
                <a:ext cx="1198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394" y="4357658"/>
                <a:ext cx="1198149" cy="276999"/>
              </a:xfrm>
              <a:prstGeom prst="rect">
                <a:avLst/>
              </a:prstGeom>
              <a:blipFill>
                <a:blip r:embed="rId3"/>
                <a:stretch>
                  <a:fillRect l="-4592" t="-4444" r="-1531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 rot="858442">
            <a:off x="5917050" y="3283313"/>
            <a:ext cx="291402" cy="1139824"/>
            <a:chOff x="3035705" y="3273451"/>
            <a:chExt cx="291402" cy="1084207"/>
          </a:xfrm>
        </p:grpSpPr>
        <p:sp>
          <p:nvSpPr>
            <p:cNvPr id="8" name="Oval 7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/>
            <p:cNvCxnSpPr>
              <a:stCxn id="8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067508" y="4664378"/>
                <a:ext cx="8311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  </m:t>
                      </m:r>
                      <m:r>
                        <a:rPr lang="en-AU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508" y="4664378"/>
                <a:ext cx="831125" cy="276999"/>
              </a:xfrm>
              <a:prstGeom prst="rect">
                <a:avLst/>
              </a:prstGeom>
              <a:blipFill>
                <a:blip r:embed="rId4"/>
                <a:stretch>
                  <a:fillRect l="-6569" r="-6569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5649541" y="3844032"/>
            <a:ext cx="695230" cy="1097346"/>
            <a:chOff x="2679630" y="3943811"/>
            <a:chExt cx="695230" cy="1593445"/>
          </a:xfrm>
        </p:grpSpPr>
        <p:cxnSp>
          <p:nvCxnSpPr>
            <p:cNvPr id="23" name="Straight Arrow Connector 22"/>
            <p:cNvCxnSpPr>
              <a:stCxn id="22" idx="7"/>
            </p:cNvCxnSpPr>
            <p:nvPr/>
          </p:nvCxnSpPr>
          <p:spPr>
            <a:xfrm flipV="1">
              <a:off x="3010370" y="3943811"/>
              <a:ext cx="364490" cy="127413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2679630" y="5163155"/>
              <a:ext cx="387486" cy="374101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5724647" y="4326352"/>
            <a:ext cx="3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4563" y="3641751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419" y="362216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2995" y="361070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62836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21" grpId="0"/>
      <p:bldP spid="24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924737" y="4080659"/>
                <a:ext cx="8340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737" y="4080659"/>
                <a:ext cx="834074" cy="276999"/>
              </a:xfrm>
              <a:prstGeom prst="rect">
                <a:avLst/>
              </a:prstGeom>
              <a:blipFill>
                <a:blip r:embed="rId2"/>
                <a:stretch>
                  <a:fillRect l="-6569" t="-4348" r="-1460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924737" y="4357658"/>
                <a:ext cx="1198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737" y="4357658"/>
                <a:ext cx="1198149" cy="276999"/>
              </a:xfrm>
              <a:prstGeom prst="rect">
                <a:avLst/>
              </a:prstGeom>
              <a:blipFill>
                <a:blip r:embed="rId3"/>
                <a:stretch>
                  <a:fillRect l="-4592" t="-4444" r="-1531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 rot="378708">
            <a:off x="6755531" y="3262731"/>
            <a:ext cx="291402" cy="1084207"/>
            <a:chOff x="3035705" y="3273451"/>
            <a:chExt cx="291402" cy="1084207"/>
          </a:xfrm>
        </p:grpSpPr>
        <p:sp>
          <p:nvSpPr>
            <p:cNvPr id="8" name="Oval 7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/>
            <p:cNvCxnSpPr>
              <a:stCxn id="8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888668" y="4631861"/>
                <a:ext cx="90269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a:rPr lang="en-AU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668" y="4631861"/>
                <a:ext cx="902696" cy="276999"/>
              </a:xfrm>
              <a:prstGeom prst="rect">
                <a:avLst/>
              </a:prstGeom>
              <a:blipFill>
                <a:blip r:embed="rId4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6423706" y="3895261"/>
            <a:ext cx="695230" cy="1013599"/>
            <a:chOff x="2679630" y="3943811"/>
            <a:chExt cx="695230" cy="1593445"/>
          </a:xfrm>
        </p:grpSpPr>
        <p:cxnSp>
          <p:nvCxnSpPr>
            <p:cNvPr id="23" name="Straight Arrow Connector 22"/>
            <p:cNvCxnSpPr>
              <a:stCxn id="22" idx="7"/>
            </p:cNvCxnSpPr>
            <p:nvPr/>
          </p:nvCxnSpPr>
          <p:spPr>
            <a:xfrm flipV="1">
              <a:off x="3010370" y="3943811"/>
              <a:ext cx="364490" cy="127413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2679630" y="5163155"/>
              <a:ext cx="387486" cy="374101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6561291" y="4336297"/>
            <a:ext cx="3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9511" y="364344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419" y="362216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7682" y="361124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6789" y="361124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60537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21" grpId="0"/>
      <p:bldP spid="24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672404" y="4080659"/>
                <a:ext cx="8340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404" y="4080659"/>
                <a:ext cx="834074" cy="276999"/>
              </a:xfrm>
              <a:prstGeom prst="rect">
                <a:avLst/>
              </a:prstGeom>
              <a:blipFill>
                <a:blip r:embed="rId2"/>
                <a:stretch>
                  <a:fillRect l="-6618" t="-4348" r="-2206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672404" y="4357658"/>
                <a:ext cx="11981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404" y="4357658"/>
                <a:ext cx="1198149" cy="276999"/>
              </a:xfrm>
              <a:prstGeom prst="rect">
                <a:avLst/>
              </a:prstGeom>
              <a:blipFill>
                <a:blip r:embed="rId3"/>
                <a:stretch>
                  <a:fillRect l="-4592" t="-4444" r="-1531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 rot="680824">
            <a:off x="7523243" y="3293045"/>
            <a:ext cx="291402" cy="1105881"/>
            <a:chOff x="3035705" y="3273451"/>
            <a:chExt cx="291402" cy="1084207"/>
          </a:xfrm>
        </p:grpSpPr>
        <p:sp>
          <p:nvSpPr>
            <p:cNvPr id="8" name="Oval 7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/>
            <p:cNvCxnSpPr>
              <a:stCxn id="8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636335" y="4631861"/>
                <a:ext cx="90269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a:rPr lang="en-AU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335" y="4631861"/>
                <a:ext cx="902696" cy="276999"/>
              </a:xfrm>
              <a:prstGeom prst="rect">
                <a:avLst/>
              </a:prstGeom>
              <a:blipFill>
                <a:blip r:embed="rId4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7171373" y="3895261"/>
            <a:ext cx="695230" cy="1013599"/>
            <a:chOff x="2679630" y="3943811"/>
            <a:chExt cx="695230" cy="1593445"/>
          </a:xfrm>
        </p:grpSpPr>
        <p:cxnSp>
          <p:nvCxnSpPr>
            <p:cNvPr id="23" name="Straight Arrow Connector 22"/>
            <p:cNvCxnSpPr>
              <a:stCxn id="22" idx="7"/>
            </p:cNvCxnSpPr>
            <p:nvPr/>
          </p:nvCxnSpPr>
          <p:spPr>
            <a:xfrm flipV="1">
              <a:off x="3010370" y="3943811"/>
              <a:ext cx="364490" cy="127413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/>
            <p:cNvSpPr/>
            <p:nvPr/>
          </p:nvSpPr>
          <p:spPr>
            <a:xfrm>
              <a:off x="2679630" y="5163155"/>
              <a:ext cx="387486" cy="374101"/>
            </a:xfrm>
            <a:prstGeom prst="ellipse">
              <a:avLst/>
            </a:prstGeom>
            <a:noFill/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7308958" y="4336297"/>
            <a:ext cx="37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9511" y="364344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419" y="362216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5863" y="3619176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5915" y="3616150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8944" y="360446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80922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21" grpId="0"/>
      <p:bldP spid="24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/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9511" y="364344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3419" y="362216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5863" y="364344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5056" y="364175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8944" y="360446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</p:spTree>
    <p:extLst>
      <p:ext uri="{BB962C8B-B14F-4D97-AF65-F5344CB8AC3E}">
        <p14:creationId xmlns:p14="http://schemas.microsoft.com/office/powerpoint/2010/main" val="2615989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512307"/>
              </p:ext>
            </p:extLst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004758" y="4010051"/>
            <a:ext cx="3599062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2294352" y="3501962"/>
            <a:ext cx="783915" cy="981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H="1">
            <a:off x="2670776" y="3946628"/>
            <a:ext cx="544923" cy="538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9511" y="364344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419" y="362216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5863" y="364344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5056" y="364175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8944" y="360446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</p:spTree>
    <p:extLst>
      <p:ext uri="{BB962C8B-B14F-4D97-AF65-F5344CB8AC3E}">
        <p14:creationId xmlns:p14="http://schemas.microsoft.com/office/powerpoint/2010/main" val="2600021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343786"/>
              </p:ext>
            </p:extLst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004758" y="4010051"/>
            <a:ext cx="3599062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</a:t>
            </a:r>
            <a:endParaRPr lang="en-AU" sz="2000" dirty="0"/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3123992" y="3537020"/>
            <a:ext cx="738042" cy="946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H="1">
            <a:off x="3331779" y="3883204"/>
            <a:ext cx="664233" cy="599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9511" y="364344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419" y="362216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5863" y="364344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5056" y="364175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8944" y="360446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</p:spTree>
    <p:extLst>
      <p:ext uri="{BB962C8B-B14F-4D97-AF65-F5344CB8AC3E}">
        <p14:creationId xmlns:p14="http://schemas.microsoft.com/office/powerpoint/2010/main" val="844190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692423"/>
              </p:ext>
            </p:extLst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004758" y="4010051"/>
            <a:ext cx="3599062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</a:t>
            </a:r>
            <a:endParaRPr lang="en-AU" sz="2000" dirty="0"/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3838758" y="3527743"/>
            <a:ext cx="690531" cy="964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H="1">
            <a:off x="4044860" y="3917856"/>
            <a:ext cx="735668" cy="574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9511" y="364344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3419" y="362216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5863" y="364344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5056" y="364175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8944" y="360446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</p:spTree>
    <p:extLst>
      <p:ext uri="{BB962C8B-B14F-4D97-AF65-F5344CB8AC3E}">
        <p14:creationId xmlns:p14="http://schemas.microsoft.com/office/powerpoint/2010/main" val="2863395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349834"/>
              </p:ext>
            </p:extLst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004758" y="4010051"/>
            <a:ext cx="3599062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4461747" y="3537020"/>
            <a:ext cx="861660" cy="961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H="1">
            <a:off x="4698124" y="3908441"/>
            <a:ext cx="819554" cy="589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9511" y="364344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419" y="362216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5863" y="364344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5056" y="364175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8944" y="360446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</p:spTree>
    <p:extLst>
      <p:ext uri="{BB962C8B-B14F-4D97-AF65-F5344CB8AC3E}">
        <p14:creationId xmlns:p14="http://schemas.microsoft.com/office/powerpoint/2010/main" val="4061572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367333"/>
              </p:ext>
            </p:extLst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004758" y="4010051"/>
            <a:ext cx="3631122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5146543" y="3501962"/>
            <a:ext cx="977111" cy="971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  <a:stCxn id="22" idx="1"/>
          </p:cNvCxnSpPr>
          <p:nvPr/>
        </p:nvCxnSpPr>
        <p:spPr>
          <a:xfrm flipH="1">
            <a:off x="5411543" y="3828111"/>
            <a:ext cx="824320" cy="64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23992" y="366131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9511" y="364344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0975" y="362582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3419" y="362216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5863" y="364344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5056" y="364175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8944" y="360446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</p:spTree>
    <p:extLst>
      <p:ext uri="{BB962C8B-B14F-4D97-AF65-F5344CB8AC3E}">
        <p14:creationId xmlns:p14="http://schemas.microsoft.com/office/powerpoint/2010/main" val="1153192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078597"/>
              </p:ext>
            </p:extLst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004758" y="4010051"/>
            <a:ext cx="451277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 </a:t>
            </a:r>
            <a:endParaRPr lang="en-AU" sz="2000" dirty="0"/>
          </a:p>
          <a:p>
            <a:endParaRPr lang="en-AU" sz="2000" dirty="0"/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5891311" y="3468440"/>
            <a:ext cx="1042532" cy="995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H="1">
            <a:off x="6101518" y="3810084"/>
            <a:ext cx="1034856" cy="653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082209" y="3640037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07728" y="362216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9192" y="3604545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71636" y="3600882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4080" y="3622163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3273" y="362046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7161" y="358318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42" name="TextBox 41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</p:spTree>
    <p:extLst>
      <p:ext uri="{BB962C8B-B14F-4D97-AF65-F5344CB8AC3E}">
        <p14:creationId xmlns:p14="http://schemas.microsoft.com/office/powerpoint/2010/main" val="489431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7717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information do we need to graph a parabola?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4821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Graphing Quadratic Equations</a:t>
            </a:r>
            <a:endParaRPr lang="en-AU" sz="240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337333"/>
              </p:ext>
            </p:extLst>
          </p:nvPr>
        </p:nvGraphicFramePr>
        <p:xfrm>
          <a:off x="2207288" y="3273451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AU" sz="1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b="1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en-AU" sz="1800" b="1" dirty="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>
                          <a:solidFill>
                            <a:srgbClr val="002060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024668" y="3989022"/>
            <a:ext cx="509466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6520512" y="3501962"/>
            <a:ext cx="1131307" cy="979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H="1">
            <a:off x="6758152" y="3897080"/>
            <a:ext cx="1003311" cy="583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493" y="2905772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1920493" y="1221934"/>
            <a:ext cx="68443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A Quadratic equation has an x</a:t>
            </a:r>
            <a:r>
              <a:rPr lang="en-AU" sz="1600" b="1" baseline="30000" dirty="0"/>
              <a:t>2</a:t>
            </a:r>
            <a:r>
              <a:rPr lang="en-AU" sz="1600" b="1" dirty="0"/>
              <a:t> as it’s highest power. When graphed it creates a shape called a parabola.</a:t>
            </a:r>
          </a:p>
          <a:p>
            <a:r>
              <a:rPr lang="en-AU" sz="1600" dirty="0"/>
              <a:t>  Examples are y =x</a:t>
            </a:r>
            <a:r>
              <a:rPr lang="en-AU" sz="1600" baseline="30000" dirty="0"/>
              <a:t>2</a:t>
            </a:r>
            <a:r>
              <a:rPr lang="en-AU" sz="1600" dirty="0"/>
              <a:t>   ,  y = 3x</a:t>
            </a:r>
            <a:r>
              <a:rPr lang="en-AU" sz="1600" baseline="30000" dirty="0"/>
              <a:t>2</a:t>
            </a:r>
            <a:r>
              <a:rPr lang="en-AU" sz="1600" dirty="0"/>
              <a:t> + 2x + 6,  y = -4x</a:t>
            </a:r>
            <a:r>
              <a:rPr lang="en-AU" sz="1600" baseline="30000" dirty="0"/>
              <a:t>2</a:t>
            </a:r>
            <a:r>
              <a:rPr lang="en-AU" sz="1600" dirty="0"/>
              <a:t> - 5</a:t>
            </a:r>
          </a:p>
          <a:p>
            <a:endParaRPr lang="en-AU" sz="1600" dirty="0"/>
          </a:p>
          <a:p>
            <a:r>
              <a:rPr lang="en-AU" sz="1600" dirty="0"/>
              <a:t>1. To graph a parabola create a table with x values (often x values from -3 to 3)</a:t>
            </a:r>
          </a:p>
          <a:p>
            <a:r>
              <a:rPr lang="en-AU" sz="1600" dirty="0"/>
              <a:t>2. Substitute the x values into the equation</a:t>
            </a:r>
          </a:p>
        </p:txBody>
      </p:sp>
    </p:spTree>
    <p:extLst>
      <p:ext uri="{BB962C8B-B14F-4D97-AF65-F5344CB8AC3E}">
        <p14:creationId xmlns:p14="http://schemas.microsoft.com/office/powerpoint/2010/main" val="3416869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41017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501106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0" y="1277263"/>
            <a:ext cx="4964821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2439083" y="2158403"/>
            <a:ext cx="4493578" cy="3416320"/>
            <a:chOff x="2688457" y="2152071"/>
            <a:chExt cx="4493578" cy="3416320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5887" y="2160949"/>
              <a:ext cx="4204342" cy="3314353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2688457" y="4646926"/>
              <a:ext cx="449357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/>
                <a:t>-10       -9       -8       -6      -5       -4        -3       -2      -1        0        1        2        3         4        5         6        7        8      9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2855887" y="4687415"/>
              <a:ext cx="4204342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cxnSpLocks/>
            </p:cNvCxnSpPr>
            <p:nvPr/>
          </p:nvCxnSpPr>
          <p:spPr>
            <a:xfrm flipV="1">
              <a:off x="4993570" y="2160949"/>
              <a:ext cx="0" cy="3314353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705165" y="2152071"/>
              <a:ext cx="365525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       9</a:t>
              </a:r>
            </a:p>
            <a:p>
              <a:pPr algn="r"/>
              <a:r>
                <a:rPr lang="en-AU" sz="800" dirty="0"/>
                <a:t>      8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     </a:t>
              </a:r>
            </a:p>
            <a:p>
              <a:pPr algn="r"/>
              <a:r>
                <a:rPr lang="en-AU" sz="800" dirty="0"/>
                <a:t>5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4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3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2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1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0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1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2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3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725159" y="1934275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4015" y="4684036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35008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86664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0" y="1277263"/>
            <a:ext cx="4964821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439083" y="1934275"/>
            <a:ext cx="4493578" cy="3640448"/>
            <a:chOff x="2439083" y="1934275"/>
            <a:chExt cx="4493578" cy="3640448"/>
          </a:xfrm>
        </p:grpSpPr>
        <p:grpSp>
          <p:nvGrpSpPr>
            <p:cNvPr id="36" name="Group 35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38" name="TextBox 37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39" name="Straight Connector 38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41" name="TextBox 40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42" name="TextBox 41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504980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2439083" y="1934275"/>
            <a:ext cx="4493578" cy="3640448"/>
            <a:chOff x="2439083" y="1934275"/>
            <a:chExt cx="4493578" cy="3640448"/>
          </a:xfrm>
        </p:grpSpPr>
        <p:grpSp>
          <p:nvGrpSpPr>
            <p:cNvPr id="42" name="Group 41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45" name="Picture 4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46" name="TextBox 45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47" name="Straight Connector 46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8683823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995084" y="1277263"/>
            <a:ext cx="4964821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1959428" y="1709204"/>
            <a:ext cx="813917" cy="417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2312276" y="1946293"/>
            <a:ext cx="1725015" cy="2737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2525442" y="1957031"/>
            <a:ext cx="2218754" cy="616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25159" y="1934275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cxnSp>
        <p:nvCxnSpPr>
          <p:cNvPr id="37" name="Straight Connector 36"/>
          <p:cNvCxnSpPr>
            <a:cxnSpLocks/>
          </p:cNvCxnSpPr>
          <p:nvPr/>
        </p:nvCxnSpPr>
        <p:spPr>
          <a:xfrm flipV="1">
            <a:off x="4037291" y="2627103"/>
            <a:ext cx="0" cy="205693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4132991" y="2573628"/>
            <a:ext cx="517656" cy="10911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977001" y="2530031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442359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2439083" y="1934275"/>
            <a:ext cx="4493578" cy="3640448"/>
            <a:chOff x="2439083" y="1934275"/>
            <a:chExt cx="4493578" cy="3640448"/>
          </a:xfrm>
        </p:grpSpPr>
        <p:grpSp>
          <p:nvGrpSpPr>
            <p:cNvPr id="53" name="Group 52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56" name="Picture 5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7" name="TextBox 56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8" name="Straight Connector 57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0" name="TextBox 59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914466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0" y="1277263"/>
            <a:ext cx="4964821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2655542" y="1714226"/>
            <a:ext cx="813917" cy="417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cxnSp>
        <p:nvCxnSpPr>
          <p:cNvPr id="38" name="Straight Arrow Connector 37"/>
          <p:cNvCxnSpPr>
            <a:cxnSpLocks/>
          </p:cNvCxnSpPr>
          <p:nvPr/>
        </p:nvCxnSpPr>
        <p:spPr>
          <a:xfrm>
            <a:off x="2911366" y="2039007"/>
            <a:ext cx="1365951" cy="267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3152430" y="2017986"/>
            <a:ext cx="1533442" cy="1752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cxnSpLocks/>
          </p:cNvCxnSpPr>
          <p:nvPr/>
        </p:nvCxnSpPr>
        <p:spPr>
          <a:xfrm flipV="1">
            <a:off x="4284822" y="3845479"/>
            <a:ext cx="2170" cy="866201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cxnSpLocks/>
          </p:cNvCxnSpPr>
          <p:nvPr/>
        </p:nvCxnSpPr>
        <p:spPr>
          <a:xfrm flipH="1" flipV="1">
            <a:off x="4357385" y="3770004"/>
            <a:ext cx="345950" cy="591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959175" y="2523525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51" name="Oval 50"/>
          <p:cNvSpPr/>
          <p:nvPr/>
        </p:nvSpPr>
        <p:spPr>
          <a:xfrm>
            <a:off x="4229295" y="3727386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55814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210160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0" y="1277263"/>
            <a:ext cx="4964821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3369006" y="1686111"/>
            <a:ext cx="813917" cy="417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TextBox 33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2439083" y="1934275"/>
            <a:ext cx="4493578" cy="3640448"/>
            <a:chOff x="2439083" y="1934275"/>
            <a:chExt cx="4493578" cy="3640448"/>
          </a:xfrm>
        </p:grpSpPr>
        <p:grpSp>
          <p:nvGrpSpPr>
            <p:cNvPr id="76" name="Group 75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79" name="Picture 7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80" name="TextBox 79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81" name="Straight Connector 8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83" name="TextBox 82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77" name="TextBox 76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84" name="Straight Arrow Connector 83"/>
          <p:cNvCxnSpPr>
            <a:cxnSpLocks/>
          </p:cNvCxnSpPr>
          <p:nvPr/>
        </p:nvCxnSpPr>
        <p:spPr>
          <a:xfrm>
            <a:off x="3919693" y="2023110"/>
            <a:ext cx="573997" cy="2688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cxnSpLocks/>
          </p:cNvCxnSpPr>
          <p:nvPr/>
        </p:nvCxnSpPr>
        <p:spPr>
          <a:xfrm>
            <a:off x="3954780" y="2023110"/>
            <a:ext cx="780136" cy="2455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cxnSpLocks/>
            <a:endCxn id="98" idx="0"/>
          </p:cNvCxnSpPr>
          <p:nvPr/>
        </p:nvCxnSpPr>
        <p:spPr>
          <a:xfrm flipV="1">
            <a:off x="4490959" y="4392605"/>
            <a:ext cx="23754" cy="29628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cxnSpLocks/>
          </p:cNvCxnSpPr>
          <p:nvPr/>
        </p:nvCxnSpPr>
        <p:spPr>
          <a:xfrm flipH="1">
            <a:off x="4581281" y="4441140"/>
            <a:ext cx="172196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3959175" y="2523525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9" name="Oval 88"/>
          <p:cNvSpPr/>
          <p:nvPr/>
        </p:nvSpPr>
        <p:spPr>
          <a:xfrm>
            <a:off x="4229295" y="3727386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98" name="Oval 97"/>
          <p:cNvSpPr/>
          <p:nvPr/>
        </p:nvSpPr>
        <p:spPr>
          <a:xfrm>
            <a:off x="4454422" y="4392605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11780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673237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0" y="1277263"/>
            <a:ext cx="4964821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4725159" y="1934275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04609" y="1714024"/>
            <a:ext cx="813917" cy="417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5" name="Group 54"/>
          <p:cNvGrpSpPr/>
          <p:nvPr/>
        </p:nvGrpSpPr>
        <p:grpSpPr>
          <a:xfrm>
            <a:off x="2438428" y="1973560"/>
            <a:ext cx="4493578" cy="3640448"/>
            <a:chOff x="2439083" y="1934275"/>
            <a:chExt cx="4493578" cy="3640448"/>
          </a:xfrm>
        </p:grpSpPr>
        <p:grpSp>
          <p:nvGrpSpPr>
            <p:cNvPr id="56" name="Group 55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60" name="TextBox 59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64" name="Straight Arrow Connector 63"/>
          <p:cNvCxnSpPr>
            <a:cxnSpLocks/>
          </p:cNvCxnSpPr>
          <p:nvPr/>
        </p:nvCxnSpPr>
        <p:spPr>
          <a:xfrm>
            <a:off x="4356644" y="2006727"/>
            <a:ext cx="316798" cy="2726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cxnSpLocks/>
          </p:cNvCxnSpPr>
          <p:nvPr/>
        </p:nvCxnSpPr>
        <p:spPr>
          <a:xfrm>
            <a:off x="4598950" y="1968706"/>
            <a:ext cx="142828" cy="2723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958520" y="256281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>
            <a:off x="4228640" y="3766671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0" name="Oval 69"/>
          <p:cNvSpPr/>
          <p:nvPr/>
        </p:nvSpPr>
        <p:spPr>
          <a:xfrm>
            <a:off x="4453767" y="443189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1" name="Oval 70"/>
          <p:cNvSpPr/>
          <p:nvPr/>
        </p:nvSpPr>
        <p:spPr>
          <a:xfrm>
            <a:off x="4674747" y="4652870"/>
            <a:ext cx="128094" cy="153596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79183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563376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0" y="1277263"/>
            <a:ext cx="4964821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4729290" y="1707017"/>
            <a:ext cx="813917" cy="417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4725159" y="1934275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55" name="Group 54"/>
          <p:cNvGrpSpPr/>
          <p:nvPr/>
        </p:nvGrpSpPr>
        <p:grpSpPr>
          <a:xfrm>
            <a:off x="2438428" y="1973560"/>
            <a:ext cx="4493578" cy="3640448"/>
            <a:chOff x="2439083" y="1934275"/>
            <a:chExt cx="4493578" cy="3640448"/>
          </a:xfrm>
        </p:grpSpPr>
        <p:grpSp>
          <p:nvGrpSpPr>
            <p:cNvPr id="56" name="Group 55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60" name="TextBox 59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64" name="Straight Arrow Connector 63"/>
          <p:cNvCxnSpPr>
            <a:cxnSpLocks/>
          </p:cNvCxnSpPr>
          <p:nvPr/>
        </p:nvCxnSpPr>
        <p:spPr>
          <a:xfrm flipH="1">
            <a:off x="4774764" y="2006727"/>
            <a:ext cx="151812" cy="2425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cxnSpLocks/>
          </p:cNvCxnSpPr>
          <p:nvPr/>
        </p:nvCxnSpPr>
        <p:spPr>
          <a:xfrm flipH="1">
            <a:off x="4988091" y="1973560"/>
            <a:ext cx="266205" cy="2759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cxnSpLocks/>
          </p:cNvCxnSpPr>
          <p:nvPr/>
        </p:nvCxnSpPr>
        <p:spPr>
          <a:xfrm flipV="1">
            <a:off x="4983576" y="4516118"/>
            <a:ext cx="23754" cy="29628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cxnSpLocks/>
            <a:endCxn id="72" idx="0"/>
          </p:cNvCxnSpPr>
          <p:nvPr/>
        </p:nvCxnSpPr>
        <p:spPr>
          <a:xfrm>
            <a:off x="4792008" y="4504803"/>
            <a:ext cx="211963" cy="1131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958520" y="256281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>
            <a:off x="4228640" y="3766671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0" name="Oval 69"/>
          <p:cNvSpPr/>
          <p:nvPr/>
        </p:nvSpPr>
        <p:spPr>
          <a:xfrm>
            <a:off x="4453767" y="443189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1" name="Oval 70"/>
          <p:cNvSpPr/>
          <p:nvPr/>
        </p:nvSpPr>
        <p:spPr>
          <a:xfrm>
            <a:off x="4674747" y="4652870"/>
            <a:ext cx="128094" cy="153596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2" name="Oval 71"/>
          <p:cNvSpPr/>
          <p:nvPr/>
        </p:nvSpPr>
        <p:spPr>
          <a:xfrm flipV="1">
            <a:off x="4957798" y="4425927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9024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705531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0" y="1277263"/>
            <a:ext cx="4964821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38" name="TextBox 37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46" name="Rectangle 45"/>
          <p:cNvSpPr/>
          <p:nvPr/>
        </p:nvSpPr>
        <p:spPr>
          <a:xfrm>
            <a:off x="5386588" y="1650827"/>
            <a:ext cx="813917" cy="417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TextBox 46"/>
          <p:cNvSpPr txBox="1"/>
          <p:nvPr/>
        </p:nvSpPr>
        <p:spPr>
          <a:xfrm>
            <a:off x="4725159" y="1934275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48" name="Group 47"/>
          <p:cNvGrpSpPr/>
          <p:nvPr/>
        </p:nvGrpSpPr>
        <p:grpSpPr>
          <a:xfrm>
            <a:off x="2438428" y="1973560"/>
            <a:ext cx="4493578" cy="3640448"/>
            <a:chOff x="2439083" y="1934275"/>
            <a:chExt cx="4493578" cy="3640448"/>
          </a:xfrm>
        </p:grpSpPr>
        <p:grpSp>
          <p:nvGrpSpPr>
            <p:cNvPr id="49" name="Group 48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52" name="Picture 5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3" name="TextBox 52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4" name="Straight Connector 53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6" name="TextBox 55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57" name="Straight Arrow Connector 56"/>
          <p:cNvCxnSpPr>
            <a:cxnSpLocks/>
          </p:cNvCxnSpPr>
          <p:nvPr/>
        </p:nvCxnSpPr>
        <p:spPr>
          <a:xfrm flipH="1">
            <a:off x="4685872" y="2068585"/>
            <a:ext cx="914728" cy="1686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H="1">
            <a:off x="5259651" y="2081310"/>
            <a:ext cx="675601" cy="2651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cxnSpLocks/>
          </p:cNvCxnSpPr>
          <p:nvPr/>
        </p:nvCxnSpPr>
        <p:spPr>
          <a:xfrm flipV="1">
            <a:off x="5190347" y="3691247"/>
            <a:ext cx="7989" cy="96162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cxnSpLocks/>
          </p:cNvCxnSpPr>
          <p:nvPr/>
        </p:nvCxnSpPr>
        <p:spPr>
          <a:xfrm>
            <a:off x="4781284" y="3800452"/>
            <a:ext cx="440826" cy="1131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958520" y="256281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2" name="Oval 61"/>
          <p:cNvSpPr/>
          <p:nvPr/>
        </p:nvSpPr>
        <p:spPr>
          <a:xfrm>
            <a:off x="4228640" y="3766671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3" name="Oval 62"/>
          <p:cNvSpPr/>
          <p:nvPr/>
        </p:nvSpPr>
        <p:spPr>
          <a:xfrm>
            <a:off x="4453767" y="443189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Oval 63"/>
          <p:cNvSpPr/>
          <p:nvPr/>
        </p:nvSpPr>
        <p:spPr>
          <a:xfrm>
            <a:off x="4674747" y="4652870"/>
            <a:ext cx="128094" cy="153596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6" name="Oval 65"/>
          <p:cNvSpPr/>
          <p:nvPr/>
        </p:nvSpPr>
        <p:spPr>
          <a:xfrm flipV="1">
            <a:off x="5158114" y="3755357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8" name="Oval 67"/>
          <p:cNvSpPr/>
          <p:nvPr/>
        </p:nvSpPr>
        <p:spPr>
          <a:xfrm>
            <a:off x="4893317" y="4450655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4200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058880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929057" y="1290025"/>
            <a:ext cx="4964821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6130760" y="1787447"/>
            <a:ext cx="813917" cy="417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TextBox 39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4725159" y="1934275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50" name="Group 49"/>
          <p:cNvGrpSpPr/>
          <p:nvPr/>
        </p:nvGrpSpPr>
        <p:grpSpPr>
          <a:xfrm>
            <a:off x="2438428" y="1973560"/>
            <a:ext cx="4493578" cy="3640448"/>
            <a:chOff x="2439083" y="1934275"/>
            <a:chExt cx="4493578" cy="3640448"/>
          </a:xfrm>
        </p:grpSpPr>
        <p:grpSp>
          <p:nvGrpSpPr>
            <p:cNvPr id="51" name="Group 50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5" name="TextBox 54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6" name="Straight Connector 55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8" name="TextBox 57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59" name="Straight Arrow Connector 58"/>
          <p:cNvCxnSpPr>
            <a:cxnSpLocks/>
          </p:cNvCxnSpPr>
          <p:nvPr/>
        </p:nvCxnSpPr>
        <p:spPr>
          <a:xfrm flipH="1">
            <a:off x="4805991" y="2005605"/>
            <a:ext cx="1516520" cy="588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 flipH="1">
            <a:off x="5487122" y="2072742"/>
            <a:ext cx="1324028" cy="2675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cxnSpLocks/>
          </p:cNvCxnSpPr>
          <p:nvPr/>
        </p:nvCxnSpPr>
        <p:spPr>
          <a:xfrm flipV="1">
            <a:off x="5431763" y="2536205"/>
            <a:ext cx="7989" cy="226406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cxnSpLocks/>
            <a:endCxn id="69" idx="2"/>
          </p:cNvCxnSpPr>
          <p:nvPr/>
        </p:nvCxnSpPr>
        <p:spPr>
          <a:xfrm flipV="1">
            <a:off x="4820661" y="2607904"/>
            <a:ext cx="564929" cy="2157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958520" y="256281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Oval 63"/>
          <p:cNvSpPr/>
          <p:nvPr/>
        </p:nvSpPr>
        <p:spPr>
          <a:xfrm>
            <a:off x="4228640" y="3766671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5" name="Oval 64"/>
          <p:cNvSpPr/>
          <p:nvPr/>
        </p:nvSpPr>
        <p:spPr>
          <a:xfrm>
            <a:off x="4453767" y="443189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6" name="Oval 65"/>
          <p:cNvSpPr/>
          <p:nvPr/>
        </p:nvSpPr>
        <p:spPr>
          <a:xfrm>
            <a:off x="4674747" y="4652870"/>
            <a:ext cx="128094" cy="153596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7" name="Oval 66"/>
          <p:cNvSpPr/>
          <p:nvPr/>
        </p:nvSpPr>
        <p:spPr>
          <a:xfrm flipV="1">
            <a:off x="5158114" y="3755357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8" name="Oval 67"/>
          <p:cNvSpPr/>
          <p:nvPr/>
        </p:nvSpPr>
        <p:spPr>
          <a:xfrm>
            <a:off x="4893317" y="4450655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 flipV="1">
            <a:off x="5385590" y="2562810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2881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95515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0" y="1277263"/>
            <a:ext cx="4964821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910397" y="2173912"/>
            <a:ext cx="2140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Now join the dots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65" name="TextBox 64"/>
          <p:cNvSpPr txBox="1"/>
          <p:nvPr/>
        </p:nvSpPr>
        <p:spPr>
          <a:xfrm>
            <a:off x="4725159" y="1934275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66" name="Group 65"/>
          <p:cNvGrpSpPr/>
          <p:nvPr/>
        </p:nvGrpSpPr>
        <p:grpSpPr>
          <a:xfrm>
            <a:off x="2438428" y="1973560"/>
            <a:ext cx="4493578" cy="3640448"/>
            <a:chOff x="2439083" y="1934275"/>
            <a:chExt cx="4493578" cy="3640448"/>
          </a:xfrm>
        </p:grpSpPr>
        <p:grpSp>
          <p:nvGrpSpPr>
            <p:cNvPr id="67" name="Group 66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70" name="Picture 6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71" name="TextBox 70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72" name="Straight Connector 71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74" name="TextBox 73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sp>
        <p:nvSpPr>
          <p:cNvPr id="79" name="Oval 78"/>
          <p:cNvSpPr/>
          <p:nvPr/>
        </p:nvSpPr>
        <p:spPr>
          <a:xfrm>
            <a:off x="3958520" y="256281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0" name="Oval 79"/>
          <p:cNvSpPr/>
          <p:nvPr/>
        </p:nvSpPr>
        <p:spPr>
          <a:xfrm>
            <a:off x="4228640" y="3766671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1" name="Oval 80"/>
          <p:cNvSpPr/>
          <p:nvPr/>
        </p:nvSpPr>
        <p:spPr>
          <a:xfrm>
            <a:off x="4453767" y="443189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2" name="Oval 81"/>
          <p:cNvSpPr/>
          <p:nvPr/>
        </p:nvSpPr>
        <p:spPr>
          <a:xfrm>
            <a:off x="4674747" y="4652870"/>
            <a:ext cx="128094" cy="153596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3" name="Oval 82"/>
          <p:cNvSpPr/>
          <p:nvPr/>
        </p:nvSpPr>
        <p:spPr>
          <a:xfrm flipV="1">
            <a:off x="5158114" y="3755357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4" name="Oval 83"/>
          <p:cNvSpPr/>
          <p:nvPr/>
        </p:nvSpPr>
        <p:spPr>
          <a:xfrm>
            <a:off x="4893317" y="4450655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5" name="Oval 84"/>
          <p:cNvSpPr/>
          <p:nvPr/>
        </p:nvSpPr>
        <p:spPr>
          <a:xfrm flipV="1">
            <a:off x="5385590" y="2562810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33591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739898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798655" y="1267126"/>
            <a:ext cx="4964821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910397" y="2173912"/>
            <a:ext cx="2140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Now join the dots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4725159" y="1934275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55" name="Group 54"/>
          <p:cNvGrpSpPr/>
          <p:nvPr/>
        </p:nvGrpSpPr>
        <p:grpSpPr>
          <a:xfrm>
            <a:off x="2438428" y="1973560"/>
            <a:ext cx="4493578" cy="3640448"/>
            <a:chOff x="2439083" y="1934275"/>
            <a:chExt cx="4493578" cy="3640448"/>
          </a:xfrm>
        </p:grpSpPr>
        <p:grpSp>
          <p:nvGrpSpPr>
            <p:cNvPr id="56" name="Group 55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60" name="TextBox 59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sp>
        <p:nvSpPr>
          <p:cNvPr id="64" name="Oval 63"/>
          <p:cNvSpPr/>
          <p:nvPr/>
        </p:nvSpPr>
        <p:spPr>
          <a:xfrm>
            <a:off x="3958520" y="256281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5" name="Oval 64"/>
          <p:cNvSpPr/>
          <p:nvPr/>
        </p:nvSpPr>
        <p:spPr>
          <a:xfrm>
            <a:off x="4228640" y="3766671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6" name="Oval 65"/>
          <p:cNvSpPr/>
          <p:nvPr/>
        </p:nvSpPr>
        <p:spPr>
          <a:xfrm>
            <a:off x="4453767" y="443189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7" name="Oval 66"/>
          <p:cNvSpPr/>
          <p:nvPr/>
        </p:nvSpPr>
        <p:spPr>
          <a:xfrm>
            <a:off x="4674747" y="4652870"/>
            <a:ext cx="128094" cy="153596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8" name="Oval 67"/>
          <p:cNvSpPr/>
          <p:nvPr/>
        </p:nvSpPr>
        <p:spPr>
          <a:xfrm flipV="1">
            <a:off x="5158114" y="3755357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>
            <a:off x="4893317" y="4450655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0" name="Oval 69"/>
          <p:cNvSpPr/>
          <p:nvPr/>
        </p:nvSpPr>
        <p:spPr>
          <a:xfrm flipV="1">
            <a:off x="5385590" y="2562810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" b="79124" l="26445" r="68467">
                        <a14:backgroundMark x1="47802" y1="19124" x2="47802" y2="19124"/>
                        <a14:backgroundMark x1="34673" y1="56255" x2="34673" y2="56255"/>
                        <a14:backgroundMark x1="62123" y1="62470" x2="62123" y2="62470"/>
                      </a14:backgroundRemoval>
                    </a14:imgEffect>
                  </a14:imgLayer>
                </a14:imgProps>
              </a:ext>
            </a:extLst>
          </a:blip>
          <a:srcRect l="27689" r="31060" b="18540"/>
          <a:stretch/>
        </p:blipFill>
        <p:spPr>
          <a:xfrm>
            <a:off x="3844407" y="1852306"/>
            <a:ext cx="1845193" cy="305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42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/>
        </p:nvGrpSpPr>
        <p:grpSpPr>
          <a:xfrm>
            <a:off x="2438428" y="1973560"/>
            <a:ext cx="4493578" cy="3640448"/>
            <a:chOff x="2439083" y="1934275"/>
            <a:chExt cx="4493578" cy="3640448"/>
          </a:xfrm>
        </p:grpSpPr>
        <p:grpSp>
          <p:nvGrpSpPr>
            <p:cNvPr id="50" name="Group 49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4" name="TextBox 53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5" name="Straight Connector 54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1758462" y="0"/>
            <a:ext cx="40193" cy="5715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243368"/>
              </p:ext>
            </p:extLst>
          </p:nvPr>
        </p:nvGraphicFramePr>
        <p:xfrm>
          <a:off x="2085450" y="540663"/>
          <a:ext cx="60960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1138">
                <a:tc>
                  <a:txBody>
                    <a:bodyPr/>
                    <a:lstStyle/>
                    <a:p>
                      <a:r>
                        <a:rPr lang="en-AU" sz="18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919084" y="1272737"/>
            <a:ext cx="4964821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5825482" y="4504551"/>
            <a:ext cx="3107503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Where the graph turns is called the turning point or vertex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8889" y="918669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4408" y="900795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5872" y="88317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8316" y="879514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0760" y="900795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9953" y="89910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3841" y="861816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93734" y="144891"/>
            <a:ext cx="2892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4725159" y="1934275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58" name="Oval 57"/>
          <p:cNvSpPr/>
          <p:nvPr/>
        </p:nvSpPr>
        <p:spPr>
          <a:xfrm>
            <a:off x="3958520" y="256281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59" name="Oval 58"/>
          <p:cNvSpPr/>
          <p:nvPr/>
        </p:nvSpPr>
        <p:spPr>
          <a:xfrm>
            <a:off x="4228640" y="3766671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0" name="Oval 59"/>
          <p:cNvSpPr/>
          <p:nvPr/>
        </p:nvSpPr>
        <p:spPr>
          <a:xfrm>
            <a:off x="4453767" y="4431890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1" name="Oval 60"/>
          <p:cNvSpPr/>
          <p:nvPr/>
        </p:nvSpPr>
        <p:spPr>
          <a:xfrm>
            <a:off x="4674747" y="4652870"/>
            <a:ext cx="128094" cy="153596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2" name="Oval 61"/>
          <p:cNvSpPr/>
          <p:nvPr/>
        </p:nvSpPr>
        <p:spPr>
          <a:xfrm flipV="1">
            <a:off x="5158114" y="3755357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3" name="Oval 62"/>
          <p:cNvSpPr/>
          <p:nvPr/>
        </p:nvSpPr>
        <p:spPr>
          <a:xfrm>
            <a:off x="4893317" y="4450655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Oval 63"/>
          <p:cNvSpPr/>
          <p:nvPr/>
        </p:nvSpPr>
        <p:spPr>
          <a:xfrm flipV="1">
            <a:off x="5385590" y="2562810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" b="79124" l="26445" r="68467">
                        <a14:backgroundMark x1="47802" y1="19124" x2="47802" y2="19124"/>
                        <a14:backgroundMark x1="34673" y1="56255" x2="34673" y2="56255"/>
                        <a14:backgroundMark x1="62123" y1="62470" x2="62123" y2="62470"/>
                      </a14:backgroundRemoval>
                    </a14:imgEffect>
                  </a14:imgLayer>
                </a14:imgProps>
              </a:ext>
            </a:extLst>
          </a:blip>
          <a:srcRect l="27689" r="31060" b="18540"/>
          <a:stretch/>
        </p:blipFill>
        <p:spPr>
          <a:xfrm>
            <a:off x="3844407" y="1852306"/>
            <a:ext cx="1845193" cy="3055682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4893317" y="4547726"/>
            <a:ext cx="932165" cy="1448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428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5360"/>
          <a:stretch/>
        </p:blipFill>
        <p:spPr>
          <a:xfrm>
            <a:off x="1005806" y="749692"/>
            <a:ext cx="3784243" cy="37299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852158" y="1470074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Gives an upside down (inverted) parabola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158" y="1470074"/>
                <a:ext cx="2651761" cy="646331"/>
              </a:xfrm>
              <a:prstGeom prst="rect">
                <a:avLst/>
              </a:prstGeom>
              <a:blipFill>
                <a:blip r:embed="rId3"/>
                <a:stretch>
                  <a:fillRect l="-1839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041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16" y="833511"/>
            <a:ext cx="4194810" cy="41948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76367" l="9995" r="49001">
                        <a14:backgroundMark x1="25167" y1="15625" x2="25167" y2="15625"/>
                        <a14:backgroundMark x1="17171" y1="65625" x2="17171" y2="65625"/>
                      </a14:backgroundRemoval>
                    </a14:imgEffect>
                  </a14:imgLayer>
                </a14:imgProps>
              </a:ext>
            </a:extLst>
          </a:blip>
          <a:srcRect l="11846" r="51402" b="26294"/>
          <a:stretch/>
        </p:blipFill>
        <p:spPr>
          <a:xfrm>
            <a:off x="-246185" y="387506"/>
            <a:ext cx="6231988" cy="35373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5206" y="991772"/>
            <a:ext cx="175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047348" y="853272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Gives an narrow parabola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348" y="853272"/>
                <a:ext cx="2651761" cy="646331"/>
              </a:xfrm>
              <a:prstGeom prst="rect">
                <a:avLst/>
              </a:prstGeom>
              <a:blipFill>
                <a:blip r:embed="rId5"/>
                <a:stretch>
                  <a:fillRect l="-1839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41427" y="2733822"/>
                <a:ext cx="2651761" cy="785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Gives an wide parabola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427" y="2733822"/>
                <a:ext cx="2651761" cy="785536"/>
              </a:xfrm>
              <a:prstGeom prst="rect">
                <a:avLst/>
              </a:prstGeom>
              <a:blipFill>
                <a:blip r:embed="rId6"/>
                <a:stretch>
                  <a:fillRect l="-1839" b="-85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03884" y="1728917"/>
                <a:ext cx="1343464" cy="495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AU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884" y="1728917"/>
                <a:ext cx="1343464" cy="495649"/>
              </a:xfrm>
              <a:prstGeom prst="rect">
                <a:avLst/>
              </a:prstGeom>
              <a:blipFill>
                <a:blip r:embed="rId7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4934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74" y="159727"/>
            <a:ext cx="3257551" cy="53968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306450" y="374971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AU" dirty="0"/>
                  <a:t> Shifts the parabola up 3 places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50" y="374971"/>
                <a:ext cx="2651761" cy="646331"/>
              </a:xfrm>
              <a:prstGeom prst="rect">
                <a:avLst/>
              </a:prstGeom>
              <a:blipFill>
                <a:blip r:embed="rId3"/>
                <a:stretch>
                  <a:fillRect l="-1839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06449" y="1279992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dirty="0"/>
                  <a:t>2 Shifts the parabola down 2 places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49" y="1279992"/>
                <a:ext cx="2651761" cy="646331"/>
              </a:xfrm>
              <a:prstGeom prst="rect">
                <a:avLst/>
              </a:prstGeom>
              <a:blipFill>
                <a:blip r:embed="rId4"/>
                <a:stretch>
                  <a:fillRect l="-1839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37748" y="3000939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Shifts the parabola vertex to x=-2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748" y="3000939"/>
                <a:ext cx="2651761" cy="646331"/>
              </a:xfrm>
              <a:prstGeom prst="rect">
                <a:avLst/>
              </a:prstGeom>
              <a:blipFill>
                <a:blip r:embed="rId5"/>
                <a:stretch>
                  <a:fillRect l="-1839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437748" y="3905960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Shifts the parabola vertex to x=-1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748" y="3905960"/>
                <a:ext cx="2651761" cy="646331"/>
              </a:xfrm>
              <a:prstGeom prst="rect">
                <a:avLst/>
              </a:prstGeom>
              <a:blipFill>
                <a:blip r:embed="rId6"/>
                <a:stretch>
                  <a:fillRect l="-1839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55820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1" y="265050"/>
            <a:ext cx="3091814" cy="51222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55360"/>
          <a:stretch/>
        </p:blipFill>
        <p:spPr>
          <a:xfrm>
            <a:off x="1131569" y="0"/>
            <a:ext cx="3017521" cy="29742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0" y="3077130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77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8976" y="798795"/>
            <a:ext cx="6461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Summary of steps</a:t>
            </a:r>
          </a:p>
          <a:p>
            <a:pPr marL="342900" indent="-342900">
              <a:buAutoNum type="arabicPeriod"/>
            </a:pPr>
            <a:r>
              <a:rPr lang="en-AU" dirty="0"/>
              <a:t>Create a table of x values (try x= -3 up to x=3)</a:t>
            </a:r>
          </a:p>
          <a:p>
            <a:pPr marL="342900" indent="-342900">
              <a:buAutoNum type="arabicPeriod"/>
            </a:pPr>
            <a:r>
              <a:rPr lang="en-AU" dirty="0"/>
              <a:t>Use the formula to find the y values and create coordinates</a:t>
            </a:r>
          </a:p>
          <a:p>
            <a:pPr marL="342900" indent="-342900">
              <a:buAutoNum type="arabicPeriod"/>
            </a:pPr>
            <a:r>
              <a:rPr lang="en-AU" dirty="0"/>
              <a:t>Plot the coordinates and join the coordinates together.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724" y="2539013"/>
            <a:ext cx="6951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provided Graph paper to complete exercise 4.6 on page 55</a:t>
            </a:r>
          </a:p>
          <a:p>
            <a:endParaRPr lang="en-AU" dirty="0"/>
          </a:p>
          <a:p>
            <a:r>
              <a:rPr lang="en-AU" dirty="0"/>
              <a:t>Make sure you place your name on your graph paper as it will be collected (to check your understanding) </a:t>
            </a:r>
          </a:p>
        </p:txBody>
      </p:sp>
    </p:spTree>
    <p:extLst>
      <p:ext uri="{BB962C8B-B14F-4D97-AF65-F5344CB8AC3E}">
        <p14:creationId xmlns:p14="http://schemas.microsoft.com/office/powerpoint/2010/main" val="9635683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930" y="470661"/>
            <a:ext cx="4735483" cy="47590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22" y="953586"/>
            <a:ext cx="2940048" cy="6742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07" y="2337202"/>
            <a:ext cx="2900679" cy="6532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21" y="3699803"/>
            <a:ext cx="2889150" cy="6910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922" y="138133"/>
            <a:ext cx="1450951" cy="4607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873" y="337279"/>
            <a:ext cx="1188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Page 55</a:t>
            </a:r>
          </a:p>
        </p:txBody>
      </p:sp>
    </p:spTree>
    <p:extLst>
      <p:ext uri="{BB962C8B-B14F-4D97-AF65-F5344CB8AC3E}">
        <p14:creationId xmlns:p14="http://schemas.microsoft.com/office/powerpoint/2010/main" val="33926322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930" y="470661"/>
            <a:ext cx="4735483" cy="47590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38" y="1054471"/>
            <a:ext cx="3051991" cy="7734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39" y="2338057"/>
            <a:ext cx="3051991" cy="6827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40" y="3854744"/>
            <a:ext cx="3051991" cy="7352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922" y="138133"/>
            <a:ext cx="1450951" cy="460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37873" y="337279"/>
            <a:ext cx="1188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Page 55</a:t>
            </a:r>
          </a:p>
        </p:txBody>
      </p:sp>
    </p:spTree>
    <p:extLst>
      <p:ext uri="{BB962C8B-B14F-4D97-AF65-F5344CB8AC3E}">
        <p14:creationId xmlns:p14="http://schemas.microsoft.com/office/powerpoint/2010/main" val="19010397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930" y="470661"/>
            <a:ext cx="4735483" cy="475900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23" y="1251418"/>
            <a:ext cx="3025579" cy="6442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57" y="3017520"/>
            <a:ext cx="3016823" cy="6381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058" y="240283"/>
            <a:ext cx="1450951" cy="460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37873" y="337279"/>
            <a:ext cx="1188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Page 55</a:t>
            </a:r>
          </a:p>
        </p:txBody>
      </p:sp>
    </p:spTree>
    <p:extLst>
      <p:ext uri="{BB962C8B-B14F-4D97-AF65-F5344CB8AC3E}">
        <p14:creationId xmlns:p14="http://schemas.microsoft.com/office/powerpoint/2010/main" val="233827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30977E4C-76EF-4FCD-9C02-C8D490E8EFBA}" vid="{C09BC989-AE4B-4384-86A8-BD46923AB8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2 - jw</Template>
  <TotalTime>2325</TotalTime>
  <Words>3886</Words>
  <Application>Microsoft Office PowerPoint</Application>
  <PresentationFormat>On-screen Show (16:10)</PresentationFormat>
  <Paragraphs>1070</Paragraphs>
  <Slides>42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41</cp:revision>
  <dcterms:created xsi:type="dcterms:W3CDTF">2016-11-06T13:15:21Z</dcterms:created>
  <dcterms:modified xsi:type="dcterms:W3CDTF">2017-03-18T07:03:57Z</dcterms:modified>
</cp:coreProperties>
</file>
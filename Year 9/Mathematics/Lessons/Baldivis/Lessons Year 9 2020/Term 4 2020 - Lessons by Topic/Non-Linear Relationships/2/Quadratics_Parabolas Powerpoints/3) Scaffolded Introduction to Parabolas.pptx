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8" r:id="rId2"/>
    <p:sldId id="259" r:id="rId3"/>
    <p:sldId id="261" r:id="rId4"/>
    <p:sldId id="260" r:id="rId5"/>
    <p:sldId id="303" r:id="rId6"/>
    <p:sldId id="304" r:id="rId7"/>
    <p:sldId id="305" r:id="rId8"/>
    <p:sldId id="306" r:id="rId9"/>
    <p:sldId id="307" r:id="rId10"/>
    <p:sldId id="279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3" r:id="rId23"/>
    <p:sldId id="296" r:id="rId24"/>
    <p:sldId id="29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8537" autoAdjust="0"/>
  </p:normalViewPr>
  <p:slideViewPr>
    <p:cSldViewPr snapToGrid="0" snapToObjects="1">
      <p:cViewPr varScale="1">
        <p:scale>
          <a:sx n="107" d="100"/>
          <a:sy n="107" d="100"/>
        </p:scale>
        <p:origin x="261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4BD4A-A91C-4E47-8743-EFFA608D5BE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22444-CE1B-1E4E-8F2E-41A287EDC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0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4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0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0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97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2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0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38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39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2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84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6EFA5-EDA3-5B41-AB62-716640C6E233}" type="datetimeFigureOut">
              <a:rPr lang="en-US" smtClean="0"/>
              <a:t>11/12/2018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3624" y="2614209"/>
            <a:ext cx="6531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008000"/>
                </a:solidFill>
                <a:latin typeface="American Typewriter"/>
                <a:cs typeface="American Typewriter"/>
              </a:rPr>
              <a:t>What is a parabola?</a:t>
            </a:r>
          </a:p>
        </p:txBody>
      </p:sp>
      <p:pic>
        <p:nvPicPr>
          <p:cNvPr id="3" name="Picture 2" descr="thinking-fac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073" y="-1"/>
            <a:ext cx="2532711" cy="2532711"/>
          </a:xfrm>
          <a:prstGeom prst="rect">
            <a:avLst/>
          </a:prstGeom>
        </p:spPr>
      </p:pic>
      <p:pic>
        <p:nvPicPr>
          <p:cNvPr id="4" name="Picture 3" descr="fae6dbcadc496972e988c4b1201b5585_images-for-thinking-cartoon-thinking-clipart-gif_1148-1149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22" y="3513276"/>
            <a:ext cx="3213764" cy="321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06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29" y="1028824"/>
            <a:ext cx="5418256" cy="45013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18865" r="26129"/>
          <a:stretch/>
        </p:blipFill>
        <p:spPr>
          <a:xfrm>
            <a:off x="4431883" y="670680"/>
            <a:ext cx="3863249" cy="40138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6552" y="5653186"/>
            <a:ext cx="5412059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00FF"/>
                </a:solidFill>
                <a:latin typeface="American Typewriter"/>
                <a:cs typeface="American Typewriter"/>
              </a:rPr>
              <a:t>Can you think of where you might find a parabola in the real world?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692" y="4484520"/>
            <a:ext cx="3591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This is a positive parabola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1839" y="4727034"/>
            <a:ext cx="3595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This is a negative  parabola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64" y="139239"/>
            <a:ext cx="6531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008000"/>
                </a:solidFill>
                <a:latin typeface="American Typewriter"/>
                <a:cs typeface="American Typewriter"/>
              </a:rPr>
              <a:t>What is a parabola?</a:t>
            </a:r>
          </a:p>
        </p:txBody>
      </p:sp>
      <p:pic>
        <p:nvPicPr>
          <p:cNvPr id="3" name="Picture 2" descr="Very_sad_emoji_icon_png_grand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773" y="3515820"/>
            <a:ext cx="968700" cy="968700"/>
          </a:xfrm>
          <a:prstGeom prst="rect">
            <a:avLst/>
          </a:prstGeom>
        </p:spPr>
      </p:pic>
      <p:pic>
        <p:nvPicPr>
          <p:cNvPr id="4" name="Picture 3" descr="b0832ed3467a3a645162499787264471_happy-emoji-happy-emoji_256-256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439" y="1328815"/>
            <a:ext cx="1210945" cy="121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0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rabolas - Remix!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723838"/>
            <a:ext cx="9144000" cy="6095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9106" y="169841"/>
            <a:ext cx="668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Parabolas are also used in arches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2914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9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1" y="340525"/>
            <a:ext cx="3635619" cy="32720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519" y="4052304"/>
            <a:ext cx="3868701" cy="26075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354" y="4052305"/>
            <a:ext cx="2829860" cy="25468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982" y="1200627"/>
            <a:ext cx="3015928" cy="27143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4124" y="178994"/>
            <a:ext cx="4588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Objects affected by gravity follow a parabolic arc.</a:t>
            </a:r>
          </a:p>
        </p:txBody>
      </p:sp>
    </p:spTree>
    <p:extLst>
      <p:ext uri="{BB962C8B-B14F-4D97-AF65-F5344CB8AC3E}">
        <p14:creationId xmlns:p14="http://schemas.microsoft.com/office/powerpoint/2010/main" val="42722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904136" y="1105074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information do we need to graph a parabola?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531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Graphing Quadratic Equation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" y="1580871"/>
            <a:ext cx="2189228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an quadratic equation?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493" y="1466320"/>
            <a:ext cx="71373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Quadratic equation has an</a:t>
            </a:r>
            <a:r>
              <a:rPr lang="en-AU" sz="2400" b="1" dirty="0"/>
              <a:t> x</a:t>
            </a:r>
            <a:r>
              <a:rPr lang="en-AU" sz="2400" b="1" baseline="30000" dirty="0"/>
              <a:t>2</a:t>
            </a:r>
            <a:r>
              <a:rPr lang="en-AU" sz="2400" b="1" dirty="0"/>
              <a:t> </a:t>
            </a:r>
            <a:r>
              <a:rPr lang="en-AU" sz="2400" dirty="0"/>
              <a:t>as it’s highest power. When graphed it creates a shape called a parabola.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Examples are 	y = x</a:t>
            </a:r>
            <a:r>
              <a:rPr lang="en-AU" sz="2400" baseline="30000" dirty="0"/>
              <a:t>2</a:t>
            </a:r>
            <a:endParaRPr lang="en-AU" sz="2400" dirty="0"/>
          </a:p>
          <a:p>
            <a:r>
              <a:rPr lang="en-AU" sz="2400" dirty="0"/>
              <a:t>				y = 3x</a:t>
            </a:r>
            <a:r>
              <a:rPr lang="en-AU" sz="2400" baseline="30000" dirty="0"/>
              <a:t>2</a:t>
            </a:r>
            <a:r>
              <a:rPr lang="en-AU" sz="2400" dirty="0"/>
              <a:t> + 2x + 6</a:t>
            </a:r>
          </a:p>
          <a:p>
            <a:r>
              <a:rPr lang="en-AU" sz="2400" dirty="0"/>
              <a:t>				y = -4x</a:t>
            </a:r>
            <a:r>
              <a:rPr lang="en-AU" sz="2400" baseline="30000" dirty="0"/>
              <a:t>2</a:t>
            </a:r>
            <a:r>
              <a:rPr lang="en-AU" sz="2400" dirty="0"/>
              <a:t> – 5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265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information do we need to graph a parabola?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531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Graphing Quadratic Equation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6174" y="1271951"/>
            <a:ext cx="864060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1. To graph a parabola create a table with x values </a:t>
            </a:r>
          </a:p>
          <a:p>
            <a:r>
              <a:rPr lang="en-AU" sz="2400" dirty="0"/>
              <a:t>		</a:t>
            </a:r>
          </a:p>
          <a:p>
            <a:r>
              <a:rPr lang="en-AU" sz="2400" dirty="0"/>
              <a:t>Step 2. Substitute the x values into the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244" y="2696492"/>
            <a:ext cx="3509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Graph the equation  y = x</a:t>
            </a:r>
            <a:r>
              <a:rPr lang="en-AU" sz="2400" b="1" baseline="30000" dirty="0"/>
              <a:t>2</a:t>
            </a:r>
            <a:r>
              <a:rPr lang="en-AU" sz="2400" b="1" dirty="0"/>
              <a:t>  </a:t>
            </a:r>
          </a:p>
          <a:p>
            <a:endParaRPr lang="en-AU" sz="2400" dirty="0"/>
          </a:p>
        </p:txBody>
      </p:sp>
      <p:grpSp>
        <p:nvGrpSpPr>
          <p:cNvPr id="18" name="Group 17"/>
          <p:cNvGrpSpPr/>
          <p:nvPr/>
        </p:nvGrpSpPr>
        <p:grpSpPr>
          <a:xfrm rot="611346">
            <a:off x="1303448" y="3497396"/>
            <a:ext cx="455578" cy="1693101"/>
            <a:chOff x="3035705" y="3273451"/>
            <a:chExt cx="291402" cy="1084207"/>
          </a:xfrm>
        </p:grpSpPr>
        <p:sp>
          <p:nvSpPr>
            <p:cNvPr id="19" name="Oval 18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0" name="Straight Arrow Connector 19"/>
            <p:cNvCxnSpPr>
              <a:stCxn id="19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883153"/>
              </p:ext>
            </p:extLst>
          </p:nvPr>
        </p:nvGraphicFramePr>
        <p:xfrm>
          <a:off x="341361" y="3527489"/>
          <a:ext cx="8366904" cy="95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x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y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1361" y="4553302"/>
            <a:ext cx="149817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y = x</a:t>
            </a:r>
            <a:r>
              <a:rPr lang="en-US" sz="2800" i="1" baseline="30000" dirty="0"/>
              <a:t>2</a:t>
            </a:r>
          </a:p>
          <a:p>
            <a:r>
              <a:rPr lang="en-US" sz="2800" i="1" dirty="0"/>
              <a:t>y = (     )</a:t>
            </a:r>
            <a:r>
              <a:rPr lang="en-US" sz="2800" i="1" baseline="30000" dirty="0"/>
              <a:t>2</a:t>
            </a:r>
            <a:endParaRPr lang="en-US" sz="2800" i="1" dirty="0"/>
          </a:p>
          <a:p>
            <a:r>
              <a:rPr lang="en-US" sz="2800" i="1" dirty="0"/>
              <a:t>y =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784698" y="4302044"/>
            <a:ext cx="1457161" cy="1775239"/>
            <a:chOff x="784698" y="4302044"/>
            <a:chExt cx="1457161" cy="1775239"/>
          </a:xfrm>
        </p:grpSpPr>
        <p:sp>
          <p:nvSpPr>
            <p:cNvPr id="8" name="Oval 7"/>
            <p:cNvSpPr/>
            <p:nvPr/>
          </p:nvSpPr>
          <p:spPr>
            <a:xfrm>
              <a:off x="784698" y="5429386"/>
              <a:ext cx="537049" cy="647897"/>
            </a:xfrm>
            <a:prstGeom prst="ellipse">
              <a:avLst/>
            </a:prstGeom>
            <a:noFill/>
            <a:ln w="28575" cmpd="sng">
              <a:solidFill>
                <a:srgbClr val="1737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8" idx="5"/>
            </p:cNvCxnSpPr>
            <p:nvPr/>
          </p:nvCxnSpPr>
          <p:spPr>
            <a:xfrm flipV="1">
              <a:off x="1243098" y="4302044"/>
              <a:ext cx="998761" cy="1680357"/>
            </a:xfrm>
            <a:prstGeom prst="straightConnector1">
              <a:avLst/>
            </a:prstGeom>
            <a:ln w="28575" cmpd="sng">
              <a:solidFill>
                <a:srgbClr val="17375E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902440" y="5476632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5131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information do we need to graph a parabola?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531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Graphing Quadratic Equation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6174" y="1271951"/>
            <a:ext cx="864060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1. To graph a parabola create a table with x values </a:t>
            </a:r>
          </a:p>
          <a:p>
            <a:r>
              <a:rPr lang="en-AU" sz="2400" dirty="0"/>
              <a:t>		</a:t>
            </a:r>
          </a:p>
          <a:p>
            <a:r>
              <a:rPr lang="en-AU" sz="2400" dirty="0"/>
              <a:t>Step 2. Substitute the x values into the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244" y="2696492"/>
            <a:ext cx="3509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Graph the equation  y = x</a:t>
            </a:r>
            <a:r>
              <a:rPr lang="en-AU" sz="2400" b="1" baseline="30000" dirty="0"/>
              <a:t>2</a:t>
            </a:r>
            <a:r>
              <a:rPr lang="en-AU" sz="2400" b="1" dirty="0"/>
              <a:t>  </a:t>
            </a:r>
          </a:p>
          <a:p>
            <a:endParaRPr lang="en-AU" sz="2400" dirty="0"/>
          </a:p>
        </p:txBody>
      </p:sp>
      <p:grpSp>
        <p:nvGrpSpPr>
          <p:cNvPr id="18" name="Group 17"/>
          <p:cNvGrpSpPr/>
          <p:nvPr/>
        </p:nvGrpSpPr>
        <p:grpSpPr>
          <a:xfrm rot="611346">
            <a:off x="2347773" y="3490881"/>
            <a:ext cx="455578" cy="1693101"/>
            <a:chOff x="3035705" y="3273451"/>
            <a:chExt cx="291402" cy="1084207"/>
          </a:xfrm>
        </p:grpSpPr>
        <p:sp>
          <p:nvSpPr>
            <p:cNvPr id="19" name="Oval 18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0" name="Straight Arrow Connector 19"/>
            <p:cNvCxnSpPr>
              <a:stCxn id="19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18720"/>
              </p:ext>
            </p:extLst>
          </p:nvPr>
        </p:nvGraphicFramePr>
        <p:xfrm>
          <a:off x="341361" y="3527489"/>
          <a:ext cx="8366904" cy="95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x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01">
                <a:tc>
                  <a:txBody>
                    <a:bodyPr/>
                    <a:lstStyle/>
                    <a:p>
                      <a:r>
                        <a:rPr lang="en-AU" sz="2400" dirty="0"/>
                        <a:t>y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51335" y="4675615"/>
            <a:ext cx="149817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y = x</a:t>
            </a:r>
            <a:r>
              <a:rPr lang="en-US" sz="2800" i="1" baseline="30000" dirty="0"/>
              <a:t>2</a:t>
            </a:r>
          </a:p>
          <a:p>
            <a:r>
              <a:rPr lang="en-US" sz="2800" i="1" dirty="0"/>
              <a:t>y = (     )</a:t>
            </a:r>
            <a:r>
              <a:rPr lang="en-US" sz="2800" i="1" baseline="30000" dirty="0"/>
              <a:t>2</a:t>
            </a:r>
            <a:endParaRPr lang="en-US" sz="2800" i="1" dirty="0"/>
          </a:p>
          <a:p>
            <a:r>
              <a:rPr lang="en-US" sz="2800" i="1" dirty="0"/>
              <a:t>y = 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912106" y="4380487"/>
            <a:ext cx="1457161" cy="1775239"/>
            <a:chOff x="784698" y="4302044"/>
            <a:chExt cx="1457161" cy="1775239"/>
          </a:xfrm>
        </p:grpSpPr>
        <p:sp>
          <p:nvSpPr>
            <p:cNvPr id="8" name="Oval 7"/>
            <p:cNvSpPr/>
            <p:nvPr/>
          </p:nvSpPr>
          <p:spPr>
            <a:xfrm>
              <a:off x="784698" y="5429386"/>
              <a:ext cx="537049" cy="647897"/>
            </a:xfrm>
            <a:prstGeom prst="ellipse">
              <a:avLst/>
            </a:prstGeom>
            <a:noFill/>
            <a:ln w="28575" cmpd="sng">
              <a:solidFill>
                <a:srgbClr val="1737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8" idx="5"/>
            </p:cNvCxnSpPr>
            <p:nvPr/>
          </p:nvCxnSpPr>
          <p:spPr>
            <a:xfrm flipV="1">
              <a:off x="1243098" y="4302044"/>
              <a:ext cx="998761" cy="1680357"/>
            </a:xfrm>
            <a:prstGeom prst="straightConnector1">
              <a:avLst/>
            </a:prstGeom>
            <a:ln w="28575" cmpd="sng">
              <a:solidFill>
                <a:srgbClr val="17375E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025414" y="5599179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503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information do we need to graph a parabola?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531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Graphing Quadratic Equation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6174" y="1271951"/>
            <a:ext cx="864060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1. To graph a parabola create a table with x values </a:t>
            </a:r>
          </a:p>
          <a:p>
            <a:r>
              <a:rPr lang="en-AU" sz="2400" dirty="0"/>
              <a:t>		</a:t>
            </a:r>
          </a:p>
          <a:p>
            <a:r>
              <a:rPr lang="en-AU" sz="2400" dirty="0"/>
              <a:t>Step 2. Substitute the x values into the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244" y="2696492"/>
            <a:ext cx="3509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Graph the equation  y = x</a:t>
            </a:r>
            <a:r>
              <a:rPr lang="en-AU" sz="2400" b="1" baseline="30000" dirty="0"/>
              <a:t>2</a:t>
            </a:r>
            <a:r>
              <a:rPr lang="en-AU" sz="2400" b="1" dirty="0"/>
              <a:t>  </a:t>
            </a:r>
          </a:p>
          <a:p>
            <a:endParaRPr lang="en-AU" sz="2400" dirty="0"/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748680"/>
              </p:ext>
            </p:extLst>
          </p:nvPr>
        </p:nvGraphicFramePr>
        <p:xfrm>
          <a:off x="341361" y="3527489"/>
          <a:ext cx="8366904" cy="95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x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b="1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01">
                <a:tc>
                  <a:txBody>
                    <a:bodyPr/>
                    <a:lstStyle/>
                    <a:p>
                      <a:r>
                        <a:rPr lang="en-AU" sz="2200" b="1" dirty="0"/>
                        <a:t>y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200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2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25502" y="4698100"/>
            <a:ext cx="149817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y = x</a:t>
            </a:r>
            <a:r>
              <a:rPr lang="en-US" sz="2800" i="1" baseline="30000" dirty="0"/>
              <a:t>2</a:t>
            </a:r>
          </a:p>
          <a:p>
            <a:r>
              <a:rPr lang="en-US" sz="2800" i="1" dirty="0"/>
              <a:t>y = (     )</a:t>
            </a:r>
            <a:r>
              <a:rPr lang="en-US" sz="2800" i="1" baseline="30000" dirty="0"/>
              <a:t>2</a:t>
            </a:r>
            <a:endParaRPr lang="en-US" sz="2800" i="1" dirty="0"/>
          </a:p>
          <a:p>
            <a:r>
              <a:rPr lang="en-US" sz="2800" i="1" dirty="0"/>
              <a:t>y = 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3765438" y="4005596"/>
            <a:ext cx="687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 flipH="1">
            <a:off x="4852437" y="402422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 flipH="1">
            <a:off x="5888864" y="400559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 flipH="1">
            <a:off x="6939088" y="402983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 flipH="1">
            <a:off x="8039557" y="402983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3875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22" grpId="0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information do we need to graph a parabola?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531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Graphing Quadratic Equation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6174" y="1271951"/>
            <a:ext cx="864060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1. To graph a parabola create a table with x values </a:t>
            </a:r>
          </a:p>
          <a:p>
            <a:r>
              <a:rPr lang="en-AU" sz="2400" dirty="0"/>
              <a:t>		</a:t>
            </a:r>
          </a:p>
          <a:p>
            <a:r>
              <a:rPr lang="en-AU" sz="2400" dirty="0"/>
              <a:t>Step 2. Substitute the x values into the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244" y="2696492"/>
            <a:ext cx="3509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Graph the equation  y = x</a:t>
            </a:r>
            <a:r>
              <a:rPr lang="en-AU" sz="2400" b="1" baseline="30000" dirty="0"/>
              <a:t>2</a:t>
            </a:r>
            <a:r>
              <a:rPr lang="en-AU" sz="2400" b="1" dirty="0"/>
              <a:t>  </a:t>
            </a:r>
          </a:p>
          <a:p>
            <a:endParaRPr lang="en-AU" sz="2400" dirty="0"/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489496"/>
              </p:ext>
            </p:extLst>
          </p:nvPr>
        </p:nvGraphicFramePr>
        <p:xfrm>
          <a:off x="341361" y="3527489"/>
          <a:ext cx="8366904" cy="95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x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b="1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01">
                <a:tc>
                  <a:txBody>
                    <a:bodyPr/>
                    <a:lstStyle/>
                    <a:p>
                      <a:r>
                        <a:rPr lang="en-AU" sz="2200" b="1" dirty="0"/>
                        <a:t>y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200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2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 flipH="1">
            <a:off x="3765438" y="4005596"/>
            <a:ext cx="687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 flipH="1">
            <a:off x="4852437" y="402422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 flipH="1">
            <a:off x="5888864" y="400559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 flipH="1">
            <a:off x="6939088" y="402983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 flipH="1">
            <a:off x="8039557" y="402983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9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826187" y="3878589"/>
            <a:ext cx="653632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 flipH="1">
            <a:off x="1223472" y="4412189"/>
            <a:ext cx="524062" cy="6675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1361" y="4496433"/>
            <a:ext cx="8366904" cy="1284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This gives us the coordinates that we can graph.</a:t>
            </a:r>
          </a:p>
          <a:p>
            <a:endParaRPr lang="en-AU" sz="1350" b="1" dirty="0">
              <a:latin typeface="American Typewriter"/>
              <a:cs typeface="American Typewriter"/>
            </a:endParaRPr>
          </a:p>
          <a:p>
            <a:r>
              <a:rPr lang="en-AU" sz="2400" b="1" dirty="0">
                <a:solidFill>
                  <a:srgbClr val="3366FF"/>
                </a:solidFill>
                <a:latin typeface="American Typewriter"/>
                <a:cs typeface="American Typewriter"/>
              </a:rPr>
              <a:t>(-3, 9), (-2, 4), (-1, 1), (0, 0), (1, 1), (2, 4), (3, 9)</a:t>
            </a:r>
            <a:endParaRPr lang="en-AU" sz="2400" dirty="0">
              <a:solidFill>
                <a:srgbClr val="3366FF"/>
              </a:solidFill>
              <a:latin typeface="American Typewriter"/>
              <a:cs typeface="American Typewriter"/>
            </a:endParaRPr>
          </a:p>
          <a:p>
            <a:endParaRPr lang="en-AU" sz="2000" dirty="0">
              <a:latin typeface="American Typewriter"/>
              <a:cs typeface="American Typewriter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2003974" y="3933661"/>
            <a:ext cx="536188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</p:cNvCxnSpPr>
          <p:nvPr/>
        </p:nvCxnSpPr>
        <p:spPr>
          <a:xfrm flipH="1">
            <a:off x="2401258" y="4412189"/>
            <a:ext cx="441859" cy="722667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3274978" y="3933661"/>
            <a:ext cx="397284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</p:cNvCxnSpPr>
          <p:nvPr/>
        </p:nvCxnSpPr>
        <p:spPr>
          <a:xfrm flipH="1">
            <a:off x="3672264" y="4467261"/>
            <a:ext cx="207891" cy="6675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4381007" y="3933661"/>
            <a:ext cx="279840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</p:cNvCxnSpPr>
          <p:nvPr/>
        </p:nvCxnSpPr>
        <p:spPr>
          <a:xfrm flipH="1">
            <a:off x="4778291" y="4496433"/>
            <a:ext cx="173859" cy="638423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5638362" y="3933661"/>
            <a:ext cx="82828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flipH="1">
            <a:off x="6035650" y="4578796"/>
            <a:ext cx="37070" cy="5560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6757888" y="4005596"/>
            <a:ext cx="0" cy="11292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cxnSpLocks/>
          </p:cNvCxnSpPr>
          <p:nvPr/>
        </p:nvCxnSpPr>
        <p:spPr>
          <a:xfrm>
            <a:off x="7155176" y="4578796"/>
            <a:ext cx="0" cy="5560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7827823" y="4005596"/>
            <a:ext cx="0" cy="11292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cxnSpLocks/>
          </p:cNvCxnSpPr>
          <p:nvPr/>
        </p:nvCxnSpPr>
        <p:spPr>
          <a:xfrm>
            <a:off x="8225111" y="4578796"/>
            <a:ext cx="0" cy="5560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64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41018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780263"/>
              </p:ext>
            </p:extLst>
          </p:nvPr>
        </p:nvGraphicFramePr>
        <p:xfrm>
          <a:off x="2085450" y="644281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5288627" cy="1531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9), (-2, 4), (-1, 1), (0, 0), (1, 1), (2, 4), (3, 9)</a:t>
            </a:r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4507" y="110240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3734" y="173870"/>
            <a:ext cx="39570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 err="1"/>
              <a:t>Eg</a:t>
            </a:r>
            <a:r>
              <a:rPr lang="en-AU" sz="2400" b="1" dirty="0"/>
              <a:t>. Graph the equation  y = x</a:t>
            </a:r>
            <a:r>
              <a:rPr lang="en-AU" sz="2400" b="1" baseline="30000" dirty="0"/>
              <a:t>2</a:t>
            </a:r>
            <a:r>
              <a:rPr lang="en-AU" sz="2400" b="1" dirty="0"/>
              <a:t>  </a:t>
            </a:r>
          </a:p>
          <a:p>
            <a:endParaRPr lang="en-AU" sz="16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2439083" y="2590084"/>
            <a:ext cx="4493578" cy="3987877"/>
            <a:chOff x="2688457" y="2152071"/>
            <a:chExt cx="4493578" cy="3323231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5887" y="2160949"/>
              <a:ext cx="4204342" cy="3314353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2688457" y="4646926"/>
              <a:ext cx="4493578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/>
                <a:t>-10       -9       -8       -6      -5       -4        -3       -2      -1        0        1        2        3         4        5         6        7        8      9</a:t>
              </a: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2855887" y="4687415"/>
              <a:ext cx="4204342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cxnSpLocks/>
            </p:cNvCxnSpPr>
            <p:nvPr/>
          </p:nvCxnSpPr>
          <p:spPr>
            <a:xfrm flipV="1">
              <a:off x="4993570" y="2160949"/>
              <a:ext cx="0" cy="3314353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705165" y="2152071"/>
              <a:ext cx="365525" cy="2846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       9</a:t>
              </a:r>
            </a:p>
            <a:p>
              <a:pPr algn="r"/>
              <a:r>
                <a:rPr lang="en-AU" sz="800" dirty="0"/>
                <a:t>      8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     </a:t>
              </a:r>
            </a:p>
            <a:p>
              <a:pPr algn="r"/>
              <a:r>
                <a:rPr lang="en-AU" sz="800" dirty="0"/>
                <a:t>5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4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3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2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1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0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1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2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3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4016" y="5620843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628528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2439083" y="2321130"/>
            <a:ext cx="4493578" cy="4256831"/>
            <a:chOff x="2439083" y="1934275"/>
            <a:chExt cx="4493578" cy="3547359"/>
          </a:xfrm>
        </p:grpSpPr>
        <p:grpSp>
          <p:nvGrpSpPr>
            <p:cNvPr id="42" name="Group 41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45" name="Picture 4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46" name="TextBox 45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47" name="Straight Connector 46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215399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995085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1995085" y="1969489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2312277" y="2335552"/>
            <a:ext cx="1725015" cy="328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2525442" y="2348438"/>
            <a:ext cx="2218754" cy="739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cxnSp>
        <p:nvCxnSpPr>
          <p:cNvPr id="37" name="Straight Connector 36"/>
          <p:cNvCxnSpPr>
            <a:cxnSpLocks/>
          </p:cNvCxnSpPr>
          <p:nvPr/>
        </p:nvCxnSpPr>
        <p:spPr>
          <a:xfrm flipV="1">
            <a:off x="4037291" y="3152524"/>
            <a:ext cx="0" cy="246832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 flipV="1">
            <a:off x="4132991" y="3088354"/>
            <a:ext cx="517656" cy="1309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977002" y="3036038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28768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2439083" y="2321130"/>
            <a:ext cx="4493578" cy="4256831"/>
            <a:chOff x="2439083" y="1934275"/>
            <a:chExt cx="4493578" cy="3547359"/>
          </a:xfrm>
        </p:grpSpPr>
        <p:grpSp>
          <p:nvGrpSpPr>
            <p:cNvPr id="53" name="Group 52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6" name="Picture 5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7" name="TextBox 56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8" name="Straight Connector 57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0" name="TextBox 59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4" name="TextBox 53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494917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2655543" y="1945499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cxnSp>
        <p:nvCxnSpPr>
          <p:cNvPr id="38" name="Straight Arrow Connector 37"/>
          <p:cNvCxnSpPr>
            <a:cxnSpLocks/>
          </p:cNvCxnSpPr>
          <p:nvPr/>
        </p:nvCxnSpPr>
        <p:spPr>
          <a:xfrm>
            <a:off x="2911367" y="2446809"/>
            <a:ext cx="1365951" cy="3207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3152430" y="2421583"/>
            <a:ext cx="1533442" cy="2102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cxnSpLocks/>
          </p:cNvCxnSpPr>
          <p:nvPr/>
        </p:nvCxnSpPr>
        <p:spPr>
          <a:xfrm flipV="1">
            <a:off x="4284822" y="4614576"/>
            <a:ext cx="2170" cy="1039441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cxnSpLocks/>
          </p:cNvCxnSpPr>
          <p:nvPr/>
        </p:nvCxnSpPr>
        <p:spPr>
          <a:xfrm flipH="1" flipV="1">
            <a:off x="4357385" y="4524006"/>
            <a:ext cx="345950" cy="71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959176" y="3028231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51" name="Oval 50"/>
          <p:cNvSpPr/>
          <p:nvPr/>
        </p:nvSpPr>
        <p:spPr>
          <a:xfrm>
            <a:off x="4229296" y="4472864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82429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708351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3369007" y="1926422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TextBox 33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grpSp>
        <p:nvGrpSpPr>
          <p:cNvPr id="75" name="Group 74"/>
          <p:cNvGrpSpPr/>
          <p:nvPr/>
        </p:nvGrpSpPr>
        <p:grpSpPr>
          <a:xfrm>
            <a:off x="2439083" y="2321130"/>
            <a:ext cx="4493578" cy="4256831"/>
            <a:chOff x="2439083" y="1934275"/>
            <a:chExt cx="4493578" cy="3547359"/>
          </a:xfrm>
        </p:grpSpPr>
        <p:grpSp>
          <p:nvGrpSpPr>
            <p:cNvPr id="76" name="Group 75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79" name="Picture 7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80" name="TextBox 79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81" name="Straight Connector 8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83" name="TextBox 82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77" name="TextBox 76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84" name="Straight Arrow Connector 83"/>
          <p:cNvCxnSpPr>
            <a:cxnSpLocks/>
          </p:cNvCxnSpPr>
          <p:nvPr/>
        </p:nvCxnSpPr>
        <p:spPr>
          <a:xfrm>
            <a:off x="3919694" y="2427732"/>
            <a:ext cx="573997" cy="3226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cxnSpLocks/>
          </p:cNvCxnSpPr>
          <p:nvPr/>
        </p:nvCxnSpPr>
        <p:spPr>
          <a:xfrm>
            <a:off x="3954780" y="2427732"/>
            <a:ext cx="780136" cy="2946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cxnSpLocks/>
            <a:endCxn id="98" idx="0"/>
          </p:cNvCxnSpPr>
          <p:nvPr/>
        </p:nvCxnSpPr>
        <p:spPr>
          <a:xfrm flipV="1">
            <a:off x="4490959" y="5271126"/>
            <a:ext cx="23754" cy="35554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cxnSpLocks/>
          </p:cNvCxnSpPr>
          <p:nvPr/>
        </p:nvCxnSpPr>
        <p:spPr>
          <a:xfrm flipH="1">
            <a:off x="4581281" y="5329368"/>
            <a:ext cx="172196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3959176" y="3028231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9" name="Oval 88"/>
          <p:cNvSpPr/>
          <p:nvPr/>
        </p:nvSpPr>
        <p:spPr>
          <a:xfrm>
            <a:off x="4229296" y="4472864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98" name="Oval 97"/>
          <p:cNvSpPr/>
          <p:nvPr/>
        </p:nvSpPr>
        <p:spPr>
          <a:xfrm>
            <a:off x="4454423" y="527112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39603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867822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06744" y="1925010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5" name="Group 54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56" name="Group 55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60" name="TextBox 59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64" name="Straight Arrow Connector 63"/>
          <p:cNvCxnSpPr>
            <a:cxnSpLocks/>
          </p:cNvCxnSpPr>
          <p:nvPr/>
        </p:nvCxnSpPr>
        <p:spPr>
          <a:xfrm>
            <a:off x="4356644" y="2408073"/>
            <a:ext cx="316798" cy="3271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cxnSpLocks/>
          </p:cNvCxnSpPr>
          <p:nvPr/>
        </p:nvCxnSpPr>
        <p:spPr>
          <a:xfrm>
            <a:off x="4598950" y="2362447"/>
            <a:ext cx="142828" cy="3268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0" name="Oval 69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1" name="Oval 70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44245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568104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4699784" y="1916279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55" name="Group 54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56" name="Group 55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60" name="TextBox 59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64" name="Straight Arrow Connector 63"/>
          <p:cNvCxnSpPr>
            <a:cxnSpLocks/>
          </p:cNvCxnSpPr>
          <p:nvPr/>
        </p:nvCxnSpPr>
        <p:spPr>
          <a:xfrm flipH="1">
            <a:off x="4774764" y="2408073"/>
            <a:ext cx="151812" cy="2910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cxnSpLocks/>
          </p:cNvCxnSpPr>
          <p:nvPr/>
        </p:nvCxnSpPr>
        <p:spPr>
          <a:xfrm flipH="1">
            <a:off x="4988092" y="2368272"/>
            <a:ext cx="266205" cy="3311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cxnSpLocks/>
          </p:cNvCxnSpPr>
          <p:nvPr/>
        </p:nvCxnSpPr>
        <p:spPr>
          <a:xfrm flipV="1">
            <a:off x="4983576" y="5419341"/>
            <a:ext cx="23754" cy="35554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cxnSpLocks/>
            <a:endCxn id="72" idx="0"/>
          </p:cNvCxnSpPr>
          <p:nvPr/>
        </p:nvCxnSpPr>
        <p:spPr>
          <a:xfrm>
            <a:off x="4792009" y="5405764"/>
            <a:ext cx="211963" cy="1357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0" name="Oval 69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1" name="Oval 70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2" name="Oval 71"/>
          <p:cNvSpPr/>
          <p:nvPr/>
        </p:nvSpPr>
        <p:spPr>
          <a:xfrm flipV="1">
            <a:off x="4957798" y="5311113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0748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763275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38" name="TextBox 37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46" name="Rectangle 45"/>
          <p:cNvSpPr/>
          <p:nvPr/>
        </p:nvSpPr>
        <p:spPr>
          <a:xfrm>
            <a:off x="5386589" y="1980992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TextBox 46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48" name="Group 47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49" name="Group 48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2" name="Picture 5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3" name="TextBox 52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4" name="Straight Connector 53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6" name="TextBox 55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57" name="Straight Arrow Connector 56"/>
          <p:cNvCxnSpPr>
            <a:cxnSpLocks/>
          </p:cNvCxnSpPr>
          <p:nvPr/>
        </p:nvCxnSpPr>
        <p:spPr>
          <a:xfrm flipH="1">
            <a:off x="4685872" y="2482302"/>
            <a:ext cx="914728" cy="2024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 flipH="1">
            <a:off x="5259652" y="2497572"/>
            <a:ext cx="675601" cy="3182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cxnSpLocks/>
          </p:cNvCxnSpPr>
          <p:nvPr/>
        </p:nvCxnSpPr>
        <p:spPr>
          <a:xfrm flipV="1">
            <a:off x="5190348" y="4429497"/>
            <a:ext cx="7989" cy="1153948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cxnSpLocks/>
          </p:cNvCxnSpPr>
          <p:nvPr/>
        </p:nvCxnSpPr>
        <p:spPr>
          <a:xfrm>
            <a:off x="4781284" y="4560543"/>
            <a:ext cx="440826" cy="1357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2" name="Oval 61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3" name="Oval 62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Oval 63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6" name="Oval 65"/>
          <p:cNvSpPr/>
          <p:nvPr/>
        </p:nvSpPr>
        <p:spPr>
          <a:xfrm flipV="1">
            <a:off x="5158114" y="4506429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8" name="Oval 67"/>
          <p:cNvSpPr/>
          <p:nvPr/>
        </p:nvSpPr>
        <p:spPr>
          <a:xfrm>
            <a:off x="4893318" y="534078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6063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127200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929058" y="1548031"/>
            <a:ext cx="4972134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6097923" y="1985981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TextBox 39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50" name="Group 49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51" name="Group 50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5" name="TextBox 54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6" name="Straight Connector 55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8" name="TextBox 57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59" name="Straight Arrow Connector 58"/>
          <p:cNvCxnSpPr>
            <a:cxnSpLocks/>
          </p:cNvCxnSpPr>
          <p:nvPr/>
        </p:nvCxnSpPr>
        <p:spPr>
          <a:xfrm flipH="1">
            <a:off x="4805991" y="2406726"/>
            <a:ext cx="1516520" cy="706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</p:cNvCxnSpPr>
          <p:nvPr/>
        </p:nvCxnSpPr>
        <p:spPr>
          <a:xfrm flipH="1">
            <a:off x="5487122" y="2487291"/>
            <a:ext cx="1324028" cy="3210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cxnSpLocks/>
          </p:cNvCxnSpPr>
          <p:nvPr/>
        </p:nvCxnSpPr>
        <p:spPr>
          <a:xfrm flipV="1">
            <a:off x="5431764" y="3043446"/>
            <a:ext cx="7989" cy="2716872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cxnSpLocks/>
            <a:endCxn id="69" idx="2"/>
          </p:cNvCxnSpPr>
          <p:nvPr/>
        </p:nvCxnSpPr>
        <p:spPr>
          <a:xfrm flipV="1">
            <a:off x="4820662" y="3129485"/>
            <a:ext cx="564929" cy="25889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Oval 63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5" name="Oval 64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6" name="Oval 65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7" name="Oval 66"/>
          <p:cNvSpPr/>
          <p:nvPr/>
        </p:nvSpPr>
        <p:spPr>
          <a:xfrm flipV="1">
            <a:off x="5158114" y="4506429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8" name="Oval 67"/>
          <p:cNvSpPr/>
          <p:nvPr/>
        </p:nvSpPr>
        <p:spPr>
          <a:xfrm>
            <a:off x="4893318" y="534078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 flipV="1">
            <a:off x="5385590" y="3075373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18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92992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>
                <a:solidFill>
                  <a:srgbClr val="000000"/>
                </a:solidFill>
              </a:rPr>
              <a:t>This gives us the coordinates that we can graph.</a:t>
            </a:r>
          </a:p>
          <a:p>
            <a:endParaRPr lang="en-AU" sz="1350" b="1" dirty="0">
              <a:solidFill>
                <a:srgbClr val="000000"/>
              </a:solidFill>
            </a:endParaRPr>
          </a:p>
          <a:p>
            <a:r>
              <a:rPr lang="en-AU" sz="2000" b="1" dirty="0">
                <a:solidFill>
                  <a:srgbClr val="000000"/>
                </a:solidFill>
              </a:rPr>
              <a:t>(-3, 9), (-2, 4), (-1, 1), (0, 0), (1, 1), (2, 4), (3, 9)</a:t>
            </a:r>
            <a:endParaRPr lang="en-AU" sz="2000" dirty="0">
              <a:solidFill>
                <a:srgbClr val="000000"/>
              </a:solidFill>
            </a:endParaRPr>
          </a:p>
          <a:p>
            <a:endParaRPr lang="en-AU" sz="2000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10397" y="2608695"/>
            <a:ext cx="21402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Now join the dots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65" name="TextBox 64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66" name="Group 65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67" name="Group 66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70" name="Picture 6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71" name="TextBox 70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72" name="Straight Connector 71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74" name="TextBox 73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sp>
        <p:nvSpPr>
          <p:cNvPr id="79" name="Oval 78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0" name="Oval 79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1" name="Oval 80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2" name="Oval 81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3" name="Oval 82"/>
          <p:cNvSpPr/>
          <p:nvPr/>
        </p:nvSpPr>
        <p:spPr>
          <a:xfrm flipV="1">
            <a:off x="5158114" y="4506429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4" name="Oval 83"/>
          <p:cNvSpPr/>
          <p:nvPr/>
        </p:nvSpPr>
        <p:spPr>
          <a:xfrm>
            <a:off x="4893318" y="534078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5" name="Oval 84"/>
          <p:cNvSpPr/>
          <p:nvPr/>
        </p:nvSpPr>
        <p:spPr>
          <a:xfrm flipV="1">
            <a:off x="5385590" y="3075373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27173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17842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798656" y="1520551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9), (-2, 4), (-1, 1), (0, 0), (1, 1), (2, 4), (3, 9)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37" name="TextBox 36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55" name="Group 54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56" name="Group 55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60" name="TextBox 59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sp>
        <p:nvSpPr>
          <p:cNvPr id="64" name="Oval 63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5" name="Oval 64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6" name="Oval 65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7" name="Oval 66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8" name="Oval 67"/>
          <p:cNvSpPr/>
          <p:nvPr/>
        </p:nvSpPr>
        <p:spPr>
          <a:xfrm flipV="1">
            <a:off x="5158114" y="4506429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>
            <a:off x="4893318" y="534078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0" name="Oval 69"/>
          <p:cNvSpPr/>
          <p:nvPr/>
        </p:nvSpPr>
        <p:spPr>
          <a:xfrm flipV="1">
            <a:off x="5385590" y="3075373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" b="79124" l="26445" r="68467">
                        <a14:backgroundMark x1="47802" y1="19124" x2="47802" y2="19124"/>
                        <a14:backgroundMark x1="34673" y1="56255" x2="34673" y2="56255"/>
                        <a14:backgroundMark x1="62123" y1="62470" x2="62123" y2="62470"/>
                      </a14:backgroundRemoval>
                    </a14:imgEffect>
                  </a14:imgLayer>
                </a14:imgProps>
              </a:ext>
            </a:extLst>
          </a:blip>
          <a:srcRect l="27689" r="31060" b="18540"/>
          <a:stretch/>
        </p:blipFill>
        <p:spPr>
          <a:xfrm>
            <a:off x="3844408" y="2222767"/>
            <a:ext cx="1845193" cy="366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2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50" name="Group 49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4" name="TextBox 53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5" name="Straight Connector 54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585238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919085" y="1527285"/>
            <a:ext cx="4972134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>
                <a:solidFill>
                  <a:srgbClr val="000000"/>
                </a:solidFill>
              </a:rPr>
              <a:t>This gives us the coordinates that we can graph.</a:t>
            </a:r>
          </a:p>
          <a:p>
            <a:endParaRPr lang="en-AU" sz="1350" b="1" dirty="0">
              <a:solidFill>
                <a:srgbClr val="000000"/>
              </a:solidFill>
            </a:endParaRPr>
          </a:p>
          <a:p>
            <a:r>
              <a:rPr lang="en-AU" sz="2000" b="1" dirty="0">
                <a:solidFill>
                  <a:srgbClr val="000000"/>
                </a:solidFill>
              </a:rPr>
              <a:t>(-3, 9), (-2, 4), (-1, 1), (0, 0), (1, 1), (2, 4), (3, 9)</a:t>
            </a:r>
            <a:endParaRPr lang="en-AU" sz="2000" dirty="0">
              <a:solidFill>
                <a:srgbClr val="000000"/>
              </a:solidFill>
            </a:endParaRPr>
          </a:p>
          <a:p>
            <a:endParaRPr lang="en-AU" sz="2000" dirty="0">
              <a:solidFill>
                <a:srgbClr val="000000"/>
              </a:solidFill>
            </a:endParaRPr>
          </a:p>
          <a:p>
            <a:endParaRPr lang="en-AU" sz="2000" dirty="0">
              <a:solidFill>
                <a:srgbClr val="0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25483" y="5405462"/>
            <a:ext cx="3107503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Where the graph turns is called the turning point or vertex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58" name="Oval 57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59" name="Oval 58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0" name="Oval 59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1" name="Oval 60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2" name="Oval 61"/>
          <p:cNvSpPr/>
          <p:nvPr/>
        </p:nvSpPr>
        <p:spPr>
          <a:xfrm flipV="1">
            <a:off x="5158114" y="4506429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3" name="Oval 62"/>
          <p:cNvSpPr/>
          <p:nvPr/>
        </p:nvSpPr>
        <p:spPr>
          <a:xfrm>
            <a:off x="4893318" y="534078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Oval 63"/>
          <p:cNvSpPr/>
          <p:nvPr/>
        </p:nvSpPr>
        <p:spPr>
          <a:xfrm flipV="1">
            <a:off x="5385590" y="3075373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" b="79124" l="26445" r="68467">
                        <a14:backgroundMark x1="47802" y1="19124" x2="47802" y2="19124"/>
                        <a14:backgroundMark x1="34673" y1="56255" x2="34673" y2="56255"/>
                        <a14:backgroundMark x1="62123" y1="62470" x2="62123" y2="62470"/>
                      </a14:backgroundRemoval>
                    </a14:imgEffect>
                  </a14:imgLayer>
                </a14:imgProps>
              </a:ext>
            </a:extLst>
          </a:blip>
          <a:srcRect l="27689" r="31060" b="18540"/>
          <a:stretch/>
        </p:blipFill>
        <p:spPr>
          <a:xfrm>
            <a:off x="3844408" y="2222767"/>
            <a:ext cx="1845193" cy="3666818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4893318" y="5457272"/>
            <a:ext cx="932165" cy="1737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480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5360"/>
          <a:stretch/>
        </p:blipFill>
        <p:spPr>
          <a:xfrm>
            <a:off x="1005807" y="899630"/>
            <a:ext cx="3784243" cy="4475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28193" y="1421407"/>
            <a:ext cx="361580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y = - x</a:t>
            </a:r>
            <a:r>
              <a:rPr lang="en-US" sz="3200" b="1" baseline="30000" dirty="0"/>
              <a:t>2</a:t>
            </a:r>
            <a:r>
              <a:rPr lang="en-US" sz="3200" b="1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Gives an upside down parabola</a:t>
            </a:r>
          </a:p>
        </p:txBody>
      </p:sp>
    </p:spTree>
    <p:extLst>
      <p:ext uri="{BB962C8B-B14F-4D97-AF65-F5344CB8AC3E}">
        <p14:creationId xmlns:p14="http://schemas.microsoft.com/office/powerpoint/2010/main" val="2305949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75" y="191672"/>
            <a:ext cx="3257551" cy="64762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306451" y="449966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AU" dirty="0"/>
                  <a:t> Shifts the parabola up 3 places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50" y="374971"/>
                <a:ext cx="2651761" cy="646331"/>
              </a:xfrm>
              <a:prstGeom prst="rect">
                <a:avLst/>
              </a:prstGeom>
              <a:blipFill>
                <a:blip r:embed="rId3"/>
                <a:stretch>
                  <a:fillRect l="-1839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06450" y="1535991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dirty="0"/>
                  <a:t>2 Shifts the parabola down 2 places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49" y="1279992"/>
                <a:ext cx="2651761" cy="646331"/>
              </a:xfrm>
              <a:prstGeom prst="rect">
                <a:avLst/>
              </a:prstGeom>
              <a:blipFill>
                <a:blip r:embed="rId4"/>
                <a:stretch>
                  <a:fillRect l="-1839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37749" y="3601127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Shifts the parabola vertex to x=-2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748" y="3000939"/>
                <a:ext cx="2651761" cy="646331"/>
              </a:xfrm>
              <a:prstGeom prst="rect">
                <a:avLst/>
              </a:prstGeom>
              <a:blipFill>
                <a:blip r:embed="rId5"/>
                <a:stretch>
                  <a:fillRect l="-1839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437749" y="4687153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Shifts the parabola vertex to x=-1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748" y="3905960"/>
                <a:ext cx="2651761" cy="646331"/>
              </a:xfrm>
              <a:prstGeom prst="rect">
                <a:avLst/>
              </a:prstGeom>
              <a:blipFill>
                <a:blip r:embed="rId6"/>
                <a:stretch>
                  <a:fillRect l="-1839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914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677" y="357305"/>
            <a:ext cx="5147323" cy="62074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025"/>
            <a:ext cx="4064706" cy="11362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4795"/>
            <a:ext cx="4064706" cy="10984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27918"/>
            <a:ext cx="4137938" cy="11876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64717"/>
            <a:ext cx="9015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American Typewriter"/>
                <a:cs typeface="American Typewriter"/>
              </a:rPr>
              <a:t>I will be collecting your work to mark!!       Page 55 in the textbook   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801394"/>
            <a:ext cx="4167717" cy="12673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324" y="5199278"/>
            <a:ext cx="4001001" cy="107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25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243" y="203616"/>
            <a:ext cx="5333757" cy="64322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8162"/>
            <a:ext cx="4063153" cy="10381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78650"/>
            <a:ext cx="3956628" cy="1004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364717"/>
            <a:ext cx="4970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American Typewriter"/>
                <a:cs typeface="American Typewriter"/>
              </a:rPr>
              <a:t>I will be collecting your work to mark!!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9095"/>
            <a:ext cx="3867815" cy="111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9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1825</Words>
  <Application>Microsoft Office PowerPoint</Application>
  <PresentationFormat>On-screen Show (4:3)</PresentationFormat>
  <Paragraphs>665</Paragraphs>
  <Slides>24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American Typewriter</vt:lpstr>
      <vt:lpstr>Arial</vt:lpstr>
      <vt:lpstr>Calibri</vt:lpstr>
      <vt:lpstr>Cambria Math</vt:lpstr>
      <vt:lpstr>Chalkboard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E4093549</dc:creator>
  <cp:lastModifiedBy>Magdeline Lum</cp:lastModifiedBy>
  <cp:revision>24</cp:revision>
  <dcterms:created xsi:type="dcterms:W3CDTF">2017-03-26T12:36:47Z</dcterms:created>
  <dcterms:modified xsi:type="dcterms:W3CDTF">2018-11-11T18:13:47Z</dcterms:modified>
</cp:coreProperties>
</file>
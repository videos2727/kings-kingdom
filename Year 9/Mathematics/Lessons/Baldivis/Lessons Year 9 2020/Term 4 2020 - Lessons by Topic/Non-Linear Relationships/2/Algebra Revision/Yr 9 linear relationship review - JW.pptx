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3" r:id="rId4"/>
    <p:sldId id="264" r:id="rId5"/>
    <p:sldId id="265" r:id="rId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685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63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204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7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27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38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118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02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79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67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63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94071-8BDD-427E-A42D-A0F9BD49DAAD}" type="datetimeFigureOut">
              <a:rPr lang="en-AU" smtClean="0"/>
              <a:t>13/11/2018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4108B-0DDB-4579-BD57-57A416315B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696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2692" y="447763"/>
            <a:ext cx="7678616" cy="4583151"/>
          </a:xfrm>
        </p:spPr>
        <p:txBody>
          <a:bodyPr>
            <a:normAutofit/>
          </a:bodyPr>
          <a:lstStyle/>
          <a:p>
            <a:pPr algn="l"/>
            <a:r>
              <a:rPr lang="en-AU" b="1" dirty="0"/>
              <a:t>Expand the following</a:t>
            </a:r>
          </a:p>
          <a:p>
            <a:pPr algn="l"/>
            <a:r>
              <a:rPr lang="en-AU" dirty="0"/>
              <a:t>4x(2x + 2)  =					3(2d – 3) =</a:t>
            </a:r>
          </a:p>
          <a:p>
            <a:pPr algn="l"/>
            <a:endParaRPr lang="en-AU" dirty="0"/>
          </a:p>
          <a:p>
            <a:pPr algn="l"/>
            <a:endParaRPr lang="en-AU" dirty="0"/>
          </a:p>
          <a:p>
            <a:pPr algn="l"/>
            <a:r>
              <a:rPr lang="en-AU" dirty="0"/>
              <a:t>x(3d</a:t>
            </a:r>
            <a:r>
              <a:rPr lang="en-AU" baseline="30000" dirty="0"/>
              <a:t>2</a:t>
            </a:r>
            <a:r>
              <a:rPr lang="en-AU" dirty="0"/>
              <a:t> + 3x) = </a:t>
            </a:r>
          </a:p>
          <a:p>
            <a:pPr algn="l"/>
            <a:endParaRPr lang="en-AU" dirty="0"/>
          </a:p>
          <a:p>
            <a:pPr algn="l"/>
            <a:r>
              <a:rPr lang="en-AU" b="1" dirty="0"/>
              <a:t>Factorise the following</a:t>
            </a:r>
          </a:p>
          <a:p>
            <a:pPr algn="l"/>
            <a:r>
              <a:rPr lang="en-AU" dirty="0"/>
              <a:t>4x</a:t>
            </a:r>
            <a:r>
              <a:rPr lang="en-AU" baseline="30000" dirty="0"/>
              <a:t> </a:t>
            </a:r>
            <a:r>
              <a:rPr lang="en-AU" dirty="0"/>
              <a:t> + 8 = 					6f</a:t>
            </a:r>
            <a:r>
              <a:rPr lang="en-AU" baseline="30000" dirty="0"/>
              <a:t>2</a:t>
            </a:r>
            <a:r>
              <a:rPr lang="en-AU" dirty="0"/>
              <a:t> – 3f =</a:t>
            </a:r>
          </a:p>
          <a:p>
            <a:pPr algn="l"/>
            <a:endParaRPr lang="en-AU" dirty="0"/>
          </a:p>
          <a:p>
            <a:pPr algn="l"/>
            <a:endParaRPr lang="en-AU" dirty="0"/>
          </a:p>
          <a:p>
            <a:pPr algn="l"/>
            <a:r>
              <a:rPr lang="en-AU" dirty="0"/>
              <a:t>9f</a:t>
            </a:r>
            <a:r>
              <a:rPr lang="en-AU" baseline="30000" dirty="0"/>
              <a:t>2</a:t>
            </a:r>
            <a:r>
              <a:rPr lang="en-AU" dirty="0"/>
              <a:t>g</a:t>
            </a:r>
            <a:r>
              <a:rPr lang="en-AU" baseline="30000" dirty="0"/>
              <a:t>3</a:t>
            </a:r>
            <a:r>
              <a:rPr lang="en-AU" dirty="0"/>
              <a:t> +  3f</a:t>
            </a:r>
            <a:r>
              <a:rPr lang="en-AU" baseline="30000" dirty="0"/>
              <a:t>3</a:t>
            </a:r>
            <a:r>
              <a:rPr lang="en-AU" dirty="0"/>
              <a:t>g</a:t>
            </a:r>
            <a:r>
              <a:rPr lang="en-AU" baseline="30000" dirty="0"/>
              <a:t>2</a:t>
            </a:r>
            <a:r>
              <a:rPr lang="en-AU" dirty="0"/>
              <a:t> = 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9877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A57A215-C085-4ABE-A44D-93E4C3D1A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47" y="1350622"/>
            <a:ext cx="2247900" cy="4200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17770-171D-40B3-A6F2-47772BF1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35" y="257379"/>
            <a:ext cx="7886700" cy="293606"/>
          </a:xfrm>
        </p:spPr>
        <p:txBody>
          <a:bodyPr>
            <a:normAutofit fontScale="90000"/>
          </a:bodyPr>
          <a:lstStyle/>
          <a:p>
            <a:r>
              <a:rPr lang="en-AU" dirty="0"/>
              <a:t>Examples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996B2E-E6C8-476E-B4D5-0C41C34DC838}"/>
                  </a:ext>
                </a:extLst>
              </p:cNvPr>
              <p:cNvSpPr txBox="1"/>
              <p:nvPr/>
            </p:nvSpPr>
            <p:spPr>
              <a:xfrm>
                <a:off x="844062" y="827454"/>
                <a:ext cx="117486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996B2E-E6C8-476E-B4D5-0C41C34DC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2" y="827454"/>
                <a:ext cx="1174860" cy="276999"/>
              </a:xfrm>
              <a:prstGeom prst="rect">
                <a:avLst/>
              </a:prstGeom>
              <a:blipFill>
                <a:blip r:embed="rId3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4A8AC2D-A272-4E27-89F9-D19A2684AF3D}"/>
              </a:ext>
            </a:extLst>
          </p:cNvPr>
          <p:cNvSpPr txBox="1"/>
          <p:nvPr/>
        </p:nvSpPr>
        <p:spPr>
          <a:xfrm>
            <a:off x="773723" y="1781909"/>
            <a:ext cx="1865435" cy="375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 3	4     6    7    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3DB17-9236-4DB9-BFCD-C4AB0C00B276}"/>
              </a:ext>
            </a:extLst>
          </p:cNvPr>
          <p:cNvSpPr txBox="1"/>
          <p:nvPr/>
        </p:nvSpPr>
        <p:spPr>
          <a:xfrm>
            <a:off x="3313969" y="1567964"/>
            <a:ext cx="1946031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/>
              <a:t>Changes by a constant amount.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EEF22E-B513-4B5E-90B5-B583EEB5C6B4}"/>
                  </a:ext>
                </a:extLst>
              </p:cNvPr>
              <p:cNvSpPr txBox="1"/>
              <p:nvPr/>
            </p:nvSpPr>
            <p:spPr>
              <a:xfrm>
                <a:off x="2795954" y="666264"/>
                <a:ext cx="3130061" cy="646331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/>
                  <a:t>Variable only has a power of 1 (no x</a:t>
                </a:r>
                <a:r>
                  <a:rPr lang="en-AU" baseline="30000" dirty="0"/>
                  <a:t>2</a:t>
                </a:r>
                <a:r>
                  <a:rPr lang="en-AU" dirty="0"/>
                  <a:t> or x</a:t>
                </a:r>
                <a:r>
                  <a:rPr lang="en-AU" baseline="30000" dirty="0"/>
                  <a:t>3</a:t>
                </a:r>
                <a:r>
                  <a:rPr lang="en-AU" dirty="0"/>
                  <a:t>)  or  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/>
                  <a:t> = M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+ C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EEF22E-B513-4B5E-90B5-B583EEB5C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954" y="666264"/>
                <a:ext cx="3130061" cy="646331"/>
              </a:xfrm>
              <a:prstGeom prst="rect">
                <a:avLst/>
              </a:prstGeom>
              <a:blipFill>
                <a:blip r:embed="rId4"/>
                <a:stretch>
                  <a:fillRect t="-4673" r="-584" b="-130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0F89E-EE5B-4F7E-9FED-4DCD8E3826A4}"/>
              </a:ext>
            </a:extLst>
          </p:cNvPr>
          <p:cNvCxnSpPr/>
          <p:nvPr/>
        </p:nvCxnSpPr>
        <p:spPr>
          <a:xfrm flipV="1">
            <a:off x="633046" y="2801814"/>
            <a:ext cx="1711569" cy="173501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7B82FE-0C2A-455E-A65A-B6501FD0570A}"/>
              </a:ext>
            </a:extLst>
          </p:cNvPr>
          <p:cNvSpPr txBox="1"/>
          <p:nvPr/>
        </p:nvSpPr>
        <p:spPr>
          <a:xfrm>
            <a:off x="3235570" y="3022990"/>
            <a:ext cx="22098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/>
              <a:t>Makes a straight line when graphed.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E57DE7-9FF5-438E-971A-3CAAF6D5A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555" y="1350622"/>
            <a:ext cx="2247900" cy="42005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3FC0762-80F9-476D-96F9-039C40A9FE11}"/>
                  </a:ext>
                </a:extLst>
              </p:cNvPr>
              <p:cNvSpPr txBox="1"/>
              <p:nvPr/>
            </p:nvSpPr>
            <p:spPr>
              <a:xfrm>
                <a:off x="6902340" y="794769"/>
                <a:ext cx="117486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1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3FC0762-80F9-476D-96F9-039C40A9F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340" y="794769"/>
                <a:ext cx="1174860" cy="276999"/>
              </a:xfrm>
              <a:prstGeom prst="rect">
                <a:avLst/>
              </a:prstGeom>
              <a:blipFill>
                <a:blip r:embed="rId5"/>
                <a:stretch>
                  <a:fillRect l="-7254" t="-28261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9F4080-CB73-4297-8F1C-C963355E86EB}"/>
              </a:ext>
            </a:extLst>
          </p:cNvPr>
          <p:cNvSpPr txBox="1"/>
          <p:nvPr/>
        </p:nvSpPr>
        <p:spPr>
          <a:xfrm>
            <a:off x="6777405" y="1728373"/>
            <a:ext cx="1865435" cy="375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  1	3     5    7    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48FAD6-B137-42DE-818E-9670D950C017}"/>
              </a:ext>
            </a:extLst>
          </p:cNvPr>
          <p:cNvCxnSpPr>
            <a:cxnSpLocks/>
          </p:cNvCxnSpPr>
          <p:nvPr/>
        </p:nvCxnSpPr>
        <p:spPr>
          <a:xfrm flipV="1">
            <a:off x="6646985" y="2382366"/>
            <a:ext cx="1430215" cy="284612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44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A57A215-C085-4ABE-A44D-93E4C3D1A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47" y="1350622"/>
            <a:ext cx="2247900" cy="4200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17770-171D-40B3-A6F2-47772BF1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35" y="257379"/>
            <a:ext cx="7886700" cy="293606"/>
          </a:xfrm>
        </p:spPr>
        <p:txBody>
          <a:bodyPr>
            <a:normAutofit fontScale="90000"/>
          </a:bodyPr>
          <a:lstStyle/>
          <a:p>
            <a:r>
              <a:rPr lang="en-AU" dirty="0"/>
              <a:t>Examples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996B2E-E6C8-476E-B4D5-0C41C34DC838}"/>
                  </a:ext>
                </a:extLst>
              </p:cNvPr>
              <p:cNvSpPr txBox="1"/>
              <p:nvPr/>
            </p:nvSpPr>
            <p:spPr>
              <a:xfrm>
                <a:off x="549519" y="812304"/>
                <a:ext cx="179509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AU" dirty="0"/>
                  <a:t>8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996B2E-E6C8-476E-B4D5-0C41C34DC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19" y="812304"/>
                <a:ext cx="1795096" cy="276999"/>
              </a:xfrm>
              <a:prstGeom prst="rect">
                <a:avLst/>
              </a:prstGeom>
              <a:blipFill>
                <a:blip r:embed="rId3"/>
                <a:stretch>
                  <a:fillRect l="-4746" t="-28261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4A8AC2D-A272-4E27-89F9-D19A2684AF3D}"/>
              </a:ext>
            </a:extLst>
          </p:cNvPr>
          <p:cNvSpPr txBox="1"/>
          <p:nvPr/>
        </p:nvSpPr>
        <p:spPr>
          <a:xfrm>
            <a:off x="773723" y="1781909"/>
            <a:ext cx="2022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  8     5     2    -1   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3DB17-9236-4DB9-BFCD-C4AB0C00B276}"/>
              </a:ext>
            </a:extLst>
          </p:cNvPr>
          <p:cNvSpPr txBox="1"/>
          <p:nvPr/>
        </p:nvSpPr>
        <p:spPr>
          <a:xfrm>
            <a:off x="3313969" y="1567964"/>
            <a:ext cx="1946031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/>
              <a:t>Changes by a constant amount.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EEF22E-B513-4B5E-90B5-B583EEB5C6B4}"/>
                  </a:ext>
                </a:extLst>
              </p:cNvPr>
              <p:cNvSpPr txBox="1"/>
              <p:nvPr/>
            </p:nvSpPr>
            <p:spPr>
              <a:xfrm>
                <a:off x="2795954" y="666264"/>
                <a:ext cx="3130061" cy="646331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/>
                  <a:t>Variable only has a power of 1 (no x</a:t>
                </a:r>
                <a:r>
                  <a:rPr lang="en-AU" baseline="30000" dirty="0"/>
                  <a:t>2</a:t>
                </a:r>
                <a:r>
                  <a:rPr lang="en-AU" dirty="0"/>
                  <a:t> or x</a:t>
                </a:r>
                <a:r>
                  <a:rPr lang="en-AU" baseline="30000" dirty="0"/>
                  <a:t>3</a:t>
                </a:r>
                <a:r>
                  <a:rPr lang="en-AU" dirty="0"/>
                  <a:t>)  or  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/>
                  <a:t> = M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+ C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EEF22E-B513-4B5E-90B5-B583EEB5C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954" y="666264"/>
                <a:ext cx="3130061" cy="646331"/>
              </a:xfrm>
              <a:prstGeom prst="rect">
                <a:avLst/>
              </a:prstGeom>
              <a:blipFill>
                <a:blip r:embed="rId4"/>
                <a:stretch>
                  <a:fillRect t="-4673" r="-584" b="-130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0F89E-EE5B-4F7E-9FED-4DCD8E3826A4}"/>
              </a:ext>
            </a:extLst>
          </p:cNvPr>
          <p:cNvCxnSpPr>
            <a:cxnSpLocks/>
          </p:cNvCxnSpPr>
          <p:nvPr/>
        </p:nvCxnSpPr>
        <p:spPr>
          <a:xfrm>
            <a:off x="679938" y="2731477"/>
            <a:ext cx="996462" cy="29835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7B82FE-0C2A-455E-A65A-B6501FD0570A}"/>
              </a:ext>
            </a:extLst>
          </p:cNvPr>
          <p:cNvSpPr txBox="1"/>
          <p:nvPr/>
        </p:nvSpPr>
        <p:spPr>
          <a:xfrm>
            <a:off x="3235570" y="3022990"/>
            <a:ext cx="22098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/>
              <a:t>Makes a straight line when graphed.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E57DE7-9FF5-438E-971A-3CAAF6D5A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555" y="1350622"/>
            <a:ext cx="2247900" cy="42005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3FC0762-80F9-476D-96F9-039C40A9FE11}"/>
                  </a:ext>
                </a:extLst>
              </p:cNvPr>
              <p:cNvSpPr txBox="1"/>
              <p:nvPr/>
            </p:nvSpPr>
            <p:spPr>
              <a:xfrm>
                <a:off x="6902340" y="794769"/>
                <a:ext cx="15617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AU" dirty="0"/>
                  <a:t>1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3FC0762-80F9-476D-96F9-039C40A9F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340" y="794769"/>
                <a:ext cx="1561722" cy="276999"/>
              </a:xfrm>
              <a:prstGeom prst="rect">
                <a:avLst/>
              </a:prstGeom>
              <a:blipFill>
                <a:blip r:embed="rId5"/>
                <a:stretch>
                  <a:fillRect l="-5469" t="-28261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9F4080-CB73-4297-8F1C-C963355E86EB}"/>
              </a:ext>
            </a:extLst>
          </p:cNvPr>
          <p:cNvSpPr txBox="1"/>
          <p:nvPr/>
        </p:nvSpPr>
        <p:spPr>
          <a:xfrm>
            <a:off x="6777405" y="1728373"/>
            <a:ext cx="1865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  -1   -0.5   0    0.5   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48FAD6-B137-42DE-818E-9670D950C017}"/>
              </a:ext>
            </a:extLst>
          </p:cNvPr>
          <p:cNvCxnSpPr>
            <a:cxnSpLocks/>
          </p:cNvCxnSpPr>
          <p:nvPr/>
        </p:nvCxnSpPr>
        <p:spPr>
          <a:xfrm flipV="1">
            <a:off x="6682154" y="4712678"/>
            <a:ext cx="1865435" cy="100232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75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CD6BBE8-3BC0-4AF8-8D60-D54B88DC8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849" y="2088535"/>
            <a:ext cx="1693978" cy="359860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48D692-5254-426F-873C-ABC21D4D7B4B}"/>
              </a:ext>
            </a:extLst>
          </p:cNvPr>
          <p:cNvCxnSpPr/>
          <p:nvPr/>
        </p:nvCxnSpPr>
        <p:spPr>
          <a:xfrm>
            <a:off x="0" y="463117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ED1254-8C10-4C08-B033-6DCF82693485}"/>
              </a:ext>
            </a:extLst>
          </p:cNvPr>
          <p:cNvCxnSpPr/>
          <p:nvPr/>
        </p:nvCxnSpPr>
        <p:spPr>
          <a:xfrm>
            <a:off x="0" y="896871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D11681-3F40-4F8B-BF33-ED690D0FC385}"/>
              </a:ext>
            </a:extLst>
          </p:cNvPr>
          <p:cNvSpPr txBox="1"/>
          <p:nvPr/>
        </p:nvSpPr>
        <p:spPr>
          <a:xfrm>
            <a:off x="222738" y="93785"/>
            <a:ext cx="4349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EQ: Linear relationship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2F389-49FD-4AC6-AAE0-23AFE07FC1CA}"/>
              </a:ext>
            </a:extLst>
          </p:cNvPr>
          <p:cNvSpPr txBox="1"/>
          <p:nvPr/>
        </p:nvSpPr>
        <p:spPr>
          <a:xfrm>
            <a:off x="222738" y="495383"/>
            <a:ext cx="4349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EQ: What is a linear relationship?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7CB712-C281-404E-B30E-0481C73A6031}"/>
              </a:ext>
            </a:extLst>
          </p:cNvPr>
          <p:cNvCxnSpPr>
            <a:cxnSpLocks/>
          </p:cNvCxnSpPr>
          <p:nvPr/>
        </p:nvCxnSpPr>
        <p:spPr>
          <a:xfrm>
            <a:off x="1524000" y="929028"/>
            <a:ext cx="0" cy="47859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1E7ECC-0083-4A43-A386-E53F822DB327}"/>
                  </a:ext>
                </a:extLst>
              </p:cNvPr>
              <p:cNvSpPr txBox="1"/>
              <p:nvPr/>
            </p:nvSpPr>
            <p:spPr>
              <a:xfrm>
                <a:off x="1735015" y="929028"/>
                <a:ext cx="718622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 linear equation;</a:t>
                </a:r>
              </a:p>
              <a:p>
                <a:r>
                  <a:rPr lang="en-AU" dirty="0"/>
                  <a:t>		1. can be written in the form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/>
                  <a:t> = M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+ C</a:t>
                </a:r>
              </a:p>
              <a:p>
                <a:r>
                  <a:rPr lang="en-AU" dirty="0"/>
                  <a:t>		2. Changes by the same amount</a:t>
                </a:r>
              </a:p>
              <a:p>
                <a:r>
                  <a:rPr lang="en-AU" dirty="0"/>
                  <a:t>		3. Makes a straight line on a graph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1E7ECC-0083-4A43-A386-E53F822DB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015" y="929028"/>
                <a:ext cx="7186222" cy="1754326"/>
              </a:xfrm>
              <a:prstGeom prst="rect">
                <a:avLst/>
              </a:prstGeom>
              <a:blipFill>
                <a:blip r:embed="rId3"/>
                <a:stretch>
                  <a:fillRect l="-764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BBDCCD57-186E-4359-83DB-01079DFA4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772" y="2013405"/>
            <a:ext cx="1715600" cy="370159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CD23200-8D2A-4569-B0EC-B2688FD085C9}"/>
              </a:ext>
            </a:extLst>
          </p:cNvPr>
          <p:cNvSpPr txBox="1"/>
          <p:nvPr/>
        </p:nvSpPr>
        <p:spPr>
          <a:xfrm>
            <a:off x="3953692" y="2253845"/>
            <a:ext cx="2192215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The gradient is how much it changes by each 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2AB45B-5865-41F3-9525-86DEF5729332}"/>
              </a:ext>
            </a:extLst>
          </p:cNvPr>
          <p:cNvSpPr txBox="1"/>
          <p:nvPr/>
        </p:nvSpPr>
        <p:spPr>
          <a:xfrm>
            <a:off x="2133600" y="3031647"/>
            <a:ext cx="12902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-3     -3     -3     -3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482983B-6130-4873-B25E-AB43B28FA5D1}"/>
              </a:ext>
            </a:extLst>
          </p:cNvPr>
          <p:cNvCxnSpPr>
            <a:cxnSpLocks/>
          </p:cNvCxnSpPr>
          <p:nvPr/>
        </p:nvCxnSpPr>
        <p:spPr>
          <a:xfrm>
            <a:off x="2133600" y="3212344"/>
            <a:ext cx="1137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C3E78B-5F9C-4A27-8DD9-4BFBC914FFFF}"/>
              </a:ext>
            </a:extLst>
          </p:cNvPr>
          <p:cNvCxnSpPr>
            <a:cxnSpLocks/>
          </p:cNvCxnSpPr>
          <p:nvPr/>
        </p:nvCxnSpPr>
        <p:spPr>
          <a:xfrm>
            <a:off x="1981200" y="3681046"/>
            <a:ext cx="158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3B5CE29-B5DB-4864-87AA-AE8AAA2C2262}"/>
              </a:ext>
            </a:extLst>
          </p:cNvPr>
          <p:cNvCxnSpPr>
            <a:cxnSpLocks/>
          </p:cNvCxnSpPr>
          <p:nvPr/>
        </p:nvCxnSpPr>
        <p:spPr>
          <a:xfrm>
            <a:off x="2133600" y="3669323"/>
            <a:ext cx="0" cy="574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CB0C745-D372-490B-A04E-744EBF2A7C3F}"/>
              </a:ext>
            </a:extLst>
          </p:cNvPr>
          <p:cNvSpPr txBox="1"/>
          <p:nvPr/>
        </p:nvSpPr>
        <p:spPr>
          <a:xfrm>
            <a:off x="2089960" y="3826595"/>
            <a:ext cx="392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-3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C2B7B49-FE13-4299-A5D4-702BFD8C8970}"/>
              </a:ext>
            </a:extLst>
          </p:cNvPr>
          <p:cNvCxnSpPr>
            <a:cxnSpLocks/>
          </p:cNvCxnSpPr>
          <p:nvPr/>
        </p:nvCxnSpPr>
        <p:spPr>
          <a:xfrm>
            <a:off x="2139462" y="4304100"/>
            <a:ext cx="231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D7A8F52-3235-45A2-B7F7-A197F10A066D}"/>
              </a:ext>
            </a:extLst>
          </p:cNvPr>
          <p:cNvCxnSpPr>
            <a:cxnSpLocks/>
          </p:cNvCxnSpPr>
          <p:nvPr/>
        </p:nvCxnSpPr>
        <p:spPr>
          <a:xfrm>
            <a:off x="2365131" y="4280654"/>
            <a:ext cx="0" cy="574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951CB6E-6610-4B5A-8B09-B5A793116064}"/>
              </a:ext>
            </a:extLst>
          </p:cNvPr>
          <p:cNvSpPr txBox="1"/>
          <p:nvPr/>
        </p:nvSpPr>
        <p:spPr>
          <a:xfrm>
            <a:off x="2332631" y="4462702"/>
            <a:ext cx="392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-3 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28AA1CE-CDB3-435C-8EEA-7C34023F69FB}"/>
              </a:ext>
            </a:extLst>
          </p:cNvPr>
          <p:cNvCxnSpPr>
            <a:cxnSpLocks/>
          </p:cNvCxnSpPr>
          <p:nvPr/>
        </p:nvCxnSpPr>
        <p:spPr>
          <a:xfrm>
            <a:off x="2342888" y="4943874"/>
            <a:ext cx="231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14F904A-FD79-4A13-9B62-6488AC2D9BEC}"/>
              </a:ext>
            </a:extLst>
          </p:cNvPr>
          <p:cNvCxnSpPr>
            <a:cxnSpLocks/>
          </p:cNvCxnSpPr>
          <p:nvPr/>
        </p:nvCxnSpPr>
        <p:spPr>
          <a:xfrm>
            <a:off x="2568557" y="4920428"/>
            <a:ext cx="0" cy="574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50B5FF3-19DF-4825-8577-C0D4D36719EA}"/>
              </a:ext>
            </a:extLst>
          </p:cNvPr>
          <p:cNvSpPr txBox="1"/>
          <p:nvPr/>
        </p:nvSpPr>
        <p:spPr>
          <a:xfrm>
            <a:off x="2550712" y="5093824"/>
            <a:ext cx="392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-3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405D66-9552-4DFC-9C10-617D3A03A411}"/>
              </a:ext>
            </a:extLst>
          </p:cNvPr>
          <p:cNvSpPr txBox="1"/>
          <p:nvPr/>
        </p:nvSpPr>
        <p:spPr>
          <a:xfrm>
            <a:off x="7118729" y="3031647"/>
            <a:ext cx="12902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2       2      2       2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05DCEF1-A743-41D4-B75E-E70E8CE4D743}"/>
              </a:ext>
            </a:extLst>
          </p:cNvPr>
          <p:cNvCxnSpPr>
            <a:cxnSpLocks/>
          </p:cNvCxnSpPr>
          <p:nvPr/>
        </p:nvCxnSpPr>
        <p:spPr>
          <a:xfrm>
            <a:off x="7118729" y="3212344"/>
            <a:ext cx="1137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54BFD42-80D8-4F94-B4A1-7712D1C44019}"/>
              </a:ext>
            </a:extLst>
          </p:cNvPr>
          <p:cNvCxnSpPr>
            <a:cxnSpLocks/>
          </p:cNvCxnSpPr>
          <p:nvPr/>
        </p:nvCxnSpPr>
        <p:spPr>
          <a:xfrm>
            <a:off x="6966329" y="5362130"/>
            <a:ext cx="158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A3E9F5C-633D-411C-BA42-E0DA03B314D8}"/>
              </a:ext>
            </a:extLst>
          </p:cNvPr>
          <p:cNvCxnSpPr>
            <a:cxnSpLocks/>
          </p:cNvCxnSpPr>
          <p:nvPr/>
        </p:nvCxnSpPr>
        <p:spPr>
          <a:xfrm flipV="1">
            <a:off x="7118729" y="4855019"/>
            <a:ext cx="0" cy="495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569D44C2-6BB1-4646-ABFF-6BC68B4D5089}"/>
              </a:ext>
            </a:extLst>
          </p:cNvPr>
          <p:cNvSpPr/>
          <p:nvPr/>
        </p:nvSpPr>
        <p:spPr>
          <a:xfrm>
            <a:off x="7080629" y="492261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4AAB88A-7DB6-4E9B-8F57-395B768420A4}"/>
              </a:ext>
            </a:extLst>
          </p:cNvPr>
          <p:cNvCxnSpPr>
            <a:cxnSpLocks/>
          </p:cNvCxnSpPr>
          <p:nvPr/>
        </p:nvCxnSpPr>
        <p:spPr>
          <a:xfrm>
            <a:off x="7216910" y="4891560"/>
            <a:ext cx="158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6D7B771-22E0-4FBC-88D7-7D8A23BC6D09}"/>
              </a:ext>
            </a:extLst>
          </p:cNvPr>
          <p:cNvCxnSpPr>
            <a:cxnSpLocks/>
          </p:cNvCxnSpPr>
          <p:nvPr/>
        </p:nvCxnSpPr>
        <p:spPr>
          <a:xfrm flipV="1">
            <a:off x="7369310" y="4384449"/>
            <a:ext cx="0" cy="495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B6465C6B-EBF2-45CB-A118-B4384B78C8E3}"/>
              </a:ext>
            </a:extLst>
          </p:cNvPr>
          <p:cNvSpPr/>
          <p:nvPr/>
        </p:nvSpPr>
        <p:spPr>
          <a:xfrm>
            <a:off x="7331210" y="445204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A625AF6-C524-4E4C-8032-67362255C1BC}"/>
              </a:ext>
            </a:extLst>
          </p:cNvPr>
          <p:cNvCxnSpPr>
            <a:cxnSpLocks/>
          </p:cNvCxnSpPr>
          <p:nvPr/>
        </p:nvCxnSpPr>
        <p:spPr>
          <a:xfrm>
            <a:off x="7464355" y="4447816"/>
            <a:ext cx="158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2B72DF3-41FF-4E9E-8E8F-2259A57F5F8C}"/>
              </a:ext>
            </a:extLst>
          </p:cNvPr>
          <p:cNvCxnSpPr>
            <a:cxnSpLocks/>
          </p:cNvCxnSpPr>
          <p:nvPr/>
        </p:nvCxnSpPr>
        <p:spPr>
          <a:xfrm flipV="1">
            <a:off x="7616755" y="3940705"/>
            <a:ext cx="0" cy="495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9220188-2F6C-4B19-9B54-481AA53B14CD}"/>
              </a:ext>
            </a:extLst>
          </p:cNvPr>
          <p:cNvSpPr/>
          <p:nvPr/>
        </p:nvSpPr>
        <p:spPr>
          <a:xfrm>
            <a:off x="7578655" y="400830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6155097-1C62-487B-8EE3-91E6C3F5FBD6}"/>
              </a:ext>
            </a:extLst>
          </p:cNvPr>
          <p:cNvCxnSpPr>
            <a:cxnSpLocks/>
          </p:cNvCxnSpPr>
          <p:nvPr/>
        </p:nvCxnSpPr>
        <p:spPr>
          <a:xfrm>
            <a:off x="7662090" y="3993452"/>
            <a:ext cx="158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A8E0D83-332F-4B28-B10C-5FB0442DF193}"/>
              </a:ext>
            </a:extLst>
          </p:cNvPr>
          <p:cNvCxnSpPr>
            <a:cxnSpLocks/>
          </p:cNvCxnSpPr>
          <p:nvPr/>
        </p:nvCxnSpPr>
        <p:spPr>
          <a:xfrm flipV="1">
            <a:off x="7814490" y="3486341"/>
            <a:ext cx="0" cy="495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BFC9016E-A81D-4013-9B83-F9D83D209B5D}"/>
              </a:ext>
            </a:extLst>
          </p:cNvPr>
          <p:cNvSpPr/>
          <p:nvPr/>
        </p:nvSpPr>
        <p:spPr>
          <a:xfrm>
            <a:off x="7776390" y="355393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FD965E-1F0D-4FDE-A3D7-E8CC8E5FA8C3}"/>
              </a:ext>
            </a:extLst>
          </p:cNvPr>
          <p:cNvSpPr txBox="1"/>
          <p:nvPr/>
        </p:nvSpPr>
        <p:spPr>
          <a:xfrm>
            <a:off x="3917598" y="3694873"/>
            <a:ext cx="2192215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The y-intercept, is the value when you start (x=0)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023FD71-AEFC-46D9-B005-E947B99CCFD4}"/>
              </a:ext>
            </a:extLst>
          </p:cNvPr>
          <p:cNvSpPr/>
          <p:nvPr/>
        </p:nvSpPr>
        <p:spPr>
          <a:xfrm>
            <a:off x="1776909" y="3495213"/>
            <a:ext cx="301686" cy="307772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8862416-4946-4D0D-BF83-21DBC4D6C4CC}"/>
              </a:ext>
            </a:extLst>
          </p:cNvPr>
          <p:cNvSpPr/>
          <p:nvPr/>
        </p:nvSpPr>
        <p:spPr>
          <a:xfrm>
            <a:off x="6715291" y="5138062"/>
            <a:ext cx="301686" cy="307772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458FF0F-025F-474B-AF7A-3DFC44A6EAD6}"/>
              </a:ext>
            </a:extLst>
          </p:cNvPr>
          <p:cNvSpPr/>
          <p:nvPr/>
        </p:nvSpPr>
        <p:spPr>
          <a:xfrm>
            <a:off x="6966329" y="2791634"/>
            <a:ext cx="301686" cy="307772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DE96E6D-9672-4DE2-B19C-4AE99F2F75E0}"/>
              </a:ext>
            </a:extLst>
          </p:cNvPr>
          <p:cNvSpPr/>
          <p:nvPr/>
        </p:nvSpPr>
        <p:spPr>
          <a:xfrm>
            <a:off x="1984636" y="2811656"/>
            <a:ext cx="301686" cy="307772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C57A9A3-C782-47CC-982E-01BF190B72A5}"/>
              </a:ext>
            </a:extLst>
          </p:cNvPr>
          <p:cNvSpPr txBox="1"/>
          <p:nvPr/>
        </p:nvSpPr>
        <p:spPr>
          <a:xfrm>
            <a:off x="2420026" y="3393386"/>
            <a:ext cx="1233987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400" dirty="0"/>
              <a:t>Gradient  =  -3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042D231-BFC6-434E-93D4-CF3A85AE924D}"/>
              </a:ext>
            </a:extLst>
          </p:cNvPr>
          <p:cNvSpPr txBox="1"/>
          <p:nvPr/>
        </p:nvSpPr>
        <p:spPr>
          <a:xfrm>
            <a:off x="6103527" y="3348366"/>
            <a:ext cx="1233987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400" dirty="0"/>
              <a:t>Gradient  =  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ADA1712-E1AA-41EC-88F1-DC6D7C4D66B9}"/>
              </a:ext>
            </a:extLst>
          </p:cNvPr>
          <p:cNvSpPr txBox="1"/>
          <p:nvPr/>
        </p:nvSpPr>
        <p:spPr>
          <a:xfrm>
            <a:off x="6614478" y="909725"/>
            <a:ext cx="1463597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400" dirty="0"/>
              <a:t>M is the Gradient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CD13C37-0BB6-411D-830A-CFD43711F045}"/>
              </a:ext>
            </a:extLst>
          </p:cNvPr>
          <p:cNvCxnSpPr>
            <a:endCxn id="110" idx="1"/>
          </p:cNvCxnSpPr>
          <p:nvPr/>
        </p:nvCxnSpPr>
        <p:spPr>
          <a:xfrm flipV="1">
            <a:off x="5990492" y="1063614"/>
            <a:ext cx="623986" cy="215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1C86312E-73D1-4B1D-AFAC-BE377CB44293}"/>
              </a:ext>
            </a:extLst>
          </p:cNvPr>
          <p:cNvSpPr txBox="1"/>
          <p:nvPr/>
        </p:nvSpPr>
        <p:spPr>
          <a:xfrm>
            <a:off x="6675772" y="1438008"/>
            <a:ext cx="1733184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400" dirty="0"/>
              <a:t>C is the y-intercept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41929D9-CE53-411C-AB70-4EB98F74044B}"/>
              </a:ext>
            </a:extLst>
          </p:cNvPr>
          <p:cNvCxnSpPr>
            <a:cxnSpLocks/>
            <a:endCxn id="113" idx="1"/>
          </p:cNvCxnSpPr>
          <p:nvPr/>
        </p:nvCxnSpPr>
        <p:spPr>
          <a:xfrm>
            <a:off x="6471138" y="1438008"/>
            <a:ext cx="204634" cy="153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8FCB8942-7EE0-42E1-A1A3-2033452AFA4A}"/>
              </a:ext>
            </a:extLst>
          </p:cNvPr>
          <p:cNvSpPr txBox="1"/>
          <p:nvPr/>
        </p:nvSpPr>
        <p:spPr>
          <a:xfrm>
            <a:off x="2089960" y="2088535"/>
            <a:ext cx="275171" cy="33533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6EC09E1-7058-4433-A782-07CE03EFD0C4}"/>
              </a:ext>
            </a:extLst>
          </p:cNvPr>
          <p:cNvSpPr txBox="1"/>
          <p:nvPr/>
        </p:nvSpPr>
        <p:spPr>
          <a:xfrm>
            <a:off x="7293110" y="2055008"/>
            <a:ext cx="171245" cy="26159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91CE00B-DC5B-42CB-AB71-A78EB3E91B9B}"/>
              </a:ext>
            </a:extLst>
          </p:cNvPr>
          <p:cNvSpPr txBox="1"/>
          <p:nvPr/>
        </p:nvSpPr>
        <p:spPr>
          <a:xfrm>
            <a:off x="6144083" y="3686477"/>
            <a:ext cx="1290227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400" dirty="0"/>
              <a:t>y-intercept = 1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55D900C-6EF2-4EC5-94EF-E79018F66EE6}"/>
              </a:ext>
            </a:extLst>
          </p:cNvPr>
          <p:cNvSpPr txBox="1"/>
          <p:nvPr/>
        </p:nvSpPr>
        <p:spPr>
          <a:xfrm>
            <a:off x="2438706" y="3744516"/>
            <a:ext cx="1290227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400" dirty="0"/>
              <a:t>y-intercept = 8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553ED60-1BBA-4315-9998-340EDDBB712C}"/>
              </a:ext>
            </a:extLst>
          </p:cNvPr>
          <p:cNvSpPr/>
          <p:nvPr/>
        </p:nvSpPr>
        <p:spPr>
          <a:xfrm>
            <a:off x="7578655" y="2040655"/>
            <a:ext cx="301686" cy="33140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5C1AB56E-CA9A-4B60-895E-A94200E5B75D}"/>
              </a:ext>
            </a:extLst>
          </p:cNvPr>
          <p:cNvSpPr/>
          <p:nvPr/>
        </p:nvSpPr>
        <p:spPr>
          <a:xfrm>
            <a:off x="2427759" y="2097544"/>
            <a:ext cx="301686" cy="33140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392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46" grpId="0"/>
      <p:bldP spid="51" grpId="0"/>
      <p:bldP spid="60" grpId="0"/>
      <p:bldP spid="61" grpId="0"/>
      <p:bldP spid="67" grpId="0"/>
      <p:bldP spid="70" grpId="0"/>
      <p:bldP spid="73" grpId="0"/>
      <p:bldP spid="76" grpId="0"/>
      <p:bldP spid="77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3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A57A215-C085-4ABE-A44D-93E4C3D1A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47" y="1350622"/>
            <a:ext cx="2247900" cy="4200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17770-171D-40B3-A6F2-47772BF1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35" y="257379"/>
            <a:ext cx="7886700" cy="293606"/>
          </a:xfrm>
        </p:spPr>
        <p:txBody>
          <a:bodyPr>
            <a:normAutofit fontScale="90000"/>
          </a:bodyPr>
          <a:lstStyle/>
          <a:p>
            <a:r>
              <a:rPr lang="en-AU" dirty="0"/>
              <a:t>Let’s try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996B2E-E6C8-476E-B4D5-0C41C34DC838}"/>
                  </a:ext>
                </a:extLst>
              </p:cNvPr>
              <p:cNvSpPr txBox="1"/>
              <p:nvPr/>
            </p:nvSpPr>
            <p:spPr>
              <a:xfrm>
                <a:off x="844062" y="827454"/>
                <a:ext cx="117486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996B2E-E6C8-476E-B4D5-0C41C34DC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2" y="827454"/>
                <a:ext cx="1174860" cy="276999"/>
              </a:xfrm>
              <a:prstGeom prst="rect">
                <a:avLst/>
              </a:prstGeom>
              <a:blipFill>
                <a:blip r:embed="rId3"/>
                <a:stretch>
                  <a:fillRect l="-3627" r="-3627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4A8AC2D-A272-4E27-89F9-D19A2684AF3D}"/>
              </a:ext>
            </a:extLst>
          </p:cNvPr>
          <p:cNvSpPr txBox="1"/>
          <p:nvPr/>
        </p:nvSpPr>
        <p:spPr>
          <a:xfrm>
            <a:off x="773723" y="1781909"/>
            <a:ext cx="1865435" cy="375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E57DE7-9FF5-438E-971A-3CAAF6D5A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1383307"/>
            <a:ext cx="2247900" cy="42005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3FC0762-80F9-476D-96F9-039C40A9FE11}"/>
                  </a:ext>
                </a:extLst>
              </p:cNvPr>
              <p:cNvSpPr txBox="1"/>
              <p:nvPr/>
            </p:nvSpPr>
            <p:spPr>
              <a:xfrm>
                <a:off x="3701749" y="778933"/>
                <a:ext cx="174050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____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______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3FC0762-80F9-476D-96F9-039C40A9F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749" y="778933"/>
                <a:ext cx="1740501" cy="276999"/>
              </a:xfrm>
              <a:prstGeom prst="rect">
                <a:avLst/>
              </a:prstGeom>
              <a:blipFill>
                <a:blip r:embed="rId4"/>
                <a:stretch>
                  <a:fillRect l="-2448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9F4080-CB73-4297-8F1C-C963355E86EB}"/>
              </a:ext>
            </a:extLst>
          </p:cNvPr>
          <p:cNvSpPr txBox="1"/>
          <p:nvPr/>
        </p:nvSpPr>
        <p:spPr>
          <a:xfrm>
            <a:off x="3771900" y="1761058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  4	3     2     1     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55CD0D-4A5D-41FA-B674-5C286F37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495" y="1350622"/>
            <a:ext cx="2247900" cy="420052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2884BB-997E-4953-BE7B-C51F192B2C6B}"/>
              </a:ext>
            </a:extLst>
          </p:cNvPr>
          <p:cNvCxnSpPr>
            <a:cxnSpLocks/>
          </p:cNvCxnSpPr>
          <p:nvPr/>
        </p:nvCxnSpPr>
        <p:spPr>
          <a:xfrm flipV="1">
            <a:off x="6801035" y="2449694"/>
            <a:ext cx="754675" cy="237970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4F4478C-BC1B-47B0-98B9-F4DF38E5FDF7}"/>
                  </a:ext>
                </a:extLst>
              </p:cNvPr>
              <p:cNvSpPr txBox="1"/>
              <p:nvPr/>
            </p:nvSpPr>
            <p:spPr>
              <a:xfrm>
                <a:off x="6685459" y="773360"/>
                <a:ext cx="174050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____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______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4F4478C-BC1B-47B0-98B9-F4DF38E5F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459" y="773360"/>
                <a:ext cx="1740501" cy="276999"/>
              </a:xfrm>
              <a:prstGeom prst="rect">
                <a:avLst/>
              </a:prstGeom>
              <a:blipFill>
                <a:blip r:embed="rId5"/>
                <a:stretch>
                  <a:fillRect l="-2456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155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1970</TotalTime>
  <Words>232</Words>
  <Application>Microsoft Office PowerPoint</Application>
  <PresentationFormat>On-screen Show (16:10)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Examples of linear equations</vt:lpstr>
      <vt:lpstr>Examples of linear equations</vt:lpstr>
      <vt:lpstr>PowerPoint Presentation</vt:lpstr>
      <vt:lpstr>Let’s try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James WILSON</cp:lastModifiedBy>
  <cp:revision>14</cp:revision>
  <dcterms:created xsi:type="dcterms:W3CDTF">2017-04-04T15:22:43Z</dcterms:created>
  <dcterms:modified xsi:type="dcterms:W3CDTF">2018-11-14T00:29:28Z</dcterms:modified>
</cp:coreProperties>
</file>
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9" r:id="rId5"/>
    <p:sldId id="319" r:id="rId6"/>
    <p:sldId id="320" r:id="rId7"/>
    <p:sldId id="321" r:id="rId8"/>
    <p:sldId id="322" r:id="rId9"/>
    <p:sldId id="323" r:id="rId10"/>
    <p:sldId id="317" r:id="rId11"/>
    <p:sldId id="315" r:id="rId12"/>
    <p:sldId id="308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>
        <p:scale>
          <a:sx n="76" d="100"/>
          <a:sy n="76" d="100"/>
        </p:scale>
        <p:origin x="-1480" y="-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1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2205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Graphs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form do Linear Graphs take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3419872" y="2132856"/>
            <a:ext cx="2592288" cy="43204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2800" u="sng" dirty="0" smtClean="0">
                <a:latin typeface="Arial" charset="0"/>
              </a:rPr>
              <a:t>y = mx + c</a:t>
            </a:r>
            <a:endParaRPr lang="en-GB" sz="2800" u="sng" dirty="0" smtClean="0">
              <a:latin typeface="Arial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059832" y="2708920"/>
            <a:ext cx="55446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dirty="0">
                <a:latin typeface="Arial" charset="0"/>
                <a:cs typeface="+mn-cs"/>
              </a:rPr>
              <a:t>Every straight line can be written in this form. To do this the values for m and c must be found.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4860032" y="3645024"/>
            <a:ext cx="31809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b="1" dirty="0">
                <a:latin typeface="Arial" charset="0"/>
                <a:cs typeface="+mn-cs"/>
              </a:rPr>
              <a:t>c</a:t>
            </a:r>
            <a:r>
              <a:rPr lang="en-GB" dirty="0">
                <a:latin typeface="Arial" charset="0"/>
                <a:cs typeface="+mn-cs"/>
              </a:rPr>
              <a:t> is known as the intercept</a:t>
            </a:r>
          </a:p>
        </p:txBody>
      </p:sp>
      <p:sp>
        <p:nvSpPr>
          <p:cNvPr id="17" name="Line 6"/>
          <p:cNvSpPr>
            <a:spLocks noChangeShapeType="1"/>
          </p:cNvSpPr>
          <p:nvPr/>
        </p:nvSpPr>
        <p:spPr bwMode="auto">
          <a:xfrm flipH="1">
            <a:off x="6660232" y="4005064"/>
            <a:ext cx="45720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4499992" y="4365104"/>
            <a:ext cx="24810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3600" dirty="0">
                <a:latin typeface="Arial" charset="0"/>
                <a:cs typeface="+mn-cs"/>
              </a:rPr>
              <a:t>y = mx + c</a:t>
            </a: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2987824" y="5517232"/>
            <a:ext cx="32933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b="1" dirty="0">
                <a:latin typeface="Arial" charset="0"/>
                <a:cs typeface="+mn-cs"/>
              </a:rPr>
              <a:t>m</a:t>
            </a:r>
            <a:r>
              <a:rPr lang="en-GB" dirty="0">
                <a:latin typeface="Arial" charset="0"/>
                <a:cs typeface="+mn-cs"/>
              </a:rPr>
              <a:t> is known as the gradient</a:t>
            </a:r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 flipV="1">
            <a:off x="5220072" y="4941168"/>
            <a:ext cx="3048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>
            <a:off x="0" y="341313"/>
            <a:ext cx="6484938" cy="6553200"/>
            <a:chOff x="263" y="192"/>
            <a:chExt cx="4085" cy="4128"/>
          </a:xfrm>
        </p:grpSpPr>
        <p:grpSp>
          <p:nvGrpSpPr>
            <p:cNvPr id="11279" name="Group 3"/>
            <p:cNvGrpSpPr>
              <a:grpSpLocks/>
            </p:cNvGrpSpPr>
            <p:nvPr/>
          </p:nvGrpSpPr>
          <p:grpSpPr bwMode="auto">
            <a:xfrm>
              <a:off x="263" y="192"/>
              <a:ext cx="4085" cy="4128"/>
              <a:chOff x="263" y="192"/>
              <a:chExt cx="4085" cy="4128"/>
            </a:xfrm>
          </p:grpSpPr>
          <p:grpSp>
            <p:nvGrpSpPr>
              <p:cNvPr id="11287" name="Group 4"/>
              <p:cNvGrpSpPr>
                <a:grpSpLocks/>
              </p:cNvGrpSpPr>
              <p:nvPr/>
            </p:nvGrpSpPr>
            <p:grpSpPr bwMode="auto">
              <a:xfrm>
                <a:off x="336" y="192"/>
                <a:ext cx="4012" cy="4128"/>
                <a:chOff x="336" y="192"/>
                <a:chExt cx="4012" cy="4128"/>
              </a:xfrm>
            </p:grpSpPr>
            <p:grpSp>
              <p:nvGrpSpPr>
                <p:cNvPr id="11289" name="Group 5"/>
                <p:cNvGrpSpPr>
                  <a:grpSpLocks/>
                </p:cNvGrpSpPr>
                <p:nvPr/>
              </p:nvGrpSpPr>
              <p:grpSpPr bwMode="auto">
                <a:xfrm>
                  <a:off x="336" y="192"/>
                  <a:ext cx="4012" cy="4128"/>
                  <a:chOff x="336" y="192"/>
                  <a:chExt cx="4012" cy="4128"/>
                </a:xfrm>
              </p:grpSpPr>
              <p:grpSp>
                <p:nvGrpSpPr>
                  <p:cNvPr id="11299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336" y="192"/>
                    <a:ext cx="4012" cy="4128"/>
                    <a:chOff x="1233" y="1326"/>
                    <a:chExt cx="10029" cy="10320"/>
                  </a:xfrm>
                </p:grpSpPr>
                <p:sp>
                  <p:nvSpPr>
                    <p:cNvPr id="11301" name="Text Box 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63" y="1326"/>
                      <a:ext cx="1596" cy="1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9pPr>
                    </a:lstStyle>
                    <a:p>
                      <a:r>
                        <a:rPr lang="en-US" sz="4800" i="1">
                          <a:latin typeface="Times New Roman" charset="0"/>
                        </a:rPr>
                        <a:t>y</a:t>
                      </a:r>
                    </a:p>
                  </p:txBody>
                </p:sp>
                <p:grpSp>
                  <p:nvGrpSpPr>
                    <p:cNvPr id="11302" name="Group 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33" y="2574"/>
                      <a:ext cx="9072" cy="9072"/>
                      <a:chOff x="666" y="1440"/>
                      <a:chExt cx="9072" cy="9072"/>
                    </a:xfrm>
                  </p:grpSpPr>
                  <p:grpSp>
                    <p:nvGrpSpPr>
                      <p:cNvPr id="11306" name="Group 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66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48" name="Line 1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49" name="Line 1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50" name="Line 1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51" name="Line 1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07" name="Group 1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4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44" name="Line 1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45" name="Line 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46" name="Line 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47" name="Line 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08" name="Group 1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02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40" name="Line 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41" name="Line 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42" name="Line 2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43" name="Line 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09" name="Group 2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470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36" name="Line 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7" name="Line 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8" name="Line 2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9" name="Line 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10" name="Group 2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2245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32" name="Line 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3" name="Line 3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4" name="Line 3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5" name="Line 3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11" name="Group 34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544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28" name="Line 3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9" name="Line 3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0" name="Line 3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31" name="Line 3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12" name="Group 3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9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24" name="Line 4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5" name="Line 4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6" name="Line 4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7" name="Line 4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13" name="Group 44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2858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20" name="Line 4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1" name="Line 4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2" name="Line 4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3" name="Line 4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14" name="Group 4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126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1316" name="Line 5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17" name="Line 5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18" name="Line 5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19" name="Line 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1315" name="Line 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738" y="1440"/>
                        <a:ext cx="0" cy="90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1303" name="Line 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9" y="2574"/>
                      <a:ext cx="0" cy="907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04" name="Line 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33" y="7677"/>
                      <a:ext cx="9072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305" name="Text Box 5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350" y="7026"/>
                      <a:ext cx="912" cy="10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9pPr>
                    </a:lstStyle>
                    <a:p>
                      <a:r>
                        <a:rPr lang="en-US" sz="4800" i="1">
                          <a:latin typeface="Times New Roman" charset="0"/>
                        </a:rPr>
                        <a:t>x</a:t>
                      </a:r>
                    </a:p>
                  </p:txBody>
                </p:sp>
              </p:grpSp>
              <p:sp>
                <p:nvSpPr>
                  <p:cNvPr id="34874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1" y="2728"/>
                    <a:ext cx="2197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   1    2    3   4    5    6    7   8</a:t>
                    </a:r>
                  </a:p>
                </p:txBody>
              </p:sp>
            </p:grpSp>
            <p:grpSp>
              <p:nvGrpSpPr>
                <p:cNvPr id="11290" name="Group 59"/>
                <p:cNvGrpSpPr>
                  <a:grpSpLocks/>
                </p:cNvGrpSpPr>
                <p:nvPr/>
              </p:nvGrpSpPr>
              <p:grpSpPr bwMode="auto">
                <a:xfrm>
                  <a:off x="1996" y="801"/>
                  <a:ext cx="382" cy="1820"/>
                  <a:chOff x="1996" y="801"/>
                  <a:chExt cx="382" cy="1820"/>
                </a:xfrm>
              </p:grpSpPr>
              <p:sp>
                <p:nvSpPr>
                  <p:cNvPr id="34876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390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34877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163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2</a:t>
                    </a:r>
                  </a:p>
                </p:txBody>
              </p:sp>
              <p:sp>
                <p:nvSpPr>
                  <p:cNvPr id="34878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936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3</a:t>
                    </a:r>
                  </a:p>
                </p:txBody>
              </p:sp>
              <p:sp>
                <p:nvSpPr>
                  <p:cNvPr id="34879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709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4</a:t>
                    </a:r>
                  </a:p>
                </p:txBody>
              </p:sp>
              <p:sp>
                <p:nvSpPr>
                  <p:cNvPr id="34880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478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5</a:t>
                    </a:r>
                  </a:p>
                </p:txBody>
              </p:sp>
              <p:sp>
                <p:nvSpPr>
                  <p:cNvPr id="34881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247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6</a:t>
                    </a:r>
                  </a:p>
                </p:txBody>
              </p:sp>
              <p:sp>
                <p:nvSpPr>
                  <p:cNvPr id="34882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027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7</a:t>
                    </a:r>
                  </a:p>
                </p:txBody>
              </p:sp>
              <p:sp>
                <p:nvSpPr>
                  <p:cNvPr id="34883" name="Text Box 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801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8</a:t>
                    </a:r>
                  </a:p>
                </p:txBody>
              </p:sp>
            </p:grpSp>
          </p:grpSp>
          <p:sp>
            <p:nvSpPr>
              <p:cNvPr id="34884" name="Text Box 68"/>
              <p:cNvSpPr txBox="1">
                <a:spLocks noChangeArrowheads="1"/>
              </p:cNvSpPr>
              <p:nvPr/>
            </p:nvSpPr>
            <p:spPr bwMode="auto">
              <a:xfrm>
                <a:off x="263" y="2732"/>
                <a:ext cx="18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 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7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6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5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4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3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2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1 </a:t>
                </a:r>
              </a:p>
            </p:txBody>
          </p:sp>
        </p:grpSp>
        <p:grpSp>
          <p:nvGrpSpPr>
            <p:cNvPr id="11280" name="Group 69"/>
            <p:cNvGrpSpPr>
              <a:grpSpLocks/>
            </p:cNvGrpSpPr>
            <p:nvPr/>
          </p:nvGrpSpPr>
          <p:grpSpPr bwMode="auto">
            <a:xfrm>
              <a:off x="1924" y="2843"/>
              <a:ext cx="542" cy="1369"/>
              <a:chOff x="1924" y="2843"/>
              <a:chExt cx="542" cy="1369"/>
            </a:xfrm>
          </p:grpSpPr>
          <p:sp>
            <p:nvSpPr>
              <p:cNvPr id="34886" name="Text Box 70"/>
              <p:cNvSpPr txBox="1">
                <a:spLocks noChangeArrowheads="1"/>
              </p:cNvSpPr>
              <p:nvPr/>
            </p:nvSpPr>
            <p:spPr bwMode="auto">
              <a:xfrm>
                <a:off x="1924" y="2843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1</a:t>
                </a:r>
              </a:p>
            </p:txBody>
          </p:sp>
          <p:sp>
            <p:nvSpPr>
              <p:cNvPr id="34887" name="Text Box 71"/>
              <p:cNvSpPr txBox="1">
                <a:spLocks noChangeArrowheads="1"/>
              </p:cNvSpPr>
              <p:nvPr/>
            </p:nvSpPr>
            <p:spPr bwMode="auto">
              <a:xfrm>
                <a:off x="1924" y="3070"/>
                <a:ext cx="3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2</a:t>
                </a:r>
              </a:p>
            </p:txBody>
          </p:sp>
          <p:sp>
            <p:nvSpPr>
              <p:cNvPr id="34888" name="Text Box 72"/>
              <p:cNvSpPr txBox="1">
                <a:spLocks noChangeArrowheads="1"/>
              </p:cNvSpPr>
              <p:nvPr/>
            </p:nvSpPr>
            <p:spPr bwMode="auto">
              <a:xfrm>
                <a:off x="1924" y="3297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3</a:t>
                </a:r>
              </a:p>
            </p:txBody>
          </p:sp>
          <p:sp>
            <p:nvSpPr>
              <p:cNvPr id="34889" name="Text Box 73"/>
              <p:cNvSpPr txBox="1">
                <a:spLocks noChangeArrowheads="1"/>
              </p:cNvSpPr>
              <p:nvPr/>
            </p:nvSpPr>
            <p:spPr bwMode="auto">
              <a:xfrm>
                <a:off x="1924" y="3528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4</a:t>
                </a:r>
              </a:p>
            </p:txBody>
          </p:sp>
          <p:sp>
            <p:nvSpPr>
              <p:cNvPr id="34890" name="Text Box 74"/>
              <p:cNvSpPr txBox="1">
                <a:spLocks noChangeArrowheads="1"/>
              </p:cNvSpPr>
              <p:nvPr/>
            </p:nvSpPr>
            <p:spPr bwMode="auto">
              <a:xfrm>
                <a:off x="1924" y="3750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5</a:t>
                </a:r>
              </a:p>
            </p:txBody>
          </p:sp>
          <p:sp>
            <p:nvSpPr>
              <p:cNvPr id="34891" name="Text Box 75"/>
              <p:cNvSpPr txBox="1">
                <a:spLocks noChangeArrowheads="1"/>
              </p:cNvSpPr>
              <p:nvPr/>
            </p:nvSpPr>
            <p:spPr bwMode="auto">
              <a:xfrm>
                <a:off x="1924" y="3981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6</a:t>
                </a:r>
              </a:p>
            </p:txBody>
          </p:sp>
        </p:grpSp>
      </p:grpSp>
      <p:sp>
        <p:nvSpPr>
          <p:cNvPr id="34892" name="Line 76"/>
          <p:cNvSpPr>
            <a:spLocks noChangeShapeType="1"/>
          </p:cNvSpPr>
          <p:nvPr/>
        </p:nvSpPr>
        <p:spPr bwMode="auto">
          <a:xfrm flipH="1">
            <a:off x="1395413" y="1041400"/>
            <a:ext cx="2711450" cy="540067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894" name="Text Box 78"/>
          <p:cNvSpPr txBox="1">
            <a:spLocks noChangeArrowheads="1"/>
          </p:cNvSpPr>
          <p:nvPr/>
        </p:nvSpPr>
        <p:spPr bwMode="auto">
          <a:xfrm>
            <a:off x="6248400" y="1524000"/>
            <a:ext cx="28956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GB" sz="2000" b="1" u="sng">
                <a:latin typeface="Arial" charset="0"/>
                <a:cs typeface="+mn-cs"/>
              </a:rPr>
              <a:t>Find the Value of c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latin typeface="Arial" charset="0"/>
                <a:cs typeface="+mn-cs"/>
              </a:rPr>
              <a:t>This is the point at which the line crosses the y-axis. </a:t>
            </a:r>
          </a:p>
          <a:p>
            <a:pPr eaLnBrk="0" hangingPunct="0">
              <a:spcBef>
                <a:spcPct val="50000"/>
              </a:spcBef>
              <a:defRPr/>
            </a:pPr>
            <a:endParaRPr lang="en-GB" sz="2000">
              <a:latin typeface="Arial" charset="0"/>
              <a:cs typeface="+mn-cs"/>
            </a:endParaRPr>
          </a:p>
        </p:txBody>
      </p:sp>
      <p:sp>
        <p:nvSpPr>
          <p:cNvPr id="34895" name="Oval 79"/>
          <p:cNvSpPr>
            <a:spLocks noChangeArrowheads="1"/>
          </p:cNvSpPr>
          <p:nvPr/>
        </p:nvSpPr>
        <p:spPr bwMode="auto">
          <a:xfrm>
            <a:off x="2917825" y="3205163"/>
            <a:ext cx="157163" cy="17621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897" name="Text Box 81"/>
          <p:cNvSpPr txBox="1">
            <a:spLocks noChangeArrowheads="1"/>
          </p:cNvSpPr>
          <p:nvPr/>
        </p:nvSpPr>
        <p:spPr bwMode="auto">
          <a:xfrm>
            <a:off x="6248400" y="3505200"/>
            <a:ext cx="2667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GB" sz="2000" b="1" u="sng">
                <a:latin typeface="Arial" charset="0"/>
                <a:cs typeface="+mn-cs"/>
              </a:rPr>
              <a:t>Find the Value of m</a:t>
            </a:r>
            <a:r>
              <a:rPr lang="en-GB" sz="2000">
                <a:latin typeface="Arial" charset="0"/>
                <a:cs typeface="+mn-cs"/>
              </a:rPr>
              <a:t> The gradient means the rate at which the line is climbing.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latin typeface="Arial" charset="0"/>
                <a:cs typeface="+mn-cs"/>
              </a:rPr>
              <a:t>Each time the lines moves 1 place to the right, it climbs up by 2 places. </a:t>
            </a:r>
          </a:p>
          <a:p>
            <a:pPr eaLnBrk="0" hangingPunct="0">
              <a:spcBef>
                <a:spcPct val="50000"/>
              </a:spcBef>
              <a:defRPr/>
            </a:pPr>
            <a:endParaRPr lang="en-GB" sz="2000">
              <a:latin typeface="Arial" charset="0"/>
              <a:cs typeface="+mn-cs"/>
            </a:endParaRPr>
          </a:p>
        </p:txBody>
      </p:sp>
      <p:sp>
        <p:nvSpPr>
          <p:cNvPr id="34898" name="Line 82"/>
          <p:cNvSpPr>
            <a:spLocks noChangeShapeType="1"/>
          </p:cNvSpPr>
          <p:nvPr/>
        </p:nvSpPr>
        <p:spPr bwMode="auto">
          <a:xfrm>
            <a:off x="3357563" y="2573338"/>
            <a:ext cx="358775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899" name="Line 83"/>
          <p:cNvSpPr>
            <a:spLocks noChangeShapeType="1"/>
          </p:cNvSpPr>
          <p:nvPr/>
        </p:nvSpPr>
        <p:spPr bwMode="auto">
          <a:xfrm flipV="1">
            <a:off x="3716338" y="1849438"/>
            <a:ext cx="0" cy="72231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902" name="Rectangle 86"/>
          <p:cNvSpPr>
            <a:spLocks noGrp="1" noChangeArrowheads="1"/>
          </p:cNvSpPr>
          <p:nvPr>
            <p:ph type="title"/>
          </p:nvPr>
        </p:nvSpPr>
        <p:spPr>
          <a:xfrm>
            <a:off x="3962400" y="-76200"/>
            <a:ext cx="441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smtClean="0">
                <a:latin typeface="Arial" charset="0"/>
                <a:cs typeface="+mj-cs"/>
              </a:rPr>
              <a:t>Finding m and c</a:t>
            </a:r>
          </a:p>
        </p:txBody>
      </p:sp>
      <p:sp>
        <p:nvSpPr>
          <p:cNvPr id="34903" name="Line 87"/>
          <p:cNvSpPr>
            <a:spLocks noChangeShapeType="1"/>
          </p:cNvSpPr>
          <p:nvPr/>
        </p:nvSpPr>
        <p:spPr bwMode="auto">
          <a:xfrm>
            <a:off x="1916113" y="5276850"/>
            <a:ext cx="1709737" cy="7270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904" name="Text Box 88"/>
          <p:cNvSpPr txBox="1">
            <a:spLocks noChangeArrowheads="1"/>
          </p:cNvSpPr>
          <p:nvPr/>
        </p:nvSpPr>
        <p:spPr bwMode="auto">
          <a:xfrm>
            <a:off x="3497263" y="5786438"/>
            <a:ext cx="1439862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GB" sz="2000" b="1">
                <a:solidFill>
                  <a:schemeClr val="accent2"/>
                </a:solidFill>
                <a:latin typeface="Arial" charset="0"/>
                <a:cs typeface="+mn-cs"/>
              </a:rPr>
              <a:t>y = 2x +3</a:t>
            </a:r>
          </a:p>
        </p:txBody>
      </p:sp>
      <p:sp>
        <p:nvSpPr>
          <p:cNvPr id="34905" name="Text Box 89"/>
          <p:cNvSpPr txBox="1">
            <a:spLocks noChangeArrowheads="1"/>
          </p:cNvSpPr>
          <p:nvPr/>
        </p:nvSpPr>
        <p:spPr bwMode="auto">
          <a:xfrm>
            <a:off x="3497263" y="5786438"/>
            <a:ext cx="1439862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GB" sz="2000" b="1">
                <a:solidFill>
                  <a:schemeClr val="accent2"/>
                </a:solidFill>
                <a:latin typeface="Arial" charset="0"/>
                <a:cs typeface="+mn-cs"/>
              </a:rPr>
              <a:t>y = mx +c</a:t>
            </a:r>
          </a:p>
        </p:txBody>
      </p:sp>
      <p:sp>
        <p:nvSpPr>
          <p:cNvPr id="34907" name="Text Box 91"/>
          <p:cNvSpPr txBox="1">
            <a:spLocks noChangeArrowheads="1"/>
          </p:cNvSpPr>
          <p:nvPr/>
        </p:nvSpPr>
        <p:spPr bwMode="auto">
          <a:xfrm>
            <a:off x="6877050" y="2997200"/>
            <a:ext cx="1447800" cy="39687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sz="2000">
                <a:latin typeface="Arial" charset="0"/>
                <a:cs typeface="+mn-cs"/>
              </a:rPr>
              <a:t>So </a:t>
            </a:r>
            <a:r>
              <a:rPr lang="en-GB" sz="2000" b="1">
                <a:latin typeface="Arial" charset="0"/>
                <a:cs typeface="+mn-cs"/>
              </a:rPr>
              <a:t>c</a:t>
            </a:r>
            <a:r>
              <a:rPr lang="en-GB" sz="2000">
                <a:latin typeface="Arial" charset="0"/>
                <a:cs typeface="+mn-cs"/>
              </a:rPr>
              <a:t> = 3</a:t>
            </a:r>
          </a:p>
        </p:txBody>
      </p:sp>
      <p:sp>
        <p:nvSpPr>
          <p:cNvPr id="34908" name="Text Box 92"/>
          <p:cNvSpPr txBox="1">
            <a:spLocks noChangeArrowheads="1"/>
          </p:cNvSpPr>
          <p:nvPr/>
        </p:nvSpPr>
        <p:spPr bwMode="auto">
          <a:xfrm>
            <a:off x="7315200" y="5943600"/>
            <a:ext cx="1447800" cy="39687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sz="2000">
                <a:latin typeface="Arial" charset="0"/>
                <a:cs typeface="+mn-cs"/>
              </a:rPr>
              <a:t>So </a:t>
            </a:r>
            <a:r>
              <a:rPr lang="en-GB" sz="2000" b="1">
                <a:latin typeface="Arial" charset="0"/>
                <a:cs typeface="+mn-cs"/>
              </a:rPr>
              <a:t>m</a:t>
            </a:r>
            <a:r>
              <a:rPr lang="en-GB" sz="2000">
                <a:latin typeface="Arial" charset="0"/>
                <a:cs typeface="+mn-cs"/>
              </a:rPr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249894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4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94" grpId="0" autoUpdateAnimBg="0"/>
      <p:bldP spid="34895" grpId="0" animBg="1"/>
      <p:bldP spid="34897" grpId="0" autoUpdateAnimBg="0"/>
      <p:bldP spid="34902" grpId="0" autoUpdateAnimBg="0"/>
      <p:bldP spid="34904" grpId="0" animBg="1" autoUpdateAnimBg="0"/>
      <p:bldP spid="34905" grpId="0" animBg="1" autoUpdateAnimBg="0"/>
      <p:bldP spid="34907" grpId="0" animBg="1" autoUpdateAnimBg="0"/>
      <p:bldP spid="3490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>
            <a:grpSpLocks/>
          </p:cNvGrpSpPr>
          <p:nvPr/>
        </p:nvGrpSpPr>
        <p:grpSpPr bwMode="auto">
          <a:xfrm>
            <a:off x="0" y="341313"/>
            <a:ext cx="6484938" cy="6553200"/>
            <a:chOff x="263" y="192"/>
            <a:chExt cx="4085" cy="4128"/>
          </a:xfrm>
        </p:grpSpPr>
        <p:grpSp>
          <p:nvGrpSpPr>
            <p:cNvPr id="12303" name="Group 3"/>
            <p:cNvGrpSpPr>
              <a:grpSpLocks/>
            </p:cNvGrpSpPr>
            <p:nvPr/>
          </p:nvGrpSpPr>
          <p:grpSpPr bwMode="auto">
            <a:xfrm>
              <a:off x="263" y="192"/>
              <a:ext cx="4085" cy="4128"/>
              <a:chOff x="263" y="192"/>
              <a:chExt cx="4085" cy="4128"/>
            </a:xfrm>
          </p:grpSpPr>
          <p:grpSp>
            <p:nvGrpSpPr>
              <p:cNvPr id="12311" name="Group 4"/>
              <p:cNvGrpSpPr>
                <a:grpSpLocks/>
              </p:cNvGrpSpPr>
              <p:nvPr/>
            </p:nvGrpSpPr>
            <p:grpSpPr bwMode="auto">
              <a:xfrm>
                <a:off x="336" y="192"/>
                <a:ext cx="4012" cy="4128"/>
                <a:chOff x="336" y="192"/>
                <a:chExt cx="4012" cy="4128"/>
              </a:xfrm>
            </p:grpSpPr>
            <p:grpSp>
              <p:nvGrpSpPr>
                <p:cNvPr id="12313" name="Group 5"/>
                <p:cNvGrpSpPr>
                  <a:grpSpLocks/>
                </p:cNvGrpSpPr>
                <p:nvPr/>
              </p:nvGrpSpPr>
              <p:grpSpPr bwMode="auto">
                <a:xfrm>
                  <a:off x="336" y="192"/>
                  <a:ext cx="4012" cy="4128"/>
                  <a:chOff x="336" y="192"/>
                  <a:chExt cx="4012" cy="4128"/>
                </a:xfrm>
              </p:grpSpPr>
              <p:grpSp>
                <p:nvGrpSpPr>
                  <p:cNvPr id="12323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336" y="192"/>
                    <a:ext cx="4012" cy="4128"/>
                    <a:chOff x="1233" y="1326"/>
                    <a:chExt cx="10029" cy="10320"/>
                  </a:xfrm>
                </p:grpSpPr>
                <p:sp>
                  <p:nvSpPr>
                    <p:cNvPr id="12325" name="Text Box 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63" y="1326"/>
                      <a:ext cx="1596" cy="1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9pPr>
                    </a:lstStyle>
                    <a:p>
                      <a:r>
                        <a:rPr lang="en-US" sz="4800" i="1">
                          <a:latin typeface="Times New Roman" charset="0"/>
                        </a:rPr>
                        <a:t>y</a:t>
                      </a:r>
                    </a:p>
                  </p:txBody>
                </p:sp>
                <p:grpSp>
                  <p:nvGrpSpPr>
                    <p:cNvPr id="12326" name="Group 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33" y="2574"/>
                      <a:ext cx="9072" cy="9072"/>
                      <a:chOff x="666" y="1440"/>
                      <a:chExt cx="9072" cy="9072"/>
                    </a:xfrm>
                  </p:grpSpPr>
                  <p:grpSp>
                    <p:nvGrpSpPr>
                      <p:cNvPr id="12330" name="Group 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66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72" name="Line 1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73" name="Line 1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74" name="Line 1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75" name="Line 1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331" name="Group 1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4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68" name="Line 1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69" name="Line 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70" name="Line 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71" name="Line 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332" name="Group 1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02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64" name="Line 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65" name="Line 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66" name="Line 2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67" name="Line 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333" name="Group 2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470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60" name="Line 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61" name="Line 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62" name="Line 2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63" name="Line 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334" name="Group 2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2245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56" name="Line 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7" name="Line 3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8" name="Line 3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9" name="Line 3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335" name="Group 34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544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52" name="Line 3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3" name="Line 3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4" name="Line 3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5" name="Line 3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336" name="Group 3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9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48" name="Line 4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49" name="Line 4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0" name="Line 4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1" name="Line 4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337" name="Group 44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2858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44" name="Line 4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45" name="Line 4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46" name="Line 4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47" name="Line 4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2338" name="Group 4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126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2340" name="Line 5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41" name="Line 5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42" name="Line 5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43" name="Line 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2339" name="Line 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738" y="1440"/>
                        <a:ext cx="0" cy="90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2327" name="Line 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9" y="2574"/>
                      <a:ext cx="0" cy="907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8" name="Line 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33" y="7677"/>
                      <a:ext cx="9072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9" name="Text Box 5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350" y="7026"/>
                      <a:ext cx="912" cy="10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9pPr>
                    </a:lstStyle>
                    <a:p>
                      <a:r>
                        <a:rPr lang="en-US" sz="4800" i="1">
                          <a:latin typeface="Times New Roman" charset="0"/>
                        </a:rPr>
                        <a:t>x</a:t>
                      </a:r>
                    </a:p>
                  </p:txBody>
                </p:sp>
              </p:grpSp>
              <p:sp>
                <p:nvSpPr>
                  <p:cNvPr id="35898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1" y="2728"/>
                    <a:ext cx="2197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   1    2    3   4    5    6    7   8</a:t>
                    </a:r>
                  </a:p>
                </p:txBody>
              </p:sp>
            </p:grpSp>
            <p:grpSp>
              <p:nvGrpSpPr>
                <p:cNvPr id="12314" name="Group 59"/>
                <p:cNvGrpSpPr>
                  <a:grpSpLocks/>
                </p:cNvGrpSpPr>
                <p:nvPr/>
              </p:nvGrpSpPr>
              <p:grpSpPr bwMode="auto">
                <a:xfrm>
                  <a:off x="1996" y="801"/>
                  <a:ext cx="382" cy="1820"/>
                  <a:chOff x="1996" y="801"/>
                  <a:chExt cx="382" cy="1820"/>
                </a:xfrm>
              </p:grpSpPr>
              <p:sp>
                <p:nvSpPr>
                  <p:cNvPr id="35900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390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35901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163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2</a:t>
                    </a:r>
                  </a:p>
                </p:txBody>
              </p:sp>
              <p:sp>
                <p:nvSpPr>
                  <p:cNvPr id="35902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936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3</a:t>
                    </a:r>
                  </a:p>
                </p:txBody>
              </p:sp>
              <p:sp>
                <p:nvSpPr>
                  <p:cNvPr id="35903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709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4</a:t>
                    </a:r>
                  </a:p>
                </p:txBody>
              </p:sp>
              <p:sp>
                <p:nvSpPr>
                  <p:cNvPr id="35904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478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5</a:t>
                    </a:r>
                  </a:p>
                </p:txBody>
              </p:sp>
              <p:sp>
                <p:nvSpPr>
                  <p:cNvPr id="35905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247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6</a:t>
                    </a:r>
                  </a:p>
                </p:txBody>
              </p:sp>
              <p:sp>
                <p:nvSpPr>
                  <p:cNvPr id="35906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027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7</a:t>
                    </a:r>
                  </a:p>
                </p:txBody>
              </p:sp>
              <p:sp>
                <p:nvSpPr>
                  <p:cNvPr id="35907" name="Text Box 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801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8</a:t>
                    </a:r>
                  </a:p>
                </p:txBody>
              </p:sp>
            </p:grpSp>
          </p:grpSp>
          <p:sp>
            <p:nvSpPr>
              <p:cNvPr id="35908" name="Text Box 68"/>
              <p:cNvSpPr txBox="1">
                <a:spLocks noChangeArrowheads="1"/>
              </p:cNvSpPr>
              <p:nvPr/>
            </p:nvSpPr>
            <p:spPr bwMode="auto">
              <a:xfrm>
                <a:off x="263" y="2732"/>
                <a:ext cx="18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 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7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6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5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4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3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2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1 </a:t>
                </a:r>
              </a:p>
            </p:txBody>
          </p:sp>
        </p:grpSp>
        <p:grpSp>
          <p:nvGrpSpPr>
            <p:cNvPr id="12304" name="Group 69"/>
            <p:cNvGrpSpPr>
              <a:grpSpLocks/>
            </p:cNvGrpSpPr>
            <p:nvPr/>
          </p:nvGrpSpPr>
          <p:grpSpPr bwMode="auto">
            <a:xfrm>
              <a:off x="1924" y="2843"/>
              <a:ext cx="542" cy="1369"/>
              <a:chOff x="1924" y="2843"/>
              <a:chExt cx="542" cy="1369"/>
            </a:xfrm>
          </p:grpSpPr>
          <p:sp>
            <p:nvSpPr>
              <p:cNvPr id="35910" name="Text Box 70"/>
              <p:cNvSpPr txBox="1">
                <a:spLocks noChangeArrowheads="1"/>
              </p:cNvSpPr>
              <p:nvPr/>
            </p:nvSpPr>
            <p:spPr bwMode="auto">
              <a:xfrm>
                <a:off x="1924" y="2843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1</a:t>
                </a:r>
              </a:p>
            </p:txBody>
          </p:sp>
          <p:sp>
            <p:nvSpPr>
              <p:cNvPr id="35911" name="Text Box 71"/>
              <p:cNvSpPr txBox="1">
                <a:spLocks noChangeArrowheads="1"/>
              </p:cNvSpPr>
              <p:nvPr/>
            </p:nvSpPr>
            <p:spPr bwMode="auto">
              <a:xfrm>
                <a:off x="1924" y="3070"/>
                <a:ext cx="3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2</a:t>
                </a:r>
              </a:p>
            </p:txBody>
          </p:sp>
          <p:sp>
            <p:nvSpPr>
              <p:cNvPr id="35912" name="Text Box 72"/>
              <p:cNvSpPr txBox="1">
                <a:spLocks noChangeArrowheads="1"/>
              </p:cNvSpPr>
              <p:nvPr/>
            </p:nvSpPr>
            <p:spPr bwMode="auto">
              <a:xfrm>
                <a:off x="1924" y="3297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3</a:t>
                </a:r>
              </a:p>
            </p:txBody>
          </p:sp>
          <p:sp>
            <p:nvSpPr>
              <p:cNvPr id="35913" name="Text Box 73"/>
              <p:cNvSpPr txBox="1">
                <a:spLocks noChangeArrowheads="1"/>
              </p:cNvSpPr>
              <p:nvPr/>
            </p:nvSpPr>
            <p:spPr bwMode="auto">
              <a:xfrm>
                <a:off x="1924" y="3528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4</a:t>
                </a:r>
              </a:p>
            </p:txBody>
          </p:sp>
          <p:sp>
            <p:nvSpPr>
              <p:cNvPr id="35914" name="Text Box 74"/>
              <p:cNvSpPr txBox="1">
                <a:spLocks noChangeArrowheads="1"/>
              </p:cNvSpPr>
              <p:nvPr/>
            </p:nvSpPr>
            <p:spPr bwMode="auto">
              <a:xfrm>
                <a:off x="1924" y="3750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5</a:t>
                </a:r>
              </a:p>
            </p:txBody>
          </p:sp>
          <p:sp>
            <p:nvSpPr>
              <p:cNvPr id="35915" name="Text Box 75"/>
              <p:cNvSpPr txBox="1">
                <a:spLocks noChangeArrowheads="1"/>
              </p:cNvSpPr>
              <p:nvPr/>
            </p:nvSpPr>
            <p:spPr bwMode="auto">
              <a:xfrm>
                <a:off x="1924" y="3981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6</a:t>
                </a:r>
              </a:p>
            </p:txBody>
          </p:sp>
        </p:grpSp>
      </p:grpSp>
      <p:sp>
        <p:nvSpPr>
          <p:cNvPr id="35916" name="Line 76"/>
          <p:cNvSpPr>
            <a:spLocks noChangeShapeType="1"/>
          </p:cNvSpPr>
          <p:nvPr/>
        </p:nvSpPr>
        <p:spPr bwMode="auto">
          <a:xfrm>
            <a:off x="381000" y="1143000"/>
            <a:ext cx="5410200" cy="51562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5917" name="Text Box 77"/>
          <p:cNvSpPr txBox="1">
            <a:spLocks noChangeArrowheads="1"/>
          </p:cNvSpPr>
          <p:nvPr/>
        </p:nvSpPr>
        <p:spPr bwMode="auto">
          <a:xfrm>
            <a:off x="6248400" y="1524000"/>
            <a:ext cx="28956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GB" sz="2000" b="1" u="sng">
                <a:latin typeface="Arial" charset="0"/>
                <a:cs typeface="+mn-cs"/>
              </a:rPr>
              <a:t>Find the Value of c</a:t>
            </a:r>
            <a:r>
              <a:rPr lang="en-GB" sz="2000" b="1">
                <a:latin typeface="Arial" charset="0"/>
                <a:cs typeface="+mn-cs"/>
              </a:rPr>
              <a:t> 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latin typeface="Arial" charset="0"/>
                <a:cs typeface="+mn-cs"/>
              </a:rPr>
              <a:t>This is the point at which the line crosses the y-axis. </a:t>
            </a:r>
          </a:p>
          <a:p>
            <a:pPr eaLnBrk="0" hangingPunct="0">
              <a:spcBef>
                <a:spcPct val="50000"/>
              </a:spcBef>
              <a:defRPr/>
            </a:pPr>
            <a:endParaRPr lang="en-GB" sz="2000">
              <a:latin typeface="Arial" charset="0"/>
              <a:cs typeface="+mn-cs"/>
            </a:endParaRPr>
          </a:p>
        </p:txBody>
      </p:sp>
      <p:sp>
        <p:nvSpPr>
          <p:cNvPr id="35918" name="Oval 78"/>
          <p:cNvSpPr>
            <a:spLocks noChangeArrowheads="1"/>
          </p:cNvSpPr>
          <p:nvPr/>
        </p:nvSpPr>
        <p:spPr bwMode="auto">
          <a:xfrm>
            <a:off x="2917825" y="3557588"/>
            <a:ext cx="157163" cy="17621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5919" name="Text Box 79"/>
          <p:cNvSpPr txBox="1">
            <a:spLocks noChangeArrowheads="1"/>
          </p:cNvSpPr>
          <p:nvPr/>
        </p:nvSpPr>
        <p:spPr bwMode="auto">
          <a:xfrm>
            <a:off x="6248400" y="3505200"/>
            <a:ext cx="2667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GB" sz="2000" b="1" u="sng">
                <a:latin typeface="Arial" charset="0"/>
                <a:cs typeface="+mn-cs"/>
              </a:rPr>
              <a:t>Find the Value of m</a:t>
            </a:r>
            <a:r>
              <a:rPr lang="en-GB" sz="2000">
                <a:latin typeface="Arial" charset="0"/>
                <a:cs typeface="+mn-cs"/>
              </a:rPr>
              <a:t> The gradient means the rate at which the line is climbing.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latin typeface="Arial" charset="0"/>
                <a:cs typeface="+mn-cs"/>
              </a:rPr>
              <a:t>Each time the line moves 1 place to the right, it moves down by 1 place. </a:t>
            </a:r>
          </a:p>
          <a:p>
            <a:pPr eaLnBrk="0" hangingPunct="0">
              <a:spcBef>
                <a:spcPct val="50000"/>
              </a:spcBef>
              <a:defRPr/>
            </a:pPr>
            <a:endParaRPr lang="en-GB" sz="2000">
              <a:latin typeface="Arial" charset="0"/>
              <a:cs typeface="+mn-cs"/>
            </a:endParaRPr>
          </a:p>
        </p:txBody>
      </p:sp>
      <p:sp>
        <p:nvSpPr>
          <p:cNvPr id="35920" name="Line 80"/>
          <p:cNvSpPr>
            <a:spLocks noChangeShapeType="1"/>
          </p:cNvSpPr>
          <p:nvPr/>
        </p:nvSpPr>
        <p:spPr bwMode="auto">
          <a:xfrm>
            <a:off x="2971800" y="3657600"/>
            <a:ext cx="3810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5921" name="Line 81"/>
          <p:cNvSpPr>
            <a:spLocks noChangeShapeType="1"/>
          </p:cNvSpPr>
          <p:nvPr/>
        </p:nvSpPr>
        <p:spPr bwMode="auto">
          <a:xfrm>
            <a:off x="3352800" y="3617913"/>
            <a:ext cx="0" cy="3444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5922" name="Rectangle 82"/>
          <p:cNvSpPr>
            <a:spLocks noGrp="1" noChangeArrowheads="1"/>
          </p:cNvSpPr>
          <p:nvPr>
            <p:ph type="title"/>
          </p:nvPr>
        </p:nvSpPr>
        <p:spPr>
          <a:xfrm>
            <a:off x="3465513" y="0"/>
            <a:ext cx="499268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smtClean="0">
                <a:latin typeface="Arial" charset="0"/>
                <a:cs typeface="+mj-cs"/>
              </a:rPr>
              <a:t>Finding m and c</a:t>
            </a:r>
          </a:p>
        </p:txBody>
      </p:sp>
      <p:sp>
        <p:nvSpPr>
          <p:cNvPr id="35923" name="Line 83"/>
          <p:cNvSpPr>
            <a:spLocks noChangeShapeType="1"/>
          </p:cNvSpPr>
          <p:nvPr/>
        </p:nvSpPr>
        <p:spPr bwMode="auto">
          <a:xfrm flipV="1">
            <a:off x="3581400" y="2936875"/>
            <a:ext cx="1524000" cy="1101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5924" name="Text Box 84"/>
          <p:cNvSpPr txBox="1">
            <a:spLocks noChangeArrowheads="1"/>
          </p:cNvSpPr>
          <p:nvPr/>
        </p:nvSpPr>
        <p:spPr bwMode="auto">
          <a:xfrm>
            <a:off x="4038600" y="2514600"/>
            <a:ext cx="143986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GB" sz="2000" b="1">
                <a:solidFill>
                  <a:schemeClr val="accent2"/>
                </a:solidFill>
                <a:latin typeface="Arial" charset="0"/>
                <a:cs typeface="+mn-cs"/>
              </a:rPr>
              <a:t>y = 2x +3</a:t>
            </a:r>
          </a:p>
        </p:txBody>
      </p:sp>
      <p:sp>
        <p:nvSpPr>
          <p:cNvPr id="35925" name="Text Box 85"/>
          <p:cNvSpPr txBox="1">
            <a:spLocks noChangeArrowheads="1"/>
          </p:cNvSpPr>
          <p:nvPr/>
        </p:nvSpPr>
        <p:spPr bwMode="auto">
          <a:xfrm>
            <a:off x="4038600" y="2514600"/>
            <a:ext cx="143986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GB" sz="2000" b="1">
                <a:solidFill>
                  <a:schemeClr val="accent2"/>
                </a:solidFill>
                <a:latin typeface="Arial" charset="0"/>
                <a:cs typeface="+mn-cs"/>
              </a:rPr>
              <a:t>y = mx +c</a:t>
            </a:r>
          </a:p>
        </p:txBody>
      </p:sp>
      <p:sp>
        <p:nvSpPr>
          <p:cNvPr id="35926" name="Text Box 86"/>
          <p:cNvSpPr txBox="1">
            <a:spLocks noChangeArrowheads="1"/>
          </p:cNvSpPr>
          <p:nvPr/>
        </p:nvSpPr>
        <p:spPr bwMode="auto">
          <a:xfrm>
            <a:off x="6781800" y="2895600"/>
            <a:ext cx="1447800" cy="39687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sz="2000">
                <a:latin typeface="Arial" charset="0"/>
                <a:cs typeface="+mn-cs"/>
              </a:rPr>
              <a:t>So </a:t>
            </a:r>
            <a:r>
              <a:rPr lang="en-GB" sz="2000" b="1">
                <a:latin typeface="Arial" charset="0"/>
                <a:cs typeface="+mn-cs"/>
              </a:rPr>
              <a:t>c</a:t>
            </a:r>
            <a:r>
              <a:rPr lang="en-GB" sz="2000">
                <a:latin typeface="Arial" charset="0"/>
                <a:cs typeface="+mn-cs"/>
              </a:rPr>
              <a:t> = 2</a:t>
            </a:r>
          </a:p>
        </p:txBody>
      </p:sp>
      <p:sp>
        <p:nvSpPr>
          <p:cNvPr id="35927" name="Text Box 87"/>
          <p:cNvSpPr txBox="1">
            <a:spLocks noChangeArrowheads="1"/>
          </p:cNvSpPr>
          <p:nvPr/>
        </p:nvSpPr>
        <p:spPr bwMode="auto">
          <a:xfrm>
            <a:off x="7620000" y="5867400"/>
            <a:ext cx="1447800" cy="39687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sz="2000">
                <a:latin typeface="Arial" charset="0"/>
                <a:cs typeface="+mn-cs"/>
              </a:rPr>
              <a:t>So </a:t>
            </a:r>
            <a:r>
              <a:rPr lang="en-GB" sz="2000" b="1">
                <a:latin typeface="Arial" charset="0"/>
                <a:cs typeface="+mn-cs"/>
              </a:rPr>
              <a:t>m</a:t>
            </a:r>
            <a:r>
              <a:rPr lang="en-GB" sz="2000">
                <a:latin typeface="Arial" charset="0"/>
                <a:cs typeface="+mn-cs"/>
              </a:rPr>
              <a:t> = -1</a:t>
            </a:r>
          </a:p>
        </p:txBody>
      </p:sp>
    </p:spTree>
    <p:extLst>
      <p:ext uri="{BB962C8B-B14F-4D97-AF65-F5344CB8AC3E}">
        <p14:creationId xmlns:p14="http://schemas.microsoft.com/office/powerpoint/2010/main" val="83395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5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5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5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5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17" grpId="0" autoUpdateAnimBg="0"/>
      <p:bldP spid="35918" grpId="0" animBg="1"/>
      <p:bldP spid="35919" grpId="0" autoUpdateAnimBg="0"/>
      <p:bldP spid="35922" grpId="0" autoUpdateAnimBg="0"/>
      <p:bldP spid="35924" grpId="0" animBg="1" autoUpdateAnimBg="0"/>
      <p:bldP spid="35925" grpId="0" animBg="1" autoUpdateAnimBg="0"/>
      <p:bldP spid="35926" grpId="0" animBg="1" autoUpdateAnimBg="0"/>
      <p:bldP spid="35927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>
            <a:grpSpLocks/>
          </p:cNvGrpSpPr>
          <p:nvPr/>
        </p:nvGrpSpPr>
        <p:grpSpPr bwMode="auto">
          <a:xfrm>
            <a:off x="0" y="341313"/>
            <a:ext cx="6484938" cy="6553200"/>
            <a:chOff x="263" y="192"/>
            <a:chExt cx="4085" cy="4128"/>
          </a:xfrm>
        </p:grpSpPr>
        <p:grpSp>
          <p:nvGrpSpPr>
            <p:cNvPr id="13331" name="Group 3"/>
            <p:cNvGrpSpPr>
              <a:grpSpLocks/>
            </p:cNvGrpSpPr>
            <p:nvPr/>
          </p:nvGrpSpPr>
          <p:grpSpPr bwMode="auto">
            <a:xfrm>
              <a:off x="263" y="192"/>
              <a:ext cx="4085" cy="4128"/>
              <a:chOff x="263" y="192"/>
              <a:chExt cx="4085" cy="4128"/>
            </a:xfrm>
          </p:grpSpPr>
          <p:grpSp>
            <p:nvGrpSpPr>
              <p:cNvPr id="13339" name="Group 4"/>
              <p:cNvGrpSpPr>
                <a:grpSpLocks/>
              </p:cNvGrpSpPr>
              <p:nvPr/>
            </p:nvGrpSpPr>
            <p:grpSpPr bwMode="auto">
              <a:xfrm>
                <a:off x="336" y="192"/>
                <a:ext cx="4012" cy="4128"/>
                <a:chOff x="336" y="192"/>
                <a:chExt cx="4012" cy="4128"/>
              </a:xfrm>
            </p:grpSpPr>
            <p:grpSp>
              <p:nvGrpSpPr>
                <p:cNvPr id="13341" name="Group 5"/>
                <p:cNvGrpSpPr>
                  <a:grpSpLocks/>
                </p:cNvGrpSpPr>
                <p:nvPr/>
              </p:nvGrpSpPr>
              <p:grpSpPr bwMode="auto">
                <a:xfrm>
                  <a:off x="336" y="192"/>
                  <a:ext cx="4012" cy="4128"/>
                  <a:chOff x="336" y="192"/>
                  <a:chExt cx="4012" cy="4128"/>
                </a:xfrm>
              </p:grpSpPr>
              <p:grpSp>
                <p:nvGrpSpPr>
                  <p:cNvPr id="13351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336" y="192"/>
                    <a:ext cx="4012" cy="4128"/>
                    <a:chOff x="1233" y="1326"/>
                    <a:chExt cx="10029" cy="10320"/>
                  </a:xfrm>
                </p:grpSpPr>
                <p:sp>
                  <p:nvSpPr>
                    <p:cNvPr id="13353" name="Text Box 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63" y="1326"/>
                      <a:ext cx="1596" cy="1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9pPr>
                    </a:lstStyle>
                    <a:p>
                      <a:r>
                        <a:rPr lang="en-US" sz="4800" i="1">
                          <a:latin typeface="Arial" charset="0"/>
                        </a:rPr>
                        <a:t>y</a:t>
                      </a:r>
                    </a:p>
                  </p:txBody>
                </p:sp>
                <p:grpSp>
                  <p:nvGrpSpPr>
                    <p:cNvPr id="13354" name="Group 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33" y="2574"/>
                      <a:ext cx="9072" cy="9072"/>
                      <a:chOff x="666" y="1440"/>
                      <a:chExt cx="9072" cy="9072"/>
                    </a:xfrm>
                  </p:grpSpPr>
                  <p:grpSp>
                    <p:nvGrpSpPr>
                      <p:cNvPr id="13358" name="Group 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66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400" name="Line 1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401" name="Line 1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402" name="Line 1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403" name="Line 1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3359" name="Group 1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4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96" name="Line 1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97" name="Line 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98" name="Line 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99" name="Line 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3360" name="Group 1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02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92" name="Line 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93" name="Line 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94" name="Line 2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95" name="Line 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3361" name="Group 2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470" y="144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88" name="Line 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89" name="Line 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90" name="Line 2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91" name="Line 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3362" name="Group 2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2245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84" name="Line 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85" name="Line 3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86" name="Line 3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87" name="Line 3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3363" name="Group 34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-544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80" name="Line 3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81" name="Line 3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82" name="Line 3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83" name="Line 3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3364" name="Group 3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90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76" name="Line 4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77" name="Line 4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78" name="Line 4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79" name="Line 4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3365" name="Group 44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2858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72" name="Line 4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73" name="Line 4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74" name="Line 4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75" name="Line 4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3366" name="Group 49"/>
                      <p:cNvGrpSpPr>
                        <a:grpSpLocks/>
                      </p:cNvGrpSpPr>
                      <p:nvPr/>
                    </p:nvGrpSpPr>
                    <p:grpSpPr bwMode="auto">
                      <a:xfrm rot="-5400000">
                        <a:off x="4351" y="5126"/>
                        <a:ext cx="1701" cy="9072"/>
                        <a:chOff x="2934" y="1440"/>
                        <a:chExt cx="1701" cy="9072"/>
                      </a:xfrm>
                    </p:grpSpPr>
                    <p:sp>
                      <p:nvSpPr>
                        <p:cNvPr id="13368" name="Line 5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35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69" name="Line 5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34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70" name="Line 5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68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3371" name="Line 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1" y="1440"/>
                          <a:ext cx="0" cy="907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3367" name="Line 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738" y="1440"/>
                        <a:ext cx="0" cy="90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3355" name="Line 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9" y="2574"/>
                      <a:ext cx="0" cy="9072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56" name="Line 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33" y="7677"/>
                      <a:ext cx="9072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57" name="Text Box 5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350" y="7026"/>
                      <a:ext cx="912" cy="102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0"/>
                        </a:defRPr>
                      </a:lvl9pPr>
                    </a:lstStyle>
                    <a:p>
                      <a:r>
                        <a:rPr lang="en-US" sz="4800" i="1">
                          <a:latin typeface="Arial" charset="0"/>
                        </a:rPr>
                        <a:t>x</a:t>
                      </a:r>
                    </a:p>
                  </p:txBody>
                </p:sp>
              </p:grpSp>
              <p:sp>
                <p:nvSpPr>
                  <p:cNvPr id="36922" name="Text 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1" y="2728"/>
                    <a:ext cx="2197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   1    2    3   4    5    6    7   8</a:t>
                    </a:r>
                  </a:p>
                </p:txBody>
              </p:sp>
            </p:grpSp>
            <p:grpSp>
              <p:nvGrpSpPr>
                <p:cNvPr id="13342" name="Group 59"/>
                <p:cNvGrpSpPr>
                  <a:grpSpLocks/>
                </p:cNvGrpSpPr>
                <p:nvPr/>
              </p:nvGrpSpPr>
              <p:grpSpPr bwMode="auto">
                <a:xfrm>
                  <a:off x="1996" y="801"/>
                  <a:ext cx="382" cy="1820"/>
                  <a:chOff x="1996" y="801"/>
                  <a:chExt cx="382" cy="1820"/>
                </a:xfrm>
              </p:grpSpPr>
              <p:sp>
                <p:nvSpPr>
                  <p:cNvPr id="36924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390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36925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2163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2</a:t>
                    </a:r>
                  </a:p>
                </p:txBody>
              </p:sp>
              <p:sp>
                <p:nvSpPr>
                  <p:cNvPr id="36926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936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3</a:t>
                    </a:r>
                  </a:p>
                </p:txBody>
              </p:sp>
              <p:sp>
                <p:nvSpPr>
                  <p:cNvPr id="36927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709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4</a:t>
                    </a:r>
                  </a:p>
                </p:txBody>
              </p:sp>
              <p:sp>
                <p:nvSpPr>
                  <p:cNvPr id="36928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478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5</a:t>
                    </a:r>
                  </a:p>
                </p:txBody>
              </p:sp>
              <p:sp>
                <p:nvSpPr>
                  <p:cNvPr id="36929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247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6</a:t>
                    </a:r>
                  </a:p>
                </p:txBody>
              </p:sp>
              <p:sp>
                <p:nvSpPr>
                  <p:cNvPr id="36930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1027"/>
                    <a:ext cx="38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7</a:t>
                    </a:r>
                  </a:p>
                </p:txBody>
              </p:sp>
              <p:sp>
                <p:nvSpPr>
                  <p:cNvPr id="36931" name="Text Box 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6" y="801"/>
                    <a:ext cx="31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  <a:defRPr/>
                    </a:pPr>
                    <a:r>
                      <a:rPr lang="en-GB" sz="1800" b="1">
                        <a:solidFill>
                          <a:schemeClr val="tx2"/>
                        </a:solidFill>
                        <a:latin typeface="Arial" charset="0"/>
                        <a:cs typeface="+mn-cs"/>
                      </a:rPr>
                      <a:t>8</a:t>
                    </a:r>
                  </a:p>
                </p:txBody>
              </p:sp>
            </p:grpSp>
          </p:grpSp>
          <p:sp>
            <p:nvSpPr>
              <p:cNvPr id="36932" name="Text Box 68"/>
              <p:cNvSpPr txBox="1">
                <a:spLocks noChangeArrowheads="1"/>
              </p:cNvSpPr>
              <p:nvPr/>
            </p:nvSpPr>
            <p:spPr bwMode="auto">
              <a:xfrm>
                <a:off x="263" y="2732"/>
                <a:ext cx="18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 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7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6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5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4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3 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2  </a:t>
                </a: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–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1 </a:t>
                </a:r>
              </a:p>
            </p:txBody>
          </p:sp>
        </p:grpSp>
        <p:grpSp>
          <p:nvGrpSpPr>
            <p:cNvPr id="13332" name="Group 69"/>
            <p:cNvGrpSpPr>
              <a:grpSpLocks/>
            </p:cNvGrpSpPr>
            <p:nvPr/>
          </p:nvGrpSpPr>
          <p:grpSpPr bwMode="auto">
            <a:xfrm>
              <a:off x="1924" y="2843"/>
              <a:ext cx="542" cy="1369"/>
              <a:chOff x="1924" y="2843"/>
              <a:chExt cx="542" cy="1369"/>
            </a:xfrm>
          </p:grpSpPr>
          <p:sp>
            <p:nvSpPr>
              <p:cNvPr id="36934" name="Text Box 70"/>
              <p:cNvSpPr txBox="1">
                <a:spLocks noChangeArrowheads="1"/>
              </p:cNvSpPr>
              <p:nvPr/>
            </p:nvSpPr>
            <p:spPr bwMode="auto">
              <a:xfrm>
                <a:off x="1924" y="2843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1</a:t>
                </a:r>
              </a:p>
            </p:txBody>
          </p:sp>
          <p:sp>
            <p:nvSpPr>
              <p:cNvPr id="36935" name="Text Box 71"/>
              <p:cNvSpPr txBox="1">
                <a:spLocks noChangeArrowheads="1"/>
              </p:cNvSpPr>
              <p:nvPr/>
            </p:nvSpPr>
            <p:spPr bwMode="auto">
              <a:xfrm>
                <a:off x="1924" y="3070"/>
                <a:ext cx="32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2</a:t>
                </a:r>
              </a:p>
            </p:txBody>
          </p:sp>
          <p:sp>
            <p:nvSpPr>
              <p:cNvPr id="36936" name="Text Box 72"/>
              <p:cNvSpPr txBox="1">
                <a:spLocks noChangeArrowheads="1"/>
              </p:cNvSpPr>
              <p:nvPr/>
            </p:nvSpPr>
            <p:spPr bwMode="auto">
              <a:xfrm>
                <a:off x="1924" y="3297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3</a:t>
                </a:r>
              </a:p>
            </p:txBody>
          </p:sp>
          <p:sp>
            <p:nvSpPr>
              <p:cNvPr id="36937" name="Text Box 73"/>
              <p:cNvSpPr txBox="1">
                <a:spLocks noChangeArrowheads="1"/>
              </p:cNvSpPr>
              <p:nvPr/>
            </p:nvSpPr>
            <p:spPr bwMode="auto">
              <a:xfrm>
                <a:off x="1924" y="3528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4</a:t>
                </a:r>
              </a:p>
            </p:txBody>
          </p:sp>
          <p:sp>
            <p:nvSpPr>
              <p:cNvPr id="36938" name="Text Box 74"/>
              <p:cNvSpPr txBox="1">
                <a:spLocks noChangeArrowheads="1"/>
              </p:cNvSpPr>
              <p:nvPr/>
            </p:nvSpPr>
            <p:spPr bwMode="auto">
              <a:xfrm>
                <a:off x="1924" y="3750"/>
                <a:ext cx="3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5</a:t>
                </a:r>
              </a:p>
            </p:txBody>
          </p:sp>
          <p:sp>
            <p:nvSpPr>
              <p:cNvPr id="36939" name="Text Box 75"/>
              <p:cNvSpPr txBox="1">
                <a:spLocks noChangeArrowheads="1"/>
              </p:cNvSpPr>
              <p:nvPr/>
            </p:nvSpPr>
            <p:spPr bwMode="auto">
              <a:xfrm>
                <a:off x="1924" y="3981"/>
                <a:ext cx="54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GB" sz="1800" b="1" baseline="30000">
                    <a:solidFill>
                      <a:schemeClr val="tx2"/>
                    </a:solidFill>
                    <a:latin typeface="Arial" charset="0"/>
                    <a:cs typeface="+mn-cs"/>
                  </a:rPr>
                  <a:t>-</a:t>
                </a:r>
                <a:r>
                  <a:rPr lang="en-GB" sz="1800" b="1">
                    <a:solidFill>
                      <a:schemeClr val="tx2"/>
                    </a:solidFill>
                    <a:latin typeface="Arial" charset="0"/>
                    <a:cs typeface="+mn-cs"/>
                  </a:rPr>
                  <a:t>6</a:t>
                </a:r>
              </a:p>
            </p:txBody>
          </p:sp>
        </p:grpSp>
      </p:grpSp>
      <p:sp>
        <p:nvSpPr>
          <p:cNvPr id="36940" name="Line 76"/>
          <p:cNvSpPr>
            <a:spLocks noChangeShapeType="1"/>
          </p:cNvSpPr>
          <p:nvPr/>
        </p:nvSpPr>
        <p:spPr bwMode="auto">
          <a:xfrm flipH="1">
            <a:off x="914400" y="2549525"/>
            <a:ext cx="4243388" cy="42322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6941" name="Text Box 77"/>
          <p:cNvSpPr txBox="1">
            <a:spLocks noChangeArrowheads="1"/>
          </p:cNvSpPr>
          <p:nvPr/>
        </p:nvSpPr>
        <p:spPr bwMode="auto">
          <a:xfrm>
            <a:off x="6096000" y="990600"/>
            <a:ext cx="28956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GB" sz="2000" u="sng">
                <a:solidFill>
                  <a:schemeClr val="accent2"/>
                </a:solidFill>
                <a:latin typeface="Arial" charset="0"/>
                <a:cs typeface="+mn-cs"/>
              </a:rPr>
              <a:t>Line 1</a:t>
            </a:r>
            <a:r>
              <a:rPr lang="en-GB" sz="2000">
                <a:solidFill>
                  <a:schemeClr val="accent2"/>
                </a:solidFill>
                <a:latin typeface="Arial" charset="0"/>
                <a:cs typeface="+mn-cs"/>
              </a:rPr>
              <a:t> 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solidFill>
                  <a:schemeClr val="accent2"/>
                </a:solidFill>
                <a:latin typeface="Arial" charset="0"/>
                <a:cs typeface="+mn-cs"/>
              </a:rPr>
              <a:t>m =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solidFill>
                  <a:schemeClr val="accent2"/>
                </a:solidFill>
                <a:latin typeface="Arial" charset="0"/>
                <a:cs typeface="+mn-cs"/>
              </a:rPr>
              <a:t>c =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 u="sng">
                <a:solidFill>
                  <a:schemeClr val="accent2"/>
                </a:solidFill>
                <a:latin typeface="Arial" charset="0"/>
                <a:cs typeface="+mn-cs"/>
              </a:rPr>
              <a:t>Equation:</a:t>
            </a:r>
          </a:p>
        </p:txBody>
      </p:sp>
      <p:sp>
        <p:nvSpPr>
          <p:cNvPr id="36946" name="Rectangle 82"/>
          <p:cNvSpPr>
            <a:spLocks noGrp="1" noChangeArrowheads="1"/>
          </p:cNvSpPr>
          <p:nvPr>
            <p:ph type="title"/>
          </p:nvPr>
        </p:nvSpPr>
        <p:spPr>
          <a:xfrm>
            <a:off x="1066800" y="-228600"/>
            <a:ext cx="7239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smtClean="0">
                <a:latin typeface="Arial" charset="0"/>
                <a:cs typeface="+mj-cs"/>
              </a:rPr>
              <a:t>Some Lines to Identify</a:t>
            </a:r>
          </a:p>
        </p:txBody>
      </p:sp>
      <p:sp>
        <p:nvSpPr>
          <p:cNvPr id="36952" name="Text Box 88"/>
          <p:cNvSpPr txBox="1">
            <a:spLocks noChangeArrowheads="1"/>
          </p:cNvSpPr>
          <p:nvPr/>
        </p:nvSpPr>
        <p:spPr bwMode="auto">
          <a:xfrm>
            <a:off x="6096000" y="2879725"/>
            <a:ext cx="28956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GB" sz="2000" u="sng">
                <a:solidFill>
                  <a:srgbClr val="FF0000"/>
                </a:solidFill>
                <a:latin typeface="Arial" charset="0"/>
                <a:cs typeface="+mn-cs"/>
              </a:rPr>
              <a:t>Line 2</a:t>
            </a:r>
            <a:r>
              <a:rPr lang="en-GB" sz="2000">
                <a:solidFill>
                  <a:srgbClr val="FF0000"/>
                </a:solidFill>
                <a:latin typeface="Arial" charset="0"/>
                <a:cs typeface="+mn-cs"/>
              </a:rPr>
              <a:t> 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solidFill>
                  <a:srgbClr val="FF0000"/>
                </a:solidFill>
                <a:latin typeface="Arial" charset="0"/>
                <a:cs typeface="+mn-cs"/>
              </a:rPr>
              <a:t>m =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solidFill>
                  <a:srgbClr val="FF0000"/>
                </a:solidFill>
                <a:latin typeface="Arial" charset="0"/>
                <a:cs typeface="+mn-cs"/>
              </a:rPr>
              <a:t>c =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solidFill>
                  <a:srgbClr val="FF0000"/>
                </a:solidFill>
                <a:latin typeface="Arial" charset="0"/>
                <a:cs typeface="+mn-cs"/>
              </a:rPr>
              <a:t>  </a:t>
            </a:r>
            <a:r>
              <a:rPr lang="en-GB" sz="2000" u="sng">
                <a:solidFill>
                  <a:srgbClr val="FF0000"/>
                </a:solidFill>
                <a:latin typeface="Arial" charset="0"/>
                <a:cs typeface="+mn-cs"/>
              </a:rPr>
              <a:t>Equation:</a:t>
            </a:r>
          </a:p>
        </p:txBody>
      </p:sp>
      <p:sp>
        <p:nvSpPr>
          <p:cNvPr id="36954" name="Text Box 90"/>
          <p:cNvSpPr txBox="1">
            <a:spLocks noChangeArrowheads="1"/>
          </p:cNvSpPr>
          <p:nvPr/>
        </p:nvSpPr>
        <p:spPr bwMode="auto">
          <a:xfrm>
            <a:off x="6553200" y="1397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chemeClr val="accent2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36955" name="Text Box 91"/>
          <p:cNvSpPr txBox="1">
            <a:spLocks noChangeArrowheads="1"/>
          </p:cNvSpPr>
          <p:nvPr/>
        </p:nvSpPr>
        <p:spPr bwMode="auto">
          <a:xfrm>
            <a:off x="6565900" y="18415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chemeClr val="accent2"/>
                </a:solidFill>
                <a:latin typeface="Arial" charset="0"/>
                <a:cs typeface="+mn-cs"/>
              </a:rPr>
              <a:t>2</a:t>
            </a:r>
          </a:p>
        </p:txBody>
      </p:sp>
      <p:sp>
        <p:nvSpPr>
          <p:cNvPr id="36956" name="Text Box 92"/>
          <p:cNvSpPr txBox="1">
            <a:spLocks noChangeArrowheads="1"/>
          </p:cNvSpPr>
          <p:nvPr/>
        </p:nvSpPr>
        <p:spPr bwMode="auto">
          <a:xfrm>
            <a:off x="7315200" y="23241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chemeClr val="accent2"/>
                </a:solidFill>
                <a:latin typeface="Arial" charset="0"/>
                <a:cs typeface="+mn-cs"/>
              </a:rPr>
              <a:t>y = x + 2</a:t>
            </a:r>
          </a:p>
        </p:txBody>
      </p:sp>
      <p:sp>
        <p:nvSpPr>
          <p:cNvPr id="36957" name="Text Box 93"/>
          <p:cNvSpPr txBox="1">
            <a:spLocks noChangeArrowheads="1"/>
          </p:cNvSpPr>
          <p:nvPr/>
        </p:nvSpPr>
        <p:spPr bwMode="auto">
          <a:xfrm>
            <a:off x="6096000" y="4784725"/>
            <a:ext cx="28956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GB" sz="2000" u="sng">
                <a:solidFill>
                  <a:srgbClr val="008000"/>
                </a:solidFill>
                <a:latin typeface="Arial" charset="0"/>
                <a:cs typeface="+mn-cs"/>
              </a:rPr>
              <a:t>Line 3</a:t>
            </a:r>
            <a:r>
              <a:rPr lang="en-GB" sz="2000">
                <a:solidFill>
                  <a:srgbClr val="008000"/>
                </a:solidFill>
                <a:latin typeface="Arial" charset="0"/>
                <a:cs typeface="+mn-cs"/>
              </a:rPr>
              <a:t> 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solidFill>
                  <a:srgbClr val="008000"/>
                </a:solidFill>
                <a:latin typeface="Arial" charset="0"/>
                <a:cs typeface="+mn-cs"/>
              </a:rPr>
              <a:t>m =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>
                <a:solidFill>
                  <a:srgbClr val="008000"/>
                </a:solidFill>
                <a:latin typeface="Arial" charset="0"/>
                <a:cs typeface="+mn-cs"/>
              </a:rPr>
              <a:t>c =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GB" sz="2000" u="sng">
                <a:solidFill>
                  <a:srgbClr val="008000"/>
                </a:solidFill>
                <a:latin typeface="Arial" charset="0"/>
                <a:cs typeface="+mn-cs"/>
              </a:rPr>
              <a:t>Equation:</a:t>
            </a:r>
          </a:p>
        </p:txBody>
      </p:sp>
      <p:sp>
        <p:nvSpPr>
          <p:cNvPr id="36958" name="Line 94"/>
          <p:cNvSpPr>
            <a:spLocks noChangeShapeType="1"/>
          </p:cNvSpPr>
          <p:nvPr/>
        </p:nvSpPr>
        <p:spPr bwMode="auto">
          <a:xfrm>
            <a:off x="1676400" y="1676400"/>
            <a:ext cx="2743200" cy="4953000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6960" name="Line 96"/>
          <p:cNvSpPr>
            <a:spLocks noChangeShapeType="1"/>
          </p:cNvSpPr>
          <p:nvPr/>
        </p:nvSpPr>
        <p:spPr bwMode="auto">
          <a:xfrm flipH="1">
            <a:off x="1066800" y="1343025"/>
            <a:ext cx="4243388" cy="423227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6961" name="Text Box 97"/>
          <p:cNvSpPr txBox="1">
            <a:spLocks noChangeArrowheads="1"/>
          </p:cNvSpPr>
          <p:nvPr/>
        </p:nvSpPr>
        <p:spPr bwMode="auto">
          <a:xfrm>
            <a:off x="6553200" y="3276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rgbClr val="FF0000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36962" name="Text Box 98"/>
          <p:cNvSpPr txBox="1">
            <a:spLocks noChangeArrowheads="1"/>
          </p:cNvSpPr>
          <p:nvPr/>
        </p:nvSpPr>
        <p:spPr bwMode="auto">
          <a:xfrm>
            <a:off x="6553200" y="3733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rgbClr val="FF0000"/>
                </a:solidFill>
                <a:latin typeface="Arial" charset="0"/>
                <a:cs typeface="+mn-cs"/>
              </a:rPr>
              <a:t>-1</a:t>
            </a:r>
          </a:p>
        </p:txBody>
      </p:sp>
      <p:sp>
        <p:nvSpPr>
          <p:cNvPr id="36963" name="Text Box 99"/>
          <p:cNvSpPr txBox="1">
            <a:spLocks noChangeArrowheads="1"/>
          </p:cNvSpPr>
          <p:nvPr/>
        </p:nvSpPr>
        <p:spPr bwMode="auto">
          <a:xfrm>
            <a:off x="7315200" y="4191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rgbClr val="FF0000"/>
                </a:solidFill>
                <a:latin typeface="Arial" charset="0"/>
                <a:cs typeface="+mn-cs"/>
              </a:rPr>
              <a:t>y = x - 1</a:t>
            </a:r>
          </a:p>
        </p:txBody>
      </p:sp>
      <p:sp>
        <p:nvSpPr>
          <p:cNvPr id="36964" name="Text Box 100"/>
          <p:cNvSpPr txBox="1">
            <a:spLocks noChangeArrowheads="1"/>
          </p:cNvSpPr>
          <p:nvPr/>
        </p:nvSpPr>
        <p:spPr bwMode="auto">
          <a:xfrm>
            <a:off x="6553200" y="5181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rgbClr val="008000"/>
                </a:solidFill>
                <a:latin typeface="Arial" charset="0"/>
                <a:cs typeface="+mn-cs"/>
              </a:rPr>
              <a:t>-2</a:t>
            </a:r>
          </a:p>
        </p:txBody>
      </p:sp>
      <p:sp>
        <p:nvSpPr>
          <p:cNvPr id="36965" name="Text Box 101"/>
          <p:cNvSpPr txBox="1">
            <a:spLocks noChangeArrowheads="1"/>
          </p:cNvSpPr>
          <p:nvPr/>
        </p:nvSpPr>
        <p:spPr bwMode="auto">
          <a:xfrm>
            <a:off x="6629400" y="5638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rgbClr val="008000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36966" name="Text Box 102"/>
          <p:cNvSpPr txBox="1">
            <a:spLocks noChangeArrowheads="1"/>
          </p:cNvSpPr>
          <p:nvPr/>
        </p:nvSpPr>
        <p:spPr bwMode="auto">
          <a:xfrm>
            <a:off x="7239000" y="6096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solidFill>
                  <a:srgbClr val="008000"/>
                </a:solidFill>
                <a:latin typeface="Arial" charset="0"/>
                <a:cs typeface="+mn-cs"/>
              </a:rPr>
              <a:t>y = -2x + 1</a:t>
            </a:r>
          </a:p>
        </p:txBody>
      </p:sp>
    </p:spTree>
    <p:extLst>
      <p:ext uri="{BB962C8B-B14F-4D97-AF65-F5344CB8AC3E}">
        <p14:creationId xmlns:p14="http://schemas.microsoft.com/office/powerpoint/2010/main" val="372362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6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6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6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6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41" grpId="0" autoUpdateAnimBg="0"/>
      <p:bldP spid="36946" grpId="0" autoUpdateAnimBg="0"/>
      <p:bldP spid="36952" grpId="0" autoUpdateAnimBg="0"/>
      <p:bldP spid="36954" grpId="0" autoUpdateAnimBg="0"/>
      <p:bldP spid="36955" grpId="0" autoUpdateAnimBg="0"/>
      <p:bldP spid="36956" grpId="0" autoUpdateAnimBg="0"/>
      <p:bldP spid="36957" grpId="0" autoUpdateAnimBg="0"/>
      <p:bldP spid="36961" grpId="0" autoUpdateAnimBg="0"/>
      <p:bldP spid="36962" grpId="0" autoUpdateAnimBg="0"/>
      <p:bldP spid="36963" grpId="0" autoUpdateAnimBg="0"/>
      <p:bldP spid="36964" grpId="0" autoUpdateAnimBg="0"/>
      <p:bldP spid="36965" grpId="0" autoUpdateAnimBg="0"/>
      <p:bldP spid="3696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smtClean="0">
                <a:latin typeface="Arial" charset="0"/>
                <a:cs typeface="+mj-cs"/>
              </a:rPr>
              <a:t>The Table Method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304800" y="1524000"/>
            <a:ext cx="853440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We can use an equation of a line to plot a graph by substituting values of x into it.</a:t>
            </a:r>
          </a:p>
          <a:p>
            <a:pPr>
              <a:spcBef>
                <a:spcPct val="50000"/>
              </a:spcBef>
              <a:defRPr/>
            </a:pPr>
            <a:r>
              <a:rPr lang="en-GB" u="sng">
                <a:latin typeface="Arial" charset="0"/>
                <a:cs typeface="+mn-cs"/>
              </a:rPr>
              <a:t>Example</a:t>
            </a:r>
            <a:endParaRPr lang="en-GB">
              <a:latin typeface="Arial" charset="0"/>
              <a:cs typeface="+mn-cs"/>
            </a:endParaRPr>
          </a:p>
          <a:p>
            <a:pPr>
              <a:spcBef>
                <a:spcPct val="50000"/>
              </a:spcBef>
              <a:defRPr/>
            </a:pPr>
            <a:r>
              <a:rPr lang="en-GB" b="1">
                <a:latin typeface="Arial" charset="0"/>
                <a:cs typeface="+mn-cs"/>
              </a:rPr>
              <a:t>y = 2x + 1</a:t>
            </a:r>
            <a:endParaRPr lang="en-GB" b="1">
              <a:solidFill>
                <a:srgbClr val="FF0000"/>
              </a:solidFill>
              <a:latin typeface="Arial" charset="0"/>
              <a:cs typeface="+mn-cs"/>
            </a:endParaRPr>
          </a:p>
          <a:p>
            <a:pPr>
              <a:spcBef>
                <a:spcPct val="50000"/>
              </a:spcBef>
              <a:defRPr/>
            </a:pPr>
            <a:endParaRPr lang="en-GB" u="sng">
              <a:latin typeface="Arial" charset="0"/>
              <a:cs typeface="+mn-cs"/>
            </a:endParaRPr>
          </a:p>
          <a:p>
            <a:pPr>
              <a:spcBef>
                <a:spcPct val="50000"/>
              </a:spcBef>
              <a:defRPr/>
            </a:pPr>
            <a:endParaRPr lang="en-GB">
              <a:latin typeface="Arial" charset="0"/>
              <a:cs typeface="+mn-cs"/>
            </a:endParaRPr>
          </a:p>
          <a:p>
            <a:pPr>
              <a:spcBef>
                <a:spcPct val="50000"/>
              </a:spcBef>
              <a:defRPr/>
            </a:pPr>
            <a:endParaRPr lang="en-GB">
              <a:latin typeface="Arial" charset="0"/>
              <a:cs typeface="+mn-cs"/>
            </a:endParaRPr>
          </a:p>
          <a:p>
            <a:pPr>
              <a:spcBef>
                <a:spcPct val="50000"/>
              </a:spcBef>
              <a:defRPr/>
            </a:pPr>
            <a:endParaRPr lang="en-GB">
              <a:latin typeface="Arial" charset="0"/>
              <a:cs typeface="+mn-cs"/>
            </a:endParaRPr>
          </a:p>
        </p:txBody>
      </p:sp>
      <p:sp>
        <p:nvSpPr>
          <p:cNvPr id="43050" name="Text Box 42"/>
          <p:cNvSpPr txBox="1">
            <a:spLocks noChangeArrowheads="1"/>
          </p:cNvSpPr>
          <p:nvPr/>
        </p:nvSpPr>
        <p:spPr bwMode="auto">
          <a:xfrm>
            <a:off x="3886200" y="3505200"/>
            <a:ext cx="4430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x = </a:t>
            </a:r>
            <a:r>
              <a:rPr lang="en-GB" b="1">
                <a:solidFill>
                  <a:srgbClr val="008000"/>
                </a:solidFill>
                <a:latin typeface="Arial" charset="0"/>
                <a:cs typeface="+mn-cs"/>
              </a:rPr>
              <a:t>0</a:t>
            </a:r>
            <a:r>
              <a:rPr lang="en-GB">
                <a:latin typeface="Arial" charset="0"/>
                <a:cs typeface="+mn-cs"/>
              </a:rPr>
              <a:t>      y = 2(</a:t>
            </a:r>
            <a:r>
              <a:rPr lang="en-GB" b="1">
                <a:solidFill>
                  <a:srgbClr val="008000"/>
                </a:solidFill>
                <a:latin typeface="Arial" charset="0"/>
                <a:cs typeface="+mn-cs"/>
              </a:rPr>
              <a:t>0</a:t>
            </a:r>
            <a:r>
              <a:rPr lang="en-GB">
                <a:latin typeface="Arial" charset="0"/>
                <a:cs typeface="+mn-cs"/>
              </a:rPr>
              <a:t>)</a:t>
            </a:r>
            <a:r>
              <a:rPr lang="en-GB">
                <a:solidFill>
                  <a:srgbClr val="FF0000"/>
                </a:solidFill>
                <a:latin typeface="Arial" charset="0"/>
                <a:cs typeface="+mn-cs"/>
              </a:rPr>
              <a:t> </a:t>
            </a:r>
            <a:r>
              <a:rPr lang="en-GB">
                <a:latin typeface="Arial" charset="0"/>
                <a:cs typeface="+mn-cs"/>
              </a:rPr>
              <a:t>+1      y = </a:t>
            </a:r>
            <a:r>
              <a:rPr lang="en-GB" b="1">
                <a:solidFill>
                  <a:srgbClr val="0000FF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43051" name="Text Box 43"/>
          <p:cNvSpPr txBox="1">
            <a:spLocks noChangeArrowheads="1"/>
          </p:cNvSpPr>
          <p:nvPr/>
        </p:nvSpPr>
        <p:spPr bwMode="auto">
          <a:xfrm>
            <a:off x="3886200" y="4038600"/>
            <a:ext cx="450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x = </a:t>
            </a:r>
            <a:r>
              <a:rPr lang="en-GB" b="1">
                <a:solidFill>
                  <a:srgbClr val="008000"/>
                </a:solidFill>
                <a:latin typeface="Arial" charset="0"/>
                <a:cs typeface="+mn-cs"/>
              </a:rPr>
              <a:t>1</a:t>
            </a:r>
            <a:r>
              <a:rPr lang="en-GB">
                <a:latin typeface="Arial" charset="0"/>
                <a:cs typeface="+mn-cs"/>
              </a:rPr>
              <a:t>      y = 2(</a:t>
            </a:r>
            <a:r>
              <a:rPr lang="en-GB" b="1">
                <a:solidFill>
                  <a:srgbClr val="008000"/>
                </a:solidFill>
                <a:latin typeface="Arial" charset="0"/>
                <a:cs typeface="+mn-cs"/>
              </a:rPr>
              <a:t>1</a:t>
            </a:r>
            <a:r>
              <a:rPr lang="en-GB">
                <a:latin typeface="Arial" charset="0"/>
                <a:cs typeface="+mn-cs"/>
              </a:rPr>
              <a:t>)</a:t>
            </a:r>
            <a:r>
              <a:rPr lang="en-GB">
                <a:solidFill>
                  <a:srgbClr val="FF0000"/>
                </a:solidFill>
                <a:latin typeface="Arial" charset="0"/>
                <a:cs typeface="+mn-cs"/>
              </a:rPr>
              <a:t> </a:t>
            </a:r>
            <a:r>
              <a:rPr lang="en-GB">
                <a:latin typeface="Arial" charset="0"/>
                <a:cs typeface="+mn-cs"/>
              </a:rPr>
              <a:t>+1      y = </a:t>
            </a:r>
            <a:r>
              <a:rPr lang="en-GB" b="1">
                <a:solidFill>
                  <a:srgbClr val="0000FF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43052" name="Text Box 44"/>
          <p:cNvSpPr txBox="1">
            <a:spLocks noChangeArrowheads="1"/>
          </p:cNvSpPr>
          <p:nvPr/>
        </p:nvSpPr>
        <p:spPr bwMode="auto">
          <a:xfrm>
            <a:off x="3886200" y="4648200"/>
            <a:ext cx="4430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x = </a:t>
            </a:r>
            <a:r>
              <a:rPr lang="en-GB" b="1">
                <a:solidFill>
                  <a:srgbClr val="008000"/>
                </a:solidFill>
                <a:latin typeface="Arial" charset="0"/>
                <a:cs typeface="+mn-cs"/>
              </a:rPr>
              <a:t>2</a:t>
            </a:r>
            <a:r>
              <a:rPr lang="en-GB">
                <a:latin typeface="Arial" charset="0"/>
                <a:cs typeface="+mn-cs"/>
              </a:rPr>
              <a:t>      y = 2(</a:t>
            </a:r>
            <a:r>
              <a:rPr lang="en-GB" b="1">
                <a:solidFill>
                  <a:srgbClr val="008000"/>
                </a:solidFill>
                <a:latin typeface="Arial" charset="0"/>
                <a:cs typeface="+mn-cs"/>
              </a:rPr>
              <a:t>2</a:t>
            </a:r>
            <a:r>
              <a:rPr lang="en-GB">
                <a:latin typeface="Arial" charset="0"/>
                <a:cs typeface="+mn-cs"/>
              </a:rPr>
              <a:t>)</a:t>
            </a:r>
            <a:r>
              <a:rPr lang="en-GB">
                <a:solidFill>
                  <a:srgbClr val="FF0000"/>
                </a:solidFill>
                <a:latin typeface="Arial" charset="0"/>
                <a:cs typeface="+mn-cs"/>
              </a:rPr>
              <a:t> </a:t>
            </a:r>
            <a:r>
              <a:rPr lang="en-GB">
                <a:latin typeface="Arial" charset="0"/>
                <a:cs typeface="+mn-cs"/>
              </a:rPr>
              <a:t>+1      y = </a:t>
            </a:r>
            <a:r>
              <a:rPr lang="en-GB" b="1">
                <a:solidFill>
                  <a:srgbClr val="0000FF"/>
                </a:solidFill>
                <a:latin typeface="Arial" charset="0"/>
                <a:cs typeface="+mn-cs"/>
              </a:rPr>
              <a:t>5</a:t>
            </a:r>
          </a:p>
        </p:txBody>
      </p:sp>
      <p:sp>
        <p:nvSpPr>
          <p:cNvPr id="43054" name="Text Box 46"/>
          <p:cNvSpPr txBox="1">
            <a:spLocks noChangeArrowheads="1"/>
          </p:cNvSpPr>
          <p:nvPr/>
        </p:nvSpPr>
        <p:spPr bwMode="auto">
          <a:xfrm>
            <a:off x="381000" y="5715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Now you just have to plot the points on to a graph!</a:t>
            </a:r>
          </a:p>
        </p:txBody>
      </p:sp>
      <p:graphicFrame>
        <p:nvGraphicFramePr>
          <p:cNvPr id="43075" name="Group 67"/>
          <p:cNvGraphicFramePr>
            <a:graphicFrameLocks noGrp="1"/>
          </p:cNvGraphicFramePr>
          <p:nvPr/>
        </p:nvGraphicFramePr>
        <p:xfrm>
          <a:off x="323850" y="3716338"/>
          <a:ext cx="2743200" cy="15748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</a:tblGrid>
              <a:tr h="787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90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50" grpId="0" autoUpdateAnimBg="0"/>
      <p:bldP spid="43051" grpId="0" autoUpdateAnimBg="0"/>
      <p:bldP spid="43052" grpId="0" autoUpdateAnimBg="0"/>
      <p:bldP spid="4305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u="sng" smtClean="0">
                <a:latin typeface="Arial" charset="0"/>
                <a:cs typeface="+mj-cs"/>
              </a:rPr>
              <a:t>The Table Method</a:t>
            </a:r>
          </a:p>
        </p:txBody>
      </p:sp>
      <p:grpSp>
        <p:nvGrpSpPr>
          <p:cNvPr id="17410" name="Group 472"/>
          <p:cNvGrpSpPr>
            <a:grpSpLocks/>
          </p:cNvGrpSpPr>
          <p:nvPr/>
        </p:nvGrpSpPr>
        <p:grpSpPr bwMode="auto">
          <a:xfrm>
            <a:off x="2095500" y="609600"/>
            <a:ext cx="6858000" cy="6172200"/>
            <a:chOff x="576" y="240"/>
            <a:chExt cx="4608" cy="3888"/>
          </a:xfrm>
        </p:grpSpPr>
        <p:sp>
          <p:nvSpPr>
            <p:cNvPr id="48601" name="Line 473"/>
            <p:cNvSpPr>
              <a:spLocks noChangeShapeType="1"/>
            </p:cNvSpPr>
            <p:nvPr/>
          </p:nvSpPr>
          <p:spPr bwMode="auto">
            <a:xfrm>
              <a:off x="2880" y="240"/>
              <a:ext cx="0" cy="38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8602" name="Line 474"/>
            <p:cNvSpPr>
              <a:spLocks noChangeShapeType="1"/>
            </p:cNvSpPr>
            <p:nvPr/>
          </p:nvSpPr>
          <p:spPr bwMode="auto">
            <a:xfrm>
              <a:off x="576" y="2208"/>
              <a:ext cx="460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aphicFrame>
        <p:nvGraphicFramePr>
          <p:cNvPr id="48870" name="Group 742"/>
          <p:cNvGraphicFramePr>
            <a:graphicFrameLocks noGrp="1"/>
          </p:cNvGraphicFramePr>
          <p:nvPr/>
        </p:nvGraphicFramePr>
        <p:xfrm>
          <a:off x="2209800" y="609600"/>
          <a:ext cx="6692900" cy="6248400"/>
        </p:xfrm>
        <a:graphic>
          <a:graphicData uri="http://schemas.openxmlformats.org/drawingml/2006/table">
            <a:tbl>
              <a:tblPr/>
              <a:tblGrid>
                <a:gridCol w="427038"/>
                <a:gridCol w="573087"/>
                <a:gridCol w="565150"/>
                <a:gridCol w="571500"/>
                <a:gridCol w="568325"/>
                <a:gridCol w="571500"/>
                <a:gridCol w="568325"/>
                <a:gridCol w="568325"/>
                <a:gridCol w="569913"/>
                <a:gridCol w="569912"/>
                <a:gridCol w="571500"/>
                <a:gridCol w="568325"/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819" name="Text Box 691"/>
          <p:cNvSpPr txBox="1">
            <a:spLocks noChangeArrowheads="1"/>
          </p:cNvSpPr>
          <p:nvPr/>
        </p:nvSpPr>
        <p:spPr bwMode="auto">
          <a:xfrm>
            <a:off x="5486400" y="3632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0</a:t>
            </a:r>
          </a:p>
        </p:txBody>
      </p:sp>
      <p:sp>
        <p:nvSpPr>
          <p:cNvPr id="48820" name="Text Box 692"/>
          <p:cNvSpPr txBox="1">
            <a:spLocks noChangeArrowheads="1"/>
          </p:cNvSpPr>
          <p:nvPr/>
        </p:nvSpPr>
        <p:spPr bwMode="auto">
          <a:xfrm>
            <a:off x="5994400" y="3657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1</a:t>
            </a:r>
          </a:p>
        </p:txBody>
      </p:sp>
      <p:sp>
        <p:nvSpPr>
          <p:cNvPr id="48821" name="Text Box 693"/>
          <p:cNvSpPr txBox="1">
            <a:spLocks noChangeArrowheads="1"/>
          </p:cNvSpPr>
          <p:nvPr/>
        </p:nvSpPr>
        <p:spPr bwMode="auto">
          <a:xfrm>
            <a:off x="4724400" y="3657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-1</a:t>
            </a:r>
          </a:p>
        </p:txBody>
      </p:sp>
      <p:sp>
        <p:nvSpPr>
          <p:cNvPr id="48822" name="Text Box 694"/>
          <p:cNvSpPr txBox="1">
            <a:spLocks noChangeArrowheads="1"/>
          </p:cNvSpPr>
          <p:nvPr/>
        </p:nvSpPr>
        <p:spPr bwMode="auto">
          <a:xfrm>
            <a:off x="7708900" y="3657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4</a:t>
            </a:r>
          </a:p>
        </p:txBody>
      </p:sp>
      <p:sp>
        <p:nvSpPr>
          <p:cNvPr id="48823" name="Text Box 695"/>
          <p:cNvSpPr txBox="1">
            <a:spLocks noChangeArrowheads="1"/>
          </p:cNvSpPr>
          <p:nvPr/>
        </p:nvSpPr>
        <p:spPr bwMode="auto">
          <a:xfrm>
            <a:off x="7162800" y="3657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3</a:t>
            </a:r>
          </a:p>
        </p:txBody>
      </p:sp>
      <p:sp>
        <p:nvSpPr>
          <p:cNvPr id="48824" name="Text Box 696"/>
          <p:cNvSpPr txBox="1">
            <a:spLocks noChangeArrowheads="1"/>
          </p:cNvSpPr>
          <p:nvPr/>
        </p:nvSpPr>
        <p:spPr bwMode="auto">
          <a:xfrm>
            <a:off x="6604000" y="3657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2</a:t>
            </a:r>
          </a:p>
        </p:txBody>
      </p:sp>
      <p:sp>
        <p:nvSpPr>
          <p:cNvPr id="48825" name="Text Box 697"/>
          <p:cNvSpPr txBox="1">
            <a:spLocks noChangeArrowheads="1"/>
          </p:cNvSpPr>
          <p:nvPr/>
        </p:nvSpPr>
        <p:spPr bwMode="auto">
          <a:xfrm>
            <a:off x="4191000" y="3657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-2</a:t>
            </a:r>
          </a:p>
        </p:txBody>
      </p:sp>
      <p:sp>
        <p:nvSpPr>
          <p:cNvPr id="48826" name="Text Box 698"/>
          <p:cNvSpPr txBox="1">
            <a:spLocks noChangeArrowheads="1"/>
          </p:cNvSpPr>
          <p:nvPr/>
        </p:nvSpPr>
        <p:spPr bwMode="auto">
          <a:xfrm>
            <a:off x="3594100" y="3657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-3</a:t>
            </a:r>
          </a:p>
        </p:txBody>
      </p:sp>
      <p:sp>
        <p:nvSpPr>
          <p:cNvPr id="48827" name="Text Box 699"/>
          <p:cNvSpPr txBox="1">
            <a:spLocks noChangeArrowheads="1"/>
          </p:cNvSpPr>
          <p:nvPr/>
        </p:nvSpPr>
        <p:spPr bwMode="auto">
          <a:xfrm>
            <a:off x="3048000" y="3657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-4</a:t>
            </a:r>
          </a:p>
        </p:txBody>
      </p:sp>
      <p:sp>
        <p:nvSpPr>
          <p:cNvPr id="48828" name="Text Box 700"/>
          <p:cNvSpPr txBox="1">
            <a:spLocks noChangeArrowheads="1"/>
          </p:cNvSpPr>
          <p:nvPr/>
        </p:nvSpPr>
        <p:spPr bwMode="auto">
          <a:xfrm>
            <a:off x="5105400" y="4038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-1</a:t>
            </a:r>
          </a:p>
        </p:txBody>
      </p:sp>
      <p:sp>
        <p:nvSpPr>
          <p:cNvPr id="48829" name="Text Box 701"/>
          <p:cNvSpPr txBox="1">
            <a:spLocks noChangeArrowheads="1"/>
          </p:cNvSpPr>
          <p:nvPr/>
        </p:nvSpPr>
        <p:spPr bwMode="auto">
          <a:xfrm>
            <a:off x="5105400" y="4572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-2</a:t>
            </a:r>
          </a:p>
        </p:txBody>
      </p:sp>
      <p:sp>
        <p:nvSpPr>
          <p:cNvPr id="48830" name="Text Box 702"/>
          <p:cNvSpPr txBox="1">
            <a:spLocks noChangeArrowheads="1"/>
          </p:cNvSpPr>
          <p:nvPr/>
        </p:nvSpPr>
        <p:spPr bwMode="auto">
          <a:xfrm>
            <a:off x="5105400" y="5029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-3</a:t>
            </a:r>
          </a:p>
        </p:txBody>
      </p:sp>
      <p:sp>
        <p:nvSpPr>
          <p:cNvPr id="48831" name="Text Box 703"/>
          <p:cNvSpPr txBox="1">
            <a:spLocks noChangeArrowheads="1"/>
          </p:cNvSpPr>
          <p:nvPr/>
        </p:nvSpPr>
        <p:spPr bwMode="auto">
          <a:xfrm>
            <a:off x="5105400" y="5562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-4</a:t>
            </a:r>
          </a:p>
        </p:txBody>
      </p:sp>
      <p:sp>
        <p:nvSpPr>
          <p:cNvPr id="48832" name="Text Box 704"/>
          <p:cNvSpPr txBox="1">
            <a:spLocks noChangeArrowheads="1"/>
          </p:cNvSpPr>
          <p:nvPr/>
        </p:nvSpPr>
        <p:spPr bwMode="auto">
          <a:xfrm>
            <a:off x="5486400" y="2971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1</a:t>
            </a:r>
          </a:p>
        </p:txBody>
      </p:sp>
      <p:sp>
        <p:nvSpPr>
          <p:cNvPr id="48833" name="Text Box 705"/>
          <p:cNvSpPr txBox="1">
            <a:spLocks noChangeArrowheads="1"/>
          </p:cNvSpPr>
          <p:nvPr/>
        </p:nvSpPr>
        <p:spPr bwMode="auto">
          <a:xfrm>
            <a:off x="5537200" y="2438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2</a:t>
            </a:r>
          </a:p>
        </p:txBody>
      </p:sp>
      <p:sp>
        <p:nvSpPr>
          <p:cNvPr id="48834" name="Text Box 706"/>
          <p:cNvSpPr txBox="1">
            <a:spLocks noChangeArrowheads="1"/>
          </p:cNvSpPr>
          <p:nvPr/>
        </p:nvSpPr>
        <p:spPr bwMode="auto">
          <a:xfrm>
            <a:off x="5524500" y="1955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3</a:t>
            </a:r>
          </a:p>
        </p:txBody>
      </p:sp>
      <p:sp>
        <p:nvSpPr>
          <p:cNvPr id="48835" name="Text Box 707"/>
          <p:cNvSpPr txBox="1">
            <a:spLocks noChangeArrowheads="1"/>
          </p:cNvSpPr>
          <p:nvPr/>
        </p:nvSpPr>
        <p:spPr bwMode="auto">
          <a:xfrm>
            <a:off x="5524500" y="14351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>
                <a:latin typeface="Arial" charset="0"/>
                <a:cs typeface="+mn-cs"/>
              </a:rPr>
              <a:t>4</a:t>
            </a:r>
          </a:p>
        </p:txBody>
      </p:sp>
      <p:sp>
        <p:nvSpPr>
          <p:cNvPr id="48844" name="Oval 716"/>
          <p:cNvSpPr>
            <a:spLocks noChangeArrowheads="1"/>
          </p:cNvSpPr>
          <p:nvPr/>
        </p:nvSpPr>
        <p:spPr bwMode="auto">
          <a:xfrm>
            <a:off x="5448300" y="3124200"/>
            <a:ext cx="152400" cy="152400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8845" name="Oval 717"/>
          <p:cNvSpPr>
            <a:spLocks noChangeArrowheads="1"/>
          </p:cNvSpPr>
          <p:nvPr/>
        </p:nvSpPr>
        <p:spPr bwMode="auto">
          <a:xfrm>
            <a:off x="6007100" y="2095500"/>
            <a:ext cx="152400" cy="152400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8846" name="Oval 718"/>
          <p:cNvSpPr>
            <a:spLocks noChangeArrowheads="1"/>
          </p:cNvSpPr>
          <p:nvPr/>
        </p:nvSpPr>
        <p:spPr bwMode="auto">
          <a:xfrm>
            <a:off x="6578600" y="1041400"/>
            <a:ext cx="152400" cy="152400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8847" name="Line 719"/>
          <p:cNvSpPr>
            <a:spLocks noChangeShapeType="1"/>
          </p:cNvSpPr>
          <p:nvPr/>
        </p:nvSpPr>
        <p:spPr bwMode="auto">
          <a:xfrm flipV="1">
            <a:off x="3810000" y="533400"/>
            <a:ext cx="3124200" cy="57912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8849" name="Text Box 721"/>
          <p:cNvSpPr txBox="1">
            <a:spLocks noChangeArrowheads="1"/>
          </p:cNvSpPr>
          <p:nvPr/>
        </p:nvSpPr>
        <p:spPr bwMode="auto">
          <a:xfrm>
            <a:off x="228600" y="4953000"/>
            <a:ext cx="1981200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GB" b="1">
                <a:cs typeface="+mn-cs"/>
              </a:rPr>
              <a:t>y = 2x + 1</a:t>
            </a:r>
          </a:p>
        </p:txBody>
      </p:sp>
      <p:sp>
        <p:nvSpPr>
          <p:cNvPr id="48850" name="Line 722"/>
          <p:cNvSpPr>
            <a:spLocks noChangeShapeType="1"/>
          </p:cNvSpPr>
          <p:nvPr/>
        </p:nvSpPr>
        <p:spPr bwMode="auto">
          <a:xfrm>
            <a:off x="2209800" y="5334000"/>
            <a:ext cx="1905000" cy="38100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aphicFrame>
        <p:nvGraphicFramePr>
          <p:cNvPr id="48853" name="Group 725"/>
          <p:cNvGraphicFramePr>
            <a:graphicFrameLocks noGrp="1"/>
          </p:cNvGraphicFramePr>
          <p:nvPr/>
        </p:nvGraphicFramePr>
        <p:xfrm>
          <a:off x="0" y="1295400"/>
          <a:ext cx="2743200" cy="15748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</a:tblGrid>
              <a:tr h="787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33"/>
                    </a:solidFill>
                  </a:tcPr>
                </a:tc>
              </a:tr>
            </a:tbl>
          </a:graphicData>
        </a:graphic>
      </p:graphicFrame>
      <p:sp>
        <p:nvSpPr>
          <p:cNvPr id="48162" name="Text Box 34"/>
          <p:cNvSpPr txBox="1">
            <a:spLocks noChangeArrowheads="1"/>
          </p:cNvSpPr>
          <p:nvPr/>
        </p:nvSpPr>
        <p:spPr bwMode="auto">
          <a:xfrm>
            <a:off x="838200" y="2209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2800" b="1">
                <a:solidFill>
                  <a:srgbClr val="0000FF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48161" name="Text Box 33"/>
          <p:cNvSpPr txBox="1">
            <a:spLocks noChangeArrowheads="1"/>
          </p:cNvSpPr>
          <p:nvPr/>
        </p:nvSpPr>
        <p:spPr bwMode="auto">
          <a:xfrm>
            <a:off x="1524000" y="2209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2800" b="1">
                <a:solidFill>
                  <a:srgbClr val="0000FF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48160" name="Text Box 32"/>
          <p:cNvSpPr txBox="1">
            <a:spLocks noChangeArrowheads="1"/>
          </p:cNvSpPr>
          <p:nvPr/>
        </p:nvSpPr>
        <p:spPr bwMode="auto">
          <a:xfrm>
            <a:off x="2209800" y="2209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2800" b="1">
                <a:solidFill>
                  <a:srgbClr val="0000FF"/>
                </a:solidFill>
                <a:latin typeface="Arial" charset="0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5558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4" grpId="0" animBg="1"/>
      <p:bldP spid="48845" grpId="0" animBg="1"/>
      <p:bldP spid="48846" grpId="0" animBg="1"/>
      <p:bldP spid="48849" grpId="0" animBg="1" autoUpdateAnimBg="0"/>
      <p:bldP spid="48162" grpId="0" autoUpdateAnimBg="0"/>
      <p:bldP spid="48161" grpId="0" autoUpdateAnimBg="0"/>
      <p:bldP spid="4816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556792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Numbers </a:t>
            </a:r>
            <a:r>
              <a:rPr lang="en-US" dirty="0" smtClean="0"/>
              <a:t>2, 5, 8, 11, 14 and 17</a:t>
            </a:r>
            <a:r>
              <a:rPr lang="en-US" dirty="0" smtClean="0"/>
              <a:t> </a:t>
            </a:r>
            <a:r>
              <a:rPr lang="en-US" dirty="0" smtClean="0"/>
              <a:t>in exercise </a:t>
            </a:r>
            <a:r>
              <a:rPr lang="en-US" dirty="0" smtClean="0"/>
              <a:t>4.5 </a:t>
            </a:r>
            <a:r>
              <a:rPr lang="en-US" dirty="0" smtClean="0"/>
              <a:t>on </a:t>
            </a:r>
            <a:r>
              <a:rPr lang="en-US" dirty="0" smtClean="0"/>
              <a:t>P54</a:t>
            </a:r>
            <a:r>
              <a:rPr lang="en-US" dirty="0" smtClean="0"/>
              <a:t> </a:t>
            </a:r>
            <a:r>
              <a:rPr lang="en-US" dirty="0" smtClean="0"/>
              <a:t>of your text.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4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228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Fill in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650</Words>
  <Application>Microsoft Macintosh PowerPoint</Application>
  <PresentationFormat>On-screen Show (4:3)</PresentationFormat>
  <Paragraphs>192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Finding m and c</vt:lpstr>
      <vt:lpstr>Finding m and c</vt:lpstr>
      <vt:lpstr>Some Lines to Identify</vt:lpstr>
      <vt:lpstr>The Table Method</vt:lpstr>
      <vt:lpstr>The Table Method</vt:lpstr>
      <vt:lpstr>Task</vt:lpstr>
      <vt:lpstr>Answers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Department of Education</cp:lastModifiedBy>
  <cp:revision>50</cp:revision>
  <dcterms:created xsi:type="dcterms:W3CDTF">2014-05-14T02:58:57Z</dcterms:created>
  <dcterms:modified xsi:type="dcterms:W3CDTF">2017-03-10T07:51:53Z</dcterms:modified>
</cp:coreProperties>
</file>
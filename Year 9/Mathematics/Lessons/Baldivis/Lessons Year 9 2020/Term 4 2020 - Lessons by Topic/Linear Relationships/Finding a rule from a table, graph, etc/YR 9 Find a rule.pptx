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3" r:id="rId2"/>
    <p:sldId id="286" r:id="rId3"/>
    <p:sldId id="258" r:id="rId4"/>
    <p:sldId id="287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303" r:id="rId20"/>
    <p:sldId id="302" r:id="rId21"/>
    <p:sldId id="304" r:id="rId22"/>
    <p:sldId id="305" r:id="rId23"/>
    <p:sldId id="309" r:id="rId24"/>
    <p:sldId id="306" r:id="rId25"/>
    <p:sldId id="310" r:id="rId26"/>
    <p:sldId id="307" r:id="rId27"/>
    <p:sldId id="311" r:id="rId28"/>
    <p:sldId id="312" r:id="rId29"/>
    <p:sldId id="308" r:id="rId30"/>
    <p:sldId id="313" r:id="rId31"/>
    <p:sldId id="314" r:id="rId32"/>
  </p:sldIdLst>
  <p:sldSz cx="9144000" cy="5715000" type="screen16x1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662" autoAdjust="0"/>
    <p:restoredTop sz="94660"/>
  </p:normalViewPr>
  <p:slideViewPr>
    <p:cSldViewPr snapToGrid="0">
      <p:cViewPr varScale="1">
        <p:scale>
          <a:sx n="86" d="100"/>
          <a:sy n="86" d="100"/>
        </p:scale>
        <p:origin x="72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35302"/>
            <a:ext cx="7772400" cy="19896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13/03/2017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9751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13/03/2017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7229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3"/>
            <a:ext cx="7886700" cy="2377281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4"/>
            <a:ext cx="7886700" cy="125015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13/03/2017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9051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13/03/2017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5072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2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400969"/>
            <a:ext cx="3887391" cy="68659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13/03/2017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5314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13/03/2017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492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13/03/2017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8413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6"/>
            <a:ext cx="4629150" cy="406135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13/03/2017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249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6"/>
            <a:ext cx="4629150" cy="406135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13/03/2017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2532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13/03/2017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0340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13/03/2017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1463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2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60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7A99ED-A8AF-4676-B05C-E766400A731B}" type="datetimeFigureOut">
              <a:rPr lang="en-AU" smtClean="0"/>
              <a:t>13/03/2017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60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60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2070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80756" y="633046"/>
            <a:ext cx="717006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You need to higher an electrician to install new cables.  So you have rung around to get some quotes from 3 different electricians.</a:t>
            </a:r>
          </a:p>
          <a:p>
            <a:endParaRPr lang="en-AU" sz="2400" dirty="0"/>
          </a:p>
          <a:p>
            <a:r>
              <a:rPr lang="en-AU" sz="2400" dirty="0"/>
              <a:t>	quote 1 = $100 call out + $40 per hour</a:t>
            </a:r>
          </a:p>
          <a:p>
            <a:endParaRPr lang="en-AU" sz="2400" dirty="0"/>
          </a:p>
          <a:p>
            <a:r>
              <a:rPr lang="en-AU" sz="2400" dirty="0"/>
              <a:t>	quote 2 = $150 call out and $35 per hour</a:t>
            </a:r>
          </a:p>
          <a:p>
            <a:endParaRPr lang="en-AU" sz="2400" dirty="0"/>
          </a:p>
          <a:p>
            <a:r>
              <a:rPr lang="en-AU" sz="2400" dirty="0"/>
              <a:t>	quote 3 = $50 call out and $50 per hour</a:t>
            </a:r>
          </a:p>
          <a:p>
            <a:endParaRPr lang="en-AU" sz="2400" dirty="0"/>
          </a:p>
          <a:p>
            <a:endParaRPr lang="en-AU" sz="2400" dirty="0"/>
          </a:p>
          <a:p>
            <a:r>
              <a:rPr lang="en-AU" sz="2400" dirty="0"/>
              <a:t>Which quote is cheapest? </a:t>
            </a:r>
          </a:p>
        </p:txBody>
      </p:sp>
    </p:spTree>
    <p:extLst>
      <p:ext uri="{BB962C8B-B14F-4D97-AF65-F5344CB8AC3E}">
        <p14:creationId xmlns:p14="http://schemas.microsoft.com/office/powerpoint/2010/main" val="1817031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46117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92089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5559" y="-54200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/>
              <a:t>24</a:t>
            </a:r>
          </a:p>
          <a:p>
            <a:r>
              <a:rPr lang="en-AU" sz="1100" dirty="0"/>
              <a:t>7</a:t>
            </a:r>
          </a:p>
          <a:p>
            <a:r>
              <a:rPr lang="en-AU" sz="11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38289" y="920895"/>
            <a:ext cx="50939" cy="57552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08126" y="15049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61170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find the rule for a linear relationship.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640" y="-495"/>
            <a:ext cx="27260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Finding a rule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2286000" y="984738"/>
            <a:ext cx="67454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linear relationship is one that increases by the same amount each time (</a:t>
            </a:r>
            <a:r>
              <a:rPr lang="en-AU" dirty="0" err="1"/>
              <a:t>eg</a:t>
            </a:r>
            <a:r>
              <a:rPr lang="en-AU" dirty="0"/>
              <a:t> $35 per hour, 6m each day)</a:t>
            </a:r>
          </a:p>
          <a:p>
            <a:endParaRPr lang="en-AU" dirty="0"/>
          </a:p>
          <a:p>
            <a:r>
              <a:rPr lang="en-AU" dirty="0"/>
              <a:t>A linear rule can be written in the format  y = mx + c</a:t>
            </a:r>
          </a:p>
          <a:p>
            <a:r>
              <a:rPr lang="en-AU" dirty="0"/>
              <a:t>			         </a:t>
            </a:r>
            <a:r>
              <a:rPr lang="en-AU" dirty="0" err="1"/>
              <a:t>eg</a:t>
            </a:r>
            <a:r>
              <a:rPr lang="en-AU" dirty="0"/>
              <a:t>.  cost = $4 x hour + $10</a:t>
            </a:r>
          </a:p>
          <a:p>
            <a:endParaRPr lang="en-AU" dirty="0"/>
          </a:p>
          <a:p>
            <a:pPr marL="342900" indent="-342900">
              <a:buAutoNum type="arabicPeriod"/>
            </a:pPr>
            <a:r>
              <a:rPr lang="en-AU" dirty="0"/>
              <a:t>Start by creating a table with hours on top and cost underneath</a:t>
            </a:r>
          </a:p>
          <a:p>
            <a:r>
              <a:rPr lang="en-AU" dirty="0"/>
              <a:t> 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9691585"/>
              </p:ext>
            </p:extLst>
          </p:nvPr>
        </p:nvGraphicFramePr>
        <p:xfrm>
          <a:off x="2366916" y="3324430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8164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46117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92089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5559" y="-54200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/>
              <a:t>24</a:t>
            </a:r>
          </a:p>
          <a:p>
            <a:r>
              <a:rPr lang="en-AU" sz="1100" dirty="0"/>
              <a:t>7</a:t>
            </a:r>
          </a:p>
          <a:p>
            <a:r>
              <a:rPr lang="en-AU" sz="11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38289" y="920895"/>
            <a:ext cx="50939" cy="57552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08126" y="15049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61170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find the rule for a linear relationship.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640" y="-495"/>
            <a:ext cx="27260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Finding a rule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2286000" y="984738"/>
            <a:ext cx="674545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linear relationship is one that increases by the same amount each time (</a:t>
            </a:r>
            <a:r>
              <a:rPr lang="en-AU" dirty="0" err="1"/>
              <a:t>eg</a:t>
            </a:r>
            <a:r>
              <a:rPr lang="en-AU" dirty="0"/>
              <a:t> $35 per hour, 6m each day)</a:t>
            </a:r>
          </a:p>
          <a:p>
            <a:endParaRPr lang="en-AU" dirty="0"/>
          </a:p>
          <a:p>
            <a:r>
              <a:rPr lang="en-AU" dirty="0"/>
              <a:t>A linear rule can be written in the format  y = mx + c</a:t>
            </a:r>
          </a:p>
          <a:p>
            <a:r>
              <a:rPr lang="en-AU" dirty="0"/>
              <a:t>			         </a:t>
            </a:r>
            <a:r>
              <a:rPr lang="en-AU" dirty="0" err="1"/>
              <a:t>eg</a:t>
            </a:r>
            <a:r>
              <a:rPr lang="en-AU" dirty="0"/>
              <a:t>.  cost = $4 x hour + $10</a:t>
            </a:r>
          </a:p>
          <a:p>
            <a:endParaRPr lang="en-AU" dirty="0"/>
          </a:p>
          <a:p>
            <a:pPr marL="342900" indent="-342900">
              <a:buAutoNum type="arabicPeriod"/>
            </a:pPr>
            <a:r>
              <a:rPr lang="en-AU" dirty="0"/>
              <a:t>Start by creating a table with hours on top and cost underneath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1805037"/>
              </p:ext>
            </p:extLst>
          </p:nvPr>
        </p:nvGraphicFramePr>
        <p:xfrm>
          <a:off x="2286000" y="3525457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3565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46117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92089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5559" y="-54200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/>
              <a:t>24</a:t>
            </a:r>
          </a:p>
          <a:p>
            <a:r>
              <a:rPr lang="en-AU" sz="1100" dirty="0"/>
              <a:t>7</a:t>
            </a:r>
          </a:p>
          <a:p>
            <a:r>
              <a:rPr lang="en-AU" sz="11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38289" y="920895"/>
            <a:ext cx="50939" cy="57552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08126" y="15049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61170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find the rule for a linear relationship.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640" y="-495"/>
            <a:ext cx="27260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Finding a rule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2286000" y="984738"/>
            <a:ext cx="67454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linear relationship is one that increases by the same amount each time (</a:t>
            </a:r>
            <a:r>
              <a:rPr lang="en-AU" dirty="0" err="1"/>
              <a:t>eg</a:t>
            </a:r>
            <a:r>
              <a:rPr lang="en-AU" dirty="0"/>
              <a:t> $35 per hour, 6m each day)</a:t>
            </a:r>
          </a:p>
          <a:p>
            <a:endParaRPr lang="en-AU" dirty="0"/>
          </a:p>
          <a:p>
            <a:r>
              <a:rPr lang="en-AU" dirty="0"/>
              <a:t>A linear rule can be written in the format  y = mx + c</a:t>
            </a:r>
          </a:p>
          <a:p>
            <a:r>
              <a:rPr lang="en-AU" dirty="0"/>
              <a:t>			         </a:t>
            </a:r>
            <a:r>
              <a:rPr lang="en-AU" dirty="0" err="1"/>
              <a:t>eg</a:t>
            </a:r>
            <a:r>
              <a:rPr lang="en-AU" dirty="0"/>
              <a:t>.  cost = $4 x hour + $10</a:t>
            </a:r>
          </a:p>
          <a:p>
            <a:endParaRPr lang="en-AU" dirty="0"/>
          </a:p>
          <a:p>
            <a:pPr marL="342900" indent="-342900">
              <a:buAutoNum type="arabicPeriod"/>
            </a:pPr>
            <a:r>
              <a:rPr lang="en-AU" dirty="0"/>
              <a:t>Start by creating a table with hours on top and cost underneath</a:t>
            </a:r>
          </a:p>
          <a:p>
            <a:pPr marL="342900" indent="-342900">
              <a:buAutoNum type="arabicPeriod"/>
            </a:pPr>
            <a:r>
              <a:rPr lang="en-AU" dirty="0"/>
              <a:t>Work out the second row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1956371"/>
              </p:ext>
            </p:extLst>
          </p:nvPr>
        </p:nvGraphicFramePr>
        <p:xfrm>
          <a:off x="2366916" y="3570061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406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46117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92089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5559" y="-54200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/>
              <a:t>24</a:t>
            </a:r>
          </a:p>
          <a:p>
            <a:r>
              <a:rPr lang="en-AU" sz="1100" dirty="0"/>
              <a:t>7</a:t>
            </a:r>
          </a:p>
          <a:p>
            <a:r>
              <a:rPr lang="en-AU" sz="11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38289" y="920895"/>
            <a:ext cx="50939" cy="57552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08126" y="15049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61170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find the rule for a linear relationship.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640" y="-495"/>
            <a:ext cx="27260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Finding a rule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2286000" y="984738"/>
            <a:ext cx="67454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linear relationship is one that increases by the same amount each time (</a:t>
            </a:r>
            <a:r>
              <a:rPr lang="en-AU" dirty="0" err="1"/>
              <a:t>eg</a:t>
            </a:r>
            <a:r>
              <a:rPr lang="en-AU" dirty="0"/>
              <a:t> $35 per hour, 6m each day)</a:t>
            </a:r>
          </a:p>
          <a:p>
            <a:endParaRPr lang="en-AU" dirty="0"/>
          </a:p>
          <a:p>
            <a:r>
              <a:rPr lang="en-AU" dirty="0"/>
              <a:t>A linear rule can be written in the format  y = mx + c</a:t>
            </a:r>
          </a:p>
          <a:p>
            <a:r>
              <a:rPr lang="en-AU" dirty="0"/>
              <a:t>			         </a:t>
            </a:r>
            <a:r>
              <a:rPr lang="en-AU" dirty="0" err="1"/>
              <a:t>eg</a:t>
            </a:r>
            <a:r>
              <a:rPr lang="en-AU" dirty="0"/>
              <a:t>.  cost = $4 x hour + $10</a:t>
            </a:r>
          </a:p>
          <a:p>
            <a:endParaRPr lang="en-AU" dirty="0"/>
          </a:p>
          <a:p>
            <a:pPr marL="342900" indent="-342900">
              <a:buAutoNum type="arabicPeriod"/>
            </a:pPr>
            <a:r>
              <a:rPr lang="en-AU" dirty="0"/>
              <a:t>Start by creating a table with hours on top and cost underneath</a:t>
            </a:r>
          </a:p>
          <a:p>
            <a:pPr marL="342900" indent="-342900">
              <a:buAutoNum type="arabicPeriod"/>
            </a:pPr>
            <a:r>
              <a:rPr lang="en-AU" dirty="0"/>
              <a:t>Work out the second row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3490474"/>
              </p:ext>
            </p:extLst>
          </p:nvPr>
        </p:nvGraphicFramePr>
        <p:xfrm>
          <a:off x="2286000" y="3631964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0896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46117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92089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5559" y="-54200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/>
              <a:t>24</a:t>
            </a:r>
          </a:p>
          <a:p>
            <a:r>
              <a:rPr lang="en-AU" sz="1100" dirty="0"/>
              <a:t>7</a:t>
            </a:r>
          </a:p>
          <a:p>
            <a:r>
              <a:rPr lang="en-AU" sz="11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38289" y="920895"/>
            <a:ext cx="50939" cy="57552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08126" y="15049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61170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find the rule for a linear relationship.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640" y="-495"/>
            <a:ext cx="27260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Finding a rule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2286000" y="984738"/>
            <a:ext cx="67454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linear relationship is one that increases by the same amount each time (</a:t>
            </a:r>
            <a:r>
              <a:rPr lang="en-AU" dirty="0" err="1"/>
              <a:t>eg</a:t>
            </a:r>
            <a:r>
              <a:rPr lang="en-AU" dirty="0"/>
              <a:t> $35 per hour, 6m each day)</a:t>
            </a:r>
          </a:p>
          <a:p>
            <a:endParaRPr lang="en-AU" dirty="0"/>
          </a:p>
          <a:p>
            <a:r>
              <a:rPr lang="en-AU" dirty="0"/>
              <a:t>A linear rule can be written in the format  y = mx + c</a:t>
            </a:r>
          </a:p>
          <a:p>
            <a:r>
              <a:rPr lang="en-AU" dirty="0"/>
              <a:t>			         </a:t>
            </a:r>
            <a:r>
              <a:rPr lang="en-AU" dirty="0" err="1"/>
              <a:t>eg</a:t>
            </a:r>
            <a:r>
              <a:rPr lang="en-AU" dirty="0"/>
              <a:t>.  cost = $4 x hour + $10</a:t>
            </a:r>
          </a:p>
          <a:p>
            <a:endParaRPr lang="en-AU" dirty="0"/>
          </a:p>
          <a:p>
            <a:pPr marL="342900" indent="-342900">
              <a:buAutoNum type="arabicPeriod"/>
            </a:pPr>
            <a:r>
              <a:rPr lang="en-AU" dirty="0"/>
              <a:t>Start by creating a table with hours on top and cost underneath</a:t>
            </a:r>
          </a:p>
          <a:p>
            <a:pPr marL="342900" indent="-342900">
              <a:buAutoNum type="arabicPeriod"/>
            </a:pPr>
            <a:r>
              <a:rPr lang="en-AU" dirty="0"/>
              <a:t>Work out the second row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1478024"/>
              </p:ext>
            </p:extLst>
          </p:nvPr>
        </p:nvGraphicFramePr>
        <p:xfrm>
          <a:off x="2366916" y="3570061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5860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46117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92089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5559" y="-54200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/>
              <a:t>24</a:t>
            </a:r>
          </a:p>
          <a:p>
            <a:r>
              <a:rPr lang="en-AU" sz="1100" dirty="0"/>
              <a:t>7</a:t>
            </a:r>
          </a:p>
          <a:p>
            <a:r>
              <a:rPr lang="en-AU" sz="11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38289" y="920895"/>
            <a:ext cx="50939" cy="57552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08126" y="15049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61170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find the rule for a linear relationship.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640" y="-495"/>
            <a:ext cx="27260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Finding a rule</a:t>
            </a:r>
            <a:endParaRPr lang="en-AU" sz="2400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4013436"/>
              </p:ext>
            </p:extLst>
          </p:nvPr>
        </p:nvGraphicFramePr>
        <p:xfrm>
          <a:off x="2366916" y="3570061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286000" y="984738"/>
            <a:ext cx="67454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linear relationship is one that increases by the same amount each time (</a:t>
            </a:r>
            <a:r>
              <a:rPr lang="en-AU" dirty="0" err="1"/>
              <a:t>eg</a:t>
            </a:r>
            <a:r>
              <a:rPr lang="en-AU" dirty="0"/>
              <a:t> $35 per hour, 6m each day)</a:t>
            </a:r>
          </a:p>
          <a:p>
            <a:endParaRPr lang="en-AU" dirty="0"/>
          </a:p>
          <a:p>
            <a:r>
              <a:rPr lang="en-AU" dirty="0"/>
              <a:t>A linear rule can be written in the format  y = mx + c</a:t>
            </a:r>
          </a:p>
          <a:p>
            <a:r>
              <a:rPr lang="en-AU" dirty="0"/>
              <a:t>			         </a:t>
            </a:r>
            <a:r>
              <a:rPr lang="en-AU" dirty="0" err="1"/>
              <a:t>eg</a:t>
            </a:r>
            <a:r>
              <a:rPr lang="en-AU" dirty="0"/>
              <a:t>.  cost = $4 x hour + $10</a:t>
            </a:r>
          </a:p>
          <a:p>
            <a:endParaRPr lang="en-AU" dirty="0"/>
          </a:p>
          <a:p>
            <a:pPr marL="342900" indent="-342900">
              <a:buAutoNum type="arabicPeriod"/>
            </a:pPr>
            <a:r>
              <a:rPr lang="en-AU" dirty="0"/>
              <a:t>Start by creating a table with hours on top and cost underneath</a:t>
            </a:r>
          </a:p>
          <a:p>
            <a:pPr marL="342900" indent="-342900">
              <a:buAutoNum type="arabicPeriod"/>
            </a:pPr>
            <a:r>
              <a:rPr lang="en-AU" dirty="0"/>
              <a:t>Work out the second row</a:t>
            </a:r>
          </a:p>
        </p:txBody>
      </p:sp>
    </p:spTree>
    <p:extLst>
      <p:ext uri="{BB962C8B-B14F-4D97-AF65-F5344CB8AC3E}">
        <p14:creationId xmlns:p14="http://schemas.microsoft.com/office/powerpoint/2010/main" val="3760814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46117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92089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5559" y="-54200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/>
              <a:t>24</a:t>
            </a:r>
          </a:p>
          <a:p>
            <a:r>
              <a:rPr lang="en-AU" sz="1100" dirty="0"/>
              <a:t>7</a:t>
            </a:r>
          </a:p>
          <a:p>
            <a:r>
              <a:rPr lang="en-AU" sz="11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38289" y="920895"/>
            <a:ext cx="50939" cy="57552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08126" y="15049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61170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find the rule for a linear relationship.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640" y="-495"/>
            <a:ext cx="27260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Finding a rule</a:t>
            </a:r>
            <a:endParaRPr lang="en-AU" sz="2400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7513175"/>
              </p:ext>
            </p:extLst>
          </p:nvPr>
        </p:nvGraphicFramePr>
        <p:xfrm>
          <a:off x="2366916" y="3582993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286000" y="984738"/>
            <a:ext cx="67454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linear relationship is one that increases by the same amount each time (</a:t>
            </a:r>
            <a:r>
              <a:rPr lang="en-AU" dirty="0" err="1"/>
              <a:t>eg</a:t>
            </a:r>
            <a:r>
              <a:rPr lang="en-AU" dirty="0"/>
              <a:t> $35 per hour, 6m each day)</a:t>
            </a:r>
          </a:p>
          <a:p>
            <a:endParaRPr lang="en-AU" dirty="0"/>
          </a:p>
          <a:p>
            <a:r>
              <a:rPr lang="en-AU" dirty="0"/>
              <a:t>A linear rule can be written in the format  y = mx + c</a:t>
            </a:r>
          </a:p>
          <a:p>
            <a:r>
              <a:rPr lang="en-AU" dirty="0"/>
              <a:t>			         </a:t>
            </a:r>
            <a:r>
              <a:rPr lang="en-AU" dirty="0" err="1"/>
              <a:t>eg</a:t>
            </a:r>
            <a:r>
              <a:rPr lang="en-AU" dirty="0"/>
              <a:t>.  cost = $4 x hour + $10</a:t>
            </a:r>
          </a:p>
          <a:p>
            <a:endParaRPr lang="en-AU" dirty="0"/>
          </a:p>
          <a:p>
            <a:pPr marL="342900" indent="-342900">
              <a:buAutoNum type="arabicPeriod"/>
            </a:pPr>
            <a:r>
              <a:rPr lang="en-AU" dirty="0"/>
              <a:t>Start by creating a table with hours on top and cost underneath</a:t>
            </a:r>
          </a:p>
          <a:p>
            <a:pPr marL="342900" indent="-342900">
              <a:buAutoNum type="arabicPeriod"/>
            </a:pPr>
            <a:r>
              <a:rPr lang="en-AU" dirty="0"/>
              <a:t>Work out the second row</a:t>
            </a:r>
          </a:p>
        </p:txBody>
      </p:sp>
    </p:spTree>
    <p:extLst>
      <p:ext uri="{BB962C8B-B14F-4D97-AF65-F5344CB8AC3E}">
        <p14:creationId xmlns:p14="http://schemas.microsoft.com/office/powerpoint/2010/main" val="3342163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46117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92089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5559" y="-54200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/>
              <a:t>24</a:t>
            </a:r>
          </a:p>
          <a:p>
            <a:r>
              <a:rPr lang="en-AU" sz="1100" dirty="0"/>
              <a:t>7</a:t>
            </a:r>
          </a:p>
          <a:p>
            <a:r>
              <a:rPr lang="en-AU" sz="11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38289" y="920895"/>
            <a:ext cx="50939" cy="57552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08126" y="15049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61170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find the rule for a linear relationship.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640" y="-495"/>
            <a:ext cx="27260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Finding a rule</a:t>
            </a:r>
            <a:endParaRPr lang="en-AU" sz="2400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625336"/>
              </p:ext>
            </p:extLst>
          </p:nvPr>
        </p:nvGraphicFramePr>
        <p:xfrm>
          <a:off x="2366916" y="3549538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286000" y="984738"/>
            <a:ext cx="67454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linear relationship is one that increases by the same amount each time (</a:t>
            </a:r>
            <a:r>
              <a:rPr lang="en-AU" dirty="0" err="1"/>
              <a:t>eg</a:t>
            </a:r>
            <a:r>
              <a:rPr lang="en-AU" dirty="0"/>
              <a:t> $35 per hour, 6m each day)</a:t>
            </a:r>
          </a:p>
          <a:p>
            <a:endParaRPr lang="en-AU" dirty="0"/>
          </a:p>
          <a:p>
            <a:r>
              <a:rPr lang="en-AU" dirty="0"/>
              <a:t>A linear rule can be written in the format  y = mx + c</a:t>
            </a:r>
          </a:p>
          <a:p>
            <a:r>
              <a:rPr lang="en-AU" dirty="0"/>
              <a:t>			         </a:t>
            </a:r>
            <a:r>
              <a:rPr lang="en-AU" dirty="0" err="1"/>
              <a:t>eg</a:t>
            </a:r>
            <a:r>
              <a:rPr lang="en-AU" dirty="0"/>
              <a:t>.  cost = $4 x hour + $10</a:t>
            </a:r>
          </a:p>
          <a:p>
            <a:endParaRPr lang="en-AU" dirty="0"/>
          </a:p>
          <a:p>
            <a:pPr marL="342900" indent="-342900">
              <a:buAutoNum type="arabicPeriod"/>
            </a:pPr>
            <a:r>
              <a:rPr lang="en-AU" dirty="0"/>
              <a:t>Start by creating a table with hours on top and cost underneath</a:t>
            </a:r>
          </a:p>
          <a:p>
            <a:pPr marL="342900" indent="-342900">
              <a:buAutoNum type="arabicPeriod"/>
            </a:pPr>
            <a:r>
              <a:rPr lang="en-AU" dirty="0"/>
              <a:t>Work out the second row</a:t>
            </a:r>
          </a:p>
        </p:txBody>
      </p:sp>
    </p:spTree>
    <p:extLst>
      <p:ext uri="{BB962C8B-B14F-4D97-AF65-F5344CB8AC3E}">
        <p14:creationId xmlns:p14="http://schemas.microsoft.com/office/powerpoint/2010/main" val="34388667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46117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92089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5559" y="-54200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/>
              <a:t>24</a:t>
            </a:r>
          </a:p>
          <a:p>
            <a:r>
              <a:rPr lang="en-AU" sz="1100" dirty="0"/>
              <a:t>7</a:t>
            </a:r>
          </a:p>
          <a:p>
            <a:r>
              <a:rPr lang="en-AU" sz="11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38289" y="920895"/>
            <a:ext cx="50939" cy="57552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08126" y="15049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61170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find the rule for a linear relationship.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640" y="-495"/>
            <a:ext cx="27260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Finding a rule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2286000" y="984738"/>
            <a:ext cx="674545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linear relationship is one that increases by the same amount each time (</a:t>
            </a:r>
            <a:r>
              <a:rPr lang="en-AU" dirty="0" err="1"/>
              <a:t>eg</a:t>
            </a:r>
            <a:r>
              <a:rPr lang="en-AU" dirty="0"/>
              <a:t> $35 per hour, 6m each day)</a:t>
            </a:r>
          </a:p>
          <a:p>
            <a:endParaRPr lang="en-AU" dirty="0"/>
          </a:p>
          <a:p>
            <a:r>
              <a:rPr lang="en-AU" dirty="0"/>
              <a:t>A linear rule can be written in the format  y = mx + c</a:t>
            </a:r>
          </a:p>
          <a:p>
            <a:r>
              <a:rPr lang="en-AU" dirty="0"/>
              <a:t>			         </a:t>
            </a:r>
            <a:r>
              <a:rPr lang="en-AU" dirty="0" err="1"/>
              <a:t>eg</a:t>
            </a:r>
            <a:r>
              <a:rPr lang="en-AU" dirty="0"/>
              <a:t>.  cost = $4 x hour + $10</a:t>
            </a:r>
          </a:p>
          <a:p>
            <a:endParaRPr lang="en-AU" dirty="0"/>
          </a:p>
          <a:p>
            <a:pPr marL="342900" indent="-342900">
              <a:buAutoNum type="arabicPeriod"/>
            </a:pPr>
            <a:r>
              <a:rPr lang="en-AU" dirty="0"/>
              <a:t>Start by creating a table with hours on top and cost underneath</a:t>
            </a:r>
          </a:p>
          <a:p>
            <a:pPr marL="342900" indent="-342900">
              <a:buAutoNum type="arabicPeriod"/>
            </a:pPr>
            <a:r>
              <a:rPr lang="en-AU" dirty="0"/>
              <a:t>Work out the second row</a:t>
            </a:r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r>
              <a:rPr lang="en-AU" dirty="0"/>
              <a:t>How much does it go up by each time?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498924"/>
              </p:ext>
            </p:extLst>
          </p:nvPr>
        </p:nvGraphicFramePr>
        <p:xfrm>
          <a:off x="2389218" y="3672204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4404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46117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92089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5559" y="-54200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/>
              <a:t>24</a:t>
            </a:r>
          </a:p>
          <a:p>
            <a:r>
              <a:rPr lang="en-AU" sz="1100" dirty="0"/>
              <a:t>7</a:t>
            </a:r>
          </a:p>
          <a:p>
            <a:r>
              <a:rPr lang="en-AU" sz="11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38289" y="920895"/>
            <a:ext cx="50939" cy="57552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08126" y="15049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61170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find the rule for a linear relationship.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640" y="-495"/>
            <a:ext cx="27260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Finding a rule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2286000" y="984738"/>
            <a:ext cx="674545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linear relationship is one that increases by the same amount each time (</a:t>
            </a:r>
            <a:r>
              <a:rPr lang="en-AU" dirty="0" err="1"/>
              <a:t>eg</a:t>
            </a:r>
            <a:r>
              <a:rPr lang="en-AU" dirty="0"/>
              <a:t> $35 per hour, 6m each day)</a:t>
            </a:r>
          </a:p>
          <a:p>
            <a:endParaRPr lang="en-AU" dirty="0"/>
          </a:p>
          <a:p>
            <a:r>
              <a:rPr lang="en-AU" dirty="0"/>
              <a:t>A linear rule can be written in the format  y = mx + c</a:t>
            </a:r>
          </a:p>
          <a:p>
            <a:r>
              <a:rPr lang="en-AU" dirty="0"/>
              <a:t>			         </a:t>
            </a:r>
            <a:r>
              <a:rPr lang="en-AU" dirty="0" err="1"/>
              <a:t>eg</a:t>
            </a:r>
            <a:r>
              <a:rPr lang="en-AU" dirty="0"/>
              <a:t>.  cost = $4 x hour + $10</a:t>
            </a:r>
          </a:p>
          <a:p>
            <a:endParaRPr lang="en-AU" dirty="0"/>
          </a:p>
          <a:p>
            <a:pPr marL="342900" indent="-342900">
              <a:buAutoNum type="arabicPeriod"/>
            </a:pPr>
            <a:r>
              <a:rPr lang="en-AU" dirty="0"/>
              <a:t>Start by creating a table with hours on top and cost underneath</a:t>
            </a:r>
          </a:p>
          <a:p>
            <a:pPr marL="342900" indent="-342900">
              <a:buAutoNum type="arabicPeriod"/>
            </a:pPr>
            <a:r>
              <a:rPr lang="en-AU" dirty="0"/>
              <a:t>Work out the second row</a:t>
            </a:r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r>
              <a:rPr lang="en-AU" dirty="0"/>
              <a:t>How much does it go up by each time? </a:t>
            </a:r>
            <a:r>
              <a:rPr lang="en-AU" b="1" dirty="0">
                <a:solidFill>
                  <a:srgbClr val="FF0000"/>
                </a:solidFill>
              </a:rPr>
              <a:t>= $40</a:t>
            </a:r>
          </a:p>
          <a:p>
            <a:pPr marL="342900" indent="-342900">
              <a:buAutoNum type="arabicPeriod"/>
            </a:pPr>
            <a:r>
              <a:rPr lang="en-AU" dirty="0"/>
              <a:t>Working backward – what would be the cost at hour = 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366916" y="3293062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69898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46117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92089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5559" y="-54200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/>
              <a:t>24</a:t>
            </a:r>
          </a:p>
          <a:p>
            <a:r>
              <a:rPr lang="en-AU" sz="1100" dirty="0"/>
              <a:t>7</a:t>
            </a:r>
          </a:p>
          <a:p>
            <a:r>
              <a:rPr lang="en-AU" sz="11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38289" y="920895"/>
            <a:ext cx="50939" cy="57552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08126" y="15049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61170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find the rule for a linear relationship.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640" y="-495"/>
            <a:ext cx="27260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Finding a rule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2286000" y="984738"/>
            <a:ext cx="674545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linear relationship is one that increases by the same amount each time (</a:t>
            </a:r>
            <a:r>
              <a:rPr lang="en-AU" dirty="0" err="1"/>
              <a:t>eg</a:t>
            </a:r>
            <a:r>
              <a:rPr lang="en-AU" dirty="0"/>
              <a:t> $35 per hour, 6m each day)</a:t>
            </a:r>
          </a:p>
          <a:p>
            <a:endParaRPr lang="en-AU" dirty="0"/>
          </a:p>
          <a:p>
            <a:r>
              <a:rPr lang="en-AU" dirty="0"/>
              <a:t>A linear rule can be written in the format  y = mx + c</a:t>
            </a:r>
          </a:p>
          <a:p>
            <a:r>
              <a:rPr lang="en-AU" dirty="0"/>
              <a:t>			         </a:t>
            </a:r>
            <a:r>
              <a:rPr lang="en-AU" dirty="0" err="1"/>
              <a:t>eg</a:t>
            </a:r>
            <a:r>
              <a:rPr lang="en-AU" dirty="0"/>
              <a:t>.  cost = $4 x hour + $10</a:t>
            </a:r>
          </a:p>
          <a:p>
            <a:endParaRPr lang="en-AU" dirty="0"/>
          </a:p>
          <a:p>
            <a:pPr marL="342900" indent="-342900">
              <a:buAutoNum type="arabicPeriod"/>
            </a:pPr>
            <a:r>
              <a:rPr lang="en-AU" dirty="0"/>
              <a:t>Start by creating a table with hours on top and cost underneath</a:t>
            </a:r>
          </a:p>
          <a:p>
            <a:pPr marL="342900" indent="-342900">
              <a:buAutoNum type="arabicPeriod"/>
            </a:pPr>
            <a:r>
              <a:rPr lang="en-AU" dirty="0"/>
              <a:t>Work out the second row</a:t>
            </a:r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r>
              <a:rPr lang="en-AU" dirty="0"/>
              <a:t>How much does it go up by each time? </a:t>
            </a:r>
            <a:r>
              <a:rPr lang="en-AU" b="1" dirty="0">
                <a:solidFill>
                  <a:srgbClr val="FF0000"/>
                </a:solidFill>
              </a:rPr>
              <a:t>= $40</a:t>
            </a:r>
          </a:p>
          <a:p>
            <a:pPr marL="342900" indent="-342900">
              <a:buAutoNum type="arabicPeriod"/>
            </a:pPr>
            <a:r>
              <a:rPr lang="en-AU" dirty="0"/>
              <a:t>Working backward – what would be the cost at hour = 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5147409"/>
              </p:ext>
            </p:extLst>
          </p:nvPr>
        </p:nvGraphicFramePr>
        <p:xfrm>
          <a:off x="2366916" y="3293062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2013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46117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92089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5559" y="-54200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/>
              <a:t>24</a:t>
            </a:r>
          </a:p>
          <a:p>
            <a:r>
              <a:rPr lang="en-AU" sz="1100" dirty="0"/>
              <a:t>7</a:t>
            </a:r>
          </a:p>
          <a:p>
            <a:r>
              <a:rPr lang="en-AU" sz="11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38289" y="920895"/>
            <a:ext cx="50939" cy="57552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08126" y="15049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61170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find the rule for a linear relationship.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640" y="-495"/>
            <a:ext cx="27260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Finding a rule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2285999" y="984738"/>
            <a:ext cx="691427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linear relationship is one that increases by the same amount each time (</a:t>
            </a:r>
            <a:r>
              <a:rPr lang="en-AU" dirty="0" err="1"/>
              <a:t>eg</a:t>
            </a:r>
            <a:r>
              <a:rPr lang="en-AU" dirty="0"/>
              <a:t> $35 per hour, 6m each day)</a:t>
            </a:r>
          </a:p>
          <a:p>
            <a:endParaRPr lang="en-AU" dirty="0"/>
          </a:p>
          <a:p>
            <a:r>
              <a:rPr lang="en-AU" dirty="0"/>
              <a:t>A linear rule can be written in the format  y = mx + c</a:t>
            </a:r>
          </a:p>
          <a:p>
            <a:r>
              <a:rPr lang="en-AU" dirty="0"/>
              <a:t>			         </a:t>
            </a:r>
            <a:r>
              <a:rPr lang="en-AU" dirty="0" err="1"/>
              <a:t>eg</a:t>
            </a:r>
            <a:r>
              <a:rPr lang="en-AU" dirty="0"/>
              <a:t>.  cost = $4 x hour + $10</a:t>
            </a:r>
          </a:p>
          <a:p>
            <a:endParaRPr lang="en-AU" dirty="0"/>
          </a:p>
          <a:p>
            <a:pPr marL="342900" indent="-342900">
              <a:buAutoNum type="arabicPeriod"/>
            </a:pPr>
            <a:r>
              <a:rPr lang="en-AU" dirty="0"/>
              <a:t>Start by creating a table with hours on top and cost underneath</a:t>
            </a:r>
          </a:p>
          <a:p>
            <a:pPr marL="342900" indent="-342900">
              <a:buAutoNum type="arabicPeriod"/>
            </a:pPr>
            <a:r>
              <a:rPr lang="en-AU" dirty="0"/>
              <a:t>Work out the second row</a:t>
            </a:r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r>
              <a:rPr lang="en-AU" dirty="0"/>
              <a:t>How much does it go up by each time? </a:t>
            </a:r>
            <a:r>
              <a:rPr lang="en-AU" b="1" dirty="0">
                <a:solidFill>
                  <a:srgbClr val="FF0000"/>
                </a:solidFill>
              </a:rPr>
              <a:t>= $40</a:t>
            </a:r>
          </a:p>
          <a:p>
            <a:pPr marL="342900" indent="-342900">
              <a:buAutoNum type="arabicPeriod"/>
            </a:pPr>
            <a:r>
              <a:rPr lang="en-AU" dirty="0"/>
              <a:t>Working backward – what would be the cost at hour = 0, cost = </a:t>
            </a:r>
            <a:r>
              <a:rPr lang="en-AU" dirty="0">
                <a:solidFill>
                  <a:srgbClr val="0070C0"/>
                </a:solidFill>
              </a:rPr>
              <a:t>$100</a:t>
            </a:r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r>
              <a:rPr lang="en-AU" dirty="0"/>
              <a:t>The equation becomes   cost = </a:t>
            </a:r>
            <a:r>
              <a:rPr lang="en-AU" b="1" dirty="0">
                <a:solidFill>
                  <a:srgbClr val="FF0000"/>
                </a:solidFill>
              </a:rPr>
              <a:t>$40 </a:t>
            </a:r>
            <a:r>
              <a:rPr lang="en-AU" dirty="0"/>
              <a:t>x hours </a:t>
            </a:r>
            <a:r>
              <a:rPr lang="en-AU" b="1" dirty="0">
                <a:solidFill>
                  <a:srgbClr val="0070C0"/>
                </a:solidFill>
              </a:rPr>
              <a:t>+$100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324703"/>
              </p:ext>
            </p:extLst>
          </p:nvPr>
        </p:nvGraphicFramePr>
        <p:xfrm>
          <a:off x="2366916" y="3293062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rgbClr val="0070C0"/>
                          </a:solidFill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63115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46117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92089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5559" y="-54200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/>
              <a:t>24</a:t>
            </a:r>
          </a:p>
          <a:p>
            <a:r>
              <a:rPr lang="en-AU" sz="1100" dirty="0"/>
              <a:t>7</a:t>
            </a:r>
          </a:p>
          <a:p>
            <a:r>
              <a:rPr lang="en-AU" sz="11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38289" y="920895"/>
            <a:ext cx="50939" cy="57552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08126" y="15049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61170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find the rule for a linear relationship.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640" y="-495"/>
            <a:ext cx="27260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Finding a rule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2293885" y="992243"/>
            <a:ext cx="674545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Try this with all 3.</a:t>
            </a:r>
          </a:p>
          <a:p>
            <a:r>
              <a:rPr lang="en-AU" dirty="0"/>
              <a:t>Quote 1  			cost = </a:t>
            </a:r>
            <a:r>
              <a:rPr lang="en-AU" b="1" dirty="0">
                <a:solidFill>
                  <a:srgbClr val="FF0000"/>
                </a:solidFill>
              </a:rPr>
              <a:t>$40 </a:t>
            </a:r>
            <a:r>
              <a:rPr lang="en-AU" dirty="0"/>
              <a:t>x hours </a:t>
            </a:r>
            <a:r>
              <a:rPr lang="en-AU" b="1" dirty="0">
                <a:solidFill>
                  <a:srgbClr val="0070C0"/>
                </a:solidFill>
              </a:rPr>
              <a:t>+$100</a:t>
            </a:r>
            <a:endParaRPr lang="en-AU" dirty="0"/>
          </a:p>
          <a:p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r>
              <a:rPr lang="en-AU" dirty="0"/>
              <a:t>Quote 2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Quote 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4765785"/>
              </p:ext>
            </p:extLst>
          </p:nvPr>
        </p:nvGraphicFramePr>
        <p:xfrm>
          <a:off x="2423187" y="1612784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0175432"/>
              </p:ext>
            </p:extLst>
          </p:nvPr>
        </p:nvGraphicFramePr>
        <p:xfrm>
          <a:off x="2423187" y="3023568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0251662"/>
              </p:ext>
            </p:extLst>
          </p:nvPr>
        </p:nvGraphicFramePr>
        <p:xfrm>
          <a:off x="2544604" y="4649274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25593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46117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92089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5559" y="-54200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/>
              <a:t>24</a:t>
            </a:r>
          </a:p>
          <a:p>
            <a:r>
              <a:rPr lang="en-AU" sz="1100" dirty="0"/>
              <a:t>7</a:t>
            </a:r>
          </a:p>
          <a:p>
            <a:r>
              <a:rPr lang="en-AU" sz="11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38289" y="920895"/>
            <a:ext cx="50939" cy="57552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08126" y="15049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61170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find the rule for a linear relationship.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640" y="-495"/>
            <a:ext cx="27260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Finding a rule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2293885" y="992243"/>
            <a:ext cx="674545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Try this with all 3.</a:t>
            </a:r>
          </a:p>
          <a:p>
            <a:r>
              <a:rPr lang="en-AU" dirty="0"/>
              <a:t>Quote 1  			cost = </a:t>
            </a:r>
            <a:r>
              <a:rPr lang="en-AU" b="1" dirty="0">
                <a:solidFill>
                  <a:srgbClr val="FF0000"/>
                </a:solidFill>
              </a:rPr>
              <a:t>$40 </a:t>
            </a:r>
            <a:r>
              <a:rPr lang="en-AU" dirty="0"/>
              <a:t>x hours </a:t>
            </a:r>
            <a:r>
              <a:rPr lang="en-AU" b="1" dirty="0">
                <a:solidFill>
                  <a:srgbClr val="0070C0"/>
                </a:solidFill>
              </a:rPr>
              <a:t>+$100</a:t>
            </a:r>
            <a:endParaRPr lang="en-AU" dirty="0"/>
          </a:p>
          <a:p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r>
              <a:rPr lang="en-AU" dirty="0"/>
              <a:t>Quote 2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Quote 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423187" y="1612784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2423187" y="3023568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2544604" y="4649274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69405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46117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92089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5559" y="-54200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/>
              <a:t>24</a:t>
            </a:r>
          </a:p>
          <a:p>
            <a:r>
              <a:rPr lang="en-AU" sz="1100" dirty="0"/>
              <a:t>7</a:t>
            </a:r>
          </a:p>
          <a:p>
            <a:r>
              <a:rPr lang="en-AU" sz="11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38289" y="920895"/>
            <a:ext cx="50939" cy="57552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08126" y="15049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61170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find the rule for a linear relationship.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640" y="-495"/>
            <a:ext cx="27260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Finding a rule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2293885" y="992243"/>
            <a:ext cx="674545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Try this with all 3.</a:t>
            </a:r>
          </a:p>
          <a:p>
            <a:r>
              <a:rPr lang="en-AU" dirty="0"/>
              <a:t>Quote 1  			cost = </a:t>
            </a:r>
            <a:r>
              <a:rPr lang="en-AU" b="1" dirty="0">
                <a:solidFill>
                  <a:srgbClr val="FF0000"/>
                </a:solidFill>
              </a:rPr>
              <a:t>$40 </a:t>
            </a:r>
            <a:r>
              <a:rPr lang="en-AU" dirty="0"/>
              <a:t>x hours </a:t>
            </a:r>
            <a:r>
              <a:rPr lang="en-AU" b="1" dirty="0">
                <a:solidFill>
                  <a:srgbClr val="0070C0"/>
                </a:solidFill>
              </a:rPr>
              <a:t>+$100</a:t>
            </a:r>
            <a:endParaRPr lang="en-AU" dirty="0"/>
          </a:p>
          <a:p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r>
              <a:rPr lang="en-AU" dirty="0"/>
              <a:t>Quote 2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Quote 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423187" y="1612784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5799320"/>
              </p:ext>
            </p:extLst>
          </p:nvPr>
        </p:nvGraphicFramePr>
        <p:xfrm>
          <a:off x="2423187" y="3023568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2544604" y="4649274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15492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46117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92089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5559" y="-54200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/>
              <a:t>24</a:t>
            </a:r>
          </a:p>
          <a:p>
            <a:r>
              <a:rPr lang="en-AU" sz="1100" dirty="0"/>
              <a:t>7</a:t>
            </a:r>
          </a:p>
          <a:p>
            <a:r>
              <a:rPr lang="en-AU" sz="11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38289" y="920895"/>
            <a:ext cx="50939" cy="57552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08126" y="15049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61170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find the rule for a linear relationship.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640" y="-495"/>
            <a:ext cx="27260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Finding a rule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2293885" y="992243"/>
            <a:ext cx="674545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Try this with all 3.</a:t>
            </a:r>
          </a:p>
          <a:p>
            <a:r>
              <a:rPr lang="en-AU" dirty="0"/>
              <a:t>Quote 1  			cost = </a:t>
            </a:r>
            <a:r>
              <a:rPr lang="en-AU" b="1" dirty="0">
                <a:solidFill>
                  <a:srgbClr val="FF0000"/>
                </a:solidFill>
              </a:rPr>
              <a:t>$40 </a:t>
            </a:r>
            <a:r>
              <a:rPr lang="en-AU" dirty="0"/>
              <a:t>x hours </a:t>
            </a:r>
            <a:r>
              <a:rPr lang="en-AU" b="1" dirty="0">
                <a:solidFill>
                  <a:srgbClr val="0070C0"/>
                </a:solidFill>
              </a:rPr>
              <a:t>+$100</a:t>
            </a:r>
            <a:endParaRPr lang="en-AU" dirty="0"/>
          </a:p>
          <a:p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r>
              <a:rPr lang="en-AU" dirty="0"/>
              <a:t>Quote 2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Quote 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0142833"/>
              </p:ext>
            </p:extLst>
          </p:nvPr>
        </p:nvGraphicFramePr>
        <p:xfrm>
          <a:off x="2423187" y="1612784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rgbClr val="0070C0"/>
                          </a:solidFill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5419537"/>
              </p:ext>
            </p:extLst>
          </p:nvPr>
        </p:nvGraphicFramePr>
        <p:xfrm>
          <a:off x="2423187" y="3023568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rgbClr val="0070C0"/>
                          </a:solidFill>
                        </a:rP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2544604" y="4649274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53832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46117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92089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5559" y="-54200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/>
              <a:t>24</a:t>
            </a:r>
          </a:p>
          <a:p>
            <a:r>
              <a:rPr lang="en-AU" sz="1100" dirty="0"/>
              <a:t>7</a:t>
            </a:r>
          </a:p>
          <a:p>
            <a:r>
              <a:rPr lang="en-AU" sz="11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38289" y="920895"/>
            <a:ext cx="50939" cy="57552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08126" y="15049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61170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find the rule for a linear relationship.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640" y="-495"/>
            <a:ext cx="27260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Finding a rule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2293885" y="992243"/>
            <a:ext cx="674545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Try this with all 3.</a:t>
            </a:r>
          </a:p>
          <a:p>
            <a:r>
              <a:rPr lang="en-AU" dirty="0"/>
              <a:t>Quote 1  			cost = </a:t>
            </a:r>
            <a:r>
              <a:rPr lang="en-AU" b="1" dirty="0">
                <a:solidFill>
                  <a:srgbClr val="FF0000"/>
                </a:solidFill>
              </a:rPr>
              <a:t>$40 </a:t>
            </a:r>
            <a:r>
              <a:rPr lang="en-AU" dirty="0"/>
              <a:t>x hours </a:t>
            </a:r>
            <a:r>
              <a:rPr lang="en-AU" b="1" dirty="0">
                <a:solidFill>
                  <a:srgbClr val="0070C0"/>
                </a:solidFill>
              </a:rPr>
              <a:t>+$100</a:t>
            </a:r>
            <a:endParaRPr lang="en-AU" dirty="0"/>
          </a:p>
          <a:p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r>
              <a:rPr lang="en-AU" dirty="0"/>
              <a:t>Quote 2			cost = </a:t>
            </a:r>
            <a:r>
              <a:rPr lang="en-AU" b="1" dirty="0">
                <a:solidFill>
                  <a:srgbClr val="FF0000"/>
                </a:solidFill>
              </a:rPr>
              <a:t>$35 </a:t>
            </a:r>
            <a:r>
              <a:rPr lang="en-AU" dirty="0"/>
              <a:t>x hours + </a:t>
            </a:r>
            <a:r>
              <a:rPr lang="en-AU" b="1" dirty="0">
                <a:solidFill>
                  <a:srgbClr val="0070C0"/>
                </a:solidFill>
              </a:rPr>
              <a:t>$150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Quote 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423187" y="1612784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rgbClr val="0070C0"/>
                          </a:solidFill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2423187" y="3023568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rgbClr val="0070C0"/>
                          </a:solidFill>
                        </a:rP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4292383"/>
              </p:ext>
            </p:extLst>
          </p:nvPr>
        </p:nvGraphicFramePr>
        <p:xfrm>
          <a:off x="2544604" y="4649274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84051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46117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92089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5559" y="-54200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/>
              <a:t>24</a:t>
            </a:r>
          </a:p>
          <a:p>
            <a:r>
              <a:rPr lang="en-AU" sz="1100" dirty="0"/>
              <a:t>7</a:t>
            </a:r>
          </a:p>
          <a:p>
            <a:r>
              <a:rPr lang="en-AU" sz="11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38289" y="920895"/>
            <a:ext cx="50939" cy="57552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08126" y="15049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61170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find the rule for a linear relationship.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640" y="-495"/>
            <a:ext cx="27260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Finding a rule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2293885" y="992243"/>
            <a:ext cx="674545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Try this with all 3.</a:t>
            </a:r>
          </a:p>
          <a:p>
            <a:r>
              <a:rPr lang="en-AU" dirty="0"/>
              <a:t>Quote 1  			cost = </a:t>
            </a:r>
            <a:r>
              <a:rPr lang="en-AU" b="1" dirty="0">
                <a:solidFill>
                  <a:srgbClr val="FF0000"/>
                </a:solidFill>
              </a:rPr>
              <a:t>$40 </a:t>
            </a:r>
            <a:r>
              <a:rPr lang="en-AU" dirty="0"/>
              <a:t>x hours </a:t>
            </a:r>
            <a:r>
              <a:rPr lang="en-AU" b="1" dirty="0">
                <a:solidFill>
                  <a:srgbClr val="0070C0"/>
                </a:solidFill>
              </a:rPr>
              <a:t>+$100</a:t>
            </a:r>
            <a:endParaRPr lang="en-AU" dirty="0"/>
          </a:p>
          <a:p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r>
              <a:rPr lang="en-AU" dirty="0"/>
              <a:t>Quote 2			cost = </a:t>
            </a:r>
            <a:r>
              <a:rPr lang="en-AU" b="1" dirty="0">
                <a:solidFill>
                  <a:srgbClr val="FF0000"/>
                </a:solidFill>
              </a:rPr>
              <a:t>$35 </a:t>
            </a:r>
            <a:r>
              <a:rPr lang="en-AU" dirty="0"/>
              <a:t>x hours + </a:t>
            </a:r>
            <a:r>
              <a:rPr lang="en-AU" b="1" dirty="0">
                <a:solidFill>
                  <a:srgbClr val="0070C0"/>
                </a:solidFill>
              </a:rPr>
              <a:t>$150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Quote 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423187" y="1612784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rgbClr val="0070C0"/>
                          </a:solidFill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2423187" y="3023568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rgbClr val="0070C0"/>
                          </a:solidFill>
                        </a:rP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9281965"/>
              </p:ext>
            </p:extLst>
          </p:nvPr>
        </p:nvGraphicFramePr>
        <p:xfrm>
          <a:off x="2544604" y="4649274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46018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46117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92089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5559" y="-54200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/>
              <a:t>24</a:t>
            </a:r>
          </a:p>
          <a:p>
            <a:r>
              <a:rPr lang="en-AU" sz="1100" dirty="0"/>
              <a:t>7</a:t>
            </a:r>
          </a:p>
          <a:p>
            <a:r>
              <a:rPr lang="en-AU" sz="11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38289" y="920895"/>
            <a:ext cx="50939" cy="57552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08126" y="15049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61170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find the rule for a linear relationship.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640" y="-495"/>
            <a:ext cx="27260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Finding a rule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2293885" y="992243"/>
            <a:ext cx="674545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Try this with all 3.</a:t>
            </a:r>
          </a:p>
          <a:p>
            <a:r>
              <a:rPr lang="en-AU" dirty="0"/>
              <a:t>Quote 1  			cost = </a:t>
            </a:r>
            <a:r>
              <a:rPr lang="en-AU" b="1" dirty="0">
                <a:solidFill>
                  <a:srgbClr val="FF0000"/>
                </a:solidFill>
              </a:rPr>
              <a:t>$40 </a:t>
            </a:r>
            <a:r>
              <a:rPr lang="en-AU" dirty="0"/>
              <a:t>x hours </a:t>
            </a:r>
            <a:r>
              <a:rPr lang="en-AU" b="1" dirty="0">
                <a:solidFill>
                  <a:srgbClr val="0070C0"/>
                </a:solidFill>
              </a:rPr>
              <a:t>+$100</a:t>
            </a:r>
            <a:endParaRPr lang="en-AU" dirty="0"/>
          </a:p>
          <a:p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r>
              <a:rPr lang="en-AU" dirty="0"/>
              <a:t>Quote 2			cost = </a:t>
            </a:r>
            <a:r>
              <a:rPr lang="en-AU" b="1" dirty="0">
                <a:solidFill>
                  <a:srgbClr val="FF0000"/>
                </a:solidFill>
              </a:rPr>
              <a:t>$35 </a:t>
            </a:r>
            <a:r>
              <a:rPr lang="en-AU" dirty="0"/>
              <a:t>x hours + </a:t>
            </a:r>
            <a:r>
              <a:rPr lang="en-AU" b="1" dirty="0">
                <a:solidFill>
                  <a:srgbClr val="0070C0"/>
                </a:solidFill>
              </a:rPr>
              <a:t>$150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Quote 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423187" y="1612784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rgbClr val="0070C0"/>
                          </a:solidFill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2423187" y="3023568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rgbClr val="0070C0"/>
                          </a:solidFill>
                        </a:rP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3744371"/>
              </p:ext>
            </p:extLst>
          </p:nvPr>
        </p:nvGraphicFramePr>
        <p:xfrm>
          <a:off x="2544604" y="4649274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13187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46117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92089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5559" y="-54200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/>
              <a:t>24</a:t>
            </a:r>
          </a:p>
          <a:p>
            <a:r>
              <a:rPr lang="en-AU" sz="1100" dirty="0"/>
              <a:t>7</a:t>
            </a:r>
          </a:p>
          <a:p>
            <a:r>
              <a:rPr lang="en-AU" sz="11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38289" y="920895"/>
            <a:ext cx="50939" cy="57552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08126" y="15049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61170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find the rule for a linear relationship.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640" y="-495"/>
            <a:ext cx="27260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Finding a rule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2293885" y="992243"/>
            <a:ext cx="674545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Try this with all 3.</a:t>
            </a:r>
          </a:p>
          <a:p>
            <a:r>
              <a:rPr lang="en-AU" dirty="0"/>
              <a:t>Quote 1  			cost = </a:t>
            </a:r>
            <a:r>
              <a:rPr lang="en-AU" b="1" dirty="0">
                <a:solidFill>
                  <a:srgbClr val="FF0000"/>
                </a:solidFill>
              </a:rPr>
              <a:t>$40 </a:t>
            </a:r>
            <a:r>
              <a:rPr lang="en-AU" dirty="0"/>
              <a:t>x hours </a:t>
            </a:r>
            <a:r>
              <a:rPr lang="en-AU" b="1" dirty="0">
                <a:solidFill>
                  <a:srgbClr val="0070C0"/>
                </a:solidFill>
              </a:rPr>
              <a:t>+$100</a:t>
            </a:r>
            <a:endParaRPr lang="en-AU" dirty="0"/>
          </a:p>
          <a:p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r>
              <a:rPr lang="en-AU" dirty="0"/>
              <a:t>Quote 2			cost = </a:t>
            </a:r>
            <a:r>
              <a:rPr lang="en-AU" b="1" dirty="0">
                <a:solidFill>
                  <a:srgbClr val="FF0000"/>
                </a:solidFill>
              </a:rPr>
              <a:t>$35 </a:t>
            </a:r>
            <a:r>
              <a:rPr lang="en-AU" dirty="0"/>
              <a:t>x hours + </a:t>
            </a:r>
            <a:r>
              <a:rPr lang="en-AU" b="1" dirty="0">
                <a:solidFill>
                  <a:srgbClr val="0070C0"/>
                </a:solidFill>
              </a:rPr>
              <a:t>$150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Quote 3			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4278059"/>
              </p:ext>
            </p:extLst>
          </p:nvPr>
        </p:nvGraphicFramePr>
        <p:xfrm>
          <a:off x="2423187" y="1612784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0070C0"/>
                          </a:solidFill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3840626"/>
              </p:ext>
            </p:extLst>
          </p:nvPr>
        </p:nvGraphicFramePr>
        <p:xfrm>
          <a:off x="2423187" y="3023568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0070C0"/>
                          </a:solidFill>
                        </a:rP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5095690"/>
              </p:ext>
            </p:extLst>
          </p:nvPr>
        </p:nvGraphicFramePr>
        <p:xfrm>
          <a:off x="2544604" y="4649274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0070C0"/>
                          </a:solidFill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40235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46117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92089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5559" y="-54200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/>
              <a:t>24</a:t>
            </a:r>
          </a:p>
          <a:p>
            <a:r>
              <a:rPr lang="en-AU" sz="1100" dirty="0"/>
              <a:t>7</a:t>
            </a:r>
          </a:p>
          <a:p>
            <a:r>
              <a:rPr lang="en-AU" sz="11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38289" y="920895"/>
            <a:ext cx="50939" cy="57552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08126" y="15049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61170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find the rule for a linear relationship.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640" y="-495"/>
            <a:ext cx="27260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Finding a rule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2293885" y="992243"/>
            <a:ext cx="674545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Try this with all 3.</a:t>
            </a:r>
          </a:p>
          <a:p>
            <a:r>
              <a:rPr lang="en-AU" dirty="0"/>
              <a:t>Quote 1  			cost = </a:t>
            </a:r>
            <a:r>
              <a:rPr lang="en-AU" b="1" dirty="0">
                <a:solidFill>
                  <a:srgbClr val="FF0000"/>
                </a:solidFill>
              </a:rPr>
              <a:t>$40 </a:t>
            </a:r>
            <a:r>
              <a:rPr lang="en-AU" dirty="0"/>
              <a:t>x hours </a:t>
            </a:r>
            <a:r>
              <a:rPr lang="en-AU" b="1" dirty="0">
                <a:solidFill>
                  <a:srgbClr val="0070C0"/>
                </a:solidFill>
              </a:rPr>
              <a:t>+$100</a:t>
            </a:r>
            <a:endParaRPr lang="en-AU" dirty="0"/>
          </a:p>
          <a:p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r>
              <a:rPr lang="en-AU" dirty="0"/>
              <a:t>Quote 2			cost = </a:t>
            </a:r>
            <a:r>
              <a:rPr lang="en-AU" b="1" dirty="0">
                <a:solidFill>
                  <a:srgbClr val="FF0000"/>
                </a:solidFill>
              </a:rPr>
              <a:t>$35 </a:t>
            </a:r>
            <a:r>
              <a:rPr lang="en-AU" dirty="0"/>
              <a:t>x hours + </a:t>
            </a:r>
            <a:r>
              <a:rPr lang="en-AU" b="1" dirty="0">
                <a:solidFill>
                  <a:srgbClr val="0070C0"/>
                </a:solidFill>
              </a:rPr>
              <a:t>$150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Quote 3			cost = </a:t>
            </a:r>
            <a:r>
              <a:rPr lang="en-AU" b="1" dirty="0">
                <a:solidFill>
                  <a:srgbClr val="FF0000"/>
                </a:solidFill>
              </a:rPr>
              <a:t>$50 </a:t>
            </a:r>
            <a:r>
              <a:rPr lang="en-AU" dirty="0"/>
              <a:t>x hours + </a:t>
            </a:r>
            <a:r>
              <a:rPr lang="en-AU" b="1" dirty="0">
                <a:solidFill>
                  <a:srgbClr val="0070C0"/>
                </a:solidFill>
              </a:rPr>
              <a:t>$50</a:t>
            </a:r>
          </a:p>
          <a:p>
            <a:endParaRPr lang="en-AU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423187" y="1612784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0070C0"/>
                          </a:solidFill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2423187" y="3023568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0070C0"/>
                          </a:solidFill>
                        </a:rP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2544604" y="4649274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0070C0"/>
                          </a:solidFill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85392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5926" y="133643"/>
            <a:ext cx="68368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does all of this help?</a:t>
            </a:r>
          </a:p>
          <a:p>
            <a:r>
              <a:rPr lang="en-AU" dirty="0"/>
              <a:t>	You have now been told that there is 12 hours of work top be completed (it’s a major re-wire of several apartments).  So which is cheapest?</a:t>
            </a: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296569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5926" y="133643"/>
            <a:ext cx="68368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does all of this help?</a:t>
            </a:r>
          </a:p>
          <a:p>
            <a:r>
              <a:rPr lang="en-AU" dirty="0"/>
              <a:t>	You have now been told that there is 12 hours of work top be completed (it’s a major re-wire of several apartments).  So which is cheapest?</a:t>
            </a:r>
          </a:p>
          <a:p>
            <a:endParaRPr lang="en-AU" dirty="0"/>
          </a:p>
          <a:p>
            <a:r>
              <a:rPr lang="en-AU" dirty="0"/>
              <a:t>Quote 1  			cost = </a:t>
            </a:r>
            <a:r>
              <a:rPr lang="en-AU" b="1" dirty="0">
                <a:solidFill>
                  <a:srgbClr val="FF0000"/>
                </a:solidFill>
              </a:rPr>
              <a:t>$40 </a:t>
            </a:r>
            <a:r>
              <a:rPr lang="en-AU" dirty="0"/>
              <a:t>x hours </a:t>
            </a:r>
            <a:r>
              <a:rPr lang="en-AU" b="1" dirty="0">
                <a:solidFill>
                  <a:srgbClr val="0070C0"/>
                </a:solidFill>
              </a:rPr>
              <a:t>+$100</a:t>
            </a:r>
            <a:endParaRPr lang="en-AU" dirty="0"/>
          </a:p>
          <a:p>
            <a:r>
              <a:rPr lang="en-AU" dirty="0"/>
              <a:t>If hours = 12 then				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538347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5926" y="133643"/>
            <a:ext cx="683689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does all of this help?</a:t>
            </a:r>
          </a:p>
          <a:p>
            <a:r>
              <a:rPr lang="en-AU" dirty="0"/>
              <a:t>	You have now been told that there is 12 hours of work top be completed (it’s a major re-wire of several apartments).  So which is cheapest?</a:t>
            </a:r>
          </a:p>
          <a:p>
            <a:endParaRPr lang="en-AU" dirty="0"/>
          </a:p>
          <a:p>
            <a:r>
              <a:rPr lang="en-AU" dirty="0"/>
              <a:t>Quote 1  			cost = </a:t>
            </a:r>
            <a:r>
              <a:rPr lang="en-AU" b="1" dirty="0">
                <a:solidFill>
                  <a:srgbClr val="FF0000"/>
                </a:solidFill>
              </a:rPr>
              <a:t>$40 </a:t>
            </a:r>
            <a:r>
              <a:rPr lang="en-AU" dirty="0"/>
              <a:t>x hours </a:t>
            </a:r>
            <a:r>
              <a:rPr lang="en-AU" b="1" dirty="0">
                <a:solidFill>
                  <a:srgbClr val="0070C0"/>
                </a:solidFill>
              </a:rPr>
              <a:t>+$100</a:t>
            </a:r>
            <a:endParaRPr lang="en-AU" dirty="0"/>
          </a:p>
          <a:p>
            <a:r>
              <a:rPr lang="en-AU" dirty="0"/>
              <a:t>If hours = 12 then		cost = </a:t>
            </a:r>
            <a:r>
              <a:rPr lang="en-AU" b="1" dirty="0">
                <a:solidFill>
                  <a:srgbClr val="FF0000"/>
                </a:solidFill>
              </a:rPr>
              <a:t>$40 </a:t>
            </a:r>
            <a:r>
              <a:rPr lang="en-AU" dirty="0"/>
              <a:t>x 12 </a:t>
            </a:r>
            <a:r>
              <a:rPr lang="en-AU" b="1" dirty="0">
                <a:solidFill>
                  <a:srgbClr val="0070C0"/>
                </a:solidFill>
              </a:rPr>
              <a:t>+$100</a:t>
            </a:r>
          </a:p>
          <a:p>
            <a:r>
              <a:rPr lang="en-AU" b="1" dirty="0">
                <a:solidFill>
                  <a:srgbClr val="0070C0"/>
                </a:solidFill>
              </a:rPr>
              <a:t>			</a:t>
            </a:r>
            <a:r>
              <a:rPr lang="en-AU" dirty="0"/>
              <a:t>cost = </a:t>
            </a:r>
            <a:r>
              <a:rPr lang="en-AU" b="1" dirty="0"/>
              <a:t>$580</a:t>
            </a:r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		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452641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5926" y="133643"/>
            <a:ext cx="683689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does all of this help?</a:t>
            </a:r>
          </a:p>
          <a:p>
            <a:r>
              <a:rPr lang="en-AU" dirty="0"/>
              <a:t>	You have now been told that there is 12 hours of work top be completed (it’s a major re-wire of several apartments).  So which is cheapest?</a:t>
            </a:r>
          </a:p>
          <a:p>
            <a:endParaRPr lang="en-AU" dirty="0"/>
          </a:p>
          <a:p>
            <a:r>
              <a:rPr lang="en-AU" dirty="0"/>
              <a:t>Quote 1  			cost = </a:t>
            </a:r>
            <a:r>
              <a:rPr lang="en-AU" b="1" dirty="0">
                <a:solidFill>
                  <a:srgbClr val="FF0000"/>
                </a:solidFill>
              </a:rPr>
              <a:t>$40 </a:t>
            </a:r>
            <a:r>
              <a:rPr lang="en-AU" dirty="0"/>
              <a:t>x hours </a:t>
            </a:r>
            <a:r>
              <a:rPr lang="en-AU" b="1" dirty="0">
                <a:solidFill>
                  <a:srgbClr val="0070C0"/>
                </a:solidFill>
              </a:rPr>
              <a:t>+$100</a:t>
            </a:r>
            <a:endParaRPr lang="en-AU" dirty="0"/>
          </a:p>
          <a:p>
            <a:r>
              <a:rPr lang="en-AU" dirty="0"/>
              <a:t>If hours = 12 then		cost = </a:t>
            </a:r>
            <a:r>
              <a:rPr lang="en-AU" b="1" dirty="0">
                <a:solidFill>
                  <a:srgbClr val="FF0000"/>
                </a:solidFill>
              </a:rPr>
              <a:t>$40 </a:t>
            </a:r>
            <a:r>
              <a:rPr lang="en-AU" dirty="0"/>
              <a:t>x 12 </a:t>
            </a:r>
            <a:r>
              <a:rPr lang="en-AU" b="1" dirty="0">
                <a:solidFill>
                  <a:srgbClr val="0070C0"/>
                </a:solidFill>
              </a:rPr>
              <a:t>+$100</a:t>
            </a:r>
          </a:p>
          <a:p>
            <a:r>
              <a:rPr lang="en-AU" b="1" dirty="0">
                <a:solidFill>
                  <a:srgbClr val="0070C0"/>
                </a:solidFill>
              </a:rPr>
              <a:t>			</a:t>
            </a:r>
            <a:r>
              <a:rPr lang="en-AU" dirty="0"/>
              <a:t>cost = </a:t>
            </a:r>
            <a:r>
              <a:rPr lang="en-AU" b="1" dirty="0"/>
              <a:t>$580</a:t>
            </a:r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Quote 2  			cost = </a:t>
            </a:r>
            <a:r>
              <a:rPr lang="en-AU" b="1" dirty="0">
                <a:solidFill>
                  <a:srgbClr val="FF0000"/>
                </a:solidFill>
              </a:rPr>
              <a:t>$35 </a:t>
            </a:r>
            <a:r>
              <a:rPr lang="en-AU" dirty="0"/>
              <a:t>x hours + </a:t>
            </a:r>
            <a:r>
              <a:rPr lang="en-AU" b="1" dirty="0">
                <a:solidFill>
                  <a:srgbClr val="0070C0"/>
                </a:solidFill>
              </a:rPr>
              <a:t>$150</a:t>
            </a:r>
          </a:p>
          <a:p>
            <a:r>
              <a:rPr lang="en-AU" dirty="0"/>
              <a:t>If hours = 12 then			</a:t>
            </a: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080757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5926" y="133643"/>
            <a:ext cx="683689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does all of this help?</a:t>
            </a:r>
          </a:p>
          <a:p>
            <a:r>
              <a:rPr lang="en-AU" dirty="0"/>
              <a:t>	You have now been told that there is 12 hours of work top be completed (it’s a major re-wire of several apartments).  So which is cheapest?</a:t>
            </a:r>
          </a:p>
          <a:p>
            <a:endParaRPr lang="en-AU" dirty="0"/>
          </a:p>
          <a:p>
            <a:r>
              <a:rPr lang="en-AU" dirty="0"/>
              <a:t>Quote 1  			cost = </a:t>
            </a:r>
            <a:r>
              <a:rPr lang="en-AU" b="1" dirty="0">
                <a:solidFill>
                  <a:srgbClr val="FF0000"/>
                </a:solidFill>
              </a:rPr>
              <a:t>$40 </a:t>
            </a:r>
            <a:r>
              <a:rPr lang="en-AU" dirty="0"/>
              <a:t>x hours </a:t>
            </a:r>
            <a:r>
              <a:rPr lang="en-AU" b="1" dirty="0">
                <a:solidFill>
                  <a:srgbClr val="0070C0"/>
                </a:solidFill>
              </a:rPr>
              <a:t>+$100</a:t>
            </a:r>
            <a:endParaRPr lang="en-AU" dirty="0"/>
          </a:p>
          <a:p>
            <a:r>
              <a:rPr lang="en-AU" dirty="0"/>
              <a:t>If hours = 12 then		cost = </a:t>
            </a:r>
            <a:r>
              <a:rPr lang="en-AU" b="1" dirty="0">
                <a:solidFill>
                  <a:srgbClr val="FF0000"/>
                </a:solidFill>
              </a:rPr>
              <a:t>$40 </a:t>
            </a:r>
            <a:r>
              <a:rPr lang="en-AU" dirty="0"/>
              <a:t>x 12 </a:t>
            </a:r>
            <a:r>
              <a:rPr lang="en-AU" b="1" dirty="0">
                <a:solidFill>
                  <a:srgbClr val="0070C0"/>
                </a:solidFill>
              </a:rPr>
              <a:t>+$100</a:t>
            </a:r>
          </a:p>
          <a:p>
            <a:r>
              <a:rPr lang="en-AU" b="1" dirty="0">
                <a:solidFill>
                  <a:srgbClr val="0070C0"/>
                </a:solidFill>
              </a:rPr>
              <a:t>			</a:t>
            </a:r>
            <a:r>
              <a:rPr lang="en-AU" dirty="0"/>
              <a:t>cost = </a:t>
            </a:r>
            <a:r>
              <a:rPr lang="en-AU" b="1" dirty="0"/>
              <a:t>$580</a:t>
            </a:r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Quote 2  			cost = </a:t>
            </a:r>
            <a:r>
              <a:rPr lang="en-AU" b="1" dirty="0">
                <a:solidFill>
                  <a:srgbClr val="FF0000"/>
                </a:solidFill>
              </a:rPr>
              <a:t>$35 </a:t>
            </a:r>
            <a:r>
              <a:rPr lang="en-AU" dirty="0"/>
              <a:t>x hours + </a:t>
            </a:r>
            <a:r>
              <a:rPr lang="en-AU" b="1" dirty="0">
                <a:solidFill>
                  <a:srgbClr val="0070C0"/>
                </a:solidFill>
              </a:rPr>
              <a:t>$150</a:t>
            </a:r>
          </a:p>
          <a:p>
            <a:r>
              <a:rPr lang="en-AU" dirty="0"/>
              <a:t>If hours = 12 then		cost = </a:t>
            </a:r>
            <a:r>
              <a:rPr lang="en-AU" b="1" dirty="0">
                <a:solidFill>
                  <a:srgbClr val="FF0000"/>
                </a:solidFill>
              </a:rPr>
              <a:t>$35 </a:t>
            </a:r>
            <a:r>
              <a:rPr lang="en-AU" dirty="0"/>
              <a:t>x 12 </a:t>
            </a:r>
            <a:r>
              <a:rPr lang="en-AU" b="1" dirty="0">
                <a:solidFill>
                  <a:srgbClr val="0070C0"/>
                </a:solidFill>
              </a:rPr>
              <a:t>+$150</a:t>
            </a:r>
          </a:p>
          <a:p>
            <a:r>
              <a:rPr lang="en-AU" b="1" dirty="0">
                <a:solidFill>
                  <a:srgbClr val="0070C0"/>
                </a:solidFill>
              </a:rPr>
              <a:t>			</a:t>
            </a:r>
            <a:r>
              <a:rPr lang="en-AU" dirty="0"/>
              <a:t>cost = </a:t>
            </a:r>
            <a:r>
              <a:rPr lang="en-AU" b="1" dirty="0"/>
              <a:t>$570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182834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5926" y="133643"/>
            <a:ext cx="683689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does all of this help?</a:t>
            </a:r>
          </a:p>
          <a:p>
            <a:r>
              <a:rPr lang="en-AU" dirty="0"/>
              <a:t>	You have now been told that there is 12 hours of work top be completed (it’s a major re-wire of several apartments).  So which is cheapest?</a:t>
            </a:r>
          </a:p>
          <a:p>
            <a:endParaRPr lang="en-AU" dirty="0"/>
          </a:p>
          <a:p>
            <a:r>
              <a:rPr lang="en-AU" dirty="0"/>
              <a:t>Quote 1  			cost = </a:t>
            </a:r>
            <a:r>
              <a:rPr lang="en-AU" b="1" dirty="0">
                <a:solidFill>
                  <a:srgbClr val="FF0000"/>
                </a:solidFill>
              </a:rPr>
              <a:t>$40 </a:t>
            </a:r>
            <a:r>
              <a:rPr lang="en-AU" dirty="0"/>
              <a:t>x hours </a:t>
            </a:r>
            <a:r>
              <a:rPr lang="en-AU" b="1" dirty="0">
                <a:solidFill>
                  <a:srgbClr val="0070C0"/>
                </a:solidFill>
              </a:rPr>
              <a:t>+$100</a:t>
            </a:r>
            <a:endParaRPr lang="en-AU" dirty="0"/>
          </a:p>
          <a:p>
            <a:r>
              <a:rPr lang="en-AU" dirty="0"/>
              <a:t>If hours = 12 then		cost = </a:t>
            </a:r>
            <a:r>
              <a:rPr lang="en-AU" b="1" dirty="0">
                <a:solidFill>
                  <a:srgbClr val="FF0000"/>
                </a:solidFill>
              </a:rPr>
              <a:t>$40 </a:t>
            </a:r>
            <a:r>
              <a:rPr lang="en-AU" dirty="0"/>
              <a:t>x 12 </a:t>
            </a:r>
            <a:r>
              <a:rPr lang="en-AU" b="1" dirty="0">
                <a:solidFill>
                  <a:srgbClr val="0070C0"/>
                </a:solidFill>
              </a:rPr>
              <a:t>+$100</a:t>
            </a:r>
          </a:p>
          <a:p>
            <a:r>
              <a:rPr lang="en-AU" b="1" dirty="0">
                <a:solidFill>
                  <a:srgbClr val="0070C0"/>
                </a:solidFill>
              </a:rPr>
              <a:t>			</a:t>
            </a:r>
            <a:r>
              <a:rPr lang="en-AU" dirty="0"/>
              <a:t>cost = </a:t>
            </a:r>
            <a:r>
              <a:rPr lang="en-AU" b="1" dirty="0"/>
              <a:t>$580</a:t>
            </a:r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Quote 2  			cost = </a:t>
            </a:r>
            <a:r>
              <a:rPr lang="en-AU" b="1" dirty="0">
                <a:solidFill>
                  <a:srgbClr val="FF0000"/>
                </a:solidFill>
              </a:rPr>
              <a:t>$35 </a:t>
            </a:r>
            <a:r>
              <a:rPr lang="en-AU" dirty="0"/>
              <a:t>x hours + </a:t>
            </a:r>
            <a:r>
              <a:rPr lang="en-AU" b="1" dirty="0">
                <a:solidFill>
                  <a:srgbClr val="0070C0"/>
                </a:solidFill>
              </a:rPr>
              <a:t>$150</a:t>
            </a:r>
          </a:p>
          <a:p>
            <a:r>
              <a:rPr lang="en-AU" dirty="0"/>
              <a:t>If hours = 12 then		cost = </a:t>
            </a:r>
            <a:r>
              <a:rPr lang="en-AU" b="1" dirty="0">
                <a:solidFill>
                  <a:srgbClr val="FF0000"/>
                </a:solidFill>
              </a:rPr>
              <a:t>$35 </a:t>
            </a:r>
            <a:r>
              <a:rPr lang="en-AU" dirty="0"/>
              <a:t>x 12 </a:t>
            </a:r>
            <a:r>
              <a:rPr lang="en-AU" b="1" dirty="0">
                <a:solidFill>
                  <a:srgbClr val="0070C0"/>
                </a:solidFill>
              </a:rPr>
              <a:t>+$150</a:t>
            </a:r>
          </a:p>
          <a:p>
            <a:r>
              <a:rPr lang="en-AU" b="1" dirty="0">
                <a:solidFill>
                  <a:srgbClr val="0070C0"/>
                </a:solidFill>
              </a:rPr>
              <a:t>			</a:t>
            </a:r>
            <a:r>
              <a:rPr lang="en-AU" dirty="0"/>
              <a:t>cost = </a:t>
            </a:r>
            <a:r>
              <a:rPr lang="en-AU" b="1" dirty="0"/>
              <a:t>$570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Quote 3			cost = </a:t>
            </a:r>
            <a:r>
              <a:rPr lang="en-AU" b="1" dirty="0">
                <a:solidFill>
                  <a:srgbClr val="FF0000"/>
                </a:solidFill>
              </a:rPr>
              <a:t>$50 </a:t>
            </a:r>
            <a:r>
              <a:rPr lang="en-AU" dirty="0"/>
              <a:t>x hours + </a:t>
            </a:r>
            <a:r>
              <a:rPr lang="en-AU" b="1" dirty="0">
                <a:solidFill>
                  <a:srgbClr val="0070C0"/>
                </a:solidFill>
              </a:rPr>
              <a:t>$50</a:t>
            </a:r>
          </a:p>
          <a:p>
            <a:r>
              <a:rPr lang="en-AU" dirty="0"/>
              <a:t>If hours = 12 then		</a:t>
            </a: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441585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5926" y="133643"/>
            <a:ext cx="6836899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does all of this help?</a:t>
            </a:r>
          </a:p>
          <a:p>
            <a:r>
              <a:rPr lang="en-AU" dirty="0"/>
              <a:t>	You have now been told that there is 12 hours of work top be completed (it’s a major re-wire of several apartments).  So which is cheapest?</a:t>
            </a:r>
          </a:p>
          <a:p>
            <a:endParaRPr lang="en-AU" dirty="0"/>
          </a:p>
          <a:p>
            <a:r>
              <a:rPr lang="en-AU" dirty="0"/>
              <a:t>Quote 1  			cost = </a:t>
            </a:r>
            <a:r>
              <a:rPr lang="en-AU" b="1" dirty="0">
                <a:solidFill>
                  <a:srgbClr val="FF0000"/>
                </a:solidFill>
              </a:rPr>
              <a:t>$40 </a:t>
            </a:r>
            <a:r>
              <a:rPr lang="en-AU" dirty="0"/>
              <a:t>x hours </a:t>
            </a:r>
            <a:r>
              <a:rPr lang="en-AU" b="1" dirty="0">
                <a:solidFill>
                  <a:srgbClr val="0070C0"/>
                </a:solidFill>
              </a:rPr>
              <a:t>+$100</a:t>
            </a:r>
            <a:endParaRPr lang="en-AU" dirty="0"/>
          </a:p>
          <a:p>
            <a:r>
              <a:rPr lang="en-AU" dirty="0"/>
              <a:t>If hours = 12 then		cost = </a:t>
            </a:r>
            <a:r>
              <a:rPr lang="en-AU" b="1" dirty="0">
                <a:solidFill>
                  <a:srgbClr val="FF0000"/>
                </a:solidFill>
              </a:rPr>
              <a:t>$40 </a:t>
            </a:r>
            <a:r>
              <a:rPr lang="en-AU" dirty="0"/>
              <a:t>x 12 </a:t>
            </a:r>
            <a:r>
              <a:rPr lang="en-AU" b="1" dirty="0">
                <a:solidFill>
                  <a:srgbClr val="0070C0"/>
                </a:solidFill>
              </a:rPr>
              <a:t>+$100</a:t>
            </a:r>
          </a:p>
          <a:p>
            <a:r>
              <a:rPr lang="en-AU" b="1" dirty="0">
                <a:solidFill>
                  <a:srgbClr val="0070C0"/>
                </a:solidFill>
              </a:rPr>
              <a:t>			</a:t>
            </a:r>
            <a:r>
              <a:rPr lang="en-AU" dirty="0"/>
              <a:t>cost = </a:t>
            </a:r>
            <a:r>
              <a:rPr lang="en-AU" b="1" dirty="0"/>
              <a:t>$580</a:t>
            </a:r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Quote 2  			cost = </a:t>
            </a:r>
            <a:r>
              <a:rPr lang="en-AU" b="1" dirty="0">
                <a:solidFill>
                  <a:srgbClr val="FF0000"/>
                </a:solidFill>
              </a:rPr>
              <a:t>$35 </a:t>
            </a:r>
            <a:r>
              <a:rPr lang="en-AU" dirty="0"/>
              <a:t>x hours + </a:t>
            </a:r>
            <a:r>
              <a:rPr lang="en-AU" b="1" dirty="0">
                <a:solidFill>
                  <a:srgbClr val="0070C0"/>
                </a:solidFill>
              </a:rPr>
              <a:t>$150</a:t>
            </a:r>
          </a:p>
          <a:p>
            <a:r>
              <a:rPr lang="en-AU" dirty="0"/>
              <a:t>If hours = 12 then		cost = </a:t>
            </a:r>
            <a:r>
              <a:rPr lang="en-AU" b="1" dirty="0">
                <a:solidFill>
                  <a:srgbClr val="FF0000"/>
                </a:solidFill>
              </a:rPr>
              <a:t>$35 </a:t>
            </a:r>
            <a:r>
              <a:rPr lang="en-AU" dirty="0"/>
              <a:t>x 12 </a:t>
            </a:r>
            <a:r>
              <a:rPr lang="en-AU" b="1" dirty="0">
                <a:solidFill>
                  <a:srgbClr val="0070C0"/>
                </a:solidFill>
              </a:rPr>
              <a:t>+$150</a:t>
            </a:r>
          </a:p>
          <a:p>
            <a:r>
              <a:rPr lang="en-AU" b="1" dirty="0">
                <a:solidFill>
                  <a:srgbClr val="0070C0"/>
                </a:solidFill>
              </a:rPr>
              <a:t>			</a:t>
            </a:r>
            <a:r>
              <a:rPr lang="en-AU" dirty="0"/>
              <a:t>cost = </a:t>
            </a:r>
            <a:r>
              <a:rPr lang="en-AU" b="1" dirty="0"/>
              <a:t>$570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Quote 3			cost = </a:t>
            </a:r>
            <a:r>
              <a:rPr lang="en-AU" b="1" dirty="0">
                <a:solidFill>
                  <a:srgbClr val="FF0000"/>
                </a:solidFill>
              </a:rPr>
              <a:t>$50 </a:t>
            </a:r>
            <a:r>
              <a:rPr lang="en-AU" dirty="0"/>
              <a:t>x hours + </a:t>
            </a:r>
            <a:r>
              <a:rPr lang="en-AU" b="1" dirty="0">
                <a:solidFill>
                  <a:srgbClr val="0070C0"/>
                </a:solidFill>
              </a:rPr>
              <a:t>$50</a:t>
            </a:r>
          </a:p>
          <a:p>
            <a:r>
              <a:rPr lang="en-AU" dirty="0"/>
              <a:t>If hours = 12 then		cost = </a:t>
            </a:r>
            <a:r>
              <a:rPr lang="en-AU" b="1" dirty="0">
                <a:solidFill>
                  <a:srgbClr val="FF0000"/>
                </a:solidFill>
              </a:rPr>
              <a:t>$50 </a:t>
            </a:r>
            <a:r>
              <a:rPr lang="en-AU" dirty="0"/>
              <a:t>x 12 </a:t>
            </a:r>
            <a:r>
              <a:rPr lang="en-AU" b="1" dirty="0">
                <a:solidFill>
                  <a:srgbClr val="0070C0"/>
                </a:solidFill>
              </a:rPr>
              <a:t>+$50</a:t>
            </a:r>
          </a:p>
          <a:p>
            <a:r>
              <a:rPr lang="en-AU" b="1" dirty="0">
                <a:solidFill>
                  <a:srgbClr val="0070C0"/>
                </a:solidFill>
              </a:rPr>
              <a:t>			</a:t>
            </a:r>
            <a:r>
              <a:rPr lang="en-AU" dirty="0"/>
              <a:t>cost = </a:t>
            </a:r>
            <a:r>
              <a:rPr lang="en-AU" b="1" dirty="0"/>
              <a:t>$650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092743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80585" y="189571"/>
            <a:ext cx="724829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Try and find the rules for each of these.</a:t>
            </a:r>
          </a:p>
          <a:p>
            <a:endParaRPr lang="en-AU" dirty="0"/>
          </a:p>
          <a:p>
            <a:r>
              <a:rPr lang="en-AU" dirty="0"/>
              <a:t>A Taxi costs $5.40 “flag fall” and $2 per Kilometre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	Cost = 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A mobile phone cost is $15 each month + $0.4 each call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	</a:t>
            </a:r>
            <a:r>
              <a:rPr lang="en-AU" dirty="0"/>
              <a:t>Cost = 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7015776"/>
              </p:ext>
            </p:extLst>
          </p:nvPr>
        </p:nvGraphicFramePr>
        <p:xfrm>
          <a:off x="1560826" y="1222491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Distance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3975726"/>
              </p:ext>
            </p:extLst>
          </p:nvPr>
        </p:nvGraphicFramePr>
        <p:xfrm>
          <a:off x="1560826" y="3245187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35399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164356" y="267283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AU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0660" y="20186"/>
            <a:ext cx="3857625" cy="1485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03249" y="301083"/>
            <a:ext cx="651231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Try to write a rule for this pattern.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	step 1	       step 2	step 3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Now try page 50 ex 4.1 from your txt book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2094045"/>
              </p:ext>
            </p:extLst>
          </p:nvPr>
        </p:nvGraphicFramePr>
        <p:xfrm>
          <a:off x="1111405" y="2144726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Matches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4926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Yr11 Volume" id="{4F1C00FB-79EA-4D2F-8AC3-9A991D6DE2E1}" vid="{6CA4A6D4-37E0-401C-B3A4-CEC7587D174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237</TotalTime>
  <Words>1601</Words>
  <Application>Microsoft Office PowerPoint</Application>
  <PresentationFormat>On-screen Show (16:10)</PresentationFormat>
  <Paragraphs>966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E4007446</dc:creator>
  <cp:lastModifiedBy>E4007446</cp:lastModifiedBy>
  <cp:revision>21</cp:revision>
  <dcterms:created xsi:type="dcterms:W3CDTF">2016-07-22T05:41:47Z</dcterms:created>
  <dcterms:modified xsi:type="dcterms:W3CDTF">2017-03-13T14:32:44Z</dcterms:modified>
</cp:coreProperties>
</file>
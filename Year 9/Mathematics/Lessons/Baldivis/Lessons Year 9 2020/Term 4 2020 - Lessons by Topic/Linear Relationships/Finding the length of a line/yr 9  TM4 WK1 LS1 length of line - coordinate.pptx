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56" r:id="rId3"/>
    <p:sldId id="258" r:id="rId4"/>
    <p:sldId id="257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3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26/09/2017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0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26/09/2017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77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26/09/2017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74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26/09/2017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75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26/09/2017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66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26/09/2017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07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26/09/2017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802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26/09/2017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327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26/09/2017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47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26/09/2017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58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26/09/2017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82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A98DB-85F7-4057-9FF8-584B97218105}" type="datetimeFigureOut">
              <a:rPr lang="en-AU" smtClean="0"/>
              <a:t>26/09/2017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52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7.png"/><Relationship Id="rId5" Type="http://schemas.openxmlformats.org/officeDocument/2006/relationships/image" Target="../media/image1.wmf"/><Relationship Id="rId4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8.png"/><Relationship Id="rId5" Type="http://schemas.openxmlformats.org/officeDocument/2006/relationships/image" Target="../media/image1.wmf"/><Relationship Id="rId4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0.png"/><Relationship Id="rId5" Type="http://schemas.openxmlformats.org/officeDocument/2006/relationships/image" Target="../media/image1.wmf"/><Relationship Id="rId4" Type="http://schemas.openxmlformats.org/officeDocument/2006/relationships/oleObject" Target="../embeddings/oleObject6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9.png"/><Relationship Id="rId5" Type="http://schemas.openxmlformats.org/officeDocument/2006/relationships/image" Target="../media/image1.wmf"/><Relationship Id="rId4" Type="http://schemas.openxmlformats.org/officeDocument/2006/relationships/oleObject" Target="../embeddings/oleObject7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7E62DC-9CB9-422E-8037-27DF1157BDE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8" t="13854" r="3374" b="17659"/>
          <a:stretch/>
        </p:blipFill>
        <p:spPr>
          <a:xfrm>
            <a:off x="167269" y="154265"/>
            <a:ext cx="4761570" cy="54440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0A5006-DEF8-43FF-8BB7-ACED6823782A}"/>
              </a:ext>
            </a:extLst>
          </p:cNvPr>
          <p:cNvSpPr txBox="1"/>
          <p:nvPr/>
        </p:nvSpPr>
        <p:spPr>
          <a:xfrm>
            <a:off x="5129561" y="323385"/>
            <a:ext cx="38694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As part of a search and rescue effort, you are required to fly a IR camera drone from the starting position to 3 points and home again.  You know the drone can fly 4km on a single charge.  If each 1 unit on the grid = 100m, can it make this distance?</a:t>
            </a:r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5CEF193A-E21A-4967-A347-91B82C9BBA7F}"/>
              </a:ext>
            </a:extLst>
          </p:cNvPr>
          <p:cNvSpPr/>
          <p:nvPr/>
        </p:nvSpPr>
        <p:spPr>
          <a:xfrm rot="2586181">
            <a:off x="2714369" y="5045871"/>
            <a:ext cx="423746" cy="458323"/>
          </a:xfrm>
          <a:prstGeom prst="plus">
            <a:avLst>
              <a:gd name="adj" fmla="val 39605"/>
            </a:avLst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538E2197-7C2A-4131-A50B-28B5A7C46569}"/>
              </a:ext>
            </a:extLst>
          </p:cNvPr>
          <p:cNvSpPr/>
          <p:nvPr/>
        </p:nvSpPr>
        <p:spPr>
          <a:xfrm rot="2586181">
            <a:off x="266678" y="2926870"/>
            <a:ext cx="423746" cy="458323"/>
          </a:xfrm>
          <a:prstGeom prst="plus">
            <a:avLst>
              <a:gd name="adj" fmla="val 39605"/>
            </a:avLst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Cross 11">
            <a:extLst>
              <a:ext uri="{FF2B5EF4-FFF2-40B4-BE49-F238E27FC236}">
                <a16:creationId xmlns:a16="http://schemas.microsoft.com/office/drawing/2014/main" id="{0BCDA621-E037-4B45-8D7E-31B547FA579A}"/>
              </a:ext>
            </a:extLst>
          </p:cNvPr>
          <p:cNvSpPr/>
          <p:nvPr/>
        </p:nvSpPr>
        <p:spPr>
          <a:xfrm rot="2586181">
            <a:off x="3684526" y="775492"/>
            <a:ext cx="423746" cy="458323"/>
          </a:xfrm>
          <a:prstGeom prst="plus">
            <a:avLst>
              <a:gd name="adj" fmla="val 39605"/>
            </a:avLst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459471C-6064-4D59-9F38-666BAC189C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2883168"/>
              </p:ext>
            </p:extLst>
          </p:nvPr>
        </p:nvGraphicFramePr>
        <p:xfrm>
          <a:off x="-225776" y="557561"/>
          <a:ext cx="5547659" cy="4874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r:id="rId4" imgW="4152960" imgH="4110480" progId="MHelp.Document">
                  <p:embed/>
                </p:oleObj>
              </mc:Choice>
              <mc:Fallback>
                <p:oleObj r:id="rId4" imgW="4152960" imgH="4110480" progId="MHelp.Document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E9DD3C1C-3119-4672-84FD-271B55D756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25776" y="557561"/>
                        <a:ext cx="5547659" cy="48742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42338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0F199F06-8127-4875-ADDB-4EEEC7FB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46" y="305304"/>
            <a:ext cx="4321376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85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85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85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85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85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85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85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85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85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85775" algn="l"/>
              </a:tabLst>
            </a:pPr>
            <a:r>
              <a:rPr kumimoji="0" lang="en-AU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Arial Unicode MS"/>
                <a:cs typeface="Times New Roman" panose="02020603050405020304" pitchFamily="18" charset="0"/>
              </a:rPr>
              <a:t>On the graph below, plot the following points:</a:t>
            </a:r>
            <a:endParaRPr kumimoji="0" lang="en-AU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85775" algn="l"/>
              </a:tabLst>
            </a:pPr>
            <a:r>
              <a:rPr kumimoji="0" lang="en-AU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Arial Unicode MS"/>
                <a:cs typeface="Times New Roman" panose="02020603050405020304" pitchFamily="18" charset="0"/>
              </a:rPr>
              <a:t>a)  (3, 5)		f) (–1, 4)</a:t>
            </a:r>
            <a:endParaRPr kumimoji="0" lang="en-AU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85775" algn="l"/>
              </a:tabLst>
            </a:pPr>
            <a:r>
              <a:rPr kumimoji="0" lang="en-AU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Arial Unicode MS"/>
                <a:cs typeface="Times New Roman" panose="02020603050405020304" pitchFamily="18" charset="0"/>
              </a:rPr>
              <a:t>b)  (2,  –1)	g) (3, –3)</a:t>
            </a:r>
            <a:endParaRPr kumimoji="0" lang="en-AU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85775" algn="l"/>
              </a:tabLst>
            </a:pPr>
            <a:r>
              <a:rPr kumimoji="0" lang="en-AU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Arial Unicode MS"/>
                <a:cs typeface="Times New Roman" panose="02020603050405020304" pitchFamily="18" charset="0"/>
              </a:rPr>
              <a:t>c)  (– 3, – 4)	h) (0, 0)</a:t>
            </a:r>
            <a:endParaRPr kumimoji="0" lang="en-AU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85775" algn="l"/>
              </a:tabLst>
            </a:pPr>
            <a:r>
              <a:rPr kumimoji="0" lang="en-AU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Arial Unicode MS"/>
                <a:cs typeface="Times New Roman" panose="02020603050405020304" pitchFamily="18" charset="0"/>
              </a:rPr>
              <a:t>d)  (5, 0)		</a:t>
            </a:r>
            <a:r>
              <a:rPr kumimoji="0" lang="en-AU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Arial Unicode MS"/>
                <a:cs typeface="Times New Roman" panose="02020603050405020304" pitchFamily="18" charset="0"/>
              </a:rPr>
              <a:t>i</a:t>
            </a:r>
            <a:r>
              <a:rPr kumimoji="0" lang="en-AU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Arial Unicode MS"/>
                <a:cs typeface="Times New Roman" panose="02020603050405020304" pitchFamily="18" charset="0"/>
              </a:rPr>
              <a:t>)  (5½, – 1)</a:t>
            </a:r>
            <a:endParaRPr kumimoji="0" lang="en-AU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85775" algn="l"/>
              </a:tabLst>
            </a:pPr>
            <a:r>
              <a:rPr kumimoji="0" lang="en-AU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Arial Unicode MS"/>
                <a:cs typeface="Times New Roman" panose="02020603050405020304" pitchFamily="18" charset="0"/>
              </a:rPr>
              <a:t>e)  (0, 2) 		j)  (–3, 3)</a:t>
            </a:r>
            <a:endParaRPr kumimoji="0" lang="en-AU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85775" algn="l"/>
              </a:tabLst>
            </a:pPr>
            <a:endParaRPr kumimoji="0" lang="en-AU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E9DD3C1C-3119-4672-84FD-271B55D756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23063" y="100361"/>
          <a:ext cx="5547659" cy="4874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" r:id="rId3" imgW="4152960" imgH="4110480" progId="MHelp.Document">
                  <p:embed/>
                </p:oleObj>
              </mc:Choice>
              <mc:Fallback>
                <p:oleObj r:id="rId3" imgW="4152960" imgH="4110480" progId="MHelp.Document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3063" y="100361"/>
                        <a:ext cx="5547659" cy="48742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24">
            <a:extLst>
              <a:ext uri="{FF2B5EF4-FFF2-40B4-BE49-F238E27FC236}">
                <a16:creationId xmlns:a16="http://schemas.microsoft.com/office/drawing/2014/main" id="{BA586F39-5FED-48F0-A387-2FB658EEB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9595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0F199F06-8127-4875-ADDB-4EEEC7FB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46" y="305304"/>
            <a:ext cx="4321376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85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85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85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85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85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85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85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85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857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85775" algn="l"/>
              </a:tabLst>
            </a:pPr>
            <a:r>
              <a:rPr kumimoji="0" lang="en-AU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Arial Unicode MS"/>
                <a:cs typeface="Times New Roman" panose="02020603050405020304" pitchFamily="18" charset="0"/>
              </a:rPr>
              <a:t>On the graph below, plot the following points:</a:t>
            </a:r>
            <a:endParaRPr kumimoji="0" lang="en-AU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85775" algn="l"/>
              </a:tabLst>
            </a:pPr>
            <a:r>
              <a:rPr kumimoji="0" lang="en-AU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Arial Unicode MS"/>
                <a:cs typeface="Times New Roman" panose="02020603050405020304" pitchFamily="18" charset="0"/>
              </a:rPr>
              <a:t>a)  (3, 5)		f) (–1, 4)</a:t>
            </a:r>
            <a:endParaRPr kumimoji="0" lang="en-AU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85775" algn="l"/>
              </a:tabLst>
            </a:pPr>
            <a:r>
              <a:rPr kumimoji="0" lang="en-AU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Arial Unicode MS"/>
                <a:cs typeface="Times New Roman" panose="02020603050405020304" pitchFamily="18" charset="0"/>
              </a:rPr>
              <a:t>b)  (2,  –1)	g) (3, –3)</a:t>
            </a:r>
            <a:endParaRPr kumimoji="0" lang="en-AU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85775" algn="l"/>
              </a:tabLst>
            </a:pPr>
            <a:r>
              <a:rPr kumimoji="0" lang="en-AU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Arial Unicode MS"/>
                <a:cs typeface="Times New Roman" panose="02020603050405020304" pitchFamily="18" charset="0"/>
              </a:rPr>
              <a:t>c)  (– 3, – 4)	h) (0, 0)</a:t>
            </a:r>
            <a:endParaRPr kumimoji="0" lang="en-AU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85775" algn="l"/>
              </a:tabLst>
            </a:pPr>
            <a:r>
              <a:rPr kumimoji="0" lang="en-AU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Arial Unicode MS"/>
                <a:cs typeface="Times New Roman" panose="02020603050405020304" pitchFamily="18" charset="0"/>
              </a:rPr>
              <a:t>d)  (5, 0)		</a:t>
            </a:r>
            <a:r>
              <a:rPr kumimoji="0" lang="en-AU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Arial Unicode MS"/>
                <a:cs typeface="Times New Roman" panose="02020603050405020304" pitchFamily="18" charset="0"/>
              </a:rPr>
              <a:t>i</a:t>
            </a:r>
            <a:r>
              <a:rPr kumimoji="0" lang="en-AU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Arial Unicode MS"/>
                <a:cs typeface="Times New Roman" panose="02020603050405020304" pitchFamily="18" charset="0"/>
              </a:rPr>
              <a:t>)  (5½, – 1)</a:t>
            </a:r>
            <a:endParaRPr kumimoji="0" lang="en-AU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85775" algn="l"/>
              </a:tabLst>
            </a:pPr>
            <a:r>
              <a:rPr kumimoji="0" lang="en-AU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Arial Unicode MS"/>
                <a:cs typeface="Times New Roman" panose="02020603050405020304" pitchFamily="18" charset="0"/>
              </a:rPr>
              <a:t>e)  (0, 2) 		j)  (–3, 3)</a:t>
            </a:r>
            <a:endParaRPr kumimoji="0" lang="en-AU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85775" algn="l"/>
              </a:tabLst>
            </a:pPr>
            <a:endParaRPr kumimoji="0" lang="en-AU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5" name="Group 1">
            <a:extLst>
              <a:ext uri="{FF2B5EF4-FFF2-40B4-BE49-F238E27FC236}">
                <a16:creationId xmlns:a16="http://schemas.microsoft.com/office/drawing/2014/main" id="{3FB11883-DF9B-4965-A63F-688F8A1BAD51}"/>
              </a:ext>
            </a:extLst>
          </p:cNvPr>
          <p:cNvGrpSpPr>
            <a:grpSpLocks/>
          </p:cNvGrpSpPr>
          <p:nvPr/>
        </p:nvGrpSpPr>
        <p:grpSpPr bwMode="auto">
          <a:xfrm>
            <a:off x="3323063" y="100361"/>
            <a:ext cx="5924085" cy="4874206"/>
            <a:chOff x="1980" y="4680"/>
            <a:chExt cx="8640" cy="7997"/>
          </a:xfrm>
        </p:grpSpPr>
        <p:graphicFrame>
          <p:nvGraphicFramePr>
            <p:cNvPr id="6" name="Object 5">
              <a:extLst>
                <a:ext uri="{FF2B5EF4-FFF2-40B4-BE49-F238E27FC236}">
                  <a16:creationId xmlns:a16="http://schemas.microsoft.com/office/drawing/2014/main" id="{E9DD3C1C-3119-4672-84FD-271B55D7563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80" y="4680"/>
            <a:ext cx="8091" cy="79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r:id="rId3" imgW="4152960" imgH="4110480" progId="MHelp.Document">
                    <p:embed/>
                  </p:oleObj>
                </mc:Choice>
                <mc:Fallback>
                  <p:oleObj r:id="rId3" imgW="4152960" imgH="4110480" progId="MHelp.Document">
                    <p:embed/>
                    <p:pic>
                      <p:nvPicPr>
                        <p:cNvPr id="6" name="Object 5">
                          <a:extLst>
                            <a:ext uri="{FF2B5EF4-FFF2-40B4-BE49-F238E27FC236}">
                              <a16:creationId xmlns:a16="http://schemas.microsoft.com/office/drawing/2014/main" id="{E9DD3C1C-3119-4672-84FD-271B55D7563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0" y="4680"/>
                          <a:ext cx="8091" cy="799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 Box 11">
              <a:extLst>
                <a:ext uri="{FF2B5EF4-FFF2-40B4-BE49-F238E27FC236}">
                  <a16:creationId xmlns:a16="http://schemas.microsoft.com/office/drawing/2014/main" id="{C3F61C0C-2913-474F-8BEF-92F74570D2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0" y="5040"/>
              <a:ext cx="1260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aramond" panose="02020404030301010803" pitchFamily="18" charset="0"/>
                  <a:ea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</a:t>
              </a: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aramond" panose="02020404030301010803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8" name="Text Box 10">
              <a:extLst>
                <a:ext uri="{FF2B5EF4-FFF2-40B4-BE49-F238E27FC236}">
                  <a16:creationId xmlns:a16="http://schemas.microsoft.com/office/drawing/2014/main" id="{918A2C40-D756-4F2F-8240-5758B0FB14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0" y="9180"/>
              <a:ext cx="1260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Garamond" panose="02020404030301010803" pitchFamily="18" charset="0"/>
                  <a:ea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</a:t>
              </a:r>
              <a:r>
                <a:rPr kumimoji="0" lang="en-US" altLang="en-US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Garamond" panose="02020404030301010803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363D8665-7432-439D-BF97-40AFD99AB3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8" y="11345"/>
              <a:ext cx="1260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Garamond" panose="02020404030301010803" pitchFamily="18" charset="0"/>
                  <a:ea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</a:t>
              </a:r>
              <a:r>
                <a:rPr kumimoji="0" lang="en-US" altLang="en-US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Garamond" panose="02020404030301010803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E0B077E7-656F-4C1C-9AAE-984FCF6911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80" y="8460"/>
              <a:ext cx="1260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aramond" panose="02020404030301010803" pitchFamily="18" charset="0"/>
                  <a:ea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</a:t>
              </a: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aramond" panose="02020404030301010803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1" name="Text Box 7">
              <a:extLst>
                <a:ext uri="{FF2B5EF4-FFF2-40B4-BE49-F238E27FC236}">
                  <a16:creationId xmlns:a16="http://schemas.microsoft.com/office/drawing/2014/main" id="{A5F313CC-4F13-4799-933B-9FBF9ACA31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29" y="7149"/>
              <a:ext cx="1260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aramond" panose="02020404030301010803" pitchFamily="18" charset="0"/>
                  <a:ea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</a:t>
              </a: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aramond" panose="02020404030301010803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2" name="Text Box 6">
              <a:extLst>
                <a:ext uri="{FF2B5EF4-FFF2-40B4-BE49-F238E27FC236}">
                  <a16:creationId xmlns:a16="http://schemas.microsoft.com/office/drawing/2014/main" id="{D3A8E0C8-AD83-4960-9FF5-1553A61C34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0" y="5760"/>
              <a:ext cx="1260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aramond" panose="02020404030301010803" pitchFamily="18" charset="0"/>
                  <a:ea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</a:t>
              </a: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aramond" panose="02020404030301010803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3" name="Text Box 5">
              <a:extLst>
                <a:ext uri="{FF2B5EF4-FFF2-40B4-BE49-F238E27FC236}">
                  <a16:creationId xmlns:a16="http://schemas.microsoft.com/office/drawing/2014/main" id="{DD1CC5DD-7749-451B-B824-2C648959E6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0" y="10620"/>
              <a:ext cx="1260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Garamond" panose="02020404030301010803" pitchFamily="18" charset="0"/>
                  <a:ea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</a:t>
              </a:r>
              <a:r>
                <a:rPr kumimoji="0" lang="en-US" altLang="en-US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Garamond" panose="02020404030301010803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4" name="Text Box 4">
              <a:extLst>
                <a:ext uri="{FF2B5EF4-FFF2-40B4-BE49-F238E27FC236}">
                  <a16:creationId xmlns:a16="http://schemas.microsoft.com/office/drawing/2014/main" id="{9750DC1B-E776-40A1-A25C-AF505976BA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0" y="8460"/>
              <a:ext cx="1260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aramond" panose="02020404030301010803" pitchFamily="18" charset="0"/>
                  <a:ea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</a:t>
              </a: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aramond" panose="02020404030301010803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5" name="Text Box 3">
              <a:extLst>
                <a:ext uri="{FF2B5EF4-FFF2-40B4-BE49-F238E27FC236}">
                  <a16:creationId xmlns:a16="http://schemas.microsoft.com/office/drawing/2014/main" id="{45D82EDE-C8E7-48D6-8CD2-CC514B1FA2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60" y="9180"/>
              <a:ext cx="1260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Garamond" panose="02020404030301010803" pitchFamily="18" charset="0"/>
                  <a:ea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</a:t>
              </a:r>
              <a:r>
                <a:rPr kumimoji="0" lang="en-US" altLang="en-US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Garamond" panose="02020404030301010803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6" name="Text Box 2">
              <a:extLst>
                <a:ext uri="{FF2B5EF4-FFF2-40B4-BE49-F238E27FC236}">
                  <a16:creationId xmlns:a16="http://schemas.microsoft.com/office/drawing/2014/main" id="{0C73E793-FBCC-408D-9C9A-9D1E76DB48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6380"/>
              <a:ext cx="1260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aramond" panose="02020404030301010803" pitchFamily="18" charset="0"/>
                  <a:ea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</a:t>
              </a: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aramond" panose="02020404030301010803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17" name="Rectangle 24">
            <a:extLst>
              <a:ext uri="{FF2B5EF4-FFF2-40B4-BE49-F238E27FC236}">
                <a16:creationId xmlns:a16="http://schemas.microsoft.com/office/drawing/2014/main" id="{BA586F39-5FED-48F0-A387-2FB658EEB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4950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522" y="100339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3200" dirty="0"/>
              <a:t>Topic :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7161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884556" y="1178312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7" y="633749"/>
            <a:ext cx="6858000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200" dirty="0"/>
              <a:t>EQ 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12C8F17-5E29-4FD4-A315-2BA250031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463" y="1288662"/>
            <a:ext cx="3543300" cy="3219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8DFA8AF-F0A7-4D91-A61A-D531B2209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129" y="2806882"/>
            <a:ext cx="1524000" cy="1428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610CC01-DA10-483C-A3EB-8C3559D31B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036" y="2173470"/>
            <a:ext cx="66675" cy="733425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A2DBBFA-63DE-43EF-B342-B4CFFA950AC4}"/>
              </a:ext>
            </a:extLst>
          </p:cNvPr>
          <p:cNvCxnSpPr/>
          <p:nvPr/>
        </p:nvCxnSpPr>
        <p:spPr>
          <a:xfrm flipV="1">
            <a:off x="3229029" y="2163945"/>
            <a:ext cx="1392245" cy="7048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19FF11BD-1016-4544-AE65-B432DAB91B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6083" y="2635432"/>
            <a:ext cx="381000" cy="4857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061F83C-46FD-43B8-8FE2-6450B42981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8968" y="2635432"/>
            <a:ext cx="381000" cy="4857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BED8742-D1BC-4452-AF01-B219A78C36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8968" y="2263956"/>
            <a:ext cx="381000" cy="4857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6FB333-2246-4F9A-A8F6-315C581C1C9D}"/>
              </a:ext>
            </a:extLst>
          </p:cNvPr>
          <p:cNvSpPr txBox="1"/>
          <p:nvPr/>
        </p:nvSpPr>
        <p:spPr>
          <a:xfrm>
            <a:off x="5779741" y="1315179"/>
            <a:ext cx="3178098" cy="380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How do we find the distance between 2 points?</a:t>
            </a:r>
          </a:p>
          <a:p>
            <a:endParaRPr lang="en-AU" b="1" dirty="0"/>
          </a:p>
          <a:p>
            <a:r>
              <a:rPr lang="en-AU" b="1" dirty="0"/>
              <a:t>Using Pythagoras.</a:t>
            </a:r>
          </a:p>
          <a:p>
            <a:r>
              <a:rPr lang="en-AU" i="1" dirty="0"/>
              <a:t>	</a:t>
            </a:r>
            <a:r>
              <a:rPr lang="en-AU" sz="2000" i="1" dirty="0"/>
              <a:t>d</a:t>
            </a:r>
            <a:r>
              <a:rPr lang="en-AU" sz="2000" i="1" baseline="30000" dirty="0"/>
              <a:t>2</a:t>
            </a:r>
            <a:r>
              <a:rPr lang="en-AU" sz="2000" i="1" dirty="0"/>
              <a:t> = a</a:t>
            </a:r>
            <a:r>
              <a:rPr lang="en-AU" sz="2000" i="1" baseline="30000" dirty="0"/>
              <a:t>2</a:t>
            </a:r>
            <a:r>
              <a:rPr lang="en-AU" sz="2000" i="1" dirty="0"/>
              <a:t> + b</a:t>
            </a:r>
            <a:r>
              <a:rPr lang="en-AU" sz="2000" i="1" baseline="30000" dirty="0"/>
              <a:t>2</a:t>
            </a:r>
          </a:p>
          <a:p>
            <a:endParaRPr lang="en-AU" sz="2000" i="1" baseline="30000" dirty="0"/>
          </a:p>
          <a:p>
            <a:endParaRPr lang="en-AU" sz="2000" i="1" baseline="30000" dirty="0"/>
          </a:p>
          <a:p>
            <a:endParaRPr lang="en-AU" sz="2000" i="1" baseline="30000" dirty="0"/>
          </a:p>
          <a:p>
            <a:endParaRPr lang="en-AU" sz="2000" i="1" baseline="30000" dirty="0"/>
          </a:p>
          <a:p>
            <a:endParaRPr lang="en-AU" sz="2000" i="1" baseline="30000" dirty="0"/>
          </a:p>
          <a:p>
            <a:endParaRPr lang="en-AU" sz="2000" i="1" baseline="30000" dirty="0"/>
          </a:p>
          <a:p>
            <a:endParaRPr lang="en-AU" sz="2000" i="1" baseline="30000" dirty="0"/>
          </a:p>
          <a:p>
            <a:r>
              <a:rPr lang="en-AU" sz="2000" i="1" baseline="30000" dirty="0"/>
              <a:t>	</a:t>
            </a:r>
            <a:r>
              <a:rPr lang="en-AU" sz="2000" i="1" dirty="0"/>
              <a:t> d = 4.47</a:t>
            </a:r>
          </a:p>
          <a:p>
            <a:endParaRPr lang="en-AU" b="1" dirty="0"/>
          </a:p>
          <a:p>
            <a:endParaRPr lang="en-AU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C3BBB8D-E119-430F-ADB7-3E775C6D91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1120" y="2749731"/>
            <a:ext cx="2082417" cy="136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37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C1EE5B-A5E3-485C-BFA3-6CD72E956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97" y="715020"/>
            <a:ext cx="8160962" cy="28860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3393AC-8369-454C-9081-0B7DC3E93B5B}"/>
              </a:ext>
            </a:extLst>
          </p:cNvPr>
          <p:cNvSpPr txBox="1"/>
          <p:nvPr/>
        </p:nvSpPr>
        <p:spPr>
          <a:xfrm>
            <a:off x="591015" y="345688"/>
            <a:ext cx="1718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Let’s try these….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30FB3D-9E32-47AB-A486-7B8049F622B2}"/>
                  </a:ext>
                </a:extLst>
              </p:cNvPr>
              <p:cNvSpPr txBox="1"/>
              <p:nvPr/>
            </p:nvSpPr>
            <p:spPr>
              <a:xfrm>
                <a:off x="132876" y="2955074"/>
                <a:ext cx="2275788" cy="26114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lphaLcParenR"/>
                </a:pPr>
                <a:r>
                  <a:rPr lang="en-AU" dirty="0"/>
                  <a:t>A= (1,1) B= (4,3)</a:t>
                </a:r>
              </a:p>
              <a:p>
                <a:r>
                  <a:rPr lang="en-AU" dirty="0"/>
                  <a:t>	base = 4-1 = 3</a:t>
                </a:r>
              </a:p>
              <a:p>
                <a:r>
                  <a:rPr lang="en-AU" dirty="0"/>
                  <a:t>	height = 3-1 = 2</a:t>
                </a:r>
              </a:p>
              <a:p>
                <a:r>
                  <a:rPr lang="en-AU" dirty="0"/>
                  <a:t>Line</a:t>
                </a:r>
                <a:r>
                  <a:rPr lang="en-AU" baseline="30000" dirty="0"/>
                  <a:t>2</a:t>
                </a:r>
                <a:r>
                  <a:rPr lang="en-AU" dirty="0"/>
                  <a:t> = base</a:t>
                </a:r>
                <a:r>
                  <a:rPr lang="en-AU" baseline="30000" dirty="0"/>
                  <a:t>2</a:t>
                </a:r>
                <a:r>
                  <a:rPr lang="en-AU" dirty="0"/>
                  <a:t> + height</a:t>
                </a:r>
                <a:r>
                  <a:rPr lang="en-AU" baseline="30000" dirty="0"/>
                  <a:t>2</a:t>
                </a:r>
                <a:endParaRPr lang="en-AU" dirty="0"/>
              </a:p>
              <a:p>
                <a:r>
                  <a:rPr lang="en-AU" dirty="0"/>
                  <a:t>          = 3</a:t>
                </a:r>
                <a:r>
                  <a:rPr lang="en-AU" baseline="30000" dirty="0"/>
                  <a:t>2</a:t>
                </a:r>
                <a:r>
                  <a:rPr lang="en-AU" dirty="0"/>
                  <a:t> + 2</a:t>
                </a:r>
                <a:r>
                  <a:rPr lang="en-AU" baseline="30000" dirty="0"/>
                  <a:t>2</a:t>
                </a:r>
                <a:endParaRPr lang="en-AU" dirty="0"/>
              </a:p>
              <a:p>
                <a:r>
                  <a:rPr lang="en-AU" dirty="0"/>
                  <a:t>          = 9 + 4</a:t>
                </a:r>
              </a:p>
              <a:p>
                <a:r>
                  <a:rPr lang="en-AU" dirty="0"/>
                  <a:t>          = 13</a:t>
                </a:r>
              </a:p>
              <a:p>
                <a:r>
                  <a:rPr lang="en-AU" dirty="0"/>
                  <a:t>Line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AU" dirty="0"/>
                  <a:t>3.6</a:t>
                </a:r>
              </a:p>
              <a:p>
                <a:pPr marL="342900" indent="-342900">
                  <a:buAutoNum type="alphaLcParenR"/>
                </a:pPr>
                <a:endParaRPr lang="en-AU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30FB3D-9E32-47AB-A486-7B8049F62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76" y="2955074"/>
                <a:ext cx="2275788" cy="2611421"/>
              </a:xfrm>
              <a:prstGeom prst="rect">
                <a:avLst/>
              </a:prstGeom>
              <a:blipFill>
                <a:blip r:embed="rId3"/>
                <a:stretch>
                  <a:fillRect l="-2413" t="-14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DFB76B-BCC0-4F68-BCFC-88C1C5A07D6A}"/>
                  </a:ext>
                </a:extLst>
              </p:cNvPr>
              <p:cNvSpPr txBox="1"/>
              <p:nvPr/>
            </p:nvSpPr>
            <p:spPr>
              <a:xfrm>
                <a:off x="2838905" y="2955074"/>
                <a:ext cx="2275788" cy="26114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b) D= (-3, -3) E= (-2,1)</a:t>
                </a:r>
              </a:p>
              <a:p>
                <a:r>
                  <a:rPr lang="en-AU" dirty="0"/>
                  <a:t>	base = -2--3 = 1</a:t>
                </a:r>
              </a:p>
              <a:p>
                <a:r>
                  <a:rPr lang="en-AU" dirty="0"/>
                  <a:t>	height = 1--3 = 4</a:t>
                </a:r>
              </a:p>
              <a:p>
                <a:r>
                  <a:rPr lang="en-AU" dirty="0"/>
                  <a:t>Line</a:t>
                </a:r>
                <a:r>
                  <a:rPr lang="en-AU" baseline="30000" dirty="0"/>
                  <a:t>2</a:t>
                </a:r>
                <a:r>
                  <a:rPr lang="en-AU" dirty="0"/>
                  <a:t> = base</a:t>
                </a:r>
                <a:r>
                  <a:rPr lang="en-AU" baseline="30000" dirty="0"/>
                  <a:t>2</a:t>
                </a:r>
                <a:r>
                  <a:rPr lang="en-AU" dirty="0"/>
                  <a:t> + height</a:t>
                </a:r>
                <a:r>
                  <a:rPr lang="en-AU" baseline="30000" dirty="0"/>
                  <a:t>2</a:t>
                </a:r>
                <a:endParaRPr lang="en-AU" dirty="0"/>
              </a:p>
              <a:p>
                <a:r>
                  <a:rPr lang="en-AU" dirty="0"/>
                  <a:t>          = 1</a:t>
                </a:r>
                <a:r>
                  <a:rPr lang="en-AU" baseline="30000" dirty="0"/>
                  <a:t>2</a:t>
                </a:r>
                <a:r>
                  <a:rPr lang="en-AU" dirty="0"/>
                  <a:t> + 4</a:t>
                </a:r>
                <a:r>
                  <a:rPr lang="en-AU" baseline="30000" dirty="0"/>
                  <a:t>2</a:t>
                </a:r>
                <a:endParaRPr lang="en-AU" dirty="0"/>
              </a:p>
              <a:p>
                <a:r>
                  <a:rPr lang="en-AU" dirty="0"/>
                  <a:t>          = 1 + 16</a:t>
                </a:r>
              </a:p>
              <a:p>
                <a:r>
                  <a:rPr lang="en-AU" dirty="0"/>
                  <a:t>          = 17</a:t>
                </a:r>
              </a:p>
              <a:p>
                <a:r>
                  <a:rPr lang="en-AU" dirty="0"/>
                  <a:t>Line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e>
                    </m:rad>
                  </m:oMath>
                </a14:m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AU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4.12</m:t>
                    </m:r>
                  </m:oMath>
                </a14:m>
                <a:endParaRPr lang="en-AU" dirty="0"/>
              </a:p>
              <a:p>
                <a:pPr marL="342900" indent="-342900">
                  <a:buAutoNum type="alphaLcParenR"/>
                </a:pPr>
                <a:endParaRPr lang="en-AU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DFB76B-BCC0-4F68-BCFC-88C1C5A07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905" y="2955074"/>
                <a:ext cx="2275788" cy="2611421"/>
              </a:xfrm>
              <a:prstGeom prst="rect">
                <a:avLst/>
              </a:prstGeom>
              <a:blipFill>
                <a:blip r:embed="rId4"/>
                <a:stretch>
                  <a:fillRect l="-2413" t="-14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8840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C1EE5B-A5E3-485C-BFA3-6CD72E956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97" y="715020"/>
            <a:ext cx="8160962" cy="28860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3393AC-8369-454C-9081-0B7DC3E93B5B}"/>
              </a:ext>
            </a:extLst>
          </p:cNvPr>
          <p:cNvSpPr txBox="1"/>
          <p:nvPr/>
        </p:nvSpPr>
        <p:spPr>
          <a:xfrm>
            <a:off x="591015" y="345688"/>
            <a:ext cx="1718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Let’s try these….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30FB3D-9E32-47AB-A486-7B8049F622B2}"/>
                  </a:ext>
                </a:extLst>
              </p:cNvPr>
              <p:cNvSpPr txBox="1"/>
              <p:nvPr/>
            </p:nvSpPr>
            <p:spPr>
              <a:xfrm>
                <a:off x="132876" y="2955074"/>
                <a:ext cx="2275788" cy="26114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c) A= (1,1) E= (-2,1)</a:t>
                </a:r>
              </a:p>
              <a:p>
                <a:r>
                  <a:rPr lang="en-AU" dirty="0"/>
                  <a:t>	base = 1--2 = 3</a:t>
                </a:r>
              </a:p>
              <a:p>
                <a:r>
                  <a:rPr lang="en-AU" dirty="0"/>
                  <a:t>	height = 1-1 = 0</a:t>
                </a:r>
              </a:p>
              <a:p>
                <a:r>
                  <a:rPr lang="en-AU" dirty="0"/>
                  <a:t>Line</a:t>
                </a:r>
                <a:r>
                  <a:rPr lang="en-AU" baseline="30000" dirty="0"/>
                  <a:t>2</a:t>
                </a:r>
                <a:r>
                  <a:rPr lang="en-AU" dirty="0"/>
                  <a:t> = base</a:t>
                </a:r>
                <a:r>
                  <a:rPr lang="en-AU" baseline="30000" dirty="0"/>
                  <a:t>2</a:t>
                </a:r>
                <a:r>
                  <a:rPr lang="en-AU" dirty="0"/>
                  <a:t> + height</a:t>
                </a:r>
                <a:r>
                  <a:rPr lang="en-AU" baseline="30000" dirty="0"/>
                  <a:t>2</a:t>
                </a:r>
                <a:endParaRPr lang="en-AU" dirty="0"/>
              </a:p>
              <a:p>
                <a:r>
                  <a:rPr lang="en-AU" dirty="0"/>
                  <a:t>          = 3</a:t>
                </a:r>
                <a:r>
                  <a:rPr lang="en-AU" baseline="30000" dirty="0"/>
                  <a:t>2</a:t>
                </a:r>
                <a:r>
                  <a:rPr lang="en-AU" dirty="0"/>
                  <a:t> + 0</a:t>
                </a:r>
                <a:r>
                  <a:rPr lang="en-AU" baseline="30000" dirty="0"/>
                  <a:t>2</a:t>
                </a:r>
                <a:endParaRPr lang="en-AU" dirty="0"/>
              </a:p>
              <a:p>
                <a:r>
                  <a:rPr lang="en-AU" dirty="0"/>
                  <a:t>          = 9 + 0</a:t>
                </a:r>
              </a:p>
              <a:p>
                <a:r>
                  <a:rPr lang="en-AU" dirty="0"/>
                  <a:t>          = 9</a:t>
                </a:r>
              </a:p>
              <a:p>
                <a:r>
                  <a:rPr lang="en-AU" dirty="0"/>
                  <a:t>Line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</m:oMath>
                </a14:m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AU" dirty="0"/>
              </a:p>
              <a:p>
                <a:pPr marL="342900" indent="-342900">
                  <a:buAutoNum type="alphaLcParenR"/>
                </a:pPr>
                <a:endParaRPr lang="en-AU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30FB3D-9E32-47AB-A486-7B8049F62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76" y="2955074"/>
                <a:ext cx="2275788" cy="2611421"/>
              </a:xfrm>
              <a:prstGeom prst="rect">
                <a:avLst/>
              </a:prstGeom>
              <a:blipFill>
                <a:blip r:embed="rId3"/>
                <a:stretch>
                  <a:fillRect l="-2413" t="-14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DFB76B-BCC0-4F68-BCFC-88C1C5A07D6A}"/>
                  </a:ext>
                </a:extLst>
              </p:cNvPr>
              <p:cNvSpPr txBox="1"/>
              <p:nvPr/>
            </p:nvSpPr>
            <p:spPr>
              <a:xfrm>
                <a:off x="2838905" y="2955074"/>
                <a:ext cx="2275788" cy="2337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d) F= (4, -1) H= (0,-4)</a:t>
                </a:r>
              </a:p>
              <a:p>
                <a:r>
                  <a:rPr lang="en-AU" dirty="0"/>
                  <a:t>	base = 4-0 = 4</a:t>
                </a:r>
              </a:p>
              <a:p>
                <a:r>
                  <a:rPr lang="en-AU" dirty="0"/>
                  <a:t>	height = -1--4 = 3</a:t>
                </a:r>
              </a:p>
              <a:p>
                <a:r>
                  <a:rPr lang="en-AU" dirty="0"/>
                  <a:t>Line</a:t>
                </a:r>
                <a:r>
                  <a:rPr lang="en-AU" baseline="30000" dirty="0"/>
                  <a:t>2</a:t>
                </a:r>
                <a:r>
                  <a:rPr lang="en-AU" dirty="0"/>
                  <a:t> = base</a:t>
                </a:r>
                <a:r>
                  <a:rPr lang="en-AU" baseline="30000" dirty="0"/>
                  <a:t>2</a:t>
                </a:r>
                <a:r>
                  <a:rPr lang="en-AU" dirty="0"/>
                  <a:t> + height</a:t>
                </a:r>
                <a:r>
                  <a:rPr lang="en-AU" baseline="30000" dirty="0"/>
                  <a:t>2</a:t>
                </a:r>
                <a:endParaRPr lang="en-AU" dirty="0"/>
              </a:p>
              <a:p>
                <a:r>
                  <a:rPr lang="en-AU" dirty="0"/>
                  <a:t>          = 4</a:t>
                </a:r>
                <a:r>
                  <a:rPr lang="en-AU" baseline="30000" dirty="0"/>
                  <a:t>2</a:t>
                </a:r>
                <a:r>
                  <a:rPr lang="en-AU" dirty="0"/>
                  <a:t> + 3</a:t>
                </a:r>
                <a:r>
                  <a:rPr lang="en-AU" baseline="30000" dirty="0"/>
                  <a:t>2</a:t>
                </a:r>
                <a:endParaRPr lang="en-AU" dirty="0"/>
              </a:p>
              <a:p>
                <a:r>
                  <a:rPr lang="en-AU" dirty="0"/>
                  <a:t>          = 16 + 9</a:t>
                </a:r>
              </a:p>
              <a:p>
                <a:r>
                  <a:rPr lang="en-AU" dirty="0"/>
                  <a:t>          = 25</a:t>
                </a:r>
              </a:p>
              <a:p>
                <a:r>
                  <a:rPr lang="en-AU" dirty="0"/>
                  <a:t>Line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rad>
                  </m:oMath>
                </a14:m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DFB76B-BCC0-4F68-BCFC-88C1C5A07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905" y="2955074"/>
                <a:ext cx="2275788" cy="2337178"/>
              </a:xfrm>
              <a:prstGeom prst="rect">
                <a:avLst/>
              </a:prstGeom>
              <a:blipFill>
                <a:blip r:embed="rId4"/>
                <a:stretch>
                  <a:fillRect l="-2413" t="-1567" b="-33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6351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C1EE5B-A5E3-485C-BFA3-6CD72E956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97" y="715020"/>
            <a:ext cx="8160962" cy="28860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3393AC-8369-454C-9081-0B7DC3E93B5B}"/>
              </a:ext>
            </a:extLst>
          </p:cNvPr>
          <p:cNvSpPr txBox="1"/>
          <p:nvPr/>
        </p:nvSpPr>
        <p:spPr>
          <a:xfrm>
            <a:off x="591015" y="345688"/>
            <a:ext cx="1718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Let’s try these….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30FB3D-9E32-47AB-A486-7B8049F622B2}"/>
                  </a:ext>
                </a:extLst>
              </p:cNvPr>
              <p:cNvSpPr txBox="1"/>
              <p:nvPr/>
            </p:nvSpPr>
            <p:spPr>
              <a:xfrm>
                <a:off x="132875" y="2955074"/>
                <a:ext cx="2398451" cy="26114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e) D= (-3, -3) F= (4,-1)</a:t>
                </a:r>
              </a:p>
              <a:p>
                <a:r>
                  <a:rPr lang="en-AU" dirty="0"/>
                  <a:t>	base = 4--3 = 7</a:t>
                </a:r>
              </a:p>
              <a:p>
                <a:r>
                  <a:rPr lang="en-AU" dirty="0"/>
                  <a:t>	height = -3--1 = -2</a:t>
                </a:r>
              </a:p>
              <a:p>
                <a:r>
                  <a:rPr lang="en-AU" dirty="0"/>
                  <a:t>Line</a:t>
                </a:r>
                <a:r>
                  <a:rPr lang="en-AU" baseline="30000" dirty="0"/>
                  <a:t>2</a:t>
                </a:r>
                <a:r>
                  <a:rPr lang="en-AU" dirty="0"/>
                  <a:t> = base</a:t>
                </a:r>
                <a:r>
                  <a:rPr lang="en-AU" baseline="30000" dirty="0"/>
                  <a:t>2</a:t>
                </a:r>
                <a:r>
                  <a:rPr lang="en-AU" dirty="0"/>
                  <a:t> + height</a:t>
                </a:r>
                <a:r>
                  <a:rPr lang="en-AU" baseline="30000" dirty="0"/>
                  <a:t>2</a:t>
                </a:r>
                <a:endParaRPr lang="en-AU" dirty="0"/>
              </a:p>
              <a:p>
                <a:r>
                  <a:rPr lang="en-AU" dirty="0"/>
                  <a:t>          = 7</a:t>
                </a:r>
                <a:r>
                  <a:rPr lang="en-AU" baseline="30000" dirty="0"/>
                  <a:t>2</a:t>
                </a:r>
                <a:r>
                  <a:rPr lang="en-AU" dirty="0"/>
                  <a:t> + -2</a:t>
                </a:r>
                <a:r>
                  <a:rPr lang="en-AU" baseline="30000" dirty="0"/>
                  <a:t>2</a:t>
                </a:r>
                <a:endParaRPr lang="en-AU" dirty="0"/>
              </a:p>
              <a:p>
                <a:r>
                  <a:rPr lang="en-AU" dirty="0"/>
                  <a:t>          = 49 + 4</a:t>
                </a:r>
              </a:p>
              <a:p>
                <a:r>
                  <a:rPr lang="en-AU" dirty="0"/>
                  <a:t>          = 53</a:t>
                </a:r>
              </a:p>
              <a:p>
                <a:r>
                  <a:rPr lang="en-AU" dirty="0"/>
                  <a:t>Line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53</m:t>
                        </m:r>
                      </m:e>
                    </m:rad>
                  </m:oMath>
                </a14:m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AU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7.2</m:t>
                    </m:r>
                  </m:oMath>
                </a14:m>
                <a:endParaRPr lang="en-AU" dirty="0"/>
              </a:p>
              <a:p>
                <a:pPr marL="342900" indent="-342900">
                  <a:buAutoNum type="alphaLcParenR"/>
                </a:pPr>
                <a:endParaRPr lang="en-AU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30FB3D-9E32-47AB-A486-7B8049F62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75" y="2955074"/>
                <a:ext cx="2398451" cy="2611421"/>
              </a:xfrm>
              <a:prstGeom prst="rect">
                <a:avLst/>
              </a:prstGeom>
              <a:blipFill>
                <a:blip r:embed="rId3"/>
                <a:stretch>
                  <a:fillRect l="-2290" t="-14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DFB76B-BCC0-4F68-BCFC-88C1C5A07D6A}"/>
                  </a:ext>
                </a:extLst>
              </p:cNvPr>
              <p:cNvSpPr txBox="1"/>
              <p:nvPr/>
            </p:nvSpPr>
            <p:spPr>
              <a:xfrm>
                <a:off x="2838905" y="2955074"/>
                <a:ext cx="2275788" cy="26119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F) B= (4, 3) F= (4,-1)</a:t>
                </a:r>
              </a:p>
              <a:p>
                <a:r>
                  <a:rPr lang="en-AU" dirty="0"/>
                  <a:t>	base = 4-4 = 0</a:t>
                </a:r>
              </a:p>
              <a:p>
                <a:r>
                  <a:rPr lang="en-AU" dirty="0"/>
                  <a:t>	height = -1-3 = -4</a:t>
                </a:r>
              </a:p>
              <a:p>
                <a:r>
                  <a:rPr lang="en-AU" dirty="0"/>
                  <a:t>Line</a:t>
                </a:r>
                <a:r>
                  <a:rPr lang="en-AU" baseline="30000" dirty="0"/>
                  <a:t>2</a:t>
                </a:r>
                <a:r>
                  <a:rPr lang="en-AU" dirty="0"/>
                  <a:t> = base</a:t>
                </a:r>
                <a:r>
                  <a:rPr lang="en-AU" baseline="30000" dirty="0"/>
                  <a:t>2</a:t>
                </a:r>
                <a:r>
                  <a:rPr lang="en-AU" dirty="0"/>
                  <a:t> + height</a:t>
                </a:r>
                <a:r>
                  <a:rPr lang="en-AU" baseline="30000" dirty="0"/>
                  <a:t>2</a:t>
                </a:r>
                <a:endParaRPr lang="en-AU" dirty="0"/>
              </a:p>
              <a:p>
                <a:r>
                  <a:rPr lang="en-AU" dirty="0"/>
                  <a:t>          = 0</a:t>
                </a:r>
                <a:r>
                  <a:rPr lang="en-AU" baseline="30000" dirty="0"/>
                  <a:t>2</a:t>
                </a:r>
                <a:r>
                  <a:rPr lang="en-AU" dirty="0"/>
                  <a:t> + -4</a:t>
                </a:r>
                <a:r>
                  <a:rPr lang="en-AU" baseline="30000" dirty="0"/>
                  <a:t>2</a:t>
                </a:r>
                <a:endParaRPr lang="en-AU" dirty="0"/>
              </a:p>
              <a:p>
                <a:r>
                  <a:rPr lang="en-AU" dirty="0"/>
                  <a:t>          = 0 + 16</a:t>
                </a:r>
              </a:p>
              <a:p>
                <a:r>
                  <a:rPr lang="en-AU" dirty="0"/>
                  <a:t>          = 16</a:t>
                </a:r>
              </a:p>
              <a:p>
                <a:r>
                  <a:rPr lang="en-AU" dirty="0"/>
                  <a:t>Line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</m:oMath>
                </a14:m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AU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endParaRPr lang="en-AU" dirty="0"/>
              </a:p>
              <a:p>
                <a:pPr marL="342900" indent="-342900">
                  <a:buAutoNum type="alphaLcParenR"/>
                </a:pPr>
                <a:endParaRPr lang="en-AU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DFB76B-BCC0-4F68-BCFC-88C1C5A07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905" y="2955074"/>
                <a:ext cx="2275788" cy="2611933"/>
              </a:xfrm>
              <a:prstGeom prst="rect">
                <a:avLst/>
              </a:prstGeom>
              <a:blipFill>
                <a:blip r:embed="rId4"/>
                <a:stretch>
                  <a:fillRect l="-2413" t="-1402" r="-26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8768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C1EE5B-A5E3-485C-BFA3-6CD72E956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97" y="715020"/>
            <a:ext cx="8160962" cy="28860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3393AC-8369-454C-9081-0B7DC3E93B5B}"/>
              </a:ext>
            </a:extLst>
          </p:cNvPr>
          <p:cNvSpPr txBox="1"/>
          <p:nvPr/>
        </p:nvSpPr>
        <p:spPr>
          <a:xfrm>
            <a:off x="591015" y="345688"/>
            <a:ext cx="1718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Let’s try these….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30FB3D-9E32-47AB-A486-7B8049F622B2}"/>
                  </a:ext>
                </a:extLst>
              </p:cNvPr>
              <p:cNvSpPr txBox="1"/>
              <p:nvPr/>
            </p:nvSpPr>
            <p:spPr>
              <a:xfrm>
                <a:off x="132876" y="2955074"/>
                <a:ext cx="2275788" cy="26114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g) C= (-5,3) D= (-4,-3)</a:t>
                </a:r>
              </a:p>
              <a:p>
                <a:r>
                  <a:rPr lang="en-AU" dirty="0"/>
                  <a:t>	base = -5--4 = -1</a:t>
                </a:r>
              </a:p>
              <a:p>
                <a:r>
                  <a:rPr lang="en-AU" dirty="0"/>
                  <a:t>	height = 3--3 = 6</a:t>
                </a:r>
              </a:p>
              <a:p>
                <a:r>
                  <a:rPr lang="en-AU" dirty="0"/>
                  <a:t>Line</a:t>
                </a:r>
                <a:r>
                  <a:rPr lang="en-AU" baseline="30000" dirty="0"/>
                  <a:t>2</a:t>
                </a:r>
                <a:r>
                  <a:rPr lang="en-AU" dirty="0"/>
                  <a:t> = base</a:t>
                </a:r>
                <a:r>
                  <a:rPr lang="en-AU" baseline="30000" dirty="0"/>
                  <a:t>2</a:t>
                </a:r>
                <a:r>
                  <a:rPr lang="en-AU" dirty="0"/>
                  <a:t> + height</a:t>
                </a:r>
                <a:r>
                  <a:rPr lang="en-AU" baseline="30000" dirty="0"/>
                  <a:t>2</a:t>
                </a:r>
                <a:endParaRPr lang="en-AU" dirty="0"/>
              </a:p>
              <a:p>
                <a:r>
                  <a:rPr lang="en-AU" dirty="0"/>
                  <a:t>          = 1</a:t>
                </a:r>
                <a:r>
                  <a:rPr lang="en-AU" baseline="30000" dirty="0"/>
                  <a:t>2</a:t>
                </a:r>
                <a:r>
                  <a:rPr lang="en-AU" dirty="0"/>
                  <a:t> + 6</a:t>
                </a:r>
                <a:r>
                  <a:rPr lang="en-AU" baseline="30000" dirty="0"/>
                  <a:t>2</a:t>
                </a:r>
                <a:endParaRPr lang="en-AU" dirty="0"/>
              </a:p>
              <a:p>
                <a:r>
                  <a:rPr lang="en-AU" dirty="0"/>
                  <a:t>          = 1 + 36</a:t>
                </a:r>
              </a:p>
              <a:p>
                <a:r>
                  <a:rPr lang="en-AU" dirty="0"/>
                  <a:t>          = 37</a:t>
                </a:r>
              </a:p>
              <a:p>
                <a:r>
                  <a:rPr lang="en-AU" dirty="0"/>
                  <a:t>Line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37</m:t>
                        </m:r>
                      </m:e>
                    </m:rad>
                  </m:oMath>
                </a14:m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6.08</m:t>
                    </m:r>
                  </m:oMath>
                </a14:m>
                <a:endParaRPr lang="en-AU" dirty="0"/>
              </a:p>
              <a:p>
                <a:pPr marL="342900" indent="-342900">
                  <a:buAutoNum type="alphaLcParenR"/>
                </a:pPr>
                <a:endParaRPr lang="en-AU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30FB3D-9E32-47AB-A486-7B8049F62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76" y="2955074"/>
                <a:ext cx="2275788" cy="2611421"/>
              </a:xfrm>
              <a:prstGeom prst="rect">
                <a:avLst/>
              </a:prstGeom>
              <a:blipFill>
                <a:blip r:embed="rId3"/>
                <a:stretch>
                  <a:fillRect l="-2413" t="-14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DFB76B-BCC0-4F68-BCFC-88C1C5A07D6A}"/>
                  </a:ext>
                </a:extLst>
              </p:cNvPr>
              <p:cNvSpPr txBox="1"/>
              <p:nvPr/>
            </p:nvSpPr>
            <p:spPr>
              <a:xfrm>
                <a:off x="2838905" y="2955074"/>
                <a:ext cx="2275788" cy="2614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h) H= (0,-4) B= (4,3)</a:t>
                </a:r>
              </a:p>
              <a:p>
                <a:r>
                  <a:rPr lang="en-AU" dirty="0"/>
                  <a:t>	base = 0-4 = 4</a:t>
                </a:r>
              </a:p>
              <a:p>
                <a:r>
                  <a:rPr lang="en-AU" dirty="0"/>
                  <a:t>	height = -4-3 = -7</a:t>
                </a:r>
              </a:p>
              <a:p>
                <a:r>
                  <a:rPr lang="en-AU" dirty="0"/>
                  <a:t>Line</a:t>
                </a:r>
                <a:r>
                  <a:rPr lang="en-AU" baseline="30000" dirty="0"/>
                  <a:t>2</a:t>
                </a:r>
                <a:r>
                  <a:rPr lang="en-AU" dirty="0"/>
                  <a:t> = base</a:t>
                </a:r>
                <a:r>
                  <a:rPr lang="en-AU" baseline="30000" dirty="0"/>
                  <a:t>2</a:t>
                </a:r>
                <a:r>
                  <a:rPr lang="en-AU" dirty="0"/>
                  <a:t> + height</a:t>
                </a:r>
                <a:r>
                  <a:rPr lang="en-AU" baseline="30000" dirty="0"/>
                  <a:t>2</a:t>
                </a:r>
                <a:endParaRPr lang="en-AU" dirty="0"/>
              </a:p>
              <a:p>
                <a:r>
                  <a:rPr lang="en-AU" dirty="0"/>
                  <a:t>          = 4</a:t>
                </a:r>
                <a:r>
                  <a:rPr lang="en-AU" baseline="30000" dirty="0"/>
                  <a:t>2</a:t>
                </a:r>
                <a:r>
                  <a:rPr lang="en-AU" dirty="0"/>
                  <a:t> + -7</a:t>
                </a:r>
                <a:r>
                  <a:rPr lang="en-AU" baseline="30000" dirty="0"/>
                  <a:t>2</a:t>
                </a:r>
                <a:endParaRPr lang="en-AU" dirty="0"/>
              </a:p>
              <a:p>
                <a:r>
                  <a:rPr lang="en-AU" dirty="0"/>
                  <a:t>          = 16 + 49</a:t>
                </a:r>
              </a:p>
              <a:p>
                <a:r>
                  <a:rPr lang="en-AU" dirty="0"/>
                  <a:t>          = 65</a:t>
                </a:r>
              </a:p>
              <a:p>
                <a:r>
                  <a:rPr lang="en-AU" dirty="0"/>
                  <a:t>Line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65</m:t>
                        </m:r>
                      </m:e>
                    </m:rad>
                    <m:r>
                      <a:rPr lang="en-AU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A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8.06</m:t>
                    </m:r>
                  </m:oMath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DFB76B-BCC0-4F68-BCFC-88C1C5A07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905" y="2955074"/>
                <a:ext cx="2275788" cy="2614177"/>
              </a:xfrm>
              <a:prstGeom prst="rect">
                <a:avLst/>
              </a:prstGeom>
              <a:blipFill>
                <a:blip r:embed="rId4"/>
                <a:stretch>
                  <a:fillRect l="-2413" t="-1399" r="-26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6321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7E62DC-9CB9-422E-8037-27DF1157BDE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8" t="13854" r="3374" b="17659"/>
          <a:stretch/>
        </p:blipFill>
        <p:spPr>
          <a:xfrm>
            <a:off x="167269" y="154265"/>
            <a:ext cx="4761570" cy="54440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0A5006-DEF8-43FF-8BB7-ACED6823782A}"/>
              </a:ext>
            </a:extLst>
          </p:cNvPr>
          <p:cNvSpPr txBox="1"/>
          <p:nvPr/>
        </p:nvSpPr>
        <p:spPr>
          <a:xfrm>
            <a:off x="5129561" y="323385"/>
            <a:ext cx="38694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As part of a search and rescue effort, you are required to fly a IR camera drone from the starting position to 3 points and home again.  You know the drone can fly 4km on a single charge.  If each 1 unit on the grid = 100m, can it make this distance?</a:t>
            </a:r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5CEF193A-E21A-4967-A347-91B82C9BBA7F}"/>
              </a:ext>
            </a:extLst>
          </p:cNvPr>
          <p:cNvSpPr/>
          <p:nvPr/>
        </p:nvSpPr>
        <p:spPr>
          <a:xfrm rot="2586181">
            <a:off x="2714369" y="5045871"/>
            <a:ext cx="423746" cy="458323"/>
          </a:xfrm>
          <a:prstGeom prst="plus">
            <a:avLst>
              <a:gd name="adj" fmla="val 39605"/>
            </a:avLst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538E2197-7C2A-4131-A50B-28B5A7C46569}"/>
              </a:ext>
            </a:extLst>
          </p:cNvPr>
          <p:cNvSpPr/>
          <p:nvPr/>
        </p:nvSpPr>
        <p:spPr>
          <a:xfrm rot="2586181">
            <a:off x="266678" y="2926870"/>
            <a:ext cx="423746" cy="458323"/>
          </a:xfrm>
          <a:prstGeom prst="plus">
            <a:avLst>
              <a:gd name="adj" fmla="val 39605"/>
            </a:avLst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Cross 11">
            <a:extLst>
              <a:ext uri="{FF2B5EF4-FFF2-40B4-BE49-F238E27FC236}">
                <a16:creationId xmlns:a16="http://schemas.microsoft.com/office/drawing/2014/main" id="{0BCDA621-E037-4B45-8D7E-31B547FA579A}"/>
              </a:ext>
            </a:extLst>
          </p:cNvPr>
          <p:cNvSpPr/>
          <p:nvPr/>
        </p:nvSpPr>
        <p:spPr>
          <a:xfrm rot="2586181">
            <a:off x="3684526" y="775492"/>
            <a:ext cx="423746" cy="458323"/>
          </a:xfrm>
          <a:prstGeom prst="plus">
            <a:avLst>
              <a:gd name="adj" fmla="val 39605"/>
            </a:avLst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459471C-6064-4D59-9F38-666BAC189C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225776" y="557561"/>
          <a:ext cx="5547659" cy="4874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r:id="rId4" imgW="4152960" imgH="4110480" progId="MHelp.Document">
                  <p:embed/>
                </p:oleObj>
              </mc:Choice>
              <mc:Fallback>
                <p:oleObj r:id="rId4" imgW="4152960" imgH="4110480" progId="MHelp.Document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B459471C-6064-4D59-9F38-666BAC189C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25776" y="557561"/>
                        <a:ext cx="5547659" cy="48742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2B94EB-DEF6-40E2-8FDD-D7640B96A4D7}"/>
                  </a:ext>
                </a:extLst>
              </p:cNvPr>
              <p:cNvSpPr txBox="1"/>
              <p:nvPr/>
            </p:nvSpPr>
            <p:spPr>
              <a:xfrm>
                <a:off x="5685215" y="2910102"/>
                <a:ext cx="2398451" cy="26114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Start = (1,-5) A= (-4,0)</a:t>
                </a:r>
              </a:p>
              <a:p>
                <a:r>
                  <a:rPr lang="en-AU" dirty="0"/>
                  <a:t>	base = 1--4= 5</a:t>
                </a:r>
              </a:p>
              <a:p>
                <a:r>
                  <a:rPr lang="en-AU" dirty="0"/>
                  <a:t>	height = -5-0 = -5</a:t>
                </a:r>
              </a:p>
              <a:p>
                <a:r>
                  <a:rPr lang="en-AU" dirty="0"/>
                  <a:t>Line</a:t>
                </a:r>
                <a:r>
                  <a:rPr lang="en-AU" baseline="30000" dirty="0"/>
                  <a:t>2</a:t>
                </a:r>
                <a:r>
                  <a:rPr lang="en-AU" dirty="0"/>
                  <a:t> = base</a:t>
                </a:r>
                <a:r>
                  <a:rPr lang="en-AU" baseline="30000" dirty="0"/>
                  <a:t>2</a:t>
                </a:r>
                <a:r>
                  <a:rPr lang="en-AU" dirty="0"/>
                  <a:t> + height</a:t>
                </a:r>
                <a:r>
                  <a:rPr lang="en-AU" baseline="30000" dirty="0"/>
                  <a:t>2</a:t>
                </a:r>
                <a:endParaRPr lang="en-AU" dirty="0"/>
              </a:p>
              <a:p>
                <a:r>
                  <a:rPr lang="en-AU" dirty="0"/>
                  <a:t>          = 5</a:t>
                </a:r>
                <a:r>
                  <a:rPr lang="en-AU" baseline="30000" dirty="0"/>
                  <a:t>2</a:t>
                </a:r>
                <a:r>
                  <a:rPr lang="en-AU" dirty="0"/>
                  <a:t> + -5</a:t>
                </a:r>
                <a:r>
                  <a:rPr lang="en-AU" baseline="30000" dirty="0"/>
                  <a:t>2</a:t>
                </a:r>
                <a:endParaRPr lang="en-AU" dirty="0"/>
              </a:p>
              <a:p>
                <a:r>
                  <a:rPr lang="en-AU" dirty="0"/>
                  <a:t>          = 25 + 25</a:t>
                </a:r>
              </a:p>
              <a:p>
                <a:r>
                  <a:rPr lang="en-AU" dirty="0"/>
                  <a:t>          = 50</a:t>
                </a:r>
              </a:p>
              <a:p>
                <a:r>
                  <a:rPr lang="en-AU" dirty="0"/>
                  <a:t>Line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e>
                    </m:rad>
                  </m:oMath>
                </a14:m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AU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7.07</m:t>
                    </m:r>
                  </m:oMath>
                </a14:m>
                <a:endParaRPr lang="en-AU" dirty="0"/>
              </a:p>
              <a:p>
                <a:pPr marL="342900" indent="-342900">
                  <a:buAutoNum type="alphaLcParenR"/>
                </a:pPr>
                <a:endParaRPr lang="en-AU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2B94EB-DEF6-40E2-8FDD-D7640B96A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215" y="2910102"/>
                <a:ext cx="2398451" cy="2611421"/>
              </a:xfrm>
              <a:prstGeom prst="rect">
                <a:avLst/>
              </a:prstGeom>
              <a:blipFill>
                <a:blip r:embed="rId6"/>
                <a:stretch>
                  <a:fillRect l="-2290" t="-116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57CD14F-30F9-4E1F-9364-0A630BF62473}"/>
              </a:ext>
            </a:extLst>
          </p:cNvPr>
          <p:cNvCxnSpPr/>
          <p:nvPr/>
        </p:nvCxnSpPr>
        <p:spPr>
          <a:xfrm flipH="1" flipV="1">
            <a:off x="501805" y="3144644"/>
            <a:ext cx="2408663" cy="20852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420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7E62DC-9CB9-422E-8037-27DF1157BDE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8" t="13854" r="3374" b="17659"/>
          <a:stretch/>
        </p:blipFill>
        <p:spPr>
          <a:xfrm>
            <a:off x="167269" y="154265"/>
            <a:ext cx="4761570" cy="54440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0A5006-DEF8-43FF-8BB7-ACED6823782A}"/>
              </a:ext>
            </a:extLst>
          </p:cNvPr>
          <p:cNvSpPr txBox="1"/>
          <p:nvPr/>
        </p:nvSpPr>
        <p:spPr>
          <a:xfrm>
            <a:off x="5129561" y="323385"/>
            <a:ext cx="38694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As part of a search and rescue effort, you are required to fly a IR camera drone from the starting position to 3 points and home again.  You know the drone can fly 4km on a single charge.  If each 1 unit on the grid = 100m, can it make this distance?</a:t>
            </a:r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5CEF193A-E21A-4967-A347-91B82C9BBA7F}"/>
              </a:ext>
            </a:extLst>
          </p:cNvPr>
          <p:cNvSpPr/>
          <p:nvPr/>
        </p:nvSpPr>
        <p:spPr>
          <a:xfrm rot="2586181">
            <a:off x="2714369" y="5045871"/>
            <a:ext cx="423746" cy="458323"/>
          </a:xfrm>
          <a:prstGeom prst="plus">
            <a:avLst>
              <a:gd name="adj" fmla="val 39605"/>
            </a:avLst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538E2197-7C2A-4131-A50B-28B5A7C46569}"/>
              </a:ext>
            </a:extLst>
          </p:cNvPr>
          <p:cNvSpPr/>
          <p:nvPr/>
        </p:nvSpPr>
        <p:spPr>
          <a:xfrm rot="2586181">
            <a:off x="266678" y="2926870"/>
            <a:ext cx="423746" cy="458323"/>
          </a:xfrm>
          <a:prstGeom prst="plus">
            <a:avLst>
              <a:gd name="adj" fmla="val 39605"/>
            </a:avLst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Cross 11">
            <a:extLst>
              <a:ext uri="{FF2B5EF4-FFF2-40B4-BE49-F238E27FC236}">
                <a16:creationId xmlns:a16="http://schemas.microsoft.com/office/drawing/2014/main" id="{0BCDA621-E037-4B45-8D7E-31B547FA579A}"/>
              </a:ext>
            </a:extLst>
          </p:cNvPr>
          <p:cNvSpPr/>
          <p:nvPr/>
        </p:nvSpPr>
        <p:spPr>
          <a:xfrm rot="2586181">
            <a:off x="3684526" y="775492"/>
            <a:ext cx="423746" cy="458323"/>
          </a:xfrm>
          <a:prstGeom prst="plus">
            <a:avLst>
              <a:gd name="adj" fmla="val 39605"/>
            </a:avLst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459471C-6064-4D59-9F38-666BAC189C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225776" y="557561"/>
          <a:ext cx="5547659" cy="4874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r:id="rId4" imgW="4152960" imgH="4110480" progId="MHelp.Document">
                  <p:embed/>
                </p:oleObj>
              </mc:Choice>
              <mc:Fallback>
                <p:oleObj r:id="rId4" imgW="4152960" imgH="4110480" progId="MHelp.Document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B459471C-6064-4D59-9F38-666BAC189C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25776" y="557561"/>
                        <a:ext cx="5547659" cy="48742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2B94EB-DEF6-40E2-8FDD-D7640B96A4D7}"/>
                  </a:ext>
                </a:extLst>
              </p:cNvPr>
              <p:cNvSpPr txBox="1"/>
              <p:nvPr/>
            </p:nvSpPr>
            <p:spPr>
              <a:xfrm>
                <a:off x="5685215" y="2910102"/>
                <a:ext cx="2398451" cy="26114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A = (-4,0) B= (3,5)</a:t>
                </a:r>
              </a:p>
              <a:p>
                <a:r>
                  <a:rPr lang="en-AU" dirty="0"/>
                  <a:t>	base = -4-3= -7</a:t>
                </a:r>
              </a:p>
              <a:p>
                <a:r>
                  <a:rPr lang="en-AU" dirty="0"/>
                  <a:t>	height = 0-5 = -5</a:t>
                </a:r>
              </a:p>
              <a:p>
                <a:r>
                  <a:rPr lang="en-AU" dirty="0"/>
                  <a:t>Line</a:t>
                </a:r>
                <a:r>
                  <a:rPr lang="en-AU" baseline="30000" dirty="0"/>
                  <a:t>2</a:t>
                </a:r>
                <a:r>
                  <a:rPr lang="en-AU" dirty="0"/>
                  <a:t> = base</a:t>
                </a:r>
                <a:r>
                  <a:rPr lang="en-AU" baseline="30000" dirty="0"/>
                  <a:t>2</a:t>
                </a:r>
                <a:r>
                  <a:rPr lang="en-AU" dirty="0"/>
                  <a:t> + height</a:t>
                </a:r>
                <a:r>
                  <a:rPr lang="en-AU" baseline="30000" dirty="0"/>
                  <a:t>2</a:t>
                </a:r>
                <a:endParaRPr lang="en-AU" dirty="0"/>
              </a:p>
              <a:p>
                <a:r>
                  <a:rPr lang="en-AU" dirty="0"/>
                  <a:t>          = -7</a:t>
                </a:r>
                <a:r>
                  <a:rPr lang="en-AU" baseline="30000" dirty="0"/>
                  <a:t>2</a:t>
                </a:r>
                <a:r>
                  <a:rPr lang="en-AU" dirty="0"/>
                  <a:t> + -5</a:t>
                </a:r>
                <a:r>
                  <a:rPr lang="en-AU" baseline="30000" dirty="0"/>
                  <a:t>2</a:t>
                </a:r>
                <a:endParaRPr lang="en-AU" dirty="0"/>
              </a:p>
              <a:p>
                <a:r>
                  <a:rPr lang="en-AU" dirty="0"/>
                  <a:t>          = 49 + 25</a:t>
                </a:r>
              </a:p>
              <a:p>
                <a:r>
                  <a:rPr lang="en-AU" dirty="0"/>
                  <a:t>          = 74</a:t>
                </a:r>
              </a:p>
              <a:p>
                <a:r>
                  <a:rPr lang="en-AU" dirty="0"/>
                  <a:t>Line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74</m:t>
                        </m:r>
                      </m:e>
                    </m:rad>
                  </m:oMath>
                </a14:m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AU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8.6</m:t>
                    </m:r>
                  </m:oMath>
                </a14:m>
                <a:endParaRPr lang="en-AU" dirty="0"/>
              </a:p>
              <a:p>
                <a:pPr marL="342900" indent="-342900">
                  <a:buAutoNum type="alphaLcParenR"/>
                </a:pPr>
                <a:endParaRPr lang="en-AU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2B94EB-DEF6-40E2-8FDD-D7640B96A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215" y="2910102"/>
                <a:ext cx="2398451" cy="2611421"/>
              </a:xfrm>
              <a:prstGeom prst="rect">
                <a:avLst/>
              </a:prstGeom>
              <a:blipFill>
                <a:blip r:embed="rId6"/>
                <a:stretch>
                  <a:fillRect l="-2290" t="-116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47F168A-E6E6-434A-BA70-FC037726002C}"/>
                  </a:ext>
                </a:extLst>
              </p:cNvPr>
              <p:cNvSpPr/>
              <p:nvPr/>
            </p:nvSpPr>
            <p:spPr>
              <a:xfrm>
                <a:off x="5727321" y="2263074"/>
                <a:ext cx="286627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dirty="0"/>
                  <a:t>Start to A = </a:t>
                </a:r>
                <a14:m>
                  <m:oMath xmlns:m="http://schemas.openxmlformats.org/officeDocument/2006/math">
                    <m:r>
                      <a:rPr lang="en-AU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7.07</m:t>
                    </m:r>
                    <m:r>
                      <a:rPr lang="en-AU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=707</m:t>
                    </m:r>
                    <m:r>
                      <m:rPr>
                        <m:sty m:val="p"/>
                      </m:rPr>
                      <a:rPr lang="en-AU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47F168A-E6E6-434A-BA70-FC03772600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321" y="2263074"/>
                <a:ext cx="2866274" cy="369332"/>
              </a:xfrm>
              <a:prstGeom prst="rect">
                <a:avLst/>
              </a:prstGeom>
              <a:blipFill>
                <a:blip r:embed="rId7"/>
                <a:stretch>
                  <a:fillRect l="-1915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96028A5-6476-45C5-8F77-F7D65410BBBF}"/>
              </a:ext>
            </a:extLst>
          </p:cNvPr>
          <p:cNvCxnSpPr/>
          <p:nvPr/>
        </p:nvCxnSpPr>
        <p:spPr>
          <a:xfrm flipH="1" flipV="1">
            <a:off x="517579" y="3156031"/>
            <a:ext cx="2408663" cy="20852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F9E43FB-7736-4AD5-8DE6-0B80F863C585}"/>
              </a:ext>
            </a:extLst>
          </p:cNvPr>
          <p:cNvCxnSpPr>
            <a:cxnSpLocks/>
          </p:cNvCxnSpPr>
          <p:nvPr/>
        </p:nvCxnSpPr>
        <p:spPr>
          <a:xfrm flipV="1">
            <a:off x="517579" y="1004653"/>
            <a:ext cx="3378820" cy="21190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4381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7E62DC-9CB9-422E-8037-27DF1157BDE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8" t="13854" r="3374" b="17659"/>
          <a:stretch/>
        </p:blipFill>
        <p:spPr>
          <a:xfrm>
            <a:off x="167269" y="154265"/>
            <a:ext cx="4761570" cy="54440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0A5006-DEF8-43FF-8BB7-ACED6823782A}"/>
              </a:ext>
            </a:extLst>
          </p:cNvPr>
          <p:cNvSpPr txBox="1"/>
          <p:nvPr/>
        </p:nvSpPr>
        <p:spPr>
          <a:xfrm>
            <a:off x="5129561" y="323385"/>
            <a:ext cx="38694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As part of a search and rescue effort, you are required to fly a IR camera drone from the starting position to 3 points and home again.  You know the drone can fly 4km on a single charge.  If each 1 unit on the grid = 100m, can it make this distance?</a:t>
            </a:r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5CEF193A-E21A-4967-A347-91B82C9BBA7F}"/>
              </a:ext>
            </a:extLst>
          </p:cNvPr>
          <p:cNvSpPr/>
          <p:nvPr/>
        </p:nvSpPr>
        <p:spPr>
          <a:xfrm rot="2586181">
            <a:off x="2714369" y="5045871"/>
            <a:ext cx="423746" cy="458323"/>
          </a:xfrm>
          <a:prstGeom prst="plus">
            <a:avLst>
              <a:gd name="adj" fmla="val 39605"/>
            </a:avLst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538E2197-7C2A-4131-A50B-28B5A7C46569}"/>
              </a:ext>
            </a:extLst>
          </p:cNvPr>
          <p:cNvSpPr/>
          <p:nvPr/>
        </p:nvSpPr>
        <p:spPr>
          <a:xfrm rot="2586181">
            <a:off x="266678" y="2926870"/>
            <a:ext cx="423746" cy="458323"/>
          </a:xfrm>
          <a:prstGeom prst="plus">
            <a:avLst>
              <a:gd name="adj" fmla="val 39605"/>
            </a:avLst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Cross 11">
            <a:extLst>
              <a:ext uri="{FF2B5EF4-FFF2-40B4-BE49-F238E27FC236}">
                <a16:creationId xmlns:a16="http://schemas.microsoft.com/office/drawing/2014/main" id="{0BCDA621-E037-4B45-8D7E-31B547FA579A}"/>
              </a:ext>
            </a:extLst>
          </p:cNvPr>
          <p:cNvSpPr/>
          <p:nvPr/>
        </p:nvSpPr>
        <p:spPr>
          <a:xfrm rot="2586181">
            <a:off x="3684526" y="775492"/>
            <a:ext cx="423746" cy="458323"/>
          </a:xfrm>
          <a:prstGeom prst="plus">
            <a:avLst>
              <a:gd name="adj" fmla="val 39605"/>
            </a:avLst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459471C-6064-4D59-9F38-666BAC189C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225776" y="557561"/>
          <a:ext cx="5547659" cy="4874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r:id="rId4" imgW="4152960" imgH="4110480" progId="MHelp.Document">
                  <p:embed/>
                </p:oleObj>
              </mc:Choice>
              <mc:Fallback>
                <p:oleObj r:id="rId4" imgW="4152960" imgH="4110480" progId="MHelp.Document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B459471C-6064-4D59-9F38-666BAC189C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25776" y="557561"/>
                        <a:ext cx="5547659" cy="48742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2B94EB-DEF6-40E2-8FDD-D7640B96A4D7}"/>
                  </a:ext>
                </a:extLst>
              </p:cNvPr>
              <p:cNvSpPr txBox="1"/>
              <p:nvPr/>
            </p:nvSpPr>
            <p:spPr>
              <a:xfrm>
                <a:off x="5685215" y="2910102"/>
                <a:ext cx="2398451" cy="26114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B = (3,5) B= (1,-5)</a:t>
                </a:r>
              </a:p>
              <a:p>
                <a:r>
                  <a:rPr lang="en-AU" dirty="0"/>
                  <a:t>	base = 1-3= -2</a:t>
                </a:r>
              </a:p>
              <a:p>
                <a:r>
                  <a:rPr lang="en-AU" dirty="0"/>
                  <a:t>	height = -5-5 = -10</a:t>
                </a:r>
              </a:p>
              <a:p>
                <a:r>
                  <a:rPr lang="en-AU" dirty="0"/>
                  <a:t>Line</a:t>
                </a:r>
                <a:r>
                  <a:rPr lang="en-AU" baseline="30000" dirty="0"/>
                  <a:t>2</a:t>
                </a:r>
                <a:r>
                  <a:rPr lang="en-AU" dirty="0"/>
                  <a:t> = base</a:t>
                </a:r>
                <a:r>
                  <a:rPr lang="en-AU" baseline="30000" dirty="0"/>
                  <a:t>2</a:t>
                </a:r>
                <a:r>
                  <a:rPr lang="en-AU" dirty="0"/>
                  <a:t> + height</a:t>
                </a:r>
                <a:r>
                  <a:rPr lang="en-AU" baseline="30000" dirty="0"/>
                  <a:t>2</a:t>
                </a:r>
                <a:endParaRPr lang="en-AU" dirty="0"/>
              </a:p>
              <a:p>
                <a:r>
                  <a:rPr lang="en-AU" dirty="0"/>
                  <a:t>          = -2</a:t>
                </a:r>
                <a:r>
                  <a:rPr lang="en-AU" baseline="30000" dirty="0"/>
                  <a:t>2</a:t>
                </a:r>
                <a:r>
                  <a:rPr lang="en-AU" dirty="0"/>
                  <a:t> + -10</a:t>
                </a:r>
                <a:r>
                  <a:rPr lang="en-AU" baseline="30000" dirty="0"/>
                  <a:t>2</a:t>
                </a:r>
                <a:endParaRPr lang="en-AU" dirty="0"/>
              </a:p>
              <a:p>
                <a:r>
                  <a:rPr lang="en-AU" dirty="0"/>
                  <a:t>          = 4 + 100</a:t>
                </a:r>
              </a:p>
              <a:p>
                <a:r>
                  <a:rPr lang="en-AU" dirty="0"/>
                  <a:t>          = 104</a:t>
                </a:r>
              </a:p>
              <a:p>
                <a:r>
                  <a:rPr lang="en-AU" dirty="0"/>
                  <a:t>Line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104</m:t>
                        </m:r>
                      </m:e>
                    </m:rad>
                  </m:oMath>
                </a14:m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AU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10.2</m:t>
                    </m:r>
                  </m:oMath>
                </a14:m>
                <a:endParaRPr lang="en-AU" dirty="0"/>
              </a:p>
              <a:p>
                <a:pPr marL="342900" indent="-342900">
                  <a:buAutoNum type="alphaLcParenR"/>
                </a:pPr>
                <a:endParaRPr lang="en-AU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2B94EB-DEF6-40E2-8FDD-D7640B96A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215" y="2910102"/>
                <a:ext cx="2398451" cy="2611421"/>
              </a:xfrm>
              <a:prstGeom prst="rect">
                <a:avLst/>
              </a:prstGeom>
              <a:blipFill>
                <a:blip r:embed="rId6"/>
                <a:stretch>
                  <a:fillRect l="-2290" t="-116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47F168A-E6E6-434A-BA70-FC037726002C}"/>
                  </a:ext>
                </a:extLst>
              </p:cNvPr>
              <p:cNvSpPr/>
              <p:nvPr/>
            </p:nvSpPr>
            <p:spPr>
              <a:xfrm>
                <a:off x="5727321" y="2263074"/>
                <a:ext cx="286627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dirty="0"/>
                  <a:t>Start to A = </a:t>
                </a:r>
                <a14:m>
                  <m:oMath xmlns:m="http://schemas.openxmlformats.org/officeDocument/2006/math">
                    <m:r>
                      <a:rPr lang="en-AU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7.07</m:t>
                    </m:r>
                    <m:r>
                      <a:rPr lang="en-AU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=707</m:t>
                    </m:r>
                    <m:r>
                      <m:rPr>
                        <m:sty m:val="p"/>
                      </m:rPr>
                      <a:rPr lang="en-AU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47F168A-E6E6-434A-BA70-FC03772600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321" y="2263074"/>
                <a:ext cx="2866274" cy="369332"/>
              </a:xfrm>
              <a:prstGeom prst="rect">
                <a:avLst/>
              </a:prstGeom>
              <a:blipFill>
                <a:blip r:embed="rId7"/>
                <a:stretch>
                  <a:fillRect l="-1915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820D7CA-29F9-49CE-90A8-BD6D1E126CF0}"/>
                  </a:ext>
                </a:extLst>
              </p:cNvPr>
              <p:cNvSpPr/>
              <p:nvPr/>
            </p:nvSpPr>
            <p:spPr>
              <a:xfrm>
                <a:off x="6081367" y="2496020"/>
                <a:ext cx="20274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/>
                  <a:t>A to B = </a:t>
                </a:r>
                <a14:m>
                  <m:oMath xmlns:m="http://schemas.openxmlformats.org/officeDocument/2006/math">
                    <m:r>
                      <a:rPr lang="en-AU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8.6</m:t>
                    </m:r>
                  </m:oMath>
                </a14:m>
                <a:r>
                  <a:rPr lang="en-AU" dirty="0"/>
                  <a:t> = 860m</a:t>
                </a:r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820D7CA-29F9-49CE-90A8-BD6D1E126C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1367" y="2496020"/>
                <a:ext cx="2027478" cy="369332"/>
              </a:xfrm>
              <a:prstGeom prst="rect">
                <a:avLst/>
              </a:prstGeom>
              <a:blipFill>
                <a:blip r:embed="rId8"/>
                <a:stretch>
                  <a:fillRect l="-2711" t="-8197" r="-1506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9CFF2AB-5D20-4368-BB6D-2FDBACD184F8}"/>
              </a:ext>
            </a:extLst>
          </p:cNvPr>
          <p:cNvCxnSpPr/>
          <p:nvPr/>
        </p:nvCxnSpPr>
        <p:spPr>
          <a:xfrm flipH="1" flipV="1">
            <a:off x="517579" y="3156031"/>
            <a:ext cx="2408663" cy="20852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92A5EA3-B4FB-4A08-AA10-439D28156271}"/>
              </a:ext>
            </a:extLst>
          </p:cNvPr>
          <p:cNvCxnSpPr>
            <a:cxnSpLocks/>
          </p:cNvCxnSpPr>
          <p:nvPr/>
        </p:nvCxnSpPr>
        <p:spPr>
          <a:xfrm flipV="1">
            <a:off x="517579" y="1004653"/>
            <a:ext cx="3378820" cy="21190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760273-9799-40B0-A2B6-8EA260E5631D}"/>
              </a:ext>
            </a:extLst>
          </p:cNvPr>
          <p:cNvCxnSpPr>
            <a:cxnSpLocks/>
          </p:cNvCxnSpPr>
          <p:nvPr/>
        </p:nvCxnSpPr>
        <p:spPr>
          <a:xfrm flipH="1">
            <a:off x="2926242" y="1004653"/>
            <a:ext cx="970157" cy="42366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331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7E62DC-9CB9-422E-8037-27DF1157BDE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8" t="13854" r="3374" b="17659"/>
          <a:stretch/>
        </p:blipFill>
        <p:spPr>
          <a:xfrm>
            <a:off x="167269" y="154265"/>
            <a:ext cx="4761570" cy="54440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0A5006-DEF8-43FF-8BB7-ACED6823782A}"/>
              </a:ext>
            </a:extLst>
          </p:cNvPr>
          <p:cNvSpPr txBox="1"/>
          <p:nvPr/>
        </p:nvSpPr>
        <p:spPr>
          <a:xfrm>
            <a:off x="5129561" y="323385"/>
            <a:ext cx="38694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As part of a search and rescue effort, you are required to fly a IR camera drone from the starting position to 3 points and home again.  You know the drone can fly 4km on a single charge.  If each 1 unit on the grid = 100m, can it make this distance?</a:t>
            </a:r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5CEF193A-E21A-4967-A347-91B82C9BBA7F}"/>
              </a:ext>
            </a:extLst>
          </p:cNvPr>
          <p:cNvSpPr/>
          <p:nvPr/>
        </p:nvSpPr>
        <p:spPr>
          <a:xfrm rot="2586181">
            <a:off x="2714369" y="5045871"/>
            <a:ext cx="423746" cy="458323"/>
          </a:xfrm>
          <a:prstGeom prst="plus">
            <a:avLst>
              <a:gd name="adj" fmla="val 39605"/>
            </a:avLst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538E2197-7C2A-4131-A50B-28B5A7C46569}"/>
              </a:ext>
            </a:extLst>
          </p:cNvPr>
          <p:cNvSpPr/>
          <p:nvPr/>
        </p:nvSpPr>
        <p:spPr>
          <a:xfrm rot="2586181">
            <a:off x="266678" y="2926870"/>
            <a:ext cx="423746" cy="458323"/>
          </a:xfrm>
          <a:prstGeom prst="plus">
            <a:avLst>
              <a:gd name="adj" fmla="val 39605"/>
            </a:avLst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Cross 11">
            <a:extLst>
              <a:ext uri="{FF2B5EF4-FFF2-40B4-BE49-F238E27FC236}">
                <a16:creationId xmlns:a16="http://schemas.microsoft.com/office/drawing/2014/main" id="{0BCDA621-E037-4B45-8D7E-31B547FA579A}"/>
              </a:ext>
            </a:extLst>
          </p:cNvPr>
          <p:cNvSpPr/>
          <p:nvPr/>
        </p:nvSpPr>
        <p:spPr>
          <a:xfrm rot="2586181">
            <a:off x="3684526" y="775492"/>
            <a:ext cx="423746" cy="458323"/>
          </a:xfrm>
          <a:prstGeom prst="plus">
            <a:avLst>
              <a:gd name="adj" fmla="val 39605"/>
            </a:avLst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459471C-6064-4D59-9F38-666BAC189C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225776" y="557561"/>
          <a:ext cx="5547659" cy="4874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r:id="rId4" imgW="4152960" imgH="4110480" progId="MHelp.Document">
                  <p:embed/>
                </p:oleObj>
              </mc:Choice>
              <mc:Fallback>
                <p:oleObj r:id="rId4" imgW="4152960" imgH="4110480" progId="MHelp.Document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B459471C-6064-4D59-9F38-666BAC189C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25776" y="557561"/>
                        <a:ext cx="5547659" cy="48742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47F168A-E6E6-434A-BA70-FC037726002C}"/>
                  </a:ext>
                </a:extLst>
              </p:cNvPr>
              <p:cNvSpPr/>
              <p:nvPr/>
            </p:nvSpPr>
            <p:spPr>
              <a:xfrm>
                <a:off x="5727321" y="2263074"/>
                <a:ext cx="286627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dirty="0"/>
                  <a:t>Start to A = </a:t>
                </a:r>
                <a14:m>
                  <m:oMath xmlns:m="http://schemas.openxmlformats.org/officeDocument/2006/math">
                    <m:r>
                      <a:rPr lang="en-AU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7.07</m:t>
                    </m:r>
                    <m:r>
                      <a:rPr lang="en-AU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=707</m:t>
                    </m:r>
                    <m:r>
                      <m:rPr>
                        <m:sty m:val="p"/>
                      </m:rPr>
                      <a:rPr lang="en-AU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47F168A-E6E6-434A-BA70-FC03772600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321" y="2263074"/>
                <a:ext cx="2866274" cy="369332"/>
              </a:xfrm>
              <a:prstGeom prst="rect">
                <a:avLst/>
              </a:prstGeom>
              <a:blipFill>
                <a:blip r:embed="rId6"/>
                <a:stretch>
                  <a:fillRect l="-1915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820D7CA-29F9-49CE-90A8-BD6D1E126CF0}"/>
                  </a:ext>
                </a:extLst>
              </p:cNvPr>
              <p:cNvSpPr/>
              <p:nvPr/>
            </p:nvSpPr>
            <p:spPr>
              <a:xfrm>
                <a:off x="6259786" y="2464514"/>
                <a:ext cx="20274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/>
                  <a:t>A to B = </a:t>
                </a:r>
                <a14:m>
                  <m:oMath xmlns:m="http://schemas.openxmlformats.org/officeDocument/2006/math">
                    <m:r>
                      <a:rPr lang="en-AU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8.6</m:t>
                    </m:r>
                  </m:oMath>
                </a14:m>
                <a:r>
                  <a:rPr lang="en-AU" dirty="0"/>
                  <a:t> = 860m</a:t>
                </a:r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820D7CA-29F9-49CE-90A8-BD6D1E126C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9786" y="2464514"/>
                <a:ext cx="2027478" cy="369332"/>
              </a:xfrm>
              <a:prstGeom prst="rect">
                <a:avLst/>
              </a:prstGeom>
              <a:blipFill>
                <a:blip r:embed="rId7"/>
                <a:stretch>
                  <a:fillRect l="-2711" t="-8197" r="-1506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321B16B-CAF8-4EE1-94E3-D15E0D5072DF}"/>
                  </a:ext>
                </a:extLst>
              </p:cNvPr>
              <p:cNvSpPr/>
              <p:nvPr/>
            </p:nvSpPr>
            <p:spPr>
              <a:xfrm>
                <a:off x="5589206" y="2659273"/>
                <a:ext cx="27203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/>
                  <a:t>B to Start = </a:t>
                </a:r>
                <a14:m>
                  <m:oMath xmlns:m="http://schemas.openxmlformats.org/officeDocument/2006/math">
                    <m:r>
                      <a:rPr lang="en-AU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10.2</m:t>
                    </m:r>
                    <m:r>
                      <a:rPr lang="en-AU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=1020</m:t>
                    </m:r>
                    <m:r>
                      <m:rPr>
                        <m:sty m:val="p"/>
                      </m:rPr>
                      <a:rPr lang="en-AU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321B16B-CAF8-4EE1-94E3-D15E0D5072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9206" y="2659273"/>
                <a:ext cx="2720360" cy="369332"/>
              </a:xfrm>
              <a:prstGeom prst="rect">
                <a:avLst/>
              </a:prstGeom>
              <a:blipFill>
                <a:blip r:embed="rId8"/>
                <a:stretch>
                  <a:fillRect l="-2018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18869D5-E8B0-4E6E-AA4E-8826B2DFE410}"/>
              </a:ext>
            </a:extLst>
          </p:cNvPr>
          <p:cNvSpPr txBox="1"/>
          <p:nvPr/>
        </p:nvSpPr>
        <p:spPr>
          <a:xfrm>
            <a:off x="5118410" y="3681616"/>
            <a:ext cx="38648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Total = 2587m or 2.587 km so yes your drone will fly far enough.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7DE23E7-1F19-4B85-A61A-844E44FDF2B3}"/>
              </a:ext>
            </a:extLst>
          </p:cNvPr>
          <p:cNvCxnSpPr/>
          <p:nvPr/>
        </p:nvCxnSpPr>
        <p:spPr>
          <a:xfrm flipH="1" flipV="1">
            <a:off x="517579" y="3156031"/>
            <a:ext cx="2408663" cy="20852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FE5848-BF90-49E5-9CBD-ED33B8030449}"/>
              </a:ext>
            </a:extLst>
          </p:cNvPr>
          <p:cNvCxnSpPr>
            <a:cxnSpLocks/>
          </p:cNvCxnSpPr>
          <p:nvPr/>
        </p:nvCxnSpPr>
        <p:spPr>
          <a:xfrm flipV="1">
            <a:off x="517579" y="1004653"/>
            <a:ext cx="3378820" cy="21190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1017D0B-FACB-4C40-925D-A1ABBA707715}"/>
              </a:ext>
            </a:extLst>
          </p:cNvPr>
          <p:cNvCxnSpPr>
            <a:cxnSpLocks/>
          </p:cNvCxnSpPr>
          <p:nvPr/>
        </p:nvCxnSpPr>
        <p:spPr>
          <a:xfrm flipH="1">
            <a:off x="2926242" y="1004653"/>
            <a:ext cx="970157" cy="42366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368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43824-740A-462E-9033-A7D45161F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431709"/>
          </a:xfrm>
        </p:spPr>
        <p:txBody>
          <a:bodyPr>
            <a:normAutofit fontScale="90000"/>
          </a:bodyPr>
          <a:lstStyle/>
          <a:p>
            <a:r>
              <a:rPr lang="en-AU" dirty="0"/>
              <a:t>Ex 16.1 and 16.2 of Year 9 text.  Page 214 to 215.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B691BD-E96C-48A8-9768-3BB4F3C06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168" y="923925"/>
            <a:ext cx="6418745" cy="4350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363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B5964C-C289-460A-BE45-2216B258F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581" y="501805"/>
            <a:ext cx="5600700" cy="2867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772043-4E8E-4432-A1D1-10A44565B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31" y="3087609"/>
            <a:ext cx="1466850" cy="13239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A535ED-23AC-4551-9DE6-9D95AA0A0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1106" y="4411584"/>
            <a:ext cx="5591175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184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7FEA2C9-6E64-4028-8A3E-19098D2F43C5}" vid="{975935DD-9AD2-443E-9D3A-1AF4DC2D5AD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2017</Template>
  <TotalTime>16994</TotalTime>
  <Words>588</Words>
  <Application>Microsoft Office PowerPoint</Application>
  <PresentationFormat>On-screen Show (16:10)</PresentationFormat>
  <Paragraphs>145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Arial Unicode MS</vt:lpstr>
      <vt:lpstr>Calibri</vt:lpstr>
      <vt:lpstr>Calibri Light</vt:lpstr>
      <vt:lpstr>Cambria Math</vt:lpstr>
      <vt:lpstr>Garamond</vt:lpstr>
      <vt:lpstr>Symbol</vt:lpstr>
      <vt:lpstr>Times New Roman</vt:lpstr>
      <vt:lpstr>Office Theme</vt:lpstr>
      <vt:lpstr>MHelp.Document</vt:lpstr>
      <vt:lpstr>PowerPoint Presentation</vt:lpstr>
      <vt:lpstr>PowerPoint Presentation</vt:lpstr>
      <vt:lpstr>PowerPoint Presentation</vt:lpstr>
      <vt:lpstr>Topic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 16.1 and 16.2 of Year 9 text.  Page 214 to 215.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16</cp:revision>
  <dcterms:created xsi:type="dcterms:W3CDTF">2017-09-26T13:59:35Z</dcterms:created>
  <dcterms:modified xsi:type="dcterms:W3CDTF">2017-10-08T09:14:09Z</dcterms:modified>
</cp:coreProperties>
</file>
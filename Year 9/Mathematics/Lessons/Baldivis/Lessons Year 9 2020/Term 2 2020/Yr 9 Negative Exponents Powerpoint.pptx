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0" r:id="rId10"/>
    <p:sldId id="268" r:id="rId11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6E621-9C1F-49FB-8675-875AA3E6EA18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60197-B845-4458-9BF6-8AA3DAD0B0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975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673175" y="5118634"/>
            <a:ext cx="5390536" cy="48494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673175" y="5118634"/>
            <a:ext cx="5390536" cy="48494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83528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F67B-E46E-4596-9C62-ACA7F1492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ECEBC-9968-4C0C-9A54-03EE1B17B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758B-5AFD-417B-9D86-2F4A5EF6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18F0E-9B2D-49FD-9111-7F3614A3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ECA29-6022-4887-8177-5961D166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024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9872-FB9F-485E-8F2D-45DD8AC9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8ADD-D862-416C-92E1-9A23AB296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4A804-6901-4D1D-9D42-F656789C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D2C73-A924-4D37-BC9A-B8876133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F65E-5966-49D1-B383-42C76CA6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169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D74B-13B1-43E3-9455-70224BB4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A54A-18B5-4A51-84C9-25CE14869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DA5E-7D6B-4A7E-B9A0-E1304CEE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8B592-1F4F-4A42-A50E-C2E4D501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1C97D-2115-467A-9A77-D5A79202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95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B7A9-8911-4B06-A004-8C6052E8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F8807-32B2-4121-BA6D-CE0E59EA8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DF1AE-C8E9-40D2-8A90-0ED5D0F2B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D59B2-4115-4424-B79C-FDB9BA8D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2895-6054-42BB-987A-461F4166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BEABD-00BE-4CCC-BFB2-6A2AF736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92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C5EA-7534-4974-AD6C-F1F848BF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A0E3-A055-483A-ACBA-6388DDD5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920CB-F284-4472-B9E6-1894504D8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D7D2C-8940-4960-A7AF-CE26E8484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9473B-76A1-49AB-90B5-3046DE7DA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3E4131-65C0-4D62-B2AB-C965626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DE3F6-0390-4BFC-8629-3BE9C307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843EB-DE0D-45E3-BC99-8D629900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00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8477-1C49-4B94-9B0C-DEBAB979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AEC8F-A475-4FA9-88F5-63EC2EBB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EFF6C-783C-4893-ABDB-1BF2FEE7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97FFF-D425-4A86-BAE9-60D88053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48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A2F2D-1D07-4DA1-B7AA-1FE5304F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41CCD-CFF9-4318-BE7C-ACEA6401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1B9A9-F516-407F-940E-840D4B20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32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E5DB-AD25-4057-87C9-28EC31C6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D06F9-D0B3-4DF7-AF00-79469C7E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7190B-8CD5-4F80-880C-782E3A0ED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50CED-B1FE-4476-9A2D-C54F719C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EAC79-AA96-420E-8F4D-8696EDCE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F8297-C2A6-481E-A02B-11D72629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74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244F-7F8B-4FA2-AD21-59731185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7372D-406F-4FE2-87A3-1D9FB28DA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D12DE-A1E2-4428-9C49-EFB890972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BB1FB-0A49-4C39-8ED9-70278C31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06EB2-DEB0-4C48-A9D0-C504B2DB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A2E44-18D5-46E5-987F-0681A267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476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9D1E-7152-453A-A81C-2DB78D89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E7116-4ABE-4082-AE76-200B53638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599AE-ECD1-4A74-A2B3-4F95ACA5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65F1C-479A-4DF7-B12D-98572E71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B0A74-1E99-4D80-B6F3-BB8125DB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7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AEED0-C498-4C39-A45A-543F97F0D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85B3A-6048-45B4-B840-7F380AE13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9E0B-4F59-4F90-AA07-3CC4295E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A2E4F-87BE-4C71-8822-BB10A9AA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52212-4E09-49D3-B970-FDA7765B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155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68393-FF3E-4AB4-B74E-F6DEC3B2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B88A9-9972-41F5-8933-57145693D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9337B-8732-4337-B5BA-CD78F9E60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994D3-F59C-4F95-A31D-AAF54A2C99FD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54EDE-AE03-49FB-8A61-A8F1E594F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DAEED-09DF-483D-BD57-05EA25C62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B4542-0951-4322-88C2-AE44AFE10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75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athsisfun.com/numbers/inverse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14F9423-60BC-446D-ADF4-912D0219F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108" y="279239"/>
            <a:ext cx="9825481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1" i="0" u="sng" strike="noStrike" cap="none" normalizeH="0" baseline="0" dirty="0">
                <a:ln>
                  <a:noFill/>
                </a:ln>
                <a:solidFill>
                  <a:srgbClr val="131413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NewRomanPS"/>
              </a:rPr>
              <a:t>NEGATIVE INDICES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1" i="0" u="sng" strike="noStrike" cap="none" normalizeH="0" baseline="0" dirty="0">
                <a:ln>
                  <a:noFill/>
                </a:ln>
                <a:solidFill>
                  <a:srgbClr val="131413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NewRomanPS"/>
              </a:rPr>
              <a:t>Revision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131413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NewRomanPS"/>
              </a:rPr>
              <a:t>:    Exponents are also called powers or indices</a:t>
            </a:r>
            <a:r>
              <a:rPr kumimoji="0" lang="en-AU" altLang="en-US" b="0" i="0" u="none" strike="noStrike" cap="none" normalizeH="0" baseline="0" dirty="0">
                <a:ln>
                  <a:noFill/>
                </a:ln>
                <a:solidFill>
                  <a:srgbClr val="131413"/>
                </a:solidFill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NewRomanPS"/>
              </a:rPr>
              <a:t>.</a:t>
            </a:r>
            <a:endParaRPr kumimoji="0" lang="en-AU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6">
            <a:extLst>
              <a:ext uri="{FF2B5EF4-FFF2-40B4-BE49-F238E27FC236}">
                <a16:creationId xmlns:a16="http://schemas.microsoft.com/office/drawing/2014/main" id="{C720A9C2-7137-40B8-8F9D-B0ECC004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831" y="2179368"/>
            <a:ext cx="2630659" cy="249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0D5B447-5AE2-4AC8-8435-CD2D6C4D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826" y="1691763"/>
            <a:ext cx="100505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The </a:t>
            </a:r>
            <a:r>
              <a:rPr kumimoji="0" lang="en-AU" altLang="en-US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exponent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of a number says </a:t>
            </a:r>
            <a:r>
              <a:rPr kumimoji="0" lang="en-AU" altLang="en-US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how many times 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to </a:t>
            </a: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use</a:t>
            </a:r>
            <a:r>
              <a:rPr kumimoji="0" lang="en-AU" altLang="en-US" sz="28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 </a:t>
            </a: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the 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number in a multiplication.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In this example: </a:t>
            </a:r>
            <a:r>
              <a:rPr kumimoji="0" lang="en-AU" altLang="en-US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8</a:t>
            </a:r>
            <a:r>
              <a:rPr kumimoji="0" lang="en-AU" altLang="en-US" sz="2800" b="1" i="0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2</a:t>
            </a:r>
            <a:r>
              <a:rPr kumimoji="0" lang="en-AU" altLang="en-US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 = 8 × 8 = 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AU" altLang="en-US" sz="2800" b="1" dirty="0">
              <a:solidFill>
                <a:srgbClr val="333333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8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AU" altLang="en-US" sz="2800" b="1" dirty="0">
              <a:solidFill>
                <a:srgbClr val="333333"/>
              </a:solidFill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1" i="0" u="sng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words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8</a:t>
            </a:r>
            <a:r>
              <a:rPr kumimoji="0" lang="en-AU" altLang="en-US" sz="2800" b="0" i="0" u="none" strike="noStrike" cap="none" normalizeH="0" baseline="3000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can be called "8 to the second power", "8 to the power </a:t>
            </a:r>
            <a:r>
              <a:rPr lang="en-AU" altLang="en-US" sz="2800" dirty="0" smtClean="0">
                <a:solidFill>
                  <a:srgbClr val="333333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 </a:t>
            </a: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" or simply "8 </a:t>
            </a: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squared”</a:t>
            </a:r>
            <a:endParaRPr kumimoji="0" lang="en-AU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32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85AE0C3-3D25-439D-8235-FC2F0A6B2396}"/>
                  </a:ext>
                </a:extLst>
              </p:cNvPr>
              <p:cNvSpPr/>
              <p:nvPr/>
            </p:nvSpPr>
            <p:spPr>
              <a:xfrm>
                <a:off x="516834" y="350657"/>
                <a:ext cx="11436626" cy="61566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b="1" u="sng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Negative Exponents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 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We know that 2</a:t>
                </a:r>
                <a:r>
                  <a:rPr lang="en-AU" sz="2800" baseline="300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3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 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8 and 2</a:t>
                </a:r>
                <a:r>
                  <a:rPr lang="en-AU" sz="2800" baseline="300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0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 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Comic Sans MS" panose="030F0702030302020204" pitchFamily="66" charset="0"/>
                  </a:rPr>
                  <a:t>= 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1   but what about 2</a:t>
                </a:r>
                <a:r>
                  <a:rPr lang="en-AU" sz="2800" baseline="300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-1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 or 2</a:t>
                </a:r>
                <a:r>
                  <a:rPr lang="en-AU" sz="2800" baseline="300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Comic Sans MS" panose="030F0702030302020204" pitchFamily="66" charset="0"/>
                  </a:rPr>
                  <a:t>-</a:t>
                </a:r>
                <a:r>
                  <a:rPr lang="en-AU" sz="2800" baseline="300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6</a:t>
                </a: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? 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Such numbers written in index form using negative indices also have meaning in mathematics.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 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latin typeface="Comic Sans MS" panose="030F0702030302020204" pitchFamily="66" charset="0"/>
                    <a:ea typeface="Calibri" panose="020F0502020204030204" pitchFamily="34" charset="0"/>
                    <a:cs typeface="TimesNewRomanPS"/>
                  </a:rPr>
                  <a:t>But what about   </a:t>
                </a:r>
                <a:r>
                  <a:rPr lang="en-AU" sz="2800" b="1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  <a:r>
                  <a:rPr lang="en-AU" sz="2800" b="1" baseline="30000" dirty="0"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-2 </a:t>
                </a:r>
                <a:r>
                  <a:rPr lang="en-AU" sz="2800" dirty="0">
                    <a:solidFill>
                      <a:srgbClr val="000088"/>
                    </a:solidFill>
                    <a:effectLst/>
                    <a:latin typeface="Verdana" panose="020B060403050404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en-AU" sz="2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That exponent is </a:t>
                </a:r>
                <a:r>
                  <a:rPr lang="en-AU" sz="2800" b="1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negative</a:t>
                </a:r>
                <a:r>
                  <a:rPr lang="en-AU" sz="2800" dirty="0"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... what does it mean?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AU" sz="2800" dirty="0">
                    <a:solidFill>
                      <a:srgbClr val="333333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Negative? What could be the opposite of multiplying? </a:t>
                </a:r>
                <a:r>
                  <a:rPr lang="en-AU" sz="2800" b="1" dirty="0">
                    <a:solidFill>
                      <a:srgbClr val="333333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Dividing!</a:t>
                </a:r>
                <a:endParaRPr lang="en-AU" sz="28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:r>
                  <a:rPr lang="en-AU" sz="28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Dividing</a:t>
                </a: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 is the </a:t>
                </a:r>
                <a:r>
                  <a:rPr lang="en-AU" sz="2800" u="sng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hlinkClick r:id="rId2"/>
                  </a:rPr>
                  <a:t>inverse</a:t>
                </a: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 (opposite) of </a:t>
                </a:r>
                <a:r>
                  <a:rPr lang="en-AU" sz="28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Multiplying</a:t>
                </a: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.</a:t>
                </a:r>
                <a:endParaRPr lang="en-AU" sz="28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AU" sz="2800" dirty="0">
                    <a:solidFill>
                      <a:srgbClr val="333333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A negative exponent means how many times</a:t>
                </a:r>
                <a:r>
                  <a:rPr lang="en-AU" sz="2800" b="1" dirty="0">
                    <a:solidFill>
                      <a:srgbClr val="333333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 to divide</a:t>
                </a:r>
                <a:r>
                  <a:rPr lang="en-AU" sz="2800" dirty="0">
                    <a:solidFill>
                      <a:srgbClr val="333333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 by the number.</a:t>
                </a:r>
                <a:endParaRPr lang="en-AU" sz="28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en-AU" sz="2800" dirty="0">
                    <a:solidFill>
                      <a:srgbClr val="000088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</a:rPr>
                  <a:t>Example: </a:t>
                </a:r>
                <a:r>
                  <a:rPr lang="en-AU" sz="2800" b="1" dirty="0">
                    <a:solidFill>
                      <a:srgbClr val="000088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</a:rPr>
                  <a:t>8</a:t>
                </a:r>
                <a:r>
                  <a:rPr lang="en-AU" sz="2800" b="1" baseline="30000" dirty="0">
                    <a:solidFill>
                      <a:srgbClr val="000088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</a:rPr>
                  <a:t>-1</a:t>
                </a:r>
                <a:r>
                  <a:rPr lang="en-AU" sz="2800" b="1" dirty="0">
                    <a:solidFill>
                      <a:srgbClr val="000088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</a:rPr>
                  <a:t> = 1 ÷ 8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>
                            <a:solidFill>
                              <a:srgbClr val="000088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000088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000088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𝟖</m:t>
                        </m:r>
                      </m:den>
                    </m:f>
                  </m:oMath>
                </a14:m>
                <a:endParaRPr lang="en-AU" sz="28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85AE0C3-3D25-439D-8235-FC2F0A6B2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34" y="350657"/>
                <a:ext cx="11436626" cy="6156685"/>
              </a:xfrm>
              <a:prstGeom prst="rect">
                <a:avLst/>
              </a:prstGeom>
              <a:blipFill>
                <a:blip r:embed="rId3"/>
                <a:stretch>
                  <a:fillRect l="-1119" t="-1189" b="-3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08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23">
            <a:extLst>
              <a:ext uri="{FF2B5EF4-FFF2-40B4-BE49-F238E27FC236}">
                <a16:creationId xmlns:a16="http://schemas.microsoft.com/office/drawing/2014/main" id="{8111C884-1E98-40C2-98C5-EE39FB81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01" y="1963048"/>
            <a:ext cx="4463382" cy="255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4">
            <a:extLst>
              <a:ext uri="{FF2B5EF4-FFF2-40B4-BE49-F238E27FC236}">
                <a16:creationId xmlns:a16="http://schemas.microsoft.com/office/drawing/2014/main" id="{D2352725-6085-47B0-807D-D3A94749F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371" y="1258955"/>
            <a:ext cx="4185679" cy="376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6235EA-38F7-481E-A000-53C08066D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794" y="699173"/>
            <a:ext cx="25058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800" dirty="0"/>
              <a:t>Consider </a:t>
            </a:r>
            <a:r>
              <a:rPr lang="en-AU" sz="2800" i="1" dirty="0"/>
              <a:t>a</a:t>
            </a:r>
            <a:r>
              <a:rPr lang="en-AU" sz="2800" baseline="30000" dirty="0"/>
              <a:t>2</a:t>
            </a:r>
            <a:r>
              <a:rPr lang="en-AU" sz="2800" dirty="0"/>
              <a:t> ÷ </a:t>
            </a:r>
            <a:r>
              <a:rPr lang="en-AU" sz="2800" i="1" dirty="0" smtClean="0"/>
              <a:t>a</a:t>
            </a:r>
            <a:r>
              <a:rPr lang="en-AU" sz="2800" baseline="30000" dirty="0" smtClean="0"/>
              <a:t>5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4AEB07-4058-4F16-868D-D104AD0EAC64}"/>
                  </a:ext>
                </a:extLst>
              </p:cNvPr>
              <p:cNvSpPr/>
              <p:nvPr/>
            </p:nvSpPr>
            <p:spPr>
              <a:xfrm>
                <a:off x="4027965" y="5297935"/>
                <a:ext cx="4136069" cy="745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AU" sz="2800" dirty="0">
                    <a:solidFill>
                      <a:srgbClr val="131413"/>
                    </a:solidFill>
                    <a:effectLst/>
                    <a:latin typeface="Arial" panose="020B0604020202020204" pitchFamily="34" charset="0"/>
                    <a:ea typeface="Arial" panose="020B0604020202020204" pitchFamily="34" charset="0"/>
                    <a:cs typeface="Times New Roman" panose="02020603050405020304" pitchFamily="18" charset="0"/>
                  </a:rPr>
                  <a:t>Therefore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solidFill>
                              <a:srgbClr val="131413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AU" sz="2800" i="1">
                            <a:solidFill>
                              <a:srgbClr val="131413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p>
                        <m:r>
                          <a:rPr lang="en-AU" sz="2800" i="1">
                            <a:solidFill>
                              <a:srgbClr val="131413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−3</m:t>
                        </m:r>
                      </m:sup>
                    </m:sSup>
                    <m:r>
                      <a:rPr lang="en-AU" sz="2800" i="1">
                        <a:solidFill>
                          <a:srgbClr val="131413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= </m:t>
                    </m:r>
                    <m:f>
                      <m:fPr>
                        <m:ctrlPr>
                          <a:rPr lang="en-AU" sz="2800" i="1">
                            <a:solidFill>
                              <a:srgbClr val="131413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131413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sz="2800" i="1">
                                <a:solidFill>
                                  <a:srgbClr val="131413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2800" i="1">
                                <a:solidFill>
                                  <a:srgbClr val="131413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i="1">
                                <a:solidFill>
                                  <a:srgbClr val="131413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AU" sz="2800" i="1">
                        <a:solidFill>
                          <a:srgbClr val="131413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      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4AEB07-4058-4F16-868D-D104AD0EA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965" y="5297935"/>
                <a:ext cx="4136069" cy="745782"/>
              </a:xfrm>
              <a:prstGeom prst="rect">
                <a:avLst/>
              </a:prstGeom>
              <a:blipFill>
                <a:blip r:embed="rId4"/>
                <a:stretch>
                  <a:fillRect l="-3097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73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882E2B-8096-4267-9106-0EA578E974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40" y="542276"/>
            <a:ext cx="9274299" cy="1869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B600F3-E3F7-456B-BB3C-16D73697FD0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151" y="2411896"/>
            <a:ext cx="9839697" cy="42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6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389E3-5815-432B-AF83-5A638ECA1D5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4" y="180868"/>
            <a:ext cx="10809737" cy="354299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554FAFE-6069-4EBF-B837-E341E4F7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CF7FB-5DD6-4AAA-8E8C-5852B3528EDA}"/>
              </a:ext>
            </a:extLst>
          </p:cNvPr>
          <p:cNvSpPr/>
          <p:nvPr/>
        </p:nvSpPr>
        <p:spPr>
          <a:xfrm>
            <a:off x="5044440" y="7132320"/>
            <a:ext cx="784860" cy="358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F19ECA-0C4B-421F-AB46-042027104CE4}"/>
              </a:ext>
            </a:extLst>
          </p:cNvPr>
          <p:cNvSpPr/>
          <p:nvPr/>
        </p:nvSpPr>
        <p:spPr>
          <a:xfrm>
            <a:off x="372007" y="3542463"/>
            <a:ext cx="1077496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8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Also Remember</a:t>
            </a:r>
            <a:r>
              <a:rPr lang="en-AU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Any number to the power of 1 is just itself      </a:t>
            </a:r>
            <a:r>
              <a:rPr kumimoji="0" lang="en-AU" altLang="en-US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kumimoji="0" lang="en-AU" altLang="en-US" sz="2800" b="1" i="1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kumimoji="0" lang="en-AU" altLang="en-US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=a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Write the following numbers in index form: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=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AU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=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 =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AU" alt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=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996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FA22E01A-D847-4931-900E-30D0A7BD4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22" y="3963499"/>
            <a:ext cx="10527241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alt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      2</a:t>
            </a:r>
            <a:r>
              <a:rPr kumimoji="0" lang="en-AU" altLang="en-US" sz="28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-4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=   </a:t>
            </a:r>
            <a:r>
              <a:rPr kumimoji="0" lang="en-AU" altLang="en-US" sz="28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1÷2</a:t>
            </a:r>
            <a:r>
              <a:rPr kumimoji="0" lang="en-AU" altLang="en-US" sz="2800" b="0" i="1" u="none" strike="noStrike" cap="none" normalizeH="0" baseline="30000" dirty="0" smtClean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kumimoji="0" lang="en-AU" alt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    </a:t>
            </a:r>
            <a:r>
              <a:rPr kumimoji="0" lang="en-AU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124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(index form)   =</a:t>
            </a:r>
            <a:r>
              <a:rPr kumimoji="0" lang="en-AU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116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(evaluated)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ED6D67D-F4A8-4965-BF09-EA65393CD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3148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5A21C7-DE0C-49A0-A486-A4D36FDCAFB1}"/>
              </a:ext>
            </a:extLst>
          </p:cNvPr>
          <p:cNvSpPr/>
          <p:nvPr/>
        </p:nvSpPr>
        <p:spPr>
          <a:xfrm>
            <a:off x="437322" y="129209"/>
            <a:ext cx="1069516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4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 1</a:t>
            </a: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    </a:t>
            </a:r>
            <a:r>
              <a:rPr lang="en-AU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Write</a:t>
            </a:r>
            <a:r>
              <a:rPr lang="en-AU" alt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AU" alt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AU" altLang="en-US" sz="2400" b="1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AU" altLang="en-US" sz="2400" b="1" baseline="30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en-AU" alt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AU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using only positive indices/powers/exponents.</a:t>
            </a:r>
            <a:endParaRPr kumimoji="0" lang="en-A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know that the negative exponent means that the base, the</a:t>
            </a:r>
            <a:r>
              <a:rPr lang="en-AU" altLang="en-US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AU" altLang="en-US" sz="2400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belongs on the other side of the fraction line. But there isn't a fraction line! So we need to make one.</a:t>
            </a:r>
            <a:endParaRPr kumimoji="0" lang="en-A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Write the following numbers as fractions: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altLang="en-US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= 						b) 3 =</a:t>
            </a:r>
            <a:b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AU" altLang="en-US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c) 4 =							d) 10 =                </a:t>
            </a:r>
            <a:endParaRPr kumimoji="0" lang="en-A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188FC0-C4A3-45AC-99B8-1E40F34E7DCA}"/>
                  </a:ext>
                </a:extLst>
              </p:cNvPr>
              <p:cNvSpPr/>
              <p:nvPr/>
            </p:nvSpPr>
            <p:spPr>
              <a:xfrm>
                <a:off x="4614196" y="4486719"/>
                <a:ext cx="2037033" cy="1017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2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AU" sz="320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188FC0-C4A3-45AC-99B8-1E40F34E7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4196" y="4486719"/>
                <a:ext cx="2037033" cy="1017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7918B870-3AEB-464B-851A-4A06FFF2344E}"/>
              </a:ext>
            </a:extLst>
          </p:cNvPr>
          <p:cNvSpPr/>
          <p:nvPr/>
        </p:nvSpPr>
        <p:spPr>
          <a:xfrm>
            <a:off x="702365" y="5708066"/>
            <a:ext cx="1099930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Flip the fraction upside down (invert or reciprocal) and change the index to a positive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9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E61AA4-3F1A-4A87-BCE4-5AF53C880D37}"/>
                  </a:ext>
                </a:extLst>
              </p:cNvPr>
              <p:cNvSpPr/>
              <p:nvPr/>
            </p:nvSpPr>
            <p:spPr>
              <a:xfrm>
                <a:off x="191590" y="335755"/>
                <a:ext cx="12000410" cy="57150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AU" sz="3000" b="1" u="sng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Example 2</a:t>
                </a:r>
                <a:r>
                  <a:rPr lang="en-AU" sz="30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  </a:t>
                </a: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</a:t>
                </a:r>
                <a:r>
                  <a:rPr lang="en-AU" sz="30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0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3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30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AU" sz="3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AU" sz="30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only positive exponents.</a:t>
                </a:r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Only one of the terms has a negative exponent. </a:t>
                </a:r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means that you only move one of these terms. </a:t>
                </a:r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term with the negative power is underneath; this means that you move it up top, to the other side of the fraction line. There already is a term on top; You will be using exponent rules to combine these two terms.</a:t>
                </a:r>
                <a:r>
                  <a:rPr lang="en-AU" sz="3000" dirty="0">
                    <a:solidFill>
                      <a:srgbClr val="40404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AU" sz="3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Once you move that denominator up top, you won't have anything left underneath (other than the "understood" 1), so you can drop the denominator.</a:t>
                </a:r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AU" sz="3000" dirty="0"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3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3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3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3000" b="1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3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 × </m:t>
                        </m:r>
                        <m:sSup>
                          <m:sSupPr>
                            <m:ctrlPr>
                              <a:rPr lang="en-AU" sz="30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𝟒</m:t>
                            </m:r>
                          </m:e>
                          <m:sup>
                            <m:r>
                              <a:rPr lang="en-AU" sz="30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den>
                    </m:f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AU" sz="3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e>
                      <m:sup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×</m:t>
                    </m:r>
                    <m:sSup>
                      <m:sSupPr>
                        <m:ctrlPr>
                          <a:rPr lang="en-AU" sz="30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e>
                      <m:sup>
                        <m:r>
                          <a:rPr lang="en-AU" sz="30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𝐢𝐧</m:t>
                    </m:r>
                    <m:r>
                      <a:rPr lang="en-AU" sz="30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𝐢𝐧𝐝𝐞𝐱</m:t>
                    </m:r>
                    <m:r>
                      <a:rPr lang="en-AU" sz="30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𝐟𝐨𝐫𝐦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 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𝟗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×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𝟔𝟒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𝟓𝟕𝟔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30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𝐞𝐯𝐚𝐥𝐮𝐚𝐭𝐞𝐝</m:t>
                    </m:r>
                  </m:oMath>
                </a14:m>
                <a:endParaRPr lang="en-AU" sz="3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DE61AA4-3F1A-4A87-BCE4-5AF53C880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90" y="335755"/>
                <a:ext cx="12000410" cy="5715026"/>
              </a:xfrm>
              <a:prstGeom prst="rect">
                <a:avLst/>
              </a:prstGeom>
              <a:blipFill>
                <a:blip r:embed="rId2"/>
                <a:stretch>
                  <a:fillRect l="-1168" r="-1067" b="-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55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F05DA1-5A1F-4128-A98A-9257BB8AE64A}"/>
                  </a:ext>
                </a:extLst>
              </p:cNvPr>
              <p:cNvSpPr/>
              <p:nvPr/>
            </p:nvSpPr>
            <p:spPr>
              <a:xfrm>
                <a:off x="609600" y="362327"/>
                <a:ext cx="11396870" cy="6133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440"/>
                  </a:spcBef>
                  <a:spcAft>
                    <a:spcPts val="1440"/>
                  </a:spcAft>
                </a:pPr>
                <a:r>
                  <a:rPr lang="en-AU" sz="3200" b="1" u="sng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Example 3:</a:t>
                </a:r>
                <a:r>
                  <a:rPr lang="en-AU" sz="3200" dirty="0">
                    <a:solidFill>
                      <a:srgbClr val="40404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AU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Only the number with the negative power moves and changes power!        </a:t>
                </a:r>
                <a:endParaRPr lang="en-AU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440"/>
                  </a:spcBef>
                  <a:spcAft>
                    <a:spcPts val="1440"/>
                  </a:spcAft>
                </a:pPr>
                <a:r>
                  <a:rPr lang="en-AU" sz="32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 (2) (3</a:t>
                </a:r>
                <a:r>
                  <a:rPr lang="en-AU" sz="3200" b="1" baseline="300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r>
                  <a:rPr lang="en-AU" sz="32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 using only positive exponents.</a:t>
                </a:r>
                <a:endParaRPr lang="en-AU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1440"/>
                  </a:spcAft>
                </a:pPr>
                <a:r>
                  <a:rPr lang="en-AU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negative power will become just "+1" once you move the base to the other side of the fraction line. Anything to the power 1 is just itself, so I'll be able to drop this power once I've moved the base</a:t>
                </a:r>
                <a:r>
                  <a:rPr lang="en-AU" sz="32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AU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Make sure you understand why the "2" above does not move with the 3: the negative exponent is only on the "</a:t>
                </a:r>
                <a:r>
                  <a:rPr lang="en-AU" sz="3200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AU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", so only the </a:t>
                </a:r>
                <a:r>
                  <a:rPr lang="en-AU" sz="3200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AU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moves.</a:t>
                </a:r>
                <a:endParaRPr lang="en-AU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1440"/>
                  </a:spcBef>
                  <a:spcAft>
                    <a:spcPts val="1440"/>
                  </a:spcAft>
                </a:pPr>
                <a:r>
                  <a:rPr lang="en-AU" sz="3200" b="1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(2)(</a:t>
                </a:r>
                <a:r>
                  <a:rPr lang="en-AU" sz="3200" b="1" i="1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AU" sz="3200" b="1" baseline="300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–1</a:t>
                </a:r>
                <a:r>
                  <a:rPr lang="en-AU" sz="3200" b="1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 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AU" sz="32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AU" sz="32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en-AU" sz="32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n-AU" sz="32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  </m:t>
                            </m:r>
                          </m:sup>
                        </m:sSup>
                      </m:den>
                    </m:f>
                    <m:r>
                      <a:rPr lang="en-AU" sz="32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 </m:t>
                    </m:r>
                  </m:oMath>
                </a14:m>
                <a:r>
                  <a:rPr lang="en-AU" sz="3200" b="1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32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num>
                      <m:den>
                        <m:r>
                          <a:rPr lang="en-AU" sz="32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den>
                    </m:f>
                  </m:oMath>
                </a14:m>
                <a:endParaRPr lang="en-AU" sz="3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F05DA1-5A1F-4128-A98A-9257BB8AE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62327"/>
                <a:ext cx="11396870" cy="6133346"/>
              </a:xfrm>
              <a:prstGeom prst="rect">
                <a:avLst/>
              </a:prstGeom>
              <a:blipFill>
                <a:blip r:embed="rId2"/>
                <a:stretch>
                  <a:fillRect l="-1337" t="-1291" r="-2246" b="-2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81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E40228-B53C-4887-B160-D51A13856FB3}"/>
              </a:ext>
            </a:extLst>
          </p:cNvPr>
          <p:cNvSpPr/>
          <p:nvPr/>
        </p:nvSpPr>
        <p:spPr>
          <a:xfrm>
            <a:off x="3667058" y="239510"/>
            <a:ext cx="4168770" cy="335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920"/>
              </a:lnSpc>
              <a:spcBef>
                <a:spcPts val="1440"/>
              </a:spcBef>
              <a:spcAft>
                <a:spcPts val="1440"/>
              </a:spcAft>
            </a:pPr>
            <a:r>
              <a:rPr lang="en-AU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as a fraction then as a decimal</a:t>
            </a:r>
            <a:endParaRPr lang="en-A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6267B-AA42-4173-9F0A-E8C44E80EA2B}"/>
              </a:ext>
            </a:extLst>
          </p:cNvPr>
          <p:cNvPicPr/>
          <p:nvPr/>
        </p:nvPicPr>
        <p:blipFill rotWithShape="1">
          <a:blip r:embed="rId3"/>
          <a:srcRect b="24468"/>
          <a:stretch/>
        </p:blipFill>
        <p:spPr>
          <a:xfrm>
            <a:off x="323557" y="575499"/>
            <a:ext cx="6611815" cy="6162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B12D3-D373-4BD7-A90A-BBDB527E32D5}"/>
              </a:ext>
            </a:extLst>
          </p:cNvPr>
          <p:cNvPicPr/>
          <p:nvPr/>
        </p:nvPicPr>
        <p:blipFill rotWithShape="1">
          <a:blip r:embed="rId3"/>
          <a:srcRect t="77253" r="55284"/>
          <a:stretch/>
        </p:blipFill>
        <p:spPr>
          <a:xfrm>
            <a:off x="7420584" y="713932"/>
            <a:ext cx="2398663" cy="1674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A305E3-4B17-416D-B87D-7FF73A31ABB3}"/>
              </a:ext>
            </a:extLst>
          </p:cNvPr>
          <p:cNvPicPr/>
          <p:nvPr/>
        </p:nvPicPr>
        <p:blipFill rotWithShape="1">
          <a:blip r:embed="rId3"/>
          <a:srcRect l="54217" t="75911"/>
          <a:stretch/>
        </p:blipFill>
        <p:spPr>
          <a:xfrm>
            <a:off x="7188590" y="2819933"/>
            <a:ext cx="2419644" cy="1695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9D5174-C12A-45B0-AF6B-6881516A1E32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14"/>
          <a:stretch/>
        </p:blipFill>
        <p:spPr>
          <a:xfrm>
            <a:off x="383636" y="0"/>
            <a:ext cx="6185975" cy="67243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6FFC11-2293-4B7D-8ACF-76791FF66D02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43" r="32839"/>
          <a:stretch/>
        </p:blipFill>
        <p:spPr>
          <a:xfrm>
            <a:off x="6939182" y="450166"/>
            <a:ext cx="5116829" cy="297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8821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114</Words>
  <Application>Microsoft Office PowerPoint</Application>
  <PresentationFormat>Widescreen</PresentationFormat>
  <Paragraphs>49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Comic Sans MS</vt:lpstr>
      <vt:lpstr>Times New Roman</vt:lpstr>
      <vt:lpstr>TimesNewRomanPS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MCALLISTER Robert [Baldivis Secondary College]</dc:creator>
  <cp:lastModifiedBy>DUNHILL Linda [Baldivis Secondary College]</cp:lastModifiedBy>
  <cp:revision>7</cp:revision>
  <cp:lastPrinted>2020-03-07T07:22:29Z</cp:lastPrinted>
  <dcterms:created xsi:type="dcterms:W3CDTF">2020-03-07T06:35:35Z</dcterms:created>
  <dcterms:modified xsi:type="dcterms:W3CDTF">2020-03-09T03:33:39Z</dcterms:modified>
</cp:coreProperties>
</file>
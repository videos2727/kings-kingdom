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07" r:id="rId2"/>
    <p:sldId id="502" r:id="rId3"/>
    <p:sldId id="475" r:id="rId4"/>
    <p:sldId id="509" r:id="rId5"/>
    <p:sldId id="476" r:id="rId6"/>
    <p:sldId id="508" r:id="rId7"/>
    <p:sldId id="506" r:id="rId8"/>
    <p:sldId id="5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928D6-2697-4A0D-B500-6E97B40C4E31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474D5-3958-420C-8683-7E835D5201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585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0399-4F1D-4A87-AF07-D130C5BB3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65BB4-C1AC-4EDC-8096-82C54FB77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76AB-485B-414F-BF7E-3CD4FCED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7973-59BD-490C-A9F2-F8545FFBF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0D2AC-0099-4866-891E-A69316C8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53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5612-F9B7-4C6A-AC2C-0441BA62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49F8-F270-49A9-B2C4-A0A0CA747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A300F-0295-4FA3-8AAC-F6B3AA0E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0A82-BCA1-4C17-94E4-DCE6DC6F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B14B-16E3-4086-BD5E-79BD71A1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9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4D3C-3CC7-4394-A2E2-EF7A364D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3998A-A515-420C-AC70-126A9D0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99C4-5F0F-44F9-A362-D34E1734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0C1A9-F663-40C0-9558-27BBC11C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63150-2634-4BA0-882E-21C1C6F3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42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AB83-009D-42E2-A83D-0C606BC7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01A23-9538-4019-99CF-98894EBE1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D65A4-E87F-46F3-B167-001ADEE6B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10519-0AA6-4DD8-8029-03EBE607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9A602-E73B-4B14-976D-00E8052FA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87AF7-C30C-441E-AF52-532DC363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541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D559-1BF8-4DCA-8C92-70C671E5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6160A-6D7A-4824-8FDA-D5042DCB9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F4320-C9E0-4B76-8809-49C25AE6A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F789C-9330-48CE-AEA2-8298C98BB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DA132C-5431-4428-AEC2-C028B09A3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503EC-113B-4A39-902A-D0B41331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9B3DF-9B87-432A-94ED-318A2C2D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6F9A7-CCCA-4F42-B53C-6471D201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5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108C-A518-4305-B011-D259D341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C8DA-701A-47AA-A4C8-3462672E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CCAD9-7277-4073-899D-54334811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0CB1D-889C-4CCF-8873-8E532865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89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A332F-14F6-4991-A4E5-9B175AC9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46E2D-A4BC-4EAB-BEEA-743B5D8F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172F-1618-48D5-9622-067CE453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42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C31A-07BC-4C3B-BF2F-16F41D0C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9EDC-48C4-4267-9860-F890E6B77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E38B9-DC22-466A-8919-AD0B3BC36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297C7-2542-4DDB-8C01-9805F8D9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6703E-E514-4D8C-BEA3-0A134A45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424D8-2347-4FFD-936E-0876C6E9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80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F0C9-FA6F-4503-8CE8-19F0FD64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8D5C0-07AA-4A67-BAC8-B43E4D7FC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CBEC6-1707-4392-B750-B5A2ECBA0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23828-6E3F-4573-8C1B-A99F230F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16B56-EE3B-4304-9AE4-F5EDD384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97018-13D8-4EE1-B51B-287FA47B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18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FD19-2EB8-4EFB-AFFE-AD336FED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E6C94-573F-4748-9A9C-C42B45F4E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98368-EADC-4C41-B713-63CD690C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C818-064E-46F3-8F9B-4A07404A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749C0-DFB8-47A3-8CBD-574001B5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04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6AFBE-14A5-4061-94B7-87726B556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E7A3A-0691-492B-B85D-8E69E60B8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6DAB0-1A55-41AB-BC50-AFB56463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61BB2-C41C-41A4-AB90-920AB2EA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BFC07-189B-4F03-9872-5C1D0FD9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932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57909-51D1-4368-9AB9-BA069FB5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7EB4C-9428-4BAE-81A0-739526BE4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5693A-6D5D-4A7F-A228-0BF278364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32D74-E080-47F3-8321-F34ACEA671FA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5FF5-C871-43A5-AEF2-D8693E623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909C7-AD3B-4791-8A0E-B68A915A0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817C3-AB28-4753-B49E-907596E72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14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16" y="3075955"/>
            <a:ext cx="3103038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5084" y="3004322"/>
                <a:ext cx="8229600" cy="36650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Write your summary from the last lesson.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What is Pythagoras’ Theorem?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What is the area of a rectangle that is 6m by 5m?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Calculate</a:t>
                </a:r>
                <a:br>
                  <a:rPr lang="en-AU" sz="2400" dirty="0"/>
                </a:br>
                <a:r>
                  <a:rPr lang="en-AU" sz="2400" dirty="0"/>
                  <a:t>   ⃝  4</a:t>
                </a:r>
                <a:r>
                  <a:rPr lang="en-AU" sz="2400" baseline="30000" dirty="0"/>
                  <a:t>2           </a:t>
                </a:r>
                <a:r>
                  <a:rPr lang="en-AU" sz="2400" dirty="0"/>
                  <a:t>    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AU" sz="2400" dirty="0"/>
                  <a:t>               ⃝ 6</a:t>
                </a:r>
                <a:r>
                  <a:rPr lang="en-AU" sz="2400" baseline="30000" dirty="0"/>
                  <a:t>2</a:t>
                </a:r>
                <a:r>
                  <a:rPr lang="en-AU" sz="2400" dirty="0"/>
                  <a:t>              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AU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400" dirty="0"/>
                  <a:t>The cost price of an article is $150. If it is sold for $175:</a:t>
                </a:r>
              </a:p>
              <a:p>
                <a:pPr marL="0" indent="0">
                  <a:buNone/>
                </a:pPr>
                <a:r>
                  <a:rPr lang="en-GB" sz="2400" dirty="0"/>
                  <a:t>a.     determine the profit made</a:t>
                </a:r>
              </a:p>
              <a:p>
                <a:pPr marL="0" indent="0">
                  <a:buNone/>
                </a:pPr>
                <a:r>
                  <a:rPr lang="en-GB" sz="2400" dirty="0"/>
                  <a:t>b.     express the profit as a percentage of the cost price.</a:t>
                </a:r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5084" y="3004322"/>
                <a:ext cx="8229600" cy="3665038"/>
              </a:xfrm>
              <a:blipFill>
                <a:blip r:embed="rId2"/>
                <a:stretch>
                  <a:fillRect l="-1185" t="-24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E7F3914-E405-471A-9E4B-27D08DF5A843}"/>
              </a:ext>
            </a:extLst>
          </p:cNvPr>
          <p:cNvSpPr txBox="1">
            <a:spLocks/>
          </p:cNvSpPr>
          <p:nvPr/>
        </p:nvSpPr>
        <p:spPr>
          <a:xfrm>
            <a:off x="463826" y="188640"/>
            <a:ext cx="9144000" cy="1679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/>
              <a:t>Pythagoras’ Theorem</a:t>
            </a:r>
            <a:br>
              <a:rPr lang="en-GB" sz="5400" b="1" dirty="0"/>
            </a:br>
            <a:r>
              <a:rPr lang="en-GB" sz="5400" b="1" dirty="0"/>
              <a:t>Working out the hypotenuse</a:t>
            </a:r>
          </a:p>
        </p:txBody>
      </p:sp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431704" y="1172036"/>
            <a:ext cx="0" cy="55339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1261939"/>
            <a:ext cx="1872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What is Pythagoras’ Theorem?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/>
              <p:nvPr/>
            </p:nvSpPr>
            <p:spPr>
              <a:xfrm>
                <a:off x="8580473" y="4152678"/>
                <a:ext cx="1838069" cy="1582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000" dirty="0">
                    <a:solidFill>
                      <a:srgbClr val="7030A0"/>
                    </a:solidFill>
                  </a:rPr>
                  <a:t>a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+ b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1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+ 2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     </a:t>
                </a:r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1 + 4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 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5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>
                    <a:solidFill>
                      <a:srgbClr val="7030A0"/>
                    </a:solidFill>
                  </a:rPr>
                  <a:t> cm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473" y="4152678"/>
                <a:ext cx="1838069" cy="1582164"/>
              </a:xfrm>
              <a:prstGeom prst="rect">
                <a:avLst/>
              </a:prstGeom>
              <a:blipFill>
                <a:blip r:embed="rId3"/>
                <a:stretch>
                  <a:fillRect l="-8638" t="-5000" b="-84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CAE5D96-C9A8-4F59-96C1-A12289F6E26B}"/>
              </a:ext>
            </a:extLst>
          </p:cNvPr>
          <p:cNvGrpSpPr/>
          <p:nvPr/>
        </p:nvGrpSpPr>
        <p:grpSpPr>
          <a:xfrm>
            <a:off x="5555463" y="1322005"/>
            <a:ext cx="2354792" cy="1468481"/>
            <a:chOff x="3491881" y="1772816"/>
            <a:chExt cx="2816820" cy="183735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792C6CB-AAF3-460E-BE9A-223A328C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E9B22C-5802-482D-B099-C16099AC06DD}"/>
                </a:ext>
              </a:extLst>
            </p:cNvPr>
            <p:cNvSpPr txBox="1"/>
            <p:nvPr/>
          </p:nvSpPr>
          <p:spPr>
            <a:xfrm>
              <a:off x="4355976" y="2118831"/>
              <a:ext cx="351290" cy="50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2FD2CE-A5FB-48FF-9983-5EB62CE67549}"/>
                </a:ext>
              </a:extLst>
            </p:cNvPr>
            <p:cNvSpPr txBox="1"/>
            <p:nvPr/>
          </p:nvSpPr>
          <p:spPr>
            <a:xfrm>
              <a:off x="5940152" y="2284855"/>
              <a:ext cx="368549" cy="50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7D20E3-3A6B-403F-8589-7F826487E333}"/>
                </a:ext>
              </a:extLst>
            </p:cNvPr>
            <p:cNvSpPr txBox="1"/>
            <p:nvPr/>
          </p:nvSpPr>
          <p:spPr>
            <a:xfrm>
              <a:off x="4678356" y="3109556"/>
              <a:ext cx="381971" cy="50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338205F-DFB5-47EE-B89A-7D9067B33896}"/>
              </a:ext>
            </a:extLst>
          </p:cNvPr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the hypotenuse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2419FE-4DD9-4E51-B8DC-578DEC831EF0}"/>
              </a:ext>
            </a:extLst>
          </p:cNvPr>
          <p:cNvSpPr txBox="1"/>
          <p:nvPr/>
        </p:nvSpPr>
        <p:spPr>
          <a:xfrm>
            <a:off x="1559496" y="3119406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How do we use it to find the hypotenuse?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D911D-90A9-4E00-B621-C1AD70F60D2A}"/>
              </a:ext>
            </a:extLst>
          </p:cNvPr>
          <p:cNvSpPr txBox="1"/>
          <p:nvPr/>
        </p:nvSpPr>
        <p:spPr>
          <a:xfrm>
            <a:off x="3525924" y="3147883"/>
            <a:ext cx="26680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Example: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27515F-8E1A-4F0D-85B8-B28F99B14D85}"/>
              </a:ext>
            </a:extLst>
          </p:cNvPr>
          <p:cNvGrpSpPr/>
          <p:nvPr/>
        </p:nvGrpSpPr>
        <p:grpSpPr>
          <a:xfrm>
            <a:off x="5508979" y="2903735"/>
            <a:ext cx="2751584" cy="1544757"/>
            <a:chOff x="3491881" y="1772816"/>
            <a:chExt cx="3173332" cy="180399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B5B58DD-C4CD-42DE-AE1D-E52BFE34D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836D35-96DC-4283-B44A-24A5F0E58928}"/>
                </a:ext>
              </a:extLst>
            </p:cNvPr>
            <p:cNvSpPr txBox="1"/>
            <p:nvPr/>
          </p:nvSpPr>
          <p:spPr>
            <a:xfrm>
              <a:off x="4355975" y="2118831"/>
              <a:ext cx="338682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564EDB-AEB1-478C-8DAD-4012C47A5BE8}"/>
                </a:ext>
              </a:extLst>
            </p:cNvPr>
            <p:cNvSpPr txBox="1"/>
            <p:nvPr/>
          </p:nvSpPr>
          <p:spPr>
            <a:xfrm>
              <a:off x="5940152" y="2284855"/>
              <a:ext cx="725061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1cm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9BF42B-35FE-40C6-8532-6691897A531E}"/>
                </a:ext>
              </a:extLst>
            </p:cNvPr>
            <p:cNvSpPr txBox="1"/>
            <p:nvPr/>
          </p:nvSpPr>
          <p:spPr>
            <a:xfrm>
              <a:off x="4678356" y="3109557"/>
              <a:ext cx="725061" cy="467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2cm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D55EF2D-00A7-42C3-96A8-3FABEF176541}"/>
              </a:ext>
            </a:extLst>
          </p:cNvPr>
          <p:cNvSpPr txBox="1"/>
          <p:nvPr/>
        </p:nvSpPr>
        <p:spPr>
          <a:xfrm>
            <a:off x="3503712" y="4552514"/>
            <a:ext cx="460850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Step 1: Write the equation </a:t>
            </a:r>
          </a:p>
          <a:p>
            <a:r>
              <a:rPr lang="en-AU" sz="2000" dirty="0"/>
              <a:t>Step 2: Rewrite it using the values we know</a:t>
            </a:r>
          </a:p>
          <a:p>
            <a:r>
              <a:rPr lang="en-AU" sz="2000" dirty="0"/>
              <a:t>Step 3: Solve for the unknown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B03C42-5A9D-400F-87F3-796F3404F021}"/>
              </a:ext>
            </a:extLst>
          </p:cNvPr>
          <p:cNvSpPr txBox="1"/>
          <p:nvPr/>
        </p:nvSpPr>
        <p:spPr>
          <a:xfrm>
            <a:off x="3635982" y="1336657"/>
            <a:ext cx="183806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809119-8074-49EC-A2A7-FF6CA5894BC4}"/>
              </a:ext>
            </a:extLst>
          </p:cNvPr>
          <p:cNvSpPr txBox="1"/>
          <p:nvPr/>
        </p:nvSpPr>
        <p:spPr>
          <a:xfrm>
            <a:off x="3503712" y="5782644"/>
            <a:ext cx="676875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If we need the exact value we can leave the answer in </a:t>
            </a:r>
            <a:r>
              <a:rPr lang="en-AU" sz="2000" b="1" dirty="0"/>
              <a:t>surd</a:t>
            </a:r>
            <a:r>
              <a:rPr lang="en-AU" sz="2000" dirty="0"/>
              <a:t> form (leaving the square root sign).</a:t>
            </a:r>
          </a:p>
          <a:p>
            <a:r>
              <a:rPr lang="en-AU" sz="2000" dirty="0"/>
              <a:t>Otherwise, calculate to 2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1158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35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35960" y="1052737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hypotenuse.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35960" y="3789041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3600" i="1">
                          <a:latin typeface="Cambria Math"/>
                        </a:rPr>
                        <m:t>+16=2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br>
                  <a:rPr lang="en-GB" sz="3600" dirty="0"/>
                </a:br>
                <a14:m>
                  <m:oMath xmlns:m="http://schemas.openxmlformats.org/officeDocument/2006/math">
                    <m:r>
                      <a:rPr lang="en-GB" sz="3600" i="1">
                        <a:latin typeface="Cambria Math"/>
                      </a:rPr>
                      <m:t>𝑥</m:t>
                    </m:r>
                    <m:r>
                      <a:rPr lang="en-GB" sz="36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/>
                          </a:rPr>
                          <m:t>2</m:t>
                        </m:r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GB" sz="3600" dirty="0"/>
                  <a:t> or 5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639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hypotenuse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442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36463" y="2902808"/>
            <a:ext cx="4582872" cy="739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23334" y="4797153"/>
            <a:ext cx="4561756" cy="179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5396" y="1496162"/>
            <a:ext cx="1276804" cy="4215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Reveal &gt;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4A982-861F-4FE1-8F4E-03D9E3A2FF05}"/>
              </a:ext>
            </a:extLst>
          </p:cNvPr>
          <p:cNvSpPr txBox="1"/>
          <p:nvPr/>
        </p:nvSpPr>
        <p:spPr>
          <a:xfrm>
            <a:off x="1505490" y="202868"/>
            <a:ext cx="35643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Let’s Try this Together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027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35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35960" y="1052737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hypotenuse.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35960" y="3789041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3600" i="1">
                          <a:latin typeface="Cambria Math"/>
                        </a:rPr>
                        <m:t>+16=2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br>
                  <a:rPr lang="en-GB" sz="3600" dirty="0"/>
                </a:br>
                <a14:m>
                  <m:oMath xmlns:m="http://schemas.openxmlformats.org/officeDocument/2006/math">
                    <m:r>
                      <a:rPr lang="en-GB" sz="3600" i="1">
                        <a:latin typeface="Cambria Math"/>
                      </a:rPr>
                      <m:t>𝑥</m:t>
                    </m:r>
                    <m:r>
                      <a:rPr lang="en-GB" sz="36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/>
                          </a:rPr>
                          <m:t>2</m:t>
                        </m:r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GB" sz="3600" dirty="0"/>
                  <a:t> or 5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639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hypotenuse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442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74A982-861F-4FE1-8F4E-03D9E3A2FF05}"/>
              </a:ext>
            </a:extLst>
          </p:cNvPr>
          <p:cNvSpPr txBox="1"/>
          <p:nvPr/>
        </p:nvSpPr>
        <p:spPr>
          <a:xfrm>
            <a:off x="1505490" y="202868"/>
            <a:ext cx="35643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Let’s Try this Together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263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03512" y="2060848"/>
            <a:ext cx="2232248" cy="1728192"/>
            <a:chOff x="611560" y="2924944"/>
            <a:chExt cx="2376264" cy="1728192"/>
          </a:xfrm>
        </p:grpSpPr>
        <p:sp>
          <p:nvSpPr>
            <p:cNvPr id="6" name="Right Triangle 5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93576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624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grpSp>
        <p:nvGrpSpPr>
          <p:cNvPr id="10" name="Group 9"/>
          <p:cNvGrpSpPr/>
          <p:nvPr/>
        </p:nvGrpSpPr>
        <p:grpSpPr>
          <a:xfrm rot="18189871">
            <a:off x="4781307" y="2101964"/>
            <a:ext cx="2232248" cy="1728192"/>
            <a:chOff x="611560" y="2924944"/>
            <a:chExt cx="2376264" cy="1728192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95600" y="256490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2564904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35731" y="163105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3763" y="314322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499627" y="271117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27" y="2711178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51884" y="5301209"/>
                <a:ext cx="439248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chemeClr val="bg1"/>
                    </a:solidFill>
                  </a:rPr>
                  <a:t>“To learn secret way of a maths ninja, find </a:t>
                </a:r>
                <a14:m>
                  <m:oMath xmlns:m="http://schemas.openxmlformats.org/officeDocument/2006/math">
                    <m:r>
                      <a:rPr lang="en-GB" sz="2800" i="1" dirty="0">
                        <a:solidFill>
                          <a:schemeClr val="bg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bg1"/>
                    </a:solidFill>
                  </a:rPr>
                  <a:t> you must.”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884" y="5301209"/>
                <a:ext cx="4392488" cy="1384995"/>
              </a:xfrm>
              <a:prstGeom prst="rect">
                <a:avLst/>
              </a:prstGeom>
              <a:blipFill>
                <a:blip r:embed="rId4"/>
                <a:stretch>
                  <a:fillRect l="-2917" t="-4405" b="-11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 rot="13179695">
            <a:off x="8521102" y="3077368"/>
            <a:ext cx="1056242" cy="978773"/>
            <a:chOff x="611560" y="2924944"/>
            <a:chExt cx="2376264" cy="1728192"/>
          </a:xfrm>
        </p:grpSpPr>
        <p:sp>
          <p:nvSpPr>
            <p:cNvPr id="25" name="Right Triangle 24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330309" y="299695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6413" y="29249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906373" y="350100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373" y="3501008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1847528" y="2204864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3603" y="1199010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8261" y="2564904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28264" y="1666077"/>
                <a:ext cx="1736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>
                      <a:rPr lang="en-GB" b="1" i="1">
                        <a:latin typeface="Cambria Math"/>
                      </a:rPr>
                      <m:t>𝟏𝟎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264" y="1666077"/>
                <a:ext cx="1736920" cy="369332"/>
              </a:xfrm>
              <a:prstGeom prst="rect">
                <a:avLst/>
              </a:prstGeom>
              <a:blipFill>
                <a:blip r:embed="rId6"/>
                <a:stretch>
                  <a:fillRect l="-280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758317" y="4221948"/>
                <a:ext cx="2248499" cy="395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/>
                          </a:rPr>
                          <m:t>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𝟕𝟖</m:t>
                        </m:r>
                        <m:r>
                          <a:rPr lang="en-GB" b="1" i="1">
                            <a:latin typeface="Cambria Math"/>
                          </a:rPr>
                          <m:t>𝟗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17" y="4221948"/>
                <a:ext cx="2248499" cy="395429"/>
              </a:xfrm>
              <a:prstGeom prst="rect">
                <a:avLst/>
              </a:prstGeom>
              <a:blipFill>
                <a:blip r:embed="rId7"/>
                <a:stretch>
                  <a:fillRect l="-2446" t="-1563" b="-26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258302" y="2252302"/>
                <a:ext cx="1943707" cy="396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302" y="2252302"/>
                <a:ext cx="1943707" cy="396327"/>
              </a:xfrm>
              <a:prstGeom prst="rect">
                <a:avLst/>
              </a:prstGeom>
              <a:blipFill>
                <a:blip r:embed="rId8"/>
                <a:stretch>
                  <a:fillRect l="-2821" b="-24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5103073" y="4196209"/>
            <a:ext cx="843562" cy="4772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4392" y="2191861"/>
            <a:ext cx="864096" cy="587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0659" y="1464945"/>
            <a:ext cx="759335" cy="5633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1B030-27FD-4EBD-A4D6-DF4A13E8D836}"/>
              </a:ext>
            </a:extLst>
          </p:cNvPr>
          <p:cNvSpPr/>
          <p:nvPr/>
        </p:nvSpPr>
        <p:spPr>
          <a:xfrm>
            <a:off x="1565457" y="236721"/>
            <a:ext cx="38068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/>
              <a:t>Test Your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79177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swallowfood.com/wp-content/uploads/2012/11/pai-mei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5158958"/>
            <a:ext cx="3347864" cy="1699042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871864" y="5158959"/>
            <a:ext cx="5796136" cy="16990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1703512" y="2060848"/>
            <a:ext cx="2232248" cy="1728192"/>
            <a:chOff x="611560" y="2924944"/>
            <a:chExt cx="2376264" cy="1728192"/>
          </a:xfrm>
        </p:grpSpPr>
        <p:sp>
          <p:nvSpPr>
            <p:cNvPr id="6" name="Right Triangle 5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93576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624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grpSp>
        <p:nvGrpSpPr>
          <p:cNvPr id="10" name="Group 9"/>
          <p:cNvGrpSpPr/>
          <p:nvPr/>
        </p:nvGrpSpPr>
        <p:grpSpPr>
          <a:xfrm rot="18189871">
            <a:off x="4781307" y="2101964"/>
            <a:ext cx="2232248" cy="1728192"/>
            <a:chOff x="611560" y="2924944"/>
            <a:chExt cx="2376264" cy="1728192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95600" y="256490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2564904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35731" y="163105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3763" y="314322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499627" y="271117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27" y="2711178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51884" y="5301209"/>
                <a:ext cx="439248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chemeClr val="bg1"/>
                    </a:solidFill>
                  </a:rPr>
                  <a:t>“To learn secret way of a maths ninja, find </a:t>
                </a:r>
                <a14:m>
                  <m:oMath xmlns:m="http://schemas.openxmlformats.org/officeDocument/2006/math">
                    <m:r>
                      <a:rPr lang="en-GB" sz="2800" i="1" dirty="0">
                        <a:solidFill>
                          <a:schemeClr val="bg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bg1"/>
                    </a:solidFill>
                  </a:rPr>
                  <a:t> you must.”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884" y="5301209"/>
                <a:ext cx="4392488" cy="1384995"/>
              </a:xfrm>
              <a:prstGeom prst="rect">
                <a:avLst/>
              </a:prstGeom>
              <a:blipFill>
                <a:blip r:embed="rId5"/>
                <a:stretch>
                  <a:fillRect l="-2917" t="-4405" b="-11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 rot="13179695">
            <a:off x="8521102" y="3077368"/>
            <a:ext cx="1056242" cy="978773"/>
            <a:chOff x="611560" y="2924944"/>
            <a:chExt cx="2376264" cy="1728192"/>
          </a:xfrm>
        </p:grpSpPr>
        <p:sp>
          <p:nvSpPr>
            <p:cNvPr id="25" name="Right Triangle 24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330309" y="299695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6413" y="29249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906373" y="350100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373" y="3501008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1847528" y="2204864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3603" y="1199010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8261" y="2564904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28264" y="1666077"/>
                <a:ext cx="1736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>
                      <a:rPr lang="en-GB" b="1" i="1">
                        <a:latin typeface="Cambria Math"/>
                      </a:rPr>
                      <m:t>𝟏𝟎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264" y="1666077"/>
                <a:ext cx="1736920" cy="369332"/>
              </a:xfrm>
              <a:prstGeom prst="rect">
                <a:avLst/>
              </a:prstGeom>
              <a:blipFill>
                <a:blip r:embed="rId7"/>
                <a:stretch>
                  <a:fillRect l="-280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758317" y="4221948"/>
                <a:ext cx="2248499" cy="395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/>
                          </a:rPr>
                          <m:t>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𝟕𝟖</m:t>
                        </m:r>
                        <m:r>
                          <a:rPr lang="en-GB" b="1" i="1">
                            <a:latin typeface="Cambria Math"/>
                          </a:rPr>
                          <m:t>𝟗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17" y="4221948"/>
                <a:ext cx="2248499" cy="395429"/>
              </a:xfrm>
              <a:prstGeom prst="rect">
                <a:avLst/>
              </a:prstGeom>
              <a:blipFill>
                <a:blip r:embed="rId8"/>
                <a:stretch>
                  <a:fillRect l="-2446" t="-1563" b="-26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258302" y="2252302"/>
                <a:ext cx="1943707" cy="396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302" y="2252302"/>
                <a:ext cx="1943707" cy="396327"/>
              </a:xfrm>
              <a:prstGeom prst="rect">
                <a:avLst/>
              </a:prstGeom>
              <a:blipFill>
                <a:blip r:embed="rId9"/>
                <a:stretch>
                  <a:fillRect l="-2821" b="-24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8E1B030-27FD-4EBD-A4D6-DF4A13E8D836}"/>
              </a:ext>
            </a:extLst>
          </p:cNvPr>
          <p:cNvSpPr/>
          <p:nvPr/>
        </p:nvSpPr>
        <p:spPr>
          <a:xfrm>
            <a:off x="1565457" y="236721"/>
            <a:ext cx="38068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/>
              <a:t>Test Your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33134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2A52-C2A0-4824-9412-9AC6357F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112491"/>
            <a:ext cx="8229600" cy="1143000"/>
          </a:xfrm>
        </p:spPr>
        <p:txBody>
          <a:bodyPr/>
          <a:lstStyle/>
          <a:p>
            <a:pPr algn="l"/>
            <a:r>
              <a:rPr lang="en-AU" dirty="0"/>
              <a:t>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BBCF1-BD4A-4C0F-894B-2D6D7B66B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964913"/>
            <a:ext cx="7128792" cy="575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5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847528" y="1501824"/>
            <a:ext cx="8568952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Summary</a:t>
            </a:r>
          </a:p>
          <a:p>
            <a:endParaRPr lang="en-AU" sz="2000" dirty="0"/>
          </a:p>
          <a:p>
            <a:r>
              <a:rPr lang="en-AU" sz="2000" dirty="0"/>
              <a:t>The longest side of a right-angled triangle is called _________________.</a:t>
            </a:r>
          </a:p>
          <a:p>
            <a:endParaRPr lang="en-AU" sz="2000" dirty="0"/>
          </a:p>
          <a:p>
            <a:r>
              <a:rPr lang="en-AU" sz="2000" dirty="0"/>
              <a:t>To work it out when we know the two shorter sides we use __________________ which is written as  ______ + ________ = __________.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Exercise 7.3 Page 92 of Dwyer book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5DAFC-ED5C-4AE9-94A2-2D26D2A4370F}"/>
              </a:ext>
            </a:extLst>
          </p:cNvPr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the hypotenuse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488</Words>
  <Application>Microsoft Office PowerPoint</Application>
  <PresentationFormat>Widescreen</PresentationFormat>
  <Paragraphs>113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Kiwi School Handwriting</vt:lpstr>
      <vt:lpstr>Office Theme</vt:lpstr>
      <vt:lpstr>Warm Up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Pythagoras’ Theorem  Working out the hypotenuse</dc:title>
  <dc:creator>MCALLISTER Robert [Baldivis Secondary College]</dc:creator>
  <cp:lastModifiedBy>MCALLISTER Robert [Baldivis Secondary College]</cp:lastModifiedBy>
  <cp:revision>3</cp:revision>
  <dcterms:created xsi:type="dcterms:W3CDTF">2020-03-31T01:57:56Z</dcterms:created>
  <dcterms:modified xsi:type="dcterms:W3CDTF">2020-03-31T02:30:01Z</dcterms:modified>
</cp:coreProperties>
</file>
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1" r:id="rId2"/>
    <p:sldId id="267" r:id="rId3"/>
    <p:sldId id="472" r:id="rId4"/>
    <p:sldId id="503" r:id="rId5"/>
    <p:sldId id="502" r:id="rId6"/>
    <p:sldId id="506" r:id="rId7"/>
    <p:sldId id="505" r:id="rId8"/>
    <p:sldId id="5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B530A-6E6B-4CBE-A039-3A5B57D706DC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7D1AC-BC3C-449D-9750-C6905D827E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7137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Possible resources</a:t>
            </a:r>
          </a:p>
          <a:p>
            <a:r>
              <a:rPr lang="en-AU" dirty="0"/>
              <a:t>http://www.scootle.edu.au/ec/viewing/L6559/index.html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42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Or use 1cm graph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8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are trying to get them to see that the number of total number of squares against the shorter sides is the same as the number of squares 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8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7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C36B-5709-4BC5-A879-B63A7B139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E4C2B-20D3-4A9C-8B98-CB0808F70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B480F-85B3-40EC-941E-598D4A81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F88F-6FC2-4FCF-A6C9-61B657D7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DC88A-5CAE-4F28-B441-CA58FBA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127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EEA4-7843-477F-9B78-3AAC03BC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30F87-183C-47A9-8066-5F5E9DAEB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D8A35-68BD-4086-AD88-4FC0E835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4C99B-A3B6-40AD-8977-7C0C70AA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A30A-DC26-4B3A-A4B1-C02A49BF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03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61F1-8E61-4CBE-B4D4-43EFA185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705DC-7FDC-48F2-AA85-07D675463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22B1-7B16-4880-8731-30D38E67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775B-0BEE-4D63-A4BA-9EA8E049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2084D-3055-4FCB-8D74-513095D7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39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B868-5CED-4DC1-B3EA-7D312467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896C-AFE3-406D-8F09-5FAB1EF1A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0A4CC-3F47-445C-8B08-2BA47DAED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C394F-6694-491B-B612-64CA92CE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34713-67A4-4EB3-A4CD-0EFB854E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C8315-9CE0-4BF6-BC92-23E65F61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022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0630-A46A-440D-9818-2A104D8B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6D9E5-25FB-462E-ADD1-B87F7602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44B42-2438-4DBC-85D8-F19DDA816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A5A34-B328-4F94-969A-6F7025CAE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47180-0319-40EC-B433-2A3F148385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2D5DED-FB1F-40C3-B56C-BFF43B55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9EB93-0017-40C7-B135-79EBE289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4DCE9-134F-4BC7-A150-E1C285C7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623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3062-60AA-4D8F-B184-661B0595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44D24-43B8-4E85-AC27-8162DDB9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6A794-0693-4F4A-82D5-251E7A2D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7E2AE-DA98-4676-9A58-DC3D02D1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5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FCF9E-50FC-481B-983B-3808DC98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C70E5-A5B7-4279-9358-8D0B4541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CCD09-2B41-41CB-8BA7-1D3963F9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72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F05E-09FB-4C55-9AA2-C49B9C30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9B821-0FB0-48FB-BE06-BABE36DEE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DE827-D8BF-4FD5-917B-0361ACAB8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646E9-E4B4-402F-A425-D0E53F6E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F6D12-009E-4054-A479-A556ACE93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AFC1F-5A6F-47F2-906D-22A69CA7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20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FF75-CE93-445D-901A-17CB9BE6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7D9724-79A5-41EC-999B-4C220DED3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99459-A08C-40D6-812F-0B07BC06A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37BBF-E7EB-4720-ADFC-5346F9C5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3D7A-EBC0-489A-9C08-4192E93E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CB702-911B-415C-A3ED-65BC73E7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485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7247-E41E-452F-8459-49A1F499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79E63-9B06-40CF-ABE1-64052F735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E8A92-C527-4B96-AB42-A89DA4FC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4BDDF-0FDA-490D-ACDB-B34C3245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14878-64B9-4388-993B-823276F5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860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58B23F-5279-4277-B692-B6522BA67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D1551-1E3D-49C8-91A3-C3F8F9D51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A3D01-DBA6-4B66-B8B3-3AD239B8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7771C-B47B-4701-80B3-2320CE78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BFCB9-356D-4AA6-BD89-5797FF41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15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8494D-5346-4858-8EA7-6E6C6B6B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E98CB-2950-4E08-9B03-BB988F709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8E752-0FC9-447C-93B7-ECDD878B1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446DE-2BD3-414F-B4E2-65F1B9FDEB8D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CD484-6E45-4F89-A0A6-2A46409F6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244C7-AB18-4031-B7C1-FC51DE1E7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43212-FCCE-4888-92A1-6AD336FBC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18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045CF-4915-4D5A-AF2F-72871EED8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367" y="1984051"/>
            <a:ext cx="4915159" cy="28978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FEEB09-93E7-40DA-8319-C7548B3E2607}"/>
              </a:ext>
            </a:extLst>
          </p:cNvPr>
          <p:cNvSpPr/>
          <p:nvPr/>
        </p:nvSpPr>
        <p:spPr>
          <a:xfrm>
            <a:off x="1991025" y="1100555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400" b="1" dirty="0"/>
              <a:t>Pythagoras’ Theorem</a:t>
            </a:r>
            <a:br>
              <a:rPr lang="en-US" sz="4400" b="1" dirty="0"/>
            </a:br>
            <a:br>
              <a:rPr lang="en-US" sz="4400" b="1" dirty="0"/>
            </a:br>
            <a:r>
              <a:rPr lang="en-US" sz="4400" b="1" dirty="0"/>
              <a:t>Introduction</a:t>
            </a:r>
            <a:endParaRPr lang="en-AU" sz="4400" b="1" dirty="0"/>
          </a:p>
        </p:txBody>
      </p:sp>
    </p:spTree>
    <p:extLst>
      <p:ext uri="{BB962C8B-B14F-4D97-AF65-F5344CB8AC3E}">
        <p14:creationId xmlns:p14="http://schemas.microsoft.com/office/powerpoint/2010/main" val="162930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025406" y="1172036"/>
            <a:ext cx="0" cy="484508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1" y="1238655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a right-angled triangle?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What is special about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3171388" y="1291203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 right-angled triangle is a triangle with one angle that is 90</a:t>
            </a:r>
            <a:r>
              <a:rPr lang="en-AU" sz="2000" baseline="30000" dirty="0"/>
              <a:t>o</a:t>
            </a:r>
            <a:r>
              <a:rPr lang="en-AU" sz="20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92C6CB-AAF3-460E-BE9A-223A328C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2" y="1772816"/>
            <a:ext cx="2376253" cy="1400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171388" y="3530325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The long side is called the hypotenuse. 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528" y="1052737"/>
            <a:ext cx="8316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Draw this right-angled triangle in you’re the middle of the LHS of your book. Measure out the shorter sides carefully. </a:t>
            </a:r>
          </a:p>
          <a:p>
            <a:r>
              <a:rPr lang="en-GB" sz="2400" dirty="0"/>
              <a:t>Measure the length of the longest side </a:t>
            </a:r>
            <a:r>
              <a:rPr lang="en-GB" sz="2400" u="sng" dirty="0"/>
              <a:t>using a ruler</a:t>
            </a:r>
            <a:r>
              <a:rPr lang="en-GB"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912" y="5133076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4cm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8208" y="3717033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3cm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6C2F1E-9A1F-4716-8E03-5A6A81BDD34A}"/>
              </a:ext>
            </a:extLst>
          </p:cNvPr>
          <p:cNvGrpSpPr/>
          <p:nvPr/>
        </p:nvGrpSpPr>
        <p:grpSpPr>
          <a:xfrm>
            <a:off x="3431704" y="2492896"/>
            <a:ext cx="4536504" cy="2664296"/>
            <a:chOff x="1907704" y="2492896"/>
            <a:chExt cx="4536504" cy="2664296"/>
          </a:xfrm>
        </p:grpSpPr>
        <p:sp>
          <p:nvSpPr>
            <p:cNvPr id="3" name="Right Triangle 2"/>
            <p:cNvSpPr/>
            <p:nvPr/>
          </p:nvSpPr>
          <p:spPr>
            <a:xfrm flipH="1">
              <a:off x="1907704" y="2492896"/>
              <a:ext cx="4536504" cy="266429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156176" y="4869160"/>
              <a:ext cx="288032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01DF099-AEA0-4D37-B085-72AF52C678A3}"/>
              </a:ext>
            </a:extLst>
          </p:cNvPr>
          <p:cNvSpPr txBox="1"/>
          <p:nvPr/>
        </p:nvSpPr>
        <p:spPr>
          <a:xfrm>
            <a:off x="743132" y="166576"/>
            <a:ext cx="15840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195495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5F7458-8F6A-4031-AFAA-CF987C96E93C}"/>
              </a:ext>
            </a:extLst>
          </p:cNvPr>
          <p:cNvSpPr txBox="1"/>
          <p:nvPr/>
        </p:nvSpPr>
        <p:spPr>
          <a:xfrm>
            <a:off x="1554489" y="332656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 Jigsaw to 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06C34-DF76-4EB9-A6FE-04B80D79055F}"/>
              </a:ext>
            </a:extLst>
          </p:cNvPr>
          <p:cNvSpPr txBox="1"/>
          <p:nvPr/>
        </p:nvSpPr>
        <p:spPr>
          <a:xfrm>
            <a:off x="6312025" y="332656"/>
            <a:ext cx="155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 Jigsaw to Try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DE5E77-C974-4BC9-A25F-D4A3484791A1}"/>
              </a:ext>
            </a:extLst>
          </p:cNvPr>
          <p:cNvGrpSpPr/>
          <p:nvPr/>
        </p:nvGrpSpPr>
        <p:grpSpPr>
          <a:xfrm>
            <a:off x="6717011" y="1234022"/>
            <a:ext cx="3050245" cy="3535346"/>
            <a:chOff x="4975074" y="2610789"/>
            <a:chExt cx="3050245" cy="353534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33F245-E9A6-455E-AD9F-3EF844E1B57A}"/>
                </a:ext>
              </a:extLst>
            </p:cNvPr>
            <p:cNvGrpSpPr/>
            <p:nvPr/>
          </p:nvGrpSpPr>
          <p:grpSpPr>
            <a:xfrm rot="19383505">
              <a:off x="6945239" y="3044080"/>
              <a:ext cx="1080080" cy="1082169"/>
              <a:chOff x="4139952" y="3216424"/>
              <a:chExt cx="1080080" cy="1082169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BC565A7-D889-4862-BF63-C14B515C2B97}"/>
                  </a:ext>
                </a:extLst>
              </p:cNvPr>
              <p:cNvSpPr/>
              <p:nvPr/>
            </p:nvSpPr>
            <p:spPr>
              <a:xfrm>
                <a:off x="485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0721D3-60AB-4122-990E-E9E4A88C9D36}"/>
                  </a:ext>
                </a:extLst>
              </p:cNvPr>
              <p:cNvSpPr/>
              <p:nvPr/>
            </p:nvSpPr>
            <p:spPr>
              <a:xfrm>
                <a:off x="449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F91DC3E-3095-41C7-8749-B5E8A326678B}"/>
                  </a:ext>
                </a:extLst>
              </p:cNvPr>
              <p:cNvSpPr/>
              <p:nvPr/>
            </p:nvSpPr>
            <p:spPr>
              <a:xfrm>
                <a:off x="4147209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8E6DB1-9B1B-4A8B-9870-1AA2F7F3A237}"/>
                  </a:ext>
                </a:extLst>
              </p:cNvPr>
              <p:cNvSpPr/>
              <p:nvPr/>
            </p:nvSpPr>
            <p:spPr>
              <a:xfrm>
                <a:off x="486003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625721-547C-402D-A2A8-BE84ED1E7937}"/>
                  </a:ext>
                </a:extLst>
              </p:cNvPr>
              <p:cNvSpPr/>
              <p:nvPr/>
            </p:nvSpPr>
            <p:spPr>
              <a:xfrm>
                <a:off x="4502327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F96DC76-D3AD-49D7-90BC-E6D38B16D923}"/>
                  </a:ext>
                </a:extLst>
              </p:cNvPr>
              <p:cNvSpPr/>
              <p:nvPr/>
            </p:nvSpPr>
            <p:spPr>
              <a:xfrm>
                <a:off x="413995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1317D4A-3343-4DC3-8F88-0FA3190730A8}"/>
                  </a:ext>
                </a:extLst>
              </p:cNvPr>
              <p:cNvSpPr/>
              <p:nvPr/>
            </p:nvSpPr>
            <p:spPr>
              <a:xfrm>
                <a:off x="486003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1C91DB1-6E22-427A-A4CB-37E46A1D530E}"/>
                  </a:ext>
                </a:extLst>
              </p:cNvPr>
              <p:cNvSpPr/>
              <p:nvPr/>
            </p:nvSpPr>
            <p:spPr>
              <a:xfrm>
                <a:off x="4502327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4EDDD95-3D50-4000-9B10-4FB285BF0695}"/>
                  </a:ext>
                </a:extLst>
              </p:cNvPr>
              <p:cNvSpPr/>
              <p:nvPr/>
            </p:nvSpPr>
            <p:spPr>
              <a:xfrm>
                <a:off x="413995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07D154-AE19-4CDC-AADE-AE945BA8CC25}"/>
                </a:ext>
              </a:extLst>
            </p:cNvPr>
            <p:cNvGrpSpPr/>
            <p:nvPr/>
          </p:nvGrpSpPr>
          <p:grpSpPr>
            <a:xfrm rot="3213862">
              <a:off x="4977008" y="2608855"/>
              <a:ext cx="1440120" cy="1443988"/>
              <a:chOff x="5004048" y="4005064"/>
              <a:chExt cx="1440120" cy="144398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BE0C213-50CF-4A20-B703-E36C364AA38D}"/>
                  </a:ext>
                </a:extLst>
              </p:cNvPr>
              <p:cNvSpPr/>
              <p:nvPr/>
            </p:nvSpPr>
            <p:spPr>
              <a:xfrm>
                <a:off x="5004048" y="508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D9D568F-532D-4993-B55B-89D6748F9E61}"/>
                  </a:ext>
                </a:extLst>
              </p:cNvPr>
              <p:cNvSpPr/>
              <p:nvPr/>
            </p:nvSpPr>
            <p:spPr>
              <a:xfrm>
                <a:off x="5004048" y="472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04069A8-CBEF-468B-95F5-B17451FBB2D2}"/>
                  </a:ext>
                </a:extLst>
              </p:cNvPr>
              <p:cNvSpPr/>
              <p:nvPr/>
            </p:nvSpPr>
            <p:spPr>
              <a:xfrm>
                <a:off x="5004048" y="436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F4D1EDB-0321-481F-95D0-5E4AFFF23481}"/>
                  </a:ext>
                </a:extLst>
              </p:cNvPr>
              <p:cNvSpPr/>
              <p:nvPr/>
            </p:nvSpPr>
            <p:spPr>
              <a:xfrm>
                <a:off x="5004048" y="400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F3850C-DE4B-440E-879F-F2234F967FDF}"/>
                  </a:ext>
                </a:extLst>
              </p:cNvPr>
              <p:cNvSpPr/>
              <p:nvPr/>
            </p:nvSpPr>
            <p:spPr>
              <a:xfrm>
                <a:off x="536408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8A5076-B93C-473A-B936-9D0961C596BA}"/>
                  </a:ext>
                </a:extLst>
              </p:cNvPr>
              <p:cNvSpPr/>
              <p:nvPr/>
            </p:nvSpPr>
            <p:spPr>
              <a:xfrm>
                <a:off x="536408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4622CC-0EC7-405E-9C7A-406960A3AAF5}"/>
                  </a:ext>
                </a:extLst>
              </p:cNvPr>
              <p:cNvSpPr/>
              <p:nvPr/>
            </p:nvSpPr>
            <p:spPr>
              <a:xfrm>
                <a:off x="536408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B215E47-3EDA-439B-9D8F-C0A6501A44B9}"/>
                  </a:ext>
                </a:extLst>
              </p:cNvPr>
              <p:cNvSpPr/>
              <p:nvPr/>
            </p:nvSpPr>
            <p:spPr>
              <a:xfrm>
                <a:off x="536408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A19E951-25A3-47BA-9C23-9648A37A9187}"/>
                  </a:ext>
                </a:extLst>
              </p:cNvPr>
              <p:cNvSpPr/>
              <p:nvPr/>
            </p:nvSpPr>
            <p:spPr>
              <a:xfrm>
                <a:off x="5724128" y="508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F9FEC6F-F632-4F73-AE68-EEC37831FD30}"/>
                  </a:ext>
                </a:extLst>
              </p:cNvPr>
              <p:cNvSpPr/>
              <p:nvPr/>
            </p:nvSpPr>
            <p:spPr>
              <a:xfrm>
                <a:off x="5724128" y="472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B103E09-30AE-4B3E-98B7-20C982A3430C}"/>
                  </a:ext>
                </a:extLst>
              </p:cNvPr>
              <p:cNvSpPr/>
              <p:nvPr/>
            </p:nvSpPr>
            <p:spPr>
              <a:xfrm>
                <a:off x="5724128" y="436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2AFB74D-ED8F-4EE8-A7AF-F4965235D3A2}"/>
                  </a:ext>
                </a:extLst>
              </p:cNvPr>
              <p:cNvSpPr/>
              <p:nvPr/>
            </p:nvSpPr>
            <p:spPr>
              <a:xfrm>
                <a:off x="5724128" y="400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F907771-AA05-4D54-8A2F-08955C5BCDA0}"/>
                  </a:ext>
                </a:extLst>
              </p:cNvPr>
              <p:cNvSpPr/>
              <p:nvPr/>
            </p:nvSpPr>
            <p:spPr>
              <a:xfrm>
                <a:off x="608416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D6CEE81-067D-4152-94D9-71AF6A7BF809}"/>
                  </a:ext>
                </a:extLst>
              </p:cNvPr>
              <p:cNvSpPr/>
              <p:nvPr/>
            </p:nvSpPr>
            <p:spPr>
              <a:xfrm>
                <a:off x="608416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72B5B9-3CFD-47E2-8162-4639DE553B22}"/>
                  </a:ext>
                </a:extLst>
              </p:cNvPr>
              <p:cNvSpPr/>
              <p:nvPr/>
            </p:nvSpPr>
            <p:spPr>
              <a:xfrm>
                <a:off x="608416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E74AB6E-3C38-4695-A782-9DC5AD222400}"/>
                  </a:ext>
                </a:extLst>
              </p:cNvPr>
              <p:cNvSpPr/>
              <p:nvPr/>
            </p:nvSpPr>
            <p:spPr>
              <a:xfrm>
                <a:off x="608416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87BFF4F-7432-4C72-A2C2-6419BF585713}"/>
                </a:ext>
              </a:extLst>
            </p:cNvPr>
            <p:cNvGrpSpPr/>
            <p:nvPr/>
          </p:nvGrpSpPr>
          <p:grpSpPr>
            <a:xfrm>
              <a:off x="5565287" y="4345935"/>
              <a:ext cx="1800200" cy="1800200"/>
              <a:chOff x="5580112" y="4293096"/>
              <a:chExt cx="1800200" cy="18002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FDE87BB-C79A-4149-BFFF-21855A7F7F27}"/>
                  </a:ext>
                </a:extLst>
              </p:cNvPr>
              <p:cNvSpPr/>
              <p:nvPr/>
            </p:nvSpPr>
            <p:spPr>
              <a:xfrm>
                <a:off x="5580152" y="537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45BF1FE-A6C3-46EB-9C1B-58E817C16475}"/>
                  </a:ext>
                </a:extLst>
              </p:cNvPr>
              <p:cNvSpPr/>
              <p:nvPr/>
            </p:nvSpPr>
            <p:spPr>
              <a:xfrm>
                <a:off x="5580152" y="501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1B1128E-2C6E-495C-88DB-A526A0E4E86F}"/>
                  </a:ext>
                </a:extLst>
              </p:cNvPr>
              <p:cNvSpPr/>
              <p:nvPr/>
            </p:nvSpPr>
            <p:spPr>
              <a:xfrm>
                <a:off x="5580152" y="465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5003057-A672-4EE2-BD00-911CF32E895C}"/>
                  </a:ext>
                </a:extLst>
              </p:cNvPr>
              <p:cNvSpPr/>
              <p:nvPr/>
            </p:nvSpPr>
            <p:spPr>
              <a:xfrm>
                <a:off x="5580152" y="429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BB9D8F7-5B16-40DF-B45E-107D41D1800A}"/>
                  </a:ext>
                </a:extLst>
              </p:cNvPr>
              <p:cNvSpPr/>
              <p:nvPr/>
            </p:nvSpPr>
            <p:spPr>
              <a:xfrm>
                <a:off x="594019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54D102B-235E-4118-88B6-4FED58B0F3C2}"/>
                  </a:ext>
                </a:extLst>
              </p:cNvPr>
              <p:cNvSpPr/>
              <p:nvPr/>
            </p:nvSpPr>
            <p:spPr>
              <a:xfrm>
                <a:off x="594019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DA10973-CEEB-41AA-A364-71A481E7E48C}"/>
                  </a:ext>
                </a:extLst>
              </p:cNvPr>
              <p:cNvSpPr/>
              <p:nvPr/>
            </p:nvSpPr>
            <p:spPr>
              <a:xfrm>
                <a:off x="594019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41BAF7B-4F53-49B4-93D8-F09FDC8DF196}"/>
                  </a:ext>
                </a:extLst>
              </p:cNvPr>
              <p:cNvSpPr/>
              <p:nvPr/>
            </p:nvSpPr>
            <p:spPr>
              <a:xfrm>
                <a:off x="594019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08FD1CF-ED2A-40E4-907C-B8D671969AB5}"/>
                  </a:ext>
                </a:extLst>
              </p:cNvPr>
              <p:cNvSpPr/>
              <p:nvPr/>
            </p:nvSpPr>
            <p:spPr>
              <a:xfrm>
                <a:off x="630023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D2F702E-6E87-48EB-9268-4A3E0682C62E}"/>
                  </a:ext>
                </a:extLst>
              </p:cNvPr>
              <p:cNvSpPr/>
              <p:nvPr/>
            </p:nvSpPr>
            <p:spPr>
              <a:xfrm>
                <a:off x="630023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DA1BDB5-F209-41F8-B3A7-13EB3ADA32D4}"/>
                  </a:ext>
                </a:extLst>
              </p:cNvPr>
              <p:cNvSpPr/>
              <p:nvPr/>
            </p:nvSpPr>
            <p:spPr>
              <a:xfrm>
                <a:off x="630023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DB2A9CC-A29D-4445-995D-F13F5552D674}"/>
                  </a:ext>
                </a:extLst>
              </p:cNvPr>
              <p:cNvSpPr/>
              <p:nvPr/>
            </p:nvSpPr>
            <p:spPr>
              <a:xfrm>
                <a:off x="630023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28B2A38-40F1-4BAE-8A75-4798ABBBF2F4}"/>
                  </a:ext>
                </a:extLst>
              </p:cNvPr>
              <p:cNvSpPr/>
              <p:nvPr/>
            </p:nvSpPr>
            <p:spPr>
              <a:xfrm>
                <a:off x="666027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2069613-3B94-4629-BC6B-3C25693E3193}"/>
                  </a:ext>
                </a:extLst>
              </p:cNvPr>
              <p:cNvSpPr/>
              <p:nvPr/>
            </p:nvSpPr>
            <p:spPr>
              <a:xfrm>
                <a:off x="666027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03CF1A4-A7C4-4F1C-8CC8-38A5F73038F0}"/>
                  </a:ext>
                </a:extLst>
              </p:cNvPr>
              <p:cNvSpPr/>
              <p:nvPr/>
            </p:nvSpPr>
            <p:spPr>
              <a:xfrm>
                <a:off x="666027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5111EBC-A195-48F1-BF2D-832519F52D61}"/>
                  </a:ext>
                </a:extLst>
              </p:cNvPr>
              <p:cNvSpPr/>
              <p:nvPr/>
            </p:nvSpPr>
            <p:spPr>
              <a:xfrm>
                <a:off x="666027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3D308A4-BFEB-4F1B-8956-437AC5C9D1D5}"/>
                  </a:ext>
                </a:extLst>
              </p:cNvPr>
              <p:cNvSpPr/>
              <p:nvPr/>
            </p:nvSpPr>
            <p:spPr>
              <a:xfrm>
                <a:off x="702031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8DE0C1E-21D8-428D-9996-70F019F1D67A}"/>
                  </a:ext>
                </a:extLst>
              </p:cNvPr>
              <p:cNvSpPr/>
              <p:nvPr/>
            </p:nvSpPr>
            <p:spPr>
              <a:xfrm>
                <a:off x="702031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6A3D264-DAAC-4DE8-BF0E-FBED4F2CC967}"/>
                  </a:ext>
                </a:extLst>
              </p:cNvPr>
              <p:cNvSpPr/>
              <p:nvPr/>
            </p:nvSpPr>
            <p:spPr>
              <a:xfrm>
                <a:off x="702031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38AB3DD-B574-4F6F-AF88-C1950AB390CF}"/>
                  </a:ext>
                </a:extLst>
              </p:cNvPr>
              <p:cNvSpPr/>
              <p:nvPr/>
            </p:nvSpPr>
            <p:spPr>
              <a:xfrm>
                <a:off x="702031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5CDB363-E946-4E45-9EAE-5B08CF2195BF}"/>
                  </a:ext>
                </a:extLst>
              </p:cNvPr>
              <p:cNvSpPr/>
              <p:nvPr/>
            </p:nvSpPr>
            <p:spPr>
              <a:xfrm>
                <a:off x="5580112" y="57332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7008138-F324-45D4-AE78-BC954A57E74B}"/>
                  </a:ext>
                </a:extLst>
              </p:cNvPr>
              <p:cNvSpPr/>
              <p:nvPr/>
            </p:nvSpPr>
            <p:spPr>
              <a:xfrm>
                <a:off x="594015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05BC19E-F767-46A5-AD63-1A69C4618DCF}"/>
                  </a:ext>
                </a:extLst>
              </p:cNvPr>
              <p:cNvSpPr/>
              <p:nvPr/>
            </p:nvSpPr>
            <p:spPr>
              <a:xfrm>
                <a:off x="630019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0BC9597-5BF0-4F35-ABD4-0FE2E4CE528C}"/>
                  </a:ext>
                </a:extLst>
              </p:cNvPr>
              <p:cNvSpPr/>
              <p:nvPr/>
            </p:nvSpPr>
            <p:spPr>
              <a:xfrm>
                <a:off x="666023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0F9A365-46E0-46BD-86DB-5B6F3070D92B}"/>
                  </a:ext>
                </a:extLst>
              </p:cNvPr>
              <p:cNvSpPr/>
              <p:nvPr/>
            </p:nvSpPr>
            <p:spPr>
              <a:xfrm>
                <a:off x="702027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69" name="Right Triangle 68">
              <a:extLst>
                <a:ext uri="{FF2B5EF4-FFF2-40B4-BE49-F238E27FC236}">
                  <a16:creationId xmlns:a16="http://schemas.microsoft.com/office/drawing/2014/main" id="{64FE8277-258A-4CC0-87BB-959A1971076E}"/>
                </a:ext>
              </a:extLst>
            </p:cNvPr>
            <p:cNvSpPr/>
            <p:nvPr/>
          </p:nvSpPr>
          <p:spPr>
            <a:xfrm rot="13988152" flipH="1">
              <a:off x="5925447" y="3622787"/>
              <a:ext cx="1080000" cy="1440000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C67A38-11AD-4264-A418-0C1B16970570}"/>
              </a:ext>
            </a:extLst>
          </p:cNvPr>
          <p:cNvGrpSpPr/>
          <p:nvPr/>
        </p:nvGrpSpPr>
        <p:grpSpPr>
          <a:xfrm>
            <a:off x="1909704" y="1187806"/>
            <a:ext cx="3050245" cy="3535346"/>
            <a:chOff x="4975074" y="2610789"/>
            <a:chExt cx="3050245" cy="3535346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6DEA7E8-41C1-4679-BADB-EA4F2B2E8A0E}"/>
                </a:ext>
              </a:extLst>
            </p:cNvPr>
            <p:cNvGrpSpPr/>
            <p:nvPr/>
          </p:nvGrpSpPr>
          <p:grpSpPr>
            <a:xfrm rot="19383505">
              <a:off x="6945239" y="3044080"/>
              <a:ext cx="1080080" cy="1082169"/>
              <a:chOff x="4139952" y="3216424"/>
              <a:chExt cx="1080080" cy="1082169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26D9370-EB4B-47B3-BA33-5582B90FE8CE}"/>
                  </a:ext>
                </a:extLst>
              </p:cNvPr>
              <p:cNvSpPr/>
              <p:nvPr/>
            </p:nvSpPr>
            <p:spPr>
              <a:xfrm>
                <a:off x="485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42472DD-9279-4C60-98B8-580391232FBF}"/>
                  </a:ext>
                </a:extLst>
              </p:cNvPr>
              <p:cNvSpPr/>
              <p:nvPr/>
            </p:nvSpPr>
            <p:spPr>
              <a:xfrm>
                <a:off x="4499952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6859FE4-84CC-4CF6-B0D1-41B59FA370BC}"/>
                  </a:ext>
                </a:extLst>
              </p:cNvPr>
              <p:cNvSpPr/>
              <p:nvPr/>
            </p:nvSpPr>
            <p:spPr>
              <a:xfrm>
                <a:off x="4147209" y="3938593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F4C59CF-CB97-4542-87A5-A0CA576336A6}"/>
                  </a:ext>
                </a:extLst>
              </p:cNvPr>
              <p:cNvSpPr/>
              <p:nvPr/>
            </p:nvSpPr>
            <p:spPr>
              <a:xfrm>
                <a:off x="486003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84331EA-4BE6-4BB2-AEFF-1F7297C94419}"/>
                  </a:ext>
                </a:extLst>
              </p:cNvPr>
              <p:cNvSpPr/>
              <p:nvPr/>
            </p:nvSpPr>
            <p:spPr>
              <a:xfrm>
                <a:off x="4502327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8A61E38-DDBE-49C7-9111-67035EE350EF}"/>
                  </a:ext>
                </a:extLst>
              </p:cNvPr>
              <p:cNvSpPr/>
              <p:nvPr/>
            </p:nvSpPr>
            <p:spPr>
              <a:xfrm>
                <a:off x="4139952" y="357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2B34EA30-FE8F-4EEE-9E67-1459C94B18C2}"/>
                  </a:ext>
                </a:extLst>
              </p:cNvPr>
              <p:cNvSpPr/>
              <p:nvPr/>
            </p:nvSpPr>
            <p:spPr>
              <a:xfrm>
                <a:off x="486003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26E51E3B-EF47-4019-BED2-B0CEB8593045}"/>
                  </a:ext>
                </a:extLst>
              </p:cNvPr>
              <p:cNvSpPr/>
              <p:nvPr/>
            </p:nvSpPr>
            <p:spPr>
              <a:xfrm>
                <a:off x="4502327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F6C0F151-E133-4736-83DC-CD928741AEC8}"/>
                  </a:ext>
                </a:extLst>
              </p:cNvPr>
              <p:cNvSpPr/>
              <p:nvPr/>
            </p:nvSpPr>
            <p:spPr>
              <a:xfrm>
                <a:off x="4139952" y="32164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06EA1C8-2589-41CC-8879-5DD4C4B24C3A}"/>
                </a:ext>
              </a:extLst>
            </p:cNvPr>
            <p:cNvGrpSpPr/>
            <p:nvPr/>
          </p:nvGrpSpPr>
          <p:grpSpPr>
            <a:xfrm rot="3213862">
              <a:off x="4977008" y="2608855"/>
              <a:ext cx="1440120" cy="1443988"/>
              <a:chOff x="5004048" y="4005064"/>
              <a:chExt cx="1440120" cy="1443988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445DA2-E1B3-45AC-8A95-F9340C15FDB7}"/>
                  </a:ext>
                </a:extLst>
              </p:cNvPr>
              <p:cNvSpPr/>
              <p:nvPr/>
            </p:nvSpPr>
            <p:spPr>
              <a:xfrm>
                <a:off x="5004048" y="508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D3E7D420-7CB5-4BDD-9A9F-544123901CBC}"/>
                  </a:ext>
                </a:extLst>
              </p:cNvPr>
              <p:cNvSpPr/>
              <p:nvPr/>
            </p:nvSpPr>
            <p:spPr>
              <a:xfrm>
                <a:off x="5004048" y="472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49D5502-0B65-4879-9A06-ADBDA3509082}"/>
                  </a:ext>
                </a:extLst>
              </p:cNvPr>
              <p:cNvSpPr/>
              <p:nvPr/>
            </p:nvSpPr>
            <p:spPr>
              <a:xfrm>
                <a:off x="5004048" y="436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6BC662A-9F1C-499F-BE48-4487AC140D24}"/>
                  </a:ext>
                </a:extLst>
              </p:cNvPr>
              <p:cNvSpPr/>
              <p:nvPr/>
            </p:nvSpPr>
            <p:spPr>
              <a:xfrm>
                <a:off x="5004048" y="4009052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0A07844-9277-41A9-90A6-85859FC519E6}"/>
                  </a:ext>
                </a:extLst>
              </p:cNvPr>
              <p:cNvSpPr/>
              <p:nvPr/>
            </p:nvSpPr>
            <p:spPr>
              <a:xfrm>
                <a:off x="536408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04C0D982-ED34-4018-B38C-5729955DA465}"/>
                  </a:ext>
                </a:extLst>
              </p:cNvPr>
              <p:cNvSpPr/>
              <p:nvPr/>
            </p:nvSpPr>
            <p:spPr>
              <a:xfrm>
                <a:off x="536408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CFDA9E1-72FC-4C1D-A3B3-72E437C8AB7A}"/>
                  </a:ext>
                </a:extLst>
              </p:cNvPr>
              <p:cNvSpPr/>
              <p:nvPr/>
            </p:nvSpPr>
            <p:spPr>
              <a:xfrm>
                <a:off x="536408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8DB523F-1533-40E0-810A-8430EAA5992D}"/>
                  </a:ext>
                </a:extLst>
              </p:cNvPr>
              <p:cNvSpPr/>
              <p:nvPr/>
            </p:nvSpPr>
            <p:spPr>
              <a:xfrm>
                <a:off x="536408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6FECA059-9A3F-4A2B-BB11-52B8F5621EB3}"/>
                  </a:ext>
                </a:extLst>
              </p:cNvPr>
              <p:cNvSpPr/>
              <p:nvPr/>
            </p:nvSpPr>
            <p:spPr>
              <a:xfrm>
                <a:off x="5724128" y="508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B1F4EAE8-FEAF-44A6-A158-2A58AB9D0D0A}"/>
                  </a:ext>
                </a:extLst>
              </p:cNvPr>
              <p:cNvSpPr/>
              <p:nvPr/>
            </p:nvSpPr>
            <p:spPr>
              <a:xfrm>
                <a:off x="5724128" y="472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934BD63-C1B4-4485-956E-3733D74DEEB7}"/>
                  </a:ext>
                </a:extLst>
              </p:cNvPr>
              <p:cNvSpPr/>
              <p:nvPr/>
            </p:nvSpPr>
            <p:spPr>
              <a:xfrm>
                <a:off x="5724128" y="436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EA92608-D5FE-41F0-B115-B4979931AE21}"/>
                  </a:ext>
                </a:extLst>
              </p:cNvPr>
              <p:cNvSpPr/>
              <p:nvPr/>
            </p:nvSpPr>
            <p:spPr>
              <a:xfrm>
                <a:off x="5724128" y="400522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B9AF421-64FE-4935-AF7B-0F79C8B530A0}"/>
                  </a:ext>
                </a:extLst>
              </p:cNvPr>
              <p:cNvSpPr/>
              <p:nvPr/>
            </p:nvSpPr>
            <p:spPr>
              <a:xfrm>
                <a:off x="6084168" y="508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4D235A6-8EC1-4408-83AC-9ADD597C6905}"/>
                  </a:ext>
                </a:extLst>
              </p:cNvPr>
              <p:cNvSpPr/>
              <p:nvPr/>
            </p:nvSpPr>
            <p:spPr>
              <a:xfrm>
                <a:off x="6084168" y="472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5BC368D-9FCD-49C6-9870-E5F5AE6A1208}"/>
                  </a:ext>
                </a:extLst>
              </p:cNvPr>
              <p:cNvSpPr/>
              <p:nvPr/>
            </p:nvSpPr>
            <p:spPr>
              <a:xfrm>
                <a:off x="6084168" y="436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D00D841-9650-43E1-A802-EC3AE4918F57}"/>
                  </a:ext>
                </a:extLst>
              </p:cNvPr>
              <p:cNvSpPr/>
              <p:nvPr/>
            </p:nvSpPr>
            <p:spPr>
              <a:xfrm>
                <a:off x="6084168" y="400506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C42873D-A61E-43F5-967A-0D9D8CF7FCBB}"/>
                </a:ext>
              </a:extLst>
            </p:cNvPr>
            <p:cNvGrpSpPr/>
            <p:nvPr/>
          </p:nvGrpSpPr>
          <p:grpSpPr>
            <a:xfrm>
              <a:off x="5565287" y="4345935"/>
              <a:ext cx="1800200" cy="1800200"/>
              <a:chOff x="5580112" y="4293096"/>
              <a:chExt cx="1800200" cy="180020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57E7436F-9A54-41BE-A71C-642E96D1E59C}"/>
                  </a:ext>
                </a:extLst>
              </p:cNvPr>
              <p:cNvSpPr/>
              <p:nvPr/>
            </p:nvSpPr>
            <p:spPr>
              <a:xfrm>
                <a:off x="5580152" y="537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91FD9A4-EC2E-418E-87B0-5658CAFF60FF}"/>
                  </a:ext>
                </a:extLst>
              </p:cNvPr>
              <p:cNvSpPr/>
              <p:nvPr/>
            </p:nvSpPr>
            <p:spPr>
              <a:xfrm>
                <a:off x="5580152" y="501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627DEB9-C3E5-4F28-8A47-A2486CCABB40}"/>
                  </a:ext>
                </a:extLst>
              </p:cNvPr>
              <p:cNvSpPr/>
              <p:nvPr/>
            </p:nvSpPr>
            <p:spPr>
              <a:xfrm>
                <a:off x="5580152" y="465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2A1EB9F-21E5-4F1D-B943-820CCC01271F}"/>
                  </a:ext>
                </a:extLst>
              </p:cNvPr>
              <p:cNvSpPr/>
              <p:nvPr/>
            </p:nvSpPr>
            <p:spPr>
              <a:xfrm>
                <a:off x="5580152" y="4297084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D026219-649A-44FD-9620-61A93292B1E7}"/>
                  </a:ext>
                </a:extLst>
              </p:cNvPr>
              <p:cNvSpPr/>
              <p:nvPr/>
            </p:nvSpPr>
            <p:spPr>
              <a:xfrm>
                <a:off x="594019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B962514-B525-4FEA-BB74-D7C4802AF604}"/>
                  </a:ext>
                </a:extLst>
              </p:cNvPr>
              <p:cNvSpPr/>
              <p:nvPr/>
            </p:nvSpPr>
            <p:spPr>
              <a:xfrm>
                <a:off x="594019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3F3D466F-B543-4C9E-8317-F0F4A64C7816}"/>
                  </a:ext>
                </a:extLst>
              </p:cNvPr>
              <p:cNvSpPr/>
              <p:nvPr/>
            </p:nvSpPr>
            <p:spPr>
              <a:xfrm>
                <a:off x="594019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F785F6A-3B05-4FB9-A4E3-657D323BFBAE}"/>
                  </a:ext>
                </a:extLst>
              </p:cNvPr>
              <p:cNvSpPr/>
              <p:nvPr/>
            </p:nvSpPr>
            <p:spPr>
              <a:xfrm>
                <a:off x="594019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7BAC8B-1C19-4502-8679-940F494F8F27}"/>
                  </a:ext>
                </a:extLst>
              </p:cNvPr>
              <p:cNvSpPr/>
              <p:nvPr/>
            </p:nvSpPr>
            <p:spPr>
              <a:xfrm>
                <a:off x="630023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C77FC6C-24F7-4A7C-87FC-0A54596A245B}"/>
                  </a:ext>
                </a:extLst>
              </p:cNvPr>
              <p:cNvSpPr/>
              <p:nvPr/>
            </p:nvSpPr>
            <p:spPr>
              <a:xfrm>
                <a:off x="630023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40B4F3A-1EA3-41A3-9DDB-4AA1D75D5391}"/>
                  </a:ext>
                </a:extLst>
              </p:cNvPr>
              <p:cNvSpPr/>
              <p:nvPr/>
            </p:nvSpPr>
            <p:spPr>
              <a:xfrm>
                <a:off x="630023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8D9A61E-9316-4D1F-B78B-B9E4E1D49890}"/>
                  </a:ext>
                </a:extLst>
              </p:cNvPr>
              <p:cNvSpPr/>
              <p:nvPr/>
            </p:nvSpPr>
            <p:spPr>
              <a:xfrm>
                <a:off x="630023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522B4DC-3498-4126-ADCA-DE39FB38A87C}"/>
                  </a:ext>
                </a:extLst>
              </p:cNvPr>
              <p:cNvSpPr/>
              <p:nvPr/>
            </p:nvSpPr>
            <p:spPr>
              <a:xfrm>
                <a:off x="6660272" y="537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95DAFC8-75BB-43EA-87D8-50AC40FC24C8}"/>
                  </a:ext>
                </a:extLst>
              </p:cNvPr>
              <p:cNvSpPr/>
              <p:nvPr/>
            </p:nvSpPr>
            <p:spPr>
              <a:xfrm>
                <a:off x="6660272" y="501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942FD64-A356-45F4-927D-F120625CA1E6}"/>
                  </a:ext>
                </a:extLst>
              </p:cNvPr>
              <p:cNvSpPr/>
              <p:nvPr/>
            </p:nvSpPr>
            <p:spPr>
              <a:xfrm>
                <a:off x="6660272" y="465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6FD16FA-C123-43F1-A195-5D4D91F4FEF7}"/>
                  </a:ext>
                </a:extLst>
              </p:cNvPr>
              <p:cNvSpPr/>
              <p:nvPr/>
            </p:nvSpPr>
            <p:spPr>
              <a:xfrm>
                <a:off x="6660272" y="42930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02EEB51-FF70-4B4C-A0EC-E30221EB4888}"/>
                  </a:ext>
                </a:extLst>
              </p:cNvPr>
              <p:cNvSpPr/>
              <p:nvPr/>
            </p:nvSpPr>
            <p:spPr>
              <a:xfrm>
                <a:off x="7020312" y="537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CD3D5C2-25EE-4F45-A089-FED379DDBDB1}"/>
                  </a:ext>
                </a:extLst>
              </p:cNvPr>
              <p:cNvSpPr/>
              <p:nvPr/>
            </p:nvSpPr>
            <p:spPr>
              <a:xfrm>
                <a:off x="7020312" y="501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C09AE7A5-0709-474C-8A22-118216DC16C4}"/>
                  </a:ext>
                </a:extLst>
              </p:cNvPr>
              <p:cNvSpPr/>
              <p:nvPr/>
            </p:nvSpPr>
            <p:spPr>
              <a:xfrm>
                <a:off x="7020312" y="465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48D6A70-BD52-4F57-8B74-C2CB666A00DA}"/>
                  </a:ext>
                </a:extLst>
              </p:cNvPr>
              <p:cNvSpPr/>
              <p:nvPr/>
            </p:nvSpPr>
            <p:spPr>
              <a:xfrm>
                <a:off x="7020312" y="429325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2FE4BA0-E643-44BB-A47E-07AD434C164F}"/>
                  </a:ext>
                </a:extLst>
              </p:cNvPr>
              <p:cNvSpPr/>
              <p:nvPr/>
            </p:nvSpPr>
            <p:spPr>
              <a:xfrm>
                <a:off x="5580112" y="5733296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384CAAB-CA9A-4DB6-A396-E2382B0AB200}"/>
                  </a:ext>
                </a:extLst>
              </p:cNvPr>
              <p:cNvSpPr/>
              <p:nvPr/>
            </p:nvSpPr>
            <p:spPr>
              <a:xfrm>
                <a:off x="594015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90969DB-76D0-4366-AE86-955042B321AA}"/>
                  </a:ext>
                </a:extLst>
              </p:cNvPr>
              <p:cNvSpPr/>
              <p:nvPr/>
            </p:nvSpPr>
            <p:spPr>
              <a:xfrm>
                <a:off x="630019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F65AC4C-816D-406F-A312-0BDEA33BEF9B}"/>
                  </a:ext>
                </a:extLst>
              </p:cNvPr>
              <p:cNvSpPr/>
              <p:nvPr/>
            </p:nvSpPr>
            <p:spPr>
              <a:xfrm>
                <a:off x="6660232" y="572930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9A1CAA2-739B-4E4F-8CBC-5747AB443B04}"/>
                  </a:ext>
                </a:extLst>
              </p:cNvPr>
              <p:cNvSpPr/>
              <p:nvPr/>
            </p:nvSpPr>
            <p:spPr>
              <a:xfrm>
                <a:off x="7020272" y="5729468"/>
                <a:ext cx="360000" cy="360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75" name="Right Triangle 74">
              <a:extLst>
                <a:ext uri="{FF2B5EF4-FFF2-40B4-BE49-F238E27FC236}">
                  <a16:creationId xmlns:a16="http://schemas.microsoft.com/office/drawing/2014/main" id="{48806A4C-BF00-409A-BF66-91E997DEE7B8}"/>
                </a:ext>
              </a:extLst>
            </p:cNvPr>
            <p:cNvSpPr/>
            <p:nvPr/>
          </p:nvSpPr>
          <p:spPr>
            <a:xfrm rot="13988152" flipH="1">
              <a:off x="5925447" y="3622787"/>
              <a:ext cx="1080000" cy="1440000"/>
            </a:xfrm>
            <a:prstGeom prst="rt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F36C2806-F992-4029-89F0-C0EFB1A334CC}"/>
              </a:ext>
            </a:extLst>
          </p:cNvPr>
          <p:cNvSpPr txBox="1"/>
          <p:nvPr/>
        </p:nvSpPr>
        <p:spPr>
          <a:xfrm>
            <a:off x="6718183" y="5299204"/>
            <a:ext cx="3364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Count the squares near each side.</a:t>
            </a:r>
          </a:p>
          <a:p>
            <a:r>
              <a:rPr lang="en-AU" dirty="0"/>
              <a:t>What patterns do you see?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46EED23-8581-4092-A944-B3BC548D238E}"/>
              </a:ext>
            </a:extLst>
          </p:cNvPr>
          <p:cNvSpPr txBox="1"/>
          <p:nvPr/>
        </p:nvSpPr>
        <p:spPr>
          <a:xfrm>
            <a:off x="1866826" y="5233322"/>
            <a:ext cx="3364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Count the squares near each side.</a:t>
            </a:r>
          </a:p>
          <a:p>
            <a:r>
              <a:rPr lang="en-AU" dirty="0"/>
              <a:t>What patterns do you see?</a:t>
            </a:r>
          </a:p>
        </p:txBody>
      </p:sp>
    </p:spTree>
    <p:extLst>
      <p:ext uri="{BB962C8B-B14F-4D97-AF65-F5344CB8AC3E}">
        <p14:creationId xmlns:p14="http://schemas.microsoft.com/office/powerpoint/2010/main" val="392982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3143672" y="1172036"/>
            <a:ext cx="0" cy="535330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1" y="1238655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a right-angled triangle?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3" y="117203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3310740" y="1291203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 right-angled triangle is a triangle with one angle that is 90</a:t>
            </a:r>
            <a:r>
              <a:rPr lang="en-AU" sz="2000" baseline="30000" dirty="0"/>
              <a:t>o</a:t>
            </a:r>
            <a:r>
              <a:rPr lang="en-AU" sz="20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92C6CB-AAF3-460E-BE9A-223A328C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882" y="1772816"/>
            <a:ext cx="2376253" cy="1400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3310740" y="3530324"/>
            <a:ext cx="717774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The long side is called the hypotenuse.</a:t>
            </a:r>
          </a:p>
          <a:p>
            <a:r>
              <a:rPr lang="en-AU" sz="2000" dirty="0"/>
              <a:t>We can label this side as ‘c’</a:t>
            </a:r>
          </a:p>
          <a:p>
            <a:r>
              <a:rPr lang="en-AU" sz="2000" dirty="0"/>
              <a:t>and the other sides as ‘a’ and ‘b’.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8A203-FAA4-4A81-8C4D-C46FB8FEADCC}"/>
              </a:ext>
            </a:extLst>
          </p:cNvPr>
          <p:cNvSpPr txBox="1"/>
          <p:nvPr/>
        </p:nvSpPr>
        <p:spPr>
          <a:xfrm>
            <a:off x="1524000" y="4725288"/>
            <a:ext cx="164015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1799" dirty="0">
                <a:latin typeface="Kiwi School Handwriting" panose="00000500000000000000" pitchFamily="2" charset="0"/>
              </a:rPr>
              <a:t>What is the rule for the sides?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299DF-99F8-4115-9766-1C07BF2A5419}"/>
              </a:ext>
            </a:extLst>
          </p:cNvPr>
          <p:cNvSpPr txBox="1"/>
          <p:nvPr/>
        </p:nvSpPr>
        <p:spPr>
          <a:xfrm>
            <a:off x="3285822" y="4781753"/>
            <a:ext cx="26680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a</a:t>
            </a:r>
            <a:r>
              <a:rPr lang="en-AU" sz="2000" baseline="30000" dirty="0"/>
              <a:t>2</a:t>
            </a:r>
            <a:r>
              <a:rPr lang="en-AU" sz="2000" dirty="0"/>
              <a:t> + b</a:t>
            </a:r>
            <a:r>
              <a:rPr lang="en-AU" sz="2000" baseline="30000" dirty="0"/>
              <a:t>2</a:t>
            </a:r>
            <a:r>
              <a:rPr lang="en-AU" sz="2000" dirty="0"/>
              <a:t> = c</a:t>
            </a:r>
            <a:r>
              <a:rPr lang="en-AU" sz="2000" baseline="30000" dirty="0"/>
              <a:t>2</a:t>
            </a:r>
            <a:r>
              <a:rPr lang="en-AU" sz="2000" dirty="0"/>
              <a:t>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B5300-8AC6-4A4D-AE13-4821504784BA}"/>
              </a:ext>
            </a:extLst>
          </p:cNvPr>
          <p:cNvSpPr txBox="1"/>
          <p:nvPr/>
        </p:nvSpPr>
        <p:spPr>
          <a:xfrm>
            <a:off x="3285822" y="5342839"/>
            <a:ext cx="58345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This is called Pythagoras’ 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9B22C-5802-482D-B099-C16099AC06DD}"/>
              </a:ext>
            </a:extLst>
          </p:cNvPr>
          <p:cNvSpPr txBox="1"/>
          <p:nvPr/>
        </p:nvSpPr>
        <p:spPr>
          <a:xfrm>
            <a:off x="5879976" y="211883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FD2CE-A5FB-48FF-9983-5EB62CE67549}"/>
              </a:ext>
            </a:extLst>
          </p:cNvPr>
          <p:cNvSpPr txBox="1"/>
          <p:nvPr/>
        </p:nvSpPr>
        <p:spPr>
          <a:xfrm>
            <a:off x="7464152" y="2284855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7D20E3-3A6B-403F-8589-7F826487E333}"/>
              </a:ext>
            </a:extLst>
          </p:cNvPr>
          <p:cNvSpPr txBox="1"/>
          <p:nvPr/>
        </p:nvSpPr>
        <p:spPr>
          <a:xfrm>
            <a:off x="6202356" y="310955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DFF8EB-CDDE-4043-AA44-25763009B748}"/>
              </a:ext>
            </a:extLst>
          </p:cNvPr>
          <p:cNvSpPr txBox="1"/>
          <p:nvPr/>
        </p:nvSpPr>
        <p:spPr>
          <a:xfrm>
            <a:off x="1667510" y="842250"/>
            <a:ext cx="795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latin typeface="Kiwi School Handwriting" panose="00000500000000000000" pitchFamily="2" charset="0"/>
              </a:rPr>
              <a:t>EQ – </a:t>
            </a:r>
            <a:r>
              <a:rPr lang="en-AU" b="1" dirty="0">
                <a:latin typeface="Kiwi School Handwriting" panose="00000500000000000000" pitchFamily="2" charset="0"/>
              </a:rPr>
              <a:t>What is special about right-angled triangles</a:t>
            </a:r>
            <a:r>
              <a:rPr lang="en-AU" dirty="0"/>
              <a:t>?</a:t>
            </a:r>
            <a:r>
              <a:rPr lang="en-AU" sz="1799" b="1" dirty="0">
                <a:latin typeface="Kiwi School Handwriting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0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1968617" y="290414"/>
            <a:ext cx="103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We 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276FB-3CEF-4B22-83E1-05BEF56ABDE1}"/>
              </a:ext>
            </a:extLst>
          </p:cNvPr>
          <p:cNvSpPr txBox="1"/>
          <p:nvPr/>
        </p:nvSpPr>
        <p:spPr>
          <a:xfrm>
            <a:off x="2135561" y="980729"/>
            <a:ext cx="7177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Use Pythagoras Theorem to test if this is a right angled triangle.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AF28078-E796-4853-B6FA-C3ADEABB4CA5}"/>
              </a:ext>
            </a:extLst>
          </p:cNvPr>
          <p:cNvSpPr/>
          <p:nvPr/>
        </p:nvSpPr>
        <p:spPr>
          <a:xfrm rot="19850988">
            <a:off x="3939855" y="1847390"/>
            <a:ext cx="2952328" cy="108012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DE105-7FF2-4D55-B119-3650E6E9F00C}"/>
              </a:ext>
            </a:extLst>
          </p:cNvPr>
          <p:cNvSpPr txBox="1"/>
          <p:nvPr/>
        </p:nvSpPr>
        <p:spPr>
          <a:xfrm>
            <a:off x="3549404" y="3028890"/>
            <a:ext cx="628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6cm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6EE1C-56FF-4647-9C35-DD172BBA325E}"/>
              </a:ext>
            </a:extLst>
          </p:cNvPr>
          <p:cNvSpPr txBox="1"/>
          <p:nvPr/>
        </p:nvSpPr>
        <p:spPr>
          <a:xfrm>
            <a:off x="4871865" y="1998780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10 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4C936-B093-4F7E-BB47-9F940DE4E3B0}"/>
              </a:ext>
            </a:extLst>
          </p:cNvPr>
          <p:cNvSpPr txBox="1"/>
          <p:nvPr/>
        </p:nvSpPr>
        <p:spPr>
          <a:xfrm>
            <a:off x="5467302" y="2998652"/>
            <a:ext cx="628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8cm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436DD-05E4-4683-B72D-777500CD2063}"/>
              </a:ext>
            </a:extLst>
          </p:cNvPr>
          <p:cNvSpPr txBox="1"/>
          <p:nvPr/>
        </p:nvSpPr>
        <p:spPr>
          <a:xfrm>
            <a:off x="2486674" y="4132199"/>
            <a:ext cx="26680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E4B50-32B8-429B-ACBC-351923139D7B}"/>
              </a:ext>
            </a:extLst>
          </p:cNvPr>
          <p:cNvSpPr txBox="1"/>
          <p:nvPr/>
        </p:nvSpPr>
        <p:spPr>
          <a:xfrm>
            <a:off x="4207821" y="4177912"/>
            <a:ext cx="26680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LHS:     8</a:t>
            </a:r>
            <a:r>
              <a:rPr lang="en-AU" sz="2400" baseline="30000" dirty="0"/>
              <a:t>2</a:t>
            </a:r>
            <a:r>
              <a:rPr lang="en-AU" sz="2400" dirty="0"/>
              <a:t> + 6</a:t>
            </a:r>
            <a:r>
              <a:rPr lang="en-AU" sz="2400" baseline="30000" dirty="0"/>
              <a:t>2</a:t>
            </a:r>
            <a:r>
              <a:rPr lang="en-AU" sz="2400" dirty="0"/>
              <a:t> </a:t>
            </a:r>
          </a:p>
          <a:p>
            <a:r>
              <a:rPr lang="en-AU" sz="2400" dirty="0"/>
              <a:t>         = 64 + 36</a:t>
            </a:r>
          </a:p>
          <a:p>
            <a:r>
              <a:rPr lang="en-AU" sz="2400" dirty="0"/>
              <a:t>         = 100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D5232-2927-41C1-8514-AACA0ECE9B79}"/>
              </a:ext>
            </a:extLst>
          </p:cNvPr>
          <p:cNvSpPr txBox="1"/>
          <p:nvPr/>
        </p:nvSpPr>
        <p:spPr>
          <a:xfrm>
            <a:off x="6600056" y="4188815"/>
            <a:ext cx="2668028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RHS:    10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  <a:p>
            <a:r>
              <a:rPr lang="en-AU" sz="2400" dirty="0"/>
              <a:t>         = 100</a:t>
            </a:r>
          </a:p>
          <a:p>
            <a:r>
              <a:rPr lang="en-AU" sz="2400" dirty="0"/>
              <a:t>         = LHS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2934B4-2751-4BCB-98CC-27AEE7B2652F}"/>
              </a:ext>
            </a:extLst>
          </p:cNvPr>
          <p:cNvSpPr txBox="1"/>
          <p:nvPr/>
        </p:nvSpPr>
        <p:spPr>
          <a:xfrm>
            <a:off x="4133288" y="5517232"/>
            <a:ext cx="26680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Yes it is a right angled triangle</a:t>
            </a:r>
          </a:p>
        </p:txBody>
      </p:sp>
    </p:spTree>
    <p:extLst>
      <p:ext uri="{BB962C8B-B14F-4D97-AF65-F5344CB8AC3E}">
        <p14:creationId xmlns:p14="http://schemas.microsoft.com/office/powerpoint/2010/main" val="220050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70B39A-9F4F-4D08-AF9F-27A4D06F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85" y="1173188"/>
            <a:ext cx="8954631" cy="4511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464780-D9B7-40B5-BBD4-6ED7F0C3D66C}"/>
              </a:ext>
            </a:extLst>
          </p:cNvPr>
          <p:cNvSpPr txBox="1"/>
          <p:nvPr/>
        </p:nvSpPr>
        <p:spPr>
          <a:xfrm>
            <a:off x="1968616" y="290414"/>
            <a:ext cx="10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You Do</a:t>
            </a:r>
          </a:p>
        </p:txBody>
      </p:sp>
    </p:spTree>
    <p:extLst>
      <p:ext uri="{BB962C8B-B14F-4D97-AF65-F5344CB8AC3E}">
        <p14:creationId xmlns:p14="http://schemas.microsoft.com/office/powerpoint/2010/main" val="202617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25193" y="791893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5191" y="1630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8617" y="290414"/>
            <a:ext cx="3757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Topic: </a:t>
            </a:r>
            <a:r>
              <a:rPr lang="en-AU" sz="2400" dirty="0"/>
              <a:t>Right-Angled Triangles</a:t>
            </a:r>
            <a:endParaRPr lang="en-AU" sz="24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9540" y="353230"/>
            <a:ext cx="1620180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7510" y="842250"/>
            <a:ext cx="9141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400" b="1" dirty="0">
                <a:latin typeface="Kiwi School Handwriting" panose="00000500000000000000" pitchFamily="2" charset="0"/>
              </a:rPr>
              <a:t>EQ – How can we work out the sides of right-angled triangles</a:t>
            </a:r>
            <a:r>
              <a:rPr lang="en-AU" sz="2400" dirty="0"/>
              <a:t>?</a:t>
            </a:r>
            <a:r>
              <a:rPr lang="en-AU" sz="2400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25190" y="1288458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C075E63-DA94-453C-B129-912863142F25}"/>
              </a:ext>
            </a:extLst>
          </p:cNvPr>
          <p:cNvSpPr txBox="1"/>
          <p:nvPr/>
        </p:nvSpPr>
        <p:spPr>
          <a:xfrm>
            <a:off x="1073426" y="1501824"/>
            <a:ext cx="10071652" cy="44319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Summary</a:t>
            </a:r>
          </a:p>
          <a:p>
            <a:endParaRPr lang="en-AU" sz="2400" dirty="0"/>
          </a:p>
          <a:p>
            <a:r>
              <a:rPr lang="en-AU" sz="2400" dirty="0"/>
              <a:t>The longest side of a right-angled triangle is called _________________.</a:t>
            </a:r>
          </a:p>
          <a:p>
            <a:endParaRPr lang="en-AU" sz="2400" dirty="0"/>
          </a:p>
          <a:p>
            <a:r>
              <a:rPr lang="en-AU" sz="2400" dirty="0"/>
              <a:t>To work it out when we know the two shorter sides we use __________________ which is written as  ______ + ________ = __________.</a:t>
            </a:r>
          </a:p>
          <a:p>
            <a:endParaRPr lang="en-AU" sz="2400" dirty="0"/>
          </a:p>
          <a:p>
            <a:r>
              <a:rPr lang="en-AU" sz="2400" dirty="0"/>
              <a:t>Our final step is to calculate the square root of the sum.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Do Exercise 7.2 page 91 of Dwyer text</a:t>
            </a:r>
          </a:p>
        </p:txBody>
      </p:sp>
    </p:spTree>
    <p:extLst>
      <p:ext uri="{BB962C8B-B14F-4D97-AF65-F5344CB8AC3E}">
        <p14:creationId xmlns:p14="http://schemas.microsoft.com/office/powerpoint/2010/main" val="217033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399</Words>
  <Application>Microsoft Office PowerPoint</Application>
  <PresentationFormat>Widescreen</PresentationFormat>
  <Paragraphs>79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Kiwi School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MCALLISTER Robert [Baldivis Secondary College]</dc:creator>
  <cp:lastModifiedBy>MCALLISTER Robert [Baldivis Secondary College]</cp:lastModifiedBy>
  <cp:revision>1</cp:revision>
  <dcterms:created xsi:type="dcterms:W3CDTF">2020-03-31T01:49:04Z</dcterms:created>
  <dcterms:modified xsi:type="dcterms:W3CDTF">2020-03-31T01:55:10Z</dcterms:modified>
</cp:coreProperties>
</file>
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91" r:id="rId2"/>
    <p:sldId id="508" r:id="rId3"/>
    <p:sldId id="502" r:id="rId4"/>
    <p:sldId id="475" r:id="rId5"/>
    <p:sldId id="509" r:id="rId6"/>
    <p:sldId id="507" r:id="rId7"/>
    <p:sldId id="506" r:id="rId8"/>
    <p:sldId id="50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D72994-6ADD-4A25-9602-C00ACB686D02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98F59F-E58A-4BDD-B43B-75E3E30D17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4200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Possible resources</a:t>
            </a:r>
          </a:p>
          <a:p>
            <a:r>
              <a:rPr lang="en-AU" dirty="0"/>
              <a:t>http://www.scootle.edu.au/ec/viewing/L6559/index.html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05421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2177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193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FA994-4C44-4564-A3E0-613F912EEF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84B6D2-D013-41C2-90B3-77F6E935B7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57035-F040-4E70-B066-15CAE7C97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D9124-8D8B-4712-B773-ED278E3578CF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0684D-80E5-4333-986A-951EE04D6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DC8E5-7D23-4B29-9D86-5154CF5A4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C1286-D6F9-4E18-8E6B-5FF6B3005D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4025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317A5-C2F2-4694-A5A4-B83488CB0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41DE4-A643-49A6-895B-908F22C1B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065FA-14C0-42A5-9295-5F47C47EE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D9124-8D8B-4712-B773-ED278E3578CF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287F1-0CF7-469F-949D-155DBB290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4FCFB-5A34-4D24-ACF6-EB4934FC2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C1286-D6F9-4E18-8E6B-5FF6B3005D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6606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736FC-62E3-42F9-8F35-6438BEBF4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645D38-5F2F-4EB2-BA35-C368C6EF88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BA303-32F3-4081-847A-BB9B9F307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D9124-8D8B-4712-B773-ED278E3578CF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79B79-4451-41C1-96B3-BF302C692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26840-73E7-4EFA-97A1-8E894C171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C1286-D6F9-4E18-8E6B-5FF6B3005D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8397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DCB2A-B669-4CD7-B337-7299FC76D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EBF3F-A10E-4350-9AA8-866080A5A2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BDAA16-E233-4C83-8033-D5C264447C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E166FB-9DB8-45C0-AA69-EBF5356FB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D9124-8D8B-4712-B773-ED278E3578CF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DFCC71-EA15-4549-A729-3FE5B8771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0C6CCA-14A6-4940-8D9D-9A468CF65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C1286-D6F9-4E18-8E6B-5FF6B3005D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8986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E3A72-BCC6-4EF8-BB05-8313B4EEB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A37D00-8FA7-46A0-9582-5F4611AEF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3BF824-99A2-4C5D-B687-1773B9FAC6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0B1AEB-F433-4465-B7B4-6F6AA2498C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D009A0-8E5C-4A7E-A226-AAC7157106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B271A1-7777-4B20-9159-B96B2E26E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D9124-8D8B-4712-B773-ED278E3578CF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DEB17A-EAEC-4AD0-9DF0-D6C0AA6F1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2B7F24-138C-4CDD-8603-DFC293B27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C1286-D6F9-4E18-8E6B-5FF6B3005D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8186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D4E0C-CC39-4A3D-BBA6-63905A78C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BCA51D-E358-41A3-98F8-5B05568F2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D9124-8D8B-4712-B773-ED278E3578CF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AE7E37-E1E2-4D85-B9C6-08E042F93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752BE9-7CB0-40CB-BB24-8FB1EEC23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C1286-D6F9-4E18-8E6B-5FF6B3005D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2595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1AB328-BB59-4455-9D51-6C293E41B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D9124-8D8B-4712-B773-ED278E3578CF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B1979A-C7F8-4AC2-8CB8-1B4862FFA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A82A04-2B75-4B42-815A-678EF7349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C1286-D6F9-4E18-8E6B-5FF6B3005D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5764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613C7-AAC8-4450-A07D-3A032D490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20A1E-0636-4C23-B64B-FA1EEB086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25C7B5-003D-46EF-A1CC-76473C1167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523DB2-B4F7-47AF-AFEE-B9B12C313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D9124-8D8B-4712-B773-ED278E3578CF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3B5F9B-7BEB-4099-B5A9-14D9ABBAF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D31DCC-962C-40A5-900E-EEB6A3C59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C1286-D6F9-4E18-8E6B-5FF6B3005D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5765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336BB-376E-4AF6-8E78-70B0EAF30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EB2789-7887-4C1C-9277-008CFEF60E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EE9C44-88A5-41C1-B7B5-0F720C9193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580E4C-F34B-4CF8-BF4D-F121F2368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D9124-8D8B-4712-B773-ED278E3578CF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DE7331-9FBC-48F6-B462-48BDE6377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1EEA6D-D2F1-460E-BE67-936B5880D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C1286-D6F9-4E18-8E6B-5FF6B3005D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2587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0062F-F424-41F3-B1AE-15407B720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D6C483-8F9B-4CD5-97F4-46D0033D2B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C115E-37F7-41CB-A241-C64661EDF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D9124-8D8B-4712-B773-ED278E3578CF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08D06-C123-4AF8-9ED1-38DA370D3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D41B8-CF6A-4929-80D2-28496F240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C1286-D6F9-4E18-8E6B-5FF6B3005D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5439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ED73B4-ACEF-49FC-9059-1CC59DA562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26B05D-056C-40DD-ACD5-D8752D9BD2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2FE58-45B8-411E-9876-402AA728F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D9124-8D8B-4712-B773-ED278E3578CF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17ACD-F096-447E-B6F9-3FC76813E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90222-790C-426B-B29B-EF7F8E347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C1286-D6F9-4E18-8E6B-5FF6B3005D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6539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2F82AE-56EA-4621-9F20-05453EDDA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F65416-0DD0-44C2-B5E8-A0E48AE01B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B0953-D850-48CA-AB7F-CA0932B248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6D9124-8D8B-4712-B773-ED278E3578CF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268DA1-6AB6-4FB0-A03A-4678C27548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B1985-A8CF-4789-8950-4A43E76972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FC1286-D6F9-4E18-8E6B-5FF6B3005D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6248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131585"/>
          </a:xfrm>
        </p:spPr>
        <p:txBody>
          <a:bodyPr>
            <a:normAutofit/>
          </a:bodyPr>
          <a:lstStyle/>
          <a:p>
            <a:r>
              <a:rPr lang="en-GB" b="1" dirty="0"/>
              <a:t>Pythagoras’ Theorem</a:t>
            </a:r>
            <a:br>
              <a:rPr lang="en-GB" b="1" dirty="0"/>
            </a:br>
            <a:br>
              <a:rPr lang="en-GB" b="1" dirty="0"/>
            </a:br>
            <a:r>
              <a:rPr lang="en-GB" b="1" dirty="0"/>
              <a:t>Working out a Shorter Side</a:t>
            </a:r>
          </a:p>
        </p:txBody>
      </p:sp>
    </p:spTree>
    <p:extLst>
      <p:ext uri="{BB962C8B-B14F-4D97-AF65-F5344CB8AC3E}">
        <p14:creationId xmlns:p14="http://schemas.microsoft.com/office/powerpoint/2010/main" val="1629306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966B6-08BE-444D-A933-836D0114E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536" y="188640"/>
            <a:ext cx="8229600" cy="706090"/>
          </a:xfrm>
        </p:spPr>
        <p:txBody>
          <a:bodyPr>
            <a:normAutofit/>
          </a:bodyPr>
          <a:lstStyle/>
          <a:p>
            <a:pPr algn="l"/>
            <a:r>
              <a:rPr lang="en-AU" sz="3600" b="1" dirty="0"/>
              <a:t>Warm Up (LHS)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1A83A3-E18D-4B23-8F43-AC9BB82171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052736"/>
                <a:ext cx="8229600" cy="5040560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AU" sz="2400" dirty="0"/>
                  <a:t>Write your summary from the last lesson.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400" dirty="0"/>
                  <a:t>What is the hypotenuse of a right-triangle with shorter sides of 3m and 4m?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400" dirty="0"/>
                  <a:t>Simplify the following fractions:</a:t>
                </a:r>
                <a:br>
                  <a:rPr lang="en-AU" sz="2400" dirty="0"/>
                </a:br>
                <a:r>
                  <a:rPr lang="en-AU" sz="2400" dirty="0"/>
                  <a:t>⃝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AU" sz="2400" dirty="0"/>
                  <a:t>              ⃝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AU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400" dirty="0"/>
                  <a:t>                ⃝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</m:oMath>
                </a14:m>
                <a:r>
                  <a:rPr lang="en-AU" sz="2400" dirty="0"/>
                  <a:t>                ⃝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endParaRPr lang="en-AU" sz="24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400" dirty="0"/>
                  <a:t>Kim makes cordial in a ratio of 4:1 (water to cordial). How much water will she need to make 600mL of mix?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400" dirty="0"/>
                  <a:t>Solve the following equation:</a:t>
                </a:r>
                <a:br>
                  <a:rPr lang="en-AU" sz="2400" dirty="0"/>
                </a:br>
                <a14:m>
                  <m:oMath xmlns:m="http://schemas.openxmlformats.org/officeDocument/2006/math">
                    <m:r>
                      <a:rPr lang="en-AU" sz="2400">
                        <a:latin typeface="Cambria Math" panose="02040503050406030204" pitchFamily="18" charset="0"/>
                      </a:rPr>
                      <m:t>16=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>
                        <a:latin typeface="Cambria Math" panose="02040503050406030204" pitchFamily="18" charset="0"/>
                      </a:rPr>
                      <m:t>+4</m:t>
                    </m:r>
                  </m:oMath>
                </a14:m>
                <a:endParaRPr lang="en-AU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1A83A3-E18D-4B23-8F43-AC9BB82171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052736"/>
                <a:ext cx="8229600" cy="5040560"/>
              </a:xfrm>
              <a:blipFill>
                <a:blip r:embed="rId2"/>
                <a:stretch>
                  <a:fillRect l="-1185" t="-1935" r="-81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0854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25193" y="791893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25191" y="163070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3431704" y="1172036"/>
            <a:ext cx="0" cy="55339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968617" y="290414"/>
            <a:ext cx="37572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400" b="1" dirty="0">
                <a:latin typeface="Kiwi School Handwriting" panose="00000500000000000000" pitchFamily="2" charset="0"/>
              </a:rPr>
              <a:t>Topic: </a:t>
            </a:r>
            <a:r>
              <a:rPr lang="en-AU" sz="2400" dirty="0"/>
              <a:t>Right-Angled Triangles</a:t>
            </a:r>
            <a:endParaRPr lang="en-AU" sz="24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69540" y="353230"/>
            <a:ext cx="1620180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4000" y="1239748"/>
            <a:ext cx="18722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US" sz="2000" dirty="0">
                <a:latin typeface="Kiwi School Handwriting" panose="00000500000000000000" pitchFamily="2" charset="0"/>
              </a:rPr>
              <a:t>What is Pythagoras’ Theorem?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25193" y="1172036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F8299DF-99F8-4115-9766-1C07BF2A5419}"/>
                  </a:ext>
                </a:extLst>
              </p:cNvPr>
              <p:cNvSpPr txBox="1"/>
              <p:nvPr/>
            </p:nvSpPr>
            <p:spPr>
              <a:xfrm>
                <a:off x="8250506" y="4865727"/>
                <a:ext cx="1838069" cy="15678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AU" sz="2000" dirty="0">
                    <a:solidFill>
                      <a:srgbClr val="7030A0"/>
                    </a:solidFill>
                  </a:rPr>
                  <a:t>a</a:t>
                </a:r>
                <a:r>
                  <a:rPr lang="en-AU" sz="2000" baseline="30000" dirty="0">
                    <a:solidFill>
                      <a:srgbClr val="7030A0"/>
                    </a:solidFill>
                  </a:rPr>
                  <a:t>2</a:t>
                </a:r>
                <a:r>
                  <a:rPr lang="en-AU" sz="2000" dirty="0">
                    <a:solidFill>
                      <a:srgbClr val="7030A0"/>
                    </a:solidFill>
                  </a:rPr>
                  <a:t> = c</a:t>
                </a:r>
                <a:r>
                  <a:rPr lang="en-AU" sz="2000" baseline="30000" dirty="0">
                    <a:solidFill>
                      <a:srgbClr val="7030A0"/>
                    </a:solidFill>
                  </a:rPr>
                  <a:t>2</a:t>
                </a:r>
                <a:r>
                  <a:rPr lang="en-AU" sz="2000" dirty="0">
                    <a:solidFill>
                      <a:srgbClr val="7030A0"/>
                    </a:solidFill>
                  </a:rPr>
                  <a:t> - b</a:t>
                </a:r>
                <a:r>
                  <a:rPr lang="en-AU" sz="2000" baseline="30000" dirty="0">
                    <a:solidFill>
                      <a:srgbClr val="7030A0"/>
                    </a:solidFill>
                  </a:rPr>
                  <a:t>2</a:t>
                </a:r>
                <a:r>
                  <a:rPr lang="en-AU" sz="2000" dirty="0">
                    <a:solidFill>
                      <a:srgbClr val="7030A0"/>
                    </a:solidFill>
                  </a:rPr>
                  <a:t> </a:t>
                </a:r>
              </a:p>
              <a:p>
                <a:r>
                  <a:rPr lang="en-AU" sz="2000" dirty="0">
                    <a:solidFill>
                      <a:srgbClr val="7030A0"/>
                    </a:solidFill>
                  </a:rPr>
                  <a:t>x</a:t>
                </a:r>
                <a:r>
                  <a:rPr lang="en-AU" sz="2000" baseline="30000" dirty="0">
                    <a:solidFill>
                      <a:srgbClr val="7030A0"/>
                    </a:solidFill>
                  </a:rPr>
                  <a:t>2</a:t>
                </a:r>
                <a:r>
                  <a:rPr lang="en-AU" sz="2000" dirty="0">
                    <a:solidFill>
                      <a:srgbClr val="7030A0"/>
                    </a:solidFill>
                  </a:rPr>
                  <a:t> = 10</a:t>
                </a:r>
                <a:r>
                  <a:rPr lang="en-AU" sz="2000" baseline="30000" dirty="0">
                    <a:solidFill>
                      <a:srgbClr val="7030A0"/>
                    </a:solidFill>
                  </a:rPr>
                  <a:t>2</a:t>
                </a:r>
                <a:r>
                  <a:rPr lang="en-AU" sz="2000" dirty="0">
                    <a:solidFill>
                      <a:srgbClr val="7030A0"/>
                    </a:solidFill>
                  </a:rPr>
                  <a:t> - 8</a:t>
                </a:r>
                <a:r>
                  <a:rPr lang="en-AU" sz="2000" baseline="30000" dirty="0">
                    <a:solidFill>
                      <a:srgbClr val="7030A0"/>
                    </a:solidFill>
                  </a:rPr>
                  <a:t>2</a:t>
                </a:r>
                <a:r>
                  <a:rPr lang="en-AU" sz="2000" dirty="0">
                    <a:solidFill>
                      <a:srgbClr val="7030A0"/>
                    </a:solidFill>
                  </a:rPr>
                  <a:t> </a:t>
                </a:r>
              </a:p>
              <a:p>
                <a:r>
                  <a:rPr lang="en-AU" sz="2000" dirty="0">
                    <a:solidFill>
                      <a:srgbClr val="7030A0"/>
                    </a:solidFill>
                  </a:rPr>
                  <a:t>x</a:t>
                </a:r>
                <a:r>
                  <a:rPr lang="en-AU" sz="2000" baseline="30000" dirty="0">
                    <a:solidFill>
                      <a:srgbClr val="7030A0"/>
                    </a:solidFill>
                  </a:rPr>
                  <a:t>2</a:t>
                </a:r>
                <a:r>
                  <a:rPr lang="en-AU" sz="2000" dirty="0">
                    <a:solidFill>
                      <a:srgbClr val="7030A0"/>
                    </a:solidFill>
                  </a:rPr>
                  <a:t> = 100 – 64 = 36</a:t>
                </a:r>
              </a:p>
              <a:p>
                <a:r>
                  <a:rPr lang="en-AU" sz="2000" dirty="0">
                    <a:solidFill>
                      <a:srgbClr val="7030A0"/>
                    </a:solidFill>
                  </a:rPr>
                  <a:t>x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</m:rad>
                  </m:oMath>
                </a14:m>
                <a:r>
                  <a:rPr lang="en-AU" sz="2000" dirty="0">
                    <a:solidFill>
                      <a:srgbClr val="7030A0"/>
                    </a:solidFill>
                  </a:rPr>
                  <a:t> </a:t>
                </a:r>
              </a:p>
              <a:p>
                <a:r>
                  <a:rPr lang="en-AU" sz="2000" dirty="0">
                    <a:solidFill>
                      <a:srgbClr val="7030A0"/>
                    </a:solidFill>
                  </a:rPr>
                  <a:t>x = 6cm  </a:t>
                </a: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F8299DF-99F8-4115-9766-1C07BF2A54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0506" y="4865727"/>
                <a:ext cx="1838069" cy="1567865"/>
              </a:xfrm>
              <a:prstGeom prst="rect">
                <a:avLst/>
              </a:prstGeom>
              <a:blipFill>
                <a:blip r:embed="rId3"/>
                <a:stretch>
                  <a:fillRect l="-8278" t="-5058" r="-7285" b="-933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8CAE5D96-C9A8-4F59-96C1-A12289F6E26B}"/>
              </a:ext>
            </a:extLst>
          </p:cNvPr>
          <p:cNvGrpSpPr/>
          <p:nvPr/>
        </p:nvGrpSpPr>
        <p:grpSpPr>
          <a:xfrm>
            <a:off x="5678326" y="1260655"/>
            <a:ext cx="2259278" cy="1379192"/>
            <a:chOff x="3491881" y="1772816"/>
            <a:chExt cx="2834862" cy="188301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9792C6CB-AAF3-460E-BE9A-223A328C77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91881" y="1772816"/>
              <a:ext cx="2376253" cy="1400972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4E9B22C-5802-482D-B099-C16099AC06DD}"/>
                </a:ext>
              </a:extLst>
            </p:cNvPr>
            <p:cNvSpPr txBox="1"/>
            <p:nvPr/>
          </p:nvSpPr>
          <p:spPr>
            <a:xfrm>
              <a:off x="4355976" y="2118831"/>
              <a:ext cx="368487" cy="5462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000" dirty="0"/>
                <a:t>c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F2FD2CE-A5FB-48FF-9983-5EB62CE67549}"/>
                </a:ext>
              </a:extLst>
            </p:cNvPr>
            <p:cNvSpPr txBox="1"/>
            <p:nvPr/>
          </p:nvSpPr>
          <p:spPr>
            <a:xfrm>
              <a:off x="5940153" y="2284855"/>
              <a:ext cx="386590" cy="5462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000" dirty="0"/>
                <a:t>a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D7D20E3-3A6B-403F-8589-7F826487E333}"/>
                </a:ext>
              </a:extLst>
            </p:cNvPr>
            <p:cNvSpPr txBox="1"/>
            <p:nvPr/>
          </p:nvSpPr>
          <p:spPr>
            <a:xfrm>
              <a:off x="4678356" y="3109556"/>
              <a:ext cx="400669" cy="5462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000" dirty="0"/>
                <a:t>b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1338205F-DFB5-47EE-B89A-7D9067B33896}"/>
              </a:ext>
            </a:extLst>
          </p:cNvPr>
          <p:cNvSpPr txBox="1"/>
          <p:nvPr/>
        </p:nvSpPr>
        <p:spPr>
          <a:xfrm>
            <a:off x="1667510" y="842250"/>
            <a:ext cx="795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>
                <a:latin typeface="Kiwi School Handwriting" panose="00000500000000000000" pitchFamily="2" charset="0"/>
              </a:rPr>
              <a:t>EQ – </a:t>
            </a:r>
            <a:r>
              <a:rPr lang="en-AU" b="1" dirty="0">
                <a:latin typeface="Kiwi School Handwriting" panose="00000500000000000000" pitchFamily="2" charset="0"/>
              </a:rPr>
              <a:t>How can we work out shorter side of right-angled triangles</a:t>
            </a:r>
            <a:r>
              <a:rPr lang="en-AU" dirty="0"/>
              <a:t>?</a:t>
            </a:r>
            <a:r>
              <a:rPr lang="en-AU" sz="1799" b="1" dirty="0">
                <a:latin typeface="Kiwi School Handwriting" panose="00000500000000000000" pitchFamily="2" charset="0"/>
              </a:rPr>
              <a:t>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2419FE-4DD9-4E51-B8DC-578DEC831EF0}"/>
              </a:ext>
            </a:extLst>
          </p:cNvPr>
          <p:cNvSpPr txBox="1"/>
          <p:nvPr/>
        </p:nvSpPr>
        <p:spPr>
          <a:xfrm>
            <a:off x="1504073" y="2532795"/>
            <a:ext cx="18722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US" sz="2000" dirty="0">
                <a:latin typeface="Kiwi School Handwriting" panose="00000500000000000000" pitchFamily="2" charset="0"/>
              </a:rPr>
              <a:t>How do we use it to find a shorter side?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9D911D-90A9-4E00-B621-C1AD70F60D2A}"/>
              </a:ext>
            </a:extLst>
          </p:cNvPr>
          <p:cNvSpPr txBox="1"/>
          <p:nvPr/>
        </p:nvSpPr>
        <p:spPr>
          <a:xfrm>
            <a:off x="3525924" y="3648505"/>
            <a:ext cx="266802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000" dirty="0"/>
              <a:t>Example: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727515F-8E1A-4F0D-85B8-B28F99B14D85}"/>
              </a:ext>
            </a:extLst>
          </p:cNvPr>
          <p:cNvGrpSpPr/>
          <p:nvPr/>
        </p:nvGrpSpPr>
        <p:grpSpPr>
          <a:xfrm>
            <a:off x="5508980" y="3404357"/>
            <a:ext cx="2418161" cy="1544757"/>
            <a:chOff x="3491881" y="1772816"/>
            <a:chExt cx="2788803" cy="1803998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3B5B58DD-C4CD-42DE-AE1D-E52BFE34D5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91881" y="1772816"/>
              <a:ext cx="2376253" cy="1400972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C836D35-96DC-4283-B44A-24A5F0E58928}"/>
                </a:ext>
              </a:extLst>
            </p:cNvPr>
            <p:cNvSpPr txBox="1"/>
            <p:nvPr/>
          </p:nvSpPr>
          <p:spPr>
            <a:xfrm>
              <a:off x="3968503" y="2072291"/>
              <a:ext cx="874806" cy="4672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000" dirty="0"/>
                <a:t>10cm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6564EDB-AEB1-478C-8DAD-4012C47A5BE8}"/>
                </a:ext>
              </a:extLst>
            </p:cNvPr>
            <p:cNvSpPr txBox="1"/>
            <p:nvPr/>
          </p:nvSpPr>
          <p:spPr>
            <a:xfrm>
              <a:off x="5940152" y="2284855"/>
              <a:ext cx="340532" cy="4672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000" dirty="0"/>
                <a:t>x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E9BF42B-35FE-40C6-8532-6691897A531E}"/>
                </a:ext>
              </a:extLst>
            </p:cNvPr>
            <p:cNvSpPr txBox="1"/>
            <p:nvPr/>
          </p:nvSpPr>
          <p:spPr>
            <a:xfrm>
              <a:off x="4678356" y="3109557"/>
              <a:ext cx="725061" cy="4672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000" dirty="0"/>
                <a:t>8cm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3D55EF2D-00A7-42C3-96A8-3FABEF176541}"/>
              </a:ext>
            </a:extLst>
          </p:cNvPr>
          <p:cNvSpPr txBox="1"/>
          <p:nvPr/>
        </p:nvSpPr>
        <p:spPr>
          <a:xfrm>
            <a:off x="3503712" y="5053136"/>
            <a:ext cx="4608503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000" dirty="0"/>
              <a:t>Step 1: Write the equation </a:t>
            </a:r>
          </a:p>
          <a:p>
            <a:r>
              <a:rPr lang="en-AU" sz="2000" dirty="0"/>
              <a:t>Step 2: Rewrite it using the values we know</a:t>
            </a:r>
          </a:p>
          <a:p>
            <a:r>
              <a:rPr lang="en-AU" sz="2000" dirty="0"/>
              <a:t>Step 3: Solve for the unknown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CB03C42-5A9D-400F-87F3-796F3404F021}"/>
              </a:ext>
            </a:extLst>
          </p:cNvPr>
          <p:cNvSpPr txBox="1"/>
          <p:nvPr/>
        </p:nvSpPr>
        <p:spPr>
          <a:xfrm>
            <a:off x="3635982" y="1336657"/>
            <a:ext cx="1838069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400" dirty="0"/>
              <a:t>a</a:t>
            </a:r>
            <a:r>
              <a:rPr lang="en-AU" sz="2400" baseline="30000" dirty="0"/>
              <a:t>2</a:t>
            </a:r>
            <a:r>
              <a:rPr lang="en-AU" sz="2400" dirty="0"/>
              <a:t> + b</a:t>
            </a:r>
            <a:r>
              <a:rPr lang="en-AU" sz="2400" baseline="30000" dirty="0"/>
              <a:t>2</a:t>
            </a:r>
            <a:r>
              <a:rPr lang="en-AU" sz="2400" dirty="0"/>
              <a:t> = c</a:t>
            </a:r>
            <a:r>
              <a:rPr lang="en-AU" sz="2400" baseline="30000" dirty="0"/>
              <a:t>2</a:t>
            </a:r>
            <a:r>
              <a:rPr lang="en-AU" sz="2400" dirty="0"/>
              <a:t> 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65D6472-035D-4069-A6C3-B3764536A259}"/>
              </a:ext>
            </a:extLst>
          </p:cNvPr>
          <p:cNvSpPr txBox="1"/>
          <p:nvPr/>
        </p:nvSpPr>
        <p:spPr>
          <a:xfrm>
            <a:off x="3525924" y="2617360"/>
            <a:ext cx="7009188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400" dirty="0"/>
              <a:t>To work out a shorter side, rewrite the formula as: </a:t>
            </a:r>
          </a:p>
          <a:p>
            <a:r>
              <a:rPr lang="en-AU" sz="2400" dirty="0"/>
              <a:t>a</a:t>
            </a:r>
            <a:r>
              <a:rPr lang="en-AU" sz="2400" baseline="30000" dirty="0"/>
              <a:t>2</a:t>
            </a:r>
            <a:r>
              <a:rPr lang="en-AU" sz="2400" dirty="0"/>
              <a:t> = c</a:t>
            </a:r>
            <a:r>
              <a:rPr lang="en-AU" sz="2400" baseline="30000" dirty="0"/>
              <a:t>2</a:t>
            </a:r>
            <a:r>
              <a:rPr lang="en-AU" sz="2400" dirty="0"/>
              <a:t> - b</a:t>
            </a:r>
            <a:r>
              <a:rPr lang="en-AU" sz="2400" baseline="30000" dirty="0"/>
              <a:t>2</a:t>
            </a:r>
            <a:r>
              <a:rPr lang="en-AU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5806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2135560" y="1556792"/>
            <a:ext cx="2880320" cy="2160240"/>
            <a:chOff x="611560" y="2924944"/>
            <a:chExt cx="2376264" cy="1728192"/>
          </a:xfrm>
        </p:grpSpPr>
        <p:sp>
          <p:nvSpPr>
            <p:cNvPr id="3" name="Right Triangle 2"/>
            <p:cNvSpPr/>
            <p:nvPr/>
          </p:nvSpPr>
          <p:spPr>
            <a:xfrm flipH="1">
              <a:off x="611560" y="2924944"/>
              <a:ext cx="2376264" cy="1728192"/>
            </a:xfrm>
            <a:prstGeom prst="rt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699792" y="4365104"/>
              <a:ext cx="288032" cy="28803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5087888" y="2420889"/>
                <a:ext cx="4320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7888" y="2420889"/>
                <a:ext cx="432048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3503712" y="3717033"/>
                <a:ext cx="432048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400" i="1" dirty="0">
                          <a:latin typeface="Cambria Math"/>
                        </a:rPr>
                        <m:t>4</m:t>
                      </m:r>
                    </m:oMath>
                  </m:oMathPara>
                </a14:m>
                <a:endParaRPr lang="en-GB" sz="4400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712" y="3717033"/>
                <a:ext cx="432048" cy="7694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3215680" y="1916833"/>
                <a:ext cx="432048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400" i="1" dirty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GB" sz="4400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680" y="1916833"/>
                <a:ext cx="432048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5735960" y="1052737"/>
            <a:ext cx="4536504" cy="95410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800" b="1" dirty="0"/>
              <a:t>Step 1:</a:t>
            </a:r>
            <a:r>
              <a:rPr lang="en-GB" sz="2800" dirty="0"/>
              <a:t> To work out the shorter side.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35960" y="2348880"/>
            <a:ext cx="4589140" cy="523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800" b="1" dirty="0"/>
              <a:t>Step 2:</a:t>
            </a:r>
            <a:r>
              <a:rPr lang="en-GB" sz="2800" dirty="0"/>
              <a:t> Form an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5689600" y="2996953"/>
                <a:ext cx="3048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36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sz="36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600" i="1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n-GB" sz="36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sz="3600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600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3600" i="1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3600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9600" y="2996953"/>
                <a:ext cx="3048000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5735960" y="3789041"/>
            <a:ext cx="4536504" cy="95410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800" b="1" dirty="0"/>
              <a:t>Step 3:</a:t>
            </a:r>
            <a:r>
              <a:rPr lang="en-GB" sz="2800" dirty="0"/>
              <a:t> Solve the equation to find the unknown side.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5735960" y="4773855"/>
                <a:ext cx="4248472" cy="12582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6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sz="36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sz="3600" i="1">
                          <a:latin typeface="Cambria Math"/>
                        </a:rPr>
                        <m:t>=</m:t>
                      </m:r>
                      <m:r>
                        <a:rPr lang="en-AU" sz="3600" i="1">
                          <a:latin typeface="Cambria Math" panose="02040503050406030204" pitchFamily="18" charset="0"/>
                        </a:rPr>
                        <m:t>25−</m:t>
                      </m:r>
                      <m:r>
                        <a:rPr lang="en-GB" sz="3600" i="1">
                          <a:latin typeface="Cambria Math"/>
                        </a:rPr>
                        <m:t>16=</m:t>
                      </m:r>
                      <m:r>
                        <a:rPr lang="en-AU" sz="3600" i="1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br>
                  <a:rPr lang="en-GB" sz="3600" dirty="0"/>
                </a:br>
                <a14:m>
                  <m:oMath xmlns:m="http://schemas.openxmlformats.org/officeDocument/2006/math">
                    <m:r>
                      <a:rPr lang="en-GB" sz="3600" i="1">
                        <a:latin typeface="Cambria Math"/>
                      </a:rPr>
                      <m:t>𝑥</m:t>
                    </m:r>
                    <m:r>
                      <a:rPr lang="en-GB" sz="3600" i="1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sz="36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sz="3600" i="1"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rad>
                  </m:oMath>
                </a14:m>
                <a:r>
                  <a:rPr lang="en-GB" sz="3600" dirty="0"/>
                  <a:t> or 3</a:t>
                </a: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5960" y="4773855"/>
                <a:ext cx="4248472" cy="1258230"/>
              </a:xfrm>
              <a:prstGeom prst="rect">
                <a:avLst/>
              </a:prstGeom>
              <a:blipFill>
                <a:blip r:embed="rId6"/>
                <a:stretch>
                  <a:fillRect b="-1690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>
            <a:off x="2639616" y="1340768"/>
            <a:ext cx="648072" cy="720080"/>
          </a:xfrm>
          <a:prstGeom prst="straightConnector1">
            <a:avLst/>
          </a:prstGeom>
          <a:ln w="76200"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823796" y="2933452"/>
            <a:ext cx="1619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The shorter side appears on its own.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H="1">
            <a:off x="8442548" y="3052068"/>
            <a:ext cx="432048" cy="720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746870" y="2922048"/>
            <a:ext cx="4582872" cy="73928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2800" dirty="0"/>
              <a:t>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35960" y="4773856"/>
            <a:ext cx="4561756" cy="179747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2800" dirty="0"/>
              <a:t>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23796" y="1490039"/>
            <a:ext cx="1276804" cy="42153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2000" dirty="0"/>
              <a:t>Reveal &gt;</a:t>
            </a:r>
            <a:endParaRPr lang="en-GB" sz="28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18D414-75D8-432E-AB7D-FC7D539CDE2B}"/>
              </a:ext>
            </a:extLst>
          </p:cNvPr>
          <p:cNvSpPr/>
          <p:nvPr/>
        </p:nvSpPr>
        <p:spPr>
          <a:xfrm>
            <a:off x="1525785" y="125344"/>
            <a:ext cx="342940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b="1" dirty="0"/>
              <a:t>Let’s Try this Together</a:t>
            </a:r>
          </a:p>
        </p:txBody>
      </p:sp>
    </p:spTree>
    <p:extLst>
      <p:ext uri="{BB962C8B-B14F-4D97-AF65-F5344CB8AC3E}">
        <p14:creationId xmlns:p14="http://schemas.microsoft.com/office/powerpoint/2010/main" val="2640277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2135560" y="1556792"/>
            <a:ext cx="2880320" cy="2160240"/>
            <a:chOff x="611560" y="2924944"/>
            <a:chExt cx="2376264" cy="1728192"/>
          </a:xfrm>
        </p:grpSpPr>
        <p:sp>
          <p:nvSpPr>
            <p:cNvPr id="3" name="Right Triangle 2"/>
            <p:cNvSpPr/>
            <p:nvPr/>
          </p:nvSpPr>
          <p:spPr>
            <a:xfrm flipH="1">
              <a:off x="611560" y="2924944"/>
              <a:ext cx="2376264" cy="1728192"/>
            </a:xfrm>
            <a:prstGeom prst="rt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699792" y="4365104"/>
              <a:ext cx="288032" cy="28803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5087888" y="2420889"/>
                <a:ext cx="4320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7888" y="2420889"/>
                <a:ext cx="432048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3503712" y="3717033"/>
                <a:ext cx="432048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400" i="1" dirty="0">
                          <a:latin typeface="Cambria Math"/>
                        </a:rPr>
                        <m:t>4</m:t>
                      </m:r>
                    </m:oMath>
                  </m:oMathPara>
                </a14:m>
                <a:endParaRPr lang="en-GB" sz="4400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712" y="3717033"/>
                <a:ext cx="432048" cy="7694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3215680" y="1916833"/>
                <a:ext cx="432048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400" i="1" dirty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GB" sz="4400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680" y="1916833"/>
                <a:ext cx="432048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5735960" y="1052737"/>
            <a:ext cx="4536504" cy="95410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800" b="1" dirty="0"/>
              <a:t>Step 1:</a:t>
            </a:r>
            <a:r>
              <a:rPr lang="en-GB" sz="2800" dirty="0"/>
              <a:t> To work out the shorter side.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35960" y="2348880"/>
            <a:ext cx="4589140" cy="523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800" b="1" dirty="0"/>
              <a:t>Step 2:</a:t>
            </a:r>
            <a:r>
              <a:rPr lang="en-GB" sz="2800" dirty="0"/>
              <a:t> Form an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5689600" y="2996953"/>
                <a:ext cx="3048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36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sz="36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600" i="1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n-GB" sz="36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sz="3600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600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3600" i="1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3600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9600" y="2996953"/>
                <a:ext cx="3048000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5735960" y="3789041"/>
            <a:ext cx="4536504" cy="95410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800" b="1" dirty="0"/>
              <a:t>Step 3:</a:t>
            </a:r>
            <a:r>
              <a:rPr lang="en-GB" sz="2800" dirty="0"/>
              <a:t> Solve the equation to find the unknown side.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5735960" y="4773855"/>
                <a:ext cx="4248472" cy="12582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6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sz="36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sz="3600" i="1">
                          <a:latin typeface="Cambria Math"/>
                        </a:rPr>
                        <m:t>=</m:t>
                      </m:r>
                      <m:r>
                        <a:rPr lang="en-AU" sz="3600" i="1">
                          <a:latin typeface="Cambria Math" panose="02040503050406030204" pitchFamily="18" charset="0"/>
                        </a:rPr>
                        <m:t>25−</m:t>
                      </m:r>
                      <m:r>
                        <a:rPr lang="en-GB" sz="3600" i="1">
                          <a:latin typeface="Cambria Math"/>
                        </a:rPr>
                        <m:t>16=</m:t>
                      </m:r>
                      <m:r>
                        <a:rPr lang="en-AU" sz="3600" i="1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br>
                  <a:rPr lang="en-GB" sz="3600" dirty="0"/>
                </a:br>
                <a14:m>
                  <m:oMath xmlns:m="http://schemas.openxmlformats.org/officeDocument/2006/math">
                    <m:r>
                      <a:rPr lang="en-GB" sz="3600" i="1">
                        <a:latin typeface="Cambria Math"/>
                      </a:rPr>
                      <m:t>𝑥</m:t>
                    </m:r>
                    <m:r>
                      <a:rPr lang="en-GB" sz="3600" i="1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sz="36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sz="3600" i="1"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rad>
                  </m:oMath>
                </a14:m>
                <a:r>
                  <a:rPr lang="en-GB" sz="3600" dirty="0"/>
                  <a:t> or 3</a:t>
                </a: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5960" y="4773855"/>
                <a:ext cx="4248472" cy="1258230"/>
              </a:xfrm>
              <a:prstGeom prst="rect">
                <a:avLst/>
              </a:prstGeom>
              <a:blipFill>
                <a:blip r:embed="rId6"/>
                <a:stretch>
                  <a:fillRect b="-1690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>
            <a:off x="2639616" y="1340768"/>
            <a:ext cx="648072" cy="720080"/>
          </a:xfrm>
          <a:prstGeom prst="straightConnector1">
            <a:avLst/>
          </a:prstGeom>
          <a:ln w="76200"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823796" y="2933452"/>
            <a:ext cx="1619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The shorter side appears on its own.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H="1">
            <a:off x="8442548" y="3052068"/>
            <a:ext cx="432048" cy="720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E118D414-75D8-432E-AB7D-FC7D539CDE2B}"/>
              </a:ext>
            </a:extLst>
          </p:cNvPr>
          <p:cNvSpPr/>
          <p:nvPr/>
        </p:nvSpPr>
        <p:spPr>
          <a:xfrm>
            <a:off x="1525785" y="125344"/>
            <a:ext cx="342940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b="1" dirty="0"/>
              <a:t>Let’s Try this Together</a:t>
            </a:r>
          </a:p>
        </p:txBody>
      </p:sp>
    </p:spTree>
    <p:extLst>
      <p:ext uri="{BB962C8B-B14F-4D97-AF65-F5344CB8AC3E}">
        <p14:creationId xmlns:p14="http://schemas.microsoft.com/office/powerpoint/2010/main" val="2129626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22A52-C2A0-4824-9412-9AC6357FA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512" y="0"/>
            <a:ext cx="8229600" cy="876540"/>
          </a:xfrm>
        </p:spPr>
        <p:txBody>
          <a:bodyPr/>
          <a:lstStyle/>
          <a:p>
            <a:pPr algn="l"/>
            <a:r>
              <a:rPr lang="en-AU" dirty="0"/>
              <a:t>Practice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B1A63F-EBBE-46B6-B240-32AA26C35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616" y="752752"/>
            <a:ext cx="7013678" cy="6028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520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22A52-C2A0-4824-9412-9AC6357FA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512" y="112491"/>
            <a:ext cx="8229600" cy="1143000"/>
          </a:xfrm>
        </p:spPr>
        <p:txBody>
          <a:bodyPr/>
          <a:lstStyle/>
          <a:p>
            <a:pPr algn="l"/>
            <a:r>
              <a:rPr lang="en-AU" dirty="0"/>
              <a:t>Extend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01A12C-BE34-4199-AD32-E31043386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544" y="1340768"/>
            <a:ext cx="8316416" cy="502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553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25193" y="791893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25191" y="163070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8617" y="290414"/>
            <a:ext cx="37572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400" b="1" dirty="0">
                <a:latin typeface="Kiwi School Handwriting" panose="00000500000000000000" pitchFamily="2" charset="0"/>
              </a:rPr>
              <a:t>Topic: </a:t>
            </a:r>
            <a:r>
              <a:rPr lang="en-AU" sz="2400" dirty="0"/>
              <a:t>Right-Angled Triangles</a:t>
            </a:r>
            <a:endParaRPr lang="en-AU" sz="24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69540" y="353230"/>
            <a:ext cx="1620180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25193" y="1172036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C075E63-DA94-453C-B129-912863142F25}"/>
              </a:ext>
            </a:extLst>
          </p:cNvPr>
          <p:cNvSpPr txBox="1"/>
          <p:nvPr/>
        </p:nvSpPr>
        <p:spPr>
          <a:xfrm>
            <a:off x="1847528" y="1501824"/>
            <a:ext cx="8568952" cy="40010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000" dirty="0"/>
              <a:t>Summary</a:t>
            </a:r>
          </a:p>
          <a:p>
            <a:endParaRPr lang="en-AU" sz="2000" dirty="0"/>
          </a:p>
          <a:p>
            <a:r>
              <a:rPr lang="en-AU" sz="2000" dirty="0"/>
              <a:t>To work out a shorter side of a right-angled triangle when we know the hypotenuse and the other side we rewrite Pythagoras’ Theorem to get the unknown side by itself. It looks like ________ = ________ - __________.</a:t>
            </a:r>
          </a:p>
          <a:p>
            <a:endParaRPr lang="en-AU" sz="2000" dirty="0"/>
          </a:p>
          <a:p>
            <a:r>
              <a:rPr lang="en-AU" sz="2000" dirty="0"/>
              <a:t>Our last step is to take the ___________________ of the answer.</a:t>
            </a:r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r>
              <a:rPr lang="en-AU" sz="2000" dirty="0"/>
              <a:t>Exercise 7.4 Page 93 of Dwyer book</a:t>
            </a:r>
          </a:p>
          <a:p>
            <a:endParaRPr lang="en-AU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85DAFC-ED5C-4AE9-94A2-2D26D2A4370F}"/>
              </a:ext>
            </a:extLst>
          </p:cNvPr>
          <p:cNvSpPr txBox="1"/>
          <p:nvPr/>
        </p:nvSpPr>
        <p:spPr>
          <a:xfrm>
            <a:off x="1667510" y="842250"/>
            <a:ext cx="795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>
                <a:latin typeface="Kiwi School Handwriting" panose="00000500000000000000" pitchFamily="2" charset="0"/>
              </a:rPr>
              <a:t>EQ – </a:t>
            </a:r>
            <a:r>
              <a:rPr lang="en-AU" b="1" dirty="0">
                <a:latin typeface="Kiwi School Handwriting" panose="00000500000000000000" pitchFamily="2" charset="0"/>
              </a:rPr>
              <a:t>How can we work out a shorter side of right-angled triangles</a:t>
            </a:r>
            <a:r>
              <a:rPr lang="en-AU" dirty="0"/>
              <a:t>?</a:t>
            </a:r>
            <a:r>
              <a:rPr lang="en-AU" sz="1799" b="1" dirty="0">
                <a:latin typeface="Kiwi School Handwriting" panose="00000500000000000000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70331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434</Words>
  <Application>Microsoft Office PowerPoint</Application>
  <PresentationFormat>Widescreen</PresentationFormat>
  <Paragraphs>79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Kiwi School Handwriting</vt:lpstr>
      <vt:lpstr>Office Theme</vt:lpstr>
      <vt:lpstr>Pythagoras’ Theorem  Working out a Shorter Side</vt:lpstr>
      <vt:lpstr>Warm Up (LHS)</vt:lpstr>
      <vt:lpstr>PowerPoint Presentation</vt:lpstr>
      <vt:lpstr>PowerPoint Presentation</vt:lpstr>
      <vt:lpstr>PowerPoint Presentation</vt:lpstr>
      <vt:lpstr>Practice</vt:lpstr>
      <vt:lpstr>Extend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Pythagoras’ Theorem  Working out a Shorter Side</dc:title>
  <dc:creator>MCALLISTER Robert [Baldivis Secondary College]</dc:creator>
  <cp:lastModifiedBy>MCALLISTER Robert [Baldivis Secondary College]</cp:lastModifiedBy>
  <cp:revision>1</cp:revision>
  <dcterms:created xsi:type="dcterms:W3CDTF">2020-03-31T02:25:53Z</dcterms:created>
  <dcterms:modified xsi:type="dcterms:W3CDTF">2020-03-31T02:32:50Z</dcterms:modified>
</cp:coreProperties>
</file>
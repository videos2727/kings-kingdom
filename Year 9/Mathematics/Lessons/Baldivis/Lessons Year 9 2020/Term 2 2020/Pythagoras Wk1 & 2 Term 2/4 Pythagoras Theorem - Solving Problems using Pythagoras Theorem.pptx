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512" r:id="rId2"/>
    <p:sldId id="267" r:id="rId3"/>
    <p:sldId id="472" r:id="rId4"/>
    <p:sldId id="513" r:id="rId5"/>
    <p:sldId id="510" r:id="rId6"/>
    <p:sldId id="506" r:id="rId7"/>
    <p:sldId id="505" r:id="rId8"/>
    <p:sldId id="50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935EA-AB8B-4239-B637-B74624A22771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2A674-FEAD-4A72-B938-9BDC8A32ED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171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8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87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5781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16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45F73-A152-428B-917C-AF2B68891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21727-9F24-4525-914F-4FB5F51F6A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10DA1-2F36-4A2E-8CBA-0536FFFDC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15E4B-CD9B-4CFF-AEE4-E02E2393A285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D756D-4B06-4A48-AA2D-D233F32EA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994EF-506E-4806-A628-ED5536A1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C7D2-8DC3-42DE-ACEB-BF2CF2E39B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178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00514-3D95-490C-B53B-F2F558278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CA957-D103-49CE-B9A5-1EAD90E54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63641-E963-4BE6-A23F-8348C8959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15E4B-CD9B-4CFF-AEE4-E02E2393A285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3454F-EDDE-414B-9E02-72E9CE545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1AEC3-F270-4687-BA1E-FA68B7D73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C7D2-8DC3-42DE-ACEB-BF2CF2E39B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10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07372-2A9A-48C8-82B1-E3DDB752D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DC8E5-9E9A-42A9-8C01-706E8A2B5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F7D7E-F6E1-49F8-BEE3-1E4B5585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15E4B-CD9B-4CFF-AEE4-E02E2393A285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16FED-701E-47D1-BB02-D933DFB55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87DD4-B30A-4321-A30C-03807F229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C7D2-8DC3-42DE-ACEB-BF2CF2E39B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2562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B92BF-E00B-48B4-A21B-3DA634CA0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D82B5-4360-4A93-88A2-2EB1DAE4BF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B1B52-25C6-4B8B-9988-D92301779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DB75B-8E61-441A-8662-C5324CDC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15E4B-CD9B-4CFF-AEE4-E02E2393A285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6E6D2-812E-42BA-B378-47FD4153C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C8429-8D6B-4492-AF5D-AECEF7F7D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C7D2-8DC3-42DE-ACEB-BF2CF2E39B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7244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43801-5F88-4F08-A142-2014456C9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F683B-D368-4783-A594-55A2532A2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38063-B311-4C7B-B54D-C63F287A7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BFF4D-3E19-4753-956C-751AFE9A88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81564D-8AB7-4063-9BED-C2B058BF06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16E9C4-CFAF-4AEE-8B67-8CACEFF8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15E4B-CD9B-4CFF-AEE4-E02E2393A285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1FBD2-DD69-4CA4-BCF3-60CA2BB8E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46EE01-9296-4B3C-8B01-EDD7C77B1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C7D2-8DC3-42DE-ACEB-BF2CF2E39B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7370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29B9F-2A0E-4FFC-9AB6-814268330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B6C401-6356-44E2-9035-6ED1BD7E8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15E4B-CD9B-4CFF-AEE4-E02E2393A285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22691-1DA8-4A4E-AB9C-2C60DCF6A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EE4E03-9EFF-4F24-AC5C-9E1A49041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C7D2-8DC3-42DE-ACEB-BF2CF2E39B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625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43442E-E232-482D-8C62-8F192C7C6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15E4B-CD9B-4CFF-AEE4-E02E2393A285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CBEA2A-0E51-4E58-96DA-773342102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7C22D-DFF8-4027-AC93-EB2DCB14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C7D2-8DC3-42DE-ACEB-BF2CF2E39B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5148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80883-55B3-4086-BCF8-8FC80D84B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0D240-B42E-4158-8841-AE872CD36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E39359-EE6E-40A0-AE64-79387747C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BA604-E809-4163-854A-A73133E88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15E4B-CD9B-4CFF-AEE4-E02E2393A285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59B37-FC92-4AD6-BF10-53DCF13F5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DF922-153C-4261-9E75-9104471B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C7D2-8DC3-42DE-ACEB-BF2CF2E39B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458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612F9-EB90-436B-95C0-A9A2DC285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313E82-2F78-4953-98CD-1E7847D50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CA80A-345E-4B27-A8B7-6926B501D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569B85-AA91-4108-9C74-756A51B38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15E4B-CD9B-4CFF-AEE4-E02E2393A285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14A8B-A34B-43FC-905A-ECB02CB7A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D37AE-9DEF-44EE-88BE-028ACCD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C7D2-8DC3-42DE-ACEB-BF2CF2E39B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6934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AB9BB-FF5E-468A-96D4-E5653DD50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8969DF-CEF9-4ACB-92B0-1E3192026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166E5-8FF7-4C21-984B-C2D6B905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15E4B-CD9B-4CFF-AEE4-E02E2393A285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E4114-F547-485B-88EE-054D84BB3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08A20-015B-4849-B9A6-148FD5497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C7D2-8DC3-42DE-ACEB-BF2CF2E39B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7264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191475-63F6-4147-A306-5A4BC4A033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F48788-9256-4C83-B5A8-67504D1EE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2AB9B-591F-438A-A53C-0DD8C388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15E4B-CD9B-4CFF-AEE4-E02E2393A285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5B12B-6E4A-4C28-A611-CAB8EEC83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C3B0A-9D33-453C-B0FD-84D2968DD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C7D2-8DC3-42DE-ACEB-BF2CF2E39B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4948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30E715-EC4D-4950-9DCA-2419D0031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D0EE8-73EA-4222-B37D-DCDD43F3F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26083-3B58-4A75-AE68-0F46724FF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15E4B-CD9B-4CFF-AEE4-E02E2393A285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E5CFA-27AA-40FC-99E7-A4C2707404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60FB2-E824-41DD-9B70-587CEE784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0C7D2-8DC3-42DE-ACEB-BF2CF2E39B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162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66B6-08BE-444D-A933-836D0114E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88" y="1778900"/>
            <a:ext cx="3050029" cy="706090"/>
          </a:xfrm>
        </p:spPr>
        <p:txBody>
          <a:bodyPr>
            <a:normAutofit/>
          </a:bodyPr>
          <a:lstStyle/>
          <a:p>
            <a:pPr algn="l"/>
            <a:r>
              <a:rPr lang="en-AU" sz="3600" b="1" dirty="0"/>
              <a:t>Warm Up (LHS)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A83A3-E18D-4B23-8F43-AC9BB8217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4226" y="1628800"/>
            <a:ext cx="8229600" cy="504056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400" dirty="0"/>
              <a:t>Write your summary from the last lesson.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400" dirty="0"/>
              <a:t>A right triangle has a hypotenuse of 10cm and one side of 6cm. How long is the other short side?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400" dirty="0"/>
              <a:t>What is Pythagoras Theorem?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40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B0917D-4259-469B-8625-0E944DE65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964" y="3315335"/>
            <a:ext cx="6905347" cy="335402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66DAC59-AC1B-425F-A1E0-3D2D81952D90}"/>
              </a:ext>
            </a:extLst>
          </p:cNvPr>
          <p:cNvSpPr txBox="1">
            <a:spLocks/>
          </p:cNvSpPr>
          <p:nvPr/>
        </p:nvSpPr>
        <p:spPr>
          <a:xfrm>
            <a:off x="140068" y="112237"/>
            <a:ext cx="11104402" cy="10249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 b="1" dirty="0"/>
              <a:t>Solving Problems using Pythagoras’ Theorem</a:t>
            </a:r>
          </a:p>
        </p:txBody>
      </p:sp>
    </p:spTree>
    <p:extLst>
      <p:ext uri="{BB962C8B-B14F-4D97-AF65-F5344CB8AC3E}">
        <p14:creationId xmlns:p14="http://schemas.microsoft.com/office/powerpoint/2010/main" val="2030854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25193" y="791893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5191" y="1630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3647728" y="1172036"/>
            <a:ext cx="0" cy="5425316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68617" y="290414"/>
            <a:ext cx="37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Topic: </a:t>
            </a:r>
            <a:r>
              <a:rPr lang="en-AU" sz="2400" dirty="0"/>
              <a:t>Right-Angled Triangles</a:t>
            </a:r>
            <a:endParaRPr lang="en-AU" sz="24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69540" y="353230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7510" y="842250"/>
            <a:ext cx="795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latin typeface="Kiwi School Handwriting" panose="00000500000000000000" pitchFamily="2" charset="0"/>
              </a:rPr>
              <a:t>EQ – </a:t>
            </a:r>
            <a:r>
              <a:rPr lang="en-AU" b="1" dirty="0">
                <a:latin typeface="Kiwi School Handwriting" panose="00000500000000000000" pitchFamily="2" charset="0"/>
              </a:rPr>
              <a:t>How can we solve problems involving right-angled triangles</a:t>
            </a:r>
            <a:r>
              <a:rPr lang="en-AU" dirty="0"/>
              <a:t>?</a:t>
            </a:r>
            <a:r>
              <a:rPr lang="en-AU" sz="17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25193" y="1172036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3847240" y="1284528"/>
            <a:ext cx="6197351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indent="-457200">
              <a:buAutoNum type="arabicPeriod"/>
            </a:pPr>
            <a:r>
              <a:rPr lang="en-AU" sz="2000" dirty="0"/>
              <a:t>Draw a diagram to help identify the right-angled triangles that may help solve the problem.</a:t>
            </a:r>
          </a:p>
          <a:p>
            <a:pPr marL="457200" indent="-457200">
              <a:buAutoNum type="arabicPeriod"/>
            </a:pPr>
            <a:r>
              <a:rPr lang="en-AU" sz="2000" dirty="0"/>
              <a:t>Label the sides with their lengths. Use a pronumeral if the length is not unknown.</a:t>
            </a:r>
          </a:p>
          <a:p>
            <a:pPr marL="457200" indent="-457200">
              <a:buAutoNum type="arabicPeriod"/>
            </a:pPr>
            <a:r>
              <a:rPr lang="en-AU" sz="2000" dirty="0"/>
              <a:t>Use Pythagoras’ Theorem to work out the unknown.</a:t>
            </a:r>
          </a:p>
          <a:p>
            <a:pPr marL="457200" indent="-457200">
              <a:buAutoNum type="arabicPeriod"/>
            </a:pPr>
            <a:r>
              <a:rPr lang="en-AU" sz="2000" dirty="0"/>
              <a:t>Solve the problem by making any further calculations and answering in words.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075E63-DA94-453C-B129-912863142F25}"/>
              </a:ext>
            </a:extLst>
          </p:cNvPr>
          <p:cNvSpPr txBox="1"/>
          <p:nvPr/>
        </p:nvSpPr>
        <p:spPr>
          <a:xfrm>
            <a:off x="1650070" y="1325190"/>
            <a:ext cx="19256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What are the steps?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6EF21B-09CC-4544-80D9-02CC838B60F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41159" y="3675352"/>
            <a:ext cx="8573266" cy="294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CCAF87-727A-4E0A-A184-5E45F7E52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764" y="620688"/>
            <a:ext cx="8820472" cy="585157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C920F18-18B5-4299-8257-27020839DC7B}"/>
              </a:ext>
            </a:extLst>
          </p:cNvPr>
          <p:cNvSpPr/>
          <p:nvPr/>
        </p:nvSpPr>
        <p:spPr>
          <a:xfrm>
            <a:off x="1671586" y="4063645"/>
            <a:ext cx="8820472" cy="19442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031C0F-5704-45CF-A182-95CBA2F9478B}"/>
              </a:ext>
            </a:extLst>
          </p:cNvPr>
          <p:cNvSpPr/>
          <p:nvPr/>
        </p:nvSpPr>
        <p:spPr>
          <a:xfrm>
            <a:off x="1699942" y="6007861"/>
            <a:ext cx="8820472" cy="4476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4956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CCAF87-727A-4E0A-A184-5E45F7E52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764" y="620688"/>
            <a:ext cx="8820472" cy="585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149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25193" y="791893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5191" y="1630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3647728" y="1172036"/>
            <a:ext cx="0" cy="5425316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68617" y="290414"/>
            <a:ext cx="37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Topic: </a:t>
            </a:r>
            <a:r>
              <a:rPr lang="en-AU" sz="2400" dirty="0"/>
              <a:t>Right-Angled Triangles</a:t>
            </a:r>
            <a:endParaRPr lang="en-AU" sz="24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69540" y="353230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7510" y="842250"/>
            <a:ext cx="795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latin typeface="Kiwi School Handwriting" panose="00000500000000000000" pitchFamily="2" charset="0"/>
              </a:rPr>
              <a:t>EQ – </a:t>
            </a:r>
            <a:r>
              <a:rPr lang="en-AU" b="1" dirty="0">
                <a:latin typeface="Kiwi School Handwriting" panose="00000500000000000000" pitchFamily="2" charset="0"/>
              </a:rPr>
              <a:t>How can we solve problems involving right-angled triangles</a:t>
            </a:r>
            <a:r>
              <a:rPr lang="en-AU" dirty="0"/>
              <a:t>?</a:t>
            </a:r>
            <a:r>
              <a:rPr lang="en-AU" sz="17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25193" y="1172036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3847240" y="1284528"/>
            <a:ext cx="6197351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Same steps as problem solving but we have two sides of the same unknown length.</a:t>
            </a:r>
          </a:p>
          <a:p>
            <a:endParaRPr lang="en-AU" sz="2000" dirty="0"/>
          </a:p>
          <a:p>
            <a:r>
              <a:rPr lang="en-AU" sz="2000" dirty="0"/>
              <a:t>For example: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075E63-DA94-453C-B129-912863142F25}"/>
              </a:ext>
            </a:extLst>
          </p:cNvPr>
          <p:cNvSpPr txBox="1"/>
          <p:nvPr/>
        </p:nvSpPr>
        <p:spPr>
          <a:xfrm>
            <a:off x="1650070" y="1325189"/>
            <a:ext cx="192565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What if we get a right-angled isosceles triangle?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6ACC36D-15CF-433F-88BD-023F110FD11A}"/>
              </a:ext>
            </a:extLst>
          </p:cNvPr>
          <p:cNvGrpSpPr/>
          <p:nvPr/>
        </p:nvGrpSpPr>
        <p:grpSpPr>
          <a:xfrm>
            <a:off x="5555357" y="2060849"/>
            <a:ext cx="2016224" cy="1612529"/>
            <a:chOff x="4860032" y="2248519"/>
            <a:chExt cx="2200245" cy="180020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DA86983-3F2E-44E8-A41A-E9816CFDA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60032" y="2248519"/>
              <a:ext cx="2200245" cy="180020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4E7AC95-CC3F-47CD-81DE-603B0FBFA059}"/>
                </a:ext>
              </a:extLst>
            </p:cNvPr>
            <p:cNvSpPr txBox="1"/>
            <p:nvPr/>
          </p:nvSpPr>
          <p:spPr>
            <a:xfrm>
              <a:off x="5066307" y="2650462"/>
              <a:ext cx="767425" cy="4466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AU" sz="2000" dirty="0"/>
                <a:t>16m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CBE8657-5DD7-4B67-9547-E820CDC1495E}"/>
                  </a:ext>
                </a:extLst>
              </p:cNvPr>
              <p:cNvSpPr/>
              <p:nvPr/>
            </p:nvSpPr>
            <p:spPr>
              <a:xfrm>
                <a:off x="5422099" y="3789040"/>
                <a:ext cx="2239011" cy="25021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200" i="1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200" i="1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AU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  <m:sup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200" i="1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200" i="1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AU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AU" sz="2200" i="1">
                          <a:latin typeface="Cambria Math" panose="02040503050406030204" pitchFamily="18" charset="0"/>
                        </a:rPr>
                        <m:t>256=2 </m:t>
                      </m:r>
                      <m:r>
                        <a:rPr lang="en-AU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2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AU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200" i="1">
                          <a:latin typeface="Cambria Math" panose="02040503050406030204" pitchFamily="18" charset="0"/>
                        </a:rPr>
                        <m:t>=256 </m:t>
                      </m:r>
                      <m:r>
                        <a:rPr lang="en-AU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=128</m:t>
                      </m:r>
                    </m:oMath>
                    <m:oMath xmlns:m="http://schemas.openxmlformats.org/officeDocument/2006/math">
                      <m:r>
                        <a:rPr lang="en-AU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128</m:t>
                          </m:r>
                        </m:e>
                      </m:rad>
                    </m:oMath>
                  </m:oMathPara>
                </a14:m>
                <a:br>
                  <a:rPr lang="en-AU" sz="2200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AU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=11.31</m:t>
                    </m:r>
                  </m:oMath>
                </a14:m>
                <a:r>
                  <a:rPr lang="en-AU" sz="2200" dirty="0"/>
                  <a:t>m</a:t>
                </a:r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CBE8657-5DD7-4B67-9547-E820CDC149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2099" y="3789040"/>
                <a:ext cx="2239011" cy="2502160"/>
              </a:xfrm>
              <a:prstGeom prst="rect">
                <a:avLst/>
              </a:prstGeom>
              <a:blipFill>
                <a:blip r:embed="rId4"/>
                <a:stretch>
                  <a:fillRect b="-41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7334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464780-D9B7-40B5-BBD4-6ED7F0C3D66C}"/>
              </a:ext>
            </a:extLst>
          </p:cNvPr>
          <p:cNvSpPr txBox="1"/>
          <p:nvPr/>
        </p:nvSpPr>
        <p:spPr>
          <a:xfrm>
            <a:off x="1968617" y="290414"/>
            <a:ext cx="10361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We Do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CD54C4-E0FC-4EC8-AF29-81FD9BCB05E5}"/>
              </a:ext>
            </a:extLst>
          </p:cNvPr>
          <p:cNvSpPr txBox="1"/>
          <p:nvPr/>
        </p:nvSpPr>
        <p:spPr>
          <a:xfrm>
            <a:off x="2063552" y="980729"/>
            <a:ext cx="76328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 kite is flying on a string that is 35m long. Its horizontal distance from its anchor point is 17m.</a:t>
            </a:r>
          </a:p>
          <a:p>
            <a:r>
              <a:rPr lang="en-AU" sz="2400" dirty="0"/>
              <a:t>How high is the kite flying?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184E7BF-1736-4B1C-B6B1-8F96D9CBF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252" y="2276873"/>
            <a:ext cx="1872208" cy="160000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148C29-0F45-42C3-BE98-E79E8EF61AC2}"/>
                  </a:ext>
                </a:extLst>
              </p:cNvPr>
              <p:cNvSpPr txBox="1"/>
              <p:nvPr/>
            </p:nvSpPr>
            <p:spPr>
              <a:xfrm>
                <a:off x="4765252" y="4293097"/>
                <a:ext cx="2459328" cy="22595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i="1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35</m:t>
                          </m:r>
                        </m:e>
                        <m:sup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i="1">
                          <a:latin typeface="Cambria Math" panose="02040503050406030204" pitchFamily="18" charset="0"/>
                        </a:rPr>
                        <m:t> − </m:t>
                      </m:r>
                      <m:sSup>
                        <m:sSup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17</m:t>
                          </m:r>
                        </m:e>
                        <m:sup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i="1">
                          <a:latin typeface="Cambria Math" panose="02040503050406030204" pitchFamily="18" charset="0"/>
                        </a:rPr>
                        <m:t>=1225 −289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i="1">
                          <a:latin typeface="Cambria Math" panose="02040503050406030204" pitchFamily="18" charset="0"/>
                        </a:rPr>
                        <m:t>=936</m:t>
                      </m:r>
                    </m:oMath>
                    <m:oMath xmlns:m="http://schemas.openxmlformats.org/officeDocument/2006/math">
                      <m:r>
                        <a:rPr lang="en-AU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936</m:t>
                          </m:r>
                        </m:e>
                      </m:rad>
                    </m:oMath>
                  </m:oMathPara>
                </a14:m>
                <a:br>
                  <a:rPr lang="en-AU" sz="2400" dirty="0"/>
                </a:b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=30.59</m:t>
                    </m:r>
                  </m:oMath>
                </a14:m>
                <a:r>
                  <a:rPr lang="en-AU" sz="2400" dirty="0"/>
                  <a:t>m</a:t>
                </a:r>
              </a:p>
              <a:p>
                <a:endParaRPr lang="en-AU" sz="2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148C29-0F45-42C3-BE98-E79E8EF61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252" y="4293097"/>
                <a:ext cx="2459328" cy="2259529"/>
              </a:xfrm>
              <a:prstGeom prst="rect">
                <a:avLst/>
              </a:prstGeom>
              <a:blipFill>
                <a:blip r:embed="rId3"/>
                <a:stretch>
                  <a:fillRect l="-3226" r="-173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0508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464780-D9B7-40B5-BBD4-6ED7F0C3D66C}"/>
              </a:ext>
            </a:extLst>
          </p:cNvPr>
          <p:cNvSpPr txBox="1"/>
          <p:nvPr/>
        </p:nvSpPr>
        <p:spPr>
          <a:xfrm>
            <a:off x="1968616" y="290414"/>
            <a:ext cx="1078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You Do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309F1F-229C-4D47-818F-A61F98293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803" y="5013176"/>
            <a:ext cx="5385475" cy="17206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8B9A74-C73F-4DF7-993B-E2FB80C40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802" y="728405"/>
            <a:ext cx="7715582" cy="441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76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464780-D9B7-40B5-BBD4-6ED7F0C3D66C}"/>
              </a:ext>
            </a:extLst>
          </p:cNvPr>
          <p:cNvSpPr txBox="1"/>
          <p:nvPr/>
        </p:nvSpPr>
        <p:spPr>
          <a:xfrm>
            <a:off x="244015" y="0"/>
            <a:ext cx="1429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Extension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25632B-2511-4A01-94E7-DBA12C8CA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98598"/>
            <a:ext cx="6816986" cy="33304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07DC93-228F-49AF-988A-4C3D101E9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7" y="3610533"/>
            <a:ext cx="3960440" cy="31900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F2DBEB-BDE0-4520-8AC1-D5385336B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894" y="3758528"/>
            <a:ext cx="2192505" cy="25081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E2553E-1302-45B4-8EB5-5E68084F1B37}"/>
              </a:ext>
            </a:extLst>
          </p:cNvPr>
          <p:cNvSpPr txBox="1"/>
          <p:nvPr/>
        </p:nvSpPr>
        <p:spPr>
          <a:xfrm>
            <a:off x="8653668" y="4911172"/>
            <a:ext cx="26636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Don’t forget your summary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88BA15-E538-4A68-B180-1C42EF6A0C28}"/>
              </a:ext>
            </a:extLst>
          </p:cNvPr>
          <p:cNvSpPr/>
          <p:nvPr/>
        </p:nvSpPr>
        <p:spPr>
          <a:xfrm>
            <a:off x="7991060" y="764676"/>
            <a:ext cx="3988905" cy="37339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A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Complete questions exercises 7.4 and 7.5 from page 93 and 94.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AU" sz="2400" dirty="0"/>
              <a:t>Have a look at the competition questions (ex 7.10) on page 97 and do the chapter reviews 1 &amp; 2 pages 101 and 102 in the Dwyer text.</a:t>
            </a:r>
            <a:endParaRPr lang="en-A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910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316</Words>
  <Application>Microsoft Office PowerPoint</Application>
  <PresentationFormat>Widescreen</PresentationFormat>
  <Paragraphs>42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Kiwi School Handwriting</vt:lpstr>
      <vt:lpstr>Symbol</vt:lpstr>
      <vt:lpstr>Office Theme</vt:lpstr>
      <vt:lpstr>Warm Up (LHS)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Warm Up (LHS)</dc:title>
  <dc:creator>MCALLISTER Robert [Baldivis Secondary College]</dc:creator>
  <cp:lastModifiedBy>MCALLISTER Robert [Baldivis Secondary College]</cp:lastModifiedBy>
  <cp:revision>2</cp:revision>
  <dcterms:created xsi:type="dcterms:W3CDTF">2020-03-31T02:48:28Z</dcterms:created>
  <dcterms:modified xsi:type="dcterms:W3CDTF">2020-03-31T03:25:44Z</dcterms:modified>
</cp:coreProperties>
</file>
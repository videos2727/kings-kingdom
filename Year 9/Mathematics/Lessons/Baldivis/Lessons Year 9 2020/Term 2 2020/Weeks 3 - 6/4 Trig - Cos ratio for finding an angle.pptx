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8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66"/>
  </p:normalViewPr>
  <p:slideViewPr>
    <p:cSldViewPr snapToGrid="0" snapToObjects="1">
      <p:cViewPr varScale="1">
        <p:scale>
          <a:sx n="72" d="100"/>
          <a:sy n="72" d="100"/>
        </p:scale>
        <p:origin x="9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B639-7FA9-984F-A3BF-52CBBF76F396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06369-8B8D-254C-B3D4-D5C49C9464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36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1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2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98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1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29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35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59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83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0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4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30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5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86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21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0104-5C0E-B542-A8C5-DDE0F18B45EB}" type="datetimeFigureOut">
              <a:rPr lang="en-AU" smtClean="0"/>
              <a:t>9/04/2020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98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Trigonometry – The Cosine Ratio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498" y="3602038"/>
            <a:ext cx="9410276" cy="1655762"/>
          </a:xfrm>
        </p:spPr>
        <p:txBody>
          <a:bodyPr/>
          <a:lstStyle/>
          <a:p>
            <a:r>
              <a:rPr lang="en-GB" altLang="en-US" dirty="0"/>
              <a:t>EQ: What is the cosine ratio and how can I apply it to right angled triangle?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00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Why use Trig?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cosine ratio and how can I apply it to right angled triangle?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A2DBA09D-F10A-4784-872C-0FC6D6E8EFF3}"/>
              </a:ext>
            </a:extLst>
          </p:cNvPr>
          <p:cNvSpPr txBox="1">
            <a:spLocks noChangeArrowheads="1"/>
          </p:cNvSpPr>
          <p:nvPr/>
        </p:nvSpPr>
        <p:spPr>
          <a:xfrm>
            <a:off x="2744883" y="1738377"/>
            <a:ext cx="5016883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latin typeface="+mn-lt"/>
              </a:rPr>
              <a:t>Real life applications of trigonometry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FBCC02C-ABE4-4982-9A40-46360ED12FA1}"/>
              </a:ext>
            </a:extLst>
          </p:cNvPr>
          <p:cNvSpPr txBox="1">
            <a:spLocks noChangeArrowheads="1"/>
          </p:cNvSpPr>
          <p:nvPr/>
        </p:nvSpPr>
        <p:spPr>
          <a:xfrm>
            <a:off x="2360849" y="2994634"/>
            <a:ext cx="7924800" cy="10836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Wingdings" panose="05000000000000000000" pitchFamily="2" charset="2"/>
              <a:buAutoNum type="arabicPeriod"/>
            </a:pPr>
            <a:r>
              <a:rPr lang="en-US" altLang="en-US"/>
              <a:t>Shipping companies use trigonometry to navigate the seas.</a:t>
            </a:r>
            <a:endParaRPr lang="en-US" altLang="en-US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9DA4A9E9-8E1D-47EE-ADDB-242DB02CB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936" y="3775358"/>
            <a:ext cx="7302500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465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close up of a book&#10;&#10;Description automatically generated">
            <a:extLst>
              <a:ext uri="{FF2B5EF4-FFF2-40B4-BE49-F238E27FC236}">
                <a16:creationId xmlns:a16="http://schemas.microsoft.com/office/drawing/2014/main" id="{8D15675D-3557-4668-A82E-C8E49C3AF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91" y="1335157"/>
            <a:ext cx="10520740" cy="338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385224-AD11-4022-94FD-1BBA5C31A8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47" t="3352" r="2336" b="2116"/>
          <a:stretch/>
        </p:blipFill>
        <p:spPr>
          <a:xfrm>
            <a:off x="577502" y="2837956"/>
            <a:ext cx="5486397" cy="3997842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D9E16575-6E87-45B8-877E-97B80F395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283" y="1773225"/>
            <a:ext cx="4265527" cy="128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Cos Ratio?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sine ratio and how can I apply it to right angled triangle?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C9F2447-36F9-4005-BE4D-5B7ACF39EDC8}"/>
              </a:ext>
            </a:extLst>
          </p:cNvPr>
          <p:cNvSpPr txBox="1"/>
          <p:nvPr/>
        </p:nvSpPr>
        <p:spPr>
          <a:xfrm>
            <a:off x="9617798" y="1749010"/>
            <a:ext cx="144731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Adjacent side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FF8B74-278B-42CE-ADED-009ACE667FC3}"/>
              </a:ext>
            </a:extLst>
          </p:cNvPr>
          <p:cNvSpPr txBox="1"/>
          <p:nvPr/>
        </p:nvSpPr>
        <p:spPr>
          <a:xfrm>
            <a:off x="9682593" y="2837956"/>
            <a:ext cx="174829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Hypotenuse side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D20760-EA17-49A7-AAA6-6FBF09F0B623}"/>
              </a:ext>
            </a:extLst>
          </p:cNvPr>
          <p:cNvSpPr txBox="1"/>
          <p:nvPr/>
        </p:nvSpPr>
        <p:spPr>
          <a:xfrm>
            <a:off x="5839811" y="4078331"/>
            <a:ext cx="1617751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Cosine of angle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20DA95-147B-4A05-A75E-3F068C2B8CFF}"/>
              </a:ext>
            </a:extLst>
          </p:cNvPr>
          <p:cNvCxnSpPr>
            <a:cxnSpLocks/>
          </p:cNvCxnSpPr>
          <p:nvPr/>
        </p:nvCxnSpPr>
        <p:spPr>
          <a:xfrm flipH="1" flipV="1">
            <a:off x="5241851" y="2648099"/>
            <a:ext cx="780958" cy="143023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1128EF4-95DA-4FEA-A72B-197617424F2F}"/>
              </a:ext>
            </a:extLst>
          </p:cNvPr>
          <p:cNvCxnSpPr>
            <a:cxnSpLocks/>
          </p:cNvCxnSpPr>
          <p:nvPr/>
        </p:nvCxnSpPr>
        <p:spPr>
          <a:xfrm flipH="1">
            <a:off x="8442251" y="1985017"/>
            <a:ext cx="1175547" cy="10524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ABDC76-BF34-4127-85B5-F6111631466C}"/>
              </a:ext>
            </a:extLst>
          </p:cNvPr>
          <p:cNvCxnSpPr>
            <a:cxnSpLocks/>
          </p:cNvCxnSpPr>
          <p:nvPr/>
        </p:nvCxnSpPr>
        <p:spPr>
          <a:xfrm flipH="1" flipV="1">
            <a:off x="8718698" y="2777514"/>
            <a:ext cx="963897" cy="24511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B4D3B2-0C31-4F6E-9E1A-BF9E38E7724D}"/>
                  </a:ext>
                </a:extLst>
              </p:cNvPr>
              <p:cNvSpPr txBox="1"/>
              <p:nvPr/>
            </p:nvSpPr>
            <p:spPr>
              <a:xfrm>
                <a:off x="8016949" y="4976037"/>
                <a:ext cx="2930418" cy="938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This is generally shortened to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𝑨𝒅𝒋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𝑯𝒚𝒑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3B4D3B2-0C31-4F6E-9E1A-BF9E38E77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949" y="4976037"/>
                <a:ext cx="2930418" cy="938270"/>
              </a:xfrm>
              <a:prstGeom prst="rect">
                <a:avLst/>
              </a:prstGeom>
              <a:blipFill>
                <a:blip r:embed="rId5"/>
                <a:stretch>
                  <a:fillRect l="-1663" t="-3247" r="-10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7DC67CB-BB3D-4541-B4D1-53923ED2A3F9}"/>
              </a:ext>
            </a:extLst>
          </p:cNvPr>
          <p:cNvCxnSpPr>
            <a:cxnSpLocks/>
          </p:cNvCxnSpPr>
          <p:nvPr/>
        </p:nvCxnSpPr>
        <p:spPr>
          <a:xfrm>
            <a:off x="7720082" y="3061588"/>
            <a:ext cx="1396596" cy="191444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63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Cos Ratio and now how do I use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cosine ratio and how can I apply it to right angled triangle?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3" name="Picture 2">
            <a:extLst>
              <a:ext uri="{FF2B5EF4-FFF2-40B4-BE49-F238E27FC236}">
                <a16:creationId xmlns:a16="http://schemas.microsoft.com/office/drawing/2014/main" id="{141E3782-87F2-404D-A5DB-1574FBE46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970" y="1628775"/>
            <a:ext cx="10134942" cy="4665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945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61D89C7-3B4B-488A-AA7E-2DDC15B80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114" y="2797057"/>
            <a:ext cx="1629438" cy="1629438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Cos Ratio and now how do I use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dirty="0"/>
              <a:t>EQ: What is the cosine ratio and how can I apply it to right angled triangle?</a:t>
            </a:r>
            <a:endParaRPr lang="en-US" alt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1E997E-B509-4499-8C63-3CE630289B90}"/>
              </a:ext>
            </a:extLst>
          </p:cNvPr>
          <p:cNvSpPr txBox="1"/>
          <p:nvPr/>
        </p:nvSpPr>
        <p:spPr>
          <a:xfrm>
            <a:off x="2220601" y="1486320"/>
            <a:ext cx="4862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baseline="30000" dirty="0"/>
              <a:t>nd</a:t>
            </a:r>
            <a:r>
              <a:rPr lang="en-AU" dirty="0"/>
              <a:t> example</a:t>
            </a:r>
          </a:p>
          <a:p>
            <a:r>
              <a:rPr lang="en-AU" dirty="0"/>
              <a:t>For the example below find the size of the angle </a:t>
            </a:r>
            <a:r>
              <a:rPr lang="en-AU" dirty="0">
                <a:sym typeface="Symbol" panose="05050102010706020507" pitchFamily="18" charset="2"/>
              </a:rPr>
              <a:t>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A7031-5FC8-411F-BAAE-C9DEA23B5117}"/>
              </a:ext>
            </a:extLst>
          </p:cNvPr>
          <p:cNvSpPr txBox="1"/>
          <p:nvPr/>
        </p:nvSpPr>
        <p:spPr>
          <a:xfrm>
            <a:off x="3571775" y="4617212"/>
            <a:ext cx="55496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err="1"/>
              <a:t>Hyp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0E8E3A-AD54-4BD1-BD46-2C237A9FE27A}"/>
              </a:ext>
            </a:extLst>
          </p:cNvPr>
          <p:cNvSpPr txBox="1"/>
          <p:nvPr/>
        </p:nvSpPr>
        <p:spPr>
          <a:xfrm>
            <a:off x="4884971" y="2237754"/>
            <a:ext cx="494046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Adj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A7E9B-EA61-4B32-95F2-B84EAE059F53}"/>
              </a:ext>
            </a:extLst>
          </p:cNvPr>
          <p:cNvSpPr txBox="1"/>
          <p:nvPr/>
        </p:nvSpPr>
        <p:spPr>
          <a:xfrm>
            <a:off x="5179221" y="3881583"/>
            <a:ext cx="886781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Angle </a:t>
            </a:r>
            <a:r>
              <a:rPr lang="en-AU" dirty="0">
                <a:sym typeface="Symbol" panose="05050102010706020507" pitchFamily="18" charset="2"/>
              </a:rPr>
              <a:t></a:t>
            </a:r>
            <a:endParaRPr lang="en-AU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9DFB85-F90F-46A4-BADF-3E7F894C4607}"/>
              </a:ext>
            </a:extLst>
          </p:cNvPr>
          <p:cNvCxnSpPr>
            <a:cxnSpLocks/>
          </p:cNvCxnSpPr>
          <p:nvPr/>
        </p:nvCxnSpPr>
        <p:spPr>
          <a:xfrm flipV="1">
            <a:off x="3934047" y="3841575"/>
            <a:ext cx="571900" cy="77489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10C819-0CE9-4811-A8AA-DFD1F3E91A74}"/>
              </a:ext>
            </a:extLst>
          </p:cNvPr>
          <p:cNvCxnSpPr>
            <a:cxnSpLocks/>
          </p:cNvCxnSpPr>
          <p:nvPr/>
        </p:nvCxnSpPr>
        <p:spPr>
          <a:xfrm flipH="1">
            <a:off x="4410089" y="2619985"/>
            <a:ext cx="484022" cy="1770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600230-9A46-4B88-BBB0-AA2570F5AD1A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4731404" y="3284391"/>
            <a:ext cx="891208" cy="59719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54230-95ED-4868-882E-359190F0EC71}"/>
                  </a:ext>
                </a:extLst>
              </p:cNvPr>
              <p:cNvSpPr txBox="1"/>
              <p:nvPr/>
            </p:nvSpPr>
            <p:spPr>
              <a:xfrm>
                <a:off x="6405942" y="2249438"/>
                <a:ext cx="1896801" cy="22423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360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𝑨𝒅𝒋</m:t>
                          </m:r>
                        </m:num>
                        <m:den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𝒉𝒚𝒑</m:t>
                          </m:r>
                        </m:den>
                      </m:f>
                    </m:oMath>
                  </m:oMathPara>
                </a14:m>
                <a:endParaRPr lang="en-AU" b="1" dirty="0">
                  <a:ea typeface="Cambria Math" panose="02040503050406030204" pitchFamily="18" charset="0"/>
                </a:endParaRPr>
              </a:p>
              <a:p>
                <a:r>
                  <a:rPr lang="en-AU" b="1" dirty="0"/>
                  <a:t>             </a:t>
                </a:r>
                <a14:m>
                  <m:oMath xmlns:m="http://schemas.openxmlformats.org/officeDocument/2006/math">
                    <m:r>
                      <a:rPr lang="en-AU" b="1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endParaRPr lang="en-AU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                =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</m:e>
                        <m:sup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</m:num>
                            <m:den>
                              <m:r>
                                <a:rPr lang="en-AU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𝟓𝟑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𝟏𝟑</m:t>
                      </m:r>
                      <m:r>
                        <a:rPr lang="en-A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254230-95ED-4868-882E-359190F0E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942" y="2249438"/>
                <a:ext cx="1896801" cy="22423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646885-BE7D-4D5B-8F2F-45010FB6BE66}"/>
              </a:ext>
            </a:extLst>
          </p:cNvPr>
          <p:cNvCxnSpPr>
            <a:cxnSpLocks/>
          </p:cNvCxnSpPr>
          <p:nvPr/>
        </p:nvCxnSpPr>
        <p:spPr>
          <a:xfrm flipH="1" flipV="1">
            <a:off x="8005213" y="3710146"/>
            <a:ext cx="1331147" cy="23787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D877D2F-88DA-48DD-B2E7-2BA32CA7BFC2}"/>
              </a:ext>
            </a:extLst>
          </p:cNvPr>
          <p:cNvSpPr txBox="1"/>
          <p:nvPr/>
        </p:nvSpPr>
        <p:spPr>
          <a:xfrm>
            <a:off x="8369197" y="3948025"/>
            <a:ext cx="339516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This is </a:t>
            </a:r>
            <a:r>
              <a:rPr lang="en-AU" dirty="0">
                <a:sym typeface="Symbol" panose="05050102010706020507" pitchFamily="18" charset="2"/>
              </a:rPr>
              <a:t> =</a:t>
            </a:r>
            <a:r>
              <a:rPr lang="en-AU" dirty="0"/>
              <a:t> Shift or 2</a:t>
            </a:r>
            <a:r>
              <a:rPr lang="en-AU" baseline="30000" dirty="0"/>
              <a:t>nd</a:t>
            </a:r>
            <a:r>
              <a:rPr lang="en-AU" dirty="0"/>
              <a:t>F cos</a:t>
            </a:r>
            <a:r>
              <a:rPr lang="en-AU" baseline="30000" dirty="0"/>
              <a:t>-1</a:t>
            </a:r>
            <a:r>
              <a:rPr lang="en-AU" dirty="0"/>
              <a:t> (6/10)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290689-3B1F-4D10-85B5-B07BCEE6D6C9}"/>
              </a:ext>
            </a:extLst>
          </p:cNvPr>
          <p:cNvSpPr txBox="1"/>
          <p:nvPr/>
        </p:nvSpPr>
        <p:spPr>
          <a:xfrm>
            <a:off x="7689915" y="5224067"/>
            <a:ext cx="4165382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Note: we </a:t>
            </a:r>
            <a:r>
              <a:rPr lang="en-AU" b="1" dirty="0">
                <a:solidFill>
                  <a:srgbClr val="FF0000"/>
                </a:solidFill>
              </a:rPr>
              <a:t>still use (6/10) </a:t>
            </a:r>
            <a:r>
              <a:rPr lang="en-AU" dirty="0"/>
              <a:t>instead of 0.6 because even though 0.6 is exact it is better to keep to a pattern, some fractions (as we have seen) will give approximations when left as a decimal.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E8784A-6A88-485C-9C48-059FAE810E49}"/>
              </a:ext>
            </a:extLst>
          </p:cNvPr>
          <p:cNvCxnSpPr>
            <a:cxnSpLocks/>
          </p:cNvCxnSpPr>
          <p:nvPr/>
        </p:nvCxnSpPr>
        <p:spPr>
          <a:xfrm flipH="1" flipV="1">
            <a:off x="8005213" y="4132691"/>
            <a:ext cx="509768" cy="107996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27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3DF2D-3A59-4F08-945F-43AB1F1388E4}"/>
              </a:ext>
            </a:extLst>
          </p:cNvPr>
          <p:cNvSpPr/>
          <p:nvPr/>
        </p:nvSpPr>
        <p:spPr>
          <a:xfrm>
            <a:off x="145774" y="159500"/>
            <a:ext cx="11887199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dirty="0"/>
              <a:t>Now complete exercise 17.4  page 233 in the  Dwyer Textbook Q1-6, see below and the worksheet 4a Trig – Cos ratio for finding an angle.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b="1" dirty="0"/>
              <a:t>Please draw and label each triangle from the text to your Interactive Notebook.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BB91DC-E9AF-4047-9EC9-47A0322A8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11" y="2422966"/>
            <a:ext cx="8587823" cy="434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8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579894-D2E7-4212-BACF-263EB98EEF13}"/>
              </a:ext>
            </a:extLst>
          </p:cNvPr>
          <p:cNvSpPr txBox="1"/>
          <p:nvPr/>
        </p:nvSpPr>
        <p:spPr>
          <a:xfrm>
            <a:off x="3242930" y="1073888"/>
            <a:ext cx="194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Answers to Ex 17.4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596E5-FCBF-4EE8-B65F-F4DC5158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2192199"/>
            <a:ext cx="81915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9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77DE0A-D976-4432-9D40-BA769AA5E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53" y="0"/>
            <a:ext cx="5056517" cy="693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21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A6A1E-B9E4-4143-A775-B3EB5A42FA43}"/>
              </a:ext>
            </a:extLst>
          </p:cNvPr>
          <p:cNvSpPr txBox="1"/>
          <p:nvPr/>
        </p:nvSpPr>
        <p:spPr>
          <a:xfrm>
            <a:off x="1563757" y="2160104"/>
            <a:ext cx="1585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Answers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62361-1A1C-487A-B56E-08D89080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602" y="0"/>
            <a:ext cx="4772024" cy="687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7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328</Words>
  <Application>Microsoft Office PowerPoint</Application>
  <PresentationFormat>Widescreen</PresentationFormat>
  <Paragraphs>56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Kiwi School Handwriting</vt:lpstr>
      <vt:lpstr>Wingdings</vt:lpstr>
      <vt:lpstr>Office Theme</vt:lpstr>
      <vt:lpstr>Trigonometry – The Cosine Ratio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– The Sine Ratio</dc:title>
  <dc:creator>MCALLISTER Robert [Baldivis Secondary College]</dc:creator>
  <cp:lastModifiedBy>MCALLISTER Robert [Baldivis Secondary College]</cp:lastModifiedBy>
  <cp:revision>9</cp:revision>
  <dcterms:created xsi:type="dcterms:W3CDTF">2020-04-09T04:10:42Z</dcterms:created>
  <dcterms:modified xsi:type="dcterms:W3CDTF">2020-04-09T06:27:20Z</dcterms:modified>
</cp:coreProperties>
</file>
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6"/>
  </p:normalViewPr>
  <p:slideViewPr>
    <p:cSldViewPr snapToGrid="0" snapToObjects="1">
      <p:cViewPr varScale="1">
        <p:scale>
          <a:sx n="72" d="100"/>
          <a:sy n="72" d="100"/>
        </p:scale>
        <p:origin x="9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B639-7FA9-984F-A3BF-52CBBF76F396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06369-8B8D-254C-B3D4-D5C49C9464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36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29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35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59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83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0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4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30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5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86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21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98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Trigonometry – The Sine Ratio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498" y="3602038"/>
            <a:ext cx="9410276" cy="1655762"/>
          </a:xfrm>
        </p:spPr>
        <p:txBody>
          <a:bodyPr/>
          <a:lstStyle/>
          <a:p>
            <a:r>
              <a:rPr lang="en-GB" altLang="en-US" dirty="0"/>
              <a:t>EQ: How do I find missing side lengths using the sine ratio?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00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66EC4-2928-4527-8D0B-5DCBB6A13076}"/>
              </a:ext>
            </a:extLst>
          </p:cNvPr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1AD8C-666C-4698-9F26-854E3788583B}"/>
              </a:ext>
            </a:extLst>
          </p:cNvPr>
          <p:cNvSpPr txBox="1"/>
          <p:nvPr/>
        </p:nvSpPr>
        <p:spPr>
          <a:xfrm>
            <a:off x="592821" y="123165"/>
            <a:ext cx="1892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/>
              <a:t>Sine Ratio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5969B0C-5151-4AC1-9627-D210519D1809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F83B0-1D9C-4731-8CB8-4C7934D0262C}"/>
              </a:ext>
            </a:extLst>
          </p:cNvPr>
          <p:cNvSpPr txBox="1"/>
          <p:nvPr/>
        </p:nvSpPr>
        <p:spPr>
          <a:xfrm rot="16200000">
            <a:off x="-104703" y="32031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AD338-B5CE-4FCE-9CA3-2B1881C7B67F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289B3-D744-4F71-A189-47670B2F8517}"/>
              </a:ext>
            </a:extLst>
          </p:cNvPr>
          <p:cNvSpPr txBox="1"/>
          <p:nvPr/>
        </p:nvSpPr>
        <p:spPr>
          <a:xfrm>
            <a:off x="5701688" y="4973217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/>
              <a:t>ϴ</a:t>
            </a:r>
            <a:endParaRPr lang="en-GB" sz="4400" baseline="30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EFA53-A805-4249-B28B-53FF00CD2AEB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2CC014-39C5-44BF-9788-EEAC07D3E72A}"/>
              </a:ext>
            </a:extLst>
          </p:cNvPr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5FD65-64A0-46B4-83BB-80F4521BE27A}"/>
              </a:ext>
            </a:extLst>
          </p:cNvPr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8DCEFF-B4D5-4BEB-BA8A-B9603824733F}"/>
              </a:ext>
            </a:extLst>
          </p:cNvPr>
          <p:cNvSpPr txBox="1"/>
          <p:nvPr/>
        </p:nvSpPr>
        <p:spPr>
          <a:xfrm>
            <a:off x="592821" y="860369"/>
            <a:ext cx="538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find missing side lengths using Sine Ratio?</a:t>
            </a:r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6D41FA-01F9-4691-B4B6-5AD4659AE7B7}"/>
              </a:ext>
            </a:extLst>
          </p:cNvPr>
          <p:cNvSpPr txBox="1"/>
          <p:nvPr/>
        </p:nvSpPr>
        <p:spPr>
          <a:xfrm>
            <a:off x="7327392" y="1926336"/>
            <a:ext cx="44013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Sine Ratio is used when you have the Hypotenuse and Opposite sides on a right angle triangle. </a:t>
            </a:r>
          </a:p>
          <a:p>
            <a:endParaRPr lang="en-AU" dirty="0"/>
          </a:p>
          <a:p>
            <a:r>
              <a:rPr lang="en-AU" dirty="0"/>
              <a:t>Remember- the hypotenuse is the longest side on the triangle, and is always opposite from the right angle.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723207-C442-488F-8ACC-90C39AA2FB3E}"/>
                  </a:ext>
                </a:extLst>
              </p:cNvPr>
              <p:cNvSpPr txBox="1"/>
              <p:nvPr/>
            </p:nvSpPr>
            <p:spPr>
              <a:xfrm>
                <a:off x="7522465" y="4718304"/>
                <a:ext cx="4206240" cy="1634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Sine of any angle (</a:t>
                </a:r>
                <a:r>
                  <a:rPr lang="el-GR" dirty="0"/>
                  <a:t>ϴ</a:t>
                </a:r>
                <a:r>
                  <a:rPr lang="en-AU" dirty="0"/>
                  <a:t>) always is equal to Opposite divided by Hypotenuse</a:t>
                </a:r>
              </a:p>
              <a:p>
                <a:endParaRPr lang="en-AU" dirty="0"/>
              </a:p>
              <a:p>
                <a:r>
                  <a:rPr lang="en-AU" dirty="0"/>
                  <a:t>=&gt; Sin(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𝐻𝑦𝑝𝑜𝑡𝑒𝑛𝑢𝑠𝑒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𝑂𝑝𝑝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𝐻𝑦𝑝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723207-C442-488F-8ACC-90C39AA2F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465" y="4718304"/>
                <a:ext cx="4206240" cy="1634230"/>
              </a:xfrm>
              <a:prstGeom prst="rect">
                <a:avLst/>
              </a:prstGeom>
              <a:blipFill>
                <a:blip r:embed="rId2"/>
                <a:stretch>
                  <a:fillRect l="-1159" t="-18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16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18AB5C-B343-412A-97F8-E78841AF0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Sin- Variable above the number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721D5674-C239-4A40-8CB1-A3C4A1D98D3C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CD789-078F-46BA-8B5D-8CE573F3C66B}"/>
              </a:ext>
            </a:extLst>
          </p:cNvPr>
          <p:cNvSpPr txBox="1"/>
          <p:nvPr/>
        </p:nvSpPr>
        <p:spPr>
          <a:xfrm rot="16200000">
            <a:off x="451187" y="3203142"/>
            <a:ext cx="9605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Y 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3BA743-2060-4B54-B836-694D4A122D83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5F28C-8FB5-46C9-899F-6E105BC423DF}"/>
              </a:ext>
            </a:extLst>
          </p:cNvPr>
          <p:cNvSpPr txBox="1"/>
          <p:nvPr/>
        </p:nvSpPr>
        <p:spPr>
          <a:xfrm>
            <a:off x="5274968" y="4973217"/>
            <a:ext cx="954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40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1C7C8-B3CD-421A-B9E1-E262F155C1CB}"/>
              </a:ext>
            </a:extLst>
          </p:cNvPr>
          <p:cNvSpPr txBox="1"/>
          <p:nvPr/>
        </p:nvSpPr>
        <p:spPr>
          <a:xfrm rot="2190158">
            <a:off x="3459804" y="2592279"/>
            <a:ext cx="11144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12m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D120A-663A-444A-AD30-58B55198E48A}"/>
              </a:ext>
            </a:extLst>
          </p:cNvPr>
          <p:cNvSpPr txBox="1"/>
          <p:nvPr/>
        </p:nvSpPr>
        <p:spPr>
          <a:xfrm>
            <a:off x="6508911" y="1580981"/>
            <a:ext cx="4584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  <a:p>
            <a:r>
              <a:rPr lang="en-AU" dirty="0"/>
              <a:t>2- Write the equation as </a:t>
            </a:r>
            <a:r>
              <a:rPr lang="en-AU" b="1" dirty="0"/>
              <a:t>Sin(40) = y/12 </a:t>
            </a:r>
            <a:r>
              <a:rPr lang="en-AU" dirty="0"/>
              <a:t>– </a:t>
            </a:r>
            <a:r>
              <a:rPr lang="en-AU" i="1" dirty="0"/>
              <a:t>y is the opposite length and 12 is the hypotenuse length. </a:t>
            </a:r>
          </a:p>
          <a:p>
            <a:r>
              <a:rPr lang="en-AU" dirty="0"/>
              <a:t>3- Because the 12 is below the y, we multiply both side by 12 to isolate y. </a:t>
            </a:r>
          </a:p>
          <a:p>
            <a:r>
              <a:rPr lang="en-AU" dirty="0"/>
              <a:t>4- Write the new equation as </a:t>
            </a:r>
            <a:r>
              <a:rPr lang="en-AU" b="1" dirty="0"/>
              <a:t>12xSin(40) = y</a:t>
            </a:r>
          </a:p>
          <a:p>
            <a:r>
              <a:rPr lang="en-AU" dirty="0"/>
              <a:t>5- Use your calculator to solve 12xsin(40)</a:t>
            </a:r>
          </a:p>
          <a:p>
            <a:r>
              <a:rPr lang="en-AU" dirty="0"/>
              <a:t>6- y = 7.7134</a:t>
            </a:r>
            <a:r>
              <a:rPr lang="is-IS" dirty="0"/>
              <a:t>…*round to 2 dp* -&gt; 7.71m</a:t>
            </a:r>
            <a:endParaRPr lang="en-AU" dirty="0"/>
          </a:p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57A86-0918-47E9-8180-7954B189E6E5}"/>
              </a:ext>
            </a:extLst>
          </p:cNvPr>
          <p:cNvSpPr txBox="1"/>
          <p:nvPr/>
        </p:nvSpPr>
        <p:spPr>
          <a:xfrm>
            <a:off x="4718304" y="3425952"/>
            <a:ext cx="1315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Hypotenuse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AB00CE-EE74-448B-97F9-1E9FA2ED828F}"/>
              </a:ext>
            </a:extLst>
          </p:cNvPr>
          <p:cNvSpPr txBox="1"/>
          <p:nvPr/>
        </p:nvSpPr>
        <p:spPr>
          <a:xfrm>
            <a:off x="250235" y="4084320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Opposite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91EB43-188F-4AE6-9AB6-9E59C0B795B0}"/>
              </a:ext>
            </a:extLst>
          </p:cNvPr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8B94E4-A8BE-4C74-B71A-1510C3840028}"/>
              </a:ext>
            </a:extLst>
          </p:cNvPr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E7F537C-307F-4114-859E-904BA343F8E1}"/>
              </a:ext>
            </a:extLst>
          </p:cNvPr>
          <p:cNvSpPr txBox="1"/>
          <p:nvPr/>
        </p:nvSpPr>
        <p:spPr>
          <a:xfrm>
            <a:off x="577503" y="1072429"/>
            <a:ext cx="538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find missing side lengths using Sine Ratio?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027C2F-E7B2-4D5E-A97A-EC7EB4F6C5F2}"/>
                  </a:ext>
                </a:extLst>
              </p:cNvPr>
              <p:cNvSpPr txBox="1"/>
              <p:nvPr/>
            </p:nvSpPr>
            <p:spPr>
              <a:xfrm>
                <a:off x="7464056" y="4497717"/>
                <a:ext cx="1972015" cy="1963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𝑂𝑝𝑝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𝐻𝑦𝑝</m:t>
                          </m:r>
                        </m:den>
                      </m:f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⁡(40)=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=12×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=7.7134…</m:t>
                      </m:r>
                    </m:oMath>
                  </m:oMathPara>
                </a14:m>
                <a:br>
                  <a:rPr lang="en-AU" b="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=7.71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/>
                  <a:t> to 2dp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027C2F-E7B2-4D5E-A97A-EC7EB4F6C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056" y="4497717"/>
                <a:ext cx="1972015" cy="1963551"/>
              </a:xfrm>
              <a:prstGeom prst="rect">
                <a:avLst/>
              </a:prstGeom>
              <a:blipFill>
                <a:blip r:embed="rId2"/>
                <a:stretch>
                  <a:fillRect b="-40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CA8D4F8-CEE5-47B9-8F74-7CD57E1631C5}"/>
              </a:ext>
            </a:extLst>
          </p:cNvPr>
          <p:cNvSpPr txBox="1"/>
          <p:nvPr/>
        </p:nvSpPr>
        <p:spPr>
          <a:xfrm>
            <a:off x="10163605" y="4746740"/>
            <a:ext cx="1637414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Cross multiply the 12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887AAC-6D30-4117-95E7-D67D6594AA79}"/>
              </a:ext>
            </a:extLst>
          </p:cNvPr>
          <p:cNvCxnSpPr>
            <a:cxnSpLocks/>
          </p:cNvCxnSpPr>
          <p:nvPr/>
        </p:nvCxnSpPr>
        <p:spPr>
          <a:xfrm flipH="1">
            <a:off x="9436071" y="5369609"/>
            <a:ext cx="769501" cy="32689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6E6598-424C-4E66-B536-F4F61D45B7DF}"/>
              </a:ext>
            </a:extLst>
          </p:cNvPr>
          <p:cNvCxnSpPr>
            <a:cxnSpLocks/>
          </p:cNvCxnSpPr>
          <p:nvPr/>
        </p:nvCxnSpPr>
        <p:spPr>
          <a:xfrm flipH="1" flipV="1">
            <a:off x="8929077" y="5315195"/>
            <a:ext cx="1234528" cy="5441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47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AFA3B4AA-4DA0-4F01-9B45-030AF417130E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6ADA1-528B-4605-AFFA-44DD71C214BF}"/>
              </a:ext>
            </a:extLst>
          </p:cNvPr>
          <p:cNvSpPr txBox="1"/>
          <p:nvPr/>
        </p:nvSpPr>
        <p:spPr>
          <a:xfrm rot="16200000">
            <a:off x="316535" y="3203142"/>
            <a:ext cx="1229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10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C44C9-775A-4720-BE4C-39541CA74FF9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98D76-C190-4268-9CF9-018F05D56D7A}"/>
              </a:ext>
            </a:extLst>
          </p:cNvPr>
          <p:cNvSpPr txBox="1"/>
          <p:nvPr/>
        </p:nvSpPr>
        <p:spPr>
          <a:xfrm>
            <a:off x="5274968" y="4973217"/>
            <a:ext cx="954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35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B47F45-4073-424B-BE7D-96BDD9C9C19A}"/>
              </a:ext>
            </a:extLst>
          </p:cNvPr>
          <p:cNvSpPr txBox="1"/>
          <p:nvPr/>
        </p:nvSpPr>
        <p:spPr>
          <a:xfrm rot="2190158">
            <a:off x="3541557" y="2592279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Z 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A6A59F-D9B6-4A3E-A5D2-82729287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Sin – Variable below the number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9D60A0-79C9-464B-9966-8CE859EFE2A7}"/>
              </a:ext>
            </a:extLst>
          </p:cNvPr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3BF0E1-FC7F-4A8A-A04B-0CE4187C78A1}"/>
              </a:ext>
            </a:extLst>
          </p:cNvPr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64822A1-F31A-4CDB-A28B-17F3C77BA3FD}"/>
              </a:ext>
            </a:extLst>
          </p:cNvPr>
          <p:cNvSpPr txBox="1"/>
          <p:nvPr/>
        </p:nvSpPr>
        <p:spPr>
          <a:xfrm>
            <a:off x="577503" y="1072429"/>
            <a:ext cx="538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find missing side lengths using Sine Ratio?</a:t>
            </a:r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80803-C396-4E31-9E13-615DA9856667}"/>
              </a:ext>
            </a:extLst>
          </p:cNvPr>
          <p:cNvSpPr txBox="1"/>
          <p:nvPr/>
        </p:nvSpPr>
        <p:spPr>
          <a:xfrm>
            <a:off x="4718304" y="3425952"/>
            <a:ext cx="1315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Hypotenuse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34963-2201-47EE-9548-F0529ABF9CD8}"/>
              </a:ext>
            </a:extLst>
          </p:cNvPr>
          <p:cNvSpPr txBox="1"/>
          <p:nvPr/>
        </p:nvSpPr>
        <p:spPr>
          <a:xfrm>
            <a:off x="250235" y="4084320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Opposite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87ED83-5268-4279-9D19-165144C9644C}"/>
              </a:ext>
            </a:extLst>
          </p:cNvPr>
          <p:cNvSpPr txBox="1"/>
          <p:nvPr/>
        </p:nvSpPr>
        <p:spPr>
          <a:xfrm>
            <a:off x="6748807" y="1586894"/>
            <a:ext cx="4584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1- </a:t>
            </a:r>
            <a:r>
              <a:rPr lang="en-AU" dirty="0">
                <a:solidFill>
                  <a:srgbClr val="FF0000"/>
                </a:solidFill>
              </a:rPr>
              <a:t>Label</a:t>
            </a:r>
            <a:r>
              <a:rPr lang="en-AU" dirty="0"/>
              <a:t> the sides</a:t>
            </a:r>
          </a:p>
          <a:p>
            <a:r>
              <a:rPr lang="en-AU" dirty="0"/>
              <a:t>2- Write the equation as </a:t>
            </a:r>
            <a:r>
              <a:rPr lang="en-AU" b="1" dirty="0"/>
              <a:t>Sin(35) = 10/z </a:t>
            </a:r>
            <a:r>
              <a:rPr lang="en-AU" dirty="0"/>
              <a:t>– </a:t>
            </a:r>
            <a:r>
              <a:rPr lang="en-AU" i="1" dirty="0"/>
              <a:t>z is the Hypotenuse length and 10 is the opposite length. </a:t>
            </a:r>
          </a:p>
          <a:p>
            <a:r>
              <a:rPr lang="en-AU" dirty="0"/>
              <a:t>3- Because the z is below the 10, we swap the ratio with the variable.</a:t>
            </a:r>
          </a:p>
          <a:p>
            <a:r>
              <a:rPr lang="en-AU" dirty="0"/>
              <a:t>4- Write the new equation as </a:t>
            </a:r>
            <a:r>
              <a:rPr lang="en-AU" b="1" dirty="0"/>
              <a:t>10/Sin(35) = z</a:t>
            </a:r>
          </a:p>
          <a:p>
            <a:r>
              <a:rPr lang="en-AU" dirty="0"/>
              <a:t>5- Use your calculator to solve 10/sin(35)</a:t>
            </a:r>
          </a:p>
          <a:p>
            <a:r>
              <a:rPr lang="en-AU" dirty="0"/>
              <a:t>6- z = 17.43446</a:t>
            </a:r>
            <a:r>
              <a:rPr lang="is-IS" dirty="0"/>
              <a:t>…*round to 2 dp* -&gt; 17.43m</a:t>
            </a:r>
            <a:endParaRPr lang="en-AU" dirty="0"/>
          </a:p>
          <a:p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1A96B-4D76-40B4-8609-06DE0C2C674C}"/>
              </a:ext>
            </a:extLst>
          </p:cNvPr>
          <p:cNvSpPr txBox="1"/>
          <p:nvPr/>
        </p:nvSpPr>
        <p:spPr>
          <a:xfrm>
            <a:off x="1664474" y="5818073"/>
            <a:ext cx="48598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KEY NOTES: </a:t>
            </a:r>
            <a:r>
              <a:rPr lang="en-AU" sz="2400" b="1" dirty="0">
                <a:solidFill>
                  <a:srgbClr val="FF0000"/>
                </a:solidFill>
              </a:rPr>
              <a:t>if</a:t>
            </a:r>
            <a:r>
              <a:rPr lang="en-AU" dirty="0"/>
              <a:t> Z is smaller than the number you used, you did something wrong – Z should be the biggest number because it is the hypotenuse.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6199DA-ACDC-417E-995C-B46893D29476}"/>
                  </a:ext>
                </a:extLst>
              </p:cNvPr>
              <p:cNvSpPr txBox="1"/>
              <p:nvPr/>
            </p:nvSpPr>
            <p:spPr>
              <a:xfrm>
                <a:off x="7382138" y="4376161"/>
                <a:ext cx="2041841" cy="2292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𝑂𝑝𝑝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𝐻𝑦𝑝</m:t>
                          </m:r>
                        </m:den>
                      </m:f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⁡(35)=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func>
                            <m:funcPr>
                              <m:ctrlPr>
                                <a:rPr lang="en-A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35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=17.43446…</m:t>
                      </m:r>
                    </m:oMath>
                  </m:oMathPara>
                </a14:m>
                <a:br>
                  <a:rPr lang="en-AU" b="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=17.43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/>
                  <a:t> to 2dp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6199DA-ACDC-417E-995C-B46893D29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138" y="4376161"/>
                <a:ext cx="2041841" cy="2292294"/>
              </a:xfrm>
              <a:prstGeom prst="rect">
                <a:avLst/>
              </a:prstGeom>
              <a:blipFill>
                <a:blip r:embed="rId2"/>
                <a:stretch>
                  <a:fillRect r="-1493" b="-34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7EC25A9-BA02-4083-ABB4-EB8E3670E046}"/>
              </a:ext>
            </a:extLst>
          </p:cNvPr>
          <p:cNvSpPr txBox="1"/>
          <p:nvPr/>
        </p:nvSpPr>
        <p:spPr>
          <a:xfrm>
            <a:off x="10032855" y="4886727"/>
            <a:ext cx="1637414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Cross multiply the sin(35) and the 10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0CFF83-B466-472F-BE10-832B77DCEF1C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8952615" y="5348392"/>
            <a:ext cx="1080240" cy="46166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B705E2-6631-4030-8950-1E80659672A9}"/>
              </a:ext>
            </a:extLst>
          </p:cNvPr>
          <p:cNvCxnSpPr>
            <a:cxnSpLocks/>
          </p:cNvCxnSpPr>
          <p:nvPr/>
        </p:nvCxnSpPr>
        <p:spPr>
          <a:xfrm flipH="1" flipV="1">
            <a:off x="9040903" y="5301300"/>
            <a:ext cx="1013217" cy="3013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70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013E2C-2458-470A-9DD6-895EEF17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AU" dirty="0"/>
              <a:t>Key Information: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303C06-EC64-4490-B5AC-7471293150B4}"/>
              </a:ext>
            </a:extLst>
          </p:cNvPr>
          <p:cNvSpPr txBox="1">
            <a:spLocks/>
          </p:cNvSpPr>
          <p:nvPr/>
        </p:nvSpPr>
        <p:spPr>
          <a:xfrm>
            <a:off x="913774" y="2367092"/>
            <a:ext cx="10363826" cy="34241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When the number is below the variable – Multiply both sides by the Variable. [TIMES]</a:t>
            </a:r>
          </a:p>
          <a:p>
            <a:r>
              <a:rPr lang="en-AU"/>
              <a:t>When the number is above the variable – Divide the number by (Ratio x Angle). [SWAP]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0138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432BD9-A353-4309-84A8-4A1095C8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AU" dirty="0"/>
              <a:t>Practise: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6BF8F-E29E-4172-97E8-534DA0F68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573" y="1828567"/>
            <a:ext cx="9660854" cy="502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8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B44E02-FC23-403C-8E2C-49B3B9CA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AU" dirty="0"/>
              <a:t>ANSWERS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419E1B-EEAE-4CFF-A48F-A680CAC6B4B1}"/>
              </a:ext>
            </a:extLst>
          </p:cNvPr>
          <p:cNvSpPr txBox="1">
            <a:spLocks/>
          </p:cNvSpPr>
          <p:nvPr/>
        </p:nvSpPr>
        <p:spPr>
          <a:xfrm>
            <a:off x="5396484" y="2367093"/>
            <a:ext cx="2967228" cy="37240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0"/>
              </a:spcBef>
              <a:buFontTx/>
              <a:buAutoNum type="alphaLcPeriod"/>
              <a:defRPr/>
            </a:pPr>
            <a:r>
              <a:rPr lang="en-AU" sz="2000" dirty="0"/>
              <a:t>sin(37)= t/ 70,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AU" sz="2000" dirty="0"/>
              <a:t>       70xsin(37) = t,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AU" sz="2000" dirty="0"/>
              <a:t>       </a:t>
            </a:r>
            <a:r>
              <a:rPr lang="en-AU" sz="2000" u="sng" dirty="0"/>
              <a:t>42.13cm = 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n-AU" sz="2000" u="sng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/>
              <a:buAutoNum type="alphaLcPeriod" startAt="2"/>
              <a:defRPr/>
            </a:pPr>
            <a:r>
              <a:rPr lang="en-AU" sz="2000" dirty="0"/>
              <a:t> sin(63)=b/58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AU" sz="2000" dirty="0"/>
              <a:t>       58x sin(63) = 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AU" sz="2000" dirty="0"/>
              <a:t>       </a:t>
            </a:r>
            <a:r>
              <a:rPr lang="en-AU" sz="2000" u="sng" dirty="0"/>
              <a:t>51.68 = 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n-AU" sz="2000" u="sng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AU" sz="2000" dirty="0"/>
              <a:t>c.    sin(21) = m/34.8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AU" sz="2000" dirty="0"/>
              <a:t>      34.8 x sin(21) = 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AU" sz="2000" dirty="0"/>
              <a:t>      </a:t>
            </a:r>
            <a:r>
              <a:rPr lang="en-AU" sz="2000" u="sng" dirty="0"/>
              <a:t>12.47 = 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AE08A-2DCF-434C-A9E7-0F2A1E417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4442"/>
            <a:ext cx="5396484" cy="28094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13023F-6BAB-4092-B836-158546505333}"/>
              </a:ext>
            </a:extLst>
          </p:cNvPr>
          <p:cNvSpPr txBox="1"/>
          <p:nvPr/>
        </p:nvSpPr>
        <p:spPr>
          <a:xfrm>
            <a:off x="8376530" y="2367092"/>
            <a:ext cx="290169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AU" sz="2000" dirty="0"/>
              <a:t>d.   sin(38) = r/7.5</a:t>
            </a:r>
          </a:p>
          <a:p>
            <a:pPr lvl="0">
              <a:defRPr/>
            </a:pPr>
            <a:r>
              <a:rPr lang="en-AU" sz="2000" dirty="0"/>
              <a:t>      7.5 x sin(38) = r</a:t>
            </a:r>
          </a:p>
          <a:p>
            <a:pPr lvl="0">
              <a:defRPr/>
            </a:pPr>
            <a:r>
              <a:rPr lang="en-AU" sz="2000" dirty="0"/>
              <a:t>      </a:t>
            </a:r>
            <a:r>
              <a:rPr lang="en-AU" sz="2000" u="sng" dirty="0"/>
              <a:t>4.62 = r</a:t>
            </a:r>
          </a:p>
          <a:p>
            <a:endParaRPr lang="en-AU" sz="2000" dirty="0"/>
          </a:p>
          <a:p>
            <a:r>
              <a:rPr lang="en-AU" sz="2000" dirty="0"/>
              <a:t>e. Sin64 = u/41.9</a:t>
            </a:r>
          </a:p>
          <a:p>
            <a:r>
              <a:rPr lang="en-AU" sz="2000" dirty="0"/>
              <a:t>    41.9 x sin64 = u</a:t>
            </a:r>
          </a:p>
          <a:p>
            <a:r>
              <a:rPr lang="en-AU" sz="2000" dirty="0"/>
              <a:t>    </a:t>
            </a:r>
            <a:r>
              <a:rPr lang="en-AU" sz="2000" u="sng" dirty="0"/>
              <a:t>37.66 = u</a:t>
            </a:r>
          </a:p>
          <a:p>
            <a:endParaRPr lang="en-AU" sz="2000" u="sng" dirty="0"/>
          </a:p>
          <a:p>
            <a:r>
              <a:rPr lang="en-AU" sz="2000" dirty="0"/>
              <a:t>f. Sin 48 = k/3.42</a:t>
            </a:r>
          </a:p>
          <a:p>
            <a:r>
              <a:rPr lang="en-AU" sz="2000" dirty="0"/>
              <a:t>   3.42 x sin 48 = k</a:t>
            </a:r>
          </a:p>
          <a:p>
            <a:r>
              <a:rPr lang="en-AU" sz="2000" dirty="0"/>
              <a:t>   </a:t>
            </a:r>
            <a:r>
              <a:rPr lang="en-AU" sz="2000" u="sng" dirty="0"/>
              <a:t>2.54 = k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164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3DF2D-3A59-4F08-945F-43AB1F1388E4}"/>
              </a:ext>
            </a:extLst>
          </p:cNvPr>
          <p:cNvSpPr/>
          <p:nvPr/>
        </p:nvSpPr>
        <p:spPr>
          <a:xfrm>
            <a:off x="1590261" y="1405205"/>
            <a:ext cx="911749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 dirty="0"/>
              <a:t>Now complete the worksheet (below) 4a Trig – Cos ratio for finding an angle.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 dirty="0"/>
              <a:t>Please draw and label each triangle from the text to your Interactive Notebook.</a:t>
            </a:r>
          </a:p>
        </p:txBody>
      </p:sp>
    </p:spTree>
    <p:extLst>
      <p:ext uri="{BB962C8B-B14F-4D97-AF65-F5344CB8AC3E}">
        <p14:creationId xmlns:p14="http://schemas.microsoft.com/office/powerpoint/2010/main" val="339618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618B04-3F55-482F-9D89-0A1ECCD27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684" y="-1"/>
            <a:ext cx="5548020" cy="684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2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A6A1E-B9E4-4143-A775-B3EB5A42FA43}"/>
              </a:ext>
            </a:extLst>
          </p:cNvPr>
          <p:cNvSpPr txBox="1"/>
          <p:nvPr/>
        </p:nvSpPr>
        <p:spPr>
          <a:xfrm>
            <a:off x="1563757" y="2160104"/>
            <a:ext cx="1585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Answers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B515D-6249-460E-9828-AB4506C0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035" y="0"/>
            <a:ext cx="5632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7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615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Trigonometry – The Sine Ratio</vt:lpstr>
      <vt:lpstr>PowerPoint Presentation</vt:lpstr>
      <vt:lpstr>Sin- Variable above the number</vt:lpstr>
      <vt:lpstr>Sin – Variable below the number</vt:lpstr>
      <vt:lpstr>Key Information:</vt:lpstr>
      <vt:lpstr>Practise:</vt:lpstr>
      <vt:lpstr>ANSWERS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– The Sine Ratio</dc:title>
  <dc:creator>MCALLISTER Robert [Baldivis Secondary College]</dc:creator>
  <cp:lastModifiedBy>MCALLISTER Robert [Baldivis Secondary College]</cp:lastModifiedBy>
  <cp:revision>14</cp:revision>
  <dcterms:created xsi:type="dcterms:W3CDTF">2020-04-09T04:10:42Z</dcterms:created>
  <dcterms:modified xsi:type="dcterms:W3CDTF">2020-04-09T07:14:24Z</dcterms:modified>
</cp:coreProperties>
</file>
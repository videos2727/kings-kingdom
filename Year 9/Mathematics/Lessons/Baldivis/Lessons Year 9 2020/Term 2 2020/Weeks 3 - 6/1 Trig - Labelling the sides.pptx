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71" r:id="rId7"/>
    <p:sldId id="272" r:id="rId8"/>
    <p:sldId id="273" r:id="rId9"/>
    <p:sldId id="274" r:id="rId10"/>
    <p:sldId id="27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66"/>
  </p:normalViewPr>
  <p:slideViewPr>
    <p:cSldViewPr snapToGrid="0" snapToObjects="1">
      <p:cViewPr varScale="1">
        <p:scale>
          <a:sx n="90" d="100"/>
          <a:sy n="90" d="100"/>
        </p:scale>
        <p:origin x="13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EB639-7FA9-984F-A3BF-52CBBF76F396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306369-8B8D-254C-B3D4-D5C49C9464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9360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2121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9464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52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9291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0350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9594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414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1830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7086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7849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2306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4542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6865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4212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9989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Trigonometry – Labelling sides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EQ: </a:t>
            </a:r>
            <a:r>
              <a:rPr lang="en-AU" sz="2399" dirty="0"/>
              <a:t>How do we label the triangle sides for working with Trig Ratios?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0005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Trigonometry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985015"/>
            <a:ext cx="1847524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we find missing sides and angles?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EQ: </a:t>
            </a:r>
            <a:r>
              <a:rPr lang="en-AU" sz="2399" dirty="0"/>
              <a:t>How do we label the triangle sides for working with Trig Ratios?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D62A523-CB7D-4A84-A8EC-D0162CB346C6}"/>
              </a:ext>
            </a:extLst>
          </p:cNvPr>
          <p:cNvSpPr txBox="1">
            <a:spLocks/>
          </p:cNvSpPr>
          <p:nvPr/>
        </p:nvSpPr>
        <p:spPr>
          <a:xfrm>
            <a:off x="2026066" y="1738377"/>
            <a:ext cx="9998108" cy="332634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 dirty="0"/>
              <a:t>We can use trigonometry to find missing angles and lengths of triangles.</a:t>
            </a:r>
          </a:p>
          <a:p>
            <a:pPr marL="0" indent="0">
              <a:buNone/>
            </a:pPr>
            <a:endParaRPr lang="en-GB" sz="2800" dirty="0"/>
          </a:p>
          <a:p>
            <a:r>
              <a:rPr lang="en-GB" sz="2800" dirty="0"/>
              <a:t>Trigonometry uses three functions, these are called:</a:t>
            </a:r>
          </a:p>
          <a:p>
            <a:pPr lvl="1"/>
            <a:r>
              <a:rPr lang="en-GB" sz="2800" dirty="0">
                <a:solidFill>
                  <a:schemeClr val="accent6">
                    <a:lumMod val="50000"/>
                  </a:schemeClr>
                </a:solidFill>
              </a:rPr>
              <a:t>Sine (shortened to Sin and pronounced “sign”)</a:t>
            </a:r>
          </a:p>
          <a:p>
            <a:pPr lvl="1"/>
            <a:r>
              <a:rPr lang="en-GB" sz="2800" dirty="0">
                <a:solidFill>
                  <a:schemeClr val="accent4">
                    <a:lumMod val="75000"/>
                  </a:schemeClr>
                </a:solidFill>
              </a:rPr>
              <a:t>Cosine (shortened to Cos)</a:t>
            </a:r>
          </a:p>
          <a:p>
            <a:pPr lvl="1"/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Tangent (shortened to Tan)</a:t>
            </a:r>
          </a:p>
        </p:txBody>
      </p:sp>
    </p:spTree>
    <p:extLst>
      <p:ext uri="{BB962C8B-B14F-4D97-AF65-F5344CB8AC3E}">
        <p14:creationId xmlns:p14="http://schemas.microsoft.com/office/powerpoint/2010/main" val="152465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Trigonometry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9545" y="765379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EQ: </a:t>
            </a:r>
            <a:r>
              <a:rPr lang="en-AU" sz="2399" dirty="0"/>
              <a:t>How do we label the triangle sides for working with Trig Ratios?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275B9FC3-6D24-4932-A234-543D47179C4E}"/>
              </a:ext>
            </a:extLst>
          </p:cNvPr>
          <p:cNvSpPr txBox="1">
            <a:spLocks/>
          </p:cNvSpPr>
          <p:nvPr/>
        </p:nvSpPr>
        <p:spPr>
          <a:xfrm>
            <a:off x="4852219" y="1466754"/>
            <a:ext cx="7172100" cy="7240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accent1">
                <a:lumMod val="75000"/>
              </a:schemeClr>
            </a:solidFill>
          </a:ln>
        </p:spPr>
        <p:txBody>
          <a:bodyPr/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latin typeface="Arial Black" pitchFamily="34" charset="0"/>
              </a:rPr>
              <a:t>Labelling the sides</a:t>
            </a:r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3EF1D98F-D3D7-4F1C-A5F1-EBF54B56CD80}"/>
              </a:ext>
            </a:extLst>
          </p:cNvPr>
          <p:cNvSpPr/>
          <p:nvPr/>
        </p:nvSpPr>
        <p:spPr>
          <a:xfrm>
            <a:off x="1340438" y="1757538"/>
            <a:ext cx="5616624" cy="3888432"/>
          </a:xfrm>
          <a:prstGeom prst="rtTriangl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0259C6-E515-45F9-8C46-9A6C7CA71577}"/>
              </a:ext>
            </a:extLst>
          </p:cNvPr>
          <p:cNvSpPr txBox="1"/>
          <p:nvPr/>
        </p:nvSpPr>
        <p:spPr>
          <a:xfrm rot="16200000">
            <a:off x="-104703" y="3203142"/>
            <a:ext cx="20722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Opposite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63E570-6FE6-4B88-AEBF-36C03139CBC1}"/>
              </a:ext>
            </a:extLst>
          </p:cNvPr>
          <p:cNvSpPr/>
          <p:nvPr/>
        </p:nvSpPr>
        <p:spPr>
          <a:xfrm>
            <a:off x="1340438" y="5069906"/>
            <a:ext cx="648072" cy="5760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344D4AB0-E43A-42A8-A65F-C8A176209344}"/>
              </a:ext>
            </a:extLst>
          </p:cNvPr>
          <p:cNvSpPr txBox="1">
            <a:spLocks/>
          </p:cNvSpPr>
          <p:nvPr/>
        </p:nvSpPr>
        <p:spPr>
          <a:xfrm>
            <a:off x="6670988" y="2512134"/>
            <a:ext cx="5330743" cy="14062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dirty="0">
                <a:ea typeface="+mj-ea"/>
                <a:cs typeface="+mj-cs"/>
              </a:rPr>
              <a:t>What we call the other two sides will change depending on which angle we are working with, for example..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505EE4-1AE3-49CA-9C5C-F1B059B0EBD2}"/>
              </a:ext>
            </a:extLst>
          </p:cNvPr>
          <p:cNvSpPr txBox="1"/>
          <p:nvPr/>
        </p:nvSpPr>
        <p:spPr>
          <a:xfrm>
            <a:off x="2987823" y="5661248"/>
            <a:ext cx="20265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Adjacent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0162CB-FA2A-408C-9BA9-138AB907F41F}"/>
              </a:ext>
            </a:extLst>
          </p:cNvPr>
          <p:cNvSpPr txBox="1"/>
          <p:nvPr/>
        </p:nvSpPr>
        <p:spPr>
          <a:xfrm>
            <a:off x="5768917" y="4962638"/>
            <a:ext cx="55816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4400" dirty="0"/>
              <a:t>ϴ</a:t>
            </a:r>
            <a:endParaRPr lang="en-GB" sz="4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C03BFB-06CC-4A8E-BB00-4C2590B5C14E}"/>
              </a:ext>
            </a:extLst>
          </p:cNvPr>
          <p:cNvSpPr txBox="1"/>
          <p:nvPr/>
        </p:nvSpPr>
        <p:spPr>
          <a:xfrm rot="2190158">
            <a:off x="2671478" y="2592279"/>
            <a:ext cx="26910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Hypotenuse</a:t>
            </a:r>
          </a:p>
        </p:txBody>
      </p:sp>
    </p:spTree>
    <p:extLst>
      <p:ext uri="{BB962C8B-B14F-4D97-AF65-F5344CB8AC3E}">
        <p14:creationId xmlns:p14="http://schemas.microsoft.com/office/powerpoint/2010/main" val="1672156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Trigonometry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EQ: </a:t>
            </a:r>
            <a:r>
              <a:rPr lang="en-AU" sz="2399" dirty="0"/>
              <a:t>How do we label the triangle sides for working with Trig Ratios? </a:t>
            </a:r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275B9FC3-6D24-4932-A234-543D47179C4E}"/>
              </a:ext>
            </a:extLst>
          </p:cNvPr>
          <p:cNvSpPr txBox="1">
            <a:spLocks/>
          </p:cNvSpPr>
          <p:nvPr/>
        </p:nvSpPr>
        <p:spPr>
          <a:xfrm>
            <a:off x="4852219" y="1466754"/>
            <a:ext cx="7172100" cy="7240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accent1">
                <a:lumMod val="75000"/>
              </a:schemeClr>
            </a:solidFill>
          </a:ln>
        </p:spPr>
        <p:txBody>
          <a:bodyPr/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latin typeface="Arial Black" pitchFamily="34" charset="0"/>
              </a:rPr>
              <a:t>Labelling the sides</a:t>
            </a:r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3EF1D98F-D3D7-4F1C-A5F1-EBF54B56CD80}"/>
              </a:ext>
            </a:extLst>
          </p:cNvPr>
          <p:cNvSpPr/>
          <p:nvPr/>
        </p:nvSpPr>
        <p:spPr>
          <a:xfrm>
            <a:off x="1340438" y="1757538"/>
            <a:ext cx="5616624" cy="3888432"/>
          </a:xfrm>
          <a:prstGeom prst="rtTriangl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0259C6-E515-45F9-8C46-9A6C7CA71577}"/>
              </a:ext>
            </a:extLst>
          </p:cNvPr>
          <p:cNvSpPr txBox="1"/>
          <p:nvPr/>
        </p:nvSpPr>
        <p:spPr>
          <a:xfrm>
            <a:off x="2980857" y="5596842"/>
            <a:ext cx="20722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Opposite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63E570-6FE6-4B88-AEBF-36C03139CBC1}"/>
              </a:ext>
            </a:extLst>
          </p:cNvPr>
          <p:cNvSpPr/>
          <p:nvPr/>
        </p:nvSpPr>
        <p:spPr>
          <a:xfrm>
            <a:off x="1340438" y="5069906"/>
            <a:ext cx="648072" cy="5760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344D4AB0-E43A-42A8-A65F-C8A176209344}"/>
              </a:ext>
            </a:extLst>
          </p:cNvPr>
          <p:cNvSpPr txBox="1">
            <a:spLocks/>
          </p:cNvSpPr>
          <p:nvPr/>
        </p:nvSpPr>
        <p:spPr>
          <a:xfrm>
            <a:off x="6512822" y="2491992"/>
            <a:ext cx="5330743" cy="15072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dirty="0">
                <a:ea typeface="+mj-ea"/>
                <a:cs typeface="+mj-cs"/>
              </a:rPr>
              <a:t>What we call the other two sides will change depending on which angle we are working with, for example..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505EE4-1AE3-49CA-9C5C-F1B059B0EBD2}"/>
              </a:ext>
            </a:extLst>
          </p:cNvPr>
          <p:cNvSpPr txBox="1"/>
          <p:nvPr/>
        </p:nvSpPr>
        <p:spPr>
          <a:xfrm rot="16200000">
            <a:off x="-89046" y="3468002"/>
            <a:ext cx="20265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Adjacent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0162CB-FA2A-408C-9BA9-138AB907F41F}"/>
              </a:ext>
            </a:extLst>
          </p:cNvPr>
          <p:cNvSpPr txBox="1"/>
          <p:nvPr/>
        </p:nvSpPr>
        <p:spPr>
          <a:xfrm>
            <a:off x="1338402" y="1970904"/>
            <a:ext cx="55816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4400" dirty="0"/>
              <a:t>ϴ</a:t>
            </a:r>
            <a:endParaRPr lang="en-GB" sz="4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C03BFB-06CC-4A8E-BB00-4C2590B5C14E}"/>
              </a:ext>
            </a:extLst>
          </p:cNvPr>
          <p:cNvSpPr txBox="1"/>
          <p:nvPr/>
        </p:nvSpPr>
        <p:spPr>
          <a:xfrm rot="2190158">
            <a:off x="2671478" y="2592279"/>
            <a:ext cx="26910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Hypotenuse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BFC2DF-2451-409C-9DC6-9BDB56FDED64}"/>
              </a:ext>
            </a:extLst>
          </p:cNvPr>
          <p:cNvSpPr txBox="1"/>
          <p:nvPr/>
        </p:nvSpPr>
        <p:spPr>
          <a:xfrm>
            <a:off x="6207877" y="5768412"/>
            <a:ext cx="48271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Note: we have shifted the position of the angle</a:t>
            </a:r>
          </a:p>
          <a:p>
            <a:r>
              <a:rPr lang="en-AU" dirty="0"/>
              <a:t>so the Adjacent and Opposite sides have changed</a:t>
            </a:r>
          </a:p>
          <a:p>
            <a:r>
              <a:rPr lang="en-AU" dirty="0"/>
              <a:t>Position as well.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707A159-499F-44C0-B607-DF654F19197A}"/>
              </a:ext>
            </a:extLst>
          </p:cNvPr>
          <p:cNvCxnSpPr/>
          <p:nvPr/>
        </p:nvCxnSpPr>
        <p:spPr>
          <a:xfrm flipH="1" flipV="1">
            <a:off x="1617485" y="3821945"/>
            <a:ext cx="4590392" cy="1946467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16919B3-D3A4-461F-9189-DC31ADD6AA11}"/>
              </a:ext>
            </a:extLst>
          </p:cNvPr>
          <p:cNvCxnSpPr>
            <a:cxnSpLocks/>
          </p:cNvCxnSpPr>
          <p:nvPr/>
        </p:nvCxnSpPr>
        <p:spPr>
          <a:xfrm flipH="1">
            <a:off x="5158042" y="5768412"/>
            <a:ext cx="1049835" cy="9092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4263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135560" y="23388"/>
            <a:ext cx="7848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What is the side marked with an X?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3D224F-17C6-4926-852F-763B7973F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165" y="702921"/>
            <a:ext cx="4613796" cy="29840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5BD3612-0494-4944-930F-25D9DCC97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810" y="877937"/>
            <a:ext cx="4215676" cy="27001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3CF647-28B6-49CA-A616-311AB8250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386" y="3869636"/>
            <a:ext cx="4427980" cy="28103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402ABA-7D68-4F0D-B3B4-D72A91A3D0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1658" y="3686939"/>
            <a:ext cx="4427980" cy="286516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2317EED-EE52-442A-BE7F-FEFE0BDE5114}"/>
              </a:ext>
            </a:extLst>
          </p:cNvPr>
          <p:cNvSpPr txBox="1"/>
          <p:nvPr/>
        </p:nvSpPr>
        <p:spPr>
          <a:xfrm>
            <a:off x="486991" y="972217"/>
            <a:ext cx="426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Century Gothic" pitchFamily="34" charset="0"/>
                <a:cs typeface="Aharoni" pitchFamily="2" charset="-79"/>
              </a:rPr>
              <a:t>1)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CDBC1B-9E59-4F4A-A7B8-27AD601D5354}"/>
              </a:ext>
            </a:extLst>
          </p:cNvPr>
          <p:cNvSpPr txBox="1"/>
          <p:nvPr/>
        </p:nvSpPr>
        <p:spPr>
          <a:xfrm>
            <a:off x="5809502" y="862867"/>
            <a:ext cx="426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Century Gothic" pitchFamily="34" charset="0"/>
                <a:cs typeface="Aharoni" pitchFamily="2" charset="-79"/>
              </a:rPr>
              <a:t>2)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BAA54B-3D93-4E43-85BC-3EC68E7A375F}"/>
              </a:ext>
            </a:extLst>
          </p:cNvPr>
          <p:cNvSpPr txBox="1"/>
          <p:nvPr/>
        </p:nvSpPr>
        <p:spPr>
          <a:xfrm>
            <a:off x="538805" y="3869636"/>
            <a:ext cx="426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Century Gothic" pitchFamily="34" charset="0"/>
                <a:cs typeface="Aharoni" pitchFamily="2" charset="-79"/>
              </a:rPr>
              <a:t>3)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6C04D2-3F89-42BE-93A2-FB262B829E15}"/>
              </a:ext>
            </a:extLst>
          </p:cNvPr>
          <p:cNvSpPr txBox="1"/>
          <p:nvPr/>
        </p:nvSpPr>
        <p:spPr>
          <a:xfrm>
            <a:off x="5846636" y="3867818"/>
            <a:ext cx="426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Century Gothic" pitchFamily="34" charset="0"/>
                <a:cs typeface="Aharoni" pitchFamily="2" charset="-79"/>
              </a:rPr>
              <a:t>4)</a:t>
            </a:r>
          </a:p>
        </p:txBody>
      </p:sp>
    </p:spTree>
    <p:extLst>
      <p:ext uri="{BB962C8B-B14F-4D97-AF65-F5344CB8AC3E}">
        <p14:creationId xmlns:p14="http://schemas.microsoft.com/office/powerpoint/2010/main" val="2033893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135560" y="23388"/>
            <a:ext cx="7848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What is the side marked with an X?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3D224F-17C6-4926-852F-763B7973F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165" y="702921"/>
            <a:ext cx="4613796" cy="29840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5BD3612-0494-4944-930F-25D9DCC97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810" y="877937"/>
            <a:ext cx="4215676" cy="27001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3CF647-28B6-49CA-A616-311AB8250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386" y="3869636"/>
            <a:ext cx="4427980" cy="28103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402ABA-7D68-4F0D-B3B4-D72A91A3D0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1658" y="3686939"/>
            <a:ext cx="4427980" cy="286516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2317EED-EE52-442A-BE7F-FEFE0BDE5114}"/>
              </a:ext>
            </a:extLst>
          </p:cNvPr>
          <p:cNvSpPr txBox="1"/>
          <p:nvPr/>
        </p:nvSpPr>
        <p:spPr>
          <a:xfrm>
            <a:off x="486991" y="972217"/>
            <a:ext cx="426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Century Gothic" pitchFamily="34" charset="0"/>
                <a:cs typeface="Aharoni" pitchFamily="2" charset="-79"/>
              </a:rPr>
              <a:t>1)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CDBC1B-9E59-4F4A-A7B8-27AD601D5354}"/>
              </a:ext>
            </a:extLst>
          </p:cNvPr>
          <p:cNvSpPr txBox="1"/>
          <p:nvPr/>
        </p:nvSpPr>
        <p:spPr>
          <a:xfrm>
            <a:off x="5809502" y="862867"/>
            <a:ext cx="426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Century Gothic" pitchFamily="34" charset="0"/>
                <a:cs typeface="Aharoni" pitchFamily="2" charset="-79"/>
              </a:rPr>
              <a:t>2)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BAA54B-3D93-4E43-85BC-3EC68E7A375F}"/>
              </a:ext>
            </a:extLst>
          </p:cNvPr>
          <p:cNvSpPr txBox="1"/>
          <p:nvPr/>
        </p:nvSpPr>
        <p:spPr>
          <a:xfrm>
            <a:off x="538805" y="3869636"/>
            <a:ext cx="426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Century Gothic" pitchFamily="34" charset="0"/>
                <a:cs typeface="Aharoni" pitchFamily="2" charset="-79"/>
              </a:rPr>
              <a:t>3)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6C04D2-3F89-42BE-93A2-FB262B829E15}"/>
              </a:ext>
            </a:extLst>
          </p:cNvPr>
          <p:cNvSpPr txBox="1"/>
          <p:nvPr/>
        </p:nvSpPr>
        <p:spPr>
          <a:xfrm>
            <a:off x="5846636" y="3867818"/>
            <a:ext cx="426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Century Gothic" pitchFamily="34" charset="0"/>
                <a:cs typeface="Aharoni" pitchFamily="2" charset="-79"/>
              </a:rPr>
              <a:t>4)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956DB0-DE42-447F-B941-CD20CE2CF503}"/>
              </a:ext>
            </a:extLst>
          </p:cNvPr>
          <p:cNvSpPr txBox="1"/>
          <p:nvPr/>
        </p:nvSpPr>
        <p:spPr>
          <a:xfrm>
            <a:off x="4979317" y="2062347"/>
            <a:ext cx="3866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  <a:latin typeface="Century Gothic" pitchFamily="34" charset="0"/>
                <a:cs typeface="Aharoni" pitchFamily="2" charset="-79"/>
                <a:sym typeface="Wingdings" panose="05000000000000000000" pitchFamily="2" charset="2"/>
              </a:rPr>
              <a:t></a:t>
            </a:r>
            <a:endParaRPr lang="en-GB" sz="2000" b="1" dirty="0">
              <a:solidFill>
                <a:srgbClr val="FF0000"/>
              </a:solidFill>
              <a:latin typeface="Century Gothic" pitchFamily="34" charset="0"/>
              <a:cs typeface="Aharoni" pitchFamily="2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9D417D-CF99-4566-99FB-27F774F4AB28}"/>
              </a:ext>
            </a:extLst>
          </p:cNvPr>
          <p:cNvSpPr txBox="1"/>
          <p:nvPr/>
        </p:nvSpPr>
        <p:spPr>
          <a:xfrm>
            <a:off x="2823169" y="5074745"/>
            <a:ext cx="3866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  <a:latin typeface="Century Gothic" pitchFamily="34" charset="0"/>
                <a:cs typeface="Aharoni" pitchFamily="2" charset="-79"/>
                <a:sym typeface="Wingdings" panose="05000000000000000000" pitchFamily="2" charset="2"/>
              </a:rPr>
              <a:t></a:t>
            </a:r>
            <a:endParaRPr lang="en-GB" sz="2000" b="1" dirty="0">
              <a:solidFill>
                <a:srgbClr val="FF0000"/>
              </a:solidFill>
              <a:latin typeface="Century Gothic" pitchFamily="34" charset="0"/>
              <a:cs typeface="Aharoni" pitchFamily="2" charset="-79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6C6253-F3A5-43E0-9098-44D9B20E2801}"/>
              </a:ext>
            </a:extLst>
          </p:cNvPr>
          <p:cNvSpPr txBox="1"/>
          <p:nvPr/>
        </p:nvSpPr>
        <p:spPr>
          <a:xfrm>
            <a:off x="8215159" y="2831435"/>
            <a:ext cx="3866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  <a:latin typeface="Century Gothic" pitchFamily="34" charset="0"/>
                <a:cs typeface="Aharoni" pitchFamily="2" charset="-79"/>
                <a:sym typeface="Wingdings" panose="05000000000000000000" pitchFamily="2" charset="2"/>
              </a:rPr>
              <a:t></a:t>
            </a:r>
            <a:endParaRPr lang="en-GB" sz="2000" b="1" dirty="0">
              <a:solidFill>
                <a:srgbClr val="FF0000"/>
              </a:solidFill>
              <a:latin typeface="Century Gothic" pitchFamily="34" charset="0"/>
              <a:cs typeface="Aharoni" pitchFamily="2" charset="-79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39168C-E603-4F6E-8503-15A371F7BB8F}"/>
              </a:ext>
            </a:extLst>
          </p:cNvPr>
          <p:cNvSpPr txBox="1"/>
          <p:nvPr/>
        </p:nvSpPr>
        <p:spPr>
          <a:xfrm>
            <a:off x="8208228" y="4919466"/>
            <a:ext cx="3866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  <a:latin typeface="Century Gothic" pitchFamily="34" charset="0"/>
                <a:cs typeface="Aharoni" pitchFamily="2" charset="-79"/>
                <a:sym typeface="Wingdings" panose="05000000000000000000" pitchFamily="2" charset="2"/>
              </a:rPr>
              <a:t></a:t>
            </a:r>
            <a:endParaRPr lang="en-GB" sz="2000" b="1" dirty="0">
              <a:solidFill>
                <a:srgbClr val="FF0000"/>
              </a:solidFill>
              <a:latin typeface="Century Gothic" pitchFamily="34" charset="0"/>
              <a:cs typeface="Aharoni" pitchFamily="2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BB114F-EE21-4F41-B18B-B44143F880AF}"/>
              </a:ext>
            </a:extLst>
          </p:cNvPr>
          <p:cNvSpPr txBox="1"/>
          <p:nvPr/>
        </p:nvSpPr>
        <p:spPr>
          <a:xfrm>
            <a:off x="9689630" y="572107"/>
            <a:ext cx="14766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  <a:latin typeface="Century Gothic" pitchFamily="34" charset="0"/>
                <a:cs typeface="Aharoni" pitchFamily="2" charset="-79"/>
                <a:sym typeface="Wingdings" panose="05000000000000000000" pitchFamily="2" charset="2"/>
              </a:rPr>
              <a:t>Answers </a:t>
            </a:r>
            <a:endParaRPr lang="en-GB" sz="2000" b="1" dirty="0">
              <a:solidFill>
                <a:srgbClr val="FF0000"/>
              </a:solidFill>
              <a:latin typeface="Century Gothic" pitchFamily="34" charset="0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949467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135560" y="23388"/>
            <a:ext cx="7848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What is the side marked with an X?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317EED-EE52-442A-BE7F-FEFE0BDE5114}"/>
              </a:ext>
            </a:extLst>
          </p:cNvPr>
          <p:cNvSpPr txBox="1"/>
          <p:nvPr/>
        </p:nvSpPr>
        <p:spPr>
          <a:xfrm>
            <a:off x="486991" y="972217"/>
            <a:ext cx="426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Century Gothic" pitchFamily="34" charset="0"/>
                <a:cs typeface="Aharoni" pitchFamily="2" charset="-79"/>
              </a:rPr>
              <a:t>5)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CDBC1B-9E59-4F4A-A7B8-27AD601D5354}"/>
              </a:ext>
            </a:extLst>
          </p:cNvPr>
          <p:cNvSpPr txBox="1"/>
          <p:nvPr/>
        </p:nvSpPr>
        <p:spPr>
          <a:xfrm>
            <a:off x="5809502" y="862867"/>
            <a:ext cx="426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Century Gothic" pitchFamily="34" charset="0"/>
                <a:cs typeface="Aharoni" pitchFamily="2" charset="-79"/>
              </a:rPr>
              <a:t>6)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BAA54B-3D93-4E43-85BC-3EC68E7A375F}"/>
              </a:ext>
            </a:extLst>
          </p:cNvPr>
          <p:cNvSpPr txBox="1"/>
          <p:nvPr/>
        </p:nvSpPr>
        <p:spPr>
          <a:xfrm>
            <a:off x="538805" y="3869636"/>
            <a:ext cx="426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Century Gothic" pitchFamily="34" charset="0"/>
                <a:cs typeface="Aharoni" pitchFamily="2" charset="-79"/>
              </a:rPr>
              <a:t>7)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6C04D2-3F89-42BE-93A2-FB262B829E15}"/>
              </a:ext>
            </a:extLst>
          </p:cNvPr>
          <p:cNvSpPr txBox="1"/>
          <p:nvPr/>
        </p:nvSpPr>
        <p:spPr>
          <a:xfrm>
            <a:off x="5846636" y="3867818"/>
            <a:ext cx="426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Century Gothic" pitchFamily="34" charset="0"/>
                <a:cs typeface="Aharoni" pitchFamily="2" charset="-79"/>
              </a:rPr>
              <a:t>8)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D85E5B-AFD9-488E-B930-924521494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764" y="1062922"/>
            <a:ext cx="3833813" cy="25288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1F7437-A1AD-476E-B68E-52526128D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827" y="1046303"/>
            <a:ext cx="4036626" cy="26234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22C2F4-CB67-4F66-BAE9-DF6F1598FC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4764" y="3925044"/>
            <a:ext cx="4027717" cy="25288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884936-264E-4BD9-8185-89228072F3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4418" y="3781272"/>
            <a:ext cx="4027718" cy="250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89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135560" y="23388"/>
            <a:ext cx="7848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What is the side marked with an X?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317EED-EE52-442A-BE7F-FEFE0BDE5114}"/>
              </a:ext>
            </a:extLst>
          </p:cNvPr>
          <p:cNvSpPr txBox="1"/>
          <p:nvPr/>
        </p:nvSpPr>
        <p:spPr>
          <a:xfrm>
            <a:off x="486991" y="972217"/>
            <a:ext cx="426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Century Gothic" pitchFamily="34" charset="0"/>
                <a:cs typeface="Aharoni" pitchFamily="2" charset="-79"/>
              </a:rPr>
              <a:t>5)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CDBC1B-9E59-4F4A-A7B8-27AD601D5354}"/>
              </a:ext>
            </a:extLst>
          </p:cNvPr>
          <p:cNvSpPr txBox="1"/>
          <p:nvPr/>
        </p:nvSpPr>
        <p:spPr>
          <a:xfrm>
            <a:off x="5809502" y="862867"/>
            <a:ext cx="426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Century Gothic" pitchFamily="34" charset="0"/>
                <a:cs typeface="Aharoni" pitchFamily="2" charset="-79"/>
              </a:rPr>
              <a:t>6)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BAA54B-3D93-4E43-85BC-3EC68E7A375F}"/>
              </a:ext>
            </a:extLst>
          </p:cNvPr>
          <p:cNvSpPr txBox="1"/>
          <p:nvPr/>
        </p:nvSpPr>
        <p:spPr>
          <a:xfrm>
            <a:off x="538805" y="3869636"/>
            <a:ext cx="426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Century Gothic" pitchFamily="34" charset="0"/>
                <a:cs typeface="Aharoni" pitchFamily="2" charset="-79"/>
              </a:rPr>
              <a:t>7)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6C04D2-3F89-42BE-93A2-FB262B829E15}"/>
              </a:ext>
            </a:extLst>
          </p:cNvPr>
          <p:cNvSpPr txBox="1"/>
          <p:nvPr/>
        </p:nvSpPr>
        <p:spPr>
          <a:xfrm>
            <a:off x="5846636" y="3867818"/>
            <a:ext cx="426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Century Gothic" pitchFamily="34" charset="0"/>
                <a:cs typeface="Aharoni" pitchFamily="2" charset="-79"/>
              </a:rPr>
              <a:t>8)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D85E5B-AFD9-488E-B930-924521494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764" y="1062922"/>
            <a:ext cx="3833813" cy="25288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1F7437-A1AD-476E-B68E-52526128D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827" y="1046303"/>
            <a:ext cx="4036626" cy="26234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22C2F4-CB67-4F66-BAE9-DF6F1598FC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4764" y="3925044"/>
            <a:ext cx="4027717" cy="25288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884936-264E-4BD9-8185-89228072F3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4418" y="3781272"/>
            <a:ext cx="4027718" cy="25079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A12A248-B1F9-4C39-93B5-574C9FD65F09}"/>
              </a:ext>
            </a:extLst>
          </p:cNvPr>
          <p:cNvSpPr txBox="1"/>
          <p:nvPr/>
        </p:nvSpPr>
        <p:spPr>
          <a:xfrm>
            <a:off x="9689630" y="572107"/>
            <a:ext cx="14766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  <a:latin typeface="Century Gothic" pitchFamily="34" charset="0"/>
                <a:cs typeface="Aharoni" pitchFamily="2" charset="-79"/>
                <a:sym typeface="Wingdings" panose="05000000000000000000" pitchFamily="2" charset="2"/>
              </a:rPr>
              <a:t>Answers </a:t>
            </a:r>
            <a:endParaRPr lang="en-GB" sz="2000" b="1" dirty="0">
              <a:solidFill>
                <a:srgbClr val="FF0000"/>
              </a:solidFill>
              <a:latin typeface="Century Gothic" pitchFamily="34" charset="0"/>
              <a:cs typeface="Aharoni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D4DCEA-9DFD-45A6-B402-EC6E5DAF6896}"/>
              </a:ext>
            </a:extLst>
          </p:cNvPr>
          <p:cNvSpPr txBox="1"/>
          <p:nvPr/>
        </p:nvSpPr>
        <p:spPr>
          <a:xfrm>
            <a:off x="2895026" y="3011052"/>
            <a:ext cx="3866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  <a:latin typeface="Century Gothic" pitchFamily="34" charset="0"/>
                <a:cs typeface="Aharoni" pitchFamily="2" charset="-79"/>
                <a:sym typeface="Wingdings" panose="05000000000000000000" pitchFamily="2" charset="2"/>
              </a:rPr>
              <a:t></a:t>
            </a:r>
            <a:endParaRPr lang="en-GB" sz="2000" b="1" dirty="0">
              <a:solidFill>
                <a:srgbClr val="FF0000"/>
              </a:solidFill>
              <a:latin typeface="Century Gothic" pitchFamily="34" charset="0"/>
              <a:cs typeface="Aharoni" pitchFamily="2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10BA40-AAD2-4F10-ACED-4A9C362D5C50}"/>
              </a:ext>
            </a:extLst>
          </p:cNvPr>
          <p:cNvSpPr txBox="1"/>
          <p:nvPr/>
        </p:nvSpPr>
        <p:spPr>
          <a:xfrm>
            <a:off x="10035492" y="2212628"/>
            <a:ext cx="3866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  <a:latin typeface="Century Gothic" pitchFamily="34" charset="0"/>
                <a:cs typeface="Aharoni" pitchFamily="2" charset="-79"/>
                <a:sym typeface="Wingdings" panose="05000000000000000000" pitchFamily="2" charset="2"/>
              </a:rPr>
              <a:t></a:t>
            </a:r>
            <a:endParaRPr lang="en-GB" sz="2000" b="1" dirty="0">
              <a:solidFill>
                <a:srgbClr val="FF0000"/>
              </a:solidFill>
              <a:latin typeface="Century Gothic" pitchFamily="34" charset="0"/>
              <a:cs typeface="Aharoni" pitchFamily="2" charset="-79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0C4C6E-D92C-4A22-8FB5-C3AD14B2D629}"/>
              </a:ext>
            </a:extLst>
          </p:cNvPr>
          <p:cNvSpPr txBox="1"/>
          <p:nvPr/>
        </p:nvSpPr>
        <p:spPr>
          <a:xfrm>
            <a:off x="5005837" y="4989433"/>
            <a:ext cx="3866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  <a:latin typeface="Century Gothic" pitchFamily="34" charset="0"/>
                <a:cs typeface="Aharoni" pitchFamily="2" charset="-79"/>
                <a:sym typeface="Wingdings" panose="05000000000000000000" pitchFamily="2" charset="2"/>
              </a:rPr>
              <a:t></a:t>
            </a:r>
            <a:endParaRPr lang="en-GB" sz="2000" b="1" dirty="0">
              <a:solidFill>
                <a:srgbClr val="FF0000"/>
              </a:solidFill>
              <a:latin typeface="Century Gothic" pitchFamily="34" charset="0"/>
              <a:cs typeface="Aharoni" pitchFamily="2" charset="-79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6E3972-5082-4D02-9F06-6597C7DB4E89}"/>
              </a:ext>
            </a:extLst>
          </p:cNvPr>
          <p:cNvSpPr txBox="1"/>
          <p:nvPr/>
        </p:nvSpPr>
        <p:spPr>
          <a:xfrm>
            <a:off x="7971496" y="4812065"/>
            <a:ext cx="3866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  <a:latin typeface="Century Gothic" pitchFamily="34" charset="0"/>
                <a:cs typeface="Aharoni" pitchFamily="2" charset="-79"/>
                <a:sym typeface="Wingdings" panose="05000000000000000000" pitchFamily="2" charset="2"/>
              </a:rPr>
              <a:t></a:t>
            </a:r>
            <a:endParaRPr lang="en-GB" sz="2000" b="1" dirty="0">
              <a:solidFill>
                <a:srgbClr val="FF0000"/>
              </a:solidFill>
              <a:latin typeface="Century Gothic" pitchFamily="34" charset="0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00010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135560" y="23388"/>
            <a:ext cx="7848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What is the side marked with an X?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317EED-EE52-442A-BE7F-FEFE0BDE5114}"/>
              </a:ext>
            </a:extLst>
          </p:cNvPr>
          <p:cNvSpPr txBox="1"/>
          <p:nvPr/>
        </p:nvSpPr>
        <p:spPr>
          <a:xfrm>
            <a:off x="486991" y="972217"/>
            <a:ext cx="426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Century Gothic" pitchFamily="34" charset="0"/>
                <a:cs typeface="Aharoni" pitchFamily="2" charset="-79"/>
              </a:rPr>
              <a:t>9)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CDBC1B-9E59-4F4A-A7B8-27AD601D5354}"/>
              </a:ext>
            </a:extLst>
          </p:cNvPr>
          <p:cNvSpPr txBox="1"/>
          <p:nvPr/>
        </p:nvSpPr>
        <p:spPr>
          <a:xfrm>
            <a:off x="5809502" y="862867"/>
            <a:ext cx="570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Century Gothic" pitchFamily="34" charset="0"/>
                <a:cs typeface="Aharoni" pitchFamily="2" charset="-79"/>
              </a:rPr>
              <a:t>10)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89B465D-73FE-429D-A039-32F658904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713" y="1062922"/>
            <a:ext cx="3805237" cy="25765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0739AF2-5652-47FB-873D-0F71B3360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9250" y="972217"/>
            <a:ext cx="4103567" cy="257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097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135560" y="23388"/>
            <a:ext cx="7848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What is the side marked with an X?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317EED-EE52-442A-BE7F-FEFE0BDE5114}"/>
              </a:ext>
            </a:extLst>
          </p:cNvPr>
          <p:cNvSpPr txBox="1"/>
          <p:nvPr/>
        </p:nvSpPr>
        <p:spPr>
          <a:xfrm>
            <a:off x="486991" y="972217"/>
            <a:ext cx="426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Century Gothic" pitchFamily="34" charset="0"/>
                <a:cs typeface="Aharoni" pitchFamily="2" charset="-79"/>
              </a:rPr>
              <a:t>9)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CDBC1B-9E59-4F4A-A7B8-27AD601D5354}"/>
              </a:ext>
            </a:extLst>
          </p:cNvPr>
          <p:cNvSpPr txBox="1"/>
          <p:nvPr/>
        </p:nvSpPr>
        <p:spPr>
          <a:xfrm>
            <a:off x="5809502" y="862867"/>
            <a:ext cx="570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latin typeface="Century Gothic" pitchFamily="34" charset="0"/>
                <a:cs typeface="Aharoni" pitchFamily="2" charset="-79"/>
              </a:rPr>
              <a:t>10)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89B465D-73FE-429D-A039-32F658904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713" y="1062922"/>
            <a:ext cx="3805237" cy="25765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0739AF2-5652-47FB-873D-0F71B3360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9250" y="972217"/>
            <a:ext cx="4103567" cy="25765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923F91-5F64-45D7-8263-1589D0CF7DCC}"/>
              </a:ext>
            </a:extLst>
          </p:cNvPr>
          <p:cNvSpPr txBox="1"/>
          <p:nvPr/>
        </p:nvSpPr>
        <p:spPr>
          <a:xfrm>
            <a:off x="9689630" y="572107"/>
            <a:ext cx="14766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  <a:latin typeface="Century Gothic" pitchFamily="34" charset="0"/>
                <a:cs typeface="Aharoni" pitchFamily="2" charset="-79"/>
                <a:sym typeface="Wingdings" panose="05000000000000000000" pitchFamily="2" charset="2"/>
              </a:rPr>
              <a:t>Answers </a:t>
            </a:r>
            <a:endParaRPr lang="en-GB" sz="2000" b="1" dirty="0">
              <a:solidFill>
                <a:srgbClr val="FF0000"/>
              </a:solidFill>
              <a:latin typeface="Century Gothic" pitchFamily="34" charset="0"/>
              <a:cs typeface="Aharoni" pitchFamily="2" charset="-79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334A5B-0D43-4319-B12D-54F24F1B0AE3}"/>
              </a:ext>
            </a:extLst>
          </p:cNvPr>
          <p:cNvSpPr txBox="1"/>
          <p:nvPr/>
        </p:nvSpPr>
        <p:spPr>
          <a:xfrm>
            <a:off x="2814687" y="3027113"/>
            <a:ext cx="3866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  <a:latin typeface="Century Gothic" pitchFamily="34" charset="0"/>
                <a:cs typeface="Aharoni" pitchFamily="2" charset="-79"/>
                <a:sym typeface="Wingdings" panose="05000000000000000000" pitchFamily="2" charset="2"/>
              </a:rPr>
              <a:t></a:t>
            </a:r>
            <a:endParaRPr lang="en-GB" sz="2000" b="1" dirty="0">
              <a:solidFill>
                <a:srgbClr val="FF0000"/>
              </a:solidFill>
              <a:latin typeface="Century Gothic" pitchFamily="34" charset="0"/>
              <a:cs typeface="Aharoni" pitchFamily="2" charset="-79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A4A6B0-AE84-419A-806C-DBB9A7D6FE66}"/>
              </a:ext>
            </a:extLst>
          </p:cNvPr>
          <p:cNvSpPr txBox="1"/>
          <p:nvPr/>
        </p:nvSpPr>
        <p:spPr>
          <a:xfrm>
            <a:off x="8194389" y="2047668"/>
            <a:ext cx="3866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  <a:latin typeface="Century Gothic" pitchFamily="34" charset="0"/>
                <a:cs typeface="Aharoni" pitchFamily="2" charset="-79"/>
                <a:sym typeface="Wingdings" panose="05000000000000000000" pitchFamily="2" charset="2"/>
              </a:rPr>
              <a:t></a:t>
            </a:r>
            <a:endParaRPr lang="en-GB" sz="2000" b="1" dirty="0">
              <a:solidFill>
                <a:srgbClr val="FF0000"/>
              </a:solidFill>
              <a:latin typeface="Century Gothic" pitchFamily="34" charset="0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214546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326</Words>
  <Application>Microsoft Office PowerPoint</Application>
  <PresentationFormat>Widescreen</PresentationFormat>
  <Paragraphs>84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Arial Black</vt:lpstr>
      <vt:lpstr>Calibri</vt:lpstr>
      <vt:lpstr>Calibri Light</vt:lpstr>
      <vt:lpstr>Century Gothic</vt:lpstr>
      <vt:lpstr>Kiwi School Handwriting</vt:lpstr>
      <vt:lpstr>Office Theme</vt:lpstr>
      <vt:lpstr>Trigonometry – Labelling sides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Trigonometry – Labelling sides</dc:title>
  <dc:creator>POWER Travis [Baldivis Secondary College]</dc:creator>
  <cp:lastModifiedBy>MCALLISTER Robert [Baldivis Secondary College]</cp:lastModifiedBy>
  <cp:revision>7</cp:revision>
  <dcterms:created xsi:type="dcterms:W3CDTF">2018-10-07T10:26:18Z</dcterms:created>
  <dcterms:modified xsi:type="dcterms:W3CDTF">2020-04-09T01:30:49Z</dcterms:modified>
</cp:coreProperties>
</file>
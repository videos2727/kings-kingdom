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8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6"/>
  </p:normalViewPr>
  <p:slideViewPr>
    <p:cSldViewPr snapToGrid="0" snapToObjects="1">
      <p:cViewPr varScale="1">
        <p:scale>
          <a:sx n="90" d="100"/>
          <a:sy n="90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639-7FA9-984F-A3BF-52CBBF76F396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06369-8B8D-254C-B3D4-D5C49C9464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36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1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98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1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29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9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8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0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3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86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Trigonometry – The Sine Ratio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498" y="3602038"/>
            <a:ext cx="9264502" cy="1655762"/>
          </a:xfrm>
        </p:spPr>
        <p:txBody>
          <a:bodyPr/>
          <a:lstStyle/>
          <a:p>
            <a:r>
              <a:rPr lang="en-GB" altLang="en-US" dirty="0"/>
              <a:t>EQ: What is the sine ratio and how can I apply it to right angled triangle?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00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Why use Trig?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2DBA09D-F10A-4784-872C-0FC6D6E8EFF3}"/>
              </a:ext>
            </a:extLst>
          </p:cNvPr>
          <p:cNvSpPr txBox="1">
            <a:spLocks noChangeArrowheads="1"/>
          </p:cNvSpPr>
          <p:nvPr/>
        </p:nvSpPr>
        <p:spPr>
          <a:xfrm>
            <a:off x="2744883" y="1738377"/>
            <a:ext cx="5016883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latin typeface="+mn-lt"/>
              </a:rPr>
              <a:t>Real life applications of trigonometry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86BD469-4F48-423D-8D2F-87F0530E0309}"/>
              </a:ext>
            </a:extLst>
          </p:cNvPr>
          <p:cNvSpPr txBox="1">
            <a:spLocks noChangeArrowheads="1"/>
          </p:cNvSpPr>
          <p:nvPr/>
        </p:nvSpPr>
        <p:spPr>
          <a:xfrm>
            <a:off x="3086821" y="3089715"/>
            <a:ext cx="7924800" cy="218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en-US" altLang="en-US" dirty="0"/>
              <a:t>The angle of direction and its length can be calculated to make tunnels started at opposite sides of a mountain meet at a </a:t>
            </a:r>
            <a:r>
              <a:rPr lang="en-US" altLang="en-US" dirty="0" err="1"/>
              <a:t>centre</a:t>
            </a:r>
            <a:r>
              <a:rPr lang="en-US" altLang="en-US" dirty="0"/>
              <a:t>.</a:t>
            </a:r>
          </a:p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en-US" altLang="en-US" dirty="0"/>
              <a:t>Landscape surveyors often use trigonometry to assess the height of trees and buildings.</a:t>
            </a:r>
          </a:p>
        </p:txBody>
      </p:sp>
    </p:spTree>
    <p:extLst>
      <p:ext uri="{BB962C8B-B14F-4D97-AF65-F5344CB8AC3E}">
        <p14:creationId xmlns:p14="http://schemas.microsoft.com/office/powerpoint/2010/main" val="15246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247A805C-09EB-43E1-BDE2-CB211B255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41" y="1100405"/>
            <a:ext cx="6127950" cy="46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Sin Ratio?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F385224-AD11-4022-94FD-1BBA5C31A8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47" t="3352" r="2336" b="2116"/>
          <a:stretch/>
        </p:blipFill>
        <p:spPr>
          <a:xfrm>
            <a:off x="577502" y="2837956"/>
            <a:ext cx="5486397" cy="39978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9F2447-36F9-4005-BE4D-5B7ACF39EDC8}"/>
              </a:ext>
            </a:extLst>
          </p:cNvPr>
          <p:cNvSpPr txBox="1"/>
          <p:nvPr/>
        </p:nvSpPr>
        <p:spPr>
          <a:xfrm>
            <a:off x="9617798" y="1749010"/>
            <a:ext cx="1467774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Opposite side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FF8B74-278B-42CE-ADED-009ACE667FC3}"/>
              </a:ext>
            </a:extLst>
          </p:cNvPr>
          <p:cNvSpPr txBox="1"/>
          <p:nvPr/>
        </p:nvSpPr>
        <p:spPr>
          <a:xfrm>
            <a:off x="9682593" y="2837956"/>
            <a:ext cx="174829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Hypotenuse side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D20760-EA17-49A7-AAA6-6FBF09F0B623}"/>
              </a:ext>
            </a:extLst>
          </p:cNvPr>
          <p:cNvSpPr txBox="1"/>
          <p:nvPr/>
        </p:nvSpPr>
        <p:spPr>
          <a:xfrm>
            <a:off x="5839811" y="4078331"/>
            <a:ext cx="138852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Sine of angle</a:t>
            </a:r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723F928C-C55E-4496-93BC-2A4A118A9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067" y="1481061"/>
            <a:ext cx="5256213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20DA95-147B-4A05-A75E-3F068C2B8CFF}"/>
              </a:ext>
            </a:extLst>
          </p:cNvPr>
          <p:cNvCxnSpPr/>
          <p:nvPr/>
        </p:nvCxnSpPr>
        <p:spPr>
          <a:xfrm flipH="1" flipV="1">
            <a:off x="4890977" y="2815754"/>
            <a:ext cx="1131831" cy="126257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1128EF4-95DA-4FEA-A72B-197617424F2F}"/>
              </a:ext>
            </a:extLst>
          </p:cNvPr>
          <p:cNvCxnSpPr>
            <a:cxnSpLocks/>
          </p:cNvCxnSpPr>
          <p:nvPr/>
        </p:nvCxnSpPr>
        <p:spPr>
          <a:xfrm flipH="1" flipV="1">
            <a:off x="8550762" y="1985015"/>
            <a:ext cx="1067036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ABDC76-BF34-4127-85B5-F6111631466C}"/>
              </a:ext>
            </a:extLst>
          </p:cNvPr>
          <p:cNvCxnSpPr>
            <a:cxnSpLocks/>
          </p:cNvCxnSpPr>
          <p:nvPr/>
        </p:nvCxnSpPr>
        <p:spPr>
          <a:xfrm flipH="1" flipV="1">
            <a:off x="8817521" y="3022623"/>
            <a:ext cx="865073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B4D3B2-0C31-4F6E-9E1A-BF9E38E7724D}"/>
                  </a:ext>
                </a:extLst>
              </p:cNvPr>
              <p:cNvSpPr txBox="1"/>
              <p:nvPr/>
            </p:nvSpPr>
            <p:spPr>
              <a:xfrm>
                <a:off x="8016949" y="4976037"/>
                <a:ext cx="2930418" cy="938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This is generally shortened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𝑶𝒑𝒑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𝑯𝒚𝒑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B4D3B2-0C31-4F6E-9E1A-BF9E38E77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949" y="4976037"/>
                <a:ext cx="2930418" cy="938270"/>
              </a:xfrm>
              <a:prstGeom prst="rect">
                <a:avLst/>
              </a:prstGeom>
              <a:blipFill>
                <a:blip r:embed="rId5"/>
                <a:stretch>
                  <a:fillRect l="-1663" t="-3247" r="-10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7DC67CB-BB3D-4541-B4D1-53923ED2A3F9}"/>
              </a:ext>
            </a:extLst>
          </p:cNvPr>
          <p:cNvCxnSpPr>
            <a:cxnSpLocks/>
          </p:cNvCxnSpPr>
          <p:nvPr/>
        </p:nvCxnSpPr>
        <p:spPr>
          <a:xfrm>
            <a:off x="8016949" y="3497186"/>
            <a:ext cx="1099729" cy="147885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63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Sin Ratio and now how do I use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Picture 2">
            <a:extLst>
              <a:ext uri="{FF2B5EF4-FFF2-40B4-BE49-F238E27FC236}">
                <a16:creationId xmlns:a16="http://schemas.microsoft.com/office/drawing/2014/main" id="{DBA3DB3C-4AB7-4B51-B75E-F1BFCFDDD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066" y="1536423"/>
            <a:ext cx="9984646" cy="5117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945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7EF494B-B8E4-4588-B40A-B99ED9FCD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991" y="2137877"/>
            <a:ext cx="1709284" cy="1360680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Sin Ratio and now how do I use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</a:t>
            </a:r>
            <a:r>
              <a:rPr lang="en-GB" altLang="en-US" sz="2400"/>
              <a:t>the sin </a:t>
            </a:r>
            <a:r>
              <a:rPr lang="en-GB" altLang="en-US" sz="2400" dirty="0"/>
              <a:t>ratio and how can I apply it to right angled triangle  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1E997E-B509-4499-8C63-3CE630289B90}"/>
              </a:ext>
            </a:extLst>
          </p:cNvPr>
          <p:cNvSpPr txBox="1"/>
          <p:nvPr/>
        </p:nvSpPr>
        <p:spPr>
          <a:xfrm>
            <a:off x="2220601" y="1486320"/>
            <a:ext cx="4862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baseline="30000" dirty="0"/>
              <a:t>nd</a:t>
            </a:r>
            <a:r>
              <a:rPr lang="en-AU" dirty="0"/>
              <a:t> example</a:t>
            </a:r>
          </a:p>
          <a:p>
            <a:r>
              <a:rPr lang="en-AU" dirty="0"/>
              <a:t>For the example below find the size of the angle </a:t>
            </a:r>
            <a:r>
              <a:rPr lang="en-AU" dirty="0">
                <a:sym typeface="Symbol" panose="05050102010706020507" pitchFamily="18" charset="2"/>
              </a:rPr>
              <a:t>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A7031-5FC8-411F-BAAE-C9DEA23B5117}"/>
              </a:ext>
            </a:extLst>
          </p:cNvPr>
          <p:cNvSpPr txBox="1"/>
          <p:nvPr/>
        </p:nvSpPr>
        <p:spPr>
          <a:xfrm>
            <a:off x="2345397" y="2552560"/>
            <a:ext cx="55496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err="1"/>
              <a:t>Hyp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E8E3A-AD54-4BD1-BD46-2C237A9FE27A}"/>
              </a:ext>
            </a:extLst>
          </p:cNvPr>
          <p:cNvSpPr txBox="1"/>
          <p:nvPr/>
        </p:nvSpPr>
        <p:spPr>
          <a:xfrm>
            <a:off x="5677171" y="2508471"/>
            <a:ext cx="580608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err="1"/>
              <a:t>Opp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A7E9B-EA61-4B32-95F2-B84EAE059F53}"/>
              </a:ext>
            </a:extLst>
          </p:cNvPr>
          <p:cNvSpPr txBox="1"/>
          <p:nvPr/>
        </p:nvSpPr>
        <p:spPr>
          <a:xfrm>
            <a:off x="4058709" y="4286973"/>
            <a:ext cx="88678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Angle </a:t>
            </a:r>
            <a:r>
              <a:rPr lang="en-AU" dirty="0">
                <a:sym typeface="Symbol" panose="05050102010706020507" pitchFamily="18" charset="2"/>
              </a:rPr>
              <a:t>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9DFB85-F90F-46A4-BADF-3E7F894C4607}"/>
              </a:ext>
            </a:extLst>
          </p:cNvPr>
          <p:cNvCxnSpPr>
            <a:cxnSpLocks/>
          </p:cNvCxnSpPr>
          <p:nvPr/>
        </p:nvCxnSpPr>
        <p:spPr>
          <a:xfrm flipH="1" flipV="1">
            <a:off x="3974669" y="3368334"/>
            <a:ext cx="388164" cy="92216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10C819-0CE9-4811-A8AA-DFD1F3E91A74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5175275" y="2641145"/>
            <a:ext cx="484022" cy="1770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600230-9A46-4B88-BBB0-AA2570F5AD1A}"/>
              </a:ext>
            </a:extLst>
          </p:cNvPr>
          <p:cNvCxnSpPr>
            <a:cxnSpLocks/>
          </p:cNvCxnSpPr>
          <p:nvPr/>
        </p:nvCxnSpPr>
        <p:spPr>
          <a:xfrm flipV="1">
            <a:off x="2900357" y="2693136"/>
            <a:ext cx="1158352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54230-95ED-4868-882E-359190F0EC71}"/>
                  </a:ext>
                </a:extLst>
              </p:cNvPr>
              <p:cNvSpPr txBox="1"/>
              <p:nvPr/>
            </p:nvSpPr>
            <p:spPr>
              <a:xfrm>
                <a:off x="6405942" y="2249438"/>
                <a:ext cx="2109039" cy="21377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360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𝑶𝒑𝒑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𝒉𝒚𝒑</m:t>
                          </m:r>
                        </m:den>
                      </m:f>
                    </m:oMath>
                  </m:oMathPara>
                </a14:m>
                <a:endParaRPr lang="en-AU" b="1" dirty="0">
                  <a:ea typeface="Cambria Math" panose="02040503050406030204" pitchFamily="18" charset="0"/>
                </a:endParaRPr>
              </a:p>
              <a:p>
                <a:r>
                  <a:rPr lang="en-AU" b="1" dirty="0"/>
                  <a:t>             </a:t>
                </a:r>
                <a14:m>
                  <m:oMath xmlns:m="http://schemas.openxmlformats.org/officeDocument/2006/math">
                    <m:r>
                      <a:rPr lang="en-AU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endParaRPr lang="en-AU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𝟓𝟕𝟏𝟒</m:t>
                      </m:r>
                    </m:oMath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𝒔𝒊𝒏</m:t>
                          </m:r>
                        </m:e>
                        <m:sup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𝟑𝟒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𝟖𝟓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54230-95ED-4868-882E-359190F0E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942" y="2249438"/>
                <a:ext cx="2109039" cy="21377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646885-BE7D-4D5B-8F2F-45010FB6BE66}"/>
              </a:ext>
            </a:extLst>
          </p:cNvPr>
          <p:cNvCxnSpPr>
            <a:cxnSpLocks/>
          </p:cNvCxnSpPr>
          <p:nvPr/>
        </p:nvCxnSpPr>
        <p:spPr>
          <a:xfrm flipH="1" flipV="1">
            <a:off x="8005213" y="3710146"/>
            <a:ext cx="1331147" cy="23787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D877D2F-88DA-48DD-B2E7-2BA32CA7BFC2}"/>
              </a:ext>
            </a:extLst>
          </p:cNvPr>
          <p:cNvSpPr txBox="1"/>
          <p:nvPr/>
        </p:nvSpPr>
        <p:spPr>
          <a:xfrm>
            <a:off x="8369197" y="3948025"/>
            <a:ext cx="329288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This is </a:t>
            </a:r>
            <a:r>
              <a:rPr lang="en-AU" dirty="0">
                <a:sym typeface="Symbol" panose="05050102010706020507" pitchFamily="18" charset="2"/>
              </a:rPr>
              <a:t> =</a:t>
            </a:r>
            <a:r>
              <a:rPr lang="en-AU" dirty="0"/>
              <a:t> Shift or 2</a:t>
            </a:r>
            <a:r>
              <a:rPr lang="en-AU" baseline="30000" dirty="0"/>
              <a:t>nd</a:t>
            </a:r>
            <a:r>
              <a:rPr lang="en-AU" dirty="0"/>
              <a:t>F sin</a:t>
            </a:r>
            <a:r>
              <a:rPr lang="en-AU" baseline="30000" dirty="0"/>
              <a:t>-1</a:t>
            </a:r>
            <a:r>
              <a:rPr lang="en-AU" dirty="0"/>
              <a:t> (4/7)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290689-3B1F-4D10-85B5-B07BCEE6D6C9}"/>
              </a:ext>
            </a:extLst>
          </p:cNvPr>
          <p:cNvSpPr txBox="1"/>
          <p:nvPr/>
        </p:nvSpPr>
        <p:spPr>
          <a:xfrm>
            <a:off x="7689915" y="5224067"/>
            <a:ext cx="3806685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Note we use (4/7) instead of 0.5714 because (4/7) is the exact number whereas 0.5714 is an approximation.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E8784A-6A88-485C-9C48-059FAE810E49}"/>
              </a:ext>
            </a:extLst>
          </p:cNvPr>
          <p:cNvCxnSpPr>
            <a:cxnSpLocks/>
          </p:cNvCxnSpPr>
          <p:nvPr/>
        </p:nvCxnSpPr>
        <p:spPr>
          <a:xfrm flipH="1" flipV="1">
            <a:off x="7993123" y="3969975"/>
            <a:ext cx="521858" cy="12426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27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3DF2D-3A59-4F08-945F-43AB1F1388E4}"/>
              </a:ext>
            </a:extLst>
          </p:cNvPr>
          <p:cNvSpPr/>
          <p:nvPr/>
        </p:nvSpPr>
        <p:spPr>
          <a:xfrm>
            <a:off x="145774" y="159500"/>
            <a:ext cx="11887199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dirty="0"/>
              <a:t>Now complete exercise 17.3  page 232 in the  Dwyer Textbook Q1-6, see below and the worksheet 3a Trig – Sin ratio for finding an angle.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dirty="0"/>
              <a:t>Please draw and label each triangle from the text to your Interactive Notebook.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6973B-8969-4922-B00E-E518BE58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05" y="2504438"/>
            <a:ext cx="9206535" cy="435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8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579894-D2E7-4212-BACF-263EB98EEF13}"/>
              </a:ext>
            </a:extLst>
          </p:cNvPr>
          <p:cNvSpPr txBox="1"/>
          <p:nvPr/>
        </p:nvSpPr>
        <p:spPr>
          <a:xfrm>
            <a:off x="3242930" y="1073888"/>
            <a:ext cx="194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Answers to Ex 17.3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4AE43-F802-413C-AEA9-1AF2BD567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152" y="2297181"/>
            <a:ext cx="82772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9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C6A06-C46D-4EC0-8418-C4D77E336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14" y="0"/>
            <a:ext cx="4823790" cy="688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2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A6A1E-B9E4-4143-A775-B3EB5A42FA43}"/>
              </a:ext>
            </a:extLst>
          </p:cNvPr>
          <p:cNvSpPr txBox="1"/>
          <p:nvPr/>
        </p:nvSpPr>
        <p:spPr>
          <a:xfrm>
            <a:off x="1563757" y="2160104"/>
            <a:ext cx="1585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Answers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6EB044-56F3-49E6-B1BA-FAAD5848A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07" y="-17546"/>
            <a:ext cx="4679328" cy="68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7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338</Words>
  <Application>Microsoft Office PowerPoint</Application>
  <PresentationFormat>Widescreen</PresentationFormat>
  <Paragraphs>57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Kiwi School Handwriting</vt:lpstr>
      <vt:lpstr>Wingdings</vt:lpstr>
      <vt:lpstr>Office Theme</vt:lpstr>
      <vt:lpstr>Trigonometry – The Sine Ratio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– The Sine Ratio</dc:title>
  <dc:creator>MCALLISTER Robert [Baldivis Secondary College]</dc:creator>
  <cp:lastModifiedBy>MCALLISTER Robert [Baldivis Secondary College]</cp:lastModifiedBy>
  <cp:revision>6</cp:revision>
  <dcterms:created xsi:type="dcterms:W3CDTF">2020-04-09T04:10:42Z</dcterms:created>
  <dcterms:modified xsi:type="dcterms:W3CDTF">2020-04-09T06:18:27Z</dcterms:modified>
</cp:coreProperties>
</file>
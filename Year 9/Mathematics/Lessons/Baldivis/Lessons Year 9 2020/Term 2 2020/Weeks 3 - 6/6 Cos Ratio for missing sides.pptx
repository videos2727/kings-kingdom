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9573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317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0491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9514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126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6009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7264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5999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7719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4511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285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1002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637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134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6236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3120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265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EB46E97-1BBD-C745-A04D-2432D49679E0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10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Cosine Ratio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EQ: How do I find missing side lengths using Sine Ratio?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7739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821" y="123165"/>
            <a:ext cx="1892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 smtClean="0"/>
              <a:t>Sine Ratio</a:t>
            </a:r>
            <a:endParaRPr lang="en-AU" sz="3200" dirty="0"/>
          </a:p>
        </p:txBody>
      </p:sp>
      <p:sp>
        <p:nvSpPr>
          <p:cNvPr id="6" name="Right Triangle 5">
            <a:extLst>
              <a:ext uri="{FF2B5EF4-FFF2-40B4-BE49-F238E27FC236}">
                <a16:creationId xmlns=""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>
            <a:off x="2724884" y="5645970"/>
            <a:ext cx="20267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 smtClean="0"/>
              <a:t>Adjacent</a:t>
            </a:r>
            <a:endParaRPr lang="en-GB" sz="400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5701688" y="4973217"/>
            <a:ext cx="5581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400" smtClean="0"/>
              <a:t>ϴ</a:t>
            </a:r>
            <a:endParaRPr lang="en-GB" sz="4400" baseline="30000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 rot="2190158">
            <a:off x="2671478" y="2592279"/>
            <a:ext cx="26910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Hypotenuse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588" y="78415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131450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2821" y="860369"/>
            <a:ext cx="53879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EQ: How do I find missing side lengths using Sine Ratio?</a:t>
            </a:r>
          </a:p>
          <a:p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7327392" y="1926336"/>
            <a:ext cx="44013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Cosine Ratio is used when you have the </a:t>
            </a:r>
            <a:r>
              <a:rPr lang="en-AU" b="1" dirty="0" smtClean="0"/>
              <a:t>Hypotenuse</a:t>
            </a:r>
            <a:r>
              <a:rPr lang="en-AU" dirty="0" smtClean="0"/>
              <a:t> and </a:t>
            </a:r>
            <a:r>
              <a:rPr lang="en-AU" b="1" dirty="0" smtClean="0"/>
              <a:t>Adjacent</a:t>
            </a:r>
            <a:r>
              <a:rPr lang="en-AU" dirty="0" smtClean="0"/>
              <a:t> sides on a right angle triangle. </a:t>
            </a:r>
          </a:p>
          <a:p>
            <a:endParaRPr lang="en-AU" dirty="0"/>
          </a:p>
          <a:p>
            <a:r>
              <a:rPr lang="en-AU" dirty="0" smtClean="0"/>
              <a:t>Remember- the </a:t>
            </a:r>
            <a:r>
              <a:rPr lang="en-AU" b="1" dirty="0" smtClean="0"/>
              <a:t>hypotenuse</a:t>
            </a:r>
            <a:r>
              <a:rPr lang="en-AU" dirty="0" smtClean="0"/>
              <a:t> is the longest side on the triangle, and is always opposite from the right angle. The </a:t>
            </a:r>
            <a:r>
              <a:rPr lang="en-AU" b="1" dirty="0" smtClean="0"/>
              <a:t>adjacent </a:t>
            </a:r>
            <a:r>
              <a:rPr lang="en-AU" dirty="0" smtClean="0"/>
              <a:t>is the side next to the angle.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522465" y="4718304"/>
                <a:ext cx="4206240" cy="1634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Cosine of any angle (</a:t>
                </a:r>
                <a:r>
                  <a:rPr lang="el-GR" dirty="0" smtClean="0"/>
                  <a:t>ϴ</a:t>
                </a:r>
                <a:r>
                  <a:rPr lang="en-AU" dirty="0" smtClean="0"/>
                  <a:t>) always is equal to </a:t>
                </a:r>
                <a:r>
                  <a:rPr lang="en-AU" dirty="0" err="1" smtClean="0"/>
                  <a:t>Adajcent</a:t>
                </a:r>
                <a:r>
                  <a:rPr lang="en-AU" dirty="0" smtClean="0"/>
                  <a:t> divided by Hypotenuse</a:t>
                </a:r>
              </a:p>
              <a:p>
                <a:endParaRPr lang="en-AU" dirty="0"/>
              </a:p>
              <a:p>
                <a:r>
                  <a:rPr lang="en-AU" dirty="0" smtClean="0"/>
                  <a:t>-&gt; Cos(</a:t>
                </a:r>
                <a:r>
                  <a:rPr lang="el-GR" dirty="0" smtClean="0"/>
                  <a:t>ϴ</a:t>
                </a:r>
                <a:r>
                  <a:rPr lang="en-AU" baseline="30000" dirty="0" smtClean="0"/>
                  <a:t>o</a:t>
                </a:r>
                <a:r>
                  <a:rPr lang="en-GB" dirty="0" smtClean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𝐴𝑑𝑗𝑎𝑐𝑒𝑛𝑡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𝐻𝑦𝑝𝑜𝑡𝑒𝑛𝑢𝑠𝑒</m:t>
                        </m:r>
                      </m:den>
                    </m:f>
                  </m:oMath>
                </a14:m>
                <a:endParaRPr lang="en-GB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465" y="4718304"/>
                <a:ext cx="4206240" cy="1634230"/>
              </a:xfrm>
              <a:prstGeom prst="rect">
                <a:avLst/>
              </a:prstGeom>
              <a:blipFill rotWithShape="0">
                <a:blip r:embed="rId2"/>
                <a:stretch>
                  <a:fillRect l="-1159" t="-18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10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 smtClean="0"/>
              <a:t>Cosine- Variable above the number</a:t>
            </a:r>
            <a:endParaRPr lang="en-AU" dirty="0"/>
          </a:p>
        </p:txBody>
      </p:sp>
      <p:sp>
        <p:nvSpPr>
          <p:cNvPr id="4" name="Right Triangle 3">
            <a:extLst>
              <a:ext uri="{FF2B5EF4-FFF2-40B4-BE49-F238E27FC236}">
                <a16:creationId xmlns=""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>
            <a:off x="3056489" y="5742658"/>
            <a:ext cx="9605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 smtClean="0"/>
              <a:t>Y m</a:t>
            </a:r>
            <a:endParaRPr lang="en-GB" sz="4000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5274968" y="4973217"/>
            <a:ext cx="9541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 smtClean="0"/>
              <a:t>47</a:t>
            </a:r>
            <a:r>
              <a:rPr lang="en-AU" sz="4400" baseline="30000" dirty="0" smtClean="0"/>
              <a:t>o</a:t>
            </a:r>
            <a:endParaRPr lang="en-GB" sz="4400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 rot="2190158">
            <a:off x="3402096" y="2592279"/>
            <a:ext cx="12298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 smtClean="0"/>
              <a:t>14 m</a:t>
            </a:r>
            <a:endParaRPr lang="en-GB" sz="4000" dirty="0"/>
          </a:p>
        </p:txBody>
      </p:sp>
      <p:sp>
        <p:nvSpPr>
          <p:cNvPr id="9" name="TextBox 8"/>
          <p:cNvSpPr txBox="1"/>
          <p:nvPr/>
        </p:nvSpPr>
        <p:spPr>
          <a:xfrm>
            <a:off x="7315201" y="1914144"/>
            <a:ext cx="45841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1- </a:t>
            </a:r>
            <a:r>
              <a:rPr lang="en-AU" dirty="0" smtClean="0">
                <a:solidFill>
                  <a:srgbClr val="FF0000"/>
                </a:solidFill>
              </a:rPr>
              <a:t>Label</a:t>
            </a:r>
            <a:r>
              <a:rPr lang="en-AU" dirty="0" smtClean="0"/>
              <a:t> the sides</a:t>
            </a:r>
          </a:p>
          <a:p>
            <a:r>
              <a:rPr lang="en-AU" dirty="0" smtClean="0"/>
              <a:t>2- Write the equation as </a:t>
            </a:r>
            <a:r>
              <a:rPr lang="en-AU" b="1" dirty="0" smtClean="0"/>
              <a:t>Cos(47) = y/14 </a:t>
            </a:r>
            <a:r>
              <a:rPr lang="en-AU" dirty="0" smtClean="0"/>
              <a:t>– </a:t>
            </a:r>
            <a:r>
              <a:rPr lang="en-AU" i="1" dirty="0"/>
              <a:t>y</a:t>
            </a:r>
            <a:r>
              <a:rPr lang="en-AU" i="1" dirty="0" smtClean="0"/>
              <a:t> is the adjacent length and 14 is the hypotenuse length. </a:t>
            </a:r>
          </a:p>
          <a:p>
            <a:r>
              <a:rPr lang="en-AU" dirty="0" smtClean="0"/>
              <a:t>3- Because the 14 is below the y, we multiply both side by 14 to isolate y. </a:t>
            </a:r>
          </a:p>
          <a:p>
            <a:r>
              <a:rPr lang="en-AU" dirty="0" smtClean="0"/>
              <a:t>4- Write the new equation as </a:t>
            </a:r>
            <a:r>
              <a:rPr lang="en-AU" b="1" dirty="0" smtClean="0"/>
              <a:t>14xCos(47) = y</a:t>
            </a:r>
          </a:p>
          <a:p>
            <a:r>
              <a:rPr lang="en-AU" dirty="0" smtClean="0"/>
              <a:t>5- Use your calculator to solve 14xCos(47)</a:t>
            </a:r>
          </a:p>
          <a:p>
            <a:r>
              <a:rPr lang="en-AU" dirty="0" smtClean="0"/>
              <a:t>6- y = 9.5479</a:t>
            </a:r>
            <a:r>
              <a:rPr lang="is-IS" dirty="0" smtClean="0"/>
              <a:t>…*round to 2 dp* -&gt; 9.55m</a:t>
            </a:r>
            <a:endParaRPr lang="en-AU" dirty="0" smtClean="0"/>
          </a:p>
          <a:p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4718304" y="3425952"/>
            <a:ext cx="1315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Hypotenuse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81853" y="6301363"/>
            <a:ext cx="1014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Adjacent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503" y="1072429"/>
            <a:ext cx="5589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How do I find missing side lengths using </a:t>
            </a:r>
            <a:r>
              <a:rPr lang="en-AU" dirty="0"/>
              <a:t>C</a:t>
            </a:r>
            <a:r>
              <a:rPr lang="en-AU" dirty="0" smtClean="0"/>
              <a:t>osine Ratio?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40129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=""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>
            <a:off x="3147417" y="5742658"/>
            <a:ext cx="12298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 smtClean="0"/>
              <a:t>13 m</a:t>
            </a:r>
            <a:endParaRPr lang="en-GB" sz="4000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5262442" y="4915307"/>
            <a:ext cx="9541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smtClean="0"/>
              <a:t>32</a:t>
            </a:r>
            <a:r>
              <a:rPr lang="en-AU" sz="4400" baseline="30000" smtClean="0"/>
              <a:t>o</a:t>
            </a:r>
            <a:endParaRPr lang="en-GB" sz="4400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 rot="2190158">
            <a:off x="3541557" y="2592279"/>
            <a:ext cx="950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 smtClean="0"/>
              <a:t>Z m</a:t>
            </a:r>
            <a:endParaRPr lang="en-GB" sz="4000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 smtClean="0"/>
              <a:t>Cosine – Variable below the number</a:t>
            </a:r>
            <a:endParaRPr lang="en-AU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7503" y="1072429"/>
            <a:ext cx="56171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How do I find missing side lengths using Cosine Ratio?</a:t>
            </a:r>
          </a:p>
          <a:p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4718304" y="3425952"/>
            <a:ext cx="1315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Hypotenuse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47417" y="6342843"/>
            <a:ext cx="1014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Adjacent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1" y="1914144"/>
            <a:ext cx="45841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1- </a:t>
            </a:r>
            <a:r>
              <a:rPr lang="en-AU" dirty="0" smtClean="0">
                <a:solidFill>
                  <a:srgbClr val="FF0000"/>
                </a:solidFill>
              </a:rPr>
              <a:t>Label</a:t>
            </a:r>
            <a:r>
              <a:rPr lang="en-AU" dirty="0" smtClean="0"/>
              <a:t> the sides</a:t>
            </a:r>
          </a:p>
          <a:p>
            <a:r>
              <a:rPr lang="en-AU" dirty="0" smtClean="0"/>
              <a:t>2- Write the equation as </a:t>
            </a:r>
            <a:r>
              <a:rPr lang="en-AU" b="1" dirty="0" smtClean="0"/>
              <a:t>Cos(32) = 13/z </a:t>
            </a:r>
            <a:r>
              <a:rPr lang="en-AU" dirty="0" smtClean="0"/>
              <a:t>– </a:t>
            </a:r>
            <a:r>
              <a:rPr lang="en-AU" i="1" dirty="0" smtClean="0"/>
              <a:t>z is the Hypotenuse length and 13 is the opposite length. </a:t>
            </a:r>
          </a:p>
          <a:p>
            <a:r>
              <a:rPr lang="en-AU" dirty="0" smtClean="0"/>
              <a:t>3- Because the z is below the 13, we swap the ratio with the variable.</a:t>
            </a:r>
          </a:p>
          <a:p>
            <a:r>
              <a:rPr lang="en-AU" dirty="0" smtClean="0"/>
              <a:t>4- Write the new equation as </a:t>
            </a:r>
            <a:r>
              <a:rPr lang="en-AU" b="1" dirty="0" smtClean="0"/>
              <a:t>13/Cos(32) = z</a:t>
            </a:r>
          </a:p>
          <a:p>
            <a:r>
              <a:rPr lang="en-AU" dirty="0" smtClean="0"/>
              <a:t>5- Use your calculator to solve 13/cos(32)</a:t>
            </a:r>
          </a:p>
          <a:p>
            <a:r>
              <a:rPr lang="en-AU" dirty="0" smtClean="0"/>
              <a:t>6- z = 15.3294</a:t>
            </a:r>
            <a:r>
              <a:rPr lang="is-IS" dirty="0" smtClean="0"/>
              <a:t>…*round to 2 dp* -&gt; 15.33m</a:t>
            </a:r>
            <a:endParaRPr lang="en-AU" dirty="0" smtClean="0"/>
          </a:p>
        </p:txBody>
      </p:sp>
      <p:sp>
        <p:nvSpPr>
          <p:cNvPr id="21" name="TextBox 20"/>
          <p:cNvSpPr txBox="1"/>
          <p:nvPr/>
        </p:nvSpPr>
        <p:spPr>
          <a:xfrm>
            <a:off x="7315201" y="4700574"/>
            <a:ext cx="48598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KEY NOTES: if Z is smaller than the number you used, you did something wrong – Z should be the biggest number because it is the hypotenuse.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0195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Key </a:t>
            </a:r>
            <a:r>
              <a:rPr lang="en-AU" dirty="0"/>
              <a:t>i</a:t>
            </a:r>
            <a:r>
              <a:rPr lang="en-AU" dirty="0" smtClean="0"/>
              <a:t>nformation from yesterday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AU" dirty="0" smtClean="0"/>
              <a:t>When the number is below the variable – Multiply both sides by the Variable. [TIMES]</a:t>
            </a:r>
          </a:p>
          <a:p>
            <a:r>
              <a:rPr lang="en-AU" dirty="0" smtClean="0"/>
              <a:t>When the number is above the variable – Divide the number by (Ratio x </a:t>
            </a:r>
            <a:r>
              <a:rPr lang="en-AU" dirty="0"/>
              <a:t>A</a:t>
            </a:r>
            <a:r>
              <a:rPr lang="en-AU" dirty="0" smtClean="0"/>
              <a:t>ngle). </a:t>
            </a:r>
            <a:r>
              <a:rPr lang="en-AU" dirty="0"/>
              <a:t>[</a:t>
            </a:r>
            <a:r>
              <a:rPr lang="en-AU" dirty="0" smtClean="0"/>
              <a:t>SWAP]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30729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Practise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989" y="1652636"/>
            <a:ext cx="10296742" cy="520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577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634630" y="2379291"/>
            <a:ext cx="2668044" cy="3477875"/>
          </a:xfrm>
        </p:spPr>
        <p:txBody>
          <a:bodyPr>
            <a:normAutofit/>
          </a:bodyPr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eriod"/>
              <a:tabLst/>
              <a:defRPr/>
            </a:pPr>
            <a:r>
              <a:rPr lang="en-AU" cap="none" dirty="0" smtClean="0"/>
              <a:t>cos(30) = p/5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AU" cap="none" dirty="0"/>
              <a:t> </a:t>
            </a:r>
            <a:r>
              <a:rPr lang="en-AU" cap="none" dirty="0" smtClean="0"/>
              <a:t>     5 x cos(30) = p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AU" cap="none" dirty="0"/>
              <a:t> </a:t>
            </a:r>
            <a:r>
              <a:rPr lang="en-AU" cap="none" dirty="0" smtClean="0"/>
              <a:t>     </a:t>
            </a:r>
            <a:r>
              <a:rPr lang="en-AU" u="sng" cap="none" dirty="0" smtClean="0"/>
              <a:t>4.33 = p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AU" u="sng" cap="none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AU" cap="none" dirty="0" smtClean="0"/>
              <a:t>b.   cos(69) = b/67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AU" cap="none" dirty="0" smtClean="0"/>
              <a:t>     67 x cos(69) = b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AU" cap="none" dirty="0" smtClean="0"/>
              <a:t>    </a:t>
            </a:r>
            <a:r>
              <a:rPr lang="en-AU" u="sng" cap="none" dirty="0" smtClean="0"/>
              <a:t>24.01 = b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AU" u="sng" cap="none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AU" cap="none" dirty="0" smtClean="0"/>
              <a:t>c.  Cos (71) = e/24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AU" cap="none" dirty="0" smtClean="0"/>
              <a:t>    24 x cos(71) = 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AU" cap="none" dirty="0" smtClean="0"/>
              <a:t>    </a:t>
            </a:r>
            <a:r>
              <a:rPr lang="en-AU" u="sng" cap="none" dirty="0" smtClean="0"/>
              <a:t>7.81 = 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7092"/>
            <a:ext cx="4509370" cy="22796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90772" y="2379291"/>
            <a:ext cx="320666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d. cos(25) = q/39</a:t>
            </a:r>
          </a:p>
          <a:p>
            <a:r>
              <a:rPr lang="en-AU" sz="2000" dirty="0" smtClean="0"/>
              <a:t>    39 x cos(25) = q</a:t>
            </a:r>
          </a:p>
          <a:p>
            <a:r>
              <a:rPr lang="en-AU" sz="2000" dirty="0" smtClean="0"/>
              <a:t>    </a:t>
            </a:r>
            <a:r>
              <a:rPr lang="en-AU" sz="2000" u="sng" dirty="0" smtClean="0"/>
              <a:t>35.35 = q</a:t>
            </a:r>
          </a:p>
          <a:p>
            <a:endParaRPr lang="en-AU" sz="2000" dirty="0"/>
          </a:p>
          <a:p>
            <a:r>
              <a:rPr lang="en-AU" sz="2000" dirty="0" smtClean="0"/>
              <a:t>e. cos(62) = r/8.6</a:t>
            </a:r>
          </a:p>
          <a:p>
            <a:r>
              <a:rPr lang="en-AU" sz="2000" dirty="0" smtClean="0"/>
              <a:t>   8.6 x cos(62) = r</a:t>
            </a:r>
          </a:p>
          <a:p>
            <a:r>
              <a:rPr lang="en-AU" sz="2000" dirty="0" smtClean="0"/>
              <a:t>   </a:t>
            </a:r>
            <a:r>
              <a:rPr lang="en-AU" sz="2000" u="sng" dirty="0" smtClean="0"/>
              <a:t>4.04 = r</a:t>
            </a:r>
          </a:p>
          <a:p>
            <a:endParaRPr lang="en-AU" sz="2000" dirty="0"/>
          </a:p>
          <a:p>
            <a:r>
              <a:rPr lang="en-AU" sz="2000" dirty="0" smtClean="0"/>
              <a:t>f. cos(28) = n/2.95</a:t>
            </a:r>
          </a:p>
          <a:p>
            <a:r>
              <a:rPr lang="en-AU" sz="2000" dirty="0" smtClean="0"/>
              <a:t>   2.95 x cos(28) = n</a:t>
            </a:r>
          </a:p>
          <a:p>
            <a:r>
              <a:rPr lang="en-AU" sz="2000" dirty="0" smtClean="0"/>
              <a:t>   </a:t>
            </a:r>
            <a:r>
              <a:rPr lang="en-AU" sz="2000" u="sng" dirty="0" smtClean="0"/>
              <a:t>2.60 = n</a:t>
            </a:r>
            <a:endParaRPr lang="en-AU" sz="2000" u="sng" dirty="0"/>
          </a:p>
        </p:txBody>
      </p:sp>
    </p:spTree>
    <p:extLst>
      <p:ext uri="{BB962C8B-B14F-4D97-AF65-F5344CB8AC3E}">
        <p14:creationId xmlns:p14="http://schemas.microsoft.com/office/powerpoint/2010/main" val="143730157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30</TotalTime>
  <Words>481</Words>
  <Application>Microsoft Macintosh PowerPoint</Application>
  <PresentationFormat>Widescreen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Cambria Math</vt:lpstr>
      <vt:lpstr>Tw Cen MT</vt:lpstr>
      <vt:lpstr>Arial</vt:lpstr>
      <vt:lpstr>Droplet</vt:lpstr>
      <vt:lpstr>Cosine Ratio</vt:lpstr>
      <vt:lpstr>PowerPoint Presentation</vt:lpstr>
      <vt:lpstr>Cosine- Variable above the number</vt:lpstr>
      <vt:lpstr>Cosine – Variable below the number</vt:lpstr>
      <vt:lpstr>Key information from yesterday</vt:lpstr>
      <vt:lpstr>Practise</vt:lpstr>
      <vt:lpstr>ANSWERS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Cosine Ratio</dc:title>
  <dc:creator>POWER Travis [Baldivis Secondary College]</dc:creator>
  <cp:lastModifiedBy>POWER Travis [Baldivis Secondary College]</cp:lastModifiedBy>
  <cp:revision>5</cp:revision>
  <dcterms:created xsi:type="dcterms:W3CDTF">2018-10-07T11:57:23Z</dcterms:created>
  <dcterms:modified xsi:type="dcterms:W3CDTF">2018-10-08T00:23:53Z</dcterms:modified>
</cp:coreProperties>
</file>
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66"/>
  </p:normalViewPr>
  <p:slideViewPr>
    <p:cSldViewPr snapToGrid="0" snapToObjects="1">
      <p:cViewPr varScale="1">
        <p:scale>
          <a:sx n="90" d="100"/>
          <a:sy n="90" d="100"/>
        </p:scale>
        <p:origin x="1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EB639-7FA9-984F-A3BF-52CBBF76F396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306369-8B8D-254C-B3D4-D5C49C9464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9360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12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92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98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916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9291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0350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9594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14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1830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7086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849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2306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454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6865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421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9989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Trigonometry – The Tangent Ratio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498" y="3602038"/>
            <a:ext cx="9264502" cy="1655762"/>
          </a:xfrm>
        </p:spPr>
        <p:txBody>
          <a:bodyPr/>
          <a:lstStyle/>
          <a:p>
            <a:r>
              <a:rPr lang="en-GB" altLang="en-US" dirty="0"/>
              <a:t>EQ: What is the tan ratio and how can I apply it to right angled triangle?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0005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985015"/>
            <a:ext cx="184752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Why use Trig?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 dirty="0"/>
              <a:t>EQ: What is the tan ratio and how can I apply it to right angled triangle  ?</a:t>
            </a:r>
            <a:endParaRPr lang="en-US" altLang="en-US" sz="2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D62A523-CB7D-4A84-A8EC-D0162CB346C6}"/>
              </a:ext>
            </a:extLst>
          </p:cNvPr>
          <p:cNvSpPr txBox="1">
            <a:spLocks/>
          </p:cNvSpPr>
          <p:nvPr/>
        </p:nvSpPr>
        <p:spPr>
          <a:xfrm>
            <a:off x="2026066" y="3668942"/>
            <a:ext cx="9998108" cy="33263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Wingdings" panose="05000000000000000000" pitchFamily="2" charset="2"/>
              <a:buAutoNum type="arabicPeriod"/>
            </a:pPr>
            <a:r>
              <a:rPr lang="en-US" altLang="en-US" sz="2800" dirty="0"/>
              <a:t>Carpenters can work out the angle of pitch when building a house roof.</a:t>
            </a:r>
          </a:p>
          <a:p>
            <a:pPr marL="514350" indent="-514350">
              <a:buFont typeface="Wingdings" panose="05000000000000000000" pitchFamily="2" charset="2"/>
              <a:buAutoNum type="arabicPeriod"/>
            </a:pPr>
            <a:r>
              <a:rPr lang="en-US" altLang="en-US" sz="2800" dirty="0"/>
              <a:t>Building surveyors can determine the heights of tower blocks.</a:t>
            </a:r>
          </a:p>
          <a:p>
            <a:pPr marL="514350" indent="-514350">
              <a:buFont typeface="Wingdings" panose="05000000000000000000" pitchFamily="2" charset="2"/>
              <a:buAutoNum type="arabicPeriod"/>
            </a:pPr>
            <a:r>
              <a:rPr lang="en-US" altLang="en-US" sz="2800" dirty="0"/>
              <a:t>Military ships can accurately position potential enemy submarines.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2DBA09D-F10A-4784-872C-0FC6D6E8EFF3}"/>
              </a:ext>
            </a:extLst>
          </p:cNvPr>
          <p:cNvSpPr txBox="1">
            <a:spLocks noChangeArrowheads="1"/>
          </p:cNvSpPr>
          <p:nvPr/>
        </p:nvSpPr>
        <p:spPr>
          <a:xfrm>
            <a:off x="2744883" y="1738377"/>
            <a:ext cx="5016883" cy="914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latin typeface="+mn-lt"/>
              </a:rPr>
              <a:t>Real life applications of trigonometry</a:t>
            </a:r>
          </a:p>
        </p:txBody>
      </p:sp>
      <p:pic>
        <p:nvPicPr>
          <p:cNvPr id="1026" name="Picture 2" descr="Carpenters Setting up a Half-timbered Building and the Timber Ro">
            <a:extLst>
              <a:ext uri="{FF2B5EF4-FFF2-40B4-BE49-F238E27FC236}">
                <a16:creationId xmlns:a16="http://schemas.microsoft.com/office/drawing/2014/main" id="{F88D997A-DE5E-460E-95F2-41C44240EF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21"/>
          <a:stretch/>
        </p:blipFill>
        <p:spPr bwMode="auto">
          <a:xfrm>
            <a:off x="7895561" y="1350105"/>
            <a:ext cx="3364316" cy="2267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465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985015"/>
            <a:ext cx="184752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the Tan Ratio?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 dirty="0"/>
              <a:t>EQ: What is the tan ratio and how can I apply it to right angled triangle  ?</a:t>
            </a:r>
            <a:endParaRPr lang="en-US" altLang="en-US" sz="2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F385224-AD11-4022-94FD-1BBA5C31A8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47" t="3352" r="2336" b="2116"/>
          <a:stretch/>
        </p:blipFill>
        <p:spPr>
          <a:xfrm>
            <a:off x="577502" y="2837956"/>
            <a:ext cx="5486397" cy="3997842"/>
          </a:xfrm>
          <a:prstGeom prst="rect">
            <a:avLst/>
          </a:prstGeom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5312458D-1738-4DFE-8704-1D0A36800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07" y="1526816"/>
            <a:ext cx="5329237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9F2447-36F9-4005-BE4D-5B7ACF39EDC8}"/>
              </a:ext>
            </a:extLst>
          </p:cNvPr>
          <p:cNvSpPr txBox="1"/>
          <p:nvPr/>
        </p:nvSpPr>
        <p:spPr>
          <a:xfrm>
            <a:off x="9617798" y="1749010"/>
            <a:ext cx="1467774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Opposite side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FF8B74-278B-42CE-ADED-009ACE667FC3}"/>
              </a:ext>
            </a:extLst>
          </p:cNvPr>
          <p:cNvSpPr txBox="1"/>
          <p:nvPr/>
        </p:nvSpPr>
        <p:spPr>
          <a:xfrm>
            <a:off x="9682593" y="2837956"/>
            <a:ext cx="1447319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Adjacent side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D20760-EA17-49A7-AAA6-6FBF09F0B623}"/>
              </a:ext>
            </a:extLst>
          </p:cNvPr>
          <p:cNvSpPr txBox="1"/>
          <p:nvPr/>
        </p:nvSpPr>
        <p:spPr>
          <a:xfrm>
            <a:off x="5839811" y="4078331"/>
            <a:ext cx="1738361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Tangent of angle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E20DA95-147B-4A05-A75E-3F068C2B8CFF}"/>
              </a:ext>
            </a:extLst>
          </p:cNvPr>
          <p:cNvCxnSpPr/>
          <p:nvPr/>
        </p:nvCxnSpPr>
        <p:spPr>
          <a:xfrm flipH="1" flipV="1">
            <a:off x="4890977" y="2815754"/>
            <a:ext cx="1131831" cy="126257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ABDC76-BF34-4127-85B5-F6111631466C}"/>
              </a:ext>
            </a:extLst>
          </p:cNvPr>
          <p:cNvCxnSpPr>
            <a:cxnSpLocks/>
          </p:cNvCxnSpPr>
          <p:nvPr/>
        </p:nvCxnSpPr>
        <p:spPr>
          <a:xfrm flipH="1" flipV="1">
            <a:off x="8550762" y="3022622"/>
            <a:ext cx="1131832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1128EF4-95DA-4FEA-A72B-197617424F2F}"/>
              </a:ext>
            </a:extLst>
          </p:cNvPr>
          <p:cNvCxnSpPr>
            <a:cxnSpLocks/>
          </p:cNvCxnSpPr>
          <p:nvPr/>
        </p:nvCxnSpPr>
        <p:spPr>
          <a:xfrm flipH="1" flipV="1">
            <a:off x="8550762" y="1985015"/>
            <a:ext cx="1067036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3B4D3B2-0C31-4F6E-9E1A-BF9E38E7724D}"/>
                  </a:ext>
                </a:extLst>
              </p:cNvPr>
              <p:cNvSpPr txBox="1"/>
              <p:nvPr/>
            </p:nvSpPr>
            <p:spPr>
              <a:xfrm>
                <a:off x="8016949" y="4976037"/>
                <a:ext cx="2930418" cy="938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This is generally shortened to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𝒕𝒂𝒏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𝑶𝒑𝒑</m:t>
                          </m:r>
                        </m:num>
                        <m:den>
                          <m: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𝑨𝒅𝒋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3B4D3B2-0C31-4F6E-9E1A-BF9E38E77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6949" y="4976037"/>
                <a:ext cx="2930418" cy="938270"/>
              </a:xfrm>
              <a:prstGeom prst="rect">
                <a:avLst/>
              </a:prstGeom>
              <a:blipFill>
                <a:blip r:embed="rId5"/>
                <a:stretch>
                  <a:fillRect l="-1663" t="-3247" r="-104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7DC67CB-BB3D-4541-B4D1-53923ED2A3F9}"/>
              </a:ext>
            </a:extLst>
          </p:cNvPr>
          <p:cNvCxnSpPr>
            <a:cxnSpLocks/>
          </p:cNvCxnSpPr>
          <p:nvPr/>
        </p:nvCxnSpPr>
        <p:spPr>
          <a:xfrm>
            <a:off x="8133907" y="3657635"/>
            <a:ext cx="982771" cy="131840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63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985015"/>
            <a:ext cx="1847524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the Tan Ratio and now how do I use it?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 dirty="0"/>
              <a:t>EQ: What is the tan ratio and how can I apply it to right angled triangle  ?</a:t>
            </a:r>
            <a:endParaRPr lang="en-US" altLang="en-US" sz="2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1" name="Picture 4">
            <a:extLst>
              <a:ext uri="{FF2B5EF4-FFF2-40B4-BE49-F238E27FC236}">
                <a16:creationId xmlns:a16="http://schemas.microsoft.com/office/drawing/2014/main" id="{41648595-1146-4BC2-BC45-89BF6AD4E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066" y="1540095"/>
            <a:ext cx="10061016" cy="4765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945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985015"/>
            <a:ext cx="1847524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the Tan Ratio and now how do I use it?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 dirty="0"/>
              <a:t>EQ: What is the tan ratio and how can I apply it to right angled triangle  ?</a:t>
            </a:r>
            <a:endParaRPr lang="en-US" altLang="en-US" sz="2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EBCEBEE-ECD0-472A-9409-51B9646C1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588" y="2142460"/>
            <a:ext cx="1343025" cy="16287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1E997E-B509-4499-8C63-3CE630289B90}"/>
              </a:ext>
            </a:extLst>
          </p:cNvPr>
          <p:cNvSpPr txBox="1"/>
          <p:nvPr/>
        </p:nvSpPr>
        <p:spPr>
          <a:xfrm>
            <a:off x="2220601" y="1486320"/>
            <a:ext cx="48629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  <a:r>
              <a:rPr lang="en-AU" baseline="30000" dirty="0"/>
              <a:t>nd</a:t>
            </a:r>
            <a:r>
              <a:rPr lang="en-AU" dirty="0"/>
              <a:t> example</a:t>
            </a:r>
          </a:p>
          <a:p>
            <a:r>
              <a:rPr lang="en-AU" dirty="0"/>
              <a:t>For the example below find the size of the angle </a:t>
            </a:r>
            <a:r>
              <a:rPr lang="en-AU" dirty="0">
                <a:sym typeface="Symbol" panose="05050102010706020507" pitchFamily="18" charset="2"/>
              </a:rPr>
              <a:t></a:t>
            </a:r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5A7031-5FC8-411F-BAAE-C9DEA23B5117}"/>
              </a:ext>
            </a:extLst>
          </p:cNvPr>
          <p:cNvSpPr txBox="1"/>
          <p:nvPr/>
        </p:nvSpPr>
        <p:spPr>
          <a:xfrm>
            <a:off x="2749642" y="2471072"/>
            <a:ext cx="580608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err="1"/>
              <a:t>Opp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0E8E3A-AD54-4BD1-BD46-2C237A9FE27A}"/>
              </a:ext>
            </a:extLst>
          </p:cNvPr>
          <p:cNvSpPr txBox="1"/>
          <p:nvPr/>
        </p:nvSpPr>
        <p:spPr>
          <a:xfrm>
            <a:off x="2667030" y="3355972"/>
            <a:ext cx="494046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Adj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5A7E9B-EA61-4B32-95F2-B84EAE059F53}"/>
              </a:ext>
            </a:extLst>
          </p:cNvPr>
          <p:cNvSpPr txBox="1"/>
          <p:nvPr/>
        </p:nvSpPr>
        <p:spPr>
          <a:xfrm>
            <a:off x="3290174" y="3900060"/>
            <a:ext cx="886781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Angle </a:t>
            </a:r>
            <a:r>
              <a:rPr lang="en-AU" dirty="0">
                <a:sym typeface="Symbol" panose="05050102010706020507" pitchFamily="18" charset="2"/>
              </a:rPr>
              <a:t></a:t>
            </a:r>
            <a:endParaRPr lang="en-AU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600230-9A46-4B88-BBB0-AA2570F5AD1A}"/>
              </a:ext>
            </a:extLst>
          </p:cNvPr>
          <p:cNvCxnSpPr>
            <a:cxnSpLocks/>
          </p:cNvCxnSpPr>
          <p:nvPr/>
        </p:nvCxnSpPr>
        <p:spPr>
          <a:xfrm flipV="1">
            <a:off x="3372058" y="2392326"/>
            <a:ext cx="1125514" cy="18075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E9DFB85-F90F-46A4-BADF-3E7F894C4607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3161076" y="3395694"/>
            <a:ext cx="791077" cy="14494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10C819-0CE9-4811-A8AA-DFD1F3E91A74}"/>
              </a:ext>
            </a:extLst>
          </p:cNvPr>
          <p:cNvCxnSpPr>
            <a:cxnSpLocks/>
          </p:cNvCxnSpPr>
          <p:nvPr/>
        </p:nvCxnSpPr>
        <p:spPr>
          <a:xfrm flipV="1">
            <a:off x="3952153" y="3355972"/>
            <a:ext cx="449726" cy="52437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2254230-95ED-4868-882E-359190F0EC71}"/>
                  </a:ext>
                </a:extLst>
              </p:cNvPr>
              <p:cNvSpPr txBox="1"/>
              <p:nvPr/>
            </p:nvSpPr>
            <p:spPr>
              <a:xfrm>
                <a:off x="6405942" y="2249438"/>
                <a:ext cx="2193229" cy="22377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indent="360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𝒕𝒂𝒏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𝑶𝒑𝒑</m:t>
                          </m:r>
                        </m:num>
                        <m:den>
                          <m: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𝑨𝒅𝒋</m:t>
                          </m:r>
                        </m:den>
                      </m:f>
                    </m:oMath>
                  </m:oMathPara>
                </a14:m>
                <a:endParaRPr lang="en-AU" b="1" dirty="0">
                  <a:ea typeface="Cambria Math" panose="02040503050406030204" pitchFamily="18" charset="0"/>
                </a:endParaRPr>
              </a:p>
              <a:p>
                <a:r>
                  <a:rPr lang="en-AU" b="1" dirty="0"/>
                  <a:t>             </a:t>
                </a:r>
                <a14:m>
                  <m:oMath xmlns:m="http://schemas.openxmlformats.org/officeDocument/2006/math">
                    <m:r>
                      <a:rPr lang="en-AU" b="1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endParaRPr lang="en-AU" b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                =</m:t>
                      </m:r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𝟑𝟑𝟑𝟑</m:t>
                      </m:r>
                    </m:oMath>
                    <m:oMath xmlns:m="http://schemas.openxmlformats.org/officeDocument/2006/math"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𝒕𝒂𝒏</m:t>
                          </m:r>
                        </m:e>
                        <m:sup>
                          <m: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d>
                        <m:dPr>
                          <m:ctrlP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𝟖</m:t>
                              </m:r>
                            </m:num>
                            <m:den>
                              <m:r>
                                <a:rPr lang="en-A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𝟔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𝟓𝟑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𝟏𝟑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2254230-95ED-4868-882E-359190F0E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942" y="2249438"/>
                <a:ext cx="2193229" cy="22377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0EE0F1BD-3837-493E-A511-10811547FB84}"/>
              </a:ext>
            </a:extLst>
          </p:cNvPr>
          <p:cNvSpPr txBox="1"/>
          <p:nvPr/>
        </p:nvSpPr>
        <p:spPr>
          <a:xfrm>
            <a:off x="8599171" y="4302564"/>
            <a:ext cx="3272434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This is </a:t>
            </a:r>
            <a:r>
              <a:rPr lang="en-AU" dirty="0">
                <a:sym typeface="Symbol" panose="05050102010706020507" pitchFamily="18" charset="2"/>
              </a:rPr>
              <a:t> =</a:t>
            </a:r>
            <a:r>
              <a:rPr lang="en-AU" dirty="0"/>
              <a:t> Shift or 2</a:t>
            </a:r>
            <a:r>
              <a:rPr lang="en-AU" baseline="30000" dirty="0"/>
              <a:t>nd</a:t>
            </a:r>
            <a:r>
              <a:rPr lang="en-AU" dirty="0"/>
              <a:t>F tan</a:t>
            </a:r>
            <a:r>
              <a:rPr lang="en-AU" baseline="30000" dirty="0"/>
              <a:t>-1</a:t>
            </a:r>
            <a:r>
              <a:rPr lang="en-AU" dirty="0"/>
              <a:t> (8/6)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646885-BE7D-4D5B-8F2F-45010FB6BE66}"/>
              </a:ext>
            </a:extLst>
          </p:cNvPr>
          <p:cNvCxnSpPr>
            <a:cxnSpLocks/>
          </p:cNvCxnSpPr>
          <p:nvPr/>
        </p:nvCxnSpPr>
        <p:spPr>
          <a:xfrm flipH="1" flipV="1">
            <a:off x="8175334" y="3892708"/>
            <a:ext cx="936768" cy="37668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9E1BF68-79AD-4068-9E26-D3706F54F2AC}"/>
              </a:ext>
            </a:extLst>
          </p:cNvPr>
          <p:cNvSpPr txBox="1"/>
          <p:nvPr/>
        </p:nvSpPr>
        <p:spPr>
          <a:xfrm>
            <a:off x="7349673" y="5398271"/>
            <a:ext cx="3806685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Note we use (8/6) instead of 1.3333 because (8/6) is the exact number whereas 1.3333 is an approximation. 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70C1B1F-E36B-49A5-86B2-B03580974BFA}"/>
              </a:ext>
            </a:extLst>
          </p:cNvPr>
          <p:cNvCxnSpPr>
            <a:cxnSpLocks/>
          </p:cNvCxnSpPr>
          <p:nvPr/>
        </p:nvCxnSpPr>
        <p:spPr>
          <a:xfrm flipH="1" flipV="1">
            <a:off x="8080744" y="4114222"/>
            <a:ext cx="518427" cy="128405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276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63DF2D-3A59-4F08-945F-43AB1F1388E4}"/>
              </a:ext>
            </a:extLst>
          </p:cNvPr>
          <p:cNvSpPr/>
          <p:nvPr/>
        </p:nvSpPr>
        <p:spPr>
          <a:xfrm>
            <a:off x="145774" y="159500"/>
            <a:ext cx="11887199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/>
              <a:t>Now complete exercise 17.2  page 231 in the  Dwyer Textbook Q1-6, see below and the worksheet 2a Trig – Tan ratio for finding an angle.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/>
              <a:t>Please draw and label each triangle from the text to your Interactive Notebook.</a:t>
            </a:r>
            <a:endParaRPr lang="en-US" alt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06973B-8969-4922-B00E-E518BE580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105" y="2504438"/>
            <a:ext cx="9206535" cy="435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180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EA3199-47E1-4045-8E71-E47FD68D2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912" y="2203155"/>
            <a:ext cx="8258175" cy="495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579894-D2E7-4212-BACF-263EB98EEF13}"/>
              </a:ext>
            </a:extLst>
          </p:cNvPr>
          <p:cNvSpPr txBox="1"/>
          <p:nvPr/>
        </p:nvSpPr>
        <p:spPr>
          <a:xfrm>
            <a:off x="3242930" y="1073888"/>
            <a:ext cx="1948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Answers to Ex 17.2</a:t>
            </a:r>
          </a:p>
        </p:txBody>
      </p:sp>
    </p:spTree>
    <p:extLst>
      <p:ext uri="{BB962C8B-B14F-4D97-AF65-F5344CB8AC3E}">
        <p14:creationId xmlns:p14="http://schemas.microsoft.com/office/powerpoint/2010/main" val="3570798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5C954D-4513-4994-9847-CCD022F14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749" y="0"/>
            <a:ext cx="512850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421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3EDCD5-E719-43FE-9D83-A51D32398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461" y="0"/>
            <a:ext cx="4981435" cy="68966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AA6A1E-B9E4-4143-A775-B3EB5A42FA43}"/>
              </a:ext>
            </a:extLst>
          </p:cNvPr>
          <p:cNvSpPr txBox="1"/>
          <p:nvPr/>
        </p:nvSpPr>
        <p:spPr>
          <a:xfrm>
            <a:off x="1563757" y="2160104"/>
            <a:ext cx="15859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463773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332</Words>
  <Application>Microsoft Office PowerPoint</Application>
  <PresentationFormat>Widescreen</PresentationFormat>
  <Paragraphs>58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Kiwi School Handwriting</vt:lpstr>
      <vt:lpstr>Wingdings</vt:lpstr>
      <vt:lpstr>Office Theme</vt:lpstr>
      <vt:lpstr>Trigonometry – The Tangent Ratio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– Labelling sides</dc:title>
  <dc:creator>POWER Travis [Baldivis Secondary College]</dc:creator>
  <cp:lastModifiedBy>MCALLISTER Robert [Baldivis Secondary College]</cp:lastModifiedBy>
  <cp:revision>19</cp:revision>
  <dcterms:created xsi:type="dcterms:W3CDTF">2018-10-07T10:26:18Z</dcterms:created>
  <dcterms:modified xsi:type="dcterms:W3CDTF">2020-04-09T04:34:17Z</dcterms:modified>
</cp:coreProperties>
</file>
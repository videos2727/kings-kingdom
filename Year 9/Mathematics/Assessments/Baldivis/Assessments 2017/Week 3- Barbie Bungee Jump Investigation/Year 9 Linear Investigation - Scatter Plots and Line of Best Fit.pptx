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udio/unknown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3" r:id="rId2"/>
    <p:sldId id="270" r:id="rId3"/>
    <p:sldId id="272" r:id="rId4"/>
    <p:sldId id="292" r:id="rId5"/>
    <p:sldId id="293" r:id="rId6"/>
    <p:sldId id="294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7" autoAdjust="0"/>
    <p:restoredTop sz="94660"/>
  </p:normalViewPr>
  <p:slideViewPr>
    <p:cSldViewPr snapToGrid="0">
      <p:cViewPr>
        <p:scale>
          <a:sx n="110" d="100"/>
          <a:sy n="110" d="100"/>
        </p:scale>
        <p:origin x="104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22/10/17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4" Type="http://schemas.openxmlformats.org/officeDocument/2006/relationships/audio" Target="../media/audio4.bin"/><Relationship Id="rId5" Type="http://schemas.openxmlformats.org/officeDocument/2006/relationships/image" Target="../media/image3.jpeg"/><Relationship Id="rId6" Type="http://schemas.openxmlformats.org/officeDocument/2006/relationships/image" Target="../media/image5.png"/><Relationship Id="rId7" Type="http://schemas.openxmlformats.org/officeDocument/2006/relationships/image" Target="../media/image6.wmf"/><Relationship Id="rId8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audio" Target="../media/audio2.bin"/><Relationship Id="rId5" Type="http://schemas.openxmlformats.org/officeDocument/2006/relationships/image" Target="../media/image3.jpeg"/><Relationship Id="rId6" Type="http://schemas.openxmlformats.org/officeDocument/2006/relationships/image" Target="../media/image5.png"/><Relationship Id="rId7" Type="http://schemas.openxmlformats.org/officeDocument/2006/relationships/image" Target="../media/image6.wmf"/><Relationship Id="rId8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Year 9 Linear </a:t>
            </a:r>
            <a:r>
              <a:rPr lang="en-AU" sz="4800" dirty="0" smtClean="0">
                <a:latin typeface="+mn-lt"/>
              </a:rPr>
              <a:t>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Investigation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3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937549" y="1480227"/>
            <a:ext cx="25729" cy="47128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5042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</a:t>
            </a:r>
            <a:r>
              <a:rPr lang="en-AU" sz="2800" dirty="0" smtClean="0"/>
              <a:t>Relationships Investigation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-1" y="915525"/>
            <a:ext cx="9023351" cy="46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</a:t>
            </a:r>
            <a:r>
              <a:rPr lang="en-AU" sz="2400" smtClean="0"/>
              <a:t>is a line of best fit and how do we find it using scatter plots</a:t>
            </a:r>
            <a:r>
              <a:rPr lang="en-AU" sz="2400" smtClean="0"/>
              <a:t>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930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597" y="6193052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Summary: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Text Box 21" descr="Parchment"/>
          <p:cNvSpPr txBox="1">
            <a:spLocks noChangeArrowheads="1"/>
          </p:cNvSpPr>
          <p:nvPr/>
        </p:nvSpPr>
        <p:spPr bwMode="auto">
          <a:xfrm>
            <a:off x="457200" y="2133600"/>
            <a:ext cx="8077200" cy="3762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>
                <a:solidFill>
                  <a:schemeClr val="accent2"/>
                </a:solidFill>
              </a:rPr>
              <a:t>1.</a:t>
            </a:r>
            <a:r>
              <a:rPr lang="en-GB" altLang="x-none"/>
              <a:t> A </a:t>
            </a:r>
            <a:r>
              <a:rPr lang="en-GB" altLang="x-none">
                <a:solidFill>
                  <a:srgbClr val="FF0000"/>
                </a:solidFill>
              </a:rPr>
              <a:t>positive</a:t>
            </a:r>
            <a:r>
              <a:rPr lang="en-GB" altLang="x-none"/>
              <a:t> correlation. As one quantity </a:t>
            </a:r>
            <a:r>
              <a:rPr lang="en-GB" altLang="x-none">
                <a:solidFill>
                  <a:schemeClr val="accent2"/>
                </a:solidFill>
              </a:rPr>
              <a:t>increases</a:t>
            </a:r>
            <a:r>
              <a:rPr lang="en-GB" altLang="x-none"/>
              <a:t> so does the other.</a:t>
            </a:r>
          </a:p>
        </p:txBody>
      </p:sp>
      <p:sp>
        <p:nvSpPr>
          <p:cNvPr id="2070" name="Text Box 22" descr="Parchment"/>
          <p:cNvSpPr txBox="1">
            <a:spLocks noChangeArrowheads="1"/>
          </p:cNvSpPr>
          <p:nvPr/>
        </p:nvSpPr>
        <p:spPr bwMode="auto">
          <a:xfrm>
            <a:off x="457200" y="2667000"/>
            <a:ext cx="8077200" cy="3762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>
                <a:solidFill>
                  <a:schemeClr val="accent2"/>
                </a:solidFill>
              </a:rPr>
              <a:t>2.</a:t>
            </a:r>
            <a:r>
              <a:rPr lang="en-GB" altLang="x-none"/>
              <a:t> A </a:t>
            </a:r>
            <a:r>
              <a:rPr lang="en-GB" altLang="x-none">
                <a:solidFill>
                  <a:srgbClr val="FF0000"/>
                </a:solidFill>
              </a:rPr>
              <a:t>negative</a:t>
            </a:r>
            <a:r>
              <a:rPr lang="en-GB" altLang="x-none"/>
              <a:t> correlation. As one quantity </a:t>
            </a:r>
            <a:r>
              <a:rPr lang="en-GB" altLang="x-none">
                <a:solidFill>
                  <a:schemeClr val="accent2"/>
                </a:solidFill>
              </a:rPr>
              <a:t>increases</a:t>
            </a:r>
            <a:r>
              <a:rPr lang="en-GB" altLang="x-none"/>
              <a:t> the other </a:t>
            </a:r>
            <a:r>
              <a:rPr lang="en-GB" altLang="x-none">
                <a:solidFill>
                  <a:schemeClr val="accent2"/>
                </a:solidFill>
              </a:rPr>
              <a:t>decreases</a:t>
            </a:r>
            <a:r>
              <a:rPr lang="en-GB" altLang="x-none"/>
              <a:t>.</a:t>
            </a:r>
          </a:p>
        </p:txBody>
      </p:sp>
      <p:sp>
        <p:nvSpPr>
          <p:cNvPr id="2071" name="Text Box 23" descr="Parchment"/>
          <p:cNvSpPr txBox="1">
            <a:spLocks noChangeArrowheads="1"/>
          </p:cNvSpPr>
          <p:nvPr/>
        </p:nvSpPr>
        <p:spPr bwMode="auto">
          <a:xfrm>
            <a:off x="452438" y="3195638"/>
            <a:ext cx="8077200" cy="3762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>
                <a:solidFill>
                  <a:schemeClr val="accent2"/>
                </a:solidFill>
              </a:rPr>
              <a:t>3.</a:t>
            </a:r>
            <a:r>
              <a:rPr lang="en-GB" altLang="x-none"/>
              <a:t> </a:t>
            </a:r>
            <a:r>
              <a:rPr lang="en-GB" altLang="x-none">
                <a:solidFill>
                  <a:srgbClr val="FF0000"/>
                </a:solidFill>
              </a:rPr>
              <a:t>No</a:t>
            </a:r>
            <a:r>
              <a:rPr lang="en-GB" altLang="x-none"/>
              <a:t> correlation. Both quantities vary with no clear relationship.</a:t>
            </a:r>
          </a:p>
        </p:txBody>
      </p:sp>
      <p:grpSp>
        <p:nvGrpSpPr>
          <p:cNvPr id="2127" name="Group 79"/>
          <p:cNvGrpSpPr>
            <a:grpSpLocks/>
          </p:cNvGrpSpPr>
          <p:nvPr/>
        </p:nvGrpSpPr>
        <p:grpSpPr bwMode="auto">
          <a:xfrm>
            <a:off x="152400" y="304800"/>
            <a:ext cx="8991600" cy="5886450"/>
            <a:chOff x="96" y="192"/>
            <a:chExt cx="5664" cy="3708"/>
          </a:xfrm>
        </p:grpSpPr>
        <p:sp>
          <p:nvSpPr>
            <p:cNvPr id="2050" name="Text Box 2" descr="White marble"/>
            <p:cNvSpPr txBox="1">
              <a:spLocks noChangeArrowheads="1"/>
            </p:cNvSpPr>
            <p:nvPr/>
          </p:nvSpPr>
          <p:spPr bwMode="auto">
            <a:xfrm>
              <a:off x="2016" y="192"/>
              <a:ext cx="1632" cy="29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 sz="2400">
                  <a:solidFill>
                    <a:schemeClr val="accent2"/>
                  </a:solidFill>
                </a:rPr>
                <a:t>Scatter Graphs</a:t>
              </a:r>
            </a:p>
          </p:txBody>
        </p:sp>
        <p:sp>
          <p:nvSpPr>
            <p:cNvPr id="2067" name="Text Box 19" descr="Parchment"/>
            <p:cNvSpPr txBox="1">
              <a:spLocks noChangeArrowheads="1"/>
            </p:cNvSpPr>
            <p:nvPr/>
          </p:nvSpPr>
          <p:spPr bwMode="auto">
            <a:xfrm>
              <a:off x="96" y="576"/>
              <a:ext cx="5520" cy="640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 sz="2000">
                  <a:solidFill>
                    <a:schemeClr val="accent2"/>
                  </a:solidFill>
                </a:rPr>
                <a:t>Scatter graphs</a:t>
              </a:r>
              <a:r>
                <a:rPr lang="en-GB" altLang="x-none" sz="2000"/>
                <a:t> are used to show whether there is a </a:t>
              </a:r>
              <a:r>
                <a:rPr lang="en-GB" altLang="x-none" sz="2000">
                  <a:solidFill>
                    <a:schemeClr val="accent2"/>
                  </a:solidFill>
                </a:rPr>
                <a:t>relationship</a:t>
              </a:r>
              <a:r>
                <a:rPr lang="en-GB" altLang="x-none" sz="2000"/>
                <a:t> between </a:t>
              </a:r>
              <a:r>
                <a:rPr lang="en-GB" altLang="x-none" sz="2000">
                  <a:solidFill>
                    <a:schemeClr val="accent2"/>
                  </a:solidFill>
                </a:rPr>
                <a:t>two</a:t>
              </a:r>
              <a:r>
                <a:rPr lang="en-GB" altLang="x-none" sz="2000"/>
                <a:t> sets of data. The relationship between the data can be described as either:</a:t>
              </a:r>
            </a:p>
          </p:txBody>
        </p:sp>
        <p:grpSp>
          <p:nvGrpSpPr>
            <p:cNvPr id="2126" name="Group 78"/>
            <p:cNvGrpSpPr>
              <a:grpSpLocks/>
            </p:cNvGrpSpPr>
            <p:nvPr/>
          </p:nvGrpSpPr>
          <p:grpSpPr bwMode="auto">
            <a:xfrm>
              <a:off x="145" y="2316"/>
              <a:ext cx="5615" cy="1584"/>
              <a:chOff x="145" y="2316"/>
              <a:chExt cx="5615" cy="1584"/>
            </a:xfrm>
          </p:grpSpPr>
          <p:sp>
            <p:nvSpPr>
              <p:cNvPr id="2059" name="Line 11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" name="Line 12"/>
              <p:cNvSpPr>
                <a:spLocks noChangeShapeType="1"/>
              </p:cNvSpPr>
              <p:nvPr/>
            </p:nvSpPr>
            <p:spPr bwMode="auto">
              <a:xfrm>
                <a:off x="4176" y="3648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" name="Text Box 13"/>
              <p:cNvSpPr txBox="1">
                <a:spLocks noChangeArrowheads="1"/>
              </p:cNvSpPr>
              <p:nvPr/>
            </p:nvSpPr>
            <p:spPr bwMode="auto">
              <a:xfrm rot="-5400000">
                <a:off x="3441" y="2825"/>
                <a:ext cx="11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>
                    <a:solidFill>
                      <a:schemeClr val="accent2"/>
                    </a:solidFill>
                  </a:rPr>
                  <a:t>Shoe Size</a:t>
                </a:r>
              </a:p>
            </p:txBody>
          </p:sp>
          <p:sp>
            <p:nvSpPr>
              <p:cNvPr id="2062" name="Text Box 14"/>
              <p:cNvSpPr txBox="1">
                <a:spLocks noChangeArrowheads="1"/>
              </p:cNvSpPr>
              <p:nvPr/>
            </p:nvSpPr>
            <p:spPr bwMode="auto">
              <a:xfrm>
                <a:off x="4320" y="3642"/>
                <a:ext cx="14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/>
                  <a:t>Annual Income</a:t>
                </a:r>
              </a:p>
            </p:txBody>
          </p:sp>
          <p:grpSp>
            <p:nvGrpSpPr>
              <p:cNvPr id="2124" name="Group 76"/>
              <p:cNvGrpSpPr>
                <a:grpSpLocks/>
              </p:cNvGrpSpPr>
              <p:nvPr/>
            </p:nvGrpSpPr>
            <p:grpSpPr bwMode="auto">
              <a:xfrm>
                <a:off x="145" y="2316"/>
                <a:ext cx="1584" cy="1584"/>
                <a:chOff x="220" y="2316"/>
                <a:chExt cx="1584" cy="1584"/>
              </a:xfrm>
            </p:grpSpPr>
            <p:sp>
              <p:nvSpPr>
                <p:cNvPr id="2051" name="Line 3"/>
                <p:cNvSpPr>
                  <a:spLocks noChangeShapeType="1"/>
                </p:cNvSpPr>
                <p:nvPr/>
              </p:nvSpPr>
              <p:spPr bwMode="auto">
                <a:xfrm>
                  <a:off x="552" y="2400"/>
                  <a:ext cx="0" cy="12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2" name="Line 4"/>
                <p:cNvSpPr>
                  <a:spLocks noChangeShapeType="1"/>
                </p:cNvSpPr>
                <p:nvPr/>
              </p:nvSpPr>
              <p:spPr bwMode="auto">
                <a:xfrm>
                  <a:off x="552" y="3648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3" name="Text Box 5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-207" y="2743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chemeClr val="accent2"/>
                      </a:solidFill>
                    </a:rPr>
                    <a:t>Height</a:t>
                  </a:r>
                </a:p>
              </p:txBody>
            </p:sp>
            <p:sp>
              <p:nvSpPr>
                <p:cNvPr id="205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700" y="3650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Shoe Size</a:t>
                  </a:r>
                </a:p>
              </p:txBody>
            </p:sp>
            <p:grpSp>
              <p:nvGrpSpPr>
                <p:cNvPr id="2089" name="Group 41"/>
                <p:cNvGrpSpPr>
                  <a:grpSpLocks/>
                </p:cNvGrpSpPr>
                <p:nvPr/>
              </p:nvGrpSpPr>
              <p:grpSpPr bwMode="auto">
                <a:xfrm>
                  <a:off x="768" y="2640"/>
                  <a:ext cx="976" cy="860"/>
                  <a:chOff x="840" y="2640"/>
                  <a:chExt cx="976" cy="860"/>
                </a:xfrm>
              </p:grpSpPr>
              <p:sp>
                <p:nvSpPr>
                  <p:cNvPr id="2072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464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3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364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4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936" y="3312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5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144" y="3368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6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1204" y="3224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7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088" y="3148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8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336" y="3096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79" name="Oval 31"/>
                  <p:cNvSpPr>
                    <a:spLocks noChangeArrowheads="1"/>
                  </p:cNvSpPr>
                  <p:nvPr/>
                </p:nvSpPr>
                <p:spPr bwMode="auto">
                  <a:xfrm>
                    <a:off x="1628" y="2916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80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1404" y="2928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81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1472" y="2792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82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1780" y="2772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83" name="Oval 35"/>
                  <p:cNvSpPr>
                    <a:spLocks noChangeArrowheads="1"/>
                  </p:cNvSpPr>
                  <p:nvPr/>
                </p:nvSpPr>
                <p:spPr bwMode="auto">
                  <a:xfrm>
                    <a:off x="1616" y="2640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87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2936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119" name="Group 71"/>
              <p:cNvGrpSpPr>
                <a:grpSpLocks/>
              </p:cNvGrpSpPr>
              <p:nvPr/>
            </p:nvGrpSpPr>
            <p:grpSpPr bwMode="auto">
              <a:xfrm>
                <a:off x="4333" y="2729"/>
                <a:ext cx="936" cy="716"/>
                <a:chOff x="4333" y="2729"/>
                <a:chExt cx="936" cy="716"/>
              </a:xfrm>
            </p:grpSpPr>
            <p:sp>
              <p:nvSpPr>
                <p:cNvPr id="2091" name="Oval 43"/>
                <p:cNvSpPr>
                  <a:spLocks noChangeArrowheads="1"/>
                </p:cNvSpPr>
                <p:nvPr/>
              </p:nvSpPr>
              <p:spPr bwMode="auto">
                <a:xfrm rot="5400000">
                  <a:off x="4813" y="272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2" name="Oval 44"/>
                <p:cNvSpPr>
                  <a:spLocks noChangeArrowheads="1"/>
                </p:cNvSpPr>
                <p:nvPr/>
              </p:nvSpPr>
              <p:spPr bwMode="auto">
                <a:xfrm rot="5400000">
                  <a:off x="4333" y="279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3" name="Oval 45"/>
                <p:cNvSpPr>
                  <a:spLocks noChangeArrowheads="1"/>
                </p:cNvSpPr>
                <p:nvPr/>
              </p:nvSpPr>
              <p:spPr bwMode="auto">
                <a:xfrm rot="5400000">
                  <a:off x="4565" y="3125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4" name="Oval 46"/>
                <p:cNvSpPr>
                  <a:spLocks noChangeArrowheads="1"/>
                </p:cNvSpPr>
                <p:nvPr/>
              </p:nvSpPr>
              <p:spPr bwMode="auto">
                <a:xfrm rot="5400000">
                  <a:off x="4405" y="2973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5" name="Oval 47"/>
                <p:cNvSpPr>
                  <a:spLocks noChangeArrowheads="1"/>
                </p:cNvSpPr>
                <p:nvPr/>
              </p:nvSpPr>
              <p:spPr bwMode="auto">
                <a:xfrm rot="5400000">
                  <a:off x="4585" y="326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6" name="Oval 48"/>
                <p:cNvSpPr>
                  <a:spLocks noChangeArrowheads="1"/>
                </p:cNvSpPr>
                <p:nvPr/>
              </p:nvSpPr>
              <p:spPr bwMode="auto">
                <a:xfrm rot="5400000">
                  <a:off x="4621" y="287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7" name="Oval 49"/>
                <p:cNvSpPr>
                  <a:spLocks noChangeArrowheads="1"/>
                </p:cNvSpPr>
                <p:nvPr/>
              </p:nvSpPr>
              <p:spPr bwMode="auto">
                <a:xfrm rot="5400000">
                  <a:off x="4381" y="336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8" name="Oval 50"/>
                <p:cNvSpPr>
                  <a:spLocks noChangeArrowheads="1"/>
                </p:cNvSpPr>
                <p:nvPr/>
              </p:nvSpPr>
              <p:spPr bwMode="auto">
                <a:xfrm rot="5400000">
                  <a:off x="4897" y="340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9" name="Oval 51"/>
                <p:cNvSpPr>
                  <a:spLocks noChangeArrowheads="1"/>
                </p:cNvSpPr>
                <p:nvPr/>
              </p:nvSpPr>
              <p:spPr bwMode="auto">
                <a:xfrm rot="5400000">
                  <a:off x="4817" y="321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0" name="Oval 52"/>
                <p:cNvSpPr>
                  <a:spLocks noChangeArrowheads="1"/>
                </p:cNvSpPr>
                <p:nvPr/>
              </p:nvSpPr>
              <p:spPr bwMode="auto">
                <a:xfrm rot="5400000">
                  <a:off x="4985" y="307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1" name="Oval 53"/>
                <p:cNvSpPr>
                  <a:spLocks noChangeArrowheads="1"/>
                </p:cNvSpPr>
                <p:nvPr/>
              </p:nvSpPr>
              <p:spPr bwMode="auto">
                <a:xfrm rot="5400000">
                  <a:off x="5197" y="3373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2" name="Oval 54"/>
                <p:cNvSpPr>
                  <a:spLocks noChangeArrowheads="1"/>
                </p:cNvSpPr>
                <p:nvPr/>
              </p:nvSpPr>
              <p:spPr bwMode="auto">
                <a:xfrm rot="5400000">
                  <a:off x="5233" y="3021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3" name="Oval 55"/>
                <p:cNvSpPr>
                  <a:spLocks noChangeArrowheads="1"/>
                </p:cNvSpPr>
                <p:nvPr/>
              </p:nvSpPr>
              <p:spPr bwMode="auto">
                <a:xfrm rot="5400000">
                  <a:off x="5045" y="2865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25" name="Group 77"/>
              <p:cNvGrpSpPr>
                <a:grpSpLocks/>
              </p:cNvGrpSpPr>
              <p:nvPr/>
            </p:nvGrpSpPr>
            <p:grpSpPr bwMode="auto">
              <a:xfrm>
                <a:off x="2062" y="2398"/>
                <a:ext cx="1548" cy="1502"/>
                <a:chOff x="2100" y="2398"/>
                <a:chExt cx="1548" cy="1502"/>
              </a:xfrm>
            </p:grpSpPr>
            <p:sp>
              <p:nvSpPr>
                <p:cNvPr id="2055" name="Line 7"/>
                <p:cNvSpPr>
                  <a:spLocks noChangeShapeType="1"/>
                </p:cNvSpPr>
                <p:nvPr/>
              </p:nvSpPr>
              <p:spPr bwMode="auto">
                <a:xfrm>
                  <a:off x="2400" y="2400"/>
                  <a:ext cx="0" cy="12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6" name="Line 8"/>
                <p:cNvSpPr>
                  <a:spLocks noChangeShapeType="1"/>
                </p:cNvSpPr>
                <p:nvPr/>
              </p:nvSpPr>
              <p:spPr bwMode="auto">
                <a:xfrm>
                  <a:off x="2400" y="3648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7" name="Text Box 9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673" y="2825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chemeClr val="accent2"/>
                      </a:solidFill>
                    </a:rPr>
                    <a:t>Soup Sales</a:t>
                  </a:r>
                </a:p>
              </p:txBody>
            </p:sp>
            <p:sp>
              <p:nvSpPr>
                <p:cNvPr id="205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544" y="3650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Temperature</a:t>
                  </a:r>
                </a:p>
              </p:txBody>
            </p:sp>
            <p:grpSp>
              <p:nvGrpSpPr>
                <p:cNvPr id="2105" name="Group 57"/>
                <p:cNvGrpSpPr>
                  <a:grpSpLocks/>
                </p:cNvGrpSpPr>
                <p:nvPr/>
              </p:nvGrpSpPr>
              <p:grpSpPr bwMode="auto">
                <a:xfrm>
                  <a:off x="2649" y="2653"/>
                  <a:ext cx="912" cy="936"/>
                  <a:chOff x="2553" y="2557"/>
                  <a:chExt cx="912" cy="936"/>
                </a:xfrm>
              </p:grpSpPr>
              <p:sp>
                <p:nvSpPr>
                  <p:cNvPr id="2106" name="Oval 58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553" y="2557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07" name="Oval 5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577" y="279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08" name="Oval 60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05" y="265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09" name="Oval 61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649" y="2969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0" name="Oval 62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93" y="2921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1" name="Oval 63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869" y="2805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2" name="Oval 64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873" y="313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3" name="Oval 65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141" y="3405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4" name="Oval 6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061" y="321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5" name="Oval 67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225" y="3189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6" name="Oval 68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429" y="3457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7" name="Oval 6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409" y="3281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18" name="Oval 70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033" y="3001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2120" name="Text Box 72" descr="Parchment"/>
          <p:cNvSpPr txBox="1">
            <a:spLocks noChangeArrowheads="1"/>
          </p:cNvSpPr>
          <p:nvPr/>
        </p:nvSpPr>
        <p:spPr bwMode="auto">
          <a:xfrm>
            <a:off x="414338" y="6251575"/>
            <a:ext cx="2667000" cy="406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000"/>
              <a:t>Positive Correlation</a:t>
            </a:r>
          </a:p>
        </p:txBody>
      </p:sp>
      <p:sp>
        <p:nvSpPr>
          <p:cNvPr id="2122" name="Text Box 74" descr="Parchment"/>
          <p:cNvSpPr txBox="1">
            <a:spLocks noChangeArrowheads="1"/>
          </p:cNvSpPr>
          <p:nvPr/>
        </p:nvSpPr>
        <p:spPr bwMode="auto">
          <a:xfrm>
            <a:off x="3452813" y="6238875"/>
            <a:ext cx="2743200" cy="406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000"/>
              <a:t>Negative correlation</a:t>
            </a:r>
          </a:p>
        </p:txBody>
      </p:sp>
      <p:sp>
        <p:nvSpPr>
          <p:cNvPr id="2123" name="Text Box 75" descr="Parchment"/>
          <p:cNvSpPr txBox="1">
            <a:spLocks noChangeArrowheads="1"/>
          </p:cNvSpPr>
          <p:nvPr/>
        </p:nvSpPr>
        <p:spPr bwMode="auto">
          <a:xfrm>
            <a:off x="6543675" y="6232525"/>
            <a:ext cx="2390775" cy="406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000"/>
              <a:t>No correlation</a:t>
            </a:r>
          </a:p>
        </p:txBody>
      </p:sp>
      <p:sp>
        <p:nvSpPr>
          <p:cNvPr id="2129" name="Rectangle 81">
            <a:hlinkClick r:id="" action="ppaction://noaction" endSnd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77115"/>
      </p:ext>
    </p:ext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" grpId="0" build="p" animBg="1" autoUpdateAnimBg="0"/>
      <p:bldP spid="2070" grpId="0" build="p" animBg="1" autoUpdateAnimBg="0"/>
      <p:bldP spid="2071" grpId="0" build="p" animBg="1" autoUpdateAnimBg="0"/>
      <p:bldP spid="2120" grpId="0" animBg="1" autoUpdateAnimBg="0"/>
      <p:bldP spid="2122" grpId="0" animBg="1" autoUpdateAnimBg="0"/>
      <p:bldP spid="2123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6" descr="White marble"/>
          <p:cNvSpPr txBox="1">
            <a:spLocks noChangeArrowheads="1"/>
          </p:cNvSpPr>
          <p:nvPr/>
        </p:nvSpPr>
        <p:spPr bwMode="auto">
          <a:xfrm>
            <a:off x="3200400" y="304800"/>
            <a:ext cx="2590800" cy="4667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400">
                <a:solidFill>
                  <a:schemeClr val="accent2"/>
                </a:solidFill>
              </a:rPr>
              <a:t>Scatter Graphs</a:t>
            </a:r>
          </a:p>
        </p:txBody>
      </p:sp>
      <p:grpSp>
        <p:nvGrpSpPr>
          <p:cNvPr id="5190" name="Group 70"/>
          <p:cNvGrpSpPr>
            <a:grpSpLocks/>
          </p:cNvGrpSpPr>
          <p:nvPr/>
        </p:nvGrpSpPr>
        <p:grpSpPr bwMode="auto">
          <a:xfrm>
            <a:off x="125413" y="914400"/>
            <a:ext cx="8913812" cy="5683250"/>
            <a:chOff x="79" y="576"/>
            <a:chExt cx="5615" cy="3580"/>
          </a:xfrm>
        </p:grpSpPr>
        <p:sp>
          <p:nvSpPr>
            <p:cNvPr id="5122" name="Text Box 2" descr="Parchment"/>
            <p:cNvSpPr txBox="1">
              <a:spLocks noChangeArrowheads="1"/>
            </p:cNvSpPr>
            <p:nvPr/>
          </p:nvSpPr>
          <p:spPr bwMode="auto">
            <a:xfrm>
              <a:off x="288" y="1344"/>
              <a:ext cx="5088" cy="23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>
                  <a:solidFill>
                    <a:schemeClr val="accent2"/>
                  </a:solidFill>
                </a:rPr>
                <a:t>1.</a:t>
              </a:r>
              <a:r>
                <a:rPr lang="en-GB" altLang="x-none"/>
                <a:t> A </a:t>
              </a:r>
              <a:r>
                <a:rPr lang="en-GB" altLang="x-none">
                  <a:solidFill>
                    <a:srgbClr val="FF0000"/>
                  </a:solidFill>
                </a:rPr>
                <a:t>positive</a:t>
              </a:r>
              <a:r>
                <a:rPr lang="en-GB" altLang="x-none"/>
                <a:t> correlation. As one quantity </a:t>
              </a:r>
              <a:r>
                <a:rPr lang="en-GB" altLang="x-none">
                  <a:solidFill>
                    <a:schemeClr val="accent2"/>
                  </a:solidFill>
                </a:rPr>
                <a:t>increases</a:t>
              </a:r>
              <a:r>
                <a:rPr lang="en-GB" altLang="x-none"/>
                <a:t> so does the other.</a:t>
              </a:r>
            </a:p>
          </p:txBody>
        </p:sp>
        <p:sp>
          <p:nvSpPr>
            <p:cNvPr id="5123" name="Text Box 3" descr="Parchment"/>
            <p:cNvSpPr txBox="1">
              <a:spLocks noChangeArrowheads="1"/>
            </p:cNvSpPr>
            <p:nvPr/>
          </p:nvSpPr>
          <p:spPr bwMode="auto">
            <a:xfrm>
              <a:off x="288" y="1680"/>
              <a:ext cx="5088" cy="23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>
                  <a:solidFill>
                    <a:schemeClr val="accent2"/>
                  </a:solidFill>
                </a:rPr>
                <a:t>2.</a:t>
              </a:r>
              <a:r>
                <a:rPr lang="en-GB" altLang="x-none"/>
                <a:t> A </a:t>
              </a:r>
              <a:r>
                <a:rPr lang="en-GB" altLang="x-none">
                  <a:solidFill>
                    <a:srgbClr val="FF0000"/>
                  </a:solidFill>
                </a:rPr>
                <a:t>negative</a:t>
              </a:r>
              <a:r>
                <a:rPr lang="en-GB" altLang="x-none"/>
                <a:t> correlation. As one quantity </a:t>
              </a:r>
              <a:r>
                <a:rPr lang="en-GB" altLang="x-none">
                  <a:solidFill>
                    <a:schemeClr val="accent2"/>
                  </a:solidFill>
                </a:rPr>
                <a:t>increases</a:t>
              </a:r>
              <a:r>
                <a:rPr lang="en-GB" altLang="x-none"/>
                <a:t> the other </a:t>
              </a:r>
              <a:r>
                <a:rPr lang="en-GB" altLang="x-none">
                  <a:solidFill>
                    <a:schemeClr val="accent2"/>
                  </a:solidFill>
                </a:rPr>
                <a:t>decreases</a:t>
              </a:r>
              <a:r>
                <a:rPr lang="en-GB" altLang="x-none"/>
                <a:t>.</a:t>
              </a:r>
            </a:p>
          </p:txBody>
        </p:sp>
        <p:sp>
          <p:nvSpPr>
            <p:cNvPr id="5124" name="Text Box 4" descr="Parchment"/>
            <p:cNvSpPr txBox="1">
              <a:spLocks noChangeArrowheads="1"/>
            </p:cNvSpPr>
            <p:nvPr/>
          </p:nvSpPr>
          <p:spPr bwMode="auto">
            <a:xfrm>
              <a:off x="285" y="2013"/>
              <a:ext cx="5088" cy="23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>
                  <a:solidFill>
                    <a:schemeClr val="accent2"/>
                  </a:solidFill>
                </a:rPr>
                <a:t>3.</a:t>
              </a:r>
              <a:r>
                <a:rPr lang="en-GB" altLang="x-none"/>
                <a:t> </a:t>
              </a:r>
              <a:r>
                <a:rPr lang="en-GB" altLang="x-none">
                  <a:solidFill>
                    <a:srgbClr val="FF0000"/>
                  </a:solidFill>
                </a:rPr>
                <a:t>No</a:t>
              </a:r>
              <a:r>
                <a:rPr lang="en-GB" altLang="x-none"/>
                <a:t> correlation. Both quantities vary with no clear relationship.</a:t>
              </a:r>
            </a:p>
          </p:txBody>
        </p:sp>
        <p:sp>
          <p:nvSpPr>
            <p:cNvPr id="5127" name="Text Box 7" descr="Parchment"/>
            <p:cNvSpPr txBox="1">
              <a:spLocks noChangeArrowheads="1"/>
            </p:cNvSpPr>
            <p:nvPr/>
          </p:nvSpPr>
          <p:spPr bwMode="auto">
            <a:xfrm>
              <a:off x="96" y="576"/>
              <a:ext cx="5520" cy="640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 sz="2000">
                  <a:solidFill>
                    <a:schemeClr val="accent2"/>
                  </a:solidFill>
                </a:rPr>
                <a:t>Scatter graphs</a:t>
              </a:r>
              <a:r>
                <a:rPr lang="en-GB" altLang="x-none" sz="2000"/>
                <a:t> are used to show whether there is a </a:t>
              </a:r>
              <a:r>
                <a:rPr lang="en-GB" altLang="x-none" sz="2000">
                  <a:solidFill>
                    <a:schemeClr val="accent2"/>
                  </a:solidFill>
                </a:rPr>
                <a:t>relationship</a:t>
              </a:r>
              <a:r>
                <a:rPr lang="en-GB" altLang="x-none" sz="2000"/>
                <a:t> between </a:t>
              </a:r>
              <a:r>
                <a:rPr lang="en-GB" altLang="x-none" sz="2000">
                  <a:solidFill>
                    <a:schemeClr val="accent2"/>
                  </a:solidFill>
                </a:rPr>
                <a:t>two</a:t>
              </a:r>
              <a:r>
                <a:rPr lang="en-GB" altLang="x-none" sz="2000"/>
                <a:t> sets of data. The relationship between the data can be described as either:</a:t>
              </a:r>
            </a:p>
          </p:txBody>
        </p:sp>
        <p:grpSp>
          <p:nvGrpSpPr>
            <p:cNvPr id="5128" name="Group 8"/>
            <p:cNvGrpSpPr>
              <a:grpSpLocks/>
            </p:cNvGrpSpPr>
            <p:nvPr/>
          </p:nvGrpSpPr>
          <p:grpSpPr bwMode="auto">
            <a:xfrm>
              <a:off x="79" y="2572"/>
              <a:ext cx="5615" cy="1584"/>
              <a:chOff x="145" y="2316"/>
              <a:chExt cx="5615" cy="1584"/>
            </a:xfrm>
          </p:grpSpPr>
          <p:sp>
            <p:nvSpPr>
              <p:cNvPr id="5129" name="Line 9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0" name="Line 10"/>
              <p:cNvSpPr>
                <a:spLocks noChangeShapeType="1"/>
              </p:cNvSpPr>
              <p:nvPr/>
            </p:nvSpPr>
            <p:spPr bwMode="auto">
              <a:xfrm>
                <a:off x="4176" y="3648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1" name="Text Box 11"/>
              <p:cNvSpPr txBox="1">
                <a:spLocks noChangeArrowheads="1"/>
              </p:cNvSpPr>
              <p:nvPr/>
            </p:nvSpPr>
            <p:spPr bwMode="auto">
              <a:xfrm rot="-5400000">
                <a:off x="3441" y="2825"/>
                <a:ext cx="11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>
                    <a:solidFill>
                      <a:schemeClr val="accent2"/>
                    </a:solidFill>
                  </a:rPr>
                  <a:t>Shoe Size</a:t>
                </a:r>
              </a:p>
            </p:txBody>
          </p:sp>
          <p:sp>
            <p:nvSpPr>
              <p:cNvPr id="5132" name="Text Box 12"/>
              <p:cNvSpPr txBox="1">
                <a:spLocks noChangeArrowheads="1"/>
              </p:cNvSpPr>
              <p:nvPr/>
            </p:nvSpPr>
            <p:spPr bwMode="auto">
              <a:xfrm>
                <a:off x="4320" y="3642"/>
                <a:ext cx="14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/>
                  <a:t>Annual Income</a:t>
                </a:r>
              </a:p>
            </p:txBody>
          </p:sp>
          <p:grpSp>
            <p:nvGrpSpPr>
              <p:cNvPr id="5133" name="Group 13"/>
              <p:cNvGrpSpPr>
                <a:grpSpLocks/>
              </p:cNvGrpSpPr>
              <p:nvPr/>
            </p:nvGrpSpPr>
            <p:grpSpPr bwMode="auto">
              <a:xfrm>
                <a:off x="145" y="2316"/>
                <a:ext cx="1584" cy="1584"/>
                <a:chOff x="220" y="2316"/>
                <a:chExt cx="1584" cy="1584"/>
              </a:xfrm>
            </p:grpSpPr>
            <p:sp>
              <p:nvSpPr>
                <p:cNvPr id="5134" name="Line 14"/>
                <p:cNvSpPr>
                  <a:spLocks noChangeShapeType="1"/>
                </p:cNvSpPr>
                <p:nvPr/>
              </p:nvSpPr>
              <p:spPr bwMode="auto">
                <a:xfrm>
                  <a:off x="552" y="2400"/>
                  <a:ext cx="0" cy="12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5" name="Line 15"/>
                <p:cNvSpPr>
                  <a:spLocks noChangeShapeType="1"/>
                </p:cNvSpPr>
                <p:nvPr/>
              </p:nvSpPr>
              <p:spPr bwMode="auto">
                <a:xfrm>
                  <a:off x="552" y="3648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6" name="Text Box 16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-207" y="2743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chemeClr val="accent2"/>
                      </a:solidFill>
                    </a:rPr>
                    <a:t>Height</a:t>
                  </a:r>
                </a:p>
              </p:txBody>
            </p:sp>
            <p:sp>
              <p:nvSpPr>
                <p:cNvPr id="513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700" y="3650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Shoe Size</a:t>
                  </a:r>
                </a:p>
              </p:txBody>
            </p:sp>
            <p:grpSp>
              <p:nvGrpSpPr>
                <p:cNvPr id="5138" name="Group 18"/>
                <p:cNvGrpSpPr>
                  <a:grpSpLocks/>
                </p:cNvGrpSpPr>
                <p:nvPr/>
              </p:nvGrpSpPr>
              <p:grpSpPr bwMode="auto">
                <a:xfrm>
                  <a:off x="768" y="2640"/>
                  <a:ext cx="976" cy="860"/>
                  <a:chOff x="840" y="2640"/>
                  <a:chExt cx="976" cy="860"/>
                </a:xfrm>
              </p:grpSpPr>
              <p:sp>
                <p:nvSpPr>
                  <p:cNvPr id="5139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464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0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364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1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936" y="3312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2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1144" y="3368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3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1204" y="3224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4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1088" y="3148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5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1336" y="3096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6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1628" y="2916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7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404" y="2928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8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1472" y="2792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49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780" y="2772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50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616" y="2640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51" name="Oval 31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2936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152" name="Group 32"/>
              <p:cNvGrpSpPr>
                <a:grpSpLocks/>
              </p:cNvGrpSpPr>
              <p:nvPr/>
            </p:nvGrpSpPr>
            <p:grpSpPr bwMode="auto">
              <a:xfrm>
                <a:off x="4333" y="2729"/>
                <a:ext cx="936" cy="716"/>
                <a:chOff x="4333" y="2729"/>
                <a:chExt cx="936" cy="716"/>
              </a:xfrm>
            </p:grpSpPr>
            <p:sp>
              <p:nvSpPr>
                <p:cNvPr id="5153" name="Oval 33"/>
                <p:cNvSpPr>
                  <a:spLocks noChangeArrowheads="1"/>
                </p:cNvSpPr>
                <p:nvPr/>
              </p:nvSpPr>
              <p:spPr bwMode="auto">
                <a:xfrm rot="5400000">
                  <a:off x="4813" y="272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4" name="Oval 34"/>
                <p:cNvSpPr>
                  <a:spLocks noChangeArrowheads="1"/>
                </p:cNvSpPr>
                <p:nvPr/>
              </p:nvSpPr>
              <p:spPr bwMode="auto">
                <a:xfrm rot="5400000">
                  <a:off x="4333" y="279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5" name="Oval 35"/>
                <p:cNvSpPr>
                  <a:spLocks noChangeArrowheads="1"/>
                </p:cNvSpPr>
                <p:nvPr/>
              </p:nvSpPr>
              <p:spPr bwMode="auto">
                <a:xfrm rot="5400000">
                  <a:off x="4565" y="3125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6" name="Oval 36"/>
                <p:cNvSpPr>
                  <a:spLocks noChangeArrowheads="1"/>
                </p:cNvSpPr>
                <p:nvPr/>
              </p:nvSpPr>
              <p:spPr bwMode="auto">
                <a:xfrm rot="5400000">
                  <a:off x="4405" y="2973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7" name="Oval 37"/>
                <p:cNvSpPr>
                  <a:spLocks noChangeArrowheads="1"/>
                </p:cNvSpPr>
                <p:nvPr/>
              </p:nvSpPr>
              <p:spPr bwMode="auto">
                <a:xfrm rot="5400000">
                  <a:off x="4585" y="326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8" name="Oval 38"/>
                <p:cNvSpPr>
                  <a:spLocks noChangeArrowheads="1"/>
                </p:cNvSpPr>
                <p:nvPr/>
              </p:nvSpPr>
              <p:spPr bwMode="auto">
                <a:xfrm rot="5400000">
                  <a:off x="4621" y="287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9" name="Oval 39"/>
                <p:cNvSpPr>
                  <a:spLocks noChangeArrowheads="1"/>
                </p:cNvSpPr>
                <p:nvPr/>
              </p:nvSpPr>
              <p:spPr bwMode="auto">
                <a:xfrm rot="5400000">
                  <a:off x="4381" y="336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0" name="Oval 40"/>
                <p:cNvSpPr>
                  <a:spLocks noChangeArrowheads="1"/>
                </p:cNvSpPr>
                <p:nvPr/>
              </p:nvSpPr>
              <p:spPr bwMode="auto">
                <a:xfrm rot="5400000">
                  <a:off x="4897" y="340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1" name="Oval 41"/>
                <p:cNvSpPr>
                  <a:spLocks noChangeArrowheads="1"/>
                </p:cNvSpPr>
                <p:nvPr/>
              </p:nvSpPr>
              <p:spPr bwMode="auto">
                <a:xfrm rot="5400000">
                  <a:off x="4817" y="321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2" name="Oval 42"/>
                <p:cNvSpPr>
                  <a:spLocks noChangeArrowheads="1"/>
                </p:cNvSpPr>
                <p:nvPr/>
              </p:nvSpPr>
              <p:spPr bwMode="auto">
                <a:xfrm rot="5400000">
                  <a:off x="4985" y="307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3" name="Oval 43"/>
                <p:cNvSpPr>
                  <a:spLocks noChangeArrowheads="1"/>
                </p:cNvSpPr>
                <p:nvPr/>
              </p:nvSpPr>
              <p:spPr bwMode="auto">
                <a:xfrm rot="5400000">
                  <a:off x="5197" y="3373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4" name="Oval 44"/>
                <p:cNvSpPr>
                  <a:spLocks noChangeArrowheads="1"/>
                </p:cNvSpPr>
                <p:nvPr/>
              </p:nvSpPr>
              <p:spPr bwMode="auto">
                <a:xfrm rot="5400000">
                  <a:off x="5233" y="3021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5" name="Oval 45"/>
                <p:cNvSpPr>
                  <a:spLocks noChangeArrowheads="1"/>
                </p:cNvSpPr>
                <p:nvPr/>
              </p:nvSpPr>
              <p:spPr bwMode="auto">
                <a:xfrm rot="5400000">
                  <a:off x="5045" y="2865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166" name="Group 46"/>
              <p:cNvGrpSpPr>
                <a:grpSpLocks/>
              </p:cNvGrpSpPr>
              <p:nvPr/>
            </p:nvGrpSpPr>
            <p:grpSpPr bwMode="auto">
              <a:xfrm>
                <a:off x="2062" y="2398"/>
                <a:ext cx="1548" cy="1502"/>
                <a:chOff x="2100" y="2398"/>
                <a:chExt cx="1548" cy="1502"/>
              </a:xfrm>
            </p:grpSpPr>
            <p:sp>
              <p:nvSpPr>
                <p:cNvPr id="5167" name="Line 47"/>
                <p:cNvSpPr>
                  <a:spLocks noChangeShapeType="1"/>
                </p:cNvSpPr>
                <p:nvPr/>
              </p:nvSpPr>
              <p:spPr bwMode="auto">
                <a:xfrm>
                  <a:off x="2400" y="2400"/>
                  <a:ext cx="0" cy="12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8" name="Line 48"/>
                <p:cNvSpPr>
                  <a:spLocks noChangeShapeType="1"/>
                </p:cNvSpPr>
                <p:nvPr/>
              </p:nvSpPr>
              <p:spPr bwMode="auto">
                <a:xfrm>
                  <a:off x="2400" y="3648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9" name="Text Box 49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673" y="2825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chemeClr val="accent2"/>
                      </a:solidFill>
                    </a:rPr>
                    <a:t>Soup Sales</a:t>
                  </a:r>
                </a:p>
              </p:txBody>
            </p:sp>
            <p:sp>
              <p:nvSpPr>
                <p:cNvPr id="517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544" y="3650"/>
                  <a:ext cx="11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Temperature</a:t>
                  </a:r>
                </a:p>
              </p:txBody>
            </p:sp>
            <p:grpSp>
              <p:nvGrpSpPr>
                <p:cNvPr id="5171" name="Group 51"/>
                <p:cNvGrpSpPr>
                  <a:grpSpLocks/>
                </p:cNvGrpSpPr>
                <p:nvPr/>
              </p:nvGrpSpPr>
              <p:grpSpPr bwMode="auto">
                <a:xfrm>
                  <a:off x="2649" y="2653"/>
                  <a:ext cx="912" cy="936"/>
                  <a:chOff x="2553" y="2557"/>
                  <a:chExt cx="912" cy="936"/>
                </a:xfrm>
              </p:grpSpPr>
              <p:sp>
                <p:nvSpPr>
                  <p:cNvPr id="5172" name="Oval 52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553" y="2557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3" name="Oval 53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577" y="279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4" name="Oval 54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05" y="265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5" name="Oval 55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649" y="2969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6" name="Oval 5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93" y="2921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7" name="Oval 57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869" y="2805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8" name="Oval 58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873" y="313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79" name="Oval 5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141" y="3405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0" name="Oval 60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061" y="3213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1" name="Oval 61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225" y="3189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2" name="Oval 62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429" y="3457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3" name="Oval 63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409" y="3281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4" name="Oval 64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033" y="3001"/>
                    <a:ext cx="36" cy="36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189" name="Text Box 69"/>
          <p:cNvSpPr txBox="1">
            <a:spLocks noChangeArrowheads="1"/>
          </p:cNvSpPr>
          <p:nvPr/>
        </p:nvSpPr>
        <p:spPr bwMode="auto">
          <a:xfrm>
            <a:off x="306388" y="3732213"/>
            <a:ext cx="8599487" cy="360362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1700"/>
              <a:t>A </a:t>
            </a:r>
            <a:r>
              <a:rPr lang="en-GB" altLang="x-none" sz="1700">
                <a:solidFill>
                  <a:srgbClr val="FF0000"/>
                </a:solidFill>
              </a:rPr>
              <a:t>positive </a:t>
            </a:r>
            <a:r>
              <a:rPr lang="en-GB" altLang="x-none" sz="1700"/>
              <a:t>correlation is characterised by a </a:t>
            </a:r>
            <a:r>
              <a:rPr lang="en-GB" altLang="x-none" sz="1700">
                <a:solidFill>
                  <a:schemeClr val="accent2"/>
                </a:solidFill>
              </a:rPr>
              <a:t>straight line</a:t>
            </a:r>
            <a:r>
              <a:rPr lang="en-GB" altLang="x-none" sz="1700"/>
              <a:t> with a </a:t>
            </a:r>
            <a:r>
              <a:rPr lang="en-GB" altLang="x-none" sz="1700">
                <a:solidFill>
                  <a:schemeClr val="accent2"/>
                </a:solidFill>
              </a:rPr>
              <a:t>positive gradient</a:t>
            </a:r>
            <a:r>
              <a:rPr lang="en-GB" altLang="x-none" sz="1700"/>
              <a:t>.</a:t>
            </a:r>
          </a:p>
        </p:txBody>
      </p:sp>
      <p:sp>
        <p:nvSpPr>
          <p:cNvPr id="5191" name="Freeform 71"/>
          <p:cNvSpPr>
            <a:spLocks/>
          </p:cNvSpPr>
          <p:nvPr/>
        </p:nvSpPr>
        <p:spPr bwMode="auto">
          <a:xfrm>
            <a:off x="979488" y="4505325"/>
            <a:ext cx="1576387" cy="1609725"/>
          </a:xfrm>
          <a:custGeom>
            <a:avLst/>
            <a:gdLst>
              <a:gd name="T0" fmla="*/ 0 w 993"/>
              <a:gd name="T1" fmla="*/ 1014 h 1014"/>
              <a:gd name="T2" fmla="*/ 993 w 993"/>
              <a:gd name="T3" fmla="*/ 0 h 10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93" h="1014">
                <a:moveTo>
                  <a:pt x="0" y="1014"/>
                </a:moveTo>
                <a:lnTo>
                  <a:pt x="993" y="0"/>
                </a:lnTo>
              </a:path>
            </a:pathLst>
          </a:custGeom>
          <a:noFill/>
          <a:ln w="28575" cmpd="sng">
            <a:solidFill>
              <a:schemeClr val="accent2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01" name="Text Box 81"/>
          <p:cNvSpPr txBox="1">
            <a:spLocks noChangeArrowheads="1"/>
          </p:cNvSpPr>
          <p:nvPr/>
        </p:nvSpPr>
        <p:spPr bwMode="auto">
          <a:xfrm>
            <a:off x="298450" y="3732213"/>
            <a:ext cx="8599488" cy="360362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1700"/>
              <a:t>A </a:t>
            </a:r>
            <a:r>
              <a:rPr lang="en-GB" altLang="x-none" sz="1700">
                <a:solidFill>
                  <a:srgbClr val="FF0000"/>
                </a:solidFill>
              </a:rPr>
              <a:t>negative </a:t>
            </a:r>
            <a:r>
              <a:rPr lang="en-GB" altLang="x-none" sz="1700"/>
              <a:t>correlation is characterised by a </a:t>
            </a:r>
            <a:r>
              <a:rPr lang="en-GB" altLang="x-none" sz="1700">
                <a:solidFill>
                  <a:schemeClr val="accent2"/>
                </a:solidFill>
              </a:rPr>
              <a:t>straight line</a:t>
            </a:r>
            <a:r>
              <a:rPr lang="en-GB" altLang="x-none" sz="1700"/>
              <a:t> with a </a:t>
            </a:r>
            <a:r>
              <a:rPr lang="en-GB" altLang="x-none" sz="1700">
                <a:solidFill>
                  <a:schemeClr val="accent2"/>
                </a:solidFill>
              </a:rPr>
              <a:t>negative gradient</a:t>
            </a:r>
            <a:r>
              <a:rPr lang="en-GB" altLang="x-none" sz="1700"/>
              <a:t>.</a:t>
            </a:r>
          </a:p>
        </p:txBody>
      </p:sp>
      <p:sp>
        <p:nvSpPr>
          <p:cNvPr id="5202" name="Line 82"/>
          <p:cNvSpPr>
            <a:spLocks noChangeShapeType="1"/>
          </p:cNvSpPr>
          <p:nvPr/>
        </p:nvSpPr>
        <p:spPr bwMode="auto">
          <a:xfrm>
            <a:off x="3873500" y="4597400"/>
            <a:ext cx="1582738" cy="15906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03" name="Rectangle 8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59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8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9" grpId="0" build="p" animBg="1" autoUpdateAnimBg="0"/>
      <p:bldP spid="5191" grpId="0" animBg="1"/>
      <p:bldP spid="5201" grpId="0" build="p" animBg="1" autoUpdateAnimBg="0"/>
      <p:bldP spid="520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Text Box 119"/>
          <p:cNvSpPr txBox="1">
            <a:spLocks noChangeArrowheads="1"/>
          </p:cNvSpPr>
          <p:nvPr/>
        </p:nvSpPr>
        <p:spPr bwMode="auto">
          <a:xfrm>
            <a:off x="868885" y="1711814"/>
            <a:ext cx="1600200" cy="406400"/>
          </a:xfrm>
          <a:prstGeom prst="rect">
            <a:avLst/>
          </a:prstGeom>
          <a:solidFill>
            <a:srgbClr val="FFFFCC">
              <a:alpha val="50000"/>
            </a:srgbClr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000" dirty="0"/>
              <a:t>Positive</a:t>
            </a:r>
          </a:p>
        </p:txBody>
      </p:sp>
      <p:sp>
        <p:nvSpPr>
          <p:cNvPr id="3192" name="Text Box 120"/>
          <p:cNvSpPr txBox="1">
            <a:spLocks noChangeArrowheads="1"/>
          </p:cNvSpPr>
          <p:nvPr/>
        </p:nvSpPr>
        <p:spPr bwMode="auto">
          <a:xfrm>
            <a:off x="4445965" y="1704956"/>
            <a:ext cx="1581150" cy="406400"/>
          </a:xfrm>
          <a:prstGeom prst="rect">
            <a:avLst/>
          </a:prstGeom>
          <a:solidFill>
            <a:srgbClr val="FFFFCC">
              <a:alpha val="50000"/>
            </a:srgbClr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000"/>
              <a:t>Negative </a:t>
            </a:r>
          </a:p>
        </p:txBody>
      </p:sp>
      <p:sp>
        <p:nvSpPr>
          <p:cNvPr id="3193" name="Text Box 121"/>
          <p:cNvSpPr txBox="1">
            <a:spLocks noChangeArrowheads="1"/>
          </p:cNvSpPr>
          <p:nvPr/>
        </p:nvSpPr>
        <p:spPr bwMode="auto">
          <a:xfrm>
            <a:off x="7264922" y="1666153"/>
            <a:ext cx="1295400" cy="406400"/>
          </a:xfrm>
          <a:prstGeom prst="rect">
            <a:avLst/>
          </a:prstGeom>
          <a:solidFill>
            <a:srgbClr val="FFFFCC">
              <a:alpha val="50000"/>
            </a:srgbClr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x-none" sz="2000"/>
              <a:t>None</a:t>
            </a:r>
          </a:p>
        </p:txBody>
      </p:sp>
      <p:grpSp>
        <p:nvGrpSpPr>
          <p:cNvPr id="3204" name="Group 132"/>
          <p:cNvGrpSpPr>
            <a:grpSpLocks/>
          </p:cNvGrpSpPr>
          <p:nvPr/>
        </p:nvGrpSpPr>
        <p:grpSpPr bwMode="auto">
          <a:xfrm>
            <a:off x="95250" y="809316"/>
            <a:ext cx="9048750" cy="3303588"/>
            <a:chOff x="60" y="180"/>
            <a:chExt cx="5700" cy="2081"/>
          </a:xfrm>
        </p:grpSpPr>
        <p:grpSp>
          <p:nvGrpSpPr>
            <p:cNvPr id="3190" name="Group 118"/>
            <p:cNvGrpSpPr>
              <a:grpSpLocks/>
            </p:cNvGrpSpPr>
            <p:nvPr/>
          </p:nvGrpSpPr>
          <p:grpSpPr bwMode="auto">
            <a:xfrm>
              <a:off x="205" y="180"/>
              <a:ext cx="5555" cy="2081"/>
              <a:chOff x="205" y="180"/>
              <a:chExt cx="5555" cy="2081"/>
            </a:xfrm>
          </p:grpSpPr>
          <p:sp>
            <p:nvSpPr>
              <p:cNvPr id="3074" name="Text Box 2" descr="Parchment"/>
              <p:cNvSpPr txBox="1">
                <a:spLocks noChangeArrowheads="1"/>
              </p:cNvSpPr>
              <p:nvPr/>
            </p:nvSpPr>
            <p:spPr bwMode="auto">
              <a:xfrm>
                <a:off x="468" y="180"/>
                <a:ext cx="4836" cy="486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/>
                  <a:t>State the type of </a:t>
                </a:r>
                <a:r>
                  <a:rPr lang="en-GB" altLang="x-none" sz="2000">
                    <a:solidFill>
                      <a:schemeClr val="accent2"/>
                    </a:solidFill>
                  </a:rPr>
                  <a:t>correlation</a:t>
                </a:r>
                <a:r>
                  <a:rPr lang="en-GB" altLang="x-none" sz="2000"/>
                  <a:t> for the scatter graphs below </a:t>
                </a:r>
                <a:r>
                  <a:rPr lang="en-GB" altLang="x-none" sz="2400" b="1"/>
                  <a:t>and</a:t>
                </a:r>
                <a:r>
                  <a:rPr lang="en-GB" altLang="x-none" sz="2000"/>
                  <a:t> write a sentence describing the relationship in each case.</a:t>
                </a:r>
              </a:p>
            </p:txBody>
          </p:sp>
          <p:sp>
            <p:nvSpPr>
              <p:cNvPr id="3079" name="Line 7"/>
              <p:cNvSpPr>
                <a:spLocks noChangeShapeType="1"/>
              </p:cNvSpPr>
              <p:nvPr/>
            </p:nvSpPr>
            <p:spPr bwMode="auto">
              <a:xfrm>
                <a:off x="4176" y="76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" name="Line 8"/>
              <p:cNvSpPr>
                <a:spLocks noChangeShapeType="1"/>
              </p:cNvSpPr>
              <p:nvPr/>
            </p:nvSpPr>
            <p:spPr bwMode="auto">
              <a:xfrm flipH="1">
                <a:off x="4176" y="2016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1" name="Text Box 9"/>
              <p:cNvSpPr txBox="1">
                <a:spLocks noChangeArrowheads="1"/>
              </p:cNvSpPr>
              <p:nvPr/>
            </p:nvSpPr>
            <p:spPr bwMode="auto">
              <a:xfrm rot="-5400000">
                <a:off x="3598" y="1261"/>
                <a:ext cx="7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>
                    <a:solidFill>
                      <a:schemeClr val="accent2"/>
                    </a:solidFill>
                  </a:rPr>
                  <a:t>Height</a:t>
                </a:r>
              </a:p>
            </p:txBody>
          </p:sp>
          <p:sp>
            <p:nvSpPr>
              <p:cNvPr id="3082" name="Text Box 10"/>
              <p:cNvSpPr txBox="1">
                <a:spLocks noChangeArrowheads="1"/>
              </p:cNvSpPr>
              <p:nvPr/>
            </p:nvSpPr>
            <p:spPr bwMode="auto">
              <a:xfrm>
                <a:off x="4320" y="2010"/>
                <a:ext cx="14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dirty="0" smtClean="0"/>
                  <a:t>Maths 9 Results</a:t>
                </a:r>
                <a:endParaRPr lang="en-GB" altLang="x-none" dirty="0"/>
              </a:p>
            </p:txBody>
          </p:sp>
          <p:sp>
            <p:nvSpPr>
              <p:cNvPr id="3084" name="Line 12"/>
              <p:cNvSpPr>
                <a:spLocks noChangeShapeType="1"/>
              </p:cNvSpPr>
              <p:nvPr/>
            </p:nvSpPr>
            <p:spPr bwMode="auto">
              <a:xfrm>
                <a:off x="477" y="76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Line 13"/>
              <p:cNvSpPr>
                <a:spLocks noChangeShapeType="1"/>
              </p:cNvSpPr>
              <p:nvPr/>
            </p:nvSpPr>
            <p:spPr bwMode="auto">
              <a:xfrm>
                <a:off x="477" y="2016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7" name="Text Box 15"/>
              <p:cNvSpPr txBox="1">
                <a:spLocks noChangeArrowheads="1"/>
              </p:cNvSpPr>
              <p:nvPr/>
            </p:nvSpPr>
            <p:spPr bwMode="auto">
              <a:xfrm>
                <a:off x="457" y="2030"/>
                <a:ext cx="15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/>
                  <a:t>Maths test scores</a:t>
                </a:r>
              </a:p>
            </p:txBody>
          </p:sp>
          <p:sp>
            <p:nvSpPr>
              <p:cNvPr id="3089" name="Oval 17"/>
              <p:cNvSpPr>
                <a:spLocks noChangeArrowheads="1"/>
              </p:cNvSpPr>
              <p:nvPr/>
            </p:nvSpPr>
            <p:spPr bwMode="auto">
              <a:xfrm>
                <a:off x="693" y="1832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0" name="Oval 18"/>
              <p:cNvSpPr>
                <a:spLocks noChangeArrowheads="1"/>
              </p:cNvSpPr>
              <p:nvPr/>
            </p:nvSpPr>
            <p:spPr bwMode="auto">
              <a:xfrm>
                <a:off x="881" y="1732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1" name="Oval 19"/>
              <p:cNvSpPr>
                <a:spLocks noChangeArrowheads="1"/>
              </p:cNvSpPr>
              <p:nvPr/>
            </p:nvSpPr>
            <p:spPr bwMode="auto">
              <a:xfrm>
                <a:off x="741" y="1660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2" name="Oval 20"/>
              <p:cNvSpPr>
                <a:spLocks noChangeArrowheads="1"/>
              </p:cNvSpPr>
              <p:nvPr/>
            </p:nvSpPr>
            <p:spPr bwMode="auto">
              <a:xfrm>
                <a:off x="993" y="1820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3" name="Oval 21"/>
              <p:cNvSpPr>
                <a:spLocks noChangeArrowheads="1"/>
              </p:cNvSpPr>
              <p:nvPr/>
            </p:nvSpPr>
            <p:spPr bwMode="auto">
              <a:xfrm>
                <a:off x="1137" y="1684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4" name="Oval 22"/>
              <p:cNvSpPr>
                <a:spLocks noChangeArrowheads="1"/>
              </p:cNvSpPr>
              <p:nvPr/>
            </p:nvSpPr>
            <p:spPr bwMode="auto">
              <a:xfrm>
                <a:off x="881" y="1428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5" name="Oval 23"/>
              <p:cNvSpPr>
                <a:spLocks noChangeArrowheads="1"/>
              </p:cNvSpPr>
              <p:nvPr/>
            </p:nvSpPr>
            <p:spPr bwMode="auto">
              <a:xfrm>
                <a:off x="1369" y="1500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6" name="Oval 24"/>
              <p:cNvSpPr>
                <a:spLocks noChangeArrowheads="1"/>
              </p:cNvSpPr>
              <p:nvPr/>
            </p:nvSpPr>
            <p:spPr bwMode="auto">
              <a:xfrm>
                <a:off x="1513" y="1416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7" name="Oval 25"/>
              <p:cNvSpPr>
                <a:spLocks noChangeArrowheads="1"/>
              </p:cNvSpPr>
              <p:nvPr/>
            </p:nvSpPr>
            <p:spPr bwMode="auto">
              <a:xfrm>
                <a:off x="1261" y="1232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8" name="Oval 26"/>
              <p:cNvSpPr>
                <a:spLocks noChangeArrowheads="1"/>
              </p:cNvSpPr>
              <p:nvPr/>
            </p:nvSpPr>
            <p:spPr bwMode="auto">
              <a:xfrm>
                <a:off x="1449" y="1200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9" name="Oval 27"/>
              <p:cNvSpPr>
                <a:spLocks noChangeArrowheads="1"/>
              </p:cNvSpPr>
              <p:nvPr/>
            </p:nvSpPr>
            <p:spPr bwMode="auto">
              <a:xfrm>
                <a:off x="1665" y="1012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0" name="Oval 28"/>
              <p:cNvSpPr>
                <a:spLocks noChangeArrowheads="1"/>
              </p:cNvSpPr>
              <p:nvPr/>
            </p:nvSpPr>
            <p:spPr bwMode="auto">
              <a:xfrm>
                <a:off x="1397" y="924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1" name="Oval 29"/>
              <p:cNvSpPr>
                <a:spLocks noChangeArrowheads="1"/>
              </p:cNvSpPr>
              <p:nvPr/>
            </p:nvSpPr>
            <p:spPr bwMode="auto">
              <a:xfrm>
                <a:off x="1117" y="1400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102" name="Group 30"/>
              <p:cNvGrpSpPr>
                <a:grpSpLocks/>
              </p:cNvGrpSpPr>
              <p:nvPr/>
            </p:nvGrpSpPr>
            <p:grpSpPr bwMode="auto">
              <a:xfrm flipH="1">
                <a:off x="4333" y="1097"/>
                <a:ext cx="936" cy="716"/>
                <a:chOff x="4333" y="2729"/>
                <a:chExt cx="936" cy="716"/>
              </a:xfrm>
            </p:grpSpPr>
            <p:sp>
              <p:nvSpPr>
                <p:cNvPr id="3103" name="Oval 31"/>
                <p:cNvSpPr>
                  <a:spLocks noChangeArrowheads="1"/>
                </p:cNvSpPr>
                <p:nvPr/>
              </p:nvSpPr>
              <p:spPr bwMode="auto">
                <a:xfrm rot="5400000">
                  <a:off x="4813" y="272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4" name="Oval 32"/>
                <p:cNvSpPr>
                  <a:spLocks noChangeArrowheads="1"/>
                </p:cNvSpPr>
                <p:nvPr/>
              </p:nvSpPr>
              <p:spPr bwMode="auto">
                <a:xfrm rot="5400000">
                  <a:off x="4333" y="279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5" name="Oval 33"/>
                <p:cNvSpPr>
                  <a:spLocks noChangeArrowheads="1"/>
                </p:cNvSpPr>
                <p:nvPr/>
              </p:nvSpPr>
              <p:spPr bwMode="auto">
                <a:xfrm rot="5400000">
                  <a:off x="4565" y="3125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6" name="Oval 34"/>
                <p:cNvSpPr>
                  <a:spLocks noChangeArrowheads="1"/>
                </p:cNvSpPr>
                <p:nvPr/>
              </p:nvSpPr>
              <p:spPr bwMode="auto">
                <a:xfrm rot="5400000">
                  <a:off x="4405" y="2973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7" name="Oval 35"/>
                <p:cNvSpPr>
                  <a:spLocks noChangeArrowheads="1"/>
                </p:cNvSpPr>
                <p:nvPr/>
              </p:nvSpPr>
              <p:spPr bwMode="auto">
                <a:xfrm rot="5400000">
                  <a:off x="4585" y="326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8" name="Oval 36"/>
                <p:cNvSpPr>
                  <a:spLocks noChangeArrowheads="1"/>
                </p:cNvSpPr>
                <p:nvPr/>
              </p:nvSpPr>
              <p:spPr bwMode="auto">
                <a:xfrm rot="5400000">
                  <a:off x="4621" y="287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9" name="Oval 37"/>
                <p:cNvSpPr>
                  <a:spLocks noChangeArrowheads="1"/>
                </p:cNvSpPr>
                <p:nvPr/>
              </p:nvSpPr>
              <p:spPr bwMode="auto">
                <a:xfrm rot="5400000">
                  <a:off x="4381" y="336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10" name="Oval 38"/>
                <p:cNvSpPr>
                  <a:spLocks noChangeArrowheads="1"/>
                </p:cNvSpPr>
                <p:nvPr/>
              </p:nvSpPr>
              <p:spPr bwMode="auto">
                <a:xfrm rot="5400000">
                  <a:off x="4897" y="3409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11" name="Oval 39"/>
                <p:cNvSpPr>
                  <a:spLocks noChangeArrowheads="1"/>
                </p:cNvSpPr>
                <p:nvPr/>
              </p:nvSpPr>
              <p:spPr bwMode="auto">
                <a:xfrm rot="5400000">
                  <a:off x="4817" y="321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12" name="Oval 40"/>
                <p:cNvSpPr>
                  <a:spLocks noChangeArrowheads="1"/>
                </p:cNvSpPr>
                <p:nvPr/>
              </p:nvSpPr>
              <p:spPr bwMode="auto">
                <a:xfrm rot="5400000">
                  <a:off x="4985" y="3077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13" name="Oval 41"/>
                <p:cNvSpPr>
                  <a:spLocks noChangeArrowheads="1"/>
                </p:cNvSpPr>
                <p:nvPr/>
              </p:nvSpPr>
              <p:spPr bwMode="auto">
                <a:xfrm rot="5400000">
                  <a:off x="5197" y="3373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14" name="Oval 42"/>
                <p:cNvSpPr>
                  <a:spLocks noChangeArrowheads="1"/>
                </p:cNvSpPr>
                <p:nvPr/>
              </p:nvSpPr>
              <p:spPr bwMode="auto">
                <a:xfrm rot="5400000">
                  <a:off x="5233" y="3021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15" name="Oval 43"/>
                <p:cNvSpPr>
                  <a:spLocks noChangeArrowheads="1"/>
                </p:cNvSpPr>
                <p:nvPr/>
              </p:nvSpPr>
              <p:spPr bwMode="auto">
                <a:xfrm rot="5400000">
                  <a:off x="5045" y="2865"/>
                  <a:ext cx="36" cy="36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117" name="Line 45"/>
              <p:cNvSpPr>
                <a:spLocks noChangeShapeType="1"/>
              </p:cNvSpPr>
              <p:nvPr/>
            </p:nvSpPr>
            <p:spPr bwMode="auto">
              <a:xfrm>
                <a:off x="2362" y="76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8" name="Line 46"/>
              <p:cNvSpPr>
                <a:spLocks noChangeShapeType="1"/>
              </p:cNvSpPr>
              <p:nvPr/>
            </p:nvSpPr>
            <p:spPr bwMode="auto">
              <a:xfrm>
                <a:off x="2362" y="2016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Text Box 48"/>
              <p:cNvSpPr txBox="1">
                <a:spLocks noChangeArrowheads="1"/>
              </p:cNvSpPr>
              <p:nvPr/>
            </p:nvSpPr>
            <p:spPr bwMode="auto">
              <a:xfrm>
                <a:off x="2314" y="2018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dirty="0"/>
                  <a:t>Car engine size (cc)</a:t>
                </a:r>
              </a:p>
            </p:txBody>
          </p:sp>
          <p:sp>
            <p:nvSpPr>
              <p:cNvPr id="3122" name="Oval 50"/>
              <p:cNvSpPr>
                <a:spLocks noChangeArrowheads="1"/>
              </p:cNvSpPr>
              <p:nvPr/>
            </p:nvSpPr>
            <p:spPr bwMode="auto">
              <a:xfrm rot="5400000">
                <a:off x="2474" y="985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" name="Oval 51"/>
              <p:cNvSpPr>
                <a:spLocks noChangeArrowheads="1"/>
              </p:cNvSpPr>
              <p:nvPr/>
            </p:nvSpPr>
            <p:spPr bwMode="auto">
              <a:xfrm rot="5400000">
                <a:off x="2552" y="1275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4" name="Oval 52"/>
              <p:cNvSpPr>
                <a:spLocks noChangeArrowheads="1"/>
              </p:cNvSpPr>
              <p:nvPr/>
            </p:nvSpPr>
            <p:spPr bwMode="auto">
              <a:xfrm rot="5400000">
                <a:off x="2735" y="1227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5" name="Oval 53"/>
              <p:cNvSpPr>
                <a:spLocks noChangeArrowheads="1"/>
              </p:cNvSpPr>
              <p:nvPr/>
            </p:nvSpPr>
            <p:spPr bwMode="auto">
              <a:xfrm rot="5400000">
                <a:off x="2643" y="1561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6" name="Oval 54"/>
              <p:cNvSpPr>
                <a:spLocks noChangeArrowheads="1"/>
              </p:cNvSpPr>
              <p:nvPr/>
            </p:nvSpPr>
            <p:spPr bwMode="auto">
              <a:xfrm rot="5400000">
                <a:off x="2860" y="1385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7" name="Oval 55"/>
              <p:cNvSpPr>
                <a:spLocks noChangeArrowheads="1"/>
              </p:cNvSpPr>
              <p:nvPr/>
            </p:nvSpPr>
            <p:spPr bwMode="auto">
              <a:xfrm rot="5400000">
                <a:off x="2991" y="1278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8" name="Oval 56"/>
              <p:cNvSpPr>
                <a:spLocks noChangeArrowheads="1"/>
              </p:cNvSpPr>
              <p:nvPr/>
            </p:nvSpPr>
            <p:spPr bwMode="auto">
              <a:xfrm rot="5400000">
                <a:off x="2885" y="1625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9" name="Oval 57"/>
              <p:cNvSpPr>
                <a:spLocks noChangeArrowheads="1"/>
              </p:cNvSpPr>
              <p:nvPr/>
            </p:nvSpPr>
            <p:spPr bwMode="auto">
              <a:xfrm rot="5400000">
                <a:off x="3208" y="1869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0" name="Oval 58"/>
              <p:cNvSpPr>
                <a:spLocks noChangeArrowheads="1"/>
              </p:cNvSpPr>
              <p:nvPr/>
            </p:nvSpPr>
            <p:spPr bwMode="auto">
              <a:xfrm rot="5400000">
                <a:off x="3055" y="1586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1" name="Oval 59"/>
              <p:cNvSpPr>
                <a:spLocks noChangeArrowheads="1"/>
              </p:cNvSpPr>
              <p:nvPr/>
            </p:nvSpPr>
            <p:spPr bwMode="auto">
              <a:xfrm rot="5400000">
                <a:off x="3265" y="1589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2" name="Oval 60"/>
              <p:cNvSpPr>
                <a:spLocks noChangeArrowheads="1"/>
              </p:cNvSpPr>
              <p:nvPr/>
            </p:nvSpPr>
            <p:spPr bwMode="auto">
              <a:xfrm rot="5400000">
                <a:off x="3496" y="1921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3" name="Oval 61"/>
              <p:cNvSpPr>
                <a:spLocks noChangeArrowheads="1"/>
              </p:cNvSpPr>
              <p:nvPr/>
            </p:nvSpPr>
            <p:spPr bwMode="auto">
              <a:xfrm rot="5400000">
                <a:off x="3430" y="1599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4" name="Oval 62"/>
              <p:cNvSpPr>
                <a:spLocks noChangeArrowheads="1"/>
              </p:cNvSpPr>
              <p:nvPr/>
            </p:nvSpPr>
            <p:spPr bwMode="auto">
              <a:xfrm rot="5400000">
                <a:off x="3228" y="1392"/>
                <a:ext cx="36" cy="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69" name="Text Box 97"/>
              <p:cNvSpPr txBox="1">
                <a:spLocks noChangeArrowheads="1"/>
              </p:cNvSpPr>
              <p:nvPr/>
            </p:nvSpPr>
            <p:spPr bwMode="auto">
              <a:xfrm rot="-5400000">
                <a:off x="-431" y="1221"/>
                <a:ext cx="15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>
                    <a:solidFill>
                      <a:schemeClr val="accent2"/>
                    </a:solidFill>
                  </a:rPr>
                  <a:t>Physics test scores</a:t>
                </a:r>
              </a:p>
            </p:txBody>
          </p:sp>
          <p:sp>
            <p:nvSpPr>
              <p:cNvPr id="3188" name="Text Box 116"/>
              <p:cNvSpPr txBox="1">
                <a:spLocks noChangeArrowheads="1"/>
              </p:cNvSpPr>
              <p:nvPr/>
            </p:nvSpPr>
            <p:spPr bwMode="auto">
              <a:xfrm rot="-5400000">
                <a:off x="1509" y="1209"/>
                <a:ext cx="1440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GB" altLang="x-none" sz="1600">
                    <a:solidFill>
                      <a:schemeClr val="accent2"/>
                    </a:solidFill>
                  </a:rPr>
                  <a:t>Petrol consumption </a:t>
                </a:r>
                <a:r>
                  <a:rPr lang="en-GB" altLang="x-none" sz="1400">
                    <a:solidFill>
                      <a:schemeClr val="accent2"/>
                    </a:solidFill>
                  </a:rPr>
                  <a:t>(mpg)</a:t>
                </a:r>
              </a:p>
            </p:txBody>
          </p:sp>
        </p:grpSp>
        <p:sp>
          <p:nvSpPr>
            <p:cNvPr id="3198" name="Text Box 126"/>
            <p:cNvSpPr txBox="1">
              <a:spLocks noChangeArrowheads="1"/>
            </p:cNvSpPr>
            <p:nvPr/>
          </p:nvSpPr>
          <p:spPr bwMode="auto">
            <a:xfrm>
              <a:off x="60" y="800"/>
              <a:ext cx="222" cy="23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/>
                <a:t>1</a:t>
              </a:r>
            </a:p>
          </p:txBody>
        </p:sp>
        <p:sp>
          <p:nvSpPr>
            <p:cNvPr id="3199" name="Text Box 127"/>
            <p:cNvSpPr txBox="1">
              <a:spLocks noChangeArrowheads="1"/>
            </p:cNvSpPr>
            <p:nvPr/>
          </p:nvSpPr>
          <p:spPr bwMode="auto">
            <a:xfrm>
              <a:off x="1878" y="805"/>
              <a:ext cx="222" cy="23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/>
                <a:t>2</a:t>
              </a:r>
            </a:p>
          </p:txBody>
        </p:sp>
        <p:sp>
          <p:nvSpPr>
            <p:cNvPr id="3200" name="Text Box 128"/>
            <p:cNvSpPr txBox="1">
              <a:spLocks noChangeArrowheads="1"/>
            </p:cNvSpPr>
            <p:nvPr/>
          </p:nvSpPr>
          <p:spPr bwMode="auto">
            <a:xfrm>
              <a:off x="3922" y="791"/>
              <a:ext cx="222" cy="23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/>
                <a:t>3</a:t>
              </a:r>
            </a:p>
          </p:txBody>
        </p:sp>
      </p:grpSp>
      <p:sp>
        <p:nvSpPr>
          <p:cNvPr id="3205" name="Text Box 133" descr="Parchment"/>
          <p:cNvSpPr txBox="1">
            <a:spLocks noChangeArrowheads="1"/>
          </p:cNvSpPr>
          <p:nvPr/>
        </p:nvSpPr>
        <p:spPr bwMode="auto">
          <a:xfrm>
            <a:off x="435217" y="4314516"/>
            <a:ext cx="8420100" cy="3762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/>
              <a:t>People with higher maths scores tend to get higher physics scores.</a:t>
            </a:r>
          </a:p>
        </p:txBody>
      </p:sp>
      <p:sp>
        <p:nvSpPr>
          <p:cNvPr id="3206" name="Text Box 134" descr="Parchment"/>
          <p:cNvSpPr txBox="1">
            <a:spLocks noChangeArrowheads="1"/>
          </p:cNvSpPr>
          <p:nvPr/>
        </p:nvSpPr>
        <p:spPr bwMode="auto">
          <a:xfrm>
            <a:off x="418619" y="4309754"/>
            <a:ext cx="8420100" cy="3762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/>
              <a:t>As the engine size of cars increase, they use more petrol. (</a:t>
            </a:r>
            <a:r>
              <a:rPr lang="en-GB" altLang="x-none">
                <a:solidFill>
                  <a:schemeClr val="accent2"/>
                </a:solidFill>
              </a:rPr>
              <a:t>Less</a:t>
            </a:r>
            <a:r>
              <a:rPr lang="en-GB" altLang="x-none"/>
              <a:t> mpg)</a:t>
            </a:r>
          </a:p>
        </p:txBody>
      </p:sp>
      <p:sp>
        <p:nvSpPr>
          <p:cNvPr id="3207" name="Text Box 135" descr="Parchment"/>
          <p:cNvSpPr txBox="1">
            <a:spLocks noChangeArrowheads="1"/>
          </p:cNvSpPr>
          <p:nvPr/>
        </p:nvSpPr>
        <p:spPr bwMode="auto">
          <a:xfrm>
            <a:off x="427038" y="4303404"/>
            <a:ext cx="8420100" cy="3762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dirty="0"/>
              <a:t>There is no relationship between </a:t>
            </a:r>
            <a:r>
              <a:rPr lang="en-GB" altLang="x-none" dirty="0" smtClean="0"/>
              <a:t>Maths 9 results </a:t>
            </a:r>
            <a:r>
              <a:rPr lang="en-GB" altLang="x-none" dirty="0"/>
              <a:t>and the height of students.</a:t>
            </a:r>
          </a:p>
        </p:txBody>
      </p:sp>
      <p:sp>
        <p:nvSpPr>
          <p:cNvPr id="3211" name="Rectangle 139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2680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20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3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320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1" grpId="0" animBg="1" autoUpdateAnimBg="0"/>
      <p:bldP spid="3192" grpId="0" animBg="1" autoUpdateAnimBg="0"/>
      <p:bldP spid="3193" grpId="0" animBg="1" autoUpdateAnimBg="0"/>
      <p:bldP spid="3205" grpId="0" build="p" animBg="1" autoUpdateAnimBg="0"/>
      <p:bldP spid="3206" grpId="0" uiExpand="1" build="p" animBg="1" autoUpdateAnimBg="0"/>
      <p:bldP spid="3207" grpId="0" uiExpand="1" build="p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1" name="Group 207"/>
          <p:cNvGrpSpPr>
            <a:grpSpLocks/>
          </p:cNvGrpSpPr>
          <p:nvPr/>
        </p:nvGrpSpPr>
        <p:grpSpPr bwMode="auto">
          <a:xfrm>
            <a:off x="5302250" y="3711575"/>
            <a:ext cx="2730500" cy="1103313"/>
            <a:chOff x="3340" y="2338"/>
            <a:chExt cx="1720" cy="695"/>
          </a:xfrm>
        </p:grpSpPr>
        <p:sp>
          <p:nvSpPr>
            <p:cNvPr id="6342" name="Line 198"/>
            <p:cNvSpPr>
              <a:spLocks noChangeShapeType="1"/>
            </p:cNvSpPr>
            <p:nvPr/>
          </p:nvSpPr>
          <p:spPr bwMode="auto">
            <a:xfrm>
              <a:off x="4310" y="2504"/>
              <a:ext cx="0" cy="2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36" name="Line 192"/>
            <p:cNvSpPr>
              <a:spLocks noChangeShapeType="1"/>
            </p:cNvSpPr>
            <p:nvPr/>
          </p:nvSpPr>
          <p:spPr bwMode="auto">
            <a:xfrm flipH="1">
              <a:off x="3340" y="2338"/>
              <a:ext cx="0" cy="1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37" name="Line 193"/>
            <p:cNvSpPr>
              <a:spLocks noChangeShapeType="1"/>
            </p:cNvSpPr>
            <p:nvPr/>
          </p:nvSpPr>
          <p:spPr bwMode="auto">
            <a:xfrm>
              <a:off x="3702" y="2436"/>
              <a:ext cx="0" cy="1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1" name="Line 197"/>
            <p:cNvSpPr>
              <a:spLocks noChangeShapeType="1"/>
            </p:cNvSpPr>
            <p:nvPr/>
          </p:nvSpPr>
          <p:spPr bwMode="auto">
            <a:xfrm flipH="1">
              <a:off x="4003" y="2350"/>
              <a:ext cx="1" cy="35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3" name="Line 199"/>
            <p:cNvSpPr>
              <a:spLocks noChangeShapeType="1"/>
            </p:cNvSpPr>
            <p:nvPr/>
          </p:nvSpPr>
          <p:spPr bwMode="auto">
            <a:xfrm>
              <a:off x="4494" y="2782"/>
              <a:ext cx="0" cy="7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6" name="Line 202"/>
            <p:cNvSpPr>
              <a:spLocks noChangeShapeType="1"/>
            </p:cNvSpPr>
            <p:nvPr/>
          </p:nvSpPr>
          <p:spPr bwMode="auto">
            <a:xfrm flipH="1">
              <a:off x="5059" y="2816"/>
              <a:ext cx="1" cy="2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73" name="Text Box 129" descr="Parchment"/>
          <p:cNvSpPr txBox="1">
            <a:spLocks noChangeArrowheads="1"/>
          </p:cNvSpPr>
          <p:nvPr/>
        </p:nvSpPr>
        <p:spPr bwMode="auto">
          <a:xfrm>
            <a:off x="304800" y="1352550"/>
            <a:ext cx="8553450" cy="1206484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2000" dirty="0"/>
              <a:t>A </a:t>
            </a:r>
            <a:r>
              <a:rPr lang="en-GB" altLang="x-none" sz="2000" dirty="0">
                <a:solidFill>
                  <a:srgbClr val="FF0000"/>
                </a:solidFill>
              </a:rPr>
              <a:t>line of best fit</a:t>
            </a:r>
            <a:r>
              <a:rPr lang="en-GB" altLang="x-none" sz="2000" dirty="0"/>
              <a:t> </a:t>
            </a:r>
            <a:r>
              <a:rPr lang="en-GB" altLang="x-none" sz="2000" dirty="0" smtClean="0"/>
              <a:t>is a straight line that best represents the data on a scatter plot. It allows us to</a:t>
            </a:r>
            <a:r>
              <a:rPr lang="en-US" altLang="x-none" sz="2000" dirty="0" smtClean="0"/>
              <a:t>:</a:t>
            </a:r>
            <a:endParaRPr lang="en-US" altLang="x-none" sz="2000" dirty="0"/>
          </a:p>
          <a:p>
            <a:pPr marL="8001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altLang="x-none" dirty="0"/>
              <a:t>Understand the type and strength of the relationship between two sets of data</a:t>
            </a:r>
          </a:p>
          <a:p>
            <a:pPr marL="8001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altLang="x-none" dirty="0"/>
              <a:t>Predict missing Y values for given X values, or missing X values for given Y </a:t>
            </a:r>
            <a:r>
              <a:rPr lang="en-US" altLang="x-none" dirty="0" smtClean="0"/>
              <a:t>values</a:t>
            </a:r>
            <a:endParaRPr lang="en-GB" altLang="x-none" dirty="0" smtClean="0"/>
          </a:p>
        </p:txBody>
      </p:sp>
      <p:sp>
        <p:nvSpPr>
          <p:cNvPr id="6288" name="Freeform 144"/>
          <p:cNvSpPr>
            <a:spLocks/>
          </p:cNvSpPr>
          <p:nvPr/>
        </p:nvSpPr>
        <p:spPr bwMode="auto">
          <a:xfrm>
            <a:off x="323850" y="2876550"/>
            <a:ext cx="3314700" cy="2743200"/>
          </a:xfrm>
          <a:custGeom>
            <a:avLst/>
            <a:gdLst>
              <a:gd name="T0" fmla="*/ 0 w 2088"/>
              <a:gd name="T1" fmla="*/ 1728 h 1728"/>
              <a:gd name="T2" fmla="*/ 2088 w 2088"/>
              <a:gd name="T3" fmla="*/ 0 h 17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88" h="1728">
                <a:moveTo>
                  <a:pt x="0" y="1728"/>
                </a:moveTo>
                <a:lnTo>
                  <a:pt x="2088" y="0"/>
                </a:lnTo>
              </a:path>
            </a:pathLst>
          </a:custGeom>
          <a:noFill/>
          <a:ln w="28575" cmpd="sng">
            <a:solidFill>
              <a:schemeClr val="accent2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08" name="Group 164"/>
          <p:cNvGrpSpPr>
            <a:grpSpLocks/>
          </p:cNvGrpSpPr>
          <p:nvPr/>
        </p:nvGrpSpPr>
        <p:grpSpPr bwMode="auto">
          <a:xfrm>
            <a:off x="1073150" y="3397250"/>
            <a:ext cx="1924050" cy="1879600"/>
            <a:chOff x="2044" y="2164"/>
            <a:chExt cx="1212" cy="1184"/>
          </a:xfrm>
        </p:grpSpPr>
        <p:sp>
          <p:nvSpPr>
            <p:cNvPr id="6291" name="Line 147"/>
            <p:cNvSpPr>
              <a:spLocks noChangeShapeType="1"/>
            </p:cNvSpPr>
            <p:nvPr/>
          </p:nvSpPr>
          <p:spPr bwMode="auto">
            <a:xfrm flipV="1">
              <a:off x="2968" y="2406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2" name="Line 148"/>
            <p:cNvSpPr>
              <a:spLocks noChangeShapeType="1"/>
            </p:cNvSpPr>
            <p:nvPr/>
          </p:nvSpPr>
          <p:spPr bwMode="auto">
            <a:xfrm flipV="1">
              <a:off x="3256" y="2164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3" name="Line 149"/>
            <p:cNvSpPr>
              <a:spLocks noChangeShapeType="1"/>
            </p:cNvSpPr>
            <p:nvPr/>
          </p:nvSpPr>
          <p:spPr bwMode="auto">
            <a:xfrm flipV="1">
              <a:off x="2740" y="2590"/>
              <a:ext cx="0" cy="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4" name="Line 150"/>
            <p:cNvSpPr>
              <a:spLocks noChangeShapeType="1"/>
            </p:cNvSpPr>
            <p:nvPr/>
          </p:nvSpPr>
          <p:spPr bwMode="auto">
            <a:xfrm flipV="1">
              <a:off x="2668" y="2658"/>
              <a:ext cx="0" cy="3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00" name="Line 156"/>
            <p:cNvSpPr>
              <a:spLocks noChangeShapeType="1"/>
            </p:cNvSpPr>
            <p:nvPr/>
          </p:nvSpPr>
          <p:spPr bwMode="auto">
            <a:xfrm flipV="1">
              <a:off x="2368" y="2904"/>
              <a:ext cx="0" cy="1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03" name="Line 159"/>
            <p:cNvSpPr>
              <a:spLocks noChangeShapeType="1"/>
            </p:cNvSpPr>
            <p:nvPr/>
          </p:nvSpPr>
          <p:spPr bwMode="auto">
            <a:xfrm flipV="1">
              <a:off x="2044" y="3170"/>
              <a:ext cx="0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05" name="Text Box 161" descr="Parchment"/>
          <p:cNvSpPr txBox="1">
            <a:spLocks noChangeArrowheads="1"/>
          </p:cNvSpPr>
          <p:nvPr/>
        </p:nvSpPr>
        <p:spPr bwMode="auto">
          <a:xfrm>
            <a:off x="400050" y="5867400"/>
            <a:ext cx="8115300" cy="7112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2000" dirty="0" smtClean="0"/>
              <a:t>The </a:t>
            </a:r>
            <a:r>
              <a:rPr lang="en-GB" altLang="x-none" sz="2000" dirty="0" smtClean="0">
                <a:solidFill>
                  <a:srgbClr val="FF0000"/>
                </a:solidFill>
              </a:rPr>
              <a:t>sum </a:t>
            </a:r>
            <a:r>
              <a:rPr lang="en-GB" altLang="x-none" sz="2000" dirty="0" smtClean="0"/>
              <a:t>of the </a:t>
            </a:r>
            <a:r>
              <a:rPr lang="en-GB" altLang="x-none" sz="2000" dirty="0" smtClean="0">
                <a:solidFill>
                  <a:schemeClr val="accent2"/>
                </a:solidFill>
              </a:rPr>
              <a:t>vertical</a:t>
            </a:r>
            <a:r>
              <a:rPr lang="en-GB" altLang="x-none" sz="2000" dirty="0" smtClean="0"/>
              <a:t> distances above the line should be </a:t>
            </a:r>
            <a:r>
              <a:rPr lang="en-GB" altLang="x-none" sz="2000" dirty="0" smtClean="0">
                <a:solidFill>
                  <a:srgbClr val="FF0000"/>
                </a:solidFill>
              </a:rPr>
              <a:t>roughly</a:t>
            </a:r>
            <a:r>
              <a:rPr lang="en-GB" altLang="x-none" sz="2000" dirty="0" smtClean="0"/>
              <a:t> the same as those below.</a:t>
            </a:r>
            <a:endParaRPr lang="en-GB" altLang="x-none" sz="2000" dirty="0"/>
          </a:p>
        </p:txBody>
      </p:sp>
      <p:grpSp>
        <p:nvGrpSpPr>
          <p:cNvPr id="6307" name="Group 163"/>
          <p:cNvGrpSpPr>
            <a:grpSpLocks/>
          </p:cNvGrpSpPr>
          <p:nvPr/>
        </p:nvGrpSpPr>
        <p:grpSpPr bwMode="auto">
          <a:xfrm>
            <a:off x="539750" y="3359150"/>
            <a:ext cx="2251075" cy="2079625"/>
            <a:chOff x="1708" y="2140"/>
            <a:chExt cx="1418" cy="1310"/>
          </a:xfrm>
        </p:grpSpPr>
        <p:sp>
          <p:nvSpPr>
            <p:cNvPr id="6289" name="Line 145"/>
            <p:cNvSpPr>
              <a:spLocks noChangeShapeType="1"/>
            </p:cNvSpPr>
            <p:nvPr/>
          </p:nvSpPr>
          <p:spPr bwMode="auto">
            <a:xfrm>
              <a:off x="3126" y="2140"/>
              <a:ext cx="0" cy="13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0" name="Line 146"/>
            <p:cNvSpPr>
              <a:spLocks noChangeShapeType="1"/>
            </p:cNvSpPr>
            <p:nvPr/>
          </p:nvSpPr>
          <p:spPr bwMode="auto">
            <a:xfrm>
              <a:off x="2874" y="2338"/>
              <a:ext cx="0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5" name="Line 151"/>
            <p:cNvSpPr>
              <a:spLocks noChangeShapeType="1"/>
            </p:cNvSpPr>
            <p:nvPr/>
          </p:nvSpPr>
          <p:spPr bwMode="auto">
            <a:xfrm>
              <a:off x="2418" y="2494"/>
              <a:ext cx="0" cy="3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8" name="Line 154"/>
            <p:cNvSpPr>
              <a:spLocks noChangeShapeType="1"/>
            </p:cNvSpPr>
            <p:nvPr/>
          </p:nvSpPr>
          <p:spPr bwMode="auto">
            <a:xfrm>
              <a:off x="2298" y="2826"/>
              <a:ext cx="0" cy="1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01" name="Line 157"/>
            <p:cNvSpPr>
              <a:spLocks noChangeShapeType="1"/>
            </p:cNvSpPr>
            <p:nvPr/>
          </p:nvSpPr>
          <p:spPr bwMode="auto">
            <a:xfrm>
              <a:off x="1926" y="2886"/>
              <a:ext cx="0" cy="3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02" name="Line 158"/>
            <p:cNvSpPr>
              <a:spLocks noChangeShapeType="1"/>
            </p:cNvSpPr>
            <p:nvPr/>
          </p:nvSpPr>
          <p:spPr bwMode="auto">
            <a:xfrm>
              <a:off x="1708" y="3238"/>
              <a:ext cx="0" cy="2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32" name="Line 188"/>
          <p:cNvSpPr>
            <a:spLocks noChangeShapeType="1"/>
          </p:cNvSpPr>
          <p:nvPr/>
        </p:nvSpPr>
        <p:spPr bwMode="auto">
          <a:xfrm>
            <a:off x="4211638" y="3633788"/>
            <a:ext cx="4629150" cy="14287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53" name="Group 209"/>
          <p:cNvGrpSpPr>
            <a:grpSpLocks/>
          </p:cNvGrpSpPr>
          <p:nvPr/>
        </p:nvGrpSpPr>
        <p:grpSpPr bwMode="auto">
          <a:xfrm>
            <a:off x="4635500" y="3760788"/>
            <a:ext cx="3622675" cy="1335087"/>
            <a:chOff x="2920" y="2369"/>
            <a:chExt cx="2282" cy="841"/>
          </a:xfrm>
        </p:grpSpPr>
        <p:sp>
          <p:nvSpPr>
            <p:cNvPr id="6338" name="Line 194"/>
            <p:cNvSpPr>
              <a:spLocks noChangeShapeType="1"/>
            </p:cNvSpPr>
            <p:nvPr/>
          </p:nvSpPr>
          <p:spPr bwMode="auto">
            <a:xfrm flipV="1">
              <a:off x="2920" y="2369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39" name="Line 195"/>
            <p:cNvSpPr>
              <a:spLocks noChangeShapeType="1"/>
            </p:cNvSpPr>
            <p:nvPr/>
          </p:nvSpPr>
          <p:spPr bwMode="auto">
            <a:xfrm flipV="1">
              <a:off x="3136" y="2437"/>
              <a:ext cx="1" cy="2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0" name="Line 196"/>
            <p:cNvSpPr>
              <a:spLocks noChangeShapeType="1"/>
            </p:cNvSpPr>
            <p:nvPr/>
          </p:nvSpPr>
          <p:spPr bwMode="auto">
            <a:xfrm flipV="1">
              <a:off x="3594" y="2573"/>
              <a:ext cx="0" cy="2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4" name="Line 200"/>
            <p:cNvSpPr>
              <a:spLocks noChangeShapeType="1"/>
            </p:cNvSpPr>
            <p:nvPr/>
          </p:nvSpPr>
          <p:spPr bwMode="auto">
            <a:xfrm flipV="1">
              <a:off x="4420" y="2834"/>
              <a:ext cx="0" cy="3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7" name="Line 203"/>
            <p:cNvSpPr>
              <a:spLocks noChangeShapeType="1"/>
            </p:cNvSpPr>
            <p:nvPr/>
          </p:nvSpPr>
          <p:spPr bwMode="auto">
            <a:xfrm flipH="1" flipV="1">
              <a:off x="5202" y="3076"/>
              <a:ext cx="0" cy="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5" name="Line 201"/>
            <p:cNvSpPr>
              <a:spLocks noChangeShapeType="1"/>
            </p:cNvSpPr>
            <p:nvPr/>
          </p:nvSpPr>
          <p:spPr bwMode="auto">
            <a:xfrm flipV="1">
              <a:off x="4866" y="297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58" name="Group 214"/>
          <p:cNvGrpSpPr>
            <a:grpSpLocks/>
          </p:cNvGrpSpPr>
          <p:nvPr/>
        </p:nvGrpSpPr>
        <p:grpSpPr bwMode="auto">
          <a:xfrm>
            <a:off x="495300" y="571500"/>
            <a:ext cx="7810500" cy="4975225"/>
            <a:chOff x="312" y="360"/>
            <a:chExt cx="4920" cy="3134"/>
          </a:xfrm>
        </p:grpSpPr>
        <p:grpSp>
          <p:nvGrpSpPr>
            <p:cNvPr id="6352" name="Group 208"/>
            <p:cNvGrpSpPr>
              <a:grpSpLocks/>
            </p:cNvGrpSpPr>
            <p:nvPr/>
          </p:nvGrpSpPr>
          <p:grpSpPr bwMode="auto">
            <a:xfrm>
              <a:off x="312" y="360"/>
              <a:ext cx="4920" cy="3000"/>
              <a:chOff x="312" y="360"/>
              <a:chExt cx="4920" cy="3000"/>
            </a:xfrm>
          </p:grpSpPr>
          <p:grpSp>
            <p:nvGrpSpPr>
              <p:cNvPr id="6349" name="Group 205"/>
              <p:cNvGrpSpPr>
                <a:grpSpLocks/>
              </p:cNvGrpSpPr>
              <p:nvPr/>
            </p:nvGrpSpPr>
            <p:grpSpPr bwMode="auto">
              <a:xfrm>
                <a:off x="2892" y="2304"/>
                <a:ext cx="2340" cy="936"/>
                <a:chOff x="2892" y="2304"/>
                <a:chExt cx="2340" cy="936"/>
              </a:xfrm>
            </p:grpSpPr>
            <p:sp>
              <p:nvSpPr>
                <p:cNvPr id="6317" name="Oval 173"/>
                <p:cNvSpPr>
                  <a:spLocks noChangeArrowheads="1"/>
                </p:cNvSpPr>
                <p:nvPr/>
              </p:nvSpPr>
              <p:spPr bwMode="auto">
                <a:xfrm>
                  <a:off x="3564" y="27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18" name="Oval 174"/>
                <p:cNvSpPr>
                  <a:spLocks noChangeArrowheads="1"/>
                </p:cNvSpPr>
                <p:nvPr/>
              </p:nvSpPr>
              <p:spPr bwMode="auto">
                <a:xfrm>
                  <a:off x="4164" y="274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19" name="Oval 175"/>
                <p:cNvSpPr>
                  <a:spLocks noChangeArrowheads="1"/>
                </p:cNvSpPr>
                <p:nvPr/>
              </p:nvSpPr>
              <p:spPr bwMode="auto">
                <a:xfrm>
                  <a:off x="4836" y="30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0" name="Oval 176"/>
                <p:cNvSpPr>
                  <a:spLocks noChangeArrowheads="1"/>
                </p:cNvSpPr>
                <p:nvPr/>
              </p:nvSpPr>
              <p:spPr bwMode="auto">
                <a:xfrm>
                  <a:off x="3312" y="230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1" name="Oval 177"/>
                <p:cNvSpPr>
                  <a:spLocks noChangeArrowheads="1"/>
                </p:cNvSpPr>
                <p:nvPr/>
              </p:nvSpPr>
              <p:spPr bwMode="auto">
                <a:xfrm>
                  <a:off x="3108" y="264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2" name="Oval 178"/>
                <p:cNvSpPr>
                  <a:spLocks noChangeArrowheads="1"/>
                </p:cNvSpPr>
                <p:nvPr/>
              </p:nvSpPr>
              <p:spPr bwMode="auto">
                <a:xfrm>
                  <a:off x="4464" y="274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3" name="Oval 179"/>
                <p:cNvSpPr>
                  <a:spLocks noChangeArrowheads="1"/>
                </p:cNvSpPr>
                <p:nvPr/>
              </p:nvSpPr>
              <p:spPr bwMode="auto">
                <a:xfrm>
                  <a:off x="3672" y="240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4" name="Oval 180"/>
                <p:cNvSpPr>
                  <a:spLocks noChangeArrowheads="1"/>
                </p:cNvSpPr>
                <p:nvPr/>
              </p:nvSpPr>
              <p:spPr bwMode="auto">
                <a:xfrm>
                  <a:off x="4284" y="247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5" name="Oval 181"/>
                <p:cNvSpPr>
                  <a:spLocks noChangeArrowheads="1"/>
                </p:cNvSpPr>
                <p:nvPr/>
              </p:nvSpPr>
              <p:spPr bwMode="auto">
                <a:xfrm>
                  <a:off x="4392" y="310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6" name="Oval 182"/>
                <p:cNvSpPr>
                  <a:spLocks noChangeArrowheads="1"/>
                </p:cNvSpPr>
                <p:nvPr/>
              </p:nvSpPr>
              <p:spPr bwMode="auto">
                <a:xfrm>
                  <a:off x="2892" y="252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7" name="Oval 183"/>
                <p:cNvSpPr>
                  <a:spLocks noChangeArrowheads="1"/>
                </p:cNvSpPr>
                <p:nvPr/>
              </p:nvSpPr>
              <p:spPr bwMode="auto">
                <a:xfrm>
                  <a:off x="5028" y="27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8" name="Oval 184"/>
                <p:cNvSpPr>
                  <a:spLocks noChangeArrowheads="1"/>
                </p:cNvSpPr>
                <p:nvPr/>
              </p:nvSpPr>
              <p:spPr bwMode="auto">
                <a:xfrm>
                  <a:off x="3972" y="231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9" name="Oval 185"/>
                <p:cNvSpPr>
                  <a:spLocks noChangeArrowheads="1"/>
                </p:cNvSpPr>
                <p:nvPr/>
              </p:nvSpPr>
              <p:spPr bwMode="auto">
                <a:xfrm>
                  <a:off x="5172" y="318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30" name="Oval 186"/>
                <p:cNvSpPr>
                  <a:spLocks noChangeArrowheads="1"/>
                </p:cNvSpPr>
                <p:nvPr/>
              </p:nvSpPr>
              <p:spPr bwMode="auto">
                <a:xfrm>
                  <a:off x="3852" y="266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272" name="Text Box 128" descr="Parchment"/>
              <p:cNvSpPr txBox="1">
                <a:spLocks noChangeArrowheads="1"/>
              </p:cNvSpPr>
              <p:nvPr/>
            </p:nvSpPr>
            <p:spPr bwMode="auto">
              <a:xfrm>
                <a:off x="924" y="360"/>
                <a:ext cx="3864" cy="336"/>
              </a:xfrm>
              <a:prstGeom prst="rect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 w="76200" cmpd="tri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GB" altLang="x-none" sz="2400"/>
                  <a:t>Drawing a Line of Best Fit</a:t>
                </a:r>
              </a:p>
            </p:txBody>
          </p:sp>
          <p:grpSp>
            <p:nvGrpSpPr>
              <p:cNvPr id="6287" name="Group 143"/>
              <p:cNvGrpSpPr>
                <a:grpSpLocks/>
              </p:cNvGrpSpPr>
              <p:nvPr/>
            </p:nvGrpSpPr>
            <p:grpSpPr bwMode="auto">
              <a:xfrm>
                <a:off x="312" y="2088"/>
                <a:ext cx="1608" cy="1272"/>
                <a:chOff x="1380" y="2184"/>
                <a:chExt cx="1608" cy="1272"/>
              </a:xfrm>
            </p:grpSpPr>
            <p:sp>
              <p:nvSpPr>
                <p:cNvPr id="6274" name="Oval 130"/>
                <p:cNvSpPr>
                  <a:spLocks noChangeArrowheads="1"/>
                </p:cNvSpPr>
                <p:nvPr/>
              </p:nvSpPr>
              <p:spPr bwMode="auto">
                <a:xfrm>
                  <a:off x="2040" y="313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75" name="Oval 131"/>
                <p:cNvSpPr>
                  <a:spLocks noChangeArrowheads="1"/>
                </p:cNvSpPr>
                <p:nvPr/>
              </p:nvSpPr>
              <p:spPr bwMode="auto">
                <a:xfrm>
                  <a:off x="2340" y="301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76" name="Oval 132"/>
                <p:cNvSpPr>
                  <a:spLocks noChangeArrowheads="1"/>
                </p:cNvSpPr>
                <p:nvPr/>
              </p:nvSpPr>
              <p:spPr bwMode="auto">
                <a:xfrm>
                  <a:off x="2640" y="268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77" name="Oval 133"/>
                <p:cNvSpPr>
                  <a:spLocks noChangeArrowheads="1"/>
                </p:cNvSpPr>
                <p:nvPr/>
              </p:nvSpPr>
              <p:spPr bwMode="auto">
                <a:xfrm>
                  <a:off x="2088" y="253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78" name="Oval 134"/>
                <p:cNvSpPr>
                  <a:spLocks noChangeArrowheads="1"/>
                </p:cNvSpPr>
                <p:nvPr/>
              </p:nvSpPr>
              <p:spPr bwMode="auto">
                <a:xfrm>
                  <a:off x="1596" y="292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79" name="Oval 135"/>
                <p:cNvSpPr>
                  <a:spLocks noChangeArrowheads="1"/>
                </p:cNvSpPr>
                <p:nvPr/>
              </p:nvSpPr>
              <p:spPr bwMode="auto">
                <a:xfrm>
                  <a:off x="1716" y="339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0" name="Oval 136"/>
                <p:cNvSpPr>
                  <a:spLocks noChangeArrowheads="1"/>
                </p:cNvSpPr>
                <p:nvPr/>
              </p:nvSpPr>
              <p:spPr bwMode="auto">
                <a:xfrm>
                  <a:off x="1968" y="286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1" name="Oval 137"/>
                <p:cNvSpPr>
                  <a:spLocks noChangeArrowheads="1"/>
                </p:cNvSpPr>
                <p:nvPr/>
              </p:nvSpPr>
              <p:spPr bwMode="auto">
                <a:xfrm>
                  <a:off x="2412" y="272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3" name="Oval 139"/>
                <p:cNvSpPr>
                  <a:spLocks noChangeArrowheads="1"/>
                </p:cNvSpPr>
                <p:nvPr/>
              </p:nvSpPr>
              <p:spPr bwMode="auto">
                <a:xfrm>
                  <a:off x="2796" y="21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4" name="Oval 140"/>
                <p:cNvSpPr>
                  <a:spLocks noChangeArrowheads="1"/>
                </p:cNvSpPr>
                <p:nvPr/>
              </p:nvSpPr>
              <p:spPr bwMode="auto">
                <a:xfrm>
                  <a:off x="1380" y="327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5" name="Oval 141"/>
                <p:cNvSpPr>
                  <a:spLocks noChangeArrowheads="1"/>
                </p:cNvSpPr>
                <p:nvPr/>
              </p:nvSpPr>
              <p:spPr bwMode="auto">
                <a:xfrm>
                  <a:off x="2928" y="244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6" name="Oval 142"/>
                <p:cNvSpPr>
                  <a:spLocks noChangeArrowheads="1"/>
                </p:cNvSpPr>
                <p:nvPr/>
              </p:nvSpPr>
              <p:spPr bwMode="auto">
                <a:xfrm>
                  <a:off x="2544" y="237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357" name="Group 213"/>
            <p:cNvGrpSpPr>
              <a:grpSpLocks/>
            </p:cNvGrpSpPr>
            <p:nvPr/>
          </p:nvGrpSpPr>
          <p:grpSpPr bwMode="auto">
            <a:xfrm>
              <a:off x="1543" y="2759"/>
              <a:ext cx="1817" cy="735"/>
              <a:chOff x="1543" y="2759"/>
              <a:chExt cx="1817" cy="735"/>
            </a:xfrm>
          </p:grpSpPr>
          <p:pic>
            <p:nvPicPr>
              <p:cNvPr id="6354" name="Picture 210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3" y="2853"/>
                <a:ext cx="1814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pic>
            <p:nvPicPr>
              <p:cNvPr id="6355" name="Picture 211" descr="Pencil 2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0" y="2759"/>
                <a:ext cx="474" cy="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56" name="Picture 212" descr="Eraser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7" y="2950"/>
                <a:ext cx="783" cy="5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359" name="Rectangle 21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5193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27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6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6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6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630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"/>
                                        <p:tgtEl>
                                          <p:spTgt spid="6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3" grpId="0" build="p" animBg="1" autoUpdateAnimBg="0"/>
      <p:bldP spid="6288" grpId="0" animBg="1"/>
      <p:bldP spid="6305" grpId="0" build="p" animBg="1" autoUpdateAnimBg="0"/>
      <p:bldP spid="63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2" name="Group 2224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9377" name="Group 2209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9376" name="Group 2208"/>
              <p:cNvGrpSpPr>
                <a:grpSpLocks/>
              </p:cNvGrpSpPr>
              <p:nvPr/>
            </p:nvGrpSpPr>
            <p:grpSpPr bwMode="auto">
              <a:xfrm>
                <a:off x="477" y="1487"/>
                <a:ext cx="3204" cy="2689"/>
                <a:chOff x="405" y="1470"/>
                <a:chExt cx="3204" cy="2689"/>
              </a:xfrm>
            </p:grpSpPr>
            <p:sp>
              <p:nvSpPr>
                <p:cNvPr id="9283" name="Text Box 2115"/>
                <p:cNvSpPr txBox="1">
                  <a:spLocks noChangeArrowheads="1"/>
                </p:cNvSpPr>
                <p:nvPr/>
              </p:nvSpPr>
              <p:spPr bwMode="auto">
                <a:xfrm>
                  <a:off x="1131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4</a:t>
                  </a:r>
                </a:p>
              </p:txBody>
            </p:sp>
            <p:sp>
              <p:nvSpPr>
                <p:cNvPr id="9284" name="Text Box 2116"/>
                <p:cNvSpPr txBox="1">
                  <a:spLocks noChangeArrowheads="1"/>
                </p:cNvSpPr>
                <p:nvPr/>
              </p:nvSpPr>
              <p:spPr bwMode="auto">
                <a:xfrm>
                  <a:off x="1395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5</a:t>
                  </a:r>
                </a:p>
              </p:txBody>
            </p:sp>
            <p:sp>
              <p:nvSpPr>
                <p:cNvPr id="9286" name="Text Box 2118"/>
                <p:cNvSpPr txBox="1">
                  <a:spLocks noChangeArrowheads="1"/>
                </p:cNvSpPr>
                <p:nvPr/>
              </p:nvSpPr>
              <p:spPr bwMode="auto">
                <a:xfrm>
                  <a:off x="1659" y="3747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6</a:t>
                  </a:r>
                </a:p>
              </p:txBody>
            </p:sp>
            <p:sp>
              <p:nvSpPr>
                <p:cNvPr id="9287" name="Text Box 2119"/>
                <p:cNvSpPr txBox="1">
                  <a:spLocks noChangeArrowheads="1"/>
                </p:cNvSpPr>
                <p:nvPr/>
              </p:nvSpPr>
              <p:spPr bwMode="auto">
                <a:xfrm>
                  <a:off x="1869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7</a:t>
                  </a:r>
                </a:p>
              </p:txBody>
            </p:sp>
            <p:sp>
              <p:nvSpPr>
                <p:cNvPr id="9288" name="Text Box 2120"/>
                <p:cNvSpPr txBox="1">
                  <a:spLocks noChangeArrowheads="1"/>
                </p:cNvSpPr>
                <p:nvPr/>
              </p:nvSpPr>
              <p:spPr bwMode="auto">
                <a:xfrm>
                  <a:off x="2125" y="3743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8</a:t>
                  </a:r>
                </a:p>
              </p:txBody>
            </p:sp>
            <p:sp>
              <p:nvSpPr>
                <p:cNvPr id="9289" name="Text Box 2121"/>
                <p:cNvSpPr txBox="1">
                  <a:spLocks noChangeArrowheads="1"/>
                </p:cNvSpPr>
                <p:nvPr/>
              </p:nvSpPr>
              <p:spPr bwMode="auto">
                <a:xfrm>
                  <a:off x="2365" y="3739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9</a:t>
                  </a:r>
                </a:p>
              </p:txBody>
            </p:sp>
            <p:sp>
              <p:nvSpPr>
                <p:cNvPr id="9290" name="Text Box 2122"/>
                <p:cNvSpPr txBox="1">
                  <a:spLocks noChangeArrowheads="1"/>
                </p:cNvSpPr>
                <p:nvPr/>
              </p:nvSpPr>
              <p:spPr bwMode="auto">
                <a:xfrm>
                  <a:off x="256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10</a:t>
                  </a:r>
                </a:p>
              </p:txBody>
            </p:sp>
            <p:sp>
              <p:nvSpPr>
                <p:cNvPr id="9291" name="Text Box 2123"/>
                <p:cNvSpPr txBox="1">
                  <a:spLocks noChangeArrowheads="1"/>
                </p:cNvSpPr>
                <p:nvPr/>
              </p:nvSpPr>
              <p:spPr bwMode="auto">
                <a:xfrm>
                  <a:off x="2809" y="375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11</a:t>
                  </a:r>
                </a:p>
              </p:txBody>
            </p:sp>
            <p:sp>
              <p:nvSpPr>
                <p:cNvPr id="9292" name="Text Box 2124"/>
                <p:cNvSpPr txBox="1">
                  <a:spLocks noChangeArrowheads="1"/>
                </p:cNvSpPr>
                <p:nvPr/>
              </p:nvSpPr>
              <p:spPr bwMode="auto">
                <a:xfrm>
                  <a:off x="3033" y="374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12</a:t>
                  </a:r>
                </a:p>
              </p:txBody>
            </p:sp>
            <p:sp>
              <p:nvSpPr>
                <p:cNvPr id="9293" name="Text Box 2125"/>
                <p:cNvSpPr txBox="1">
                  <a:spLocks noChangeArrowheads="1"/>
                </p:cNvSpPr>
                <p:nvPr/>
              </p:nvSpPr>
              <p:spPr bwMode="auto">
                <a:xfrm>
                  <a:off x="328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13</a:t>
                  </a:r>
                </a:p>
              </p:txBody>
            </p:sp>
            <p:sp>
              <p:nvSpPr>
                <p:cNvPr id="9294" name="Text Box 2126"/>
                <p:cNvSpPr txBox="1">
                  <a:spLocks noChangeArrowheads="1"/>
                </p:cNvSpPr>
                <p:nvPr/>
              </p:nvSpPr>
              <p:spPr bwMode="auto">
                <a:xfrm>
                  <a:off x="1731" y="3909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chemeClr val="accent2"/>
                      </a:solidFill>
                    </a:rPr>
                    <a:t>Shoe Size</a:t>
                  </a:r>
                </a:p>
              </p:txBody>
            </p:sp>
            <p:sp>
              <p:nvSpPr>
                <p:cNvPr id="9295" name="Text Box 2127"/>
                <p:cNvSpPr txBox="1">
                  <a:spLocks noChangeArrowheads="1"/>
                </p:cNvSpPr>
                <p:nvPr/>
              </p:nvSpPr>
              <p:spPr bwMode="auto">
                <a:xfrm>
                  <a:off x="675" y="337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60</a:t>
                  </a:r>
                </a:p>
              </p:txBody>
            </p:sp>
            <p:sp>
              <p:nvSpPr>
                <p:cNvPr id="9297" name="Text Box 2129"/>
                <p:cNvSpPr txBox="1">
                  <a:spLocks noChangeArrowheads="1"/>
                </p:cNvSpPr>
                <p:nvPr/>
              </p:nvSpPr>
              <p:spPr bwMode="auto">
                <a:xfrm>
                  <a:off x="675" y="3125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65</a:t>
                  </a:r>
                </a:p>
              </p:txBody>
            </p:sp>
            <p:sp>
              <p:nvSpPr>
                <p:cNvPr id="9298" name="Text Box 2130"/>
                <p:cNvSpPr txBox="1">
                  <a:spLocks noChangeArrowheads="1"/>
                </p:cNvSpPr>
                <p:nvPr/>
              </p:nvSpPr>
              <p:spPr bwMode="auto">
                <a:xfrm>
                  <a:off x="663" y="28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70</a:t>
                  </a:r>
                </a:p>
              </p:txBody>
            </p:sp>
            <p:sp>
              <p:nvSpPr>
                <p:cNvPr id="9299" name="Text Box 2131"/>
                <p:cNvSpPr txBox="1">
                  <a:spLocks noChangeArrowheads="1"/>
                </p:cNvSpPr>
                <p:nvPr/>
              </p:nvSpPr>
              <p:spPr bwMode="auto">
                <a:xfrm>
                  <a:off x="667" y="265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75</a:t>
                  </a:r>
                </a:p>
              </p:txBody>
            </p:sp>
            <p:sp>
              <p:nvSpPr>
                <p:cNvPr id="9300" name="Text Box 2132"/>
                <p:cNvSpPr txBox="1">
                  <a:spLocks noChangeArrowheads="1"/>
                </p:cNvSpPr>
                <p:nvPr/>
              </p:nvSpPr>
              <p:spPr bwMode="auto">
                <a:xfrm>
                  <a:off x="683" y="23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80</a:t>
                  </a:r>
                </a:p>
              </p:txBody>
            </p:sp>
            <p:sp>
              <p:nvSpPr>
                <p:cNvPr id="9301" name="Text Box 2133"/>
                <p:cNvSpPr txBox="1">
                  <a:spLocks noChangeArrowheads="1"/>
                </p:cNvSpPr>
                <p:nvPr/>
              </p:nvSpPr>
              <p:spPr bwMode="auto">
                <a:xfrm>
                  <a:off x="679" y="2169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85</a:t>
                  </a:r>
                </a:p>
              </p:txBody>
            </p:sp>
            <p:sp>
              <p:nvSpPr>
                <p:cNvPr id="9302" name="Text Box 2134"/>
                <p:cNvSpPr txBox="1">
                  <a:spLocks noChangeArrowheads="1"/>
                </p:cNvSpPr>
                <p:nvPr/>
              </p:nvSpPr>
              <p:spPr bwMode="auto">
                <a:xfrm>
                  <a:off x="671" y="193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90</a:t>
                  </a:r>
                </a:p>
              </p:txBody>
            </p:sp>
            <p:sp>
              <p:nvSpPr>
                <p:cNvPr id="9303" name="Text Box 2135"/>
                <p:cNvSpPr txBox="1">
                  <a:spLocks noChangeArrowheads="1"/>
                </p:cNvSpPr>
                <p:nvPr/>
              </p:nvSpPr>
              <p:spPr bwMode="auto">
                <a:xfrm>
                  <a:off x="675" y="168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95</a:t>
                  </a:r>
                </a:p>
              </p:txBody>
            </p:sp>
            <p:grpSp>
              <p:nvGrpSpPr>
                <p:cNvPr id="9324" name="Group 2156"/>
                <p:cNvGrpSpPr>
                  <a:grpSpLocks/>
                </p:cNvGrpSpPr>
                <p:nvPr/>
              </p:nvGrpSpPr>
              <p:grpSpPr bwMode="auto">
                <a:xfrm>
                  <a:off x="1017" y="1574"/>
                  <a:ext cx="2411" cy="2169"/>
                  <a:chOff x="1349" y="1496"/>
                  <a:chExt cx="2411" cy="2169"/>
                </a:xfrm>
              </p:grpSpPr>
              <p:sp>
                <p:nvSpPr>
                  <p:cNvPr id="9170" name="Rectangle 2002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1" name="Rectangle 2003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2" name="Rectangle 2004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3" name="Rectangle 2005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4" name="Rectangle 2006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424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5" name="Rectangle 2007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6" name="Rectangle 2008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7" name="Rectangle 2009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8" name="Rectangle 2010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79" name="Rectangle 2011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2" name="Rectangle 201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3" name="Rectangle 201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4" name="Rectangle 201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5" name="Rectangle 201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6" name="Rectangle 201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183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7" name="Rectangle 201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8" name="Rectangle 202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89" name="Rectangle 202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0" name="Rectangle 202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1" name="Rectangle 202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3" name="Rectangle 2025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4" name="Rectangle 2026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5" name="Rectangle 2027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6" name="Rectangle 2028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7" name="Rectangle 2029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942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8" name="Rectangle 2030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99" name="Rectangle 2031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0" name="Rectangle 2032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1" name="Rectangle 2033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2" name="Rectangle 2034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4" name="Rectangle 2036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5" name="Rectangle 2037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6" name="Rectangle 2038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7" name="Rectangle 2039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8" name="Rectangle 2040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700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09" name="Rectangle 2041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0" name="Rectangle 2042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1" name="Rectangle 2043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2" name="Rectangle 2044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3" name="Rectangle 2045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5" name="Rectangle 2047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6" name="Rectangle 2048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7" name="Rectangle 2049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8" name="Rectangle 2050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19" name="Rectangle 2051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460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0" name="Rectangle 2052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1" name="Rectangle 2053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2" name="Rectangle 2054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3" name="Rectangle 2055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4" name="Rectangle 2056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6" name="Rectangle 2058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7" name="Rectangle 2059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8" name="Rectangle 2060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29" name="Rectangle 2061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0" name="Rectangle 2062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219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1" name="Rectangle 2063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2" name="Rectangle 2064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3" name="Rectangle 2065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4" name="Rectangle 2066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5" name="Rectangle 2067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7" name="Rectangle 2069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8" name="Rectangle 2070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39" name="Rectangle 2071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0" name="Rectangle 2072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1" name="Rectangle 2073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977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2" name="Rectangle 2074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3" name="Rectangle 2075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4" name="Rectangle 2076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5" name="Rectangle 2077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6" name="Rectangle 2078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8" name="Rectangle 2080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49" name="Rectangle 2081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0" name="Rectangle 2082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1" name="Rectangle 2083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2" name="Rectangle 2084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737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3" name="Rectangle 2085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4" name="Rectangle 2086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5" name="Rectangle 2087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6" name="Rectangle 2088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57" name="Rectangle 2089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05" name="Rectangle 2137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06" name="Rectangle 2138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07" name="Rectangle 2139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08" name="Rectangle 2140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09" name="Rectangle 2141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496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10" name="Rectangle 2142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11" name="Rectangle 2143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12" name="Rectangle 2144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13" name="Rectangle 2145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314" name="Rectangle 2146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315" name="Text Box 2147"/>
                <p:cNvSpPr txBox="1">
                  <a:spLocks noChangeArrowheads="1"/>
                </p:cNvSpPr>
                <p:nvPr/>
              </p:nvSpPr>
              <p:spPr bwMode="auto">
                <a:xfrm>
                  <a:off x="647" y="1470"/>
                  <a:ext cx="44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100</a:t>
                  </a:r>
                </a:p>
              </p:txBody>
            </p:sp>
            <p:sp>
              <p:nvSpPr>
                <p:cNvPr id="9316" name="Text Box 2148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42" y="2600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altLang="x-none" sz="2000">
                      <a:solidFill>
                        <a:schemeClr val="accent2"/>
                      </a:solidFill>
                    </a:rPr>
                    <a:t>Mass (kg)</a:t>
                  </a:r>
                </a:p>
              </p:txBody>
            </p:sp>
            <p:sp>
              <p:nvSpPr>
                <p:cNvPr id="9325" name="Line 2157"/>
                <p:cNvSpPr>
                  <a:spLocks noChangeShapeType="1"/>
                </p:cNvSpPr>
                <p:nvPr/>
              </p:nvSpPr>
              <p:spPr bwMode="auto">
                <a:xfrm>
                  <a:off x="1017" y="3743"/>
                  <a:ext cx="24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82" name="Line 2114"/>
                <p:cNvSpPr>
                  <a:spLocks noChangeShapeType="1"/>
                </p:cNvSpPr>
                <p:nvPr/>
              </p:nvSpPr>
              <p:spPr bwMode="auto">
                <a:xfrm>
                  <a:off x="1017" y="1582"/>
                  <a:ext cx="0" cy="216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328" name="Text Box 2160" descr="Parchment"/>
              <p:cNvSpPr txBox="1">
                <a:spLocks noChangeArrowheads="1"/>
              </p:cNvSpPr>
              <p:nvPr/>
            </p:nvSpPr>
            <p:spPr bwMode="auto">
              <a:xfrm>
                <a:off x="444" y="216"/>
                <a:ext cx="5088" cy="544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 b="1"/>
                  <a:t>(1).</a:t>
                </a:r>
                <a:r>
                  <a:rPr lang="en-GB" altLang="x-none" sz="2000"/>
                  <a:t> The table below shows the shoe size and mass of 10 men.</a:t>
                </a:r>
              </a:p>
              <a:p>
                <a:r>
                  <a:rPr lang="en-GB" altLang="x-none" sz="2000">
                    <a:solidFill>
                      <a:srgbClr val="FF0000"/>
                    </a:solidFill>
                  </a:rPr>
                  <a:t>(a)</a:t>
                </a:r>
                <a:r>
                  <a:rPr lang="en-GB" altLang="x-none" sz="2000"/>
                  <a:t> Plot a </a:t>
                </a:r>
                <a:r>
                  <a:rPr lang="en-GB" altLang="x-none" sz="2000">
                    <a:solidFill>
                      <a:schemeClr val="accent2"/>
                    </a:solidFill>
                  </a:rPr>
                  <a:t>scatter graph</a:t>
                </a:r>
                <a:r>
                  <a:rPr lang="en-GB" altLang="x-none" sz="2000"/>
                  <a:t> for this data and draw a </a:t>
                </a:r>
                <a:r>
                  <a:rPr lang="en-GB" altLang="x-none" sz="2000">
                    <a:solidFill>
                      <a:schemeClr val="accent2"/>
                    </a:solidFill>
                  </a:rPr>
                  <a:t>line of best fit.</a:t>
                </a:r>
              </a:p>
            </p:txBody>
          </p:sp>
          <p:sp>
            <p:nvSpPr>
              <p:cNvPr id="9351" name="Rectangle 2183"/>
              <p:cNvSpPr>
                <a:spLocks noChangeArrowheads="1"/>
              </p:cNvSpPr>
              <p:nvPr/>
            </p:nvSpPr>
            <p:spPr bwMode="auto">
              <a:xfrm>
                <a:off x="5066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80</a:t>
                </a:r>
              </a:p>
            </p:txBody>
          </p:sp>
          <p:sp>
            <p:nvSpPr>
              <p:cNvPr id="9350" name="Rectangle 2182"/>
              <p:cNvSpPr>
                <a:spLocks noChangeArrowheads="1"/>
              </p:cNvSpPr>
              <p:nvPr/>
            </p:nvSpPr>
            <p:spPr bwMode="auto">
              <a:xfrm>
                <a:off x="4600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74</a:t>
                </a:r>
              </a:p>
            </p:txBody>
          </p:sp>
          <p:sp>
            <p:nvSpPr>
              <p:cNvPr id="9349" name="Rectangle 2181"/>
              <p:cNvSpPr>
                <a:spLocks noChangeArrowheads="1"/>
              </p:cNvSpPr>
              <p:nvPr/>
            </p:nvSpPr>
            <p:spPr bwMode="auto">
              <a:xfrm>
                <a:off x="4134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88</a:t>
                </a:r>
              </a:p>
            </p:txBody>
          </p:sp>
          <p:sp>
            <p:nvSpPr>
              <p:cNvPr id="9348" name="Rectangle 2180"/>
              <p:cNvSpPr>
                <a:spLocks noChangeArrowheads="1"/>
              </p:cNvSpPr>
              <p:nvPr/>
            </p:nvSpPr>
            <p:spPr bwMode="auto">
              <a:xfrm>
                <a:off x="3668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76</a:t>
                </a:r>
              </a:p>
            </p:txBody>
          </p:sp>
          <p:sp>
            <p:nvSpPr>
              <p:cNvPr id="9347" name="Rectangle 2179"/>
              <p:cNvSpPr>
                <a:spLocks noChangeArrowheads="1"/>
              </p:cNvSpPr>
              <p:nvPr/>
            </p:nvSpPr>
            <p:spPr bwMode="auto">
              <a:xfrm>
                <a:off x="3202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9346" name="Rectangle 2178"/>
              <p:cNvSpPr>
                <a:spLocks noChangeArrowheads="1"/>
              </p:cNvSpPr>
              <p:nvPr/>
            </p:nvSpPr>
            <p:spPr bwMode="auto">
              <a:xfrm>
                <a:off x="2735" y="1129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9345" name="Rectangle 2177"/>
              <p:cNvSpPr>
                <a:spLocks noChangeArrowheads="1"/>
              </p:cNvSpPr>
              <p:nvPr/>
            </p:nvSpPr>
            <p:spPr bwMode="auto">
              <a:xfrm>
                <a:off x="2269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92</a:t>
                </a:r>
              </a:p>
            </p:txBody>
          </p:sp>
          <p:sp>
            <p:nvSpPr>
              <p:cNvPr id="9344" name="Rectangle 2176"/>
              <p:cNvSpPr>
                <a:spLocks noChangeArrowheads="1"/>
              </p:cNvSpPr>
              <p:nvPr/>
            </p:nvSpPr>
            <p:spPr bwMode="auto">
              <a:xfrm>
                <a:off x="1803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68</a:t>
                </a:r>
              </a:p>
            </p:txBody>
          </p:sp>
          <p:sp>
            <p:nvSpPr>
              <p:cNvPr id="9343" name="Rectangle 2175"/>
              <p:cNvSpPr>
                <a:spLocks noChangeArrowheads="1"/>
              </p:cNvSpPr>
              <p:nvPr/>
            </p:nvSpPr>
            <p:spPr bwMode="auto">
              <a:xfrm>
                <a:off x="1337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97</a:t>
                </a:r>
              </a:p>
            </p:txBody>
          </p:sp>
          <p:sp>
            <p:nvSpPr>
              <p:cNvPr id="9342" name="Rectangle 2174"/>
              <p:cNvSpPr>
                <a:spLocks noChangeArrowheads="1"/>
              </p:cNvSpPr>
              <p:nvPr/>
            </p:nvSpPr>
            <p:spPr bwMode="auto">
              <a:xfrm>
                <a:off x="871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65</a:t>
                </a:r>
              </a:p>
            </p:txBody>
          </p:sp>
          <p:sp>
            <p:nvSpPr>
              <p:cNvPr id="9341" name="Rectangle 2173"/>
              <p:cNvSpPr>
                <a:spLocks noChangeArrowheads="1"/>
              </p:cNvSpPr>
              <p:nvPr/>
            </p:nvSpPr>
            <p:spPr bwMode="auto">
              <a:xfrm>
                <a:off x="405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GB" altLang="x-none" sz="1800">
                    <a:solidFill>
                      <a:schemeClr val="accent2"/>
                    </a:solidFill>
                    <a:latin typeface="Comic Sans MS" charset="0"/>
                  </a:rPr>
                  <a:t>Mass</a:t>
                </a:r>
              </a:p>
            </p:txBody>
          </p:sp>
          <p:sp>
            <p:nvSpPr>
              <p:cNvPr id="9340" name="Rectangle 2172"/>
              <p:cNvSpPr>
                <a:spLocks noChangeArrowheads="1"/>
              </p:cNvSpPr>
              <p:nvPr/>
            </p:nvSpPr>
            <p:spPr bwMode="auto">
              <a:xfrm>
                <a:off x="5066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9339" name="Rectangle 2171"/>
              <p:cNvSpPr>
                <a:spLocks noChangeArrowheads="1"/>
              </p:cNvSpPr>
              <p:nvPr/>
            </p:nvSpPr>
            <p:spPr bwMode="auto">
              <a:xfrm>
                <a:off x="4600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6</a:t>
                </a:r>
              </a:p>
            </p:txBody>
          </p:sp>
          <p:sp>
            <p:nvSpPr>
              <p:cNvPr id="9338" name="Rectangle 2170"/>
              <p:cNvSpPr>
                <a:spLocks noChangeArrowheads="1"/>
              </p:cNvSpPr>
              <p:nvPr/>
            </p:nvSpPr>
            <p:spPr bwMode="auto">
              <a:xfrm>
                <a:off x="4134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11</a:t>
                </a:r>
              </a:p>
            </p:txBody>
          </p:sp>
          <p:sp>
            <p:nvSpPr>
              <p:cNvPr id="9337" name="Rectangle 2169"/>
              <p:cNvSpPr>
                <a:spLocks noChangeArrowheads="1"/>
              </p:cNvSpPr>
              <p:nvPr/>
            </p:nvSpPr>
            <p:spPr bwMode="auto">
              <a:xfrm>
                <a:off x="3668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9336" name="Rectangle 2168"/>
              <p:cNvSpPr>
                <a:spLocks noChangeArrowheads="1"/>
              </p:cNvSpPr>
              <p:nvPr/>
            </p:nvSpPr>
            <p:spPr bwMode="auto">
              <a:xfrm>
                <a:off x="3202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9</a:t>
                </a:r>
              </a:p>
            </p:txBody>
          </p:sp>
          <p:sp>
            <p:nvSpPr>
              <p:cNvPr id="9335" name="Rectangle 2167"/>
              <p:cNvSpPr>
                <a:spLocks noChangeArrowheads="1"/>
              </p:cNvSpPr>
              <p:nvPr/>
            </p:nvSpPr>
            <p:spPr bwMode="auto">
              <a:xfrm>
                <a:off x="2735" y="880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9334" name="Rectangle 2166"/>
              <p:cNvSpPr>
                <a:spLocks noChangeArrowheads="1"/>
              </p:cNvSpPr>
              <p:nvPr/>
            </p:nvSpPr>
            <p:spPr bwMode="auto">
              <a:xfrm>
                <a:off x="2269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9333" name="Rectangle 2165"/>
              <p:cNvSpPr>
                <a:spLocks noChangeArrowheads="1"/>
              </p:cNvSpPr>
              <p:nvPr/>
            </p:nvSpPr>
            <p:spPr bwMode="auto">
              <a:xfrm>
                <a:off x="1803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</a:t>
                </a:r>
              </a:p>
            </p:txBody>
          </p:sp>
          <p:sp>
            <p:nvSpPr>
              <p:cNvPr id="9332" name="Rectangle 2164"/>
              <p:cNvSpPr>
                <a:spLocks noChangeArrowheads="1"/>
              </p:cNvSpPr>
              <p:nvPr/>
            </p:nvSpPr>
            <p:spPr bwMode="auto">
              <a:xfrm>
                <a:off x="1337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12</a:t>
                </a:r>
              </a:p>
            </p:txBody>
          </p:sp>
          <p:sp>
            <p:nvSpPr>
              <p:cNvPr id="9331" name="Rectangle 2163"/>
              <p:cNvSpPr>
                <a:spLocks noChangeArrowheads="1"/>
              </p:cNvSpPr>
              <p:nvPr/>
            </p:nvSpPr>
            <p:spPr bwMode="auto">
              <a:xfrm>
                <a:off x="871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5</a:t>
                </a:r>
              </a:p>
            </p:txBody>
          </p:sp>
          <p:sp>
            <p:nvSpPr>
              <p:cNvPr id="9330" name="Rectangle 2162"/>
              <p:cNvSpPr>
                <a:spLocks noChangeArrowheads="1"/>
              </p:cNvSpPr>
              <p:nvPr/>
            </p:nvSpPr>
            <p:spPr bwMode="auto">
              <a:xfrm>
                <a:off x="405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GB" altLang="x-none" sz="1800">
                    <a:solidFill>
                      <a:schemeClr val="accent2"/>
                    </a:solidFill>
                    <a:latin typeface="Comic Sans MS" charset="0"/>
                  </a:rPr>
                  <a:t>Size</a:t>
                </a:r>
              </a:p>
            </p:txBody>
          </p:sp>
          <p:sp>
            <p:nvSpPr>
              <p:cNvPr id="9352" name="Line 2184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3" name="Line 2185"/>
              <p:cNvSpPr>
                <a:spLocks noChangeShapeType="1"/>
              </p:cNvSpPr>
              <p:nvPr/>
            </p:nvSpPr>
            <p:spPr bwMode="auto">
              <a:xfrm>
                <a:off x="405" y="1129"/>
                <a:ext cx="51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4" name="Line 2186"/>
              <p:cNvSpPr>
                <a:spLocks noChangeShapeType="1"/>
              </p:cNvSpPr>
              <p:nvPr/>
            </p:nvSpPr>
            <p:spPr bwMode="auto">
              <a:xfrm>
                <a:off x="405" y="1378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5" name="Line 2187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6" name="Line 2188"/>
              <p:cNvSpPr>
                <a:spLocks noChangeShapeType="1"/>
              </p:cNvSpPr>
              <p:nvPr/>
            </p:nvSpPr>
            <p:spPr bwMode="auto">
              <a:xfrm>
                <a:off x="871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7" name="Line 2189"/>
              <p:cNvSpPr>
                <a:spLocks noChangeShapeType="1"/>
              </p:cNvSpPr>
              <p:nvPr/>
            </p:nvSpPr>
            <p:spPr bwMode="auto">
              <a:xfrm>
                <a:off x="1337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8" name="Line 2190"/>
              <p:cNvSpPr>
                <a:spLocks noChangeShapeType="1"/>
              </p:cNvSpPr>
              <p:nvPr/>
            </p:nvSpPr>
            <p:spPr bwMode="auto">
              <a:xfrm>
                <a:off x="1803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9" name="Line 2191"/>
              <p:cNvSpPr>
                <a:spLocks noChangeShapeType="1"/>
              </p:cNvSpPr>
              <p:nvPr/>
            </p:nvSpPr>
            <p:spPr bwMode="auto">
              <a:xfrm>
                <a:off x="2269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0" name="Line 2192"/>
              <p:cNvSpPr>
                <a:spLocks noChangeShapeType="1"/>
              </p:cNvSpPr>
              <p:nvPr/>
            </p:nvSpPr>
            <p:spPr bwMode="auto">
              <a:xfrm>
                <a:off x="2735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1" name="Line 2193"/>
              <p:cNvSpPr>
                <a:spLocks noChangeShapeType="1"/>
              </p:cNvSpPr>
              <p:nvPr/>
            </p:nvSpPr>
            <p:spPr bwMode="auto">
              <a:xfrm>
                <a:off x="3202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2" name="Line 2194"/>
              <p:cNvSpPr>
                <a:spLocks noChangeShapeType="1"/>
              </p:cNvSpPr>
              <p:nvPr/>
            </p:nvSpPr>
            <p:spPr bwMode="auto">
              <a:xfrm>
                <a:off x="3668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3" name="Line 2195"/>
              <p:cNvSpPr>
                <a:spLocks noChangeShapeType="1"/>
              </p:cNvSpPr>
              <p:nvPr/>
            </p:nvSpPr>
            <p:spPr bwMode="auto">
              <a:xfrm>
                <a:off x="4134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4" name="Line 2196"/>
              <p:cNvSpPr>
                <a:spLocks noChangeShapeType="1"/>
              </p:cNvSpPr>
              <p:nvPr/>
            </p:nvSpPr>
            <p:spPr bwMode="auto">
              <a:xfrm>
                <a:off x="4600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5" name="Line 2197"/>
              <p:cNvSpPr>
                <a:spLocks noChangeShapeType="1"/>
              </p:cNvSpPr>
              <p:nvPr/>
            </p:nvSpPr>
            <p:spPr bwMode="auto">
              <a:xfrm>
                <a:off x="5066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6" name="Line 2198"/>
              <p:cNvSpPr>
                <a:spLocks noChangeShapeType="1"/>
              </p:cNvSpPr>
              <p:nvPr/>
            </p:nvSpPr>
            <p:spPr bwMode="auto">
              <a:xfrm>
                <a:off x="5532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391" name="Group 2223"/>
            <p:cNvGrpSpPr>
              <a:grpSpLocks/>
            </p:cNvGrpSpPr>
            <p:nvPr/>
          </p:nvGrpSpPr>
          <p:grpSpPr bwMode="auto">
            <a:xfrm>
              <a:off x="1049" y="3519"/>
              <a:ext cx="281" cy="281"/>
              <a:chOff x="854" y="3609"/>
              <a:chExt cx="281" cy="281"/>
            </a:xfrm>
          </p:grpSpPr>
          <p:grpSp>
            <p:nvGrpSpPr>
              <p:cNvPr id="9390" name="Group 2222"/>
              <p:cNvGrpSpPr>
                <a:grpSpLocks/>
              </p:cNvGrpSpPr>
              <p:nvPr/>
            </p:nvGrpSpPr>
            <p:grpSpPr bwMode="auto">
              <a:xfrm>
                <a:off x="891" y="3616"/>
                <a:ext cx="244" cy="274"/>
                <a:chOff x="891" y="3616"/>
                <a:chExt cx="244" cy="274"/>
              </a:xfrm>
            </p:grpSpPr>
            <p:sp>
              <p:nvSpPr>
                <p:cNvPr id="9385" name="Line 2217"/>
                <p:cNvSpPr>
                  <a:spLocks noChangeShapeType="1"/>
                </p:cNvSpPr>
                <p:nvPr/>
              </p:nvSpPr>
              <p:spPr bwMode="auto">
                <a:xfrm>
                  <a:off x="900" y="3852"/>
                  <a:ext cx="23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86" name="Freeform 2218"/>
                <p:cNvSpPr>
                  <a:spLocks/>
                </p:cNvSpPr>
                <p:nvPr/>
              </p:nvSpPr>
              <p:spPr bwMode="auto">
                <a:xfrm>
                  <a:off x="892" y="3806"/>
                  <a:ext cx="243" cy="84"/>
                </a:xfrm>
                <a:custGeom>
                  <a:avLst/>
                  <a:gdLst>
                    <a:gd name="T0" fmla="*/ 0 w 243"/>
                    <a:gd name="T1" fmla="*/ 48 h 84"/>
                    <a:gd name="T2" fmla="*/ 97 w 243"/>
                    <a:gd name="T3" fmla="*/ 48 h 84"/>
                    <a:gd name="T4" fmla="*/ 120 w 243"/>
                    <a:gd name="T5" fmla="*/ 0 h 84"/>
                    <a:gd name="T6" fmla="*/ 154 w 243"/>
                    <a:gd name="T7" fmla="*/ 84 h 84"/>
                    <a:gd name="T8" fmla="*/ 175 w 243"/>
                    <a:gd name="T9" fmla="*/ 44 h 84"/>
                    <a:gd name="T10" fmla="*/ 243 w 243"/>
                    <a:gd name="T11" fmla="*/ 4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84">
                      <a:moveTo>
                        <a:pt x="0" y="48"/>
                      </a:moveTo>
                      <a:lnTo>
                        <a:pt x="97" y="48"/>
                      </a:lnTo>
                      <a:lnTo>
                        <a:pt x="120" y="0"/>
                      </a:lnTo>
                      <a:lnTo>
                        <a:pt x="154" y="84"/>
                      </a:lnTo>
                      <a:lnTo>
                        <a:pt x="175" y="44"/>
                      </a:lnTo>
                      <a:lnTo>
                        <a:pt x="243" y="44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87" name="Line 2219"/>
                <p:cNvSpPr>
                  <a:spLocks noChangeShapeType="1"/>
                </p:cNvSpPr>
                <p:nvPr/>
              </p:nvSpPr>
              <p:spPr bwMode="auto">
                <a:xfrm rot="5400000">
                  <a:off x="774" y="3733"/>
                  <a:ext cx="23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388" name="Freeform 2220"/>
              <p:cNvSpPr>
                <a:spLocks/>
              </p:cNvSpPr>
              <p:nvPr/>
            </p:nvSpPr>
            <p:spPr bwMode="auto">
              <a:xfrm rot="5400000">
                <a:off x="774" y="3689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373" name="Rectangle 2205"/>
          <p:cNvSpPr>
            <a:spLocks noChangeArrowheads="1"/>
          </p:cNvSpPr>
          <p:nvPr/>
        </p:nvSpPr>
        <p:spPr bwMode="auto">
          <a:xfrm>
            <a:off x="1397000" y="140335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74" name="Oval 2206"/>
          <p:cNvSpPr>
            <a:spLocks noChangeArrowheads="1"/>
          </p:cNvSpPr>
          <p:nvPr/>
        </p:nvSpPr>
        <p:spPr bwMode="auto">
          <a:xfrm>
            <a:off x="2457450" y="517683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78" name="Rectangle 22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83" name="Group 2215"/>
          <p:cNvGrpSpPr>
            <a:grpSpLocks/>
          </p:cNvGrpSpPr>
          <p:nvPr/>
        </p:nvGrpSpPr>
        <p:grpSpPr bwMode="auto">
          <a:xfrm>
            <a:off x="704850" y="323850"/>
            <a:ext cx="8077200" cy="965200"/>
            <a:chOff x="444" y="204"/>
            <a:chExt cx="5088" cy="608"/>
          </a:xfrm>
        </p:grpSpPr>
        <p:sp>
          <p:nvSpPr>
            <p:cNvPr id="9381" name="Rectangle 2213" descr="Parchment"/>
            <p:cNvSpPr>
              <a:spLocks noChangeArrowheads="1"/>
            </p:cNvSpPr>
            <p:nvPr/>
          </p:nvSpPr>
          <p:spPr bwMode="auto">
            <a:xfrm>
              <a:off x="444" y="204"/>
              <a:ext cx="5088" cy="552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82" name="Text Box 2214"/>
            <p:cNvSpPr txBox="1">
              <a:spLocks noChangeArrowheads="1"/>
            </p:cNvSpPr>
            <p:nvPr/>
          </p:nvSpPr>
          <p:spPr bwMode="auto">
            <a:xfrm>
              <a:off x="636" y="216"/>
              <a:ext cx="474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 sz="2800">
                  <a:solidFill>
                    <a:schemeClr val="accent2"/>
                  </a:solidFill>
                </a:rPr>
                <a:t>Plotting the data points/Drawing a line of best fit/Answering questions.</a:t>
              </a:r>
            </a:p>
          </p:txBody>
        </p:sp>
      </p:grpSp>
      <p:sp>
        <p:nvSpPr>
          <p:cNvPr id="9393" name="Rectangle 2225"/>
          <p:cNvSpPr>
            <a:spLocks noGrp="1" noChangeArrowheads="1"/>
          </p:cNvSpPr>
          <p:nvPr>
            <p:ph type="title" idx="4294967295"/>
          </p:nvPr>
        </p:nvSpPr>
        <p:spPr>
          <a:xfrm>
            <a:off x="6134100" y="5638800"/>
            <a:ext cx="2781300" cy="876300"/>
          </a:xfrm>
        </p:spPr>
        <p:txBody>
          <a:bodyPr/>
          <a:lstStyle/>
          <a:p>
            <a:r>
              <a:rPr lang="en-GB" altLang="x-none">
                <a:solidFill>
                  <a:schemeClr val="bg1"/>
                </a:solidFill>
              </a:rPr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106879821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3" grpId="0" animBg="1"/>
      <p:bldP spid="93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87" name="Group 159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22530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2531" name="Group 3"/>
              <p:cNvGrpSpPr>
                <a:grpSpLocks/>
              </p:cNvGrpSpPr>
              <p:nvPr/>
            </p:nvGrpSpPr>
            <p:grpSpPr bwMode="auto">
              <a:xfrm>
                <a:off x="477" y="1487"/>
                <a:ext cx="3204" cy="2689"/>
                <a:chOff x="405" y="1470"/>
                <a:chExt cx="3204" cy="2689"/>
              </a:xfrm>
            </p:grpSpPr>
            <p:sp>
              <p:nvSpPr>
                <p:cNvPr id="22532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131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4</a:t>
                  </a:r>
                </a:p>
              </p:txBody>
            </p:sp>
            <p:sp>
              <p:nvSpPr>
                <p:cNvPr id="2253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395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5</a:t>
                  </a:r>
                </a:p>
              </p:txBody>
            </p:sp>
            <p:sp>
              <p:nvSpPr>
                <p:cNvPr id="2253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659" y="3747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6</a:t>
                  </a:r>
                </a:p>
              </p:txBody>
            </p:sp>
            <p:sp>
              <p:nvSpPr>
                <p:cNvPr id="22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869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7</a:t>
                  </a:r>
                </a:p>
              </p:txBody>
            </p:sp>
            <p:sp>
              <p:nvSpPr>
                <p:cNvPr id="2253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125" y="3743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8</a:t>
                  </a:r>
                </a:p>
              </p:txBody>
            </p:sp>
            <p:sp>
              <p:nvSpPr>
                <p:cNvPr id="2253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65" y="3739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9</a:t>
                  </a:r>
                </a:p>
              </p:txBody>
            </p:sp>
            <p:sp>
              <p:nvSpPr>
                <p:cNvPr id="2253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56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10</a:t>
                  </a:r>
                </a:p>
              </p:txBody>
            </p:sp>
            <p:sp>
              <p:nvSpPr>
                <p:cNvPr id="2253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09" y="375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11</a:t>
                  </a:r>
                </a:p>
              </p:txBody>
            </p:sp>
            <p:sp>
              <p:nvSpPr>
                <p:cNvPr id="2254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033" y="374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12</a:t>
                  </a:r>
                </a:p>
              </p:txBody>
            </p:sp>
            <p:sp>
              <p:nvSpPr>
                <p:cNvPr id="2254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28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13</a:t>
                  </a:r>
                </a:p>
              </p:txBody>
            </p:sp>
            <p:sp>
              <p:nvSpPr>
                <p:cNvPr id="2254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31" y="3909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chemeClr val="accent2"/>
                      </a:solidFill>
                    </a:rPr>
                    <a:t>Shoe Size</a:t>
                  </a:r>
                </a:p>
              </p:txBody>
            </p:sp>
            <p:sp>
              <p:nvSpPr>
                <p:cNvPr id="2254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675" y="337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60</a:t>
                  </a:r>
                </a:p>
              </p:txBody>
            </p:sp>
            <p:sp>
              <p:nvSpPr>
                <p:cNvPr id="2254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675" y="3125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65</a:t>
                  </a:r>
                </a:p>
              </p:txBody>
            </p:sp>
            <p:sp>
              <p:nvSpPr>
                <p:cNvPr id="2254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663" y="28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70</a:t>
                  </a:r>
                </a:p>
              </p:txBody>
            </p:sp>
            <p:sp>
              <p:nvSpPr>
                <p:cNvPr id="2254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667" y="265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75</a:t>
                  </a:r>
                </a:p>
              </p:txBody>
            </p:sp>
            <p:sp>
              <p:nvSpPr>
                <p:cNvPr id="2254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683" y="23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80</a:t>
                  </a:r>
                </a:p>
              </p:txBody>
            </p:sp>
            <p:sp>
              <p:nvSpPr>
                <p:cNvPr id="2254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679" y="2169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85</a:t>
                  </a:r>
                </a:p>
              </p:txBody>
            </p:sp>
            <p:sp>
              <p:nvSpPr>
                <p:cNvPr id="2254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671" y="193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90</a:t>
                  </a:r>
                </a:p>
              </p:txBody>
            </p:sp>
            <p:sp>
              <p:nvSpPr>
                <p:cNvPr id="2255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75" y="168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95</a:t>
                  </a:r>
                </a:p>
              </p:txBody>
            </p:sp>
            <p:grpSp>
              <p:nvGrpSpPr>
                <p:cNvPr id="22551" name="Group 23"/>
                <p:cNvGrpSpPr>
                  <a:grpSpLocks/>
                </p:cNvGrpSpPr>
                <p:nvPr/>
              </p:nvGrpSpPr>
              <p:grpSpPr bwMode="auto">
                <a:xfrm>
                  <a:off x="1017" y="1574"/>
                  <a:ext cx="2411" cy="2169"/>
                  <a:chOff x="1349" y="1496"/>
                  <a:chExt cx="2411" cy="2169"/>
                </a:xfrm>
              </p:grpSpPr>
              <p:sp>
                <p:nvSpPr>
                  <p:cNvPr id="2255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6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424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8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59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0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5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183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69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0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1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2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5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6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942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7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79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0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1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2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700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7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8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89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0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1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2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3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4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5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6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460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7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8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599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0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1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2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3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4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5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6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219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7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8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09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0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1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2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3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4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5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6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977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7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8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19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0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1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2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3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6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737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7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8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29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0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1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2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3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4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5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6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496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7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8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39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40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41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2642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647" y="1470"/>
                  <a:ext cx="44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/>
                    <a:t>100</a:t>
                  </a:r>
                </a:p>
              </p:txBody>
            </p:sp>
            <p:sp>
              <p:nvSpPr>
                <p:cNvPr id="22643" name="Text Box 115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42" y="2600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altLang="x-none" sz="2000">
                      <a:solidFill>
                        <a:schemeClr val="accent2"/>
                      </a:solidFill>
                    </a:rPr>
                    <a:t>Mass (kg)</a:t>
                  </a:r>
                </a:p>
              </p:txBody>
            </p:sp>
            <p:sp>
              <p:nvSpPr>
                <p:cNvPr id="22644" name="Line 116"/>
                <p:cNvSpPr>
                  <a:spLocks noChangeShapeType="1"/>
                </p:cNvSpPr>
                <p:nvPr/>
              </p:nvSpPr>
              <p:spPr bwMode="auto">
                <a:xfrm>
                  <a:off x="1017" y="3743"/>
                  <a:ext cx="24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5" name="Line 117"/>
                <p:cNvSpPr>
                  <a:spLocks noChangeShapeType="1"/>
                </p:cNvSpPr>
                <p:nvPr/>
              </p:nvSpPr>
              <p:spPr bwMode="auto">
                <a:xfrm>
                  <a:off x="1017" y="1582"/>
                  <a:ext cx="0" cy="216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46" name="Text Box 118" descr="Parchment"/>
              <p:cNvSpPr txBox="1">
                <a:spLocks noChangeArrowheads="1"/>
              </p:cNvSpPr>
              <p:nvPr/>
            </p:nvSpPr>
            <p:spPr bwMode="auto">
              <a:xfrm>
                <a:off x="444" y="216"/>
                <a:ext cx="5088" cy="544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 b="1">
                    <a:solidFill>
                      <a:schemeClr val="tx2"/>
                    </a:solidFill>
                  </a:rPr>
                  <a:t>(1).</a:t>
                </a:r>
                <a:r>
                  <a:rPr lang="en-GB" altLang="x-none" sz="2000"/>
                  <a:t> The table below shows the shoe size and mass of 10 men.</a:t>
                </a:r>
              </a:p>
              <a:p>
                <a:r>
                  <a:rPr lang="en-GB" altLang="x-none" sz="2000">
                    <a:solidFill>
                      <a:srgbClr val="FF0000"/>
                    </a:solidFill>
                  </a:rPr>
                  <a:t>(a)</a:t>
                </a:r>
                <a:r>
                  <a:rPr lang="en-GB" altLang="x-none" sz="2000"/>
                  <a:t> Plot a </a:t>
                </a:r>
                <a:r>
                  <a:rPr lang="en-GB" altLang="x-none" sz="2000">
                    <a:solidFill>
                      <a:schemeClr val="accent2"/>
                    </a:solidFill>
                  </a:rPr>
                  <a:t>scatter graph</a:t>
                </a:r>
                <a:r>
                  <a:rPr lang="en-GB" altLang="x-none" sz="2000"/>
                  <a:t> for this data and draw a </a:t>
                </a:r>
                <a:r>
                  <a:rPr lang="en-GB" altLang="x-none" sz="2000">
                    <a:solidFill>
                      <a:schemeClr val="accent2"/>
                    </a:solidFill>
                  </a:rPr>
                  <a:t>line of best fit.</a:t>
                </a:r>
              </a:p>
            </p:txBody>
          </p:sp>
          <p:sp>
            <p:nvSpPr>
              <p:cNvPr id="22647" name="Rectangle 119"/>
              <p:cNvSpPr>
                <a:spLocks noChangeArrowheads="1"/>
              </p:cNvSpPr>
              <p:nvPr/>
            </p:nvSpPr>
            <p:spPr bwMode="auto">
              <a:xfrm>
                <a:off x="5066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80</a:t>
                </a:r>
              </a:p>
            </p:txBody>
          </p:sp>
          <p:sp>
            <p:nvSpPr>
              <p:cNvPr id="22648" name="Rectangle 120"/>
              <p:cNvSpPr>
                <a:spLocks noChangeArrowheads="1"/>
              </p:cNvSpPr>
              <p:nvPr/>
            </p:nvSpPr>
            <p:spPr bwMode="auto">
              <a:xfrm>
                <a:off x="4600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74</a:t>
                </a:r>
              </a:p>
            </p:txBody>
          </p:sp>
          <p:sp>
            <p:nvSpPr>
              <p:cNvPr id="22649" name="Rectangle 121"/>
              <p:cNvSpPr>
                <a:spLocks noChangeArrowheads="1"/>
              </p:cNvSpPr>
              <p:nvPr/>
            </p:nvSpPr>
            <p:spPr bwMode="auto">
              <a:xfrm>
                <a:off x="4134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88</a:t>
                </a:r>
              </a:p>
            </p:txBody>
          </p:sp>
          <p:sp>
            <p:nvSpPr>
              <p:cNvPr id="22650" name="Rectangle 122"/>
              <p:cNvSpPr>
                <a:spLocks noChangeArrowheads="1"/>
              </p:cNvSpPr>
              <p:nvPr/>
            </p:nvSpPr>
            <p:spPr bwMode="auto">
              <a:xfrm>
                <a:off x="3668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76</a:t>
                </a:r>
              </a:p>
            </p:txBody>
          </p:sp>
          <p:sp>
            <p:nvSpPr>
              <p:cNvPr id="22651" name="Rectangle 123"/>
              <p:cNvSpPr>
                <a:spLocks noChangeArrowheads="1"/>
              </p:cNvSpPr>
              <p:nvPr/>
            </p:nvSpPr>
            <p:spPr bwMode="auto">
              <a:xfrm>
                <a:off x="3202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22652" name="Rectangle 124"/>
              <p:cNvSpPr>
                <a:spLocks noChangeArrowheads="1"/>
              </p:cNvSpPr>
              <p:nvPr/>
            </p:nvSpPr>
            <p:spPr bwMode="auto">
              <a:xfrm>
                <a:off x="2735" y="1129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22653" name="Rectangle 125"/>
              <p:cNvSpPr>
                <a:spLocks noChangeArrowheads="1"/>
              </p:cNvSpPr>
              <p:nvPr/>
            </p:nvSpPr>
            <p:spPr bwMode="auto">
              <a:xfrm>
                <a:off x="2269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92</a:t>
                </a:r>
              </a:p>
            </p:txBody>
          </p:sp>
          <p:sp>
            <p:nvSpPr>
              <p:cNvPr id="22654" name="Rectangle 126"/>
              <p:cNvSpPr>
                <a:spLocks noChangeArrowheads="1"/>
              </p:cNvSpPr>
              <p:nvPr/>
            </p:nvSpPr>
            <p:spPr bwMode="auto">
              <a:xfrm>
                <a:off x="1803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68</a:t>
                </a:r>
              </a:p>
            </p:txBody>
          </p:sp>
          <p:sp>
            <p:nvSpPr>
              <p:cNvPr id="22655" name="Rectangle 127"/>
              <p:cNvSpPr>
                <a:spLocks noChangeArrowheads="1"/>
              </p:cNvSpPr>
              <p:nvPr/>
            </p:nvSpPr>
            <p:spPr bwMode="auto">
              <a:xfrm>
                <a:off x="1337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97</a:t>
                </a:r>
              </a:p>
            </p:txBody>
          </p:sp>
          <p:sp>
            <p:nvSpPr>
              <p:cNvPr id="22656" name="Rectangle 128"/>
              <p:cNvSpPr>
                <a:spLocks noChangeArrowheads="1"/>
              </p:cNvSpPr>
              <p:nvPr/>
            </p:nvSpPr>
            <p:spPr bwMode="auto">
              <a:xfrm>
                <a:off x="871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65</a:t>
                </a:r>
              </a:p>
            </p:txBody>
          </p:sp>
          <p:sp>
            <p:nvSpPr>
              <p:cNvPr id="22657" name="Rectangle 129"/>
              <p:cNvSpPr>
                <a:spLocks noChangeArrowheads="1"/>
              </p:cNvSpPr>
              <p:nvPr/>
            </p:nvSpPr>
            <p:spPr bwMode="auto">
              <a:xfrm>
                <a:off x="405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GB" altLang="x-none" sz="1800">
                    <a:solidFill>
                      <a:schemeClr val="accent2"/>
                    </a:solidFill>
                    <a:latin typeface="Comic Sans MS" charset="0"/>
                  </a:rPr>
                  <a:t>Mass</a:t>
                </a:r>
              </a:p>
            </p:txBody>
          </p:sp>
          <p:sp>
            <p:nvSpPr>
              <p:cNvPr id="22658" name="Rectangle 130"/>
              <p:cNvSpPr>
                <a:spLocks noChangeArrowheads="1"/>
              </p:cNvSpPr>
              <p:nvPr/>
            </p:nvSpPr>
            <p:spPr bwMode="auto">
              <a:xfrm>
                <a:off x="5066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22659" name="Rectangle 131"/>
              <p:cNvSpPr>
                <a:spLocks noChangeArrowheads="1"/>
              </p:cNvSpPr>
              <p:nvPr/>
            </p:nvSpPr>
            <p:spPr bwMode="auto">
              <a:xfrm>
                <a:off x="4600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6</a:t>
                </a:r>
              </a:p>
            </p:txBody>
          </p:sp>
          <p:sp>
            <p:nvSpPr>
              <p:cNvPr id="22660" name="Rectangle 132"/>
              <p:cNvSpPr>
                <a:spLocks noChangeArrowheads="1"/>
              </p:cNvSpPr>
              <p:nvPr/>
            </p:nvSpPr>
            <p:spPr bwMode="auto">
              <a:xfrm>
                <a:off x="4134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11</a:t>
                </a:r>
              </a:p>
            </p:txBody>
          </p:sp>
          <p:sp>
            <p:nvSpPr>
              <p:cNvPr id="22661" name="Rectangle 133"/>
              <p:cNvSpPr>
                <a:spLocks noChangeArrowheads="1"/>
              </p:cNvSpPr>
              <p:nvPr/>
            </p:nvSpPr>
            <p:spPr bwMode="auto">
              <a:xfrm>
                <a:off x="3668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22662" name="Rectangle 134"/>
              <p:cNvSpPr>
                <a:spLocks noChangeArrowheads="1"/>
              </p:cNvSpPr>
              <p:nvPr/>
            </p:nvSpPr>
            <p:spPr bwMode="auto">
              <a:xfrm>
                <a:off x="3202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9</a:t>
                </a:r>
              </a:p>
            </p:txBody>
          </p:sp>
          <p:sp>
            <p:nvSpPr>
              <p:cNvPr id="22663" name="Rectangle 135"/>
              <p:cNvSpPr>
                <a:spLocks noChangeArrowheads="1"/>
              </p:cNvSpPr>
              <p:nvPr/>
            </p:nvSpPr>
            <p:spPr bwMode="auto">
              <a:xfrm>
                <a:off x="2735" y="880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22664" name="Rectangle 136"/>
              <p:cNvSpPr>
                <a:spLocks noChangeArrowheads="1"/>
              </p:cNvSpPr>
              <p:nvPr/>
            </p:nvSpPr>
            <p:spPr bwMode="auto">
              <a:xfrm>
                <a:off x="2269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22665" name="Rectangle 137"/>
              <p:cNvSpPr>
                <a:spLocks noChangeArrowheads="1"/>
              </p:cNvSpPr>
              <p:nvPr/>
            </p:nvSpPr>
            <p:spPr bwMode="auto">
              <a:xfrm>
                <a:off x="1803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7</a:t>
                </a:r>
              </a:p>
            </p:txBody>
          </p:sp>
          <p:sp>
            <p:nvSpPr>
              <p:cNvPr id="22666" name="Rectangle 138"/>
              <p:cNvSpPr>
                <a:spLocks noChangeArrowheads="1"/>
              </p:cNvSpPr>
              <p:nvPr/>
            </p:nvSpPr>
            <p:spPr bwMode="auto">
              <a:xfrm>
                <a:off x="1337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12</a:t>
                </a:r>
              </a:p>
            </p:txBody>
          </p:sp>
          <p:sp>
            <p:nvSpPr>
              <p:cNvPr id="22667" name="Rectangle 139"/>
              <p:cNvSpPr>
                <a:spLocks noChangeArrowheads="1"/>
              </p:cNvSpPr>
              <p:nvPr/>
            </p:nvSpPr>
            <p:spPr bwMode="auto">
              <a:xfrm>
                <a:off x="871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GB" altLang="x-none" sz="2000">
                    <a:latin typeface="Comic Sans MS" charset="0"/>
                  </a:rPr>
                  <a:t>5</a:t>
                </a:r>
              </a:p>
            </p:txBody>
          </p:sp>
          <p:sp>
            <p:nvSpPr>
              <p:cNvPr id="22668" name="Rectangle 140"/>
              <p:cNvSpPr>
                <a:spLocks noChangeArrowheads="1"/>
              </p:cNvSpPr>
              <p:nvPr/>
            </p:nvSpPr>
            <p:spPr bwMode="auto">
              <a:xfrm>
                <a:off x="405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GB" altLang="x-none" sz="1800">
                    <a:solidFill>
                      <a:schemeClr val="accent2"/>
                    </a:solidFill>
                    <a:latin typeface="Comic Sans MS" charset="0"/>
                  </a:rPr>
                  <a:t>Size</a:t>
                </a:r>
              </a:p>
            </p:txBody>
          </p:sp>
          <p:sp>
            <p:nvSpPr>
              <p:cNvPr id="22669" name="Line 141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0" name="Line 142"/>
              <p:cNvSpPr>
                <a:spLocks noChangeShapeType="1"/>
              </p:cNvSpPr>
              <p:nvPr/>
            </p:nvSpPr>
            <p:spPr bwMode="auto">
              <a:xfrm>
                <a:off x="405" y="1129"/>
                <a:ext cx="51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1" name="Line 143"/>
              <p:cNvSpPr>
                <a:spLocks noChangeShapeType="1"/>
              </p:cNvSpPr>
              <p:nvPr/>
            </p:nvSpPr>
            <p:spPr bwMode="auto">
              <a:xfrm>
                <a:off x="405" y="1378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2" name="Line 144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3" name="Line 145"/>
              <p:cNvSpPr>
                <a:spLocks noChangeShapeType="1"/>
              </p:cNvSpPr>
              <p:nvPr/>
            </p:nvSpPr>
            <p:spPr bwMode="auto">
              <a:xfrm>
                <a:off x="871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4" name="Line 146"/>
              <p:cNvSpPr>
                <a:spLocks noChangeShapeType="1"/>
              </p:cNvSpPr>
              <p:nvPr/>
            </p:nvSpPr>
            <p:spPr bwMode="auto">
              <a:xfrm>
                <a:off x="1337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5" name="Line 147"/>
              <p:cNvSpPr>
                <a:spLocks noChangeShapeType="1"/>
              </p:cNvSpPr>
              <p:nvPr/>
            </p:nvSpPr>
            <p:spPr bwMode="auto">
              <a:xfrm>
                <a:off x="1803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6" name="Line 148"/>
              <p:cNvSpPr>
                <a:spLocks noChangeShapeType="1"/>
              </p:cNvSpPr>
              <p:nvPr/>
            </p:nvSpPr>
            <p:spPr bwMode="auto">
              <a:xfrm>
                <a:off x="2269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Line 149"/>
              <p:cNvSpPr>
                <a:spLocks noChangeShapeType="1"/>
              </p:cNvSpPr>
              <p:nvPr/>
            </p:nvSpPr>
            <p:spPr bwMode="auto">
              <a:xfrm>
                <a:off x="2735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8" name="Line 150"/>
              <p:cNvSpPr>
                <a:spLocks noChangeShapeType="1"/>
              </p:cNvSpPr>
              <p:nvPr/>
            </p:nvSpPr>
            <p:spPr bwMode="auto">
              <a:xfrm>
                <a:off x="3202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9" name="Line 151"/>
              <p:cNvSpPr>
                <a:spLocks noChangeShapeType="1"/>
              </p:cNvSpPr>
              <p:nvPr/>
            </p:nvSpPr>
            <p:spPr bwMode="auto">
              <a:xfrm>
                <a:off x="3668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0" name="Line 152"/>
              <p:cNvSpPr>
                <a:spLocks noChangeShapeType="1"/>
              </p:cNvSpPr>
              <p:nvPr/>
            </p:nvSpPr>
            <p:spPr bwMode="auto">
              <a:xfrm>
                <a:off x="4134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1" name="Line 153"/>
              <p:cNvSpPr>
                <a:spLocks noChangeShapeType="1"/>
              </p:cNvSpPr>
              <p:nvPr/>
            </p:nvSpPr>
            <p:spPr bwMode="auto">
              <a:xfrm>
                <a:off x="4600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2" name="Line 154"/>
              <p:cNvSpPr>
                <a:spLocks noChangeShapeType="1"/>
              </p:cNvSpPr>
              <p:nvPr/>
            </p:nvSpPr>
            <p:spPr bwMode="auto">
              <a:xfrm>
                <a:off x="5066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3" name="Line 155"/>
              <p:cNvSpPr>
                <a:spLocks noChangeShapeType="1"/>
              </p:cNvSpPr>
              <p:nvPr/>
            </p:nvSpPr>
            <p:spPr bwMode="auto">
              <a:xfrm>
                <a:off x="5532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685" name="Oval 157"/>
            <p:cNvSpPr>
              <a:spLocks noChangeArrowheads="1"/>
            </p:cNvSpPr>
            <p:nvPr/>
          </p:nvSpPr>
          <p:spPr bwMode="auto">
            <a:xfrm>
              <a:off x="1548" y="3261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684" name="Rectangle 156"/>
          <p:cNvSpPr>
            <a:spLocks noChangeArrowheads="1"/>
          </p:cNvSpPr>
          <p:nvPr/>
        </p:nvSpPr>
        <p:spPr bwMode="auto">
          <a:xfrm>
            <a:off x="2105025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686" name="Oval 158"/>
          <p:cNvSpPr>
            <a:spLocks noChangeArrowheads="1"/>
          </p:cNvSpPr>
          <p:nvPr/>
        </p:nvSpPr>
        <p:spPr bwMode="auto">
          <a:xfrm>
            <a:off x="5143500" y="2716213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689" name="Rectangle 16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708" name="Group 180"/>
          <p:cNvGrpSpPr>
            <a:grpSpLocks/>
          </p:cNvGrpSpPr>
          <p:nvPr/>
        </p:nvGrpSpPr>
        <p:grpSpPr bwMode="auto">
          <a:xfrm>
            <a:off x="1665288" y="5586413"/>
            <a:ext cx="446087" cy="446087"/>
            <a:chOff x="854" y="3609"/>
            <a:chExt cx="281" cy="281"/>
          </a:xfrm>
        </p:grpSpPr>
        <p:grpSp>
          <p:nvGrpSpPr>
            <p:cNvPr id="22709" name="Group 181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2710" name="Line 182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1" name="Freeform 183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2" name="Line 184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13" name="Freeform 185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8443225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8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13" name="Group 161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23554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3555" name="Group 3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3556" name="Group 4"/>
                <p:cNvGrpSpPr>
                  <a:grpSpLocks/>
                </p:cNvGrpSpPr>
                <p:nvPr/>
              </p:nvGrpSpPr>
              <p:grpSpPr bwMode="auto">
                <a:xfrm>
                  <a:off x="477" y="1487"/>
                  <a:ext cx="3204" cy="2689"/>
                  <a:chOff x="405" y="1470"/>
                  <a:chExt cx="3204" cy="2689"/>
                </a:xfrm>
              </p:grpSpPr>
              <p:sp>
                <p:nvSpPr>
                  <p:cNvPr id="23557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31" y="3751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4</a:t>
                    </a:r>
                  </a:p>
                </p:txBody>
              </p:sp>
              <p:sp>
                <p:nvSpPr>
                  <p:cNvPr id="23558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95" y="3751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5</a:t>
                    </a:r>
                  </a:p>
                </p:txBody>
              </p:sp>
              <p:sp>
                <p:nvSpPr>
                  <p:cNvPr id="23559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9" y="3747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6</a:t>
                    </a:r>
                  </a:p>
                </p:txBody>
              </p:sp>
              <p:sp>
                <p:nvSpPr>
                  <p:cNvPr id="23560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69" y="3751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7</a:t>
                    </a:r>
                  </a:p>
                </p:txBody>
              </p:sp>
              <p:sp>
                <p:nvSpPr>
                  <p:cNvPr id="23561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5" y="3743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8</a:t>
                    </a:r>
                  </a:p>
                </p:txBody>
              </p:sp>
              <p:sp>
                <p:nvSpPr>
                  <p:cNvPr id="23562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5" y="3739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9</a:t>
                    </a:r>
                  </a:p>
                </p:txBody>
              </p:sp>
              <p:sp>
                <p:nvSpPr>
                  <p:cNvPr id="23563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61" y="374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10</a:t>
                    </a:r>
                  </a:p>
                </p:txBody>
              </p:sp>
              <p:sp>
                <p:nvSpPr>
                  <p:cNvPr id="23564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09" y="3751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11</a:t>
                    </a:r>
                  </a:p>
                </p:txBody>
              </p:sp>
              <p:sp>
                <p:nvSpPr>
                  <p:cNvPr id="23565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33" y="3747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12</a:t>
                    </a:r>
                  </a:p>
                </p:txBody>
              </p:sp>
              <p:sp>
                <p:nvSpPr>
                  <p:cNvPr id="2356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1" y="374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13</a:t>
                    </a:r>
                  </a:p>
                </p:txBody>
              </p:sp>
              <p:sp>
                <p:nvSpPr>
                  <p:cNvPr id="23567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" y="3909"/>
                    <a:ext cx="97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schemeClr val="accent2"/>
                        </a:solidFill>
                      </a:rPr>
                      <a:t>Shoe Size</a:t>
                    </a:r>
                  </a:p>
                </p:txBody>
              </p:sp>
              <p:sp>
                <p:nvSpPr>
                  <p:cNvPr id="23568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5" y="3377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60</a:t>
                    </a:r>
                  </a:p>
                </p:txBody>
              </p:sp>
              <p:sp>
                <p:nvSpPr>
                  <p:cNvPr id="23569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5" y="3125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65</a:t>
                    </a:r>
                  </a:p>
                </p:txBody>
              </p:sp>
              <p:sp>
                <p:nvSpPr>
                  <p:cNvPr id="23570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3" y="289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70</a:t>
                    </a:r>
                  </a:p>
                </p:txBody>
              </p:sp>
              <p:sp>
                <p:nvSpPr>
                  <p:cNvPr id="23571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" y="2657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75</a:t>
                    </a:r>
                  </a:p>
                </p:txBody>
              </p:sp>
              <p:sp>
                <p:nvSpPr>
                  <p:cNvPr id="23572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3" y="239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80</a:t>
                    </a:r>
                  </a:p>
                </p:txBody>
              </p:sp>
              <p:sp>
                <p:nvSpPr>
                  <p:cNvPr id="23573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9" y="2169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85</a:t>
                    </a:r>
                  </a:p>
                </p:txBody>
              </p:sp>
              <p:sp>
                <p:nvSpPr>
                  <p:cNvPr id="23574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1" y="193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90</a:t>
                    </a:r>
                  </a:p>
                </p:txBody>
              </p:sp>
              <p:sp>
                <p:nvSpPr>
                  <p:cNvPr id="23575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5" y="1681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95</a:t>
                    </a:r>
                  </a:p>
                </p:txBody>
              </p:sp>
              <p:grpSp>
                <p:nvGrpSpPr>
                  <p:cNvPr id="23576" name="Group 24"/>
                  <p:cNvGrpSpPr>
                    <a:grpSpLocks/>
                  </p:cNvGrpSpPr>
                  <p:nvPr/>
                </p:nvGrpSpPr>
                <p:grpSpPr bwMode="auto">
                  <a:xfrm>
                    <a:off x="1017" y="1574"/>
                    <a:ext cx="2411" cy="2169"/>
                    <a:chOff x="1349" y="1496"/>
                    <a:chExt cx="2411" cy="2169"/>
                  </a:xfrm>
                </p:grpSpPr>
                <p:sp>
                  <p:nvSpPr>
                    <p:cNvPr id="23577" name="Rectangl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78" name="Rectangle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79" name="Rectangle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0" name="Rectangl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1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3424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2" name="Rectangle 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3" name="Rectangle 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4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5" name="Rectangle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6" name="Rectangle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7" name="Rectangle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8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89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0" name="Rectangle 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1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3183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2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3" name="Rectangle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4" name="Rectangl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5" name="Rectangle 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6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7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8" name="Rectangle 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99" name="Rectangle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0" name="Rectangle 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1" name="Rectangle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942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2" name="Rectangl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3" name="Rectangl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4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5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6" name="Rectangle 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7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8" name="Rectangl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09" name="Rectangle 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0" name="Rectangle 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1" name="Rectangle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700"/>
                      <a:ext cx="242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2" name="Rectangl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3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4" name="Rectangle 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5" name="Rectangle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6" name="Rectangl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7" name="Rectangle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8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9" name="Rectangle 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0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1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460"/>
                      <a:ext cx="242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2" name="Rectangl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3" name="Rectangle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4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5" name="Rectangl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6" name="Rectangle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7" name="Rectangle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8" name="Rectangl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29" name="Rectangle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0" name="Rectangle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1" name="Rectangle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219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2" name="Rectangle 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3" name="Rectangle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4" name="Rectangle 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5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6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7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8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39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0" name="Rectangl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1" name="Rectangl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1977"/>
                      <a:ext cx="242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2" name="Rectangle 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3" name="Rectangle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4" name="Rectangle 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5" name="Rectangl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6" name="Rectangle 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7" name="Rectangl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8" name="Rectangle 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49" name="Rectangle 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0" name="Rectangl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1" name="Rectangle 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1737"/>
                      <a:ext cx="242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2" name="Rectangle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3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4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5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6" name="Rectangle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7" name="Rectangle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8" name="Rectangle 1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59" name="Rectangle 1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0" name="Rectangle 1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1" name="Rectangle 1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1496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2" name="Rectangle 1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3" name="Rectangle 1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4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5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66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3667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7" y="1470"/>
                    <a:ext cx="44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/>
                      <a:t>100</a:t>
                    </a:r>
                  </a:p>
                </p:txBody>
              </p:sp>
              <p:sp>
                <p:nvSpPr>
                  <p:cNvPr id="23668" name="Text Box 116"/>
                  <p:cNvSpPr txBox="1">
                    <a:spLocks noChangeArrowheads="1"/>
                  </p:cNvSpPr>
                  <p:nvPr/>
                </p:nvSpPr>
                <p:spPr bwMode="auto">
                  <a:xfrm rot="-5400000">
                    <a:off x="42" y="2600"/>
                    <a:ext cx="97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altLang="x-none" sz="2000">
                        <a:solidFill>
                          <a:schemeClr val="accent2"/>
                        </a:solidFill>
                      </a:rPr>
                      <a:t>Mass (kg)</a:t>
                    </a:r>
                  </a:p>
                </p:txBody>
              </p:sp>
              <p:sp>
                <p:nvSpPr>
                  <p:cNvPr id="23669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1017" y="3743"/>
                    <a:ext cx="241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670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017" y="1582"/>
                    <a:ext cx="0" cy="216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671" name="Text Box 119" descr="Parchment"/>
                <p:cNvSpPr txBox="1">
                  <a:spLocks noChangeArrowheads="1"/>
                </p:cNvSpPr>
                <p:nvPr/>
              </p:nvSpPr>
              <p:spPr bwMode="auto">
                <a:xfrm>
                  <a:off x="444" y="216"/>
                  <a:ext cx="5088" cy="544"/>
                </a:xfrm>
                <a:prstGeom prst="rect">
                  <a:avLst/>
                </a:prstGeom>
                <a:blipFill dpi="0" rotWithShape="0">
                  <a:blip r:embed="rId4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 b="1"/>
                    <a:t>(1).</a:t>
                  </a:r>
                  <a:r>
                    <a:rPr lang="en-GB" altLang="x-none" sz="2000"/>
                    <a:t> The table below shows the shoe size and mass of 10 men.</a:t>
                  </a:r>
                </a:p>
                <a:p>
                  <a:r>
                    <a:rPr lang="en-GB" altLang="x-none" sz="2000">
                      <a:solidFill>
                        <a:srgbClr val="FF0000"/>
                      </a:solidFill>
                    </a:rPr>
                    <a:t>(a)</a:t>
                  </a:r>
                  <a:r>
                    <a:rPr lang="en-GB" altLang="x-none" sz="2000"/>
                    <a:t> Plot a </a:t>
                  </a:r>
                  <a:r>
                    <a:rPr lang="en-GB" altLang="x-none" sz="2000">
                      <a:solidFill>
                        <a:schemeClr val="accent2"/>
                      </a:solidFill>
                    </a:rPr>
                    <a:t>scatter graph</a:t>
                  </a:r>
                  <a:r>
                    <a:rPr lang="en-GB" altLang="x-none" sz="2000"/>
                    <a:t> for this data and draw a </a:t>
                  </a:r>
                  <a:r>
                    <a:rPr lang="en-GB" altLang="x-none" sz="2000">
                      <a:solidFill>
                        <a:schemeClr val="accent2"/>
                      </a:solidFill>
                    </a:rPr>
                    <a:t>line of best fit.</a:t>
                  </a:r>
                </a:p>
              </p:txBody>
            </p:sp>
            <p:sp>
              <p:nvSpPr>
                <p:cNvPr id="23672" name="Rectangle 120"/>
                <p:cNvSpPr>
                  <a:spLocks noChangeArrowheads="1"/>
                </p:cNvSpPr>
                <p:nvPr/>
              </p:nvSpPr>
              <p:spPr bwMode="auto">
                <a:xfrm>
                  <a:off x="5066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80</a:t>
                  </a:r>
                </a:p>
              </p:txBody>
            </p:sp>
            <p:sp>
              <p:nvSpPr>
                <p:cNvPr id="23673" name="Rectangle 121"/>
                <p:cNvSpPr>
                  <a:spLocks noChangeArrowheads="1"/>
                </p:cNvSpPr>
                <p:nvPr/>
              </p:nvSpPr>
              <p:spPr bwMode="auto">
                <a:xfrm>
                  <a:off x="4600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74</a:t>
                  </a:r>
                </a:p>
              </p:txBody>
            </p:sp>
            <p:sp>
              <p:nvSpPr>
                <p:cNvPr id="23674" name="Rectangle 122"/>
                <p:cNvSpPr>
                  <a:spLocks noChangeArrowheads="1"/>
                </p:cNvSpPr>
                <p:nvPr/>
              </p:nvSpPr>
              <p:spPr bwMode="auto">
                <a:xfrm>
                  <a:off x="4134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88</a:t>
                  </a:r>
                </a:p>
              </p:txBody>
            </p:sp>
            <p:sp>
              <p:nvSpPr>
                <p:cNvPr id="23675" name="Rectangle 123"/>
                <p:cNvSpPr>
                  <a:spLocks noChangeArrowheads="1"/>
                </p:cNvSpPr>
                <p:nvPr/>
              </p:nvSpPr>
              <p:spPr bwMode="auto">
                <a:xfrm>
                  <a:off x="3668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76</a:t>
                  </a:r>
                </a:p>
              </p:txBody>
            </p:sp>
            <p:sp>
              <p:nvSpPr>
                <p:cNvPr id="23676" name="Rectangle 124"/>
                <p:cNvSpPr>
                  <a:spLocks noChangeArrowheads="1"/>
                </p:cNvSpPr>
                <p:nvPr/>
              </p:nvSpPr>
              <p:spPr bwMode="auto">
                <a:xfrm>
                  <a:off x="3202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78</a:t>
                  </a:r>
                </a:p>
              </p:txBody>
            </p:sp>
            <p:sp>
              <p:nvSpPr>
                <p:cNvPr id="23677" name="Rectangle 125"/>
                <p:cNvSpPr>
                  <a:spLocks noChangeArrowheads="1"/>
                </p:cNvSpPr>
                <p:nvPr/>
              </p:nvSpPr>
              <p:spPr bwMode="auto">
                <a:xfrm>
                  <a:off x="2735" y="1129"/>
                  <a:ext cx="46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78</a:t>
                  </a:r>
                </a:p>
              </p:txBody>
            </p:sp>
            <p:sp>
              <p:nvSpPr>
                <p:cNvPr id="23678" name="Rectangle 126"/>
                <p:cNvSpPr>
                  <a:spLocks noChangeArrowheads="1"/>
                </p:cNvSpPr>
                <p:nvPr/>
              </p:nvSpPr>
              <p:spPr bwMode="auto">
                <a:xfrm>
                  <a:off x="2269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92</a:t>
                  </a:r>
                </a:p>
              </p:txBody>
            </p:sp>
            <p:sp>
              <p:nvSpPr>
                <p:cNvPr id="23679" name="Rectangle 127"/>
                <p:cNvSpPr>
                  <a:spLocks noChangeArrowheads="1"/>
                </p:cNvSpPr>
                <p:nvPr/>
              </p:nvSpPr>
              <p:spPr bwMode="auto">
                <a:xfrm>
                  <a:off x="1803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68</a:t>
                  </a:r>
                </a:p>
              </p:txBody>
            </p:sp>
            <p:sp>
              <p:nvSpPr>
                <p:cNvPr id="23680" name="Rectangle 128"/>
                <p:cNvSpPr>
                  <a:spLocks noChangeArrowheads="1"/>
                </p:cNvSpPr>
                <p:nvPr/>
              </p:nvSpPr>
              <p:spPr bwMode="auto">
                <a:xfrm>
                  <a:off x="1337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97</a:t>
                  </a:r>
                </a:p>
              </p:txBody>
            </p:sp>
            <p:sp>
              <p:nvSpPr>
                <p:cNvPr id="23681" name="Rectangle 129"/>
                <p:cNvSpPr>
                  <a:spLocks noChangeArrowheads="1"/>
                </p:cNvSpPr>
                <p:nvPr/>
              </p:nvSpPr>
              <p:spPr bwMode="auto">
                <a:xfrm>
                  <a:off x="871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65</a:t>
                  </a:r>
                </a:p>
              </p:txBody>
            </p:sp>
            <p:sp>
              <p:nvSpPr>
                <p:cNvPr id="23682" name="Rectangle 130"/>
                <p:cNvSpPr>
                  <a:spLocks noChangeArrowheads="1"/>
                </p:cNvSpPr>
                <p:nvPr/>
              </p:nvSpPr>
              <p:spPr bwMode="auto">
                <a:xfrm>
                  <a:off x="405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GB" altLang="x-none" sz="1800">
                      <a:solidFill>
                        <a:schemeClr val="accent2"/>
                      </a:solidFill>
                      <a:latin typeface="Comic Sans MS" charset="0"/>
                    </a:rPr>
                    <a:t>Mass</a:t>
                  </a:r>
                </a:p>
              </p:txBody>
            </p:sp>
            <p:sp>
              <p:nvSpPr>
                <p:cNvPr id="23683" name="Rectangle 131"/>
                <p:cNvSpPr>
                  <a:spLocks noChangeArrowheads="1"/>
                </p:cNvSpPr>
                <p:nvPr/>
              </p:nvSpPr>
              <p:spPr bwMode="auto">
                <a:xfrm>
                  <a:off x="5066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8</a:t>
                  </a:r>
                </a:p>
              </p:txBody>
            </p:sp>
            <p:sp>
              <p:nvSpPr>
                <p:cNvPr id="23684" name="Rectangle 132"/>
                <p:cNvSpPr>
                  <a:spLocks noChangeArrowheads="1"/>
                </p:cNvSpPr>
                <p:nvPr/>
              </p:nvSpPr>
              <p:spPr bwMode="auto">
                <a:xfrm>
                  <a:off x="4600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6</a:t>
                  </a:r>
                </a:p>
              </p:txBody>
            </p:sp>
            <p:sp>
              <p:nvSpPr>
                <p:cNvPr id="23685" name="Rectangle 133"/>
                <p:cNvSpPr>
                  <a:spLocks noChangeArrowheads="1"/>
                </p:cNvSpPr>
                <p:nvPr/>
              </p:nvSpPr>
              <p:spPr bwMode="auto">
                <a:xfrm>
                  <a:off x="4134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11</a:t>
                  </a:r>
                </a:p>
              </p:txBody>
            </p:sp>
            <p:sp>
              <p:nvSpPr>
                <p:cNvPr id="23686" name="Rectangle 134"/>
                <p:cNvSpPr>
                  <a:spLocks noChangeArrowheads="1"/>
                </p:cNvSpPr>
                <p:nvPr/>
              </p:nvSpPr>
              <p:spPr bwMode="auto">
                <a:xfrm>
                  <a:off x="3668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8</a:t>
                  </a:r>
                </a:p>
              </p:txBody>
            </p:sp>
            <p:sp>
              <p:nvSpPr>
                <p:cNvPr id="23687" name="Rectangle 135"/>
                <p:cNvSpPr>
                  <a:spLocks noChangeArrowheads="1"/>
                </p:cNvSpPr>
                <p:nvPr/>
              </p:nvSpPr>
              <p:spPr bwMode="auto">
                <a:xfrm>
                  <a:off x="3202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9</a:t>
                  </a:r>
                </a:p>
              </p:txBody>
            </p:sp>
            <p:sp>
              <p:nvSpPr>
                <p:cNvPr id="23688" name="Rectangle 136"/>
                <p:cNvSpPr>
                  <a:spLocks noChangeArrowheads="1"/>
                </p:cNvSpPr>
                <p:nvPr/>
              </p:nvSpPr>
              <p:spPr bwMode="auto">
                <a:xfrm>
                  <a:off x="2735" y="880"/>
                  <a:ext cx="46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10</a:t>
                  </a:r>
                </a:p>
              </p:txBody>
            </p:sp>
            <p:sp>
              <p:nvSpPr>
                <p:cNvPr id="23689" name="Rectangle 137"/>
                <p:cNvSpPr>
                  <a:spLocks noChangeArrowheads="1"/>
                </p:cNvSpPr>
                <p:nvPr/>
              </p:nvSpPr>
              <p:spPr bwMode="auto">
                <a:xfrm>
                  <a:off x="2269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10</a:t>
                  </a:r>
                </a:p>
              </p:txBody>
            </p:sp>
            <p:sp>
              <p:nvSpPr>
                <p:cNvPr id="23690" name="Rectangle 138"/>
                <p:cNvSpPr>
                  <a:spLocks noChangeArrowheads="1"/>
                </p:cNvSpPr>
                <p:nvPr/>
              </p:nvSpPr>
              <p:spPr bwMode="auto">
                <a:xfrm>
                  <a:off x="1803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7</a:t>
                  </a:r>
                </a:p>
              </p:txBody>
            </p:sp>
            <p:sp>
              <p:nvSpPr>
                <p:cNvPr id="23691" name="Rectangle 139"/>
                <p:cNvSpPr>
                  <a:spLocks noChangeArrowheads="1"/>
                </p:cNvSpPr>
                <p:nvPr/>
              </p:nvSpPr>
              <p:spPr bwMode="auto">
                <a:xfrm>
                  <a:off x="1337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12</a:t>
                  </a:r>
                </a:p>
              </p:txBody>
            </p:sp>
            <p:sp>
              <p:nvSpPr>
                <p:cNvPr id="23692" name="Rectangle 140"/>
                <p:cNvSpPr>
                  <a:spLocks noChangeArrowheads="1"/>
                </p:cNvSpPr>
                <p:nvPr/>
              </p:nvSpPr>
              <p:spPr bwMode="auto">
                <a:xfrm>
                  <a:off x="871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FontTx/>
                    <a:buNone/>
                  </a:pPr>
                  <a:r>
                    <a:rPr lang="en-GB" altLang="x-none" sz="2000">
                      <a:latin typeface="Comic Sans MS" charset="0"/>
                    </a:rPr>
                    <a:t>5</a:t>
                  </a:r>
                </a:p>
              </p:txBody>
            </p:sp>
            <p:sp>
              <p:nvSpPr>
                <p:cNvPr id="23693" name="Rectangle 141"/>
                <p:cNvSpPr>
                  <a:spLocks noChangeArrowheads="1"/>
                </p:cNvSpPr>
                <p:nvPr/>
              </p:nvSpPr>
              <p:spPr bwMode="auto">
                <a:xfrm>
                  <a:off x="405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GB" altLang="x-none" sz="1800">
                      <a:solidFill>
                        <a:schemeClr val="accent2"/>
                      </a:solidFill>
                      <a:latin typeface="Comic Sans MS" charset="0"/>
                    </a:rPr>
                    <a:t>Size</a:t>
                  </a:r>
                </a:p>
              </p:txBody>
            </p:sp>
            <p:sp>
              <p:nvSpPr>
                <p:cNvPr id="23694" name="Line 142"/>
                <p:cNvSpPr>
                  <a:spLocks noChangeShapeType="1"/>
                </p:cNvSpPr>
                <p:nvPr/>
              </p:nvSpPr>
              <p:spPr bwMode="auto">
                <a:xfrm>
                  <a:off x="405" y="880"/>
                  <a:ext cx="512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5" name="Line 143"/>
                <p:cNvSpPr>
                  <a:spLocks noChangeShapeType="1"/>
                </p:cNvSpPr>
                <p:nvPr/>
              </p:nvSpPr>
              <p:spPr bwMode="auto">
                <a:xfrm>
                  <a:off x="405" y="1129"/>
                  <a:ext cx="512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6" name="Line 144"/>
                <p:cNvSpPr>
                  <a:spLocks noChangeShapeType="1"/>
                </p:cNvSpPr>
                <p:nvPr/>
              </p:nvSpPr>
              <p:spPr bwMode="auto">
                <a:xfrm>
                  <a:off x="405" y="1378"/>
                  <a:ext cx="512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7" name="Line 145"/>
                <p:cNvSpPr>
                  <a:spLocks noChangeShapeType="1"/>
                </p:cNvSpPr>
                <p:nvPr/>
              </p:nvSpPr>
              <p:spPr bwMode="auto">
                <a:xfrm>
                  <a:off x="405" y="880"/>
                  <a:ext cx="0" cy="49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8" name="Line 146"/>
                <p:cNvSpPr>
                  <a:spLocks noChangeShapeType="1"/>
                </p:cNvSpPr>
                <p:nvPr/>
              </p:nvSpPr>
              <p:spPr bwMode="auto">
                <a:xfrm>
                  <a:off x="871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9" name="Line 147"/>
                <p:cNvSpPr>
                  <a:spLocks noChangeShapeType="1"/>
                </p:cNvSpPr>
                <p:nvPr/>
              </p:nvSpPr>
              <p:spPr bwMode="auto">
                <a:xfrm>
                  <a:off x="1337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0" name="Line 148"/>
                <p:cNvSpPr>
                  <a:spLocks noChangeShapeType="1"/>
                </p:cNvSpPr>
                <p:nvPr/>
              </p:nvSpPr>
              <p:spPr bwMode="auto">
                <a:xfrm>
                  <a:off x="1803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1" name="Line 149"/>
                <p:cNvSpPr>
                  <a:spLocks noChangeShapeType="1"/>
                </p:cNvSpPr>
                <p:nvPr/>
              </p:nvSpPr>
              <p:spPr bwMode="auto">
                <a:xfrm>
                  <a:off x="2269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2" name="Line 150"/>
                <p:cNvSpPr>
                  <a:spLocks noChangeShapeType="1"/>
                </p:cNvSpPr>
                <p:nvPr/>
              </p:nvSpPr>
              <p:spPr bwMode="auto">
                <a:xfrm>
                  <a:off x="2735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3" name="Line 151"/>
                <p:cNvSpPr>
                  <a:spLocks noChangeShapeType="1"/>
                </p:cNvSpPr>
                <p:nvPr/>
              </p:nvSpPr>
              <p:spPr bwMode="auto">
                <a:xfrm>
                  <a:off x="3202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4" name="Line 152"/>
                <p:cNvSpPr>
                  <a:spLocks noChangeShapeType="1"/>
                </p:cNvSpPr>
                <p:nvPr/>
              </p:nvSpPr>
              <p:spPr bwMode="auto">
                <a:xfrm>
                  <a:off x="3668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5" name="Line 153"/>
                <p:cNvSpPr>
                  <a:spLocks noChangeShapeType="1"/>
                </p:cNvSpPr>
                <p:nvPr/>
              </p:nvSpPr>
              <p:spPr bwMode="auto">
                <a:xfrm>
                  <a:off x="4134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6" name="Line 154"/>
                <p:cNvSpPr>
                  <a:spLocks noChangeShapeType="1"/>
                </p:cNvSpPr>
                <p:nvPr/>
              </p:nvSpPr>
              <p:spPr bwMode="auto">
                <a:xfrm>
                  <a:off x="4600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7" name="Line 155"/>
                <p:cNvSpPr>
                  <a:spLocks noChangeShapeType="1"/>
                </p:cNvSpPr>
                <p:nvPr/>
              </p:nvSpPr>
              <p:spPr bwMode="auto">
                <a:xfrm>
                  <a:off x="5066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8" name="Line 156"/>
                <p:cNvSpPr>
                  <a:spLocks noChangeShapeType="1"/>
                </p:cNvSpPr>
                <p:nvPr/>
              </p:nvSpPr>
              <p:spPr bwMode="auto">
                <a:xfrm>
                  <a:off x="5532" y="880"/>
                  <a:ext cx="0" cy="49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709" name="Oval 157"/>
              <p:cNvSpPr>
                <a:spLocks noChangeArrowheads="1"/>
              </p:cNvSpPr>
              <p:nvPr/>
            </p:nvSpPr>
            <p:spPr bwMode="auto">
              <a:xfrm>
                <a:off x="1548" y="3261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711" name="Oval 159"/>
            <p:cNvSpPr>
              <a:spLocks noChangeArrowheads="1"/>
            </p:cNvSpPr>
            <p:nvPr/>
          </p:nvSpPr>
          <p:spPr bwMode="auto">
            <a:xfrm>
              <a:off x="3240" y="1711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710" name="Rectangle 158"/>
          <p:cNvSpPr>
            <a:spLocks noChangeArrowheads="1"/>
          </p:cNvSpPr>
          <p:nvPr/>
        </p:nvSpPr>
        <p:spPr bwMode="auto">
          <a:xfrm>
            <a:off x="2867025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712" name="Oval 160"/>
          <p:cNvSpPr>
            <a:spLocks noChangeArrowheads="1"/>
          </p:cNvSpPr>
          <p:nvPr/>
        </p:nvSpPr>
        <p:spPr bwMode="auto">
          <a:xfrm>
            <a:off x="3225800" y="491648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714" name="Rectangle 16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722" name="Group 170"/>
          <p:cNvGrpSpPr>
            <a:grpSpLocks/>
          </p:cNvGrpSpPr>
          <p:nvPr/>
        </p:nvGrpSpPr>
        <p:grpSpPr bwMode="auto">
          <a:xfrm>
            <a:off x="1665288" y="5586413"/>
            <a:ext cx="446087" cy="446087"/>
            <a:chOff x="854" y="3609"/>
            <a:chExt cx="281" cy="281"/>
          </a:xfrm>
        </p:grpSpPr>
        <p:grpSp>
          <p:nvGrpSpPr>
            <p:cNvPr id="23723" name="Group 171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3724" name="Line 172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5" name="Freeform 173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6" name="Line 174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727" name="Freeform 175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0265140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00" name="Group 324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24739" name="Group 163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4740" name="Group 164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4741" name="Group 165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24742" name="Group 166"/>
                  <p:cNvGrpSpPr>
                    <a:grpSpLocks/>
                  </p:cNvGrpSpPr>
                  <p:nvPr/>
                </p:nvGrpSpPr>
                <p:grpSpPr bwMode="auto">
                  <a:xfrm>
                    <a:off x="477" y="1487"/>
                    <a:ext cx="3204" cy="2689"/>
                    <a:chOff x="405" y="1470"/>
                    <a:chExt cx="3204" cy="2689"/>
                  </a:xfrm>
                </p:grpSpPr>
                <p:sp>
                  <p:nvSpPr>
                    <p:cNvPr id="24743" name="Text Box 16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31" y="3751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4</a:t>
                      </a:r>
                    </a:p>
                  </p:txBody>
                </p:sp>
                <p:sp>
                  <p:nvSpPr>
                    <p:cNvPr id="24744" name="Text Box 16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5" y="3751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5</a:t>
                      </a:r>
                    </a:p>
                  </p:txBody>
                </p:sp>
                <p:sp>
                  <p:nvSpPr>
                    <p:cNvPr id="24745" name="Text Box 16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59" y="3747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6</a:t>
                      </a:r>
                    </a:p>
                  </p:txBody>
                </p:sp>
                <p:sp>
                  <p:nvSpPr>
                    <p:cNvPr id="24746" name="Text Box 17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69" y="3751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7</a:t>
                      </a:r>
                    </a:p>
                  </p:txBody>
                </p:sp>
                <p:sp>
                  <p:nvSpPr>
                    <p:cNvPr id="24747" name="Text Box 1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25" y="3743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8</a:t>
                      </a:r>
                    </a:p>
                  </p:txBody>
                </p:sp>
                <p:sp>
                  <p:nvSpPr>
                    <p:cNvPr id="24748" name="Text Box 17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65" y="3739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9</a:t>
                      </a:r>
                    </a:p>
                  </p:txBody>
                </p:sp>
                <p:sp>
                  <p:nvSpPr>
                    <p:cNvPr id="24749" name="Text Box 17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61" y="374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10</a:t>
                      </a:r>
                    </a:p>
                  </p:txBody>
                </p:sp>
                <p:sp>
                  <p:nvSpPr>
                    <p:cNvPr id="24750" name="Text Box 1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09" y="3751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11</a:t>
                      </a:r>
                    </a:p>
                  </p:txBody>
                </p:sp>
                <p:sp>
                  <p:nvSpPr>
                    <p:cNvPr id="24751" name="Text Box 17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33" y="3747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12</a:t>
                      </a:r>
                    </a:p>
                  </p:txBody>
                </p:sp>
                <p:sp>
                  <p:nvSpPr>
                    <p:cNvPr id="24752" name="Text Box 17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81" y="374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13</a:t>
                      </a:r>
                    </a:p>
                  </p:txBody>
                </p:sp>
                <p:sp>
                  <p:nvSpPr>
                    <p:cNvPr id="24753" name="Text Box 1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731" y="3909"/>
                      <a:ext cx="9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schemeClr val="accent2"/>
                          </a:solidFill>
                        </a:rPr>
                        <a:t>Shoe Size</a:t>
                      </a:r>
                    </a:p>
                  </p:txBody>
                </p:sp>
                <p:sp>
                  <p:nvSpPr>
                    <p:cNvPr id="24754" name="Text Box 1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5" y="3377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60</a:t>
                      </a:r>
                    </a:p>
                  </p:txBody>
                </p:sp>
                <p:sp>
                  <p:nvSpPr>
                    <p:cNvPr id="24755" name="Text Box 17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5" y="3125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65</a:t>
                      </a:r>
                    </a:p>
                  </p:txBody>
                </p:sp>
                <p:sp>
                  <p:nvSpPr>
                    <p:cNvPr id="24756" name="Text Box 18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3" y="289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70</a:t>
                      </a:r>
                    </a:p>
                  </p:txBody>
                </p:sp>
                <p:sp>
                  <p:nvSpPr>
                    <p:cNvPr id="24757" name="Text Box 18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7" y="2657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75</a:t>
                      </a:r>
                    </a:p>
                  </p:txBody>
                </p:sp>
                <p:sp>
                  <p:nvSpPr>
                    <p:cNvPr id="24758" name="Text Box 18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83" y="239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80</a:t>
                      </a:r>
                    </a:p>
                  </p:txBody>
                </p:sp>
                <p:sp>
                  <p:nvSpPr>
                    <p:cNvPr id="24759" name="Text Box 18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9" y="2169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85</a:t>
                      </a:r>
                    </a:p>
                  </p:txBody>
                </p:sp>
                <p:sp>
                  <p:nvSpPr>
                    <p:cNvPr id="24760" name="Text Box 18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1" y="193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90</a:t>
                      </a:r>
                    </a:p>
                  </p:txBody>
                </p:sp>
                <p:sp>
                  <p:nvSpPr>
                    <p:cNvPr id="24761" name="Text Box 18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5" y="1681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95</a:t>
                      </a:r>
                    </a:p>
                  </p:txBody>
                </p:sp>
                <p:grpSp>
                  <p:nvGrpSpPr>
                    <p:cNvPr id="24762" name="Group 18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7" y="1574"/>
                      <a:ext cx="2411" cy="2169"/>
                      <a:chOff x="1349" y="1496"/>
                      <a:chExt cx="2411" cy="2169"/>
                    </a:xfrm>
                  </p:grpSpPr>
                  <p:sp>
                    <p:nvSpPr>
                      <p:cNvPr id="24763" name="Rectangle 18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64" name="Rectangle 1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65" name="Rectangle 1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66" name="Rectangle 1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67" name="Rectangle 19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3424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68" name="Rectangle 1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69" name="Rectangle 1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0" name="Rectangle 19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1" name="Rectangle 1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2" name="Rectangle 1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3" name="Rectangle 19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4" name="Rectangle 1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5" name="Rectangle 1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6" name="Rectangle 2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7" name="Rectangle 20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3183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8" name="Rectangle 20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79" name="Rectangle 20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0" name="Rectangle 20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1" name="Rectangle 20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2" name="Rectangle 20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3" name="Rectangle 20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4" name="Rectangle 20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5" name="Rectangle 20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6" name="Rectangle 21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7" name="Rectangle 21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942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8" name="Rectangle 21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89" name="Rectangle 2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0" name="Rectangle 2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1" name="Rectangle 2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2" name="Rectangle 2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3" name="Rectangle 2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5" name="Rectangle 2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6" name="Rectangle 2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7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700"/>
                        <a:ext cx="242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8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99" name="Rectangle 2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0" name="Rectangle 2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1" name="Rectangle 2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2" name="Rectangle 2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3" name="Rectangle 2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4" name="Rectangle 2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5" name="Rectangle 2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6" name="Rectangle 2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7" name="Rectangle 2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460"/>
                        <a:ext cx="242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8" name="Rectangle 2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09" name="Rectangle 23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0" name="Rectangle 2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1" name="Rectangle 2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2" name="Rectangle 2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3" name="Rectangle 2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4" name="Rectangle 2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5" name="Rectangle 2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6" name="Rectangle 2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7" name="Rectangle 2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219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8" name="Rectangle 2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19" name="Rectangle 2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0" name="Rectangle 2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1" name="Rectangle 24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2" name="Rectangle 24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3" name="Rectangle 24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4" name="Rectangle 2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5" name="Rectangle 24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6" name="Rectangle 25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7" name="Rectangle 25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1977"/>
                        <a:ext cx="242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8" name="Rectangle 25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29" name="Rectangle 2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0" name="Rectangle 25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1" name="Rectangle 2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2" name="Rectangle 2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3" name="Rectangle 2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4" name="Rectangle 25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5" name="Rectangle 2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6" name="Rectangle 2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7" name="Rectangle 26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1737"/>
                        <a:ext cx="242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8" name="Rectangle 2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39" name="Rectangle 2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0" name="Rectangle 2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1" name="Rectangle 2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2" name="Rectangle 2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3" name="Rectangle 2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4" name="Rectangle 2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5" name="Rectangle 2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6" name="Rectangle 27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7" name="Rectangle 27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1496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8" name="Rectangle 27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49" name="Rectangle 2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50" name="Rectangle 2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51" name="Rectangle 27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52" name="Rectangle 27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4853" name="Text Box 2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47" y="1470"/>
                      <a:ext cx="449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/>
                        <a:t>100</a:t>
                      </a:r>
                    </a:p>
                  </p:txBody>
                </p:sp>
                <p:sp>
                  <p:nvSpPr>
                    <p:cNvPr id="24854" name="Text Box 278"/>
                    <p:cNvSpPr txBox="1">
                      <a:spLocks noChangeArrowheads="1"/>
                    </p:cNvSpPr>
                    <p:nvPr/>
                  </p:nvSpPr>
                  <p:spPr bwMode="auto">
                    <a:xfrm rot="-5400000">
                      <a:off x="42" y="2600"/>
                      <a:ext cx="9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algn="ctr"/>
                      <a:r>
                        <a:rPr lang="en-GB" altLang="x-none" sz="2000">
                          <a:solidFill>
                            <a:schemeClr val="accent2"/>
                          </a:solidFill>
                        </a:rPr>
                        <a:t>Mass (kg)</a:t>
                      </a:r>
                    </a:p>
                  </p:txBody>
                </p:sp>
                <p:sp>
                  <p:nvSpPr>
                    <p:cNvPr id="24855" name="Line 2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17" y="3743"/>
                      <a:ext cx="2411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856" name="Line 2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17" y="1582"/>
                      <a:ext cx="0" cy="216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857" name="Text Box 281" descr="Parchment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4" y="216"/>
                    <a:ext cx="5088" cy="544"/>
                  </a:xfrm>
                  <a:prstGeom prst="rect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 b="1"/>
                      <a:t>(1).</a:t>
                    </a:r>
                    <a:r>
                      <a:rPr lang="en-GB" altLang="x-none" sz="2000"/>
                      <a:t> The table below shows the shoe size and mass of 10 men.</a:t>
                    </a:r>
                  </a:p>
                  <a:p>
                    <a:r>
                      <a:rPr lang="en-GB" altLang="x-none" sz="2000">
                        <a:solidFill>
                          <a:srgbClr val="FF0000"/>
                        </a:solidFill>
                      </a:rPr>
                      <a:t>(a)</a:t>
                    </a:r>
                    <a:r>
                      <a:rPr lang="en-GB" altLang="x-none" sz="2000"/>
                      <a:t> Plot a </a:t>
                    </a:r>
                    <a:r>
                      <a:rPr lang="en-GB" altLang="x-none" sz="2000">
                        <a:solidFill>
                          <a:schemeClr val="accent2"/>
                        </a:solidFill>
                      </a:rPr>
                      <a:t>scatter graph</a:t>
                    </a:r>
                    <a:r>
                      <a:rPr lang="en-GB" altLang="x-none" sz="2000"/>
                      <a:t> for this data and draw a </a:t>
                    </a:r>
                    <a:r>
                      <a:rPr lang="en-GB" altLang="x-none" sz="2000">
                        <a:solidFill>
                          <a:schemeClr val="accent2"/>
                        </a:solidFill>
                      </a:rPr>
                      <a:t>line of best fit.</a:t>
                    </a:r>
                  </a:p>
                </p:txBody>
              </p:sp>
              <p:sp>
                <p:nvSpPr>
                  <p:cNvPr id="24858" name="Rectangle 282"/>
                  <p:cNvSpPr>
                    <a:spLocks noChangeArrowheads="1"/>
                  </p:cNvSpPr>
                  <p:nvPr/>
                </p:nvSpPr>
                <p:spPr bwMode="auto">
                  <a:xfrm>
                    <a:off x="5066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80</a:t>
                    </a:r>
                  </a:p>
                </p:txBody>
              </p:sp>
              <p:sp>
                <p:nvSpPr>
                  <p:cNvPr id="24859" name="Rectangle 283"/>
                  <p:cNvSpPr>
                    <a:spLocks noChangeArrowheads="1"/>
                  </p:cNvSpPr>
                  <p:nvPr/>
                </p:nvSpPr>
                <p:spPr bwMode="auto">
                  <a:xfrm>
                    <a:off x="4600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74</a:t>
                    </a:r>
                  </a:p>
                </p:txBody>
              </p:sp>
              <p:sp>
                <p:nvSpPr>
                  <p:cNvPr id="24860" name="Rectangle 284"/>
                  <p:cNvSpPr>
                    <a:spLocks noChangeArrowheads="1"/>
                  </p:cNvSpPr>
                  <p:nvPr/>
                </p:nvSpPr>
                <p:spPr bwMode="auto">
                  <a:xfrm>
                    <a:off x="4134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88</a:t>
                    </a:r>
                  </a:p>
                </p:txBody>
              </p:sp>
              <p:sp>
                <p:nvSpPr>
                  <p:cNvPr id="24861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3668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76</a:t>
                    </a:r>
                  </a:p>
                </p:txBody>
              </p:sp>
              <p:sp>
                <p:nvSpPr>
                  <p:cNvPr id="24862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3202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78</a:t>
                    </a:r>
                  </a:p>
                </p:txBody>
              </p:sp>
              <p:sp>
                <p:nvSpPr>
                  <p:cNvPr id="24863" name="Rectangle 287"/>
                  <p:cNvSpPr>
                    <a:spLocks noChangeArrowheads="1"/>
                  </p:cNvSpPr>
                  <p:nvPr/>
                </p:nvSpPr>
                <p:spPr bwMode="auto">
                  <a:xfrm>
                    <a:off x="2735" y="1129"/>
                    <a:ext cx="46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78</a:t>
                    </a:r>
                  </a:p>
                </p:txBody>
              </p:sp>
              <p:sp>
                <p:nvSpPr>
                  <p:cNvPr id="24864" name="Rectangle 288"/>
                  <p:cNvSpPr>
                    <a:spLocks noChangeArrowheads="1"/>
                  </p:cNvSpPr>
                  <p:nvPr/>
                </p:nvSpPr>
                <p:spPr bwMode="auto">
                  <a:xfrm>
                    <a:off x="2269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92</a:t>
                    </a:r>
                  </a:p>
                </p:txBody>
              </p:sp>
              <p:sp>
                <p:nvSpPr>
                  <p:cNvPr id="24865" name="Rectangle 289"/>
                  <p:cNvSpPr>
                    <a:spLocks noChangeArrowheads="1"/>
                  </p:cNvSpPr>
                  <p:nvPr/>
                </p:nvSpPr>
                <p:spPr bwMode="auto">
                  <a:xfrm>
                    <a:off x="1803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68</a:t>
                    </a:r>
                  </a:p>
                </p:txBody>
              </p:sp>
              <p:sp>
                <p:nvSpPr>
                  <p:cNvPr id="24866" name="Rectangle 290"/>
                  <p:cNvSpPr>
                    <a:spLocks noChangeArrowheads="1"/>
                  </p:cNvSpPr>
                  <p:nvPr/>
                </p:nvSpPr>
                <p:spPr bwMode="auto">
                  <a:xfrm>
                    <a:off x="1337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97</a:t>
                    </a:r>
                  </a:p>
                </p:txBody>
              </p:sp>
              <p:sp>
                <p:nvSpPr>
                  <p:cNvPr id="24867" name="Rectangle 291"/>
                  <p:cNvSpPr>
                    <a:spLocks noChangeArrowheads="1"/>
                  </p:cNvSpPr>
                  <p:nvPr/>
                </p:nvSpPr>
                <p:spPr bwMode="auto">
                  <a:xfrm>
                    <a:off x="871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65</a:t>
                    </a:r>
                  </a:p>
                </p:txBody>
              </p:sp>
              <p:sp>
                <p:nvSpPr>
                  <p:cNvPr id="24868" name="Rectangle 292"/>
                  <p:cNvSpPr>
                    <a:spLocks noChangeArrowheads="1"/>
                  </p:cNvSpPr>
                  <p:nvPr/>
                </p:nvSpPr>
                <p:spPr bwMode="auto">
                  <a:xfrm>
                    <a:off x="405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>
                      <a:buFontTx/>
                      <a:buNone/>
                    </a:pPr>
                    <a:r>
                      <a:rPr lang="en-GB" altLang="x-none" sz="1800">
                        <a:solidFill>
                          <a:schemeClr val="accent2"/>
                        </a:solidFill>
                        <a:latin typeface="Comic Sans MS" charset="0"/>
                      </a:rPr>
                      <a:t>Mass</a:t>
                    </a:r>
                  </a:p>
                </p:txBody>
              </p:sp>
              <p:sp>
                <p:nvSpPr>
                  <p:cNvPr id="24869" name="Rectangle 293"/>
                  <p:cNvSpPr>
                    <a:spLocks noChangeArrowheads="1"/>
                  </p:cNvSpPr>
                  <p:nvPr/>
                </p:nvSpPr>
                <p:spPr bwMode="auto">
                  <a:xfrm>
                    <a:off x="5066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8</a:t>
                    </a:r>
                  </a:p>
                </p:txBody>
              </p:sp>
              <p:sp>
                <p:nvSpPr>
                  <p:cNvPr id="24870" name="Rectangle 294"/>
                  <p:cNvSpPr>
                    <a:spLocks noChangeArrowheads="1"/>
                  </p:cNvSpPr>
                  <p:nvPr/>
                </p:nvSpPr>
                <p:spPr bwMode="auto">
                  <a:xfrm>
                    <a:off x="4600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6</a:t>
                    </a:r>
                  </a:p>
                </p:txBody>
              </p:sp>
              <p:sp>
                <p:nvSpPr>
                  <p:cNvPr id="24871" name="Rectangle 295"/>
                  <p:cNvSpPr>
                    <a:spLocks noChangeArrowheads="1"/>
                  </p:cNvSpPr>
                  <p:nvPr/>
                </p:nvSpPr>
                <p:spPr bwMode="auto">
                  <a:xfrm>
                    <a:off x="4134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11</a:t>
                    </a:r>
                  </a:p>
                </p:txBody>
              </p:sp>
              <p:sp>
                <p:nvSpPr>
                  <p:cNvPr id="24872" name="Rectangle 296"/>
                  <p:cNvSpPr>
                    <a:spLocks noChangeArrowheads="1"/>
                  </p:cNvSpPr>
                  <p:nvPr/>
                </p:nvSpPr>
                <p:spPr bwMode="auto">
                  <a:xfrm>
                    <a:off x="3668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8</a:t>
                    </a:r>
                  </a:p>
                </p:txBody>
              </p:sp>
              <p:sp>
                <p:nvSpPr>
                  <p:cNvPr id="24873" name="Rectangle 297"/>
                  <p:cNvSpPr>
                    <a:spLocks noChangeArrowheads="1"/>
                  </p:cNvSpPr>
                  <p:nvPr/>
                </p:nvSpPr>
                <p:spPr bwMode="auto">
                  <a:xfrm>
                    <a:off x="3202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9</a:t>
                    </a:r>
                  </a:p>
                </p:txBody>
              </p:sp>
              <p:sp>
                <p:nvSpPr>
                  <p:cNvPr id="24874" name="Rectangle 298"/>
                  <p:cNvSpPr>
                    <a:spLocks noChangeArrowheads="1"/>
                  </p:cNvSpPr>
                  <p:nvPr/>
                </p:nvSpPr>
                <p:spPr bwMode="auto">
                  <a:xfrm>
                    <a:off x="2735" y="880"/>
                    <a:ext cx="46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10</a:t>
                    </a:r>
                  </a:p>
                </p:txBody>
              </p:sp>
              <p:sp>
                <p:nvSpPr>
                  <p:cNvPr id="24875" name="Rectangle 299"/>
                  <p:cNvSpPr>
                    <a:spLocks noChangeArrowheads="1"/>
                  </p:cNvSpPr>
                  <p:nvPr/>
                </p:nvSpPr>
                <p:spPr bwMode="auto">
                  <a:xfrm>
                    <a:off x="2269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10</a:t>
                    </a:r>
                  </a:p>
                </p:txBody>
              </p:sp>
              <p:sp>
                <p:nvSpPr>
                  <p:cNvPr id="24876" name="Rectangle 300"/>
                  <p:cNvSpPr>
                    <a:spLocks noChangeArrowheads="1"/>
                  </p:cNvSpPr>
                  <p:nvPr/>
                </p:nvSpPr>
                <p:spPr bwMode="auto">
                  <a:xfrm>
                    <a:off x="1803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7</a:t>
                    </a:r>
                  </a:p>
                </p:txBody>
              </p:sp>
              <p:sp>
                <p:nvSpPr>
                  <p:cNvPr id="24877" name="Rectangle 301"/>
                  <p:cNvSpPr>
                    <a:spLocks noChangeArrowheads="1"/>
                  </p:cNvSpPr>
                  <p:nvPr/>
                </p:nvSpPr>
                <p:spPr bwMode="auto">
                  <a:xfrm>
                    <a:off x="1337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12</a:t>
                    </a:r>
                  </a:p>
                </p:txBody>
              </p:sp>
              <p:sp>
                <p:nvSpPr>
                  <p:cNvPr id="24878" name="Rectangle 302"/>
                  <p:cNvSpPr>
                    <a:spLocks noChangeArrowheads="1"/>
                  </p:cNvSpPr>
                  <p:nvPr/>
                </p:nvSpPr>
                <p:spPr bwMode="auto">
                  <a:xfrm>
                    <a:off x="871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FontTx/>
                      <a:buNone/>
                    </a:pPr>
                    <a:r>
                      <a:rPr lang="en-GB" altLang="x-none" sz="2000">
                        <a:latin typeface="Comic Sans MS" charset="0"/>
                      </a:rPr>
                      <a:t>5</a:t>
                    </a:r>
                  </a:p>
                </p:txBody>
              </p:sp>
              <p:sp>
                <p:nvSpPr>
                  <p:cNvPr id="24879" name="Rectangle 303"/>
                  <p:cNvSpPr>
                    <a:spLocks noChangeArrowheads="1"/>
                  </p:cNvSpPr>
                  <p:nvPr/>
                </p:nvSpPr>
                <p:spPr bwMode="auto">
                  <a:xfrm>
                    <a:off x="405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>
                      <a:buFontTx/>
                      <a:buNone/>
                    </a:pPr>
                    <a:r>
                      <a:rPr lang="en-GB" altLang="x-none" sz="1800">
                        <a:solidFill>
                          <a:schemeClr val="accent2"/>
                        </a:solidFill>
                        <a:latin typeface="Comic Sans MS" charset="0"/>
                      </a:rPr>
                      <a:t>Size</a:t>
                    </a:r>
                  </a:p>
                </p:txBody>
              </p:sp>
              <p:sp>
                <p:nvSpPr>
                  <p:cNvPr id="24880" name="Line 304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880"/>
                    <a:ext cx="512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1" name="Line 305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1129"/>
                    <a:ext cx="5127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2" name="Line 306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1378"/>
                    <a:ext cx="512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3" name="Line 307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880"/>
                    <a:ext cx="0" cy="498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4" name="Line 308"/>
                  <p:cNvSpPr>
                    <a:spLocks noChangeShapeType="1"/>
                  </p:cNvSpPr>
                  <p:nvPr/>
                </p:nvSpPr>
                <p:spPr bwMode="auto">
                  <a:xfrm>
                    <a:off x="871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5" name="Line 309"/>
                  <p:cNvSpPr>
                    <a:spLocks noChangeShapeType="1"/>
                  </p:cNvSpPr>
                  <p:nvPr/>
                </p:nvSpPr>
                <p:spPr bwMode="auto">
                  <a:xfrm>
                    <a:off x="1337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6" name="Line 310"/>
                  <p:cNvSpPr>
                    <a:spLocks noChangeShapeType="1"/>
                  </p:cNvSpPr>
                  <p:nvPr/>
                </p:nvSpPr>
                <p:spPr bwMode="auto">
                  <a:xfrm>
                    <a:off x="1803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7" name="Line 311"/>
                  <p:cNvSpPr>
                    <a:spLocks noChangeShapeType="1"/>
                  </p:cNvSpPr>
                  <p:nvPr/>
                </p:nvSpPr>
                <p:spPr bwMode="auto">
                  <a:xfrm>
                    <a:off x="2269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8" name="Line 312"/>
                  <p:cNvSpPr>
                    <a:spLocks noChangeShapeType="1"/>
                  </p:cNvSpPr>
                  <p:nvPr/>
                </p:nvSpPr>
                <p:spPr bwMode="auto">
                  <a:xfrm>
                    <a:off x="2735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89" name="Line 313"/>
                  <p:cNvSpPr>
                    <a:spLocks noChangeShapeType="1"/>
                  </p:cNvSpPr>
                  <p:nvPr/>
                </p:nvSpPr>
                <p:spPr bwMode="auto">
                  <a:xfrm>
                    <a:off x="3202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90" name="Line 314"/>
                  <p:cNvSpPr>
                    <a:spLocks noChangeShapeType="1"/>
                  </p:cNvSpPr>
                  <p:nvPr/>
                </p:nvSpPr>
                <p:spPr bwMode="auto">
                  <a:xfrm>
                    <a:off x="3668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91" name="Line 315"/>
                  <p:cNvSpPr>
                    <a:spLocks noChangeShapeType="1"/>
                  </p:cNvSpPr>
                  <p:nvPr/>
                </p:nvSpPr>
                <p:spPr bwMode="auto">
                  <a:xfrm>
                    <a:off x="4134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92" name="Line 316"/>
                  <p:cNvSpPr>
                    <a:spLocks noChangeShapeType="1"/>
                  </p:cNvSpPr>
                  <p:nvPr/>
                </p:nvSpPr>
                <p:spPr bwMode="auto">
                  <a:xfrm>
                    <a:off x="4600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93" name="Line 317"/>
                  <p:cNvSpPr>
                    <a:spLocks noChangeShapeType="1"/>
                  </p:cNvSpPr>
                  <p:nvPr/>
                </p:nvSpPr>
                <p:spPr bwMode="auto">
                  <a:xfrm>
                    <a:off x="5066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894" name="Line 318"/>
                  <p:cNvSpPr>
                    <a:spLocks noChangeShapeType="1"/>
                  </p:cNvSpPr>
                  <p:nvPr/>
                </p:nvSpPr>
                <p:spPr bwMode="auto">
                  <a:xfrm>
                    <a:off x="5532" y="880"/>
                    <a:ext cx="0" cy="498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895" name="Oval 319"/>
                <p:cNvSpPr>
                  <a:spLocks noChangeArrowheads="1"/>
                </p:cNvSpPr>
                <p:nvPr/>
              </p:nvSpPr>
              <p:spPr bwMode="auto">
                <a:xfrm>
                  <a:off x="1548" y="3261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896" name="Oval 320"/>
              <p:cNvSpPr>
                <a:spLocks noChangeArrowheads="1"/>
              </p:cNvSpPr>
              <p:nvPr/>
            </p:nvSpPr>
            <p:spPr bwMode="auto">
              <a:xfrm>
                <a:off x="3240" y="1711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898" name="Oval 322"/>
            <p:cNvSpPr>
              <a:spLocks noChangeArrowheads="1"/>
            </p:cNvSpPr>
            <p:nvPr/>
          </p:nvSpPr>
          <p:spPr bwMode="auto">
            <a:xfrm>
              <a:off x="2032" y="3097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897" name="Rectangle 321"/>
          <p:cNvSpPr>
            <a:spLocks noChangeArrowheads="1"/>
          </p:cNvSpPr>
          <p:nvPr/>
        </p:nvSpPr>
        <p:spPr bwMode="auto">
          <a:xfrm>
            <a:off x="360045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99" name="Oval 323"/>
          <p:cNvSpPr>
            <a:spLocks noChangeArrowheads="1"/>
          </p:cNvSpPr>
          <p:nvPr/>
        </p:nvSpPr>
        <p:spPr bwMode="auto">
          <a:xfrm>
            <a:off x="4370388" y="308768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01" name="Rectangle 32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902" name="Group 326"/>
          <p:cNvGrpSpPr>
            <a:grpSpLocks/>
          </p:cNvGrpSpPr>
          <p:nvPr/>
        </p:nvGrpSpPr>
        <p:grpSpPr bwMode="auto">
          <a:xfrm>
            <a:off x="1665288" y="5586413"/>
            <a:ext cx="446087" cy="446087"/>
            <a:chOff x="854" y="3609"/>
            <a:chExt cx="281" cy="281"/>
          </a:xfrm>
        </p:grpSpPr>
        <p:grpSp>
          <p:nvGrpSpPr>
            <p:cNvPr id="24903" name="Group 327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4904" name="Line 328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05" name="Freeform 329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06" name="Line 330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907" name="Freeform 331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0708553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9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26" name="Group 326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25763" name="Group 163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5764" name="Group 164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5765" name="Group 165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25766" name="Group 166"/>
                  <p:cNvGrpSpPr>
                    <a:grpSpLocks/>
                  </p:cNvGrpSpPr>
                  <p:nvPr/>
                </p:nvGrpSpPr>
                <p:grpSpPr bwMode="auto">
                  <a:xfrm>
                    <a:off x="405" y="216"/>
                    <a:ext cx="5127" cy="3960"/>
                    <a:chOff x="405" y="216"/>
                    <a:chExt cx="5127" cy="3960"/>
                  </a:xfrm>
                </p:grpSpPr>
                <p:grpSp>
                  <p:nvGrpSpPr>
                    <p:cNvPr id="25767" name="Group 1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7" y="1487"/>
                      <a:ext cx="3204" cy="2689"/>
                      <a:chOff x="405" y="1470"/>
                      <a:chExt cx="3204" cy="2689"/>
                    </a:xfrm>
                  </p:grpSpPr>
                  <p:sp>
                    <p:nvSpPr>
                      <p:cNvPr id="25768" name="Text Box 16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31" y="3751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4</a:t>
                        </a:r>
                      </a:p>
                    </p:txBody>
                  </p:sp>
                  <p:sp>
                    <p:nvSpPr>
                      <p:cNvPr id="25769" name="Text Box 16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5" y="3751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5</a:t>
                        </a:r>
                      </a:p>
                    </p:txBody>
                  </p:sp>
                  <p:sp>
                    <p:nvSpPr>
                      <p:cNvPr id="25770" name="Text Box 17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59" y="3747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6</a:t>
                        </a:r>
                      </a:p>
                    </p:txBody>
                  </p:sp>
                  <p:sp>
                    <p:nvSpPr>
                      <p:cNvPr id="25771" name="Text Box 17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69" y="3751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7</a:t>
                        </a:r>
                      </a:p>
                    </p:txBody>
                  </p:sp>
                  <p:sp>
                    <p:nvSpPr>
                      <p:cNvPr id="25772" name="Text Box 17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25" y="3743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8</a:t>
                        </a:r>
                      </a:p>
                    </p:txBody>
                  </p:sp>
                  <p:sp>
                    <p:nvSpPr>
                      <p:cNvPr id="25773" name="Text Box 17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365" y="3739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9</a:t>
                        </a:r>
                      </a:p>
                    </p:txBody>
                  </p:sp>
                  <p:sp>
                    <p:nvSpPr>
                      <p:cNvPr id="25774" name="Text Box 17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61" y="374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10</a:t>
                        </a:r>
                      </a:p>
                    </p:txBody>
                  </p:sp>
                  <p:sp>
                    <p:nvSpPr>
                      <p:cNvPr id="25775" name="Text Box 17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09" y="3751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11</a:t>
                        </a:r>
                      </a:p>
                    </p:txBody>
                  </p:sp>
                  <p:sp>
                    <p:nvSpPr>
                      <p:cNvPr id="25776" name="Text Box 17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033" y="3747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12</a:t>
                        </a:r>
                      </a:p>
                    </p:txBody>
                  </p:sp>
                  <p:sp>
                    <p:nvSpPr>
                      <p:cNvPr id="25777" name="Text Box 17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281" y="374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13</a:t>
                        </a:r>
                      </a:p>
                    </p:txBody>
                  </p:sp>
                  <p:sp>
                    <p:nvSpPr>
                      <p:cNvPr id="25778" name="Text Box 17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731" y="3909"/>
                        <a:ext cx="976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schemeClr val="accent2"/>
                            </a:solidFill>
                          </a:rPr>
                          <a:t>Shoe Size</a:t>
                        </a:r>
                      </a:p>
                    </p:txBody>
                  </p:sp>
                  <p:sp>
                    <p:nvSpPr>
                      <p:cNvPr id="25779" name="Text Box 17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5" y="3377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60</a:t>
                        </a:r>
                      </a:p>
                    </p:txBody>
                  </p:sp>
                  <p:sp>
                    <p:nvSpPr>
                      <p:cNvPr id="25780" name="Text Box 1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5" y="3125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65</a:t>
                        </a:r>
                      </a:p>
                    </p:txBody>
                  </p:sp>
                  <p:sp>
                    <p:nvSpPr>
                      <p:cNvPr id="25781" name="Text Box 1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63" y="289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70</a:t>
                        </a:r>
                      </a:p>
                    </p:txBody>
                  </p:sp>
                  <p:sp>
                    <p:nvSpPr>
                      <p:cNvPr id="25782" name="Text Box 18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67" y="2657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75</a:t>
                        </a:r>
                      </a:p>
                    </p:txBody>
                  </p:sp>
                  <p:sp>
                    <p:nvSpPr>
                      <p:cNvPr id="25783" name="Text Box 18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83" y="239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80</a:t>
                        </a:r>
                      </a:p>
                    </p:txBody>
                  </p:sp>
                  <p:sp>
                    <p:nvSpPr>
                      <p:cNvPr id="25784" name="Text Box 18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9" y="2169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85</a:t>
                        </a:r>
                      </a:p>
                    </p:txBody>
                  </p:sp>
                  <p:sp>
                    <p:nvSpPr>
                      <p:cNvPr id="25785" name="Text Box 18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1" y="193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90</a:t>
                        </a:r>
                      </a:p>
                    </p:txBody>
                  </p:sp>
                  <p:sp>
                    <p:nvSpPr>
                      <p:cNvPr id="25786" name="Text Box 18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5" y="1681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95</a:t>
                        </a:r>
                      </a:p>
                    </p:txBody>
                  </p:sp>
                  <p:grpSp>
                    <p:nvGrpSpPr>
                      <p:cNvPr id="25787" name="Group 18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17" y="1574"/>
                        <a:ext cx="2411" cy="2169"/>
                        <a:chOff x="1349" y="1496"/>
                        <a:chExt cx="2411" cy="2169"/>
                      </a:xfrm>
                    </p:grpSpPr>
                    <p:sp>
                      <p:nvSpPr>
                        <p:cNvPr id="25788" name="Rectangle 18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89" name="Rectangle 18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0" name="Rectangle 19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1" name="Rectangle 19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2" name="Rectangle 19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3424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3" name="Rectangle 19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4" name="Rectangle 19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5" name="Rectangle 19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6" name="Rectangle 19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7" name="Rectangle 19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8" name="Rectangle 1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799" name="Rectangle 19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0" name="Rectangle 20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1" name="Rectangl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2" name="Rectangl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3183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3" name="Rectangl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4" name="Rectangl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5" name="Rectangle 20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6" name="Rectangl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7" name="Rectangl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8" name="Rectangl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09" name="Rectangl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0" name="Rectangle 21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1" name="Rectangle 21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2" name="Rectangl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942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3" name="Rectangl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4" name="Rectangl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5" name="Rectangl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6" name="Rectangle 2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7" name="Rectangl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8" name="Rectangl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19" name="Rectangl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0" name="Rectangl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1" name="Rectangle 22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2" name="Rectangle 22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700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3" name="Rectangle 22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4" name="Rectangl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5" name="Rectangl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6" name="Rectangl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7" name="Rectangl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8" name="Rectangle 22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29" name="Rectangl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0" name="Rectangl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1" name="Rectangl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2" name="Rectangl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460"/>
                          <a:ext cx="242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3" name="Rectangle 23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4" name="Rectangle 23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5" name="Rectangl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6" name="Rectangl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7" name="Rectangl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8" name="Rectangl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39" name="Rectangle 23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0" name="Rectangl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1" name="Rectangl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2" name="Rectangl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219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3" name="Rectangl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4" name="Rectangle 24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5" name="Rectangle 24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6" name="Rectangle 24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7" name="Rectangle 24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8" name="Rectangle 24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49" name="Rectangle 24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0" name="Rectangle 25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1" name="Rectangle 25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2" name="Rectangle 25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1977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3" name="Rectangle 25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4" name="Rectangle 25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5" name="Rectangle 25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6" name="Rectangle 25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7" name="Rectangle 25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8" name="Rectangle 25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59" name="Rectangle 25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0" name="Rectangle 26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1" name="Rectangle 26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2" name="Rectangle 26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1737"/>
                          <a:ext cx="242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3" name="Rectangle 26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4" name="Rectangle 26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5" name="Rectangle 26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6" name="Rectangle 26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7" name="Rectangle 26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8" name="Rectangle 26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69" name="Rectangle 26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0" name="Rectangle 27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1" name="Rectangle 27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2" name="Rectangle 27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1496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3" name="Rectangle 27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4" name="Rectangle 27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5" name="Rectangle 27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6" name="Rectangle 27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5877" name="Rectangle 27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25878" name="Text Box 27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47" y="1470"/>
                        <a:ext cx="449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/>
                          <a:t>100</a:t>
                        </a:r>
                      </a:p>
                    </p:txBody>
                  </p:sp>
                  <p:sp>
                    <p:nvSpPr>
                      <p:cNvPr id="25879" name="Text Box 27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 rot="-5400000">
                        <a:off x="42" y="2600"/>
                        <a:ext cx="976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pPr algn="ctr"/>
                        <a:r>
                          <a:rPr lang="en-GB" altLang="x-none" sz="2000">
                            <a:solidFill>
                              <a:schemeClr val="accent2"/>
                            </a:solidFill>
                          </a:rPr>
                          <a:t>Mass (kg)</a:t>
                        </a:r>
                      </a:p>
                    </p:txBody>
                  </p:sp>
                  <p:sp>
                    <p:nvSpPr>
                      <p:cNvPr id="25880" name="Line 2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17" y="3743"/>
                        <a:ext cx="2411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881" name="Line 2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17" y="1582"/>
                        <a:ext cx="0" cy="216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5882" name="Text Box 282" descr="Parchment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4" y="216"/>
                      <a:ext cx="5088" cy="544"/>
                    </a:xfrm>
                    <a:prstGeom prst="rect">
                      <a:avLst/>
                    </a:prstGeom>
                    <a:blipFill dpi="0" rotWithShape="0">
                      <a:blip r:embed="rId4"/>
                      <a:srcRect/>
                      <a:tile tx="0" ty="0" sx="100000" sy="100000" flip="none" algn="tl"/>
                    </a:blip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 b="1">
                          <a:solidFill>
                            <a:schemeClr val="tx2"/>
                          </a:solidFill>
                        </a:rPr>
                        <a:t>(1).</a:t>
                      </a:r>
                      <a:r>
                        <a:rPr lang="en-GB" altLang="x-none" sz="2000"/>
                        <a:t> The table below shows the shoe size and mass of 10 men.</a:t>
                      </a:r>
                    </a:p>
                    <a:p>
                      <a:r>
                        <a:rPr lang="en-GB" altLang="x-none" sz="2000">
                          <a:solidFill>
                            <a:srgbClr val="FF0000"/>
                          </a:solidFill>
                        </a:rPr>
                        <a:t>(a)</a:t>
                      </a:r>
                      <a:r>
                        <a:rPr lang="en-GB" altLang="x-none" sz="2000"/>
                        <a:t> Plot a </a:t>
                      </a:r>
                      <a:r>
                        <a:rPr lang="en-GB" altLang="x-none" sz="2000">
                          <a:solidFill>
                            <a:schemeClr val="accent2"/>
                          </a:solidFill>
                        </a:rPr>
                        <a:t>scatter graph</a:t>
                      </a:r>
                      <a:r>
                        <a:rPr lang="en-GB" altLang="x-none" sz="2000"/>
                        <a:t> for this data and draw a </a:t>
                      </a:r>
                      <a:r>
                        <a:rPr lang="en-GB" altLang="x-none" sz="2000">
                          <a:solidFill>
                            <a:schemeClr val="accent2"/>
                          </a:solidFill>
                        </a:rPr>
                        <a:t>line of best fit.</a:t>
                      </a:r>
                    </a:p>
                  </p:txBody>
                </p:sp>
                <p:sp>
                  <p:nvSpPr>
                    <p:cNvPr id="25883" name="Rectangle 2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6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80</a:t>
                      </a:r>
                    </a:p>
                  </p:txBody>
                </p:sp>
                <p:sp>
                  <p:nvSpPr>
                    <p:cNvPr id="25884" name="Rectangle 2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00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74</a:t>
                      </a:r>
                    </a:p>
                  </p:txBody>
                </p:sp>
                <p:sp>
                  <p:nvSpPr>
                    <p:cNvPr id="25885" name="Rectangle 2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34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88</a:t>
                      </a:r>
                    </a:p>
                  </p:txBody>
                </p:sp>
                <p:sp>
                  <p:nvSpPr>
                    <p:cNvPr id="25886" name="Rectangle 2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8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76</a:t>
                      </a:r>
                    </a:p>
                  </p:txBody>
                </p:sp>
                <p:sp>
                  <p:nvSpPr>
                    <p:cNvPr id="25887" name="Rectangle 2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2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78</a:t>
                      </a:r>
                    </a:p>
                  </p:txBody>
                </p:sp>
                <p:sp>
                  <p:nvSpPr>
                    <p:cNvPr id="25888" name="Rectangle 2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35" y="1129"/>
                      <a:ext cx="467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78</a:t>
                      </a:r>
                    </a:p>
                  </p:txBody>
                </p:sp>
                <p:sp>
                  <p:nvSpPr>
                    <p:cNvPr id="25889" name="Rectangle 2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9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92</a:t>
                      </a:r>
                    </a:p>
                  </p:txBody>
                </p:sp>
                <p:sp>
                  <p:nvSpPr>
                    <p:cNvPr id="25890" name="Rectangle 2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03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68</a:t>
                      </a:r>
                    </a:p>
                  </p:txBody>
                </p:sp>
                <p:sp>
                  <p:nvSpPr>
                    <p:cNvPr id="25891" name="Rectangle 2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37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97</a:t>
                      </a:r>
                    </a:p>
                  </p:txBody>
                </p:sp>
                <p:sp>
                  <p:nvSpPr>
                    <p:cNvPr id="25892" name="Rectangle 2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1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65</a:t>
                      </a:r>
                    </a:p>
                  </p:txBody>
                </p:sp>
                <p:sp>
                  <p:nvSpPr>
                    <p:cNvPr id="25893" name="Rectangle 2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lang="en-GB" altLang="x-none" sz="1800">
                          <a:solidFill>
                            <a:schemeClr val="accent2"/>
                          </a:solidFill>
                          <a:latin typeface="Comic Sans MS" charset="0"/>
                        </a:rPr>
                        <a:t>Mass</a:t>
                      </a:r>
                    </a:p>
                  </p:txBody>
                </p:sp>
                <p:sp>
                  <p:nvSpPr>
                    <p:cNvPr id="25894" name="Rectangle 2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6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8</a:t>
                      </a:r>
                    </a:p>
                  </p:txBody>
                </p:sp>
                <p:sp>
                  <p:nvSpPr>
                    <p:cNvPr id="25895" name="Rectangle 2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00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6</a:t>
                      </a:r>
                    </a:p>
                  </p:txBody>
                </p:sp>
                <p:sp>
                  <p:nvSpPr>
                    <p:cNvPr id="25896" name="Rectangle 2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34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11</a:t>
                      </a:r>
                    </a:p>
                  </p:txBody>
                </p:sp>
                <p:sp>
                  <p:nvSpPr>
                    <p:cNvPr id="25897" name="Rectangle 2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8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8</a:t>
                      </a:r>
                    </a:p>
                  </p:txBody>
                </p:sp>
                <p:sp>
                  <p:nvSpPr>
                    <p:cNvPr id="25898" name="Rectangle 2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2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9</a:t>
                      </a:r>
                    </a:p>
                  </p:txBody>
                </p:sp>
                <p:sp>
                  <p:nvSpPr>
                    <p:cNvPr id="25899" name="Rectangle 2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35" y="880"/>
                      <a:ext cx="467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25900" name="Rectangle 3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9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25901" name="Rectangle 3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03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7</a:t>
                      </a:r>
                    </a:p>
                  </p:txBody>
                </p:sp>
                <p:sp>
                  <p:nvSpPr>
                    <p:cNvPr id="25902" name="Rectangle 3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37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12</a:t>
                      </a:r>
                    </a:p>
                  </p:txBody>
                </p:sp>
                <p:sp>
                  <p:nvSpPr>
                    <p:cNvPr id="25903" name="Rectangle 3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1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FontTx/>
                        <a:buNone/>
                      </a:pPr>
                      <a:r>
                        <a:rPr lang="en-GB" altLang="x-none" sz="2000">
                          <a:latin typeface="Comic Sans MS" charset="0"/>
                        </a:rPr>
                        <a:t>5</a:t>
                      </a:r>
                    </a:p>
                  </p:txBody>
                </p:sp>
                <p:sp>
                  <p:nvSpPr>
                    <p:cNvPr id="25904" name="Rectangle 3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lang="en-GB" altLang="x-none" sz="1800">
                          <a:solidFill>
                            <a:schemeClr val="accent2"/>
                          </a:solidFill>
                          <a:latin typeface="Comic Sans MS" charset="0"/>
                        </a:rPr>
                        <a:t>Size</a:t>
                      </a:r>
                    </a:p>
                  </p:txBody>
                </p:sp>
                <p:sp>
                  <p:nvSpPr>
                    <p:cNvPr id="25905" name="Line 30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880"/>
                      <a:ext cx="5127" cy="0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06" name="Line 3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1129"/>
                      <a:ext cx="512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07" name="Line 3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1378"/>
                      <a:ext cx="5127" cy="0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08" name="Line 3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880"/>
                      <a:ext cx="0" cy="498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09" name="Line 3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1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0" name="Line 3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37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1" name="Line 3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03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2" name="Line 3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69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3" name="Line 3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5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4" name="Line 3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02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5" name="Line 3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68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6" name="Line 3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34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7" name="Line 3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00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8" name="Line 3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66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19" name="Line 3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32" y="880"/>
                      <a:ext cx="0" cy="498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920" name="Oval 320"/>
                  <p:cNvSpPr>
                    <a:spLocks noChangeArrowheads="1"/>
                  </p:cNvSpPr>
                  <p:nvPr/>
                </p:nvSpPr>
                <p:spPr bwMode="auto">
                  <a:xfrm>
                    <a:off x="1548" y="3261"/>
                    <a:ext cx="44" cy="44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921" name="Oval 321"/>
                <p:cNvSpPr>
                  <a:spLocks noChangeArrowheads="1"/>
                </p:cNvSpPr>
                <p:nvPr/>
              </p:nvSpPr>
              <p:spPr bwMode="auto">
                <a:xfrm>
                  <a:off x="3240" y="1711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5922" name="Oval 322"/>
              <p:cNvSpPr>
                <a:spLocks noChangeArrowheads="1"/>
              </p:cNvSpPr>
              <p:nvPr/>
            </p:nvSpPr>
            <p:spPr bwMode="auto">
              <a:xfrm>
                <a:off x="2032" y="3097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924" name="Oval 324"/>
            <p:cNvSpPr>
              <a:spLocks noChangeArrowheads="1"/>
            </p:cNvSpPr>
            <p:nvPr/>
          </p:nvSpPr>
          <p:spPr bwMode="auto">
            <a:xfrm>
              <a:off x="2753" y="1945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923" name="Rectangle 323"/>
          <p:cNvSpPr>
            <a:spLocks noChangeArrowheads="1"/>
          </p:cNvSpPr>
          <p:nvPr/>
        </p:nvSpPr>
        <p:spPr bwMode="auto">
          <a:xfrm>
            <a:off x="434340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925" name="Oval 325"/>
          <p:cNvSpPr>
            <a:spLocks noChangeArrowheads="1"/>
          </p:cNvSpPr>
          <p:nvPr/>
        </p:nvSpPr>
        <p:spPr bwMode="auto">
          <a:xfrm>
            <a:off x="4373563" y="4149725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927" name="Rectangle 327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928" name="Group 328"/>
          <p:cNvGrpSpPr>
            <a:grpSpLocks/>
          </p:cNvGrpSpPr>
          <p:nvPr/>
        </p:nvGrpSpPr>
        <p:grpSpPr bwMode="auto">
          <a:xfrm>
            <a:off x="1665288" y="5586413"/>
            <a:ext cx="446087" cy="446087"/>
            <a:chOff x="854" y="3609"/>
            <a:chExt cx="281" cy="281"/>
          </a:xfrm>
        </p:grpSpPr>
        <p:grpSp>
          <p:nvGrpSpPr>
            <p:cNvPr id="25929" name="Group 329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5930" name="Line 330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31" name="Freeform 331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32" name="Line 332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933" name="Freeform 333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017834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91" name="Group 167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26626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6627" name="Group 3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6628" name="Group 4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26629" name="Group 5"/>
                  <p:cNvGrpSpPr>
                    <a:grpSpLocks/>
                  </p:cNvGrpSpPr>
                  <p:nvPr/>
                </p:nvGrpSpPr>
                <p:grpSpPr bwMode="auto">
                  <a:xfrm>
                    <a:off x="405" y="216"/>
                    <a:ext cx="5127" cy="3960"/>
                    <a:chOff x="405" y="216"/>
                    <a:chExt cx="5127" cy="3960"/>
                  </a:xfrm>
                </p:grpSpPr>
                <p:grpSp>
                  <p:nvGrpSpPr>
                    <p:cNvPr id="26630" name="Group 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" y="216"/>
                      <a:ext cx="5127" cy="3960"/>
                      <a:chOff x="405" y="216"/>
                      <a:chExt cx="5127" cy="3960"/>
                    </a:xfrm>
                  </p:grpSpPr>
                  <p:grpSp>
                    <p:nvGrpSpPr>
                      <p:cNvPr id="26631" name="Group 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7" y="1487"/>
                        <a:ext cx="3204" cy="2689"/>
                        <a:chOff x="405" y="1470"/>
                        <a:chExt cx="3204" cy="2689"/>
                      </a:xfrm>
                    </p:grpSpPr>
                    <p:sp>
                      <p:nvSpPr>
                        <p:cNvPr id="26632" name="Text Box 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31" y="3751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4</a:t>
                          </a:r>
                        </a:p>
                      </p:txBody>
                    </p:sp>
                    <p:sp>
                      <p:nvSpPr>
                        <p:cNvPr id="26633" name="Text Box 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5" y="3751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5</a:t>
                          </a:r>
                        </a:p>
                      </p:txBody>
                    </p:sp>
                    <p:sp>
                      <p:nvSpPr>
                        <p:cNvPr id="26634" name="Text Box 1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659" y="3747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6</a:t>
                          </a:r>
                        </a:p>
                      </p:txBody>
                    </p:sp>
                    <p:sp>
                      <p:nvSpPr>
                        <p:cNvPr id="26635" name="Text Box 1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69" y="3751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7</a:t>
                          </a:r>
                        </a:p>
                      </p:txBody>
                    </p:sp>
                    <p:sp>
                      <p:nvSpPr>
                        <p:cNvPr id="26636" name="Text Box 1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125" y="3743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8</a:t>
                          </a:r>
                        </a:p>
                      </p:txBody>
                    </p:sp>
                    <p:sp>
                      <p:nvSpPr>
                        <p:cNvPr id="26637" name="Text Box 1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65" y="3739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9</a:t>
                          </a:r>
                        </a:p>
                      </p:txBody>
                    </p:sp>
                    <p:sp>
                      <p:nvSpPr>
                        <p:cNvPr id="26638" name="Text Box 1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61" y="374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10</a:t>
                          </a:r>
                        </a:p>
                      </p:txBody>
                    </p:sp>
                    <p:sp>
                      <p:nvSpPr>
                        <p:cNvPr id="26639" name="Text Box 1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09" y="3751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11</a:t>
                          </a:r>
                        </a:p>
                      </p:txBody>
                    </p:sp>
                    <p:sp>
                      <p:nvSpPr>
                        <p:cNvPr id="26640" name="Text Box 1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3" y="3747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12</a:t>
                          </a:r>
                        </a:p>
                      </p:txBody>
                    </p:sp>
                    <p:sp>
                      <p:nvSpPr>
                        <p:cNvPr id="26641" name="Text Box 1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81" y="374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13</a:t>
                          </a:r>
                        </a:p>
                      </p:txBody>
                    </p:sp>
                    <p:sp>
                      <p:nvSpPr>
                        <p:cNvPr id="26642" name="Text Box 1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31" y="3909"/>
                          <a:ext cx="97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schemeClr val="accent2"/>
                              </a:solidFill>
                            </a:rPr>
                            <a:t>Shoe Size</a:t>
                          </a:r>
                        </a:p>
                      </p:txBody>
                    </p:sp>
                    <p:sp>
                      <p:nvSpPr>
                        <p:cNvPr id="26643" name="Text Box 1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5" y="3377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60</a:t>
                          </a:r>
                        </a:p>
                      </p:txBody>
                    </p:sp>
                    <p:sp>
                      <p:nvSpPr>
                        <p:cNvPr id="26644" name="Text Box 2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5" y="3125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65</a:t>
                          </a:r>
                        </a:p>
                      </p:txBody>
                    </p:sp>
                    <p:sp>
                      <p:nvSpPr>
                        <p:cNvPr id="26645" name="Text Box 2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63" y="289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70</a:t>
                          </a:r>
                        </a:p>
                      </p:txBody>
                    </p:sp>
                    <p:sp>
                      <p:nvSpPr>
                        <p:cNvPr id="26646" name="Text Box 2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67" y="2657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75</a:t>
                          </a:r>
                        </a:p>
                      </p:txBody>
                    </p:sp>
                    <p:sp>
                      <p:nvSpPr>
                        <p:cNvPr id="26647" name="Text Box 2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83" y="239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80</a:t>
                          </a:r>
                        </a:p>
                      </p:txBody>
                    </p:sp>
                    <p:sp>
                      <p:nvSpPr>
                        <p:cNvPr id="26648" name="Text Box 2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9" y="2169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85</a:t>
                          </a:r>
                        </a:p>
                      </p:txBody>
                    </p:sp>
                    <p:sp>
                      <p:nvSpPr>
                        <p:cNvPr id="26649" name="Text Box 2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1" y="193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90</a:t>
                          </a:r>
                        </a:p>
                      </p:txBody>
                    </p:sp>
                    <p:sp>
                      <p:nvSpPr>
                        <p:cNvPr id="26650" name="Text Box 2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5" y="1681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95</a:t>
                          </a:r>
                        </a:p>
                      </p:txBody>
                    </p:sp>
                    <p:grpSp>
                      <p:nvGrpSpPr>
                        <p:cNvPr id="26651" name="Group 2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017" y="1574"/>
                          <a:ext cx="2411" cy="2169"/>
                          <a:chOff x="1349" y="1496"/>
                          <a:chExt cx="2411" cy="2169"/>
                        </a:xfrm>
                      </p:grpSpPr>
                      <p:sp>
                        <p:nvSpPr>
                          <p:cNvPr id="26652" name="Rectangle 2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3" name="Rectangle 2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4" name="Rectangle 3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5" name="Rectangle 3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6" name="Rectangle 3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3424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7" name="Rectangle 3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8" name="Rectangle 3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59" name="Rectangle 3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0" name="Rectangle 3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1" name="Rectangle 3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2" name="Rectangle 3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3" name="Rectangle 3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4" name="Rectangle 4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5" name="Rectangle 4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6" name="Rectangle 4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3183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7" name="Rectangle 4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8" name="Rectangle 4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69" name="Rectangle 4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0" name="Rectangle 4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1" name="Rectangle 4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2" name="Rectangle 4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3" name="Rectangle 4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4" name="Rectangle 5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5" name="Rectangle 5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6" name="Rectangle 5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942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7" name="Rectangle 5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8" name="Rectangle 5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79" name="Rectangle 5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0" name="Rectangle 5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1" name="Rectangle 5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2" name="Rectangle 5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3" name="Rectangle 5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4" name="Rectangle 6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5" name="Rectangle 6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6" name="Rectangle 6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700"/>
                            <a:ext cx="242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7" name="Rectangle 6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8" name="Rectangle 6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89" name="Rectangle 6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0" name="Rectangle 6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1" name="Rectangle 6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2" name="Rectangle 6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3" name="Rectangle 6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4" name="Rectangle 7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5" name="Rectangle 7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6" name="Rectangle 7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460"/>
                            <a:ext cx="242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7" name="Rectangle 7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8" name="Rectangle 7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699" name="Rectangle 7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0" name="Rectangle 7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1" name="Rectangle 7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2" name="Rectangle 7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3" name="Rectangle 7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4" name="Rectangle 8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5" name="Rectangle 8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6" name="Rectangle 8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219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7" name="Rectangle 8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8" name="Rectangle 8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09" name="Rectangle 8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0" name="Rectangle 8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1" name="Rectangle 8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2" name="Rectangle 8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3" name="Rectangle 8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4" name="Rectangle 9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5" name="Rectangle 9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6" name="Rectangle 9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1977"/>
                            <a:ext cx="242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7" name="Rectangle 9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8" name="Rectangle 9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19" name="Rectangle 9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0" name="Rectangle 9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1" name="Rectangle 9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2" name="Rectangle 9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3" name="Rectangle 9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4" name="Rectangle 10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5" name="Rectangle 10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6" name="Rectangle 10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1737"/>
                            <a:ext cx="242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7" name="Rectangle 10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8" name="Rectangle 10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29" name="Rectangle 10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0" name="Rectangle 10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1" name="Rectangle 10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2" name="Rectangle 10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3" name="Rectangle 10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4" name="Rectangle 11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5" name="Rectangle 11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6" name="Rectangle 11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1496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7" name="Rectangle 11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8" name="Rectangle 11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39" name="Rectangle 11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40" name="Rectangle 11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6741" name="Rectangle 11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26742" name="Text Box 11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47" y="1470"/>
                          <a:ext cx="449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/>
                            <a:t>100</a:t>
                          </a:r>
                        </a:p>
                      </p:txBody>
                    </p:sp>
                    <p:sp>
                      <p:nvSpPr>
                        <p:cNvPr id="26743" name="Text Box 11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 rot="-5400000">
                          <a:off x="42" y="2600"/>
                          <a:ext cx="97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ctr"/>
                          <a:r>
                            <a:rPr lang="en-GB" altLang="x-none" sz="2000">
                              <a:solidFill>
                                <a:schemeClr val="accent2"/>
                              </a:solidFill>
                            </a:rPr>
                            <a:t>Mass (kg)</a:t>
                          </a:r>
                        </a:p>
                      </p:txBody>
                    </p:sp>
                    <p:sp>
                      <p:nvSpPr>
                        <p:cNvPr id="26744" name="Line 1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17" y="3743"/>
                          <a:ext cx="2411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6745" name="Line 1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17" y="1582"/>
                          <a:ext cx="0" cy="2169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26746" name="Text Box 122" descr="Parchment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44" y="216"/>
                        <a:ext cx="5088" cy="544"/>
                      </a:xfrm>
                      <a:prstGeom prst="rect">
                        <a:avLst/>
                      </a:prstGeom>
                      <a:blipFill dpi="0" rotWithShape="0">
                        <a:blip r:embed="rId4"/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 b="1"/>
                          <a:t>(1).</a:t>
                        </a:r>
                        <a:r>
                          <a:rPr lang="en-GB" altLang="x-none" sz="2000"/>
                          <a:t> The table below shows the shoe size and mass of 10 men.</a:t>
                        </a:r>
                      </a:p>
                      <a:p>
                        <a:r>
                          <a:rPr lang="en-GB" altLang="x-none" sz="2000">
                            <a:solidFill>
                              <a:srgbClr val="FF0000"/>
                            </a:solidFill>
                          </a:rPr>
                          <a:t>(a)</a:t>
                        </a:r>
                        <a:r>
                          <a:rPr lang="en-GB" altLang="x-none" sz="2000"/>
                          <a:t> Plot a </a:t>
                        </a:r>
                        <a:r>
                          <a:rPr lang="en-GB" altLang="x-none" sz="2000">
                            <a:solidFill>
                              <a:schemeClr val="accent2"/>
                            </a:solidFill>
                          </a:rPr>
                          <a:t>scatter graph</a:t>
                        </a:r>
                        <a:r>
                          <a:rPr lang="en-GB" altLang="x-none" sz="2000"/>
                          <a:t> for this data and draw a </a:t>
                        </a:r>
                        <a:r>
                          <a:rPr lang="en-GB" altLang="x-none" sz="2000">
                            <a:solidFill>
                              <a:schemeClr val="accent2"/>
                            </a:solidFill>
                          </a:rPr>
                          <a:t>line of best fit.</a:t>
                        </a:r>
                      </a:p>
                    </p:txBody>
                  </p:sp>
                  <p:sp>
                    <p:nvSpPr>
                      <p:cNvPr id="26747" name="Rectangle 1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66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80</a:t>
                        </a:r>
                      </a:p>
                    </p:txBody>
                  </p:sp>
                  <p:sp>
                    <p:nvSpPr>
                      <p:cNvPr id="26748" name="Rectangle 1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00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74</a:t>
                        </a:r>
                      </a:p>
                    </p:txBody>
                  </p:sp>
                  <p:sp>
                    <p:nvSpPr>
                      <p:cNvPr id="26749" name="Rectangle 1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34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26750" name="Rectangle 1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68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76</a:t>
                        </a:r>
                      </a:p>
                    </p:txBody>
                  </p:sp>
                  <p:sp>
                    <p:nvSpPr>
                      <p:cNvPr id="26751" name="Rectangle 1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02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6752" name="Rectangle 1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5" y="1129"/>
                        <a:ext cx="467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6753" name="Rectangle 1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69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92</a:t>
                        </a:r>
                      </a:p>
                    </p:txBody>
                  </p:sp>
                  <p:sp>
                    <p:nvSpPr>
                      <p:cNvPr id="26754" name="Rectangle 1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03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68</a:t>
                        </a:r>
                      </a:p>
                    </p:txBody>
                  </p:sp>
                  <p:sp>
                    <p:nvSpPr>
                      <p:cNvPr id="26755" name="Rectangle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37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97</a:t>
                        </a:r>
                      </a:p>
                    </p:txBody>
                  </p:sp>
                  <p:sp>
                    <p:nvSpPr>
                      <p:cNvPr id="26756" name="Rectangle 1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1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65</a:t>
                        </a:r>
                      </a:p>
                    </p:txBody>
                  </p:sp>
                  <p:sp>
                    <p:nvSpPr>
                      <p:cNvPr id="26757" name="Rectangle 13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>
                          <a:buFontTx/>
                          <a:buNone/>
                        </a:pPr>
                        <a:r>
                          <a:rPr lang="en-GB" altLang="x-none" sz="1800">
                            <a:solidFill>
                              <a:schemeClr val="accent2"/>
                            </a:solidFill>
                            <a:latin typeface="Comic Sans MS" charset="0"/>
                          </a:rPr>
                          <a:t>Mass</a:t>
                        </a:r>
                      </a:p>
                    </p:txBody>
                  </p:sp>
                  <p:sp>
                    <p:nvSpPr>
                      <p:cNvPr id="26758" name="Rectangle 1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66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759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00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6760" name="Rectangle 1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34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26761" name="Rectangle 1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68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762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02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6763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5" y="880"/>
                        <a:ext cx="467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26764" name="Rectangle 1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69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26765" name="Rectangle 1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03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766" name="Rectangle 1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37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12</a:t>
                        </a:r>
                      </a:p>
                    </p:txBody>
                  </p:sp>
                  <p:sp>
                    <p:nvSpPr>
                      <p:cNvPr id="26767" name="Rectangle 1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1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FontTx/>
                          <a:buNone/>
                        </a:pPr>
                        <a:r>
                          <a:rPr lang="en-GB" altLang="x-none" sz="2000">
                            <a:latin typeface="Comic Sans MS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6768" name="Rectangle 1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>
                          <a:buFontTx/>
                          <a:buNone/>
                        </a:pPr>
                        <a:r>
                          <a:rPr lang="en-GB" altLang="x-none" sz="1800">
                            <a:solidFill>
                              <a:schemeClr val="accent2"/>
                            </a:solidFill>
                            <a:latin typeface="Comic Sans MS" charset="0"/>
                          </a:rPr>
                          <a:t>Size</a:t>
                        </a:r>
                      </a:p>
                    </p:txBody>
                  </p:sp>
                  <p:sp>
                    <p:nvSpPr>
                      <p:cNvPr id="26769" name="Line 1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880"/>
                        <a:ext cx="5127" cy="0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0" name="Line 1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1129"/>
                        <a:ext cx="5127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1" name="Line 14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1378"/>
                        <a:ext cx="5127" cy="0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2" name="Line 14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880"/>
                        <a:ext cx="0" cy="498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3" name="Line 14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71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4" name="Line 1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37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5" name="Line 15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03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6" name="Line 15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69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7" name="Line 15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35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8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02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79" name="Line 1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68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80" name="Line 15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134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81" name="Line 1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600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82" name="Line 1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066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83" name="Line 15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532" y="880"/>
                        <a:ext cx="0" cy="498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6784" name="Oval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48" y="3261"/>
                      <a:ext cx="44" cy="44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6785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3240" y="1711"/>
                    <a:ext cx="44" cy="44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786" name="Oval 162"/>
                <p:cNvSpPr>
                  <a:spLocks noChangeArrowheads="1"/>
                </p:cNvSpPr>
                <p:nvPr/>
              </p:nvSpPr>
              <p:spPr bwMode="auto">
                <a:xfrm>
                  <a:off x="2032" y="3097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6787" name="Oval 163"/>
              <p:cNvSpPr>
                <a:spLocks noChangeArrowheads="1"/>
              </p:cNvSpPr>
              <p:nvPr/>
            </p:nvSpPr>
            <p:spPr bwMode="auto">
              <a:xfrm>
                <a:off x="2753" y="1945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789" name="Oval 165"/>
            <p:cNvSpPr>
              <a:spLocks noChangeArrowheads="1"/>
            </p:cNvSpPr>
            <p:nvPr/>
          </p:nvSpPr>
          <p:spPr bwMode="auto">
            <a:xfrm>
              <a:off x="2755" y="2614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788" name="Rectangle 164"/>
          <p:cNvSpPr>
            <a:spLocks noChangeArrowheads="1"/>
          </p:cNvSpPr>
          <p:nvPr/>
        </p:nvSpPr>
        <p:spPr bwMode="auto">
          <a:xfrm>
            <a:off x="508635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790" name="Oval 166"/>
          <p:cNvSpPr>
            <a:spLocks noChangeArrowheads="1"/>
          </p:cNvSpPr>
          <p:nvPr/>
        </p:nvSpPr>
        <p:spPr bwMode="auto">
          <a:xfrm>
            <a:off x="3990975" y="41465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792" name="Rectangle 16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793" name="Group 169"/>
          <p:cNvGrpSpPr>
            <a:grpSpLocks/>
          </p:cNvGrpSpPr>
          <p:nvPr/>
        </p:nvGrpSpPr>
        <p:grpSpPr bwMode="auto">
          <a:xfrm>
            <a:off x="1665288" y="5586413"/>
            <a:ext cx="446087" cy="446087"/>
            <a:chOff x="854" y="3609"/>
            <a:chExt cx="281" cy="281"/>
          </a:xfrm>
        </p:grpSpPr>
        <p:grpSp>
          <p:nvGrpSpPr>
            <p:cNvPr id="26794" name="Group 170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6795" name="Line 171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6" name="Freeform 172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7" name="Line 173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98" name="Freeform 174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7277592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9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5" name="Group 175"/>
          <p:cNvGrpSpPr>
            <a:grpSpLocks/>
          </p:cNvGrpSpPr>
          <p:nvPr/>
        </p:nvGrpSpPr>
        <p:grpSpPr bwMode="auto">
          <a:xfrm>
            <a:off x="642938" y="342900"/>
            <a:ext cx="8139112" cy="6286500"/>
            <a:chOff x="405" y="216"/>
            <a:chExt cx="5127" cy="3960"/>
          </a:xfrm>
        </p:grpSpPr>
        <p:grpSp>
          <p:nvGrpSpPr>
            <p:cNvPr id="30722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30723" name="Group 3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30724" name="Group 4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30725" name="Group 5"/>
                  <p:cNvGrpSpPr>
                    <a:grpSpLocks/>
                  </p:cNvGrpSpPr>
                  <p:nvPr/>
                </p:nvGrpSpPr>
                <p:grpSpPr bwMode="auto">
                  <a:xfrm>
                    <a:off x="405" y="216"/>
                    <a:ext cx="5127" cy="3960"/>
                    <a:chOff x="405" y="216"/>
                    <a:chExt cx="5127" cy="3960"/>
                  </a:xfrm>
                </p:grpSpPr>
                <p:grpSp>
                  <p:nvGrpSpPr>
                    <p:cNvPr id="30726" name="Group 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" y="216"/>
                      <a:ext cx="5127" cy="3960"/>
                      <a:chOff x="405" y="216"/>
                      <a:chExt cx="5127" cy="3960"/>
                    </a:xfrm>
                  </p:grpSpPr>
                  <p:grpSp>
                    <p:nvGrpSpPr>
                      <p:cNvPr id="30727" name="Group 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216"/>
                        <a:ext cx="5127" cy="3960"/>
                        <a:chOff x="405" y="216"/>
                        <a:chExt cx="5127" cy="3960"/>
                      </a:xfrm>
                    </p:grpSpPr>
                    <p:grpSp>
                      <p:nvGrpSpPr>
                        <p:cNvPr id="30728" name="Group 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05" y="216"/>
                          <a:ext cx="5127" cy="3960"/>
                          <a:chOff x="405" y="216"/>
                          <a:chExt cx="5127" cy="3960"/>
                        </a:xfrm>
                      </p:grpSpPr>
                      <p:grpSp>
                        <p:nvGrpSpPr>
                          <p:cNvPr id="30729" name="Group 9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05" y="216"/>
                            <a:ext cx="5127" cy="3960"/>
                            <a:chOff x="405" y="216"/>
                            <a:chExt cx="5127" cy="3960"/>
                          </a:xfrm>
                        </p:grpSpPr>
                        <p:grpSp>
                          <p:nvGrpSpPr>
                            <p:cNvPr id="30730" name="Group 10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05" y="216"/>
                              <a:ext cx="5127" cy="3960"/>
                              <a:chOff x="405" y="216"/>
                              <a:chExt cx="5127" cy="3960"/>
                            </a:xfrm>
                          </p:grpSpPr>
                          <p:grpSp>
                            <p:nvGrpSpPr>
                              <p:cNvPr id="30731" name="Group 11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477" y="1487"/>
                                <a:ext cx="3204" cy="2689"/>
                                <a:chOff x="405" y="1470"/>
                                <a:chExt cx="3204" cy="2689"/>
                              </a:xfrm>
                            </p:grpSpPr>
                            <p:sp>
                              <p:nvSpPr>
                                <p:cNvPr id="30732" name="Text Box 1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131" y="3751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4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3" name="Text Box 13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395" y="3751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4" name="Text Box 14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659" y="3747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6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5" name="Text Box 15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869" y="3751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7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6" name="Text Box 16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125" y="3743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8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7" name="Text Box 17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365" y="3739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9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8" name="Text Box 18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561" y="374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10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9" name="Text Box 1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809" y="3751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11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0" name="Text Box 20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033" y="3747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12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1" name="Text Box 21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281" y="374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13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2" name="Text Box 2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731" y="3909"/>
                                  <a:ext cx="976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schemeClr val="accent2"/>
                                      </a:solidFill>
                                    </a:rPr>
                                    <a:t>Shoe Size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3" name="Text Box 23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5" y="3377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60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4" name="Text Box 24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5" y="3125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65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5" name="Text Box 25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63" y="289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70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6" name="Text Box 26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67" y="2657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75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7" name="Text Box 27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83" y="239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80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8" name="Text Box 28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9" y="2169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85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9" name="Text Box 2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1" y="193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90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50" name="Text Box 30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5" y="1681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95</a:t>
                                  </a:r>
                                </a:p>
                              </p:txBody>
                            </p:sp>
                            <p:grpSp>
                              <p:nvGrpSpPr>
                                <p:cNvPr id="30751" name="Group 31"/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1017" y="1574"/>
                                  <a:ext cx="2411" cy="2169"/>
                                  <a:chOff x="1349" y="1496"/>
                                  <a:chExt cx="2411" cy="2169"/>
                                </a:xfrm>
                              </p:grpSpPr>
                              <p:sp>
                                <p:nvSpPr>
                                  <p:cNvPr id="30752" name="Rectangle 3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3" name="Rectangle 3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4" name="Rectangle 3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5" name="Rectangle 3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6" name="Rectangle 3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3424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7" name="Rectangle 3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8" name="Rectangle 3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59" name="Rectangle 3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0" name="Rectangle 4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1" name="Rectangle 4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2" name="Rectangle 4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3" name="Rectangle 4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4" name="Rectangle 4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5" name="Rectangle 4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6" name="Rectangle 4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3183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7" name="Rectangle 4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8" name="Rectangle 4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69" name="Rectangle 4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0" name="Rectangle 5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1" name="Rectangle 5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2" name="Rectangle 5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3" name="Rectangle 5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4" name="Rectangle 5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5" name="Rectangle 5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6" name="Rectangle 5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942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7" name="Rectangle 5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8" name="Rectangle 5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79" name="Rectangle 5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0" name="Rectangle 6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1" name="Rectangle 6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2" name="Rectangle 6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3" name="Rectangle 6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4" name="Rectangle 6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5" name="Rectangle 6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6" name="Rectangle 6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700"/>
                                    <a:ext cx="242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7" name="Rectangle 6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8" name="Rectangle 6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89" name="Rectangle 6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0" name="Rectangle 7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1" name="Rectangle 7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2" name="Rectangle 7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3" name="Rectangle 7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4" name="Rectangle 7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5" name="Rectangle 7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6" name="Rectangle 7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460"/>
                                    <a:ext cx="242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7" name="Rectangle 7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8" name="Rectangle 7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799" name="Rectangle 7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0" name="Rectangle 8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1" name="Rectangle 8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2" name="Rectangle 8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3" name="Rectangle 8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4" name="Rectangle 8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5" name="Rectangle 8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6" name="Rectangle 8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219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7" name="Rectangle 8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8" name="Rectangle 8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09" name="Rectangle 8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0" name="Rectangle 9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1" name="Rectangle 9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2" name="Rectangle 9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3" name="Rectangle 9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4" name="Rectangle 9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5" name="Rectangle 9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6" name="Rectangle 9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1977"/>
                                    <a:ext cx="242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7" name="Rectangle 9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8" name="Rectangle 9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19" name="Rectangle 9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0" name="Rectangle 10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1" name="Rectangle 10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2" name="Rectangle 10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3" name="Rectangle 10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4" name="Rectangle 10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5" name="Rectangle 10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6" name="Rectangle 10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1737"/>
                                    <a:ext cx="242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7" name="Rectangle 10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8" name="Rectangle 10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29" name="Rectangle 10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0" name="Rectangle 11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1" name="Rectangle 11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2" name="Rectangle 11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3" name="Rectangle 11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4" name="Rectangle 11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5" name="Rectangle 11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6" name="Rectangle 11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1496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7" name="Rectangle 11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8" name="Rectangle 11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39" name="Rectangle 11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40" name="Rectangle 12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30841" name="Rectangle 12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0842" name="Text Box 12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47" y="1470"/>
                                  <a:ext cx="449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/>
                                    <a:t>100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843" name="Text Box 123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 rot="-5400000">
                                  <a:off x="42" y="2600"/>
                                  <a:ext cx="976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pPr algn="ctr"/>
                                  <a:r>
                                    <a:rPr lang="en-GB" altLang="x-none" sz="2000">
                                      <a:solidFill>
                                        <a:schemeClr val="accent2"/>
                                      </a:solidFill>
                                    </a:rPr>
                                    <a:t>Mass (kg)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844" name="Line 124"/>
                                <p:cNvSpPr>
                                  <a:spLocks noChangeShapeType="1"/>
                                </p:cNvSpPr>
                                <p:nvPr/>
                              </p:nvSpPr>
                              <p:spPr bwMode="auto">
                                <a:xfrm>
                                  <a:off x="1017" y="3743"/>
                                  <a:ext cx="2411" cy="0"/>
                                </a:xfrm>
                                <a:prstGeom prst="line">
                                  <a:avLst/>
                                </a:prstGeom>
                                <a:noFill/>
                                <a:ln w="28575">
                                  <a:solidFill>
                                    <a:schemeClr val="tx1"/>
                                  </a:solidFill>
                                  <a:round/>
                                  <a:headEnd/>
                                  <a:tailEnd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noFill/>
                                    </a14:hiddenFill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30845" name="Line 125"/>
                                <p:cNvSpPr>
                                  <a:spLocks noChangeShapeType="1"/>
                                </p:cNvSpPr>
                                <p:nvPr/>
                              </p:nvSpPr>
                              <p:spPr bwMode="auto">
                                <a:xfrm>
                                  <a:off x="1017" y="1582"/>
                                  <a:ext cx="0" cy="2169"/>
                                </a:xfrm>
                                <a:prstGeom prst="line">
                                  <a:avLst/>
                                </a:prstGeom>
                                <a:noFill/>
                                <a:ln w="28575">
                                  <a:solidFill>
                                    <a:schemeClr val="tx1"/>
                                  </a:solidFill>
                                  <a:round/>
                                  <a:headEnd/>
                                  <a:tailEnd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noFill/>
                                    </a14:hiddenFill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30846" name="Text Box 126" descr="Parchment"/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44" y="216"/>
                                <a:ext cx="5088" cy="544"/>
                              </a:xfrm>
                              <a:prstGeom prst="rect">
                                <a:avLst/>
                              </a:prstGeom>
                              <a:blipFill dpi="0" rotWithShape="0">
                                <a:blip r:embed="rId5"/>
                                <a:srcRect/>
                                <a:tile tx="0" ty="0" sx="100000" sy="100000" flip="none" algn="tl"/>
                              </a:blipFill>
                              <a:ln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ffectLst/>
                              <a:extLs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>
                                <a:spAutoFit/>
                              </a:bodyPr>
                              <a:lstStyle/>
                              <a:p>
                                <a:r>
                                  <a:rPr lang="en-GB" altLang="x-none" sz="2000" b="1"/>
                                  <a:t>(1).</a:t>
                                </a:r>
                                <a:r>
                                  <a:rPr lang="en-GB" altLang="x-none" sz="2000"/>
                                  <a:t> The table below shows the shoe size and mass of 10 men.</a:t>
                                </a:r>
                              </a:p>
                              <a:p>
                                <a:r>
                                  <a:rPr lang="en-GB" altLang="x-none" sz="2000">
                                    <a:solidFill>
                                      <a:srgbClr val="FF0000"/>
                                    </a:solidFill>
                                  </a:rPr>
                                  <a:t>(a)</a:t>
                                </a:r>
                                <a:r>
                                  <a:rPr lang="en-GB" altLang="x-none" sz="2000"/>
                                  <a:t> Plot a </a:t>
                                </a:r>
                                <a:r>
                                  <a:rPr lang="en-GB" altLang="x-none" sz="2000">
                                    <a:solidFill>
                                      <a:schemeClr val="accent2"/>
                                    </a:solidFill>
                                  </a:rPr>
                                  <a:t>scatter graph</a:t>
                                </a:r>
                                <a:r>
                                  <a:rPr lang="en-GB" altLang="x-none" sz="2000"/>
                                  <a:t> for this data and draw a </a:t>
                                </a:r>
                                <a:r>
                                  <a:rPr lang="en-GB" altLang="x-none" sz="2000">
                                    <a:solidFill>
                                      <a:schemeClr val="accent2"/>
                                    </a:solidFill>
                                  </a:rPr>
                                  <a:t>line of best fit.</a:t>
                                </a:r>
                              </a:p>
                            </p:txBody>
                          </p:sp>
                          <p:sp>
                            <p:nvSpPr>
                              <p:cNvPr id="30847" name="Rectangle 127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066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80</a:t>
                                </a:r>
                              </a:p>
                            </p:txBody>
                          </p:sp>
                          <p:sp>
                            <p:nvSpPr>
                              <p:cNvPr id="30848" name="Rectangle 12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600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74</a:t>
                                </a:r>
                              </a:p>
                            </p:txBody>
                          </p:sp>
                          <p:sp>
                            <p:nvSpPr>
                              <p:cNvPr id="30849" name="Rectangle 129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134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88</a:t>
                                </a:r>
                              </a:p>
                            </p:txBody>
                          </p:sp>
                          <p:sp>
                            <p:nvSpPr>
                              <p:cNvPr id="30850" name="Rectangle 130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68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76</a:t>
                                </a:r>
                              </a:p>
                            </p:txBody>
                          </p:sp>
                          <p:sp>
                            <p:nvSpPr>
                              <p:cNvPr id="30851" name="Rectangle 131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202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78</a:t>
                                </a:r>
                              </a:p>
                            </p:txBody>
                          </p:sp>
                          <p:sp>
                            <p:nvSpPr>
                              <p:cNvPr id="30852" name="Rectangle 132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735" y="1129"/>
                                <a:ext cx="467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78</a:t>
                                </a:r>
                              </a:p>
                            </p:txBody>
                          </p:sp>
                          <p:sp>
                            <p:nvSpPr>
                              <p:cNvPr id="30853" name="Rectangle 133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269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92</a:t>
                                </a:r>
                              </a:p>
                            </p:txBody>
                          </p:sp>
                          <p:sp>
                            <p:nvSpPr>
                              <p:cNvPr id="30854" name="Rectangle 134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803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68</a:t>
                                </a:r>
                              </a:p>
                            </p:txBody>
                          </p:sp>
                          <p:sp>
                            <p:nvSpPr>
                              <p:cNvPr id="30855" name="Rectangle 135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337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97</a:t>
                                </a:r>
                              </a:p>
                            </p:txBody>
                          </p:sp>
                          <p:sp>
                            <p:nvSpPr>
                              <p:cNvPr id="30856" name="Rectangle 136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871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65</a:t>
                                </a:r>
                              </a:p>
                            </p:txBody>
                          </p:sp>
                          <p:sp>
                            <p:nvSpPr>
                              <p:cNvPr id="30857" name="Rectangle 137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05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>
                                  <a:buFontTx/>
                                  <a:buNone/>
                                </a:pPr>
                                <a:r>
                                  <a:rPr lang="en-GB" altLang="x-none" sz="1800">
                                    <a:solidFill>
                                      <a:schemeClr val="accent2"/>
                                    </a:solidFill>
                                    <a:latin typeface="Comic Sans MS" charset="0"/>
                                  </a:rPr>
                                  <a:t>Mass</a:t>
                                </a:r>
                              </a:p>
                            </p:txBody>
                          </p:sp>
                          <p:sp>
                            <p:nvSpPr>
                              <p:cNvPr id="30858" name="Rectangle 13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066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30859" name="Rectangle 139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600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6</a:t>
                                </a:r>
                              </a:p>
                            </p:txBody>
                          </p:sp>
                          <p:sp>
                            <p:nvSpPr>
                              <p:cNvPr id="30860" name="Rectangle 140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134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11</a:t>
                                </a:r>
                              </a:p>
                            </p:txBody>
                          </p:sp>
                          <p:sp>
                            <p:nvSpPr>
                              <p:cNvPr id="30861" name="Rectangle 141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68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30862" name="Rectangle 142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202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9</a:t>
                                </a:r>
                              </a:p>
                            </p:txBody>
                          </p:sp>
                          <p:sp>
                            <p:nvSpPr>
                              <p:cNvPr id="30863" name="Rectangle 143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735" y="880"/>
                                <a:ext cx="467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10</a:t>
                                </a:r>
                              </a:p>
                            </p:txBody>
                          </p:sp>
                          <p:sp>
                            <p:nvSpPr>
                              <p:cNvPr id="30864" name="Rectangle 144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269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10</a:t>
                                </a:r>
                              </a:p>
                            </p:txBody>
                          </p:sp>
                          <p:sp>
                            <p:nvSpPr>
                              <p:cNvPr id="30865" name="Rectangle 145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803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7</a:t>
                                </a:r>
                              </a:p>
                            </p:txBody>
                          </p:sp>
                          <p:sp>
                            <p:nvSpPr>
                              <p:cNvPr id="30866" name="Rectangle 146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337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12</a:t>
                                </a:r>
                              </a:p>
                            </p:txBody>
                          </p:sp>
                          <p:sp>
                            <p:nvSpPr>
                              <p:cNvPr id="30867" name="Rectangle 147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871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FontTx/>
                                  <a:buNone/>
                                </a:pPr>
                                <a:r>
                                  <a:rPr lang="en-GB" altLang="x-none" sz="2000">
                                    <a:latin typeface="Comic Sans MS" charset="0"/>
                                  </a:rPr>
                                  <a:t>5</a:t>
                                </a:r>
                              </a:p>
                            </p:txBody>
                          </p:sp>
                          <p:sp>
                            <p:nvSpPr>
                              <p:cNvPr id="30868" name="Rectangle 14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05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>
                                  <a:buFontTx/>
                                  <a:buNone/>
                                </a:pPr>
                                <a:r>
                                  <a:rPr lang="en-GB" altLang="x-none" sz="1800">
                                    <a:solidFill>
                                      <a:schemeClr val="accent2"/>
                                    </a:solidFill>
                                    <a:latin typeface="Comic Sans MS" charset="0"/>
                                  </a:rPr>
                                  <a:t>Size</a:t>
                                </a:r>
                              </a:p>
                            </p:txBody>
                          </p:sp>
                          <p:sp>
                            <p:nvSpPr>
                              <p:cNvPr id="30869" name="Line 149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880"/>
                                <a:ext cx="5127" cy="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0" name="Line 150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1129"/>
                                <a:ext cx="5127" cy="0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1" name="Line 151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1378"/>
                                <a:ext cx="5127" cy="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2" name="Line 152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3" name="Line 153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871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4" name="Line 154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1337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5" name="Line 155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1803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6" name="Line 156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2269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7" name="Line 157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2735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8" name="Line 158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202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79" name="Line 159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668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80" name="Line 160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134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81" name="Line 161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600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82" name="Line 162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5066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0883" name="Line 163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5532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30884" name="Oval 164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548" y="3261"/>
                              <a:ext cx="44" cy="44"/>
                            </a:xfrm>
                            <a:prstGeom prst="ellipse">
                              <a:avLst/>
                            </a:prstGeom>
                            <a:solidFill>
                              <a:schemeClr val="tx1"/>
                            </a:solidFill>
                            <a:ln w="9525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ffectLst/>
                            <a:extLs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blurRad="63500" dist="38099" dir="2700000" algn="ctr" rotWithShape="0">
                                      <a:schemeClr val="bg2">
                                        <a:alpha val="74998"/>
                                      </a:scheme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30885" name="Oval 16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40" y="1711"/>
                            <a:ext cx="44" cy="44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30886" name="Oval 16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32" y="3097"/>
                          <a:ext cx="44" cy="44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30887" name="Oval 1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3" y="1945"/>
                        <a:ext cx="44" cy="44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30888" name="Oval 1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5" y="2614"/>
                      <a:ext cx="44" cy="44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0889" name="Oval 169"/>
                  <p:cNvSpPr>
                    <a:spLocks noChangeArrowheads="1"/>
                  </p:cNvSpPr>
                  <p:nvPr/>
                </p:nvSpPr>
                <p:spPr bwMode="auto">
                  <a:xfrm>
                    <a:off x="2514" y="2612"/>
                    <a:ext cx="44" cy="44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0890" name="Oval 170"/>
                <p:cNvSpPr>
                  <a:spLocks noChangeArrowheads="1"/>
                </p:cNvSpPr>
                <p:nvPr/>
              </p:nvSpPr>
              <p:spPr bwMode="auto">
                <a:xfrm>
                  <a:off x="2274" y="2717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0891" name="Oval 171"/>
              <p:cNvSpPr>
                <a:spLocks noChangeArrowheads="1"/>
              </p:cNvSpPr>
              <p:nvPr/>
            </p:nvSpPr>
            <p:spPr bwMode="auto">
              <a:xfrm>
                <a:off x="2995" y="2134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893" name="Oval 173"/>
            <p:cNvSpPr>
              <a:spLocks noChangeArrowheads="1"/>
            </p:cNvSpPr>
            <p:nvPr/>
          </p:nvSpPr>
          <p:spPr bwMode="auto">
            <a:xfrm>
              <a:off x="1790" y="2821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92" name="Rectangle 172"/>
          <p:cNvSpPr>
            <a:spLocks noChangeArrowheads="1"/>
          </p:cNvSpPr>
          <p:nvPr/>
        </p:nvSpPr>
        <p:spPr bwMode="auto">
          <a:xfrm>
            <a:off x="803910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94" name="Oval 174"/>
          <p:cNvSpPr>
            <a:spLocks noChangeArrowheads="1"/>
          </p:cNvSpPr>
          <p:nvPr/>
        </p:nvSpPr>
        <p:spPr bwMode="auto">
          <a:xfrm>
            <a:off x="3600450" y="402113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97" name="Line 177"/>
          <p:cNvSpPr>
            <a:spLocks noChangeShapeType="1"/>
          </p:cNvSpPr>
          <p:nvPr/>
        </p:nvSpPr>
        <p:spPr bwMode="auto">
          <a:xfrm flipV="1">
            <a:off x="2076450" y="2667000"/>
            <a:ext cx="3600450" cy="28384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8" name="Text Box 178" descr="Parchment"/>
          <p:cNvSpPr txBox="1">
            <a:spLocks noChangeArrowheads="1"/>
          </p:cNvSpPr>
          <p:nvPr/>
        </p:nvSpPr>
        <p:spPr bwMode="auto">
          <a:xfrm>
            <a:off x="5667375" y="3749675"/>
            <a:ext cx="3267075" cy="202565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953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525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4097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669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3241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813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385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957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529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x-none" sz="1800">
                <a:solidFill>
                  <a:srgbClr val="FF0000"/>
                </a:solidFill>
                <a:latin typeface="Comic Sans MS" charset="0"/>
              </a:rPr>
              <a:t>(c)</a:t>
            </a:r>
            <a:r>
              <a:rPr lang="en-GB" altLang="x-none" sz="1800">
                <a:latin typeface="Comic Sans MS" charset="0"/>
              </a:rPr>
              <a:t> Use your line of best fit to estimate:</a:t>
            </a:r>
          </a:p>
          <a:p>
            <a:pPr>
              <a:spcBef>
                <a:spcPct val="50000"/>
              </a:spcBef>
              <a:buFontTx/>
              <a:buAutoNum type="romanLcParenBoth"/>
            </a:pPr>
            <a:r>
              <a:rPr lang="en-GB" altLang="x-none" sz="1800">
                <a:latin typeface="Comic Sans MS" charset="0"/>
              </a:rPr>
              <a:t>The mass of a man with shoe size </a:t>
            </a:r>
            <a:r>
              <a:rPr lang="en-GB" altLang="x-none" sz="1800">
                <a:solidFill>
                  <a:schemeClr val="accent2"/>
                </a:solidFill>
                <a:latin typeface="Comic Sans MS" charset="0"/>
              </a:rPr>
              <a:t>10½.</a:t>
            </a:r>
            <a:r>
              <a:rPr lang="en-GB" altLang="x-none" sz="1800">
                <a:latin typeface="Comic Sans MS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GB" altLang="x-none" sz="1800">
                <a:latin typeface="Comic Sans MS" charset="0"/>
              </a:rPr>
              <a:t>(ii) The shoe size of a man with a mass of </a:t>
            </a:r>
            <a:r>
              <a:rPr lang="en-GB" altLang="x-none" sz="1800">
                <a:solidFill>
                  <a:schemeClr val="accent2"/>
                </a:solidFill>
                <a:latin typeface="Comic Sans MS" charset="0"/>
              </a:rPr>
              <a:t>69 kg.</a:t>
            </a:r>
          </a:p>
        </p:txBody>
      </p:sp>
      <p:sp>
        <p:nvSpPr>
          <p:cNvPr id="30899" name="Line 179"/>
          <p:cNvSpPr>
            <a:spLocks noChangeShapeType="1"/>
          </p:cNvSpPr>
          <p:nvPr/>
        </p:nvSpPr>
        <p:spPr bwMode="auto">
          <a:xfrm flipV="1">
            <a:off x="4600575" y="3495675"/>
            <a:ext cx="0" cy="24669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902" name="Group 182"/>
          <p:cNvGrpSpPr>
            <a:grpSpLocks/>
          </p:cNvGrpSpPr>
          <p:nvPr/>
        </p:nvGrpSpPr>
        <p:grpSpPr bwMode="auto">
          <a:xfrm>
            <a:off x="1724025" y="3035300"/>
            <a:ext cx="2886075" cy="460375"/>
            <a:chOff x="1086" y="1912"/>
            <a:chExt cx="1818" cy="290"/>
          </a:xfrm>
        </p:grpSpPr>
        <p:sp>
          <p:nvSpPr>
            <p:cNvPr id="30900" name="Line 180"/>
            <p:cNvSpPr>
              <a:spLocks noChangeShapeType="1"/>
            </p:cNvSpPr>
            <p:nvPr/>
          </p:nvSpPr>
          <p:spPr bwMode="auto">
            <a:xfrm flipH="1">
              <a:off x="1086" y="2202"/>
              <a:ext cx="18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01" name="Text Box 181"/>
            <p:cNvSpPr txBox="1">
              <a:spLocks noChangeArrowheads="1"/>
            </p:cNvSpPr>
            <p:nvPr/>
          </p:nvSpPr>
          <p:spPr bwMode="auto">
            <a:xfrm>
              <a:off x="1180" y="1912"/>
              <a:ext cx="584" cy="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 sz="2000">
                  <a:solidFill>
                    <a:srgbClr val="FFFFCC"/>
                  </a:solidFill>
                </a:rPr>
                <a:t>87 kg</a:t>
              </a:r>
            </a:p>
          </p:txBody>
        </p:sp>
      </p:grpSp>
      <p:sp>
        <p:nvSpPr>
          <p:cNvPr id="30903" name="Line 183"/>
          <p:cNvSpPr>
            <a:spLocks noChangeShapeType="1"/>
          </p:cNvSpPr>
          <p:nvPr/>
        </p:nvSpPr>
        <p:spPr bwMode="auto">
          <a:xfrm>
            <a:off x="1733550" y="4876800"/>
            <a:ext cx="11430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907" name="Group 187"/>
          <p:cNvGrpSpPr>
            <a:grpSpLocks/>
          </p:cNvGrpSpPr>
          <p:nvPr/>
        </p:nvGrpSpPr>
        <p:grpSpPr bwMode="auto">
          <a:xfrm>
            <a:off x="2876550" y="4889500"/>
            <a:ext cx="1092200" cy="1073150"/>
            <a:chOff x="1812" y="3080"/>
            <a:chExt cx="688" cy="676"/>
          </a:xfrm>
        </p:grpSpPr>
        <p:sp>
          <p:nvSpPr>
            <p:cNvPr id="30904" name="Line 184"/>
            <p:cNvSpPr>
              <a:spLocks noChangeShapeType="1"/>
            </p:cNvSpPr>
            <p:nvPr/>
          </p:nvSpPr>
          <p:spPr bwMode="auto">
            <a:xfrm>
              <a:off x="1812" y="3080"/>
              <a:ext cx="0" cy="6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06" name="Text Box 186"/>
            <p:cNvSpPr txBox="1">
              <a:spLocks noChangeArrowheads="1"/>
            </p:cNvSpPr>
            <p:nvPr/>
          </p:nvSpPr>
          <p:spPr bwMode="auto">
            <a:xfrm>
              <a:off x="1836" y="3268"/>
              <a:ext cx="664" cy="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 sz="2000">
                  <a:solidFill>
                    <a:srgbClr val="FFFFCC"/>
                  </a:solidFill>
                </a:rPr>
                <a:t>Size 6</a:t>
              </a:r>
            </a:p>
          </p:txBody>
        </p:sp>
      </p:grpSp>
      <p:grpSp>
        <p:nvGrpSpPr>
          <p:cNvPr id="30921" name="Group 201"/>
          <p:cNvGrpSpPr>
            <a:grpSpLocks/>
          </p:cNvGrpSpPr>
          <p:nvPr/>
        </p:nvGrpSpPr>
        <p:grpSpPr bwMode="auto">
          <a:xfrm>
            <a:off x="5654675" y="2625725"/>
            <a:ext cx="3267075" cy="3949700"/>
            <a:chOff x="3562" y="1654"/>
            <a:chExt cx="2058" cy="2488"/>
          </a:xfrm>
        </p:grpSpPr>
        <p:sp>
          <p:nvSpPr>
            <p:cNvPr id="30896" name="Text Box 176" descr="Parchment"/>
            <p:cNvSpPr txBox="1">
              <a:spLocks noChangeArrowheads="1"/>
            </p:cNvSpPr>
            <p:nvPr/>
          </p:nvSpPr>
          <p:spPr bwMode="auto">
            <a:xfrm>
              <a:off x="3562" y="1654"/>
              <a:ext cx="2058" cy="583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>
                  <a:solidFill>
                    <a:srgbClr val="FF0000"/>
                  </a:solidFill>
                </a:rPr>
                <a:t>(b)</a:t>
              </a:r>
              <a:r>
                <a:rPr lang="en-GB" altLang="x-none"/>
                <a:t> Draw a line of best fit and comment on the correlation.</a:t>
              </a:r>
            </a:p>
          </p:txBody>
        </p:sp>
        <p:grpSp>
          <p:nvGrpSpPr>
            <p:cNvPr id="30908" name="Group 188"/>
            <p:cNvGrpSpPr>
              <a:grpSpLocks/>
            </p:cNvGrpSpPr>
            <p:nvPr/>
          </p:nvGrpSpPr>
          <p:grpSpPr bwMode="auto">
            <a:xfrm>
              <a:off x="4003" y="3755"/>
              <a:ext cx="1277" cy="387"/>
              <a:chOff x="1543" y="2759"/>
              <a:chExt cx="1817" cy="735"/>
            </a:xfrm>
          </p:grpSpPr>
          <p:pic>
            <p:nvPicPr>
              <p:cNvPr id="30909" name="Picture 189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3" y="2853"/>
                <a:ext cx="1814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pic>
            <p:nvPicPr>
              <p:cNvPr id="30910" name="Picture 190" descr="Pencil 2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0" y="2759"/>
                <a:ext cx="474" cy="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911" name="Picture 191" descr="Eraser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7" y="2950"/>
                <a:ext cx="783" cy="5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0912" name="Rectangle 19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914" name="Group 194"/>
          <p:cNvGrpSpPr>
            <a:grpSpLocks/>
          </p:cNvGrpSpPr>
          <p:nvPr/>
        </p:nvGrpSpPr>
        <p:grpSpPr bwMode="auto">
          <a:xfrm>
            <a:off x="1665288" y="5586413"/>
            <a:ext cx="446087" cy="446087"/>
            <a:chOff x="854" y="3609"/>
            <a:chExt cx="281" cy="281"/>
          </a:xfrm>
        </p:grpSpPr>
        <p:grpSp>
          <p:nvGrpSpPr>
            <p:cNvPr id="30915" name="Group 195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30916" name="Line 196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7" name="Freeform 197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8" name="Line 198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919" name="Freeform 199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922" name="Text Box 202"/>
          <p:cNvSpPr txBox="1">
            <a:spLocks noChangeArrowheads="1"/>
          </p:cNvSpPr>
          <p:nvPr/>
        </p:nvSpPr>
        <p:spPr bwMode="auto">
          <a:xfrm>
            <a:off x="7162800" y="3105150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2400">
                <a:solidFill>
                  <a:schemeClr val="accent2"/>
                </a:solidFill>
              </a:rPr>
              <a:t>Positive</a:t>
            </a:r>
          </a:p>
        </p:txBody>
      </p:sp>
    </p:spTree>
    <p:extLst>
      <p:ext uri="{BB962C8B-B14F-4D97-AF65-F5344CB8AC3E}">
        <p14:creationId xmlns:p14="http://schemas.microsoft.com/office/powerpoint/2010/main" val="818517932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308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3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3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3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0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94" grpId="0" animBg="1"/>
      <p:bldP spid="30897" grpId="0" animBg="1"/>
      <p:bldP spid="30898" grpId="0" build="p" animBg="1" autoUpdateAnimBg="0"/>
      <p:bldP spid="30899" grpId="0" animBg="1"/>
      <p:bldP spid="30903" grpId="0" animBg="1"/>
      <p:bldP spid="3092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35721"/>
            <a:ext cx="7867168" cy="6765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pic>
        <p:nvPicPr>
          <p:cNvPr id="4" name="Picture 4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021" y="1159403"/>
            <a:ext cx="4292425" cy="429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70390" y="5798916"/>
            <a:ext cx="89580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Then it’s time to throw Barbie off a railing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2946</TotalTime>
  <Words>1118</Words>
  <Application>Microsoft Macintosh PowerPoint</Application>
  <PresentationFormat>On-screen Show (4:3)</PresentationFormat>
  <Paragraphs>406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Calibri Light</vt:lpstr>
      <vt:lpstr>Comic Sans MS</vt:lpstr>
      <vt:lpstr>Arial</vt:lpstr>
      <vt:lpstr>Office Theme</vt:lpstr>
      <vt:lpstr>Year 9 Linear Relationships Investigation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SUMMERS Brad [Baldivis Secondary College]</cp:lastModifiedBy>
  <cp:revision>93</cp:revision>
  <dcterms:created xsi:type="dcterms:W3CDTF">2016-04-30T07:20:25Z</dcterms:created>
  <dcterms:modified xsi:type="dcterms:W3CDTF">2017-10-22T10:13:04Z</dcterms:modified>
</cp:coreProperties>
</file>
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60" r:id="rId2"/>
    <p:sldId id="304" r:id="rId3"/>
    <p:sldId id="259" r:id="rId4"/>
    <p:sldId id="258" r:id="rId5"/>
    <p:sldId id="303" r:id="rId6"/>
    <p:sldId id="305" r:id="rId7"/>
    <p:sldId id="307" r:id="rId8"/>
    <p:sldId id="306" r:id="rId9"/>
    <p:sldId id="308" r:id="rId10"/>
    <p:sldId id="309" r:id="rId11"/>
    <p:sldId id="310" r:id="rId12"/>
    <p:sldId id="311" r:id="rId13"/>
    <p:sldId id="313" r:id="rId14"/>
    <p:sldId id="312" r:id="rId15"/>
    <p:sldId id="314" r:id="rId16"/>
    <p:sldId id="315" r:id="rId17"/>
    <p:sldId id="316" r:id="rId18"/>
    <p:sldId id="317" r:id="rId19"/>
    <p:sldId id="318" r:id="rId20"/>
    <p:sldId id="319" r:id="rId21"/>
    <p:sldId id="320" r:id="rId22"/>
    <p:sldId id="321" r:id="rId23"/>
    <p:sldId id="322" r:id="rId24"/>
    <p:sldId id="323" r:id="rId25"/>
    <p:sldId id="301" r:id="rId26"/>
    <p:sldId id="292" r:id="rId27"/>
    <p:sldId id="291" r:id="rId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35" autoAdjust="0"/>
    <p:restoredTop sz="98401" autoAdjust="0"/>
  </p:normalViewPr>
  <p:slideViewPr>
    <p:cSldViewPr>
      <p:cViewPr>
        <p:scale>
          <a:sx n="75" d="100"/>
          <a:sy n="75" d="100"/>
        </p:scale>
        <p:origin x="-1230" y="-1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A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invertIfNegative val="0"/>
          <c:cat>
            <c:strRef>
              <c:f>Sheet1!$A$2:$A$6</c:f>
              <c:strCache>
                <c:ptCount val="5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5</c:v>
                </c:pt>
                <c:pt idx="2">
                  <c:v>6</c:v>
                </c:pt>
                <c:pt idx="3">
                  <c:v>3</c:v>
                </c:pt>
                <c:pt idx="4">
                  <c:v>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1049088"/>
        <c:axId val="41100032"/>
      </c:barChart>
      <c:catAx>
        <c:axId val="41049088"/>
        <c:scaling>
          <c:orientation val="minMax"/>
        </c:scaling>
        <c:delete val="0"/>
        <c:axPos val="b"/>
        <c:majorTickMark val="out"/>
        <c:minorTickMark val="none"/>
        <c:tickLblPos val="nextTo"/>
        <c:crossAx val="41100032"/>
        <c:crosses val="autoZero"/>
        <c:auto val="1"/>
        <c:lblAlgn val="ctr"/>
        <c:lblOffset val="100"/>
        <c:noMultiLvlLbl val="0"/>
      </c:catAx>
      <c:valAx>
        <c:axId val="4110003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41049088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A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cat>
            <c:strRef>
              <c:f>Sheet1!$A$2:$A$6</c:f>
              <c:strCache>
                <c:ptCount val="5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5</c:v>
                </c:pt>
                <c:pt idx="2">
                  <c:v>6</c:v>
                </c:pt>
                <c:pt idx="3">
                  <c:v>3</c:v>
                </c:pt>
                <c:pt idx="4">
                  <c:v>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1"/>
    <c:dispBlanksAs val="gap"/>
    <c:showDLblsOverMax val="0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25/05/2015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82686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23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243232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24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243232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25/05/2015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25/05/2015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25/05/2015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25/05/2015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25/05/2015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25/05/2015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25/05/2015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25/05/2015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25/05/2015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25/05/2015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25/05/2015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25/05/2015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C:\Users\e4047095\AppData\Local\Microsoft\Windows\Temporary Internet Files\Content.IE5\UN5YM58D\Line_Graph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0" y="1556792"/>
            <a:ext cx="3793604" cy="2927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5576" y="260648"/>
            <a:ext cx="7772400" cy="1470025"/>
          </a:xfrm>
        </p:spPr>
        <p:txBody>
          <a:bodyPr/>
          <a:lstStyle/>
          <a:p>
            <a:r>
              <a:rPr lang="en-AU" dirty="0" smtClean="0"/>
              <a:t>My Statistics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0844" y="4467670"/>
            <a:ext cx="6400800" cy="1752600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graphicFrame>
        <p:nvGraphicFramePr>
          <p:cNvPr id="16" name="Chart 1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44940676"/>
              </p:ext>
            </p:extLst>
          </p:nvPr>
        </p:nvGraphicFramePr>
        <p:xfrm>
          <a:off x="5369199" y="1700808"/>
          <a:ext cx="3654152" cy="18036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7" name="Chart 1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35245832"/>
              </p:ext>
            </p:extLst>
          </p:nvPr>
        </p:nvGraphicFramePr>
        <p:xfrm>
          <a:off x="4283968" y="3212976"/>
          <a:ext cx="4248472" cy="25991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Create your own front page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 smtClean="0"/>
              <a:t>It needs to contain the following –</a:t>
            </a:r>
          </a:p>
          <a:p>
            <a:pPr>
              <a:buFontTx/>
              <a:buChar char="-"/>
            </a:pPr>
            <a:r>
              <a:rPr lang="en-AU" dirty="0" smtClean="0"/>
              <a:t>My number interactive notebook</a:t>
            </a:r>
          </a:p>
          <a:p>
            <a:pPr>
              <a:buFontTx/>
              <a:buChar char="-"/>
            </a:pPr>
            <a:r>
              <a:rPr lang="en-AU" dirty="0" smtClean="0"/>
              <a:t>Name </a:t>
            </a:r>
          </a:p>
          <a:p>
            <a:pPr>
              <a:buFontTx/>
              <a:buChar char="-"/>
            </a:pPr>
            <a:r>
              <a:rPr lang="en-AU" dirty="0" smtClean="0"/>
              <a:t>Class</a:t>
            </a:r>
          </a:p>
          <a:p>
            <a:pPr>
              <a:buFontTx/>
              <a:buChar char="-"/>
            </a:pPr>
            <a:r>
              <a:rPr lang="en-AU" dirty="0" smtClean="0"/>
              <a:t>Teachers Name</a:t>
            </a:r>
          </a:p>
          <a:p>
            <a:pPr>
              <a:buFontTx/>
              <a:buChar char="-"/>
            </a:pPr>
            <a:r>
              <a:rPr lang="en-AU" dirty="0" smtClean="0"/>
              <a:t>Semester 1 Term 1</a:t>
            </a:r>
          </a:p>
          <a:p>
            <a:pPr>
              <a:buFontTx/>
              <a:buChar char="-"/>
            </a:pPr>
            <a:r>
              <a:rPr lang="en-AU" dirty="0" smtClean="0"/>
              <a:t>Page number 1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2869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8210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Title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60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Measures of Centre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the differences between the different types of averages.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872162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60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Measures of Centre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the differences between the different types of averages.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89550" y="2040662"/>
            <a:ext cx="2931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measure of centre?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17001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60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Measures of Centre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the differences between the different types of averages.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89550" y="2040662"/>
            <a:ext cx="2931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measure of centre?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021122" y="2024956"/>
            <a:ext cx="4603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This finds the average value for a group of data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83166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60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Measures of Centre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the differences between the different types of averages.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89550" y="2040662"/>
            <a:ext cx="2931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measure of centre?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021122" y="2024956"/>
            <a:ext cx="4603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This finds the average value for a group of data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148610" y="2422446"/>
            <a:ext cx="2402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are the averages?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10648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60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Measures of Centre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the differences between the different types of averages.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89550" y="2040662"/>
            <a:ext cx="2931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measure of centre?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021122" y="2024956"/>
            <a:ext cx="4603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This finds the average value for a group of data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148610" y="2422446"/>
            <a:ext cx="2402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are the averages?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1599" y="2426058"/>
            <a:ext cx="2222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Mean , Median Mode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88310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60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Measures of Centre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the differences between the different types of averages.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89550" y="2040662"/>
            <a:ext cx="2931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measure of centre?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021122" y="2024956"/>
            <a:ext cx="4603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This finds the average value for a group of data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148610" y="2422446"/>
            <a:ext cx="2402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are the averages?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1599" y="2426058"/>
            <a:ext cx="2222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Mean , Median Mode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129146" y="2924944"/>
            <a:ext cx="2501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find the mean?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12074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60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Measures of Centre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the differences between the different types of averages.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89550" y="2040662"/>
            <a:ext cx="2931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measure of centre?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021122" y="2024956"/>
            <a:ext cx="4603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This finds the average value for a group of data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148610" y="2422446"/>
            <a:ext cx="2402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are the averages?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1599" y="2426058"/>
            <a:ext cx="2222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Mean , Median Mode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129146" y="2924944"/>
            <a:ext cx="2501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find the mean?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121599" y="2924944"/>
            <a:ext cx="6068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Add all the values together and divide by the number of values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0124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60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Measures of Centre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the differences between the different types of averages.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89550" y="2040662"/>
            <a:ext cx="2931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measure of centre?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021122" y="2024956"/>
            <a:ext cx="4603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This finds the average value for a group of data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148610" y="2422446"/>
            <a:ext cx="2402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are the averages?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1599" y="2426058"/>
            <a:ext cx="2222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Mean , Median Mode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129146" y="2924944"/>
            <a:ext cx="2501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find the mean?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121599" y="2924944"/>
            <a:ext cx="6068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Add all the values together and divide by the number of values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22637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60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Measures of Centre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the differences between the different types of averages.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89550" y="2040662"/>
            <a:ext cx="2931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measure of centre?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021122" y="2024956"/>
            <a:ext cx="4603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This finds the average value for a group of data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148610" y="2422446"/>
            <a:ext cx="2402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are the averages?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1599" y="2426058"/>
            <a:ext cx="2222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Mean , Median Mode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129146" y="2924944"/>
            <a:ext cx="2501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find the mean?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121599" y="2924944"/>
            <a:ext cx="6068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Add all the values together and divide by the number of values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148610" y="3308660"/>
            <a:ext cx="2676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1"/>
                </a:solidFill>
              </a:rPr>
              <a:t>How do I find the median?</a:t>
            </a:r>
            <a:endParaRPr lang="en-AU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4960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60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Measures of Centre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the differences between the different types of averages.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89550" y="2040662"/>
            <a:ext cx="2931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measure of centre?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021122" y="2024956"/>
            <a:ext cx="4603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This finds the average value for a group of data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148610" y="2422446"/>
            <a:ext cx="2402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are the averages?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1599" y="2426058"/>
            <a:ext cx="2222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Mean , Median Mode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129146" y="2924944"/>
            <a:ext cx="2501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find the mean?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121599" y="2924944"/>
            <a:ext cx="6068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Add all the values together and divide by the number of values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148610" y="3308660"/>
            <a:ext cx="2676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1"/>
                </a:solidFill>
              </a:rPr>
              <a:t>How do I find the median?</a:t>
            </a:r>
            <a:endParaRPr lang="en-AU" dirty="0">
              <a:solidFill>
                <a:schemeClr val="accent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987083" y="3354826"/>
            <a:ext cx="60362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1"/>
                </a:solidFill>
              </a:rPr>
              <a:t>Put the values I order. Find the middle value. </a:t>
            </a:r>
          </a:p>
          <a:p>
            <a:r>
              <a:rPr lang="en-AU" dirty="0" smtClean="0">
                <a:solidFill>
                  <a:schemeClr val="accent1"/>
                </a:solidFill>
              </a:rPr>
              <a:t>If there are two middle values add together and divide by two </a:t>
            </a:r>
            <a:endParaRPr lang="en-AU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9334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60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Measures of Centre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the differences between the different types of averages.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89550" y="2040662"/>
            <a:ext cx="2931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measure of centre?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021122" y="2024956"/>
            <a:ext cx="4603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This finds the average value for a group of data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148610" y="2422446"/>
            <a:ext cx="2402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are the averages?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1599" y="2426058"/>
            <a:ext cx="2222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Mean , Median Mode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129146" y="2924944"/>
            <a:ext cx="2501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find the mean?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121599" y="2924944"/>
            <a:ext cx="6068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Add all the values together and divide by the number of values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148610" y="3308660"/>
            <a:ext cx="2676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1"/>
                </a:solidFill>
              </a:rPr>
              <a:t>How do I find the median?</a:t>
            </a:r>
            <a:endParaRPr lang="en-AU" dirty="0">
              <a:solidFill>
                <a:schemeClr val="accent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987083" y="3354826"/>
            <a:ext cx="60362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1"/>
                </a:solidFill>
              </a:rPr>
              <a:t>Put the values I order. Find the middle value. </a:t>
            </a:r>
          </a:p>
          <a:p>
            <a:r>
              <a:rPr lang="en-AU" dirty="0" smtClean="0">
                <a:solidFill>
                  <a:schemeClr val="accent1"/>
                </a:solidFill>
              </a:rPr>
              <a:t>If there are two middle values add together and divide by two </a:t>
            </a:r>
            <a:endParaRPr lang="en-AU" dirty="0">
              <a:solidFill>
                <a:schemeClr val="accent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48610" y="4103784"/>
            <a:ext cx="2512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How do I find the mode?</a:t>
            </a:r>
            <a:endParaRPr lang="en-AU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4189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60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Measures of Centre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the differences between the different types of averages.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89550" y="2040662"/>
            <a:ext cx="2931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measure of centre?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021122" y="2024956"/>
            <a:ext cx="4603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This finds the average value for a group of data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148610" y="2422446"/>
            <a:ext cx="2402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are the averages?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1599" y="2426058"/>
            <a:ext cx="2222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Mean , Median Mode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129146" y="2924944"/>
            <a:ext cx="2501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find the mean?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069347" y="2939328"/>
            <a:ext cx="6068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Add all the values together and divide by the number of values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148610" y="3308660"/>
            <a:ext cx="2676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1"/>
                </a:solidFill>
              </a:rPr>
              <a:t>How do I find the median?</a:t>
            </a:r>
            <a:endParaRPr lang="en-AU" dirty="0">
              <a:solidFill>
                <a:schemeClr val="accent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987083" y="3354826"/>
            <a:ext cx="60362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1"/>
                </a:solidFill>
              </a:rPr>
              <a:t>Put the values I order. Find the middle value. </a:t>
            </a:r>
          </a:p>
          <a:p>
            <a:r>
              <a:rPr lang="en-AU" dirty="0" smtClean="0">
                <a:solidFill>
                  <a:schemeClr val="accent1"/>
                </a:solidFill>
              </a:rPr>
              <a:t>If there are two middle values add together and divide by two </a:t>
            </a:r>
            <a:endParaRPr lang="en-AU" dirty="0">
              <a:solidFill>
                <a:schemeClr val="accent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48610" y="4103784"/>
            <a:ext cx="2512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How do I find the mode?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967589" y="4103784"/>
            <a:ext cx="617053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The value that appears most often. </a:t>
            </a:r>
          </a:p>
          <a:p>
            <a:r>
              <a:rPr lang="en-AU" dirty="0" smtClean="0">
                <a:solidFill>
                  <a:srgbClr val="00B050"/>
                </a:solidFill>
              </a:rPr>
              <a:t>A data set could have 1 mode or 2 modes (bimodal) or no mode</a:t>
            </a:r>
            <a:endParaRPr lang="en-AU" dirty="0">
              <a:solidFill>
                <a:srgbClr val="00B050"/>
              </a:solidFill>
            </a:endParaRPr>
          </a:p>
          <a:p>
            <a:r>
              <a:rPr lang="en-AU" dirty="0" smtClean="0">
                <a:solidFill>
                  <a:srgbClr val="00B050"/>
                </a:solidFill>
              </a:rPr>
              <a:t> </a:t>
            </a:r>
            <a:endParaRPr lang="en-AU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9270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60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Measures of Centre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the differences between the different types of averages. </a:t>
            </a:r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94711" y="2033397"/>
            <a:ext cx="2501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find the mean?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040788" y="2062741"/>
            <a:ext cx="6068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Add all the values together and divide by the number of values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114175" y="2417113"/>
            <a:ext cx="2676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1"/>
                </a:solidFill>
              </a:rPr>
              <a:t>How do I find the median?</a:t>
            </a:r>
            <a:endParaRPr lang="en-AU" dirty="0">
              <a:solidFill>
                <a:schemeClr val="accent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952648" y="2463279"/>
            <a:ext cx="60362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1"/>
                </a:solidFill>
              </a:rPr>
              <a:t>Put the values I order. Find the middle value. </a:t>
            </a:r>
          </a:p>
          <a:p>
            <a:r>
              <a:rPr lang="en-AU" dirty="0" smtClean="0">
                <a:solidFill>
                  <a:schemeClr val="accent1"/>
                </a:solidFill>
              </a:rPr>
              <a:t>If there are two middle values add together and divide by two </a:t>
            </a:r>
            <a:endParaRPr lang="en-AU" dirty="0">
              <a:solidFill>
                <a:schemeClr val="accent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4175" y="3212237"/>
            <a:ext cx="2512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How do I find the mode?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933154" y="3212237"/>
            <a:ext cx="61705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The value that appears most often. </a:t>
            </a:r>
          </a:p>
          <a:p>
            <a:r>
              <a:rPr lang="en-AU" dirty="0" smtClean="0">
                <a:solidFill>
                  <a:srgbClr val="00B050"/>
                </a:solidFill>
              </a:rPr>
              <a:t>A data set could have 1 mode or 2 modes (bimodal) or no mode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80939" y="3950901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Example</a:t>
            </a:r>
            <a:endParaRPr lang="en-AU" dirty="0"/>
          </a:p>
        </p:txBody>
      </p:sp>
      <p:sp>
        <p:nvSpPr>
          <p:cNvPr id="21" name="TextBox 20"/>
          <p:cNvSpPr txBox="1"/>
          <p:nvPr/>
        </p:nvSpPr>
        <p:spPr>
          <a:xfrm>
            <a:off x="2996638" y="3933568"/>
            <a:ext cx="60108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Find the mean, median and mode for the following set of data</a:t>
            </a:r>
            <a:endParaRPr lang="en-AU" dirty="0"/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2220362"/>
              </p:ext>
            </p:extLst>
          </p:nvPr>
        </p:nvGraphicFramePr>
        <p:xfrm>
          <a:off x="2941141" y="4365104"/>
          <a:ext cx="6096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33237"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806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60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Measures of Centre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the differences between the different types of averages. </a:t>
            </a:r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94711" y="2033397"/>
            <a:ext cx="2501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find the mean?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040788" y="2062741"/>
            <a:ext cx="6068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Add all the values together and divide by the number of values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114175" y="2417113"/>
            <a:ext cx="2676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1"/>
                </a:solidFill>
              </a:rPr>
              <a:t>How do I find the median?</a:t>
            </a:r>
            <a:endParaRPr lang="en-AU" dirty="0">
              <a:solidFill>
                <a:schemeClr val="accent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952648" y="2463279"/>
            <a:ext cx="60362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1"/>
                </a:solidFill>
              </a:rPr>
              <a:t>Put the values I order. Find the middle value. </a:t>
            </a:r>
          </a:p>
          <a:p>
            <a:r>
              <a:rPr lang="en-AU" dirty="0" smtClean="0">
                <a:solidFill>
                  <a:schemeClr val="accent1"/>
                </a:solidFill>
              </a:rPr>
              <a:t>If there are two middle values add together and divide by two </a:t>
            </a:r>
            <a:endParaRPr lang="en-AU" dirty="0">
              <a:solidFill>
                <a:schemeClr val="accent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4175" y="3212237"/>
            <a:ext cx="2512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How do I find the mode?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933154" y="3212237"/>
            <a:ext cx="61705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The value that appears most often. </a:t>
            </a:r>
          </a:p>
          <a:p>
            <a:r>
              <a:rPr lang="en-AU" dirty="0" smtClean="0">
                <a:solidFill>
                  <a:srgbClr val="00B050"/>
                </a:solidFill>
              </a:rPr>
              <a:t>A data set could have 1 mode or 2 modes (bimodal) or no mode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80939" y="3950901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Example</a:t>
            </a:r>
            <a:endParaRPr lang="en-AU" dirty="0"/>
          </a:p>
        </p:txBody>
      </p:sp>
      <p:sp>
        <p:nvSpPr>
          <p:cNvPr id="21" name="TextBox 20"/>
          <p:cNvSpPr txBox="1"/>
          <p:nvPr/>
        </p:nvSpPr>
        <p:spPr>
          <a:xfrm>
            <a:off x="2996638" y="3933568"/>
            <a:ext cx="60108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Find the mean, median and mode for the following set of data</a:t>
            </a:r>
            <a:endParaRPr lang="en-AU" dirty="0"/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4052520"/>
              </p:ext>
            </p:extLst>
          </p:nvPr>
        </p:nvGraphicFramePr>
        <p:xfrm>
          <a:off x="2941141" y="4365104"/>
          <a:ext cx="6096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33237"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008280" y="4850586"/>
                <a:ext cx="3073277" cy="4896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Mean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2+3+3+4+5+7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6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24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6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=4</m:t>
                    </m:r>
                  </m:oMath>
                </a14:m>
                <a:r>
                  <a:rPr lang="en-AU" dirty="0" smtClean="0"/>
                  <a:t> </a:t>
                </a:r>
                <a:endParaRPr lang="en-A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8280" y="4850586"/>
                <a:ext cx="3073277" cy="489686"/>
              </a:xfrm>
              <a:prstGeom prst="rect">
                <a:avLst/>
              </a:prstGeom>
              <a:blipFill rotWithShape="1">
                <a:blip r:embed="rId2"/>
                <a:stretch>
                  <a:fillRect l="-1584" b="-75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1230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60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Measures of Centre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the differences between the different types of averages. </a:t>
            </a:r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94711" y="2033397"/>
            <a:ext cx="2501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find the mean?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040788" y="2062741"/>
            <a:ext cx="6068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Add all the values together and divide by the number of values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114175" y="2417113"/>
            <a:ext cx="2676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1"/>
                </a:solidFill>
              </a:rPr>
              <a:t>How do I find the median?</a:t>
            </a:r>
            <a:endParaRPr lang="en-AU" dirty="0">
              <a:solidFill>
                <a:schemeClr val="accent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952648" y="2463279"/>
            <a:ext cx="60362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1"/>
                </a:solidFill>
              </a:rPr>
              <a:t>Put the values I order. Find the middle value. </a:t>
            </a:r>
          </a:p>
          <a:p>
            <a:r>
              <a:rPr lang="en-AU" dirty="0" smtClean="0">
                <a:solidFill>
                  <a:schemeClr val="accent1"/>
                </a:solidFill>
              </a:rPr>
              <a:t>If there are two middle values add together and divide by two </a:t>
            </a:r>
            <a:endParaRPr lang="en-AU" dirty="0">
              <a:solidFill>
                <a:schemeClr val="accent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4175" y="3212237"/>
            <a:ext cx="2512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How do I find the mode?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933154" y="3212237"/>
            <a:ext cx="61705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The value that appears most often. </a:t>
            </a:r>
          </a:p>
          <a:p>
            <a:r>
              <a:rPr lang="en-AU" dirty="0" smtClean="0">
                <a:solidFill>
                  <a:srgbClr val="00B050"/>
                </a:solidFill>
              </a:rPr>
              <a:t>A data set could have 1 mode or 2 modes (bimodal) or no mode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80939" y="3950901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Example</a:t>
            </a:r>
            <a:endParaRPr lang="en-AU" dirty="0"/>
          </a:p>
        </p:txBody>
      </p:sp>
      <p:sp>
        <p:nvSpPr>
          <p:cNvPr id="21" name="TextBox 20"/>
          <p:cNvSpPr txBox="1"/>
          <p:nvPr/>
        </p:nvSpPr>
        <p:spPr>
          <a:xfrm>
            <a:off x="2996638" y="3933568"/>
            <a:ext cx="60108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Find the mean, median and mode for the following set of data</a:t>
            </a:r>
            <a:endParaRPr lang="en-AU" dirty="0"/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7541408"/>
              </p:ext>
            </p:extLst>
          </p:nvPr>
        </p:nvGraphicFramePr>
        <p:xfrm>
          <a:off x="2941141" y="4365104"/>
          <a:ext cx="6096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33237"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008280" y="4850586"/>
                <a:ext cx="3073277" cy="4896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Mean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2+3+3+4+5+7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6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24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6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=4</m:t>
                    </m:r>
                  </m:oMath>
                </a14:m>
                <a:r>
                  <a:rPr lang="en-AU" dirty="0" smtClean="0"/>
                  <a:t> </a:t>
                </a:r>
                <a:endParaRPr lang="en-A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8280" y="4850586"/>
                <a:ext cx="3073277" cy="489686"/>
              </a:xfrm>
              <a:prstGeom prst="rect">
                <a:avLst/>
              </a:prstGeom>
              <a:blipFill rotWithShape="1">
                <a:blip r:embed="rId2"/>
                <a:stretch>
                  <a:fillRect l="-1584" b="-75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3040788" y="5548590"/>
            <a:ext cx="11256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70C0"/>
                </a:solidFill>
              </a:rPr>
              <a:t>Median = </a:t>
            </a:r>
            <a:endParaRPr lang="en-AU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5205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60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Measures of Centre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the differences between the different types of averages. </a:t>
            </a:r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94711" y="2033397"/>
            <a:ext cx="2501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find the mean?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040788" y="2062741"/>
            <a:ext cx="6068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Add all the values together and divide by the number of values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114175" y="2417113"/>
            <a:ext cx="2676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1"/>
                </a:solidFill>
              </a:rPr>
              <a:t>How do I find the median?</a:t>
            </a:r>
            <a:endParaRPr lang="en-AU" dirty="0">
              <a:solidFill>
                <a:schemeClr val="accent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952648" y="2463279"/>
            <a:ext cx="60362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1"/>
                </a:solidFill>
              </a:rPr>
              <a:t>Put the values I order. Find the middle value. </a:t>
            </a:r>
          </a:p>
          <a:p>
            <a:r>
              <a:rPr lang="en-AU" dirty="0" smtClean="0">
                <a:solidFill>
                  <a:schemeClr val="accent1"/>
                </a:solidFill>
              </a:rPr>
              <a:t>If there are two middle values add together and divide by two </a:t>
            </a:r>
            <a:endParaRPr lang="en-AU" dirty="0">
              <a:solidFill>
                <a:schemeClr val="accent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4175" y="3212237"/>
            <a:ext cx="2512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How do I find the mode?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933154" y="3212237"/>
            <a:ext cx="61705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The value that appears most often. </a:t>
            </a:r>
          </a:p>
          <a:p>
            <a:r>
              <a:rPr lang="en-AU" dirty="0" smtClean="0">
                <a:solidFill>
                  <a:srgbClr val="00B050"/>
                </a:solidFill>
              </a:rPr>
              <a:t>A data set could have 1 mode or 2 modes (bimodal) or no mode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80939" y="3950901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Example</a:t>
            </a:r>
            <a:endParaRPr lang="en-AU" dirty="0"/>
          </a:p>
        </p:txBody>
      </p:sp>
      <p:sp>
        <p:nvSpPr>
          <p:cNvPr id="21" name="TextBox 20"/>
          <p:cNvSpPr txBox="1"/>
          <p:nvPr/>
        </p:nvSpPr>
        <p:spPr>
          <a:xfrm>
            <a:off x="2996638" y="3933568"/>
            <a:ext cx="60108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Find the mean, median and mode for the following set of data</a:t>
            </a:r>
            <a:endParaRPr lang="en-AU" dirty="0"/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5288015"/>
              </p:ext>
            </p:extLst>
          </p:nvPr>
        </p:nvGraphicFramePr>
        <p:xfrm>
          <a:off x="2941141" y="4365104"/>
          <a:ext cx="6096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33237"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008280" y="4850586"/>
                <a:ext cx="3073277" cy="4896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Mean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2+3+3+4+5+7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6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24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6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=4</m:t>
                    </m:r>
                  </m:oMath>
                </a14:m>
                <a:r>
                  <a:rPr lang="en-AU" dirty="0" smtClean="0"/>
                  <a:t> </a:t>
                </a:r>
                <a:endParaRPr lang="en-A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8280" y="4850586"/>
                <a:ext cx="3073277" cy="489686"/>
              </a:xfrm>
              <a:prstGeom prst="rect">
                <a:avLst/>
              </a:prstGeom>
              <a:blipFill rotWithShape="1">
                <a:blip r:embed="rId2"/>
                <a:stretch>
                  <a:fillRect l="-1584" b="-75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3040788" y="5548590"/>
            <a:ext cx="1178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70C0"/>
                </a:solidFill>
              </a:rPr>
              <a:t>Median =  </a:t>
            </a:r>
            <a:endParaRPr lang="en-AU" dirty="0">
              <a:solidFill>
                <a:srgbClr val="0070C0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5220072" y="4322466"/>
            <a:ext cx="504056" cy="53035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Oval 22"/>
          <p:cNvSpPr/>
          <p:nvPr/>
        </p:nvSpPr>
        <p:spPr>
          <a:xfrm>
            <a:off x="6228184" y="4325182"/>
            <a:ext cx="504056" cy="53035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6508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60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Measures of Centre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the differences between the different types of averages. </a:t>
            </a:r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94711" y="2033397"/>
            <a:ext cx="2501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find the mean?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040788" y="2062741"/>
            <a:ext cx="6068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Add all the values together and divide by the number of values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114175" y="2417113"/>
            <a:ext cx="2676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1"/>
                </a:solidFill>
              </a:rPr>
              <a:t>How do I find the median?</a:t>
            </a:r>
            <a:endParaRPr lang="en-AU" dirty="0">
              <a:solidFill>
                <a:schemeClr val="accent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952648" y="2463279"/>
            <a:ext cx="60362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1"/>
                </a:solidFill>
              </a:rPr>
              <a:t>Put the values I order. Find the middle value. </a:t>
            </a:r>
          </a:p>
          <a:p>
            <a:r>
              <a:rPr lang="en-AU" dirty="0" smtClean="0">
                <a:solidFill>
                  <a:schemeClr val="accent1"/>
                </a:solidFill>
              </a:rPr>
              <a:t>If there are two middle values add together and divide by two </a:t>
            </a:r>
            <a:endParaRPr lang="en-AU" dirty="0">
              <a:solidFill>
                <a:schemeClr val="accent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4175" y="3212237"/>
            <a:ext cx="2512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How do I find the mode?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933154" y="3212237"/>
            <a:ext cx="61705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The value that appears most often. </a:t>
            </a:r>
          </a:p>
          <a:p>
            <a:r>
              <a:rPr lang="en-AU" dirty="0" smtClean="0">
                <a:solidFill>
                  <a:srgbClr val="00B050"/>
                </a:solidFill>
              </a:rPr>
              <a:t>A data set could have 1 mode or 2 modes (bimodal) or no mode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80939" y="3950901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Example</a:t>
            </a:r>
            <a:endParaRPr lang="en-AU" dirty="0"/>
          </a:p>
        </p:txBody>
      </p:sp>
      <p:sp>
        <p:nvSpPr>
          <p:cNvPr id="21" name="TextBox 20"/>
          <p:cNvSpPr txBox="1"/>
          <p:nvPr/>
        </p:nvSpPr>
        <p:spPr>
          <a:xfrm>
            <a:off x="2996638" y="3933568"/>
            <a:ext cx="60108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Find the mean, median and mode for the following set of data</a:t>
            </a:r>
            <a:endParaRPr lang="en-AU" dirty="0"/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4390018"/>
              </p:ext>
            </p:extLst>
          </p:nvPr>
        </p:nvGraphicFramePr>
        <p:xfrm>
          <a:off x="2941141" y="4365104"/>
          <a:ext cx="6096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33237"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008280" y="4850586"/>
                <a:ext cx="3073277" cy="4896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Mean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2+3+3+4+5+7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6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24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6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=4</m:t>
                    </m:r>
                  </m:oMath>
                </a14:m>
                <a:r>
                  <a:rPr lang="en-AU" dirty="0" smtClean="0"/>
                  <a:t> </a:t>
                </a:r>
                <a:endParaRPr lang="en-A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8280" y="4850586"/>
                <a:ext cx="3073277" cy="489686"/>
              </a:xfrm>
              <a:prstGeom prst="rect">
                <a:avLst/>
              </a:prstGeom>
              <a:blipFill rotWithShape="1">
                <a:blip r:embed="rId2"/>
                <a:stretch>
                  <a:fillRect l="-1584" b="-75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040788" y="5548590"/>
                <a:ext cx="2154757" cy="4840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>
                    <a:solidFill>
                      <a:srgbClr val="0070C0"/>
                    </a:solidFill>
                  </a:rPr>
                  <a:t>Median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3+4</m:t>
                        </m:r>
                      </m:num>
                      <m:den>
                        <m:r>
                          <a:rPr lang="en-AU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en-AU" b="0" i="1" smtClean="0">
                        <a:solidFill>
                          <a:srgbClr val="0070C0"/>
                        </a:solidFill>
                        <a:latin typeface="Cambria Math"/>
                      </a:rPr>
                      <m:t>=3.5</m:t>
                    </m:r>
                  </m:oMath>
                </a14:m>
                <a:r>
                  <a:rPr lang="en-AU" dirty="0" smtClean="0">
                    <a:solidFill>
                      <a:srgbClr val="0070C0"/>
                    </a:solidFill>
                  </a:rPr>
                  <a:t>  </a:t>
                </a:r>
                <a:endParaRPr lang="en-AU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0788" y="5548590"/>
                <a:ext cx="2154757" cy="484043"/>
              </a:xfrm>
              <a:prstGeom prst="rect">
                <a:avLst/>
              </a:prstGeom>
              <a:blipFill rotWithShape="1">
                <a:blip r:embed="rId3"/>
                <a:stretch>
                  <a:fillRect l="-2550" b="-75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val 7"/>
          <p:cNvSpPr/>
          <p:nvPr/>
        </p:nvSpPr>
        <p:spPr>
          <a:xfrm>
            <a:off x="5220072" y="4322466"/>
            <a:ext cx="504056" cy="53035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Oval 22"/>
          <p:cNvSpPr/>
          <p:nvPr/>
        </p:nvSpPr>
        <p:spPr>
          <a:xfrm>
            <a:off x="6228184" y="4325182"/>
            <a:ext cx="504056" cy="53035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62898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60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Measures of Centre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the differences between the different types of averages. </a:t>
            </a:r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94711" y="2033397"/>
            <a:ext cx="2501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find the mean?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040788" y="2062741"/>
            <a:ext cx="6068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Add all the values together and divide by the number of values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114175" y="2417113"/>
            <a:ext cx="2676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1"/>
                </a:solidFill>
              </a:rPr>
              <a:t>How do I find the median?</a:t>
            </a:r>
            <a:endParaRPr lang="en-AU" dirty="0">
              <a:solidFill>
                <a:schemeClr val="accent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952648" y="2463279"/>
            <a:ext cx="60362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1"/>
                </a:solidFill>
              </a:rPr>
              <a:t>Put the values I order. Find the middle value. </a:t>
            </a:r>
          </a:p>
          <a:p>
            <a:r>
              <a:rPr lang="en-AU" dirty="0" smtClean="0">
                <a:solidFill>
                  <a:schemeClr val="accent1"/>
                </a:solidFill>
              </a:rPr>
              <a:t>If there are two middle values add together and divide by two </a:t>
            </a:r>
            <a:endParaRPr lang="en-AU" dirty="0">
              <a:solidFill>
                <a:schemeClr val="accent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4175" y="3212237"/>
            <a:ext cx="2512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How do I find the mode?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933154" y="3212237"/>
            <a:ext cx="61705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The value that appears most often. </a:t>
            </a:r>
          </a:p>
          <a:p>
            <a:r>
              <a:rPr lang="en-AU" dirty="0" smtClean="0">
                <a:solidFill>
                  <a:srgbClr val="00B050"/>
                </a:solidFill>
              </a:rPr>
              <a:t>A data set could have 1 mode or 2 modes (bimodal) or no mode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80939" y="3950901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Example</a:t>
            </a:r>
            <a:endParaRPr lang="en-AU" dirty="0"/>
          </a:p>
        </p:txBody>
      </p:sp>
      <p:sp>
        <p:nvSpPr>
          <p:cNvPr id="21" name="TextBox 20"/>
          <p:cNvSpPr txBox="1"/>
          <p:nvPr/>
        </p:nvSpPr>
        <p:spPr>
          <a:xfrm>
            <a:off x="2996638" y="3933568"/>
            <a:ext cx="60108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Find the mean, median and mode for the following set of data</a:t>
            </a:r>
            <a:endParaRPr lang="en-AU" dirty="0"/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4117699"/>
              </p:ext>
            </p:extLst>
          </p:nvPr>
        </p:nvGraphicFramePr>
        <p:xfrm>
          <a:off x="2941141" y="4365104"/>
          <a:ext cx="6096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33237"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008280" y="4850586"/>
                <a:ext cx="3073277" cy="4896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Mean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2+3+3+4+5+7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6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24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6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=4</m:t>
                    </m:r>
                  </m:oMath>
                </a14:m>
                <a:r>
                  <a:rPr lang="en-AU" dirty="0" smtClean="0"/>
                  <a:t> </a:t>
                </a:r>
                <a:endParaRPr lang="en-A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8280" y="4850586"/>
                <a:ext cx="3073277" cy="489686"/>
              </a:xfrm>
              <a:prstGeom prst="rect">
                <a:avLst/>
              </a:prstGeom>
              <a:blipFill rotWithShape="1">
                <a:blip r:embed="rId3"/>
                <a:stretch>
                  <a:fillRect l="-1584" b="-75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040788" y="5548590"/>
                <a:ext cx="4706930" cy="4840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>
                    <a:solidFill>
                      <a:srgbClr val="0070C0"/>
                    </a:solidFill>
                  </a:rPr>
                  <a:t>Median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3+4</m:t>
                        </m:r>
                      </m:num>
                      <m:den>
                        <m:r>
                          <a:rPr lang="en-AU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en-AU" b="0" i="1" smtClean="0">
                        <a:solidFill>
                          <a:srgbClr val="0070C0"/>
                        </a:solidFill>
                        <a:latin typeface="Cambria Math"/>
                      </a:rPr>
                      <m:t>=3.5</m:t>
                    </m:r>
                  </m:oMath>
                </a14:m>
                <a:r>
                  <a:rPr lang="en-AU" dirty="0" smtClean="0">
                    <a:solidFill>
                      <a:srgbClr val="0070C0"/>
                    </a:solidFill>
                  </a:rPr>
                  <a:t> (halfway between 3 and 4)  </a:t>
                </a:r>
                <a:endParaRPr lang="en-AU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0788" y="5548590"/>
                <a:ext cx="4706930" cy="484043"/>
              </a:xfrm>
              <a:prstGeom prst="rect">
                <a:avLst/>
              </a:prstGeom>
              <a:blipFill rotWithShape="1">
                <a:blip r:embed="rId4"/>
                <a:stretch>
                  <a:fillRect l="-1166" r="-130" b="-75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val 7"/>
          <p:cNvSpPr/>
          <p:nvPr/>
        </p:nvSpPr>
        <p:spPr>
          <a:xfrm>
            <a:off x="5220072" y="4322466"/>
            <a:ext cx="504056" cy="53035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Oval 22"/>
          <p:cNvSpPr/>
          <p:nvPr/>
        </p:nvSpPr>
        <p:spPr>
          <a:xfrm>
            <a:off x="6228184" y="4325182"/>
            <a:ext cx="504056" cy="53035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93953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60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Measures of Centre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the differences between the different types of averages. </a:t>
            </a:r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94711" y="2033397"/>
            <a:ext cx="2501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find the mean?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040788" y="2062741"/>
            <a:ext cx="6068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Add all the values together and divide by the number of values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114175" y="2417113"/>
            <a:ext cx="2676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1"/>
                </a:solidFill>
              </a:rPr>
              <a:t>How do I find the median?</a:t>
            </a:r>
            <a:endParaRPr lang="en-AU" dirty="0">
              <a:solidFill>
                <a:schemeClr val="accent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952648" y="2463279"/>
            <a:ext cx="60362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1"/>
                </a:solidFill>
              </a:rPr>
              <a:t>Put the values I order. Find the middle value. </a:t>
            </a:r>
          </a:p>
          <a:p>
            <a:r>
              <a:rPr lang="en-AU" dirty="0" smtClean="0">
                <a:solidFill>
                  <a:schemeClr val="accent1"/>
                </a:solidFill>
              </a:rPr>
              <a:t>If there are two middle values add together and divide by two </a:t>
            </a:r>
            <a:endParaRPr lang="en-AU" dirty="0">
              <a:solidFill>
                <a:schemeClr val="accent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4175" y="3212237"/>
            <a:ext cx="2512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How do I find the mode?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933154" y="3212237"/>
            <a:ext cx="61705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The value that appears most often. </a:t>
            </a:r>
          </a:p>
          <a:p>
            <a:r>
              <a:rPr lang="en-AU" dirty="0" smtClean="0">
                <a:solidFill>
                  <a:srgbClr val="00B050"/>
                </a:solidFill>
              </a:rPr>
              <a:t>A data set could have 1 mode or 2 modes (bimodal) or no mode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80939" y="3950901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Example</a:t>
            </a:r>
            <a:endParaRPr lang="en-AU" dirty="0"/>
          </a:p>
        </p:txBody>
      </p:sp>
      <p:sp>
        <p:nvSpPr>
          <p:cNvPr id="21" name="TextBox 20"/>
          <p:cNvSpPr txBox="1"/>
          <p:nvPr/>
        </p:nvSpPr>
        <p:spPr>
          <a:xfrm>
            <a:off x="2996638" y="3933568"/>
            <a:ext cx="60108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Find the mean, median and mode for the following set of data</a:t>
            </a:r>
            <a:endParaRPr lang="en-AU" dirty="0"/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5995358"/>
              </p:ext>
            </p:extLst>
          </p:nvPr>
        </p:nvGraphicFramePr>
        <p:xfrm>
          <a:off x="2941141" y="4365104"/>
          <a:ext cx="6096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33237"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008280" y="4850586"/>
                <a:ext cx="3073277" cy="4896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Mean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2+3+3+4+5+7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6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24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6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=4</m:t>
                    </m:r>
                  </m:oMath>
                </a14:m>
                <a:r>
                  <a:rPr lang="en-AU" dirty="0" smtClean="0"/>
                  <a:t> </a:t>
                </a:r>
                <a:endParaRPr lang="en-A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8280" y="4850586"/>
                <a:ext cx="3073277" cy="489686"/>
              </a:xfrm>
              <a:prstGeom prst="rect">
                <a:avLst/>
              </a:prstGeom>
              <a:blipFill rotWithShape="1">
                <a:blip r:embed="rId3"/>
                <a:stretch>
                  <a:fillRect l="-1584" b="-75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040788" y="5548590"/>
                <a:ext cx="4706930" cy="4840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>
                    <a:solidFill>
                      <a:srgbClr val="0070C0"/>
                    </a:solidFill>
                  </a:rPr>
                  <a:t>Median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3+4</m:t>
                        </m:r>
                      </m:num>
                      <m:den>
                        <m:r>
                          <a:rPr lang="en-AU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en-AU" b="0" i="1" smtClean="0">
                        <a:solidFill>
                          <a:srgbClr val="0070C0"/>
                        </a:solidFill>
                        <a:latin typeface="Cambria Math"/>
                      </a:rPr>
                      <m:t>=3.5</m:t>
                    </m:r>
                  </m:oMath>
                </a14:m>
                <a:r>
                  <a:rPr lang="en-AU" dirty="0" smtClean="0">
                    <a:solidFill>
                      <a:srgbClr val="0070C0"/>
                    </a:solidFill>
                  </a:rPr>
                  <a:t> (halfway between 3 and 4)  </a:t>
                </a:r>
                <a:endParaRPr lang="en-AU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0788" y="5548590"/>
                <a:ext cx="4706930" cy="484043"/>
              </a:xfrm>
              <a:prstGeom prst="rect">
                <a:avLst/>
              </a:prstGeom>
              <a:blipFill rotWithShape="1">
                <a:blip r:embed="rId4"/>
                <a:stretch>
                  <a:fillRect l="-1166" r="-130" b="-75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val 7"/>
          <p:cNvSpPr/>
          <p:nvPr/>
        </p:nvSpPr>
        <p:spPr>
          <a:xfrm>
            <a:off x="5220072" y="4322466"/>
            <a:ext cx="504056" cy="53035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Oval 22"/>
          <p:cNvSpPr/>
          <p:nvPr/>
        </p:nvSpPr>
        <p:spPr>
          <a:xfrm>
            <a:off x="6228184" y="4325182"/>
            <a:ext cx="504056" cy="53035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TextBox 12"/>
          <p:cNvSpPr txBox="1"/>
          <p:nvPr/>
        </p:nvSpPr>
        <p:spPr>
          <a:xfrm>
            <a:off x="3154707" y="6304002"/>
            <a:ext cx="11063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Mode is 3</a:t>
            </a:r>
            <a:endParaRPr lang="en-AU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286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Questions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09319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776</TotalTime>
  <Words>1826</Words>
  <Application>Microsoft Office PowerPoint</Application>
  <PresentationFormat>On-screen Show (4:3)</PresentationFormat>
  <Paragraphs>377</Paragraphs>
  <Slides>27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Office Theme</vt:lpstr>
      <vt:lpstr>My Statistics Interactive Notebook</vt:lpstr>
      <vt:lpstr>Create your own front page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Questions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RUST Joanne</cp:lastModifiedBy>
  <cp:revision>60</cp:revision>
  <dcterms:created xsi:type="dcterms:W3CDTF">2014-05-14T02:58:57Z</dcterms:created>
  <dcterms:modified xsi:type="dcterms:W3CDTF">2015-05-25T14:06:28Z</dcterms:modified>
</cp:coreProperties>
</file>
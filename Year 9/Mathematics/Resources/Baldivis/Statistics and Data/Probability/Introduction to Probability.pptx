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304" r:id="rId3"/>
    <p:sldId id="259" r:id="rId4"/>
    <p:sldId id="258" r:id="rId5"/>
    <p:sldId id="303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292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68" d="100"/>
          <a:sy n="68" d="100"/>
        </p:scale>
        <p:origin x="-77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ymathsonline.com.au/gold/playyourcards/playcards.sw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1919258" cy="183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</a:t>
            </a:r>
            <a:r>
              <a:rPr lang="en-AU" sz="2400" dirty="0" smtClean="0"/>
              <a:t>how a sample space is used to calculate the probability of an even happening.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</a:t>
            </a:r>
            <a:r>
              <a:rPr lang="en-AU" sz="2400" dirty="0" smtClean="0"/>
              <a:t>how a sample space is used to calculate the probability of an even happening.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45868" y="2092206"/>
            <a:ext cx="54380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Probability describes the chance of an event happening.</a:t>
            </a:r>
          </a:p>
          <a:p>
            <a:endParaRPr lang="en-AU" dirty="0"/>
          </a:p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966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</a:t>
            </a:r>
            <a:r>
              <a:rPr lang="en-AU" sz="2400" dirty="0" smtClean="0"/>
              <a:t>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07748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Probability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077483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802" t="-1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50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</a:t>
            </a:r>
            <a:r>
              <a:rPr lang="en-AU" sz="2400" dirty="0" smtClean="0"/>
              <a:t>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pPr/>
                <a:endParaRPr lang="en-AU" dirty="0"/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2862322"/>
              </a:xfrm>
              <a:prstGeom prst="rect">
                <a:avLst/>
              </a:prstGeom>
              <a:blipFill rotWithShape="1">
                <a:blip r:embed="rId2"/>
                <a:stretch>
                  <a:fillRect l="-768" t="-10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58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</a:t>
            </a:r>
            <a:r>
              <a:rPr lang="en-AU" sz="2400" dirty="0" smtClean="0"/>
              <a:t>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4545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If all events are equally likely then </a:t>
                </a:r>
              </a:p>
              <a:p>
                <a:pPr/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pPr/>
                <a:endParaRPr lang="en-AU" b="1" dirty="0"/>
              </a:p>
              <a:p>
                <a:pPr/>
                <a:endParaRPr lang="en-AU" b="1" dirty="0" smtClean="0"/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4545475"/>
              </a:xfrm>
              <a:prstGeom prst="rect">
                <a:avLst/>
              </a:prstGeom>
              <a:blipFill rotWithShape="1">
                <a:blip r:embed="rId2"/>
                <a:stretch>
                  <a:fillRect l="-768" t="-6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14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</a:t>
            </a:r>
            <a:r>
              <a:rPr lang="en-AU" sz="2400" dirty="0" smtClean="0"/>
              <a:t>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4822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If all events are equally likely then </a:t>
                </a:r>
              </a:p>
              <a:p>
                <a:pPr/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pPr/>
                <a:endParaRPr lang="en-AU" b="1" dirty="0"/>
              </a:p>
              <a:p>
                <a:pPr/>
                <a:r>
                  <a:rPr lang="en-AU" dirty="0" smtClean="0">
                    <a:solidFill>
                      <a:schemeClr val="accent1"/>
                    </a:solidFill>
                  </a:rPr>
                  <a:t>Example – Find the probability of rolling a 2 in a standard six sided die</a:t>
                </a:r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4822474"/>
              </a:xfrm>
              <a:prstGeom prst="rect">
                <a:avLst/>
              </a:prstGeom>
              <a:blipFill rotWithShape="1">
                <a:blip r:embed="rId2"/>
                <a:stretch>
                  <a:fillRect l="-768" t="-632" r="-10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92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</a:t>
            </a:r>
            <a:r>
              <a:rPr lang="en-AU" sz="2400" dirty="0" smtClean="0"/>
              <a:t>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5364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If all events are equally likely then </a:t>
                </a:r>
              </a:p>
              <a:p>
                <a:pPr/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pPr/>
                <a:endParaRPr lang="en-AU" b="1" dirty="0"/>
              </a:p>
              <a:p>
                <a:pPr/>
                <a:r>
                  <a:rPr lang="en-AU" dirty="0" smtClean="0">
                    <a:solidFill>
                      <a:schemeClr val="accent1"/>
                    </a:solidFill>
                  </a:rPr>
                  <a:t>Example – Find the probability of rolling a 2 in a standard six sided die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dirty="0" smtClean="0">
                  <a:solidFill>
                    <a:schemeClr val="accent1"/>
                  </a:solidFill>
                </a:endParaRPr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5364930"/>
              </a:xfrm>
              <a:prstGeom prst="rect">
                <a:avLst/>
              </a:prstGeom>
              <a:blipFill rotWithShape="1">
                <a:blip r:embed="rId2"/>
                <a:stretch>
                  <a:fillRect l="-768" t="-568" r="-10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662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</a:t>
            </a:r>
            <a:r>
              <a:rPr lang="en-AU" sz="2400" dirty="0" smtClean="0"/>
              <a:t>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4511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pPr/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pPr/>
                <a:r>
                  <a:rPr lang="en-AU" dirty="0" smtClean="0"/>
                  <a:t>If all events are equally likely then </a:t>
                </a:r>
              </a:p>
              <a:p>
                <a:pPr/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pPr/>
                <a:endParaRPr lang="en-AU" b="1" dirty="0"/>
              </a:p>
              <a:p>
                <a:pPr/>
                <a:r>
                  <a:rPr lang="en-AU" dirty="0" smtClean="0">
                    <a:solidFill>
                      <a:schemeClr val="accent1"/>
                    </a:solidFill>
                  </a:rPr>
                  <a:t>Example – Find the probability of rolling a 2 in a standard six sided die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dirty="0" smtClean="0">
                  <a:solidFill>
                    <a:schemeClr val="accent1"/>
                  </a:solidFill>
                </a:endParaRPr>
              </a:p>
              <a:p>
                <a:r>
                  <a:rPr lang="en-AU" dirty="0" smtClean="0"/>
                  <a:t> The </a:t>
                </a:r>
                <a:r>
                  <a:rPr lang="en-AU" b="1" dirty="0" smtClean="0"/>
                  <a:t>complement</a:t>
                </a:r>
                <a:r>
                  <a:rPr lang="en-AU" dirty="0" smtClean="0"/>
                  <a:t> of an event A is the event not A</a:t>
                </a:r>
              </a:p>
              <a:p>
                <a:pPr algn="ctr"/>
                <a:r>
                  <a:rPr lang="en-AU" dirty="0" err="1" smtClean="0"/>
                  <a:t>Pr</a:t>
                </a:r>
                <a:r>
                  <a:rPr lang="en-AU" dirty="0" smtClean="0"/>
                  <a:t>(not A) = 1 – </a:t>
                </a:r>
                <a:r>
                  <a:rPr lang="en-AU" dirty="0" err="1" smtClean="0"/>
                  <a:t>Pr</a:t>
                </a:r>
                <a:r>
                  <a:rPr lang="en-AU" dirty="0" smtClean="0"/>
                  <a:t>(A)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4511876"/>
              </a:xfrm>
              <a:prstGeom prst="rect">
                <a:avLst/>
              </a:prstGeom>
              <a:blipFill rotWithShape="1">
                <a:blip r:embed="rId2"/>
                <a:stretch>
                  <a:fillRect l="-768" t="-676" r="-1056" b="-12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68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</a:t>
            </a:r>
            <a:r>
              <a:rPr lang="en-AU" sz="2400" dirty="0" smtClean="0"/>
              <a:t>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915816" y="1916832"/>
                <a:ext cx="6352371" cy="5032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pPr/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pPr/>
                <a:r>
                  <a:rPr lang="en-AU" dirty="0" smtClean="0"/>
                  <a:t>If all events are equally likely then </a:t>
                </a:r>
              </a:p>
              <a:p>
                <a:pPr/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pPr/>
                <a:endParaRPr lang="en-AU" b="1" dirty="0"/>
              </a:p>
              <a:p>
                <a:pPr/>
                <a:r>
                  <a:rPr lang="en-AU" dirty="0" smtClean="0">
                    <a:solidFill>
                      <a:schemeClr val="accent1"/>
                    </a:solidFill>
                  </a:rPr>
                  <a:t>Example – Find the probability of rolling a 2 in a standard six sided die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dirty="0" smtClean="0">
                  <a:solidFill>
                    <a:schemeClr val="accent1"/>
                  </a:solidFill>
                </a:endParaRPr>
              </a:p>
              <a:p>
                <a:r>
                  <a:rPr lang="en-AU" dirty="0" smtClean="0"/>
                  <a:t> The </a:t>
                </a:r>
                <a:r>
                  <a:rPr lang="en-AU" b="1" dirty="0" smtClean="0"/>
                  <a:t>complement</a:t>
                </a:r>
                <a:r>
                  <a:rPr lang="en-AU" dirty="0" smtClean="0"/>
                  <a:t> of an event A is the event not A</a:t>
                </a:r>
              </a:p>
              <a:p>
                <a:pPr algn="ctr"/>
                <a:r>
                  <a:rPr lang="en-AU" dirty="0" err="1" smtClean="0"/>
                  <a:t>Pr</a:t>
                </a:r>
                <a:r>
                  <a:rPr lang="en-AU" dirty="0" smtClean="0"/>
                  <a:t>(not A) = 1 – </a:t>
                </a:r>
                <a:r>
                  <a:rPr lang="en-AU" dirty="0" err="1" smtClean="0"/>
                  <a:t>Pr</a:t>
                </a:r>
                <a:r>
                  <a:rPr lang="en-AU" dirty="0" smtClean="0"/>
                  <a:t>(A)</a:t>
                </a:r>
              </a:p>
              <a:p>
                <a:pPr algn="ctr"/>
                <a:r>
                  <a:rPr lang="en-AU" dirty="0">
                    <a:solidFill>
                      <a:schemeClr val="accent1"/>
                    </a:solidFill>
                  </a:rPr>
                  <a:t>Example – Find the probability </a:t>
                </a:r>
                <a:r>
                  <a:rPr lang="en-AU" dirty="0" smtClean="0">
                    <a:solidFill>
                      <a:schemeClr val="accent1"/>
                    </a:solidFill>
                  </a:rPr>
                  <a:t>of </a:t>
                </a:r>
                <a:r>
                  <a:rPr lang="en-AU" b="1" dirty="0" smtClean="0">
                    <a:solidFill>
                      <a:schemeClr val="accent1"/>
                    </a:solidFill>
                  </a:rPr>
                  <a:t>NOT</a:t>
                </a:r>
                <a:r>
                  <a:rPr lang="en-AU" dirty="0" smtClean="0">
                    <a:solidFill>
                      <a:schemeClr val="accent1"/>
                    </a:solidFill>
                  </a:rPr>
                  <a:t> </a:t>
                </a:r>
                <a:r>
                  <a:rPr lang="en-AU" dirty="0">
                    <a:solidFill>
                      <a:schemeClr val="accent1"/>
                    </a:solidFill>
                  </a:rPr>
                  <a:t>rolling a 2 in a standard six sided </a:t>
                </a:r>
                <a:r>
                  <a:rPr lang="en-AU" dirty="0" smtClean="0">
                    <a:solidFill>
                      <a:schemeClr val="accent1"/>
                    </a:solidFill>
                  </a:rPr>
                  <a:t>die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𝑁𝑜𝑡</m:t>
                              </m:r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 2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=1−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dirty="0">
                  <a:solidFill>
                    <a:schemeClr val="accent1"/>
                  </a:solidFill>
                </a:endParaRPr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16832"/>
                <a:ext cx="6352371" cy="5032275"/>
              </a:xfrm>
              <a:prstGeom prst="rect">
                <a:avLst/>
              </a:prstGeom>
              <a:blipFill rotWithShape="1">
                <a:blip r:embed="rId2"/>
                <a:stretch>
                  <a:fillRect l="-768" r="-10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49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Fill in the questions on your Cornell Notes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AU" dirty="0" smtClean="0"/>
              <a:t>Page 504 </a:t>
            </a:r>
          </a:p>
          <a:p>
            <a:r>
              <a:rPr lang="en-AU" dirty="0" smtClean="0"/>
              <a:t>Question 4-15</a:t>
            </a:r>
            <a:endParaRPr lang="en-AU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Plenary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http://</a:t>
            </a:r>
            <a:r>
              <a:rPr lang="en-AU" dirty="0" smtClean="0">
                <a:hlinkClick r:id="rId2"/>
              </a:rPr>
              <a:t>www.mymathsonline.com.au/gold/playyourcards/playcards.swf</a:t>
            </a: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024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972</Words>
  <Application>Microsoft Office PowerPoint</Application>
  <PresentationFormat>On-screen Show (4:3)</PresentationFormat>
  <Paragraphs>197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My Probability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Fill in the questions on your Cornell Notes</vt:lpstr>
      <vt:lpstr>Plenary 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73</cp:revision>
  <dcterms:created xsi:type="dcterms:W3CDTF">2014-05-14T02:58:57Z</dcterms:created>
  <dcterms:modified xsi:type="dcterms:W3CDTF">2015-03-15T07:33:20Z</dcterms:modified>
</cp:coreProperties>
</file>
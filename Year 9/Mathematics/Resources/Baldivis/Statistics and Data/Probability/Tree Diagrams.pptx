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60" r:id="rId2"/>
    <p:sldId id="304" r:id="rId3"/>
    <p:sldId id="259" r:id="rId4"/>
    <p:sldId id="258" r:id="rId5"/>
    <p:sldId id="327" r:id="rId6"/>
    <p:sldId id="328" r:id="rId7"/>
    <p:sldId id="303" r:id="rId8"/>
    <p:sldId id="330" r:id="rId9"/>
    <p:sldId id="331" r:id="rId10"/>
    <p:sldId id="333" r:id="rId11"/>
    <p:sldId id="335" r:id="rId12"/>
    <p:sldId id="336" r:id="rId13"/>
    <p:sldId id="337" r:id="rId14"/>
    <p:sldId id="334" r:id="rId15"/>
    <p:sldId id="313" r:id="rId16"/>
    <p:sldId id="292" r:id="rId17"/>
    <p:sldId id="291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62" autoAdjust="0"/>
    <p:restoredTop sz="92895" autoAdjust="0"/>
  </p:normalViewPr>
  <p:slideViewPr>
    <p:cSldViewPr>
      <p:cViewPr varScale="1">
        <p:scale>
          <a:sx n="68" d="100"/>
          <a:sy n="68" d="100"/>
        </p:scale>
        <p:origin x="-1440" y="-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t>15/03/2015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15/03/2015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15/03/2015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15/03/2015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15/03/2015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15/03/2015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15/03/2015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15/03/2015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15/03/2015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15/03/2015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15/03/2015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15/03/2015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15/03/2015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Users\e4047095\AppData\Local\Microsoft\Windows\Temporary Internet Files\Content.IE5\4I30O3QX\euro_coins[1]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260648"/>
            <a:ext cx="1919258" cy="1830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 smtClean="0"/>
              <a:t>My Probability</a:t>
            </a:r>
            <a:br>
              <a:rPr lang="en-AU" dirty="0" smtClean="0"/>
            </a:br>
            <a:r>
              <a:rPr lang="en-AU" dirty="0" smtClean="0"/>
              <a:t>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3568" y="4509120"/>
            <a:ext cx="6400800" cy="1752600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en-AU" dirty="0" smtClean="0"/>
              <a:t>Name </a:t>
            </a:r>
          </a:p>
          <a:p>
            <a:pPr algn="l"/>
            <a:r>
              <a:rPr lang="en-AU" dirty="0" smtClean="0"/>
              <a:t>Class </a:t>
            </a:r>
          </a:p>
          <a:p>
            <a:pPr algn="l"/>
            <a:r>
              <a:rPr lang="en-AU" dirty="0" smtClean="0"/>
              <a:t>Teacher </a:t>
            </a:r>
          </a:p>
          <a:p>
            <a:pPr algn="l"/>
            <a:r>
              <a:rPr lang="en-AU" dirty="0" smtClean="0"/>
              <a:t>Term 1 Semester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p:pic>
        <p:nvPicPr>
          <p:cNvPr id="1026" name="Picture 2" descr="C:\Users\e4047095\AppData\Local\Microsoft\Windows\Temporary Internet Files\Content.IE5\4I30O3QX\373269258_560c1d534d_z[1]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2440" y="1844824"/>
            <a:ext cx="2438400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Picture 5" descr="C:\Users\e4047095\AppData\Local\Microsoft\Windows\Temporary Internet Files\Content.IE5\4I30O3QX\Playing_Cards[1]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6096" y="3079119"/>
            <a:ext cx="3199160" cy="27252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Create your own front page</a:t>
            </a:r>
            <a:endParaRPr lang="en-AU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AU" dirty="0" smtClean="0"/>
              <a:t>It needs to contain the following –</a:t>
            </a:r>
          </a:p>
          <a:p>
            <a:pPr>
              <a:buFontTx/>
              <a:buChar char="-"/>
            </a:pPr>
            <a:r>
              <a:rPr lang="en-AU" dirty="0" smtClean="0"/>
              <a:t>My number interactive notebook</a:t>
            </a:r>
          </a:p>
          <a:p>
            <a:pPr>
              <a:buFontTx/>
              <a:buChar char="-"/>
            </a:pPr>
            <a:r>
              <a:rPr lang="en-AU" dirty="0" smtClean="0"/>
              <a:t>Name </a:t>
            </a:r>
          </a:p>
          <a:p>
            <a:pPr>
              <a:buFontTx/>
              <a:buChar char="-"/>
            </a:pPr>
            <a:r>
              <a:rPr lang="en-AU" dirty="0" smtClean="0"/>
              <a:t>Class</a:t>
            </a:r>
          </a:p>
          <a:p>
            <a:pPr>
              <a:buFontTx/>
              <a:buChar char="-"/>
            </a:pPr>
            <a:r>
              <a:rPr lang="en-AU" dirty="0" smtClean="0"/>
              <a:t>Teachers Name</a:t>
            </a:r>
          </a:p>
          <a:p>
            <a:pPr>
              <a:buFontTx/>
              <a:buChar char="-"/>
            </a:pPr>
            <a:r>
              <a:rPr lang="en-AU" dirty="0" smtClean="0"/>
              <a:t>Semester 1 Term 1</a:t>
            </a:r>
          </a:p>
          <a:p>
            <a:pPr>
              <a:buFontTx/>
              <a:buChar char="-"/>
            </a:pPr>
            <a:r>
              <a:rPr lang="en-AU" dirty="0" smtClean="0"/>
              <a:t>Page number 1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2869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5796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Glossary or Formula Page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3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Task One</a:t>
            </a:r>
            <a:endParaRPr lang="en-AU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Three letters are chosen from the work MATH without replacement.</a:t>
            </a:r>
          </a:p>
          <a:p>
            <a:r>
              <a:rPr lang="en-AU" dirty="0" smtClean="0"/>
              <a:t>Find </a:t>
            </a:r>
            <a:r>
              <a:rPr lang="en-AU" dirty="0" err="1" smtClean="0"/>
              <a:t>Pr</a:t>
            </a:r>
            <a:r>
              <a:rPr lang="en-AU" dirty="0" smtClean="0"/>
              <a:t>(MAT)</a:t>
            </a:r>
          </a:p>
          <a:p>
            <a:r>
              <a:rPr lang="en-AU" dirty="0" smtClean="0"/>
              <a:t>Start by listing the outcomes</a:t>
            </a:r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1023471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Task One</a:t>
            </a:r>
            <a:endParaRPr lang="en-AU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Three letters are chosen from the work MATH without replacement</a:t>
            </a:r>
          </a:p>
          <a:p>
            <a:r>
              <a:rPr lang="en-AU" dirty="0" smtClean="0"/>
              <a:t>Find </a:t>
            </a:r>
            <a:r>
              <a:rPr lang="en-AU" dirty="0" err="1" smtClean="0"/>
              <a:t>Pr</a:t>
            </a:r>
            <a:r>
              <a:rPr lang="en-AU" dirty="0" smtClean="0"/>
              <a:t>(MAT)</a:t>
            </a:r>
          </a:p>
          <a:p>
            <a:r>
              <a:rPr lang="en-AU" dirty="0" smtClean="0"/>
              <a:t>Start by listing the outcomes</a:t>
            </a:r>
          </a:p>
          <a:p>
            <a:r>
              <a:rPr lang="en-AU" dirty="0" smtClean="0"/>
              <a:t>What problems did you encounter in solving this problem?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842447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9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2550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Tree Diagrams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93471" y="1078502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 can I list the outcomes for multiple events? </a:t>
            </a:r>
            <a:endParaRPr lang="en-AU" sz="2400" dirty="0"/>
          </a:p>
        </p:txBody>
      </p:sp>
      <p:sp>
        <p:nvSpPr>
          <p:cNvPr id="5" name="Rectangle 4"/>
          <p:cNvSpPr/>
          <p:nvPr/>
        </p:nvSpPr>
        <p:spPr>
          <a:xfrm>
            <a:off x="2968849" y="2060848"/>
            <a:ext cx="60814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dirty="0" smtClean="0"/>
              <a:t>Tree diagrams list the sample space for multistage experiments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7090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9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2550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Tree Diagrams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93471" y="1078502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 can I list the outcomes for multiple events? </a:t>
            </a:r>
            <a:endParaRPr lang="en-AU" sz="2400" dirty="0"/>
          </a:p>
        </p:txBody>
      </p:sp>
      <p:sp>
        <p:nvSpPr>
          <p:cNvPr id="5" name="Rectangle 4"/>
          <p:cNvSpPr/>
          <p:nvPr/>
        </p:nvSpPr>
        <p:spPr>
          <a:xfrm>
            <a:off x="2968849" y="2060848"/>
            <a:ext cx="60814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dirty="0" smtClean="0"/>
              <a:t>Tree diagrams list the sample space for multistage experiments</a:t>
            </a:r>
            <a:endParaRPr lang="en-AU" dirty="0"/>
          </a:p>
        </p:txBody>
      </p:sp>
      <p:sp>
        <p:nvSpPr>
          <p:cNvPr id="3" name="Rectangle 2"/>
          <p:cNvSpPr/>
          <p:nvPr/>
        </p:nvSpPr>
        <p:spPr>
          <a:xfrm>
            <a:off x="2992687" y="2564904"/>
            <a:ext cx="603066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 smtClean="0"/>
              <a:t>Example : Two </a:t>
            </a:r>
            <a:r>
              <a:rPr lang="en-AU" dirty="0"/>
              <a:t>letters are chosen from the work </a:t>
            </a:r>
            <a:r>
              <a:rPr lang="en-AU" dirty="0" smtClean="0"/>
              <a:t>MATH without replacement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037296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9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2550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Tree Diagrams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93471" y="1078502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 can I list the outcomes for multiple events? </a:t>
            </a:r>
            <a:endParaRPr lang="en-AU" sz="2400" dirty="0"/>
          </a:p>
        </p:txBody>
      </p:sp>
      <p:sp>
        <p:nvSpPr>
          <p:cNvPr id="5" name="Rectangle 4"/>
          <p:cNvSpPr/>
          <p:nvPr/>
        </p:nvSpPr>
        <p:spPr>
          <a:xfrm>
            <a:off x="2968849" y="2060848"/>
            <a:ext cx="60814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dirty="0" smtClean="0"/>
              <a:t>Tree diagrams list the sample space for multistage experiments</a:t>
            </a:r>
            <a:endParaRPr lang="en-AU" dirty="0"/>
          </a:p>
        </p:txBody>
      </p:sp>
      <p:sp>
        <p:nvSpPr>
          <p:cNvPr id="3" name="Rectangle 2"/>
          <p:cNvSpPr/>
          <p:nvPr/>
        </p:nvSpPr>
        <p:spPr>
          <a:xfrm>
            <a:off x="2992687" y="2564904"/>
            <a:ext cx="603066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 smtClean="0"/>
              <a:t>Example : Two </a:t>
            </a:r>
            <a:r>
              <a:rPr lang="en-AU" dirty="0"/>
              <a:t>letters are chosen from the work </a:t>
            </a:r>
            <a:r>
              <a:rPr lang="en-AU" dirty="0" smtClean="0"/>
              <a:t>MATH without replacement</a:t>
            </a:r>
            <a:endParaRPr lang="en-A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33" t="11993" r="72692" b="18648"/>
          <a:stretch/>
        </p:blipFill>
        <p:spPr bwMode="auto">
          <a:xfrm>
            <a:off x="3330339" y="3300782"/>
            <a:ext cx="1241661" cy="33542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4303262" y="3549848"/>
            <a:ext cx="4347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 M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4325179" y="4288450"/>
            <a:ext cx="3706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 A</a:t>
            </a:r>
            <a:endParaRPr lang="en-AU" dirty="0"/>
          </a:p>
        </p:txBody>
      </p:sp>
      <p:sp>
        <p:nvSpPr>
          <p:cNvPr id="15" name="TextBox 14"/>
          <p:cNvSpPr txBox="1"/>
          <p:nvPr/>
        </p:nvSpPr>
        <p:spPr>
          <a:xfrm>
            <a:off x="4325179" y="5229200"/>
            <a:ext cx="3497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 T</a:t>
            </a:r>
            <a:endParaRPr lang="en-AU" dirty="0"/>
          </a:p>
        </p:txBody>
      </p:sp>
      <p:sp>
        <p:nvSpPr>
          <p:cNvPr id="16" name="TextBox 15"/>
          <p:cNvSpPr txBox="1"/>
          <p:nvPr/>
        </p:nvSpPr>
        <p:spPr>
          <a:xfrm>
            <a:off x="4303262" y="6049739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 H</a:t>
            </a:r>
            <a:endParaRPr lang="en-AU" dirty="0"/>
          </a:p>
        </p:txBody>
      </p:sp>
      <p:sp>
        <p:nvSpPr>
          <p:cNvPr id="13" name="TextBox 12"/>
          <p:cNvSpPr txBox="1"/>
          <p:nvPr/>
        </p:nvSpPr>
        <p:spPr>
          <a:xfrm>
            <a:off x="4010264" y="3180516"/>
            <a:ext cx="10207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1</a:t>
            </a:r>
            <a:r>
              <a:rPr lang="en-AU" baseline="30000" dirty="0" smtClean="0">
                <a:solidFill>
                  <a:srgbClr val="FF0000"/>
                </a:solidFill>
              </a:rPr>
              <a:t>st</a:t>
            </a:r>
            <a:r>
              <a:rPr lang="en-AU" dirty="0" smtClean="0">
                <a:solidFill>
                  <a:srgbClr val="FF0000"/>
                </a:solidFill>
              </a:rPr>
              <a:t> Letter</a:t>
            </a:r>
            <a:endParaRPr lang="en-AU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54457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9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2550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Tree Diagrams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93471" y="1078502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 can I list the outcomes for multiple events? </a:t>
            </a:r>
            <a:endParaRPr lang="en-AU" sz="2400" dirty="0"/>
          </a:p>
        </p:txBody>
      </p:sp>
      <p:sp>
        <p:nvSpPr>
          <p:cNvPr id="5" name="Rectangle 4"/>
          <p:cNvSpPr/>
          <p:nvPr/>
        </p:nvSpPr>
        <p:spPr>
          <a:xfrm>
            <a:off x="2968849" y="2060848"/>
            <a:ext cx="60814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dirty="0" smtClean="0"/>
              <a:t>Tree diagrams list the sample space for multistage experiments</a:t>
            </a:r>
            <a:endParaRPr lang="en-AU" dirty="0"/>
          </a:p>
        </p:txBody>
      </p:sp>
      <p:sp>
        <p:nvSpPr>
          <p:cNvPr id="3" name="Rectangle 2"/>
          <p:cNvSpPr/>
          <p:nvPr/>
        </p:nvSpPr>
        <p:spPr>
          <a:xfrm>
            <a:off x="2992687" y="2564904"/>
            <a:ext cx="603066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 smtClean="0"/>
              <a:t>Example : Two </a:t>
            </a:r>
            <a:r>
              <a:rPr lang="en-AU" dirty="0"/>
              <a:t>letters are chosen from the work </a:t>
            </a:r>
            <a:r>
              <a:rPr lang="en-AU" dirty="0" smtClean="0"/>
              <a:t>MATH without replacement</a:t>
            </a:r>
            <a:endParaRPr lang="en-A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33" t="11993" r="72692" b="18648"/>
          <a:stretch/>
        </p:blipFill>
        <p:spPr bwMode="auto">
          <a:xfrm>
            <a:off x="3330339" y="3300782"/>
            <a:ext cx="1241661" cy="33542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4303262" y="3549848"/>
            <a:ext cx="4347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 M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4325179" y="4288450"/>
            <a:ext cx="3706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 A</a:t>
            </a:r>
            <a:endParaRPr lang="en-AU" dirty="0"/>
          </a:p>
        </p:txBody>
      </p:sp>
      <p:sp>
        <p:nvSpPr>
          <p:cNvPr id="15" name="TextBox 14"/>
          <p:cNvSpPr txBox="1"/>
          <p:nvPr/>
        </p:nvSpPr>
        <p:spPr>
          <a:xfrm>
            <a:off x="4325179" y="5229200"/>
            <a:ext cx="3497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 T</a:t>
            </a:r>
            <a:endParaRPr lang="en-AU" dirty="0"/>
          </a:p>
        </p:txBody>
      </p:sp>
      <p:sp>
        <p:nvSpPr>
          <p:cNvPr id="16" name="TextBox 15"/>
          <p:cNvSpPr txBox="1"/>
          <p:nvPr/>
        </p:nvSpPr>
        <p:spPr>
          <a:xfrm>
            <a:off x="4303262" y="6049739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 H</a:t>
            </a:r>
            <a:endParaRPr lang="en-AU" dirty="0"/>
          </a:p>
        </p:txBody>
      </p:sp>
      <p:sp>
        <p:nvSpPr>
          <p:cNvPr id="13" name="TextBox 12"/>
          <p:cNvSpPr txBox="1"/>
          <p:nvPr/>
        </p:nvSpPr>
        <p:spPr>
          <a:xfrm>
            <a:off x="4010264" y="3180516"/>
            <a:ext cx="10207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1</a:t>
            </a:r>
            <a:r>
              <a:rPr lang="en-AU" baseline="30000" dirty="0" smtClean="0">
                <a:solidFill>
                  <a:srgbClr val="FF0000"/>
                </a:solidFill>
              </a:rPr>
              <a:t>st</a:t>
            </a:r>
            <a:r>
              <a:rPr lang="en-AU" dirty="0" smtClean="0">
                <a:solidFill>
                  <a:srgbClr val="FF0000"/>
                </a:solidFill>
              </a:rPr>
              <a:t> Letter</a:t>
            </a:r>
            <a:endParaRPr lang="en-AU" dirty="0">
              <a:solidFill>
                <a:srgbClr val="FF0000"/>
              </a:solidFill>
            </a:endParaRPr>
          </a:p>
        </p:txBody>
      </p:sp>
      <p:pic>
        <p:nvPicPr>
          <p:cNvPr id="1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34" t="11993" r="64765" b="18648"/>
          <a:stretch/>
        </p:blipFill>
        <p:spPr bwMode="auto">
          <a:xfrm>
            <a:off x="4925300" y="3298586"/>
            <a:ext cx="1073343" cy="33542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7" name="TextBox 16"/>
          <p:cNvSpPr txBox="1"/>
          <p:nvPr/>
        </p:nvSpPr>
        <p:spPr>
          <a:xfrm>
            <a:off x="5698778" y="3269750"/>
            <a:ext cx="38723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A</a:t>
            </a:r>
          </a:p>
          <a:p>
            <a:r>
              <a:rPr lang="en-AU" dirty="0"/>
              <a:t>T</a:t>
            </a:r>
            <a:endParaRPr lang="en-AU" dirty="0" smtClean="0"/>
          </a:p>
          <a:p>
            <a:r>
              <a:rPr lang="en-AU" dirty="0" smtClean="0"/>
              <a:t>H</a:t>
            </a:r>
          </a:p>
          <a:p>
            <a:r>
              <a:rPr lang="en-AU" dirty="0" smtClean="0"/>
              <a:t>M</a:t>
            </a:r>
          </a:p>
          <a:p>
            <a:r>
              <a:rPr lang="en-AU" dirty="0" smtClean="0"/>
              <a:t>T</a:t>
            </a:r>
          </a:p>
          <a:p>
            <a:r>
              <a:rPr lang="en-AU" dirty="0" smtClean="0"/>
              <a:t>H</a:t>
            </a:r>
          </a:p>
          <a:p>
            <a:r>
              <a:rPr lang="en-AU" dirty="0" smtClean="0"/>
              <a:t>M</a:t>
            </a:r>
          </a:p>
          <a:p>
            <a:r>
              <a:rPr lang="en-AU" dirty="0" smtClean="0"/>
              <a:t>A</a:t>
            </a:r>
          </a:p>
          <a:p>
            <a:r>
              <a:rPr lang="en-AU" dirty="0" smtClean="0"/>
              <a:t>H</a:t>
            </a:r>
          </a:p>
          <a:p>
            <a:r>
              <a:rPr lang="en-AU" dirty="0" smtClean="0"/>
              <a:t>MA</a:t>
            </a:r>
          </a:p>
          <a:p>
            <a:r>
              <a:rPr lang="en-AU" dirty="0"/>
              <a:t>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20355" y="2931450"/>
            <a:ext cx="1070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2</a:t>
            </a:r>
            <a:r>
              <a:rPr lang="en-AU" baseline="30000" dirty="0" smtClean="0">
                <a:solidFill>
                  <a:srgbClr val="FF0000"/>
                </a:solidFill>
              </a:rPr>
              <a:t>nd</a:t>
            </a:r>
            <a:r>
              <a:rPr lang="en-AU" dirty="0" smtClean="0">
                <a:solidFill>
                  <a:srgbClr val="FF0000"/>
                </a:solidFill>
              </a:rPr>
              <a:t> Letter</a:t>
            </a:r>
            <a:endParaRPr lang="en-AU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47959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9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2550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Tree Diagrams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93471" y="1078502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 can I list the outcomes for multiple events? </a:t>
            </a:r>
            <a:endParaRPr lang="en-AU" sz="2400" dirty="0"/>
          </a:p>
        </p:txBody>
      </p:sp>
      <p:sp>
        <p:nvSpPr>
          <p:cNvPr id="5" name="Rectangle 4"/>
          <p:cNvSpPr/>
          <p:nvPr/>
        </p:nvSpPr>
        <p:spPr>
          <a:xfrm>
            <a:off x="2968849" y="2060848"/>
            <a:ext cx="60814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dirty="0" smtClean="0"/>
              <a:t>Tree diagrams list the sample space for multistage experiments</a:t>
            </a:r>
            <a:endParaRPr lang="en-AU" dirty="0"/>
          </a:p>
        </p:txBody>
      </p:sp>
      <p:sp>
        <p:nvSpPr>
          <p:cNvPr id="3" name="Rectangle 2"/>
          <p:cNvSpPr/>
          <p:nvPr/>
        </p:nvSpPr>
        <p:spPr>
          <a:xfrm>
            <a:off x="2992687" y="2564904"/>
            <a:ext cx="603066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 smtClean="0"/>
              <a:t>Example : Two </a:t>
            </a:r>
            <a:r>
              <a:rPr lang="en-AU" dirty="0"/>
              <a:t>letters are chosen from the work </a:t>
            </a:r>
            <a:r>
              <a:rPr lang="en-AU" dirty="0" smtClean="0"/>
              <a:t>MATH without replacement</a:t>
            </a:r>
            <a:endParaRPr lang="en-A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33" t="11993" r="72692" b="18648"/>
          <a:stretch/>
        </p:blipFill>
        <p:spPr bwMode="auto">
          <a:xfrm>
            <a:off x="3330339" y="3300782"/>
            <a:ext cx="1241661" cy="33542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4303262" y="3549848"/>
            <a:ext cx="4347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 M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4325179" y="4288450"/>
            <a:ext cx="3706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 A</a:t>
            </a:r>
            <a:endParaRPr lang="en-AU" dirty="0"/>
          </a:p>
        </p:txBody>
      </p:sp>
      <p:sp>
        <p:nvSpPr>
          <p:cNvPr id="15" name="TextBox 14"/>
          <p:cNvSpPr txBox="1"/>
          <p:nvPr/>
        </p:nvSpPr>
        <p:spPr>
          <a:xfrm>
            <a:off x="4325179" y="5229200"/>
            <a:ext cx="3497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 T</a:t>
            </a:r>
            <a:endParaRPr lang="en-AU" dirty="0"/>
          </a:p>
        </p:txBody>
      </p:sp>
      <p:sp>
        <p:nvSpPr>
          <p:cNvPr id="16" name="TextBox 15"/>
          <p:cNvSpPr txBox="1"/>
          <p:nvPr/>
        </p:nvSpPr>
        <p:spPr>
          <a:xfrm>
            <a:off x="4303262" y="6049739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 H</a:t>
            </a:r>
            <a:endParaRPr lang="en-AU" dirty="0"/>
          </a:p>
        </p:txBody>
      </p:sp>
      <p:sp>
        <p:nvSpPr>
          <p:cNvPr id="13" name="TextBox 12"/>
          <p:cNvSpPr txBox="1"/>
          <p:nvPr/>
        </p:nvSpPr>
        <p:spPr>
          <a:xfrm>
            <a:off x="4010264" y="3180516"/>
            <a:ext cx="10207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1</a:t>
            </a:r>
            <a:r>
              <a:rPr lang="en-AU" baseline="30000" dirty="0" smtClean="0">
                <a:solidFill>
                  <a:srgbClr val="FF0000"/>
                </a:solidFill>
              </a:rPr>
              <a:t>st</a:t>
            </a:r>
            <a:r>
              <a:rPr lang="en-AU" dirty="0" smtClean="0">
                <a:solidFill>
                  <a:srgbClr val="FF0000"/>
                </a:solidFill>
              </a:rPr>
              <a:t> Letter</a:t>
            </a:r>
            <a:endParaRPr lang="en-AU" dirty="0">
              <a:solidFill>
                <a:srgbClr val="FF0000"/>
              </a:solidFill>
            </a:endParaRPr>
          </a:p>
        </p:txBody>
      </p:sp>
      <p:pic>
        <p:nvPicPr>
          <p:cNvPr id="1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34" t="11993" r="64765" b="18648"/>
          <a:stretch/>
        </p:blipFill>
        <p:spPr bwMode="auto">
          <a:xfrm>
            <a:off x="4925300" y="3298586"/>
            <a:ext cx="1073343" cy="33542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7" name="TextBox 16"/>
          <p:cNvSpPr txBox="1"/>
          <p:nvPr/>
        </p:nvSpPr>
        <p:spPr>
          <a:xfrm>
            <a:off x="5698778" y="3269750"/>
            <a:ext cx="38723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A</a:t>
            </a:r>
          </a:p>
          <a:p>
            <a:r>
              <a:rPr lang="en-AU" dirty="0"/>
              <a:t>T</a:t>
            </a:r>
            <a:endParaRPr lang="en-AU" dirty="0" smtClean="0"/>
          </a:p>
          <a:p>
            <a:r>
              <a:rPr lang="en-AU" dirty="0" smtClean="0"/>
              <a:t>H</a:t>
            </a:r>
          </a:p>
          <a:p>
            <a:r>
              <a:rPr lang="en-AU" dirty="0" smtClean="0"/>
              <a:t>M</a:t>
            </a:r>
          </a:p>
          <a:p>
            <a:r>
              <a:rPr lang="en-AU" dirty="0" smtClean="0"/>
              <a:t>T</a:t>
            </a:r>
          </a:p>
          <a:p>
            <a:r>
              <a:rPr lang="en-AU" dirty="0" smtClean="0"/>
              <a:t>H</a:t>
            </a:r>
          </a:p>
          <a:p>
            <a:r>
              <a:rPr lang="en-AU" dirty="0" smtClean="0"/>
              <a:t>M</a:t>
            </a:r>
          </a:p>
          <a:p>
            <a:r>
              <a:rPr lang="en-AU" dirty="0" smtClean="0"/>
              <a:t>A</a:t>
            </a:r>
          </a:p>
          <a:p>
            <a:r>
              <a:rPr lang="en-AU" dirty="0" smtClean="0"/>
              <a:t>H</a:t>
            </a:r>
          </a:p>
          <a:p>
            <a:r>
              <a:rPr lang="en-AU" dirty="0" smtClean="0"/>
              <a:t>MA</a:t>
            </a:r>
          </a:p>
          <a:p>
            <a:r>
              <a:rPr lang="en-AU" dirty="0"/>
              <a:t>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20355" y="2931450"/>
            <a:ext cx="1070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2</a:t>
            </a:r>
            <a:r>
              <a:rPr lang="en-AU" baseline="30000" dirty="0" smtClean="0">
                <a:solidFill>
                  <a:srgbClr val="FF0000"/>
                </a:solidFill>
              </a:rPr>
              <a:t>nd</a:t>
            </a:r>
            <a:r>
              <a:rPr lang="en-AU" dirty="0" smtClean="0">
                <a:solidFill>
                  <a:srgbClr val="FF0000"/>
                </a:solidFill>
              </a:rPr>
              <a:t> Letter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928810" y="2882943"/>
            <a:ext cx="10503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Outcome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260366" y="3300782"/>
            <a:ext cx="55199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MA</a:t>
            </a:r>
          </a:p>
          <a:p>
            <a:r>
              <a:rPr lang="en-AU" dirty="0" smtClean="0"/>
              <a:t>MT</a:t>
            </a:r>
          </a:p>
          <a:p>
            <a:r>
              <a:rPr lang="en-AU" dirty="0" smtClean="0"/>
              <a:t>MH</a:t>
            </a:r>
          </a:p>
          <a:p>
            <a:r>
              <a:rPr lang="en-AU" dirty="0" smtClean="0"/>
              <a:t>AM</a:t>
            </a:r>
          </a:p>
          <a:p>
            <a:r>
              <a:rPr lang="en-AU" dirty="0" smtClean="0"/>
              <a:t>AT</a:t>
            </a:r>
          </a:p>
          <a:p>
            <a:r>
              <a:rPr lang="en-AU" dirty="0" smtClean="0"/>
              <a:t>AH</a:t>
            </a:r>
          </a:p>
          <a:p>
            <a:r>
              <a:rPr lang="en-AU" dirty="0" smtClean="0"/>
              <a:t>TM</a:t>
            </a:r>
          </a:p>
          <a:p>
            <a:r>
              <a:rPr lang="en-AU" dirty="0" smtClean="0"/>
              <a:t>TA</a:t>
            </a:r>
          </a:p>
          <a:p>
            <a:r>
              <a:rPr lang="en-AU" dirty="0" smtClean="0"/>
              <a:t>TH</a:t>
            </a:r>
          </a:p>
          <a:p>
            <a:r>
              <a:rPr lang="en-AU" dirty="0" smtClean="0"/>
              <a:t>HMHA</a:t>
            </a:r>
          </a:p>
          <a:p>
            <a:r>
              <a:rPr lang="en-AU" dirty="0" smtClean="0"/>
              <a:t>HT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031275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9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2550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Tree Diagrams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93471" y="1078502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 can I list the outcomes for multiple events? </a:t>
            </a:r>
            <a:endParaRPr lang="en-AU" sz="2400" dirty="0"/>
          </a:p>
        </p:txBody>
      </p:sp>
      <p:sp>
        <p:nvSpPr>
          <p:cNvPr id="5" name="Rectangle 4"/>
          <p:cNvSpPr/>
          <p:nvPr/>
        </p:nvSpPr>
        <p:spPr>
          <a:xfrm>
            <a:off x="2968849" y="2060848"/>
            <a:ext cx="60814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dirty="0" smtClean="0"/>
              <a:t>Tree diagrams list the sample space for multistage experiments</a:t>
            </a:r>
            <a:endParaRPr lang="en-AU" dirty="0"/>
          </a:p>
        </p:txBody>
      </p:sp>
      <p:sp>
        <p:nvSpPr>
          <p:cNvPr id="3" name="Rectangle 2"/>
          <p:cNvSpPr/>
          <p:nvPr/>
        </p:nvSpPr>
        <p:spPr>
          <a:xfrm>
            <a:off x="2992687" y="2564904"/>
            <a:ext cx="603066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 smtClean="0"/>
              <a:t>Example : Two </a:t>
            </a:r>
            <a:r>
              <a:rPr lang="en-AU" dirty="0"/>
              <a:t>letters are chosen from the work </a:t>
            </a:r>
            <a:r>
              <a:rPr lang="en-AU" dirty="0" smtClean="0"/>
              <a:t>MATH without replacement</a:t>
            </a:r>
            <a:endParaRPr lang="en-A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33" t="11993" r="72692" b="18648"/>
          <a:stretch/>
        </p:blipFill>
        <p:spPr bwMode="auto">
          <a:xfrm>
            <a:off x="3330339" y="3300782"/>
            <a:ext cx="1241661" cy="33542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4303262" y="3549848"/>
            <a:ext cx="4347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 M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4325179" y="4288450"/>
            <a:ext cx="3706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 A</a:t>
            </a:r>
            <a:endParaRPr lang="en-AU" dirty="0"/>
          </a:p>
        </p:txBody>
      </p:sp>
      <p:sp>
        <p:nvSpPr>
          <p:cNvPr id="15" name="TextBox 14"/>
          <p:cNvSpPr txBox="1"/>
          <p:nvPr/>
        </p:nvSpPr>
        <p:spPr>
          <a:xfrm>
            <a:off x="4325179" y="5229200"/>
            <a:ext cx="3497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 T</a:t>
            </a:r>
            <a:endParaRPr lang="en-AU" dirty="0"/>
          </a:p>
        </p:txBody>
      </p:sp>
      <p:sp>
        <p:nvSpPr>
          <p:cNvPr id="16" name="TextBox 15"/>
          <p:cNvSpPr txBox="1"/>
          <p:nvPr/>
        </p:nvSpPr>
        <p:spPr>
          <a:xfrm>
            <a:off x="4303262" y="6049739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 H</a:t>
            </a:r>
            <a:endParaRPr lang="en-AU" dirty="0"/>
          </a:p>
        </p:txBody>
      </p:sp>
      <p:sp>
        <p:nvSpPr>
          <p:cNvPr id="13" name="TextBox 12"/>
          <p:cNvSpPr txBox="1"/>
          <p:nvPr/>
        </p:nvSpPr>
        <p:spPr>
          <a:xfrm>
            <a:off x="4010264" y="3180516"/>
            <a:ext cx="10207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1</a:t>
            </a:r>
            <a:r>
              <a:rPr lang="en-AU" baseline="30000" dirty="0" smtClean="0">
                <a:solidFill>
                  <a:srgbClr val="FF0000"/>
                </a:solidFill>
              </a:rPr>
              <a:t>st</a:t>
            </a:r>
            <a:r>
              <a:rPr lang="en-AU" dirty="0" smtClean="0">
                <a:solidFill>
                  <a:srgbClr val="FF0000"/>
                </a:solidFill>
              </a:rPr>
              <a:t> Letter</a:t>
            </a:r>
            <a:endParaRPr lang="en-AU" dirty="0">
              <a:solidFill>
                <a:srgbClr val="FF0000"/>
              </a:solidFill>
            </a:endParaRPr>
          </a:p>
        </p:txBody>
      </p:sp>
      <p:pic>
        <p:nvPicPr>
          <p:cNvPr id="1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34" t="11993" r="64765" b="18648"/>
          <a:stretch/>
        </p:blipFill>
        <p:spPr bwMode="auto">
          <a:xfrm>
            <a:off x="4925300" y="3298586"/>
            <a:ext cx="1073343" cy="33542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7" name="TextBox 16"/>
          <p:cNvSpPr txBox="1"/>
          <p:nvPr/>
        </p:nvSpPr>
        <p:spPr>
          <a:xfrm>
            <a:off x="5698778" y="3269750"/>
            <a:ext cx="38723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A</a:t>
            </a:r>
          </a:p>
          <a:p>
            <a:r>
              <a:rPr lang="en-AU" dirty="0"/>
              <a:t>T</a:t>
            </a:r>
            <a:endParaRPr lang="en-AU" dirty="0" smtClean="0"/>
          </a:p>
          <a:p>
            <a:r>
              <a:rPr lang="en-AU" dirty="0" smtClean="0"/>
              <a:t>H</a:t>
            </a:r>
          </a:p>
          <a:p>
            <a:r>
              <a:rPr lang="en-AU" dirty="0" smtClean="0"/>
              <a:t>M</a:t>
            </a:r>
          </a:p>
          <a:p>
            <a:r>
              <a:rPr lang="en-AU" dirty="0" smtClean="0"/>
              <a:t>T</a:t>
            </a:r>
          </a:p>
          <a:p>
            <a:r>
              <a:rPr lang="en-AU" dirty="0" smtClean="0"/>
              <a:t>H</a:t>
            </a:r>
          </a:p>
          <a:p>
            <a:r>
              <a:rPr lang="en-AU" dirty="0" smtClean="0"/>
              <a:t>M</a:t>
            </a:r>
          </a:p>
          <a:p>
            <a:r>
              <a:rPr lang="en-AU" dirty="0" smtClean="0"/>
              <a:t>A</a:t>
            </a:r>
          </a:p>
          <a:p>
            <a:r>
              <a:rPr lang="en-AU" dirty="0" smtClean="0"/>
              <a:t>H</a:t>
            </a:r>
          </a:p>
          <a:p>
            <a:r>
              <a:rPr lang="en-AU" dirty="0" smtClean="0"/>
              <a:t>MA</a:t>
            </a:r>
          </a:p>
          <a:p>
            <a:r>
              <a:rPr lang="en-AU" dirty="0"/>
              <a:t>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20355" y="2931450"/>
            <a:ext cx="1070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2</a:t>
            </a:r>
            <a:r>
              <a:rPr lang="en-AU" baseline="30000" dirty="0" smtClean="0">
                <a:solidFill>
                  <a:srgbClr val="FF0000"/>
                </a:solidFill>
              </a:rPr>
              <a:t>nd</a:t>
            </a:r>
            <a:r>
              <a:rPr lang="en-AU" dirty="0" smtClean="0">
                <a:solidFill>
                  <a:srgbClr val="FF0000"/>
                </a:solidFill>
              </a:rPr>
              <a:t> Letter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928810" y="2882943"/>
            <a:ext cx="11401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Outcomes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260366" y="3300782"/>
            <a:ext cx="55199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MA</a:t>
            </a:r>
          </a:p>
          <a:p>
            <a:r>
              <a:rPr lang="en-AU" dirty="0" smtClean="0"/>
              <a:t>MT</a:t>
            </a:r>
          </a:p>
          <a:p>
            <a:r>
              <a:rPr lang="en-AU" dirty="0" smtClean="0"/>
              <a:t>MH</a:t>
            </a:r>
          </a:p>
          <a:p>
            <a:r>
              <a:rPr lang="en-AU" dirty="0" smtClean="0"/>
              <a:t>AM</a:t>
            </a:r>
          </a:p>
          <a:p>
            <a:r>
              <a:rPr lang="en-AU" dirty="0" smtClean="0"/>
              <a:t>AT</a:t>
            </a:r>
          </a:p>
          <a:p>
            <a:r>
              <a:rPr lang="en-AU" dirty="0" smtClean="0"/>
              <a:t>AH</a:t>
            </a:r>
          </a:p>
          <a:p>
            <a:r>
              <a:rPr lang="en-AU" dirty="0" smtClean="0"/>
              <a:t>TM</a:t>
            </a:r>
          </a:p>
          <a:p>
            <a:r>
              <a:rPr lang="en-AU" dirty="0" smtClean="0"/>
              <a:t>TA</a:t>
            </a:r>
          </a:p>
          <a:p>
            <a:r>
              <a:rPr lang="en-AU" dirty="0" smtClean="0"/>
              <a:t>TH</a:t>
            </a:r>
          </a:p>
          <a:p>
            <a:r>
              <a:rPr lang="en-AU" dirty="0" smtClean="0"/>
              <a:t>HMHA</a:t>
            </a:r>
          </a:p>
          <a:p>
            <a:r>
              <a:rPr lang="en-AU" dirty="0" smtClean="0"/>
              <a:t>HT</a:t>
            </a:r>
            <a:endParaRPr lang="en-AU" dirty="0"/>
          </a:p>
        </p:txBody>
      </p:sp>
      <p:sp>
        <p:nvSpPr>
          <p:cNvPr id="19" name="TextBox 18"/>
          <p:cNvSpPr txBox="1"/>
          <p:nvPr/>
        </p:nvSpPr>
        <p:spPr>
          <a:xfrm>
            <a:off x="7866030" y="4288450"/>
            <a:ext cx="14412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12 </a:t>
            </a:r>
          </a:p>
          <a:p>
            <a:r>
              <a:rPr lang="en-AU" dirty="0" smtClean="0">
                <a:solidFill>
                  <a:srgbClr val="FF0000"/>
                </a:solidFill>
              </a:rPr>
              <a:t>Outcomes</a:t>
            </a:r>
            <a:endParaRPr lang="en-AU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5991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39088" y="5869657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9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2550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Tree Diagrams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93471" y="1078502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 can I list the outcomes for multiple events? </a:t>
            </a:r>
            <a:endParaRPr lang="en-AU" sz="2400" dirty="0"/>
          </a:p>
        </p:txBody>
      </p:sp>
      <p:sp>
        <p:nvSpPr>
          <p:cNvPr id="3" name="Rectangle 2"/>
          <p:cNvSpPr/>
          <p:nvPr/>
        </p:nvSpPr>
        <p:spPr>
          <a:xfrm>
            <a:off x="2983311" y="1945893"/>
            <a:ext cx="603066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 smtClean="0"/>
              <a:t>Example : Two </a:t>
            </a:r>
            <a:r>
              <a:rPr lang="en-AU" dirty="0"/>
              <a:t>letters are chosen from the work </a:t>
            </a:r>
            <a:r>
              <a:rPr lang="en-AU" dirty="0" smtClean="0"/>
              <a:t>MATH without replacement</a:t>
            </a:r>
            <a:endParaRPr lang="en-A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33" t="11993" r="72692" b="18648"/>
          <a:stretch/>
        </p:blipFill>
        <p:spPr bwMode="auto">
          <a:xfrm>
            <a:off x="3320963" y="2681771"/>
            <a:ext cx="1241661" cy="33542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4293886" y="2930837"/>
            <a:ext cx="4347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 M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4315803" y="3669439"/>
            <a:ext cx="3706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 A</a:t>
            </a:r>
            <a:endParaRPr lang="en-AU" dirty="0"/>
          </a:p>
        </p:txBody>
      </p:sp>
      <p:sp>
        <p:nvSpPr>
          <p:cNvPr id="15" name="TextBox 14"/>
          <p:cNvSpPr txBox="1"/>
          <p:nvPr/>
        </p:nvSpPr>
        <p:spPr>
          <a:xfrm>
            <a:off x="4315803" y="4610189"/>
            <a:ext cx="3497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 T</a:t>
            </a:r>
            <a:endParaRPr lang="en-AU" dirty="0"/>
          </a:p>
        </p:txBody>
      </p:sp>
      <p:sp>
        <p:nvSpPr>
          <p:cNvPr id="16" name="TextBox 15"/>
          <p:cNvSpPr txBox="1"/>
          <p:nvPr/>
        </p:nvSpPr>
        <p:spPr>
          <a:xfrm>
            <a:off x="4293886" y="5430728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 H</a:t>
            </a:r>
            <a:endParaRPr lang="en-AU" dirty="0"/>
          </a:p>
        </p:txBody>
      </p:sp>
      <p:sp>
        <p:nvSpPr>
          <p:cNvPr id="13" name="TextBox 12"/>
          <p:cNvSpPr txBox="1"/>
          <p:nvPr/>
        </p:nvSpPr>
        <p:spPr>
          <a:xfrm>
            <a:off x="4000888" y="2561505"/>
            <a:ext cx="10207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1</a:t>
            </a:r>
            <a:r>
              <a:rPr lang="en-AU" baseline="30000" dirty="0" smtClean="0">
                <a:solidFill>
                  <a:srgbClr val="FF0000"/>
                </a:solidFill>
              </a:rPr>
              <a:t>st</a:t>
            </a:r>
            <a:r>
              <a:rPr lang="en-AU" dirty="0" smtClean="0">
                <a:solidFill>
                  <a:srgbClr val="FF0000"/>
                </a:solidFill>
              </a:rPr>
              <a:t> Letter</a:t>
            </a:r>
            <a:endParaRPr lang="en-AU" dirty="0">
              <a:solidFill>
                <a:srgbClr val="FF0000"/>
              </a:solidFill>
            </a:endParaRPr>
          </a:p>
        </p:txBody>
      </p:sp>
      <p:pic>
        <p:nvPicPr>
          <p:cNvPr id="1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34" t="11993" r="64765" b="18648"/>
          <a:stretch/>
        </p:blipFill>
        <p:spPr bwMode="auto">
          <a:xfrm>
            <a:off x="4915924" y="2679575"/>
            <a:ext cx="1073343" cy="33542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7" name="TextBox 16"/>
          <p:cNvSpPr txBox="1"/>
          <p:nvPr/>
        </p:nvSpPr>
        <p:spPr>
          <a:xfrm>
            <a:off x="5689402" y="2650739"/>
            <a:ext cx="38723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A</a:t>
            </a:r>
          </a:p>
          <a:p>
            <a:r>
              <a:rPr lang="en-AU" dirty="0"/>
              <a:t>T</a:t>
            </a:r>
            <a:endParaRPr lang="en-AU" dirty="0" smtClean="0"/>
          </a:p>
          <a:p>
            <a:r>
              <a:rPr lang="en-AU" dirty="0" smtClean="0"/>
              <a:t>H</a:t>
            </a:r>
          </a:p>
          <a:p>
            <a:r>
              <a:rPr lang="en-AU" dirty="0" smtClean="0"/>
              <a:t>M</a:t>
            </a:r>
          </a:p>
          <a:p>
            <a:r>
              <a:rPr lang="en-AU" dirty="0" smtClean="0"/>
              <a:t>T</a:t>
            </a:r>
          </a:p>
          <a:p>
            <a:r>
              <a:rPr lang="en-AU" dirty="0" smtClean="0"/>
              <a:t>H</a:t>
            </a:r>
          </a:p>
          <a:p>
            <a:r>
              <a:rPr lang="en-AU" dirty="0" smtClean="0"/>
              <a:t>M</a:t>
            </a:r>
          </a:p>
          <a:p>
            <a:r>
              <a:rPr lang="en-AU" dirty="0" smtClean="0"/>
              <a:t>A</a:t>
            </a:r>
          </a:p>
          <a:p>
            <a:r>
              <a:rPr lang="en-AU" dirty="0" smtClean="0"/>
              <a:t>H</a:t>
            </a:r>
          </a:p>
          <a:p>
            <a:r>
              <a:rPr lang="en-AU" dirty="0" smtClean="0"/>
              <a:t>MA</a:t>
            </a:r>
          </a:p>
          <a:p>
            <a:r>
              <a:rPr lang="en-AU" dirty="0"/>
              <a:t>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0979" y="2312439"/>
            <a:ext cx="1070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2</a:t>
            </a:r>
            <a:r>
              <a:rPr lang="en-AU" baseline="30000" dirty="0" smtClean="0">
                <a:solidFill>
                  <a:srgbClr val="FF0000"/>
                </a:solidFill>
              </a:rPr>
              <a:t>nd</a:t>
            </a:r>
            <a:r>
              <a:rPr lang="en-AU" dirty="0" smtClean="0">
                <a:solidFill>
                  <a:srgbClr val="FF0000"/>
                </a:solidFill>
              </a:rPr>
              <a:t> Letter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919434" y="2263932"/>
            <a:ext cx="11401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Outcomes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250990" y="2681771"/>
            <a:ext cx="55199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MA</a:t>
            </a:r>
          </a:p>
          <a:p>
            <a:r>
              <a:rPr lang="en-AU" dirty="0" smtClean="0"/>
              <a:t>MT</a:t>
            </a:r>
          </a:p>
          <a:p>
            <a:r>
              <a:rPr lang="en-AU" dirty="0" smtClean="0"/>
              <a:t>MH</a:t>
            </a:r>
          </a:p>
          <a:p>
            <a:r>
              <a:rPr lang="en-AU" dirty="0" smtClean="0"/>
              <a:t>AM</a:t>
            </a:r>
          </a:p>
          <a:p>
            <a:r>
              <a:rPr lang="en-AU" dirty="0" smtClean="0"/>
              <a:t>AT</a:t>
            </a:r>
          </a:p>
          <a:p>
            <a:r>
              <a:rPr lang="en-AU" dirty="0" smtClean="0"/>
              <a:t>AH</a:t>
            </a:r>
          </a:p>
          <a:p>
            <a:r>
              <a:rPr lang="en-AU" dirty="0" smtClean="0"/>
              <a:t>TM</a:t>
            </a:r>
          </a:p>
          <a:p>
            <a:r>
              <a:rPr lang="en-AU" dirty="0" smtClean="0"/>
              <a:t>TA</a:t>
            </a:r>
          </a:p>
          <a:p>
            <a:r>
              <a:rPr lang="en-AU" dirty="0" smtClean="0"/>
              <a:t>TH</a:t>
            </a:r>
          </a:p>
          <a:p>
            <a:r>
              <a:rPr lang="en-AU" dirty="0" smtClean="0"/>
              <a:t>HMHA</a:t>
            </a:r>
          </a:p>
          <a:p>
            <a:r>
              <a:rPr lang="en-AU" dirty="0" smtClean="0"/>
              <a:t>HT</a:t>
            </a:r>
            <a:endParaRPr lang="en-AU" dirty="0"/>
          </a:p>
        </p:txBody>
      </p:sp>
      <p:sp>
        <p:nvSpPr>
          <p:cNvPr id="19" name="TextBox 18"/>
          <p:cNvSpPr txBox="1"/>
          <p:nvPr/>
        </p:nvSpPr>
        <p:spPr>
          <a:xfrm>
            <a:off x="7856654" y="3669439"/>
            <a:ext cx="14412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12 </a:t>
            </a:r>
          </a:p>
          <a:p>
            <a:r>
              <a:rPr lang="en-AU" dirty="0" smtClean="0">
                <a:solidFill>
                  <a:srgbClr val="FF0000"/>
                </a:solidFill>
              </a:rPr>
              <a:t>Outcomes</a:t>
            </a:r>
            <a:endParaRPr lang="en-AU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/>
              <p:cNvSpPr txBox="1"/>
              <p:nvPr/>
            </p:nvSpPr>
            <p:spPr>
              <a:xfrm>
                <a:off x="3267441" y="6265059"/>
                <a:ext cx="1844864" cy="4834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Find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AU" b="0" i="1" smtClean="0">
                            <a:latin typeface="Cambria Math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AU" b="0" i="0" smtClean="0">
                            <a:latin typeface="Cambria Math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AU" b="0" i="1" smtClean="0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AU" b="0" i="1" smtClean="0">
                                <a:latin typeface="Cambria Math"/>
                              </a:rPr>
                              <m:t>𝐴𝑇</m:t>
                            </m:r>
                          </m:e>
                        </m:d>
                      </m:e>
                    </m:func>
                    <m:r>
                      <a:rPr lang="en-AU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AU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12</m:t>
                        </m:r>
                      </m:den>
                    </m:f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7441" y="6265059"/>
                <a:ext cx="1844864" cy="483466"/>
              </a:xfrm>
              <a:prstGeom prst="rect">
                <a:avLst/>
              </a:prstGeom>
              <a:blipFill rotWithShape="1">
                <a:blip r:embed="rId3"/>
                <a:stretch>
                  <a:fillRect l="-2970" b="-886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953659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Task Two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Page 527-529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7626605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 smtClean="0"/>
              <a:t>Fill in the questions on your Cornell Notes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67049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982</TotalTime>
  <Words>581</Words>
  <Application>Microsoft Office PowerPoint</Application>
  <PresentationFormat>On-screen Show (4:3)</PresentationFormat>
  <Paragraphs>230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My Probability Interactive Notebook</vt:lpstr>
      <vt:lpstr>Create your own front page</vt:lpstr>
      <vt:lpstr>PowerPoint Presentation</vt:lpstr>
      <vt:lpstr>PowerPoint Presentation</vt:lpstr>
      <vt:lpstr>Task One</vt:lpstr>
      <vt:lpstr>Task One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Task Two</vt:lpstr>
      <vt:lpstr>Fill in the questions on your Cornell Notes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RUST Joanne</cp:lastModifiedBy>
  <cp:revision>81</cp:revision>
  <dcterms:created xsi:type="dcterms:W3CDTF">2014-05-14T02:58:57Z</dcterms:created>
  <dcterms:modified xsi:type="dcterms:W3CDTF">2015-03-15T12:43:00Z</dcterms:modified>
</cp:coreProperties>
</file>
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-81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56C85-8323-46AD-A168-A6B7DEE1FCB3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9AA1A8-6133-46AF-BC7E-0709CCEEC6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8483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9AA1A8-6133-46AF-BC7E-0709CCEEC64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2234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589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2953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31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027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230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794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840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76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119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348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836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3551C-EEA9-4C48-ADA5-1137CEB2744D}" type="datetimeFigureOut">
              <a:rPr lang="en-AU" smtClean="0"/>
              <a:t>5/12/2016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FCA23-55C5-45C5-9F76-890B88C547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312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69269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EQ: How can we use trigonometric ratios to find the value of unknown angles?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2348880"/>
            <a:ext cx="6400800" cy="1752600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4098" name="Picture 2" descr="C:\Users\e4075868\AppData\Local\Microsoft\Windows\Temporary Internet Files\Content.IE5\4JPRA91W\777363-pool-table[1]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388997"/>
            <a:ext cx="4957142" cy="358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11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Trick shots</a:t>
            </a:r>
            <a:endParaRPr lang="en-AU" dirty="0"/>
          </a:p>
        </p:txBody>
      </p:sp>
      <p:pic>
        <p:nvPicPr>
          <p:cNvPr id="4" name="Pool Trick Shot They Said Was Impossible.mp4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7925" y="1600200"/>
            <a:ext cx="6789738" cy="4525963"/>
          </a:xfrm>
        </p:spPr>
      </p:pic>
    </p:spTree>
    <p:extLst>
      <p:ext uri="{BB962C8B-B14F-4D97-AF65-F5344CB8AC3E}">
        <p14:creationId xmlns:p14="http://schemas.microsoft.com/office/powerpoint/2010/main" val="358744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Will he make the shot?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Jimmy has just lost a game of pool and the white ball remains on the table. In his anguish, Jimmy decides to smash the white ball into a pocket.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He hits the ball on an angle of 60° to the end of the table.  </a:t>
            </a:r>
            <a:endParaRPr lang="en-AU" dirty="0"/>
          </a:p>
        </p:txBody>
      </p:sp>
      <p:pic>
        <p:nvPicPr>
          <p:cNvPr id="3074" name="Picture 2" descr="C:\Users\e4075868\AppData\Local\Microsoft\Windows\Temporary Internet Files\Content.IE5\JODDZX2B\pool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509120"/>
            <a:ext cx="2707778" cy="2187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06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Does the ball go in pocket B?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47" y="1656842"/>
            <a:ext cx="8235280" cy="4498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909087" y="2076516"/>
            <a:ext cx="3600400" cy="19129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755576" y="2026824"/>
            <a:ext cx="0" cy="19285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755576" y="2060848"/>
            <a:ext cx="375391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1224" y="287158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>
                <a:solidFill>
                  <a:srgbClr val="FF0000"/>
                </a:solidFill>
              </a:rPr>
              <a:t>4</a:t>
            </a:r>
            <a:endParaRPr lang="en-AU" sz="40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9752" y="24208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117576" y="1484784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>
                <a:solidFill>
                  <a:srgbClr val="FF0000"/>
                </a:solidFill>
              </a:rPr>
              <a:t>8</a:t>
            </a:r>
            <a:endParaRPr lang="en-AU" sz="40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3903" y="3383073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800" dirty="0" smtClean="0">
                <a:solidFill>
                  <a:srgbClr val="FF0000"/>
                </a:solidFill>
              </a:rPr>
              <a:t>θ</a:t>
            </a:r>
            <a:endParaRPr lang="en-AU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076056" y="2108552"/>
                <a:ext cx="3119023" cy="4456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Label sides</a:t>
                </a:r>
              </a:p>
              <a:p>
                <a:endParaRPr lang="en-AU" dirty="0"/>
              </a:p>
              <a:p>
                <a:r>
                  <a:rPr lang="en-AU" dirty="0" smtClean="0"/>
                  <a:t>Which ratio?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SOH CAH TOA</a:t>
                </a:r>
              </a:p>
              <a:p>
                <a:endParaRPr lang="en-AU" dirty="0"/>
              </a:p>
              <a:p>
                <a:r>
                  <a:rPr lang="en-AU" dirty="0" smtClean="0"/>
                  <a:t>Calculate the Angle.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𝑡𝑎𝑛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𝑜𝑝𝑝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𝐴𝑑𝑗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pPr/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𝑡𝑎𝑛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8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θ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unc>
                        <m:func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/>
                                  <a:ea typeface="Cambria Math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8/4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θ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=63.4°</m:t>
                      </m:r>
                    </m:oMath>
                  </m:oMathPara>
                </a14:m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2108552"/>
                <a:ext cx="3119023" cy="4456605"/>
              </a:xfrm>
              <a:prstGeom prst="rect">
                <a:avLst/>
              </a:prstGeom>
              <a:blipFill rotWithShape="1">
                <a:blip r:embed="rId3"/>
                <a:stretch>
                  <a:fillRect l="-1761" t="-6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 flipH="1">
            <a:off x="1930563" y="2153767"/>
            <a:ext cx="81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OPP</a:t>
            </a:r>
            <a:endParaRPr lang="en-AU" dirty="0"/>
          </a:p>
        </p:txBody>
      </p:sp>
      <p:sp>
        <p:nvSpPr>
          <p:cNvPr id="28" name="TextBox 27"/>
          <p:cNvSpPr txBox="1"/>
          <p:nvPr/>
        </p:nvSpPr>
        <p:spPr>
          <a:xfrm>
            <a:off x="742466" y="2874147"/>
            <a:ext cx="531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ADJ</a:t>
            </a:r>
            <a:endParaRPr lang="en-AU" dirty="0"/>
          </a:p>
        </p:txBody>
      </p:sp>
      <p:sp>
        <p:nvSpPr>
          <p:cNvPr id="29" name="Oval 28"/>
          <p:cNvSpPr/>
          <p:nvPr/>
        </p:nvSpPr>
        <p:spPr>
          <a:xfrm>
            <a:off x="6012161" y="3225526"/>
            <a:ext cx="622516" cy="353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2518834" y="6155745"/>
            <a:ext cx="451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The ball would miss pocket B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53458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/>
      <p:bldP spid="28" grpId="0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What angle does he need to get the ball in pocket c?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04" y="1666147"/>
            <a:ext cx="8235280" cy="4498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V="1">
            <a:off x="755576" y="2132856"/>
            <a:ext cx="7416824" cy="177343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55576" y="3102728"/>
            <a:ext cx="48442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4400" dirty="0" smtClean="0">
                <a:solidFill>
                  <a:srgbClr val="FF0000"/>
                </a:solidFill>
              </a:rPr>
              <a:t>θ</a:t>
            </a:r>
            <a:endParaRPr lang="en-AU" sz="4400" dirty="0">
              <a:solidFill>
                <a:srgbClr val="FF0000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755576" y="2132856"/>
            <a:ext cx="0" cy="17734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755576" y="2132856"/>
            <a:ext cx="74168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37874" y="1656841"/>
            <a:ext cx="684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>
                <a:solidFill>
                  <a:srgbClr val="FF0000"/>
                </a:solidFill>
              </a:rPr>
              <a:t>16</a:t>
            </a:r>
            <a:endParaRPr lang="en-AU" sz="3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6348" y="2810340"/>
            <a:ext cx="393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200" dirty="0" smtClean="0">
                <a:solidFill>
                  <a:srgbClr val="FF0000"/>
                </a:solidFill>
              </a:rPr>
              <a:t>4</a:t>
            </a:r>
            <a:endParaRPr lang="en-AU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782469" y="3108678"/>
                <a:ext cx="5778134" cy="27946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 smtClean="0"/>
                  <a:t>Label sides,</a:t>
                </a:r>
              </a:p>
              <a:p>
                <a:r>
                  <a:rPr lang="en-AU" dirty="0" smtClean="0"/>
                  <a:t> Which ratio?  SOH CAH TOA</a:t>
                </a:r>
                <a:endParaRPr lang="en-AU" dirty="0"/>
              </a:p>
              <a:p>
                <a:r>
                  <a:rPr lang="en-AU" dirty="0" smtClean="0"/>
                  <a:t>Calculate the Angle.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𝑡𝑎𝑛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𝑜𝑝𝑝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𝐴𝑑𝑗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pPr/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𝑡𝑎𝑛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16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θ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unc>
                        <m:func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/>
                                  <a:ea typeface="Cambria Math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16/4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θ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=76°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469" y="3108678"/>
                <a:ext cx="5778134" cy="2794611"/>
              </a:xfrm>
              <a:prstGeom prst="rect">
                <a:avLst/>
              </a:prstGeom>
              <a:blipFill rotWithShape="1">
                <a:blip r:embed="rId4"/>
                <a:stretch>
                  <a:fillRect l="-844" t="-1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 flipH="1">
            <a:off x="2934895" y="2153767"/>
            <a:ext cx="81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OPP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742466" y="2874147"/>
            <a:ext cx="531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ADJ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5316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The ball is now 2 squares from the side and 4 squares from pocket F.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32028"/>
            <a:ext cx="843592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6588224" y="4725144"/>
            <a:ext cx="0" cy="108012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 flipV="1">
            <a:off x="6588224" y="4725144"/>
            <a:ext cx="1872208" cy="10801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588224" y="4767184"/>
            <a:ext cx="3481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400" dirty="0" smtClean="0">
                <a:solidFill>
                  <a:srgbClr val="FF0000"/>
                </a:solidFill>
              </a:rPr>
              <a:t>θ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40624" y="478884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solidFill>
                  <a:srgbClr val="FF0000"/>
                </a:solidFill>
              </a:rPr>
              <a:t>4</a:t>
            </a:r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30113" y="508123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2</a:t>
            </a:r>
            <a:endParaRPr lang="en-A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331640" y="2031695"/>
                <a:ext cx="4572000" cy="308776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AU" dirty="0" smtClean="0"/>
                  <a:t>Label sides,</a:t>
                </a:r>
              </a:p>
              <a:p>
                <a:r>
                  <a:rPr lang="en-AU" dirty="0" smtClean="0"/>
                  <a:t> Which ratio?  SOH CAH TOA</a:t>
                </a:r>
                <a:endParaRPr lang="en-AU" dirty="0"/>
              </a:p>
              <a:p>
                <a:r>
                  <a:rPr lang="en-AU" dirty="0" smtClean="0"/>
                  <a:t>Calculate the Angle.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𝑐𝑜𝑠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𝐴𝑑𝑗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h𝑦𝑝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:pPr/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cos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θ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unc>
                        <m:func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/>
                                  <a:ea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   </m:t>
                          </m:r>
                        </m:fName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θ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=60°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2031695"/>
                <a:ext cx="4572000" cy="3087768"/>
              </a:xfrm>
              <a:prstGeom prst="rect">
                <a:avLst/>
              </a:prstGeom>
              <a:blipFill rotWithShape="1">
                <a:blip r:embed="rId3"/>
                <a:stretch>
                  <a:fillRect l="-1067" t="-9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48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Complete the practice sheet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790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Challenge: Find the angle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20" y="1772816"/>
            <a:ext cx="8676456" cy="4419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793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Solution</a:t>
            </a:r>
            <a:endParaRPr lang="en-AU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24744"/>
            <a:ext cx="7344816" cy="374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59632" y="4838828"/>
                <a:ext cx="1512168" cy="895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𝑡𝑎𝑛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50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=4.2</m:t>
                      </m:r>
                      <m:r>
                        <a:rPr lang="en-AU" b="0" i="1" smtClean="0">
                          <a:latin typeface="Cambria Math"/>
                        </a:rPr>
                        <m:t>𝑐𝑚</m:t>
                      </m:r>
                    </m:oMath>
                  </m:oMathPara>
                </a14:m>
                <a:endParaRPr lang="en-AU" b="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4838828"/>
                <a:ext cx="1512168" cy="89537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19872" y="4963350"/>
                <a:ext cx="15095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=20−4.2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=15.8</m:t>
                      </m:r>
                      <m:r>
                        <a:rPr lang="en-AU" b="0" i="1" smtClean="0">
                          <a:latin typeface="Cambria Math"/>
                        </a:rPr>
                        <m:t>𝑐𝑚</m:t>
                      </m:r>
                    </m:oMath>
                  </m:oMathPara>
                </a14:m>
                <a:endParaRPr lang="en-AU" b="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4963350"/>
                <a:ext cx="1509516" cy="646331"/>
              </a:xfrm>
              <a:prstGeom prst="rect">
                <a:avLst/>
              </a:prstGeom>
              <a:blipFill rotWithShape="1">
                <a:blip r:embed="rId4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86471" y="4898973"/>
                <a:ext cx="1685013" cy="1421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𝑡𝑎𝑛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15.8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θ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func>
                        <m:func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AU" b="0" i="0" smtClean="0">
                                  <a:latin typeface="Cambria Math"/>
                                  <a:ea typeface="Cambria Math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15.8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l-GR" b="1" i="1" smtClean="0">
                          <a:latin typeface="Cambria Math"/>
                          <a:ea typeface="Cambria Math"/>
                        </a:rPr>
                        <m:t>𝜽</m:t>
                      </m:r>
                      <m:r>
                        <a:rPr lang="en-AU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b="1" i="1" smtClean="0">
                          <a:latin typeface="Cambria Math"/>
                          <a:ea typeface="Cambria Math"/>
                        </a:rPr>
                        <m:t>𝟏𝟕</m:t>
                      </m:r>
                      <m:r>
                        <a:rPr lang="en-AU" b="1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AU" b="1" i="1" smtClean="0">
                          <a:latin typeface="Cambria Math"/>
                          <a:ea typeface="Cambria Math"/>
                        </a:rPr>
                        <m:t>𝟔</m:t>
                      </m:r>
                      <m:r>
                        <a:rPr lang="en-AU" b="1" i="1" smtClean="0">
                          <a:latin typeface="Cambria Math"/>
                          <a:ea typeface="Cambria Math"/>
                        </a:rPr>
                        <m:t>°</m:t>
                      </m:r>
                    </m:oMath>
                  </m:oMathPara>
                </a14:m>
                <a:endParaRPr lang="en-AU" b="1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471" y="4898973"/>
                <a:ext cx="1685013" cy="14214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771800" y="353236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x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5297609" y="353236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617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220</Words>
  <Application>Microsoft Office PowerPoint</Application>
  <PresentationFormat>On-screen Show (4:3)</PresentationFormat>
  <Paragraphs>52</Paragraphs>
  <Slides>9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EQ: How can we use trigonometric ratios to find the value of unknown angles?</vt:lpstr>
      <vt:lpstr>Trick shots</vt:lpstr>
      <vt:lpstr>Will he make the shot?</vt:lpstr>
      <vt:lpstr>Does the ball go in pocket B?</vt:lpstr>
      <vt:lpstr>What angle does he need to get the ball in pocket c?</vt:lpstr>
      <vt:lpstr>The ball is now 2 squares from the side and 4 squares from pocket F.</vt:lpstr>
      <vt:lpstr>Practice</vt:lpstr>
      <vt:lpstr>Challenge: Find the angle</vt:lpstr>
      <vt:lpstr>Solution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</dc:title>
  <dc:creator>MORGAN Adam</dc:creator>
  <cp:lastModifiedBy>MORGAN Adam</cp:lastModifiedBy>
  <cp:revision>21</cp:revision>
  <dcterms:created xsi:type="dcterms:W3CDTF">2016-12-01T02:10:54Z</dcterms:created>
  <dcterms:modified xsi:type="dcterms:W3CDTF">2016-12-05T00:26:40Z</dcterms:modified>
</cp:coreProperties>
</file>
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59" r:id="rId5"/>
    <p:sldId id="356" r:id="rId6"/>
    <p:sldId id="360" r:id="rId7"/>
    <p:sldId id="357" r:id="rId8"/>
    <p:sldId id="363" r:id="rId9"/>
    <p:sldId id="358" r:id="rId10"/>
    <p:sldId id="365" r:id="rId11"/>
    <p:sldId id="301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7" d="100"/>
          <a:sy n="77" d="100"/>
        </p:scale>
        <p:origin x="-252" y="-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Coordinate Geometry 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4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26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Gradient, Distance &amp; Midpoint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</a:t>
            </a:r>
            <a:r>
              <a:rPr lang="en-AU" sz="2400" dirty="0" smtClean="0"/>
              <a:t>gradient, distance &amp; midpoint between two points are calculated using formulae?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6642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4500563" y="703263"/>
          <a:ext cx="3914775" cy="401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3" imgW="5256000" imgH="5385600" progId="">
                  <p:embed/>
                </p:oleObj>
              </mc:Choice>
              <mc:Fallback>
                <p:oleObj r:id="rId3" imgW="5256000" imgH="5385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703263"/>
                        <a:ext cx="3914775" cy="401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57188" y="711200"/>
            <a:ext cx="41433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Let A (x</a:t>
            </a:r>
            <a:r>
              <a:rPr lang="en-US" baseline="-25000" dirty="0"/>
              <a:t>1 </a:t>
            </a:r>
            <a:r>
              <a:rPr lang="en-US" dirty="0"/>
              <a:t> , y</a:t>
            </a:r>
            <a:r>
              <a:rPr lang="en-US" baseline="-25000" dirty="0"/>
              <a:t>1</a:t>
            </a:r>
            <a:r>
              <a:rPr lang="en-US" dirty="0"/>
              <a:t> ) and B (x</a:t>
            </a:r>
            <a:r>
              <a:rPr lang="en-US" baseline="-25000" dirty="0"/>
              <a:t>2 </a:t>
            </a:r>
            <a:r>
              <a:rPr lang="en-US" dirty="0"/>
              <a:t> , y</a:t>
            </a:r>
            <a:r>
              <a:rPr lang="en-US" baseline="-25000" dirty="0"/>
              <a:t>2</a:t>
            </a:r>
            <a:r>
              <a:rPr lang="en-US" dirty="0"/>
              <a:t> ) be any two points on the Cartesian Plane</a:t>
            </a:r>
            <a:r>
              <a:rPr lang="en-US" dirty="0" smtClean="0"/>
              <a:t>.  We normally use the point on the left side as (</a:t>
            </a:r>
            <a:r>
              <a:rPr lang="en-US" dirty="0"/>
              <a:t>x</a:t>
            </a:r>
            <a:r>
              <a:rPr lang="en-US" baseline="-25000" dirty="0"/>
              <a:t>1 </a:t>
            </a:r>
            <a:r>
              <a:rPr lang="en-US" dirty="0"/>
              <a:t> , y</a:t>
            </a:r>
            <a:r>
              <a:rPr lang="en-US" baseline="-25000" dirty="0"/>
              <a:t>1</a:t>
            </a:r>
            <a:r>
              <a:rPr lang="en-US" dirty="0"/>
              <a:t> )</a:t>
            </a:r>
            <a:r>
              <a:rPr lang="en-US" dirty="0" smtClean="0"/>
              <a:t> </a:t>
            </a:r>
            <a:endParaRPr lang="en-AU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500813" y="1560513"/>
            <a:ext cx="1643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dirty="0">
                <a:sym typeface="Symbol" pitchFamily="18" charset="2"/>
              </a:rPr>
              <a:t> B </a:t>
            </a:r>
            <a:r>
              <a:rPr lang="en-US" dirty="0"/>
              <a:t>(x</a:t>
            </a:r>
            <a:r>
              <a:rPr lang="en-US" baseline="-25000" dirty="0"/>
              <a:t>2 </a:t>
            </a:r>
            <a:r>
              <a:rPr lang="en-US" dirty="0"/>
              <a:t> , y</a:t>
            </a:r>
            <a:r>
              <a:rPr lang="en-US" baseline="-25000" dirty="0"/>
              <a:t>2</a:t>
            </a:r>
            <a:r>
              <a:rPr lang="en-US" dirty="0"/>
              <a:t> ) </a:t>
            </a:r>
            <a:endParaRPr lang="en-AU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14938" y="2632075"/>
            <a:ext cx="1643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dirty="0">
                <a:sym typeface="Symbol" pitchFamily="18" charset="2"/>
              </a:rPr>
              <a:t> A </a:t>
            </a:r>
            <a:r>
              <a:rPr lang="en-US" dirty="0"/>
              <a:t>(x</a:t>
            </a:r>
            <a:r>
              <a:rPr lang="en-US" baseline="-25000" dirty="0"/>
              <a:t>1 </a:t>
            </a:r>
            <a:r>
              <a:rPr lang="en-US" dirty="0"/>
              <a:t> , y</a:t>
            </a:r>
            <a:r>
              <a:rPr lang="en-US" baseline="-25000" dirty="0"/>
              <a:t>1</a:t>
            </a:r>
            <a:r>
              <a:rPr lang="en-US" dirty="0"/>
              <a:t> ) 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rot="10800000" flipV="1">
            <a:off x="5357813" y="1774825"/>
            <a:ext cx="1285875" cy="1071563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7186" y="2078939"/>
            <a:ext cx="414337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The gradient of the line AB can be found by constructing a triangle with point C at the corner where the 90</a:t>
            </a:r>
            <a:r>
              <a:rPr lang="en-US" dirty="0">
                <a:sym typeface="Symbol" pitchFamily="18" charset="2"/>
              </a:rPr>
              <a:t> is.</a:t>
            </a:r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 rot="10800000">
            <a:off x="5357813" y="1776413"/>
            <a:ext cx="1285875" cy="0"/>
          </a:xfrm>
          <a:prstGeom prst="line">
            <a:avLst/>
          </a:prstGeom>
          <a:ln w="31750">
            <a:solidFill>
              <a:srgbClr val="2B6F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4830763" y="2330450"/>
            <a:ext cx="1054100" cy="0"/>
          </a:xfrm>
          <a:prstGeom prst="line">
            <a:avLst/>
          </a:prstGeom>
          <a:ln w="31750">
            <a:solidFill>
              <a:srgbClr val="2B6F3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000625" y="1487488"/>
            <a:ext cx="571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>
                <a:sym typeface="Symbol" pitchFamily="18" charset="2"/>
              </a:rPr>
              <a:t> C  </a:t>
            </a:r>
            <a:r>
              <a:rPr lang="en-US"/>
              <a:t> </a:t>
            </a:r>
            <a:endParaRPr lang="en-AU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57186" y="3102767"/>
            <a:ext cx="3857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The </a:t>
            </a:r>
            <a:r>
              <a:rPr lang="en-US" b="1" dirty="0"/>
              <a:t>GRADIENT </a:t>
            </a:r>
            <a:r>
              <a:rPr lang="en-US" dirty="0"/>
              <a:t>of AB is given by</a:t>
            </a:r>
            <a:endParaRPr lang="en-AU" dirty="0"/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718710"/>
              </p:ext>
            </p:extLst>
          </p:nvPr>
        </p:nvGraphicFramePr>
        <p:xfrm>
          <a:off x="1331640" y="3539267"/>
          <a:ext cx="14557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5" imgW="1002960" imgH="393480" progId="Equation.3">
                  <p:embed/>
                </p:oleObj>
              </mc:Choice>
              <mc:Fallback>
                <p:oleObj name="Equation" r:id="rId5" imgW="1002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539267"/>
                        <a:ext cx="1455737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57188" y="4214813"/>
            <a:ext cx="4357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To find the lengths of BC and AC, draw lines from A and B to the x and y axes</a:t>
            </a:r>
            <a:endParaRPr lang="en-AU"/>
          </a:p>
        </p:txBody>
      </p:sp>
      <p:cxnSp>
        <p:nvCxnSpPr>
          <p:cNvPr id="19" name="Straight Connector 18"/>
          <p:cNvCxnSpPr/>
          <p:nvPr/>
        </p:nvCxnSpPr>
        <p:spPr>
          <a:xfrm rot="10800000">
            <a:off x="4705350" y="1801813"/>
            <a:ext cx="642938" cy="0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>
            <a:off x="4714875" y="2900363"/>
            <a:ext cx="642938" cy="0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 flipH="1" flipV="1">
            <a:off x="4612482" y="3663156"/>
            <a:ext cx="1500188" cy="9525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 flipH="1" flipV="1">
            <a:off x="5362576" y="3127375"/>
            <a:ext cx="2571750" cy="9525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6429375" y="4262438"/>
            <a:ext cx="642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>
                <a:sym typeface="Symbol" pitchFamily="18" charset="2"/>
              </a:rPr>
              <a:t> </a:t>
            </a:r>
            <a:r>
              <a:rPr lang="en-US"/>
              <a:t>x</a:t>
            </a:r>
            <a:r>
              <a:rPr lang="en-US" baseline="-25000"/>
              <a:t>2</a:t>
            </a:r>
            <a:r>
              <a:rPr lang="en-US"/>
              <a:t> </a:t>
            </a:r>
            <a:endParaRPr lang="en-AU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143500" y="4275138"/>
            <a:ext cx="642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>
                <a:sym typeface="Symbol" pitchFamily="18" charset="2"/>
              </a:rPr>
              <a:t> </a:t>
            </a:r>
            <a:r>
              <a:rPr lang="en-US"/>
              <a:t>x</a:t>
            </a:r>
            <a:r>
              <a:rPr lang="en-US" baseline="-25000"/>
              <a:t>1</a:t>
            </a:r>
            <a:r>
              <a:rPr lang="en-US"/>
              <a:t> </a:t>
            </a:r>
            <a:endParaRPr lang="en-AU"/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40225" y="2632075"/>
            <a:ext cx="642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y</a:t>
            </a:r>
            <a:r>
              <a:rPr lang="en-US" baseline="-25000">
                <a:sym typeface="Symbol" pitchFamily="18" charset="2"/>
              </a:rPr>
              <a:t>1</a:t>
            </a:r>
            <a:r>
              <a:rPr lang="en-US"/>
              <a:t> </a:t>
            </a:r>
            <a:endParaRPr lang="en-AU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340225" y="1489075"/>
            <a:ext cx="642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y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/>
              <a:t> </a:t>
            </a:r>
            <a:endParaRPr lang="en-AU"/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428625" y="4929188"/>
            <a:ext cx="4429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And we can now label the points where these red dotted lines meet the axes.</a:t>
            </a:r>
            <a:endParaRPr lang="en-AU"/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5357813" y="4079875"/>
            <a:ext cx="1428750" cy="338138"/>
            <a:chOff x="5357818" y="3804826"/>
            <a:chExt cx="1428760" cy="338554"/>
          </a:xfrm>
        </p:grpSpPr>
        <p:sp>
          <p:nvSpPr>
            <p:cNvPr id="11302" name="TextBox 32"/>
            <p:cNvSpPr txBox="1">
              <a:spLocks noChangeArrowheads="1"/>
            </p:cNvSpPr>
            <p:nvPr/>
          </p:nvSpPr>
          <p:spPr bwMode="auto">
            <a:xfrm>
              <a:off x="5500694" y="3804826"/>
              <a:ext cx="12858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AU" sz="1600">
                  <a:sym typeface="Symbol" pitchFamily="18" charset="2"/>
                </a:rPr>
                <a:t> (</a:t>
              </a:r>
              <a:r>
                <a:rPr lang="en-US" sz="1600"/>
                <a:t>x</a:t>
              </a:r>
              <a:r>
                <a:rPr lang="en-US" sz="1600" baseline="-25000"/>
                <a:t>2 </a:t>
              </a:r>
              <a:r>
                <a:rPr lang="en-US" sz="1600"/>
                <a:t> – x</a:t>
              </a:r>
              <a:r>
                <a:rPr lang="en-US" sz="1600" baseline="-25000"/>
                <a:t>1</a:t>
              </a:r>
              <a:r>
                <a:rPr lang="en-US" sz="1600"/>
                <a:t>)</a:t>
              </a:r>
              <a:endParaRPr lang="en-AU" sz="160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6429387" y="4000329"/>
              <a:ext cx="214315" cy="15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10800000">
              <a:off x="5357818" y="4000329"/>
              <a:ext cx="285752" cy="15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5357813" y="1447800"/>
            <a:ext cx="1428750" cy="338138"/>
            <a:chOff x="5357818" y="1233058"/>
            <a:chExt cx="1428760" cy="338554"/>
          </a:xfrm>
        </p:grpSpPr>
        <p:sp>
          <p:nvSpPr>
            <p:cNvPr id="11299" name="TextBox 37"/>
            <p:cNvSpPr txBox="1">
              <a:spLocks noChangeArrowheads="1"/>
            </p:cNvSpPr>
            <p:nvPr/>
          </p:nvSpPr>
          <p:spPr bwMode="auto">
            <a:xfrm>
              <a:off x="5500694" y="1233058"/>
              <a:ext cx="12858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AU" sz="1600" dirty="0">
                  <a:sym typeface="Symbol" pitchFamily="18" charset="2"/>
                </a:rPr>
                <a:t> (</a:t>
              </a:r>
              <a:r>
                <a:rPr lang="en-US" sz="1600" dirty="0"/>
                <a:t>x</a:t>
              </a:r>
              <a:r>
                <a:rPr lang="en-US" sz="1600" baseline="-25000" dirty="0"/>
                <a:t>2 </a:t>
              </a:r>
              <a:r>
                <a:rPr lang="en-US" sz="1600" dirty="0"/>
                <a:t> – x</a:t>
              </a:r>
              <a:r>
                <a:rPr lang="en-US" sz="1600" baseline="-25000" dirty="0"/>
                <a:t>1</a:t>
              </a:r>
              <a:r>
                <a:rPr lang="en-US" sz="1600" dirty="0"/>
                <a:t>)</a:t>
              </a:r>
              <a:endParaRPr lang="en-AU" sz="1600" dirty="0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6429387" y="1428561"/>
              <a:ext cx="214315" cy="15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0800000">
              <a:off x="5357818" y="1428561"/>
              <a:ext cx="285752" cy="158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4357688" y="1765300"/>
            <a:ext cx="857250" cy="1143000"/>
            <a:chOff x="4357686" y="1562267"/>
            <a:chExt cx="857256" cy="1143008"/>
          </a:xfrm>
        </p:grpSpPr>
        <p:sp>
          <p:nvSpPr>
            <p:cNvPr id="11296" name="TextBox 45"/>
            <p:cNvSpPr txBox="1">
              <a:spLocks noChangeArrowheads="1"/>
            </p:cNvSpPr>
            <p:nvPr/>
          </p:nvSpPr>
          <p:spPr bwMode="auto">
            <a:xfrm>
              <a:off x="4357686" y="1918664"/>
              <a:ext cx="85725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400"/>
                <a:t>(y</a:t>
              </a:r>
              <a:r>
                <a:rPr lang="en-US" sz="1400" baseline="-25000"/>
                <a:t>2  </a:t>
              </a:r>
              <a:r>
                <a:rPr lang="en-US" sz="1400"/>
                <a:t> - y</a:t>
              </a:r>
              <a:r>
                <a:rPr lang="en-US" sz="1400" baseline="-25000"/>
                <a:t>1</a:t>
              </a:r>
              <a:r>
                <a:rPr lang="en-US" sz="1400"/>
                <a:t>)</a:t>
              </a:r>
              <a:endParaRPr lang="en-AU" sz="1400"/>
            </a:p>
          </p:txBody>
        </p:sp>
        <p:cxnSp>
          <p:nvCxnSpPr>
            <p:cNvPr id="48" name="Straight Arrow Connector 47"/>
            <p:cNvCxnSpPr>
              <a:stCxn id="11296" idx="0"/>
            </p:cNvCxnSpPr>
            <p:nvPr/>
          </p:nvCxnSpPr>
          <p:spPr>
            <a:xfrm rot="5400000" flipH="1" flipV="1">
              <a:off x="4607719" y="1739274"/>
              <a:ext cx="357191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11296" idx="2"/>
            </p:cNvCxnSpPr>
            <p:nvPr/>
          </p:nvCxnSpPr>
          <p:spPr>
            <a:xfrm rot="5400000">
              <a:off x="4548187" y="2465561"/>
              <a:ext cx="477840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000625" y="4572000"/>
            <a:ext cx="3500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7030A0"/>
                </a:solidFill>
              </a:rPr>
              <a:t>So now we know the rise is       y</a:t>
            </a:r>
            <a:r>
              <a:rPr lang="en-US" baseline="-25000">
                <a:solidFill>
                  <a:srgbClr val="7030A0"/>
                </a:solidFill>
              </a:rPr>
              <a:t>2 </a:t>
            </a:r>
            <a:r>
              <a:rPr lang="en-US">
                <a:solidFill>
                  <a:srgbClr val="7030A0"/>
                </a:solidFill>
              </a:rPr>
              <a:t>– y</a:t>
            </a:r>
            <a:r>
              <a:rPr lang="en-US" baseline="-25000">
                <a:solidFill>
                  <a:srgbClr val="7030A0"/>
                </a:solidFill>
              </a:rPr>
              <a:t>1 </a:t>
            </a:r>
            <a:r>
              <a:rPr lang="en-US">
                <a:solidFill>
                  <a:srgbClr val="7030A0"/>
                </a:solidFill>
              </a:rPr>
              <a:t> and the run is x</a:t>
            </a:r>
            <a:r>
              <a:rPr lang="en-US" baseline="-25000">
                <a:solidFill>
                  <a:srgbClr val="7030A0"/>
                </a:solidFill>
              </a:rPr>
              <a:t>2 </a:t>
            </a:r>
            <a:r>
              <a:rPr lang="en-US">
                <a:solidFill>
                  <a:srgbClr val="7030A0"/>
                </a:solidFill>
              </a:rPr>
              <a:t>– x</a:t>
            </a:r>
            <a:r>
              <a:rPr lang="en-US" baseline="-25000">
                <a:solidFill>
                  <a:srgbClr val="7030A0"/>
                </a:solidFill>
              </a:rPr>
              <a:t>1 </a:t>
            </a:r>
            <a:endParaRPr lang="en-AU">
              <a:solidFill>
                <a:srgbClr val="7030A0"/>
              </a:solidFill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6000750" y="5643563"/>
            <a:ext cx="1500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</a:rPr>
              <a:t>So    </a:t>
            </a:r>
            <a:r>
              <a:rPr lang="en-US" sz="2400"/>
              <a:t>m =</a:t>
            </a:r>
            <a:endParaRPr lang="en-AU" sz="2400"/>
          </a:p>
        </p:txBody>
      </p:sp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7500938" y="5500688"/>
          <a:ext cx="9588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7" imgW="482400" imgH="431640" progId="Equation.3">
                  <p:embed/>
                </p:oleObj>
              </mc:Choice>
              <mc:Fallback>
                <p:oleObj name="Equation" r:id="rId7" imgW="482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8" y="5500688"/>
                        <a:ext cx="95885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3"/>
          <p:cNvSpPr/>
          <p:nvPr/>
        </p:nvSpPr>
        <p:spPr>
          <a:xfrm>
            <a:off x="6643688" y="5572125"/>
            <a:ext cx="1928812" cy="928688"/>
          </a:xfrm>
          <a:prstGeom prst="rect">
            <a:avLst/>
          </a:prstGeom>
          <a:noFill/>
          <a:ln w="349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428625" y="5640388"/>
            <a:ext cx="4429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If we now subtract these numbers, we can calculate the distances</a:t>
            </a:r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714348" y="-71462"/>
            <a:ext cx="7916225" cy="92333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The Gradient Formula</a:t>
            </a:r>
            <a:endParaRPr lang="en-US" sz="5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647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26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Gradient, Distance &amp; Midpoint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</a:t>
            </a:r>
            <a:r>
              <a:rPr lang="en-AU" sz="2400" dirty="0" smtClean="0"/>
              <a:t>gradient, distance &amp; midpoint between two points are calculated using formulae?</a:t>
            </a:r>
            <a:endParaRPr lang="en-AU" sz="2400" dirty="0"/>
          </a:p>
        </p:txBody>
      </p:sp>
      <p:pic>
        <p:nvPicPr>
          <p:cNvPr id="13" name="Picture 12"/>
          <p:cNvPicPr/>
          <p:nvPr/>
        </p:nvPicPr>
        <p:blipFill rotWithShape="1">
          <a:blip r:embed="rId3"/>
          <a:srcRect l="74239" t="26644" r="13977" b="43161"/>
          <a:stretch/>
        </p:blipFill>
        <p:spPr bwMode="auto">
          <a:xfrm>
            <a:off x="4122954" y="2060848"/>
            <a:ext cx="3238500" cy="3124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7203" y="2708920"/>
                <a:ext cx="275660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Eg: Find the gradient between points (2,5) and (7,9)</a:t>
                </a:r>
              </a:p>
              <a:p>
                <a:r>
                  <a:rPr lang="en-AU" dirty="0" smtClean="0"/>
                  <a:t>Let point A be (2,5) and B be (7,9).</a:t>
                </a:r>
              </a:p>
              <a:p>
                <a:endParaRPr lang="en-AU" dirty="0"/>
              </a:p>
              <a:p>
                <a:r>
                  <a:rPr lang="en-AU" dirty="0" smtClean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" y="2708920"/>
                <a:ext cx="2756605" cy="2862322"/>
              </a:xfrm>
              <a:prstGeom prst="rect">
                <a:avLst/>
              </a:prstGeom>
              <a:blipFill rotWithShape="1">
                <a:blip r:embed="rId4"/>
                <a:stretch>
                  <a:fillRect l="-1766" t="-10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143850" y="5185048"/>
            <a:ext cx="2571750" cy="1000125"/>
            <a:chOff x="6000750" y="5500688"/>
            <a:chExt cx="2571750" cy="1000125"/>
          </a:xfrm>
        </p:grpSpPr>
        <p:sp>
          <p:nvSpPr>
            <p:cNvPr id="15" name="TextBox 14"/>
            <p:cNvSpPr txBox="1">
              <a:spLocks noChangeArrowheads="1"/>
            </p:cNvSpPr>
            <p:nvPr/>
          </p:nvSpPr>
          <p:spPr bwMode="auto">
            <a:xfrm>
              <a:off x="6000750" y="5643563"/>
              <a:ext cx="150018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FF0000"/>
                  </a:solidFill>
                </a:rPr>
                <a:t>So    </a:t>
              </a:r>
              <a:r>
                <a:rPr lang="en-US" sz="2400" dirty="0"/>
                <a:t>m =</a:t>
              </a:r>
              <a:endParaRPr lang="en-AU" sz="24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643688" y="5572125"/>
              <a:ext cx="1928812" cy="928688"/>
            </a:xfrm>
            <a:prstGeom prst="rect">
              <a:avLst/>
            </a:prstGeom>
            <a:noFill/>
            <a:ln w="349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AU"/>
            </a:p>
          </p:txBody>
        </p:sp>
        <p:graphicFrame>
          <p:nvGraphicFramePr>
            <p:cNvPr id="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7125040"/>
                </p:ext>
              </p:extLst>
            </p:nvPr>
          </p:nvGraphicFramePr>
          <p:xfrm>
            <a:off x="7500938" y="5500688"/>
            <a:ext cx="958850" cy="857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5" imgW="482391" imgH="431613" progId="Equation.3">
                    <p:embed/>
                  </p:oleObj>
                </mc:Choice>
                <mc:Fallback>
                  <p:oleObj name="Equation" r:id="rId5" imgW="482391" imgH="431613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0938" y="5500688"/>
                          <a:ext cx="958850" cy="857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910234" y="5256485"/>
                <a:ext cx="1436611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9−5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7−2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34" y="5256485"/>
                <a:ext cx="1436611" cy="61837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910235" y="6114463"/>
                <a:ext cx="2046142" cy="484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 Gradient (m)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235" y="6114463"/>
                <a:ext cx="2046142" cy="484620"/>
              </a:xfrm>
              <a:prstGeom prst="rect">
                <a:avLst/>
              </a:prstGeom>
              <a:blipFill rotWithShape="1">
                <a:blip r:embed="rId8"/>
                <a:stretch>
                  <a:fillRect l="-2687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81503" y="2060848"/>
            <a:ext cx="138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Gradient (m)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073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178" y="71414"/>
            <a:ext cx="754565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The Distance Formula</a:t>
            </a:r>
            <a:endParaRPr lang="en-US" sz="5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71500" y="1214438"/>
            <a:ext cx="800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</a:rPr>
              <a:t>Let A (x</a:t>
            </a:r>
            <a:r>
              <a:rPr lang="en-US" sz="2400" baseline="-250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 , y</a:t>
            </a:r>
            <a:r>
              <a:rPr lang="en-US" sz="2400" baseline="-250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) and B (x</a:t>
            </a:r>
            <a:r>
              <a:rPr lang="en-US" sz="2400" baseline="-25000">
                <a:solidFill>
                  <a:srgbClr val="FF0000"/>
                </a:solidFill>
              </a:rPr>
              <a:t>2 </a:t>
            </a:r>
            <a:r>
              <a:rPr lang="en-US" sz="2400">
                <a:solidFill>
                  <a:srgbClr val="FF0000"/>
                </a:solidFill>
              </a:rPr>
              <a:t>, y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) be two points.</a:t>
            </a:r>
            <a:endParaRPr lang="en-AU" sz="240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571625" y="1571625"/>
            <a:ext cx="5357813" cy="1500188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57313" y="2143125"/>
            <a:ext cx="2357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>
                <a:solidFill>
                  <a:srgbClr val="FF0000"/>
                </a:solidFill>
              </a:rPr>
              <a:t>A (x</a:t>
            </a:r>
            <a:r>
              <a:rPr lang="en-US" sz="3600" baseline="-25000">
                <a:solidFill>
                  <a:srgbClr val="FF0000"/>
                </a:solidFill>
              </a:rPr>
              <a:t>1</a:t>
            </a:r>
            <a:r>
              <a:rPr lang="en-US" sz="3600">
                <a:solidFill>
                  <a:srgbClr val="FF0000"/>
                </a:solidFill>
              </a:rPr>
              <a:t> , y</a:t>
            </a:r>
            <a:r>
              <a:rPr lang="en-US" sz="3600" baseline="-25000">
                <a:solidFill>
                  <a:srgbClr val="FF0000"/>
                </a:solidFill>
              </a:rPr>
              <a:t>1</a:t>
            </a:r>
            <a:r>
              <a:rPr lang="en-US" sz="3600">
                <a:solidFill>
                  <a:srgbClr val="FF0000"/>
                </a:solidFill>
              </a:rPr>
              <a:t>)</a:t>
            </a:r>
            <a:r>
              <a:rPr lang="en-AU" sz="3600">
                <a:sym typeface="Symbol" pitchFamily="18" charset="2"/>
              </a:rPr>
              <a:t> </a:t>
            </a:r>
            <a:endParaRPr lang="en-AU" sz="360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715125" y="1214438"/>
            <a:ext cx="2571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sz="3600">
                <a:sym typeface="Symbol" pitchFamily="18" charset="2"/>
              </a:rPr>
              <a:t> </a:t>
            </a:r>
            <a:r>
              <a:rPr lang="en-US" sz="360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sz="3600">
                <a:solidFill>
                  <a:srgbClr val="FF0000"/>
                </a:solidFill>
              </a:rPr>
              <a:t> (x</a:t>
            </a:r>
            <a:r>
              <a:rPr lang="en-US" sz="3600" baseline="-25000">
                <a:solidFill>
                  <a:srgbClr val="FF0000"/>
                </a:solidFill>
              </a:rPr>
              <a:t>2</a:t>
            </a:r>
            <a:r>
              <a:rPr lang="en-US" sz="3600">
                <a:solidFill>
                  <a:srgbClr val="FF0000"/>
                </a:solidFill>
              </a:rPr>
              <a:t> , y</a:t>
            </a:r>
            <a:r>
              <a:rPr lang="en-US" sz="3600" baseline="-25000">
                <a:solidFill>
                  <a:srgbClr val="FF0000"/>
                </a:solidFill>
              </a:rPr>
              <a:t>2</a:t>
            </a:r>
            <a:r>
              <a:rPr lang="en-US" sz="3600">
                <a:solidFill>
                  <a:srgbClr val="FF0000"/>
                </a:solidFill>
              </a:rPr>
              <a:t>)</a:t>
            </a:r>
            <a:endParaRPr lang="en-AU" sz="360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42938" y="3500438"/>
            <a:ext cx="7858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We often need to find </a:t>
            </a:r>
            <a:r>
              <a:rPr lang="en-US" sz="2400" i="1"/>
              <a:t>d</a:t>
            </a:r>
            <a:r>
              <a:rPr lang="en-US" sz="2400"/>
              <a:t>, the distance between A and B. This is found using </a:t>
            </a:r>
            <a:r>
              <a:rPr lang="en-US" sz="2400" b="1"/>
              <a:t>PYTHAGORAS</a:t>
            </a:r>
            <a:endParaRPr lang="en-AU" sz="2400"/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2493963" y="5345113"/>
          <a:ext cx="453548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1714320" imgH="279360" progId="Equation.3">
                  <p:embed/>
                </p:oleObj>
              </mc:Choice>
              <mc:Fallback>
                <p:oleObj name="Equation" r:id="rId3" imgW="1714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5345113"/>
                        <a:ext cx="4535487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2286000" y="5072063"/>
            <a:ext cx="5000625" cy="1285875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1500188" y="3000375"/>
            <a:ext cx="5429250" cy="71438"/>
          </a:xfrm>
          <a:prstGeom prst="line">
            <a:avLst/>
          </a:prstGeom>
          <a:ln w="6032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6215063" y="2286000"/>
            <a:ext cx="1428750" cy="0"/>
          </a:xfrm>
          <a:prstGeom prst="line">
            <a:avLst/>
          </a:prstGeom>
          <a:ln w="6032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929438" y="2143125"/>
            <a:ext cx="1214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y</a:t>
            </a:r>
            <a:r>
              <a:rPr lang="en-US" baseline="-25000"/>
              <a:t>2  </a:t>
            </a:r>
            <a:r>
              <a:rPr lang="en-US"/>
              <a:t>– y</a:t>
            </a:r>
            <a:r>
              <a:rPr lang="en-US" baseline="-25000"/>
              <a:t>1</a:t>
            </a:r>
            <a:r>
              <a:rPr lang="en-US"/>
              <a:t> </a:t>
            </a:r>
            <a:endParaRPr lang="en-AU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929063" y="2643188"/>
            <a:ext cx="1214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</a:t>
            </a:r>
            <a:r>
              <a:rPr lang="en-US" baseline="-25000"/>
              <a:t>2  </a:t>
            </a:r>
            <a:r>
              <a:rPr lang="en-US"/>
              <a:t>– x</a:t>
            </a:r>
            <a:r>
              <a:rPr lang="en-US" baseline="-25000"/>
              <a:t>1</a:t>
            </a:r>
            <a:r>
              <a:rPr lang="en-US"/>
              <a:t> </a:t>
            </a:r>
            <a:endParaRPr lang="en-AU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071938" y="1987550"/>
            <a:ext cx="1214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D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066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26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Gradient, Distance &amp; Midpoint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</a:t>
            </a:r>
            <a:r>
              <a:rPr lang="en-AU" sz="2400" dirty="0" smtClean="0"/>
              <a:t>gradient, distance &amp; midpoint between two points are calculated using formulae?</a:t>
            </a:r>
            <a:endParaRPr lang="en-AU" sz="2400" dirty="0"/>
          </a:p>
        </p:txBody>
      </p:sp>
      <p:pic>
        <p:nvPicPr>
          <p:cNvPr id="13" name="Picture 12"/>
          <p:cNvPicPr/>
          <p:nvPr/>
        </p:nvPicPr>
        <p:blipFill rotWithShape="1">
          <a:blip r:embed="rId3"/>
          <a:srcRect l="74239" t="26644" r="13977" b="43161"/>
          <a:stretch/>
        </p:blipFill>
        <p:spPr bwMode="auto">
          <a:xfrm>
            <a:off x="4122954" y="2060848"/>
            <a:ext cx="3238500" cy="3124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7203" y="2708920"/>
                <a:ext cx="275660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Eg: Find the distance between points (2,5) and (7,9)</a:t>
                </a:r>
              </a:p>
              <a:p>
                <a:r>
                  <a:rPr lang="en-AU" dirty="0" smtClean="0"/>
                  <a:t>Let point A be (2,5) and B be (7,9).</a:t>
                </a:r>
              </a:p>
              <a:p>
                <a:endParaRPr lang="en-AU" dirty="0"/>
              </a:p>
              <a:p>
                <a:r>
                  <a:rPr lang="en-AU" dirty="0" smtClean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" y="2708920"/>
                <a:ext cx="2756605" cy="2862322"/>
              </a:xfrm>
              <a:prstGeom prst="rect">
                <a:avLst/>
              </a:prstGeom>
              <a:blipFill rotWithShape="1">
                <a:blip r:embed="rId4"/>
                <a:stretch>
                  <a:fillRect l="-1766" t="-10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536165" y="6342285"/>
            <a:ext cx="2802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Distance = 6.40 to 2dp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81503" y="2060848"/>
            <a:ext cx="987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Distance</a:t>
            </a:r>
            <a:endParaRPr lang="en-AU" dirty="0"/>
          </a:p>
        </p:txBody>
      </p:sp>
      <p:grpSp>
        <p:nvGrpSpPr>
          <p:cNvPr id="25" name="Group 24"/>
          <p:cNvGrpSpPr/>
          <p:nvPr/>
        </p:nvGrpSpPr>
        <p:grpSpPr>
          <a:xfrm>
            <a:off x="2962296" y="5185048"/>
            <a:ext cx="3193880" cy="929415"/>
            <a:chOff x="2328069" y="4941888"/>
            <a:chExt cx="4734272" cy="1285875"/>
          </a:xfrm>
        </p:grpSpPr>
        <p:graphicFrame>
          <p:nvGraphicFramePr>
            <p:cNvPr id="2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3761946"/>
                </p:ext>
              </p:extLst>
            </p:nvPr>
          </p:nvGraphicFramePr>
          <p:xfrm>
            <a:off x="2328069" y="4986337"/>
            <a:ext cx="4652929" cy="1196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5" imgW="1714320" imgH="279360" progId="Equation.3">
                    <p:embed/>
                  </p:oleObj>
                </mc:Choice>
                <mc:Fallback>
                  <p:oleObj name="Equation" r:id="rId5" imgW="171432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8069" y="4986337"/>
                          <a:ext cx="4652929" cy="11969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26"/>
            <p:cNvSpPr/>
            <p:nvPr/>
          </p:nvSpPr>
          <p:spPr>
            <a:xfrm>
              <a:off x="2328069" y="4941888"/>
              <a:ext cx="4734272" cy="1285875"/>
            </a:xfrm>
            <a:prstGeom prst="rect">
              <a:avLst/>
            </a:prstGeom>
            <a:noFill/>
            <a:ln w="635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AU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338553" y="5296868"/>
                <a:ext cx="2634759" cy="1119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smtClean="0">
                                      <a:latin typeface="Cambria Math"/>
                                    </a:rPr>
                                    <m:t>7−2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smtClean="0">
                                      <a:latin typeface="Cambria Math"/>
                                    </a:rPr>
                                    <m:t>9−5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25+16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41</m:t>
                          </m:r>
                        </m:e>
                      </m:rad>
                      <m:r>
                        <a:rPr lang="en-AU" i="1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6.403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553" y="5296868"/>
                <a:ext cx="2634759" cy="111902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38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177" y="71414"/>
            <a:ext cx="754565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The Midpoint Formula</a:t>
            </a:r>
            <a:endParaRPr lang="en-US" sz="5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71500" y="1214438"/>
            <a:ext cx="800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0000"/>
                </a:solidFill>
              </a:rPr>
              <a:t>Let A (x</a:t>
            </a:r>
            <a:r>
              <a:rPr lang="en-US" sz="2400" baseline="-250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 , y</a:t>
            </a:r>
            <a:r>
              <a:rPr lang="en-US" sz="2400" baseline="-250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) and B (x</a:t>
            </a:r>
            <a:r>
              <a:rPr lang="en-US" sz="2400" baseline="-25000">
                <a:solidFill>
                  <a:srgbClr val="FF0000"/>
                </a:solidFill>
              </a:rPr>
              <a:t>2 </a:t>
            </a:r>
            <a:r>
              <a:rPr lang="en-US" sz="2400">
                <a:solidFill>
                  <a:srgbClr val="FF0000"/>
                </a:solidFill>
              </a:rPr>
              <a:t>, y</a:t>
            </a:r>
            <a:r>
              <a:rPr lang="en-US" sz="2400" baseline="-25000">
                <a:solidFill>
                  <a:srgbClr val="FF0000"/>
                </a:solidFill>
              </a:rPr>
              <a:t>2</a:t>
            </a:r>
            <a:r>
              <a:rPr lang="en-US" sz="2400">
                <a:solidFill>
                  <a:srgbClr val="FF0000"/>
                </a:solidFill>
              </a:rPr>
              <a:t>) be two points.</a:t>
            </a:r>
            <a:endParaRPr lang="en-AU" sz="240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571625" y="1571625"/>
            <a:ext cx="5357813" cy="1500188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57313" y="2714625"/>
            <a:ext cx="28575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sz="3600">
                <a:sym typeface="Symbol" pitchFamily="18" charset="2"/>
              </a:rPr>
              <a:t> </a:t>
            </a:r>
            <a:r>
              <a:rPr lang="en-US" sz="3600">
                <a:solidFill>
                  <a:srgbClr val="FF0000"/>
                </a:solidFill>
              </a:rPr>
              <a:t>A (x</a:t>
            </a:r>
            <a:r>
              <a:rPr lang="en-US" sz="3600" baseline="-25000">
                <a:solidFill>
                  <a:srgbClr val="FF0000"/>
                </a:solidFill>
              </a:rPr>
              <a:t>1</a:t>
            </a:r>
            <a:r>
              <a:rPr lang="en-US" sz="3600">
                <a:solidFill>
                  <a:srgbClr val="FF0000"/>
                </a:solidFill>
              </a:rPr>
              <a:t> , y</a:t>
            </a:r>
            <a:r>
              <a:rPr lang="en-US" sz="3600" baseline="-25000">
                <a:solidFill>
                  <a:srgbClr val="FF0000"/>
                </a:solidFill>
              </a:rPr>
              <a:t>1</a:t>
            </a:r>
            <a:r>
              <a:rPr lang="en-US" sz="3600">
                <a:solidFill>
                  <a:srgbClr val="FF0000"/>
                </a:solidFill>
              </a:rPr>
              <a:t>)</a:t>
            </a:r>
            <a:endParaRPr lang="en-AU" sz="360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715125" y="1214438"/>
            <a:ext cx="2571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sz="3600">
                <a:sym typeface="Symbol" pitchFamily="18" charset="2"/>
              </a:rPr>
              <a:t> </a:t>
            </a:r>
            <a:r>
              <a:rPr lang="en-US" sz="360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sz="3600">
                <a:solidFill>
                  <a:srgbClr val="FF0000"/>
                </a:solidFill>
              </a:rPr>
              <a:t> (x</a:t>
            </a:r>
            <a:r>
              <a:rPr lang="en-US" sz="3600" baseline="-25000">
                <a:solidFill>
                  <a:srgbClr val="FF0000"/>
                </a:solidFill>
              </a:rPr>
              <a:t>2</a:t>
            </a:r>
            <a:r>
              <a:rPr lang="en-US" sz="3600">
                <a:solidFill>
                  <a:srgbClr val="FF0000"/>
                </a:solidFill>
              </a:rPr>
              <a:t> , y</a:t>
            </a:r>
            <a:r>
              <a:rPr lang="en-US" sz="3600" baseline="-25000">
                <a:solidFill>
                  <a:srgbClr val="FF0000"/>
                </a:solidFill>
              </a:rPr>
              <a:t>2</a:t>
            </a:r>
            <a:r>
              <a:rPr lang="en-US" sz="3600">
                <a:solidFill>
                  <a:srgbClr val="FF0000"/>
                </a:solidFill>
              </a:rPr>
              <a:t>)</a:t>
            </a:r>
            <a:endParaRPr lang="en-AU" sz="36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929063" y="2000250"/>
            <a:ext cx="28575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sz="3600">
                <a:solidFill>
                  <a:srgbClr val="00B050"/>
                </a:solidFill>
                <a:sym typeface="Symbol" pitchFamily="18" charset="2"/>
              </a:rPr>
              <a:t> M</a:t>
            </a:r>
            <a:r>
              <a:rPr lang="en-US" sz="3600">
                <a:solidFill>
                  <a:srgbClr val="00B050"/>
                </a:solidFill>
              </a:rPr>
              <a:t> (? , ?)</a:t>
            </a:r>
            <a:endParaRPr lang="en-AU" sz="360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42938" y="3714750"/>
            <a:ext cx="7858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We often need to find M, the point halfway between A and B. This is called the MIDPOINT and its coordinates are found by </a:t>
            </a:r>
            <a:r>
              <a:rPr lang="en-US" sz="2400" b="1" i="1" u="sng"/>
              <a:t>averaging</a:t>
            </a:r>
            <a:r>
              <a:rPr lang="en-US" sz="2400"/>
              <a:t> the x’s and </a:t>
            </a:r>
            <a:r>
              <a:rPr lang="en-US" sz="2400" b="1" i="1" u="sng"/>
              <a:t>averaging</a:t>
            </a:r>
            <a:r>
              <a:rPr lang="en-US" sz="2400"/>
              <a:t> the y’s.</a:t>
            </a:r>
            <a:endParaRPr lang="en-AU" sz="2400"/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2879725" y="5143500"/>
          <a:ext cx="37639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1422360" imgH="431640" progId="Equation.3">
                  <p:embed/>
                </p:oleObj>
              </mc:Choice>
              <mc:Fallback>
                <p:oleObj name="Equation" r:id="rId3" imgW="1422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5143500"/>
                        <a:ext cx="3763963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2643188" y="5072063"/>
            <a:ext cx="4357687" cy="1285875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77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26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Gradient, Distance &amp; Midpoint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</a:t>
            </a:r>
            <a:r>
              <a:rPr lang="en-AU" sz="2400" dirty="0" smtClean="0"/>
              <a:t>gradient, distance &amp; midpoint between two points are calculated using formulae?</a:t>
            </a:r>
            <a:endParaRPr lang="en-AU" sz="2400" dirty="0"/>
          </a:p>
        </p:txBody>
      </p:sp>
      <p:pic>
        <p:nvPicPr>
          <p:cNvPr id="13" name="Picture 12"/>
          <p:cNvPicPr/>
          <p:nvPr/>
        </p:nvPicPr>
        <p:blipFill rotWithShape="1">
          <a:blip r:embed="rId3"/>
          <a:srcRect l="74239" t="26644" r="13977" b="43161"/>
          <a:stretch/>
        </p:blipFill>
        <p:spPr bwMode="auto">
          <a:xfrm>
            <a:off x="4122954" y="2060848"/>
            <a:ext cx="3238500" cy="3124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7203" y="2708920"/>
                <a:ext cx="275660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Eg: Find the midpoint between points (2,5) and (7,9)</a:t>
                </a:r>
              </a:p>
              <a:p>
                <a:r>
                  <a:rPr lang="en-AU" dirty="0" smtClean="0"/>
                  <a:t>Let point A be (2,5) and B be (7,9).</a:t>
                </a:r>
              </a:p>
              <a:p>
                <a:endParaRPr lang="en-AU" dirty="0"/>
              </a:p>
              <a:p>
                <a:r>
                  <a:rPr lang="en-AU" dirty="0" smtClean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" y="2708920"/>
                <a:ext cx="2756605" cy="2862322"/>
              </a:xfrm>
              <a:prstGeom prst="rect">
                <a:avLst/>
              </a:prstGeom>
              <a:blipFill rotWithShape="1">
                <a:blip r:embed="rId4"/>
                <a:stretch>
                  <a:fillRect l="-1766" t="-10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910234" y="6114463"/>
            <a:ext cx="2478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Midpoint is = (4.5 , 7)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81503" y="2060848"/>
            <a:ext cx="1049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Midpoint</a:t>
            </a:r>
            <a:endParaRPr lang="en-AU" dirty="0"/>
          </a:p>
        </p:txBody>
      </p:sp>
      <p:grpSp>
        <p:nvGrpSpPr>
          <p:cNvPr id="19" name="Group 18"/>
          <p:cNvGrpSpPr/>
          <p:nvPr/>
        </p:nvGrpSpPr>
        <p:grpSpPr>
          <a:xfrm>
            <a:off x="3059832" y="5327767"/>
            <a:ext cx="2571150" cy="786696"/>
            <a:chOff x="2643188" y="5072063"/>
            <a:chExt cx="4357687" cy="1285875"/>
          </a:xfrm>
        </p:grpSpPr>
        <p:graphicFrame>
          <p:nvGraphicFramePr>
            <p:cNvPr id="20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0369996"/>
                </p:ext>
              </p:extLst>
            </p:nvPr>
          </p:nvGraphicFramePr>
          <p:xfrm>
            <a:off x="2879725" y="5143500"/>
            <a:ext cx="3763963" cy="114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5" imgW="1422360" imgH="431640" progId="Equation.3">
                    <p:embed/>
                  </p:oleObj>
                </mc:Choice>
                <mc:Fallback>
                  <p:oleObj name="Equation" r:id="rId5" imgW="14223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9725" y="5143500"/>
                          <a:ext cx="3763963" cy="1143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20"/>
            <p:cNvSpPr/>
            <p:nvPr/>
          </p:nvSpPr>
          <p:spPr>
            <a:xfrm>
              <a:off x="2643188" y="5072063"/>
              <a:ext cx="4357687" cy="1285875"/>
            </a:xfrm>
            <a:prstGeom prst="rect">
              <a:avLst/>
            </a:prstGeom>
            <a:noFill/>
            <a:ln w="635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AU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779408" y="5364139"/>
                <a:ext cx="2920991" cy="616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=(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2+7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5+9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)=(4.5 , 7)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408" y="5364139"/>
                <a:ext cx="2920991" cy="6165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32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00808"/>
            <a:ext cx="8229600" cy="244827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Exercise </a:t>
            </a:r>
            <a:r>
              <a:rPr lang="en-AU" dirty="0" smtClean="0"/>
              <a:t>16.8 </a:t>
            </a:r>
            <a:r>
              <a:rPr lang="en-AU" dirty="0" smtClean="0"/>
              <a:t>&amp; </a:t>
            </a:r>
            <a:r>
              <a:rPr lang="en-AU" dirty="0" smtClean="0"/>
              <a:t>16.9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Pages </a:t>
            </a:r>
            <a:r>
              <a:rPr lang="en-AU" dirty="0" smtClean="0"/>
              <a:t>220 </a:t>
            </a:r>
            <a:r>
              <a:rPr lang="en-AU" dirty="0" smtClean="0"/>
              <a:t>- </a:t>
            </a:r>
            <a:r>
              <a:rPr lang="en-AU" dirty="0" smtClean="0"/>
              <a:t>221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671</Words>
  <Application>Microsoft Office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Equation</vt:lpstr>
      <vt:lpstr>My Coordinate Geometry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 Exercise 16.8 &amp; 16.9 Pages 220 - 221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68</cp:revision>
  <dcterms:created xsi:type="dcterms:W3CDTF">2014-05-14T02:58:57Z</dcterms:created>
  <dcterms:modified xsi:type="dcterms:W3CDTF">2016-10-17T00:47:26Z</dcterms:modified>
</cp:coreProperties>
</file>
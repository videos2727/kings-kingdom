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58" r:id="rId4"/>
    <p:sldId id="325" r:id="rId5"/>
    <p:sldId id="324" r:id="rId6"/>
    <p:sldId id="326" r:id="rId7"/>
    <p:sldId id="303" r:id="rId8"/>
    <p:sldId id="321" r:id="rId9"/>
    <p:sldId id="322" r:id="rId10"/>
    <p:sldId id="292" r:id="rId11"/>
    <p:sldId id="291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92895" autoAdjust="0"/>
  </p:normalViewPr>
  <p:slideViewPr>
    <p:cSldViewPr>
      <p:cViewPr>
        <p:scale>
          <a:sx n="87" d="100"/>
          <a:sy n="87" d="100"/>
        </p:scale>
        <p:origin x="-444" y="-15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11/10/2016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11/10/2016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11/10/2016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11/10/2016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11/10/2016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11/10/2016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11/10/2016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11/10/2016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11/10/2016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11/10/2016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11/10/2016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11/10/2016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Linear Relationships 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Term 4 Semester 2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988840"/>
            <a:ext cx="4320480" cy="3574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6373978" y="66504"/>
            <a:ext cx="14383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8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9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6829" y="3218372"/>
            <a:ext cx="2690050" cy="34114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9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0664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Finding the length of a 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is Pythagoras’ theorem used to find the length of a line between two points located on a Cartesian plane?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059832" y="1993424"/>
                <a:ext cx="5328592" cy="18211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A line segment can be labelled like this between the two end points.</a:t>
                </a:r>
              </a:p>
              <a:p>
                <a:r>
                  <a:rPr lang="en-AU" dirty="0" smtClean="0"/>
                  <a:t>If the two end point have the coordinates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/>
                          </a:rPr>
                          <m:t>(</m:t>
                        </m:r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AU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AU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AU" b="0" i="1" smtClean="0">
                        <a:latin typeface="Cambria Math"/>
                      </a:rPr>
                      <m:t>) </m:t>
                    </m:r>
                    <m:r>
                      <a:rPr lang="en-AU" b="0" i="1" smtClean="0">
                        <a:latin typeface="Cambria Math"/>
                      </a:rPr>
                      <m:t>𝑎𝑛𝑑</m:t>
                    </m:r>
                    <m:r>
                      <a:rPr lang="en-AU" b="0" i="1" smtClean="0">
                        <a:latin typeface="Cambria Math"/>
                      </a:rPr>
                      <m:t> (</m:t>
                    </m:r>
                    <m:sSub>
                      <m:sSubPr>
                        <m:ctrlPr>
                          <a:rPr lang="en-AU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AU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AU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AU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AU" dirty="0" smtClean="0"/>
                  <a:t> then we will use Pythagoras’s Theorem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𝑐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𝑎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𝑏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r>
                  <a:rPr lang="en-AU" dirty="0" smtClean="0"/>
                  <a:t>	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𝑐</m:t>
                    </m:r>
                    <m:r>
                      <a:rPr lang="en-AU" b="0" i="1" smtClean="0"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AU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AU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i="1">
                                <a:latin typeface="Cambria Math"/>
                              </a:rPr>
                              <m:t>𝑎</m:t>
                            </m:r>
                          </m:e>
                          <m:sup>
                            <m:r>
                              <a:rPr lang="en-AU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en-AU" i="1">
                            <a:latin typeface="Cambria Math"/>
                          </a:rPr>
                          <m:t>+</m:t>
                        </m:r>
                        <m:sSup>
                          <m:sSupPr>
                            <m:ctrlPr>
                              <a:rPr lang="en-AU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i="1">
                                <a:latin typeface="Cambria Math"/>
                              </a:rPr>
                              <m:t>𝑏</m:t>
                            </m:r>
                          </m:e>
                          <m:sup>
                            <m:r>
                              <a:rPr lang="en-AU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1993424"/>
                <a:ext cx="5328592" cy="1821140"/>
              </a:xfrm>
              <a:prstGeom prst="rect">
                <a:avLst/>
              </a:prstGeom>
              <a:blipFill rotWithShape="1">
                <a:blip r:embed="rId3"/>
                <a:stretch>
                  <a:fillRect l="-1030" t="-167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284851" y="3795136"/>
                <a:ext cx="9645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AU" i="1">
                              <a:latin typeface="Cambria Math"/>
                            </a:rPr>
                            <m:t>(</m:t>
                          </m:r>
                          <m:r>
                            <a:rPr lang="en-AU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AU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AU" i="1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en-AU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AU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AU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AU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4851" y="3795136"/>
                <a:ext cx="964559" cy="369332"/>
              </a:xfrm>
              <a:prstGeom prst="rect">
                <a:avLst/>
              </a:prstGeom>
              <a:blipFill rotWithShape="1"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8257656" y="4554742"/>
                <a:ext cx="975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AU" i="1">
                              <a:latin typeface="Cambria Math"/>
                            </a:rPr>
                            <m:t>(</m:t>
                          </m:r>
                          <m:r>
                            <a:rPr lang="en-AU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AU" i="1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en-AU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AU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AU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7656" y="4554742"/>
                <a:ext cx="975202" cy="369332"/>
              </a:xfrm>
              <a:prstGeom prst="rect">
                <a:avLst/>
              </a:prstGeom>
              <a:blipFill rotWithShape="1"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6782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69" t="13056" b="17894"/>
          <a:stretch/>
        </p:blipFill>
        <p:spPr bwMode="auto">
          <a:xfrm>
            <a:off x="467544" y="2716052"/>
            <a:ext cx="3847258" cy="39572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9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0664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Finding the length of a line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is Pythagoras’ theorem used to find the length of a line between two points located on a Cartesian plane?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242132" y="3027939"/>
                <a:ext cx="7521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0" smtClean="0">
                          <a:solidFill>
                            <a:srgbClr val="FF0000"/>
                          </a:solidFill>
                          <a:latin typeface="Cambria Math"/>
                        </a:rPr>
                        <m:t>(1</m:t>
                      </m:r>
                      <m:r>
                        <a:rPr lang="en-AU" i="1">
                          <a:solidFill>
                            <a:srgbClr val="FF0000"/>
                          </a:solidFill>
                          <a:latin typeface="Cambria Math"/>
                        </a:rPr>
                        <m:t>,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5</m:t>
                      </m:r>
                      <m:r>
                        <a:rPr lang="en-AU" i="1">
                          <a:solidFill>
                            <a:srgbClr val="FF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2132" y="3027939"/>
                <a:ext cx="752129" cy="369332"/>
              </a:xfrm>
              <a:prstGeom prst="rect">
                <a:avLst/>
              </a:prstGeom>
              <a:blipFill rotWithShape="1"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784997" y="4694693"/>
                <a:ext cx="6447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>
                    <a:solidFill>
                      <a:schemeClr val="accent3">
                        <a:lumMod val="75000"/>
                      </a:schemeClr>
                    </a:solidFill>
                  </a:rPr>
                  <a:t>(4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chemeClr val="accent3">
                            <a:lumMod val="75000"/>
                          </a:schemeClr>
                        </a:solidFill>
                        <a:latin typeface="Cambria Math"/>
                      </a:rPr>
                      <m:t>,</m:t>
                    </m:r>
                    <m:r>
                      <a:rPr lang="en-AU" b="0" i="1" smtClean="0">
                        <a:solidFill>
                          <a:schemeClr val="accent3">
                            <a:lumMod val="75000"/>
                          </a:schemeClr>
                        </a:solidFill>
                        <a:latin typeface="Cambria Math"/>
                      </a:rPr>
                      <m:t>2</m:t>
                    </m:r>
                    <m:r>
                      <a:rPr lang="en-AU" i="1">
                        <a:solidFill>
                          <a:schemeClr val="accent3">
                            <a:lumMod val="75000"/>
                          </a:schemeClr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en-AU" dirty="0">
                  <a:solidFill>
                    <a:schemeClr val="accent3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4997" y="4694693"/>
                <a:ext cx="644728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8491" t="-8197" r="-2830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 flipH="1">
                <a:off x="6588224" y="2960557"/>
                <a:ext cx="182686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AU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AU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AU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AU" i="1">
                          <a:solidFill>
                            <a:srgbClr val="FF0000"/>
                          </a:solidFill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en-AU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AU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AU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AU" i="1">
                          <a:solidFill>
                            <a:srgbClr val="FF0000"/>
                          </a:solidFill>
                          <a:latin typeface="Cambria Math"/>
                        </a:rPr>
                        <m:t>)</m:t>
                      </m:r>
                      <m:r>
                        <a:rPr lang="en-AU" b="0" i="0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1,5</m:t>
                          </m:r>
                        </m:e>
                      </m:d>
                    </m:oMath>
                  </m:oMathPara>
                </a14:m>
                <a:endParaRPr lang="en-AU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AU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AU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AU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AU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AU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AU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AU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AU" b="0" i="1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/>
                        </a:rPr>
                        <m:t>=(4,2)</m:t>
                      </m:r>
                    </m:oMath>
                  </m:oMathPara>
                </a14:m>
                <a:endParaRPr lang="en-AU" b="0" dirty="0" smtClean="0">
                  <a:solidFill>
                    <a:schemeClr val="accent3">
                      <a:lumMod val="75000"/>
                    </a:schemeClr>
                  </a:solidFill>
                </a:endParaRP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588224" y="2960557"/>
                <a:ext cx="1826860" cy="92333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5470570" y="2960557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3050229" y="2126000"/>
                <a:ext cx="5817875" cy="70474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i="1" dirty="0" smtClean="0">
                    <a:solidFill>
                      <a:schemeClr val="accent4">
                        <a:lumMod val="75000"/>
                      </a:schemeClr>
                    </a:solidFill>
                    <a:latin typeface="Cambria Math"/>
                  </a:rPr>
                  <a:t>Using Pythagoras’ theorem – we will go through this later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𝐿𝑒𝑛𝑔𝑡h</m:t>
                      </m:r>
                      <m:r>
                        <a:rPr lang="en-AU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 </m:t>
                      </m:r>
                      <m:r>
                        <a:rPr lang="en-AU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𝑜𝑓</m:t>
                      </m:r>
                      <m:r>
                        <a:rPr lang="en-AU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 </m:t>
                      </m:r>
                      <m:r>
                        <a:rPr lang="en-AU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𝑙𝑖𝑛𝑒</m:t>
                      </m:r>
                      <m:r>
                        <a:rPr lang="en-AU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AU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(</m:t>
                          </m:r>
                          <m:sSup>
                            <m:sSupPr>
                              <m:ctrlPr>
                                <a:rPr lang="en-AU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AU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AU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AU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AU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AU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AU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AU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AU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AU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AU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+</m:t>
                          </m:r>
                          <m:sSup>
                            <m:sSupPr>
                              <m:ctrlPr>
                                <a:rPr lang="en-AU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AU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AU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AU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AU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AU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AU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AU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AU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AU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AU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0229" y="2126000"/>
                <a:ext cx="5817875" cy="704745"/>
              </a:xfrm>
              <a:prstGeom prst="rect">
                <a:avLst/>
              </a:prstGeom>
              <a:blipFill rotWithShape="1">
                <a:blip r:embed="rId6"/>
                <a:stretch>
                  <a:fillRect l="-838" t="-5217" r="-105" b="-69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182114" y="3883887"/>
                <a:ext cx="3791947" cy="19794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𝐿𝑒𝑛𝑔𝑡h</m:t>
                      </m:r>
                      <m:r>
                        <a:rPr lang="en-AU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 = </m:t>
                      </m:r>
                      <m:rad>
                        <m:radPr>
                          <m:degHide m:val="on"/>
                          <m:ctrlPr>
                            <a:rPr lang="en-AU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(</m:t>
                          </m:r>
                          <m:sSup>
                            <m:sSupPr>
                              <m:ctrlPr>
                                <a:rPr lang="en-AU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AU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AU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AU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AU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AU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AU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AU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AU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AU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AU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+</m:t>
                          </m:r>
                          <m:sSup>
                            <m:sSupPr>
                              <m:ctrlPr>
                                <a:rPr lang="en-AU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AU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AU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AU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AU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AU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AU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AU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AU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AU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AU" dirty="0">
                  <a:solidFill>
                    <a:schemeClr val="accent4">
                      <a:lumMod val="75000"/>
                    </a:schemeClr>
                  </a:solidFill>
                </a:endParaRPr>
              </a:p>
              <a:p>
                <a:r>
                  <a:rPr lang="en-AU" dirty="0" smtClean="0"/>
                  <a:t>	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AU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  <m:t>(</m:t>
                        </m:r>
                        <m:sSup>
                          <m:sSupPr>
                            <m:ctrlPr>
                              <a:rPr lang="en-AU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4</m:t>
                            </m:r>
                            <m:r>
                              <a:rPr lang="en-AU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−</m:t>
                            </m:r>
                            <m:r>
                              <a:rPr lang="en-AU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1</m:t>
                            </m:r>
                            <m:r>
                              <a:rPr lang="en-AU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)</m:t>
                            </m:r>
                          </m:e>
                          <m:sup>
                            <m:r>
                              <a:rPr lang="en-AU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en-AU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  <m:t>+</m:t>
                        </m:r>
                        <m:sSup>
                          <m:sSupPr>
                            <m:ctrlPr>
                              <a:rPr lang="en-AU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(</m:t>
                            </m:r>
                            <m:r>
                              <a:rPr lang="en-AU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2</m:t>
                            </m:r>
                            <m:r>
                              <a:rPr lang="en-AU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−</m:t>
                            </m:r>
                            <m:r>
                              <a:rPr lang="en-AU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5</m:t>
                            </m:r>
                            <m:r>
                              <a:rPr lang="en-AU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)</m:t>
                            </m:r>
                          </m:e>
                          <m:sup>
                            <m:r>
                              <a:rPr lang="en-AU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AU" dirty="0" smtClean="0"/>
              </a:p>
              <a:p>
                <a:r>
                  <a:rPr lang="en-AU" dirty="0"/>
                  <a:t>	</a:t>
                </a:r>
                <a:r>
                  <a:rPr lang="en-AU" dirty="0" smtClean="0"/>
                  <a:t>    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AU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  <m:t>(</m:t>
                        </m:r>
                        <m:sSup>
                          <m:sSupPr>
                            <m:ctrlPr>
                              <a:rPr lang="en-AU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3</m:t>
                            </m:r>
                            <m:r>
                              <a:rPr lang="en-AU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)</m:t>
                            </m:r>
                          </m:e>
                          <m:sup>
                            <m:r>
                              <a:rPr lang="en-AU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en-AU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  <m:t>+</m:t>
                        </m:r>
                        <m:sSup>
                          <m:sSupPr>
                            <m:ctrlPr>
                              <a:rPr lang="en-AU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(</m:t>
                            </m:r>
                            <m:r>
                              <a:rPr lang="en-AU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−3</m:t>
                            </m:r>
                            <m:r>
                              <a:rPr lang="en-AU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)</m:t>
                            </m:r>
                          </m:e>
                          <m:sup>
                            <m:r>
                              <a:rPr lang="en-AU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AU" dirty="0" smtClean="0"/>
              </a:p>
              <a:p>
                <a:r>
                  <a:rPr lang="en-AU" dirty="0"/>
                  <a:t>	</a:t>
                </a:r>
                <a:r>
                  <a:rPr lang="en-AU" dirty="0">
                    <a:solidFill>
                      <a:schemeClr val="accent4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b="0" i="0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/>
                      </a:rPr>
                      <m:t>    </m:t>
                    </m:r>
                    <m:r>
                      <a:rPr lang="en-AU" i="1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/>
                      </a:rPr>
                      <m:t>=</m:t>
                    </m:r>
                    <m:r>
                      <a:rPr lang="en-AU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/>
                      </a:rPr>
                      <m:t> </m:t>
                    </m:r>
                    <m:rad>
                      <m:radPr>
                        <m:degHide m:val="on"/>
                        <m:ctrlPr>
                          <a:rPr lang="en-AU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  <m:t>9</m:t>
                        </m:r>
                        <m:r>
                          <a:rPr lang="en-AU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AU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  <m:t>9</m:t>
                        </m:r>
                      </m:e>
                    </m:rad>
                  </m:oMath>
                </a14:m>
                <a:endParaRPr lang="en-AU" dirty="0" smtClean="0"/>
              </a:p>
              <a:p>
                <a:r>
                  <a:rPr lang="en-AU" dirty="0"/>
                  <a:t>	</a:t>
                </a:r>
                <a:r>
                  <a:rPr lang="en-AU" dirty="0" smtClean="0"/>
                  <a:t>     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AU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  <m:t>18</m:t>
                        </m:r>
                      </m:e>
                    </m:rad>
                  </m:oMath>
                </a14:m>
                <a:endParaRPr lang="en-AU" dirty="0" smtClean="0"/>
              </a:p>
              <a:p>
                <a:r>
                  <a:rPr lang="en-AU" dirty="0"/>
                  <a:t>	</a:t>
                </a:r>
                <a14:m>
                  <m:oMath xmlns:m="http://schemas.openxmlformats.org/officeDocument/2006/math">
                    <m:r>
                      <a:rPr lang="en-AU" b="0" i="0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/>
                        <a:ea typeface="Cambria Math"/>
                      </a:rPr>
                      <m:t>      </m:t>
                    </m:r>
                    <m:r>
                      <a:rPr lang="en-AU" i="1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/>
                        <a:ea typeface="Cambria Math"/>
                      </a:rPr>
                      <m:t>≈</m:t>
                    </m:r>
                  </m:oMath>
                </a14:m>
                <a:r>
                  <a:rPr lang="en-AU" dirty="0" smtClean="0"/>
                  <a:t>  4.24</a:t>
                </a:r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2114" y="3883887"/>
                <a:ext cx="3791947" cy="1979453"/>
              </a:xfrm>
              <a:prstGeom prst="rect">
                <a:avLst/>
              </a:prstGeom>
              <a:blipFill rotWithShape="1">
                <a:blip r:embed="rId7"/>
                <a:stretch>
                  <a:fillRect l="-322" b="-4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Connector 20"/>
          <p:cNvCxnSpPr/>
          <p:nvPr/>
        </p:nvCxnSpPr>
        <p:spPr>
          <a:xfrm>
            <a:off x="1618196" y="3645024"/>
            <a:ext cx="0" cy="12285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1618196" y="4879359"/>
            <a:ext cx="18736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2308833" y="3422222"/>
                <a:ext cx="2952328" cy="9753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𝐿𝑒𝑛𝑔𝑡h</m:t>
                      </m:r>
                      <m:r>
                        <a:rPr lang="en-AU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 </m:t>
                      </m:r>
                      <m:r>
                        <a:rPr lang="en-AU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𝑜𝑓</m:t>
                      </m:r>
                      <m:r>
                        <a:rPr lang="en-AU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 </m:t>
                      </m:r>
                      <m:r>
                        <a:rPr lang="en-AU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𝑙𝑖𝑛𝑒</m:t>
                      </m:r>
                      <m:r>
                        <a:rPr lang="en-AU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AU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(</m:t>
                          </m:r>
                          <m:sSup>
                            <m:sSupPr>
                              <m:ctrlPr>
                                <a:rPr lang="en-AU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AU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AU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AU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AU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AU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AU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AU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AU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AU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AU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+</m:t>
                          </m:r>
                          <m:sSup>
                            <m:sSupPr>
                              <m:ctrlPr>
                                <a:rPr lang="en-AU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AU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AU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AU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AU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AU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AU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AU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AU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AU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AU" dirty="0">
                  <a:solidFill>
                    <a:schemeClr val="accent4">
                      <a:lumMod val="75000"/>
                    </a:schemeClr>
                  </a:solidFill>
                </a:endParaRP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8833" y="3422222"/>
                <a:ext cx="2952328" cy="975395"/>
              </a:xfrm>
              <a:prstGeom prst="rect">
                <a:avLst/>
              </a:prstGeom>
              <a:blipFill rotWithShape="1">
                <a:blip r:embed="rId8"/>
                <a:stretch>
                  <a:fillRect l="-62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1945127" y="5055307"/>
                <a:ext cx="1219821" cy="3929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AU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AU" b="0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(</m:t>
                              </m:r>
                              <m:r>
                                <a:rPr lang="en-AU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AU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AU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AU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AU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AU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AU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)</m:t>
                          </m:r>
                        </m:e>
                        <m:sup/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5127" y="5055307"/>
                <a:ext cx="1219821" cy="392993"/>
              </a:xfrm>
              <a:prstGeom prst="rect">
                <a:avLst/>
              </a:prstGeom>
              <a:blipFill rotWithShape="1">
                <a:blip r:embed="rId9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467544" y="4111966"/>
                <a:ext cx="10821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>
                    <a:solidFill>
                      <a:schemeClr val="accent4">
                        <a:lumMod val="75000"/>
                      </a:schemeClr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AU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AU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AU" i="1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AU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AU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AU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AU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4111966"/>
                <a:ext cx="1082156" cy="369332"/>
              </a:xfrm>
              <a:prstGeom prst="rect">
                <a:avLst/>
              </a:prstGeom>
              <a:blipFill rotWithShape="1">
                <a:blip r:embed="rId10"/>
                <a:stretch>
                  <a:fillRect l="-5085" t="-8333" r="-2260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1649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46472" y="1988840"/>
            <a:ext cx="330808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3200" dirty="0" smtClean="0"/>
              <a:t>Exercise 16 – 1 &amp; 2</a:t>
            </a:r>
            <a:endParaRPr lang="en-AU" sz="3200" dirty="0"/>
          </a:p>
          <a:p>
            <a:pPr algn="ctr"/>
            <a:r>
              <a:rPr lang="en-AU" sz="3200" dirty="0" smtClean="0"/>
              <a:t>All Questions </a:t>
            </a:r>
          </a:p>
          <a:p>
            <a:pPr algn="ctr"/>
            <a:r>
              <a:rPr lang="en-AU" sz="3200" dirty="0" smtClean="0"/>
              <a:t>Pages 214 - 215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2590815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6829" y="3218372"/>
            <a:ext cx="2690050" cy="34114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9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4693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Finding the midpoint of a line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can you find the midpoint of a line between two points located on a Cartesian plane?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059832" y="1993424"/>
                <a:ext cx="5328592" cy="19863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The midpoint of a line segment is the halfway point between the two end points.</a:t>
                </a:r>
              </a:p>
              <a:p>
                <a:r>
                  <a:rPr lang="en-AU" dirty="0" smtClean="0"/>
                  <a:t>If the two end point have the coordinates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/>
                          </a:rPr>
                          <m:t>(</m:t>
                        </m:r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AU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AU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AU" b="0" i="1" smtClean="0">
                        <a:latin typeface="Cambria Math"/>
                      </a:rPr>
                      <m:t>) </m:t>
                    </m:r>
                    <m:r>
                      <a:rPr lang="en-AU" b="0" i="1" smtClean="0">
                        <a:latin typeface="Cambria Math"/>
                      </a:rPr>
                      <m:t>𝑎𝑛𝑑</m:t>
                    </m:r>
                    <m:r>
                      <a:rPr lang="en-AU" b="0" i="1" smtClean="0">
                        <a:latin typeface="Cambria Math"/>
                      </a:rPr>
                      <m:t> (</m:t>
                    </m:r>
                    <m:sSub>
                      <m:sSubPr>
                        <m:ctrlPr>
                          <a:rPr lang="en-AU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AU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AU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AU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AU" dirty="0" smtClean="0"/>
                  <a:t> then the midpoint is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i="1" smtClean="0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AU" i="1">
                                  <a:latin typeface="Cambria Math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AU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AU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AU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AU" i="1">
                                  <a:latin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AU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AU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AU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AU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a:rPr lang="en-AU" i="1">
                              <a:latin typeface="Cambria Math"/>
                            </a:rPr>
                            <m:t>,</m:t>
                          </m:r>
                          <m:f>
                            <m:fPr>
                              <m:ctrlPr>
                                <a:rPr lang="en-AU" i="1">
                                  <a:latin typeface="Cambria Math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AU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AU" i="1"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AU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AU" i="1">
                                  <a:latin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AU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AU" i="1"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AU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AU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AU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1993424"/>
                <a:ext cx="5328592" cy="1986378"/>
              </a:xfrm>
              <a:prstGeom prst="rect">
                <a:avLst/>
              </a:prstGeom>
              <a:blipFill rotWithShape="1">
                <a:blip r:embed="rId3"/>
                <a:stretch>
                  <a:fillRect l="-1030" t="-153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284851" y="3795136"/>
                <a:ext cx="9645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AU" i="1">
                              <a:latin typeface="Cambria Math"/>
                            </a:rPr>
                            <m:t>(</m:t>
                          </m:r>
                          <m:r>
                            <a:rPr lang="en-AU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AU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AU" i="1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en-AU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AU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AU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AU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4851" y="3795136"/>
                <a:ext cx="964559" cy="369332"/>
              </a:xfrm>
              <a:prstGeom prst="rect">
                <a:avLst/>
              </a:prstGeom>
              <a:blipFill rotWithShape="1"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8257656" y="4554742"/>
                <a:ext cx="975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AU" i="1">
                              <a:latin typeface="Cambria Math"/>
                            </a:rPr>
                            <m:t>(</m:t>
                          </m:r>
                          <m:r>
                            <a:rPr lang="en-AU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AU" i="1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en-AU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AU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AU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7656" y="4554742"/>
                <a:ext cx="975202" cy="369332"/>
              </a:xfrm>
              <a:prstGeom prst="rect">
                <a:avLst/>
              </a:prstGeom>
              <a:blipFill rotWithShape="1"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6829" y="3218372"/>
            <a:ext cx="2690050" cy="34114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9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4693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Finding the midpoint of a line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can you find the midpoint of a line between two points located on a Cartesian plane?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030986" y="2684127"/>
                <a:ext cx="4253866" cy="19863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The midpoint of a line segment is the halfway point between the two end points.</a:t>
                </a:r>
              </a:p>
              <a:p>
                <a:r>
                  <a:rPr lang="en-AU" dirty="0" smtClean="0"/>
                  <a:t>If the two end point have the coordinates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/>
                          </a:rPr>
                          <m:t>(</m:t>
                        </m:r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AU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AU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AU" b="0" i="1" smtClean="0">
                        <a:latin typeface="Cambria Math"/>
                      </a:rPr>
                      <m:t>) </m:t>
                    </m:r>
                    <m:r>
                      <a:rPr lang="en-AU" b="0" i="1" smtClean="0">
                        <a:latin typeface="Cambria Math"/>
                      </a:rPr>
                      <m:t>𝑎𝑛𝑑</m:t>
                    </m:r>
                    <m:r>
                      <a:rPr lang="en-AU" b="0" i="1" smtClean="0">
                        <a:latin typeface="Cambria Math"/>
                      </a:rPr>
                      <m:t> (</m:t>
                    </m:r>
                    <m:sSub>
                      <m:sSubPr>
                        <m:ctrlPr>
                          <a:rPr lang="en-AU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AU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AU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AU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AU" dirty="0" smtClean="0"/>
                  <a:t> then the midpoint is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i="1" smtClean="0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AU" i="1">
                                  <a:latin typeface="Cambria Math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AU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AU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AU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AU" i="1">
                                  <a:latin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AU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AU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AU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AU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a:rPr lang="en-AU" i="1">
                              <a:latin typeface="Cambria Math"/>
                            </a:rPr>
                            <m:t>,</m:t>
                          </m:r>
                          <m:f>
                            <m:fPr>
                              <m:ctrlPr>
                                <a:rPr lang="en-AU" i="1">
                                  <a:latin typeface="Cambria Math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AU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AU" i="1"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AU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AU" i="1">
                                  <a:latin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AU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AU" i="1"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AU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AU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AU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0986" y="2684127"/>
                <a:ext cx="4253866" cy="1986378"/>
              </a:xfrm>
              <a:prstGeom prst="rect">
                <a:avLst/>
              </a:prstGeom>
              <a:blipFill rotWithShape="1">
                <a:blip r:embed="rId3"/>
                <a:stretch>
                  <a:fillRect l="-1146" t="-1534" r="-1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284851" y="3795136"/>
                <a:ext cx="7521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0" smtClean="0">
                          <a:solidFill>
                            <a:srgbClr val="FF0000"/>
                          </a:solidFill>
                          <a:latin typeface="Cambria Math"/>
                        </a:rPr>
                        <m:t>(1</m:t>
                      </m:r>
                      <m:r>
                        <a:rPr lang="en-AU" i="1">
                          <a:solidFill>
                            <a:srgbClr val="FF0000"/>
                          </a:solidFill>
                          <a:latin typeface="Cambria Math"/>
                        </a:rPr>
                        <m:t>,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5</m:t>
                      </m:r>
                      <m:r>
                        <a:rPr lang="en-AU" i="1">
                          <a:solidFill>
                            <a:srgbClr val="FF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4851" y="3795136"/>
                <a:ext cx="752129" cy="369332"/>
              </a:xfrm>
              <a:prstGeom prst="rect">
                <a:avLst/>
              </a:prstGeom>
              <a:blipFill rotWithShape="1"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8257656" y="4554742"/>
                <a:ext cx="6447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>
                    <a:solidFill>
                      <a:schemeClr val="accent3">
                        <a:lumMod val="75000"/>
                      </a:schemeClr>
                    </a:solidFill>
                  </a:rPr>
                  <a:t>(4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chemeClr val="accent3">
                            <a:lumMod val="75000"/>
                          </a:schemeClr>
                        </a:solidFill>
                        <a:latin typeface="Cambria Math"/>
                      </a:rPr>
                      <m:t>,</m:t>
                    </m:r>
                    <m:r>
                      <a:rPr lang="en-AU" b="0" i="1" smtClean="0">
                        <a:solidFill>
                          <a:schemeClr val="accent3">
                            <a:lumMod val="75000"/>
                          </a:schemeClr>
                        </a:solidFill>
                        <a:latin typeface="Cambria Math"/>
                      </a:rPr>
                      <m:t>2</m:t>
                    </m:r>
                    <m:r>
                      <a:rPr lang="en-AU" i="1">
                        <a:solidFill>
                          <a:schemeClr val="accent3">
                            <a:lumMod val="75000"/>
                          </a:schemeClr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en-AU" dirty="0">
                  <a:solidFill>
                    <a:schemeClr val="accent3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7656" y="4554742"/>
                <a:ext cx="644728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8571" t="-8197" r="-3810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 flipH="1">
                <a:off x="3123593" y="4462409"/>
                <a:ext cx="182686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AU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AU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AU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AU" i="1">
                          <a:solidFill>
                            <a:srgbClr val="FF0000"/>
                          </a:solidFill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en-AU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AU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AU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AU" i="1">
                          <a:solidFill>
                            <a:srgbClr val="FF0000"/>
                          </a:solidFill>
                          <a:latin typeface="Cambria Math"/>
                        </a:rPr>
                        <m:t>)</m:t>
                      </m:r>
                      <m:r>
                        <a:rPr lang="en-AU" b="0" i="0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1,5</m:t>
                          </m:r>
                        </m:e>
                      </m:d>
                    </m:oMath>
                  </m:oMathPara>
                </a14:m>
                <a:endParaRPr lang="en-AU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AU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AU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AU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AU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AU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AU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AU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AU" b="0" i="1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/>
                        </a:rPr>
                        <m:t>=(4,2)</m:t>
                      </m:r>
                    </m:oMath>
                  </m:oMathPara>
                </a14:m>
                <a:endParaRPr lang="en-AU" b="0" dirty="0" smtClean="0">
                  <a:solidFill>
                    <a:schemeClr val="accent3">
                      <a:lumMod val="75000"/>
                    </a:schemeClr>
                  </a:solidFill>
                </a:endParaRP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123593" y="4462409"/>
                <a:ext cx="1826860" cy="92333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941044" y="5093359"/>
                <a:ext cx="2685735" cy="17777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𝑀</m:t>
                      </m:r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AU" i="1" smtClean="0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AU" i="1">
                                  <a:latin typeface="Cambria Math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AU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AU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AU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AU" i="1">
                                  <a:latin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AU" i="1" smtClean="0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AU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AU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AU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a:rPr lang="en-AU" i="1">
                              <a:latin typeface="Cambria Math"/>
                            </a:rPr>
                            <m:t>,</m:t>
                          </m:r>
                          <m:f>
                            <m:fPr>
                              <m:ctrlPr>
                                <a:rPr lang="en-AU" i="1">
                                  <a:latin typeface="Cambria Math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AU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AU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AU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AU" i="1">
                                  <a:latin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AU" i="1" smtClean="0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AU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AU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AU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AU" i="1" dirty="0" smtClean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0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AU" i="1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AU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  <m:r>
                                <a:rPr lang="en-AU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AU" b="0" i="1" smtClean="0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n-AU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a:rPr lang="en-AU" i="1">
                              <a:latin typeface="Cambria Math"/>
                            </a:rPr>
                            <m:t>,</m:t>
                          </m:r>
                          <m:f>
                            <m:fPr>
                              <m:ctrlPr>
                                <a:rPr lang="en-AU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5</m:t>
                              </m:r>
                              <m:r>
                                <a:rPr lang="en-AU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AU" b="0" i="1" smtClean="0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AU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AU" i="1" dirty="0" smtClean="0">
                  <a:latin typeface="Cambria Math"/>
                </a:endParaRPr>
              </a:p>
              <a:p>
                <a:r>
                  <a:rPr lang="en-AU" i="1" dirty="0">
                    <a:latin typeface="Cambria Math"/>
                  </a:rPr>
                  <a:t> </a:t>
                </a:r>
                <a:r>
                  <a:rPr lang="en-AU" i="1" dirty="0" smtClean="0">
                    <a:latin typeface="Cambria Math"/>
                  </a:rPr>
                  <a:t>   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=(2.5,3.5)</m:t>
                    </m:r>
                  </m:oMath>
                </a14:m>
                <a:endParaRPr lang="en-AU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1044" y="5093359"/>
                <a:ext cx="2685735" cy="1777731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2915816" y="4277743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3050229" y="2126000"/>
                <a:ext cx="5570564" cy="4277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 smtClean="0">
                    <a:solidFill>
                      <a:schemeClr val="accent4">
                        <a:lumMod val="75000"/>
                      </a:schemeClr>
                    </a:solidFill>
                  </a:rPr>
                  <a:t>Reminder -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/>
                      </a:rPr>
                      <m:t>𝐿𝑒𝑛𝑔𝑡h</m:t>
                    </m:r>
                    <m:r>
                      <a:rPr lang="en-AU" i="1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/>
                      </a:rPr>
                      <m:t> </m:t>
                    </m:r>
                    <m:r>
                      <a:rPr lang="en-AU" i="1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/>
                      </a:rPr>
                      <m:t>𝑜𝑓</m:t>
                    </m:r>
                    <m:r>
                      <a:rPr lang="en-AU" i="1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/>
                      </a:rPr>
                      <m:t> </m:t>
                    </m:r>
                    <m:r>
                      <a:rPr lang="en-AU" i="1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/>
                      </a:rPr>
                      <m:t>𝑙𝑖𝑛𝑒</m:t>
                    </m:r>
                    <m:r>
                      <a:rPr lang="en-AU" i="1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AU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  <m:t>(</m:t>
                        </m:r>
                        <m:sSup>
                          <m:sSupPr>
                            <m:ctrlPr>
                              <a:rPr lang="en-AU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AU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AU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AU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AU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AU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AU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AU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AU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)</m:t>
                            </m:r>
                          </m:e>
                          <m:sup>
                            <m:r>
                              <a:rPr lang="en-AU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en-AU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  <m:t>+</m:t>
                        </m:r>
                        <m:sSup>
                          <m:sSupPr>
                            <m:ctrlPr>
                              <a:rPr lang="en-AU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AU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AU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AU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AU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AU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AU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AU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AU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)</m:t>
                            </m:r>
                          </m:e>
                          <m:sup>
                            <m:r>
                              <a:rPr lang="en-AU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AU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0229" y="2126000"/>
                <a:ext cx="5570564" cy="427746"/>
              </a:xfrm>
              <a:prstGeom prst="rect">
                <a:avLst/>
              </a:prstGeom>
              <a:blipFill rotWithShape="1">
                <a:blip r:embed="rId8"/>
                <a:stretch>
                  <a:fillRect l="-875" b="-2142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0916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4494" y="1988840"/>
            <a:ext cx="371204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3200" dirty="0" smtClean="0"/>
              <a:t>Exercise 16 – </a:t>
            </a:r>
            <a:r>
              <a:rPr lang="en-AU" sz="3200" dirty="0" smtClean="0"/>
              <a:t>3, 4 </a:t>
            </a:r>
            <a:r>
              <a:rPr lang="en-AU" sz="3200" dirty="0" smtClean="0"/>
              <a:t>&amp; </a:t>
            </a:r>
            <a:r>
              <a:rPr lang="en-AU" sz="3200" dirty="0" smtClean="0"/>
              <a:t>5</a:t>
            </a:r>
            <a:endParaRPr lang="en-AU" sz="3200" dirty="0"/>
          </a:p>
          <a:p>
            <a:pPr algn="ctr"/>
            <a:r>
              <a:rPr lang="en-AU" sz="3200" dirty="0" smtClean="0"/>
              <a:t>All Questions </a:t>
            </a:r>
          </a:p>
          <a:p>
            <a:pPr algn="ctr"/>
            <a:r>
              <a:rPr lang="en-AU" sz="3200" dirty="0" smtClean="0"/>
              <a:t>Pages </a:t>
            </a:r>
            <a:r>
              <a:rPr lang="en-AU" sz="3200" dirty="0" smtClean="0"/>
              <a:t>216 </a:t>
            </a:r>
            <a:r>
              <a:rPr lang="en-AU" sz="3200" dirty="0" smtClean="0"/>
              <a:t>- </a:t>
            </a:r>
            <a:r>
              <a:rPr lang="en-AU" sz="3200" dirty="0" smtClean="0"/>
              <a:t>217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3748053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689</TotalTime>
  <Words>712</Words>
  <Application>Microsoft Office PowerPoint</Application>
  <PresentationFormat>On-screen Show (4:3)</PresentationFormat>
  <Paragraphs>105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My Linear Relationships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MCALLISTER Robert</cp:lastModifiedBy>
  <cp:revision>50</cp:revision>
  <dcterms:created xsi:type="dcterms:W3CDTF">2014-05-14T02:58:57Z</dcterms:created>
  <dcterms:modified xsi:type="dcterms:W3CDTF">2016-10-11T04:03:15Z</dcterms:modified>
</cp:coreProperties>
</file>
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50" r:id="rId5"/>
    <p:sldId id="353" r:id="rId6"/>
    <p:sldId id="351" r:id="rId7"/>
    <p:sldId id="352" r:id="rId8"/>
    <p:sldId id="301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7" d="100"/>
          <a:sy n="77" d="100"/>
        </p:scale>
        <p:origin x="-744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gradient and y intercept can be used to find the equation of a line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𝑦</m:t>
                      </m:r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𝑥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2123564"/>
            <a:ext cx="463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The equation of a line has the form </a:t>
            </a:r>
            <a:endParaRPr lang="en-AU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32040" y="3128192"/>
            <a:ext cx="216024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0524" y="3546661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Gradient</a:t>
            </a:r>
            <a:endParaRPr lang="en-AU" sz="2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56176" y="3128192"/>
            <a:ext cx="252028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56176" y="3584785"/>
            <a:ext cx="15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B050"/>
                </a:solidFill>
              </a:rPr>
              <a:t>y intercept</a:t>
            </a:r>
            <a:endParaRPr lang="en-AU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What is the gradient and y-intercept for the line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𝑦</m:t>
                    </m:r>
                    <m:r>
                      <a:rPr lang="en-AU" sz="2400" b="0" i="1" smtClean="0">
                        <a:latin typeface="Cambria Math"/>
                      </a:rPr>
                      <m:t>=2</m:t>
                    </m:r>
                    <m:r>
                      <a:rPr lang="en-AU" sz="2400" b="0" i="1" smtClean="0">
                        <a:latin typeface="Cambria Math"/>
                      </a:rPr>
                      <m:t>𝑥</m:t>
                    </m:r>
                    <m:r>
                      <a:rPr lang="en-AU" sz="2400" b="0" i="1" smtClean="0">
                        <a:latin typeface="Cambria Math"/>
                      </a:rPr>
                      <m:t>+1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609" t="-5882" r="-751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209645" y="4888614"/>
            <a:ext cx="1996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Gradient = 2/1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201042" y="5799391"/>
                <a:ext cx="22684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𝑦</m:t>
                      </m:r>
                      <m:r>
                        <a:rPr lang="en-AU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/>
                        </a:rPr>
                        <m:t>intercept</m:t>
                      </m:r>
                      <m:r>
                        <a:rPr lang="en-AU" sz="2400" b="0" i="0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42" y="5799391"/>
                <a:ext cx="2268442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920694" y="4809638"/>
            <a:ext cx="25635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Gradient = </a:t>
            </a:r>
            <a:r>
              <a:rPr lang="en-AU" sz="2400" u="sng" dirty="0" smtClean="0"/>
              <a:t>rise</a:t>
            </a:r>
            <a:r>
              <a:rPr lang="en-AU" sz="2400" dirty="0" smtClean="0"/>
              <a:t> = </a:t>
            </a:r>
            <a:r>
              <a:rPr lang="en-AU" sz="2400" u="sng" dirty="0" smtClean="0"/>
              <a:t>2</a:t>
            </a:r>
          </a:p>
          <a:p>
            <a:r>
              <a:rPr lang="en-AU" sz="2400" dirty="0" smtClean="0"/>
              <a:t>                     run   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41458" y="5865418"/>
                <a:ext cx="26230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𝑖𝑛𝑡𝑒𝑟𝑠𝑒𝑐𝑡𝑖𝑜𝑛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𝑤𝑖𝑡h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𝑦</m:t>
                      </m:r>
                      <m:r>
                        <a:rPr lang="en-AU" sz="1600" b="0" i="1" smtClean="0">
                          <a:latin typeface="Cambria Math"/>
                        </a:rPr>
                        <m:t>−</m:t>
                      </m:r>
                      <m:r>
                        <a:rPr lang="en-AU" sz="1600" b="0" i="1" smtClean="0">
                          <a:latin typeface="Cambria Math"/>
                        </a:rPr>
                        <m:t>𝑎𝑥𝑖𝑠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458" y="5865418"/>
                <a:ext cx="2623026" cy="338554"/>
              </a:xfrm>
              <a:prstGeom prst="rect">
                <a:avLst/>
              </a:prstGeom>
              <a:blipFill rotWithShape="1">
                <a:blip r:embed="rId5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7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3995936" y="3667883"/>
            <a:ext cx="72008" cy="948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699792" y="1556792"/>
            <a:ext cx="2404182" cy="482453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2544" y="3253652"/>
            <a:ext cx="114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Rise = 2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4211960" y="4365104"/>
            <a:ext cx="1122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Run = 1</a:t>
            </a:r>
            <a:endParaRPr lang="en-AU" sz="24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4283968" y="3253652"/>
            <a:ext cx="0" cy="4616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3" idx="2"/>
          </p:cNvCxnSpPr>
          <p:nvPr/>
        </p:nvCxnSpPr>
        <p:spPr>
          <a:xfrm flipH="1">
            <a:off x="3995936" y="3715317"/>
            <a:ext cx="2880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7639" y="3301086"/>
            <a:ext cx="1984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Y intercept = 1</a:t>
            </a:r>
            <a:endParaRPr lang="en-AU" sz="2400" dirty="0"/>
          </a:p>
        </p:txBody>
      </p:sp>
      <p:cxnSp>
        <p:nvCxnSpPr>
          <p:cNvPr id="24" name="Straight Arrow Connector 23"/>
          <p:cNvCxnSpPr>
            <a:stCxn id="22" idx="3"/>
          </p:cNvCxnSpPr>
          <p:nvPr/>
        </p:nvCxnSpPr>
        <p:spPr>
          <a:xfrm>
            <a:off x="3281644" y="3531919"/>
            <a:ext cx="634350" cy="1511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3" idx="1"/>
          </p:cNvCxnSpPr>
          <p:nvPr/>
        </p:nvCxnSpPr>
        <p:spPr>
          <a:xfrm flipH="1">
            <a:off x="4355976" y="3484485"/>
            <a:ext cx="716568" cy="474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4211960" y="3762751"/>
            <a:ext cx="288032" cy="6023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3" idx="1"/>
          </p:cNvCxnSpPr>
          <p:nvPr/>
        </p:nvCxnSpPr>
        <p:spPr>
          <a:xfrm flipH="1">
            <a:off x="4860032" y="1325960"/>
            <a:ext cx="2016224" cy="878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76256" y="1095127"/>
            <a:ext cx="1362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Y = 2x + 1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18574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106857"/>
                  </p:ext>
                </p:extLst>
              </p:nvPr>
            </p:nvGraphicFramePr>
            <p:xfrm>
              <a:off x="1331640" y="1196752"/>
              <a:ext cx="6105380" cy="4718592"/>
            </p:xfrm>
            <a:graphic>
              <a:graphicData uri="http://schemas.openxmlformats.org/drawingml/2006/table">
                <a:tbl>
                  <a:tblPr/>
                  <a:tblGrid>
                    <a:gridCol w="1119202"/>
                    <a:gridCol w="1933488"/>
                    <a:gridCol w="1526345"/>
                    <a:gridCol w="1526345"/>
                  </a:tblGrid>
                  <a:tr h="517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Question</a:t>
                          </a:r>
                          <a:endParaRPr lang="en-AU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Equation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Gradient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y-</a:t>
                          </a:r>
                          <a:r>
                            <a:rPr lang="en-AU" baseline="0" dirty="0" smtClean="0"/>
                            <a:t>intercept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=−6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6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−0.8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8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=6−8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=4−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106857"/>
                  </p:ext>
                </p:extLst>
              </p:nvPr>
            </p:nvGraphicFramePr>
            <p:xfrm>
              <a:off x="1331640" y="1196752"/>
              <a:ext cx="6105380" cy="4718592"/>
            </p:xfrm>
            <a:graphic>
              <a:graphicData uri="http://schemas.openxmlformats.org/drawingml/2006/table">
                <a:tbl>
                  <a:tblPr/>
                  <a:tblGrid>
                    <a:gridCol w="1119202"/>
                    <a:gridCol w="1933488"/>
                    <a:gridCol w="1526345"/>
                    <a:gridCol w="1526345"/>
                  </a:tblGrid>
                  <a:tr h="517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Question</a:t>
                          </a:r>
                          <a:endParaRPr lang="en-AU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Equation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Gradient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y-</a:t>
                          </a:r>
                          <a:r>
                            <a:rPr lang="en-AU" baseline="0" dirty="0" smtClean="0"/>
                            <a:t>intercept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47541" r="-158044" b="-105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247541" r="-158044" b="-95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341935" r="-158044" b="-8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449180" r="-158044" b="-7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338384" r="-158044" b="-3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68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6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434000" r="-158044" b="-2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875410" r="-15804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8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975410" r="-158044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058065" r="-158044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177049" r="-15804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Fill in the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0804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672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700808"/>
            <a:ext cx="8229600" cy="244827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Exercise 4.C</a:t>
            </a:r>
            <a:br>
              <a:rPr lang="en-AU" dirty="0" smtClean="0"/>
            </a:br>
            <a:r>
              <a:rPr lang="en-AU" dirty="0" smtClean="0"/>
              <a:t>Pages 208 - 211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258</Words>
  <Application>Microsoft Office PowerPoint</Application>
  <PresentationFormat>On-screen Show (4:3)</PresentationFormat>
  <Paragraphs>80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Task – Fill in the table</vt:lpstr>
      <vt:lpstr>PowerPoint Presentation</vt:lpstr>
      <vt:lpstr>Questions  Exercise 4.C Pages 208 - 211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59</cp:revision>
  <dcterms:created xsi:type="dcterms:W3CDTF">2014-05-14T02:58:57Z</dcterms:created>
  <dcterms:modified xsi:type="dcterms:W3CDTF">2015-08-24T00:57:28Z</dcterms:modified>
</cp:coreProperties>
</file>
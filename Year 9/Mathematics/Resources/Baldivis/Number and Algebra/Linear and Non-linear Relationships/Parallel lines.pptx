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01" r:id="rId18"/>
    <p:sldId id="292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42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Parallel and Perpendicular lines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parallel line, perpendicular lines and the gradients.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42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Parallel and Perpendicular lines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parallel line, perpendicular lines and the gradients.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AU" dirty="0" smtClean="0"/>
                  <a:t> Parallel lines – Two lines that are always the same                                                                    distance apart and never meet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966" t="-4717" r="-50644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37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42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Parallel and Perpendicular lines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parallel line, perpendicular lines and the gradients.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AU" dirty="0" smtClean="0"/>
                  <a:t> Parallel lines – Two lines that are always the same                                                                    distance apart and never meet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966" t="-4717" r="-50644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089528" y="2700323"/>
            <a:ext cx="360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Parallel lines have the same gradient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563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42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Parallel and Perpendicular lines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parallel line, perpendicular lines and the gradients.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AU" dirty="0" smtClean="0"/>
                  <a:t> Parallel lines – Two lines that are always the same                                                                    distance apart and never meet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966" t="-4717" r="-50644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089528" y="2700323"/>
            <a:ext cx="360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Parallel lines have the same gradient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89528" y="3059723"/>
                <a:ext cx="57060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⊥</m:t>
                    </m:r>
                  </m:oMath>
                </a14:m>
                <a:r>
                  <a:rPr lang="en-AU" dirty="0" smtClean="0"/>
                  <a:t> Perpendicular lines – Lines that meet at right angles(90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528" y="3059723"/>
                <a:ext cx="570604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14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51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Complete the table below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1561857"/>
                  </p:ext>
                </p:extLst>
              </p:nvPr>
            </p:nvGraphicFramePr>
            <p:xfrm>
              <a:off x="539552" y="1124744"/>
              <a:ext cx="7992887" cy="5482923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=−10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=−5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1561857"/>
                  </p:ext>
                </p:extLst>
              </p:nvPr>
            </p:nvGraphicFramePr>
            <p:xfrm>
              <a:off x="539552" y="1124744"/>
              <a:ext cx="7992887" cy="5482923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7631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109091" r="-329779" b="-9662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206410" r="-329779" b="-85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310390" r="-329779" b="-7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10390" r="-329779" b="-6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5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56977" r="-329779" b="-4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44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532222" r="-329779" b="-3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38961" r="-329779" b="-3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51163" r="-329779" b="-2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841379" r="-329779" b="-98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952326" r="-3297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414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Complete the table below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019215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 smtClean="0">
                              <a:effectLst/>
                            </a:rPr>
                            <a:t>1</a:t>
                          </a: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=−10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=−5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019215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907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110256" r="-329779" b="-9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 smtClean="0">
                              <a:effectLst/>
                            </a:rPr>
                            <a:t>1</a:t>
                          </a: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212987" r="-329779" b="-870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312987" r="-329779" b="-770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07692" r="-329779" b="-6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5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60465" r="-329779" b="-4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608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523913" r="-329779" b="-36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45455" r="-329779" b="-337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56977" r="-329779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847126" r="-3297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958140" r="-329779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472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Complete the table below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2393129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=−10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=−5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2393129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907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110256" r="-329779" b="-9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110256" r="-200000" b="-9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110256" r="-100000" b="-9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212987" r="-329779" b="-870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312987" r="-329779" b="-770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07692" r="-329779" b="-6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5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60465" r="-329779" b="-4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608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523913" r="-329779" b="-36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45455" r="-329779" b="-337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56977" r="-329779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847126" r="-3297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958140" r="-329779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949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Complete the table below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1870586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8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=−10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−10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−2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8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=−5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sz="1600" b="0" i="0" smtClean="0">
                                  <a:effectLst/>
                                  <a:latin typeface="Cambria Math"/>
                                </a:rPr>
                                <m:t>5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−8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1870586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907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110256" r="-329779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110256" r="-200000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110256" r="-100000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212987" r="-329779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212987" r="-200000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212987" r="-100000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312987" r="-329779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312987" r="-200000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312987" r="-100000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07692" r="-329779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407692" r="-200000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407692" r="-100000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5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60465" r="-329779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460465" r="-200000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460465" r="-100000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608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523913" r="-329779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523913" r="-200000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523913" r="-100000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45455" r="-329779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745455" r="-200000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745455" r="-100000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56977" r="-329779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756977" r="-200000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756977" r="-100000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847126" r="-329779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847126" r="-200000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847126" r="-100000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958140" r="-329779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958140" r="-20000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958140" r="-10000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508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Complete the table below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4080289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Multiply</a:t>
                          </a:r>
                          <a:r>
                            <a:rPr lang="en-AU" sz="1400" baseline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 the gradients</a:t>
                          </a: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8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=−10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−10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−2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8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=−5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sz="1600" b="0" i="0" smtClean="0">
                                  <a:effectLst/>
                                  <a:latin typeface="Cambria Math"/>
                                </a:rPr>
                                <m:t>5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−8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4080289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907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Multiply</a:t>
                          </a:r>
                          <a:r>
                            <a:rPr lang="en-AU" sz="1400" baseline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 the gradients</a:t>
                          </a: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110256" r="-329779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110256" r="-200000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110256" r="-100000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212987" r="-329779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212987" r="-200000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212987" r="-100000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312987" r="-329779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312987" r="-200000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312987" r="-100000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07692" r="-329779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407692" r="-200000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407692" r="-100000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5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60465" r="-329779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460465" r="-200000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460465" r="-100000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608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523913" r="-329779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523913" r="-200000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523913" r="-100000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45455" r="-329779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745455" r="-200000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745455" r="-100000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56977" r="-329779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756977" r="-200000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756977" r="-100000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847126" r="-329779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847126" r="-200000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847126" r="-100000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effectLst/>
                            </a:rPr>
                            <a:t> </a:t>
                          </a:r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958140" r="-329779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958140" r="-20000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958140" r="-10000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056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Complete the table below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286293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Multiply</a:t>
                          </a:r>
                          <a:r>
                            <a:rPr lang="en-AU" sz="1400" baseline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 the gradients</a:t>
                          </a: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=−2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8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=−10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−10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 smtClean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−2</m:t>
                              </m:r>
                            </m:oMath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8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=−5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sz="1600" b="0" i="0" smtClean="0">
                                  <a:effectLst/>
                                  <a:latin typeface="Cambria Math"/>
                                </a:rPr>
                                <m:t>5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800" dirty="0">
                              <a:effectLst/>
                            </a:rPr>
                            <a:t> </a:t>
                          </a:r>
                          <a:endParaRPr lang="en-AU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−8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AU" sz="18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>
                                    <a:effectLst/>
                                  </a:rPr>
                                  <m:t>𝑦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sz="16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600">
                                        <a:effectLst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600">
                                        <a:effectLst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AU" sz="1600">
                                    <a:effectLst/>
                                  </a:rPr>
                                  <m:t>𝑥</m:t>
                                </m:r>
                                <m:r>
                                  <a:rPr lang="en-AU" sz="1600">
                                    <a:effectLst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6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8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AU" sz="1800" b="0" i="0" smtClean="0">
                                      <a:effectLst/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sz="18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AU" sz="1800" b="0" i="1" smtClean="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effectLst/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AU" sz="1600" dirty="0">
                              <a:effectLst/>
                            </a:rPr>
                            <a:t> </a:t>
                          </a:r>
                          <a:endParaRPr lang="en-AU" sz="16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286293"/>
                  </p:ext>
                </p:extLst>
              </p:nvPr>
            </p:nvGraphicFramePr>
            <p:xfrm>
              <a:off x="539552" y="1124744"/>
              <a:ext cx="7992887" cy="5513847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864096"/>
                    <a:gridCol w="1661699"/>
                    <a:gridCol w="1822364"/>
                    <a:gridCol w="1822364"/>
                    <a:gridCol w="1822364"/>
                  </a:tblGrid>
                  <a:tr h="4907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Question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Gradient of perpendicular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Multiply</a:t>
                          </a:r>
                          <a:r>
                            <a:rPr lang="en-AU" sz="1400" baseline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 the gradients</a:t>
                          </a:r>
                          <a:r>
                            <a:rPr lang="en-AU" sz="14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4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110256" r="-329779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110256" r="-200000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110256" r="-100000" b="-96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110256" b="-960256"/>
                          </a:stretch>
                        </a:blipFill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212987" r="-329779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212987" r="-200000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212987" r="-100000" b="-8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212987" b="-872727"/>
                          </a:stretch>
                        </a:blipFill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312987" r="-329779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312987" r="-200000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312987" r="-100000" b="-7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312987" b="-772727"/>
                          </a:stretch>
                        </a:blipFill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07692" r="-329779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407692" r="-200000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407692" r="-100000" b="-66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407692" b="-662821"/>
                          </a:stretch>
                        </a:blipFill>
                      </a:tcPr>
                    </a:tc>
                  </a:tr>
                  <a:tr h="5250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AU" sz="160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460465" r="-329779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460465" r="-200000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460465" r="-100000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460465" b="-501163"/>
                          </a:stretch>
                        </a:blipFill>
                      </a:tcPr>
                    </a:tc>
                  </a:tr>
                  <a:tr h="5608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523913" r="-329779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523913" r="-200000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523913" r="-100000" b="-36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523913" b="-368478"/>
                          </a:stretch>
                        </a:blipFill>
                      </a:tcPr>
                    </a:tc>
                  </a:tr>
                  <a:tr h="471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7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45455" r="-329779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745455" r="-200000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745455" r="-100000" b="-3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745455" b="-340260"/>
                          </a:stretch>
                        </a:blipFill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756977" r="-329779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756977" r="-200000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756977" r="-100000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756977" b="-204651"/>
                          </a:stretch>
                        </a:blipFill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847126" r="-329779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847126" r="-200000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847126" r="-100000" b="-1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847126" b="-102299"/>
                          </a:stretch>
                        </a:blipFill>
                      </a:tcPr>
                    </a:tc>
                  </a:tr>
                  <a:tr h="526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AU" sz="1600" dirty="0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AU" sz="1600" dirty="0">
                            <a:solidFill>
                              <a:schemeClr val="tx1"/>
                            </a:solidFill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2574" t="-958140" r="-329779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38796" t="-958140" r="-20000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38796" t="-958140" r="-10000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591" marR="5459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38796" t="-958140" b="-348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206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42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Parallel and Perpendicular lines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parallel line, perpendicular lines and the gradients.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AU" dirty="0" smtClean="0"/>
                  <a:t> Parallel lines – Two lines that are always the same                                                                    distance apart and never meet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966" t="-4717" r="-50644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089528" y="2700323"/>
            <a:ext cx="360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Parallel lines have the same gradient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89528" y="3059723"/>
                <a:ext cx="57060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⊥</m:t>
                    </m:r>
                  </m:oMath>
                </a14:m>
                <a:r>
                  <a:rPr lang="en-AU" dirty="0" smtClean="0"/>
                  <a:t> Perpendicular lines – Lines that meet at right angles(90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AU" dirty="0" smtClean="0"/>
                  <a:t>)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528" y="3059723"/>
                <a:ext cx="5706049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3311" r="-2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flipH="1">
            <a:off x="3347864" y="3798387"/>
            <a:ext cx="5184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gradients of two lines that are perpendicular multiply to give -1.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944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42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Parallel and Perpendicular lines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parallel line, perpendicular lines and the gradients.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AU" dirty="0" smtClean="0"/>
                  <a:t> Parallel lines – Two lines that are always the same                                                                    distance apart and never meet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966" t="-4717" r="-50644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089528" y="2700323"/>
            <a:ext cx="360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Parallel lines have the same gradient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89528" y="3059723"/>
                <a:ext cx="57060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⊥</m:t>
                    </m:r>
                  </m:oMath>
                </a14:m>
                <a:r>
                  <a:rPr lang="en-AU" dirty="0" smtClean="0"/>
                  <a:t> Perpendicular lines – Lines that meet at right angles(90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AU" dirty="0" smtClean="0"/>
                  <a:t>)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528" y="3059723"/>
                <a:ext cx="5706049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3311" r="-2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flipH="1">
            <a:off x="3347864" y="3798387"/>
            <a:ext cx="5184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gradients of two lines that are perpendicular multiply to give -1.</a:t>
            </a:r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347864" y="4629384"/>
                <a:ext cx="1705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4629384"/>
                <a:ext cx="170527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49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42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Parallel and Perpendicular lines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parallel line, perpendicular lines and the gradients.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AU" dirty="0" smtClean="0"/>
                  <a:t> Parallel lines – Two lines that are always the same                                                                    distance apart and never meet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42" y="2060848"/>
                <a:ext cx="568259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966" t="-4717" r="-50644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089528" y="2700323"/>
            <a:ext cx="360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Parallel lines have the same gradient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89528" y="3059723"/>
                <a:ext cx="57060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⊥</m:t>
                    </m:r>
                  </m:oMath>
                </a14:m>
                <a:r>
                  <a:rPr lang="en-AU" dirty="0" smtClean="0"/>
                  <a:t> Perpendicular lines – Lines that meet at right angles(90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AU" dirty="0" smtClean="0"/>
                  <a:t>)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528" y="3059723"/>
                <a:ext cx="5706049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3311" r="-2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flipH="1">
            <a:off x="3087105" y="3613721"/>
            <a:ext cx="5184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gradients of two lines that are perpendicular multiply to give -1.</a:t>
            </a:r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193364" y="4289301"/>
                <a:ext cx="1705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=−1</m:t>
                      </m:r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364" y="4289301"/>
                <a:ext cx="170527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8291" y="5018819"/>
                <a:ext cx="5657286" cy="1038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gradient of a line is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then the gradient of the perpendicular is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den>
                    </m:f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291" y="5018819"/>
                <a:ext cx="5657286" cy="1038939"/>
              </a:xfrm>
              <a:prstGeom prst="rect">
                <a:avLst/>
              </a:prstGeom>
              <a:blipFill rotWithShape="1">
                <a:blip r:embed="rId5"/>
                <a:stretch>
                  <a:fillRect l="-970" t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18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1283</Words>
  <Application>Microsoft Office PowerPoint</Application>
  <PresentationFormat>On-screen Show (4:3)</PresentationFormat>
  <Paragraphs>437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Complete the table below</vt:lpstr>
      <vt:lpstr>Task – Complete the table below</vt:lpstr>
      <vt:lpstr>Task – Complete the table below</vt:lpstr>
      <vt:lpstr>Task – Complete the table below</vt:lpstr>
      <vt:lpstr>Task – Complete the table below</vt:lpstr>
      <vt:lpstr>Task – Complete the table below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LocalAdmin</cp:lastModifiedBy>
  <cp:revision>47</cp:revision>
  <dcterms:created xsi:type="dcterms:W3CDTF">2014-05-14T02:58:57Z</dcterms:created>
  <dcterms:modified xsi:type="dcterms:W3CDTF">2014-09-24T12:19:21Z</dcterms:modified>
</cp:coreProperties>
</file>
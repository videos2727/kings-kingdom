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04" r:id="rId3"/>
    <p:sldId id="259" r:id="rId4"/>
    <p:sldId id="258" r:id="rId5"/>
    <p:sldId id="303" r:id="rId6"/>
    <p:sldId id="312" r:id="rId7"/>
    <p:sldId id="313" r:id="rId8"/>
    <p:sldId id="308" r:id="rId9"/>
    <p:sldId id="314" r:id="rId10"/>
    <p:sldId id="315" r:id="rId11"/>
    <p:sldId id="318" r:id="rId12"/>
    <p:sldId id="309" r:id="rId13"/>
    <p:sldId id="319" r:id="rId14"/>
    <p:sldId id="317" r:id="rId15"/>
    <p:sldId id="321" r:id="rId16"/>
    <p:sldId id="322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25" r:id="rId28"/>
    <p:sldId id="336" r:id="rId29"/>
    <p:sldId id="340" r:id="rId30"/>
    <p:sldId id="341" r:id="rId31"/>
    <p:sldId id="342" r:id="rId32"/>
    <p:sldId id="343" r:id="rId33"/>
    <p:sldId id="324" r:id="rId34"/>
    <p:sldId id="316" r:id="rId35"/>
    <p:sldId id="338" r:id="rId36"/>
    <p:sldId id="323" r:id="rId37"/>
    <p:sldId id="339" r:id="rId38"/>
    <p:sldId id="292" r:id="rId39"/>
    <p:sldId id="291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67" d="100"/>
          <a:sy n="67" d="100"/>
        </p:scale>
        <p:origin x="147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13/03/2016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13/03/2016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13/03/2016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13/03/2016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Number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Create your own front page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/>
              <a:t>Name </a:t>
            </a:r>
          </a:p>
          <a:p>
            <a:pPr>
              <a:buFontTx/>
              <a:buChar char="-"/>
            </a:pPr>
            <a:r>
              <a:rPr lang="en-AU" dirty="0"/>
              <a:t>Class</a:t>
            </a:r>
          </a:p>
          <a:p>
            <a:pPr>
              <a:buFontTx/>
              <a:buChar char="-"/>
            </a:pPr>
            <a:r>
              <a:rPr lang="en-AU" dirty="0"/>
              <a:t>Teachers Name</a:t>
            </a:r>
          </a:p>
          <a:p>
            <a:pPr>
              <a:buFontTx/>
              <a:buChar char="-"/>
            </a:pPr>
            <a:r>
              <a:rPr lang="en-AU" dirty="0"/>
              <a:t>Semester 1 Term 1</a:t>
            </a:r>
          </a:p>
          <a:p>
            <a:pPr>
              <a:buFontTx/>
              <a:buChar char="-"/>
            </a:pPr>
            <a:r>
              <a:rPr lang="en-AU" dirty="0"/>
              <a:t>Page number 1</a:t>
            </a:r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Linear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915816" y="2003050"/>
            <a:ext cx="597666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A linear rule increases by the same amount each step. It is a rule between vertical (y-axis) and horizontal (x-axis) units.</a:t>
            </a:r>
          </a:p>
          <a:p>
            <a:r>
              <a:rPr lang="en-AU" sz="2000" dirty="0"/>
              <a:t>Example – Wheelchair access ramps, stairs, sewerage and water pipes, earthwork slopes.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9832" y="3634266"/>
            <a:ext cx="3357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Step 1 – write a rule for a pattern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Linear Rules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934" y="2152340"/>
            <a:ext cx="7394131" cy="16231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96" y="3775441"/>
            <a:ext cx="7873751" cy="333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12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Linear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15816" y="2060848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I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9832" y="4293096"/>
            <a:ext cx="934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WE DO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2437372"/>
            <a:ext cx="5124450" cy="8667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4729452"/>
            <a:ext cx="486727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610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AU" sz="2800" dirty="0"/>
              <a:t>Questions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61" y="1412776"/>
            <a:ext cx="6367565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66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Linear Rules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140335"/>
            <a:ext cx="7284784" cy="3928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0" y="2970252"/>
            <a:ext cx="8827983" cy="279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78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Linear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5816" y="2060848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I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9832" y="4293096"/>
            <a:ext cx="934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WE DO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4" y="2508066"/>
            <a:ext cx="4536443" cy="848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530" y="4682592"/>
            <a:ext cx="4676634" cy="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36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AU" sz="2800" dirty="0"/>
              <a:t>Questions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836712"/>
            <a:ext cx="4792294" cy="28083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3645024"/>
            <a:ext cx="4945982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864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Linear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915816" y="2028772"/>
            <a:ext cx="583264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Write a rule for each of the following graphs:</a:t>
            </a:r>
          </a:p>
          <a:p>
            <a:r>
              <a:rPr lang="en-AU"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3802" y="249877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The graph is linear because the points are in a line.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34" y="3185428"/>
            <a:ext cx="7958167" cy="319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636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Linear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920" y="1981884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I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7603" y="1981884"/>
            <a:ext cx="934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WE DO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44" y="2381993"/>
            <a:ext cx="2936620" cy="34911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685" y="2381993"/>
            <a:ext cx="3405818" cy="336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844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AU" sz="2800" dirty="0"/>
              <a:t>Questions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836712"/>
            <a:ext cx="7488832" cy="444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675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Sketching Linear Graphs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344975"/>
              </p:ext>
            </p:extLst>
          </p:nvPr>
        </p:nvGraphicFramePr>
        <p:xfrm>
          <a:off x="3203848" y="2996952"/>
          <a:ext cx="3190459" cy="115212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55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3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 y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48249" y="1988840"/>
                <a:ext cx="48512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/>
                  <a:t>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</m:t>
                    </m:r>
                  </m:oMath>
                </a14:m>
                <a:endParaRPr lang="en-AU" dirty="0"/>
              </a:p>
              <a:p>
                <a:r>
                  <a:rPr lang="en-AU" dirty="0"/>
                  <a:t>Then draw the line</a:t>
                </a: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249" y="1988840"/>
                <a:ext cx="4851264" cy="646331"/>
              </a:xfrm>
              <a:prstGeom prst="rect">
                <a:avLst/>
              </a:prstGeom>
              <a:blipFill>
                <a:blip r:embed="rId2"/>
                <a:stretch>
                  <a:fillRect l="-1132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7668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Sketching Linear Graphs</a:t>
            </a:r>
          </a:p>
        </p:txBody>
      </p:sp>
      <p:pic>
        <p:nvPicPr>
          <p:cNvPr id="15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916" y="2368851"/>
            <a:ext cx="4616936" cy="4332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379470"/>
              </p:ext>
            </p:extLst>
          </p:nvPr>
        </p:nvGraphicFramePr>
        <p:xfrm>
          <a:off x="3203848" y="2996952"/>
          <a:ext cx="3190459" cy="115212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55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3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 y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-8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948249" y="1988840"/>
                <a:ext cx="48512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/>
                  <a:t>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</m:t>
                    </m:r>
                  </m:oMath>
                </a14:m>
                <a:endParaRPr lang="en-AU" dirty="0"/>
              </a:p>
              <a:p>
                <a:r>
                  <a:rPr lang="en-AU" dirty="0"/>
                  <a:t>Then draw the line</a:t>
                </a: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249" y="1988840"/>
                <a:ext cx="4851264" cy="646331"/>
              </a:xfrm>
              <a:prstGeom prst="rect">
                <a:avLst/>
              </a:prstGeom>
              <a:blipFill>
                <a:blip r:embed="rId3"/>
                <a:stretch>
                  <a:fillRect l="-1132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3216627" y="4678168"/>
            <a:ext cx="21572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Ordered pairs (-2,-8), (-1,-5), (0,-2) </a:t>
            </a:r>
            <a:r>
              <a:rPr lang="en-AU" dirty="0" err="1"/>
              <a:t>etc</a:t>
            </a:r>
            <a:endParaRPr lang="en-AU" dirty="0"/>
          </a:p>
          <a:p>
            <a:r>
              <a:rPr lang="en-AU" b="1" dirty="0"/>
              <a:t>Note: first number is for the horizontal axis and the other is for vertical the axis</a:t>
            </a:r>
          </a:p>
        </p:txBody>
      </p:sp>
    </p:spTree>
    <p:extLst>
      <p:ext uri="{BB962C8B-B14F-4D97-AF65-F5344CB8AC3E}">
        <p14:creationId xmlns:p14="http://schemas.microsoft.com/office/powerpoint/2010/main" val="2094663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7544669" cy="525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188640"/>
                <a:ext cx="3888432" cy="144016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AU" i="1" dirty="0">
                    <a:latin typeface="Cambria Math"/>
                  </a:rPr>
                  <a:t>Lets look at these ones</a:t>
                </a:r>
                <a:endParaRPr lang="en-AU" b="0" i="1" dirty="0">
                  <a:latin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</m:t>
                    </m:r>
                  </m:oMath>
                </a14:m>
                <a:endParaRPr lang="en-AU" b="0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=5−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5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88640"/>
                <a:ext cx="3888432" cy="1440160"/>
              </a:xfrm>
              <a:blipFill rotWithShape="1">
                <a:blip r:embed="rId3"/>
                <a:stretch>
                  <a:fillRect l="-2821" t="-97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732240" y="1340768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𝑦</m:t>
                      </m:r>
                      <m:r>
                        <a:rPr lang="en-AU" i="1">
                          <a:latin typeface="Cambria Math"/>
                        </a:rPr>
                        <m:t>=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40" y="1340768"/>
                <a:ext cx="1512168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732240" y="2492896"/>
                <a:ext cx="1800200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𝑦</m:t>
                      </m:r>
                      <m:r>
                        <a:rPr lang="en-AU" i="1">
                          <a:latin typeface="Cambria Math"/>
                        </a:rPr>
                        <m:t>=5−</m:t>
                      </m:r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40" y="2492896"/>
                <a:ext cx="1800200" cy="61093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203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AU" sz="2800" dirty="0"/>
              <a:t>Questions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717252"/>
            <a:ext cx="7920880" cy="622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33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7544669" cy="525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11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13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gradient and y intercept can be used to find the equation of a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354325" y="2604972"/>
                <a:ext cx="20469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𝑦</m:t>
                      </m:r>
                      <m:r>
                        <a:rPr lang="en-AU" sz="2800" b="0" i="1" smtClean="0">
                          <a:latin typeface="Cambria Math"/>
                        </a:rPr>
                        <m:t>=</m:t>
                      </m:r>
                      <m:r>
                        <a:rPr lang="en-AU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𝑚</m:t>
                      </m:r>
                      <m:r>
                        <a:rPr lang="en-AU" sz="2800" b="0" i="1" smtClean="0">
                          <a:latin typeface="Cambria Math"/>
                        </a:rPr>
                        <m:t>𝑥</m:t>
                      </m:r>
                      <m:r>
                        <a:rPr lang="en-AU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r>
                        <a:rPr lang="en-AU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AU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325" y="2604972"/>
                <a:ext cx="2046971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203848" y="2123564"/>
            <a:ext cx="4633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The equation of a line has the form 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932040" y="3128192"/>
            <a:ext cx="216024" cy="438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10524" y="3546661"/>
            <a:ext cx="1275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Gradient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6156176" y="3128192"/>
            <a:ext cx="252028" cy="438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56176" y="3584785"/>
            <a:ext cx="1525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00B050"/>
                </a:solidFill>
              </a:rPr>
              <a:t>y intercept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15816" y="4057617"/>
                <a:ext cx="56811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What is the gradient and y-intercept for the line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𝑦</m:t>
                    </m:r>
                    <m:r>
                      <a:rPr lang="en-AU" sz="2400" b="0" i="1" smtClean="0">
                        <a:latin typeface="Cambria Math"/>
                      </a:rPr>
                      <m:t>=2</m:t>
                    </m:r>
                    <m:r>
                      <a:rPr lang="en-AU" sz="2400" b="0" i="1" smtClean="0">
                        <a:latin typeface="Cambria Math"/>
                      </a:rPr>
                      <m:t>𝑥</m:t>
                    </m:r>
                    <m:r>
                      <a:rPr lang="en-AU" sz="2400" b="0" i="1" smtClean="0">
                        <a:latin typeface="Cambria Math"/>
                      </a:rPr>
                      <m:t>+1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4057617"/>
                <a:ext cx="5681163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1609" t="-5882" r="-751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3209645" y="4888614"/>
            <a:ext cx="1996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Gradient = 2/1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201042" y="5799391"/>
                <a:ext cx="22684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𝑦</m:t>
                      </m:r>
                      <m:r>
                        <a:rPr lang="en-AU" sz="24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/>
                        </a:rPr>
                        <m:t>intercept</m:t>
                      </m:r>
                      <m:r>
                        <a:rPr lang="en-AU" sz="2400" b="0" i="0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042" y="5799391"/>
                <a:ext cx="2268442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920694" y="4809638"/>
            <a:ext cx="25635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Gradient = </a:t>
            </a:r>
            <a:r>
              <a:rPr lang="en-AU" sz="2400" u="sng" dirty="0"/>
              <a:t>rise</a:t>
            </a:r>
            <a:r>
              <a:rPr lang="en-AU" sz="2400" dirty="0"/>
              <a:t> = </a:t>
            </a:r>
            <a:r>
              <a:rPr lang="en-AU" sz="2400" u="sng" dirty="0"/>
              <a:t>2</a:t>
            </a:r>
          </a:p>
          <a:p>
            <a:r>
              <a:rPr lang="en-AU" sz="2400" dirty="0"/>
              <a:t>                     run   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41458" y="5865418"/>
                <a:ext cx="262302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𝑖𝑛𝑡𝑒𝑟𝑠𝑒𝑐𝑡𝑖𝑜𝑛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𝑤𝑖𝑡h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𝑦</m:t>
                      </m:r>
                      <m:r>
                        <a:rPr lang="en-AU" sz="1600" b="0" i="1" smtClean="0">
                          <a:latin typeface="Cambria Math"/>
                        </a:rPr>
                        <m:t>−</m:t>
                      </m:r>
                      <m:r>
                        <a:rPr lang="en-AU" sz="1600" b="0" i="1" smtClean="0">
                          <a:latin typeface="Cambria Math"/>
                        </a:rPr>
                        <m:t>𝑎𝑥𝑖𝑠</m:t>
                      </m:r>
                    </m:oMath>
                  </m:oMathPara>
                </a14:m>
                <a:endParaRPr lang="en-AU" sz="16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458" y="5865418"/>
                <a:ext cx="2623026" cy="338554"/>
              </a:xfrm>
              <a:prstGeom prst="rect">
                <a:avLst/>
              </a:prstGeom>
              <a:blipFill rotWithShape="1">
                <a:blip r:embed="rId5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224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7544669" cy="525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Oval 2"/>
          <p:cNvSpPr/>
          <p:nvPr/>
        </p:nvSpPr>
        <p:spPr>
          <a:xfrm>
            <a:off x="3995936" y="3667883"/>
            <a:ext cx="72008" cy="948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699792" y="1556792"/>
            <a:ext cx="2404182" cy="482453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72544" y="3253652"/>
            <a:ext cx="1143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Rise =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1960" y="4365104"/>
            <a:ext cx="1122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Run = 1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4283968" y="3253652"/>
            <a:ext cx="0" cy="4616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3" idx="2"/>
          </p:cNvCxnSpPr>
          <p:nvPr/>
        </p:nvCxnSpPr>
        <p:spPr>
          <a:xfrm flipH="1">
            <a:off x="3995936" y="3715317"/>
            <a:ext cx="2880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97639" y="3301086"/>
            <a:ext cx="1984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Y intercept = 1</a:t>
            </a:r>
          </a:p>
        </p:txBody>
      </p:sp>
      <p:cxnSp>
        <p:nvCxnSpPr>
          <p:cNvPr id="24" name="Straight Arrow Connector 23"/>
          <p:cNvCxnSpPr>
            <a:stCxn id="22" idx="3"/>
          </p:cNvCxnSpPr>
          <p:nvPr/>
        </p:nvCxnSpPr>
        <p:spPr>
          <a:xfrm>
            <a:off x="3281644" y="3531919"/>
            <a:ext cx="634350" cy="1511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3" idx="1"/>
          </p:cNvCxnSpPr>
          <p:nvPr/>
        </p:nvCxnSpPr>
        <p:spPr>
          <a:xfrm flipH="1">
            <a:off x="4355976" y="3484485"/>
            <a:ext cx="716568" cy="474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4211960" y="3762751"/>
            <a:ext cx="288032" cy="6023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3" idx="1"/>
          </p:cNvCxnSpPr>
          <p:nvPr/>
        </p:nvCxnSpPr>
        <p:spPr>
          <a:xfrm flipH="1">
            <a:off x="4860032" y="1325960"/>
            <a:ext cx="2016224" cy="878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76256" y="1095127"/>
            <a:ext cx="1362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Y = 2x + 1</a:t>
            </a:r>
          </a:p>
        </p:txBody>
      </p:sp>
    </p:spTree>
    <p:extLst>
      <p:ext uri="{BB962C8B-B14F-4D97-AF65-F5344CB8AC3E}">
        <p14:creationId xmlns:p14="http://schemas.microsoft.com/office/powerpoint/2010/main" val="318539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331640" y="1196752"/>
              <a:ext cx="6105380" cy="4718592"/>
            </p:xfrm>
            <a:graphic>
              <a:graphicData uri="http://schemas.openxmlformats.org/drawingml/2006/table">
                <a:tbl>
                  <a:tblPr/>
                  <a:tblGrid>
                    <a:gridCol w="111920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334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2634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2634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174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Question</a:t>
                          </a:r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Equation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Gradient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y-</a:t>
                          </a:r>
                          <a:r>
                            <a:rPr lang="en-AU" baseline="0" dirty="0"/>
                            <a:t>intercept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=3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=5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=−3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=−6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−0.8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=6−8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=4−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=5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2106857"/>
                  </p:ext>
                </p:extLst>
              </p:nvPr>
            </p:nvGraphicFramePr>
            <p:xfrm>
              <a:off x="1331640" y="1196752"/>
              <a:ext cx="6105380" cy="4718592"/>
            </p:xfrm>
            <a:graphic>
              <a:graphicData uri="http://schemas.openxmlformats.org/drawingml/2006/table">
                <a:tbl>
                  <a:tblPr/>
                  <a:tblGrid>
                    <a:gridCol w="1119202"/>
                    <a:gridCol w="1933488"/>
                    <a:gridCol w="1526345"/>
                    <a:gridCol w="1526345"/>
                  </a:tblGrid>
                  <a:tr h="5174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Question</a:t>
                          </a:r>
                          <a:endParaRPr lang="en-AU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Equation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Gradient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y-</a:t>
                          </a:r>
                          <a:r>
                            <a:rPr lang="en-AU" baseline="0" dirty="0" smtClean="0"/>
                            <a:t>intercept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147541" r="-158044" b="-105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247541" r="-158044" b="-95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341935" r="-158044" b="-8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4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449180" r="-158044" b="-7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5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338384" r="-158044" b="-36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68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6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434000" r="-158044" b="-2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7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875410" r="-158044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8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975410" r="-158044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9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1058065" r="-158044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10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1177049" r="-15804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– Fill in the table</a:t>
            </a:r>
          </a:p>
        </p:txBody>
      </p:sp>
    </p:spTree>
    <p:extLst>
      <p:ext uri="{BB962C8B-B14F-4D97-AF65-F5344CB8AC3E}">
        <p14:creationId xmlns:p14="http://schemas.microsoft.com/office/powerpoint/2010/main" val="4008056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7544669" cy="525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27" y="26863"/>
            <a:ext cx="49406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/>
              <a:t>Draw a quick sketch of each of the following: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426973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I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9258" y="940658"/>
            <a:ext cx="934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WE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1264570" y="457751"/>
            <a:ext cx="11176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y = 2x + 2 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7866" y="899259"/>
            <a:ext cx="1072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y = 4x - 5 </a:t>
            </a:r>
          </a:p>
        </p:txBody>
      </p:sp>
    </p:spTree>
    <p:extLst>
      <p:ext uri="{BB962C8B-B14F-4D97-AF65-F5344CB8AC3E}">
        <p14:creationId xmlns:p14="http://schemas.microsoft.com/office/powerpoint/2010/main" val="8391807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7544669" cy="525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27" y="26863"/>
            <a:ext cx="49406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/>
              <a:t>Draw a quick sketch of each of the following: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516017"/>
            <a:ext cx="7026972" cy="96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258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7544669" cy="525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27" y="26863"/>
            <a:ext cx="49406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/>
              <a:t>Draw a quick sketch of each of the following: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426973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I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9258" y="940658"/>
            <a:ext cx="934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WE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4570" y="457751"/>
            <a:ext cx="1188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y = -2x + 4 </a:t>
            </a:r>
          </a:p>
        </p:txBody>
      </p:sp>
      <p:sp>
        <p:nvSpPr>
          <p:cNvPr id="7" name="Rectangle 6"/>
          <p:cNvSpPr/>
          <p:nvPr/>
        </p:nvSpPr>
        <p:spPr>
          <a:xfrm>
            <a:off x="1277866" y="899259"/>
            <a:ext cx="1143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y = -3x - 1 </a:t>
            </a:r>
          </a:p>
        </p:txBody>
      </p:sp>
    </p:spTree>
    <p:extLst>
      <p:ext uri="{BB962C8B-B14F-4D97-AF65-F5344CB8AC3E}">
        <p14:creationId xmlns:p14="http://schemas.microsoft.com/office/powerpoint/2010/main" val="42709089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7544669" cy="525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27" y="26863"/>
            <a:ext cx="49406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/>
              <a:t>Draw a quick sketch of each of the following: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74" y="426973"/>
            <a:ext cx="7628158" cy="105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147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Sketching Linear Graphs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07" y="2098630"/>
            <a:ext cx="8687589" cy="269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02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7544669" cy="525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27" y="26863"/>
            <a:ext cx="49406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/>
              <a:t>Draw a quick sketch of each of the following: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426973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I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4570" y="457751"/>
            <a:ext cx="1064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2x + y = 4</a:t>
            </a:r>
          </a:p>
        </p:txBody>
      </p:sp>
    </p:spTree>
    <p:extLst>
      <p:ext uri="{BB962C8B-B14F-4D97-AF65-F5344CB8AC3E}">
        <p14:creationId xmlns:p14="http://schemas.microsoft.com/office/powerpoint/2010/main" val="1311156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7544669" cy="525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27" y="26863"/>
            <a:ext cx="49406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/>
              <a:t>Draw a quick sketch of each of the following: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426973"/>
            <a:ext cx="934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WE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4570" y="457751"/>
            <a:ext cx="12522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-2y + 6 = 2x</a:t>
            </a:r>
          </a:p>
        </p:txBody>
      </p:sp>
    </p:spTree>
    <p:extLst>
      <p:ext uri="{BB962C8B-B14F-4D97-AF65-F5344CB8AC3E}">
        <p14:creationId xmlns:p14="http://schemas.microsoft.com/office/powerpoint/2010/main" val="298575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13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equation if we only have two points?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354325" y="2604972"/>
                <a:ext cx="20469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𝑦</m:t>
                      </m:r>
                      <m:r>
                        <a:rPr lang="en-AU" sz="2800" b="0" i="1" smtClean="0">
                          <a:latin typeface="Cambria Math"/>
                        </a:rPr>
                        <m:t>=</m:t>
                      </m:r>
                      <m:r>
                        <a:rPr lang="en-AU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𝑚</m:t>
                      </m:r>
                      <m:r>
                        <a:rPr lang="en-AU" sz="2800" b="0" i="1" smtClean="0">
                          <a:latin typeface="Cambria Math"/>
                        </a:rPr>
                        <m:t>𝑥</m:t>
                      </m:r>
                      <m:r>
                        <a:rPr lang="en-AU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r>
                        <a:rPr lang="en-AU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AU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325" y="2604972"/>
                <a:ext cx="2046971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203848" y="2123564"/>
            <a:ext cx="4633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The equation of a line has the form 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932040" y="3128192"/>
            <a:ext cx="216024" cy="438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10524" y="3546661"/>
            <a:ext cx="1275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Gradient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6156176" y="3128192"/>
            <a:ext cx="252028" cy="438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56176" y="3584785"/>
            <a:ext cx="1525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00B050"/>
                </a:solidFill>
              </a:rPr>
              <a:t>y intercept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7964" y="4057617"/>
            <a:ext cx="49196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Gradient = </a:t>
            </a:r>
            <a:r>
              <a:rPr lang="en-AU" sz="2400" u="sng" dirty="0"/>
              <a:t>rise</a:t>
            </a:r>
            <a:r>
              <a:rPr lang="en-AU" sz="2400" dirty="0"/>
              <a:t>    so how do we find c?</a:t>
            </a:r>
            <a:endParaRPr lang="en-AU" sz="2400" u="sng" dirty="0"/>
          </a:p>
          <a:p>
            <a:r>
              <a:rPr lang="en-AU" sz="2400" dirty="0"/>
              <a:t>                     run    </a:t>
            </a:r>
          </a:p>
        </p:txBody>
      </p:sp>
    </p:spTree>
    <p:extLst>
      <p:ext uri="{BB962C8B-B14F-4D97-AF65-F5344CB8AC3E}">
        <p14:creationId xmlns:p14="http://schemas.microsoft.com/office/powerpoint/2010/main" val="40414496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13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equation if we only have two points?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44" y="2852936"/>
            <a:ext cx="260985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3172678" y="2909199"/>
            <a:ext cx="417293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Gradient = </a:t>
            </a:r>
            <a:r>
              <a:rPr lang="en-AU" sz="2400" u="sng" dirty="0"/>
              <a:t>rise</a:t>
            </a:r>
            <a:r>
              <a:rPr lang="en-AU" sz="2400" dirty="0"/>
              <a:t> =   </a:t>
            </a:r>
            <a:r>
              <a:rPr lang="en-AU" sz="2400" u="sng" dirty="0"/>
              <a:t>(y</a:t>
            </a:r>
            <a:r>
              <a:rPr lang="en-AU" sz="2400" u="sng" baseline="-25000" dirty="0"/>
              <a:t>2</a:t>
            </a:r>
            <a:r>
              <a:rPr lang="en-AU" sz="2400" u="sng" dirty="0"/>
              <a:t> – y</a:t>
            </a:r>
            <a:r>
              <a:rPr lang="en-AU" sz="2400" u="sng" baseline="-25000" dirty="0"/>
              <a:t>1</a:t>
            </a:r>
            <a:r>
              <a:rPr lang="en-AU" sz="2400" u="sng" dirty="0"/>
              <a:t>)</a:t>
            </a:r>
          </a:p>
          <a:p>
            <a:r>
              <a:rPr lang="en-AU" sz="2400" dirty="0"/>
              <a:t>                    run      (x</a:t>
            </a:r>
            <a:r>
              <a:rPr lang="en-AU" sz="2400" baseline="-25000" dirty="0"/>
              <a:t>2</a:t>
            </a:r>
            <a:r>
              <a:rPr lang="en-AU" sz="2400" dirty="0"/>
              <a:t> – x</a:t>
            </a:r>
            <a:r>
              <a:rPr lang="en-AU" sz="2400" baseline="-25000" dirty="0"/>
              <a:t>1</a:t>
            </a:r>
            <a:r>
              <a:rPr lang="en-AU" sz="2400" dirty="0"/>
              <a:t>)</a:t>
            </a:r>
          </a:p>
          <a:p>
            <a:endParaRPr lang="en-AU" sz="2400" dirty="0"/>
          </a:p>
          <a:p>
            <a:r>
              <a:rPr lang="en-AU" sz="2400" dirty="0"/>
              <a:t>	          m =  </a:t>
            </a:r>
            <a:r>
              <a:rPr lang="en-AU" sz="2400" u="sng" dirty="0"/>
              <a:t>(-2 – 3)</a:t>
            </a:r>
            <a:r>
              <a:rPr lang="en-AU" sz="2400" dirty="0"/>
              <a:t>   =    </a:t>
            </a:r>
            <a:r>
              <a:rPr lang="en-AU" sz="2400" u="sng" dirty="0"/>
              <a:t>-5</a:t>
            </a:r>
          </a:p>
          <a:p>
            <a:r>
              <a:rPr lang="en-AU" sz="2400" dirty="0"/>
              <a:t>		      (1 + 1)           2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5940152" y="2636912"/>
            <a:ext cx="432048" cy="3479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0192" y="2452246"/>
            <a:ext cx="1059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ie</a:t>
            </a:r>
            <a:r>
              <a:rPr lang="en-AU" dirty="0"/>
              <a:t>  height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6472809" y="3498678"/>
            <a:ext cx="61947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39030" y="3309711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ie</a:t>
            </a:r>
            <a:r>
              <a:rPr lang="en-AU" dirty="0"/>
              <a:t>  run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1361245" y="2821578"/>
            <a:ext cx="0" cy="6994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1793293" y="4005064"/>
            <a:ext cx="216024" cy="6420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57239" y="2426575"/>
            <a:ext cx="83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Point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35847" y="3635732"/>
            <a:ext cx="83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Point 2</a:t>
            </a:r>
          </a:p>
        </p:txBody>
      </p:sp>
    </p:spTree>
    <p:extLst>
      <p:ext uri="{BB962C8B-B14F-4D97-AF65-F5344CB8AC3E}">
        <p14:creationId xmlns:p14="http://schemas.microsoft.com/office/powerpoint/2010/main" val="30060740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13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equation if we only have two points?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44" y="2852936"/>
            <a:ext cx="260985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5" name="Straight Arrow Connector 24"/>
          <p:cNvCxnSpPr/>
          <p:nvPr/>
        </p:nvCxnSpPr>
        <p:spPr>
          <a:xfrm>
            <a:off x="1361245" y="2821578"/>
            <a:ext cx="0" cy="6994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1793293" y="4005064"/>
            <a:ext cx="216024" cy="6420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57239" y="2426575"/>
            <a:ext cx="83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Point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35847" y="3635732"/>
            <a:ext cx="83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Point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56155" y="1997569"/>
            <a:ext cx="55837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Finding c</a:t>
            </a:r>
          </a:p>
          <a:p>
            <a:r>
              <a:rPr lang="en-AU" sz="2400" dirty="0"/>
              <a:t>Use one of the points and the gradient to solve the equation.</a:t>
            </a:r>
          </a:p>
          <a:p>
            <a:r>
              <a:rPr lang="en-AU" sz="2400" dirty="0"/>
              <a:t>	y = mx + c  m= -5/2  &amp; </a:t>
            </a:r>
            <a:r>
              <a:rPr lang="en-AU" sz="2400" dirty="0" err="1"/>
              <a:t>pt</a:t>
            </a:r>
            <a:r>
              <a:rPr lang="en-AU" sz="2400" dirty="0"/>
              <a:t> (-1,3)</a:t>
            </a:r>
          </a:p>
          <a:p>
            <a:r>
              <a:rPr lang="en-AU" sz="2400" dirty="0"/>
              <a:t>	3 = (</a:t>
            </a:r>
            <a:r>
              <a:rPr lang="en-AU" sz="2400" u="sng" dirty="0"/>
              <a:t>-5</a:t>
            </a:r>
            <a:r>
              <a:rPr lang="en-AU" sz="2400" dirty="0"/>
              <a:t>)(-1) + c</a:t>
            </a:r>
          </a:p>
          <a:p>
            <a:r>
              <a:rPr lang="en-AU" sz="2400" dirty="0"/>
              <a:t>	         2</a:t>
            </a:r>
          </a:p>
          <a:p>
            <a:r>
              <a:rPr lang="en-AU" sz="2400" dirty="0"/>
              <a:t>	3 - </a:t>
            </a:r>
            <a:r>
              <a:rPr lang="en-AU" sz="2400" u="sng" dirty="0"/>
              <a:t>5</a:t>
            </a:r>
            <a:r>
              <a:rPr lang="en-AU" sz="2400" dirty="0"/>
              <a:t> = c</a:t>
            </a:r>
          </a:p>
          <a:p>
            <a:r>
              <a:rPr lang="en-AU" sz="2400" dirty="0"/>
              <a:t>	       2</a:t>
            </a:r>
          </a:p>
          <a:p>
            <a:r>
              <a:rPr lang="en-AU" sz="2400" dirty="0"/>
              <a:t>	c = </a:t>
            </a:r>
            <a:r>
              <a:rPr lang="en-AU" sz="2400" dirty="0">
                <a:latin typeface="Arial"/>
                <a:cs typeface="Arial"/>
              </a:rPr>
              <a:t>½</a:t>
            </a:r>
          </a:p>
          <a:p>
            <a:r>
              <a:rPr lang="en-AU" sz="2400" dirty="0">
                <a:latin typeface="Arial"/>
                <a:cs typeface="Arial"/>
                <a:sym typeface="Symbol"/>
              </a:rPr>
              <a:t>          y = </a:t>
            </a:r>
            <a:r>
              <a:rPr lang="en-AU" sz="2400" u="sng" dirty="0">
                <a:latin typeface="Arial"/>
                <a:cs typeface="Arial"/>
                <a:sym typeface="Symbol"/>
              </a:rPr>
              <a:t>-5</a:t>
            </a:r>
            <a:r>
              <a:rPr lang="en-AU" sz="2400" dirty="0">
                <a:latin typeface="Arial"/>
                <a:cs typeface="Arial"/>
                <a:sym typeface="Symbol"/>
              </a:rPr>
              <a:t>x + </a:t>
            </a:r>
            <a:r>
              <a:rPr lang="en-AU" sz="2400" u="sng" dirty="0">
                <a:latin typeface="Arial"/>
                <a:cs typeface="Arial"/>
              </a:rPr>
              <a:t>1</a:t>
            </a:r>
            <a:r>
              <a:rPr lang="en-AU" sz="2400" dirty="0">
                <a:latin typeface="Arial"/>
                <a:cs typeface="Arial"/>
                <a:sym typeface="Symbol"/>
              </a:rPr>
              <a:t> </a:t>
            </a:r>
          </a:p>
          <a:p>
            <a:r>
              <a:rPr lang="en-AU" sz="2400" dirty="0">
                <a:latin typeface="Arial"/>
                <a:cs typeface="Arial"/>
                <a:sym typeface="Symbol"/>
              </a:rPr>
              <a:t>	         2       2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73980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What is the equation if we only have two points?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2915815" y="2003050"/>
            <a:ext cx="61075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What is the equation for the line that passes through the points: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9832" y="2649381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I DO 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5298" y="2715706"/>
            <a:ext cx="1616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 (3, 4) and (5,8)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1259" y="4797152"/>
            <a:ext cx="992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WE DO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85549" y="4812541"/>
            <a:ext cx="1616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 (4,5) and (8, 3)</a:t>
            </a:r>
          </a:p>
        </p:txBody>
      </p:sp>
    </p:spTree>
    <p:extLst>
      <p:ext uri="{BB962C8B-B14F-4D97-AF65-F5344CB8AC3E}">
        <p14:creationId xmlns:p14="http://schemas.microsoft.com/office/powerpoint/2010/main" val="37279242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AU" sz="2800" dirty="0"/>
              <a:t>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88727" y="1326830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(2,7) and (0,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815289" y="2994629"/>
            <a:ext cx="1616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 (2,0) and (0,3) </a:t>
            </a:r>
          </a:p>
        </p:txBody>
      </p:sp>
      <p:sp>
        <p:nvSpPr>
          <p:cNvPr id="6" name="Rectangle 5"/>
          <p:cNvSpPr/>
          <p:nvPr/>
        </p:nvSpPr>
        <p:spPr>
          <a:xfrm>
            <a:off x="818194" y="4662428"/>
            <a:ext cx="1633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 (-1,2) and (7,6)</a:t>
            </a:r>
          </a:p>
        </p:txBody>
      </p:sp>
      <p:sp>
        <p:nvSpPr>
          <p:cNvPr id="7" name="Rectangle 6"/>
          <p:cNvSpPr/>
          <p:nvPr/>
        </p:nvSpPr>
        <p:spPr>
          <a:xfrm>
            <a:off x="4644008" y="1326830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 (1,1) and (3,5)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4008" y="2916374"/>
            <a:ext cx="1721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 (1,3)  and  (2,4) 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2599" y="4662428"/>
            <a:ext cx="18565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 (2, 16) and (-1, 7)</a:t>
            </a:r>
          </a:p>
        </p:txBody>
      </p:sp>
    </p:spTree>
    <p:extLst>
      <p:ext uri="{BB962C8B-B14F-4D97-AF65-F5344CB8AC3E}">
        <p14:creationId xmlns:p14="http://schemas.microsoft.com/office/powerpoint/2010/main" val="12573330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7544669" cy="525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27" y="26863"/>
            <a:ext cx="49406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/>
              <a:t>Draw a quick sketch of each of the following:</a:t>
            </a:r>
          </a:p>
        </p:txBody>
      </p:sp>
    </p:spTree>
    <p:extLst>
      <p:ext uri="{BB962C8B-B14F-4D97-AF65-F5344CB8AC3E}">
        <p14:creationId xmlns:p14="http://schemas.microsoft.com/office/powerpoint/2010/main" val="10313088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3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Sketching Linear Graphs</a:t>
            </a:r>
          </a:p>
        </p:txBody>
      </p:sp>
    </p:spTree>
    <p:extLst>
      <p:ext uri="{BB962C8B-B14F-4D97-AF65-F5344CB8AC3E}">
        <p14:creationId xmlns:p14="http://schemas.microsoft.com/office/powerpoint/2010/main" val="20046805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AU" sz="2800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9919139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980</Words>
  <Application>Microsoft Office PowerPoint</Application>
  <PresentationFormat>On-screen Show (4:3)</PresentationFormat>
  <Paragraphs>308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Cambria Math</vt:lpstr>
      <vt:lpstr>Symbol</vt:lpstr>
      <vt:lpstr>Times New Roman</vt:lpstr>
      <vt:lpstr>Office Theme</vt:lpstr>
      <vt:lpstr>My Number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PowerPoint Presentation</vt:lpstr>
      <vt:lpstr>PowerPoint Presentation</vt:lpstr>
      <vt:lpstr>Questions</vt:lpstr>
      <vt:lpstr>PowerPoint Presentation</vt:lpstr>
      <vt:lpstr>PowerPoint Presentation</vt:lpstr>
      <vt:lpstr>Questions</vt:lpstr>
      <vt:lpstr>PowerPoint Presentation</vt:lpstr>
      <vt:lpstr>PowerPoint Presentation</vt:lpstr>
      <vt:lpstr>PowerPoint Presentation</vt:lpstr>
      <vt:lpstr>Questions</vt:lpstr>
      <vt:lpstr>PowerPoint Presentation</vt:lpstr>
      <vt:lpstr>PowerPoint Presentation</vt:lpstr>
      <vt:lpstr>PowerPoint Presentation</vt:lpstr>
      <vt:lpstr>Task – Fill in the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PowerPoint Presentation</vt:lpstr>
      <vt:lpstr>PowerPoint Presentation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ctjam</cp:lastModifiedBy>
  <cp:revision>69</cp:revision>
  <dcterms:created xsi:type="dcterms:W3CDTF">2014-05-14T02:58:57Z</dcterms:created>
  <dcterms:modified xsi:type="dcterms:W3CDTF">2016-03-13T05:22:48Z</dcterms:modified>
</cp:coreProperties>
</file>
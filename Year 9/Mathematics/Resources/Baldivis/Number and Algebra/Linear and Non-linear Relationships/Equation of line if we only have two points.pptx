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9" r:id="rId3"/>
    <p:sldId id="258" r:id="rId4"/>
    <p:sldId id="350" r:id="rId5"/>
    <p:sldId id="355" r:id="rId6"/>
    <p:sldId id="356" r:id="rId7"/>
    <p:sldId id="301" r:id="rId8"/>
    <p:sldId id="292" r:id="rId9"/>
    <p:sldId id="291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2895" autoAdjust="0"/>
  </p:normalViewPr>
  <p:slideViewPr>
    <p:cSldViewPr>
      <p:cViewPr>
        <p:scale>
          <a:sx n="77" d="100"/>
          <a:sy n="77" d="100"/>
        </p:scale>
        <p:origin x="-744" y="-1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7/09/2015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7/09/2015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7/09/2015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7/09/2015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7/09/2015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7/09/2015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7/09/2015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7/09/2015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7/09/2015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7/09/2015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7/09/2015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7/09/2015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Linear Relationships 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Term 3 Semester 2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988840"/>
            <a:ext cx="4320480" cy="35740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6373978" y="66504"/>
            <a:ext cx="14383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12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13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4501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Finding the equation of a line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is the equation if we only have two points?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354325" y="2604972"/>
                <a:ext cx="204697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/>
                        </a:rPr>
                        <m:t>𝑦</m:t>
                      </m:r>
                      <m:r>
                        <a:rPr lang="en-AU" sz="2800" b="0" i="1" smtClean="0">
                          <a:latin typeface="Cambria Math"/>
                        </a:rPr>
                        <m:t>=</m:t>
                      </m:r>
                      <m:r>
                        <a:rPr lang="en-AU" sz="2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𝑚</m:t>
                      </m:r>
                      <m:r>
                        <a:rPr lang="en-AU" sz="2800" b="0" i="1" smtClean="0">
                          <a:latin typeface="Cambria Math"/>
                        </a:rPr>
                        <m:t>𝑥</m:t>
                      </m:r>
                      <m:r>
                        <a:rPr lang="en-AU" sz="2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+</m:t>
                      </m:r>
                      <m:r>
                        <a:rPr lang="en-AU" sz="2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𝑐</m:t>
                      </m:r>
                    </m:oMath>
                  </m:oMathPara>
                </a14:m>
                <a:endParaRPr lang="en-AU" sz="2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4325" y="2604972"/>
                <a:ext cx="2046971" cy="52322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3203848" y="2123564"/>
            <a:ext cx="46332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The equation of a line has the form </a:t>
            </a:r>
            <a:endParaRPr lang="en-AU" sz="2400" dirty="0"/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4932040" y="3128192"/>
            <a:ext cx="216024" cy="43843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10524" y="3546661"/>
            <a:ext cx="12751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>
                <a:solidFill>
                  <a:srgbClr val="FF0000"/>
                </a:solidFill>
              </a:rPr>
              <a:t>Gradient</a:t>
            </a:r>
            <a:endParaRPr lang="en-AU" sz="2400" dirty="0">
              <a:solidFill>
                <a:srgbClr val="FF0000"/>
              </a:solidFill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 flipH="1" flipV="1">
            <a:off x="6156176" y="3128192"/>
            <a:ext cx="252028" cy="43843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156176" y="3584785"/>
            <a:ext cx="15255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>
                <a:solidFill>
                  <a:srgbClr val="00B050"/>
                </a:solidFill>
              </a:rPr>
              <a:t>y intercept</a:t>
            </a:r>
            <a:endParaRPr lang="en-AU" sz="2400" dirty="0">
              <a:solidFill>
                <a:srgbClr val="00B05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147964" y="4057617"/>
            <a:ext cx="49196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Gradient = </a:t>
            </a:r>
            <a:r>
              <a:rPr lang="en-AU" sz="2400" u="sng" dirty="0" smtClean="0"/>
              <a:t>rise</a:t>
            </a:r>
            <a:r>
              <a:rPr lang="en-AU" sz="2400" dirty="0" smtClean="0"/>
              <a:t> </a:t>
            </a:r>
            <a:r>
              <a:rPr lang="en-AU" sz="2400" dirty="0" smtClean="0"/>
              <a:t>   so how do we find c?</a:t>
            </a:r>
            <a:endParaRPr lang="en-AU" sz="2400" u="sng" dirty="0" smtClean="0"/>
          </a:p>
          <a:p>
            <a:r>
              <a:rPr lang="en-AU" sz="2400" dirty="0" smtClean="0"/>
              <a:t>                     run   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989724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13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4501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Finding the equation of a line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is the equation if we only have two points?</a:t>
            </a:r>
            <a:endParaRPr lang="en-AU" sz="2400" dirty="0"/>
          </a:p>
        </p:txBody>
      </p:sp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344" y="2852936"/>
            <a:ext cx="260985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3172678" y="2909199"/>
            <a:ext cx="417293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Gradient = </a:t>
            </a:r>
            <a:r>
              <a:rPr lang="en-AU" sz="2400" u="sng" dirty="0" smtClean="0"/>
              <a:t>rise</a:t>
            </a:r>
            <a:r>
              <a:rPr lang="en-AU" sz="2400" dirty="0" smtClean="0"/>
              <a:t> </a:t>
            </a:r>
            <a:r>
              <a:rPr lang="en-AU" sz="2400" dirty="0" smtClean="0"/>
              <a:t>=   </a:t>
            </a:r>
            <a:r>
              <a:rPr lang="en-AU" sz="2400" u="sng" dirty="0" smtClean="0"/>
              <a:t>(y</a:t>
            </a:r>
            <a:r>
              <a:rPr lang="en-AU" sz="2400" u="sng" baseline="-25000" dirty="0" smtClean="0"/>
              <a:t>2</a:t>
            </a:r>
            <a:r>
              <a:rPr lang="en-AU" sz="2400" u="sng" dirty="0" smtClean="0"/>
              <a:t> – y</a:t>
            </a:r>
            <a:r>
              <a:rPr lang="en-AU" sz="2400" u="sng" baseline="-25000" dirty="0" smtClean="0"/>
              <a:t>1</a:t>
            </a:r>
            <a:r>
              <a:rPr lang="en-AU" sz="2400" u="sng" dirty="0" smtClean="0"/>
              <a:t>)</a:t>
            </a:r>
          </a:p>
          <a:p>
            <a:r>
              <a:rPr lang="en-AU" sz="2400" dirty="0"/>
              <a:t> </a:t>
            </a:r>
            <a:r>
              <a:rPr lang="en-AU" sz="2400" dirty="0" smtClean="0"/>
              <a:t>                   </a:t>
            </a:r>
            <a:r>
              <a:rPr lang="en-AU" sz="2400" dirty="0" smtClean="0"/>
              <a:t>run      (x</a:t>
            </a:r>
            <a:r>
              <a:rPr lang="en-AU" sz="2400" baseline="-25000" dirty="0" smtClean="0"/>
              <a:t>2</a:t>
            </a:r>
            <a:r>
              <a:rPr lang="en-AU" sz="2400" dirty="0" smtClean="0"/>
              <a:t> – x</a:t>
            </a:r>
            <a:r>
              <a:rPr lang="en-AU" sz="2400" baseline="-25000" dirty="0" smtClean="0"/>
              <a:t>1</a:t>
            </a:r>
            <a:r>
              <a:rPr lang="en-AU" sz="2400" dirty="0" smtClean="0"/>
              <a:t>)</a:t>
            </a:r>
          </a:p>
          <a:p>
            <a:endParaRPr lang="en-AU" sz="2400" dirty="0"/>
          </a:p>
          <a:p>
            <a:r>
              <a:rPr lang="en-AU" sz="2400" dirty="0" smtClean="0"/>
              <a:t>	          m =  </a:t>
            </a:r>
            <a:r>
              <a:rPr lang="en-AU" sz="2400" u="sng" dirty="0" smtClean="0"/>
              <a:t>(-2 – 3)</a:t>
            </a:r>
            <a:r>
              <a:rPr lang="en-AU" sz="2400" dirty="0" smtClean="0"/>
              <a:t>   =    </a:t>
            </a:r>
            <a:r>
              <a:rPr lang="en-AU" sz="2400" u="sng" dirty="0" smtClean="0"/>
              <a:t>-5</a:t>
            </a:r>
          </a:p>
          <a:p>
            <a:r>
              <a:rPr lang="en-AU" sz="2400" dirty="0"/>
              <a:t>	</a:t>
            </a:r>
            <a:r>
              <a:rPr lang="en-AU" sz="2400" dirty="0" smtClean="0"/>
              <a:t>	      (1 + 1)           2</a:t>
            </a:r>
            <a:endParaRPr lang="en-AU" sz="2400" dirty="0"/>
          </a:p>
        </p:txBody>
      </p:sp>
      <p:cxnSp>
        <p:nvCxnSpPr>
          <p:cNvPr id="21" name="Straight Arrow Connector 20"/>
          <p:cNvCxnSpPr/>
          <p:nvPr/>
        </p:nvCxnSpPr>
        <p:spPr>
          <a:xfrm flipH="1">
            <a:off x="5940152" y="2636912"/>
            <a:ext cx="432048" cy="34796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00192" y="2452246"/>
            <a:ext cx="1059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err="1" smtClean="0"/>
              <a:t>ie</a:t>
            </a:r>
            <a:r>
              <a:rPr lang="en-AU" dirty="0" smtClean="0"/>
              <a:t>  height</a:t>
            </a:r>
            <a:endParaRPr lang="en-AU" dirty="0"/>
          </a:p>
        </p:txBody>
      </p:sp>
      <p:cxnSp>
        <p:nvCxnSpPr>
          <p:cNvPr id="22" name="Straight Arrow Connector 21"/>
          <p:cNvCxnSpPr/>
          <p:nvPr/>
        </p:nvCxnSpPr>
        <p:spPr>
          <a:xfrm flipH="1">
            <a:off x="6472809" y="3498678"/>
            <a:ext cx="619471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039030" y="3309711"/>
            <a:ext cx="782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err="1" smtClean="0"/>
              <a:t>ie</a:t>
            </a:r>
            <a:r>
              <a:rPr lang="en-AU" dirty="0" smtClean="0"/>
              <a:t>  run</a:t>
            </a:r>
            <a:endParaRPr lang="en-AU" dirty="0"/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1361245" y="2821578"/>
            <a:ext cx="0" cy="6994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>
            <a:off x="1793293" y="4005064"/>
            <a:ext cx="216024" cy="64203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57239" y="2426575"/>
            <a:ext cx="839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Point 1</a:t>
            </a:r>
            <a:endParaRPr lang="en-AU" dirty="0"/>
          </a:p>
        </p:txBody>
      </p:sp>
      <p:sp>
        <p:nvSpPr>
          <p:cNvPr id="30" name="TextBox 29"/>
          <p:cNvSpPr txBox="1"/>
          <p:nvPr/>
        </p:nvSpPr>
        <p:spPr>
          <a:xfrm>
            <a:off x="1835847" y="3635732"/>
            <a:ext cx="839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Point 2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40073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13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4501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Finding the equation of a line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is the equation if we only have two points?</a:t>
            </a:r>
            <a:endParaRPr lang="en-AU" sz="2400" dirty="0"/>
          </a:p>
        </p:txBody>
      </p:sp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344" y="2852936"/>
            <a:ext cx="260985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25" name="Straight Arrow Connector 24"/>
          <p:cNvCxnSpPr/>
          <p:nvPr/>
        </p:nvCxnSpPr>
        <p:spPr>
          <a:xfrm>
            <a:off x="1361245" y="2821578"/>
            <a:ext cx="0" cy="6994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>
            <a:off x="1793293" y="4005064"/>
            <a:ext cx="216024" cy="64203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57239" y="2426575"/>
            <a:ext cx="839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Point 1</a:t>
            </a:r>
            <a:endParaRPr lang="en-AU" dirty="0"/>
          </a:p>
        </p:txBody>
      </p:sp>
      <p:sp>
        <p:nvSpPr>
          <p:cNvPr id="30" name="TextBox 29"/>
          <p:cNvSpPr txBox="1"/>
          <p:nvPr/>
        </p:nvSpPr>
        <p:spPr>
          <a:xfrm>
            <a:off x="1835847" y="3635732"/>
            <a:ext cx="839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Point 2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56155" y="1997569"/>
            <a:ext cx="558378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u="sng" dirty="0" smtClean="0"/>
              <a:t>Finding c</a:t>
            </a:r>
          </a:p>
          <a:p>
            <a:r>
              <a:rPr lang="en-AU" sz="2400" dirty="0" smtClean="0"/>
              <a:t>Use one of the points and the gradient to solve the equation.</a:t>
            </a:r>
          </a:p>
          <a:p>
            <a:r>
              <a:rPr lang="en-AU" sz="2400" dirty="0" smtClean="0"/>
              <a:t>	y = mx + c  m= -5/2  &amp; </a:t>
            </a:r>
            <a:r>
              <a:rPr lang="en-AU" sz="2400" dirty="0" err="1" smtClean="0"/>
              <a:t>pt</a:t>
            </a:r>
            <a:r>
              <a:rPr lang="en-AU" sz="2400" dirty="0" smtClean="0"/>
              <a:t> (-1,3)</a:t>
            </a:r>
          </a:p>
          <a:p>
            <a:r>
              <a:rPr lang="en-AU" sz="2400" dirty="0"/>
              <a:t>	</a:t>
            </a:r>
            <a:r>
              <a:rPr lang="en-AU" sz="2400" dirty="0" smtClean="0"/>
              <a:t>3 = (</a:t>
            </a:r>
            <a:r>
              <a:rPr lang="en-AU" sz="2400" u="sng" dirty="0" smtClean="0"/>
              <a:t>-5</a:t>
            </a:r>
            <a:r>
              <a:rPr lang="en-AU" sz="2400" dirty="0" smtClean="0"/>
              <a:t>)(-1) + c</a:t>
            </a:r>
          </a:p>
          <a:p>
            <a:r>
              <a:rPr lang="en-AU" sz="2400" dirty="0"/>
              <a:t>	 </a:t>
            </a:r>
            <a:r>
              <a:rPr lang="en-AU" sz="2400" dirty="0" smtClean="0"/>
              <a:t>        2</a:t>
            </a:r>
          </a:p>
          <a:p>
            <a:r>
              <a:rPr lang="en-AU" sz="2400" dirty="0" smtClean="0"/>
              <a:t>	3 - </a:t>
            </a:r>
            <a:r>
              <a:rPr lang="en-AU" sz="2400" u="sng" dirty="0" smtClean="0"/>
              <a:t>5</a:t>
            </a:r>
            <a:r>
              <a:rPr lang="en-AU" sz="2400" dirty="0" smtClean="0"/>
              <a:t> = c</a:t>
            </a:r>
          </a:p>
          <a:p>
            <a:r>
              <a:rPr lang="en-AU" sz="2400" dirty="0"/>
              <a:t>	</a:t>
            </a:r>
            <a:r>
              <a:rPr lang="en-AU" sz="2400" dirty="0" smtClean="0"/>
              <a:t>       2</a:t>
            </a:r>
          </a:p>
          <a:p>
            <a:r>
              <a:rPr lang="en-AU" sz="2400" dirty="0"/>
              <a:t>	</a:t>
            </a:r>
            <a:r>
              <a:rPr lang="en-AU" sz="2400" dirty="0" smtClean="0"/>
              <a:t>c = </a:t>
            </a:r>
            <a:r>
              <a:rPr lang="en-AU" sz="2400" dirty="0" smtClean="0">
                <a:latin typeface="Arial"/>
                <a:cs typeface="Arial"/>
              </a:rPr>
              <a:t>½</a:t>
            </a:r>
          </a:p>
          <a:p>
            <a:r>
              <a:rPr lang="en-AU" sz="2400" dirty="0" smtClean="0">
                <a:latin typeface="Arial"/>
                <a:cs typeface="Arial"/>
                <a:sym typeface="Symbol"/>
              </a:rPr>
              <a:t>          y = </a:t>
            </a:r>
            <a:r>
              <a:rPr lang="en-AU" sz="2400" u="sng" dirty="0" smtClean="0">
                <a:latin typeface="Arial"/>
                <a:cs typeface="Arial"/>
                <a:sym typeface="Symbol"/>
              </a:rPr>
              <a:t>-5</a:t>
            </a:r>
            <a:r>
              <a:rPr lang="en-AU" sz="2400" dirty="0" smtClean="0">
                <a:latin typeface="Arial"/>
                <a:cs typeface="Arial"/>
                <a:sym typeface="Symbol"/>
              </a:rPr>
              <a:t>x + </a:t>
            </a:r>
            <a:r>
              <a:rPr lang="en-AU" sz="2400" u="sng" dirty="0" smtClean="0">
                <a:latin typeface="Arial"/>
                <a:cs typeface="Arial"/>
              </a:rPr>
              <a:t>1</a:t>
            </a:r>
            <a:r>
              <a:rPr lang="en-AU" sz="2400" dirty="0" smtClean="0">
                <a:latin typeface="Arial"/>
                <a:cs typeface="Arial"/>
                <a:sym typeface="Symbol"/>
              </a:rPr>
              <a:t> </a:t>
            </a:r>
          </a:p>
          <a:p>
            <a:r>
              <a:rPr lang="en-AU" sz="2400" dirty="0">
                <a:latin typeface="Arial"/>
                <a:cs typeface="Arial"/>
                <a:sym typeface="Symbol"/>
              </a:rPr>
              <a:t>	</a:t>
            </a:r>
            <a:r>
              <a:rPr lang="en-AU" sz="2400" dirty="0" smtClean="0">
                <a:latin typeface="Arial"/>
                <a:cs typeface="Arial"/>
                <a:sym typeface="Symbol"/>
              </a:rPr>
              <a:t>         2       2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450190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700808"/>
            <a:ext cx="8229600" cy="2952328"/>
          </a:xfrm>
        </p:spPr>
        <p:txBody>
          <a:bodyPr>
            <a:normAutofit fontScale="90000"/>
          </a:bodyPr>
          <a:lstStyle/>
          <a:p>
            <a:r>
              <a:rPr lang="en-AU" dirty="0" smtClean="0"/>
              <a:t>Questions</a:t>
            </a:r>
            <a:br>
              <a:rPr lang="en-AU" dirty="0" smtClean="0"/>
            </a:br>
            <a:r>
              <a:rPr lang="en-AU" dirty="0"/>
              <a:t/>
            </a:r>
            <a:br>
              <a:rPr lang="en-AU" dirty="0"/>
            </a:br>
            <a:r>
              <a:rPr lang="en-AU" dirty="0" smtClean="0"/>
              <a:t>Exercise </a:t>
            </a:r>
            <a:r>
              <a:rPr lang="en-AU" dirty="0" smtClean="0"/>
              <a:t>4.G</a:t>
            </a:r>
            <a:br>
              <a:rPr lang="en-AU" dirty="0" smtClean="0"/>
            </a:br>
            <a:r>
              <a:rPr lang="en-AU" dirty="0" smtClean="0"/>
              <a:t>Questions 3 - 7</a:t>
            </a: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>Pages </a:t>
            </a:r>
            <a:r>
              <a:rPr lang="en-AU" dirty="0" smtClean="0"/>
              <a:t>232 </a:t>
            </a:r>
            <a:r>
              <a:rPr lang="en-AU" dirty="0" smtClean="0"/>
              <a:t>- </a:t>
            </a:r>
            <a:r>
              <a:rPr lang="en-AU" dirty="0" smtClean="0"/>
              <a:t>2</a:t>
            </a:r>
            <a:r>
              <a:rPr lang="en-AU" dirty="0" smtClean="0"/>
              <a:t>33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09319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803</TotalTime>
  <Words>219</Words>
  <Application>Microsoft Office PowerPoint</Application>
  <PresentationFormat>On-screen Show (4:3)</PresentationFormat>
  <Paragraphs>82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My Linear Relationships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Questions  Exercise 4.G Questions 3 - 7 Pages 232 - 233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MCALLISTER Robert</cp:lastModifiedBy>
  <cp:revision>62</cp:revision>
  <dcterms:created xsi:type="dcterms:W3CDTF">2014-05-14T02:58:57Z</dcterms:created>
  <dcterms:modified xsi:type="dcterms:W3CDTF">2015-09-07T01:27:13Z</dcterms:modified>
</cp:coreProperties>
</file>
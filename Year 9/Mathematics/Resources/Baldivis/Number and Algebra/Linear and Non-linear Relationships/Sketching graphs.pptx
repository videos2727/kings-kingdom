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304" r:id="rId3"/>
    <p:sldId id="259" r:id="rId4"/>
    <p:sldId id="258" r:id="rId5"/>
    <p:sldId id="303" r:id="rId6"/>
    <p:sldId id="344" r:id="rId7"/>
    <p:sldId id="343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27/11/2015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27/11/2015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Non-linear Relationship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Mrs Rust </a:t>
            </a:r>
            <a:endParaRPr lang="en-AU" dirty="0" smtClean="0"/>
          </a:p>
          <a:p>
            <a:pPr algn="l"/>
            <a:r>
              <a:rPr lang="en-AU" dirty="0" smtClean="0"/>
              <a:t>Term </a:t>
            </a:r>
            <a:r>
              <a:rPr lang="en-AU" dirty="0"/>
              <a:t>4</a:t>
            </a:r>
            <a:r>
              <a:rPr lang="en-AU" dirty="0" smtClean="0"/>
              <a:t> </a:t>
            </a:r>
            <a:r>
              <a:rPr lang="en-AU" dirty="0" smtClean="0"/>
              <a:t>Semester </a:t>
            </a:r>
            <a:r>
              <a:rPr lang="en-AU" dirty="0" smtClean="0"/>
              <a:t>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51"/>
          <a:stretch/>
        </p:blipFill>
        <p:spPr bwMode="auto">
          <a:xfrm>
            <a:off x="4644008" y="2132856"/>
            <a:ext cx="3823186" cy="4035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</a:t>
            </a:r>
            <a:r>
              <a:rPr lang="en-AU" dirty="0" smtClean="0"/>
              <a:t>Non-Linear Relationships </a:t>
            </a:r>
            <a:r>
              <a:rPr lang="en-AU" dirty="0" smtClean="0"/>
              <a:t>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</a:t>
            </a:r>
            <a:r>
              <a:rPr lang="en-AU" dirty="0" smtClean="0"/>
              <a:t>2 </a:t>
            </a:r>
            <a:r>
              <a:rPr lang="en-AU" dirty="0" smtClean="0"/>
              <a:t>Term </a:t>
            </a:r>
            <a:r>
              <a:rPr lang="en-AU" dirty="0" smtClean="0"/>
              <a:t>4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96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Properties of parabolas and 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to sketch a parabola or a circle given the equation.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59832" y="1948190"/>
                <a:ext cx="6167650" cy="22537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000" dirty="0" smtClean="0"/>
                  <a:t>A parabola has the equation </a:t>
                </a:r>
                <a14:m>
                  <m:oMath xmlns:m="http://schemas.openxmlformats.org/officeDocument/2006/math">
                    <m:r>
                      <a:rPr lang="en-AU" sz="2000" b="0" i="1" smtClean="0"/>
                      <m:t>𝑦</m:t>
                    </m:r>
                    <m:r>
                      <a:rPr lang="en-AU" sz="2000" b="0" i="1" smtClean="0"/>
                      <m:t>=</m:t>
                    </m:r>
                    <m:r>
                      <a:rPr lang="en-AU" sz="2000" b="0" i="1" smtClean="0">
                        <a:solidFill>
                          <a:schemeClr val="accent1"/>
                        </a:solidFill>
                      </a:rPr>
                      <m:t>𝑎</m:t>
                    </m:r>
                    <m:sSup>
                      <m:sSupPr>
                        <m:ctrlPr>
                          <a:rPr lang="en-AU" sz="2000" b="0" i="1" smtClean="0"/>
                        </m:ctrlPr>
                      </m:sSupPr>
                      <m:e>
                        <m:r>
                          <a:rPr lang="en-AU" sz="2000" b="0" i="1" smtClean="0"/>
                          <m:t>𝑥</m:t>
                        </m:r>
                      </m:e>
                      <m:sup>
                        <m:r>
                          <a:rPr lang="en-AU" sz="2000" b="0" i="1" smtClean="0"/>
                          <m:t>2</m:t>
                        </m:r>
                      </m:sup>
                    </m:sSup>
                    <m:r>
                      <a:rPr lang="en-AU" sz="2000" b="0" i="1" smtClean="0"/>
                      <m:t>+</m:t>
                    </m:r>
                    <m:r>
                      <a:rPr lang="en-AU" sz="2000" b="0" i="1" smtClean="0"/>
                      <m:t>𝑏𝑥</m:t>
                    </m:r>
                    <m:r>
                      <a:rPr lang="en-AU" sz="2000" b="0" i="1" smtClean="0"/>
                      <m:t>+</m:t>
                    </m:r>
                    <m:r>
                      <a:rPr lang="en-AU" sz="2000" b="0" i="1" smtClean="0">
                        <a:solidFill>
                          <a:srgbClr val="00B050"/>
                        </a:solidFill>
                      </a:rPr>
                      <m:t>𝑐</m:t>
                    </m:r>
                  </m:oMath>
                </a14:m>
                <a:endParaRPr lang="en-AU" sz="2000" b="0" dirty="0" smtClean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sz="2000" i="1" dirty="0">
                        <a:solidFill>
                          <a:srgbClr val="00B050"/>
                        </a:solidFill>
                        <a:latin typeface="Cambria Math"/>
                      </a:rPr>
                      <m:t>(</m:t>
                    </m:r>
                    <m:r>
                      <a:rPr lang="en-AU" sz="2000" b="0" i="1" dirty="0" smtClean="0">
                        <a:solidFill>
                          <a:srgbClr val="00B050"/>
                        </a:solidFill>
                        <a:latin typeface="Cambria Math"/>
                      </a:rPr>
                      <m:t>0,</m:t>
                    </m:r>
                    <m:r>
                      <a:rPr lang="en-AU" sz="2000" i="1" dirty="0" smtClean="0">
                        <a:solidFill>
                          <a:srgbClr val="00B050"/>
                        </a:solidFill>
                      </a:rPr>
                      <m:t>𝑐</m:t>
                    </m:r>
                    <m:r>
                      <a:rPr lang="en-AU" sz="2000" b="0" i="1" dirty="0" smtClean="0">
                        <a:solidFill>
                          <a:srgbClr val="00B05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AU" sz="2000" dirty="0" smtClean="0">
                    <a:solidFill>
                      <a:srgbClr val="00B050"/>
                    </a:solidFill>
                  </a:rPr>
                  <a:t> is the point where the graph crosses the y-axis</a:t>
                </a:r>
              </a:p>
              <a:p>
                <a:r>
                  <a:rPr lang="en-AU" sz="2000" dirty="0" smtClean="0">
                    <a:solidFill>
                      <a:schemeClr val="accent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solidFill>
                          <a:schemeClr val="accent1"/>
                        </a:solidFill>
                      </a:rPr>
                      <m:t>𝑎</m:t>
                    </m:r>
                  </m:oMath>
                </a14:m>
                <a:r>
                  <a:rPr lang="en-AU" sz="2000" dirty="0" smtClean="0">
                    <a:solidFill>
                      <a:schemeClr val="accent1"/>
                    </a:solidFill>
                  </a:rPr>
                  <a:t> is positive then the graph has a minimum</a:t>
                </a:r>
              </a:p>
              <a:p>
                <a:r>
                  <a:rPr lang="en-AU" sz="2000" dirty="0" smtClean="0">
                    <a:solidFill>
                      <a:schemeClr val="accent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solidFill>
                          <a:schemeClr val="accent1"/>
                        </a:solidFill>
                      </a:rPr>
                      <m:t>𝑎</m:t>
                    </m:r>
                  </m:oMath>
                </a14:m>
                <a:r>
                  <a:rPr lang="en-AU" sz="2000" dirty="0" smtClean="0">
                    <a:solidFill>
                      <a:schemeClr val="accent1"/>
                    </a:solidFill>
                  </a:rPr>
                  <a:t> is negative then the graph has a maximum</a:t>
                </a:r>
              </a:p>
              <a:p>
                <a:endParaRPr lang="en-AU" sz="2000" dirty="0">
                  <a:solidFill>
                    <a:schemeClr val="accent1"/>
                  </a:solidFill>
                </a:endParaRPr>
              </a:p>
              <a:p>
                <a:r>
                  <a:rPr lang="en-AU" sz="2000" dirty="0" smtClean="0">
                    <a:solidFill>
                      <a:schemeClr val="tx1"/>
                    </a:solidFill>
                  </a:rPr>
                  <a:t>If the equation is factorised to give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=(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AU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𝑑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)(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AU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𝑒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AU" sz="2000" dirty="0" smtClean="0">
                  <a:solidFill>
                    <a:schemeClr val="tx1"/>
                  </a:solidFill>
                </a:endParaRPr>
              </a:p>
              <a:p>
                <a:r>
                  <a:rPr lang="en-AU" sz="2000" dirty="0" smtClean="0"/>
                  <a:t>And putting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/>
                      </a:rPr>
                      <m:t>𝑦</m:t>
                    </m:r>
                    <m:r>
                      <a:rPr lang="en-AU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AU" sz="2000" dirty="0" smtClean="0"/>
                  <a:t> gives the x intercepts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/>
                      </a:rPr>
                      <m:t>(</m:t>
                    </m:r>
                    <m:r>
                      <a:rPr lang="en-AU" sz="2000" b="0" i="1" dirty="0" smtClean="0">
                        <a:latin typeface="Cambria Math"/>
                      </a:rPr>
                      <m:t>𝑑</m:t>
                    </m:r>
                    <m:r>
                      <a:rPr lang="en-AU" sz="2000" i="1" dirty="0" smtClean="0">
                        <a:latin typeface="Cambria Math"/>
                      </a:rPr>
                      <m:t>,0) </m:t>
                    </m:r>
                  </m:oMath>
                </a14:m>
                <a:r>
                  <a:rPr lang="en-AU" sz="2000" i="0" dirty="0" smtClean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/>
                      </a:rPr>
                      <m:t> (</m:t>
                    </m:r>
                    <m:r>
                      <a:rPr lang="en-AU" sz="2000" b="0" i="1" dirty="0" smtClean="0">
                        <a:latin typeface="Cambria Math"/>
                      </a:rPr>
                      <m:t>𝑒</m:t>
                    </m:r>
                    <m:r>
                      <a:rPr lang="en-AU" sz="2000" i="1" dirty="0" smtClean="0">
                        <a:latin typeface="Cambria Math"/>
                      </a:rPr>
                      <m:t>,0)</m:t>
                    </m:r>
                  </m:oMath>
                </a14:m>
                <a:endParaRPr lang="en-AU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48190"/>
                <a:ext cx="6167650" cy="2253759"/>
              </a:xfrm>
              <a:prstGeom prst="rect">
                <a:avLst/>
              </a:prstGeom>
              <a:blipFill rotWithShape="1">
                <a:blip r:embed="rId2"/>
                <a:stretch>
                  <a:fillRect l="-1087" t="-813" b="-40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96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Properties of parabolas and 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to sketch a parabola or a circle given the equation.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86886" y="1965183"/>
                <a:ext cx="6111353" cy="3484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000" dirty="0" smtClean="0"/>
                  <a:t>A parabola has the equation </a:t>
                </a:r>
                <a14:m>
                  <m:oMath xmlns:m="http://schemas.openxmlformats.org/officeDocument/2006/math">
                    <m:r>
                      <a:rPr lang="en-AU" sz="2000" b="0" i="1" smtClean="0"/>
                      <m:t>𝑦</m:t>
                    </m:r>
                    <m:r>
                      <a:rPr lang="en-AU" sz="2000" b="0" i="1" smtClean="0"/>
                      <m:t>=</m:t>
                    </m:r>
                    <m:r>
                      <a:rPr lang="en-AU" sz="2000" b="0" i="1" smtClean="0">
                        <a:solidFill>
                          <a:schemeClr val="accent1"/>
                        </a:solidFill>
                      </a:rPr>
                      <m:t>𝑎</m:t>
                    </m:r>
                    <m:sSup>
                      <m:sSupPr>
                        <m:ctrlPr>
                          <a:rPr lang="en-AU" sz="2000" b="0" i="1" smtClean="0"/>
                        </m:ctrlPr>
                      </m:sSupPr>
                      <m:e>
                        <m:r>
                          <a:rPr lang="en-AU" sz="2000" b="0" i="1" smtClean="0"/>
                          <m:t>𝑥</m:t>
                        </m:r>
                      </m:e>
                      <m:sup>
                        <m:r>
                          <a:rPr lang="en-AU" sz="2000" b="0" i="1" smtClean="0"/>
                          <m:t>2</m:t>
                        </m:r>
                      </m:sup>
                    </m:sSup>
                    <m:r>
                      <a:rPr lang="en-AU" sz="2000" b="0" i="1" smtClean="0"/>
                      <m:t>+</m:t>
                    </m:r>
                    <m:r>
                      <a:rPr lang="en-AU" sz="2000" b="0" i="1" smtClean="0"/>
                      <m:t>𝑏𝑥</m:t>
                    </m:r>
                    <m:r>
                      <a:rPr lang="en-AU" sz="2000" b="0" i="1" smtClean="0"/>
                      <m:t>+</m:t>
                    </m:r>
                    <m:r>
                      <a:rPr lang="en-AU" sz="2000" b="0" i="1" smtClean="0">
                        <a:solidFill>
                          <a:srgbClr val="00B050"/>
                        </a:solidFill>
                      </a:rPr>
                      <m:t>𝑐</m:t>
                    </m:r>
                  </m:oMath>
                </a14:m>
                <a:endParaRPr lang="en-AU" sz="2000" b="0" dirty="0" smtClean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sz="2000" i="1" dirty="0">
                        <a:solidFill>
                          <a:srgbClr val="00B050"/>
                        </a:solidFill>
                        <a:latin typeface="Cambria Math"/>
                      </a:rPr>
                      <m:t>(</m:t>
                    </m:r>
                    <m:r>
                      <a:rPr lang="en-AU" sz="2000" b="0" i="1" dirty="0" smtClean="0">
                        <a:solidFill>
                          <a:srgbClr val="00B050"/>
                        </a:solidFill>
                        <a:latin typeface="Cambria Math"/>
                      </a:rPr>
                      <m:t>0,</m:t>
                    </m:r>
                    <m:r>
                      <a:rPr lang="en-AU" sz="2000" i="1" dirty="0" smtClean="0">
                        <a:solidFill>
                          <a:srgbClr val="00B050"/>
                        </a:solidFill>
                      </a:rPr>
                      <m:t>𝑐</m:t>
                    </m:r>
                    <m:r>
                      <a:rPr lang="en-AU" sz="2000" b="0" i="1" dirty="0" smtClean="0">
                        <a:solidFill>
                          <a:srgbClr val="00B05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AU" sz="2000" dirty="0" smtClean="0">
                    <a:solidFill>
                      <a:srgbClr val="00B050"/>
                    </a:solidFill>
                  </a:rPr>
                  <a:t> is the point where the graph crosses the y-axis</a:t>
                </a:r>
              </a:p>
              <a:p>
                <a:r>
                  <a:rPr lang="en-AU" sz="2000" dirty="0" smtClean="0">
                    <a:solidFill>
                      <a:schemeClr val="accent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solidFill>
                          <a:schemeClr val="accent1"/>
                        </a:solidFill>
                      </a:rPr>
                      <m:t>𝑎</m:t>
                    </m:r>
                  </m:oMath>
                </a14:m>
                <a:r>
                  <a:rPr lang="en-AU" sz="2000" dirty="0" smtClean="0">
                    <a:solidFill>
                      <a:schemeClr val="accent1"/>
                    </a:solidFill>
                  </a:rPr>
                  <a:t> is positive then the graph has a minimum</a:t>
                </a:r>
              </a:p>
              <a:p>
                <a:r>
                  <a:rPr lang="en-AU" sz="2000" dirty="0" smtClean="0">
                    <a:solidFill>
                      <a:schemeClr val="accent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solidFill>
                          <a:schemeClr val="accent1"/>
                        </a:solidFill>
                      </a:rPr>
                      <m:t>𝑎</m:t>
                    </m:r>
                  </m:oMath>
                </a14:m>
                <a:r>
                  <a:rPr lang="en-AU" sz="2000" dirty="0" smtClean="0">
                    <a:solidFill>
                      <a:schemeClr val="accent1"/>
                    </a:solidFill>
                  </a:rPr>
                  <a:t> is negative then the graph has a maximum</a:t>
                </a:r>
              </a:p>
              <a:p>
                <a:endParaRPr lang="en-AU" sz="2000" dirty="0">
                  <a:solidFill>
                    <a:schemeClr val="accent1"/>
                  </a:solidFill>
                </a:endParaRPr>
              </a:p>
              <a:p>
                <a:r>
                  <a:rPr lang="en-AU" sz="2000" dirty="0" smtClean="0">
                    <a:solidFill>
                      <a:schemeClr val="tx1"/>
                    </a:solidFill>
                  </a:rPr>
                  <a:t>If the equation is factorised to give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=(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AU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𝑑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)(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AU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𝑒</m:t>
                    </m:r>
                    <m:r>
                      <a:rPr lang="en-AU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AU" sz="2000" dirty="0" smtClean="0">
                  <a:solidFill>
                    <a:schemeClr val="tx1"/>
                  </a:solidFill>
                </a:endParaRPr>
              </a:p>
              <a:p>
                <a:r>
                  <a:rPr lang="en-AU" sz="2000" dirty="0" smtClean="0"/>
                  <a:t>And putting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/>
                      </a:rPr>
                      <m:t>𝑦</m:t>
                    </m:r>
                    <m:r>
                      <a:rPr lang="en-AU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AU" sz="2000" dirty="0" smtClean="0"/>
                  <a:t> gives the x intercepts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/>
                      </a:rPr>
                      <m:t>(</m:t>
                    </m:r>
                    <m:r>
                      <a:rPr lang="en-AU" sz="2000" b="0" i="1" dirty="0" smtClean="0">
                        <a:latin typeface="Cambria Math"/>
                      </a:rPr>
                      <m:t>𝑑</m:t>
                    </m:r>
                    <m:r>
                      <a:rPr lang="en-AU" sz="2000" i="1" dirty="0" smtClean="0">
                        <a:latin typeface="Cambria Math"/>
                      </a:rPr>
                      <m:t>,0) </m:t>
                    </m:r>
                  </m:oMath>
                </a14:m>
                <a:r>
                  <a:rPr lang="en-AU" sz="2000" i="0" dirty="0" smtClean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AU" sz="2000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sz="2000" b="0" i="1" dirty="0" smtClean="0">
                            <a:latin typeface="Cambria Math"/>
                          </a:rPr>
                          <m:t>𝑒</m:t>
                        </m:r>
                        <m:r>
                          <a:rPr lang="en-AU" sz="2000" i="1" dirty="0" smtClean="0">
                            <a:latin typeface="Cambria Math"/>
                          </a:rPr>
                          <m:t>,0</m:t>
                        </m:r>
                      </m:e>
                    </m:d>
                  </m:oMath>
                </a14:m>
                <a:endParaRPr lang="en-AU" sz="2000" i="0" dirty="0" smtClean="0">
                  <a:latin typeface="+mj-lt"/>
                </a:endParaRPr>
              </a:p>
              <a:p>
                <a:endParaRPr lang="en-AU" sz="2000" dirty="0" smtClean="0">
                  <a:solidFill>
                    <a:schemeClr val="tx1"/>
                  </a:solidFill>
                </a:endParaRPr>
              </a:p>
              <a:p>
                <a:r>
                  <a:rPr lang="en-AU" sz="2000" dirty="0" smtClean="0"/>
                  <a:t>A circle has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/>
                          </a:rPr>
                          <m:t>(</m:t>
                        </m:r>
                        <m:r>
                          <a:rPr lang="en-AU" sz="2000" b="0" i="1" smtClean="0">
                            <a:latin typeface="Cambria Math"/>
                          </a:rPr>
                          <m:t>𝑥</m:t>
                        </m:r>
                        <m:r>
                          <a:rPr lang="en-AU" sz="20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000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AU" sz="2000" b="0" i="1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00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AU" sz="20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000" b="0" i="1" dirty="0" smtClean="0">
                            <a:latin typeface="Cambria Math"/>
                          </a:rPr>
                          <m:t>(</m:t>
                        </m:r>
                        <m:r>
                          <a:rPr lang="en-AU" sz="2000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AU" sz="2000" b="0" i="1" dirty="0" smtClean="0">
                            <a:latin typeface="Cambria Math"/>
                          </a:rPr>
                          <m:t>−</m:t>
                        </m:r>
                        <m:r>
                          <a:rPr lang="en-AU" sz="2000" b="0" i="1" dirty="0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𝑏</m:t>
                        </m:r>
                        <m:r>
                          <a:rPr lang="en-AU" sz="2000" b="0" i="1" dirty="0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sz="2000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000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0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sz="2000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000" dirty="0" smtClean="0"/>
              </a:p>
              <a:p>
                <a:endParaRPr lang="en-AU" sz="2000" dirty="0" smtClean="0">
                  <a:solidFill>
                    <a:schemeClr val="tx1"/>
                  </a:solidFill>
                </a:endParaRPr>
              </a:p>
              <a:p>
                <a:r>
                  <a:rPr lang="en-AU" sz="2000" dirty="0" smtClean="0"/>
                  <a:t>The centre of the circle is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(</m:t>
                    </m:r>
                    <m:r>
                      <a:rPr lang="en-AU" sz="2000" i="1" dirty="0" err="1" smtClean="0">
                        <a:solidFill>
                          <a:schemeClr val="accent1"/>
                        </a:solidFill>
                        <a:latin typeface="Cambria Math"/>
                      </a:rPr>
                      <m:t>𝑎</m:t>
                    </m:r>
                    <m:r>
                      <a:rPr lang="en-AU" sz="2000" i="1" dirty="0" err="1" smtClean="0">
                        <a:solidFill>
                          <a:schemeClr val="accent1"/>
                        </a:solidFill>
                        <a:latin typeface="Cambria Math"/>
                      </a:rPr>
                      <m:t>,</m:t>
                    </m:r>
                    <m:r>
                      <a:rPr lang="en-AU" sz="2000" i="1" dirty="0" err="1" smtClean="0">
                        <a:solidFill>
                          <a:schemeClr val="accent1"/>
                        </a:solidFill>
                        <a:latin typeface="Cambria Math"/>
                      </a:rPr>
                      <m:t>𝑏</m:t>
                    </m:r>
                    <m:r>
                      <a:rPr lang="en-AU" sz="2000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en-AU" sz="2000" dirty="0" smtClean="0"/>
                  <a:t>and the radius is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𝑟</m:t>
                    </m:r>
                  </m:oMath>
                </a14:m>
                <a:endParaRPr lang="en-AU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886" y="1965183"/>
                <a:ext cx="6111353" cy="3484865"/>
              </a:xfrm>
              <a:prstGeom prst="rect">
                <a:avLst/>
              </a:prstGeom>
              <a:blipFill rotWithShape="1">
                <a:blip r:embed="rId2"/>
                <a:stretch>
                  <a:fillRect l="-1098" t="-524" b="-209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85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29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366</Words>
  <Application>Microsoft Office PowerPoint</Application>
  <PresentationFormat>On-screen Show (4:3)</PresentationFormat>
  <Paragraphs>75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Non-linear Relationship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72</cp:revision>
  <dcterms:created xsi:type="dcterms:W3CDTF">2014-05-14T02:58:57Z</dcterms:created>
  <dcterms:modified xsi:type="dcterms:W3CDTF">2015-11-27T02:29:25Z</dcterms:modified>
</cp:coreProperties>
</file>
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60" r:id="rId2"/>
    <p:sldId id="259" r:id="rId3"/>
    <p:sldId id="258" r:id="rId4"/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08" r:id="rId19"/>
    <p:sldId id="292" r:id="rId20"/>
    <p:sldId id="29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803" autoAdjust="0"/>
  </p:normalViewPr>
  <p:slideViewPr>
    <p:cSldViewPr>
      <p:cViewPr>
        <p:scale>
          <a:sx n="76" d="100"/>
          <a:sy n="76" d="100"/>
        </p:scale>
        <p:origin x="-1206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1F06D-4543-461C-A563-4C1630637A41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76FEA3-4B06-46F7-BD2F-EBD4701E5C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63229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iv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751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mtClean="0"/>
              <a:t>iv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75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smtClean="0"/>
              <a:t>iv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76FEA3-4B06-46F7-BD2F-EBD4701E5C64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175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19/04/2015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Algebra  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n-AU" dirty="0" smtClean="0"/>
              <a:t>Name </a:t>
            </a:r>
            <a:r>
              <a:rPr lang="en-AU" dirty="0" smtClean="0"/>
              <a:t>: </a:t>
            </a:r>
            <a:endParaRPr lang="en-AU" dirty="0" smtClean="0"/>
          </a:p>
          <a:p>
            <a:pPr algn="l"/>
            <a:r>
              <a:rPr lang="en-AU" dirty="0" smtClean="0"/>
              <a:t>Class : </a:t>
            </a:r>
            <a:endParaRPr lang="en-AU" dirty="0" smtClean="0"/>
          </a:p>
          <a:p>
            <a:pPr algn="l"/>
            <a:r>
              <a:rPr lang="en-AU" dirty="0" smtClean="0"/>
              <a:t>Term </a:t>
            </a:r>
            <a:r>
              <a:rPr lang="en-AU" dirty="0" smtClean="0"/>
              <a:t>2 </a:t>
            </a:r>
            <a:r>
              <a:rPr lang="en-AU" dirty="0" smtClean="0"/>
              <a:t>Semester </a:t>
            </a:r>
            <a:r>
              <a:rPr lang="en-AU" dirty="0"/>
              <a:t>1</a:t>
            </a:r>
            <a:endParaRPr lang="en-AU" dirty="0" smtClean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2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+3</m:t>
                      </m:r>
                      <m:r>
                        <a:rPr lang="en-AU" sz="32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sz="3200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383349"/>
                <a:ext cx="1688091" cy="58477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3</m:t>
                      </m:r>
                      <m:r>
                        <a:rPr lang="en-AU" sz="3200" b="0" i="1" smtClean="0">
                          <a:solidFill>
                            <a:srgbClr val="FF9900"/>
                          </a:solidFill>
                          <a:latin typeface="Cambria Math"/>
                        </a:rPr>
                        <m:t>𝑎𝑏</m:t>
                      </m:r>
                    </m:oMath>
                  </m:oMathPara>
                </a14:m>
                <a:endParaRPr lang="en-AU" sz="3200" dirty="0">
                  <a:solidFill>
                    <a:srgbClr val="FF9900"/>
                  </a:solidFill>
                </a:endParaRPr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196" y="2129758"/>
                <a:ext cx="964751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360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𝑥𝑦</m:t>
                          </m:r>
                        </m:num>
                        <m:den>
                          <m:r>
                            <a:rPr lang="en-AU" sz="3600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AU" sz="36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928" y="2780928"/>
                <a:ext cx="1054969" cy="114435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𝑦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=2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𝑥</m:t>
                      </m:r>
                      <m:r>
                        <a:rPr lang="en-AU" sz="3600" b="0" i="1" smtClean="0">
                          <a:solidFill>
                            <a:srgbClr val="00B0F0"/>
                          </a:solidFill>
                          <a:latin typeface="Cambria Math"/>
                        </a:rPr>
                        <m:t>+1</m:t>
                      </m:r>
                    </m:oMath>
                  </m:oMathPara>
                </a14:m>
                <a:endParaRPr lang="en-AU" sz="36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0181" y="4485359"/>
                <a:ext cx="2474780" cy="64633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9591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12" name="TextBox 11"/>
          <p:cNvSpPr txBox="1"/>
          <p:nvPr/>
        </p:nvSpPr>
        <p:spPr>
          <a:xfrm>
            <a:off x="6372200" y="153568"/>
            <a:ext cx="894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Glossary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are some of the keywords that I need to know when solving problems using letter symbols?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58377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are some of the keywords that I need to know when solving problems using letter symbols?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131840" y="2158201"/>
            <a:ext cx="46245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In algebra we use letters to represent numbers.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7558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are some of the keywords that I need to know when solving problems using letter symbols? </a:t>
            </a:r>
            <a:endParaRPr lang="en-AU" sz="2400" dirty="0"/>
          </a:p>
        </p:txBody>
      </p:sp>
      <p:sp>
        <p:nvSpPr>
          <p:cNvPr id="8" name="TextBox 7"/>
          <p:cNvSpPr txBox="1"/>
          <p:nvPr/>
        </p:nvSpPr>
        <p:spPr>
          <a:xfrm>
            <a:off x="3131840" y="2158201"/>
            <a:ext cx="479278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In algebra we use letters to represent numbers.</a:t>
            </a:r>
          </a:p>
          <a:p>
            <a:endParaRPr lang="en-AU" dirty="0"/>
          </a:p>
          <a:p>
            <a:r>
              <a:rPr lang="en-AU" dirty="0" smtClean="0"/>
              <a:t>These letters are called </a:t>
            </a:r>
            <a:r>
              <a:rPr lang="en-AU" b="1" u="sng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variables</a:t>
            </a:r>
            <a:r>
              <a:rPr lang="en-AU" dirty="0" smtClean="0"/>
              <a:t> or </a:t>
            </a:r>
            <a:r>
              <a:rPr lang="en-AU" b="1" u="sng" dirty="0" err="1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pronumerals</a:t>
            </a:r>
            <a:r>
              <a:rPr lang="en-AU" dirty="0" smtClean="0"/>
              <a:t>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7306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31840" y="2158201"/>
                <a:ext cx="576064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 smtClean="0"/>
                  <a:t>These letters are called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 smtClean="0"/>
                  <a:t> or </a:t>
                </a:r>
                <a:r>
                  <a:rPr lang="en-AU" b="1" u="sng" dirty="0" err="1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r>
                  <a:rPr lang="en-AU" dirty="0" smtClean="0"/>
                  <a:t>An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 smtClean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201"/>
                <a:ext cx="5760640" cy="2308324"/>
              </a:xfrm>
              <a:prstGeom prst="rect">
                <a:avLst/>
              </a:prstGeom>
              <a:blipFill rotWithShape="1">
                <a:blip r:embed="rId2"/>
                <a:stretch>
                  <a:fillRect l="-952" t="-1319" b="-316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831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31840" y="2158201"/>
                <a:ext cx="5760640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 smtClean="0"/>
                  <a:t>These letters are called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 smtClean="0"/>
                  <a:t> or </a:t>
                </a:r>
                <a:r>
                  <a:rPr lang="en-AU" b="1" u="sng" dirty="0" err="1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r>
                  <a:rPr lang="en-AU" dirty="0" smtClean="0"/>
                  <a:t>An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 smtClean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A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term</a:t>
                </a:r>
                <a:r>
                  <a:rPr lang="en-AU" dirty="0" smtClean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/>
                  <a:t>e.g 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 has 3 terms.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201"/>
                <a:ext cx="5760640" cy="3693319"/>
              </a:xfrm>
              <a:prstGeom prst="rect">
                <a:avLst/>
              </a:prstGeom>
              <a:blipFill rotWithShape="1">
                <a:blip r:embed="rId2"/>
                <a:stretch>
                  <a:fillRect l="-952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0784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31840" y="2158201"/>
                <a:ext cx="5760640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 smtClean="0"/>
                  <a:t>These letters are called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 smtClean="0"/>
                  <a:t> or </a:t>
                </a:r>
                <a:r>
                  <a:rPr lang="en-AU" b="1" u="sng" dirty="0" err="1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r>
                  <a:rPr lang="en-AU" dirty="0" smtClean="0"/>
                  <a:t>An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 smtClean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A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term</a:t>
                </a:r>
                <a:r>
                  <a:rPr lang="en-AU" dirty="0" smtClean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 has 3 terms.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201"/>
                <a:ext cx="5760640" cy="3693319"/>
              </a:xfrm>
              <a:prstGeom prst="rect">
                <a:avLst/>
              </a:prstGeom>
              <a:blipFill rotWithShape="1">
                <a:blip r:embed="rId2"/>
                <a:stretch>
                  <a:fillRect l="-952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005441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646956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31840" y="2158200"/>
                <a:ext cx="5760640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 smtClean="0"/>
                  <a:t>These letters are called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 smtClean="0"/>
                  <a:t> or </a:t>
                </a:r>
                <a:r>
                  <a:rPr lang="en-AU" b="1" u="sng" dirty="0" err="1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r>
                  <a:rPr lang="en-AU" dirty="0" smtClean="0"/>
                  <a:t>An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 smtClean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A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term</a:t>
                </a:r>
                <a:r>
                  <a:rPr lang="en-AU" dirty="0" smtClean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 has 3 terms.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200"/>
                <a:ext cx="5760640" cy="3693319"/>
              </a:xfrm>
              <a:prstGeom prst="rect">
                <a:avLst/>
              </a:prstGeom>
              <a:blipFill rotWithShape="1">
                <a:blip r:embed="rId2"/>
                <a:stretch>
                  <a:fillRect l="-952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005441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62495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7441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31840" y="2158199"/>
                <a:ext cx="5760640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 smtClean="0"/>
                  <a:t>These letters are called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 smtClean="0"/>
                  <a:t> or </a:t>
                </a:r>
                <a:r>
                  <a:rPr lang="en-AU" b="1" u="sng" dirty="0" err="1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r>
                  <a:rPr lang="en-AU" dirty="0" smtClean="0"/>
                  <a:t>An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 smtClean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A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term</a:t>
                </a:r>
                <a:r>
                  <a:rPr lang="en-AU" dirty="0" smtClean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     has 3 terms. 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199"/>
                <a:ext cx="5760640" cy="3693319"/>
              </a:xfrm>
              <a:prstGeom prst="rect">
                <a:avLst/>
              </a:prstGeom>
              <a:blipFill rotWithShape="1">
                <a:blip r:embed="rId2"/>
                <a:stretch>
                  <a:fillRect l="-952" t="-82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005441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62495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5135150" y="5166187"/>
            <a:ext cx="566559" cy="3510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69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31840" y="2158199"/>
                <a:ext cx="5760640" cy="48013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In algebra we use letters to represent numbers.</a:t>
                </a:r>
              </a:p>
              <a:p>
                <a:endParaRPr lang="en-AU" dirty="0"/>
              </a:p>
              <a:p>
                <a:r>
                  <a:rPr lang="en-AU" dirty="0" smtClean="0"/>
                  <a:t>These letters are called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variables</a:t>
                </a:r>
                <a:r>
                  <a:rPr lang="en-AU" dirty="0" smtClean="0"/>
                  <a:t> or </a:t>
                </a:r>
                <a:r>
                  <a:rPr lang="en-AU" b="1" u="sng" dirty="0" err="1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pronumerals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r>
                  <a:rPr lang="en-AU" dirty="0" smtClean="0"/>
                  <a:t>An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 smtClean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A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term</a:t>
                </a:r>
                <a:r>
                  <a:rPr lang="en-AU" dirty="0" smtClean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     has 3 terms. </a:t>
                </a:r>
              </a:p>
              <a:p>
                <a:pPr/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pPr/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i="1" dirty="0" smtClean="0">
                  <a:solidFill>
                    <a:srgbClr val="00B050"/>
                  </a:solidFill>
                  <a:latin typeface="Cambria Math"/>
                </a:endParaRPr>
              </a:p>
              <a:p>
                <a:pPr/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2158199"/>
                <a:ext cx="5760640" cy="4801314"/>
              </a:xfrm>
              <a:prstGeom prst="rect">
                <a:avLst/>
              </a:prstGeom>
              <a:blipFill rotWithShape="1">
                <a:blip r:embed="rId2"/>
                <a:stretch>
                  <a:fillRect l="-952" t="-63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005441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62495" y="5157192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5135150" y="5166187"/>
            <a:ext cx="566559" cy="3510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168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31840" y="1967335"/>
                <a:ext cx="5760640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An </a:t>
                </a:r>
                <a:r>
                  <a:rPr lang="en-AU" b="1" u="sng" dirty="0" smtClean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expression</a:t>
                </a:r>
                <a:r>
                  <a:rPr lang="en-AU" dirty="0" smtClean="0"/>
                  <a:t> is a combination of numbers, letters and operations.</a:t>
                </a:r>
              </a:p>
              <a:p>
                <a:endParaRPr lang="en-AU" dirty="0"/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	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endParaRPr lang="en-AU" dirty="0" smtClean="0"/>
              </a:p>
              <a:p>
                <a:r>
                  <a:rPr lang="en-AU" dirty="0" smtClean="0"/>
                  <a:t>A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term</a:t>
                </a:r>
                <a:r>
                  <a:rPr lang="en-AU" dirty="0" smtClean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     has 3 terms. </a:t>
                </a:r>
              </a:p>
              <a:p>
                <a:pPr/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pPr/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i="1" dirty="0" smtClean="0">
                  <a:solidFill>
                    <a:srgbClr val="00B050"/>
                  </a:solidFill>
                  <a:latin typeface="Cambria Math"/>
                </a:endParaRPr>
              </a:p>
              <a:p>
                <a:pPr/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The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coefficient</a:t>
                </a:r>
                <a:r>
                  <a:rPr lang="en-AU" dirty="0" smtClean="0"/>
                  <a:t> is the number being multiplied by the variable.</a:t>
                </a:r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</a:t>
                </a:r>
                <a:r>
                  <a:rPr lang="en-AU" dirty="0"/>
                  <a:t>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is 3	Coefficient </a:t>
                </a:r>
                <a:r>
                  <a:rPr lang="en-AU" dirty="0">
                    <a:solidFill>
                      <a:srgbClr val="00B05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AU" dirty="0">
                    <a:solidFill>
                      <a:srgbClr val="00B05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Coefficient </a:t>
                </a:r>
                <a:r>
                  <a:rPr lang="en-AU" dirty="0">
                    <a:solidFill>
                      <a:srgbClr val="00B05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AU" dirty="0">
                    <a:solidFill>
                      <a:srgbClr val="00B050"/>
                    </a:solidFill>
                  </a:rPr>
                  <a:t>is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1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967335"/>
                <a:ext cx="5760640" cy="5632311"/>
              </a:xfrm>
              <a:prstGeom prst="rect">
                <a:avLst/>
              </a:prstGeom>
              <a:blipFill rotWithShape="1">
                <a:blip r:embed="rId3"/>
                <a:stretch>
                  <a:fillRect l="-952" t="-54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4014946" y="387348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81505" y="386764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5144655" y="3867646"/>
            <a:ext cx="566559" cy="365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862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31840" y="1967335"/>
                <a:ext cx="5760640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term</a:t>
                </a:r>
                <a:r>
                  <a:rPr lang="en-AU" dirty="0" smtClean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     has 3 terms. </a:t>
                </a:r>
              </a:p>
              <a:p>
                <a:pPr/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pPr/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i="1" dirty="0" smtClean="0">
                  <a:solidFill>
                    <a:srgbClr val="00B050"/>
                  </a:solidFill>
                  <a:latin typeface="Cambria Math"/>
                </a:endParaRPr>
              </a:p>
              <a:p>
                <a:pPr/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The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coefficient</a:t>
                </a:r>
                <a:r>
                  <a:rPr lang="en-AU" dirty="0" smtClean="0"/>
                  <a:t> is the number being multiplied by the variable.</a:t>
                </a:r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</a:t>
                </a:r>
                <a:r>
                  <a:rPr lang="en-AU" dirty="0"/>
                  <a:t>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is 3	Coefficient </a:t>
                </a:r>
                <a:r>
                  <a:rPr lang="en-AU" dirty="0">
                    <a:solidFill>
                      <a:srgbClr val="00B05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AU" dirty="0">
                    <a:solidFill>
                      <a:srgbClr val="00B05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Coefficient </a:t>
                </a:r>
                <a:r>
                  <a:rPr lang="en-AU" dirty="0">
                    <a:solidFill>
                      <a:srgbClr val="00B05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AU" dirty="0">
                    <a:solidFill>
                      <a:srgbClr val="00B050"/>
                    </a:solidFill>
                  </a:rPr>
                  <a:t>is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1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constant</a:t>
                </a:r>
                <a:r>
                  <a:rPr lang="en-AU" dirty="0" smtClean="0"/>
                  <a:t> term is the term without a variable</a:t>
                </a:r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</a:t>
                </a:r>
                <a:r>
                  <a:rPr lang="en-AU" dirty="0"/>
                  <a:t>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−4 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has a constant term</a:t>
                </a:r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967335"/>
                <a:ext cx="5760640" cy="5355312"/>
              </a:xfrm>
              <a:prstGeom prst="rect">
                <a:avLst/>
              </a:prstGeom>
              <a:blipFill rotWithShape="1">
                <a:blip r:embed="rId3"/>
                <a:stretch>
                  <a:fillRect l="-952" t="-5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995935" y="249289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72000" y="249289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5138559" y="2489976"/>
            <a:ext cx="566559" cy="365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94917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81578" y="298231"/>
            <a:ext cx="35809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Introduction to Algebra</a:t>
            </a:r>
            <a:endParaRPr lang="en-AU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75315" y="1091238"/>
            <a:ext cx="81377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</a:t>
            </a:r>
            <a:r>
              <a:rPr lang="en-AU" sz="2400" dirty="0" smtClean="0"/>
              <a:t>– What are some of the keywords that I need to know when solving problems using letter symbols? 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131840" y="1967335"/>
                <a:ext cx="5760640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A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term</a:t>
                </a:r>
                <a:r>
                  <a:rPr lang="en-AU" dirty="0" smtClean="0"/>
                  <a:t> is part of an expression separated by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+</m:t>
                    </m:r>
                  </m:oMath>
                </a14:m>
                <a:r>
                  <a:rPr lang="en-AU" dirty="0" smtClean="0"/>
                  <a:t> or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−</m:t>
                    </m:r>
                  </m:oMath>
                </a14:m>
                <a:endParaRPr lang="en-AU" b="0" dirty="0" smtClean="0"/>
              </a:p>
              <a:p>
                <a:endParaRPr lang="en-AU" dirty="0" smtClean="0"/>
              </a:p>
              <a:p>
                <a:r>
                  <a:rPr lang="en-AU" dirty="0"/>
                  <a:t>e.g 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     has 3 terms. </a:t>
                </a:r>
              </a:p>
              <a:p>
                <a:pPr/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pPr/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AU" i="1" dirty="0" smtClean="0">
                  <a:solidFill>
                    <a:srgbClr val="00B050"/>
                  </a:solidFill>
                  <a:latin typeface="Cambria Math"/>
                </a:endParaRPr>
              </a:p>
              <a:p>
                <a:pPr/>
                <a:r>
                  <a:rPr lang="en-AU" dirty="0" smtClean="0">
                    <a:solidFill>
                      <a:srgbClr val="00B050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 smtClean="0">
                  <a:solidFill>
                    <a:srgbClr val="00B050"/>
                  </a:solidFill>
                </a:endParaRPr>
              </a:p>
              <a:p>
                <a:pPr/>
                <a:endParaRPr lang="en-AU" dirty="0"/>
              </a:p>
              <a:p>
                <a:pPr/>
                <a:r>
                  <a:rPr lang="en-AU" dirty="0" smtClean="0"/>
                  <a:t>The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coefficient</a:t>
                </a:r>
                <a:r>
                  <a:rPr lang="en-AU" dirty="0" smtClean="0"/>
                  <a:t> is the number being multiplied by the variable.</a:t>
                </a:r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</a:t>
                </a:r>
                <a:r>
                  <a:rPr lang="en-AU" dirty="0"/>
                  <a:t>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+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Coefficient of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is 3	Coefficient </a:t>
                </a:r>
                <a:r>
                  <a:rPr lang="en-AU" dirty="0">
                    <a:solidFill>
                      <a:srgbClr val="00B05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AU" dirty="0">
                    <a:solidFill>
                      <a:srgbClr val="00B050"/>
                    </a:solidFill>
                  </a:rPr>
                  <a:t>is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−2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Coefficient </a:t>
                </a:r>
                <a:r>
                  <a:rPr lang="en-AU" dirty="0">
                    <a:solidFill>
                      <a:srgbClr val="00B050"/>
                    </a:solidFill>
                  </a:rPr>
                  <a:t>of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𝑡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</a:t>
                </a:r>
                <a:r>
                  <a:rPr lang="en-AU" dirty="0">
                    <a:solidFill>
                      <a:srgbClr val="00B050"/>
                    </a:solidFill>
                  </a:rPr>
                  <a:t>is </a:t>
                </a:r>
                <a:r>
                  <a:rPr lang="en-AU" dirty="0" smtClean="0">
                    <a:solidFill>
                      <a:srgbClr val="00B050"/>
                    </a:solidFill>
                  </a:rPr>
                  <a:t>1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r>
                  <a:rPr lang="en-AU" dirty="0" smtClean="0"/>
                  <a:t>The </a:t>
                </a:r>
                <a:r>
                  <a:rPr lang="en-AU" b="1" u="sng" dirty="0" smtClean="0">
                    <a:solidFill>
                      <a:srgbClr val="0070C0"/>
                    </a:solidFill>
                  </a:rPr>
                  <a:t>constant</a:t>
                </a:r>
                <a:r>
                  <a:rPr lang="en-AU" dirty="0" smtClean="0"/>
                  <a:t> term is the term without a variable</a:t>
                </a:r>
              </a:p>
              <a:p>
                <a:r>
                  <a:rPr lang="en-AU" dirty="0" err="1" smtClean="0"/>
                  <a:t>e.g</a:t>
                </a:r>
                <a:r>
                  <a:rPr lang="en-AU" dirty="0" smtClean="0"/>
                  <a:t> </a:t>
                </a:r>
                <a:r>
                  <a:rPr lang="en-AU" dirty="0"/>
                  <a:t>	</a:t>
                </a:r>
                <a:r>
                  <a:rPr lang="en-AU" dirty="0">
                    <a:solidFill>
                      <a:srgbClr val="00B05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3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𝑥𝑦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+7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𝑝</m:t>
                    </m:r>
                    <m:r>
                      <a:rPr lang="en-AU" i="1">
                        <a:solidFill>
                          <a:srgbClr val="00B050"/>
                        </a:solidFill>
                        <a:latin typeface="Cambria Math"/>
                      </a:rPr>
                      <m:t>−4 </m:t>
                    </m:r>
                  </m:oMath>
                </a14:m>
                <a:r>
                  <a:rPr lang="en-AU" dirty="0" smtClean="0">
                    <a:solidFill>
                      <a:srgbClr val="00B050"/>
                    </a:solidFill>
                  </a:rPr>
                  <a:t> has a constant term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840" y="1967335"/>
                <a:ext cx="5760640" cy="5355312"/>
              </a:xfrm>
              <a:prstGeom prst="rect">
                <a:avLst/>
              </a:prstGeom>
              <a:blipFill rotWithShape="1">
                <a:blip r:embed="rId3"/>
                <a:stretch>
                  <a:fillRect l="-952" t="-5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/>
          <p:cNvSpPr/>
          <p:nvPr/>
        </p:nvSpPr>
        <p:spPr>
          <a:xfrm>
            <a:off x="3995935" y="249289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4572000" y="2492896"/>
            <a:ext cx="566559" cy="360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/>
          <p:cNvSpPr/>
          <p:nvPr/>
        </p:nvSpPr>
        <p:spPr>
          <a:xfrm>
            <a:off x="5138559" y="2489976"/>
            <a:ext cx="566559" cy="365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/>
          <p:cNvSpPr/>
          <p:nvPr/>
        </p:nvSpPr>
        <p:spPr>
          <a:xfrm>
            <a:off x="5138559" y="5805264"/>
            <a:ext cx="441554" cy="3658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2674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Task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dirty="0" smtClean="0"/>
                  <a:t>For the expression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3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−4</m:t>
                    </m:r>
                    <m:r>
                      <a:rPr lang="en-AU" b="0" i="1" smtClean="0"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latin typeface="Cambria Math"/>
                      </a:rPr>
                      <m:t>−12</m:t>
                    </m:r>
                  </m:oMath>
                </a14:m>
                <a:endParaRPr lang="en-AU" dirty="0" smtClean="0"/>
              </a:p>
              <a:p>
                <a:pPr marL="914400" lvl="1" indent="-514350">
                  <a:buFont typeface="+mj-lt"/>
                  <a:buAutoNum type="alphaLcParenR"/>
                </a:pPr>
                <a:r>
                  <a:rPr lang="en-AU" dirty="0" smtClean="0"/>
                  <a:t>How many terms in the expression?</a:t>
                </a:r>
              </a:p>
              <a:p>
                <a:pPr marL="914400" lvl="1" indent="-514350">
                  <a:buFont typeface="+mj-lt"/>
                  <a:buAutoNum type="alphaLcParenR"/>
                </a:pPr>
                <a:r>
                  <a:rPr lang="en-AU" dirty="0" smtClean="0"/>
                  <a:t>What is the constant term?</a:t>
                </a:r>
              </a:p>
              <a:p>
                <a:pPr marL="914400" lvl="1" indent="-514350">
                  <a:buFont typeface="+mj-lt"/>
                  <a:buAutoNum type="alphaLcParenR"/>
                </a:pPr>
                <a:r>
                  <a:rPr lang="en-AU" dirty="0" smtClean="0"/>
                  <a:t>What is the coefficient of </a:t>
                </a:r>
              </a:p>
              <a:p>
                <a:pPr marL="13144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b="0" i="1" smtClean="0">
                            <a:latin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AU" b="0" dirty="0" smtClean="0"/>
              </a:p>
              <a:p>
                <a:pPr marL="13144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AU" i="1" smtClean="0">
                        <a:latin typeface="Cambria Math"/>
                      </a:rPr>
                      <m:t>𝑥</m:t>
                    </m:r>
                  </m:oMath>
                </a14:m>
                <a:endParaRPr lang="en-AU" dirty="0" smtClean="0"/>
              </a:p>
              <a:p>
                <a:pPr marL="13144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𝑥𝑦</m:t>
                    </m:r>
                  </m:oMath>
                </a14:m>
                <a:endParaRPr lang="en-AU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dirty="0" smtClean="0"/>
                  <a:t>Add the keywords and definitions to your glossary.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926" t="-161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8189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332656"/>
            <a:ext cx="8229600" cy="1143000"/>
          </a:xfrm>
        </p:spPr>
        <p:txBody>
          <a:bodyPr>
            <a:normAutofit/>
          </a:bodyPr>
          <a:lstStyle/>
          <a:p>
            <a:r>
              <a:rPr lang="en-AU" dirty="0" smtClean="0"/>
              <a:t>Task </a:t>
            </a: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dirty="0" smtClean="0"/>
                  <a:t>For the expression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/>
                      </a:rPr>
                      <m:t>3</m:t>
                    </m:r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b="0" i="1" smtClean="0">
                        <a:latin typeface="Cambria Math"/>
                      </a:rPr>
                      <m:t>+</m:t>
                    </m:r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𝑥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2</m:t>
                        </m:r>
                      </m:den>
                    </m:f>
                    <m:r>
                      <a:rPr lang="en-AU" b="0" i="1" smtClean="0">
                        <a:latin typeface="Cambria Math"/>
                      </a:rPr>
                      <m:t>−4</m:t>
                    </m:r>
                    <m:r>
                      <a:rPr lang="en-AU" b="0" i="1" smtClean="0">
                        <a:latin typeface="Cambria Math"/>
                      </a:rPr>
                      <m:t>𝑥𝑦</m:t>
                    </m:r>
                    <m:r>
                      <a:rPr lang="en-AU" b="0" i="1" smtClean="0">
                        <a:latin typeface="Cambria Math"/>
                      </a:rPr>
                      <m:t>−12</m:t>
                    </m:r>
                  </m:oMath>
                </a14:m>
                <a:endParaRPr lang="en-AU" dirty="0" smtClean="0"/>
              </a:p>
              <a:p>
                <a:pPr marL="914400" lvl="1" indent="-514350">
                  <a:buFont typeface="+mj-lt"/>
                  <a:buAutoNum type="alphaLcParenR"/>
                </a:pPr>
                <a:r>
                  <a:rPr lang="en-AU" dirty="0" smtClean="0"/>
                  <a:t>How many terms in the expression? </a:t>
                </a:r>
                <a:r>
                  <a:rPr lang="en-AU" dirty="0" smtClean="0">
                    <a:solidFill>
                      <a:srgbClr val="FF0000"/>
                    </a:solidFill>
                  </a:rPr>
                  <a:t>4</a:t>
                </a:r>
                <a:endParaRPr lang="en-AU" dirty="0" smtClean="0"/>
              </a:p>
              <a:p>
                <a:pPr marL="914400" lvl="1" indent="-514350">
                  <a:buFont typeface="+mj-lt"/>
                  <a:buAutoNum type="alphaLcParenR"/>
                </a:pPr>
                <a:r>
                  <a:rPr lang="en-AU" dirty="0" smtClean="0"/>
                  <a:t>What is the constant term?  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−12</m:t>
                    </m:r>
                  </m:oMath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pPr marL="914400" lvl="1" indent="-514350">
                  <a:buFont typeface="+mj-lt"/>
                  <a:buAutoNum type="alphaLcParenR"/>
                </a:pPr>
                <a:r>
                  <a:rPr lang="en-AU" dirty="0" smtClean="0"/>
                  <a:t>What is the coefficient of </a:t>
                </a:r>
              </a:p>
              <a:p>
                <a:pPr marL="13144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AU" i="1">
                            <a:latin typeface="Cambria Math"/>
                          </a:rPr>
                        </m:ctrlPr>
                      </m:sSupPr>
                      <m:e>
                        <m:r>
                          <a:rPr lang="en-AU" i="1"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AU" i="1"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a:rPr lang="en-AU" i="1">
                        <a:latin typeface="Cambria Math"/>
                      </a:rPr>
                      <m:t> </m:t>
                    </m:r>
                  </m:oMath>
                </a14:m>
                <a:r>
                  <a:rPr lang="en-AU" i="1" dirty="0" smtClean="0">
                    <a:latin typeface="Cambria Math"/>
                  </a:rPr>
                  <a:t>	</a:t>
                </a:r>
                <a:r>
                  <a:rPr lang="en-AU" dirty="0" smtClean="0">
                    <a:solidFill>
                      <a:srgbClr val="FF0000"/>
                    </a:solidFill>
                    <a:latin typeface="Cambria Math"/>
                  </a:rPr>
                  <a:t>3</a:t>
                </a:r>
                <a:endParaRPr lang="en-AU" i="1" dirty="0" smtClean="0">
                  <a:solidFill>
                    <a:srgbClr val="FF0000"/>
                  </a:solidFill>
                  <a:latin typeface="Cambria Math"/>
                </a:endParaRPr>
              </a:p>
              <a:p>
                <a:pPr marL="13144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</m:t>
                    </m:r>
                  </m:oMath>
                </a14:m>
                <a:r>
                  <a:rPr lang="en-AU" dirty="0" smtClean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1314450" lvl="2" indent="-514350">
                  <a:buFont typeface="+mj-lt"/>
                  <a:buAutoNum type="romanLcPeriod"/>
                </a:pP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𝑥𝑦</m:t>
                    </m:r>
                  </m:oMath>
                </a14:m>
                <a:r>
                  <a:rPr lang="en-AU" dirty="0" smtClean="0"/>
                  <a:t>	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FF0000"/>
                        </a:solidFill>
                        <a:latin typeface="Cambria Math"/>
                      </a:rPr>
                      <m:t>−4</m:t>
                    </m:r>
                  </m:oMath>
                </a14:m>
                <a:endParaRPr lang="en-AU" dirty="0" smtClean="0">
                  <a:solidFill>
                    <a:srgbClr val="FF0000"/>
                  </a:solidFill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dirty="0" smtClean="0"/>
                  <a:t>Add the keywords and definitions to your glossary.</a:t>
                </a: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926" t="-1617" b="-242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7205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Fill in the questions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049378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776</Words>
  <Application>Microsoft Office PowerPoint</Application>
  <PresentationFormat>On-screen Show (4:3)</PresentationFormat>
  <Paragraphs>263</Paragraphs>
  <Slides>20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My Algebra  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</vt:lpstr>
      <vt:lpstr>Task </vt:lpstr>
      <vt:lpstr>Fill in the 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33</cp:revision>
  <dcterms:created xsi:type="dcterms:W3CDTF">2014-05-14T02:58:57Z</dcterms:created>
  <dcterms:modified xsi:type="dcterms:W3CDTF">2015-04-19T12:31:42Z</dcterms:modified>
</cp:coreProperties>
</file>
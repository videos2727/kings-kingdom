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0" r:id="rId2"/>
    <p:sldId id="259" r:id="rId3"/>
    <p:sldId id="258" r:id="rId4"/>
    <p:sldId id="309" r:id="rId5"/>
    <p:sldId id="323" r:id="rId6"/>
    <p:sldId id="338" r:id="rId7"/>
    <p:sldId id="339" r:id="rId8"/>
    <p:sldId id="340" r:id="rId9"/>
    <p:sldId id="341" r:id="rId10"/>
    <p:sldId id="342" r:id="rId11"/>
    <p:sldId id="345" r:id="rId12"/>
    <p:sldId id="343" r:id="rId13"/>
    <p:sldId id="344" r:id="rId14"/>
    <p:sldId id="334" r:id="rId15"/>
    <p:sldId id="291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803" autoAdjust="0"/>
  </p:normalViewPr>
  <p:slideViewPr>
    <p:cSldViewPr>
      <p:cViewPr>
        <p:scale>
          <a:sx n="79" d="100"/>
          <a:sy n="79" d="100"/>
        </p:scale>
        <p:origin x="-1116" y="2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1F06D-4543-461C-A563-4C1630637A41}" type="datetimeFigureOut">
              <a:rPr lang="en-AU" smtClean="0"/>
              <a:t>19/05/2015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76FEA3-4B06-46F7-BD2F-EBD4701E5C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6322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19/05/2015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19/05/2015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19/05/2015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19/05/2015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19/05/2015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19/05/2015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19/05/2015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19/05/2015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19/05/2015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19/05/2015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19/05/2015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19/05/2015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Algebra  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AU" dirty="0" smtClean="0"/>
              <a:t>Name : </a:t>
            </a:r>
          </a:p>
          <a:p>
            <a:pPr algn="l"/>
            <a:r>
              <a:rPr lang="en-AU" dirty="0" smtClean="0"/>
              <a:t>Class : </a:t>
            </a:r>
          </a:p>
          <a:p>
            <a:pPr algn="l"/>
            <a:r>
              <a:rPr lang="en-AU" dirty="0" smtClean="0"/>
              <a:t>Term 2 Semester </a:t>
            </a:r>
            <a:r>
              <a:rPr lang="en-AU" dirty="0"/>
              <a:t>1</a:t>
            </a:r>
            <a:endParaRPr lang="en-AU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2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+3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AU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𝑎𝑏</m:t>
                      </m:r>
                    </m:oMath>
                  </m:oMathPara>
                </a14:m>
                <a:endParaRPr lang="en-AU" sz="3200" dirty="0">
                  <a:solidFill>
                    <a:srgbClr val="FF99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𝑥𝑦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𝑦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=2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en-AU" sz="36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9591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6372200" y="153568"/>
            <a:ext cx="894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Glossary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40430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Expanding </a:t>
            </a:r>
            <a:r>
              <a:rPr lang="en-AU" sz="2800" dirty="0" smtClean="0"/>
              <a:t>Perfect Squares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</a:t>
            </a:r>
            <a:r>
              <a:rPr lang="en-AU" sz="2400" dirty="0" smtClean="0"/>
              <a:t>expand a squared expression?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93471" y="2051556"/>
            <a:ext cx="2678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use the table method?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58377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4832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Expanding Binomial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expand two brackets?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93471" y="2051556"/>
            <a:ext cx="2678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use the table method?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3059832" y="2060848"/>
                <a:ext cx="1868845" cy="3949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Expand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 smtClean="0">
                            <a:latin typeface="Cambria Math"/>
                          </a:rPr>
                          <m:t> </m:t>
                        </m:r>
                        <m:r>
                          <a:rPr lang="en-AU" i="1">
                            <a:latin typeface="Cambria Math"/>
                          </a:rPr>
                          <m:t>(</m:t>
                        </m:r>
                        <m:r>
                          <a:rPr lang="en-AU" i="1">
                            <a:latin typeface="Cambria Math"/>
                          </a:rPr>
                          <m:t>𝑎</m:t>
                        </m:r>
                        <m:r>
                          <a:rPr lang="en-AU" i="1">
                            <a:latin typeface="Cambria Math"/>
                          </a:rPr>
                          <m:t>+</m:t>
                        </m:r>
                        <m:r>
                          <a:rPr lang="en-AU" i="1">
                            <a:latin typeface="Cambria Math"/>
                          </a:rPr>
                          <m:t>𝑏</m:t>
                        </m:r>
                        <m:r>
                          <a:rPr lang="en-AU" i="1">
                            <a:latin typeface="Cambria Math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AU" dirty="0"/>
                          <m:t> 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60848"/>
                <a:ext cx="1868845" cy="394980"/>
              </a:xfrm>
              <a:prstGeom prst="rect">
                <a:avLst/>
              </a:prstGeom>
              <a:blipFill rotWithShape="1">
                <a:blip r:embed="rId2"/>
                <a:stretch>
                  <a:fillRect l="-2932" b="-2461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0683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4832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Expanding Binomial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expand two brackets?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93471" y="2051556"/>
            <a:ext cx="2678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use the table method?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3059832" y="2060848"/>
                <a:ext cx="1868845" cy="9489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Expand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 smtClean="0">
                            <a:latin typeface="Cambria Math"/>
                          </a:rPr>
                          <m:t> </m:t>
                        </m:r>
                        <m:r>
                          <a:rPr lang="en-AU" i="1">
                            <a:latin typeface="Cambria Math"/>
                          </a:rPr>
                          <m:t>(</m:t>
                        </m:r>
                        <m:r>
                          <a:rPr lang="en-AU" i="1">
                            <a:latin typeface="Cambria Math"/>
                          </a:rPr>
                          <m:t>𝑎</m:t>
                        </m:r>
                        <m:r>
                          <a:rPr lang="en-AU" i="1">
                            <a:latin typeface="Cambria Math"/>
                          </a:rPr>
                          <m:t>+</m:t>
                        </m:r>
                        <m:r>
                          <a:rPr lang="en-AU" i="1">
                            <a:latin typeface="Cambria Math"/>
                          </a:rPr>
                          <m:t>𝑏</m:t>
                        </m:r>
                        <m:r>
                          <a:rPr lang="en-AU" i="1">
                            <a:latin typeface="Cambria Math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AU" dirty="0"/>
                          <m:t> 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b="0" dirty="0" smtClean="0"/>
              </a:p>
              <a:p>
                <a:endParaRPr lang="en-AU" b="0" dirty="0" smtClean="0"/>
              </a:p>
              <a:p>
                <a:r>
                  <a:rPr lang="en-AU" dirty="0" smtClean="0"/>
                  <a:t>=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(</m:t>
                    </m:r>
                    <m:r>
                      <a:rPr lang="en-AU" b="0" i="1" smtClean="0">
                        <a:latin typeface="Cambria Math"/>
                      </a:rPr>
                      <m:t>𝑎</m:t>
                    </m:r>
                    <m:r>
                      <a:rPr lang="en-AU" b="0" i="1" smtClean="0">
                        <a:latin typeface="Cambria Math"/>
                      </a:rPr>
                      <m:t>+</m:t>
                    </m:r>
                    <m:r>
                      <a:rPr lang="en-AU" b="0" i="1" smtClean="0">
                        <a:latin typeface="Cambria Math"/>
                      </a:rPr>
                      <m:t>𝑏</m:t>
                    </m:r>
                    <m:r>
                      <a:rPr lang="en-AU" b="0" i="1" smtClean="0">
                        <a:latin typeface="Cambria Math"/>
                      </a:rPr>
                      <m:t>)(</m:t>
                    </m:r>
                    <m:r>
                      <a:rPr lang="en-AU" b="0" i="1" smtClean="0">
                        <a:latin typeface="Cambria Math"/>
                      </a:rPr>
                      <m:t>𝑎</m:t>
                    </m:r>
                    <m:r>
                      <a:rPr lang="en-AU" b="0" i="1" smtClean="0">
                        <a:latin typeface="Cambria Math"/>
                      </a:rPr>
                      <m:t>+</m:t>
                    </m:r>
                    <m:r>
                      <a:rPr lang="en-AU" b="0" i="1" smtClean="0">
                        <a:latin typeface="Cambria Math"/>
                      </a:rPr>
                      <m:t>𝑏</m:t>
                    </m:r>
                    <m:r>
                      <a:rPr lang="en-AU" b="0" i="1" smtClean="0">
                        <a:latin typeface="Cambria Math"/>
                      </a:rPr>
                      <m:t>)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60848"/>
                <a:ext cx="1868845" cy="948978"/>
              </a:xfrm>
              <a:prstGeom prst="rect">
                <a:avLst/>
              </a:prstGeom>
              <a:blipFill rotWithShape="1">
                <a:blip r:embed="rId2"/>
                <a:stretch>
                  <a:fillRect l="-2932" b="-897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5031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4832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Expanding Binomial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expand two brackets?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93471" y="2051556"/>
            <a:ext cx="2678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use the table method?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3059832" y="2060848"/>
                <a:ext cx="1868845" cy="9489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Expand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 smtClean="0">
                            <a:latin typeface="Cambria Math"/>
                          </a:rPr>
                          <m:t> </m:t>
                        </m:r>
                        <m:r>
                          <a:rPr lang="en-AU" i="1">
                            <a:latin typeface="Cambria Math"/>
                          </a:rPr>
                          <m:t>(</m:t>
                        </m:r>
                        <m:r>
                          <a:rPr lang="en-AU" i="1">
                            <a:latin typeface="Cambria Math"/>
                          </a:rPr>
                          <m:t>𝑎</m:t>
                        </m:r>
                        <m:r>
                          <a:rPr lang="en-AU" i="1">
                            <a:latin typeface="Cambria Math"/>
                          </a:rPr>
                          <m:t>+</m:t>
                        </m:r>
                        <m:r>
                          <a:rPr lang="en-AU" i="1">
                            <a:latin typeface="Cambria Math"/>
                          </a:rPr>
                          <m:t>𝑏</m:t>
                        </m:r>
                        <m:r>
                          <a:rPr lang="en-AU" i="1">
                            <a:latin typeface="Cambria Math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AU" dirty="0"/>
                          <m:t> 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b="0" dirty="0" smtClean="0"/>
              </a:p>
              <a:p>
                <a:endParaRPr lang="en-AU" b="0" dirty="0" smtClean="0"/>
              </a:p>
              <a:p>
                <a:r>
                  <a:rPr lang="en-AU" dirty="0" smtClean="0"/>
                  <a:t>=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(</m:t>
                    </m:r>
                    <m:r>
                      <a:rPr lang="en-AU" b="0" i="1" smtClean="0">
                        <a:latin typeface="Cambria Math"/>
                      </a:rPr>
                      <m:t>𝑎</m:t>
                    </m:r>
                    <m:r>
                      <a:rPr lang="en-AU" b="0" i="1" smtClean="0">
                        <a:latin typeface="Cambria Math"/>
                      </a:rPr>
                      <m:t>+</m:t>
                    </m:r>
                    <m:r>
                      <a:rPr lang="en-AU" b="0" i="1" smtClean="0">
                        <a:latin typeface="Cambria Math"/>
                      </a:rPr>
                      <m:t>𝑏</m:t>
                    </m:r>
                    <m:r>
                      <a:rPr lang="en-AU" b="0" i="1" smtClean="0">
                        <a:latin typeface="Cambria Math"/>
                      </a:rPr>
                      <m:t>)(</m:t>
                    </m:r>
                    <m:r>
                      <a:rPr lang="en-AU" b="0" i="1" smtClean="0">
                        <a:latin typeface="Cambria Math"/>
                      </a:rPr>
                      <m:t>𝑎</m:t>
                    </m:r>
                    <m:r>
                      <a:rPr lang="en-AU" b="0" i="1" smtClean="0">
                        <a:latin typeface="Cambria Math"/>
                      </a:rPr>
                      <m:t>+</m:t>
                    </m:r>
                    <m:r>
                      <a:rPr lang="en-AU" b="0" i="1" smtClean="0">
                        <a:latin typeface="Cambria Math"/>
                      </a:rPr>
                      <m:t>𝑏</m:t>
                    </m:r>
                    <m:r>
                      <a:rPr lang="en-AU" b="0" i="1" smtClean="0">
                        <a:latin typeface="Cambria Math"/>
                      </a:rPr>
                      <m:t>)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60848"/>
                <a:ext cx="1868845" cy="948978"/>
              </a:xfrm>
              <a:prstGeom prst="rect">
                <a:avLst/>
              </a:prstGeom>
              <a:blipFill rotWithShape="1">
                <a:blip r:embed="rId2"/>
                <a:stretch>
                  <a:fillRect l="-2932" b="-897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35335663"/>
                  </p:ext>
                </p:extLst>
              </p:nvPr>
            </p:nvGraphicFramePr>
            <p:xfrm>
              <a:off x="3432076" y="3140968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35335663"/>
                  </p:ext>
                </p:extLst>
              </p:nvPr>
            </p:nvGraphicFramePr>
            <p:xfrm>
              <a:off x="3432076" y="3140968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8333" r="-201136" b="-2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99435" t="-8333" r="-100000" b="-2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108333" r="-201136" b="-1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208333" r="-201136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69560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4832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Expanding Binomial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expand two brackets?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93471" y="2051556"/>
            <a:ext cx="2678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use the table method?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3059832" y="2060848"/>
                <a:ext cx="1868845" cy="9489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Expand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 smtClean="0">
                            <a:latin typeface="Cambria Math"/>
                          </a:rPr>
                          <m:t> </m:t>
                        </m:r>
                        <m:r>
                          <a:rPr lang="en-AU" i="1">
                            <a:latin typeface="Cambria Math"/>
                          </a:rPr>
                          <m:t>(</m:t>
                        </m:r>
                        <m:r>
                          <a:rPr lang="en-AU" i="1">
                            <a:latin typeface="Cambria Math"/>
                          </a:rPr>
                          <m:t>𝑎</m:t>
                        </m:r>
                        <m:r>
                          <a:rPr lang="en-AU" i="1">
                            <a:latin typeface="Cambria Math"/>
                          </a:rPr>
                          <m:t>+</m:t>
                        </m:r>
                        <m:r>
                          <a:rPr lang="en-AU" i="1">
                            <a:latin typeface="Cambria Math"/>
                          </a:rPr>
                          <m:t>𝑏</m:t>
                        </m:r>
                        <m:r>
                          <a:rPr lang="en-AU" i="1">
                            <a:latin typeface="Cambria Math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AU" dirty="0"/>
                          <m:t> 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b="0" dirty="0" smtClean="0"/>
              </a:p>
              <a:p>
                <a:endParaRPr lang="en-AU" b="0" dirty="0" smtClean="0"/>
              </a:p>
              <a:p>
                <a:r>
                  <a:rPr lang="en-AU" dirty="0" smtClean="0"/>
                  <a:t>=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(</m:t>
                    </m:r>
                    <m:r>
                      <a:rPr lang="en-AU" b="0" i="1" smtClean="0">
                        <a:latin typeface="Cambria Math"/>
                      </a:rPr>
                      <m:t>𝑎</m:t>
                    </m:r>
                    <m:r>
                      <a:rPr lang="en-AU" b="0" i="1" smtClean="0">
                        <a:latin typeface="Cambria Math"/>
                      </a:rPr>
                      <m:t>+</m:t>
                    </m:r>
                    <m:r>
                      <a:rPr lang="en-AU" b="0" i="1" smtClean="0">
                        <a:latin typeface="Cambria Math"/>
                      </a:rPr>
                      <m:t>𝑏</m:t>
                    </m:r>
                    <m:r>
                      <a:rPr lang="en-AU" b="0" i="1" smtClean="0">
                        <a:latin typeface="Cambria Math"/>
                      </a:rPr>
                      <m:t>)(</m:t>
                    </m:r>
                    <m:r>
                      <a:rPr lang="en-AU" b="0" i="1" smtClean="0">
                        <a:latin typeface="Cambria Math"/>
                      </a:rPr>
                      <m:t>𝑎</m:t>
                    </m:r>
                    <m:r>
                      <a:rPr lang="en-AU" b="0" i="1" smtClean="0">
                        <a:latin typeface="Cambria Math"/>
                      </a:rPr>
                      <m:t>+</m:t>
                    </m:r>
                    <m:r>
                      <a:rPr lang="en-AU" b="0" i="1" smtClean="0">
                        <a:latin typeface="Cambria Math"/>
                      </a:rPr>
                      <m:t>𝑏</m:t>
                    </m:r>
                    <m:r>
                      <a:rPr lang="en-AU" b="0" i="1" smtClean="0">
                        <a:latin typeface="Cambria Math"/>
                      </a:rPr>
                      <m:t>)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60848"/>
                <a:ext cx="1868845" cy="948978"/>
              </a:xfrm>
              <a:prstGeom prst="rect">
                <a:avLst/>
              </a:prstGeom>
              <a:blipFill rotWithShape="1">
                <a:blip r:embed="rId2"/>
                <a:stretch>
                  <a:fillRect l="-2932" b="-897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4569732"/>
                  </p:ext>
                </p:extLst>
              </p:nvPr>
            </p:nvGraphicFramePr>
            <p:xfrm>
              <a:off x="3432076" y="3140968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𝑎𝑏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𝑎𝑏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4569732"/>
                  </p:ext>
                </p:extLst>
              </p:nvPr>
            </p:nvGraphicFramePr>
            <p:xfrm>
              <a:off x="3432076" y="3140968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8333" r="-201136" b="-2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99435" t="-8333" r="-100000" b="-2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108333" r="-201136" b="-1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99435" t="-108333" r="-100000" b="-1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0568" t="-108333" r="-568" b="-101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208333" r="-201136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99435" t="-208333" r="-100000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0568" t="-208333" r="-568" b="-16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08941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4832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Expanding Binomial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expand two brackets?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93471" y="2051556"/>
            <a:ext cx="2678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use the table method?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3059832" y="2060848"/>
                <a:ext cx="1868845" cy="9489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Expand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 smtClean="0">
                            <a:latin typeface="Cambria Math"/>
                          </a:rPr>
                          <m:t> </m:t>
                        </m:r>
                        <m:r>
                          <a:rPr lang="en-AU" i="1">
                            <a:latin typeface="Cambria Math"/>
                          </a:rPr>
                          <m:t>(</m:t>
                        </m:r>
                        <m:r>
                          <a:rPr lang="en-AU" i="1">
                            <a:latin typeface="Cambria Math"/>
                          </a:rPr>
                          <m:t>𝑎</m:t>
                        </m:r>
                        <m:r>
                          <a:rPr lang="en-AU" i="1">
                            <a:latin typeface="Cambria Math"/>
                          </a:rPr>
                          <m:t>+</m:t>
                        </m:r>
                        <m:r>
                          <a:rPr lang="en-AU" i="1">
                            <a:latin typeface="Cambria Math"/>
                          </a:rPr>
                          <m:t>𝑏</m:t>
                        </m:r>
                        <m:r>
                          <a:rPr lang="en-AU" i="1">
                            <a:latin typeface="Cambria Math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AU" dirty="0"/>
                          <m:t> 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b="0" dirty="0" smtClean="0"/>
              </a:p>
              <a:p>
                <a:endParaRPr lang="en-AU" b="0" dirty="0" smtClean="0"/>
              </a:p>
              <a:p>
                <a:r>
                  <a:rPr lang="en-AU" dirty="0" smtClean="0"/>
                  <a:t>=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(</m:t>
                    </m:r>
                    <m:r>
                      <a:rPr lang="en-AU" b="0" i="1" smtClean="0">
                        <a:latin typeface="Cambria Math"/>
                      </a:rPr>
                      <m:t>𝑎</m:t>
                    </m:r>
                    <m:r>
                      <a:rPr lang="en-AU" b="0" i="1" smtClean="0">
                        <a:latin typeface="Cambria Math"/>
                      </a:rPr>
                      <m:t>+</m:t>
                    </m:r>
                    <m:r>
                      <a:rPr lang="en-AU" b="0" i="1" smtClean="0">
                        <a:latin typeface="Cambria Math"/>
                      </a:rPr>
                      <m:t>𝑏</m:t>
                    </m:r>
                    <m:r>
                      <a:rPr lang="en-AU" b="0" i="1" smtClean="0">
                        <a:latin typeface="Cambria Math"/>
                      </a:rPr>
                      <m:t>)(</m:t>
                    </m:r>
                    <m:r>
                      <a:rPr lang="en-AU" b="0" i="1" smtClean="0">
                        <a:latin typeface="Cambria Math"/>
                      </a:rPr>
                      <m:t>𝑎</m:t>
                    </m:r>
                    <m:r>
                      <a:rPr lang="en-AU" b="0" i="1" smtClean="0">
                        <a:latin typeface="Cambria Math"/>
                      </a:rPr>
                      <m:t>+</m:t>
                    </m:r>
                    <m:r>
                      <a:rPr lang="en-AU" b="0" i="1" smtClean="0">
                        <a:latin typeface="Cambria Math"/>
                      </a:rPr>
                      <m:t>𝑏</m:t>
                    </m:r>
                    <m:r>
                      <a:rPr lang="en-AU" b="0" i="1" smtClean="0">
                        <a:latin typeface="Cambria Math"/>
                      </a:rPr>
                      <m:t>)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60848"/>
                <a:ext cx="1868845" cy="948978"/>
              </a:xfrm>
              <a:prstGeom prst="rect">
                <a:avLst/>
              </a:prstGeom>
              <a:blipFill rotWithShape="1">
                <a:blip r:embed="rId2"/>
                <a:stretch>
                  <a:fillRect l="-2932" b="-897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34587163"/>
                  </p:ext>
                </p:extLst>
              </p:nvPr>
            </p:nvGraphicFramePr>
            <p:xfrm>
              <a:off x="3432076" y="3140968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𝑎𝑏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𝑎𝑏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34587163"/>
                  </p:ext>
                </p:extLst>
              </p:nvPr>
            </p:nvGraphicFramePr>
            <p:xfrm>
              <a:off x="3432076" y="3140968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8333" r="-201136" b="-2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99435" t="-8333" r="-100000" b="-2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108333" r="-201136" b="-1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99435" t="-108333" r="-100000" b="-1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0568" t="-108333" r="-568" b="-101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208333" r="-201136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99435" t="-208333" r="-100000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0568" t="-208333" r="-568" b="-16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3397977" y="4473116"/>
                <a:ext cx="4572000" cy="66999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i="1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𝑎𝑏</m:t>
                      </m:r>
                      <m:r>
                        <a:rPr lang="en-AU" i="1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𝑎𝑏</m:t>
                      </m:r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p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  <a:p>
                <a:r>
                  <a:rPr lang="en-AU" dirty="0" smtClean="0"/>
                  <a:t>=</a:t>
                </a:r>
                <a:r>
                  <a:rPr lang="en-AU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solidFill>
                          <a:srgbClr val="FF0000"/>
                        </a:solidFill>
                        <a:latin typeface="Cambria Math"/>
                      </a:rPr>
                      <m:t>+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</a:rPr>
                      <m:t>2</m:t>
                    </m:r>
                    <m:r>
                      <a:rPr lang="en-AU" i="1">
                        <a:solidFill>
                          <a:srgbClr val="FF0000"/>
                        </a:solidFill>
                        <a:latin typeface="Cambria Math"/>
                      </a:rPr>
                      <m:t>𝑎𝑏</m:t>
                    </m:r>
                    <m:r>
                      <a:rPr lang="en-AU" i="1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𝑏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7977" y="4473116"/>
                <a:ext cx="4572000" cy="669992"/>
              </a:xfrm>
              <a:prstGeom prst="rect">
                <a:avLst/>
              </a:prstGeom>
              <a:blipFill rotWithShape="1">
                <a:blip r:embed="rId4"/>
                <a:stretch>
                  <a:fillRect l="-1067" b="-10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2387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4832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Expanding Binomial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expand two brackets?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93471" y="2051556"/>
            <a:ext cx="2678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use the table method?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3059832" y="2060848"/>
                <a:ext cx="1868845" cy="9489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Expand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 smtClean="0">
                            <a:latin typeface="Cambria Math"/>
                          </a:rPr>
                          <m:t> </m:t>
                        </m:r>
                        <m:r>
                          <a:rPr lang="en-AU" i="1">
                            <a:latin typeface="Cambria Math"/>
                          </a:rPr>
                          <m:t>(</m:t>
                        </m:r>
                        <m:r>
                          <a:rPr lang="en-AU" i="1">
                            <a:latin typeface="Cambria Math"/>
                          </a:rPr>
                          <m:t>𝑎</m:t>
                        </m:r>
                        <m:r>
                          <a:rPr lang="en-AU" i="1">
                            <a:latin typeface="Cambria Math"/>
                          </a:rPr>
                          <m:t>+</m:t>
                        </m:r>
                        <m:r>
                          <a:rPr lang="en-AU" i="1">
                            <a:latin typeface="Cambria Math"/>
                          </a:rPr>
                          <m:t>𝑏</m:t>
                        </m:r>
                        <m:r>
                          <a:rPr lang="en-AU" i="1">
                            <a:latin typeface="Cambria Math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AU" dirty="0"/>
                          <m:t> 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b="0" dirty="0" smtClean="0"/>
              </a:p>
              <a:p>
                <a:endParaRPr lang="en-AU" b="0" dirty="0" smtClean="0"/>
              </a:p>
              <a:p>
                <a:r>
                  <a:rPr lang="en-AU" dirty="0" smtClean="0"/>
                  <a:t>=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(</m:t>
                    </m:r>
                    <m:r>
                      <a:rPr lang="en-AU" b="0" i="1" smtClean="0">
                        <a:latin typeface="Cambria Math"/>
                      </a:rPr>
                      <m:t>𝑎</m:t>
                    </m:r>
                    <m:r>
                      <a:rPr lang="en-AU" b="0" i="1" smtClean="0">
                        <a:latin typeface="Cambria Math"/>
                      </a:rPr>
                      <m:t>+</m:t>
                    </m:r>
                    <m:r>
                      <a:rPr lang="en-AU" b="0" i="1" smtClean="0">
                        <a:latin typeface="Cambria Math"/>
                      </a:rPr>
                      <m:t>𝑏</m:t>
                    </m:r>
                    <m:r>
                      <a:rPr lang="en-AU" b="0" i="1" smtClean="0">
                        <a:latin typeface="Cambria Math"/>
                      </a:rPr>
                      <m:t>)(</m:t>
                    </m:r>
                    <m:r>
                      <a:rPr lang="en-AU" b="0" i="1" smtClean="0">
                        <a:latin typeface="Cambria Math"/>
                      </a:rPr>
                      <m:t>𝑎</m:t>
                    </m:r>
                    <m:r>
                      <a:rPr lang="en-AU" b="0" i="1" smtClean="0">
                        <a:latin typeface="Cambria Math"/>
                      </a:rPr>
                      <m:t>+</m:t>
                    </m:r>
                    <m:r>
                      <a:rPr lang="en-AU" b="0" i="1" smtClean="0">
                        <a:latin typeface="Cambria Math"/>
                      </a:rPr>
                      <m:t>𝑏</m:t>
                    </m:r>
                    <m:r>
                      <a:rPr lang="en-AU" b="0" i="1" smtClean="0">
                        <a:latin typeface="Cambria Math"/>
                      </a:rPr>
                      <m:t>)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60848"/>
                <a:ext cx="1868845" cy="948978"/>
              </a:xfrm>
              <a:prstGeom prst="rect">
                <a:avLst/>
              </a:prstGeom>
              <a:blipFill rotWithShape="1">
                <a:blip r:embed="rId2"/>
                <a:stretch>
                  <a:fillRect l="-2932" b="-897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29004939"/>
                  </p:ext>
                </p:extLst>
              </p:nvPr>
            </p:nvGraphicFramePr>
            <p:xfrm>
              <a:off x="3432076" y="3140968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𝑎𝑏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𝑎𝑏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29004939"/>
                  </p:ext>
                </p:extLst>
              </p:nvPr>
            </p:nvGraphicFramePr>
            <p:xfrm>
              <a:off x="3432076" y="3140968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8333" r="-201136" b="-2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99435" t="-8333" r="-100000" b="-2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108333" r="-201136" b="-1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99435" t="-108333" r="-100000" b="-1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0568" t="-108333" r="-568" b="-101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208333" r="-201136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99435" t="-208333" r="-100000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0568" t="-208333" r="-568" b="-16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3049797" y="4293096"/>
                <a:ext cx="4572000" cy="66999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i="1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𝑎𝑏</m:t>
                      </m:r>
                      <m:r>
                        <a:rPr lang="en-AU" i="1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𝑎𝑏</m:t>
                      </m:r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p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  <a:p>
                <a:r>
                  <a:rPr lang="en-AU" dirty="0" smtClean="0"/>
                  <a:t>=</a:t>
                </a:r>
                <a:r>
                  <a:rPr lang="en-AU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solidFill>
                          <a:srgbClr val="FF0000"/>
                        </a:solidFill>
                        <a:latin typeface="Cambria Math"/>
                      </a:rPr>
                      <m:t>+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</a:rPr>
                      <m:t>2</m:t>
                    </m:r>
                    <m:r>
                      <a:rPr lang="en-AU" i="1">
                        <a:solidFill>
                          <a:srgbClr val="FF0000"/>
                        </a:solidFill>
                        <a:latin typeface="Cambria Math"/>
                      </a:rPr>
                      <m:t>𝑎𝑏</m:t>
                    </m:r>
                    <m:r>
                      <a:rPr lang="en-AU" i="1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𝑏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797" y="4293096"/>
                <a:ext cx="4572000" cy="669992"/>
              </a:xfrm>
              <a:prstGeom prst="rect">
                <a:avLst/>
              </a:prstGeom>
              <a:blipFill rotWithShape="1">
                <a:blip r:embed="rId4"/>
                <a:stretch>
                  <a:fillRect l="-1067" b="-10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/>
              <p:cNvSpPr/>
              <p:nvPr/>
            </p:nvSpPr>
            <p:spPr>
              <a:xfrm>
                <a:off x="2999807" y="4963088"/>
                <a:ext cx="238937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 smtClean="0"/>
                  <a:t>Expand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/>
                      </a:rPr>
                      <m:t>(</m:t>
                    </m:r>
                    <m:r>
                      <a:rPr lang="en-AU" i="1">
                        <a:latin typeface="Cambria Math"/>
                      </a:rPr>
                      <m:t>𝑎</m:t>
                    </m:r>
                    <m:r>
                      <a:rPr lang="en-AU" i="1">
                        <a:latin typeface="Cambria Math"/>
                      </a:rPr>
                      <m:t>+</m:t>
                    </m:r>
                    <m:r>
                      <a:rPr lang="en-AU" i="1">
                        <a:latin typeface="Cambria Math"/>
                      </a:rPr>
                      <m:t>𝑏</m:t>
                    </m:r>
                    <m:r>
                      <a:rPr lang="en-AU" i="1">
                        <a:latin typeface="Cambria Math"/>
                      </a:rPr>
                      <m:t>)(</m:t>
                    </m:r>
                    <m:r>
                      <a:rPr lang="en-AU" i="1">
                        <a:latin typeface="Cambria Math"/>
                      </a:rPr>
                      <m:t>𝑎</m:t>
                    </m:r>
                    <m:r>
                      <a:rPr lang="en-AU" b="0" i="1" smtClean="0">
                        <a:latin typeface="Cambria Math"/>
                      </a:rPr>
                      <m:t>−</m:t>
                    </m:r>
                    <m:r>
                      <a:rPr lang="en-AU" i="1">
                        <a:latin typeface="Cambria Math"/>
                      </a:rPr>
                      <m:t>𝑏</m:t>
                    </m:r>
                    <m:r>
                      <a:rPr lang="en-AU" i="1">
                        <a:latin typeface="Cambria Math"/>
                      </a:rPr>
                      <m:t>)</m:t>
                    </m:r>
                  </m:oMath>
                </a14:m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9807" y="4963088"/>
                <a:ext cx="2389372" cy="646331"/>
              </a:xfrm>
              <a:prstGeom prst="rect">
                <a:avLst/>
              </a:prstGeom>
              <a:blipFill rotWithShape="1">
                <a:blip r:embed="rId5"/>
                <a:stretch>
                  <a:fillRect l="-2041" t="-4717" r="-25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4160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4832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Expanding Binomial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expand two brackets?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93471" y="2051556"/>
            <a:ext cx="2678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use the table method?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3059832" y="2060848"/>
                <a:ext cx="1868845" cy="9489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Expand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 smtClean="0">
                            <a:latin typeface="Cambria Math"/>
                          </a:rPr>
                          <m:t> </m:t>
                        </m:r>
                        <m:r>
                          <a:rPr lang="en-AU" i="1">
                            <a:latin typeface="Cambria Math"/>
                          </a:rPr>
                          <m:t>(</m:t>
                        </m:r>
                        <m:r>
                          <a:rPr lang="en-AU" i="1">
                            <a:latin typeface="Cambria Math"/>
                          </a:rPr>
                          <m:t>𝑎</m:t>
                        </m:r>
                        <m:r>
                          <a:rPr lang="en-AU" i="1">
                            <a:latin typeface="Cambria Math"/>
                          </a:rPr>
                          <m:t>+</m:t>
                        </m:r>
                        <m:r>
                          <a:rPr lang="en-AU" i="1">
                            <a:latin typeface="Cambria Math"/>
                          </a:rPr>
                          <m:t>𝑏</m:t>
                        </m:r>
                        <m:r>
                          <a:rPr lang="en-AU" i="1">
                            <a:latin typeface="Cambria Math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AU" dirty="0"/>
                          <m:t> 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b="0" dirty="0" smtClean="0"/>
              </a:p>
              <a:p>
                <a:endParaRPr lang="en-AU" b="0" dirty="0" smtClean="0"/>
              </a:p>
              <a:p>
                <a:r>
                  <a:rPr lang="en-AU" dirty="0" smtClean="0"/>
                  <a:t>=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(</m:t>
                    </m:r>
                    <m:r>
                      <a:rPr lang="en-AU" b="0" i="1" smtClean="0">
                        <a:latin typeface="Cambria Math"/>
                      </a:rPr>
                      <m:t>𝑎</m:t>
                    </m:r>
                    <m:r>
                      <a:rPr lang="en-AU" b="0" i="1" smtClean="0">
                        <a:latin typeface="Cambria Math"/>
                      </a:rPr>
                      <m:t>+</m:t>
                    </m:r>
                    <m:r>
                      <a:rPr lang="en-AU" b="0" i="1" smtClean="0">
                        <a:latin typeface="Cambria Math"/>
                      </a:rPr>
                      <m:t>𝑏</m:t>
                    </m:r>
                    <m:r>
                      <a:rPr lang="en-AU" b="0" i="1" smtClean="0">
                        <a:latin typeface="Cambria Math"/>
                      </a:rPr>
                      <m:t>)(</m:t>
                    </m:r>
                    <m:r>
                      <a:rPr lang="en-AU" b="0" i="1" smtClean="0">
                        <a:latin typeface="Cambria Math"/>
                      </a:rPr>
                      <m:t>𝑎</m:t>
                    </m:r>
                    <m:r>
                      <a:rPr lang="en-AU" b="0" i="1" smtClean="0">
                        <a:latin typeface="Cambria Math"/>
                      </a:rPr>
                      <m:t>+</m:t>
                    </m:r>
                    <m:r>
                      <a:rPr lang="en-AU" b="0" i="1" smtClean="0">
                        <a:latin typeface="Cambria Math"/>
                      </a:rPr>
                      <m:t>𝑏</m:t>
                    </m:r>
                    <m:r>
                      <a:rPr lang="en-AU" b="0" i="1" smtClean="0">
                        <a:latin typeface="Cambria Math"/>
                      </a:rPr>
                      <m:t>)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60848"/>
                <a:ext cx="1868845" cy="948978"/>
              </a:xfrm>
              <a:prstGeom prst="rect">
                <a:avLst/>
              </a:prstGeom>
              <a:blipFill rotWithShape="1">
                <a:blip r:embed="rId2"/>
                <a:stretch>
                  <a:fillRect l="-2932" b="-897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80536788"/>
                  </p:ext>
                </p:extLst>
              </p:nvPr>
            </p:nvGraphicFramePr>
            <p:xfrm>
              <a:off x="3432076" y="3140968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𝑎𝑏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𝑎𝑏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80536788"/>
                  </p:ext>
                </p:extLst>
              </p:nvPr>
            </p:nvGraphicFramePr>
            <p:xfrm>
              <a:off x="3432076" y="3140968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8333" r="-201136" b="-2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99435" t="-8333" r="-100000" b="-2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108333" r="-201136" b="-1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99435" t="-108333" r="-100000" b="-1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0568" t="-108333" r="-568" b="-101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208333" r="-201136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99435" t="-208333" r="-100000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0568" t="-208333" r="-568" b="-16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3049797" y="4293096"/>
                <a:ext cx="4572000" cy="66999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i="1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𝑎𝑏</m:t>
                      </m:r>
                      <m:r>
                        <a:rPr lang="en-AU" i="1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𝑎𝑏</m:t>
                      </m:r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p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  <a:p>
                <a:r>
                  <a:rPr lang="en-AU" dirty="0" smtClean="0"/>
                  <a:t>=</a:t>
                </a:r>
                <a:r>
                  <a:rPr lang="en-AU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solidFill>
                          <a:srgbClr val="FF0000"/>
                        </a:solidFill>
                        <a:latin typeface="Cambria Math"/>
                      </a:rPr>
                      <m:t>+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</a:rPr>
                      <m:t>2</m:t>
                    </m:r>
                    <m:r>
                      <a:rPr lang="en-AU" i="1">
                        <a:solidFill>
                          <a:srgbClr val="FF0000"/>
                        </a:solidFill>
                        <a:latin typeface="Cambria Math"/>
                      </a:rPr>
                      <m:t>𝑎𝑏</m:t>
                    </m:r>
                    <m:r>
                      <a:rPr lang="en-AU" i="1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𝑏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797" y="4293096"/>
                <a:ext cx="4572000" cy="669992"/>
              </a:xfrm>
              <a:prstGeom prst="rect">
                <a:avLst/>
              </a:prstGeom>
              <a:blipFill rotWithShape="1">
                <a:blip r:embed="rId4"/>
                <a:stretch>
                  <a:fillRect l="-1067" b="-10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/>
              <p:cNvSpPr/>
              <p:nvPr/>
            </p:nvSpPr>
            <p:spPr>
              <a:xfrm>
                <a:off x="2999807" y="4963088"/>
                <a:ext cx="238937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 smtClean="0"/>
                  <a:t>Expand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/>
                      </a:rPr>
                      <m:t>(</m:t>
                    </m:r>
                    <m:r>
                      <a:rPr lang="en-AU" i="1">
                        <a:latin typeface="Cambria Math"/>
                      </a:rPr>
                      <m:t>𝑎</m:t>
                    </m:r>
                    <m:r>
                      <a:rPr lang="en-AU" i="1">
                        <a:latin typeface="Cambria Math"/>
                      </a:rPr>
                      <m:t>+</m:t>
                    </m:r>
                    <m:r>
                      <a:rPr lang="en-AU" i="1">
                        <a:latin typeface="Cambria Math"/>
                      </a:rPr>
                      <m:t>𝑏</m:t>
                    </m:r>
                    <m:r>
                      <a:rPr lang="en-AU" i="1">
                        <a:latin typeface="Cambria Math"/>
                      </a:rPr>
                      <m:t>)(</m:t>
                    </m:r>
                    <m:r>
                      <a:rPr lang="en-AU" i="1">
                        <a:latin typeface="Cambria Math"/>
                      </a:rPr>
                      <m:t>𝑎</m:t>
                    </m:r>
                    <m:r>
                      <a:rPr lang="en-AU" b="0" i="1" smtClean="0">
                        <a:latin typeface="Cambria Math"/>
                      </a:rPr>
                      <m:t>−</m:t>
                    </m:r>
                    <m:r>
                      <a:rPr lang="en-AU" i="1">
                        <a:latin typeface="Cambria Math"/>
                      </a:rPr>
                      <m:t>𝑏</m:t>
                    </m:r>
                    <m:r>
                      <a:rPr lang="en-AU" i="1">
                        <a:latin typeface="Cambria Math"/>
                      </a:rPr>
                      <m:t>)</m:t>
                    </m:r>
                  </m:oMath>
                </a14:m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9807" y="4963088"/>
                <a:ext cx="2389372" cy="646331"/>
              </a:xfrm>
              <a:prstGeom prst="rect">
                <a:avLst/>
              </a:prstGeom>
              <a:blipFill rotWithShape="1">
                <a:blip r:embed="rId5"/>
                <a:stretch>
                  <a:fillRect l="-2041" t="-4717" r="-25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" name="Table 1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18141935"/>
                  </p:ext>
                </p:extLst>
              </p:nvPr>
            </p:nvGraphicFramePr>
            <p:xfrm>
              <a:off x="5798489" y="4628092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𝑎𝑏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b="0" dirty="0" smtClean="0">
                              <a:solidFill>
                                <a:srgbClr val="FF0000"/>
                              </a:solidFill>
                            </a:rPr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𝑎𝑏</m:t>
                              </m:r>
                            </m:oMath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4" name="Table 1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18141935"/>
                  </p:ext>
                </p:extLst>
              </p:nvPr>
            </p:nvGraphicFramePr>
            <p:xfrm>
              <a:off x="5798489" y="4628092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t="-8333" r="-201136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99435" t="-8333" r="-100000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t="-108333" r="-201136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99435" t="-108333" r="-100000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200568" t="-108333" r="-568" b="-126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t="-208333" r="-201136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99435" t="-208333" r="-100000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200568" t="-208333" r="-568" b="-266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88322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4832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Expanding Binomial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expand two brackets?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93471" y="2051556"/>
            <a:ext cx="2678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use the table method?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3059832" y="2060848"/>
                <a:ext cx="1868845" cy="9489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Expand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 smtClean="0">
                            <a:latin typeface="Cambria Math"/>
                          </a:rPr>
                          <m:t> </m:t>
                        </m:r>
                        <m:r>
                          <a:rPr lang="en-AU" i="1">
                            <a:latin typeface="Cambria Math"/>
                          </a:rPr>
                          <m:t>(</m:t>
                        </m:r>
                        <m:r>
                          <a:rPr lang="en-AU" i="1">
                            <a:latin typeface="Cambria Math"/>
                          </a:rPr>
                          <m:t>𝑎</m:t>
                        </m:r>
                        <m:r>
                          <a:rPr lang="en-AU" i="1">
                            <a:latin typeface="Cambria Math"/>
                          </a:rPr>
                          <m:t>+</m:t>
                        </m:r>
                        <m:r>
                          <a:rPr lang="en-AU" i="1">
                            <a:latin typeface="Cambria Math"/>
                          </a:rPr>
                          <m:t>𝑏</m:t>
                        </m:r>
                        <m:r>
                          <a:rPr lang="en-AU" i="1">
                            <a:latin typeface="Cambria Math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AU" dirty="0"/>
                          <m:t> 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b="0" dirty="0" smtClean="0"/>
              </a:p>
              <a:p>
                <a:endParaRPr lang="en-AU" b="0" dirty="0" smtClean="0"/>
              </a:p>
              <a:p>
                <a:r>
                  <a:rPr lang="en-AU" dirty="0" smtClean="0"/>
                  <a:t>=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(</m:t>
                    </m:r>
                    <m:r>
                      <a:rPr lang="en-AU" b="0" i="1" smtClean="0">
                        <a:latin typeface="Cambria Math"/>
                      </a:rPr>
                      <m:t>𝑎</m:t>
                    </m:r>
                    <m:r>
                      <a:rPr lang="en-AU" b="0" i="1" smtClean="0">
                        <a:latin typeface="Cambria Math"/>
                      </a:rPr>
                      <m:t>+</m:t>
                    </m:r>
                    <m:r>
                      <a:rPr lang="en-AU" b="0" i="1" smtClean="0">
                        <a:latin typeface="Cambria Math"/>
                      </a:rPr>
                      <m:t>𝑏</m:t>
                    </m:r>
                    <m:r>
                      <a:rPr lang="en-AU" b="0" i="1" smtClean="0">
                        <a:latin typeface="Cambria Math"/>
                      </a:rPr>
                      <m:t>)(</m:t>
                    </m:r>
                    <m:r>
                      <a:rPr lang="en-AU" b="0" i="1" smtClean="0">
                        <a:latin typeface="Cambria Math"/>
                      </a:rPr>
                      <m:t>𝑎</m:t>
                    </m:r>
                    <m:r>
                      <a:rPr lang="en-AU" b="0" i="1" smtClean="0">
                        <a:latin typeface="Cambria Math"/>
                      </a:rPr>
                      <m:t>+</m:t>
                    </m:r>
                    <m:r>
                      <a:rPr lang="en-AU" b="0" i="1" smtClean="0">
                        <a:latin typeface="Cambria Math"/>
                      </a:rPr>
                      <m:t>𝑏</m:t>
                    </m:r>
                    <m:r>
                      <a:rPr lang="en-AU" b="0" i="1" smtClean="0">
                        <a:latin typeface="Cambria Math"/>
                      </a:rPr>
                      <m:t>)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60848"/>
                <a:ext cx="1868845" cy="948978"/>
              </a:xfrm>
              <a:prstGeom prst="rect">
                <a:avLst/>
              </a:prstGeom>
              <a:blipFill rotWithShape="1">
                <a:blip r:embed="rId2"/>
                <a:stretch>
                  <a:fillRect l="-2932" b="-897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93120191"/>
                  </p:ext>
                </p:extLst>
              </p:nvPr>
            </p:nvGraphicFramePr>
            <p:xfrm>
              <a:off x="3432076" y="3140968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𝑎𝑏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𝑎𝑏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93120191"/>
                  </p:ext>
                </p:extLst>
              </p:nvPr>
            </p:nvGraphicFramePr>
            <p:xfrm>
              <a:off x="3432076" y="3140968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8333" r="-201136" b="-2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99435" t="-8333" r="-100000" b="-2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108333" r="-201136" b="-1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99435" t="-108333" r="-100000" b="-1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0568" t="-108333" r="-568" b="-101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208333" r="-201136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99435" t="-208333" r="-100000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0568" t="-208333" r="-568" b="-16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3049797" y="4293096"/>
                <a:ext cx="4572000" cy="66999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i="1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𝑎𝑏</m:t>
                      </m:r>
                      <m:r>
                        <a:rPr lang="en-AU" i="1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𝑎𝑏</m:t>
                      </m:r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p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  <a:p>
                <a:r>
                  <a:rPr lang="en-AU" dirty="0" smtClean="0"/>
                  <a:t>=</a:t>
                </a:r>
                <a:r>
                  <a:rPr lang="en-AU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solidFill>
                          <a:srgbClr val="FF0000"/>
                        </a:solidFill>
                        <a:latin typeface="Cambria Math"/>
                      </a:rPr>
                      <m:t>+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</a:rPr>
                      <m:t>2</m:t>
                    </m:r>
                    <m:r>
                      <a:rPr lang="en-AU" i="1">
                        <a:solidFill>
                          <a:srgbClr val="FF0000"/>
                        </a:solidFill>
                        <a:latin typeface="Cambria Math"/>
                      </a:rPr>
                      <m:t>𝑎𝑏</m:t>
                    </m:r>
                    <m:r>
                      <a:rPr lang="en-AU" i="1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𝑏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797" y="4293096"/>
                <a:ext cx="4572000" cy="669992"/>
              </a:xfrm>
              <a:prstGeom prst="rect">
                <a:avLst/>
              </a:prstGeom>
              <a:blipFill rotWithShape="1">
                <a:blip r:embed="rId4"/>
                <a:stretch>
                  <a:fillRect l="-1067" b="-10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/>
              <p:cNvSpPr/>
              <p:nvPr/>
            </p:nvSpPr>
            <p:spPr>
              <a:xfrm>
                <a:off x="2999807" y="4963088"/>
                <a:ext cx="238937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 smtClean="0"/>
                  <a:t>Expand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/>
                      </a:rPr>
                      <m:t>(</m:t>
                    </m:r>
                    <m:r>
                      <a:rPr lang="en-AU" i="1">
                        <a:latin typeface="Cambria Math"/>
                      </a:rPr>
                      <m:t>𝑎</m:t>
                    </m:r>
                    <m:r>
                      <a:rPr lang="en-AU" i="1">
                        <a:latin typeface="Cambria Math"/>
                      </a:rPr>
                      <m:t>+</m:t>
                    </m:r>
                    <m:r>
                      <a:rPr lang="en-AU" i="1">
                        <a:latin typeface="Cambria Math"/>
                      </a:rPr>
                      <m:t>𝑏</m:t>
                    </m:r>
                    <m:r>
                      <a:rPr lang="en-AU" i="1">
                        <a:latin typeface="Cambria Math"/>
                      </a:rPr>
                      <m:t>)(</m:t>
                    </m:r>
                    <m:r>
                      <a:rPr lang="en-AU" i="1">
                        <a:latin typeface="Cambria Math"/>
                      </a:rPr>
                      <m:t>𝑎</m:t>
                    </m:r>
                    <m:r>
                      <a:rPr lang="en-AU" b="0" i="1" smtClean="0">
                        <a:latin typeface="Cambria Math"/>
                      </a:rPr>
                      <m:t>−</m:t>
                    </m:r>
                    <m:r>
                      <a:rPr lang="en-AU" i="1">
                        <a:latin typeface="Cambria Math"/>
                      </a:rPr>
                      <m:t>𝑏</m:t>
                    </m:r>
                    <m:r>
                      <a:rPr lang="en-AU" i="1">
                        <a:latin typeface="Cambria Math"/>
                      </a:rPr>
                      <m:t>)</m:t>
                    </m:r>
                  </m:oMath>
                </a14:m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9807" y="4963088"/>
                <a:ext cx="2389372" cy="646331"/>
              </a:xfrm>
              <a:prstGeom prst="rect">
                <a:avLst/>
              </a:prstGeom>
              <a:blipFill rotWithShape="1">
                <a:blip r:embed="rId5"/>
                <a:stretch>
                  <a:fillRect l="-2041" t="-4717" r="-25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" name="Table 1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71349100"/>
                  </p:ext>
                </p:extLst>
              </p:nvPr>
            </p:nvGraphicFramePr>
            <p:xfrm>
              <a:off x="5798489" y="4628092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𝑎𝑏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b="0" dirty="0" smtClean="0">
                              <a:solidFill>
                                <a:srgbClr val="FF0000"/>
                              </a:solidFill>
                            </a:rPr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𝑎𝑏</m:t>
                              </m:r>
                            </m:oMath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4" name="Table 1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71349100"/>
                  </p:ext>
                </p:extLst>
              </p:nvPr>
            </p:nvGraphicFramePr>
            <p:xfrm>
              <a:off x="5798489" y="4628092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t="-8333" r="-201136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99435" t="-8333" r="-100000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t="-108333" r="-201136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99435" t="-108333" r="-100000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200568" t="-108333" r="-568" b="-126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t="-208333" r="-201136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99435" t="-208333" r="-100000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200568" t="-208333" r="-568" b="-266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ectangle 14"/>
              <p:cNvSpPr/>
              <p:nvPr/>
            </p:nvSpPr>
            <p:spPr>
              <a:xfrm>
                <a:off x="3033773" y="5877272"/>
                <a:ext cx="4572000" cy="66999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i="1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𝑎𝑏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−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𝑎𝑏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p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  <a:p>
                <a:r>
                  <a:rPr lang="en-AU" dirty="0" smtClean="0"/>
                  <a:t>=</a:t>
                </a:r>
                <a:r>
                  <a:rPr lang="en-AU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−</m:t>
                    </m:r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𝑏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/>
                  <a:t>  </a:t>
                </a:r>
                <a:endParaRPr lang="en-AU" dirty="0"/>
              </a:p>
            </p:txBody>
          </p:sp>
        </mc:Choice>
        <mc:Fallback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3773" y="5877272"/>
                <a:ext cx="4572000" cy="669992"/>
              </a:xfrm>
              <a:prstGeom prst="rect">
                <a:avLst/>
              </a:prstGeom>
              <a:blipFill rotWithShape="1">
                <a:blip r:embed="rId7"/>
                <a:stretch>
                  <a:fillRect l="-1200" b="-10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3141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4832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Expanding Binomial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expand two brackets?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93471" y="2051556"/>
            <a:ext cx="2678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use the table method?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3059832" y="2060848"/>
                <a:ext cx="1868845" cy="9489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Expand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 smtClean="0">
                            <a:latin typeface="Cambria Math"/>
                          </a:rPr>
                          <m:t> </m:t>
                        </m:r>
                        <m:r>
                          <a:rPr lang="en-AU" i="1">
                            <a:latin typeface="Cambria Math"/>
                          </a:rPr>
                          <m:t>(</m:t>
                        </m:r>
                        <m:r>
                          <a:rPr lang="en-AU" i="1">
                            <a:latin typeface="Cambria Math"/>
                          </a:rPr>
                          <m:t>𝑎</m:t>
                        </m:r>
                        <m:r>
                          <a:rPr lang="en-AU" i="1">
                            <a:latin typeface="Cambria Math"/>
                          </a:rPr>
                          <m:t>+</m:t>
                        </m:r>
                        <m:r>
                          <a:rPr lang="en-AU" i="1">
                            <a:latin typeface="Cambria Math"/>
                          </a:rPr>
                          <m:t>𝑏</m:t>
                        </m:r>
                        <m:r>
                          <a:rPr lang="en-AU" i="1">
                            <a:latin typeface="Cambria Math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AU" dirty="0"/>
                          <m:t> 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b="0" dirty="0" smtClean="0"/>
              </a:p>
              <a:p>
                <a:endParaRPr lang="en-AU" b="0" dirty="0" smtClean="0"/>
              </a:p>
              <a:p>
                <a:r>
                  <a:rPr lang="en-AU" dirty="0" smtClean="0"/>
                  <a:t>=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(</m:t>
                    </m:r>
                    <m:r>
                      <a:rPr lang="en-AU" b="0" i="1" smtClean="0">
                        <a:latin typeface="Cambria Math"/>
                      </a:rPr>
                      <m:t>𝑎</m:t>
                    </m:r>
                    <m:r>
                      <a:rPr lang="en-AU" b="0" i="1" smtClean="0">
                        <a:latin typeface="Cambria Math"/>
                      </a:rPr>
                      <m:t>+</m:t>
                    </m:r>
                    <m:r>
                      <a:rPr lang="en-AU" b="0" i="1" smtClean="0">
                        <a:latin typeface="Cambria Math"/>
                      </a:rPr>
                      <m:t>𝑏</m:t>
                    </m:r>
                    <m:r>
                      <a:rPr lang="en-AU" b="0" i="1" smtClean="0">
                        <a:latin typeface="Cambria Math"/>
                      </a:rPr>
                      <m:t>)(</m:t>
                    </m:r>
                    <m:r>
                      <a:rPr lang="en-AU" b="0" i="1" smtClean="0">
                        <a:latin typeface="Cambria Math"/>
                      </a:rPr>
                      <m:t>𝑎</m:t>
                    </m:r>
                    <m:r>
                      <a:rPr lang="en-AU" b="0" i="1" smtClean="0">
                        <a:latin typeface="Cambria Math"/>
                      </a:rPr>
                      <m:t>+</m:t>
                    </m:r>
                    <m:r>
                      <a:rPr lang="en-AU" b="0" i="1" smtClean="0">
                        <a:latin typeface="Cambria Math"/>
                      </a:rPr>
                      <m:t>𝑏</m:t>
                    </m:r>
                    <m:r>
                      <a:rPr lang="en-AU" b="0" i="1" smtClean="0">
                        <a:latin typeface="Cambria Math"/>
                      </a:rPr>
                      <m:t>)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60848"/>
                <a:ext cx="1868845" cy="948978"/>
              </a:xfrm>
              <a:prstGeom prst="rect">
                <a:avLst/>
              </a:prstGeom>
              <a:blipFill rotWithShape="1">
                <a:blip r:embed="rId2"/>
                <a:stretch>
                  <a:fillRect l="-2932" b="-897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0974256"/>
                  </p:ext>
                </p:extLst>
              </p:nvPr>
            </p:nvGraphicFramePr>
            <p:xfrm>
              <a:off x="3432076" y="3140968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𝑎𝑏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𝑎𝑏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0974256"/>
                  </p:ext>
                </p:extLst>
              </p:nvPr>
            </p:nvGraphicFramePr>
            <p:xfrm>
              <a:off x="3432076" y="3140968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8333" r="-201136" b="-2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99435" t="-8333" r="-100000" b="-2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108333" r="-201136" b="-1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99435" t="-108333" r="-100000" b="-1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0568" t="-108333" r="-568" b="-101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208333" r="-201136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99435" t="-208333" r="-100000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0568" t="-208333" r="-568" b="-16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3049797" y="4293096"/>
                <a:ext cx="4572000" cy="66999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i="1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𝑎𝑏</m:t>
                      </m:r>
                      <m:r>
                        <a:rPr lang="en-AU" i="1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𝑎𝑏</m:t>
                      </m:r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p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  <a:p>
                <a:r>
                  <a:rPr lang="en-AU" dirty="0" smtClean="0"/>
                  <a:t>=</a:t>
                </a:r>
                <a:r>
                  <a:rPr lang="en-AU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solidFill>
                          <a:srgbClr val="FF0000"/>
                        </a:solidFill>
                        <a:latin typeface="Cambria Math"/>
                      </a:rPr>
                      <m:t>+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</a:rPr>
                      <m:t>2</m:t>
                    </m:r>
                    <m:r>
                      <a:rPr lang="en-AU" i="1">
                        <a:solidFill>
                          <a:srgbClr val="FF0000"/>
                        </a:solidFill>
                        <a:latin typeface="Cambria Math"/>
                      </a:rPr>
                      <m:t>𝑎𝑏</m:t>
                    </m:r>
                    <m:r>
                      <a:rPr lang="en-AU" i="1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𝑏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797" y="4293096"/>
                <a:ext cx="4572000" cy="669992"/>
              </a:xfrm>
              <a:prstGeom prst="rect">
                <a:avLst/>
              </a:prstGeom>
              <a:blipFill rotWithShape="1">
                <a:blip r:embed="rId4"/>
                <a:stretch>
                  <a:fillRect l="-1067" b="-10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/>
              <p:cNvSpPr/>
              <p:nvPr/>
            </p:nvSpPr>
            <p:spPr>
              <a:xfrm>
                <a:off x="2999807" y="4963088"/>
                <a:ext cx="238937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 smtClean="0"/>
                  <a:t>Expand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/>
                      </a:rPr>
                      <m:t>(</m:t>
                    </m:r>
                    <m:r>
                      <a:rPr lang="en-AU" i="1">
                        <a:latin typeface="Cambria Math"/>
                      </a:rPr>
                      <m:t>𝑎</m:t>
                    </m:r>
                    <m:r>
                      <a:rPr lang="en-AU" i="1">
                        <a:latin typeface="Cambria Math"/>
                      </a:rPr>
                      <m:t>+</m:t>
                    </m:r>
                    <m:r>
                      <a:rPr lang="en-AU" i="1">
                        <a:latin typeface="Cambria Math"/>
                      </a:rPr>
                      <m:t>𝑏</m:t>
                    </m:r>
                    <m:r>
                      <a:rPr lang="en-AU" i="1">
                        <a:latin typeface="Cambria Math"/>
                      </a:rPr>
                      <m:t>)(</m:t>
                    </m:r>
                    <m:r>
                      <a:rPr lang="en-AU" i="1">
                        <a:latin typeface="Cambria Math"/>
                      </a:rPr>
                      <m:t>𝑎</m:t>
                    </m:r>
                    <m:r>
                      <a:rPr lang="en-AU" b="0" i="1" smtClean="0">
                        <a:latin typeface="Cambria Math"/>
                      </a:rPr>
                      <m:t>−</m:t>
                    </m:r>
                    <m:r>
                      <a:rPr lang="en-AU" i="1">
                        <a:latin typeface="Cambria Math"/>
                      </a:rPr>
                      <m:t>𝑏</m:t>
                    </m:r>
                    <m:r>
                      <a:rPr lang="en-AU" i="1">
                        <a:latin typeface="Cambria Math"/>
                      </a:rPr>
                      <m:t>)</m:t>
                    </m:r>
                  </m:oMath>
                </a14:m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9807" y="4963088"/>
                <a:ext cx="2389372" cy="646331"/>
              </a:xfrm>
              <a:prstGeom prst="rect">
                <a:avLst/>
              </a:prstGeom>
              <a:blipFill rotWithShape="1">
                <a:blip r:embed="rId5"/>
                <a:stretch>
                  <a:fillRect l="-2041" t="-4717" r="-25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" name="Table 1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4185226"/>
                  </p:ext>
                </p:extLst>
              </p:nvPr>
            </p:nvGraphicFramePr>
            <p:xfrm>
              <a:off x="5798489" y="4628092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2469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𝑎𝑏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46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b="0" dirty="0" smtClean="0">
                              <a:solidFill>
                                <a:srgbClr val="FF0000"/>
                              </a:solidFill>
                            </a:rPr>
                            <a:t>-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𝑎𝑏</m:t>
                              </m:r>
                            </m:oMath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4" name="Table 1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4185226"/>
                  </p:ext>
                </p:extLst>
              </p:nvPr>
            </p:nvGraphicFramePr>
            <p:xfrm>
              <a:off x="5798489" y="4628092"/>
              <a:ext cx="3224862" cy="1097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954"/>
                    <a:gridCol w="1074954"/>
                    <a:gridCol w="1074954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t="-8333" r="-201136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99435" t="-8333" r="-100000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t="-108333" r="-201136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99435" t="-108333" r="-100000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200568" t="-108333" r="-568" b="-126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t="-208333" r="-201136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99435" t="-208333" r="-100000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200568" t="-208333" r="-568" b="-266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ectangle 14"/>
              <p:cNvSpPr/>
              <p:nvPr/>
            </p:nvSpPr>
            <p:spPr>
              <a:xfrm>
                <a:off x="3033773" y="5877272"/>
                <a:ext cx="4572000" cy="92333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i="1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𝑎𝑏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−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𝑎𝑏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p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  <a:p>
                <a:r>
                  <a:rPr lang="en-AU" dirty="0" smtClean="0"/>
                  <a:t>=</a:t>
                </a:r>
                <a:r>
                  <a:rPr lang="en-AU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−</m:t>
                    </m:r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𝑏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/>
                  <a:t>  </a:t>
                </a:r>
              </a:p>
              <a:p>
                <a:r>
                  <a:rPr lang="en-AU" dirty="0" smtClean="0"/>
                  <a:t>The difference of two squares.</a:t>
                </a:r>
                <a:endParaRPr lang="en-AU" dirty="0"/>
              </a:p>
            </p:txBody>
          </p:sp>
        </mc:Choice>
        <mc:Fallback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3773" y="5877272"/>
                <a:ext cx="4572000" cy="923330"/>
              </a:xfrm>
              <a:prstGeom prst="rect">
                <a:avLst/>
              </a:prstGeom>
              <a:blipFill rotWithShape="1">
                <a:blip r:embed="rId7"/>
                <a:stretch>
                  <a:fillRect l="-1200" b="-92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8190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5508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1849</TotalTime>
  <Words>876</Words>
  <Application>Microsoft Office PowerPoint</Application>
  <PresentationFormat>On-screen Show (4:3)</PresentationFormat>
  <Paragraphs>227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My Algebra  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73</cp:revision>
  <dcterms:created xsi:type="dcterms:W3CDTF">2014-05-14T02:58:57Z</dcterms:created>
  <dcterms:modified xsi:type="dcterms:W3CDTF">2015-05-19T01:31:47Z</dcterms:modified>
</cp:coreProperties>
</file>
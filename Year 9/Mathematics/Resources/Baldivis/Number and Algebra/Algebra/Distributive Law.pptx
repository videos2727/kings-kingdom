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1"/>
  </p:notesMasterIdLst>
  <p:sldIdLst>
    <p:sldId id="307" r:id="rId4"/>
    <p:sldId id="278" r:id="rId5"/>
    <p:sldId id="308" r:id="rId6"/>
    <p:sldId id="316" r:id="rId7"/>
    <p:sldId id="317" r:id="rId8"/>
    <p:sldId id="315" r:id="rId9"/>
    <p:sldId id="30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660"/>
  </p:normalViewPr>
  <p:slideViewPr>
    <p:cSldViewPr snapToGrid="0">
      <p:cViewPr>
        <p:scale>
          <a:sx n="70" d="100"/>
          <a:sy n="70" d="100"/>
        </p:scale>
        <p:origin x="48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16/02/2016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3884545" y="8684973"/>
            <a:ext cx="2971853" cy="45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575F1281-AA51-493F-9688-BBBC865E690C}" type="slidenum">
              <a:rPr lang="en-US" sz="1200" smtClean="0">
                <a:solidFill>
                  <a:srgbClr val="000000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sz="1200" smtClean="0">
              <a:solidFill>
                <a:srgbClr val="000000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 txBox="1">
            <a:spLocks noGrp="1" noChangeArrowheads="1"/>
          </p:cNvSpPr>
          <p:nvPr/>
        </p:nvSpPr>
        <p:spPr bwMode="auto">
          <a:xfrm>
            <a:off x="3884545" y="8684973"/>
            <a:ext cx="2971853" cy="45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fld id="{4BBE5930-6A3E-423D-9FAF-BF2AC66F49A7}" type="slidenum">
              <a:rPr lang="en-US" sz="1200" smtClean="0">
                <a:solidFill>
                  <a:srgbClr val="000000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z="1200" smtClean="0">
              <a:solidFill>
                <a:srgbClr val="000000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3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F3DEC-B3AB-4E29-B606-5AE532957E2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547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1098E-9A78-42C9-B6CD-AD7F5A2D337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272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21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6F70D-E0A3-47E5-B0C7-7FD6679019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274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D2D60-D47E-421C-84E2-B81B2080D7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298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4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4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995D4-4116-4FF4-AF68-CF70B889109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484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EB1E7-33FF-4BAE-83FF-70062988334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107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E4806A-EBE7-4A19-A4AF-9854955257E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52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7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9" y="273058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7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A7376-892B-443D-9D66-3D8E5C2B03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197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C28D5-C80D-444E-8F62-DBB67DA6965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519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B4ACD-AFB0-42DA-8928-E36F60F7815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54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6174C-EAFA-44E0-A0ED-67BA542FF3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7080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F3DEC-B3AB-4E29-B606-5AE532957E2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048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1098E-9A78-42C9-B6CD-AD7F5A2D337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119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7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6F70D-E0A3-47E5-B0C7-7FD6679019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282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D2D60-D47E-421C-84E2-B81B2080D7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170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4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4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995D4-4116-4FF4-AF68-CF70B889109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6074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EB1E7-33FF-4BAE-83FF-70062988334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0801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E4806A-EBE7-4A19-A4AF-9854955257E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4982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8" y="273054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A7376-892B-443D-9D66-3D8E5C2B03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2340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C28D5-C80D-444E-8F62-DBB67DA6965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5836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B4ACD-AFB0-42DA-8928-E36F60F7815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2733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6174C-EAFA-44E0-A0ED-67BA542FF39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27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16/02/2016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5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75CF7B-0505-4736-BBE8-89565890043A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0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E75CF7B-0505-4736-BBE8-89565890043A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79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9933" y="968995"/>
            <a:ext cx="8106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 smtClean="0"/>
              <a:t>Topic: Distributive Law</a:t>
            </a:r>
            <a:endParaRPr lang="en-AU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504199" y="2921422"/>
            <a:ext cx="103048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>
                <a:solidFill>
                  <a:prstClr val="black"/>
                </a:solidFill>
              </a:rPr>
              <a:t>EQ </a:t>
            </a:r>
            <a:r>
              <a:rPr lang="en-AU" sz="6000" dirty="0" smtClean="0">
                <a:solidFill>
                  <a:prstClr val="black"/>
                </a:solidFill>
              </a:rPr>
              <a:t>: How do I expand brackets?</a:t>
            </a:r>
            <a:endParaRPr lang="en-AU" sz="6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33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7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Distributive Law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1" y="1065329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expand brackets?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4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9"/>
            <a:ext cx="8715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r>
              <a:rPr lang="en-AU" sz="2400" dirty="0" smtClean="0">
                <a:solidFill>
                  <a:prstClr val="black"/>
                </a:solidFill>
              </a:rPr>
              <a:t>The distributive law is expanding brackets.</a:t>
            </a:r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2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230577" y="3575717"/>
            <a:ext cx="84335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expand the brackets, you need to multiply the part outside the brackets by every part inside the brackets</a:t>
            </a:r>
            <a:endParaRPr lang="en-AU" b="0" i="1" dirty="0" smtClean="0">
              <a:latin typeface="Cambria Math"/>
            </a:endParaRPr>
          </a:p>
          <a:p>
            <a:endParaRPr lang="en-AU" i="1" dirty="0">
              <a:latin typeface="Cambria Math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302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6" name="Text Box 40"/>
          <p:cNvSpPr txBox="1">
            <a:spLocks noChangeArrowheads="1"/>
          </p:cNvSpPr>
          <p:nvPr/>
        </p:nvSpPr>
        <p:spPr bwMode="auto">
          <a:xfrm>
            <a:off x="0" y="73900"/>
            <a:ext cx="288078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GB" sz="2800" b="1" u="sng" dirty="0" smtClean="0">
                <a:solidFill>
                  <a:srgbClr val="FF0000"/>
                </a:solidFill>
              </a:rPr>
              <a:t>EXAMPLES</a:t>
            </a:r>
            <a:endParaRPr lang="en-US" sz="2800" b="1" u="sng" dirty="0" smtClean="0">
              <a:solidFill>
                <a:srgbClr val="FF0000"/>
              </a:solidFill>
            </a:endParaRPr>
          </a:p>
        </p:txBody>
      </p:sp>
      <p:sp>
        <p:nvSpPr>
          <p:cNvPr id="46108" name="TextBox 2"/>
          <p:cNvSpPr txBox="1">
            <a:spLocks noChangeArrowheads="1"/>
          </p:cNvSpPr>
          <p:nvPr/>
        </p:nvSpPr>
        <p:spPr bwMode="auto">
          <a:xfrm>
            <a:off x="6351" y="612055"/>
            <a:ext cx="700828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 b="1" smtClean="0">
                <a:solidFill>
                  <a:srgbClr val="FF0000"/>
                </a:solidFill>
              </a:rPr>
              <a:t>1) </a:t>
            </a:r>
            <a:r>
              <a:rPr lang="en-US" sz="2400" smtClean="0">
                <a:solidFill>
                  <a:srgbClr val="000000"/>
                </a:solidFill>
              </a:rPr>
              <a:t>Expand the following brackets:</a:t>
            </a:r>
          </a:p>
        </p:txBody>
      </p:sp>
      <p:grpSp>
        <p:nvGrpSpPr>
          <p:cNvPr id="46109" name="Group 5"/>
          <p:cNvGrpSpPr>
            <a:grpSpLocks/>
          </p:cNvGrpSpPr>
          <p:nvPr/>
        </p:nvGrpSpPr>
        <p:grpSpPr bwMode="auto">
          <a:xfrm>
            <a:off x="-14069" y="1374621"/>
            <a:ext cx="3464984" cy="522287"/>
            <a:chOff x="35496" y="2564904"/>
            <a:chExt cx="2597770" cy="522978"/>
          </a:xfrm>
        </p:grpSpPr>
        <p:sp>
          <p:nvSpPr>
            <p:cNvPr id="46195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solidFill>
                    <a:srgbClr val="FF0000"/>
                  </a:solidFill>
                </a:rPr>
                <a:t>(a) </a:t>
              </a:r>
            </a:p>
          </p:txBody>
        </p:sp>
        <p:sp>
          <p:nvSpPr>
            <p:cNvPr id="46196" name="TextBox 3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 smtClean="0">
                  <a:solidFill>
                    <a:srgbClr val="000000"/>
                  </a:solidFill>
                </a:rPr>
                <a:t> 6(a + b) </a:t>
              </a:r>
            </a:p>
          </p:txBody>
        </p:sp>
      </p:grpSp>
      <p:grpSp>
        <p:nvGrpSpPr>
          <p:cNvPr id="46111" name="Group 33"/>
          <p:cNvGrpSpPr>
            <a:grpSpLocks/>
          </p:cNvGrpSpPr>
          <p:nvPr/>
        </p:nvGrpSpPr>
        <p:grpSpPr bwMode="auto">
          <a:xfrm>
            <a:off x="6258989" y="1351032"/>
            <a:ext cx="4250267" cy="552451"/>
            <a:chOff x="35496" y="2564903"/>
            <a:chExt cx="2523090" cy="552113"/>
          </a:xfrm>
        </p:grpSpPr>
        <p:sp>
          <p:nvSpPr>
            <p:cNvPr id="46191" name="TextBox 41"/>
            <p:cNvSpPr txBox="1">
              <a:spLocks noChangeArrowheads="1"/>
            </p:cNvSpPr>
            <p:nvPr/>
          </p:nvSpPr>
          <p:spPr bwMode="auto">
            <a:xfrm>
              <a:off x="35496" y="2564903"/>
              <a:ext cx="642332" cy="52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solidFill>
                    <a:srgbClr val="FF0000"/>
                  </a:solidFill>
                </a:rPr>
                <a:t>(b) </a:t>
              </a:r>
              <a:endParaRPr lang="en-US" sz="2800" b="1" dirty="0" smtClean="0">
                <a:solidFill>
                  <a:srgbClr val="FF0000"/>
                </a:solidFill>
              </a:endParaRPr>
            </a:p>
          </p:txBody>
        </p:sp>
        <p:sp>
          <p:nvSpPr>
            <p:cNvPr id="46192" name="TextBox 35"/>
            <p:cNvSpPr txBox="1">
              <a:spLocks noChangeArrowheads="1"/>
            </p:cNvSpPr>
            <p:nvPr/>
          </p:nvSpPr>
          <p:spPr bwMode="auto">
            <a:xfrm>
              <a:off x="392864" y="2594604"/>
              <a:ext cx="2165722" cy="52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smtClean="0">
                  <a:solidFill>
                    <a:srgbClr val="000000"/>
                  </a:solidFill>
                </a:rPr>
                <a:t> p(3q + 7)</a:t>
              </a:r>
            </a:p>
          </p:txBody>
        </p:sp>
      </p:grp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27748" y="1903258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grpSp>
        <p:nvGrpSpPr>
          <p:cNvPr id="46113" name="Group 5"/>
          <p:cNvGrpSpPr>
            <a:grpSpLocks/>
          </p:cNvGrpSpPr>
          <p:nvPr/>
        </p:nvGrpSpPr>
        <p:grpSpPr bwMode="auto">
          <a:xfrm>
            <a:off x="-67733" y="3384550"/>
            <a:ext cx="3464984" cy="523875"/>
            <a:chOff x="35496" y="2564904"/>
            <a:chExt cx="2597770" cy="522978"/>
          </a:xfrm>
        </p:grpSpPr>
        <p:sp>
          <p:nvSpPr>
            <p:cNvPr id="46189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solidFill>
                    <a:srgbClr val="FF0000"/>
                  </a:solidFill>
                </a:rPr>
                <a:t>(c) </a:t>
              </a:r>
              <a:endParaRPr lang="en-US" sz="2800" b="1" dirty="0" smtClean="0">
                <a:solidFill>
                  <a:srgbClr val="FF0000"/>
                </a:solidFill>
              </a:endParaRPr>
            </a:p>
          </p:txBody>
        </p:sp>
        <p:sp>
          <p:nvSpPr>
            <p:cNvPr id="46190" name="TextBox 3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smtClean="0">
                  <a:solidFill>
                    <a:srgbClr val="000000"/>
                  </a:solidFill>
                </a:rPr>
                <a:t> -3(x + y) </a:t>
              </a:r>
            </a:p>
          </p:txBody>
        </p:sp>
      </p:grpSp>
      <p:grpSp>
        <p:nvGrpSpPr>
          <p:cNvPr id="46114" name="Group 30"/>
          <p:cNvGrpSpPr>
            <a:grpSpLocks/>
          </p:cNvGrpSpPr>
          <p:nvPr/>
        </p:nvGrpSpPr>
        <p:grpSpPr bwMode="auto">
          <a:xfrm>
            <a:off x="6483896" y="3352800"/>
            <a:ext cx="3462867" cy="523875"/>
            <a:chOff x="35496" y="2564904"/>
            <a:chExt cx="2597770" cy="522976"/>
          </a:xfrm>
        </p:grpSpPr>
        <p:sp>
          <p:nvSpPr>
            <p:cNvPr id="46187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solidFill>
                    <a:srgbClr val="FF0000"/>
                  </a:solidFill>
                </a:rPr>
                <a:t>(e) </a:t>
              </a:r>
            </a:p>
          </p:txBody>
        </p:sp>
        <p:sp>
          <p:nvSpPr>
            <p:cNvPr id="46188" name="TextBox 32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 smtClean="0">
                  <a:solidFill>
                    <a:srgbClr val="000000"/>
                  </a:solidFill>
                </a:rPr>
                <a:t> -(4x – 9)</a:t>
              </a:r>
            </a:p>
          </p:txBody>
        </p:sp>
      </p:grpSp>
      <p:grpSp>
        <p:nvGrpSpPr>
          <p:cNvPr id="46116" name="Group 5"/>
          <p:cNvGrpSpPr>
            <a:grpSpLocks/>
          </p:cNvGrpSpPr>
          <p:nvPr/>
        </p:nvGrpSpPr>
        <p:grpSpPr bwMode="auto">
          <a:xfrm>
            <a:off x="-69850" y="4733932"/>
            <a:ext cx="4809068" cy="549275"/>
            <a:chOff x="35496" y="2564904"/>
            <a:chExt cx="2549526" cy="550261"/>
          </a:xfrm>
        </p:grpSpPr>
        <p:sp>
          <p:nvSpPr>
            <p:cNvPr id="46183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solidFill>
                    <a:srgbClr val="FF0000"/>
                  </a:solidFill>
                </a:rPr>
                <a:t>(g) </a:t>
              </a:r>
            </a:p>
          </p:txBody>
        </p:sp>
        <p:sp>
          <p:nvSpPr>
            <p:cNvPr id="46184" name="TextBox 3"/>
            <p:cNvSpPr txBox="1">
              <a:spLocks noChangeArrowheads="1"/>
            </p:cNvSpPr>
            <p:nvPr/>
          </p:nvSpPr>
          <p:spPr bwMode="auto">
            <a:xfrm>
              <a:off x="419300" y="2592187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smtClean="0">
                  <a:solidFill>
                    <a:srgbClr val="000000"/>
                  </a:solidFill>
                </a:rPr>
                <a:t>5w + 3(w – 4m) </a:t>
              </a:r>
            </a:p>
          </p:txBody>
        </p:sp>
      </p:grpSp>
      <p:grpSp>
        <p:nvGrpSpPr>
          <p:cNvPr id="46117" name="Group 5"/>
          <p:cNvGrpSpPr>
            <a:grpSpLocks/>
          </p:cNvGrpSpPr>
          <p:nvPr/>
        </p:nvGrpSpPr>
        <p:grpSpPr bwMode="auto">
          <a:xfrm>
            <a:off x="5416552" y="4751395"/>
            <a:ext cx="4806949" cy="549275"/>
            <a:chOff x="35496" y="2564904"/>
            <a:chExt cx="2549526" cy="550261"/>
          </a:xfrm>
        </p:grpSpPr>
        <p:sp>
          <p:nvSpPr>
            <p:cNvPr id="46181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solidFill>
                    <a:srgbClr val="FF0000"/>
                  </a:solidFill>
                </a:rPr>
                <a:t>(h) </a:t>
              </a:r>
            </a:p>
          </p:txBody>
        </p:sp>
        <p:sp>
          <p:nvSpPr>
            <p:cNvPr id="46182" name="TextBox 3"/>
            <p:cNvSpPr txBox="1">
              <a:spLocks noChangeArrowheads="1"/>
            </p:cNvSpPr>
            <p:nvPr/>
          </p:nvSpPr>
          <p:spPr bwMode="auto">
            <a:xfrm>
              <a:off x="419300" y="2592187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sz="2800" smtClean="0">
                  <a:solidFill>
                    <a:srgbClr val="000000"/>
                  </a:solidFill>
                </a:rPr>
                <a:t>2(3m – 4n) – 7n </a:t>
              </a:r>
            </a:p>
          </p:txBody>
        </p:sp>
      </p:grpSp>
      <p:sp>
        <p:nvSpPr>
          <p:cNvPr id="2" name="Curved Down Arrow 1"/>
          <p:cNvSpPr/>
          <p:nvPr/>
        </p:nvSpPr>
        <p:spPr>
          <a:xfrm>
            <a:off x="879170" y="1293651"/>
            <a:ext cx="352233" cy="1603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95" name="TextBox 94"/>
          <p:cNvSpPr txBox="1">
            <a:spLocks noChangeArrowheads="1"/>
          </p:cNvSpPr>
          <p:nvPr/>
        </p:nvSpPr>
        <p:spPr bwMode="auto">
          <a:xfrm>
            <a:off x="699249" y="1841346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6a</a:t>
            </a:r>
          </a:p>
        </p:txBody>
      </p:sp>
      <p:sp>
        <p:nvSpPr>
          <p:cNvPr id="96" name="Curved Down Arrow 95"/>
          <p:cNvSpPr/>
          <p:nvPr/>
        </p:nvSpPr>
        <p:spPr>
          <a:xfrm>
            <a:off x="938438" y="1234921"/>
            <a:ext cx="851850" cy="23018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97" name="TextBox 96"/>
          <p:cNvSpPr txBox="1">
            <a:spLocks noChangeArrowheads="1"/>
          </p:cNvSpPr>
          <p:nvPr/>
        </p:nvSpPr>
        <p:spPr bwMode="auto">
          <a:xfrm>
            <a:off x="1325786" y="1881026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98" name="TextBox 97"/>
          <p:cNvSpPr txBox="1">
            <a:spLocks noChangeArrowheads="1"/>
          </p:cNvSpPr>
          <p:nvPr/>
        </p:nvSpPr>
        <p:spPr bwMode="auto">
          <a:xfrm>
            <a:off x="1736417" y="1854046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dirty="0" smtClean="0">
                <a:solidFill>
                  <a:srgbClr val="FF0000"/>
                </a:solidFill>
              </a:rPr>
              <a:t>6b</a:t>
            </a:r>
          </a:p>
        </p:txBody>
      </p:sp>
      <p:sp>
        <p:nvSpPr>
          <p:cNvPr id="105" name="TextBox 104"/>
          <p:cNvSpPr txBox="1">
            <a:spLocks noChangeArrowheads="1"/>
          </p:cNvSpPr>
          <p:nvPr/>
        </p:nvSpPr>
        <p:spPr bwMode="auto">
          <a:xfrm>
            <a:off x="6462188" y="1878090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06" name="Curved Down Arrow 105"/>
          <p:cNvSpPr/>
          <p:nvPr/>
        </p:nvSpPr>
        <p:spPr>
          <a:xfrm>
            <a:off x="7213605" y="1311345"/>
            <a:ext cx="481545" cy="1857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7033693" y="1816177"/>
            <a:ext cx="117263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3pq</a:t>
            </a:r>
          </a:p>
        </p:txBody>
      </p:sp>
      <p:sp>
        <p:nvSpPr>
          <p:cNvPr id="108" name="Curved Down Arrow 107"/>
          <p:cNvSpPr/>
          <p:nvPr/>
        </p:nvSpPr>
        <p:spPr>
          <a:xfrm>
            <a:off x="7224189" y="1201808"/>
            <a:ext cx="1176869" cy="24447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7962909" y="1857445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8375657" y="1830465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7p</a:t>
            </a: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241300" y="3897318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12" name="Curved Down Arrow 111"/>
          <p:cNvSpPr/>
          <p:nvPr/>
        </p:nvSpPr>
        <p:spPr>
          <a:xfrm>
            <a:off x="992722" y="3287718"/>
            <a:ext cx="281993" cy="17144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812801" y="3835398"/>
            <a:ext cx="1187451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-3x</a:t>
            </a:r>
          </a:p>
        </p:txBody>
      </p:sp>
      <p:sp>
        <p:nvSpPr>
          <p:cNvPr id="114" name="Curved Down Arrow 113"/>
          <p:cNvSpPr/>
          <p:nvPr/>
        </p:nvSpPr>
        <p:spPr>
          <a:xfrm>
            <a:off x="1051989" y="3228973"/>
            <a:ext cx="783167" cy="18018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15" name="TextBox 114"/>
          <p:cNvSpPr txBox="1">
            <a:spLocks noChangeArrowheads="1"/>
          </p:cNvSpPr>
          <p:nvPr/>
        </p:nvSpPr>
        <p:spPr bwMode="auto">
          <a:xfrm>
            <a:off x="1625605" y="3822698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16" name="TextBox 115"/>
          <p:cNvSpPr txBox="1">
            <a:spLocks noChangeArrowheads="1"/>
          </p:cNvSpPr>
          <p:nvPr/>
        </p:nvSpPr>
        <p:spPr bwMode="auto">
          <a:xfrm>
            <a:off x="1930401" y="3848098"/>
            <a:ext cx="8720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3y</a:t>
            </a:r>
          </a:p>
        </p:txBody>
      </p:sp>
      <p:sp>
        <p:nvSpPr>
          <p:cNvPr id="117" name="TextBox 116"/>
          <p:cNvSpPr txBox="1">
            <a:spLocks noChangeArrowheads="1"/>
          </p:cNvSpPr>
          <p:nvPr/>
        </p:nvSpPr>
        <p:spPr bwMode="auto">
          <a:xfrm>
            <a:off x="6663815" y="3865568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18" name="Curved Down Arrow 117"/>
          <p:cNvSpPr/>
          <p:nvPr/>
        </p:nvSpPr>
        <p:spPr>
          <a:xfrm>
            <a:off x="7432168" y="3129182"/>
            <a:ext cx="337607" cy="169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>
            <a:off x="7235312" y="3803648"/>
            <a:ext cx="103928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-4x</a:t>
            </a:r>
          </a:p>
        </p:txBody>
      </p:sp>
      <p:sp>
        <p:nvSpPr>
          <p:cNvPr id="120" name="Curved Down Arrow 119"/>
          <p:cNvSpPr/>
          <p:nvPr/>
        </p:nvSpPr>
        <p:spPr>
          <a:xfrm>
            <a:off x="7432168" y="3197223"/>
            <a:ext cx="1035142" cy="23018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21" name="TextBox 120"/>
          <p:cNvSpPr txBox="1">
            <a:spLocks noChangeArrowheads="1"/>
          </p:cNvSpPr>
          <p:nvPr/>
        </p:nvSpPr>
        <p:spPr bwMode="auto">
          <a:xfrm>
            <a:off x="8050230" y="3844923"/>
            <a:ext cx="683684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22" name="TextBox 121"/>
          <p:cNvSpPr txBox="1">
            <a:spLocks noChangeArrowheads="1"/>
          </p:cNvSpPr>
          <p:nvPr/>
        </p:nvSpPr>
        <p:spPr bwMode="auto">
          <a:xfrm>
            <a:off x="8462980" y="3817943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29" name="TextBox 128"/>
          <p:cNvSpPr txBox="1">
            <a:spLocks noChangeArrowheads="1"/>
          </p:cNvSpPr>
          <p:nvPr/>
        </p:nvSpPr>
        <p:spPr bwMode="auto">
          <a:xfrm>
            <a:off x="258236" y="5232407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30" name="TextBox 129"/>
          <p:cNvSpPr txBox="1">
            <a:spLocks noChangeArrowheads="1"/>
          </p:cNvSpPr>
          <p:nvPr/>
        </p:nvSpPr>
        <p:spPr bwMode="auto">
          <a:xfrm>
            <a:off x="677333" y="5227645"/>
            <a:ext cx="97578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5w</a:t>
            </a:r>
          </a:p>
        </p:txBody>
      </p:sp>
      <p:sp>
        <p:nvSpPr>
          <p:cNvPr id="131" name="TextBox 130"/>
          <p:cNvSpPr txBox="1">
            <a:spLocks noChangeArrowheads="1"/>
          </p:cNvSpPr>
          <p:nvPr/>
        </p:nvSpPr>
        <p:spPr bwMode="auto">
          <a:xfrm>
            <a:off x="1441455" y="5268920"/>
            <a:ext cx="6815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32" name="Curved Down Arrow 131"/>
          <p:cNvSpPr/>
          <p:nvPr/>
        </p:nvSpPr>
        <p:spPr>
          <a:xfrm>
            <a:off x="1790752" y="4667250"/>
            <a:ext cx="340832" cy="18573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33" name="TextBox 132"/>
          <p:cNvSpPr txBox="1">
            <a:spLocks noChangeArrowheads="1"/>
          </p:cNvSpPr>
          <p:nvPr/>
        </p:nvSpPr>
        <p:spPr bwMode="auto">
          <a:xfrm>
            <a:off x="1835156" y="5227645"/>
            <a:ext cx="118744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3w</a:t>
            </a:r>
          </a:p>
        </p:txBody>
      </p:sp>
      <p:sp>
        <p:nvSpPr>
          <p:cNvPr id="134" name="Curved Down Arrow 133"/>
          <p:cNvSpPr/>
          <p:nvPr/>
        </p:nvSpPr>
        <p:spPr>
          <a:xfrm>
            <a:off x="1790752" y="4541838"/>
            <a:ext cx="1231853" cy="31115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35" name="TextBox 134"/>
          <p:cNvSpPr txBox="1">
            <a:spLocks noChangeArrowheads="1"/>
          </p:cNvSpPr>
          <p:nvPr/>
        </p:nvSpPr>
        <p:spPr bwMode="auto">
          <a:xfrm>
            <a:off x="2647953" y="5202245"/>
            <a:ext cx="68368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36" name="TextBox 135"/>
          <p:cNvSpPr txBox="1">
            <a:spLocks noChangeArrowheads="1"/>
          </p:cNvSpPr>
          <p:nvPr/>
        </p:nvSpPr>
        <p:spPr bwMode="auto">
          <a:xfrm>
            <a:off x="2899838" y="5241932"/>
            <a:ext cx="124036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12m</a:t>
            </a:r>
          </a:p>
        </p:txBody>
      </p:sp>
      <p:sp>
        <p:nvSpPr>
          <p:cNvPr id="137" name="TextBox 136"/>
          <p:cNvSpPr txBox="1">
            <a:spLocks noChangeArrowheads="1"/>
          </p:cNvSpPr>
          <p:nvPr/>
        </p:nvSpPr>
        <p:spPr bwMode="auto">
          <a:xfrm>
            <a:off x="258236" y="5776920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38" name="TextBox 137"/>
          <p:cNvSpPr txBox="1">
            <a:spLocks noChangeArrowheads="1"/>
          </p:cNvSpPr>
          <p:nvPr/>
        </p:nvSpPr>
        <p:spPr bwMode="auto">
          <a:xfrm>
            <a:off x="715433" y="5741995"/>
            <a:ext cx="9736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8w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1449920" y="5716595"/>
            <a:ext cx="1490133" cy="561975"/>
            <a:chOff x="2138929" y="5745904"/>
            <a:chExt cx="1118015" cy="563416"/>
          </a:xfrm>
        </p:grpSpPr>
        <p:sp>
          <p:nvSpPr>
            <p:cNvPr id="46179" name="TextBox 138"/>
            <p:cNvSpPr txBox="1">
              <a:spLocks noChangeArrowheads="1"/>
            </p:cNvSpPr>
            <p:nvPr/>
          </p:nvSpPr>
          <p:spPr bwMode="auto">
            <a:xfrm>
              <a:off x="2138929" y="5745904"/>
              <a:ext cx="511437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800" b="1" smtClean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46180" name="TextBox 139"/>
            <p:cNvSpPr txBox="1">
              <a:spLocks noChangeArrowheads="1"/>
            </p:cNvSpPr>
            <p:nvPr/>
          </p:nvSpPr>
          <p:spPr bwMode="auto">
            <a:xfrm>
              <a:off x="2327038" y="5786100"/>
              <a:ext cx="92990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800" b="1" smtClean="0">
                  <a:solidFill>
                    <a:srgbClr val="FF0000"/>
                  </a:solidFill>
                </a:rPr>
                <a:t>12m</a:t>
              </a:r>
            </a:p>
          </p:txBody>
        </p:sp>
      </p:grpSp>
      <p:sp>
        <p:nvSpPr>
          <p:cNvPr id="4" name="Oval 3"/>
          <p:cNvSpPr/>
          <p:nvPr/>
        </p:nvSpPr>
        <p:spPr>
          <a:xfrm>
            <a:off x="683684" y="5203832"/>
            <a:ext cx="1998133" cy="56832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44" name="TextBox 143"/>
          <p:cNvSpPr txBox="1">
            <a:spLocks noChangeArrowheads="1"/>
          </p:cNvSpPr>
          <p:nvPr/>
        </p:nvSpPr>
        <p:spPr bwMode="auto">
          <a:xfrm>
            <a:off x="5634568" y="5303845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45" name="Curved Down Arrow 144"/>
          <p:cNvSpPr/>
          <p:nvPr/>
        </p:nvSpPr>
        <p:spPr>
          <a:xfrm>
            <a:off x="6385989" y="4668845"/>
            <a:ext cx="577849" cy="1857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46" name="TextBox 145"/>
          <p:cNvSpPr txBox="1">
            <a:spLocks noChangeArrowheads="1"/>
          </p:cNvSpPr>
          <p:nvPr/>
        </p:nvSpPr>
        <p:spPr bwMode="auto">
          <a:xfrm>
            <a:off x="6258989" y="5256220"/>
            <a:ext cx="10456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6m</a:t>
            </a:r>
          </a:p>
        </p:txBody>
      </p:sp>
      <p:sp>
        <p:nvSpPr>
          <p:cNvPr id="147" name="Curved Down Arrow 146"/>
          <p:cNvSpPr/>
          <p:nvPr/>
        </p:nvSpPr>
        <p:spPr>
          <a:xfrm>
            <a:off x="6383872" y="4581525"/>
            <a:ext cx="1382275" cy="2714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000000"/>
              </a:solidFill>
            </a:endParaRPr>
          </a:p>
        </p:txBody>
      </p:sp>
      <p:sp>
        <p:nvSpPr>
          <p:cNvPr id="150" name="TextBox 149"/>
          <p:cNvSpPr txBox="1">
            <a:spLocks noChangeArrowheads="1"/>
          </p:cNvSpPr>
          <p:nvPr/>
        </p:nvSpPr>
        <p:spPr bwMode="auto">
          <a:xfrm>
            <a:off x="7076022" y="5256220"/>
            <a:ext cx="6815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51" name="TextBox 150"/>
          <p:cNvSpPr txBox="1">
            <a:spLocks noChangeArrowheads="1"/>
          </p:cNvSpPr>
          <p:nvPr/>
        </p:nvSpPr>
        <p:spPr bwMode="auto">
          <a:xfrm>
            <a:off x="7414684" y="5256220"/>
            <a:ext cx="11599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8n</a:t>
            </a:r>
          </a:p>
        </p:txBody>
      </p:sp>
      <p:sp>
        <p:nvSpPr>
          <p:cNvPr id="158" name="TextBox 157"/>
          <p:cNvSpPr txBox="1">
            <a:spLocks noChangeArrowheads="1"/>
          </p:cNvSpPr>
          <p:nvPr/>
        </p:nvSpPr>
        <p:spPr bwMode="auto">
          <a:xfrm>
            <a:off x="8094138" y="5241925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59" name="TextBox 158"/>
          <p:cNvSpPr txBox="1">
            <a:spLocks noChangeArrowheads="1"/>
          </p:cNvSpPr>
          <p:nvPr/>
        </p:nvSpPr>
        <p:spPr bwMode="auto">
          <a:xfrm>
            <a:off x="8417989" y="5268920"/>
            <a:ext cx="12403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7n</a:t>
            </a:r>
          </a:p>
        </p:txBody>
      </p:sp>
      <p:sp>
        <p:nvSpPr>
          <p:cNvPr id="180" name="TextBox 179"/>
          <p:cNvSpPr txBox="1">
            <a:spLocks noChangeArrowheads="1"/>
          </p:cNvSpPr>
          <p:nvPr/>
        </p:nvSpPr>
        <p:spPr bwMode="auto">
          <a:xfrm>
            <a:off x="5651500" y="5748345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400" smtClean="0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81" name="TextBox 180"/>
          <p:cNvSpPr txBox="1">
            <a:spLocks noChangeArrowheads="1"/>
          </p:cNvSpPr>
          <p:nvPr/>
        </p:nvSpPr>
        <p:spPr bwMode="auto">
          <a:xfrm>
            <a:off x="6278033" y="5700720"/>
            <a:ext cx="104351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smtClean="0">
                <a:solidFill>
                  <a:srgbClr val="FF0000"/>
                </a:solidFill>
              </a:rPr>
              <a:t>6m</a:t>
            </a:r>
          </a:p>
        </p:txBody>
      </p:sp>
      <p:sp>
        <p:nvSpPr>
          <p:cNvPr id="182" name="Oval 181"/>
          <p:cNvSpPr/>
          <p:nvPr/>
        </p:nvSpPr>
        <p:spPr>
          <a:xfrm>
            <a:off x="7090835" y="5245107"/>
            <a:ext cx="2197100" cy="56991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GB">
              <a:solidFill>
                <a:srgbClr val="FFFFFF"/>
              </a:solidFill>
            </a:endParaRPr>
          </a:p>
        </p:txBody>
      </p:sp>
      <p:grpSp>
        <p:nvGrpSpPr>
          <p:cNvPr id="183" name="Group 182"/>
          <p:cNvGrpSpPr>
            <a:grpSpLocks/>
          </p:cNvGrpSpPr>
          <p:nvPr/>
        </p:nvGrpSpPr>
        <p:grpSpPr bwMode="auto">
          <a:xfrm>
            <a:off x="7084484" y="5673732"/>
            <a:ext cx="1490133" cy="563563"/>
            <a:chOff x="2138929" y="5745904"/>
            <a:chExt cx="1118015" cy="563416"/>
          </a:xfrm>
        </p:grpSpPr>
        <p:sp>
          <p:nvSpPr>
            <p:cNvPr id="46177" name="TextBox 183"/>
            <p:cNvSpPr txBox="1">
              <a:spLocks noChangeArrowheads="1"/>
            </p:cNvSpPr>
            <p:nvPr/>
          </p:nvSpPr>
          <p:spPr bwMode="auto">
            <a:xfrm>
              <a:off x="2138929" y="5745904"/>
              <a:ext cx="511437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800" b="1" smtClean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46178" name="TextBox 184"/>
            <p:cNvSpPr txBox="1">
              <a:spLocks noChangeArrowheads="1"/>
            </p:cNvSpPr>
            <p:nvPr/>
          </p:nvSpPr>
          <p:spPr bwMode="auto">
            <a:xfrm>
              <a:off x="2327038" y="5786100"/>
              <a:ext cx="92990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GB" sz="2800" b="1" smtClean="0">
                  <a:solidFill>
                    <a:srgbClr val="FF0000"/>
                  </a:solidFill>
                </a:rPr>
                <a:t>15n</a:t>
              </a:r>
            </a:p>
          </p:txBody>
        </p:sp>
      </p:grp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2504019" y="1381196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dirty="0" smtClean="0">
                <a:solidFill>
                  <a:srgbClr val="FF0000"/>
                </a:solidFill>
              </a:rPr>
              <a:t>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998047"/>
              </p:ext>
            </p:extLst>
          </p:nvPr>
        </p:nvGraphicFramePr>
        <p:xfrm>
          <a:off x="3577998" y="1350014"/>
          <a:ext cx="2022259" cy="955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8370"/>
                <a:gridCol w="627797"/>
                <a:gridCol w="806092"/>
              </a:tblGrid>
              <a:tr h="0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  <a:sym typeface="Symbol"/>
                        </a:rPr>
                        <a:t>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8357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6a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6b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8827792" y="1263430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dirty="0" smtClean="0">
                <a:solidFill>
                  <a:srgbClr val="FF0000"/>
                </a:solidFill>
              </a:rPr>
              <a:t>OR</a:t>
            </a:r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502825"/>
              </p:ext>
            </p:extLst>
          </p:nvPr>
        </p:nvGraphicFramePr>
        <p:xfrm>
          <a:off x="9901771" y="1232248"/>
          <a:ext cx="1876247" cy="955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6880"/>
                <a:gridCol w="759287"/>
                <a:gridCol w="660080"/>
              </a:tblGrid>
              <a:tr h="0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  <a:sym typeface="Symbol"/>
                        </a:rPr>
                        <a:t>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3q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8357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3pq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7p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7" name="TextBox 86"/>
          <p:cNvSpPr txBox="1">
            <a:spLocks noChangeArrowheads="1"/>
          </p:cNvSpPr>
          <p:nvPr/>
        </p:nvSpPr>
        <p:spPr bwMode="auto">
          <a:xfrm>
            <a:off x="2504019" y="3317395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dirty="0" smtClean="0">
                <a:solidFill>
                  <a:srgbClr val="FF0000"/>
                </a:solidFill>
              </a:rPr>
              <a:t>OR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284763"/>
              </p:ext>
            </p:extLst>
          </p:nvPr>
        </p:nvGraphicFramePr>
        <p:xfrm>
          <a:off x="3577998" y="3286213"/>
          <a:ext cx="1876247" cy="955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6880"/>
                <a:gridCol w="759287"/>
                <a:gridCol w="660080"/>
              </a:tblGrid>
              <a:tr h="0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  <a:sym typeface="Symbol"/>
                        </a:rPr>
                        <a:t>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8357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-3x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-3y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9038172" y="3273423"/>
            <a:ext cx="8720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2800" b="1" dirty="0" smtClean="0">
                <a:solidFill>
                  <a:srgbClr val="FF0000"/>
                </a:solidFill>
              </a:rPr>
              <a:t>OR</a:t>
            </a:r>
          </a:p>
        </p:txBody>
      </p:sp>
      <p:graphicFrame>
        <p:nvGraphicFramePr>
          <p:cNvPr id="90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08901"/>
              </p:ext>
            </p:extLst>
          </p:nvPr>
        </p:nvGraphicFramePr>
        <p:xfrm>
          <a:off x="10112151" y="3242241"/>
          <a:ext cx="1876247" cy="9555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6880"/>
                <a:gridCol w="759287"/>
                <a:gridCol w="660080"/>
              </a:tblGrid>
              <a:tr h="0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  <a:sym typeface="Symbol"/>
                        </a:rPr>
                        <a:t>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4x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8357"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-4x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AU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67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5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 nodeType="clickPar">
                      <p:stCondLst>
                        <p:cond delay="indefinite"/>
                      </p:stCondLst>
                      <p:childTnLst>
                        <p:par>
                          <p:cTn id="3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 nodeType="clickPar">
                      <p:stCondLst>
                        <p:cond delay="indefinite"/>
                      </p:stCondLst>
                      <p:childTnLst>
                        <p:par>
                          <p:cTn id="3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 nodeType="clickPar">
                      <p:stCondLst>
                        <p:cond delay="indefinite"/>
                      </p:stCondLst>
                      <p:childTnLst>
                        <p:par>
                          <p:cTn id="3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95" grpId="0"/>
      <p:bldP spid="96" grpId="0" animBg="1"/>
      <p:bldP spid="97" grpId="0"/>
      <p:bldP spid="98" grpId="0"/>
      <p:bldP spid="105" grpId="0"/>
      <p:bldP spid="106" grpId="0" animBg="1"/>
      <p:bldP spid="107" grpId="0"/>
      <p:bldP spid="108" grpId="0" animBg="1"/>
      <p:bldP spid="109" grpId="0"/>
      <p:bldP spid="110" grpId="0"/>
      <p:bldP spid="111" grpId="0"/>
      <p:bldP spid="112" grpId="0" animBg="1"/>
      <p:bldP spid="113" grpId="0"/>
      <p:bldP spid="114" grpId="0" animBg="1"/>
      <p:bldP spid="115" grpId="0"/>
      <p:bldP spid="116" grpId="0"/>
      <p:bldP spid="117" grpId="0"/>
      <p:bldP spid="118" grpId="0" animBg="1"/>
      <p:bldP spid="119" grpId="0"/>
      <p:bldP spid="120" grpId="0" animBg="1"/>
      <p:bldP spid="121" grpId="0"/>
      <p:bldP spid="122" grpId="0"/>
      <p:bldP spid="129" grpId="0"/>
      <p:bldP spid="130" grpId="0"/>
      <p:bldP spid="131" grpId="0"/>
      <p:bldP spid="132" grpId="0" animBg="1"/>
      <p:bldP spid="133" grpId="0"/>
      <p:bldP spid="134" grpId="0" animBg="1"/>
      <p:bldP spid="135" grpId="0"/>
      <p:bldP spid="136" grpId="0"/>
      <p:bldP spid="137" grpId="0"/>
      <p:bldP spid="138" grpId="0"/>
      <p:bldP spid="4" grpId="0" animBg="1"/>
      <p:bldP spid="144" grpId="0"/>
      <p:bldP spid="145" grpId="0" animBg="1"/>
      <p:bldP spid="146" grpId="0"/>
      <p:bldP spid="147" grpId="0" animBg="1"/>
      <p:bldP spid="150" grpId="0"/>
      <p:bldP spid="151" grpId="0"/>
      <p:bldP spid="158" grpId="0"/>
      <p:bldP spid="159" grpId="0"/>
      <p:bldP spid="180" grpId="0"/>
      <p:bldP spid="181" grpId="0"/>
      <p:bldP spid="182" grpId="0" animBg="1"/>
      <p:bldP spid="92" grpId="0"/>
      <p:bldP spid="85" grpId="0"/>
      <p:bldP spid="87" grpId="0"/>
      <p:bldP spid="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7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Distributive Law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1" y="1065329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expand brackets?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4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2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223147" y="1911275"/>
            <a:ext cx="250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Examples:</a:t>
            </a:r>
          </a:p>
          <a:p>
            <a:endParaRPr lang="en-AU" sz="2400" b="0" dirty="0" smtClean="0">
              <a:solidFill>
                <a:srgbClr val="7030A0"/>
              </a:solidFill>
            </a:endParaRPr>
          </a:p>
          <a:p>
            <a:r>
              <a:rPr lang="en-AU" sz="2400" dirty="0" smtClean="0">
                <a:solidFill>
                  <a:srgbClr val="7030A0"/>
                </a:solidFill>
              </a:rPr>
              <a:t>6(a + 3) + 2(a + 9)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2465" y="4624906"/>
            <a:ext cx="2260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7030A0"/>
                </a:solidFill>
              </a:rPr>
              <a:t>5(t </a:t>
            </a:r>
            <a:r>
              <a:rPr lang="en-AU" sz="2400" dirty="0">
                <a:solidFill>
                  <a:srgbClr val="7030A0"/>
                </a:solidFill>
              </a:rPr>
              <a:t>-</a:t>
            </a:r>
            <a:r>
              <a:rPr lang="en-AU" sz="2400" dirty="0" smtClean="0">
                <a:solidFill>
                  <a:srgbClr val="7030A0"/>
                </a:solidFill>
              </a:rPr>
              <a:t> 3) – 8(t – 2)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99276" y="2696105"/>
            <a:ext cx="3358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7030A0"/>
                </a:solidFill>
              </a:rPr>
              <a:t>= 6a + 18 + 2a + 18</a:t>
            </a:r>
          </a:p>
          <a:p>
            <a:r>
              <a:rPr lang="en-AU" sz="2400" dirty="0">
                <a:solidFill>
                  <a:srgbClr val="7030A0"/>
                </a:solidFill>
              </a:rPr>
              <a:t> </a:t>
            </a:r>
            <a:r>
              <a:rPr lang="en-AU" sz="2400" dirty="0" smtClean="0">
                <a:solidFill>
                  <a:srgbClr val="7030A0"/>
                </a:solidFill>
              </a:rPr>
              <a:t>= 8a + 36</a:t>
            </a:r>
            <a:r>
              <a:rPr lang="en-AU" sz="2400" dirty="0" smtClean="0">
                <a:solidFill>
                  <a:prstClr val="black"/>
                </a:solidFill>
              </a:rPr>
              <a:t>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7" name="Circular Arrow 6"/>
          <p:cNvSpPr/>
          <p:nvPr/>
        </p:nvSpPr>
        <p:spPr>
          <a:xfrm>
            <a:off x="3370997" y="2495532"/>
            <a:ext cx="329542" cy="40114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Circular Arrow 19"/>
          <p:cNvSpPr/>
          <p:nvPr/>
        </p:nvSpPr>
        <p:spPr>
          <a:xfrm>
            <a:off x="3370997" y="2340679"/>
            <a:ext cx="791570" cy="57190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4587922" y="2565005"/>
            <a:ext cx="329542" cy="40114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587922" y="2410152"/>
            <a:ext cx="791570" cy="57190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>
            <a:off x="3482885" y="4493806"/>
            <a:ext cx="329542" cy="40114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>
            <a:off x="3482885" y="4408426"/>
            <a:ext cx="668740" cy="50243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>
            <a:off x="4699810" y="4563279"/>
            <a:ext cx="329542" cy="40114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Circular Arrow 25"/>
          <p:cNvSpPr/>
          <p:nvPr/>
        </p:nvSpPr>
        <p:spPr>
          <a:xfrm>
            <a:off x="4699810" y="4408426"/>
            <a:ext cx="598227" cy="57190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91380" y="4620069"/>
            <a:ext cx="4521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7030A0"/>
                </a:solidFill>
              </a:rPr>
              <a:t>= 5t – 15 – 8t + 16</a:t>
            </a:r>
          </a:p>
          <a:p>
            <a:r>
              <a:rPr lang="en-AU" sz="2400" dirty="0" smtClean="0">
                <a:solidFill>
                  <a:srgbClr val="7030A0"/>
                </a:solidFill>
              </a:rPr>
              <a:t>= -3t + 1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14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47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Distributive Law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1" y="1065329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expand brackets?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4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2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427864" y="4484557"/>
            <a:ext cx="2031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 smtClean="0"/>
          </a:p>
          <a:p>
            <a:endParaRPr lang="en-AU" sz="2400" dirty="0" smtClean="0"/>
          </a:p>
          <a:p>
            <a:r>
              <a:rPr lang="en-AU" sz="2400" dirty="0" smtClean="0">
                <a:solidFill>
                  <a:srgbClr val="7030A0"/>
                </a:solidFill>
              </a:rPr>
              <a:t>(h</a:t>
            </a:r>
            <a:r>
              <a:rPr lang="en-AU" sz="2400" baseline="30000" dirty="0" smtClean="0">
                <a:solidFill>
                  <a:srgbClr val="7030A0"/>
                </a:solidFill>
              </a:rPr>
              <a:t>2</a:t>
            </a:r>
            <a:r>
              <a:rPr lang="en-AU" sz="2400" dirty="0" smtClean="0">
                <a:solidFill>
                  <a:srgbClr val="7030A0"/>
                </a:solidFill>
              </a:rPr>
              <a:t> + </a:t>
            </a:r>
            <a:r>
              <a:rPr lang="en-AU" sz="2400" dirty="0">
                <a:solidFill>
                  <a:srgbClr val="7030A0"/>
                </a:solidFill>
              </a:rPr>
              <a:t>4)(</a:t>
            </a:r>
            <a:r>
              <a:rPr lang="en-AU" sz="2400" dirty="0" smtClean="0">
                <a:solidFill>
                  <a:srgbClr val="7030A0"/>
                </a:solidFill>
              </a:rPr>
              <a:t>h</a:t>
            </a:r>
            <a:r>
              <a:rPr lang="en-AU" sz="2400" baseline="30000" dirty="0" smtClean="0">
                <a:solidFill>
                  <a:srgbClr val="7030A0"/>
                </a:solidFill>
              </a:rPr>
              <a:t>5</a:t>
            </a:r>
            <a:r>
              <a:rPr lang="en-AU" sz="2400" dirty="0" smtClean="0">
                <a:solidFill>
                  <a:srgbClr val="7030A0"/>
                </a:solidFill>
              </a:rPr>
              <a:t> </a:t>
            </a:r>
            <a:r>
              <a:rPr lang="en-AU" sz="2400" dirty="0">
                <a:solidFill>
                  <a:srgbClr val="7030A0"/>
                </a:solidFill>
              </a:rPr>
              <a:t>+ </a:t>
            </a:r>
            <a:r>
              <a:rPr lang="en-AU" sz="2400" dirty="0" smtClean="0">
                <a:solidFill>
                  <a:srgbClr val="7030A0"/>
                </a:solidFill>
              </a:rPr>
              <a:t>2)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3739486" y="5036024"/>
            <a:ext cx="859809" cy="2333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" name="Curved Down Arrow 27"/>
          <p:cNvSpPr/>
          <p:nvPr/>
        </p:nvSpPr>
        <p:spPr>
          <a:xfrm>
            <a:off x="3739485" y="4913195"/>
            <a:ext cx="1433016" cy="35619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9" name="Curved Down Arrow 28"/>
          <p:cNvSpPr/>
          <p:nvPr/>
        </p:nvSpPr>
        <p:spPr>
          <a:xfrm flipV="1">
            <a:off x="4169392" y="5584209"/>
            <a:ext cx="566382" cy="35619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0" name="Curved Down Arrow 29"/>
          <p:cNvSpPr/>
          <p:nvPr/>
        </p:nvSpPr>
        <p:spPr>
          <a:xfrm flipV="1">
            <a:off x="4169390" y="5584208"/>
            <a:ext cx="1003111" cy="356191"/>
          </a:xfrm>
          <a:prstGeom prst="curvedDownArrow">
            <a:avLst>
              <a:gd name="adj1" fmla="val 25000"/>
              <a:gd name="adj2" fmla="val 50000"/>
              <a:gd name="adj3" fmla="val 288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60324" y="5229706"/>
            <a:ext cx="4529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7030A0"/>
                </a:solidFill>
              </a:rPr>
              <a:t>= h</a:t>
            </a:r>
            <a:r>
              <a:rPr lang="en-AU" sz="2400" baseline="30000" dirty="0" smtClean="0">
                <a:solidFill>
                  <a:srgbClr val="7030A0"/>
                </a:solidFill>
              </a:rPr>
              <a:t>7</a:t>
            </a:r>
            <a:r>
              <a:rPr lang="en-AU" sz="2400" dirty="0" smtClean="0">
                <a:solidFill>
                  <a:srgbClr val="7030A0"/>
                </a:solidFill>
              </a:rPr>
              <a:t> </a:t>
            </a:r>
            <a:r>
              <a:rPr lang="en-AU" sz="2400" dirty="0">
                <a:solidFill>
                  <a:srgbClr val="7030A0"/>
                </a:solidFill>
              </a:rPr>
              <a:t>+ 2 </a:t>
            </a:r>
            <a:r>
              <a:rPr lang="en-AU" sz="2400" dirty="0" smtClean="0">
                <a:solidFill>
                  <a:srgbClr val="7030A0"/>
                </a:solidFill>
              </a:rPr>
              <a:t>h</a:t>
            </a:r>
            <a:r>
              <a:rPr lang="en-AU" sz="2400" baseline="30000" dirty="0" smtClean="0">
                <a:solidFill>
                  <a:srgbClr val="7030A0"/>
                </a:solidFill>
              </a:rPr>
              <a:t>2</a:t>
            </a:r>
            <a:r>
              <a:rPr lang="en-AU" sz="2400" dirty="0" smtClean="0">
                <a:solidFill>
                  <a:srgbClr val="7030A0"/>
                </a:solidFill>
              </a:rPr>
              <a:t> </a:t>
            </a:r>
            <a:r>
              <a:rPr lang="en-AU" sz="2400" dirty="0">
                <a:solidFill>
                  <a:srgbClr val="7030A0"/>
                </a:solidFill>
              </a:rPr>
              <a:t>+ 4 </a:t>
            </a:r>
            <a:r>
              <a:rPr lang="en-AU" sz="2400" dirty="0" smtClean="0">
                <a:solidFill>
                  <a:srgbClr val="7030A0"/>
                </a:solidFill>
              </a:rPr>
              <a:t>h</a:t>
            </a:r>
            <a:r>
              <a:rPr lang="en-AU" sz="2400" baseline="30000" dirty="0" smtClean="0">
                <a:solidFill>
                  <a:srgbClr val="7030A0"/>
                </a:solidFill>
              </a:rPr>
              <a:t>5</a:t>
            </a:r>
            <a:r>
              <a:rPr lang="en-AU" sz="2400" dirty="0" smtClean="0">
                <a:solidFill>
                  <a:srgbClr val="7030A0"/>
                </a:solidFill>
              </a:rPr>
              <a:t> + 8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1928" y="2282805"/>
            <a:ext cx="2031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Examples</a:t>
            </a:r>
          </a:p>
          <a:p>
            <a:endParaRPr lang="en-AU" sz="2400" dirty="0" smtClean="0"/>
          </a:p>
          <a:p>
            <a:r>
              <a:rPr lang="en-AU" sz="2400" dirty="0" smtClean="0">
                <a:solidFill>
                  <a:srgbClr val="7030A0"/>
                </a:solidFill>
              </a:rPr>
              <a:t>(h </a:t>
            </a:r>
            <a:r>
              <a:rPr lang="en-AU" sz="2400" dirty="0">
                <a:solidFill>
                  <a:srgbClr val="7030A0"/>
                </a:solidFill>
              </a:rPr>
              <a:t>-</a:t>
            </a:r>
            <a:r>
              <a:rPr lang="en-AU" sz="2400" dirty="0" smtClean="0">
                <a:solidFill>
                  <a:srgbClr val="7030A0"/>
                </a:solidFill>
              </a:rPr>
              <a:t> 3)(h </a:t>
            </a:r>
            <a:r>
              <a:rPr lang="en-AU" sz="2400" dirty="0">
                <a:solidFill>
                  <a:srgbClr val="7030A0"/>
                </a:solidFill>
              </a:rPr>
              <a:t>+ </a:t>
            </a:r>
            <a:r>
              <a:rPr lang="en-AU" sz="2400" dirty="0" smtClean="0">
                <a:solidFill>
                  <a:srgbClr val="7030A0"/>
                </a:solidFill>
              </a:rPr>
              <a:t>5)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41" name="Curved Down Arrow 40"/>
          <p:cNvSpPr/>
          <p:nvPr/>
        </p:nvSpPr>
        <p:spPr>
          <a:xfrm>
            <a:off x="3633550" y="2834272"/>
            <a:ext cx="859809" cy="2333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2" name="Curved Down Arrow 41"/>
          <p:cNvSpPr/>
          <p:nvPr/>
        </p:nvSpPr>
        <p:spPr>
          <a:xfrm>
            <a:off x="3633549" y="2711443"/>
            <a:ext cx="1211406" cy="35619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3" name="Curved Down Arrow 42"/>
          <p:cNvSpPr/>
          <p:nvPr/>
        </p:nvSpPr>
        <p:spPr>
          <a:xfrm flipV="1">
            <a:off x="4063456" y="3382457"/>
            <a:ext cx="566382" cy="35619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4" name="Curved Down Arrow 43"/>
          <p:cNvSpPr/>
          <p:nvPr/>
        </p:nvSpPr>
        <p:spPr>
          <a:xfrm flipV="1">
            <a:off x="4063455" y="3382456"/>
            <a:ext cx="781500" cy="356189"/>
          </a:xfrm>
          <a:prstGeom prst="curvedDownArrow">
            <a:avLst>
              <a:gd name="adj1" fmla="val 25000"/>
              <a:gd name="adj2" fmla="val 50000"/>
              <a:gd name="adj3" fmla="val 288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254388" y="3027954"/>
            <a:ext cx="2797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7030A0"/>
                </a:solidFill>
              </a:rPr>
              <a:t>= h</a:t>
            </a:r>
            <a:r>
              <a:rPr lang="en-AU" sz="2400" baseline="30000" dirty="0">
                <a:solidFill>
                  <a:srgbClr val="7030A0"/>
                </a:solidFill>
              </a:rPr>
              <a:t>2</a:t>
            </a:r>
            <a:r>
              <a:rPr lang="en-AU" sz="2400" dirty="0" smtClean="0">
                <a:solidFill>
                  <a:srgbClr val="7030A0"/>
                </a:solidFill>
              </a:rPr>
              <a:t> </a:t>
            </a:r>
            <a:r>
              <a:rPr lang="en-AU" sz="2400" dirty="0">
                <a:solidFill>
                  <a:srgbClr val="7030A0"/>
                </a:solidFill>
              </a:rPr>
              <a:t>+ </a:t>
            </a:r>
            <a:r>
              <a:rPr lang="en-AU" sz="2400" dirty="0" smtClean="0">
                <a:solidFill>
                  <a:srgbClr val="7030A0"/>
                </a:solidFill>
              </a:rPr>
              <a:t>5h – 3h + 15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275689" y="3642019"/>
            <a:ext cx="2797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7030A0"/>
                </a:solidFill>
              </a:rPr>
              <a:t>= h</a:t>
            </a:r>
            <a:r>
              <a:rPr lang="en-AU" sz="2400" baseline="30000" dirty="0">
                <a:solidFill>
                  <a:srgbClr val="7030A0"/>
                </a:solidFill>
              </a:rPr>
              <a:t>2</a:t>
            </a:r>
            <a:r>
              <a:rPr lang="en-AU" sz="2400" dirty="0" smtClean="0">
                <a:solidFill>
                  <a:srgbClr val="7030A0"/>
                </a:solidFill>
              </a:rPr>
              <a:t> </a:t>
            </a:r>
            <a:r>
              <a:rPr lang="en-AU" sz="2400" dirty="0">
                <a:solidFill>
                  <a:srgbClr val="7030A0"/>
                </a:solidFill>
              </a:rPr>
              <a:t>+ </a:t>
            </a:r>
            <a:r>
              <a:rPr lang="en-AU" sz="2400" dirty="0" smtClean="0">
                <a:solidFill>
                  <a:srgbClr val="7030A0"/>
                </a:solidFill>
              </a:rPr>
              <a:t>2h + 15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98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 animBg="1"/>
      <p:bldP spid="28" grpId="0" animBg="1"/>
      <p:bldP spid="29" grpId="0" animBg="1"/>
      <p:bldP spid="30" grpId="0" animBg="1"/>
      <p:bldP spid="31" grpId="0"/>
      <p:bldP spid="41" grpId="0" animBg="1"/>
      <p:bldP spid="42" grpId="0" animBg="1"/>
      <p:bldP spid="43" grpId="0" animBg="1"/>
      <p:bldP spid="44" grpId="0" animBg="1"/>
      <p:bldP spid="45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064525" y="1365466"/>
            <a:ext cx="10058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3200" b="1" dirty="0" smtClean="0"/>
              <a:t>Questions: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sz="3200" b="1" dirty="0"/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sz="3200" b="1" dirty="0" smtClean="0"/>
              <a:t>Year 9 Dwyer Book - Exercise 2.4, 2.5 and 2.6</a:t>
            </a:r>
          </a:p>
        </p:txBody>
      </p:sp>
    </p:spTree>
    <p:extLst>
      <p:ext uri="{BB962C8B-B14F-4D97-AF65-F5344CB8AC3E}">
        <p14:creationId xmlns:p14="http://schemas.microsoft.com/office/powerpoint/2010/main" val="126992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980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4420</TotalTime>
  <Words>347</Words>
  <Application>Microsoft Office PowerPoint</Application>
  <PresentationFormat>Custom</PresentationFormat>
  <Paragraphs>131</Paragraphs>
  <Slides>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1_Office Theme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PURCELL Laura</cp:lastModifiedBy>
  <cp:revision>126</cp:revision>
  <dcterms:created xsi:type="dcterms:W3CDTF">2015-04-20T06:02:45Z</dcterms:created>
  <dcterms:modified xsi:type="dcterms:W3CDTF">2016-02-16T05:04:20Z</dcterms:modified>
</cp:coreProperties>
</file>
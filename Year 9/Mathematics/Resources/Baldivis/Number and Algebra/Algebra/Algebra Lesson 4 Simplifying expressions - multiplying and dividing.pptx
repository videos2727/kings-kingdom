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260" r:id="rId2"/>
    <p:sldId id="259" r:id="rId3"/>
    <p:sldId id="258" r:id="rId4"/>
    <p:sldId id="320" r:id="rId5"/>
    <p:sldId id="325" r:id="rId6"/>
    <p:sldId id="324" r:id="rId7"/>
    <p:sldId id="330" r:id="rId8"/>
    <p:sldId id="331" r:id="rId9"/>
    <p:sldId id="332" r:id="rId10"/>
    <p:sldId id="333" r:id="rId11"/>
    <p:sldId id="334" r:id="rId12"/>
    <p:sldId id="335" r:id="rId13"/>
    <p:sldId id="336" r:id="rId14"/>
    <p:sldId id="337" r:id="rId15"/>
    <p:sldId id="338" r:id="rId16"/>
    <p:sldId id="339" r:id="rId17"/>
    <p:sldId id="340" r:id="rId18"/>
    <p:sldId id="341" r:id="rId19"/>
    <p:sldId id="342" r:id="rId20"/>
    <p:sldId id="343" r:id="rId21"/>
    <p:sldId id="344" r:id="rId22"/>
    <p:sldId id="345" r:id="rId23"/>
    <p:sldId id="292" r:id="rId24"/>
    <p:sldId id="291" r:id="rId2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6803" autoAdjust="0"/>
  </p:normalViewPr>
  <p:slideViewPr>
    <p:cSldViewPr>
      <p:cViewPr varScale="1">
        <p:scale>
          <a:sx n="65" d="100"/>
          <a:sy n="65" d="100"/>
        </p:scale>
        <p:origin x="-1308" y="-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61F06D-4543-461C-A563-4C1630637A41}" type="datetimeFigureOut">
              <a:rPr lang="en-AU" smtClean="0"/>
              <a:t>5/05/2015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76FEA3-4B06-46F7-BD2F-EBD4701E5C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163229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5/05/2015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5/05/2015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5/05/2015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5/05/2015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5/05/2015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5/05/2015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5/05/2015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5/05/2015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5/05/2015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5/05/2015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5/05/2015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t>5/05/2015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26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12" Type="http://schemas.openxmlformats.org/officeDocument/2006/relationships/image" Target="../media/image25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11" Type="http://schemas.openxmlformats.org/officeDocument/2006/relationships/image" Target="../media/image24.png"/><Relationship Id="rId5" Type="http://schemas.openxmlformats.org/officeDocument/2006/relationships/image" Target="../media/image18.png"/><Relationship Id="rId10" Type="http://schemas.openxmlformats.org/officeDocument/2006/relationships/image" Target="../media/image23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12" Type="http://schemas.openxmlformats.org/officeDocument/2006/relationships/image" Target="../media/image37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png"/><Relationship Id="rId11" Type="http://schemas.openxmlformats.org/officeDocument/2006/relationships/image" Target="../media/image36.png"/><Relationship Id="rId5" Type="http://schemas.openxmlformats.org/officeDocument/2006/relationships/image" Target="../media/image30.png"/><Relationship Id="rId10" Type="http://schemas.openxmlformats.org/officeDocument/2006/relationships/image" Target="../media/image35.png"/><Relationship Id="rId4" Type="http://schemas.openxmlformats.org/officeDocument/2006/relationships/image" Target="../media/image29.png"/><Relationship Id="rId9" Type="http://schemas.openxmlformats.org/officeDocument/2006/relationships/image" Target="../media/image3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2.png"/><Relationship Id="rId4" Type="http://schemas.openxmlformats.org/officeDocument/2006/relationships/image" Target="../media/image4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4.png"/><Relationship Id="rId5" Type="http://schemas.openxmlformats.org/officeDocument/2006/relationships/image" Target="../media/image42.png"/><Relationship Id="rId4" Type="http://schemas.openxmlformats.org/officeDocument/2006/relationships/image" Target="../media/image4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4.png"/><Relationship Id="rId5" Type="http://schemas.openxmlformats.org/officeDocument/2006/relationships/image" Target="../media/image42.png"/><Relationship Id="rId4" Type="http://schemas.openxmlformats.org/officeDocument/2006/relationships/image" Target="../media/image4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4.png"/><Relationship Id="rId5" Type="http://schemas.openxmlformats.org/officeDocument/2006/relationships/image" Target="../media/image42.png"/><Relationship Id="rId4" Type="http://schemas.openxmlformats.org/officeDocument/2006/relationships/image" Target="../media/image4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4.png"/><Relationship Id="rId5" Type="http://schemas.openxmlformats.org/officeDocument/2006/relationships/image" Target="../media/image42.png"/><Relationship Id="rId4" Type="http://schemas.openxmlformats.org/officeDocument/2006/relationships/image" Target="../media/image4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5.png"/><Relationship Id="rId5" Type="http://schemas.openxmlformats.org/officeDocument/2006/relationships/image" Target="../media/image42.png"/><Relationship Id="rId4" Type="http://schemas.openxmlformats.org/officeDocument/2006/relationships/image" Target="../media/image4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5.png"/><Relationship Id="rId5" Type="http://schemas.openxmlformats.org/officeDocument/2006/relationships/image" Target="../media/image42.png"/><Relationship Id="rId4" Type="http://schemas.openxmlformats.org/officeDocument/2006/relationships/image" Target="../media/image40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1560" y="332656"/>
            <a:ext cx="7772400" cy="1470025"/>
          </a:xfrm>
        </p:spPr>
        <p:txBody>
          <a:bodyPr/>
          <a:lstStyle/>
          <a:p>
            <a:r>
              <a:rPr lang="en-AU" dirty="0" smtClean="0"/>
              <a:t>My Algebra  </a:t>
            </a:r>
            <a:br>
              <a:rPr lang="en-AU" dirty="0" smtClean="0"/>
            </a:br>
            <a:r>
              <a:rPr lang="en-AU" dirty="0" smtClean="0"/>
              <a:t>Interactive Notebook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/>
            <a:r>
              <a:rPr lang="en-AU" dirty="0" smtClean="0"/>
              <a:t>Name : </a:t>
            </a:r>
          </a:p>
          <a:p>
            <a:pPr algn="l"/>
            <a:r>
              <a:rPr lang="en-AU" dirty="0" smtClean="0"/>
              <a:t>Class : </a:t>
            </a:r>
          </a:p>
          <a:p>
            <a:pPr algn="l"/>
            <a:r>
              <a:rPr lang="en-AU" dirty="0" smtClean="0"/>
              <a:t>Term 2 Semester </a:t>
            </a:r>
            <a:r>
              <a:rPr lang="en-AU" dirty="0"/>
              <a:t>1</a:t>
            </a:r>
            <a:endParaRPr lang="en-AU" dirty="0" smtClean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539552" y="2383349"/>
                <a:ext cx="1688091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2</m:t>
                      </m:r>
                      <m:r>
                        <a:rPr lang="en-AU" sz="32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𝑥</m:t>
                      </m:r>
                      <m:r>
                        <a:rPr lang="en-AU" sz="32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+3</m:t>
                      </m:r>
                      <m:r>
                        <a:rPr lang="en-AU" sz="32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𝑦</m:t>
                      </m:r>
                    </m:oMath>
                  </m:oMathPara>
                </a14:m>
                <a:endParaRPr lang="en-AU" sz="32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552" y="2383349"/>
                <a:ext cx="1688091" cy="584775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7015196" y="2129758"/>
                <a:ext cx="964751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0" i="1" smtClean="0">
                          <a:solidFill>
                            <a:srgbClr val="FF9900"/>
                          </a:solidFill>
                          <a:latin typeface="Cambria Math"/>
                        </a:rPr>
                        <m:t>3</m:t>
                      </m:r>
                      <m:r>
                        <a:rPr lang="en-AU" sz="3200" b="0" i="1" smtClean="0">
                          <a:solidFill>
                            <a:srgbClr val="FF9900"/>
                          </a:solidFill>
                          <a:latin typeface="Cambria Math"/>
                        </a:rPr>
                        <m:t>𝑎𝑏</m:t>
                      </m:r>
                    </m:oMath>
                  </m:oMathPara>
                </a14:m>
                <a:endParaRPr lang="en-AU" sz="3200" dirty="0">
                  <a:solidFill>
                    <a:srgbClr val="FF9900"/>
                  </a:solidFill>
                </a:endParaRP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15196" y="2129758"/>
                <a:ext cx="964751" cy="584775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3923928" y="2780928"/>
                <a:ext cx="1054969" cy="114435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360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sz="3600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5</m:t>
                          </m:r>
                          <m:r>
                            <a:rPr lang="en-AU" sz="3600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𝑥𝑦</m:t>
                          </m:r>
                        </m:num>
                        <m:den>
                          <m:r>
                            <a:rPr lang="en-AU" sz="3600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6</m:t>
                          </m:r>
                        </m:den>
                      </m:f>
                    </m:oMath>
                  </m:oMathPara>
                </a14:m>
                <a:endParaRPr lang="en-AU" sz="36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3928" y="2780928"/>
                <a:ext cx="1054969" cy="1144352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6260181" y="4485359"/>
                <a:ext cx="2474780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600" b="0" i="1" smtClean="0">
                          <a:solidFill>
                            <a:srgbClr val="00B0F0"/>
                          </a:solidFill>
                          <a:latin typeface="Cambria Math"/>
                        </a:rPr>
                        <m:t>𝑦</m:t>
                      </m:r>
                      <m:r>
                        <a:rPr lang="en-AU" sz="3600" b="0" i="1" smtClean="0">
                          <a:solidFill>
                            <a:srgbClr val="00B0F0"/>
                          </a:solidFill>
                          <a:latin typeface="Cambria Math"/>
                        </a:rPr>
                        <m:t>=2</m:t>
                      </m:r>
                      <m:r>
                        <a:rPr lang="en-AU" sz="3600" b="0" i="1" smtClean="0">
                          <a:solidFill>
                            <a:srgbClr val="00B0F0"/>
                          </a:solidFill>
                          <a:latin typeface="Cambria Math"/>
                        </a:rPr>
                        <m:t>𝑥</m:t>
                      </m:r>
                      <m:r>
                        <a:rPr lang="en-AU" sz="3600" b="0" i="1" smtClean="0">
                          <a:solidFill>
                            <a:srgbClr val="00B0F0"/>
                          </a:solidFill>
                          <a:latin typeface="Cambria Math"/>
                        </a:rPr>
                        <m:t>+1</m:t>
                      </m:r>
                    </m:oMath>
                  </m:oMathPara>
                </a14:m>
                <a:endParaRPr lang="en-AU" sz="3600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0181" y="4485359"/>
                <a:ext cx="2474780" cy="646331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25062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2</a:t>
            </a:r>
            <a:endParaRPr lang="en-AU" dirty="0"/>
          </a:p>
        </p:txBody>
      </p:sp>
      <p:sp>
        <p:nvSpPr>
          <p:cNvPr id="7" name="TextBox 6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3</a:t>
            </a:r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-143838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15616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49591" y="5803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Contents</a:t>
            </a:r>
            <a:endParaRPr lang="en-AU" sz="1600" dirty="0"/>
          </a:p>
        </p:txBody>
      </p:sp>
      <p:sp>
        <p:nvSpPr>
          <p:cNvPr id="23" name="TextBox 22"/>
          <p:cNvSpPr txBox="1"/>
          <p:nvPr/>
        </p:nvSpPr>
        <p:spPr>
          <a:xfrm>
            <a:off x="223224" y="374467"/>
            <a:ext cx="5808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Page</a:t>
            </a:r>
            <a:endParaRPr lang="en-AU" sz="1600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143810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403646" y="344357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Date</a:t>
            </a:r>
            <a:endParaRPr lang="en-AU" sz="1600" dirty="0"/>
          </a:p>
        </p:txBody>
      </p:sp>
      <p:sp>
        <p:nvSpPr>
          <p:cNvPr id="18" name="TextBox 17"/>
          <p:cNvSpPr txBox="1"/>
          <p:nvPr/>
        </p:nvSpPr>
        <p:spPr>
          <a:xfrm>
            <a:off x="2555776" y="344357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Description</a:t>
            </a:r>
            <a:endParaRPr lang="en-AU" sz="1600" dirty="0"/>
          </a:p>
        </p:txBody>
      </p:sp>
      <p:sp>
        <p:nvSpPr>
          <p:cNvPr id="12" name="TextBox 11"/>
          <p:cNvSpPr txBox="1"/>
          <p:nvPr/>
        </p:nvSpPr>
        <p:spPr>
          <a:xfrm>
            <a:off x="6372200" y="153568"/>
            <a:ext cx="8942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Glossary</a:t>
            </a:r>
            <a:endParaRPr lang="en-AU" sz="1600" dirty="0"/>
          </a:p>
        </p:txBody>
      </p:sp>
    </p:spTree>
    <p:extLst>
      <p:ext uri="{BB962C8B-B14F-4D97-AF65-F5344CB8AC3E}">
        <p14:creationId xmlns:p14="http://schemas.microsoft.com/office/powerpoint/2010/main" val="1515457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7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500081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500081" y="1196752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572089" y="5373216"/>
            <a:ext cx="472615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868144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33261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smtClean="0"/>
              <a:t>24</a:t>
            </a:r>
          </a:p>
          <a:p>
            <a:r>
              <a:rPr lang="en-AU" sz="1000" dirty="0" smtClean="0"/>
              <a:t>7</a:t>
            </a:r>
          </a:p>
          <a:p>
            <a:r>
              <a:rPr lang="en-AU" sz="1000" dirty="0" smtClean="0"/>
              <a:t>30</a:t>
            </a:r>
            <a:endParaRPr lang="en-AU" sz="1000" dirty="0"/>
          </a:p>
        </p:txBody>
      </p:sp>
      <p:sp>
        <p:nvSpPr>
          <p:cNvPr id="20" name="TextBox 19"/>
          <p:cNvSpPr txBox="1"/>
          <p:nvPr/>
        </p:nvSpPr>
        <p:spPr>
          <a:xfrm>
            <a:off x="4572089" y="601548"/>
            <a:ext cx="1143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Essential Question</a:t>
            </a:r>
            <a:endParaRPr lang="en-AU" sz="1000" dirty="0"/>
          </a:p>
        </p:txBody>
      </p:sp>
      <p:sp>
        <p:nvSpPr>
          <p:cNvPr id="22" name="TextBox 21"/>
          <p:cNvSpPr txBox="1"/>
          <p:nvPr/>
        </p:nvSpPr>
        <p:spPr>
          <a:xfrm>
            <a:off x="5867750" y="1196751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Notes</a:t>
            </a:r>
            <a:endParaRPr lang="en-AU" sz="1000" dirty="0"/>
          </a:p>
        </p:txBody>
      </p:sp>
      <p:sp>
        <p:nvSpPr>
          <p:cNvPr id="23" name="TextBox 22"/>
          <p:cNvSpPr txBox="1"/>
          <p:nvPr/>
        </p:nvSpPr>
        <p:spPr>
          <a:xfrm>
            <a:off x="4521850" y="1196752"/>
            <a:ext cx="7088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Questions</a:t>
            </a:r>
            <a:endParaRPr lang="en-AU" sz="1000" dirty="0"/>
          </a:p>
        </p:txBody>
      </p:sp>
      <p:sp>
        <p:nvSpPr>
          <p:cNvPr id="24" name="TextBox 23"/>
          <p:cNvSpPr txBox="1"/>
          <p:nvPr/>
        </p:nvSpPr>
        <p:spPr>
          <a:xfrm>
            <a:off x="4572089" y="5373216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Summary</a:t>
            </a:r>
            <a:endParaRPr lang="en-AU" sz="1000" dirty="0"/>
          </a:p>
        </p:txBody>
      </p:sp>
      <p:sp>
        <p:nvSpPr>
          <p:cNvPr id="25" name="TextBox 24"/>
          <p:cNvSpPr txBox="1"/>
          <p:nvPr/>
        </p:nvSpPr>
        <p:spPr>
          <a:xfrm>
            <a:off x="151246" y="142494"/>
            <a:ext cx="671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Tasks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16532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81578" y="298231"/>
            <a:ext cx="35655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Simplifying Expressions</a:t>
            </a:r>
            <a:endParaRPr lang="en-AU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75315" y="1091238"/>
            <a:ext cx="81377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I simplify if the terms are multiplied or divided? 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25192129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81578" y="298231"/>
            <a:ext cx="35655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Simplifying Expressions</a:t>
            </a:r>
            <a:endParaRPr lang="en-AU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75315" y="1091238"/>
            <a:ext cx="81377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I simplify if the terms are multiplied or divided? </a:t>
            </a:r>
            <a:endParaRPr lang="en-AU" sz="2400" dirty="0"/>
          </a:p>
        </p:txBody>
      </p:sp>
      <p:sp>
        <p:nvSpPr>
          <p:cNvPr id="31" name="TextBox 30"/>
          <p:cNvSpPr txBox="1"/>
          <p:nvPr/>
        </p:nvSpPr>
        <p:spPr>
          <a:xfrm>
            <a:off x="75315" y="2221164"/>
            <a:ext cx="29758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happens to the x sign?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5971429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81578" y="298231"/>
            <a:ext cx="35655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Simplifying Expressions</a:t>
            </a:r>
            <a:endParaRPr lang="en-AU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75315" y="1091238"/>
            <a:ext cx="81377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I simplify if the terms are multiplied or divided? </a:t>
            </a:r>
            <a:endParaRPr lang="en-AU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3042388" y="1939315"/>
                <a:ext cx="5832648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=2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𝑎𝑏</m:t>
                      </m:r>
                    </m:oMath>
                  </m:oMathPara>
                </a14:m>
                <a:endParaRPr lang="en-AU" dirty="0" smtClean="0"/>
              </a:p>
              <a:p>
                <a:r>
                  <a:rPr lang="en-AU" dirty="0" smtClean="0"/>
                  <a:t>When multiplying we do not need to write the ‘times’ sign.</a:t>
                </a:r>
              </a:p>
              <a:p>
                <a:r>
                  <a:rPr lang="en-AU" dirty="0" smtClean="0"/>
                  <a:t>Put the number then the variables. </a:t>
                </a:r>
                <a:endParaRPr lang="en-AU" dirty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2388" y="1939315"/>
                <a:ext cx="5832648" cy="923330"/>
              </a:xfrm>
              <a:prstGeom prst="rect">
                <a:avLst/>
              </a:prstGeom>
              <a:blipFill rotWithShape="1">
                <a:blip r:embed="rId2"/>
                <a:stretch>
                  <a:fillRect l="-836" b="-921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TextBox 30"/>
          <p:cNvSpPr txBox="1"/>
          <p:nvPr/>
        </p:nvSpPr>
        <p:spPr>
          <a:xfrm>
            <a:off x="75315" y="2221164"/>
            <a:ext cx="29758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happens to the x sign?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770226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81578" y="298231"/>
            <a:ext cx="35655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Simplifying Expressions</a:t>
            </a:r>
            <a:endParaRPr lang="en-AU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75315" y="1091238"/>
            <a:ext cx="81377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I simplify if the terms are multiplied or divided? </a:t>
            </a:r>
            <a:endParaRPr lang="en-AU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3042388" y="1939315"/>
                <a:ext cx="5832648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=2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𝑎𝑏</m:t>
                      </m:r>
                    </m:oMath>
                  </m:oMathPara>
                </a14:m>
                <a:endParaRPr lang="en-AU" dirty="0" smtClean="0"/>
              </a:p>
              <a:p>
                <a:r>
                  <a:rPr lang="en-AU" dirty="0" smtClean="0"/>
                  <a:t>When multiplying we do not need to write the ‘times’ sign.</a:t>
                </a:r>
              </a:p>
              <a:p>
                <a:r>
                  <a:rPr lang="en-AU" dirty="0" smtClean="0"/>
                  <a:t>Put the number then the variables. </a:t>
                </a:r>
                <a:endParaRPr lang="en-AU" dirty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2388" y="1939315"/>
                <a:ext cx="5832648" cy="923330"/>
              </a:xfrm>
              <a:prstGeom prst="rect">
                <a:avLst/>
              </a:prstGeom>
              <a:blipFill rotWithShape="1">
                <a:blip r:embed="rId2"/>
                <a:stretch>
                  <a:fillRect l="-836" b="-921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TextBox 30"/>
          <p:cNvSpPr txBox="1"/>
          <p:nvPr/>
        </p:nvSpPr>
        <p:spPr>
          <a:xfrm>
            <a:off x="75315" y="2221164"/>
            <a:ext cx="29758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happens to the x sign?</a:t>
            </a:r>
            <a:endParaRPr lang="en-AU" dirty="0"/>
          </a:p>
        </p:txBody>
      </p:sp>
      <p:sp>
        <p:nvSpPr>
          <p:cNvPr id="12" name="TextBox 11"/>
          <p:cNvSpPr txBox="1"/>
          <p:nvPr/>
        </p:nvSpPr>
        <p:spPr>
          <a:xfrm>
            <a:off x="132336" y="3303851"/>
            <a:ext cx="2304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Examples: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3042387" y="3165352"/>
                <a:ext cx="5616624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𝑥𝑦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 ×4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en-AU" b="0" dirty="0" smtClean="0">
                  <a:ea typeface="Cambria Math" panose="02040503050406030204" pitchFamily="18" charset="0"/>
                </a:endParaRPr>
              </a:p>
              <a:p>
                <a:pPr algn="ctr"/>
                <a:r>
                  <a:rPr lang="en-AU" dirty="0" smtClean="0"/>
                  <a:t>(This means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×4×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AU" dirty="0" smtClean="0"/>
                  <a:t>)</a:t>
                </a:r>
                <a:endParaRPr lang="en-AU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2387" y="3165352"/>
                <a:ext cx="5616624" cy="646331"/>
              </a:xfrm>
              <a:prstGeom prst="rect">
                <a:avLst/>
              </a:prstGeom>
              <a:blipFill rotWithShape="1">
                <a:blip r:embed="rId3"/>
                <a:stretch>
                  <a:fillRect b="-1415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647811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81578" y="298231"/>
            <a:ext cx="35655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Simplifying Expressions</a:t>
            </a:r>
            <a:endParaRPr lang="en-AU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75315" y="1091238"/>
            <a:ext cx="81377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I simplify if the terms are multiplied or divided? </a:t>
            </a:r>
            <a:endParaRPr lang="en-AU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3042388" y="1939315"/>
                <a:ext cx="5832648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=2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𝑎𝑏</m:t>
                      </m:r>
                    </m:oMath>
                  </m:oMathPara>
                </a14:m>
                <a:endParaRPr lang="en-AU" dirty="0" smtClean="0"/>
              </a:p>
              <a:p>
                <a:r>
                  <a:rPr lang="en-AU" dirty="0" smtClean="0"/>
                  <a:t>When multiplying we do not need to write the ‘times’ sign.</a:t>
                </a:r>
              </a:p>
              <a:p>
                <a:r>
                  <a:rPr lang="en-AU" dirty="0" smtClean="0"/>
                  <a:t>Put the number then the variables. </a:t>
                </a:r>
                <a:endParaRPr lang="en-AU" dirty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2388" y="1939315"/>
                <a:ext cx="5832648" cy="923330"/>
              </a:xfrm>
              <a:prstGeom prst="rect">
                <a:avLst/>
              </a:prstGeom>
              <a:blipFill rotWithShape="1">
                <a:blip r:embed="rId2"/>
                <a:stretch>
                  <a:fillRect l="-836" b="-921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TextBox 30"/>
          <p:cNvSpPr txBox="1"/>
          <p:nvPr/>
        </p:nvSpPr>
        <p:spPr>
          <a:xfrm>
            <a:off x="75315" y="2221164"/>
            <a:ext cx="29758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happens to the x sign?</a:t>
            </a:r>
            <a:endParaRPr lang="en-AU" dirty="0"/>
          </a:p>
        </p:txBody>
      </p:sp>
      <p:sp>
        <p:nvSpPr>
          <p:cNvPr id="12" name="TextBox 11"/>
          <p:cNvSpPr txBox="1"/>
          <p:nvPr/>
        </p:nvSpPr>
        <p:spPr>
          <a:xfrm>
            <a:off x="132336" y="3303851"/>
            <a:ext cx="2304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Examples: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3042387" y="3165352"/>
                <a:ext cx="5616624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𝑥𝑦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 ×4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en-AU" b="0" dirty="0" smtClean="0">
                  <a:ea typeface="Cambria Math" panose="02040503050406030204" pitchFamily="18" charset="0"/>
                </a:endParaRPr>
              </a:p>
              <a:p>
                <a:pPr algn="ctr"/>
                <a:r>
                  <a:rPr lang="en-AU" dirty="0" smtClean="0"/>
                  <a:t>(This means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×4×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AU" dirty="0" smtClean="0"/>
                  <a:t>)</a:t>
                </a:r>
                <a:endParaRPr lang="en-AU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2387" y="3165352"/>
                <a:ext cx="5616624" cy="646331"/>
              </a:xfrm>
              <a:prstGeom prst="rect">
                <a:avLst/>
              </a:prstGeom>
              <a:blipFill rotWithShape="1">
                <a:blip r:embed="rId3"/>
                <a:stretch>
                  <a:fillRect b="-1415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/>
          <p:cNvSpPr txBox="1"/>
          <p:nvPr/>
        </p:nvSpPr>
        <p:spPr>
          <a:xfrm>
            <a:off x="3044214" y="3809264"/>
            <a:ext cx="58326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Multiply the numbers first and then put the letters together.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2290876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81578" y="298231"/>
            <a:ext cx="35655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Simplifying Expressions</a:t>
            </a:r>
            <a:endParaRPr lang="en-AU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75315" y="1091238"/>
            <a:ext cx="81377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I simplify if the terms are multiplied or divided? </a:t>
            </a:r>
            <a:endParaRPr lang="en-AU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3042388" y="1939315"/>
                <a:ext cx="5832648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=2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𝑎𝑏</m:t>
                      </m:r>
                    </m:oMath>
                  </m:oMathPara>
                </a14:m>
                <a:endParaRPr lang="en-AU" dirty="0" smtClean="0"/>
              </a:p>
              <a:p>
                <a:r>
                  <a:rPr lang="en-AU" dirty="0" smtClean="0"/>
                  <a:t>When multiplying we do not need to write the ‘times’ sign.</a:t>
                </a:r>
              </a:p>
              <a:p>
                <a:r>
                  <a:rPr lang="en-AU" dirty="0" smtClean="0"/>
                  <a:t>Put the number then the variables. </a:t>
                </a:r>
                <a:endParaRPr lang="en-AU" dirty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2388" y="1939315"/>
                <a:ext cx="5832648" cy="923330"/>
              </a:xfrm>
              <a:prstGeom prst="rect">
                <a:avLst/>
              </a:prstGeom>
              <a:blipFill rotWithShape="1">
                <a:blip r:embed="rId2"/>
                <a:stretch>
                  <a:fillRect l="-836" b="-921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TextBox 30"/>
          <p:cNvSpPr txBox="1"/>
          <p:nvPr/>
        </p:nvSpPr>
        <p:spPr>
          <a:xfrm>
            <a:off x="75315" y="2221164"/>
            <a:ext cx="29758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happens to the x sign?</a:t>
            </a:r>
            <a:endParaRPr lang="en-AU" dirty="0"/>
          </a:p>
        </p:txBody>
      </p:sp>
      <p:sp>
        <p:nvSpPr>
          <p:cNvPr id="12" name="TextBox 11"/>
          <p:cNvSpPr txBox="1"/>
          <p:nvPr/>
        </p:nvSpPr>
        <p:spPr>
          <a:xfrm>
            <a:off x="132336" y="3303851"/>
            <a:ext cx="2304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Examples: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3042387" y="3165352"/>
                <a:ext cx="5616624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𝑥𝑦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 ×4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en-AU" b="0" dirty="0" smtClean="0">
                  <a:ea typeface="Cambria Math" panose="02040503050406030204" pitchFamily="18" charset="0"/>
                </a:endParaRPr>
              </a:p>
              <a:p>
                <a:pPr algn="ctr"/>
                <a:r>
                  <a:rPr lang="en-AU" dirty="0" smtClean="0"/>
                  <a:t>(This means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×4×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AU" dirty="0" smtClean="0"/>
                  <a:t>)</a:t>
                </a:r>
                <a:endParaRPr lang="en-AU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2387" y="3165352"/>
                <a:ext cx="5616624" cy="646331"/>
              </a:xfrm>
              <a:prstGeom prst="rect">
                <a:avLst/>
              </a:prstGeom>
              <a:blipFill rotWithShape="1">
                <a:blip r:embed="rId3"/>
                <a:stretch>
                  <a:fillRect b="-1415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/>
          <p:cNvSpPr txBox="1"/>
          <p:nvPr/>
        </p:nvSpPr>
        <p:spPr>
          <a:xfrm>
            <a:off x="3044214" y="3809264"/>
            <a:ext cx="58326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Multiply the numbers first and then put the letters together.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3054692" y="4149950"/>
                <a:ext cx="576064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                                        3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×4×</m:t>
                      </m:r>
                      <m:r>
                        <a:rPr lang="en-AU" b="0" i="1" smtClean="0">
                          <a:latin typeface="Cambria Math"/>
                          <a:ea typeface="Cambria Math" panose="02040503050406030204" pitchFamily="18" charset="0"/>
                        </a:rPr>
                        <m:t>𝑚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b="0" i="1" smtClean="0">
                          <a:latin typeface="Cambria Math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b="0" i="1" smtClean="0">
                          <a:latin typeface="Cambria Math"/>
                          <a:ea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AU" b="0" i="1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en-AU" dirty="0" smtClean="0"/>
                  <a:t>                                       </a:t>
                </a:r>
                <a14:m>
                  <m:oMath xmlns:m="http://schemas.openxmlformats.org/officeDocument/2006/math">
                    <m:r>
                      <a:rPr lang="en-AU" i="1" dirty="0" smtClean="0">
                        <a:latin typeface="Cambria Math" panose="02040503050406030204" pitchFamily="18" charset="0"/>
                      </a:rPr>
                      <m:t>=12</m:t>
                    </m:r>
                    <m:r>
                      <a:rPr lang="en-AU" b="0" i="1" dirty="0" smtClean="0">
                        <a:latin typeface="Cambria Math"/>
                      </a:rPr>
                      <m:t>𝑚</m:t>
                    </m:r>
                    <m:r>
                      <a:rPr lang="en-AU" i="1" dirty="0" smtClean="0">
                        <a:latin typeface="Cambria Math" panose="02040503050406030204" pitchFamily="18" charset="0"/>
                      </a:rPr>
                      <m:t>𝑥𝑦</m:t>
                    </m:r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4692" y="4149950"/>
                <a:ext cx="5760640" cy="646331"/>
              </a:xfrm>
              <a:prstGeom prst="rect">
                <a:avLst/>
              </a:prstGeom>
              <a:blipFill rotWithShape="1">
                <a:blip r:embed="rId4"/>
                <a:stretch>
                  <a:fillRect b="-283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460204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81578" y="298231"/>
            <a:ext cx="35655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Simplifying Expressions</a:t>
            </a:r>
            <a:endParaRPr lang="en-AU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75315" y="1091238"/>
            <a:ext cx="81377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I simplify if the terms are multiplied or divided? </a:t>
            </a:r>
            <a:endParaRPr lang="en-AU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3042388" y="1939315"/>
                <a:ext cx="5832648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=2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𝑎𝑏</m:t>
                      </m:r>
                    </m:oMath>
                  </m:oMathPara>
                </a14:m>
                <a:endParaRPr lang="en-AU" dirty="0" smtClean="0"/>
              </a:p>
              <a:p>
                <a:r>
                  <a:rPr lang="en-AU" dirty="0" smtClean="0"/>
                  <a:t>When multiplying we do not need to write the ‘times’ sign.</a:t>
                </a:r>
              </a:p>
              <a:p>
                <a:r>
                  <a:rPr lang="en-AU" dirty="0" smtClean="0"/>
                  <a:t>Put the number then the variables. </a:t>
                </a:r>
                <a:endParaRPr lang="en-AU" dirty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2388" y="1939315"/>
                <a:ext cx="5832648" cy="923330"/>
              </a:xfrm>
              <a:prstGeom prst="rect">
                <a:avLst/>
              </a:prstGeom>
              <a:blipFill rotWithShape="1">
                <a:blip r:embed="rId2"/>
                <a:stretch>
                  <a:fillRect l="-836" b="-921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TextBox 30"/>
          <p:cNvSpPr txBox="1"/>
          <p:nvPr/>
        </p:nvSpPr>
        <p:spPr>
          <a:xfrm>
            <a:off x="75315" y="2221164"/>
            <a:ext cx="29758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happens to the x sign?</a:t>
            </a:r>
            <a:endParaRPr lang="en-AU" dirty="0"/>
          </a:p>
        </p:txBody>
      </p:sp>
      <p:sp>
        <p:nvSpPr>
          <p:cNvPr id="12" name="TextBox 11"/>
          <p:cNvSpPr txBox="1"/>
          <p:nvPr/>
        </p:nvSpPr>
        <p:spPr>
          <a:xfrm>
            <a:off x="132336" y="3303851"/>
            <a:ext cx="2304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Examples: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3042387" y="3165352"/>
                <a:ext cx="5616624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𝑥𝑦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 ×4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en-AU" b="0" dirty="0" smtClean="0">
                  <a:ea typeface="Cambria Math" panose="02040503050406030204" pitchFamily="18" charset="0"/>
                </a:endParaRPr>
              </a:p>
              <a:p>
                <a:pPr algn="ctr"/>
                <a:r>
                  <a:rPr lang="en-AU" dirty="0" smtClean="0"/>
                  <a:t>(This means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×4×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AU" dirty="0" smtClean="0"/>
                  <a:t>)</a:t>
                </a:r>
                <a:endParaRPr lang="en-AU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2387" y="3165352"/>
                <a:ext cx="5616624" cy="646331"/>
              </a:xfrm>
              <a:prstGeom prst="rect">
                <a:avLst/>
              </a:prstGeom>
              <a:blipFill rotWithShape="1">
                <a:blip r:embed="rId3"/>
                <a:stretch>
                  <a:fillRect b="-1415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/>
          <p:cNvSpPr txBox="1"/>
          <p:nvPr/>
        </p:nvSpPr>
        <p:spPr>
          <a:xfrm>
            <a:off x="3044214" y="3809264"/>
            <a:ext cx="58326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Multiply the numbers first and then put the letters together.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3054692" y="4149950"/>
                <a:ext cx="576064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                                        3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×4×</m:t>
                      </m:r>
                      <m:r>
                        <a:rPr lang="en-AU" b="0" i="1" smtClean="0">
                          <a:latin typeface="Cambria Math"/>
                          <a:ea typeface="Cambria Math" panose="02040503050406030204" pitchFamily="18" charset="0"/>
                        </a:rPr>
                        <m:t>𝑚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b="0" i="1" smtClean="0">
                          <a:latin typeface="Cambria Math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b="0" i="1" smtClean="0">
                          <a:latin typeface="Cambria Math"/>
                          <a:ea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AU" b="0" i="1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en-AU" dirty="0" smtClean="0"/>
                  <a:t>                                       </a:t>
                </a:r>
                <a14:m>
                  <m:oMath xmlns:m="http://schemas.openxmlformats.org/officeDocument/2006/math">
                    <m:r>
                      <a:rPr lang="en-AU" i="1" dirty="0" smtClean="0">
                        <a:latin typeface="Cambria Math" panose="02040503050406030204" pitchFamily="18" charset="0"/>
                      </a:rPr>
                      <m:t>=12</m:t>
                    </m:r>
                    <m:r>
                      <a:rPr lang="en-AU" b="0" i="1" dirty="0" smtClean="0">
                        <a:latin typeface="Cambria Math"/>
                      </a:rPr>
                      <m:t>𝑚</m:t>
                    </m:r>
                    <m:r>
                      <a:rPr lang="en-AU" i="1" dirty="0" smtClean="0">
                        <a:latin typeface="Cambria Math" panose="02040503050406030204" pitchFamily="18" charset="0"/>
                      </a:rPr>
                      <m:t>𝑥𝑦</m:t>
                    </m:r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4692" y="4149950"/>
                <a:ext cx="5760640" cy="646331"/>
              </a:xfrm>
              <a:prstGeom prst="rect">
                <a:avLst/>
              </a:prstGeom>
              <a:blipFill rotWithShape="1">
                <a:blip r:embed="rId4"/>
                <a:stretch>
                  <a:fillRect b="-283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3002749" y="4693653"/>
                <a:ext cx="576064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Something harder: 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4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×3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𝑧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×2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𝑥𝑦𝑧</m:t>
                    </m:r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2749" y="4693653"/>
                <a:ext cx="5760640" cy="369332"/>
              </a:xfrm>
              <a:prstGeom prst="rect">
                <a:avLst/>
              </a:prstGeom>
              <a:blipFill rotWithShape="1">
                <a:blip r:embed="rId5"/>
                <a:stretch>
                  <a:fillRect l="-952" t="-8197" b="-2459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3029727" y="5184410"/>
                <a:ext cx="589151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×3×2×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𝑧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29727" y="5184410"/>
                <a:ext cx="5891511" cy="369332"/>
              </a:xfrm>
              <a:prstGeom prst="rect">
                <a:avLst/>
              </a:prstGeom>
              <a:blipFill rotWithShape="1">
                <a:blip r:embed="rId6"/>
                <a:stretch>
                  <a:fillRect b="-491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3164210" y="6061938"/>
                <a:ext cx="532859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24</m:t>
                      </m:r>
                      <m:sSup>
                        <m:sSupPr>
                          <m:ctrlPr>
                            <a:rPr lang="en-AU" b="0" i="1" smtClean="0">
                              <a:latin typeface="Cambria Math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sSup>
                        <m:sSupPr>
                          <m:ctrlPr>
                            <a:rPr lang="en-AU" b="0" i="1" smtClean="0">
                              <a:latin typeface="Cambria Math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4210" y="6061938"/>
                <a:ext cx="5328592" cy="369332"/>
              </a:xfrm>
              <a:prstGeom prst="rect">
                <a:avLst/>
              </a:prstGeom>
              <a:blipFill rotWithShape="1">
                <a:blip r:embed="rId7"/>
                <a:stretch>
                  <a:fillRect b="-491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3065667" y="5665910"/>
                <a:ext cx="144186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dirty="0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AU" i="1" dirty="0" smtClean="0">
                          <a:latin typeface="Cambria Math"/>
                          <a:ea typeface="Cambria Math"/>
                        </a:rPr>
                        <m:t>×</m:t>
                      </m:r>
                      <m:r>
                        <a:rPr lang="en-AU" i="1" dirty="0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AU" i="1" dirty="0" smtClean="0">
                          <a:latin typeface="Cambria Math"/>
                          <a:ea typeface="Cambria Math"/>
                        </a:rPr>
                        <m:t>×</m:t>
                      </m:r>
                      <m:r>
                        <a:rPr lang="en-AU" i="1" dirty="0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65667" y="5665910"/>
                <a:ext cx="1441863" cy="369332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4507531" y="5665910"/>
                <a:ext cx="128446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AU" b="0" i="1" smtClean="0">
                              <a:latin typeface="Cambria Math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07531" y="5665910"/>
                <a:ext cx="1284464" cy="369332"/>
              </a:xfrm>
              <a:prstGeom prst="rect">
                <a:avLst/>
              </a:prstGeom>
              <a:blipFill rotWithShape="1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5975482" y="5651712"/>
                <a:ext cx="108012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Only 1 </a:t>
                </a:r>
                <a14:m>
                  <m:oMath xmlns:m="http://schemas.openxmlformats.org/officeDocument/2006/math">
                    <m:r>
                      <a:rPr lang="en-AU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75482" y="5651712"/>
                <a:ext cx="1080120" cy="369332"/>
              </a:xfrm>
              <a:prstGeom prst="rect">
                <a:avLst/>
              </a:prstGeom>
              <a:blipFill rotWithShape="1">
                <a:blip r:embed="rId10"/>
                <a:stretch>
                  <a:fillRect l="-4520" t="-8197" b="-2459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7055602" y="5665910"/>
                <a:ext cx="170778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𝑧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AU" b="0" i="1" smtClean="0">
                              <a:latin typeface="Cambria Math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55602" y="5665910"/>
                <a:ext cx="1707787" cy="369332"/>
              </a:xfrm>
              <a:prstGeom prst="rect">
                <a:avLst/>
              </a:prstGeom>
              <a:blipFill rotWithShape="1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Straight Arrow Connector 22"/>
          <p:cNvCxnSpPr/>
          <p:nvPr/>
        </p:nvCxnSpPr>
        <p:spPr>
          <a:xfrm flipV="1">
            <a:off x="4028306" y="5404574"/>
            <a:ext cx="479225" cy="26133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 flipV="1">
            <a:off x="5364206" y="5459013"/>
            <a:ext cx="479225" cy="26133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/>
          <p:nvPr/>
        </p:nvCxnSpPr>
        <p:spPr>
          <a:xfrm flipV="1">
            <a:off x="6460493" y="5535242"/>
            <a:ext cx="55049" cy="20438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 flipH="1" flipV="1">
            <a:off x="7340674" y="5479158"/>
            <a:ext cx="339148" cy="19811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167908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81578" y="298231"/>
            <a:ext cx="35655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Simplifying Expressions</a:t>
            </a:r>
            <a:endParaRPr lang="en-AU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75315" y="1091238"/>
            <a:ext cx="81377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I simplify if the terms are multiplied or divided? 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0143" y="2106654"/>
            <a:ext cx="2304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Examples: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3020194" y="1968155"/>
                <a:ext cx="5616624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𝑥𝑦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 ×4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en-AU" b="0" dirty="0" smtClean="0">
                  <a:ea typeface="Cambria Math" panose="02040503050406030204" pitchFamily="18" charset="0"/>
                </a:endParaRPr>
              </a:p>
              <a:p>
                <a:pPr algn="ctr"/>
                <a:r>
                  <a:rPr lang="en-AU" dirty="0" smtClean="0"/>
                  <a:t>(This means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×4×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AU" dirty="0" smtClean="0"/>
                  <a:t>)</a:t>
                </a:r>
                <a:endParaRPr lang="en-AU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20194" y="1968155"/>
                <a:ext cx="5616624" cy="646331"/>
              </a:xfrm>
              <a:prstGeom prst="rect">
                <a:avLst/>
              </a:prstGeom>
              <a:blipFill rotWithShape="1">
                <a:blip r:embed="rId2"/>
                <a:stretch>
                  <a:fillRect b="-1415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/>
          <p:cNvSpPr txBox="1"/>
          <p:nvPr/>
        </p:nvSpPr>
        <p:spPr>
          <a:xfrm>
            <a:off x="3022021" y="2612067"/>
            <a:ext cx="58326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Multiply the numbers first and then put the letters together.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3032499" y="2952753"/>
                <a:ext cx="576064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                                        3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×4×</m:t>
                      </m:r>
                      <m:r>
                        <a:rPr lang="en-AU" b="0" i="1" smtClean="0">
                          <a:latin typeface="Cambria Math"/>
                          <a:ea typeface="Cambria Math" panose="02040503050406030204" pitchFamily="18" charset="0"/>
                        </a:rPr>
                        <m:t>𝑚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b="0" i="1" smtClean="0">
                          <a:latin typeface="Cambria Math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b="0" i="1" smtClean="0">
                          <a:latin typeface="Cambria Math"/>
                          <a:ea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AU" b="0" i="1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en-AU" dirty="0" smtClean="0"/>
                  <a:t>                                       </a:t>
                </a:r>
                <a14:m>
                  <m:oMath xmlns:m="http://schemas.openxmlformats.org/officeDocument/2006/math">
                    <m:r>
                      <a:rPr lang="en-AU" i="1" dirty="0" smtClean="0">
                        <a:latin typeface="Cambria Math" panose="02040503050406030204" pitchFamily="18" charset="0"/>
                      </a:rPr>
                      <m:t>=12</m:t>
                    </m:r>
                    <m:r>
                      <a:rPr lang="en-AU" b="0" i="1" dirty="0" smtClean="0">
                        <a:latin typeface="Cambria Math"/>
                      </a:rPr>
                      <m:t>𝑚</m:t>
                    </m:r>
                    <m:r>
                      <a:rPr lang="en-AU" i="1" dirty="0" smtClean="0">
                        <a:latin typeface="Cambria Math" panose="02040503050406030204" pitchFamily="18" charset="0"/>
                      </a:rPr>
                      <m:t>𝑥𝑦</m:t>
                    </m:r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2499" y="2952753"/>
                <a:ext cx="5760640" cy="646331"/>
              </a:xfrm>
              <a:prstGeom prst="rect">
                <a:avLst/>
              </a:prstGeom>
              <a:blipFill rotWithShape="1">
                <a:blip r:embed="rId3"/>
                <a:stretch>
                  <a:fillRect b="-283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2980556" y="3496456"/>
                <a:ext cx="576064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Something harder: 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4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×3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𝑧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×2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𝑥𝑦𝑧</m:t>
                    </m:r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0556" y="3496456"/>
                <a:ext cx="5760640" cy="369332"/>
              </a:xfrm>
              <a:prstGeom prst="rect">
                <a:avLst/>
              </a:prstGeom>
              <a:blipFill rotWithShape="1">
                <a:blip r:embed="rId4"/>
                <a:stretch>
                  <a:fillRect l="-952" t="-8333" b="-2666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3007534" y="3987213"/>
                <a:ext cx="589151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×3×2×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𝑧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7534" y="3987213"/>
                <a:ext cx="5891511" cy="369332"/>
              </a:xfrm>
              <a:prstGeom prst="rect">
                <a:avLst/>
              </a:prstGeom>
              <a:blipFill rotWithShape="1">
                <a:blip r:embed="rId5"/>
                <a:stretch>
                  <a:fillRect b="-491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3142017" y="4864741"/>
                <a:ext cx="532859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24</m:t>
                      </m:r>
                      <m:sSup>
                        <m:sSupPr>
                          <m:ctrlPr>
                            <a:rPr lang="en-AU" b="0" i="1" smtClean="0">
                              <a:latin typeface="Cambria Math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sSup>
                        <m:sSupPr>
                          <m:ctrlPr>
                            <a:rPr lang="en-AU" b="0" i="1" smtClean="0">
                              <a:latin typeface="Cambria Math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42017" y="4864741"/>
                <a:ext cx="5328592" cy="369332"/>
              </a:xfrm>
              <a:prstGeom prst="rect">
                <a:avLst/>
              </a:prstGeom>
              <a:blipFill rotWithShape="1">
                <a:blip r:embed="rId6"/>
                <a:stretch>
                  <a:fillRect b="-491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3043474" y="4468713"/>
                <a:ext cx="144186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dirty="0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AU" i="1" dirty="0" smtClean="0">
                          <a:latin typeface="Cambria Math"/>
                          <a:ea typeface="Cambria Math"/>
                        </a:rPr>
                        <m:t>×</m:t>
                      </m:r>
                      <m:r>
                        <a:rPr lang="en-AU" i="1" dirty="0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AU" i="1" dirty="0" smtClean="0">
                          <a:latin typeface="Cambria Math"/>
                          <a:ea typeface="Cambria Math"/>
                        </a:rPr>
                        <m:t>×</m:t>
                      </m:r>
                      <m:r>
                        <a:rPr lang="en-AU" i="1" dirty="0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3474" y="4468713"/>
                <a:ext cx="1441863" cy="369332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4485338" y="4468713"/>
                <a:ext cx="128446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AU" b="0" i="1" smtClean="0">
                              <a:latin typeface="Cambria Math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85338" y="4468713"/>
                <a:ext cx="1284464" cy="369332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5953289" y="4454515"/>
                <a:ext cx="108012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Only 1 </a:t>
                </a:r>
                <a14:m>
                  <m:oMath xmlns:m="http://schemas.openxmlformats.org/officeDocument/2006/math">
                    <m:r>
                      <a:rPr lang="en-AU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3289" y="4454515"/>
                <a:ext cx="1080120" cy="369332"/>
              </a:xfrm>
              <a:prstGeom prst="rect">
                <a:avLst/>
              </a:prstGeom>
              <a:blipFill rotWithShape="1">
                <a:blip r:embed="rId9"/>
                <a:stretch>
                  <a:fillRect l="-5085" t="-8333" b="-2666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7033409" y="4468713"/>
                <a:ext cx="170778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𝑧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AU" b="0" i="1" smtClean="0">
                              <a:latin typeface="Cambria Math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33409" y="4468713"/>
                <a:ext cx="1707787" cy="369332"/>
              </a:xfrm>
              <a:prstGeom prst="rect">
                <a:avLst/>
              </a:prstGeom>
              <a:blipFill rotWithShape="1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Straight Arrow Connector 22"/>
          <p:cNvCxnSpPr/>
          <p:nvPr/>
        </p:nvCxnSpPr>
        <p:spPr>
          <a:xfrm flipV="1">
            <a:off x="4006113" y="4207377"/>
            <a:ext cx="479225" cy="26133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 flipV="1">
            <a:off x="5342013" y="4261816"/>
            <a:ext cx="479225" cy="26133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/>
          <p:nvPr/>
        </p:nvCxnSpPr>
        <p:spPr>
          <a:xfrm flipV="1">
            <a:off x="6438300" y="4338045"/>
            <a:ext cx="55049" cy="20438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 flipH="1" flipV="1">
            <a:off x="7318481" y="4281961"/>
            <a:ext cx="339148" cy="19811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3032499" y="5377422"/>
                <a:ext cx="583264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𝑒</m:t>
                      </m:r>
                    </m:oMath>
                  </m:oMathPara>
                </a14:m>
                <a:endParaRPr lang="en-AU" b="0" dirty="0" smtClean="0">
                  <a:ea typeface="Cambria Math" panose="02040503050406030204" pitchFamily="18" charset="0"/>
                </a:endParaRPr>
              </a:p>
              <a:p>
                <a:pPr algn="ctr"/>
                <a:r>
                  <a:rPr lang="en-AU" dirty="0" smtClean="0"/>
                  <a:t>When dividing we use a fraction line instead of </a:t>
                </a:r>
                <a14:m>
                  <m:oMath xmlns:m="http://schemas.openxmlformats.org/officeDocument/2006/math">
                    <m:r>
                      <a:rPr lang="en-AU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</m:t>
                    </m:r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2499" y="5377422"/>
                <a:ext cx="5832648" cy="646331"/>
              </a:xfrm>
              <a:prstGeom prst="rect">
                <a:avLst/>
              </a:prstGeom>
              <a:blipFill rotWithShape="1">
                <a:blip r:embed="rId11"/>
                <a:stretch>
                  <a:fillRect b="-1415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9" name="TextBox 28"/>
              <p:cNvSpPr txBox="1"/>
              <p:nvPr/>
            </p:nvSpPr>
            <p:spPr>
              <a:xfrm>
                <a:off x="3032499" y="6034889"/>
                <a:ext cx="5832648" cy="5085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Thus:                              </a:t>
                </a:r>
                <a14:m>
                  <m:oMath xmlns:m="http://schemas.openxmlformats.org/officeDocument/2006/math">
                    <m:r>
                      <a:rPr lang="en-AU" b="0" i="0" smtClean="0">
                        <a:latin typeface="Cambria Math" panose="02040503050406030204" pitchFamily="18" charset="0"/>
                      </a:rPr>
                      <m:t>       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AU" b="0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AU" b="0" i="1" smtClean="0">
                            <a:latin typeface="Cambria Math"/>
                          </a:rPr>
                          <m:t>𝑒</m:t>
                        </m:r>
                      </m:den>
                    </m:f>
                  </m:oMath>
                </a14:m>
                <a:endParaRPr lang="en-AU" dirty="0"/>
              </a:p>
            </p:txBody>
          </p:sp>
        </mc:Choice>
        <mc:Fallback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2499" y="6034889"/>
                <a:ext cx="5832648" cy="508537"/>
              </a:xfrm>
              <a:prstGeom prst="rect">
                <a:avLst/>
              </a:prstGeom>
              <a:blipFill rotWithShape="1">
                <a:blip r:embed="rId12"/>
                <a:stretch>
                  <a:fillRect l="-836" b="-481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/>
              <p:cNvSpPr txBox="1"/>
              <p:nvPr/>
            </p:nvSpPr>
            <p:spPr>
              <a:xfrm>
                <a:off x="65426" y="5515922"/>
                <a:ext cx="297589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What happens to the </a:t>
                </a:r>
                <a14:m>
                  <m:oMath xmlns:m="http://schemas.openxmlformats.org/officeDocument/2006/math">
                    <m:r>
                      <a:rPr lang="en-AU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</m:t>
                    </m:r>
                  </m:oMath>
                </a14:m>
                <a:r>
                  <a:rPr lang="en-AU" dirty="0" smtClean="0"/>
                  <a:t> sign?</a:t>
                </a:r>
                <a:endParaRPr lang="en-AU" dirty="0"/>
              </a:p>
            </p:txBody>
          </p:sp>
        </mc:Choice>
        <mc:Fallback xmlns=""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26" y="5515922"/>
                <a:ext cx="2975893" cy="369332"/>
              </a:xfrm>
              <a:prstGeom prst="rect">
                <a:avLst/>
              </a:prstGeom>
              <a:blipFill rotWithShape="1">
                <a:blip r:embed="rId13"/>
                <a:stretch>
                  <a:fillRect l="-1844" t="-8333" b="-2666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655583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81578" y="298231"/>
            <a:ext cx="35655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Simplifying Expressions</a:t>
            </a:r>
            <a:endParaRPr lang="en-AU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75315" y="1091238"/>
            <a:ext cx="81377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I simplify if the terms are multiplied or divided? </a:t>
            </a:r>
            <a:endParaRPr lang="en-AU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3032499" y="2016105"/>
                <a:ext cx="576064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Something harder: 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4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×3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𝑧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×2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𝑥𝑦𝑧</m:t>
                    </m:r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2499" y="2016105"/>
                <a:ext cx="5760640" cy="369332"/>
              </a:xfrm>
              <a:prstGeom prst="rect">
                <a:avLst/>
              </a:prstGeom>
              <a:blipFill rotWithShape="1">
                <a:blip r:embed="rId2"/>
                <a:stretch>
                  <a:fillRect l="-847" t="-8333" b="-2666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3059477" y="2506862"/>
                <a:ext cx="589151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×3×2×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𝑧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9477" y="2506862"/>
                <a:ext cx="5891511" cy="369332"/>
              </a:xfrm>
              <a:prstGeom prst="rect">
                <a:avLst/>
              </a:prstGeom>
              <a:blipFill rotWithShape="1">
                <a:blip r:embed="rId3"/>
                <a:stretch>
                  <a:fillRect b="-491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3193960" y="3384390"/>
                <a:ext cx="532859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24</m:t>
                      </m:r>
                      <m:sSup>
                        <m:sSupPr>
                          <m:ctrlPr>
                            <a:rPr lang="en-AU" b="0" i="1" smtClean="0">
                              <a:latin typeface="Cambria Math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sSup>
                        <m:sSupPr>
                          <m:ctrlPr>
                            <a:rPr lang="en-AU" b="0" i="1" smtClean="0">
                              <a:latin typeface="Cambria Math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3960" y="3384390"/>
                <a:ext cx="5328592" cy="369332"/>
              </a:xfrm>
              <a:prstGeom prst="rect">
                <a:avLst/>
              </a:prstGeom>
              <a:blipFill rotWithShape="1">
                <a:blip r:embed="rId4"/>
                <a:stretch>
                  <a:fillRect b="-491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3095417" y="2988362"/>
                <a:ext cx="144186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dirty="0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AU" i="1" dirty="0" smtClean="0">
                          <a:latin typeface="Cambria Math"/>
                          <a:ea typeface="Cambria Math"/>
                        </a:rPr>
                        <m:t>×</m:t>
                      </m:r>
                      <m:r>
                        <a:rPr lang="en-AU" i="1" dirty="0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AU" i="1" dirty="0" smtClean="0">
                          <a:latin typeface="Cambria Math"/>
                          <a:ea typeface="Cambria Math"/>
                        </a:rPr>
                        <m:t>×</m:t>
                      </m:r>
                      <m:r>
                        <a:rPr lang="en-AU" i="1" dirty="0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95417" y="2988362"/>
                <a:ext cx="1441863" cy="369332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4537281" y="2988362"/>
                <a:ext cx="128446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AU" b="0" i="1" smtClean="0">
                              <a:latin typeface="Cambria Math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37281" y="2988362"/>
                <a:ext cx="1284464" cy="369332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6005232" y="2974164"/>
                <a:ext cx="108012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Only 1 </a:t>
                </a:r>
                <a14:m>
                  <m:oMath xmlns:m="http://schemas.openxmlformats.org/officeDocument/2006/math">
                    <m:r>
                      <a:rPr lang="en-AU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05232" y="2974164"/>
                <a:ext cx="1080120" cy="369332"/>
              </a:xfrm>
              <a:prstGeom prst="rect">
                <a:avLst/>
              </a:prstGeom>
              <a:blipFill rotWithShape="1">
                <a:blip r:embed="rId7"/>
                <a:stretch>
                  <a:fillRect l="-4520" t="-8333" b="-2666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7085352" y="2988362"/>
                <a:ext cx="170778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𝑧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AU" b="0" i="1" smtClean="0">
                              <a:latin typeface="Cambria Math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85352" y="2988362"/>
                <a:ext cx="1707787" cy="369332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Straight Arrow Connector 22"/>
          <p:cNvCxnSpPr/>
          <p:nvPr/>
        </p:nvCxnSpPr>
        <p:spPr>
          <a:xfrm flipV="1">
            <a:off x="4058056" y="2727026"/>
            <a:ext cx="479225" cy="26133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 flipV="1">
            <a:off x="5393956" y="2781465"/>
            <a:ext cx="479225" cy="26133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/>
          <p:nvPr/>
        </p:nvCxnSpPr>
        <p:spPr>
          <a:xfrm flipV="1">
            <a:off x="6490243" y="2857694"/>
            <a:ext cx="55049" cy="20438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 flipH="1" flipV="1">
            <a:off x="7370424" y="2801610"/>
            <a:ext cx="339148" cy="19811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3084442" y="3897071"/>
                <a:ext cx="583264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𝑒</m:t>
                      </m:r>
                    </m:oMath>
                  </m:oMathPara>
                </a14:m>
                <a:endParaRPr lang="en-AU" b="0" dirty="0" smtClean="0">
                  <a:ea typeface="Cambria Math" panose="02040503050406030204" pitchFamily="18" charset="0"/>
                </a:endParaRPr>
              </a:p>
              <a:p>
                <a:pPr algn="ctr"/>
                <a:r>
                  <a:rPr lang="en-AU" dirty="0" smtClean="0"/>
                  <a:t>When dividing we use a fraction line instead of </a:t>
                </a:r>
                <a14:m>
                  <m:oMath xmlns:m="http://schemas.openxmlformats.org/officeDocument/2006/math">
                    <m:r>
                      <a:rPr lang="en-AU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</m:t>
                    </m:r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84442" y="3897071"/>
                <a:ext cx="5832648" cy="646331"/>
              </a:xfrm>
              <a:prstGeom prst="rect">
                <a:avLst/>
              </a:prstGeom>
              <a:blipFill rotWithShape="1">
                <a:blip r:embed="rId9"/>
                <a:stretch>
                  <a:fillRect b="-1415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9" name="TextBox 28"/>
              <p:cNvSpPr txBox="1"/>
              <p:nvPr/>
            </p:nvSpPr>
            <p:spPr>
              <a:xfrm>
                <a:off x="3084442" y="4554538"/>
                <a:ext cx="5832648" cy="5085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Thus:                              </a:t>
                </a:r>
                <a14:m>
                  <m:oMath xmlns:m="http://schemas.openxmlformats.org/officeDocument/2006/math">
                    <m:r>
                      <a:rPr lang="en-AU" b="0" i="0" smtClean="0">
                        <a:latin typeface="Cambria Math" panose="02040503050406030204" pitchFamily="18" charset="0"/>
                      </a:rPr>
                      <m:t>       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AU" b="0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AU" b="0" i="1" smtClean="0">
                            <a:latin typeface="Cambria Math"/>
                          </a:rPr>
                          <m:t>𝑒</m:t>
                        </m:r>
                      </m:den>
                    </m:f>
                  </m:oMath>
                </a14:m>
                <a:endParaRPr lang="en-AU" dirty="0"/>
              </a:p>
            </p:txBody>
          </p:sp>
        </mc:Choice>
        <mc:Fallback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84442" y="4554538"/>
                <a:ext cx="5832648" cy="508537"/>
              </a:xfrm>
              <a:prstGeom prst="rect">
                <a:avLst/>
              </a:prstGeom>
              <a:blipFill rotWithShape="1">
                <a:blip r:embed="rId10"/>
                <a:stretch>
                  <a:fillRect l="-940" b="-357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/>
              <p:cNvSpPr txBox="1"/>
              <p:nvPr/>
            </p:nvSpPr>
            <p:spPr>
              <a:xfrm>
                <a:off x="-60077" y="3893873"/>
                <a:ext cx="297589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What happens to the </a:t>
                </a:r>
                <a14:m>
                  <m:oMath xmlns:m="http://schemas.openxmlformats.org/officeDocument/2006/math">
                    <m:r>
                      <a:rPr lang="en-AU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</m:t>
                    </m:r>
                  </m:oMath>
                </a14:m>
                <a:r>
                  <a:rPr lang="en-AU" dirty="0" smtClean="0"/>
                  <a:t> sign?</a:t>
                </a:r>
                <a:endParaRPr lang="en-AU" dirty="0"/>
              </a:p>
            </p:txBody>
          </p:sp>
        </mc:Choice>
        <mc:Fallback xmlns=""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60077" y="3893873"/>
                <a:ext cx="2975893" cy="369332"/>
              </a:xfrm>
              <a:prstGeom prst="rect">
                <a:avLst/>
              </a:prstGeom>
              <a:blipFill rotWithShape="1">
                <a:blip r:embed="rId11"/>
                <a:stretch>
                  <a:fillRect l="-1639" t="-8333" b="-2666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extBox 26"/>
          <p:cNvSpPr txBox="1"/>
          <p:nvPr/>
        </p:nvSpPr>
        <p:spPr>
          <a:xfrm>
            <a:off x="73537" y="5088263"/>
            <a:ext cx="2304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Examples: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/>
              <p:cNvSpPr txBox="1"/>
              <p:nvPr/>
            </p:nvSpPr>
            <p:spPr>
              <a:xfrm>
                <a:off x="3833697" y="5063075"/>
                <a:ext cx="1095107" cy="6182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b="0" i="1" smtClean="0">
                              <a:latin typeface="Cambria Math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𝑘𝑛</m:t>
                          </m:r>
                        </m:num>
                        <m:den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</m:oMath>
                  </m:oMathPara>
                </a14:m>
                <a:endParaRPr lang="en-AU" b="0" dirty="0" smtClean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33697" y="5063075"/>
                <a:ext cx="1095107" cy="618246"/>
              </a:xfrm>
              <a:prstGeom prst="rect">
                <a:avLst/>
              </a:prstGeom>
              <a:blipFill rotWithShape="1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/>
          <p:cNvSpPr txBox="1"/>
          <p:nvPr/>
        </p:nvSpPr>
        <p:spPr>
          <a:xfrm>
            <a:off x="3032499" y="5088263"/>
            <a:ext cx="9841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Simplify </a:t>
            </a:r>
            <a:endParaRPr lang="en-AU" dirty="0"/>
          </a:p>
        </p:txBody>
      </p:sp>
      <p:sp>
        <p:nvSpPr>
          <p:cNvPr id="8" name="TextBox 7"/>
          <p:cNvSpPr txBox="1"/>
          <p:nvPr/>
        </p:nvSpPr>
        <p:spPr>
          <a:xfrm>
            <a:off x="5473590" y="5187532"/>
            <a:ext cx="23793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Cancel common factors</a:t>
            </a:r>
            <a:endParaRPr lang="en-AU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571250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81578" y="298231"/>
            <a:ext cx="35655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Simplifying Expressions</a:t>
            </a:r>
            <a:endParaRPr lang="en-AU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75315" y="1091238"/>
            <a:ext cx="81377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I simplify if the terms are multiplied or divided? </a:t>
            </a:r>
            <a:endParaRPr lang="en-AU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3032499" y="2107047"/>
                <a:ext cx="583264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𝑒</m:t>
                      </m:r>
                    </m:oMath>
                  </m:oMathPara>
                </a14:m>
                <a:endParaRPr lang="en-AU" b="0" dirty="0" smtClean="0">
                  <a:ea typeface="Cambria Math" panose="02040503050406030204" pitchFamily="18" charset="0"/>
                </a:endParaRPr>
              </a:p>
              <a:p>
                <a:pPr algn="ctr"/>
                <a:r>
                  <a:rPr lang="en-AU" dirty="0" smtClean="0"/>
                  <a:t>When dividing we use a fraction line instead of </a:t>
                </a:r>
                <a14:m>
                  <m:oMath xmlns:m="http://schemas.openxmlformats.org/officeDocument/2006/math">
                    <m:r>
                      <a:rPr lang="en-AU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</m:t>
                    </m:r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2499" y="2107047"/>
                <a:ext cx="5832648" cy="646331"/>
              </a:xfrm>
              <a:prstGeom prst="rect">
                <a:avLst/>
              </a:prstGeom>
              <a:blipFill rotWithShape="1">
                <a:blip r:embed="rId2"/>
                <a:stretch>
                  <a:fillRect b="-1415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9" name="TextBox 28"/>
              <p:cNvSpPr txBox="1"/>
              <p:nvPr/>
            </p:nvSpPr>
            <p:spPr>
              <a:xfrm>
                <a:off x="3032499" y="2764514"/>
                <a:ext cx="5832648" cy="5085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Thus:                              </a:t>
                </a:r>
                <a14:m>
                  <m:oMath xmlns:m="http://schemas.openxmlformats.org/officeDocument/2006/math">
                    <m:r>
                      <a:rPr lang="en-AU" b="0" i="0" smtClean="0">
                        <a:latin typeface="Cambria Math" panose="02040503050406030204" pitchFamily="18" charset="0"/>
                      </a:rPr>
                      <m:t>       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AU" b="0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AU" b="0" i="1" smtClean="0">
                            <a:latin typeface="Cambria Math"/>
                          </a:rPr>
                          <m:t>𝑒</m:t>
                        </m:r>
                      </m:den>
                    </m:f>
                  </m:oMath>
                </a14:m>
                <a:endParaRPr lang="en-AU" dirty="0"/>
              </a:p>
            </p:txBody>
          </p:sp>
        </mc:Choice>
        <mc:Fallback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2499" y="2764514"/>
                <a:ext cx="5832648" cy="508537"/>
              </a:xfrm>
              <a:prstGeom prst="rect">
                <a:avLst/>
              </a:prstGeom>
              <a:blipFill rotWithShape="1">
                <a:blip r:embed="rId3"/>
                <a:stretch>
                  <a:fillRect l="-836" b="-357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/>
              <p:cNvSpPr txBox="1"/>
              <p:nvPr/>
            </p:nvSpPr>
            <p:spPr>
              <a:xfrm>
                <a:off x="-112020" y="2103849"/>
                <a:ext cx="297589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What happens to the </a:t>
                </a:r>
                <a14:m>
                  <m:oMath xmlns:m="http://schemas.openxmlformats.org/officeDocument/2006/math">
                    <m:r>
                      <a:rPr lang="en-AU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</m:t>
                    </m:r>
                  </m:oMath>
                </a14:m>
                <a:r>
                  <a:rPr lang="en-AU" dirty="0" smtClean="0"/>
                  <a:t> sign?</a:t>
                </a:r>
                <a:endParaRPr lang="en-AU" dirty="0"/>
              </a:p>
            </p:txBody>
          </p:sp>
        </mc:Choice>
        <mc:Fallback xmlns=""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12020" y="2103849"/>
                <a:ext cx="2975893" cy="369332"/>
              </a:xfrm>
              <a:prstGeom prst="rect">
                <a:avLst/>
              </a:prstGeom>
              <a:blipFill rotWithShape="1">
                <a:blip r:embed="rId4"/>
                <a:stretch>
                  <a:fillRect l="-1844" t="-8197" b="-2459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extBox 26"/>
          <p:cNvSpPr txBox="1"/>
          <p:nvPr/>
        </p:nvSpPr>
        <p:spPr>
          <a:xfrm>
            <a:off x="21594" y="3298239"/>
            <a:ext cx="2304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Examples: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/>
              <p:cNvSpPr txBox="1"/>
              <p:nvPr/>
            </p:nvSpPr>
            <p:spPr>
              <a:xfrm>
                <a:off x="3781754" y="3273051"/>
                <a:ext cx="1095107" cy="6182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b="0" i="1" smtClean="0">
                              <a:latin typeface="Cambria Math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𝑘𝑛</m:t>
                          </m:r>
                        </m:num>
                        <m:den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</m:oMath>
                  </m:oMathPara>
                </a14:m>
                <a:endParaRPr lang="en-AU" b="0" dirty="0" smtClean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81754" y="3273051"/>
                <a:ext cx="1095107" cy="618246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/>
          <p:cNvSpPr txBox="1"/>
          <p:nvPr/>
        </p:nvSpPr>
        <p:spPr>
          <a:xfrm>
            <a:off x="2980556" y="3298239"/>
            <a:ext cx="9841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Simplify </a:t>
            </a:r>
            <a:endParaRPr lang="en-AU" dirty="0"/>
          </a:p>
        </p:txBody>
      </p:sp>
      <p:cxnSp>
        <p:nvCxnSpPr>
          <p:cNvPr id="36" name="Straight Connector 35"/>
          <p:cNvCxnSpPr/>
          <p:nvPr/>
        </p:nvCxnSpPr>
        <p:spPr>
          <a:xfrm flipV="1">
            <a:off x="4081085" y="3313314"/>
            <a:ext cx="188177" cy="30912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/>
          <p:nvPr/>
        </p:nvCxnSpPr>
        <p:spPr>
          <a:xfrm flipV="1">
            <a:off x="4183289" y="3622437"/>
            <a:ext cx="188177" cy="30912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3973350" y="3134565"/>
            <a:ext cx="1831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1</a:t>
            </a:r>
            <a:endParaRPr lang="en-AU" dirty="0"/>
          </a:p>
        </p:txBody>
      </p:sp>
      <p:sp>
        <p:nvSpPr>
          <p:cNvPr id="39" name="TextBox 38"/>
          <p:cNvSpPr txBox="1"/>
          <p:nvPr/>
        </p:nvSpPr>
        <p:spPr>
          <a:xfrm>
            <a:off x="3989531" y="3746894"/>
            <a:ext cx="1831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2</a:t>
            </a:r>
            <a:endParaRPr lang="en-AU" dirty="0"/>
          </a:p>
        </p:txBody>
      </p:sp>
      <p:sp>
        <p:nvSpPr>
          <p:cNvPr id="40" name="TextBox 39"/>
          <p:cNvSpPr txBox="1"/>
          <p:nvPr/>
        </p:nvSpPr>
        <p:spPr>
          <a:xfrm>
            <a:off x="5473589" y="3377562"/>
            <a:ext cx="23793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Cancel common factors</a:t>
            </a:r>
            <a:endParaRPr lang="en-AU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418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81578" y="298231"/>
            <a:ext cx="35655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Simplifying Expressions</a:t>
            </a:r>
            <a:endParaRPr lang="en-AU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75315" y="1091238"/>
            <a:ext cx="81377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I simplify if the terms are multiplied or divided? </a:t>
            </a:r>
            <a:endParaRPr lang="en-AU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3032499" y="2107047"/>
                <a:ext cx="583264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𝑒</m:t>
                      </m:r>
                    </m:oMath>
                  </m:oMathPara>
                </a14:m>
                <a:endParaRPr lang="en-AU" b="0" dirty="0" smtClean="0">
                  <a:ea typeface="Cambria Math" panose="02040503050406030204" pitchFamily="18" charset="0"/>
                </a:endParaRPr>
              </a:p>
              <a:p>
                <a:pPr algn="ctr"/>
                <a:r>
                  <a:rPr lang="en-AU" dirty="0" smtClean="0"/>
                  <a:t>When dividing we use a fraction line instead of </a:t>
                </a:r>
                <a14:m>
                  <m:oMath xmlns:m="http://schemas.openxmlformats.org/officeDocument/2006/math">
                    <m:r>
                      <a:rPr lang="en-AU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</m:t>
                    </m:r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2499" y="2107047"/>
                <a:ext cx="5832648" cy="646331"/>
              </a:xfrm>
              <a:prstGeom prst="rect">
                <a:avLst/>
              </a:prstGeom>
              <a:blipFill rotWithShape="1">
                <a:blip r:embed="rId2"/>
                <a:stretch>
                  <a:fillRect b="-1415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9" name="TextBox 28"/>
              <p:cNvSpPr txBox="1"/>
              <p:nvPr/>
            </p:nvSpPr>
            <p:spPr>
              <a:xfrm>
                <a:off x="3032499" y="2764514"/>
                <a:ext cx="5832648" cy="5085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Thus:                              </a:t>
                </a:r>
                <a14:m>
                  <m:oMath xmlns:m="http://schemas.openxmlformats.org/officeDocument/2006/math">
                    <m:r>
                      <a:rPr lang="en-AU" b="0" i="0" smtClean="0">
                        <a:latin typeface="Cambria Math" panose="02040503050406030204" pitchFamily="18" charset="0"/>
                      </a:rPr>
                      <m:t>       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AU" b="0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AU" b="0" i="1" smtClean="0">
                            <a:latin typeface="Cambria Math"/>
                          </a:rPr>
                          <m:t>𝑒</m:t>
                        </m:r>
                      </m:den>
                    </m:f>
                  </m:oMath>
                </a14:m>
                <a:endParaRPr lang="en-AU" dirty="0"/>
              </a:p>
            </p:txBody>
          </p:sp>
        </mc:Choice>
        <mc:Fallback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2499" y="2764514"/>
                <a:ext cx="5832648" cy="508537"/>
              </a:xfrm>
              <a:prstGeom prst="rect">
                <a:avLst/>
              </a:prstGeom>
              <a:blipFill rotWithShape="1">
                <a:blip r:embed="rId3"/>
                <a:stretch>
                  <a:fillRect l="-836" b="-357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/>
              <p:cNvSpPr txBox="1"/>
              <p:nvPr/>
            </p:nvSpPr>
            <p:spPr>
              <a:xfrm>
                <a:off x="-112020" y="2103849"/>
                <a:ext cx="297589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What happens to the </a:t>
                </a:r>
                <a14:m>
                  <m:oMath xmlns:m="http://schemas.openxmlformats.org/officeDocument/2006/math">
                    <m:r>
                      <a:rPr lang="en-AU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</m:t>
                    </m:r>
                  </m:oMath>
                </a14:m>
                <a:r>
                  <a:rPr lang="en-AU" dirty="0" smtClean="0"/>
                  <a:t> sign?</a:t>
                </a:r>
                <a:endParaRPr lang="en-AU" dirty="0"/>
              </a:p>
            </p:txBody>
          </p:sp>
        </mc:Choice>
        <mc:Fallback xmlns=""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12020" y="2103849"/>
                <a:ext cx="2975893" cy="369332"/>
              </a:xfrm>
              <a:prstGeom prst="rect">
                <a:avLst/>
              </a:prstGeom>
              <a:blipFill rotWithShape="1">
                <a:blip r:embed="rId4"/>
                <a:stretch>
                  <a:fillRect l="-1844" t="-8197" b="-2459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extBox 26"/>
          <p:cNvSpPr txBox="1"/>
          <p:nvPr/>
        </p:nvSpPr>
        <p:spPr>
          <a:xfrm>
            <a:off x="21594" y="3298239"/>
            <a:ext cx="2304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Examples: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/>
              <p:cNvSpPr txBox="1"/>
              <p:nvPr/>
            </p:nvSpPr>
            <p:spPr>
              <a:xfrm>
                <a:off x="3781754" y="3273051"/>
                <a:ext cx="1095107" cy="6182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b="0" i="1" smtClean="0">
                              <a:latin typeface="Cambria Math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𝑘𝑛</m:t>
                          </m:r>
                        </m:num>
                        <m:den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</m:oMath>
                  </m:oMathPara>
                </a14:m>
                <a:endParaRPr lang="en-AU" b="0" dirty="0" smtClean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81754" y="3273051"/>
                <a:ext cx="1095107" cy="618246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/>
          <p:cNvSpPr txBox="1"/>
          <p:nvPr/>
        </p:nvSpPr>
        <p:spPr>
          <a:xfrm>
            <a:off x="2980556" y="3298239"/>
            <a:ext cx="9841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Simplify </a:t>
            </a:r>
            <a:endParaRPr lang="en-AU" dirty="0"/>
          </a:p>
        </p:txBody>
      </p:sp>
      <p:cxnSp>
        <p:nvCxnSpPr>
          <p:cNvPr id="36" name="Straight Connector 35"/>
          <p:cNvCxnSpPr/>
          <p:nvPr/>
        </p:nvCxnSpPr>
        <p:spPr>
          <a:xfrm flipV="1">
            <a:off x="4081085" y="3313314"/>
            <a:ext cx="188177" cy="30912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/>
          <p:nvPr/>
        </p:nvCxnSpPr>
        <p:spPr>
          <a:xfrm flipV="1">
            <a:off x="4183289" y="3622437"/>
            <a:ext cx="188177" cy="30912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3973350" y="3134565"/>
            <a:ext cx="1831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1</a:t>
            </a:r>
            <a:endParaRPr lang="en-AU" dirty="0"/>
          </a:p>
        </p:txBody>
      </p:sp>
      <p:sp>
        <p:nvSpPr>
          <p:cNvPr id="39" name="TextBox 38"/>
          <p:cNvSpPr txBox="1"/>
          <p:nvPr/>
        </p:nvSpPr>
        <p:spPr>
          <a:xfrm>
            <a:off x="3989531" y="3746894"/>
            <a:ext cx="1831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2</a:t>
            </a:r>
            <a:endParaRPr lang="en-AU" dirty="0"/>
          </a:p>
        </p:txBody>
      </p:sp>
      <p:cxnSp>
        <p:nvCxnSpPr>
          <p:cNvPr id="19" name="Straight Connector 18"/>
          <p:cNvCxnSpPr/>
          <p:nvPr/>
        </p:nvCxnSpPr>
        <p:spPr>
          <a:xfrm flipV="1">
            <a:off x="4383823" y="3273051"/>
            <a:ext cx="188177" cy="30912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 flipV="1">
            <a:off x="4304353" y="3620275"/>
            <a:ext cx="188177" cy="30912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473590" y="3387976"/>
            <a:ext cx="23793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Cancel common factors</a:t>
            </a:r>
            <a:endParaRPr lang="en-AU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45374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81578" y="298231"/>
            <a:ext cx="35655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Simplifying Expressions</a:t>
            </a:r>
            <a:endParaRPr lang="en-AU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75315" y="1091238"/>
            <a:ext cx="81377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I simplify if the terms are multiplied or divided? </a:t>
            </a:r>
            <a:endParaRPr lang="en-AU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3032499" y="2107047"/>
                <a:ext cx="583264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𝑒</m:t>
                      </m:r>
                    </m:oMath>
                  </m:oMathPara>
                </a14:m>
                <a:endParaRPr lang="en-AU" b="0" dirty="0" smtClean="0">
                  <a:ea typeface="Cambria Math" panose="02040503050406030204" pitchFamily="18" charset="0"/>
                </a:endParaRPr>
              </a:p>
              <a:p>
                <a:pPr algn="ctr"/>
                <a:r>
                  <a:rPr lang="en-AU" dirty="0" smtClean="0"/>
                  <a:t>When dividing we use a fraction line instead of </a:t>
                </a:r>
                <a14:m>
                  <m:oMath xmlns:m="http://schemas.openxmlformats.org/officeDocument/2006/math">
                    <m:r>
                      <a:rPr lang="en-AU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</m:t>
                    </m:r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2499" y="2107047"/>
                <a:ext cx="5832648" cy="646331"/>
              </a:xfrm>
              <a:prstGeom prst="rect">
                <a:avLst/>
              </a:prstGeom>
              <a:blipFill rotWithShape="1">
                <a:blip r:embed="rId2"/>
                <a:stretch>
                  <a:fillRect b="-1415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9" name="TextBox 28"/>
              <p:cNvSpPr txBox="1"/>
              <p:nvPr/>
            </p:nvSpPr>
            <p:spPr>
              <a:xfrm>
                <a:off x="3032499" y="2764514"/>
                <a:ext cx="5832648" cy="5085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Thus:                              </a:t>
                </a:r>
                <a14:m>
                  <m:oMath xmlns:m="http://schemas.openxmlformats.org/officeDocument/2006/math">
                    <m:r>
                      <a:rPr lang="en-AU" b="0" i="0" smtClean="0">
                        <a:latin typeface="Cambria Math" panose="02040503050406030204" pitchFamily="18" charset="0"/>
                      </a:rPr>
                      <m:t>       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AU" b="0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AU" b="0" i="1" smtClean="0">
                            <a:latin typeface="Cambria Math"/>
                          </a:rPr>
                          <m:t>𝑒</m:t>
                        </m:r>
                      </m:den>
                    </m:f>
                  </m:oMath>
                </a14:m>
                <a:endParaRPr lang="en-AU" dirty="0"/>
              </a:p>
            </p:txBody>
          </p:sp>
        </mc:Choice>
        <mc:Fallback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2499" y="2764514"/>
                <a:ext cx="5832648" cy="508537"/>
              </a:xfrm>
              <a:prstGeom prst="rect">
                <a:avLst/>
              </a:prstGeom>
              <a:blipFill rotWithShape="1">
                <a:blip r:embed="rId3"/>
                <a:stretch>
                  <a:fillRect l="-836" b="-357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/>
              <p:cNvSpPr txBox="1"/>
              <p:nvPr/>
            </p:nvSpPr>
            <p:spPr>
              <a:xfrm>
                <a:off x="-112020" y="2103849"/>
                <a:ext cx="297589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What happens to the </a:t>
                </a:r>
                <a14:m>
                  <m:oMath xmlns:m="http://schemas.openxmlformats.org/officeDocument/2006/math">
                    <m:r>
                      <a:rPr lang="en-AU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</m:t>
                    </m:r>
                  </m:oMath>
                </a14:m>
                <a:r>
                  <a:rPr lang="en-AU" dirty="0" smtClean="0"/>
                  <a:t> sign?</a:t>
                </a:r>
                <a:endParaRPr lang="en-AU" dirty="0"/>
              </a:p>
            </p:txBody>
          </p:sp>
        </mc:Choice>
        <mc:Fallback xmlns=""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12020" y="2103849"/>
                <a:ext cx="2975893" cy="369332"/>
              </a:xfrm>
              <a:prstGeom prst="rect">
                <a:avLst/>
              </a:prstGeom>
              <a:blipFill rotWithShape="1">
                <a:blip r:embed="rId4"/>
                <a:stretch>
                  <a:fillRect l="-1844" t="-8197" b="-2459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extBox 26"/>
          <p:cNvSpPr txBox="1"/>
          <p:nvPr/>
        </p:nvSpPr>
        <p:spPr>
          <a:xfrm>
            <a:off x="21594" y="3298239"/>
            <a:ext cx="2304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Examples: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/>
              <p:cNvSpPr txBox="1"/>
              <p:nvPr/>
            </p:nvSpPr>
            <p:spPr>
              <a:xfrm>
                <a:off x="4001115" y="3292813"/>
                <a:ext cx="1095107" cy="6365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b="0" i="1" smtClean="0">
                              <a:latin typeface="Cambria Math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𝑘𝑛</m:t>
                          </m:r>
                        </m:num>
                        <m:den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r>
                        <a:rPr lang="en-AU" b="0" i="0" smtClean="0">
                          <a:latin typeface="Cambria Math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b="0" i="1" smtClean="0">
                              <a:latin typeface="Cambria Math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/>
                              <a:ea typeface="Cambria Math" panose="02040503050406030204" pitchFamily="18" charset="0"/>
                            </a:rPr>
                            <m:t>𝑘</m:t>
                          </m:r>
                        </m:num>
                        <m:den>
                          <m:r>
                            <a:rPr lang="en-AU" b="0" i="1" smtClean="0">
                              <a:latin typeface="Cambria Math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AU" b="0" dirty="0" smtClean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01115" y="3292813"/>
                <a:ext cx="1095107" cy="636585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/>
          <p:cNvSpPr txBox="1"/>
          <p:nvPr/>
        </p:nvSpPr>
        <p:spPr>
          <a:xfrm>
            <a:off x="2980556" y="3298239"/>
            <a:ext cx="9841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Simplify </a:t>
            </a:r>
            <a:endParaRPr lang="en-AU" dirty="0"/>
          </a:p>
        </p:txBody>
      </p:sp>
      <p:cxnSp>
        <p:nvCxnSpPr>
          <p:cNvPr id="36" name="Straight Connector 35"/>
          <p:cNvCxnSpPr/>
          <p:nvPr/>
        </p:nvCxnSpPr>
        <p:spPr>
          <a:xfrm flipV="1">
            <a:off x="4081085" y="3313314"/>
            <a:ext cx="188177" cy="30912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/>
          <p:nvPr/>
        </p:nvCxnSpPr>
        <p:spPr>
          <a:xfrm flipV="1">
            <a:off x="4183289" y="3622437"/>
            <a:ext cx="188177" cy="30912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3973350" y="3134565"/>
            <a:ext cx="1831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1</a:t>
            </a:r>
            <a:endParaRPr lang="en-AU" dirty="0"/>
          </a:p>
        </p:txBody>
      </p:sp>
      <p:sp>
        <p:nvSpPr>
          <p:cNvPr id="39" name="TextBox 38"/>
          <p:cNvSpPr txBox="1"/>
          <p:nvPr/>
        </p:nvSpPr>
        <p:spPr>
          <a:xfrm>
            <a:off x="3989531" y="3746894"/>
            <a:ext cx="1831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2</a:t>
            </a:r>
            <a:endParaRPr lang="en-AU" dirty="0"/>
          </a:p>
        </p:txBody>
      </p:sp>
      <p:cxnSp>
        <p:nvCxnSpPr>
          <p:cNvPr id="19" name="Straight Connector 18"/>
          <p:cNvCxnSpPr/>
          <p:nvPr/>
        </p:nvCxnSpPr>
        <p:spPr>
          <a:xfrm flipV="1">
            <a:off x="4383823" y="3273051"/>
            <a:ext cx="188177" cy="30912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 flipV="1">
            <a:off x="4304353" y="3620275"/>
            <a:ext cx="188177" cy="30912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292080" y="3377562"/>
            <a:ext cx="23793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Cancel common factors</a:t>
            </a:r>
            <a:endParaRPr lang="en-AU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26525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81578" y="298231"/>
            <a:ext cx="35655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Simplifying Expressions</a:t>
            </a:r>
            <a:endParaRPr lang="en-AU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75315" y="1091238"/>
            <a:ext cx="81377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I simplify if the terms are multiplied or divided? </a:t>
            </a:r>
            <a:endParaRPr lang="en-AU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3032499" y="2107047"/>
                <a:ext cx="583264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𝑒</m:t>
                      </m:r>
                    </m:oMath>
                  </m:oMathPara>
                </a14:m>
                <a:endParaRPr lang="en-AU" b="0" dirty="0" smtClean="0">
                  <a:ea typeface="Cambria Math" panose="02040503050406030204" pitchFamily="18" charset="0"/>
                </a:endParaRPr>
              </a:p>
              <a:p>
                <a:pPr algn="ctr"/>
                <a:r>
                  <a:rPr lang="en-AU" dirty="0" smtClean="0"/>
                  <a:t>When dividing we use a fraction line instead of </a:t>
                </a:r>
                <a14:m>
                  <m:oMath xmlns:m="http://schemas.openxmlformats.org/officeDocument/2006/math">
                    <m:r>
                      <a:rPr lang="en-AU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</m:t>
                    </m:r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2499" y="2107047"/>
                <a:ext cx="5832648" cy="646331"/>
              </a:xfrm>
              <a:prstGeom prst="rect">
                <a:avLst/>
              </a:prstGeom>
              <a:blipFill rotWithShape="1">
                <a:blip r:embed="rId2"/>
                <a:stretch>
                  <a:fillRect b="-1415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9" name="TextBox 28"/>
              <p:cNvSpPr txBox="1"/>
              <p:nvPr/>
            </p:nvSpPr>
            <p:spPr>
              <a:xfrm>
                <a:off x="3032499" y="2764514"/>
                <a:ext cx="5832648" cy="5085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Thus:                              </a:t>
                </a:r>
                <a14:m>
                  <m:oMath xmlns:m="http://schemas.openxmlformats.org/officeDocument/2006/math">
                    <m:r>
                      <a:rPr lang="en-AU" b="0" i="0" smtClean="0">
                        <a:latin typeface="Cambria Math" panose="02040503050406030204" pitchFamily="18" charset="0"/>
                      </a:rPr>
                      <m:t>       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AU" b="0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AU" b="0" i="1" smtClean="0">
                            <a:latin typeface="Cambria Math"/>
                          </a:rPr>
                          <m:t>𝑒</m:t>
                        </m:r>
                      </m:den>
                    </m:f>
                  </m:oMath>
                </a14:m>
                <a:endParaRPr lang="en-AU" dirty="0"/>
              </a:p>
            </p:txBody>
          </p:sp>
        </mc:Choice>
        <mc:Fallback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2499" y="2764514"/>
                <a:ext cx="5832648" cy="508537"/>
              </a:xfrm>
              <a:prstGeom prst="rect">
                <a:avLst/>
              </a:prstGeom>
              <a:blipFill rotWithShape="1">
                <a:blip r:embed="rId3"/>
                <a:stretch>
                  <a:fillRect l="-836" b="-357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/>
              <p:cNvSpPr txBox="1"/>
              <p:nvPr/>
            </p:nvSpPr>
            <p:spPr>
              <a:xfrm>
                <a:off x="-112020" y="2103849"/>
                <a:ext cx="297589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What happens to the </a:t>
                </a:r>
                <a14:m>
                  <m:oMath xmlns:m="http://schemas.openxmlformats.org/officeDocument/2006/math">
                    <m:r>
                      <a:rPr lang="en-AU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</m:t>
                    </m:r>
                  </m:oMath>
                </a14:m>
                <a:r>
                  <a:rPr lang="en-AU" dirty="0" smtClean="0"/>
                  <a:t> sign?</a:t>
                </a:r>
                <a:endParaRPr lang="en-AU" dirty="0"/>
              </a:p>
            </p:txBody>
          </p:sp>
        </mc:Choice>
        <mc:Fallback xmlns=""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12020" y="2103849"/>
                <a:ext cx="2975893" cy="369332"/>
              </a:xfrm>
              <a:prstGeom prst="rect">
                <a:avLst/>
              </a:prstGeom>
              <a:blipFill rotWithShape="1">
                <a:blip r:embed="rId4"/>
                <a:stretch>
                  <a:fillRect l="-1844" t="-8197" b="-2459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extBox 26"/>
          <p:cNvSpPr txBox="1"/>
          <p:nvPr/>
        </p:nvSpPr>
        <p:spPr>
          <a:xfrm>
            <a:off x="21594" y="3298239"/>
            <a:ext cx="2304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Examples: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/>
              <p:cNvSpPr txBox="1"/>
              <p:nvPr/>
            </p:nvSpPr>
            <p:spPr>
              <a:xfrm>
                <a:off x="4001115" y="3292813"/>
                <a:ext cx="1095107" cy="6365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b="0" i="1" smtClean="0">
                              <a:latin typeface="Cambria Math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𝑘𝑛</m:t>
                          </m:r>
                        </m:num>
                        <m:den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r>
                        <a:rPr lang="en-AU" b="0" i="0" smtClean="0">
                          <a:latin typeface="Cambria Math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b="0" i="1" smtClean="0">
                              <a:latin typeface="Cambria Math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/>
                              <a:ea typeface="Cambria Math" panose="02040503050406030204" pitchFamily="18" charset="0"/>
                            </a:rPr>
                            <m:t>𝑘</m:t>
                          </m:r>
                        </m:num>
                        <m:den>
                          <m:r>
                            <a:rPr lang="en-AU" b="0" i="1" smtClean="0">
                              <a:latin typeface="Cambria Math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AU" b="0" dirty="0" smtClean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01115" y="3292813"/>
                <a:ext cx="1095107" cy="636585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/>
          <p:cNvSpPr txBox="1"/>
          <p:nvPr/>
        </p:nvSpPr>
        <p:spPr>
          <a:xfrm>
            <a:off x="2980556" y="3298239"/>
            <a:ext cx="12117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1. Simplify </a:t>
            </a:r>
            <a:endParaRPr lang="en-AU" dirty="0"/>
          </a:p>
        </p:txBody>
      </p:sp>
      <p:cxnSp>
        <p:nvCxnSpPr>
          <p:cNvPr id="36" name="Straight Connector 35"/>
          <p:cNvCxnSpPr/>
          <p:nvPr/>
        </p:nvCxnSpPr>
        <p:spPr>
          <a:xfrm flipV="1">
            <a:off x="4081085" y="3313314"/>
            <a:ext cx="188177" cy="30912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/>
          <p:nvPr/>
        </p:nvCxnSpPr>
        <p:spPr>
          <a:xfrm flipV="1">
            <a:off x="4183289" y="3622437"/>
            <a:ext cx="188177" cy="30912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3973350" y="3134565"/>
            <a:ext cx="1831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1</a:t>
            </a:r>
            <a:endParaRPr lang="en-AU" dirty="0"/>
          </a:p>
        </p:txBody>
      </p:sp>
      <p:sp>
        <p:nvSpPr>
          <p:cNvPr id="39" name="TextBox 38"/>
          <p:cNvSpPr txBox="1"/>
          <p:nvPr/>
        </p:nvSpPr>
        <p:spPr>
          <a:xfrm>
            <a:off x="3989531" y="3746894"/>
            <a:ext cx="1831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2</a:t>
            </a:r>
            <a:endParaRPr lang="en-AU" dirty="0"/>
          </a:p>
        </p:txBody>
      </p:sp>
      <p:cxnSp>
        <p:nvCxnSpPr>
          <p:cNvPr id="19" name="Straight Connector 18"/>
          <p:cNvCxnSpPr/>
          <p:nvPr/>
        </p:nvCxnSpPr>
        <p:spPr>
          <a:xfrm flipV="1">
            <a:off x="4383823" y="3273051"/>
            <a:ext cx="188177" cy="30912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 flipV="1">
            <a:off x="4304353" y="3620275"/>
            <a:ext cx="188177" cy="30912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3086502" y="4869160"/>
            <a:ext cx="12646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2</a:t>
            </a:r>
            <a:r>
              <a:rPr lang="en-AU" dirty="0" smtClean="0"/>
              <a:t>. Simplify  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4371466" y="4869160"/>
                <a:ext cx="845168" cy="64812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/>
                            </a:rPr>
                            <m:t>9</m:t>
                          </m:r>
                          <m:sSup>
                            <m:sSupPr>
                              <m:ctrlPr>
                                <a:rPr lang="en-AU" b="0" i="1" smtClean="0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AU" b="0" i="1" smtClean="0">
                                  <a:latin typeface="Cambria Math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AU" b="0" i="1" smtClean="0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  <m:r>
                            <a:rPr lang="en-AU" b="0" i="1" smtClean="0">
                              <a:latin typeface="Cambria Math"/>
                            </a:rPr>
                            <m:t>𝑏𝑐</m:t>
                          </m:r>
                        </m:num>
                        <m:den>
                          <m:r>
                            <a:rPr lang="en-AU" b="0" i="1" smtClean="0">
                              <a:latin typeface="Cambria Math"/>
                            </a:rPr>
                            <m:t>3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𝑎𝑐</m:t>
                          </m:r>
                        </m:den>
                      </m:f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71466" y="4869160"/>
                <a:ext cx="845168" cy="648126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TextBox 22"/>
          <p:cNvSpPr txBox="1"/>
          <p:nvPr/>
        </p:nvSpPr>
        <p:spPr>
          <a:xfrm>
            <a:off x="5473589" y="3397508"/>
            <a:ext cx="23793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Cancel common factors</a:t>
            </a:r>
            <a:endParaRPr lang="en-AU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75017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81578" y="298231"/>
            <a:ext cx="35655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Simplifying Expressions</a:t>
            </a:r>
            <a:endParaRPr lang="en-AU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75315" y="1091238"/>
            <a:ext cx="81377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I simplify if the terms are multiplied or divided? </a:t>
            </a:r>
            <a:endParaRPr lang="en-AU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3032499" y="2107047"/>
                <a:ext cx="583264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𝑒</m:t>
                      </m:r>
                    </m:oMath>
                  </m:oMathPara>
                </a14:m>
                <a:endParaRPr lang="en-AU" b="0" dirty="0" smtClean="0">
                  <a:ea typeface="Cambria Math" panose="02040503050406030204" pitchFamily="18" charset="0"/>
                </a:endParaRPr>
              </a:p>
              <a:p>
                <a:pPr algn="ctr"/>
                <a:r>
                  <a:rPr lang="en-AU" dirty="0" smtClean="0"/>
                  <a:t>When dividing we use a fraction line instead of </a:t>
                </a:r>
                <a14:m>
                  <m:oMath xmlns:m="http://schemas.openxmlformats.org/officeDocument/2006/math">
                    <m:r>
                      <a:rPr lang="en-AU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</m:t>
                    </m:r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2499" y="2107047"/>
                <a:ext cx="5832648" cy="646331"/>
              </a:xfrm>
              <a:prstGeom prst="rect">
                <a:avLst/>
              </a:prstGeom>
              <a:blipFill rotWithShape="1">
                <a:blip r:embed="rId2"/>
                <a:stretch>
                  <a:fillRect b="-1415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9" name="TextBox 28"/>
              <p:cNvSpPr txBox="1"/>
              <p:nvPr/>
            </p:nvSpPr>
            <p:spPr>
              <a:xfrm>
                <a:off x="3032499" y="2764514"/>
                <a:ext cx="5832648" cy="5085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Thus:                              </a:t>
                </a:r>
                <a14:m>
                  <m:oMath xmlns:m="http://schemas.openxmlformats.org/officeDocument/2006/math">
                    <m:r>
                      <a:rPr lang="en-AU" b="0" i="0" smtClean="0">
                        <a:latin typeface="Cambria Math" panose="02040503050406030204" pitchFamily="18" charset="0"/>
                      </a:rPr>
                      <m:t>       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AU" b="0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AU" b="0" i="1" smtClean="0">
                            <a:latin typeface="Cambria Math"/>
                          </a:rPr>
                          <m:t>𝑒</m:t>
                        </m:r>
                      </m:den>
                    </m:f>
                  </m:oMath>
                </a14:m>
                <a:endParaRPr lang="en-AU" dirty="0"/>
              </a:p>
            </p:txBody>
          </p:sp>
        </mc:Choice>
        <mc:Fallback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2499" y="2764514"/>
                <a:ext cx="5832648" cy="508537"/>
              </a:xfrm>
              <a:prstGeom prst="rect">
                <a:avLst/>
              </a:prstGeom>
              <a:blipFill rotWithShape="1">
                <a:blip r:embed="rId3"/>
                <a:stretch>
                  <a:fillRect l="-836" b="-357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/>
              <p:cNvSpPr txBox="1"/>
              <p:nvPr/>
            </p:nvSpPr>
            <p:spPr>
              <a:xfrm>
                <a:off x="-112020" y="2103849"/>
                <a:ext cx="297589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What happens to the </a:t>
                </a:r>
                <a14:m>
                  <m:oMath xmlns:m="http://schemas.openxmlformats.org/officeDocument/2006/math">
                    <m:r>
                      <a:rPr lang="en-AU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</m:t>
                    </m:r>
                  </m:oMath>
                </a14:m>
                <a:r>
                  <a:rPr lang="en-AU" dirty="0" smtClean="0"/>
                  <a:t> sign?</a:t>
                </a:r>
                <a:endParaRPr lang="en-AU" dirty="0"/>
              </a:p>
            </p:txBody>
          </p:sp>
        </mc:Choice>
        <mc:Fallback xmlns=""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12020" y="2103849"/>
                <a:ext cx="2975893" cy="369332"/>
              </a:xfrm>
              <a:prstGeom prst="rect">
                <a:avLst/>
              </a:prstGeom>
              <a:blipFill rotWithShape="1">
                <a:blip r:embed="rId4"/>
                <a:stretch>
                  <a:fillRect l="-1844" t="-8197" b="-2459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extBox 26"/>
          <p:cNvSpPr txBox="1"/>
          <p:nvPr/>
        </p:nvSpPr>
        <p:spPr>
          <a:xfrm>
            <a:off x="21594" y="3298239"/>
            <a:ext cx="2304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Examples: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/>
              <p:cNvSpPr txBox="1"/>
              <p:nvPr/>
            </p:nvSpPr>
            <p:spPr>
              <a:xfrm>
                <a:off x="4001115" y="3292813"/>
                <a:ext cx="1095107" cy="6365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b="0" i="1" smtClean="0">
                              <a:latin typeface="Cambria Math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𝑘𝑛</m:t>
                          </m:r>
                        </m:num>
                        <m:den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r>
                        <a:rPr lang="en-AU" b="0" i="0" smtClean="0">
                          <a:latin typeface="Cambria Math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b="0" i="1" smtClean="0">
                              <a:latin typeface="Cambria Math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/>
                              <a:ea typeface="Cambria Math" panose="02040503050406030204" pitchFamily="18" charset="0"/>
                            </a:rPr>
                            <m:t>𝑘</m:t>
                          </m:r>
                        </m:num>
                        <m:den>
                          <m:r>
                            <a:rPr lang="en-AU" b="0" i="1" smtClean="0">
                              <a:latin typeface="Cambria Math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AU" b="0" dirty="0" smtClean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01115" y="3292813"/>
                <a:ext cx="1095107" cy="636585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/>
          <p:cNvSpPr txBox="1"/>
          <p:nvPr/>
        </p:nvSpPr>
        <p:spPr>
          <a:xfrm>
            <a:off x="2980556" y="3298239"/>
            <a:ext cx="12117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1. Simplify </a:t>
            </a:r>
            <a:endParaRPr lang="en-AU" dirty="0"/>
          </a:p>
        </p:txBody>
      </p:sp>
      <p:cxnSp>
        <p:nvCxnSpPr>
          <p:cNvPr id="36" name="Straight Connector 35"/>
          <p:cNvCxnSpPr/>
          <p:nvPr/>
        </p:nvCxnSpPr>
        <p:spPr>
          <a:xfrm flipV="1">
            <a:off x="4081085" y="3313314"/>
            <a:ext cx="188177" cy="30912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/>
          <p:nvPr/>
        </p:nvCxnSpPr>
        <p:spPr>
          <a:xfrm flipV="1">
            <a:off x="4183289" y="3622437"/>
            <a:ext cx="188177" cy="30912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3973350" y="3134565"/>
            <a:ext cx="1831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1</a:t>
            </a:r>
            <a:endParaRPr lang="en-AU" dirty="0"/>
          </a:p>
        </p:txBody>
      </p:sp>
      <p:sp>
        <p:nvSpPr>
          <p:cNvPr id="39" name="TextBox 38"/>
          <p:cNvSpPr txBox="1"/>
          <p:nvPr/>
        </p:nvSpPr>
        <p:spPr>
          <a:xfrm>
            <a:off x="3989531" y="3746894"/>
            <a:ext cx="1831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2</a:t>
            </a:r>
            <a:endParaRPr lang="en-AU" dirty="0"/>
          </a:p>
        </p:txBody>
      </p:sp>
      <p:cxnSp>
        <p:nvCxnSpPr>
          <p:cNvPr id="19" name="Straight Connector 18"/>
          <p:cNvCxnSpPr/>
          <p:nvPr/>
        </p:nvCxnSpPr>
        <p:spPr>
          <a:xfrm flipV="1">
            <a:off x="4383823" y="3273051"/>
            <a:ext cx="188177" cy="30912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 flipV="1">
            <a:off x="4304353" y="3620275"/>
            <a:ext cx="188177" cy="30912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3086502" y="4869160"/>
            <a:ext cx="12646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2</a:t>
            </a:r>
            <a:r>
              <a:rPr lang="en-AU" dirty="0" smtClean="0"/>
              <a:t>. Simplify  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4371466" y="4869160"/>
                <a:ext cx="1769395" cy="64819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/>
                            </a:rPr>
                            <m:t>9</m:t>
                          </m:r>
                          <m:sSup>
                            <m:sSupPr>
                              <m:ctrlPr>
                                <a:rPr lang="en-AU" b="0" i="1" smtClean="0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AU" b="0" i="1" smtClean="0">
                                  <a:latin typeface="Cambria Math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AU" b="0" i="1" smtClean="0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  <m:r>
                            <a:rPr lang="en-AU" b="0" i="1" smtClean="0">
                              <a:latin typeface="Cambria Math"/>
                            </a:rPr>
                            <m:t>𝑏𝑐</m:t>
                          </m:r>
                        </m:num>
                        <m:den>
                          <m:r>
                            <a:rPr lang="en-AU" b="0" i="1" smtClean="0">
                              <a:latin typeface="Cambria Math"/>
                            </a:rPr>
                            <m:t>3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𝑎𝑐</m:t>
                          </m:r>
                        </m:den>
                      </m:f>
                      <m:r>
                        <a:rPr lang="en-AU" b="0" i="0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/>
                            </a:rPr>
                            <m:t>9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𝑎𝑎𝑏𝑐</m:t>
                          </m:r>
                        </m:num>
                        <m:den>
                          <m:r>
                            <a:rPr lang="en-AU" b="0" i="1" smtClean="0">
                              <a:latin typeface="Cambria Math"/>
                            </a:rPr>
                            <m:t>3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𝑎𝑐</m:t>
                          </m:r>
                        </m:den>
                      </m:f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71466" y="4869160"/>
                <a:ext cx="1769395" cy="648191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TextBox 22"/>
          <p:cNvSpPr txBox="1"/>
          <p:nvPr/>
        </p:nvSpPr>
        <p:spPr>
          <a:xfrm>
            <a:off x="5438929" y="3397508"/>
            <a:ext cx="23793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Cancel common factors</a:t>
            </a:r>
            <a:endParaRPr lang="en-AU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41969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81578" y="298231"/>
            <a:ext cx="35655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Simplifying Expressions</a:t>
            </a:r>
            <a:endParaRPr lang="en-AU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75315" y="1091238"/>
            <a:ext cx="81377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I simplify if the terms are multiplied or divided? </a:t>
            </a:r>
            <a:endParaRPr lang="en-AU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3032499" y="2107047"/>
                <a:ext cx="583264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𝑒</m:t>
                      </m:r>
                    </m:oMath>
                  </m:oMathPara>
                </a14:m>
                <a:endParaRPr lang="en-AU" b="0" dirty="0" smtClean="0">
                  <a:ea typeface="Cambria Math" panose="02040503050406030204" pitchFamily="18" charset="0"/>
                </a:endParaRPr>
              </a:p>
              <a:p>
                <a:pPr algn="ctr"/>
                <a:r>
                  <a:rPr lang="en-AU" dirty="0" smtClean="0"/>
                  <a:t>When dividing we use a fraction line instead of </a:t>
                </a:r>
                <a14:m>
                  <m:oMath xmlns:m="http://schemas.openxmlformats.org/officeDocument/2006/math">
                    <m:r>
                      <a:rPr lang="en-AU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</m:t>
                    </m:r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2499" y="2107047"/>
                <a:ext cx="5832648" cy="646331"/>
              </a:xfrm>
              <a:prstGeom prst="rect">
                <a:avLst/>
              </a:prstGeom>
              <a:blipFill rotWithShape="1">
                <a:blip r:embed="rId2"/>
                <a:stretch>
                  <a:fillRect b="-1415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9" name="TextBox 28"/>
              <p:cNvSpPr txBox="1"/>
              <p:nvPr/>
            </p:nvSpPr>
            <p:spPr>
              <a:xfrm>
                <a:off x="3032499" y="2764514"/>
                <a:ext cx="5832648" cy="5085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Thus:                              </a:t>
                </a:r>
                <a14:m>
                  <m:oMath xmlns:m="http://schemas.openxmlformats.org/officeDocument/2006/math">
                    <m:r>
                      <a:rPr lang="en-AU" b="0" i="0" smtClean="0">
                        <a:latin typeface="Cambria Math" panose="02040503050406030204" pitchFamily="18" charset="0"/>
                      </a:rPr>
                      <m:t>       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AU" b="0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AU" b="0" i="1" smtClean="0">
                            <a:latin typeface="Cambria Math"/>
                          </a:rPr>
                          <m:t>𝑒</m:t>
                        </m:r>
                      </m:den>
                    </m:f>
                  </m:oMath>
                </a14:m>
                <a:endParaRPr lang="en-AU" dirty="0"/>
              </a:p>
            </p:txBody>
          </p:sp>
        </mc:Choice>
        <mc:Fallback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2499" y="2764514"/>
                <a:ext cx="5832648" cy="508537"/>
              </a:xfrm>
              <a:prstGeom prst="rect">
                <a:avLst/>
              </a:prstGeom>
              <a:blipFill rotWithShape="1">
                <a:blip r:embed="rId3"/>
                <a:stretch>
                  <a:fillRect l="-836" b="-357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/>
              <p:cNvSpPr txBox="1"/>
              <p:nvPr/>
            </p:nvSpPr>
            <p:spPr>
              <a:xfrm>
                <a:off x="-112020" y="2103849"/>
                <a:ext cx="297589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What happens to the </a:t>
                </a:r>
                <a14:m>
                  <m:oMath xmlns:m="http://schemas.openxmlformats.org/officeDocument/2006/math">
                    <m:r>
                      <a:rPr lang="en-AU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</m:t>
                    </m:r>
                  </m:oMath>
                </a14:m>
                <a:r>
                  <a:rPr lang="en-AU" dirty="0" smtClean="0"/>
                  <a:t> sign?</a:t>
                </a:r>
                <a:endParaRPr lang="en-AU" dirty="0"/>
              </a:p>
            </p:txBody>
          </p:sp>
        </mc:Choice>
        <mc:Fallback xmlns=""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12020" y="2103849"/>
                <a:ext cx="2975893" cy="369332"/>
              </a:xfrm>
              <a:prstGeom prst="rect">
                <a:avLst/>
              </a:prstGeom>
              <a:blipFill rotWithShape="1">
                <a:blip r:embed="rId4"/>
                <a:stretch>
                  <a:fillRect l="-1844" t="-8197" b="-2459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extBox 26"/>
          <p:cNvSpPr txBox="1"/>
          <p:nvPr/>
        </p:nvSpPr>
        <p:spPr>
          <a:xfrm>
            <a:off x="21594" y="3298239"/>
            <a:ext cx="2304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Examples: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/>
              <p:cNvSpPr txBox="1"/>
              <p:nvPr/>
            </p:nvSpPr>
            <p:spPr>
              <a:xfrm>
                <a:off x="4001115" y="3292813"/>
                <a:ext cx="1095107" cy="6365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b="0" i="1" smtClean="0">
                              <a:latin typeface="Cambria Math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𝑘𝑛</m:t>
                          </m:r>
                        </m:num>
                        <m:den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r>
                        <a:rPr lang="en-AU" b="0" i="0" smtClean="0">
                          <a:latin typeface="Cambria Math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b="0" i="1" smtClean="0">
                              <a:latin typeface="Cambria Math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/>
                              <a:ea typeface="Cambria Math" panose="02040503050406030204" pitchFamily="18" charset="0"/>
                            </a:rPr>
                            <m:t>𝑘</m:t>
                          </m:r>
                        </m:num>
                        <m:den>
                          <m:r>
                            <a:rPr lang="en-AU" b="0" i="1" smtClean="0">
                              <a:latin typeface="Cambria Math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AU" b="0" dirty="0" smtClean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01115" y="3292813"/>
                <a:ext cx="1095107" cy="636585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/>
          <p:cNvSpPr txBox="1"/>
          <p:nvPr/>
        </p:nvSpPr>
        <p:spPr>
          <a:xfrm>
            <a:off x="2980556" y="3298239"/>
            <a:ext cx="12117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1. Simplify </a:t>
            </a:r>
            <a:endParaRPr lang="en-AU" dirty="0"/>
          </a:p>
        </p:txBody>
      </p:sp>
      <p:cxnSp>
        <p:nvCxnSpPr>
          <p:cNvPr id="36" name="Straight Connector 35"/>
          <p:cNvCxnSpPr/>
          <p:nvPr/>
        </p:nvCxnSpPr>
        <p:spPr>
          <a:xfrm flipV="1">
            <a:off x="4081085" y="3313314"/>
            <a:ext cx="188177" cy="30912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/>
          <p:nvPr/>
        </p:nvCxnSpPr>
        <p:spPr>
          <a:xfrm flipV="1">
            <a:off x="4183289" y="3622437"/>
            <a:ext cx="188177" cy="30912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3973350" y="3134565"/>
            <a:ext cx="1831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1</a:t>
            </a:r>
            <a:endParaRPr lang="en-AU" dirty="0"/>
          </a:p>
        </p:txBody>
      </p:sp>
      <p:sp>
        <p:nvSpPr>
          <p:cNvPr id="39" name="TextBox 38"/>
          <p:cNvSpPr txBox="1"/>
          <p:nvPr/>
        </p:nvSpPr>
        <p:spPr>
          <a:xfrm>
            <a:off x="3989531" y="3746894"/>
            <a:ext cx="1831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2</a:t>
            </a:r>
            <a:endParaRPr lang="en-AU" dirty="0"/>
          </a:p>
        </p:txBody>
      </p:sp>
      <p:cxnSp>
        <p:nvCxnSpPr>
          <p:cNvPr id="19" name="Straight Connector 18"/>
          <p:cNvCxnSpPr/>
          <p:nvPr/>
        </p:nvCxnSpPr>
        <p:spPr>
          <a:xfrm flipV="1">
            <a:off x="4383823" y="3273051"/>
            <a:ext cx="188177" cy="30912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 flipV="1">
            <a:off x="4304353" y="3667571"/>
            <a:ext cx="188177" cy="30912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3086502" y="4869160"/>
            <a:ext cx="12646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2</a:t>
            </a:r>
            <a:r>
              <a:rPr lang="en-AU" dirty="0" smtClean="0"/>
              <a:t>. Simplify  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4371466" y="4869160"/>
                <a:ext cx="1769394" cy="64819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/>
                            </a:rPr>
                            <m:t>9</m:t>
                          </m:r>
                          <m:sSup>
                            <m:sSupPr>
                              <m:ctrlPr>
                                <a:rPr lang="en-AU" b="0" i="1" smtClean="0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AU" b="0" i="1" smtClean="0">
                                  <a:latin typeface="Cambria Math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AU" b="0" i="1" smtClean="0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  <m:r>
                            <a:rPr lang="en-AU" b="0" i="1" smtClean="0">
                              <a:latin typeface="Cambria Math"/>
                            </a:rPr>
                            <m:t>𝑏𝑐</m:t>
                          </m:r>
                        </m:num>
                        <m:den>
                          <m:r>
                            <a:rPr lang="en-AU" b="0" i="1" smtClean="0">
                              <a:latin typeface="Cambria Math"/>
                            </a:rPr>
                            <m:t>3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𝑎𝑐</m:t>
                          </m:r>
                        </m:den>
                      </m:f>
                      <m:r>
                        <a:rPr lang="en-AU" b="0" i="0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/>
                            </a:rPr>
                            <m:t>9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𝑎𝑎𝑏𝑐</m:t>
                          </m:r>
                        </m:num>
                        <m:den>
                          <m:r>
                            <a:rPr lang="en-AU" b="0" i="1" smtClean="0">
                              <a:latin typeface="Cambria Math"/>
                            </a:rPr>
                            <m:t>3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𝑎𝑐</m:t>
                          </m:r>
                        </m:den>
                      </m:f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71466" y="4869160"/>
                <a:ext cx="1769394" cy="648191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Straight Connector 22"/>
          <p:cNvCxnSpPr/>
          <p:nvPr/>
        </p:nvCxnSpPr>
        <p:spPr>
          <a:xfrm flipV="1">
            <a:off x="5364088" y="4884132"/>
            <a:ext cx="188177" cy="30912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 flipV="1">
            <a:off x="5460239" y="5238492"/>
            <a:ext cx="188177" cy="30912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256163" y="4669361"/>
            <a:ext cx="2981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13691" y="5398936"/>
            <a:ext cx="1831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1</a:t>
            </a:r>
            <a:endParaRPr lang="en-AU" dirty="0"/>
          </a:p>
        </p:txBody>
      </p:sp>
      <p:sp>
        <p:nvSpPr>
          <p:cNvPr id="32" name="TextBox 31"/>
          <p:cNvSpPr txBox="1"/>
          <p:nvPr/>
        </p:nvSpPr>
        <p:spPr>
          <a:xfrm>
            <a:off x="5405245" y="3437771"/>
            <a:ext cx="23793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Cancel common factors</a:t>
            </a:r>
            <a:endParaRPr lang="en-AU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52507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81578" y="298231"/>
            <a:ext cx="35655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Simplifying Expressions</a:t>
            </a:r>
            <a:endParaRPr lang="en-AU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75315" y="1091238"/>
            <a:ext cx="81377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I simplify if the terms are multiplied or divided? </a:t>
            </a:r>
            <a:endParaRPr lang="en-AU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3032499" y="2107047"/>
                <a:ext cx="583264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𝑒</m:t>
                      </m:r>
                    </m:oMath>
                  </m:oMathPara>
                </a14:m>
                <a:endParaRPr lang="en-AU" b="0" dirty="0" smtClean="0">
                  <a:ea typeface="Cambria Math" panose="02040503050406030204" pitchFamily="18" charset="0"/>
                </a:endParaRPr>
              </a:p>
              <a:p>
                <a:pPr algn="ctr"/>
                <a:r>
                  <a:rPr lang="en-AU" dirty="0" smtClean="0"/>
                  <a:t>When dividing we use a fraction line instead of </a:t>
                </a:r>
                <a14:m>
                  <m:oMath xmlns:m="http://schemas.openxmlformats.org/officeDocument/2006/math">
                    <m:r>
                      <a:rPr lang="en-AU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</m:t>
                    </m:r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2499" y="2107047"/>
                <a:ext cx="5832648" cy="646331"/>
              </a:xfrm>
              <a:prstGeom prst="rect">
                <a:avLst/>
              </a:prstGeom>
              <a:blipFill rotWithShape="1">
                <a:blip r:embed="rId2"/>
                <a:stretch>
                  <a:fillRect b="-1415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9" name="TextBox 28"/>
              <p:cNvSpPr txBox="1"/>
              <p:nvPr/>
            </p:nvSpPr>
            <p:spPr>
              <a:xfrm>
                <a:off x="3032499" y="2764514"/>
                <a:ext cx="5832648" cy="5085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Thus:                              </a:t>
                </a:r>
                <a14:m>
                  <m:oMath xmlns:m="http://schemas.openxmlformats.org/officeDocument/2006/math">
                    <m:r>
                      <a:rPr lang="en-AU" b="0" i="0" smtClean="0">
                        <a:latin typeface="Cambria Math" panose="02040503050406030204" pitchFamily="18" charset="0"/>
                      </a:rPr>
                      <m:t>       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AU" b="0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AU" b="0" i="1" smtClean="0">
                            <a:latin typeface="Cambria Math"/>
                          </a:rPr>
                          <m:t>𝑒</m:t>
                        </m:r>
                      </m:den>
                    </m:f>
                  </m:oMath>
                </a14:m>
                <a:endParaRPr lang="en-AU" dirty="0"/>
              </a:p>
            </p:txBody>
          </p:sp>
        </mc:Choice>
        <mc:Fallback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2499" y="2764514"/>
                <a:ext cx="5832648" cy="508537"/>
              </a:xfrm>
              <a:prstGeom prst="rect">
                <a:avLst/>
              </a:prstGeom>
              <a:blipFill rotWithShape="1">
                <a:blip r:embed="rId3"/>
                <a:stretch>
                  <a:fillRect l="-836" b="-357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/>
              <p:cNvSpPr txBox="1"/>
              <p:nvPr/>
            </p:nvSpPr>
            <p:spPr>
              <a:xfrm>
                <a:off x="-112020" y="2103849"/>
                <a:ext cx="297589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What happens to the </a:t>
                </a:r>
                <a14:m>
                  <m:oMath xmlns:m="http://schemas.openxmlformats.org/officeDocument/2006/math">
                    <m:r>
                      <a:rPr lang="en-AU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</m:t>
                    </m:r>
                  </m:oMath>
                </a14:m>
                <a:r>
                  <a:rPr lang="en-AU" dirty="0" smtClean="0"/>
                  <a:t> sign?</a:t>
                </a:r>
                <a:endParaRPr lang="en-AU" dirty="0"/>
              </a:p>
            </p:txBody>
          </p:sp>
        </mc:Choice>
        <mc:Fallback xmlns=""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12020" y="2103849"/>
                <a:ext cx="2975893" cy="369332"/>
              </a:xfrm>
              <a:prstGeom prst="rect">
                <a:avLst/>
              </a:prstGeom>
              <a:blipFill rotWithShape="1">
                <a:blip r:embed="rId4"/>
                <a:stretch>
                  <a:fillRect l="-1844" t="-8197" b="-2459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extBox 26"/>
          <p:cNvSpPr txBox="1"/>
          <p:nvPr/>
        </p:nvSpPr>
        <p:spPr>
          <a:xfrm>
            <a:off x="21594" y="3298239"/>
            <a:ext cx="2304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Examples: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/>
              <p:cNvSpPr txBox="1"/>
              <p:nvPr/>
            </p:nvSpPr>
            <p:spPr>
              <a:xfrm>
                <a:off x="4001115" y="3292813"/>
                <a:ext cx="1095107" cy="6365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b="0" i="1" smtClean="0">
                              <a:latin typeface="Cambria Math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𝑘𝑛</m:t>
                          </m:r>
                        </m:num>
                        <m:den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r>
                        <a:rPr lang="en-AU" b="0" i="0" smtClean="0">
                          <a:latin typeface="Cambria Math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b="0" i="1" smtClean="0">
                              <a:latin typeface="Cambria Math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/>
                              <a:ea typeface="Cambria Math" panose="02040503050406030204" pitchFamily="18" charset="0"/>
                            </a:rPr>
                            <m:t>𝑘</m:t>
                          </m:r>
                        </m:num>
                        <m:den>
                          <m:r>
                            <a:rPr lang="en-AU" b="0" i="1" smtClean="0">
                              <a:latin typeface="Cambria Math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AU" b="0" dirty="0" smtClean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01115" y="3292813"/>
                <a:ext cx="1095107" cy="636585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/>
          <p:cNvSpPr txBox="1"/>
          <p:nvPr/>
        </p:nvSpPr>
        <p:spPr>
          <a:xfrm>
            <a:off x="2980556" y="3298239"/>
            <a:ext cx="12117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1. Simplify </a:t>
            </a:r>
            <a:endParaRPr lang="en-AU" dirty="0"/>
          </a:p>
        </p:txBody>
      </p:sp>
      <p:cxnSp>
        <p:nvCxnSpPr>
          <p:cNvPr id="36" name="Straight Connector 35"/>
          <p:cNvCxnSpPr/>
          <p:nvPr/>
        </p:nvCxnSpPr>
        <p:spPr>
          <a:xfrm flipV="1">
            <a:off x="4081085" y="3313314"/>
            <a:ext cx="188177" cy="30912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/>
          <p:nvPr/>
        </p:nvCxnSpPr>
        <p:spPr>
          <a:xfrm flipV="1">
            <a:off x="4183289" y="3622437"/>
            <a:ext cx="188177" cy="30912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3973350" y="3134565"/>
            <a:ext cx="1831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1</a:t>
            </a:r>
            <a:endParaRPr lang="en-AU" dirty="0"/>
          </a:p>
        </p:txBody>
      </p:sp>
      <p:sp>
        <p:nvSpPr>
          <p:cNvPr id="39" name="TextBox 38"/>
          <p:cNvSpPr txBox="1"/>
          <p:nvPr/>
        </p:nvSpPr>
        <p:spPr>
          <a:xfrm>
            <a:off x="3989531" y="3746894"/>
            <a:ext cx="1831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2</a:t>
            </a:r>
            <a:endParaRPr lang="en-AU" dirty="0"/>
          </a:p>
        </p:txBody>
      </p:sp>
      <p:cxnSp>
        <p:nvCxnSpPr>
          <p:cNvPr id="19" name="Straight Connector 18"/>
          <p:cNvCxnSpPr/>
          <p:nvPr/>
        </p:nvCxnSpPr>
        <p:spPr>
          <a:xfrm flipV="1">
            <a:off x="4383823" y="3273051"/>
            <a:ext cx="188177" cy="30912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 flipV="1">
            <a:off x="4304353" y="3667571"/>
            <a:ext cx="188177" cy="30912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3086502" y="4869160"/>
            <a:ext cx="12646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2</a:t>
            </a:r>
            <a:r>
              <a:rPr lang="en-AU" dirty="0" smtClean="0"/>
              <a:t>. Simplify  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4371466" y="4869160"/>
                <a:ext cx="1769394" cy="64819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/>
                            </a:rPr>
                            <m:t>9</m:t>
                          </m:r>
                          <m:sSup>
                            <m:sSupPr>
                              <m:ctrlPr>
                                <a:rPr lang="en-AU" b="0" i="1" smtClean="0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AU" b="0" i="1" smtClean="0">
                                  <a:latin typeface="Cambria Math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AU" b="0" i="1" smtClean="0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  <m:r>
                            <a:rPr lang="en-AU" b="0" i="1" smtClean="0">
                              <a:latin typeface="Cambria Math"/>
                            </a:rPr>
                            <m:t>𝑏𝑐</m:t>
                          </m:r>
                        </m:num>
                        <m:den>
                          <m:r>
                            <a:rPr lang="en-AU" b="0" i="1" smtClean="0">
                              <a:latin typeface="Cambria Math"/>
                            </a:rPr>
                            <m:t>3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𝑎𝑐</m:t>
                          </m:r>
                        </m:den>
                      </m:f>
                      <m:r>
                        <a:rPr lang="en-AU" b="0" i="0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/>
                            </a:rPr>
                            <m:t>9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𝑎𝑎𝑏𝑐</m:t>
                          </m:r>
                        </m:num>
                        <m:den>
                          <m:r>
                            <a:rPr lang="en-AU" b="0" i="1" smtClean="0">
                              <a:latin typeface="Cambria Math"/>
                            </a:rPr>
                            <m:t>3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𝑎𝑐</m:t>
                          </m:r>
                        </m:den>
                      </m:f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71466" y="4869160"/>
                <a:ext cx="1769394" cy="648191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Straight Connector 22"/>
          <p:cNvCxnSpPr/>
          <p:nvPr/>
        </p:nvCxnSpPr>
        <p:spPr>
          <a:xfrm flipV="1">
            <a:off x="5364088" y="4884132"/>
            <a:ext cx="188177" cy="30912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 flipV="1">
            <a:off x="5460239" y="5238492"/>
            <a:ext cx="188177" cy="30912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256163" y="4669361"/>
            <a:ext cx="2981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13691" y="5398936"/>
            <a:ext cx="1831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1</a:t>
            </a:r>
            <a:endParaRPr lang="en-AU" dirty="0"/>
          </a:p>
        </p:txBody>
      </p:sp>
      <p:cxnSp>
        <p:nvCxnSpPr>
          <p:cNvPr id="33" name="Straight Connector 32"/>
          <p:cNvCxnSpPr/>
          <p:nvPr/>
        </p:nvCxnSpPr>
        <p:spPr>
          <a:xfrm flipV="1">
            <a:off x="5496799" y="4899264"/>
            <a:ext cx="188177" cy="30912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/>
        </p:nvCxnSpPr>
        <p:spPr>
          <a:xfrm flipV="1">
            <a:off x="5618392" y="5238491"/>
            <a:ext cx="188177" cy="30912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5496799" y="3397508"/>
            <a:ext cx="23793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Cancel common factors</a:t>
            </a:r>
            <a:endParaRPr lang="en-AU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427496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81578" y="298231"/>
            <a:ext cx="35655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Simplifying Expressions</a:t>
            </a:r>
            <a:endParaRPr lang="en-AU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75315" y="1091238"/>
            <a:ext cx="81377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I simplify if the terms are multiplied or divided? </a:t>
            </a:r>
            <a:endParaRPr lang="en-AU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3032499" y="2107047"/>
                <a:ext cx="583264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𝑒</m:t>
                      </m:r>
                    </m:oMath>
                  </m:oMathPara>
                </a14:m>
                <a:endParaRPr lang="en-AU" b="0" dirty="0" smtClean="0">
                  <a:ea typeface="Cambria Math" panose="02040503050406030204" pitchFamily="18" charset="0"/>
                </a:endParaRPr>
              </a:p>
              <a:p>
                <a:pPr algn="ctr"/>
                <a:r>
                  <a:rPr lang="en-AU" dirty="0" smtClean="0"/>
                  <a:t>When dividing we use a fraction line instead of </a:t>
                </a:r>
                <a14:m>
                  <m:oMath xmlns:m="http://schemas.openxmlformats.org/officeDocument/2006/math">
                    <m:r>
                      <a:rPr lang="en-AU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</m:t>
                    </m:r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2499" y="2107047"/>
                <a:ext cx="5832648" cy="646331"/>
              </a:xfrm>
              <a:prstGeom prst="rect">
                <a:avLst/>
              </a:prstGeom>
              <a:blipFill rotWithShape="1">
                <a:blip r:embed="rId2"/>
                <a:stretch>
                  <a:fillRect b="-1415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9" name="TextBox 28"/>
              <p:cNvSpPr txBox="1"/>
              <p:nvPr/>
            </p:nvSpPr>
            <p:spPr>
              <a:xfrm>
                <a:off x="3032499" y="2764514"/>
                <a:ext cx="5832648" cy="5085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Thus:                              </a:t>
                </a:r>
                <a14:m>
                  <m:oMath xmlns:m="http://schemas.openxmlformats.org/officeDocument/2006/math">
                    <m:r>
                      <a:rPr lang="en-AU" b="0" i="0" smtClean="0">
                        <a:latin typeface="Cambria Math" panose="02040503050406030204" pitchFamily="18" charset="0"/>
                      </a:rPr>
                      <m:t>       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AU" b="0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AU" b="0" i="1" smtClean="0">
                            <a:latin typeface="Cambria Math"/>
                          </a:rPr>
                          <m:t>𝑒</m:t>
                        </m:r>
                      </m:den>
                    </m:f>
                  </m:oMath>
                </a14:m>
                <a:endParaRPr lang="en-AU" dirty="0"/>
              </a:p>
            </p:txBody>
          </p:sp>
        </mc:Choice>
        <mc:Fallback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2499" y="2764514"/>
                <a:ext cx="5832648" cy="508537"/>
              </a:xfrm>
              <a:prstGeom prst="rect">
                <a:avLst/>
              </a:prstGeom>
              <a:blipFill rotWithShape="1">
                <a:blip r:embed="rId3"/>
                <a:stretch>
                  <a:fillRect l="-836" b="-357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/>
              <p:cNvSpPr txBox="1"/>
              <p:nvPr/>
            </p:nvSpPr>
            <p:spPr>
              <a:xfrm>
                <a:off x="-112020" y="2103849"/>
                <a:ext cx="297589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What happens to the </a:t>
                </a:r>
                <a14:m>
                  <m:oMath xmlns:m="http://schemas.openxmlformats.org/officeDocument/2006/math">
                    <m:r>
                      <a:rPr lang="en-AU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</m:t>
                    </m:r>
                  </m:oMath>
                </a14:m>
                <a:r>
                  <a:rPr lang="en-AU" dirty="0" smtClean="0"/>
                  <a:t> sign?</a:t>
                </a:r>
                <a:endParaRPr lang="en-AU" dirty="0"/>
              </a:p>
            </p:txBody>
          </p:sp>
        </mc:Choice>
        <mc:Fallback xmlns=""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12020" y="2103849"/>
                <a:ext cx="2975893" cy="369332"/>
              </a:xfrm>
              <a:prstGeom prst="rect">
                <a:avLst/>
              </a:prstGeom>
              <a:blipFill rotWithShape="1">
                <a:blip r:embed="rId4"/>
                <a:stretch>
                  <a:fillRect l="-1844" t="-8197" b="-2459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extBox 26"/>
          <p:cNvSpPr txBox="1"/>
          <p:nvPr/>
        </p:nvSpPr>
        <p:spPr>
          <a:xfrm>
            <a:off x="21594" y="3298239"/>
            <a:ext cx="2304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Examples: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/>
              <p:cNvSpPr txBox="1"/>
              <p:nvPr/>
            </p:nvSpPr>
            <p:spPr>
              <a:xfrm>
                <a:off x="4001115" y="3292813"/>
                <a:ext cx="1095107" cy="6365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b="0" i="1" smtClean="0">
                              <a:latin typeface="Cambria Math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𝑘𝑛</m:t>
                          </m:r>
                        </m:num>
                        <m:den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r>
                        <a:rPr lang="en-AU" b="0" i="0" smtClean="0">
                          <a:latin typeface="Cambria Math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b="0" i="1" smtClean="0">
                              <a:latin typeface="Cambria Math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/>
                              <a:ea typeface="Cambria Math" panose="02040503050406030204" pitchFamily="18" charset="0"/>
                            </a:rPr>
                            <m:t>𝑘</m:t>
                          </m:r>
                        </m:num>
                        <m:den>
                          <m:r>
                            <a:rPr lang="en-AU" b="0" i="1" smtClean="0">
                              <a:latin typeface="Cambria Math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AU" b="0" dirty="0" smtClean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01115" y="3292813"/>
                <a:ext cx="1095107" cy="636585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/>
          <p:cNvSpPr txBox="1"/>
          <p:nvPr/>
        </p:nvSpPr>
        <p:spPr>
          <a:xfrm>
            <a:off x="2980556" y="3298239"/>
            <a:ext cx="12117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1. Simplify </a:t>
            </a:r>
            <a:endParaRPr lang="en-AU" dirty="0"/>
          </a:p>
        </p:txBody>
      </p:sp>
      <p:cxnSp>
        <p:nvCxnSpPr>
          <p:cNvPr id="36" name="Straight Connector 35"/>
          <p:cNvCxnSpPr/>
          <p:nvPr/>
        </p:nvCxnSpPr>
        <p:spPr>
          <a:xfrm flipV="1">
            <a:off x="4081085" y="3313314"/>
            <a:ext cx="188177" cy="30912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/>
          <p:nvPr/>
        </p:nvCxnSpPr>
        <p:spPr>
          <a:xfrm flipV="1">
            <a:off x="4183289" y="3622437"/>
            <a:ext cx="188177" cy="30912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3973350" y="3134565"/>
            <a:ext cx="1831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1</a:t>
            </a:r>
            <a:endParaRPr lang="en-AU" dirty="0"/>
          </a:p>
        </p:txBody>
      </p:sp>
      <p:sp>
        <p:nvSpPr>
          <p:cNvPr id="39" name="TextBox 38"/>
          <p:cNvSpPr txBox="1"/>
          <p:nvPr/>
        </p:nvSpPr>
        <p:spPr>
          <a:xfrm>
            <a:off x="3989531" y="3746894"/>
            <a:ext cx="1831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2</a:t>
            </a:r>
            <a:endParaRPr lang="en-AU" dirty="0"/>
          </a:p>
        </p:txBody>
      </p:sp>
      <p:cxnSp>
        <p:nvCxnSpPr>
          <p:cNvPr id="19" name="Straight Connector 18"/>
          <p:cNvCxnSpPr/>
          <p:nvPr/>
        </p:nvCxnSpPr>
        <p:spPr>
          <a:xfrm flipV="1">
            <a:off x="4383823" y="3273051"/>
            <a:ext cx="188177" cy="30912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 flipV="1">
            <a:off x="4304353" y="3667571"/>
            <a:ext cx="188177" cy="30912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3086502" y="4869160"/>
            <a:ext cx="12646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2</a:t>
            </a:r>
            <a:r>
              <a:rPr lang="en-AU" dirty="0" smtClean="0"/>
              <a:t>. Simplify  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4371466" y="4869160"/>
                <a:ext cx="1769394" cy="64819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/>
                            </a:rPr>
                            <m:t>9</m:t>
                          </m:r>
                          <m:sSup>
                            <m:sSupPr>
                              <m:ctrlPr>
                                <a:rPr lang="en-AU" b="0" i="1" smtClean="0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AU" b="0" i="1" smtClean="0">
                                  <a:latin typeface="Cambria Math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AU" b="0" i="1" smtClean="0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  <m:r>
                            <a:rPr lang="en-AU" b="0" i="1" smtClean="0">
                              <a:latin typeface="Cambria Math"/>
                            </a:rPr>
                            <m:t>𝑏𝑐</m:t>
                          </m:r>
                        </m:num>
                        <m:den>
                          <m:r>
                            <a:rPr lang="en-AU" b="0" i="1" smtClean="0">
                              <a:latin typeface="Cambria Math"/>
                            </a:rPr>
                            <m:t>3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𝑎𝑐</m:t>
                          </m:r>
                        </m:den>
                      </m:f>
                      <m:r>
                        <a:rPr lang="en-AU" b="0" i="0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/>
                            </a:rPr>
                            <m:t>9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𝑎𝑎𝑏𝑐</m:t>
                          </m:r>
                        </m:num>
                        <m:den>
                          <m:r>
                            <a:rPr lang="en-AU" b="0" i="1" smtClean="0">
                              <a:latin typeface="Cambria Math"/>
                            </a:rPr>
                            <m:t>3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𝑎𝑐</m:t>
                          </m:r>
                        </m:den>
                      </m:f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71466" y="4869160"/>
                <a:ext cx="1769394" cy="648191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Straight Connector 22"/>
          <p:cNvCxnSpPr/>
          <p:nvPr/>
        </p:nvCxnSpPr>
        <p:spPr>
          <a:xfrm flipV="1">
            <a:off x="5364088" y="4884132"/>
            <a:ext cx="188177" cy="30912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 flipV="1">
            <a:off x="5460239" y="5238492"/>
            <a:ext cx="188177" cy="30912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256163" y="4669361"/>
            <a:ext cx="2981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13691" y="5398936"/>
            <a:ext cx="1831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1</a:t>
            </a:r>
            <a:endParaRPr lang="en-AU" dirty="0"/>
          </a:p>
        </p:txBody>
      </p:sp>
      <p:cxnSp>
        <p:nvCxnSpPr>
          <p:cNvPr id="33" name="Straight Connector 32"/>
          <p:cNvCxnSpPr/>
          <p:nvPr/>
        </p:nvCxnSpPr>
        <p:spPr>
          <a:xfrm flipV="1">
            <a:off x="5496799" y="4899264"/>
            <a:ext cx="188177" cy="30912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/>
        </p:nvCxnSpPr>
        <p:spPr>
          <a:xfrm flipV="1">
            <a:off x="5618392" y="5238491"/>
            <a:ext cx="188177" cy="30912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>
          <a:xfrm flipV="1">
            <a:off x="5854734" y="4925733"/>
            <a:ext cx="188177" cy="30912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/>
          <p:nvPr/>
        </p:nvCxnSpPr>
        <p:spPr>
          <a:xfrm flipV="1">
            <a:off x="5712480" y="5295576"/>
            <a:ext cx="188177" cy="30912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5249267" y="3407666"/>
            <a:ext cx="23793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Cancel common factors</a:t>
            </a:r>
            <a:endParaRPr lang="en-AU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39816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81578" y="298231"/>
            <a:ext cx="35655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Simplifying Expressions</a:t>
            </a:r>
            <a:endParaRPr lang="en-AU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75315" y="1091238"/>
            <a:ext cx="81377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I simplify if the terms are multiplied or divided? </a:t>
            </a:r>
            <a:endParaRPr lang="en-AU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3032499" y="2107047"/>
                <a:ext cx="583264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𝑒</m:t>
                      </m:r>
                    </m:oMath>
                  </m:oMathPara>
                </a14:m>
                <a:endParaRPr lang="en-AU" b="0" dirty="0" smtClean="0">
                  <a:ea typeface="Cambria Math" panose="02040503050406030204" pitchFamily="18" charset="0"/>
                </a:endParaRPr>
              </a:p>
              <a:p>
                <a:pPr algn="ctr"/>
                <a:r>
                  <a:rPr lang="en-AU" dirty="0" smtClean="0"/>
                  <a:t>When dividing we use a fraction line instead of </a:t>
                </a:r>
                <a14:m>
                  <m:oMath xmlns:m="http://schemas.openxmlformats.org/officeDocument/2006/math">
                    <m:r>
                      <a:rPr lang="en-AU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</m:t>
                    </m:r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2499" y="2107047"/>
                <a:ext cx="5832648" cy="646331"/>
              </a:xfrm>
              <a:prstGeom prst="rect">
                <a:avLst/>
              </a:prstGeom>
              <a:blipFill rotWithShape="1">
                <a:blip r:embed="rId2"/>
                <a:stretch>
                  <a:fillRect b="-1415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9" name="TextBox 28"/>
              <p:cNvSpPr txBox="1"/>
              <p:nvPr/>
            </p:nvSpPr>
            <p:spPr>
              <a:xfrm>
                <a:off x="3032499" y="2764514"/>
                <a:ext cx="5832648" cy="5085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Thus:                              </a:t>
                </a:r>
                <a14:m>
                  <m:oMath xmlns:m="http://schemas.openxmlformats.org/officeDocument/2006/math">
                    <m:r>
                      <a:rPr lang="en-AU" b="0" i="0" smtClean="0">
                        <a:latin typeface="Cambria Math" panose="02040503050406030204" pitchFamily="18" charset="0"/>
                      </a:rPr>
                      <m:t>       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AU" b="0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AU" b="0" i="1" smtClean="0">
                            <a:latin typeface="Cambria Math"/>
                          </a:rPr>
                          <m:t>𝑒</m:t>
                        </m:r>
                      </m:den>
                    </m:f>
                  </m:oMath>
                </a14:m>
                <a:endParaRPr lang="en-AU" dirty="0"/>
              </a:p>
            </p:txBody>
          </p:sp>
        </mc:Choice>
        <mc:Fallback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2499" y="2764514"/>
                <a:ext cx="5832648" cy="508537"/>
              </a:xfrm>
              <a:prstGeom prst="rect">
                <a:avLst/>
              </a:prstGeom>
              <a:blipFill rotWithShape="1">
                <a:blip r:embed="rId3"/>
                <a:stretch>
                  <a:fillRect l="-836" b="-357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/>
              <p:cNvSpPr txBox="1"/>
              <p:nvPr/>
            </p:nvSpPr>
            <p:spPr>
              <a:xfrm>
                <a:off x="-112020" y="2103849"/>
                <a:ext cx="297589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What happens to the </a:t>
                </a:r>
                <a14:m>
                  <m:oMath xmlns:m="http://schemas.openxmlformats.org/officeDocument/2006/math">
                    <m:r>
                      <a:rPr lang="en-AU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</m:t>
                    </m:r>
                  </m:oMath>
                </a14:m>
                <a:r>
                  <a:rPr lang="en-AU" dirty="0" smtClean="0"/>
                  <a:t> sign?</a:t>
                </a:r>
                <a:endParaRPr lang="en-AU" dirty="0"/>
              </a:p>
            </p:txBody>
          </p:sp>
        </mc:Choice>
        <mc:Fallback xmlns=""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12020" y="2103849"/>
                <a:ext cx="2975893" cy="369332"/>
              </a:xfrm>
              <a:prstGeom prst="rect">
                <a:avLst/>
              </a:prstGeom>
              <a:blipFill rotWithShape="1">
                <a:blip r:embed="rId4"/>
                <a:stretch>
                  <a:fillRect l="-1844" t="-8197" b="-2459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extBox 26"/>
          <p:cNvSpPr txBox="1"/>
          <p:nvPr/>
        </p:nvSpPr>
        <p:spPr>
          <a:xfrm>
            <a:off x="21594" y="3298239"/>
            <a:ext cx="2304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Examples: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/>
              <p:cNvSpPr txBox="1"/>
              <p:nvPr/>
            </p:nvSpPr>
            <p:spPr>
              <a:xfrm>
                <a:off x="4001115" y="3292813"/>
                <a:ext cx="1095107" cy="6365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b="0" i="1" smtClean="0">
                              <a:latin typeface="Cambria Math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𝑘𝑛</m:t>
                          </m:r>
                        </m:num>
                        <m:den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r>
                        <a:rPr lang="en-AU" b="0" i="0" smtClean="0">
                          <a:latin typeface="Cambria Math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b="0" i="1" smtClean="0">
                              <a:latin typeface="Cambria Math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/>
                              <a:ea typeface="Cambria Math" panose="02040503050406030204" pitchFamily="18" charset="0"/>
                            </a:rPr>
                            <m:t>𝑘</m:t>
                          </m:r>
                        </m:num>
                        <m:den>
                          <m:r>
                            <a:rPr lang="en-AU" b="0" i="1" smtClean="0">
                              <a:latin typeface="Cambria Math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AU" b="0" dirty="0" smtClean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01115" y="3292813"/>
                <a:ext cx="1095107" cy="636585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/>
          <p:cNvSpPr txBox="1"/>
          <p:nvPr/>
        </p:nvSpPr>
        <p:spPr>
          <a:xfrm>
            <a:off x="2980556" y="3298239"/>
            <a:ext cx="12117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1. Simplify </a:t>
            </a:r>
            <a:endParaRPr lang="en-AU" dirty="0"/>
          </a:p>
        </p:txBody>
      </p:sp>
      <p:cxnSp>
        <p:nvCxnSpPr>
          <p:cNvPr id="36" name="Straight Connector 35"/>
          <p:cNvCxnSpPr/>
          <p:nvPr/>
        </p:nvCxnSpPr>
        <p:spPr>
          <a:xfrm flipV="1">
            <a:off x="4081085" y="3313314"/>
            <a:ext cx="188177" cy="30912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/>
          <p:nvPr/>
        </p:nvCxnSpPr>
        <p:spPr>
          <a:xfrm flipV="1">
            <a:off x="4183289" y="3622437"/>
            <a:ext cx="188177" cy="30912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3973350" y="3134565"/>
            <a:ext cx="1831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1</a:t>
            </a:r>
            <a:endParaRPr lang="en-AU" dirty="0"/>
          </a:p>
        </p:txBody>
      </p:sp>
      <p:sp>
        <p:nvSpPr>
          <p:cNvPr id="39" name="TextBox 38"/>
          <p:cNvSpPr txBox="1"/>
          <p:nvPr/>
        </p:nvSpPr>
        <p:spPr>
          <a:xfrm>
            <a:off x="3989531" y="3746894"/>
            <a:ext cx="1831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2</a:t>
            </a:r>
            <a:endParaRPr lang="en-AU" dirty="0"/>
          </a:p>
        </p:txBody>
      </p:sp>
      <p:cxnSp>
        <p:nvCxnSpPr>
          <p:cNvPr id="19" name="Straight Connector 18"/>
          <p:cNvCxnSpPr/>
          <p:nvPr/>
        </p:nvCxnSpPr>
        <p:spPr>
          <a:xfrm flipV="1">
            <a:off x="4383823" y="3273051"/>
            <a:ext cx="188177" cy="30912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 flipV="1">
            <a:off x="4304353" y="3667571"/>
            <a:ext cx="188177" cy="30912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3086502" y="4869160"/>
            <a:ext cx="12646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2</a:t>
            </a:r>
            <a:r>
              <a:rPr lang="en-AU" dirty="0" smtClean="0"/>
              <a:t>. Simplify  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4371466" y="4869160"/>
                <a:ext cx="2457339" cy="64819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/>
                            </a:rPr>
                            <m:t>9</m:t>
                          </m:r>
                          <m:sSup>
                            <m:sSupPr>
                              <m:ctrlPr>
                                <a:rPr lang="en-AU" b="0" i="1" smtClean="0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AU" b="0" i="1" smtClean="0">
                                  <a:latin typeface="Cambria Math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AU" b="0" i="1" smtClean="0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  <m:r>
                            <a:rPr lang="en-AU" b="0" i="1" smtClean="0">
                              <a:latin typeface="Cambria Math"/>
                            </a:rPr>
                            <m:t>𝑏𝑐</m:t>
                          </m:r>
                        </m:num>
                        <m:den>
                          <m:r>
                            <a:rPr lang="en-AU" b="0" i="1" smtClean="0">
                              <a:latin typeface="Cambria Math"/>
                            </a:rPr>
                            <m:t>3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𝑎𝑐</m:t>
                          </m:r>
                        </m:den>
                      </m:f>
                      <m:r>
                        <a:rPr lang="en-AU" b="0" i="0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/>
                            </a:rPr>
                            <m:t>9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𝑎𝑎𝑏𝑐</m:t>
                          </m:r>
                        </m:num>
                        <m:den>
                          <m:r>
                            <a:rPr lang="en-AU" b="0" i="1" smtClean="0">
                              <a:latin typeface="Cambria Math"/>
                            </a:rPr>
                            <m:t>3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𝑎𝑐</m:t>
                          </m:r>
                        </m:den>
                      </m:f>
                      <m:r>
                        <a:rPr lang="en-AU" b="0" i="1" smtClean="0">
                          <a:latin typeface="Cambria Math"/>
                        </a:rPr>
                        <m:t>=</m:t>
                      </m:r>
                      <m:r>
                        <a:rPr lang="en-AU" b="0" i="1" smtClean="0">
                          <a:latin typeface="Cambria Math"/>
                        </a:rPr>
                        <m:t>3</m:t>
                      </m:r>
                      <m:r>
                        <a:rPr lang="en-AU" b="0" i="1" smtClean="0">
                          <a:latin typeface="Cambria Math"/>
                        </a:rPr>
                        <m:t>𝑎</m:t>
                      </m:r>
                      <m:r>
                        <a:rPr lang="en-AU" b="0" i="1" smtClean="0">
                          <a:latin typeface="Cambria Math"/>
                        </a:rPr>
                        <m:t>𝑏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71466" y="4869160"/>
                <a:ext cx="2457339" cy="648191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Straight Connector 22"/>
          <p:cNvCxnSpPr/>
          <p:nvPr/>
        </p:nvCxnSpPr>
        <p:spPr>
          <a:xfrm flipV="1">
            <a:off x="5364088" y="4884132"/>
            <a:ext cx="188177" cy="30912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 flipV="1">
            <a:off x="5460239" y="5238492"/>
            <a:ext cx="188177" cy="30912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256163" y="4669361"/>
            <a:ext cx="2981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13691" y="5398936"/>
            <a:ext cx="1831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1</a:t>
            </a:r>
            <a:endParaRPr lang="en-AU" dirty="0"/>
          </a:p>
        </p:txBody>
      </p:sp>
      <p:cxnSp>
        <p:nvCxnSpPr>
          <p:cNvPr id="33" name="Straight Connector 32"/>
          <p:cNvCxnSpPr/>
          <p:nvPr/>
        </p:nvCxnSpPr>
        <p:spPr>
          <a:xfrm flipV="1">
            <a:off x="5496799" y="4899264"/>
            <a:ext cx="188177" cy="30912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/>
        </p:nvCxnSpPr>
        <p:spPr>
          <a:xfrm flipV="1">
            <a:off x="5618392" y="5238491"/>
            <a:ext cx="188177" cy="30912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>
          <a:xfrm flipV="1">
            <a:off x="5854734" y="4925733"/>
            <a:ext cx="188177" cy="30912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/>
          <p:nvPr/>
        </p:nvCxnSpPr>
        <p:spPr>
          <a:xfrm flipV="1">
            <a:off x="5712480" y="5295576"/>
            <a:ext cx="188177" cy="30912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5256163" y="3397508"/>
            <a:ext cx="23793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Cancel common factors</a:t>
            </a:r>
            <a:endParaRPr lang="en-AU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96156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81578" y="298231"/>
            <a:ext cx="35655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Simplifying Expressions</a:t>
            </a:r>
            <a:endParaRPr lang="en-AU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75315" y="1091238"/>
            <a:ext cx="81377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I simplify if the terms are multiplied or divided? </a:t>
            </a:r>
            <a:endParaRPr lang="en-AU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3032499" y="2107047"/>
                <a:ext cx="583264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𝑒</m:t>
                      </m:r>
                    </m:oMath>
                  </m:oMathPara>
                </a14:m>
                <a:endParaRPr lang="en-AU" b="0" dirty="0" smtClean="0">
                  <a:ea typeface="Cambria Math" panose="02040503050406030204" pitchFamily="18" charset="0"/>
                </a:endParaRPr>
              </a:p>
              <a:p>
                <a:pPr algn="ctr"/>
                <a:r>
                  <a:rPr lang="en-AU" dirty="0" smtClean="0"/>
                  <a:t>When dividing we use a fraction line instead of </a:t>
                </a:r>
                <a14:m>
                  <m:oMath xmlns:m="http://schemas.openxmlformats.org/officeDocument/2006/math">
                    <m:r>
                      <a:rPr lang="en-AU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</m:t>
                    </m:r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2499" y="2107047"/>
                <a:ext cx="5832648" cy="646331"/>
              </a:xfrm>
              <a:prstGeom prst="rect">
                <a:avLst/>
              </a:prstGeom>
              <a:blipFill rotWithShape="1">
                <a:blip r:embed="rId2"/>
                <a:stretch>
                  <a:fillRect b="-1415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9" name="TextBox 28"/>
              <p:cNvSpPr txBox="1"/>
              <p:nvPr/>
            </p:nvSpPr>
            <p:spPr>
              <a:xfrm>
                <a:off x="3032499" y="2764514"/>
                <a:ext cx="5832648" cy="5085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Thus:                              </a:t>
                </a:r>
                <a14:m>
                  <m:oMath xmlns:m="http://schemas.openxmlformats.org/officeDocument/2006/math">
                    <m:r>
                      <a:rPr lang="en-AU" b="0" i="0" smtClean="0">
                        <a:latin typeface="Cambria Math" panose="02040503050406030204" pitchFamily="18" charset="0"/>
                      </a:rPr>
                      <m:t>       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AU" b="0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AU" b="0" i="1" smtClean="0">
                            <a:latin typeface="Cambria Math"/>
                          </a:rPr>
                          <m:t>𝑒</m:t>
                        </m:r>
                      </m:den>
                    </m:f>
                  </m:oMath>
                </a14:m>
                <a:endParaRPr lang="en-AU" dirty="0"/>
              </a:p>
            </p:txBody>
          </p:sp>
        </mc:Choice>
        <mc:Fallback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2499" y="2764514"/>
                <a:ext cx="5832648" cy="508537"/>
              </a:xfrm>
              <a:prstGeom prst="rect">
                <a:avLst/>
              </a:prstGeom>
              <a:blipFill rotWithShape="1">
                <a:blip r:embed="rId3"/>
                <a:stretch>
                  <a:fillRect l="-836" b="-357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/>
              <p:cNvSpPr txBox="1"/>
              <p:nvPr/>
            </p:nvSpPr>
            <p:spPr>
              <a:xfrm>
                <a:off x="-112020" y="2103849"/>
                <a:ext cx="297589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What happens to the </a:t>
                </a:r>
                <a14:m>
                  <m:oMath xmlns:m="http://schemas.openxmlformats.org/officeDocument/2006/math">
                    <m:r>
                      <a:rPr lang="en-AU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</m:t>
                    </m:r>
                  </m:oMath>
                </a14:m>
                <a:r>
                  <a:rPr lang="en-AU" dirty="0" smtClean="0"/>
                  <a:t> sign?</a:t>
                </a:r>
                <a:endParaRPr lang="en-AU" dirty="0"/>
              </a:p>
            </p:txBody>
          </p:sp>
        </mc:Choice>
        <mc:Fallback xmlns=""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12020" y="2103849"/>
                <a:ext cx="2975893" cy="369332"/>
              </a:xfrm>
              <a:prstGeom prst="rect">
                <a:avLst/>
              </a:prstGeom>
              <a:blipFill rotWithShape="1">
                <a:blip r:embed="rId4"/>
                <a:stretch>
                  <a:fillRect l="-1844" t="-8197" b="-2459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extBox 26"/>
          <p:cNvSpPr txBox="1"/>
          <p:nvPr/>
        </p:nvSpPr>
        <p:spPr>
          <a:xfrm>
            <a:off x="21594" y="3298239"/>
            <a:ext cx="2304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Examples: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/>
              <p:cNvSpPr txBox="1"/>
              <p:nvPr/>
            </p:nvSpPr>
            <p:spPr>
              <a:xfrm>
                <a:off x="4001115" y="3292813"/>
                <a:ext cx="1095107" cy="6365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b="0" i="1" smtClean="0">
                              <a:latin typeface="Cambria Math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𝑘𝑛</m:t>
                          </m:r>
                        </m:num>
                        <m:den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r>
                        <a:rPr lang="en-AU" b="0" i="0" smtClean="0">
                          <a:latin typeface="Cambria Math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b="0" i="1" smtClean="0">
                              <a:latin typeface="Cambria Math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/>
                              <a:ea typeface="Cambria Math" panose="02040503050406030204" pitchFamily="18" charset="0"/>
                            </a:rPr>
                            <m:t>𝑘</m:t>
                          </m:r>
                        </m:num>
                        <m:den>
                          <m:r>
                            <a:rPr lang="en-AU" b="0" i="1" smtClean="0">
                              <a:latin typeface="Cambria Math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AU" b="0" dirty="0" smtClean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01115" y="3292813"/>
                <a:ext cx="1095107" cy="636585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/>
          <p:cNvSpPr txBox="1"/>
          <p:nvPr/>
        </p:nvSpPr>
        <p:spPr>
          <a:xfrm>
            <a:off x="2980556" y="3298239"/>
            <a:ext cx="12117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1. Simplify </a:t>
            </a:r>
            <a:endParaRPr lang="en-AU" dirty="0"/>
          </a:p>
        </p:txBody>
      </p:sp>
      <p:cxnSp>
        <p:nvCxnSpPr>
          <p:cNvPr id="36" name="Straight Connector 35"/>
          <p:cNvCxnSpPr/>
          <p:nvPr/>
        </p:nvCxnSpPr>
        <p:spPr>
          <a:xfrm flipV="1">
            <a:off x="4081085" y="3313314"/>
            <a:ext cx="188177" cy="30912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/>
          <p:nvPr/>
        </p:nvCxnSpPr>
        <p:spPr>
          <a:xfrm flipV="1">
            <a:off x="4183289" y="3622437"/>
            <a:ext cx="188177" cy="30912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3973350" y="3134565"/>
            <a:ext cx="1831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1</a:t>
            </a:r>
            <a:endParaRPr lang="en-AU" dirty="0"/>
          </a:p>
        </p:txBody>
      </p:sp>
      <p:sp>
        <p:nvSpPr>
          <p:cNvPr id="39" name="TextBox 38"/>
          <p:cNvSpPr txBox="1"/>
          <p:nvPr/>
        </p:nvSpPr>
        <p:spPr>
          <a:xfrm>
            <a:off x="3989531" y="3746894"/>
            <a:ext cx="1831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2</a:t>
            </a:r>
            <a:endParaRPr lang="en-AU" dirty="0"/>
          </a:p>
        </p:txBody>
      </p:sp>
      <p:cxnSp>
        <p:nvCxnSpPr>
          <p:cNvPr id="19" name="Straight Connector 18"/>
          <p:cNvCxnSpPr/>
          <p:nvPr/>
        </p:nvCxnSpPr>
        <p:spPr>
          <a:xfrm flipV="1">
            <a:off x="4383823" y="3273051"/>
            <a:ext cx="188177" cy="30912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 flipV="1">
            <a:off x="4304353" y="3667571"/>
            <a:ext cx="188177" cy="30912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3086502" y="4869160"/>
            <a:ext cx="12646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2</a:t>
            </a:r>
            <a:r>
              <a:rPr lang="en-AU" dirty="0" smtClean="0"/>
              <a:t>. Simplify  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4371466" y="4869160"/>
                <a:ext cx="2457339" cy="64819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/>
                            </a:rPr>
                            <m:t>9</m:t>
                          </m:r>
                          <m:sSup>
                            <m:sSupPr>
                              <m:ctrlPr>
                                <a:rPr lang="en-AU" b="0" i="1" smtClean="0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AU" b="0" i="1" smtClean="0">
                                  <a:latin typeface="Cambria Math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AU" b="0" i="1" smtClean="0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  <m:r>
                            <a:rPr lang="en-AU" b="0" i="1" smtClean="0">
                              <a:latin typeface="Cambria Math"/>
                            </a:rPr>
                            <m:t>𝑏𝑐</m:t>
                          </m:r>
                        </m:num>
                        <m:den>
                          <m:r>
                            <a:rPr lang="en-AU" b="0" i="1" smtClean="0">
                              <a:latin typeface="Cambria Math"/>
                            </a:rPr>
                            <m:t>3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𝑎𝑐</m:t>
                          </m:r>
                        </m:den>
                      </m:f>
                      <m:r>
                        <a:rPr lang="en-AU" b="0" i="0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/>
                            </a:rPr>
                            <m:t>9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𝑎𝑎𝑏𝑐</m:t>
                          </m:r>
                        </m:num>
                        <m:den>
                          <m:r>
                            <a:rPr lang="en-AU" b="0" i="1" smtClean="0">
                              <a:latin typeface="Cambria Math"/>
                            </a:rPr>
                            <m:t>3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𝑎𝑐</m:t>
                          </m:r>
                        </m:den>
                      </m:f>
                      <m:r>
                        <a:rPr lang="en-AU" b="0" i="1" smtClean="0">
                          <a:latin typeface="Cambria Math"/>
                        </a:rPr>
                        <m:t>=</m:t>
                      </m:r>
                      <m:r>
                        <a:rPr lang="en-AU" b="0" i="1" smtClean="0">
                          <a:latin typeface="Cambria Math"/>
                        </a:rPr>
                        <m:t>3</m:t>
                      </m:r>
                      <m:r>
                        <a:rPr lang="en-AU" b="0" i="1" smtClean="0">
                          <a:latin typeface="Cambria Math"/>
                        </a:rPr>
                        <m:t>𝑎</m:t>
                      </m:r>
                      <m:r>
                        <a:rPr lang="en-AU" b="0" i="1" smtClean="0">
                          <a:latin typeface="Cambria Math"/>
                        </a:rPr>
                        <m:t>𝑏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71466" y="4869160"/>
                <a:ext cx="2457339" cy="648191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Straight Connector 22"/>
          <p:cNvCxnSpPr/>
          <p:nvPr/>
        </p:nvCxnSpPr>
        <p:spPr>
          <a:xfrm flipV="1">
            <a:off x="5364088" y="4884132"/>
            <a:ext cx="188177" cy="30912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 flipV="1">
            <a:off x="5460239" y="5238492"/>
            <a:ext cx="188177" cy="30912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256163" y="4669361"/>
            <a:ext cx="2981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13691" y="5398936"/>
            <a:ext cx="1831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1</a:t>
            </a:r>
            <a:endParaRPr lang="en-AU" dirty="0"/>
          </a:p>
        </p:txBody>
      </p:sp>
      <p:cxnSp>
        <p:nvCxnSpPr>
          <p:cNvPr id="33" name="Straight Connector 32"/>
          <p:cNvCxnSpPr/>
          <p:nvPr/>
        </p:nvCxnSpPr>
        <p:spPr>
          <a:xfrm flipV="1">
            <a:off x="5496799" y="4899264"/>
            <a:ext cx="188177" cy="30912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/>
        </p:nvCxnSpPr>
        <p:spPr>
          <a:xfrm flipV="1">
            <a:off x="5618392" y="5238491"/>
            <a:ext cx="188177" cy="30912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>
          <a:xfrm flipV="1">
            <a:off x="5854734" y="4925733"/>
            <a:ext cx="188177" cy="30912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/>
          <p:nvPr/>
        </p:nvCxnSpPr>
        <p:spPr>
          <a:xfrm flipV="1">
            <a:off x="5712480" y="5295576"/>
            <a:ext cx="188177" cy="30912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5256163" y="3397508"/>
            <a:ext cx="23793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Cancel common factors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47864" y="6165304"/>
            <a:ext cx="22138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Page 78-82 Textbooks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553899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Notes Review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 smtClean="0"/>
              <a:t>24, 7 ,30</a:t>
            </a:r>
          </a:p>
          <a:p>
            <a:r>
              <a:rPr lang="en-AU" dirty="0" smtClean="0"/>
              <a:t>Date</a:t>
            </a:r>
          </a:p>
          <a:p>
            <a:r>
              <a:rPr lang="en-AU" dirty="0" smtClean="0"/>
              <a:t>Title</a:t>
            </a:r>
          </a:p>
          <a:p>
            <a:r>
              <a:rPr lang="en-AU" dirty="0" smtClean="0"/>
              <a:t>Essential question</a:t>
            </a:r>
          </a:p>
          <a:p>
            <a:r>
              <a:rPr lang="en-AU" dirty="0" smtClean="0"/>
              <a:t>Notes complete </a:t>
            </a:r>
          </a:p>
          <a:p>
            <a:r>
              <a:rPr lang="en-AU" dirty="0" smtClean="0"/>
              <a:t>Notes complete with colour and diagrams</a:t>
            </a:r>
          </a:p>
          <a:p>
            <a:r>
              <a:rPr lang="en-AU" dirty="0" smtClean="0"/>
              <a:t>Questions completed</a:t>
            </a:r>
          </a:p>
          <a:p>
            <a:r>
              <a:rPr lang="en-AU" dirty="0" smtClean="0"/>
              <a:t>Contents page filled in</a:t>
            </a:r>
          </a:p>
          <a:p>
            <a:r>
              <a:rPr lang="en-AU" dirty="0" smtClean="0"/>
              <a:t>Formula page filled in</a:t>
            </a:r>
          </a:p>
          <a:p>
            <a:pPr marL="0" indent="0">
              <a:buNone/>
            </a:pPr>
            <a:endParaRPr lang="en-AU" dirty="0" smtClean="0"/>
          </a:p>
          <a:p>
            <a:endParaRPr lang="en-AU" dirty="0" smtClean="0"/>
          </a:p>
        </p:txBody>
      </p:sp>
    </p:spTree>
    <p:extLst>
      <p:ext uri="{BB962C8B-B14F-4D97-AF65-F5344CB8AC3E}">
        <p14:creationId xmlns:p14="http://schemas.microsoft.com/office/powerpoint/2010/main" val="3069921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Homework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Review your notes and write a summary answering the essential question.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6342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887</TotalTime>
  <Words>1704</Words>
  <Application>Microsoft Office PowerPoint</Application>
  <PresentationFormat>On-screen Show (4:3)</PresentationFormat>
  <Paragraphs>355</Paragraphs>
  <Slides>24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5" baseType="lpstr">
      <vt:lpstr>Office Theme</vt:lpstr>
      <vt:lpstr>My Algebra   Interactive Notebook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Notes Review</vt:lpstr>
      <vt:lpstr>Homework</vt:lpstr>
    </vt:vector>
  </TitlesOfParts>
  <Company>The Department of Education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RUST Joanne</cp:lastModifiedBy>
  <cp:revision>55</cp:revision>
  <dcterms:created xsi:type="dcterms:W3CDTF">2014-05-14T02:58:57Z</dcterms:created>
  <dcterms:modified xsi:type="dcterms:W3CDTF">2015-05-05T04:09:29Z</dcterms:modified>
</cp:coreProperties>
</file>
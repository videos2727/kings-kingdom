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60" r:id="rId2"/>
    <p:sldId id="259" r:id="rId3"/>
    <p:sldId id="258" r:id="rId4"/>
    <p:sldId id="309" r:id="rId5"/>
    <p:sldId id="321" r:id="rId6"/>
    <p:sldId id="320" r:id="rId7"/>
    <p:sldId id="322" r:id="rId8"/>
    <p:sldId id="323" r:id="rId9"/>
    <p:sldId id="324" r:id="rId10"/>
    <p:sldId id="325" r:id="rId11"/>
    <p:sldId id="326" r:id="rId12"/>
    <p:sldId id="327" r:id="rId13"/>
    <p:sldId id="328" r:id="rId14"/>
    <p:sldId id="330" r:id="rId15"/>
    <p:sldId id="331" r:id="rId16"/>
    <p:sldId id="332" r:id="rId17"/>
    <p:sldId id="311" r:id="rId18"/>
    <p:sldId id="333" r:id="rId19"/>
    <p:sldId id="292" r:id="rId20"/>
    <p:sldId id="291" r:id="rId2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6803" autoAdjust="0"/>
  </p:normalViewPr>
  <p:slideViewPr>
    <p:cSldViewPr>
      <p:cViewPr>
        <p:scale>
          <a:sx n="79" d="100"/>
          <a:sy n="79" d="100"/>
        </p:scale>
        <p:origin x="-1116" y="22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61F06D-4543-461C-A563-4C1630637A41}" type="datetimeFigureOut">
              <a:rPr lang="en-AU" smtClean="0"/>
              <a:t>17/05/2015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76FEA3-4B06-46F7-BD2F-EBD4701E5C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163229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17/05/2015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17/05/2015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17/05/2015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17/05/2015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17/05/2015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17/05/2015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17/05/2015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17/05/2015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17/05/2015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17/05/2015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17/05/2015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17/05/2015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3.png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4.png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5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4.png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6"/>
            <a:ext cx="7772400" cy="1470025"/>
          </a:xfrm>
        </p:spPr>
        <p:txBody>
          <a:bodyPr/>
          <a:lstStyle/>
          <a:p>
            <a:r>
              <a:rPr lang="en-AU" dirty="0" smtClean="0"/>
              <a:t>My Algebra  </a:t>
            </a:r>
            <a:br>
              <a:rPr lang="en-AU" dirty="0" smtClean="0"/>
            </a:br>
            <a:r>
              <a:rPr lang="en-AU" dirty="0" smtClean="0"/>
              <a:t>Interactive Notebook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lang="en-AU" dirty="0" smtClean="0"/>
              <a:t>Name : </a:t>
            </a:r>
          </a:p>
          <a:p>
            <a:pPr algn="l"/>
            <a:r>
              <a:rPr lang="en-AU" dirty="0" smtClean="0"/>
              <a:t>Class : </a:t>
            </a:r>
          </a:p>
          <a:p>
            <a:pPr algn="l"/>
            <a:r>
              <a:rPr lang="en-AU" dirty="0" smtClean="0"/>
              <a:t>Term 2 Semester </a:t>
            </a:r>
            <a:r>
              <a:rPr lang="en-AU" dirty="0"/>
              <a:t>1</a:t>
            </a:r>
            <a:endParaRPr lang="en-AU" dirty="0" smtClean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539552" y="2383349"/>
                <a:ext cx="1688091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2</m:t>
                      </m:r>
                      <m:r>
                        <a:rPr lang="en-AU" sz="32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𝑥</m:t>
                      </m:r>
                      <m:r>
                        <a:rPr lang="en-AU" sz="32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+3</m:t>
                      </m:r>
                      <m:r>
                        <a:rPr lang="en-AU" sz="32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𝑦</m:t>
                      </m:r>
                    </m:oMath>
                  </m:oMathPara>
                </a14:m>
                <a:endParaRPr lang="en-AU" sz="32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552" y="2383349"/>
                <a:ext cx="1688091" cy="584775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7015196" y="2129758"/>
                <a:ext cx="964751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0" i="1" smtClean="0">
                          <a:solidFill>
                            <a:srgbClr val="FF9900"/>
                          </a:solidFill>
                          <a:latin typeface="Cambria Math"/>
                        </a:rPr>
                        <m:t>3</m:t>
                      </m:r>
                      <m:r>
                        <a:rPr lang="en-AU" sz="3200" b="0" i="1" smtClean="0">
                          <a:solidFill>
                            <a:srgbClr val="FF9900"/>
                          </a:solidFill>
                          <a:latin typeface="Cambria Math"/>
                        </a:rPr>
                        <m:t>𝑎𝑏</m:t>
                      </m:r>
                    </m:oMath>
                  </m:oMathPara>
                </a14:m>
                <a:endParaRPr lang="en-AU" sz="3200" dirty="0">
                  <a:solidFill>
                    <a:srgbClr val="FF9900"/>
                  </a:solidFill>
                </a:endParaRP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5196" y="2129758"/>
                <a:ext cx="964751" cy="584775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3923928" y="2780928"/>
                <a:ext cx="1054969" cy="11443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360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sz="36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5</m:t>
                          </m:r>
                          <m:r>
                            <a:rPr lang="en-AU" sz="36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𝑥𝑦</m:t>
                          </m:r>
                        </m:num>
                        <m:den>
                          <m:r>
                            <a:rPr lang="en-AU" sz="36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lang="en-AU" sz="36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3928" y="2780928"/>
                <a:ext cx="1054969" cy="1144352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6260181" y="4485359"/>
                <a:ext cx="2474780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600" b="0" i="1" smtClean="0">
                          <a:solidFill>
                            <a:srgbClr val="00B0F0"/>
                          </a:solidFill>
                          <a:latin typeface="Cambria Math"/>
                        </a:rPr>
                        <m:t>𝑦</m:t>
                      </m:r>
                      <m:r>
                        <a:rPr lang="en-AU" sz="3600" b="0" i="1" smtClean="0">
                          <a:solidFill>
                            <a:srgbClr val="00B0F0"/>
                          </a:solidFill>
                          <a:latin typeface="Cambria Math"/>
                        </a:rPr>
                        <m:t>=2</m:t>
                      </m:r>
                      <m:r>
                        <a:rPr lang="en-AU" sz="3600" b="0" i="1" smtClean="0">
                          <a:solidFill>
                            <a:srgbClr val="00B0F0"/>
                          </a:solidFill>
                          <a:latin typeface="Cambria Math"/>
                        </a:rPr>
                        <m:t>𝑥</m:t>
                      </m:r>
                      <m:r>
                        <a:rPr lang="en-AU" sz="3600" b="0" i="1" smtClean="0">
                          <a:solidFill>
                            <a:srgbClr val="00B0F0"/>
                          </a:solidFill>
                          <a:latin typeface="Cambria Math"/>
                        </a:rPr>
                        <m:t>+1</m:t>
                      </m:r>
                    </m:oMath>
                  </m:oMathPara>
                </a14:m>
                <a:endParaRPr lang="en-AU" sz="3600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0181" y="4485359"/>
                <a:ext cx="2474780" cy="646331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49591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12" name="TextBox 11"/>
          <p:cNvSpPr txBox="1"/>
          <p:nvPr/>
        </p:nvSpPr>
        <p:spPr>
          <a:xfrm>
            <a:off x="6372200" y="153568"/>
            <a:ext cx="8942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Glossary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7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36212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Factorising Expressions 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use the </a:t>
            </a:r>
            <a:r>
              <a:rPr lang="en-AU" sz="2400" dirty="0" smtClean="0"/>
              <a:t>HCF to factorise expressions?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7583776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Task</a:t>
            </a:r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Find the HCF of the following </a:t>
            </a:r>
            <a:endParaRPr lang="en-AU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AU" dirty="0" smtClean="0"/>
              <a:t>2 and 4</a:t>
            </a:r>
          </a:p>
          <a:p>
            <a:pPr marL="457200" indent="-457200">
              <a:buFont typeface="+mj-lt"/>
              <a:buAutoNum type="arabicPeriod"/>
            </a:pPr>
            <a:r>
              <a:rPr lang="en-AU" dirty="0" smtClean="0"/>
              <a:t>10 and 15</a:t>
            </a:r>
          </a:p>
          <a:p>
            <a:pPr marL="457200" indent="-457200">
              <a:buFont typeface="+mj-lt"/>
              <a:buAutoNum type="arabicPeriod"/>
            </a:pPr>
            <a:r>
              <a:rPr lang="en-AU" dirty="0" smtClean="0"/>
              <a:t>2</a:t>
            </a:r>
            <a:r>
              <a:rPr lang="en-AU" i="1" dirty="0" smtClean="0"/>
              <a:t>a</a:t>
            </a:r>
            <a:r>
              <a:rPr lang="en-AU" dirty="0" smtClean="0"/>
              <a:t> and 6</a:t>
            </a:r>
          </a:p>
          <a:p>
            <a:pPr marL="457200" indent="-457200">
              <a:buFont typeface="+mj-lt"/>
              <a:buAutoNum type="arabicPeriod"/>
            </a:pPr>
            <a:r>
              <a:rPr lang="en-AU" dirty="0" smtClean="0"/>
              <a:t>10</a:t>
            </a:r>
            <a:r>
              <a:rPr lang="en-AU" i="1" dirty="0" smtClean="0"/>
              <a:t>a</a:t>
            </a:r>
            <a:r>
              <a:rPr lang="en-AU" dirty="0" smtClean="0"/>
              <a:t> and 15</a:t>
            </a:r>
            <a:r>
              <a:rPr lang="en-AU" i="1" dirty="0" smtClean="0"/>
              <a:t>b</a:t>
            </a:r>
          </a:p>
          <a:p>
            <a:pPr marL="457200" indent="-457200">
              <a:buFont typeface="+mj-lt"/>
              <a:buAutoNum type="arabicPeriod"/>
            </a:pPr>
            <a:r>
              <a:rPr lang="en-AU" dirty="0" smtClean="0"/>
              <a:t>2</a:t>
            </a:r>
            <a:r>
              <a:rPr lang="en-AU" i="1" dirty="0" smtClean="0"/>
              <a:t>c</a:t>
            </a:r>
            <a:r>
              <a:rPr lang="en-AU" dirty="0" smtClean="0"/>
              <a:t> and 3</a:t>
            </a:r>
            <a:r>
              <a:rPr lang="en-AU" i="1" dirty="0" smtClean="0"/>
              <a:t>c</a:t>
            </a:r>
          </a:p>
          <a:p>
            <a:pPr marL="0" indent="0">
              <a:buNone/>
            </a:pP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 Placeholder 6"/>
              <p:cNvSpPr>
                <a:spLocks noGrp="1"/>
              </p:cNvSpPr>
              <p:nvPr>
                <p:ph sz="quarter" idx="4"/>
              </p:nvPr>
            </p:nvSpPr>
            <p:spPr/>
            <p:txBody>
              <a:bodyPr/>
              <a:lstStyle/>
              <a:p>
                <a:pPr marL="457200" indent="-457200">
                  <a:buFont typeface="+mj-lt"/>
                  <a:buAutoNum type="arabicPeriod" startAt="6"/>
                </a:pPr>
                <a:r>
                  <a:rPr lang="en-AU" dirty="0" smtClean="0"/>
                  <a:t>10</a:t>
                </a:r>
                <a:r>
                  <a:rPr lang="en-AU" i="1" dirty="0" smtClean="0"/>
                  <a:t>e</a:t>
                </a:r>
                <a:r>
                  <a:rPr lang="en-AU" dirty="0" smtClean="0"/>
                  <a:t> and 15</a:t>
                </a:r>
                <a:r>
                  <a:rPr lang="en-AU" i="1" dirty="0" smtClean="0"/>
                  <a:t>e</a:t>
                </a:r>
              </a:p>
              <a:p>
                <a:pPr marL="457200" indent="-457200">
                  <a:buFont typeface="+mj-lt"/>
                  <a:buAutoNum type="arabicPeriod" startAt="6"/>
                </a:pPr>
                <a:r>
                  <a:rPr lang="en-AU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𝑓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AU" dirty="0" smtClean="0"/>
                  <a:t> and </a:t>
                </a:r>
                <a14:m>
                  <m:oMath xmlns:m="http://schemas.openxmlformats.org/officeDocument/2006/math">
                    <m:r>
                      <a:rPr lang="en-AU" b="0" i="0" smtClean="0">
                        <a:latin typeface="Cambria Math"/>
                      </a:rPr>
                      <m:t>6</m:t>
                    </m:r>
                    <m:r>
                      <a:rPr lang="en-AU" b="0" i="1" smtClean="0">
                        <a:latin typeface="Cambria Math"/>
                      </a:rPr>
                      <m:t>𝑓</m:t>
                    </m:r>
                  </m:oMath>
                </a14:m>
                <a:endParaRPr lang="en-AU" dirty="0" smtClean="0"/>
              </a:p>
              <a:p>
                <a:pPr marL="457200" indent="-457200">
                  <a:buFont typeface="+mj-lt"/>
                  <a:buAutoNum type="arabicPeriod" startAt="6"/>
                </a:pPr>
                <a:r>
                  <a:rPr lang="en-AU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2</m:t>
                        </m:r>
                        <m:r>
                          <a:rPr lang="en-AU" b="0" i="1" smtClean="0">
                            <a:latin typeface="Cambria Math"/>
                          </a:rPr>
                          <m:t>𝑦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AU" dirty="0" smtClean="0"/>
                  <a:t> and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3</m:t>
                    </m:r>
                    <m:r>
                      <a:rPr lang="en-AU" b="0" i="1" smtClean="0">
                        <a:latin typeface="Cambria Math"/>
                      </a:rPr>
                      <m:t>𝑦</m:t>
                    </m:r>
                  </m:oMath>
                </a14:m>
                <a:endParaRPr lang="en-AU" b="0" dirty="0" smtClean="0"/>
              </a:p>
              <a:p>
                <a:pPr marL="457200" indent="-457200">
                  <a:buFont typeface="+mj-lt"/>
                  <a:buAutoNum type="arabicPeriod" startAt="6"/>
                </a:pPr>
                <a:r>
                  <a:rPr lang="en-AU" dirty="0"/>
                  <a:t>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2</m:t>
                    </m:r>
                    <m:sSup>
                      <m:sSupPr>
                        <m:ctrlPr>
                          <a:rPr lang="en-AU" b="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/>
                      </a:rPr>
                      <m:t> </m:t>
                    </m:r>
                  </m:oMath>
                </a14:m>
                <a:r>
                  <a:rPr lang="en-AU" dirty="0" smtClean="0"/>
                  <a:t>and 4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𝑥</m:t>
                    </m:r>
                  </m:oMath>
                </a14:m>
                <a:endParaRPr lang="en-AU" b="0" dirty="0" smtClean="0"/>
              </a:p>
              <a:p>
                <a:pPr marL="457200" indent="-457200">
                  <a:buFont typeface="+mj-lt"/>
                  <a:buAutoNum type="arabicPeriod" startAt="6"/>
                </a:pPr>
                <a:r>
                  <a:rPr lang="en-AU" dirty="0" smtClean="0"/>
                  <a:t> </a:t>
                </a:r>
                <a14:m>
                  <m:oMath xmlns:m="http://schemas.openxmlformats.org/officeDocument/2006/math">
                    <m:r>
                      <a:rPr lang="en-AU" i="1" dirty="0" smtClean="0">
                        <a:latin typeface="Cambria Math"/>
                      </a:rPr>
                      <m:t>1</m:t>
                    </m:r>
                    <m:r>
                      <a:rPr lang="en-AU" b="0" i="1" dirty="0" smtClean="0">
                        <a:latin typeface="Cambria Math"/>
                      </a:rPr>
                      <m:t>0</m:t>
                    </m:r>
                    <m:sSup>
                      <m:sSupPr>
                        <m:ctrlPr>
                          <a:rPr lang="en-AU" i="1">
                            <a:latin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𝑡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i="1">
                        <a:latin typeface="Cambria Math"/>
                      </a:rPr>
                      <m:t> </m:t>
                    </m:r>
                  </m:oMath>
                </a14:m>
                <a:r>
                  <a:rPr lang="en-AU" dirty="0"/>
                  <a:t>and </a:t>
                </a:r>
                <a:r>
                  <a:rPr lang="en-AU" dirty="0" smtClean="0"/>
                  <a:t>15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𝑡</m:t>
                    </m:r>
                  </m:oMath>
                </a14:m>
                <a:endParaRPr lang="en-AU" dirty="0"/>
              </a:p>
              <a:p>
                <a:pPr marL="0" indent="0">
                  <a:buNone/>
                </a:pPr>
                <a:endParaRPr lang="en-AU" dirty="0" smtClean="0"/>
              </a:p>
              <a:p>
                <a:pPr marL="0" indent="0">
                  <a:buNone/>
                </a:pPr>
                <a:endParaRPr lang="en-AU" dirty="0"/>
              </a:p>
            </p:txBody>
          </p:sp>
        </mc:Choice>
        <mc:Fallback>
          <p:sp>
            <p:nvSpPr>
              <p:cNvPr id="7" name="Content Placeholder 6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4"/>
              </p:nvPr>
            </p:nvSpPr>
            <p:spPr>
              <a:blipFill rotWithShape="1">
                <a:blip r:embed="rId2"/>
                <a:stretch>
                  <a:fillRect l="-2413" t="-138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828846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36212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Factorising Expressions 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use the </a:t>
            </a:r>
            <a:r>
              <a:rPr lang="en-AU" sz="2400" dirty="0" smtClean="0"/>
              <a:t>HCF to factorise expressions?</a:t>
            </a:r>
            <a:endParaRPr lang="en-AU" sz="2400" dirty="0"/>
          </a:p>
        </p:txBody>
      </p:sp>
      <p:sp>
        <p:nvSpPr>
          <p:cNvPr id="2" name="TextBox 1"/>
          <p:cNvSpPr txBox="1"/>
          <p:nvPr/>
        </p:nvSpPr>
        <p:spPr>
          <a:xfrm>
            <a:off x="93471" y="1943799"/>
            <a:ext cx="17935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the HCF?</a:t>
            </a:r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3071268" y="1943799"/>
            <a:ext cx="30014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HCF – Highest Common factor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932705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36212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Factorising Expressions 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use the </a:t>
            </a:r>
            <a:r>
              <a:rPr lang="en-AU" sz="2400" dirty="0" smtClean="0"/>
              <a:t>HCF to factorise expressions?</a:t>
            </a:r>
            <a:endParaRPr lang="en-AU" sz="2400" dirty="0"/>
          </a:p>
        </p:txBody>
      </p:sp>
      <p:sp>
        <p:nvSpPr>
          <p:cNvPr id="2" name="TextBox 1"/>
          <p:cNvSpPr txBox="1"/>
          <p:nvPr/>
        </p:nvSpPr>
        <p:spPr>
          <a:xfrm>
            <a:off x="93471" y="1943799"/>
            <a:ext cx="17935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the HCF?</a:t>
            </a:r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3071268" y="1943799"/>
            <a:ext cx="30014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HCF – Highest Common factor</a:t>
            </a:r>
            <a:endParaRPr lang="en-AU" dirty="0"/>
          </a:p>
        </p:txBody>
      </p:sp>
      <p:sp>
        <p:nvSpPr>
          <p:cNvPr id="12" name="TextBox 11"/>
          <p:cNvSpPr txBox="1"/>
          <p:nvPr/>
        </p:nvSpPr>
        <p:spPr>
          <a:xfrm>
            <a:off x="93471" y="2492896"/>
            <a:ext cx="19916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How do I factorise?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3071268" y="2492896"/>
                <a:ext cx="187179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Factorise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2</m:t>
                    </m:r>
                    <m:r>
                      <a:rPr lang="en-AU" b="0" i="1" smtClean="0">
                        <a:latin typeface="Cambria Math"/>
                      </a:rPr>
                      <m:t>𝑝</m:t>
                    </m:r>
                    <m:r>
                      <a:rPr lang="en-AU" b="0" i="1" smtClean="0">
                        <a:latin typeface="Cambria Math"/>
                      </a:rPr>
                      <m:t>+10</m:t>
                    </m:r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1268" y="2492896"/>
                <a:ext cx="1871794" cy="369332"/>
              </a:xfrm>
              <a:prstGeom prst="rect">
                <a:avLst/>
              </a:prstGeom>
              <a:blipFill rotWithShape="1">
                <a:blip r:embed="rId2"/>
                <a:stretch>
                  <a:fillRect l="-2932" t="-8197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220924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36212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Factorising Expressions 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use the </a:t>
            </a:r>
            <a:r>
              <a:rPr lang="en-AU" sz="2400" dirty="0" smtClean="0"/>
              <a:t>HCF to factorise expressions?</a:t>
            </a:r>
            <a:endParaRPr lang="en-AU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0" name="Table 9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25725528"/>
                  </p:ext>
                </p:extLst>
              </p:nvPr>
            </p:nvGraphicFramePr>
            <p:xfrm>
              <a:off x="5798489" y="2996952"/>
              <a:ext cx="3224862" cy="731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74954"/>
                    <a:gridCol w="1074954"/>
                    <a:gridCol w="1074954"/>
                  </a:tblGrid>
                  <a:tr h="24697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AU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</a:rPr>
                                <m:t>×</m:t>
                              </m:r>
                            </m:oMath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246975">
                    <a:tc>
                      <a:txBody>
                        <a:bodyPr/>
                        <a:lstStyle/>
                        <a:p>
                          <a:pPr algn="ctr"/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𝑝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+10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Choice>
        <mc:Fallback>
          <p:graphicFrame>
            <p:nvGraphicFramePr>
              <p:cNvPr id="10" name="Table 9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25725528"/>
                  </p:ext>
                </p:extLst>
              </p:nvPr>
            </p:nvGraphicFramePr>
            <p:xfrm>
              <a:off x="5798489" y="2996952"/>
              <a:ext cx="3224862" cy="731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74954"/>
                    <a:gridCol w="1074954"/>
                    <a:gridCol w="1074954"/>
                  </a:tblGrid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t="-1667" r="-201136" b="-1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99435" t="-101667" r="-100000" b="-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+10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2" name="TextBox 1"/>
          <p:cNvSpPr txBox="1"/>
          <p:nvPr/>
        </p:nvSpPr>
        <p:spPr>
          <a:xfrm>
            <a:off x="93471" y="1943799"/>
            <a:ext cx="17935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the HCF?</a:t>
            </a:r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3071268" y="1943799"/>
            <a:ext cx="30014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HCF – Highest Common factor</a:t>
            </a:r>
            <a:endParaRPr lang="en-AU" dirty="0"/>
          </a:p>
        </p:txBody>
      </p:sp>
      <p:sp>
        <p:nvSpPr>
          <p:cNvPr id="12" name="TextBox 11"/>
          <p:cNvSpPr txBox="1"/>
          <p:nvPr/>
        </p:nvSpPr>
        <p:spPr>
          <a:xfrm>
            <a:off x="93471" y="2492896"/>
            <a:ext cx="19916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How do I factorise?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3071268" y="2492896"/>
                <a:ext cx="187179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Factorise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2</m:t>
                    </m:r>
                    <m:r>
                      <a:rPr lang="en-AU" b="0" i="1" smtClean="0">
                        <a:latin typeface="Cambria Math"/>
                      </a:rPr>
                      <m:t>𝑝</m:t>
                    </m:r>
                    <m:r>
                      <a:rPr lang="en-AU" b="0" i="1" smtClean="0">
                        <a:latin typeface="Cambria Math"/>
                      </a:rPr>
                      <m:t>+10</m:t>
                    </m:r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1268" y="2492896"/>
                <a:ext cx="1871794" cy="369332"/>
              </a:xfrm>
              <a:prstGeom prst="rect">
                <a:avLst/>
              </a:prstGeom>
              <a:blipFill rotWithShape="1">
                <a:blip r:embed="rId3"/>
                <a:stretch>
                  <a:fillRect l="-2932" t="-8197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/>
          <p:cNvSpPr txBox="1"/>
          <p:nvPr/>
        </p:nvSpPr>
        <p:spPr>
          <a:xfrm>
            <a:off x="3169931" y="3140968"/>
            <a:ext cx="21602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Find the HCF of both terms</a:t>
            </a:r>
            <a:endParaRPr lang="en-AU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36065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36212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Factorising Expressions 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use the </a:t>
            </a:r>
            <a:r>
              <a:rPr lang="en-AU" sz="2400" dirty="0" smtClean="0"/>
              <a:t>HCF to factorise expressions?</a:t>
            </a:r>
            <a:endParaRPr lang="en-AU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0" name="Table 9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98370657"/>
                  </p:ext>
                </p:extLst>
              </p:nvPr>
            </p:nvGraphicFramePr>
            <p:xfrm>
              <a:off x="5798489" y="2996952"/>
              <a:ext cx="3224862" cy="731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74954"/>
                    <a:gridCol w="1074954"/>
                    <a:gridCol w="1074954"/>
                  </a:tblGrid>
                  <a:tr h="24697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AU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</a:rPr>
                                <m:t>×</m:t>
                              </m:r>
                            </m:oMath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24697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rgbClr val="FF0000"/>
                              </a:solidFill>
                            </a:rPr>
                            <a:t>2</a:t>
                          </a:r>
                          <a:endParaRPr lang="en-AU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𝑝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+10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Choice>
        <mc:Fallback>
          <p:graphicFrame>
            <p:nvGraphicFramePr>
              <p:cNvPr id="10" name="Table 9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98370657"/>
                  </p:ext>
                </p:extLst>
              </p:nvPr>
            </p:nvGraphicFramePr>
            <p:xfrm>
              <a:off x="5798489" y="2996952"/>
              <a:ext cx="3224862" cy="731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74954"/>
                    <a:gridCol w="1074954"/>
                    <a:gridCol w="1074954"/>
                  </a:tblGrid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t="-1667" r="-201136" b="-1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rgbClr val="FF0000"/>
                              </a:solidFill>
                            </a:rPr>
                            <a:t>2</a:t>
                          </a:r>
                          <a:endParaRPr lang="en-AU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99435" t="-101667" r="-100000" b="-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+10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2" name="TextBox 1"/>
          <p:cNvSpPr txBox="1"/>
          <p:nvPr/>
        </p:nvSpPr>
        <p:spPr>
          <a:xfrm>
            <a:off x="93471" y="1943799"/>
            <a:ext cx="17935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the HCF?</a:t>
            </a:r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3071268" y="1943799"/>
            <a:ext cx="30014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HCF – Highest Common factor</a:t>
            </a:r>
            <a:endParaRPr lang="en-AU" dirty="0"/>
          </a:p>
        </p:txBody>
      </p:sp>
      <p:sp>
        <p:nvSpPr>
          <p:cNvPr id="12" name="TextBox 11"/>
          <p:cNvSpPr txBox="1"/>
          <p:nvPr/>
        </p:nvSpPr>
        <p:spPr>
          <a:xfrm>
            <a:off x="93471" y="2492896"/>
            <a:ext cx="19916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How do I factorise?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3071268" y="2492896"/>
                <a:ext cx="187179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Factorise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2</m:t>
                    </m:r>
                    <m:r>
                      <a:rPr lang="en-AU" b="0" i="1" smtClean="0">
                        <a:latin typeface="Cambria Math"/>
                      </a:rPr>
                      <m:t>𝑝</m:t>
                    </m:r>
                    <m:r>
                      <a:rPr lang="en-AU" b="0" i="1" smtClean="0">
                        <a:latin typeface="Cambria Math"/>
                      </a:rPr>
                      <m:t>+10</m:t>
                    </m:r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1268" y="2492896"/>
                <a:ext cx="1871794" cy="369332"/>
              </a:xfrm>
              <a:prstGeom prst="rect">
                <a:avLst/>
              </a:prstGeom>
              <a:blipFill rotWithShape="1">
                <a:blip r:embed="rId3"/>
                <a:stretch>
                  <a:fillRect l="-2932" t="-8197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/>
          <p:cNvSpPr txBox="1"/>
          <p:nvPr/>
        </p:nvSpPr>
        <p:spPr>
          <a:xfrm>
            <a:off x="3169931" y="3140968"/>
            <a:ext cx="21602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Find the HCF of both terms</a:t>
            </a:r>
            <a:endParaRPr lang="en-AU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18372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36212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Factorising Expressions 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use the </a:t>
            </a:r>
            <a:r>
              <a:rPr lang="en-AU" sz="2400" dirty="0" smtClean="0"/>
              <a:t>HCF to factorise expressions?</a:t>
            </a:r>
            <a:endParaRPr lang="en-AU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0" name="Table 9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01713012"/>
                  </p:ext>
                </p:extLst>
              </p:nvPr>
            </p:nvGraphicFramePr>
            <p:xfrm>
              <a:off x="5798489" y="2996952"/>
              <a:ext cx="3224862" cy="731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74954"/>
                    <a:gridCol w="1074954"/>
                    <a:gridCol w="1074954"/>
                  </a:tblGrid>
                  <a:tr h="24697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AU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</a:rPr>
                                <m:t>×</m:t>
                              </m:r>
                            </m:oMath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b="0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24697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rgbClr val="FF0000"/>
                              </a:solidFill>
                            </a:rPr>
                            <a:t>2</a:t>
                          </a:r>
                          <a:endParaRPr lang="en-AU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𝑝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+10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Choice>
        <mc:Fallback>
          <p:graphicFrame>
            <p:nvGraphicFramePr>
              <p:cNvPr id="10" name="Table 9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01713012"/>
                  </p:ext>
                </p:extLst>
              </p:nvPr>
            </p:nvGraphicFramePr>
            <p:xfrm>
              <a:off x="5798489" y="2996952"/>
              <a:ext cx="3224862" cy="731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74954"/>
                    <a:gridCol w="1074954"/>
                    <a:gridCol w="1074954"/>
                  </a:tblGrid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t="-1667" r="-201136" b="-1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b="0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rgbClr val="FF0000"/>
                              </a:solidFill>
                            </a:rPr>
                            <a:t>2</a:t>
                          </a:r>
                          <a:endParaRPr lang="en-AU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99435" t="-101667" r="-100000" b="-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+10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2" name="TextBox 1"/>
          <p:cNvSpPr txBox="1"/>
          <p:nvPr/>
        </p:nvSpPr>
        <p:spPr>
          <a:xfrm>
            <a:off x="93471" y="1943799"/>
            <a:ext cx="17935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the HCF?</a:t>
            </a:r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3071268" y="1943799"/>
            <a:ext cx="30014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HCF – Highest Common factor</a:t>
            </a:r>
            <a:endParaRPr lang="en-AU" dirty="0"/>
          </a:p>
        </p:txBody>
      </p:sp>
      <p:sp>
        <p:nvSpPr>
          <p:cNvPr id="12" name="TextBox 11"/>
          <p:cNvSpPr txBox="1"/>
          <p:nvPr/>
        </p:nvSpPr>
        <p:spPr>
          <a:xfrm>
            <a:off x="93471" y="2492896"/>
            <a:ext cx="19916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How do I factorise?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3071268" y="2492896"/>
                <a:ext cx="187179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Factorise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2</m:t>
                    </m:r>
                    <m:r>
                      <a:rPr lang="en-AU" b="0" i="1" smtClean="0">
                        <a:latin typeface="Cambria Math"/>
                      </a:rPr>
                      <m:t>𝑝</m:t>
                    </m:r>
                    <m:r>
                      <a:rPr lang="en-AU" b="0" i="1" smtClean="0">
                        <a:latin typeface="Cambria Math"/>
                      </a:rPr>
                      <m:t>+10</m:t>
                    </m:r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1268" y="2492896"/>
                <a:ext cx="1871794" cy="369332"/>
              </a:xfrm>
              <a:prstGeom prst="rect">
                <a:avLst/>
              </a:prstGeom>
              <a:blipFill rotWithShape="1">
                <a:blip r:embed="rId3"/>
                <a:stretch>
                  <a:fillRect l="-2932" t="-8197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/>
          <p:cNvSpPr txBox="1"/>
          <p:nvPr/>
        </p:nvSpPr>
        <p:spPr>
          <a:xfrm>
            <a:off x="3169931" y="3140968"/>
            <a:ext cx="21602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Find the HCF of both terms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372200" y="2677562"/>
            <a:ext cx="20757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0070C0"/>
                </a:solidFill>
              </a:rPr>
              <a:t>Divide terms by HCF</a:t>
            </a:r>
            <a:endParaRPr lang="en-AU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57735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36212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Factorising Expressions 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use the </a:t>
            </a:r>
            <a:r>
              <a:rPr lang="en-AU" sz="2400" dirty="0" smtClean="0"/>
              <a:t>HCF to factorise expressions?</a:t>
            </a:r>
            <a:endParaRPr lang="en-AU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0" name="Table 9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37288584"/>
                  </p:ext>
                </p:extLst>
              </p:nvPr>
            </p:nvGraphicFramePr>
            <p:xfrm>
              <a:off x="5798489" y="2996952"/>
              <a:ext cx="3224862" cy="731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74954"/>
                    <a:gridCol w="1074954"/>
                    <a:gridCol w="1074954"/>
                  </a:tblGrid>
                  <a:tr h="24697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AU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</a:rPr>
                                <m:t>×</m:t>
                              </m:r>
                            </m:oMath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𝑝</m:t>
                                </m:r>
                              </m:oMath>
                            </m:oMathPara>
                          </a14:m>
                          <a:endParaRPr lang="en-AU" b="0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b="0" dirty="0" smtClean="0">
                              <a:solidFill>
                                <a:srgbClr val="0070C0"/>
                              </a:solidFill>
                            </a:rPr>
                            <a:t>+5</a:t>
                          </a:r>
                          <a:endParaRPr lang="en-AU" b="0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24697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rgbClr val="FF0000"/>
                              </a:solidFill>
                            </a:rPr>
                            <a:t>2</a:t>
                          </a:r>
                          <a:endParaRPr lang="en-AU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𝑝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+10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Choice>
        <mc:Fallback>
          <p:graphicFrame>
            <p:nvGraphicFramePr>
              <p:cNvPr id="10" name="Table 9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37288584"/>
                  </p:ext>
                </p:extLst>
              </p:nvPr>
            </p:nvGraphicFramePr>
            <p:xfrm>
              <a:off x="5798489" y="2996952"/>
              <a:ext cx="3224862" cy="731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74954"/>
                    <a:gridCol w="1074954"/>
                    <a:gridCol w="1074954"/>
                  </a:tblGrid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t="-8333" r="-201136" b="-1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99435" t="-8333" r="-100000" b="-1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b="0" dirty="0" smtClean="0">
                              <a:solidFill>
                                <a:srgbClr val="0070C0"/>
                              </a:solidFill>
                            </a:rPr>
                            <a:t>+5</a:t>
                          </a:r>
                          <a:endParaRPr lang="en-AU" b="0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rgbClr val="FF0000"/>
                              </a:solidFill>
                            </a:rPr>
                            <a:t>2</a:t>
                          </a:r>
                          <a:endParaRPr lang="en-AU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99435" t="-108333" r="-100000" b="-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+10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2" name="TextBox 1"/>
          <p:cNvSpPr txBox="1"/>
          <p:nvPr/>
        </p:nvSpPr>
        <p:spPr>
          <a:xfrm>
            <a:off x="93471" y="1943799"/>
            <a:ext cx="17935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the HCF?</a:t>
            </a:r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3071268" y="1943799"/>
            <a:ext cx="30014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HCF – Highest Common factor</a:t>
            </a:r>
            <a:endParaRPr lang="en-AU" dirty="0"/>
          </a:p>
        </p:txBody>
      </p:sp>
      <p:sp>
        <p:nvSpPr>
          <p:cNvPr id="12" name="TextBox 11"/>
          <p:cNvSpPr txBox="1"/>
          <p:nvPr/>
        </p:nvSpPr>
        <p:spPr>
          <a:xfrm>
            <a:off x="93471" y="2492896"/>
            <a:ext cx="19916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How do I factorise?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3071268" y="2492896"/>
                <a:ext cx="187179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Factorise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2</m:t>
                    </m:r>
                    <m:r>
                      <a:rPr lang="en-AU" b="0" i="1" smtClean="0">
                        <a:latin typeface="Cambria Math"/>
                      </a:rPr>
                      <m:t>𝑝</m:t>
                    </m:r>
                    <m:r>
                      <a:rPr lang="en-AU" b="0" i="1" smtClean="0">
                        <a:latin typeface="Cambria Math"/>
                      </a:rPr>
                      <m:t>+10</m:t>
                    </m:r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1268" y="2492896"/>
                <a:ext cx="1871794" cy="369332"/>
              </a:xfrm>
              <a:prstGeom prst="rect">
                <a:avLst/>
              </a:prstGeom>
              <a:blipFill rotWithShape="1">
                <a:blip r:embed="rId3"/>
                <a:stretch>
                  <a:fillRect l="-2932" t="-8197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/>
          <p:cNvSpPr txBox="1"/>
          <p:nvPr/>
        </p:nvSpPr>
        <p:spPr>
          <a:xfrm>
            <a:off x="3169931" y="3140968"/>
            <a:ext cx="21602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Find the HCF of both terms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372200" y="2677562"/>
            <a:ext cx="20757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0070C0"/>
                </a:solidFill>
              </a:rPr>
              <a:t>Divide terms by HCF</a:t>
            </a:r>
            <a:endParaRPr lang="en-AU" dirty="0">
              <a:solidFill>
                <a:srgbClr val="0070C0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186940" y="3964414"/>
            <a:ext cx="35122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Write the expression using brackets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231322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36212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Factorising Expressions 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use the </a:t>
            </a:r>
            <a:r>
              <a:rPr lang="en-AU" sz="2400" dirty="0" smtClean="0"/>
              <a:t>HCF to factorise expressions?</a:t>
            </a:r>
            <a:endParaRPr lang="en-AU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0" name="Table 9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1216022"/>
                  </p:ext>
                </p:extLst>
              </p:nvPr>
            </p:nvGraphicFramePr>
            <p:xfrm>
              <a:off x="5798489" y="2996952"/>
              <a:ext cx="3224862" cy="731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74954"/>
                    <a:gridCol w="1074954"/>
                    <a:gridCol w="1074954"/>
                  </a:tblGrid>
                  <a:tr h="24697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AU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</a:rPr>
                                <m:t>×</m:t>
                              </m:r>
                            </m:oMath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𝑝</m:t>
                                </m:r>
                              </m:oMath>
                            </m:oMathPara>
                          </a14:m>
                          <a:endParaRPr lang="en-AU" b="0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b="0" dirty="0" smtClean="0">
                              <a:solidFill>
                                <a:srgbClr val="0070C0"/>
                              </a:solidFill>
                            </a:rPr>
                            <a:t>+5</a:t>
                          </a:r>
                          <a:endParaRPr lang="en-AU" b="0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24697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rgbClr val="FF0000"/>
                              </a:solidFill>
                            </a:rPr>
                            <a:t>2</a:t>
                          </a:r>
                          <a:endParaRPr lang="en-AU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𝑝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+10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Choice>
        <mc:Fallback>
          <p:graphicFrame>
            <p:nvGraphicFramePr>
              <p:cNvPr id="10" name="Table 9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1216022"/>
                  </p:ext>
                </p:extLst>
              </p:nvPr>
            </p:nvGraphicFramePr>
            <p:xfrm>
              <a:off x="5798489" y="2996952"/>
              <a:ext cx="3224862" cy="731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74954"/>
                    <a:gridCol w="1074954"/>
                    <a:gridCol w="1074954"/>
                  </a:tblGrid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t="-8333" r="-201136" b="-1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99435" t="-8333" r="-100000" b="-1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b="0" dirty="0" smtClean="0">
                              <a:solidFill>
                                <a:srgbClr val="0070C0"/>
                              </a:solidFill>
                            </a:rPr>
                            <a:t>+5</a:t>
                          </a:r>
                          <a:endParaRPr lang="en-AU" b="0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rgbClr val="FF0000"/>
                              </a:solidFill>
                            </a:rPr>
                            <a:t>2</a:t>
                          </a:r>
                          <a:endParaRPr lang="en-AU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99435" t="-108333" r="-100000" b="-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+10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2" name="TextBox 1"/>
          <p:cNvSpPr txBox="1"/>
          <p:nvPr/>
        </p:nvSpPr>
        <p:spPr>
          <a:xfrm>
            <a:off x="93471" y="1943799"/>
            <a:ext cx="17935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the HCF?</a:t>
            </a:r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3071268" y="1943799"/>
            <a:ext cx="30014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HCF – Highest Common factor</a:t>
            </a:r>
            <a:endParaRPr lang="en-AU" dirty="0"/>
          </a:p>
        </p:txBody>
      </p:sp>
      <p:sp>
        <p:nvSpPr>
          <p:cNvPr id="12" name="TextBox 11"/>
          <p:cNvSpPr txBox="1"/>
          <p:nvPr/>
        </p:nvSpPr>
        <p:spPr>
          <a:xfrm>
            <a:off x="93471" y="2492896"/>
            <a:ext cx="19916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How do I factorise?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3071268" y="2492896"/>
                <a:ext cx="187179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Factorise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2</m:t>
                    </m:r>
                    <m:r>
                      <a:rPr lang="en-AU" b="0" i="1" smtClean="0">
                        <a:latin typeface="Cambria Math"/>
                      </a:rPr>
                      <m:t>𝑝</m:t>
                    </m:r>
                    <m:r>
                      <a:rPr lang="en-AU" b="0" i="1" smtClean="0">
                        <a:latin typeface="Cambria Math"/>
                      </a:rPr>
                      <m:t>+10</m:t>
                    </m:r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1268" y="2492896"/>
                <a:ext cx="1871794" cy="369332"/>
              </a:xfrm>
              <a:prstGeom prst="rect">
                <a:avLst/>
              </a:prstGeom>
              <a:blipFill rotWithShape="1">
                <a:blip r:embed="rId3"/>
                <a:stretch>
                  <a:fillRect l="-2932" t="-8197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/>
          <p:cNvSpPr txBox="1"/>
          <p:nvPr/>
        </p:nvSpPr>
        <p:spPr>
          <a:xfrm>
            <a:off x="3169931" y="3140968"/>
            <a:ext cx="21602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Find the HCF of both terms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372200" y="2677562"/>
            <a:ext cx="20757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0070C0"/>
                </a:solidFill>
              </a:rPr>
              <a:t>Divide terms by HCF</a:t>
            </a:r>
            <a:endParaRPr lang="en-AU" dirty="0">
              <a:solidFill>
                <a:srgbClr val="0070C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/>
              <p:cNvSpPr txBox="1"/>
              <p:nvPr/>
            </p:nvSpPr>
            <p:spPr>
              <a:xfrm>
                <a:off x="3071268" y="3856873"/>
                <a:ext cx="3512244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Write the expression using brackets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2</m:t>
                      </m:r>
                      <m:r>
                        <a:rPr lang="en-AU" b="0" i="1" smtClean="0">
                          <a:latin typeface="Cambria Math"/>
                        </a:rPr>
                        <m:t>(</m:t>
                      </m:r>
                      <m:r>
                        <a:rPr lang="en-AU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𝑝</m:t>
                      </m:r>
                      <m:r>
                        <a:rPr lang="en-AU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+5)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1268" y="3856873"/>
                <a:ext cx="3512244" cy="646331"/>
              </a:xfrm>
              <a:prstGeom prst="rect">
                <a:avLst/>
              </a:prstGeom>
              <a:blipFill rotWithShape="1">
                <a:blip r:embed="rId4"/>
                <a:stretch>
                  <a:fillRect l="-1563" t="-4717" r="-694" b="-660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275167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36212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Factorising Expressions 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use the </a:t>
            </a:r>
            <a:r>
              <a:rPr lang="en-AU" sz="2400" dirty="0" smtClean="0"/>
              <a:t>HCF to factorise expressions?</a:t>
            </a:r>
            <a:endParaRPr lang="en-AU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0" name="Table 9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20219141"/>
                  </p:ext>
                </p:extLst>
              </p:nvPr>
            </p:nvGraphicFramePr>
            <p:xfrm>
              <a:off x="5798489" y="2996952"/>
              <a:ext cx="3224862" cy="731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74954"/>
                    <a:gridCol w="1074954"/>
                    <a:gridCol w="1074954"/>
                  </a:tblGrid>
                  <a:tr h="24697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AU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</a:rPr>
                                <m:t>×</m:t>
                              </m:r>
                            </m:oMath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𝑝</m:t>
                                </m:r>
                              </m:oMath>
                            </m:oMathPara>
                          </a14:m>
                          <a:endParaRPr lang="en-AU" b="0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b="0" dirty="0" smtClean="0">
                              <a:solidFill>
                                <a:srgbClr val="0070C0"/>
                              </a:solidFill>
                            </a:rPr>
                            <a:t>+5</a:t>
                          </a:r>
                          <a:endParaRPr lang="en-AU" b="0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24697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rgbClr val="FF0000"/>
                              </a:solidFill>
                            </a:rPr>
                            <a:t>2</a:t>
                          </a:r>
                          <a:endParaRPr lang="en-AU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𝑝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+10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Choice>
        <mc:Fallback>
          <p:graphicFrame>
            <p:nvGraphicFramePr>
              <p:cNvPr id="10" name="Table 9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20219141"/>
                  </p:ext>
                </p:extLst>
              </p:nvPr>
            </p:nvGraphicFramePr>
            <p:xfrm>
              <a:off x="5798489" y="2996952"/>
              <a:ext cx="3224862" cy="731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74954"/>
                    <a:gridCol w="1074954"/>
                    <a:gridCol w="1074954"/>
                  </a:tblGrid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t="-8333" r="-201136" b="-1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99435" t="-8333" r="-100000" b="-1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b="0" dirty="0" smtClean="0">
                              <a:solidFill>
                                <a:srgbClr val="0070C0"/>
                              </a:solidFill>
                            </a:rPr>
                            <a:t>+5</a:t>
                          </a:r>
                          <a:endParaRPr lang="en-AU" b="0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rgbClr val="FF0000"/>
                              </a:solidFill>
                            </a:rPr>
                            <a:t>2</a:t>
                          </a:r>
                          <a:endParaRPr lang="en-AU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99435" t="-108333" r="-100000" b="-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+10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2" name="TextBox 1"/>
          <p:cNvSpPr txBox="1"/>
          <p:nvPr/>
        </p:nvSpPr>
        <p:spPr>
          <a:xfrm>
            <a:off x="93471" y="1943799"/>
            <a:ext cx="17935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the HCF?</a:t>
            </a:r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3071268" y="1943799"/>
            <a:ext cx="30014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HCF – Highest Common factor</a:t>
            </a:r>
            <a:endParaRPr lang="en-AU" dirty="0"/>
          </a:p>
        </p:txBody>
      </p:sp>
      <p:sp>
        <p:nvSpPr>
          <p:cNvPr id="12" name="TextBox 11"/>
          <p:cNvSpPr txBox="1"/>
          <p:nvPr/>
        </p:nvSpPr>
        <p:spPr>
          <a:xfrm>
            <a:off x="93471" y="2492896"/>
            <a:ext cx="19916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How do I factorise?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3071268" y="2492896"/>
                <a:ext cx="187179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Factorise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2</m:t>
                    </m:r>
                    <m:r>
                      <a:rPr lang="en-AU" b="0" i="1" smtClean="0">
                        <a:latin typeface="Cambria Math"/>
                      </a:rPr>
                      <m:t>𝑝</m:t>
                    </m:r>
                    <m:r>
                      <a:rPr lang="en-AU" b="0" i="1" smtClean="0">
                        <a:latin typeface="Cambria Math"/>
                      </a:rPr>
                      <m:t>+10</m:t>
                    </m:r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1268" y="2492896"/>
                <a:ext cx="1871794" cy="369332"/>
              </a:xfrm>
              <a:prstGeom prst="rect">
                <a:avLst/>
              </a:prstGeom>
              <a:blipFill rotWithShape="1">
                <a:blip r:embed="rId3"/>
                <a:stretch>
                  <a:fillRect l="-2932" t="-8197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/>
          <p:cNvSpPr txBox="1"/>
          <p:nvPr/>
        </p:nvSpPr>
        <p:spPr>
          <a:xfrm>
            <a:off x="3169931" y="3140968"/>
            <a:ext cx="21602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Find the HCF of both terms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372200" y="2677562"/>
            <a:ext cx="20757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0070C0"/>
                </a:solidFill>
              </a:rPr>
              <a:t>Divide terms by HCF</a:t>
            </a:r>
            <a:endParaRPr lang="en-AU" dirty="0">
              <a:solidFill>
                <a:srgbClr val="0070C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/>
              <p:cNvSpPr txBox="1"/>
              <p:nvPr/>
            </p:nvSpPr>
            <p:spPr>
              <a:xfrm>
                <a:off x="3071268" y="3856873"/>
                <a:ext cx="3512244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Write the expression using brackets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2</m:t>
                      </m:r>
                      <m:r>
                        <a:rPr lang="en-AU" b="0" i="1" smtClean="0">
                          <a:latin typeface="Cambria Math"/>
                        </a:rPr>
                        <m:t>(</m:t>
                      </m:r>
                      <m:r>
                        <a:rPr lang="en-AU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𝑝</m:t>
                      </m:r>
                      <m:r>
                        <a:rPr lang="en-AU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+5)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1268" y="3856873"/>
                <a:ext cx="3512244" cy="646331"/>
              </a:xfrm>
              <a:prstGeom prst="rect">
                <a:avLst/>
              </a:prstGeom>
              <a:blipFill rotWithShape="1">
                <a:blip r:embed="rId4"/>
                <a:stretch>
                  <a:fillRect l="-1563" t="-4717" r="-694" b="-660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7" name="Table 1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2371794"/>
                  </p:ext>
                </p:extLst>
              </p:nvPr>
            </p:nvGraphicFramePr>
            <p:xfrm>
              <a:off x="3976750" y="5373216"/>
              <a:ext cx="3224862" cy="731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74954"/>
                    <a:gridCol w="1074954"/>
                    <a:gridCol w="1074954"/>
                  </a:tblGrid>
                  <a:tr h="24697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AU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</a:rPr>
                                <m:t>×</m:t>
                              </m:r>
                            </m:oMath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b="0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b="0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246975">
                    <a:tc>
                      <a:txBody>
                        <a:bodyPr/>
                        <a:lstStyle/>
                        <a:p>
                          <a:pPr algn="ctr"/>
                          <a:endParaRPr lang="en-AU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10</m:t>
                                </m:r>
                                <m:sSup>
                                  <m:sSupPr>
                                    <m:ctrlPr>
                                      <a:rPr lang="en-AU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AU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AU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+15</m:t>
                                </m:r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Choice>
        <mc:Fallback>
          <p:graphicFrame>
            <p:nvGraphicFramePr>
              <p:cNvPr id="17" name="Table 1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2371794"/>
                  </p:ext>
                </p:extLst>
              </p:nvPr>
            </p:nvGraphicFramePr>
            <p:xfrm>
              <a:off x="3976750" y="5373216"/>
              <a:ext cx="3224862" cy="731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74954"/>
                    <a:gridCol w="1074954"/>
                    <a:gridCol w="1074954"/>
                  </a:tblGrid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r="-201136" b="-10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b="0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b="0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endParaRPr lang="en-AU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99435" t="-100000" r="-100000" b="-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200568" t="-100000" r="-568" b="-1667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/>
              <p:cNvSpPr txBox="1"/>
              <p:nvPr/>
            </p:nvSpPr>
            <p:spPr>
              <a:xfrm>
                <a:off x="3171927" y="4870104"/>
                <a:ext cx="224279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Factorise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10</m:t>
                    </m:r>
                    <m:sSup>
                      <m:sSupPr>
                        <m:ctrlPr>
                          <a:rPr lang="en-AU" b="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/>
                      </a:rPr>
                      <m:t>+15</m:t>
                    </m:r>
                    <m:r>
                      <a:rPr lang="en-AU" b="0" i="1" smtClean="0">
                        <a:latin typeface="Cambria Math"/>
                      </a:rPr>
                      <m:t>𝑥</m:t>
                    </m:r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1927" y="4870104"/>
                <a:ext cx="2242793" cy="369332"/>
              </a:xfrm>
              <a:prstGeom prst="rect">
                <a:avLst/>
              </a:prstGeom>
              <a:blipFill rotWithShape="1">
                <a:blip r:embed="rId6"/>
                <a:stretch>
                  <a:fillRect l="-2174" t="-8333" b="-2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548890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36212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Factorising Expressions 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use the </a:t>
            </a:r>
            <a:r>
              <a:rPr lang="en-AU" sz="2400" dirty="0" smtClean="0"/>
              <a:t>HCF to factorise expressions?</a:t>
            </a:r>
            <a:endParaRPr lang="en-AU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0" name="Table 9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10121405"/>
                  </p:ext>
                </p:extLst>
              </p:nvPr>
            </p:nvGraphicFramePr>
            <p:xfrm>
              <a:off x="5798489" y="2996952"/>
              <a:ext cx="3224862" cy="731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74954"/>
                    <a:gridCol w="1074954"/>
                    <a:gridCol w="1074954"/>
                  </a:tblGrid>
                  <a:tr h="24697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AU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</a:rPr>
                                <m:t>×</m:t>
                              </m:r>
                            </m:oMath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𝑝</m:t>
                                </m:r>
                              </m:oMath>
                            </m:oMathPara>
                          </a14:m>
                          <a:endParaRPr lang="en-AU" b="0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b="0" dirty="0" smtClean="0">
                              <a:solidFill>
                                <a:srgbClr val="0070C0"/>
                              </a:solidFill>
                            </a:rPr>
                            <a:t>+5</a:t>
                          </a:r>
                          <a:endParaRPr lang="en-AU" b="0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24697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rgbClr val="FF0000"/>
                              </a:solidFill>
                            </a:rPr>
                            <a:t>2</a:t>
                          </a:r>
                          <a:endParaRPr lang="en-AU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𝑝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+10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Choice>
        <mc:Fallback>
          <p:graphicFrame>
            <p:nvGraphicFramePr>
              <p:cNvPr id="10" name="Table 9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10121405"/>
                  </p:ext>
                </p:extLst>
              </p:nvPr>
            </p:nvGraphicFramePr>
            <p:xfrm>
              <a:off x="5798489" y="2996952"/>
              <a:ext cx="3224862" cy="731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74954"/>
                    <a:gridCol w="1074954"/>
                    <a:gridCol w="1074954"/>
                  </a:tblGrid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t="-8333" r="-201136" b="-1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99435" t="-8333" r="-100000" b="-1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b="0" dirty="0" smtClean="0">
                              <a:solidFill>
                                <a:srgbClr val="0070C0"/>
                              </a:solidFill>
                            </a:rPr>
                            <a:t>+5</a:t>
                          </a:r>
                          <a:endParaRPr lang="en-AU" b="0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rgbClr val="FF0000"/>
                              </a:solidFill>
                            </a:rPr>
                            <a:t>2</a:t>
                          </a:r>
                          <a:endParaRPr lang="en-AU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99435" t="-108333" r="-100000" b="-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+10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2" name="TextBox 1"/>
          <p:cNvSpPr txBox="1"/>
          <p:nvPr/>
        </p:nvSpPr>
        <p:spPr>
          <a:xfrm>
            <a:off x="93471" y="1943799"/>
            <a:ext cx="17935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the HCF?</a:t>
            </a:r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3071268" y="1943799"/>
            <a:ext cx="30014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HCF – Highest Common factor</a:t>
            </a:r>
            <a:endParaRPr lang="en-AU" dirty="0"/>
          </a:p>
        </p:txBody>
      </p:sp>
      <p:sp>
        <p:nvSpPr>
          <p:cNvPr id="12" name="TextBox 11"/>
          <p:cNvSpPr txBox="1"/>
          <p:nvPr/>
        </p:nvSpPr>
        <p:spPr>
          <a:xfrm>
            <a:off x="93471" y="2492896"/>
            <a:ext cx="19916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How do I factorise?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3071268" y="2492896"/>
                <a:ext cx="187179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Factorise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2</m:t>
                    </m:r>
                    <m:r>
                      <a:rPr lang="en-AU" b="0" i="1" smtClean="0">
                        <a:latin typeface="Cambria Math"/>
                      </a:rPr>
                      <m:t>𝑝</m:t>
                    </m:r>
                    <m:r>
                      <a:rPr lang="en-AU" b="0" i="1" smtClean="0">
                        <a:latin typeface="Cambria Math"/>
                      </a:rPr>
                      <m:t>+10</m:t>
                    </m:r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1268" y="2492896"/>
                <a:ext cx="1871794" cy="369332"/>
              </a:xfrm>
              <a:prstGeom prst="rect">
                <a:avLst/>
              </a:prstGeom>
              <a:blipFill rotWithShape="1">
                <a:blip r:embed="rId3"/>
                <a:stretch>
                  <a:fillRect l="-2932" t="-8197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/>
          <p:cNvSpPr txBox="1"/>
          <p:nvPr/>
        </p:nvSpPr>
        <p:spPr>
          <a:xfrm>
            <a:off x="3169931" y="3140968"/>
            <a:ext cx="21602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Find the HCF of both terms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372200" y="2677562"/>
            <a:ext cx="20757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0070C0"/>
                </a:solidFill>
              </a:rPr>
              <a:t>Divide terms by HCF</a:t>
            </a:r>
            <a:endParaRPr lang="en-AU" dirty="0">
              <a:solidFill>
                <a:srgbClr val="0070C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/>
              <p:cNvSpPr txBox="1"/>
              <p:nvPr/>
            </p:nvSpPr>
            <p:spPr>
              <a:xfrm>
                <a:off x="3071268" y="3856873"/>
                <a:ext cx="3512244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Write the expression using brackets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2</m:t>
                      </m:r>
                      <m:r>
                        <a:rPr lang="en-AU" b="0" i="1" smtClean="0">
                          <a:latin typeface="Cambria Math"/>
                        </a:rPr>
                        <m:t>(</m:t>
                      </m:r>
                      <m:r>
                        <a:rPr lang="en-AU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𝑝</m:t>
                      </m:r>
                      <m:r>
                        <a:rPr lang="en-AU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+5)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1268" y="3856873"/>
                <a:ext cx="3512244" cy="646331"/>
              </a:xfrm>
              <a:prstGeom prst="rect">
                <a:avLst/>
              </a:prstGeom>
              <a:blipFill rotWithShape="1">
                <a:blip r:embed="rId4"/>
                <a:stretch>
                  <a:fillRect l="-1563" t="-4717" r="-694" b="-660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7" name="Table 1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82470174"/>
                  </p:ext>
                </p:extLst>
              </p:nvPr>
            </p:nvGraphicFramePr>
            <p:xfrm>
              <a:off x="3976750" y="5373216"/>
              <a:ext cx="3224862" cy="731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74954"/>
                    <a:gridCol w="1074954"/>
                    <a:gridCol w="1074954"/>
                  </a:tblGrid>
                  <a:tr h="24697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AU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</a:rPr>
                                <m:t>×</m:t>
                              </m:r>
                            </m:oMath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b="0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b="0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24697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5</m:t>
                                </m:r>
                                <m:r>
                                  <a:rPr lang="en-AU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10</m:t>
                                </m:r>
                                <m:sSup>
                                  <m:sSupPr>
                                    <m:ctrlPr>
                                      <a:rPr lang="en-AU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AU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AU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+15</m:t>
                                </m:r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Choice>
        <mc:Fallback>
          <p:graphicFrame>
            <p:nvGraphicFramePr>
              <p:cNvPr id="17" name="Table 1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82470174"/>
                  </p:ext>
                </p:extLst>
              </p:nvPr>
            </p:nvGraphicFramePr>
            <p:xfrm>
              <a:off x="3976750" y="5373216"/>
              <a:ext cx="3224862" cy="731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74954"/>
                    <a:gridCol w="1074954"/>
                    <a:gridCol w="1074954"/>
                  </a:tblGrid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r="-201136" b="-10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b="0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b="0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t="-100000" r="-201136" b="-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99435" t="-100000" r="-100000" b="-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200568" t="-100000" r="-568" b="-1667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/>
              <p:cNvSpPr txBox="1"/>
              <p:nvPr/>
            </p:nvSpPr>
            <p:spPr>
              <a:xfrm>
                <a:off x="3171927" y="4870104"/>
                <a:ext cx="224279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Factorise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10</m:t>
                    </m:r>
                    <m:sSup>
                      <m:sSupPr>
                        <m:ctrlPr>
                          <a:rPr lang="en-AU" b="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/>
                      </a:rPr>
                      <m:t>+15</m:t>
                    </m:r>
                    <m:r>
                      <a:rPr lang="en-AU" b="0" i="1" smtClean="0">
                        <a:latin typeface="Cambria Math"/>
                      </a:rPr>
                      <m:t>𝑥</m:t>
                    </m:r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1927" y="4870104"/>
                <a:ext cx="2242793" cy="369332"/>
              </a:xfrm>
              <a:prstGeom prst="rect">
                <a:avLst/>
              </a:prstGeom>
              <a:blipFill rotWithShape="1">
                <a:blip r:embed="rId6"/>
                <a:stretch>
                  <a:fillRect l="-2174" t="-8333" b="-2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67521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36212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Factorising Expressions 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use the </a:t>
            </a:r>
            <a:r>
              <a:rPr lang="en-AU" sz="2400" dirty="0" smtClean="0"/>
              <a:t>HCF to factorise expressions?</a:t>
            </a:r>
            <a:endParaRPr lang="en-AU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0" name="Table 9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17616788"/>
                  </p:ext>
                </p:extLst>
              </p:nvPr>
            </p:nvGraphicFramePr>
            <p:xfrm>
              <a:off x="5798489" y="2996952"/>
              <a:ext cx="3224862" cy="731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74954"/>
                    <a:gridCol w="1074954"/>
                    <a:gridCol w="1074954"/>
                  </a:tblGrid>
                  <a:tr h="24697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AU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</a:rPr>
                                <m:t>×</m:t>
                              </m:r>
                            </m:oMath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𝑝</m:t>
                                </m:r>
                              </m:oMath>
                            </m:oMathPara>
                          </a14:m>
                          <a:endParaRPr lang="en-AU" b="0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b="0" dirty="0" smtClean="0">
                              <a:solidFill>
                                <a:srgbClr val="0070C0"/>
                              </a:solidFill>
                            </a:rPr>
                            <a:t>+5</a:t>
                          </a:r>
                          <a:endParaRPr lang="en-AU" b="0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24697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rgbClr val="FF0000"/>
                              </a:solidFill>
                            </a:rPr>
                            <a:t>2</a:t>
                          </a:r>
                          <a:endParaRPr lang="en-AU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𝑝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+10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Choice>
        <mc:Fallback>
          <p:graphicFrame>
            <p:nvGraphicFramePr>
              <p:cNvPr id="10" name="Table 9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17616788"/>
                  </p:ext>
                </p:extLst>
              </p:nvPr>
            </p:nvGraphicFramePr>
            <p:xfrm>
              <a:off x="5798489" y="2996952"/>
              <a:ext cx="3224862" cy="731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74954"/>
                    <a:gridCol w="1074954"/>
                    <a:gridCol w="1074954"/>
                  </a:tblGrid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t="-8333" r="-201136" b="-1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99435" t="-8333" r="-100000" b="-1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b="0" dirty="0" smtClean="0">
                              <a:solidFill>
                                <a:srgbClr val="0070C0"/>
                              </a:solidFill>
                            </a:rPr>
                            <a:t>+5</a:t>
                          </a:r>
                          <a:endParaRPr lang="en-AU" b="0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rgbClr val="FF0000"/>
                              </a:solidFill>
                            </a:rPr>
                            <a:t>2</a:t>
                          </a:r>
                          <a:endParaRPr lang="en-AU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99435" t="-108333" r="-100000" b="-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+10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2" name="TextBox 1"/>
          <p:cNvSpPr txBox="1"/>
          <p:nvPr/>
        </p:nvSpPr>
        <p:spPr>
          <a:xfrm>
            <a:off x="93471" y="1943799"/>
            <a:ext cx="17935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the HCF?</a:t>
            </a:r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3071268" y="1943799"/>
            <a:ext cx="30014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HCF – Highest Common factor</a:t>
            </a:r>
            <a:endParaRPr lang="en-AU" dirty="0"/>
          </a:p>
        </p:txBody>
      </p:sp>
      <p:sp>
        <p:nvSpPr>
          <p:cNvPr id="12" name="TextBox 11"/>
          <p:cNvSpPr txBox="1"/>
          <p:nvPr/>
        </p:nvSpPr>
        <p:spPr>
          <a:xfrm>
            <a:off x="93471" y="2492896"/>
            <a:ext cx="19916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How do I factorise?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3071268" y="2492896"/>
                <a:ext cx="187179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Factorise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2</m:t>
                    </m:r>
                    <m:r>
                      <a:rPr lang="en-AU" b="0" i="1" smtClean="0">
                        <a:latin typeface="Cambria Math"/>
                      </a:rPr>
                      <m:t>𝑝</m:t>
                    </m:r>
                    <m:r>
                      <a:rPr lang="en-AU" b="0" i="1" smtClean="0">
                        <a:latin typeface="Cambria Math"/>
                      </a:rPr>
                      <m:t>+10</m:t>
                    </m:r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1268" y="2492896"/>
                <a:ext cx="1871794" cy="369332"/>
              </a:xfrm>
              <a:prstGeom prst="rect">
                <a:avLst/>
              </a:prstGeom>
              <a:blipFill rotWithShape="1">
                <a:blip r:embed="rId3"/>
                <a:stretch>
                  <a:fillRect l="-2932" t="-8197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/>
          <p:cNvSpPr txBox="1"/>
          <p:nvPr/>
        </p:nvSpPr>
        <p:spPr>
          <a:xfrm>
            <a:off x="3169931" y="3140968"/>
            <a:ext cx="21602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Find the HCF of both terms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372200" y="2677562"/>
            <a:ext cx="20757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0070C0"/>
                </a:solidFill>
              </a:rPr>
              <a:t>Divide terms by HCF</a:t>
            </a:r>
            <a:endParaRPr lang="en-AU" dirty="0">
              <a:solidFill>
                <a:srgbClr val="0070C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/>
              <p:cNvSpPr txBox="1"/>
              <p:nvPr/>
            </p:nvSpPr>
            <p:spPr>
              <a:xfrm>
                <a:off x="3071268" y="3856873"/>
                <a:ext cx="3512244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Write the expression using brackets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2</m:t>
                      </m:r>
                      <m:r>
                        <a:rPr lang="en-AU" b="0" i="1" smtClean="0">
                          <a:latin typeface="Cambria Math"/>
                        </a:rPr>
                        <m:t>(</m:t>
                      </m:r>
                      <m:r>
                        <a:rPr lang="en-AU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𝑝</m:t>
                      </m:r>
                      <m:r>
                        <a:rPr lang="en-AU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+5)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1268" y="3856873"/>
                <a:ext cx="3512244" cy="646331"/>
              </a:xfrm>
              <a:prstGeom prst="rect">
                <a:avLst/>
              </a:prstGeom>
              <a:blipFill rotWithShape="1">
                <a:blip r:embed="rId4"/>
                <a:stretch>
                  <a:fillRect l="-1563" t="-4717" r="-694" b="-660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7" name="Table 1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79093396"/>
                  </p:ext>
                </p:extLst>
              </p:nvPr>
            </p:nvGraphicFramePr>
            <p:xfrm>
              <a:off x="3976750" y="5373216"/>
              <a:ext cx="3224862" cy="731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74954"/>
                    <a:gridCol w="1074954"/>
                    <a:gridCol w="1074954"/>
                  </a:tblGrid>
                  <a:tr h="24697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AU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</a:rPr>
                                <m:t>×</m:t>
                              </m:r>
                            </m:oMath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  <m:r>
                                  <a:rPr lang="en-AU" b="0" i="1" smtClean="0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b="0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+3</m:t>
                                </m:r>
                              </m:oMath>
                            </m:oMathPara>
                          </a14:m>
                          <a:endParaRPr lang="en-AU" b="0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24697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5</m:t>
                                </m:r>
                                <m:r>
                                  <a:rPr lang="en-AU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10</m:t>
                                </m:r>
                                <m:sSup>
                                  <m:sSupPr>
                                    <m:ctrlPr>
                                      <a:rPr lang="en-AU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AU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AU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+15</m:t>
                                </m:r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Choice>
        <mc:Fallback>
          <p:graphicFrame>
            <p:nvGraphicFramePr>
              <p:cNvPr id="17" name="Table 1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79093396"/>
                  </p:ext>
                </p:extLst>
              </p:nvPr>
            </p:nvGraphicFramePr>
            <p:xfrm>
              <a:off x="3976750" y="5373216"/>
              <a:ext cx="3224862" cy="731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74954"/>
                    <a:gridCol w="1074954"/>
                    <a:gridCol w="1074954"/>
                  </a:tblGrid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r="-201136" b="-10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99435" r="-100000" b="-10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200568" r="-568" b="-101667"/>
                          </a:stretch>
                        </a:blipFill>
                      </a:tcPr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t="-100000" r="-201136" b="-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99435" t="-100000" r="-100000" b="-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200568" t="-100000" r="-568" b="-1667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/>
              <p:cNvSpPr txBox="1"/>
              <p:nvPr/>
            </p:nvSpPr>
            <p:spPr>
              <a:xfrm>
                <a:off x="3171927" y="4870104"/>
                <a:ext cx="224279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Factorise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10</m:t>
                    </m:r>
                    <m:sSup>
                      <m:sSupPr>
                        <m:ctrlPr>
                          <a:rPr lang="en-AU" b="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/>
                      </a:rPr>
                      <m:t>+15</m:t>
                    </m:r>
                    <m:r>
                      <a:rPr lang="en-AU" b="0" i="1" smtClean="0">
                        <a:latin typeface="Cambria Math"/>
                      </a:rPr>
                      <m:t>𝑥</m:t>
                    </m:r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1927" y="4870104"/>
                <a:ext cx="2242793" cy="369332"/>
              </a:xfrm>
              <a:prstGeom prst="rect">
                <a:avLst/>
              </a:prstGeom>
              <a:blipFill rotWithShape="1">
                <a:blip r:embed="rId6"/>
                <a:stretch>
                  <a:fillRect l="-2174" t="-8333" b="-2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193309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36212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Factorising Expressions 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use the </a:t>
            </a:r>
            <a:r>
              <a:rPr lang="en-AU" sz="2400" dirty="0" smtClean="0"/>
              <a:t>HCF to factorise expressions?</a:t>
            </a:r>
            <a:endParaRPr lang="en-AU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0" name="Table 9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48932142"/>
                  </p:ext>
                </p:extLst>
              </p:nvPr>
            </p:nvGraphicFramePr>
            <p:xfrm>
              <a:off x="5798489" y="2996952"/>
              <a:ext cx="3224862" cy="731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74954"/>
                    <a:gridCol w="1074954"/>
                    <a:gridCol w="1074954"/>
                  </a:tblGrid>
                  <a:tr h="24697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AU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</a:rPr>
                                <m:t>×</m:t>
                              </m:r>
                            </m:oMath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𝑝</m:t>
                                </m:r>
                              </m:oMath>
                            </m:oMathPara>
                          </a14:m>
                          <a:endParaRPr lang="en-AU" b="0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b="0" dirty="0" smtClean="0">
                              <a:solidFill>
                                <a:srgbClr val="0070C0"/>
                              </a:solidFill>
                            </a:rPr>
                            <a:t>+5</a:t>
                          </a:r>
                          <a:endParaRPr lang="en-AU" b="0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24697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rgbClr val="FF0000"/>
                              </a:solidFill>
                            </a:rPr>
                            <a:t>2</a:t>
                          </a:r>
                          <a:endParaRPr lang="en-AU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𝑝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+10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Choice>
        <mc:Fallback>
          <p:graphicFrame>
            <p:nvGraphicFramePr>
              <p:cNvPr id="10" name="Table 9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48932142"/>
                  </p:ext>
                </p:extLst>
              </p:nvPr>
            </p:nvGraphicFramePr>
            <p:xfrm>
              <a:off x="5798489" y="2996952"/>
              <a:ext cx="3224862" cy="731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74954"/>
                    <a:gridCol w="1074954"/>
                    <a:gridCol w="1074954"/>
                  </a:tblGrid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t="-8333" r="-201136" b="-1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99435" t="-8333" r="-100000" b="-1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b="0" dirty="0" smtClean="0">
                              <a:solidFill>
                                <a:srgbClr val="0070C0"/>
                              </a:solidFill>
                            </a:rPr>
                            <a:t>+5</a:t>
                          </a:r>
                          <a:endParaRPr lang="en-AU" b="0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rgbClr val="FF0000"/>
                              </a:solidFill>
                            </a:rPr>
                            <a:t>2</a:t>
                          </a:r>
                          <a:endParaRPr lang="en-AU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99435" t="-108333" r="-100000" b="-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+10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2" name="TextBox 1"/>
          <p:cNvSpPr txBox="1"/>
          <p:nvPr/>
        </p:nvSpPr>
        <p:spPr>
          <a:xfrm>
            <a:off x="93471" y="1943799"/>
            <a:ext cx="17935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the HCF?</a:t>
            </a:r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3071268" y="1943799"/>
            <a:ext cx="30014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HCF – Highest Common factor</a:t>
            </a:r>
            <a:endParaRPr lang="en-AU" dirty="0"/>
          </a:p>
        </p:txBody>
      </p:sp>
      <p:sp>
        <p:nvSpPr>
          <p:cNvPr id="12" name="TextBox 11"/>
          <p:cNvSpPr txBox="1"/>
          <p:nvPr/>
        </p:nvSpPr>
        <p:spPr>
          <a:xfrm>
            <a:off x="93471" y="2492896"/>
            <a:ext cx="19916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How do I factorise?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3071268" y="2492896"/>
                <a:ext cx="187179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Factorise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2</m:t>
                    </m:r>
                    <m:r>
                      <a:rPr lang="en-AU" b="0" i="1" smtClean="0">
                        <a:latin typeface="Cambria Math"/>
                      </a:rPr>
                      <m:t>𝑝</m:t>
                    </m:r>
                    <m:r>
                      <a:rPr lang="en-AU" b="0" i="1" smtClean="0">
                        <a:latin typeface="Cambria Math"/>
                      </a:rPr>
                      <m:t>+10</m:t>
                    </m:r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1268" y="2492896"/>
                <a:ext cx="1871794" cy="369332"/>
              </a:xfrm>
              <a:prstGeom prst="rect">
                <a:avLst/>
              </a:prstGeom>
              <a:blipFill rotWithShape="1">
                <a:blip r:embed="rId3"/>
                <a:stretch>
                  <a:fillRect l="-2932" t="-8197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/>
          <p:cNvSpPr txBox="1"/>
          <p:nvPr/>
        </p:nvSpPr>
        <p:spPr>
          <a:xfrm>
            <a:off x="3169931" y="3140968"/>
            <a:ext cx="21602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Find the HCF of both terms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372200" y="2677562"/>
            <a:ext cx="20757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0070C0"/>
                </a:solidFill>
              </a:rPr>
              <a:t>Divide terms by HCF</a:t>
            </a:r>
            <a:endParaRPr lang="en-AU" dirty="0">
              <a:solidFill>
                <a:srgbClr val="0070C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/>
              <p:cNvSpPr txBox="1"/>
              <p:nvPr/>
            </p:nvSpPr>
            <p:spPr>
              <a:xfrm>
                <a:off x="3071268" y="3856873"/>
                <a:ext cx="3512244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Write the expression using brackets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2</m:t>
                      </m:r>
                      <m:r>
                        <a:rPr lang="en-AU" b="0" i="1" smtClean="0">
                          <a:latin typeface="Cambria Math"/>
                        </a:rPr>
                        <m:t>(</m:t>
                      </m:r>
                      <m:r>
                        <a:rPr lang="en-AU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𝑝</m:t>
                      </m:r>
                      <m:r>
                        <a:rPr lang="en-AU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+5)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1268" y="3856873"/>
                <a:ext cx="3512244" cy="646331"/>
              </a:xfrm>
              <a:prstGeom prst="rect">
                <a:avLst/>
              </a:prstGeom>
              <a:blipFill rotWithShape="1">
                <a:blip r:embed="rId4"/>
                <a:stretch>
                  <a:fillRect l="-1563" t="-4717" r="-694" b="-660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7" name="Table 1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55658192"/>
                  </p:ext>
                </p:extLst>
              </p:nvPr>
            </p:nvGraphicFramePr>
            <p:xfrm>
              <a:off x="3976750" y="5373216"/>
              <a:ext cx="3224862" cy="731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74954"/>
                    <a:gridCol w="1074954"/>
                    <a:gridCol w="1074954"/>
                  </a:tblGrid>
                  <a:tr h="24697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AU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</a:rPr>
                                <m:t>×</m:t>
                              </m:r>
                            </m:oMath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  <m:r>
                                  <a:rPr lang="en-AU" b="0" i="1" smtClean="0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b="0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+3</m:t>
                                </m:r>
                              </m:oMath>
                            </m:oMathPara>
                          </a14:m>
                          <a:endParaRPr lang="en-AU" b="0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24697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5</m:t>
                                </m:r>
                                <m:r>
                                  <a:rPr lang="en-AU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10</m:t>
                                </m:r>
                                <m:sSup>
                                  <m:sSupPr>
                                    <m:ctrlPr>
                                      <a:rPr lang="en-AU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AU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AU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+15</m:t>
                                </m:r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Choice>
        <mc:Fallback>
          <p:graphicFrame>
            <p:nvGraphicFramePr>
              <p:cNvPr id="17" name="Table 1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55658192"/>
                  </p:ext>
                </p:extLst>
              </p:nvPr>
            </p:nvGraphicFramePr>
            <p:xfrm>
              <a:off x="3976750" y="5373216"/>
              <a:ext cx="3224862" cy="731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74954"/>
                    <a:gridCol w="1074954"/>
                    <a:gridCol w="1074954"/>
                  </a:tblGrid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r="-201136" b="-10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99435" r="-100000" b="-10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200568" r="-568" b="-101667"/>
                          </a:stretch>
                        </a:blipFill>
                      </a:tcPr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t="-100000" r="-201136" b="-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99435" t="-100000" r="-100000" b="-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200568" t="-100000" r="-568" b="-1667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/>
              <p:cNvSpPr txBox="1"/>
              <p:nvPr/>
            </p:nvSpPr>
            <p:spPr>
              <a:xfrm>
                <a:off x="3171927" y="4870104"/>
                <a:ext cx="224279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Factorise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10</m:t>
                    </m:r>
                    <m:sSup>
                      <m:sSupPr>
                        <m:ctrlPr>
                          <a:rPr lang="en-AU" b="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/>
                      </a:rPr>
                      <m:t>+15</m:t>
                    </m:r>
                    <m:r>
                      <a:rPr lang="en-AU" b="0" i="1" smtClean="0">
                        <a:latin typeface="Cambria Math"/>
                      </a:rPr>
                      <m:t>𝑥</m:t>
                    </m:r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1927" y="4870104"/>
                <a:ext cx="2242793" cy="369332"/>
              </a:xfrm>
              <a:prstGeom prst="rect">
                <a:avLst/>
              </a:prstGeom>
              <a:blipFill rotWithShape="1">
                <a:blip r:embed="rId6"/>
                <a:stretch>
                  <a:fillRect l="-2174" t="-8333" b="-2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Rectangle 18"/>
              <p:cNvSpPr/>
              <p:nvPr/>
            </p:nvSpPr>
            <p:spPr>
              <a:xfrm>
                <a:off x="3200139" y="6237312"/>
                <a:ext cx="3172061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latin typeface="Cambria Math"/>
                        </a:rPr>
                        <m:t>10</m:t>
                      </m:r>
                      <m:sSup>
                        <m:sSupPr>
                          <m:ctrlPr>
                            <a:rPr lang="en-AU" i="1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i="1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i="1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AU" i="1">
                          <a:latin typeface="Cambria Math"/>
                        </a:rPr>
                        <m:t>+15</m:t>
                      </m:r>
                      <m:r>
                        <a:rPr lang="en-AU" i="1">
                          <a:latin typeface="Cambria Math"/>
                        </a:rPr>
                        <m:t>𝑥</m:t>
                      </m:r>
                      <m:r>
                        <a:rPr lang="en-AU" b="0" i="0" smtClean="0">
                          <a:latin typeface="Cambria Math"/>
                        </a:rPr>
                        <m:t>=</m:t>
                      </m:r>
                      <m:r>
                        <a:rPr lang="en-AU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5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𝑥</m:t>
                      </m:r>
                      <m:r>
                        <a:rPr lang="en-AU" i="1">
                          <a:latin typeface="Cambria Math"/>
                        </a:rPr>
                        <m:t>(</m:t>
                      </m:r>
                      <m:r>
                        <a:rPr lang="en-AU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2</m:t>
                      </m:r>
                      <m:r>
                        <a:rPr lang="en-AU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𝑥</m:t>
                      </m:r>
                      <m:r>
                        <a:rPr lang="en-AU" i="1">
                          <a:solidFill>
                            <a:srgbClr val="0070C0"/>
                          </a:solidFill>
                          <a:latin typeface="Cambria Math"/>
                        </a:rPr>
                        <m:t>+</m:t>
                      </m:r>
                      <m:r>
                        <a:rPr lang="en-AU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3</m:t>
                      </m:r>
                      <m:r>
                        <a:rPr lang="en-AU" i="1">
                          <a:solidFill>
                            <a:srgbClr val="0070C0"/>
                          </a:solidFill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19" name="Rectangle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0139" y="6237312"/>
                <a:ext cx="3172061" cy="369332"/>
              </a:xfrm>
              <a:prstGeom prst="rect">
                <a:avLst/>
              </a:prstGeom>
              <a:blipFill rotWithShape="1">
                <a:blip r:embed="rId7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151508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113" y="1412776"/>
            <a:ext cx="8632205" cy="41764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942050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1772816"/>
            <a:ext cx="5163840" cy="41902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638237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filled 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1427</TotalTime>
  <Words>912</Words>
  <Application>Microsoft Office PowerPoint</Application>
  <PresentationFormat>On-screen Show (4:3)</PresentationFormat>
  <Paragraphs>261</Paragraphs>
  <Slides>20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Office Theme</vt:lpstr>
      <vt:lpstr>My Algebra   Interactive Notebook</vt:lpstr>
      <vt:lpstr>PowerPoint Presentation</vt:lpstr>
      <vt:lpstr>PowerPoint Presentation</vt:lpstr>
      <vt:lpstr>PowerPoint Presentation</vt:lpstr>
      <vt:lpstr>Task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RUST Joanne</cp:lastModifiedBy>
  <cp:revision>68</cp:revision>
  <dcterms:created xsi:type="dcterms:W3CDTF">2014-05-14T02:58:57Z</dcterms:created>
  <dcterms:modified xsi:type="dcterms:W3CDTF">2015-05-17T13:22:36Z</dcterms:modified>
</cp:coreProperties>
</file>
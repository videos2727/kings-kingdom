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0" r:id="rId2"/>
    <p:sldId id="259" r:id="rId3"/>
    <p:sldId id="258" r:id="rId4"/>
    <p:sldId id="309" r:id="rId5"/>
    <p:sldId id="323" r:id="rId6"/>
    <p:sldId id="336" r:id="rId7"/>
    <p:sldId id="337" r:id="rId8"/>
    <p:sldId id="321" r:id="rId9"/>
    <p:sldId id="335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29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803" autoAdjust="0"/>
  </p:normalViewPr>
  <p:slideViewPr>
    <p:cSldViewPr>
      <p:cViewPr>
        <p:scale>
          <a:sx n="79" d="100"/>
          <a:sy n="79" d="100"/>
        </p:scale>
        <p:origin x="-1104" y="-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14/05/2015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14/05/2015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0.png"/><Relationship Id="rId4" Type="http://schemas.openxmlformats.org/officeDocument/2006/relationships/image" Target="../media/image9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9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9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9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2378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+3)(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−2)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2378728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308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8711066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8711066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8333" r="-20056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8333" r="-9943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108333" r="-20056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208333" r="-2005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4068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2378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+3)(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</m:t>
                    </m:r>
                    <m:r>
                      <a:rPr lang="en-AU" b="0" i="1" smtClean="0">
                        <a:latin typeface="Cambria Math"/>
                      </a:rPr>
                      <m:t>2)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2378728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308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6729632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+2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+6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6729632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8333" r="-20056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8333" r="-9943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108333" r="-20056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108333" r="-9943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108333" b="-1000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208333" r="-2005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208333" r="-99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2083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3503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26144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+3</m:t>
                        </m:r>
                      </m:e>
                    </m:d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2614434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098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194013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+3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+2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+6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194013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8333" r="-20056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8333" r="-9943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108333" r="-20056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108333" r="-9943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108333" b="-1000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208333" r="-2005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208333" r="-99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2083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276814" y="3933056"/>
                <a:ext cx="211833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+3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AU" b="0" dirty="0" smtClean="0"/>
              </a:p>
              <a:p>
                <a:r>
                  <a:rPr lang="en-AU" dirty="0" smtClean="0"/>
                  <a:t>=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5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AU" i="1">
                        <a:latin typeface="Cambria Math"/>
                      </a:rPr>
                      <m:t>6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814" y="3933056"/>
                <a:ext cx="2118337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25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4769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+3)(3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083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61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+3)(3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083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0019123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7181783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8333" r="-20056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8333" r="-9943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108333" r="-20056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208333" r="-2005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8316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+3)(3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083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4852949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+9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4852949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8333" r="-20056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8333" r="-9943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108333" r="-20056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108333" r="-9943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108333" b="-1000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208333" r="-2005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208333" r="-99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2083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7544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+3)(3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083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7059989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+9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7059989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8333" r="-20056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8333" r="-9943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108333" r="-20056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108333" r="-9943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108333" b="-1000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208333" r="-2005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208333" r="-99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2083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+9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 smtClean="0"/>
              </a:p>
              <a:p>
                <a:r>
                  <a:rPr lang="en-AU" dirty="0" smtClean="0"/>
                  <a:t>=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</m:t>
                    </m:r>
                    <m:r>
                      <a:rPr lang="en-AU" i="1">
                        <a:latin typeface="Cambria Math"/>
                      </a:rPr>
                      <m:t>6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5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AU" i="1">
                        <a:latin typeface="Cambria Math"/>
                      </a:rPr>
                      <m:t>−6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24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789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+3)(3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083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1261137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+9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1261137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8333" r="-20056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8333" r="-9943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108333" r="-20056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108333" r="-9943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108333" b="-1000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208333" r="-2005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208333" r="-99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2083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+9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 smtClean="0"/>
              </a:p>
              <a:p>
                <a:r>
                  <a:rPr lang="en-AU" dirty="0" smtClean="0"/>
                  <a:t>=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</m:t>
                    </m:r>
                    <m:r>
                      <a:rPr lang="en-AU" i="1">
                        <a:latin typeface="Cambria Math"/>
                      </a:rPr>
                      <m:t>6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5</m:t>
                    </m:r>
                    <m:r>
                      <a:rPr lang="en-AU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i="1">
                        <a:latin typeface="Cambria Math"/>
                      </a:rPr>
                      <m:t>−6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24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1303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+3)(3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083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236206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+9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236206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8333" r="-20056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8333" r="-9943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108333" r="-20056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108333" r="-9943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108333" b="-1000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208333" r="-2005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208333" r="-99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2083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+9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 smtClean="0"/>
              </a:p>
              <a:p>
                <a:r>
                  <a:rPr lang="en-AU" dirty="0" smtClean="0"/>
                  <a:t>=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</m:t>
                    </m:r>
                    <m:r>
                      <a:rPr lang="en-AU" i="1">
                        <a:latin typeface="Cambria Math"/>
                      </a:rPr>
                      <m:t>6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5</m:t>
                    </m:r>
                    <m:r>
                      <a:rPr lang="en-AU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i="1">
                        <a:latin typeface="Cambria Math"/>
                      </a:rPr>
                      <m:t>−6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24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4091" y="4671720"/>
            <a:ext cx="2707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FOIL method?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15013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+3)(3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083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4338240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+9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4338240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8333" r="-20056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8333" r="-9943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108333" r="-20056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108333" r="-9943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108333" b="-1000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208333" r="-2005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208333" r="-99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2083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+9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 smtClean="0"/>
              </a:p>
              <a:p>
                <a:r>
                  <a:rPr lang="en-AU" dirty="0" smtClean="0"/>
                  <a:t>=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</m:t>
                    </m:r>
                    <m:r>
                      <a:rPr lang="en-AU" i="1">
                        <a:latin typeface="Cambria Math"/>
                      </a:rPr>
                      <m:t>6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5</m:t>
                    </m:r>
                    <m:r>
                      <a:rPr lang="en-AU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i="1">
                        <a:latin typeface="Cambria Math"/>
                      </a:rPr>
                      <m:t>−6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24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4091" y="4671720"/>
            <a:ext cx="2707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FOIL method?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59832" y="4697563"/>
            <a:ext cx="915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</a:t>
            </a:r>
            <a:r>
              <a:rPr lang="en-AU" dirty="0" smtClean="0"/>
              <a:t>irst 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O</a:t>
            </a:r>
            <a:r>
              <a:rPr lang="en-AU" dirty="0" smtClean="0"/>
              <a:t>utside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I</a:t>
            </a:r>
            <a:r>
              <a:rPr lang="en-AU" dirty="0" smtClean="0"/>
              <a:t>nner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L</a:t>
            </a:r>
            <a:r>
              <a:rPr lang="en-AU" dirty="0" smtClean="0"/>
              <a:t>ast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168916" y="4687311"/>
                <a:ext cx="263520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(2</m:t>
                    </m:r>
                    <m:r>
                      <a:rPr lang="en-AU" i="1">
                        <a:latin typeface="Cambria Math"/>
                      </a:rPr>
                      <m:t>𝑥</m:t>
                    </m:r>
                    <m:r>
                      <a:rPr lang="en-AU" i="1">
                        <a:latin typeface="Cambria Math"/>
                      </a:rPr>
                      <m:t>+3)(3</m:t>
                    </m:r>
                    <m:r>
                      <a:rPr lang="en-AU" i="1">
                        <a:latin typeface="Cambria Math"/>
                      </a:rPr>
                      <m:t>𝑥</m:t>
                    </m:r>
                    <m:r>
                      <a:rPr lang="en-AU" i="1">
                        <a:latin typeface="Cambria Math"/>
                      </a:rPr>
                      <m:t>−2)</m:t>
                    </m:r>
                  </m:oMath>
                </a14:m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916" y="4687311"/>
                <a:ext cx="2635209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2083" t="-47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4148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+3)(3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083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320837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+9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320837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8333" r="-20056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8333" r="-9943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108333" r="-20056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108333" r="-9943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108333" b="-1000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208333" r="-2005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208333" r="-99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2083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+9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 smtClean="0"/>
              </a:p>
              <a:p>
                <a:r>
                  <a:rPr lang="en-AU" dirty="0" smtClean="0"/>
                  <a:t>=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</m:t>
                    </m:r>
                    <m:r>
                      <a:rPr lang="en-AU" i="1">
                        <a:latin typeface="Cambria Math"/>
                      </a:rPr>
                      <m:t>6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5</m:t>
                    </m:r>
                    <m:r>
                      <a:rPr lang="en-AU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i="1">
                        <a:latin typeface="Cambria Math"/>
                      </a:rPr>
                      <m:t>−6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24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4091" y="4671720"/>
            <a:ext cx="2707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FOIL method?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59832" y="4697563"/>
            <a:ext cx="915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First 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O</a:t>
            </a:r>
            <a:r>
              <a:rPr lang="en-AU" dirty="0" smtClean="0"/>
              <a:t>utside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I</a:t>
            </a:r>
            <a:r>
              <a:rPr lang="en-AU" dirty="0" smtClean="0"/>
              <a:t>nner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L</a:t>
            </a:r>
            <a:r>
              <a:rPr lang="en-AU" dirty="0" smtClean="0"/>
              <a:t>ast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168916" y="4687311"/>
                <a:ext cx="2633670" cy="946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AU" i="1">
                            <a:latin typeface="Cambria Math"/>
                          </a:rPr>
                          <m:t>+3</m:t>
                        </m:r>
                      </m:e>
                    </m:d>
                    <m:d>
                      <m:dPr>
                        <m:ctrlPr>
                          <a:rPr lang="en-AU" i="1">
                            <a:latin typeface="Cambria Math"/>
                          </a:rPr>
                        </m:ctrlPr>
                      </m:dPr>
                      <m:e>
                        <m: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AU" i="1">
                            <a:latin typeface="Cambria Math"/>
                          </a:rPr>
                          <m:t>−2</m:t>
                        </m:r>
                      </m:e>
                    </m:d>
                  </m:oMath>
                </a14:m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916" y="4687311"/>
                <a:ext cx="2633670" cy="946991"/>
              </a:xfrm>
              <a:prstGeom prst="rect">
                <a:avLst/>
              </a:prstGeom>
              <a:blipFill rotWithShape="1">
                <a:blip r:embed="rId5"/>
                <a:stretch>
                  <a:fillRect l="-2083" t="-32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6415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+3)(3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083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3886291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+9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3886291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8333" r="-20056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8333" r="-9943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108333" r="-20056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108333" r="-9943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108333" b="-1000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208333" r="-2005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208333" r="-99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2083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+9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 smtClean="0"/>
              </a:p>
              <a:p>
                <a:r>
                  <a:rPr lang="en-AU" dirty="0" smtClean="0"/>
                  <a:t>=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</m:t>
                    </m:r>
                    <m:r>
                      <a:rPr lang="en-AU" i="1">
                        <a:latin typeface="Cambria Math"/>
                      </a:rPr>
                      <m:t>6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5</m:t>
                    </m:r>
                    <m:r>
                      <a:rPr lang="en-AU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i="1">
                        <a:latin typeface="Cambria Math"/>
                      </a:rPr>
                      <m:t>−6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24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4091" y="4671720"/>
            <a:ext cx="2707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FOIL method?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59832" y="4697563"/>
            <a:ext cx="915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</a:t>
            </a:r>
            <a:r>
              <a:rPr lang="en-AU" dirty="0" smtClean="0"/>
              <a:t>irst</a:t>
            </a:r>
            <a:r>
              <a:rPr lang="en-AU" dirty="0" smtClean="0">
                <a:solidFill>
                  <a:srgbClr val="0070C0"/>
                </a:solidFill>
              </a:rPr>
              <a:t> 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Outside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I</a:t>
            </a:r>
            <a:r>
              <a:rPr lang="en-AU" dirty="0" smtClean="0"/>
              <a:t>nner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L</a:t>
            </a:r>
            <a:r>
              <a:rPr lang="en-AU" dirty="0" smtClean="0"/>
              <a:t>ast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168916" y="4687311"/>
                <a:ext cx="2633670" cy="946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AU" i="1">
                            <a:latin typeface="Cambria Math"/>
                          </a:rPr>
                          <m:t>+3</m:t>
                        </m:r>
                      </m:e>
                    </m:d>
                    <m:d>
                      <m:dPr>
                        <m:ctrlPr>
                          <a:rPr lang="en-AU" i="1">
                            <a:latin typeface="Cambria Math"/>
                          </a:rPr>
                        </m:ctrlPr>
                      </m:dPr>
                      <m:e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−2</m:t>
                        </m:r>
                      </m:e>
                    </m:d>
                  </m:oMath>
                </a14:m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0" smtClean="0">
                          <a:latin typeface="Cambria Math"/>
                        </a:rPr>
                        <m:t>−4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</a:rPr>
                        <m:t>x</m:t>
                      </m:r>
                    </m:oMath>
                  </m:oMathPara>
                </a14:m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916" y="4687311"/>
                <a:ext cx="2633670" cy="946991"/>
              </a:xfrm>
              <a:prstGeom prst="rect">
                <a:avLst/>
              </a:prstGeom>
              <a:blipFill rotWithShape="1">
                <a:blip r:embed="rId5"/>
                <a:stretch>
                  <a:fillRect l="-2083" t="-32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8423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+3)(3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083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896911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+9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896911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8333" r="-20056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8333" r="-9943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108333" r="-20056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108333" r="-9943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108333" b="-1000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208333" r="-2005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208333" r="-99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2083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+9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 smtClean="0"/>
              </a:p>
              <a:p>
                <a:r>
                  <a:rPr lang="en-AU" dirty="0" smtClean="0"/>
                  <a:t>=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</m:t>
                    </m:r>
                    <m:r>
                      <a:rPr lang="en-AU" i="1">
                        <a:latin typeface="Cambria Math"/>
                      </a:rPr>
                      <m:t>6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5</m:t>
                    </m:r>
                    <m:r>
                      <a:rPr lang="en-AU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i="1">
                        <a:latin typeface="Cambria Math"/>
                      </a:rPr>
                      <m:t>−6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24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4091" y="4671720"/>
            <a:ext cx="2707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FOIL method?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59832" y="4697563"/>
            <a:ext cx="915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</a:t>
            </a:r>
            <a:r>
              <a:rPr lang="en-AU" dirty="0" smtClean="0"/>
              <a:t>irst</a:t>
            </a:r>
            <a:r>
              <a:rPr lang="en-AU" dirty="0" smtClean="0">
                <a:solidFill>
                  <a:srgbClr val="0070C0"/>
                </a:solidFill>
              </a:rPr>
              <a:t> 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O</a:t>
            </a:r>
            <a:r>
              <a:rPr lang="en-AU" dirty="0" smtClean="0"/>
              <a:t>utside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Inner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L</a:t>
            </a:r>
            <a:r>
              <a:rPr lang="en-AU" dirty="0" smtClean="0"/>
              <a:t>ast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168916" y="4687311"/>
                <a:ext cx="2633670" cy="946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chemeClr val="tx1"/>
                    </a:solidFill>
                  </a:rPr>
                  <a:t>Expand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+3</m:t>
                        </m:r>
                      </m:e>
                    </m:d>
                    <m:d>
                      <m:dPr>
                        <m:ctrlPr>
                          <a:rPr lang="en-AU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−2</m:t>
                        </m:r>
                      </m:e>
                    </m:d>
                  </m:oMath>
                </a14:m>
                <a:endParaRPr lang="en-AU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0" smtClean="0">
                          <a:latin typeface="Cambria Math"/>
                        </a:rPr>
                        <m:t>−4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0" smtClean="0">
                          <a:latin typeface="Cambria Math"/>
                        </a:rPr>
                        <m:t>+9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916" y="4687311"/>
                <a:ext cx="2633670" cy="946991"/>
              </a:xfrm>
              <a:prstGeom prst="rect">
                <a:avLst/>
              </a:prstGeom>
              <a:blipFill rotWithShape="1">
                <a:blip r:embed="rId5"/>
                <a:stretch>
                  <a:fillRect l="-2083" t="-32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3676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+3)(3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083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4615219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+9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4615219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8333" r="-20056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8333" r="-9943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108333" r="-20056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108333" r="-9943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108333" b="-1000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208333" r="-2005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208333" r="-99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2083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+9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 smtClean="0"/>
              </a:p>
              <a:p>
                <a:r>
                  <a:rPr lang="en-AU" dirty="0" smtClean="0"/>
                  <a:t>=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</m:t>
                    </m:r>
                    <m:r>
                      <a:rPr lang="en-AU" i="1">
                        <a:latin typeface="Cambria Math"/>
                      </a:rPr>
                      <m:t>6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5</m:t>
                    </m:r>
                    <m:r>
                      <a:rPr lang="en-AU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i="1">
                        <a:latin typeface="Cambria Math"/>
                      </a:rPr>
                      <m:t>−6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24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4091" y="4671720"/>
            <a:ext cx="2707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FOIL method?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59832" y="4697563"/>
            <a:ext cx="915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</a:t>
            </a:r>
            <a:r>
              <a:rPr lang="en-AU" dirty="0" smtClean="0"/>
              <a:t>irst</a:t>
            </a:r>
            <a:r>
              <a:rPr lang="en-AU" dirty="0" smtClean="0">
                <a:solidFill>
                  <a:srgbClr val="0070C0"/>
                </a:solidFill>
              </a:rPr>
              <a:t> 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O</a:t>
            </a:r>
            <a:r>
              <a:rPr lang="en-AU" dirty="0" smtClean="0"/>
              <a:t>utside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I</a:t>
            </a:r>
            <a:r>
              <a:rPr lang="en-AU" dirty="0" smtClean="0"/>
              <a:t>nner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Last</a:t>
            </a:r>
            <a:endParaRPr lang="en-AU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168916" y="4687311"/>
                <a:ext cx="2633670" cy="946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chemeClr val="tx1"/>
                    </a:solidFill>
                  </a:rPr>
                  <a:t>Expand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+3</m:t>
                        </m:r>
                      </m:e>
                    </m:d>
                    <m:d>
                      <m:dPr>
                        <m:ctrlPr>
                          <a:rPr lang="en-AU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−2</m:t>
                        </m:r>
                      </m:e>
                    </m:d>
                  </m:oMath>
                </a14:m>
                <a:endParaRPr lang="en-AU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0" smtClean="0">
                          <a:latin typeface="Cambria Math"/>
                        </a:rPr>
                        <m:t>−4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0" smtClean="0">
                          <a:latin typeface="Cambria Math"/>
                        </a:rPr>
                        <m:t>+9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916" y="4687311"/>
                <a:ext cx="2633670" cy="946991"/>
              </a:xfrm>
              <a:prstGeom prst="rect">
                <a:avLst/>
              </a:prstGeom>
              <a:blipFill rotWithShape="1">
                <a:blip r:embed="rId5"/>
                <a:stretch>
                  <a:fillRect l="-2083" t="-32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823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+3)(3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263520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083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0674641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+9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−4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0674641"/>
                  </p:ext>
                </p:extLst>
              </p:nvPr>
            </p:nvGraphicFramePr>
            <p:xfrm>
              <a:off x="3203848" y="2697887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8333" r="-20056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8333" r="-9943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108333" r="-20056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108333" r="-9943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108333" b="-1000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68" t="-208333" r="-2005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208333" r="-99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136" t="-2083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+9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 smtClean="0"/>
              </a:p>
              <a:p>
                <a:r>
                  <a:rPr lang="en-AU" dirty="0" smtClean="0"/>
                  <a:t>=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</m:t>
                    </m:r>
                    <m:r>
                      <a:rPr lang="en-AU" i="1">
                        <a:latin typeface="Cambria Math"/>
                      </a:rPr>
                      <m:t>6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5</m:t>
                    </m:r>
                    <m:r>
                      <a:rPr lang="en-AU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i="1">
                        <a:latin typeface="Cambria Math"/>
                      </a:rPr>
                      <m:t>−6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814" y="3933056"/>
                <a:ext cx="2209707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24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4091" y="4671720"/>
            <a:ext cx="2707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FOIL method?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59832" y="4697563"/>
            <a:ext cx="915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</a:t>
            </a:r>
            <a:r>
              <a:rPr lang="en-AU" dirty="0" smtClean="0"/>
              <a:t>irst</a:t>
            </a:r>
            <a:r>
              <a:rPr lang="en-AU" dirty="0" smtClean="0">
                <a:solidFill>
                  <a:srgbClr val="0070C0"/>
                </a:solidFill>
              </a:rPr>
              <a:t> 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O</a:t>
            </a:r>
            <a:r>
              <a:rPr lang="en-AU" dirty="0" smtClean="0"/>
              <a:t>utside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I</a:t>
            </a:r>
            <a:r>
              <a:rPr lang="en-AU" dirty="0" smtClean="0"/>
              <a:t>nner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L</a:t>
            </a:r>
            <a:r>
              <a:rPr lang="en-AU" dirty="0" smtClean="0"/>
              <a:t>ast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168916" y="4687311"/>
                <a:ext cx="263367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chemeClr val="tx1"/>
                    </a:solidFill>
                  </a:rPr>
                  <a:t>Expand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+3</m:t>
                        </m:r>
                      </m:e>
                    </m:d>
                    <m:d>
                      <m:dPr>
                        <m:ctrlPr>
                          <a:rPr lang="en-AU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−2</m:t>
                        </m:r>
                      </m:e>
                    </m:d>
                  </m:oMath>
                </a14:m>
                <a:endParaRPr lang="en-AU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0" smtClean="0">
                          <a:latin typeface="Cambria Math"/>
                        </a:rPr>
                        <m:t>−4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0" smtClean="0">
                          <a:latin typeface="Cambria Math"/>
                        </a:rPr>
                        <m:t>+9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+5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916" y="4687311"/>
                <a:ext cx="2633670" cy="1477328"/>
              </a:xfrm>
              <a:prstGeom prst="rect">
                <a:avLst/>
              </a:prstGeom>
              <a:blipFill rotWithShape="1">
                <a:blip r:embed="rId5"/>
                <a:stretch>
                  <a:fillRect l="-2083" t="-20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450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508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1840</TotalTime>
  <Words>1373</Words>
  <Application>Microsoft Office PowerPoint</Application>
  <PresentationFormat>On-screen Show (4:3)</PresentationFormat>
  <Paragraphs>342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My Algebra 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72</cp:revision>
  <dcterms:created xsi:type="dcterms:W3CDTF">2014-05-14T02:58:57Z</dcterms:created>
  <dcterms:modified xsi:type="dcterms:W3CDTF">2015-05-14T05:37:26Z</dcterms:modified>
</cp:coreProperties>
</file>
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75"/>
    <p:restoredTop sz="92197"/>
  </p:normalViewPr>
  <p:slideViewPr>
    <p:cSldViewPr snapToGrid="0" snapToObjects="1">
      <p:cViewPr varScale="1">
        <p:scale>
          <a:sx n="51" d="100"/>
          <a:sy n="51" d="100"/>
        </p:scale>
        <p:origin x="1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8913" y="1143293"/>
            <a:ext cx="7034362" cy="4268965"/>
          </a:xfrm>
        </p:spPr>
        <p:txBody>
          <a:bodyPr anchor="t">
            <a:normAutofit/>
          </a:bodyPr>
          <a:lstStyle>
            <a:lvl1pPr algn="l">
              <a:lnSpc>
                <a:spcPct val="85000"/>
              </a:lnSpc>
              <a:defRPr sz="77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8914" y="5537925"/>
            <a:ext cx="7034362" cy="706355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20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88913" y="6314440"/>
            <a:ext cx="1596622" cy="365125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3C633830-2244-49AE-BC4A-47F415C177C6}" type="datetimeFigureOut">
              <a:rPr lang="en-US" dirty="0"/>
              <a:pPr/>
              <a:t>11/26/16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00591" y="6314440"/>
            <a:ext cx="5122683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416216"/>
            <a:ext cx="407988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2AC27A5A-7290-4DE1-BA94-4BE8A8E57DCF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9" name="Straight Connector 8" title="Verticle Rule Line"/>
          <p:cNvCxnSpPr/>
          <p:nvPr/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11/26/16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 title="Page Number Shape"/>
          <p:cNvSpPr/>
          <p:nvPr/>
        </p:nvSpPr>
        <p:spPr bwMode="auto">
          <a:xfrm>
            <a:off x="11784011" y="139374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7673" y="2571722"/>
            <a:ext cx="8296654" cy="3286153"/>
          </a:xfrm>
        </p:spPr>
        <p:txBody>
          <a:bodyPr anchor="t">
            <a:normAutofit/>
          </a:bodyPr>
          <a:lstStyle>
            <a:lvl1pPr>
              <a:lnSpc>
                <a:spcPct val="85000"/>
              </a:lnSpc>
              <a:defRPr sz="7700" cap="all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7673" y="1393748"/>
            <a:ext cx="8401429" cy="81915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20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42955" y="6314439"/>
            <a:ext cx="1596622" cy="365125"/>
          </a:xfrm>
        </p:spPr>
        <p:txBody>
          <a:bodyPr/>
          <a:lstStyle>
            <a:lvl1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C633830-2244-49AE-BC4A-47F415C177C6}" type="datetimeFigureOut">
              <a:rPr lang="en-US" dirty="0"/>
              <a:pPr/>
              <a:t>11/26/16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7673" y="6314440"/>
            <a:ext cx="6480226" cy="365125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620760"/>
            <a:ext cx="407988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AC27A5A-7290-4DE1-BA94-4BE8A8E57DCF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 flipH="1">
            <a:off x="1" y="6178167"/>
            <a:ext cx="10244326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81600" y="540628"/>
            <a:ext cx="6248400" cy="248894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3712467"/>
            <a:ext cx="6248400" cy="248222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11/26/16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58065"/>
            <a:ext cx="6245352" cy="914400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526671"/>
            <a:ext cx="6245352" cy="1755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81600" y="3700826"/>
            <a:ext cx="6248400" cy="91440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81600" y="4669432"/>
            <a:ext cx="6245352" cy="1755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11/26/16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11/26/16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11/26/16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5479"/>
            <a:ext cx="3838776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564147"/>
            <a:ext cx="6248400" cy="5622644"/>
          </a:xfrm>
        </p:spPr>
        <p:txBody>
          <a:bodyPr/>
          <a:lstStyle>
            <a:lvl1pPr>
              <a:lnSpc>
                <a:spcPct val="112000"/>
              </a:lnSpc>
              <a:defRPr sz="2000"/>
            </a:lvl1pPr>
            <a:lvl2pPr>
              <a:lnSpc>
                <a:spcPct val="112000"/>
              </a:lnSpc>
              <a:defRPr sz="1800"/>
            </a:lvl2pPr>
            <a:lvl3pPr>
              <a:lnSpc>
                <a:spcPct val="112000"/>
              </a:lnSpc>
              <a:defRPr sz="1600"/>
            </a:lvl3pPr>
            <a:lvl4pPr>
              <a:lnSpc>
                <a:spcPct val="112000"/>
              </a:lnSpc>
              <a:defRPr sz="1400"/>
            </a:lvl4pPr>
            <a:lvl5pPr>
              <a:lnSpc>
                <a:spcPct val="112000"/>
              </a:lnSpc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0" y="2621512"/>
            <a:ext cx="3838776" cy="3239537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11/26/16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557261"/>
            <a:ext cx="3840480" cy="1919239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0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57800" y="0"/>
            <a:ext cx="6172200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952" y="2621512"/>
            <a:ext cx="3840480" cy="3236976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11/26/16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81600" y="640080"/>
            <a:ext cx="6248398" cy="558414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11/26/16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0765" y="642931"/>
            <a:ext cx="2446670" cy="467810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42932"/>
            <a:ext cx="7070678" cy="467810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36187" y="5927131"/>
            <a:ext cx="3814856" cy="365125"/>
          </a:xfrm>
        </p:spPr>
        <p:txBody>
          <a:bodyPr/>
          <a:lstStyle/>
          <a:p>
            <a:fld id="{3C633830-2244-49AE-BC4A-47F415C177C6}" type="datetimeFigureOut">
              <a:rPr lang="en-US" dirty="0"/>
              <a:t>11/26/16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36187" y="6315949"/>
            <a:ext cx="381485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5607592"/>
            <a:ext cx="407988" cy="365125"/>
          </a:xfrm>
        </p:spPr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3" name="Straight Connector 12" title="Horizontal Rule Line"/>
          <p:cNvCxnSpPr/>
          <p:nvPr/>
        </p:nvCxnSpPr>
        <p:spPr>
          <a:xfrm>
            <a:off x="0" y="6199730"/>
            <a:ext cx="10260011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69066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1" y="593006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3C633830-2244-49AE-BC4A-47F415C177C6}" type="datetimeFigureOut">
              <a:rPr lang="en-US" dirty="0"/>
              <a:pPr/>
              <a:t>11/26/16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1" y="631444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84011" y="5607592"/>
            <a:ext cx="407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2AC27A5A-7290-4DE1-BA94-4BE8A8E57DCF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5000" b="0" i="1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83464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83464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83464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83464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Pythagoras</a:t>
            </a:r>
            <a:br>
              <a:rPr lang="en-US" sz="7200" dirty="0" smtClean="0"/>
            </a:b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/>
              <a:t> </a:t>
            </a:r>
            <a:r>
              <a:rPr lang="en-US" sz="7200" dirty="0" smtClean="0"/>
              <a:t> </a:t>
            </a:r>
            <a:r>
              <a:rPr lang="en-US" sz="5400" dirty="0" smtClean="0"/>
              <a:t>Long</a:t>
            </a:r>
            <a:r>
              <a:rPr lang="en-US" sz="7200" dirty="0" smtClean="0"/>
              <a:t> </a:t>
            </a:r>
            <a:r>
              <a:rPr lang="en-US" sz="4800" dirty="0" smtClean="0"/>
              <a:t>&amp;</a:t>
            </a:r>
            <a:r>
              <a:rPr lang="en-US" sz="7200" dirty="0" smtClean="0"/>
              <a:t> </a:t>
            </a:r>
            <a:r>
              <a:rPr lang="en-US" sz="5400" dirty="0"/>
              <a:t>S</a:t>
            </a:r>
            <a:r>
              <a:rPr lang="en-US" sz="5400" dirty="0" smtClean="0"/>
              <a:t>hort</a:t>
            </a:r>
            <a:r>
              <a:rPr lang="en-US" sz="7200" dirty="0" smtClean="0"/>
              <a:t> 			</a:t>
            </a:r>
            <a:r>
              <a:rPr lang="en-US" sz="4800" dirty="0" smtClean="0"/>
              <a:t>sides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8, lesson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98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</a:t>
            </a:r>
            <a:r>
              <a:rPr lang="is-IS" dirty="0" smtClean="0"/>
              <a:t>… </a:t>
            </a:r>
            <a:r>
              <a:rPr lang="en-US" dirty="0" smtClean="0"/>
              <a:t>Watch this video </a:t>
            </a:r>
            <a:r>
              <a:rPr lang="is-IS" dirty="0" smtClean="0"/>
              <a:t>…...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How can we prove Pythagoras’  theory actually works?</a:t>
            </a:r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 rot="11255737" flipH="1" flipV="1">
            <a:off x="6235166" y="3536543"/>
            <a:ext cx="42448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B5519"/>
                </a:solidFill>
                <a:latin typeface="ArialMT" charset="0"/>
              </a:rPr>
              <a:t>/</a:t>
            </a:r>
            <a:r>
              <a:rPr lang="en-US" dirty="0" err="1" smtClean="0">
                <a:solidFill>
                  <a:srgbClr val="0B5519"/>
                </a:solidFill>
                <a:latin typeface="ArialMT" charset="0"/>
              </a:rPr>
              <a:t>www.youtube.com</a:t>
            </a:r>
            <a:r>
              <a:rPr lang="en-US" dirty="0" smtClean="0">
                <a:solidFill>
                  <a:srgbClr val="0B5519"/>
                </a:solidFill>
                <a:latin typeface="ArialMT" charset="0"/>
              </a:rPr>
              <a:t>/</a:t>
            </a:r>
            <a:r>
              <a:rPr lang="en-US" dirty="0" err="1" smtClean="0">
                <a:solidFill>
                  <a:srgbClr val="0B5519"/>
                </a:solidFill>
                <a:latin typeface="ArialMT" charset="0"/>
              </a:rPr>
              <a:t>watch?v</a:t>
            </a:r>
            <a:r>
              <a:rPr lang="en-US" dirty="0" smtClean="0">
                <a:solidFill>
                  <a:srgbClr val="0B5519"/>
                </a:solidFill>
                <a:latin typeface="ArialMT" charset="0"/>
              </a:rPr>
              <a:t>=CAkMUdeB06o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959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346200"/>
            <a:ext cx="2209800" cy="4165970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4800" dirty="0" smtClean="0"/>
              <a:t>Your teacher will </a:t>
            </a:r>
          </a:p>
          <a:p>
            <a:pPr marL="0" indent="0">
              <a:buNone/>
            </a:pPr>
            <a:r>
              <a:rPr lang="en-US" sz="4800" dirty="0" smtClean="0"/>
              <a:t>give you &amp; your partner </a:t>
            </a:r>
          </a:p>
          <a:p>
            <a:pPr marL="0" indent="0">
              <a:buNone/>
            </a:pPr>
            <a:r>
              <a:rPr lang="en-US" sz="4800" dirty="0"/>
              <a:t>M</a:t>
            </a:r>
            <a:r>
              <a:rPr lang="en-US" sz="4800" dirty="0" smtClean="0"/>
              <a:t>ini M &amp; </a:t>
            </a:r>
            <a:r>
              <a:rPr lang="en-US" sz="4800" dirty="0" err="1" smtClean="0"/>
              <a:t>Ms</a:t>
            </a:r>
            <a:endParaRPr lang="en-US" sz="4800" dirty="0" smtClean="0"/>
          </a:p>
          <a:p>
            <a:pPr marL="0" indent="0">
              <a:buNone/>
            </a:pPr>
            <a:r>
              <a:rPr lang="en-US" sz="4800" dirty="0" smtClean="0"/>
              <a:t>Plus 3 squares of 1Cm squared paper. 3 x 3, 4 x 4 and 5 x 5</a:t>
            </a:r>
          </a:p>
          <a:p>
            <a:pPr marL="0" indent="0">
              <a:buNone/>
            </a:pPr>
            <a:r>
              <a:rPr lang="en-US" sz="4800" dirty="0" smtClean="0"/>
              <a:t>DO NOT EAT the M&amp;M’s!!!! </a:t>
            </a:r>
          </a:p>
          <a:p>
            <a:pPr marL="0" indent="0">
              <a:buNone/>
            </a:pPr>
            <a:r>
              <a:rPr lang="en-US" sz="4800" dirty="0" smtClean="0"/>
              <a:t>                     You can later</a:t>
            </a:r>
            <a:r>
              <a:rPr lang="is-IS" sz="4800" dirty="0" smtClean="0"/>
              <a:t>…</a:t>
            </a:r>
            <a:r>
              <a:rPr lang="en-US" sz="4800" dirty="0" smtClean="0"/>
              <a:t> 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094465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Carefully </a:t>
            </a:r>
            <a:r>
              <a:rPr lang="en-US" dirty="0"/>
              <a:t>p</a:t>
            </a:r>
            <a:r>
              <a:rPr lang="en-US" dirty="0" smtClean="0"/>
              <a:t>lace one   M &amp; M on each square of the two smaller squares.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5800" dirty="0" smtClean="0"/>
              <a:t>Do you think all of these will fit on the big square?</a:t>
            </a:r>
          </a:p>
          <a:p>
            <a:endParaRPr lang="en-US" sz="5800" dirty="0"/>
          </a:p>
          <a:p>
            <a:pPr marL="0" indent="0" algn="ctr">
              <a:buNone/>
            </a:pPr>
            <a:r>
              <a:rPr lang="en-US" sz="5800" dirty="0" smtClean="0"/>
              <a:t>Put your hand on your Head  if you think YES</a:t>
            </a:r>
            <a:r>
              <a:rPr lang="is-IS" sz="5800" dirty="0" smtClean="0"/>
              <a:t>…</a:t>
            </a:r>
          </a:p>
          <a:p>
            <a:pPr marL="0" indent="0" algn="ctr">
              <a:buNone/>
            </a:pPr>
            <a:r>
              <a:rPr lang="is-IS" sz="5800" dirty="0" smtClean="0"/>
              <a:t>On your Bottom if you think NO...</a:t>
            </a:r>
            <a:endParaRPr lang="is-IS" sz="5800" dirty="0"/>
          </a:p>
          <a:p>
            <a:pPr marL="0" indent="0" algn="ctr">
              <a:buNone/>
            </a:pPr>
            <a:endParaRPr lang="is-IS" sz="5800" dirty="0" smtClean="0"/>
          </a:p>
          <a:p>
            <a:pPr marL="0" indent="0" algn="ctr">
              <a:buNone/>
            </a:pPr>
            <a:r>
              <a:rPr lang="is-IS" sz="5800" dirty="0" smtClean="0"/>
              <a:t>Take a Class vote....... </a:t>
            </a:r>
          </a:p>
          <a:p>
            <a:pPr marL="0" indent="0" algn="ctr">
              <a:buNone/>
            </a:pPr>
            <a:endParaRPr lang="is-IS" sz="5800" dirty="0" smtClean="0"/>
          </a:p>
          <a:p>
            <a:pPr marL="0" indent="0" algn="ctr">
              <a:buNone/>
            </a:pPr>
            <a:r>
              <a:rPr lang="is-IS" sz="5800" dirty="0" smtClean="0"/>
              <a:t>Now try ....</a:t>
            </a:r>
            <a:endParaRPr lang="en-US" sz="5800" dirty="0"/>
          </a:p>
        </p:txBody>
      </p:sp>
    </p:spTree>
    <p:extLst>
      <p:ext uri="{BB962C8B-B14F-4D97-AF65-F5344CB8AC3E}">
        <p14:creationId xmlns:p14="http://schemas.microsoft.com/office/powerpoint/2010/main" val="17841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 you didn’t eat any M&amp;Ms now you get some more</a:t>
            </a:r>
            <a:r>
              <a:rPr lang="is-IS" dirty="0" smtClean="0"/>
              <a:t>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/>
              <a:t>Your teacher will give you bigger squares to repeat the experiment.</a:t>
            </a:r>
          </a:p>
          <a:p>
            <a:pPr algn="ctr"/>
            <a:endParaRPr lang="en-US" sz="4000" dirty="0"/>
          </a:p>
          <a:p>
            <a:pPr marL="0" indent="0" algn="ctr">
              <a:buNone/>
            </a:pPr>
            <a:r>
              <a:rPr lang="en-US" sz="4000" dirty="0" smtClean="0"/>
              <a:t>Why does it work?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972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0" dirty="0" smtClean="0"/>
              <a:t>Think, pair, share your ideas </a:t>
            </a:r>
            <a:endParaRPr lang="en-US" b="1" i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sz="4800" dirty="0"/>
              <a:t>2</a:t>
            </a:r>
            <a:r>
              <a:rPr lang="en-US" sz="3200" dirty="0" smtClean="0"/>
              <a:t> </a:t>
            </a:r>
            <a:r>
              <a:rPr lang="en-US" sz="3200" b="1" dirty="0" smtClean="0"/>
              <a:t>min</a:t>
            </a:r>
            <a:r>
              <a:rPr lang="en-US" sz="3200" dirty="0" smtClean="0"/>
              <a:t> think</a:t>
            </a:r>
          </a:p>
          <a:p>
            <a:pPr algn="ctr"/>
            <a:r>
              <a:rPr lang="en-US" sz="3200" dirty="0"/>
              <a:t> S</a:t>
            </a:r>
            <a:r>
              <a:rPr lang="en-US" sz="3200" dirty="0" smtClean="0"/>
              <a:t>hare with your partner for four</a:t>
            </a:r>
            <a:r>
              <a:rPr lang="is-IS" sz="3200" dirty="0" smtClean="0"/>
              <a:t>…</a:t>
            </a:r>
          </a:p>
          <a:p>
            <a:pPr algn="ctr"/>
            <a:r>
              <a:rPr lang="is-IS" sz="3200" dirty="0" smtClean="0"/>
              <a:t>Be prepared to discuss your ideas with the group!!</a:t>
            </a:r>
          </a:p>
          <a:p>
            <a:pPr algn="ctr"/>
            <a:endParaRPr lang="is-IS" sz="3200" dirty="0" smtClean="0"/>
          </a:p>
          <a:p>
            <a:pPr algn="ctr"/>
            <a:r>
              <a:rPr lang="is-IS" sz="3200" dirty="0" smtClean="0"/>
              <a:t>Your teacher will choose someone at </a:t>
            </a:r>
            <a:r>
              <a:rPr lang="is-IS" sz="3200" b="1" i="1" dirty="0" smtClean="0"/>
              <a:t>random</a:t>
            </a:r>
            <a:r>
              <a:rPr lang="is-IS" sz="3200" dirty="0" smtClean="0"/>
              <a:t>.</a:t>
            </a:r>
          </a:p>
          <a:p>
            <a:pPr algn="ctr"/>
            <a:endParaRPr lang="is-IS" sz="3200" dirty="0"/>
          </a:p>
          <a:p>
            <a:pPr algn="ctr"/>
            <a:endParaRPr lang="is-IS" dirty="0" smtClean="0"/>
          </a:p>
        </p:txBody>
      </p:sp>
    </p:spTree>
    <p:extLst>
      <p:ext uri="{BB962C8B-B14F-4D97-AF65-F5344CB8AC3E}">
        <p14:creationId xmlns:p14="http://schemas.microsoft.com/office/powerpoint/2010/main" val="988110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i="0" dirty="0" smtClean="0"/>
              <a:t>Did you remember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a</a:t>
            </a:r>
            <a:r>
              <a:rPr lang="en-US" baseline="30000" dirty="0" smtClean="0"/>
              <a:t>2</a:t>
            </a:r>
            <a:r>
              <a:rPr lang="en-US" dirty="0" smtClean="0"/>
              <a:t> + b</a:t>
            </a:r>
            <a:r>
              <a:rPr lang="en-US" baseline="30000" dirty="0" smtClean="0"/>
              <a:t>2</a:t>
            </a:r>
            <a:r>
              <a:rPr lang="en-US" dirty="0" smtClean="0"/>
              <a:t> = c</a:t>
            </a:r>
            <a:r>
              <a:rPr lang="en-US" baseline="30000" dirty="0" smtClean="0"/>
              <a:t>2</a:t>
            </a:r>
            <a:r>
              <a:rPr lang="en-US" dirty="0" smtClean="0"/>
              <a:t> ?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i="0" dirty="0" smtClean="0"/>
              <a:t>3</a:t>
            </a:r>
            <a:r>
              <a:rPr lang="en-US" i="0" baseline="30000" dirty="0" smtClean="0"/>
              <a:t>2 </a:t>
            </a:r>
            <a:r>
              <a:rPr lang="en-US" i="0" dirty="0" smtClean="0"/>
              <a:t>+ 4</a:t>
            </a:r>
            <a:r>
              <a:rPr lang="en-US" i="0" baseline="30000" dirty="0" smtClean="0"/>
              <a:t>2</a:t>
            </a:r>
            <a:r>
              <a:rPr lang="en-US" i="0" dirty="0" smtClean="0"/>
              <a:t> = 5</a:t>
            </a:r>
            <a:r>
              <a:rPr lang="en-US" i="0" baseline="30000" dirty="0" smtClean="0"/>
              <a:t>2 </a:t>
            </a:r>
            <a:r>
              <a:rPr lang="en-US" baseline="30000" dirty="0" smtClean="0"/>
              <a:t/>
            </a:r>
            <a:br>
              <a:rPr lang="en-US" baseline="30000" dirty="0" smtClean="0"/>
            </a:br>
            <a:r>
              <a:rPr lang="en-US" sz="6700" i="0" baseline="30000" dirty="0" smtClean="0"/>
              <a:t>So c= 5</a:t>
            </a:r>
            <a:r>
              <a:rPr lang="en-US" sz="6700" i="0" dirty="0"/>
              <a:t/>
            </a:r>
            <a:br>
              <a:rPr lang="en-US" sz="6700" i="0" dirty="0"/>
            </a:br>
            <a:endParaRPr lang="en-US" sz="6700" i="0" baseline="30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en-US" sz="4400" dirty="0" smtClean="0"/>
              <a:t>Pythagoras’ theorem helps us find the short side or the long side of right-angled triangles.</a:t>
            </a:r>
          </a:p>
          <a:p>
            <a:pPr algn="ctr"/>
            <a:r>
              <a:rPr lang="en-US" sz="4400" dirty="0" smtClean="0"/>
              <a:t>C= the hypotenuse</a:t>
            </a:r>
            <a:endParaRPr lang="en-US" sz="4400" dirty="0"/>
          </a:p>
          <a:p>
            <a:pPr algn="ctr"/>
            <a:r>
              <a:rPr lang="en-US" sz="4400" dirty="0" smtClean="0"/>
              <a:t>To find the long side, or </a:t>
            </a:r>
            <a:r>
              <a:rPr lang="en-US" sz="4400" b="1" dirty="0" smtClean="0"/>
              <a:t>c</a:t>
            </a:r>
            <a:r>
              <a:rPr lang="en-US" sz="4400" dirty="0" smtClean="0"/>
              <a:t>, we find the square root of the other 2 sides added together.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75231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000" i="0" dirty="0"/>
              <a:t>https://</a:t>
            </a:r>
            <a:r>
              <a:rPr lang="en-US" sz="4000" i="0" dirty="0" err="1" smtClean="0"/>
              <a:t>www.youtube.com</a:t>
            </a:r>
            <a:r>
              <a:rPr lang="en-US" sz="4000" i="0" dirty="0" smtClean="0"/>
              <a:t>/</a:t>
            </a:r>
            <a:r>
              <a:rPr lang="en-US" sz="4000" i="0" dirty="0" err="1" smtClean="0"/>
              <a:t>watch?v</a:t>
            </a:r>
            <a:r>
              <a:rPr lang="en-US" sz="4000" i="0" dirty="0" smtClean="0"/>
              <a:t>=a30eyzkCbKc</a:t>
            </a:r>
            <a:br>
              <a:rPr lang="en-US" sz="4000" i="0" dirty="0" smtClean="0"/>
            </a:br>
            <a:r>
              <a:rPr lang="en-US" sz="4000" i="0" dirty="0"/>
              <a:t/>
            </a:r>
            <a:br>
              <a:rPr lang="en-US" sz="4000" i="0" dirty="0"/>
            </a:br>
            <a:r>
              <a:rPr lang="en-US" sz="3100" i="0" dirty="0" smtClean="0"/>
              <a:t>To </a:t>
            </a:r>
            <a:r>
              <a:rPr lang="en-US" sz="3100" i="0" dirty="0" smtClean="0"/>
              <a:t>find an unknown short side-  </a:t>
            </a:r>
            <a:br>
              <a:rPr lang="en-US" sz="3100" i="0" dirty="0" smtClean="0"/>
            </a:br>
            <a:r>
              <a:rPr lang="en-US" sz="3100" i="0" dirty="0" smtClean="0"/>
              <a:t>take away the square of the known short </a:t>
            </a:r>
            <a:r>
              <a:rPr lang="en-US" sz="3100" i="0" dirty="0" smtClean="0"/>
              <a:t>side </a:t>
            </a:r>
            <a:r>
              <a:rPr lang="en-US" sz="3100" i="0" dirty="0" smtClean="0"/>
              <a:t/>
            </a:r>
            <a:br>
              <a:rPr lang="en-US" sz="3100" i="0" dirty="0" smtClean="0"/>
            </a:br>
            <a:r>
              <a:rPr lang="en-US" sz="3100" i="0" dirty="0" smtClean="0"/>
              <a:t>from the square of the long side</a:t>
            </a:r>
            <a:r>
              <a:rPr lang="en-US" dirty="0" smtClean="0"/>
              <a:t>.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59678"/>
            <a:ext cx="6248398" cy="5655156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Right Triangle 3"/>
          <p:cNvSpPr/>
          <p:nvPr/>
        </p:nvSpPr>
        <p:spPr>
          <a:xfrm>
            <a:off x="6592668" y="1526270"/>
            <a:ext cx="2089833" cy="2788086"/>
          </a:xfrm>
          <a:prstGeom prst="rt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=a30eyzkCbKc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rot="11173599" flipH="1" flipV="1">
            <a:off x="5714250" y="1570599"/>
            <a:ext cx="849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8 </a:t>
            </a:r>
            <a:r>
              <a:rPr lang="en-US" sz="3200" baseline="30000" dirty="0" smtClean="0"/>
              <a:t>2</a:t>
            </a:r>
            <a:endParaRPr lang="en-US" sz="3200" baseline="300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308600" y="712078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12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12000"/>
              </a:lnSpc>
              <a:spcBef>
                <a:spcPts val="900"/>
              </a:spcBef>
              <a:buFont typeface="Corbel" panose="020B0503020204020204" pitchFamily="34" charset="0"/>
              <a:buChar char="–"/>
              <a:defRPr sz="18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83464" indent="-283464" algn="l" defTabSz="914400" rtl="0" eaLnBrk="1" latinLnBrk="0" hangingPunct="1">
              <a:lnSpc>
                <a:spcPct val="112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83464" indent="-283464" algn="l" defTabSz="914400" rtl="0" eaLnBrk="1" latinLnBrk="0" hangingPunct="1">
              <a:lnSpc>
                <a:spcPct val="112000"/>
              </a:lnSpc>
              <a:spcBef>
                <a:spcPts val="900"/>
              </a:spcBef>
              <a:buFont typeface="Corbel" panose="020B0503020204020204" pitchFamily="34" charset="0"/>
              <a:buChar char="–"/>
              <a:defRPr sz="14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83464" indent="-283464" algn="l" defTabSz="914400" rtl="0" eaLnBrk="1" latinLnBrk="0" hangingPunct="1">
              <a:lnSpc>
                <a:spcPct val="112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400" i="1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83464" indent="-283464" algn="l" defTabSz="914400" rtl="0" eaLnBrk="1" latinLnBrk="0" hangingPunct="1">
              <a:lnSpc>
                <a:spcPct val="112000"/>
              </a:lnSpc>
              <a:spcBef>
                <a:spcPts val="130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3464" indent="-283464" algn="l" defTabSz="914400" rtl="0" eaLnBrk="1" latinLnBrk="0" hangingPunct="1">
              <a:lnSpc>
                <a:spcPct val="112000"/>
              </a:lnSpc>
              <a:spcBef>
                <a:spcPts val="1300"/>
              </a:spcBef>
              <a:buFont typeface="Arial" panose="020B0604020202020204" pitchFamily="34" charset="0"/>
              <a:buChar char="•"/>
              <a:defRPr sz="1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83464" indent="-283464" algn="l" defTabSz="914400" rtl="0" eaLnBrk="1" latinLnBrk="0" hangingPunct="1">
              <a:lnSpc>
                <a:spcPct val="112000"/>
              </a:lnSpc>
              <a:spcBef>
                <a:spcPts val="130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3464" indent="-283464" algn="l" defTabSz="914400" rtl="0" eaLnBrk="1" latinLnBrk="0" hangingPunct="1">
              <a:lnSpc>
                <a:spcPct val="112000"/>
              </a:lnSpc>
              <a:spcBef>
                <a:spcPts val="1300"/>
              </a:spcBef>
              <a:buFont typeface="Arial" panose="020B0604020202020204" pitchFamily="34" charset="0"/>
              <a:buChar char="•"/>
              <a:defRPr sz="1400" i="1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30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0" dirty="0" smtClean="0"/>
              <a:t>A Worked example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4000" dirty="0" smtClean="0"/>
              <a:t>So, </a:t>
            </a:r>
            <a:endParaRPr lang="en-US" sz="4000" dirty="0" smtClean="0"/>
          </a:p>
          <a:p>
            <a:pPr marL="0" indent="0" algn="ctr">
              <a:buNone/>
            </a:pPr>
            <a:r>
              <a:rPr lang="en-US" sz="4000" dirty="0" smtClean="0"/>
              <a:t>for </a:t>
            </a:r>
            <a:r>
              <a:rPr lang="en-US" sz="4000" dirty="0" smtClean="0"/>
              <a:t>example, </a:t>
            </a:r>
            <a:endParaRPr lang="en-US" sz="4000" dirty="0" smtClean="0"/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4000" dirty="0" smtClean="0"/>
              <a:t> </a:t>
            </a:r>
            <a:r>
              <a:rPr lang="en-US" sz="4000" dirty="0" smtClean="0"/>
              <a:t>10 </a:t>
            </a:r>
            <a:r>
              <a:rPr lang="en-US" sz="4000" baseline="30000" dirty="0" smtClean="0"/>
              <a:t>2</a:t>
            </a:r>
            <a:r>
              <a:rPr lang="en-US" sz="4000" dirty="0" smtClean="0"/>
              <a:t> - 8 </a:t>
            </a:r>
            <a:r>
              <a:rPr lang="en-US" sz="4000" baseline="30000" dirty="0" smtClean="0"/>
              <a:t>2</a:t>
            </a:r>
            <a:r>
              <a:rPr lang="en-US" sz="4000" dirty="0" smtClean="0"/>
              <a:t> = 6 </a:t>
            </a:r>
            <a:r>
              <a:rPr lang="en-US" sz="4000" baseline="30000" dirty="0" smtClean="0"/>
              <a:t>2</a:t>
            </a:r>
          </a:p>
          <a:p>
            <a:pPr marL="0" indent="0" algn="ctr">
              <a:buNone/>
            </a:pPr>
            <a:endParaRPr lang="en-US" sz="4000" baseline="30000" dirty="0"/>
          </a:p>
          <a:p>
            <a:pPr marL="0" indent="0" algn="ctr">
              <a:buNone/>
            </a:pPr>
            <a:r>
              <a:rPr lang="en-US" sz="4000" baseline="30000" dirty="0" smtClean="0"/>
              <a:t>100 - 64 = </a:t>
            </a:r>
            <a:r>
              <a:rPr lang="en-US" sz="4000" baseline="30000" dirty="0" smtClean="0"/>
              <a:t>36</a:t>
            </a:r>
            <a:endParaRPr lang="en-US" sz="4000" baseline="30000" dirty="0"/>
          </a:p>
          <a:p>
            <a:pPr marL="0" indent="0" algn="ctr">
              <a:buNone/>
            </a:pPr>
            <a:endParaRPr lang="en-US" sz="4000" baseline="30000" dirty="0" smtClean="0"/>
          </a:p>
          <a:p>
            <a:pPr marL="0" indent="0" algn="ctr">
              <a:buNone/>
            </a:pPr>
            <a:r>
              <a:rPr lang="en-US" sz="4000" baseline="30000" dirty="0" smtClean="0"/>
              <a:t>https</a:t>
            </a:r>
            <a:r>
              <a:rPr lang="en-US" sz="4000" baseline="30000" dirty="0"/>
              <a:t>://</a:t>
            </a:r>
            <a:r>
              <a:rPr lang="en-US" sz="4000" baseline="30000" dirty="0" err="1"/>
              <a:t>www.youtube.com</a:t>
            </a:r>
            <a:r>
              <a:rPr lang="en-US" sz="4000" baseline="30000" dirty="0"/>
              <a:t>/</a:t>
            </a:r>
            <a:r>
              <a:rPr lang="en-US" sz="4000" baseline="30000" dirty="0" err="1"/>
              <a:t>watch?v</a:t>
            </a:r>
            <a:r>
              <a:rPr lang="en-US" sz="4000" baseline="30000" dirty="0"/>
              <a:t>=_-</a:t>
            </a:r>
            <a:r>
              <a:rPr lang="en-US" sz="4000" baseline="30000" dirty="0" err="1"/>
              <a:t>KvcmZXtfM</a:t>
            </a:r>
            <a:endParaRPr lang="en-US" sz="4000" baseline="30000" dirty="0" smtClean="0"/>
          </a:p>
          <a:p>
            <a:pPr marL="0" indent="0" algn="ctr">
              <a:buNone/>
            </a:pPr>
            <a:endParaRPr lang="en-US" sz="4000" baseline="30000" dirty="0"/>
          </a:p>
          <a:p>
            <a:pPr marL="0" indent="0" algn="ctr">
              <a:buNone/>
            </a:pPr>
            <a:endParaRPr lang="en-US" sz="4000" baseline="30000" dirty="0" smtClean="0"/>
          </a:p>
          <a:p>
            <a:pPr marL="0" indent="0" algn="ctr">
              <a:buNone/>
            </a:pPr>
            <a:endParaRPr lang="en-US" sz="4000" baseline="30000" dirty="0"/>
          </a:p>
        </p:txBody>
      </p:sp>
    </p:spTree>
    <p:extLst>
      <p:ext uri="{BB962C8B-B14F-4D97-AF65-F5344CB8AC3E}">
        <p14:creationId xmlns:p14="http://schemas.microsoft.com/office/powerpoint/2010/main" val="583925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Your teacher will give you some more M &amp; </a:t>
            </a:r>
            <a:r>
              <a:rPr lang="en-US" dirty="0" err="1" smtClean="0"/>
              <a:t>Ms</a:t>
            </a:r>
            <a:r>
              <a:rPr lang="en-US" dirty="0" smtClean="0"/>
              <a:t> to cover a new big square.</a:t>
            </a:r>
          </a:p>
          <a:p>
            <a:r>
              <a:rPr lang="en-US" dirty="0" smtClean="0"/>
              <a:t>You then move these to one of the smaller ones &amp; the remainder should cover the middle-sized square. </a:t>
            </a:r>
          </a:p>
          <a:p>
            <a:endParaRPr lang="en-US" dirty="0"/>
          </a:p>
          <a:p>
            <a:r>
              <a:rPr lang="en-US" dirty="0" smtClean="0"/>
              <a:t>When they do, and your teacher has checked these, </a:t>
            </a:r>
          </a:p>
          <a:p>
            <a:r>
              <a:rPr lang="en-US" dirty="0" smtClean="0"/>
              <a:t>then you need to work out a fair way to divide up your </a:t>
            </a:r>
            <a:r>
              <a:rPr lang="en-US" dirty="0" err="1" smtClean="0"/>
              <a:t>lolly</a:t>
            </a:r>
            <a:r>
              <a:rPr lang="en-US" dirty="0" smtClean="0"/>
              <a:t> loot with your partner.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28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69066"/>
            <a:ext cx="4089400" cy="4943104"/>
          </a:xfrm>
        </p:spPr>
        <p:txBody>
          <a:bodyPr/>
          <a:lstStyle/>
          <a:p>
            <a:pPr algn="ctr"/>
            <a:r>
              <a:rPr lang="en-US" dirty="0" smtClean="0"/>
              <a:t>Pythagorean Triples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 you find  other numbers that also work?</a:t>
            </a:r>
          </a:p>
          <a:p>
            <a:r>
              <a:rPr lang="en-US" dirty="0" err="1" smtClean="0"/>
              <a:t>Eg</a:t>
            </a:r>
            <a:r>
              <a:rPr lang="en-US" dirty="0" smtClean="0"/>
              <a:t>. 4, 5, 6 doesn’t</a:t>
            </a:r>
            <a:r>
              <a:rPr lang="is-IS" dirty="0" smtClean="0"/>
              <a:t>…</a:t>
            </a:r>
          </a:p>
          <a:p>
            <a:pPr marL="0" indent="0" algn="ctr">
              <a:buNone/>
            </a:pPr>
            <a:r>
              <a:rPr lang="is-IS" dirty="0" smtClean="0"/>
              <a:t>16 + 25 = 41 </a:t>
            </a:r>
          </a:p>
          <a:p>
            <a:pPr marL="0" indent="0" algn="ctr">
              <a:buNone/>
            </a:pPr>
            <a:r>
              <a:rPr lang="is-IS" dirty="0" smtClean="0"/>
              <a:t>not 36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 ones that do are called Pythagorean triads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712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i="0" dirty="0" smtClean="0"/>
              <a:t>?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/>
              <a:t/>
            </a:r>
            <a:br>
              <a:rPr lang="en-US" sz="7200" dirty="0"/>
            </a:br>
            <a:r>
              <a:rPr lang="en-US" sz="6000" i="0" dirty="0" smtClean="0"/>
              <a:t>Summary:</a:t>
            </a:r>
            <a:br>
              <a:rPr lang="en-US" sz="6000" i="0" dirty="0" smtClean="0"/>
            </a:br>
            <a:endParaRPr lang="en-US" sz="6000" i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 smtClean="0"/>
              <a:t>5, 12, 13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9, 12, 15 (and other  variations on 3, 4, 5)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10, 24, 26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943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Headlines">
      <a:majorFont>
        <a:latin typeface="Century Schoolbook" panose="02040604050505020304"/>
        <a:ea typeface=""/>
        <a:cs typeface=""/>
      </a:majorFont>
      <a:minorFont>
        <a:latin typeface="Corbel" panose="020B0503020204020204"/>
        <a:ea typeface=""/>
        <a:cs typeface="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" id="{3841520A-25F2-4EB8-BE4C-611DB5ABEED9}" vid="{ECD25A4C-D97E-4C12-84B1-63580BFFAE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397</Words>
  <Application>Microsoft Macintosh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ArialMT</vt:lpstr>
      <vt:lpstr>Century Schoolbook</vt:lpstr>
      <vt:lpstr>Corbel</vt:lpstr>
      <vt:lpstr>Arial</vt:lpstr>
      <vt:lpstr>Headlines</vt:lpstr>
      <vt:lpstr>Pythagoras    Long &amp; Short    sides</vt:lpstr>
      <vt:lpstr>First… Watch this video …...</vt:lpstr>
      <vt:lpstr> </vt:lpstr>
      <vt:lpstr>Carefully place one   M &amp; M on each square of the two smaller squares.</vt:lpstr>
      <vt:lpstr>If you didn’t eat any M&amp;Ms now you get some more….</vt:lpstr>
      <vt:lpstr>Think, pair, share your ideas </vt:lpstr>
      <vt:lpstr>Did you remember  a2 + b2 = c2 ?  32 + 42 = 52  So c= 5 </vt:lpstr>
      <vt:lpstr>https://www.youtube.com/watch?v=a30eyzkCbKc  To find an unknown short side-   take away the square of the known short side  from the square of the long side.   </vt:lpstr>
      <vt:lpstr>A Worked example:</vt:lpstr>
      <vt:lpstr>PowerPoint Presentation</vt:lpstr>
      <vt:lpstr>Pythagorean Triples  </vt:lpstr>
      <vt:lpstr>?  Summary: 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Pythagoras    Long &amp; Short    sides</dc:title>
  <dc:creator>e2059591</dc:creator>
  <cp:lastModifiedBy>PATERSON Anne</cp:lastModifiedBy>
  <cp:revision>17</cp:revision>
  <dcterms:created xsi:type="dcterms:W3CDTF">2016-11-22T02:56:18Z</dcterms:created>
  <dcterms:modified xsi:type="dcterms:W3CDTF">2016-11-26T15:15:08Z</dcterms:modified>
</cp:coreProperties>
</file>
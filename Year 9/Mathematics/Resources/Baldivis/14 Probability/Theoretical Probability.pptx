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0" r:id="rId2"/>
    <p:sldId id="259" r:id="rId3"/>
    <p:sldId id="258" r:id="rId4"/>
    <p:sldId id="327" r:id="rId5"/>
    <p:sldId id="328" r:id="rId6"/>
    <p:sldId id="329" r:id="rId7"/>
    <p:sldId id="330" r:id="rId8"/>
    <p:sldId id="331" r:id="rId9"/>
    <p:sldId id="320" r:id="rId10"/>
    <p:sldId id="292" r:id="rId11"/>
    <p:sldId id="29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2895" autoAdjust="0"/>
  </p:normalViewPr>
  <p:slideViewPr>
    <p:cSldViewPr>
      <p:cViewPr varScale="1">
        <p:scale>
          <a:sx n="91" d="100"/>
          <a:sy n="91" d="100"/>
        </p:scale>
        <p:origin x="-420"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t>26/10/2016</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26/10/2016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26/10/2016</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e4047095\AppData\Local\Microsoft\Windows\Temporary Internet Files\Content.IE5\4I30O3QX\euro_coins[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260648"/>
            <a:ext cx="1919258" cy="18306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11560" y="332656"/>
            <a:ext cx="7772400" cy="1470025"/>
          </a:xfrm>
        </p:spPr>
        <p:txBody>
          <a:bodyPr/>
          <a:lstStyle/>
          <a:p>
            <a:r>
              <a:rPr lang="en-AU" dirty="0" smtClean="0"/>
              <a:t>My Probability</a:t>
            </a:r>
            <a:br>
              <a:rPr lang="en-AU" dirty="0" smtClean="0"/>
            </a:br>
            <a:r>
              <a:rPr lang="en-AU" dirty="0" smtClean="0"/>
              <a:t>Interactive Notebook</a:t>
            </a:r>
            <a:endParaRPr lang="en-AU" dirty="0"/>
          </a:p>
        </p:txBody>
      </p:sp>
      <p:sp>
        <p:nvSpPr>
          <p:cNvPr id="3" name="Subtitle 2"/>
          <p:cNvSpPr>
            <a:spLocks noGrp="1"/>
          </p:cNvSpPr>
          <p:nvPr>
            <p:ph type="subTitle" idx="1"/>
          </p:nvPr>
        </p:nvSpPr>
        <p:spPr>
          <a:xfrm>
            <a:off x="683568" y="4509120"/>
            <a:ext cx="6400800" cy="1752600"/>
          </a:xfrm>
        </p:spPr>
        <p:txBody>
          <a:bodyPr>
            <a:normAutofit fontScale="85000" lnSpcReduction="20000"/>
          </a:bodyPr>
          <a:lstStyle/>
          <a:p>
            <a:pPr algn="l"/>
            <a:r>
              <a:rPr lang="en-AU" dirty="0" smtClean="0"/>
              <a:t>Name </a:t>
            </a:r>
          </a:p>
          <a:p>
            <a:pPr algn="l"/>
            <a:r>
              <a:rPr lang="en-AU" dirty="0" smtClean="0"/>
              <a:t>Class </a:t>
            </a:r>
          </a:p>
          <a:p>
            <a:pPr algn="l"/>
            <a:r>
              <a:rPr lang="en-AU" dirty="0" smtClean="0"/>
              <a:t>Teacher </a:t>
            </a:r>
          </a:p>
          <a:p>
            <a:pPr algn="l"/>
            <a:r>
              <a:rPr lang="en-AU" dirty="0" smtClean="0"/>
              <a:t>Term 4 Semester </a:t>
            </a:r>
            <a:r>
              <a:rPr lang="en-AU" dirty="0"/>
              <a:t>2</a:t>
            </a:r>
            <a:endParaRPr lang="en-AU" dirty="0" smtClean="0"/>
          </a:p>
        </p:txBody>
      </p:sp>
      <p:sp>
        <p:nvSpPr>
          <p:cNvPr id="13" name="TextBox 12"/>
          <p:cNvSpPr txBox="1"/>
          <p:nvPr/>
        </p:nvSpPr>
        <p:spPr>
          <a:xfrm>
            <a:off x="8748464" y="6488668"/>
            <a:ext cx="549775" cy="369332"/>
          </a:xfrm>
          <a:prstGeom prst="rect">
            <a:avLst/>
          </a:prstGeom>
          <a:noFill/>
        </p:spPr>
        <p:txBody>
          <a:bodyPr wrap="square" rtlCol="0">
            <a:spAutoFit/>
          </a:bodyPr>
          <a:lstStyle/>
          <a:p>
            <a:r>
              <a:rPr lang="en-AU" dirty="0"/>
              <a:t>1</a:t>
            </a:r>
          </a:p>
        </p:txBody>
      </p:sp>
      <p:pic>
        <p:nvPicPr>
          <p:cNvPr id="1026" name="Picture 2" descr="C:\Users\e4047095\AppData\Local\Microsoft\Windows\Temporary Internet Files\Content.IE5\4I30O3QX\373269258_560c1d534d_z[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52440" y="1844824"/>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e4047095\AppData\Local\Microsoft\Windows\Temporary Internet Files\Content.IE5\4I30O3QX\Playing_Cards[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36096" y="3079119"/>
            <a:ext cx="3199160" cy="2725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506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sp>
        <p:nvSpPr>
          <p:cNvPr id="7" name="TextBox 6"/>
          <p:cNvSpPr txBox="1"/>
          <p:nvPr/>
        </p:nvSpPr>
        <p:spPr>
          <a:xfrm>
            <a:off x="8748464" y="6488668"/>
            <a:ext cx="549775" cy="369332"/>
          </a:xfrm>
          <a:prstGeom prst="rect">
            <a:avLst/>
          </a:prstGeom>
          <a:noFill/>
        </p:spPr>
        <p:txBody>
          <a:bodyPr wrap="square" rtlCol="0">
            <a:spAutoFit/>
          </a:bodyPr>
          <a:lstStyle/>
          <a:p>
            <a:r>
              <a:rPr lang="en-AU" dirty="0" smtClean="0"/>
              <a:t>3</a:t>
            </a:r>
            <a:endParaRPr lang="en-AU" dirty="0"/>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p14="http://schemas.microsoft.com/office/powerpoint/2010/main" val="15154573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3"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p14="http://schemas.microsoft.com/office/powerpoint/2010/main" val="22165325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7</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147565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469861" cy="523220"/>
          </a:xfrm>
          <a:prstGeom prst="rect">
            <a:avLst/>
          </a:prstGeom>
          <a:noFill/>
        </p:spPr>
        <p:txBody>
          <a:bodyPr wrap="none" rtlCol="0">
            <a:spAutoFit/>
          </a:bodyPr>
          <a:lstStyle/>
          <a:p>
            <a:r>
              <a:rPr lang="en-AU" sz="2800" dirty="0" smtClean="0"/>
              <a:t>Theoretical Probability</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How </a:t>
            </a:r>
            <a:r>
              <a:rPr lang="en-AU" sz="2400" dirty="0" smtClean="0"/>
              <a:t>do I work out probabilities Theoretically? </a:t>
            </a:r>
            <a:endParaRPr lang="en-AU" sz="2400" dirty="0"/>
          </a:p>
        </p:txBody>
      </p:sp>
      <p:sp>
        <p:nvSpPr>
          <p:cNvPr id="5" name="Rectangle 4"/>
          <p:cNvSpPr/>
          <p:nvPr/>
        </p:nvSpPr>
        <p:spPr>
          <a:xfrm>
            <a:off x="1599774" y="2204864"/>
            <a:ext cx="7403679" cy="3416320"/>
          </a:xfrm>
          <a:prstGeom prst="rect">
            <a:avLst/>
          </a:prstGeom>
        </p:spPr>
        <p:txBody>
          <a:bodyPr wrap="square">
            <a:spAutoFit/>
          </a:bodyPr>
          <a:lstStyle/>
          <a:p>
            <a:r>
              <a:rPr lang="en-AU" b="1" dirty="0"/>
              <a:t>The Theory Says...</a:t>
            </a:r>
          </a:p>
          <a:p>
            <a:r>
              <a:rPr lang="en-AU" b="1" dirty="0"/>
              <a:t>Sample Space</a:t>
            </a:r>
          </a:p>
          <a:p>
            <a:r>
              <a:rPr lang="en-AU" dirty="0"/>
              <a:t>The sample space, sometimes called and </a:t>
            </a:r>
            <a:r>
              <a:rPr lang="en-AU" i="1" dirty="0"/>
              <a:t>event space</a:t>
            </a:r>
            <a:r>
              <a:rPr lang="en-AU" dirty="0"/>
              <a:t>,  is a listing of all the possible outcomes that could arise from an experiment. </a:t>
            </a:r>
          </a:p>
          <a:p>
            <a:r>
              <a:rPr lang="en-AU" dirty="0"/>
              <a:t>For example</a:t>
            </a:r>
          </a:p>
          <a:p>
            <a:pPr marL="285750" lvl="0" indent="-285750">
              <a:buFont typeface="Arial" pitchFamily="34" charset="0"/>
              <a:buChar char="•"/>
            </a:pPr>
            <a:r>
              <a:rPr lang="en-AU" dirty="0"/>
              <a:t>tossing a coin would have a sample space of {Head, Tail}, or {H,T}</a:t>
            </a:r>
          </a:p>
          <a:p>
            <a:pPr marL="285750" lvl="0" indent="-285750">
              <a:buFont typeface="Arial" pitchFamily="34" charset="0"/>
              <a:buChar char="•"/>
            </a:pPr>
            <a:r>
              <a:rPr lang="en-AU" dirty="0"/>
              <a:t>rolling a dice would have a sample space of {1,2,3,4,5,6}</a:t>
            </a:r>
          </a:p>
          <a:p>
            <a:pPr marL="285750" lvl="0" indent="-285750">
              <a:buFont typeface="Arial" pitchFamily="34" charset="0"/>
              <a:buChar char="•"/>
            </a:pPr>
            <a:r>
              <a:rPr lang="en-AU" dirty="0"/>
              <a:t>watching the weather could have a sample space of {sunny, cloudy, rainy} or {hot, cold}</a:t>
            </a:r>
          </a:p>
          <a:p>
            <a:pPr marL="285750" lvl="0" indent="-285750">
              <a:buFont typeface="Arial" pitchFamily="34" charset="0"/>
              <a:buChar char="•"/>
            </a:pPr>
            <a:r>
              <a:rPr lang="en-AU" dirty="0"/>
              <a:t>asking questions in a survey of favourite seasons could have a sample space of {Summer, Autumn, Winter, Spring}</a:t>
            </a:r>
          </a:p>
          <a:p>
            <a:r>
              <a:rPr lang="en-AU" dirty="0"/>
              <a:t>Did you also notice how I listed the sample space?  Using curly brackets { }.</a:t>
            </a:r>
          </a:p>
        </p:txBody>
      </p:sp>
    </p:spTree>
    <p:extLst>
      <p:ext uri="{BB962C8B-B14F-4D97-AF65-F5344CB8AC3E}">
        <p14:creationId xmlns:p14="http://schemas.microsoft.com/office/powerpoint/2010/main" val="32317840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7</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147565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469861" cy="523220"/>
          </a:xfrm>
          <a:prstGeom prst="rect">
            <a:avLst/>
          </a:prstGeom>
          <a:noFill/>
        </p:spPr>
        <p:txBody>
          <a:bodyPr wrap="none" rtlCol="0">
            <a:spAutoFit/>
          </a:bodyPr>
          <a:lstStyle/>
          <a:p>
            <a:r>
              <a:rPr lang="en-AU" sz="2800" dirty="0" smtClean="0"/>
              <a:t>Theoretical Probability</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How </a:t>
            </a:r>
            <a:r>
              <a:rPr lang="en-AU" sz="2400" dirty="0" smtClean="0"/>
              <a:t>do I work out probabilities Theoretically? </a:t>
            </a:r>
            <a:endParaRPr lang="en-AU" sz="2400" dirty="0"/>
          </a:p>
        </p:txBody>
      </p:sp>
      <p:sp>
        <p:nvSpPr>
          <p:cNvPr id="3" name="Rectangle 2"/>
          <p:cNvSpPr/>
          <p:nvPr/>
        </p:nvSpPr>
        <p:spPr>
          <a:xfrm>
            <a:off x="1547662" y="2276872"/>
            <a:ext cx="7475687" cy="3693319"/>
          </a:xfrm>
          <a:prstGeom prst="rect">
            <a:avLst/>
          </a:prstGeom>
        </p:spPr>
        <p:txBody>
          <a:bodyPr wrap="square">
            <a:spAutoFit/>
          </a:bodyPr>
          <a:lstStyle/>
          <a:p>
            <a:r>
              <a:rPr lang="en-AU" b="1" dirty="0"/>
              <a:t>Event</a:t>
            </a:r>
          </a:p>
          <a:p>
            <a:r>
              <a:rPr lang="en-AU" dirty="0"/>
              <a:t>An event is the word used to describe a single result from within the sample space.  It helps us to identify which of the sample space outcomes we might be interested in.  </a:t>
            </a:r>
          </a:p>
          <a:p>
            <a:r>
              <a:rPr lang="en-AU" dirty="0"/>
              <a:t>For example, these are all events.</a:t>
            </a:r>
          </a:p>
          <a:p>
            <a:pPr marL="285750" lvl="0" indent="-285750">
              <a:buFont typeface="Arial" pitchFamily="34" charset="0"/>
              <a:buChar char="•"/>
            </a:pPr>
            <a:r>
              <a:rPr lang="en-AU" dirty="0"/>
              <a:t>Getting a tail when a coin is tossed.  </a:t>
            </a:r>
          </a:p>
          <a:p>
            <a:pPr marL="285750" lvl="0" indent="-285750">
              <a:buFont typeface="Arial" pitchFamily="34" charset="0"/>
              <a:buChar char="•"/>
            </a:pPr>
            <a:r>
              <a:rPr lang="en-AU" dirty="0"/>
              <a:t>Rolling more than 3 when a dice is rolled</a:t>
            </a:r>
          </a:p>
          <a:p>
            <a:pPr marL="285750" lvl="0" indent="-285750">
              <a:buFont typeface="Arial" pitchFamily="34" charset="0"/>
              <a:buChar char="•"/>
            </a:pPr>
            <a:r>
              <a:rPr lang="en-AU" dirty="0"/>
              <a:t>Getting an ACE when a card is pulled from a deck </a:t>
            </a:r>
          </a:p>
          <a:p>
            <a:r>
              <a:rPr lang="en-AU" dirty="0"/>
              <a:t>We use the notation, P(event) to describe the probability of particular events.  </a:t>
            </a:r>
          </a:p>
          <a:p>
            <a:r>
              <a:rPr lang="en-AU" dirty="0"/>
              <a:t>Adding up how many times an event occurred during an experiment gives us the </a:t>
            </a:r>
            <a:r>
              <a:rPr lang="en-AU" b="1" dirty="0"/>
              <a:t>frequency </a:t>
            </a:r>
            <a:r>
              <a:rPr lang="en-AU" dirty="0"/>
              <a:t>of that event.  </a:t>
            </a:r>
          </a:p>
          <a:p>
            <a:r>
              <a:rPr lang="en-AU" dirty="0"/>
              <a:t>The </a:t>
            </a:r>
            <a:r>
              <a:rPr lang="en-AU" b="1" dirty="0"/>
              <a:t>relative frequency</a:t>
            </a:r>
            <a:r>
              <a:rPr lang="en-AU" dirty="0"/>
              <a:t> is how often the event occurs compared to all possible events and is also known as the </a:t>
            </a:r>
            <a:r>
              <a:rPr lang="en-AU" b="1" dirty="0"/>
              <a:t>probability of that event occurring</a:t>
            </a:r>
            <a:r>
              <a:rPr lang="en-AU" dirty="0"/>
              <a:t>.</a:t>
            </a:r>
          </a:p>
        </p:txBody>
      </p:sp>
    </p:spTree>
    <p:extLst>
      <p:ext uri="{BB962C8B-B14F-4D97-AF65-F5344CB8AC3E}">
        <p14:creationId xmlns:p14="http://schemas.microsoft.com/office/powerpoint/2010/main" val="29169566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7</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147565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469861" cy="523220"/>
          </a:xfrm>
          <a:prstGeom prst="rect">
            <a:avLst/>
          </a:prstGeom>
          <a:noFill/>
        </p:spPr>
        <p:txBody>
          <a:bodyPr wrap="none" rtlCol="0">
            <a:spAutoFit/>
          </a:bodyPr>
          <a:lstStyle/>
          <a:p>
            <a:r>
              <a:rPr lang="en-AU" sz="2800" dirty="0" smtClean="0"/>
              <a:t>Theoretical Probability</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How </a:t>
            </a:r>
            <a:r>
              <a:rPr lang="en-AU" sz="2400" dirty="0" smtClean="0"/>
              <a:t>do I work out probabilities Theoretically? </a:t>
            </a:r>
            <a:endParaRPr lang="en-AU" sz="2400" dirty="0"/>
          </a:p>
        </p:txBody>
      </p:sp>
      <mc:AlternateContent xmlns:mc="http://schemas.openxmlformats.org/markup-compatibility/2006">
        <mc:Choice xmlns:a14="http://schemas.microsoft.com/office/drawing/2010/main" Requires="a14">
          <p:sp>
            <p:nvSpPr>
              <p:cNvPr id="3" name="Rectangle 2"/>
              <p:cNvSpPr>
                <a:spLocks noChangeArrowheads="1"/>
              </p:cNvSpPr>
              <p:nvPr/>
            </p:nvSpPr>
            <p:spPr bwMode="auto">
              <a:xfrm>
                <a:off x="1748923" y="1594718"/>
                <a:ext cx="6840761" cy="5122355"/>
              </a:xfrm>
              <a:prstGeom prst="rect">
                <a:avLst/>
              </a:prstGeom>
              <a:solidFill>
                <a:srgbClr val="FFFFFF"/>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228528"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900" b="1" i="0" u="none" strike="noStrike" cap="none" normalizeH="0" baseline="0" dirty="0" smtClean="0">
                    <a:ln>
                      <a:noFill/>
                    </a:ln>
                    <a:solidFill>
                      <a:srgbClr val="444444"/>
                    </a:solidFill>
                    <a:effectLst/>
                    <a:latin typeface="Calibri" pitchFamily="34" charset="0"/>
                    <a:ea typeface="Times New Roman" pitchFamily="18" charset="0"/>
                    <a:cs typeface="Calibri" pitchFamily="34" charset="0"/>
                  </a:rPr>
                  <a:t>Probability Values</a:t>
                </a:r>
                <a:endParaRPr kumimoji="0" lang="en-AU" sz="1900" b="1" i="0" u="none" strike="noStrike" cap="none" normalizeH="0" baseline="0" dirty="0" smtClean="0">
                  <a:ln>
                    <a:noFill/>
                  </a:ln>
                  <a:solidFill>
                    <a:schemeClr val="tx1"/>
                  </a:solidFill>
                  <a:effectLst/>
                  <a:latin typeface="Museo Sans"/>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444444"/>
                    </a:solidFill>
                    <a:effectLst/>
                    <a:ea typeface="Times New Roman" pitchFamily="18" charset="0"/>
                    <a:cs typeface="Calibri" pitchFamily="34" charset="0"/>
                  </a:rPr>
                  <a:t>The probability values that events can take on range between 0 (impossible) and 1 (certain).</a:t>
                </a: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smtClean="0">
                  <a:solidFill>
                    <a:srgbClr val="444444"/>
                  </a:solidFill>
                  <a:ea typeface="Times New Roman" pitchFamily="18" charset="0"/>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solidFill>
                    <a:srgbClr val="444444"/>
                  </a:solidFill>
                  <a:ea typeface="Times New Roman" pitchFamily="18" charset="0"/>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smtClean="0">
                  <a:solidFill>
                    <a:srgbClr val="444444"/>
                  </a:solidFill>
                  <a:ea typeface="Times New Roman" pitchFamily="18" charset="0"/>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solidFill>
                    <a:srgbClr val="444444"/>
                  </a:solidFill>
                  <a:ea typeface="Times New Roman" pitchFamily="18" charset="0"/>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solidFill>
                    <a:srgbClr val="444444"/>
                  </a:solidFill>
                  <a:ea typeface="Times New Roman" pitchFamily="18" charset="0"/>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rgbClr val="444444"/>
                  </a:solidFill>
                  <a:effectLst/>
                  <a:ea typeface="Times New Roman" pitchFamily="18" charset="0"/>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solidFill>
                    <a:srgbClr val="444444"/>
                  </a:solidFill>
                  <a:ea typeface="Times New Roman" pitchFamily="18" charset="0"/>
                  <a:cs typeface="Calibri" pitchFamily="34" charset="0"/>
                </a:endParaRPr>
              </a:p>
              <a:p>
                <a:r>
                  <a:rPr lang="en-AU" sz="2000" dirty="0" err="1"/>
                  <a:t>Calculatingprobabilities</a:t>
                </a:r>
                <a:endParaRPr lang="en-AU" sz="2000" dirty="0"/>
              </a:p>
              <a:p>
                <a:r>
                  <a:rPr lang="en-AU" sz="2000" dirty="0"/>
                  <a:t>We can calculate probabilities by constructing a fraction like this </a:t>
                </a:r>
                <a14:m>
                  <m:oMath xmlns:m="http://schemas.openxmlformats.org/officeDocument/2006/math">
                    <m:f>
                      <m:fPr>
                        <m:ctrlPr>
                          <a:rPr lang="en-AU" sz="2000" i="1"/>
                        </m:ctrlPr>
                      </m:fPr>
                      <m:num>
                        <m:r>
                          <m:rPr>
                            <m:sty m:val="p"/>
                          </m:rPr>
                          <a:rPr lang="en-AU" sz="2000"/>
                          <m:t>what</m:t>
                        </m:r>
                        <m:r>
                          <a:rPr lang="en-AU" sz="2000"/>
                          <m:t> </m:t>
                        </m:r>
                        <m:r>
                          <m:rPr>
                            <m:sty m:val="p"/>
                          </m:rPr>
                          <a:rPr lang="en-AU" sz="2000"/>
                          <m:t>you</m:t>
                        </m:r>
                        <m:r>
                          <a:rPr lang="en-AU" sz="2000"/>
                          <m:t> </m:t>
                        </m:r>
                        <m:r>
                          <m:rPr>
                            <m:sty m:val="p"/>
                          </m:rPr>
                          <a:rPr lang="en-AU" sz="2000"/>
                          <m:t>want</m:t>
                        </m:r>
                      </m:num>
                      <m:den>
                        <m:r>
                          <a:rPr lang="en-AU" sz="2000" i="1"/>
                          <m:t>𝑡𝑜𝑡𝑎𝑙</m:t>
                        </m:r>
                      </m:den>
                    </m:f>
                  </m:oMath>
                </a14:m>
                <a:r>
                  <a:rPr lang="en-AU" sz="2000" dirty="0"/>
                  <a:t> which we write more formally as</a:t>
                </a:r>
              </a:p>
              <a:p>
                <a:r>
                  <a:rPr lang="en-AU" sz="2000" dirty="0"/>
                  <a:t>P(event) </a:t>
                </a:r>
                <a14:m>
                  <m:oMath xmlns:m="http://schemas.openxmlformats.org/officeDocument/2006/math">
                    <m:r>
                      <a:rPr lang="en-AU" sz="2000" i="1"/>
                      <m:t>=</m:t>
                    </m:r>
                    <m:f>
                      <m:fPr>
                        <m:ctrlPr>
                          <a:rPr lang="en-AU" sz="2000" i="1"/>
                        </m:ctrlPr>
                      </m:fPr>
                      <m:num>
                        <m:r>
                          <m:rPr>
                            <m:sty m:val="p"/>
                          </m:rPr>
                          <a:rPr lang="en-AU" sz="2000"/>
                          <m:t>total</m:t>
                        </m:r>
                        <m:r>
                          <a:rPr lang="en-AU" sz="2000"/>
                          <m:t> </m:t>
                        </m:r>
                        <m:r>
                          <m:rPr>
                            <m:sty m:val="p"/>
                          </m:rPr>
                          <a:rPr lang="en-AU" sz="2000"/>
                          <m:t>favourable</m:t>
                        </m:r>
                        <m:r>
                          <a:rPr lang="en-AU" sz="2000"/>
                          <m:t> </m:t>
                        </m:r>
                        <m:r>
                          <m:rPr>
                            <m:sty m:val="p"/>
                          </m:rPr>
                          <a:rPr lang="en-AU" sz="2000"/>
                          <m:t>outcomes</m:t>
                        </m:r>
                        <m:r>
                          <a:rPr lang="en-AU" sz="2000"/>
                          <m:t> </m:t>
                        </m:r>
                      </m:num>
                      <m:den>
                        <m:r>
                          <m:rPr>
                            <m:sty m:val="p"/>
                          </m:rPr>
                          <a:rPr lang="en-AU" sz="2000"/>
                          <m:t>total</m:t>
                        </m:r>
                        <m:r>
                          <a:rPr lang="en-AU" sz="2000"/>
                          <m:t> </m:t>
                        </m:r>
                        <m:r>
                          <m:rPr>
                            <m:sty m:val="p"/>
                          </m:rPr>
                          <a:rPr lang="en-AU" sz="2000"/>
                          <m:t>possible</m:t>
                        </m:r>
                        <m:r>
                          <a:rPr lang="en-AU" sz="2000"/>
                          <m:t> </m:t>
                        </m:r>
                        <m:r>
                          <m:rPr>
                            <m:sty m:val="p"/>
                          </m:rPr>
                          <a:rPr lang="en-AU" sz="2000"/>
                          <m:t>outcomes</m:t>
                        </m:r>
                        <m:r>
                          <a:rPr lang="en-AU" sz="2000"/>
                          <m:t> </m:t>
                        </m:r>
                      </m:den>
                    </m:f>
                  </m:oMath>
                </a14:m>
                <a:r>
                  <a:rPr lang="en-AU" sz="2000" dirty="0"/>
                  <a:t> </a:t>
                </a:r>
                <a:endParaRPr kumimoji="0" lang="en-AU" sz="2000" b="0" i="0" u="none" strike="noStrike" cap="none" normalizeH="0" baseline="0" dirty="0" smtClean="0">
                  <a:ln>
                    <a:noFill/>
                  </a:ln>
                  <a:solidFill>
                    <a:schemeClr val="tx1"/>
                  </a:solidFill>
                  <a:effectLst/>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1800" b="0" i="0" u="none" strike="noStrike" cap="none" normalizeH="0" baseline="0" dirty="0" smtClean="0">
                  <a:ln>
                    <a:noFill/>
                  </a:ln>
                  <a:solidFill>
                    <a:schemeClr val="tx1"/>
                  </a:solidFill>
                  <a:effectLst/>
                  <a:latin typeface="Arial" pitchFamily="34" charset="0"/>
                  <a:cs typeface="Arial" pitchFamily="34" charset="0"/>
                </a:endParaRPr>
              </a:p>
            </p:txBody>
          </p:sp>
        </mc:Choice>
        <mc:Fallback>
          <p:sp>
            <p:nvSpPr>
              <p:cNvPr id="3" name="Rectangle 2"/>
              <p:cNvSpPr>
                <a:spLocks noRot="1" noChangeAspect="1" noMove="1" noResize="1" noEditPoints="1" noAdjustHandles="1" noChangeArrowheads="1" noChangeShapeType="1" noTextEdit="1"/>
              </p:cNvSpPr>
              <p:nvPr/>
            </p:nvSpPr>
            <p:spPr bwMode="auto">
              <a:xfrm>
                <a:off x="1748923" y="1594718"/>
                <a:ext cx="6840761" cy="5122355"/>
              </a:xfrm>
              <a:prstGeom prst="rect">
                <a:avLst/>
              </a:prstGeom>
              <a:blipFill rotWithShape="1">
                <a:blip r:embed="rId2"/>
                <a:stretch>
                  <a:fillRect l="-980" r="-980"/>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pic>
        <p:nvPicPr>
          <p:cNvPr id="1025" name="Picture 2" descr="Description: https://mathspace-production-media.mathspace.co/media/upload/images/001_Chapter_Entries/Probability/probability-continuu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802606"/>
            <a:ext cx="5695950" cy="180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56835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7</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147565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469861" cy="523220"/>
          </a:xfrm>
          <a:prstGeom prst="rect">
            <a:avLst/>
          </a:prstGeom>
          <a:noFill/>
        </p:spPr>
        <p:txBody>
          <a:bodyPr wrap="none" rtlCol="0">
            <a:spAutoFit/>
          </a:bodyPr>
          <a:lstStyle/>
          <a:p>
            <a:r>
              <a:rPr lang="en-AU" sz="2800" dirty="0" smtClean="0"/>
              <a:t>Theoretical Probability</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How </a:t>
            </a:r>
            <a:r>
              <a:rPr lang="en-AU" sz="2400" dirty="0" smtClean="0"/>
              <a:t>do I work out probabilities Theoretically? </a:t>
            </a:r>
            <a:endParaRPr lang="en-AU" sz="2400" dirty="0"/>
          </a:p>
        </p:txBody>
      </p:sp>
      <p:sp>
        <p:nvSpPr>
          <p:cNvPr id="3" name="Rectangle 2"/>
          <p:cNvSpPr/>
          <p:nvPr/>
        </p:nvSpPr>
        <p:spPr>
          <a:xfrm>
            <a:off x="1548347" y="2060848"/>
            <a:ext cx="7344816" cy="2031325"/>
          </a:xfrm>
          <a:prstGeom prst="rect">
            <a:avLst/>
          </a:prstGeom>
        </p:spPr>
        <p:txBody>
          <a:bodyPr wrap="square">
            <a:spAutoFit/>
          </a:bodyPr>
          <a:lstStyle/>
          <a:p>
            <a:r>
              <a:rPr lang="en-AU" b="1" dirty="0"/>
              <a:t>Other Ways to Calculate Probabilities</a:t>
            </a:r>
            <a:endParaRPr lang="en-AU" dirty="0"/>
          </a:p>
          <a:p>
            <a:r>
              <a:rPr lang="en-AU" dirty="0"/>
              <a:t>As we are beginning to see, probabilities occur in a wide variety of situations and we can visualise them through a wide variety of diagrams and tables. </a:t>
            </a:r>
          </a:p>
          <a:p>
            <a:r>
              <a:rPr lang="en-AU" dirty="0"/>
              <a:t>Probabilities are also used in statistical analysis, usually as a way of predicting what might happen in the future based on past events that have been researched and recorded.  </a:t>
            </a:r>
          </a:p>
          <a:p>
            <a:r>
              <a:rPr lang="en-AU" b="1" dirty="0"/>
              <a:t>Obtaining probabilities from frequency tables</a:t>
            </a:r>
            <a:endParaRPr lang="en-AU" dirty="0"/>
          </a:p>
        </p:txBody>
      </p:sp>
      <p:pic>
        <p:nvPicPr>
          <p:cNvPr id="13" name="Picture 12" descr="https://mathspace-production-media.mathspace.co/media/upload/images/001_Chapter_Entries/Probability/table1.png"/>
          <p:cNvPicPr/>
          <p:nvPr/>
        </p:nvPicPr>
        <p:blipFill>
          <a:blip r:embed="rId2">
            <a:extLst>
              <a:ext uri="{28A0092B-C50C-407E-A947-70E740481C1C}">
                <a14:useLocalDpi xmlns:a14="http://schemas.microsoft.com/office/drawing/2010/main" val="0"/>
              </a:ext>
            </a:extLst>
          </a:blip>
          <a:srcRect/>
          <a:stretch>
            <a:fillRect/>
          </a:stretch>
        </p:blipFill>
        <p:spPr bwMode="auto">
          <a:xfrm>
            <a:off x="2846293" y="4293096"/>
            <a:ext cx="3093859" cy="2016224"/>
          </a:xfrm>
          <a:prstGeom prst="rect">
            <a:avLst/>
          </a:prstGeom>
          <a:noFill/>
          <a:ln>
            <a:noFill/>
          </a:ln>
        </p:spPr>
      </p:pic>
    </p:spTree>
    <p:extLst>
      <p:ext uri="{BB962C8B-B14F-4D97-AF65-F5344CB8AC3E}">
        <p14:creationId xmlns:p14="http://schemas.microsoft.com/office/powerpoint/2010/main" val="8241232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7</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sp>
        <p:nvSpPr>
          <p:cNvPr id="10" name="TextBox 9"/>
          <p:cNvSpPr txBox="1"/>
          <p:nvPr/>
        </p:nvSpPr>
        <p:spPr>
          <a:xfrm>
            <a:off x="1115616" y="404664"/>
            <a:ext cx="3469861" cy="523220"/>
          </a:xfrm>
          <a:prstGeom prst="rect">
            <a:avLst/>
          </a:prstGeom>
          <a:noFill/>
        </p:spPr>
        <p:txBody>
          <a:bodyPr wrap="none" rtlCol="0">
            <a:spAutoFit/>
          </a:bodyPr>
          <a:lstStyle/>
          <a:p>
            <a:r>
              <a:rPr lang="en-AU" sz="2800" dirty="0" smtClean="0"/>
              <a:t>Theoretical Probability</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78502"/>
            <a:ext cx="8620422" cy="461665"/>
          </a:xfrm>
          <a:prstGeom prst="rect">
            <a:avLst/>
          </a:prstGeom>
          <a:noFill/>
        </p:spPr>
        <p:txBody>
          <a:bodyPr wrap="square" rtlCol="0">
            <a:spAutoFit/>
          </a:bodyPr>
          <a:lstStyle/>
          <a:p>
            <a:r>
              <a:rPr lang="en-AU" sz="2400" dirty="0" smtClean="0"/>
              <a:t>EQ – How </a:t>
            </a:r>
            <a:r>
              <a:rPr lang="en-AU" sz="2400" dirty="0" smtClean="0"/>
              <a:t>do I work out probabilities Theoretically? </a:t>
            </a:r>
            <a:endParaRPr lang="en-AU" sz="2400" dirty="0"/>
          </a:p>
        </p:txBody>
      </p:sp>
      <mc:AlternateContent xmlns:mc="http://schemas.openxmlformats.org/markup-compatibility/2006">
        <mc:Choice xmlns:a14="http://schemas.microsoft.com/office/drawing/2010/main" Requires="a14">
          <p:sp>
            <p:nvSpPr>
              <p:cNvPr id="3" name="Rectangle 2"/>
              <p:cNvSpPr/>
              <p:nvPr/>
            </p:nvSpPr>
            <p:spPr>
              <a:xfrm>
                <a:off x="195551" y="2083423"/>
                <a:ext cx="8779851" cy="4687373"/>
              </a:xfrm>
              <a:prstGeom prst="rect">
                <a:avLst/>
              </a:prstGeom>
            </p:spPr>
            <p:txBody>
              <a:bodyPr wrap="square">
                <a:spAutoFit/>
              </a:bodyPr>
              <a:lstStyle/>
              <a:p>
                <a:r>
                  <a:rPr lang="en-AU" dirty="0"/>
                  <a:t>Our rule for probability is   P(event) </a:t>
                </a:r>
                <a14:m>
                  <m:oMath xmlns:m="http://schemas.openxmlformats.org/officeDocument/2006/math">
                    <m:r>
                      <a:rPr lang="en-AU" sz="2000" i="1"/>
                      <m:t>=</m:t>
                    </m:r>
                    <m:f>
                      <m:fPr>
                        <m:ctrlPr>
                          <a:rPr lang="en-AU" sz="2000" i="1"/>
                        </m:ctrlPr>
                      </m:fPr>
                      <m:num>
                        <m:r>
                          <m:rPr>
                            <m:sty m:val="p"/>
                          </m:rPr>
                          <a:rPr lang="en-AU" sz="2000"/>
                          <m:t>total</m:t>
                        </m:r>
                        <m:r>
                          <a:rPr lang="en-AU" sz="2000"/>
                          <m:t> </m:t>
                        </m:r>
                        <m:r>
                          <m:rPr>
                            <m:sty m:val="p"/>
                          </m:rPr>
                          <a:rPr lang="en-AU" sz="2000"/>
                          <m:t>favourable</m:t>
                        </m:r>
                        <m:r>
                          <a:rPr lang="en-AU" sz="2000"/>
                          <m:t> </m:t>
                        </m:r>
                        <m:r>
                          <m:rPr>
                            <m:sty m:val="p"/>
                          </m:rPr>
                          <a:rPr lang="en-AU" sz="2000"/>
                          <m:t>outcomes</m:t>
                        </m:r>
                        <m:r>
                          <a:rPr lang="en-AU" sz="2000"/>
                          <m:t> </m:t>
                        </m:r>
                      </m:num>
                      <m:den>
                        <m:r>
                          <m:rPr>
                            <m:sty m:val="p"/>
                          </m:rPr>
                          <a:rPr lang="en-AU" sz="2000"/>
                          <m:t>total</m:t>
                        </m:r>
                        <m:r>
                          <a:rPr lang="en-AU" sz="2000"/>
                          <m:t> </m:t>
                        </m:r>
                        <m:r>
                          <m:rPr>
                            <m:sty m:val="p"/>
                          </m:rPr>
                          <a:rPr lang="en-AU" sz="2000"/>
                          <m:t>possible</m:t>
                        </m:r>
                        <m:r>
                          <a:rPr lang="en-AU" sz="2000"/>
                          <m:t> </m:t>
                        </m:r>
                        <m:r>
                          <m:rPr>
                            <m:sty m:val="p"/>
                          </m:rPr>
                          <a:rPr lang="en-AU" sz="2000"/>
                          <m:t>outcomes</m:t>
                        </m:r>
                        <m:r>
                          <a:rPr lang="en-AU" sz="2000"/>
                          <m:t> </m:t>
                        </m:r>
                      </m:den>
                    </m:f>
                  </m:oMath>
                </a14:m>
                <a:r>
                  <a:rPr lang="en-AU" sz="2000" dirty="0"/>
                  <a:t>  </a:t>
                </a:r>
              </a:p>
              <a:p>
                <a:r>
                  <a:rPr lang="en-AU" dirty="0"/>
                  <a:t>For example, the jump lengths of Long Jumpers in an athletics competition resulted in this data, we might then be interested in what the probability is that someone jumps more than 119cm. </a:t>
                </a:r>
              </a:p>
              <a:p>
                <a:r>
                  <a:rPr lang="en-AU" dirty="0"/>
                  <a:t>This will result in: total favourable = 8+4+1=13 and total possible is 31</a:t>
                </a:r>
              </a:p>
              <a:p>
                <a14:m>
                  <m:oMathPara xmlns:m="http://schemas.openxmlformats.org/officeDocument/2006/math">
                    <m:oMathParaPr>
                      <m:jc m:val="centerGroup"/>
                    </m:oMathParaPr>
                    <m:oMath xmlns:m="http://schemas.openxmlformats.org/officeDocument/2006/math">
                      <m:f>
                        <m:fPr>
                          <m:ctrlPr>
                            <a:rPr lang="en-AU" i="1"/>
                          </m:ctrlPr>
                        </m:fPr>
                        <m:num>
                          <m:r>
                            <m:rPr>
                              <m:sty m:val="p"/>
                            </m:rPr>
                            <a:rPr lang="en-AU"/>
                            <m:t>total</m:t>
                          </m:r>
                          <m:r>
                            <a:rPr lang="en-AU"/>
                            <m:t> </m:t>
                          </m:r>
                          <m:r>
                            <m:rPr>
                              <m:sty m:val="p"/>
                            </m:rPr>
                            <a:rPr lang="en-AU"/>
                            <m:t>favourable</m:t>
                          </m:r>
                          <m:r>
                            <a:rPr lang="en-AU"/>
                            <m:t> </m:t>
                          </m:r>
                          <m:r>
                            <m:rPr>
                              <m:sty m:val="p"/>
                            </m:rPr>
                            <a:rPr lang="en-AU"/>
                            <m:t>outcomes</m:t>
                          </m:r>
                          <m:r>
                            <a:rPr lang="en-AU"/>
                            <m:t> </m:t>
                          </m:r>
                        </m:num>
                        <m:den>
                          <m:r>
                            <m:rPr>
                              <m:sty m:val="p"/>
                            </m:rPr>
                            <a:rPr lang="en-AU"/>
                            <m:t>total</m:t>
                          </m:r>
                          <m:r>
                            <a:rPr lang="en-AU"/>
                            <m:t> </m:t>
                          </m:r>
                          <m:r>
                            <m:rPr>
                              <m:sty m:val="p"/>
                            </m:rPr>
                            <a:rPr lang="en-AU"/>
                            <m:t>possible</m:t>
                          </m:r>
                          <m:r>
                            <a:rPr lang="en-AU"/>
                            <m:t> </m:t>
                          </m:r>
                          <m:r>
                            <m:rPr>
                              <m:sty m:val="p"/>
                            </m:rPr>
                            <a:rPr lang="en-AU"/>
                            <m:t>outcomes</m:t>
                          </m:r>
                          <m:r>
                            <a:rPr lang="en-AU"/>
                            <m:t> </m:t>
                          </m:r>
                        </m:den>
                      </m:f>
                      <m:r>
                        <a:rPr lang="en-AU" i="1"/>
                        <m:t>=</m:t>
                      </m:r>
                      <m:f>
                        <m:fPr>
                          <m:ctrlPr>
                            <a:rPr lang="en-AU" i="1"/>
                          </m:ctrlPr>
                        </m:fPr>
                        <m:num>
                          <m:r>
                            <a:rPr lang="en-AU" i="1"/>
                            <m:t>13</m:t>
                          </m:r>
                        </m:num>
                        <m:den>
                          <m:r>
                            <a:rPr lang="en-AU" i="1"/>
                            <m:t>31</m:t>
                          </m:r>
                        </m:den>
                      </m:f>
                      <m:r>
                        <a:rPr lang="en-AU" i="1"/>
                        <m:t>=42%</m:t>
                      </m:r>
                    </m:oMath>
                  </m:oMathPara>
                </a14:m>
                <a:endParaRPr lang="en-AU" dirty="0"/>
              </a:p>
              <a:p>
                <a:r>
                  <a:rPr lang="en-AU" dirty="0"/>
                  <a:t> </a:t>
                </a:r>
              </a:p>
              <a:p>
                <a:r>
                  <a:rPr lang="en-AU" dirty="0"/>
                  <a:t>We can use frequency tables quite easily to answer a range of questions with regards to probabilities. </a:t>
                </a:r>
              </a:p>
              <a:p>
                <a:r>
                  <a:rPr lang="en-AU" dirty="0"/>
                  <a:t>Remember!</a:t>
                </a:r>
              </a:p>
              <a:p>
                <a:r>
                  <a:rPr lang="en-AU" dirty="0"/>
                  <a:t>Our rule for probability is   P(event) </a:t>
                </a:r>
                <a14:m>
                  <m:oMath xmlns:m="http://schemas.openxmlformats.org/officeDocument/2006/math">
                    <m:r>
                      <a:rPr lang="en-AU" sz="2000" i="1"/>
                      <m:t>=</m:t>
                    </m:r>
                    <m:f>
                      <m:fPr>
                        <m:ctrlPr>
                          <a:rPr lang="en-AU" sz="2000" i="1"/>
                        </m:ctrlPr>
                      </m:fPr>
                      <m:num>
                        <m:r>
                          <m:rPr>
                            <m:sty m:val="p"/>
                          </m:rPr>
                          <a:rPr lang="en-AU" sz="2000"/>
                          <m:t>total</m:t>
                        </m:r>
                        <m:r>
                          <a:rPr lang="en-AU" sz="2000"/>
                          <m:t> </m:t>
                        </m:r>
                        <m:r>
                          <m:rPr>
                            <m:sty m:val="p"/>
                          </m:rPr>
                          <a:rPr lang="en-AU" sz="2000"/>
                          <m:t>favourable</m:t>
                        </m:r>
                        <m:r>
                          <a:rPr lang="en-AU" sz="2000"/>
                          <m:t> </m:t>
                        </m:r>
                        <m:r>
                          <m:rPr>
                            <m:sty m:val="p"/>
                          </m:rPr>
                          <a:rPr lang="en-AU" sz="2000"/>
                          <m:t>outcomes</m:t>
                        </m:r>
                        <m:r>
                          <a:rPr lang="en-AU" sz="2000"/>
                          <m:t> </m:t>
                        </m:r>
                      </m:num>
                      <m:den>
                        <m:r>
                          <m:rPr>
                            <m:sty m:val="p"/>
                          </m:rPr>
                          <a:rPr lang="en-AU" sz="2000"/>
                          <m:t>total</m:t>
                        </m:r>
                        <m:r>
                          <a:rPr lang="en-AU" sz="2000"/>
                          <m:t> </m:t>
                        </m:r>
                        <m:r>
                          <m:rPr>
                            <m:sty m:val="p"/>
                          </m:rPr>
                          <a:rPr lang="en-AU" sz="2000"/>
                          <m:t>possible</m:t>
                        </m:r>
                        <m:r>
                          <a:rPr lang="en-AU" sz="2000"/>
                          <m:t> </m:t>
                        </m:r>
                        <m:r>
                          <m:rPr>
                            <m:sty m:val="p"/>
                          </m:rPr>
                          <a:rPr lang="en-AU" sz="2000"/>
                          <m:t>outcomes</m:t>
                        </m:r>
                        <m:r>
                          <a:rPr lang="en-AU" sz="2000"/>
                          <m:t> </m:t>
                        </m:r>
                      </m:den>
                    </m:f>
                  </m:oMath>
                </a14:m>
                <a:r>
                  <a:rPr lang="en-AU" sz="2000" dirty="0"/>
                  <a:t>  </a:t>
                </a:r>
              </a:p>
              <a:p>
                <a:r>
                  <a:rPr lang="en-AU" dirty="0"/>
                  <a:t>Be careful of the language more than, less than, at least or at most.  They are subtly different. For example for numbers from 1 to 10, the set {at least 4} contains elements {4,5,6,7,8,9,10} but the set {more than 4} contains the elements {5,6,7,8,9,10}.  </a:t>
                </a:r>
              </a:p>
            </p:txBody>
          </p:sp>
        </mc:Choice>
        <mc:Fallback>
          <p:sp>
            <p:nvSpPr>
              <p:cNvPr id="3" name="Rectangle 2"/>
              <p:cNvSpPr>
                <a:spLocks noRot="1" noChangeAspect="1" noMove="1" noResize="1" noEditPoints="1" noAdjustHandles="1" noChangeArrowheads="1" noChangeShapeType="1" noTextEdit="1"/>
              </p:cNvSpPr>
              <p:nvPr/>
            </p:nvSpPr>
            <p:spPr>
              <a:xfrm>
                <a:off x="195551" y="2083423"/>
                <a:ext cx="8779851" cy="4687373"/>
              </a:xfrm>
              <a:prstGeom prst="rect">
                <a:avLst/>
              </a:prstGeom>
              <a:blipFill rotWithShape="1">
                <a:blip r:embed="rId2"/>
                <a:stretch>
                  <a:fillRect l="-556" r="-208" b="-1170"/>
                </a:stretch>
              </a:blipFill>
            </p:spPr>
            <p:txBody>
              <a:bodyPr/>
              <a:lstStyle/>
              <a:p>
                <a:r>
                  <a:rPr lang="en-AU">
                    <a:noFill/>
                  </a:rPr>
                  <a:t> </a:t>
                </a:r>
              </a:p>
            </p:txBody>
          </p:sp>
        </mc:Fallback>
      </mc:AlternateContent>
    </p:spTree>
    <p:extLst>
      <p:ext uri="{BB962C8B-B14F-4D97-AF65-F5344CB8AC3E}">
        <p14:creationId xmlns:p14="http://schemas.microsoft.com/office/powerpoint/2010/main" val="6062875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Exercises </a:t>
            </a:r>
            <a:endParaRPr lang="en-AU" dirty="0"/>
          </a:p>
        </p:txBody>
      </p:sp>
      <p:sp>
        <p:nvSpPr>
          <p:cNvPr id="3" name="Content Placeholder 2"/>
          <p:cNvSpPr>
            <a:spLocks noGrp="1"/>
          </p:cNvSpPr>
          <p:nvPr>
            <p:ph idx="1"/>
          </p:nvPr>
        </p:nvSpPr>
        <p:spPr/>
        <p:txBody>
          <a:bodyPr/>
          <a:lstStyle/>
          <a:p>
            <a:r>
              <a:rPr lang="en-AU" dirty="0" smtClean="0"/>
              <a:t>Page </a:t>
            </a:r>
            <a:r>
              <a:rPr lang="en-AU" dirty="0" smtClean="0"/>
              <a:t>194</a:t>
            </a:r>
            <a:endParaRPr lang="en-AU" dirty="0" smtClean="0"/>
          </a:p>
          <a:p>
            <a:r>
              <a:rPr lang="en-AU" dirty="0" smtClean="0"/>
              <a:t>Ex </a:t>
            </a:r>
            <a:r>
              <a:rPr lang="en-AU" dirty="0" smtClean="0"/>
              <a:t>14.5 </a:t>
            </a:r>
            <a:r>
              <a:rPr lang="en-AU" dirty="0" smtClean="0"/>
              <a:t>Two way </a:t>
            </a:r>
            <a:r>
              <a:rPr lang="en-AU" smtClean="0"/>
              <a:t>tables </a:t>
            </a:r>
            <a:r>
              <a:rPr lang="en-AU" smtClean="0"/>
              <a:t>ones</a:t>
            </a:r>
            <a:endParaRPr lang="en-AU" dirty="0" smtClean="0"/>
          </a:p>
        </p:txBody>
      </p:sp>
    </p:spTree>
    <p:extLst>
      <p:ext uri="{BB962C8B-B14F-4D97-AF65-F5344CB8AC3E}">
        <p14:creationId xmlns:p14="http://schemas.microsoft.com/office/powerpoint/2010/main" val="23394972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p14="http://schemas.microsoft.com/office/powerpoint/2010/main" val="30699218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985</TotalTime>
  <Words>634</Words>
  <Application>Microsoft Office PowerPoint</Application>
  <PresentationFormat>On-screen Show (4:3)</PresentationFormat>
  <Paragraphs>116</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My Probability Interactive Notebook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Exercises </vt:lpstr>
      <vt:lpstr>Notes Review</vt:lpstr>
      <vt:lpstr>Homework</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MCALLISTER Robert</cp:lastModifiedBy>
  <cp:revision>83</cp:revision>
  <dcterms:created xsi:type="dcterms:W3CDTF">2014-05-14T02:58:57Z</dcterms:created>
  <dcterms:modified xsi:type="dcterms:W3CDTF">2016-10-26T05:19:37Z</dcterms:modified>
</cp:coreProperties>
</file>
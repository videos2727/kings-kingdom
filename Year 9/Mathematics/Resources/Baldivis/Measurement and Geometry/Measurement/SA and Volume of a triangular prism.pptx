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261" r:id="rId5"/>
    <p:sldId id="334" r:id="rId6"/>
    <p:sldId id="336" r:id="rId7"/>
    <p:sldId id="338" r:id="rId8"/>
    <p:sldId id="337" r:id="rId9"/>
    <p:sldId id="339" r:id="rId10"/>
    <p:sldId id="340" r:id="rId11"/>
    <p:sldId id="341" r:id="rId12"/>
    <p:sldId id="342" r:id="rId13"/>
    <p:sldId id="335" r:id="rId14"/>
    <p:sldId id="344" r:id="rId15"/>
    <p:sldId id="301" r:id="rId16"/>
    <p:sldId id="343" r:id="rId17"/>
    <p:sldId id="292" r:id="rId18"/>
    <p:sldId id="291" r:id="rId19"/>
    <p:sldId id="29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4660"/>
  </p:normalViewPr>
  <p:slideViewPr>
    <p:cSldViewPr>
      <p:cViewPr varScale="1">
        <p:scale>
          <a:sx n="69" d="100"/>
          <a:sy n="69" d="100"/>
        </p:scale>
        <p:origin x="-141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8/08/2014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8/08/2014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8/08/2014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8/08/2014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Perimeter, Area and Volume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Name </a:t>
            </a:r>
          </a:p>
          <a:p>
            <a:r>
              <a:rPr lang="en-AU" dirty="0" smtClean="0"/>
              <a:t>Class </a:t>
            </a:r>
          </a:p>
          <a:p>
            <a:r>
              <a:rPr lang="en-AU" dirty="0" smtClean="0"/>
              <a:t>Term 3 Semester 2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333427" y="2348880"/>
            <a:ext cx="1260140" cy="1396872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rapezoid 4"/>
          <p:cNvSpPr/>
          <p:nvPr/>
        </p:nvSpPr>
        <p:spPr>
          <a:xfrm>
            <a:off x="2699792" y="2348880"/>
            <a:ext cx="1440160" cy="648072"/>
          </a:xfrm>
          <a:prstGeom prst="trapezoi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Hexagon 5"/>
          <p:cNvSpPr/>
          <p:nvPr/>
        </p:nvSpPr>
        <p:spPr>
          <a:xfrm>
            <a:off x="5076056" y="2348880"/>
            <a:ext cx="1512168" cy="1368152"/>
          </a:xfrm>
          <a:prstGeom prst="hex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Decagon 6"/>
          <p:cNvSpPr/>
          <p:nvPr/>
        </p:nvSpPr>
        <p:spPr>
          <a:xfrm>
            <a:off x="7596336" y="2852936"/>
            <a:ext cx="1224136" cy="1296144"/>
          </a:xfrm>
          <a:prstGeom prst="decag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Pie 8"/>
          <p:cNvSpPr/>
          <p:nvPr/>
        </p:nvSpPr>
        <p:spPr>
          <a:xfrm>
            <a:off x="683568" y="4653136"/>
            <a:ext cx="1368152" cy="1440160"/>
          </a:xfrm>
          <a:prstGeom prst="pi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48264" y="5301208"/>
            <a:ext cx="115212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L-Shape 10"/>
          <p:cNvSpPr/>
          <p:nvPr/>
        </p:nvSpPr>
        <p:spPr>
          <a:xfrm>
            <a:off x="323528" y="548680"/>
            <a:ext cx="936104" cy="1368152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Parallelogram 11"/>
          <p:cNvSpPr/>
          <p:nvPr/>
        </p:nvSpPr>
        <p:spPr>
          <a:xfrm>
            <a:off x="7524328" y="1232756"/>
            <a:ext cx="936104" cy="1116124"/>
          </a:xfrm>
          <a:prstGeom prst="parallelogram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/>
          <p:cNvSpPr/>
          <p:nvPr/>
        </p:nvSpPr>
        <p:spPr>
          <a:xfrm>
            <a:off x="2339752" y="3717032"/>
            <a:ext cx="936104" cy="93610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20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21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26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Triangular Prisms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a net of a 3-D shape used to find the surface area </a:t>
            </a:r>
            <a:r>
              <a:rPr lang="en-AU" sz="2400" dirty="0" smtClean="0"/>
              <a:t>of a triangular</a:t>
            </a:r>
            <a:r>
              <a:rPr lang="en-AU" sz="2400" dirty="0" smtClean="0"/>
              <a:t> </a:t>
            </a:r>
            <a:r>
              <a:rPr lang="en-AU" sz="2400" dirty="0" smtClean="0"/>
              <a:t>prism?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81282" y="2132856"/>
            <a:ext cx="511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net is a 2-D picture that folds to make a 3-D shape.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624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3889" r="40972"/>
          <a:stretch/>
        </p:blipFill>
        <p:spPr bwMode="auto">
          <a:xfrm>
            <a:off x="125279" y="262806"/>
            <a:ext cx="6525895" cy="50139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113414" y="1665874"/>
            <a:ext cx="96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Name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115616" y="2058902"/>
            <a:ext cx="697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4">
                    <a:lumMod val="75000"/>
                  </a:schemeClr>
                </a:solidFill>
              </a:rPr>
              <a:t>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63651" y="3874344"/>
            <a:ext cx="780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6"/>
                </a:solidFill>
              </a:rPr>
              <a:t>Edges </a:t>
            </a:r>
            <a:endParaRPr lang="en-AU" dirty="0" smtClean="0">
              <a:solidFill>
                <a:schemeClr val="accent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13414" y="908870"/>
            <a:ext cx="9859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 Vertices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61629" y="1665874"/>
            <a:ext cx="13863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Total Surface</a:t>
            </a:r>
          </a:p>
          <a:p>
            <a:r>
              <a:rPr lang="en-AU" dirty="0" smtClean="0"/>
              <a:t>Area (TSA)=</a:t>
            </a:r>
          </a:p>
          <a:p>
            <a:r>
              <a:rPr lang="en-AU" dirty="0"/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8545" y="724204"/>
            <a:ext cx="1975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Area of each face 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8545" y="3508450"/>
            <a:ext cx="2096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Total Surface Area =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6532611" y="4509120"/>
            <a:ext cx="1071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tx2"/>
                </a:solidFill>
              </a:rPr>
              <a:t>Volume =</a:t>
            </a:r>
            <a:endParaRPr lang="en-AU" dirty="0">
              <a:solidFill>
                <a:schemeClr val="tx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38728" y="2769786"/>
            <a:ext cx="1123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tx2"/>
                </a:solidFill>
              </a:rPr>
              <a:t>Volume = </a:t>
            </a:r>
          </a:p>
          <a:p>
            <a:endParaRPr lang="en-AU" dirty="0" smtClean="0">
              <a:solidFill>
                <a:schemeClr val="tx2"/>
              </a:solidFill>
            </a:endParaRPr>
          </a:p>
          <a:p>
            <a:endParaRPr lang="en-AU" dirty="0">
              <a:solidFill>
                <a:schemeClr val="tx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36577" y="2400454"/>
            <a:ext cx="795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Sketch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532611" y="246363"/>
            <a:ext cx="1146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Working -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467544" y="5949280"/>
            <a:ext cx="4714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Cut out the net and fill in the information. above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68067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3889" r="40972"/>
          <a:stretch/>
        </p:blipFill>
        <p:spPr bwMode="auto">
          <a:xfrm>
            <a:off x="125279" y="262806"/>
            <a:ext cx="6525895" cy="50139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113414" y="1665874"/>
            <a:ext cx="96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Name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115616" y="2058902"/>
            <a:ext cx="697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4">
                    <a:lumMod val="75000"/>
                  </a:schemeClr>
                </a:solidFill>
              </a:rPr>
              <a:t>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63651" y="3874344"/>
            <a:ext cx="780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6"/>
                </a:solidFill>
              </a:rPr>
              <a:t>Edges </a:t>
            </a:r>
            <a:endParaRPr lang="en-AU" dirty="0" smtClean="0">
              <a:solidFill>
                <a:schemeClr val="accent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13414" y="908870"/>
            <a:ext cx="9859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 Vertices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61629" y="1665874"/>
            <a:ext cx="13863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Total Surface</a:t>
            </a:r>
          </a:p>
          <a:p>
            <a:r>
              <a:rPr lang="en-AU" dirty="0" smtClean="0"/>
              <a:t>Area (TSA)=</a:t>
            </a:r>
          </a:p>
          <a:p>
            <a:r>
              <a:rPr lang="en-AU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488545" y="724204"/>
                <a:ext cx="2038635" cy="17055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Area of each face =</a:t>
                </a:r>
              </a:p>
              <a:p>
                <a:r>
                  <a:rPr lang="en-AU" dirty="0" smtClean="0"/>
                  <a:t>Triangle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dirty="0">
                        <a:ea typeface="Cambria Math"/>
                      </a:rPr>
                      <m:t>×</m:t>
                    </m:r>
                    <m:r>
                      <m:rPr>
                        <m:sty m:val="p"/>
                      </m:rPr>
                      <a:rPr lang="en-AU" b="0" i="0" dirty="0" smtClean="0">
                        <a:latin typeface="Cambria Math"/>
                        <a:ea typeface="Cambria Math"/>
                      </a:rPr>
                      <m:t>b</m:t>
                    </m:r>
                    <m:r>
                      <a:rPr lang="en-AU" b="0" i="1" dirty="0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dirty="0" smtClean="0">
                        <a:latin typeface="Cambria Math"/>
                        <a:ea typeface="Cambria Math"/>
                      </a:rPr>
                      <m:t>h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:r>
                  <a:rPr lang="en-AU" b="0" dirty="0" smtClean="0"/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×4×3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:r>
                  <a:rPr lang="en-AU" i="1" dirty="0">
                    <a:latin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=6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545" y="724204"/>
                <a:ext cx="2038635" cy="1705595"/>
              </a:xfrm>
              <a:prstGeom prst="rect">
                <a:avLst/>
              </a:prstGeom>
              <a:blipFill rotWithShape="1">
                <a:blip r:embed="rId3"/>
                <a:stretch>
                  <a:fillRect l="-2388" t="-17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488545" y="3508450"/>
            <a:ext cx="2096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Total Surface Area =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6532611" y="4509120"/>
            <a:ext cx="1071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tx2"/>
                </a:solidFill>
              </a:rPr>
              <a:t>Volume =</a:t>
            </a:r>
            <a:endParaRPr lang="en-AU" dirty="0">
              <a:solidFill>
                <a:schemeClr val="tx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38728" y="2769786"/>
            <a:ext cx="1123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tx2"/>
                </a:solidFill>
              </a:rPr>
              <a:t>Volume = </a:t>
            </a:r>
          </a:p>
          <a:p>
            <a:endParaRPr lang="en-AU" dirty="0" smtClean="0">
              <a:solidFill>
                <a:schemeClr val="tx2"/>
              </a:solidFill>
            </a:endParaRPr>
          </a:p>
          <a:p>
            <a:endParaRPr lang="en-AU" dirty="0">
              <a:solidFill>
                <a:schemeClr val="tx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36577" y="2400454"/>
            <a:ext cx="795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Sketch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532611" y="246363"/>
            <a:ext cx="1146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Working -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467544" y="5949280"/>
            <a:ext cx="4714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Cut out the net and fill in the information. above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088665" y="6651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1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64232" y="4324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2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1299" y="17035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3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39100" y="17035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4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80112" y="16896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5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848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3889" r="40972"/>
          <a:stretch/>
        </p:blipFill>
        <p:spPr bwMode="auto">
          <a:xfrm>
            <a:off x="125279" y="262806"/>
            <a:ext cx="6525895" cy="50139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113414" y="1665874"/>
            <a:ext cx="96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Name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115616" y="2058902"/>
            <a:ext cx="697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4">
                    <a:lumMod val="75000"/>
                  </a:schemeClr>
                </a:solidFill>
              </a:rPr>
              <a:t>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63651" y="3874344"/>
            <a:ext cx="780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6"/>
                </a:solidFill>
              </a:rPr>
              <a:t>Edges </a:t>
            </a:r>
            <a:endParaRPr lang="en-AU" dirty="0" smtClean="0">
              <a:solidFill>
                <a:schemeClr val="accent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13414" y="908870"/>
            <a:ext cx="9859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 Vertices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61629" y="1665874"/>
            <a:ext cx="13863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Total Surface</a:t>
            </a:r>
          </a:p>
          <a:p>
            <a:r>
              <a:rPr lang="en-AU" dirty="0" smtClean="0"/>
              <a:t>Area (TSA)=</a:t>
            </a:r>
          </a:p>
          <a:p>
            <a:r>
              <a:rPr lang="en-AU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488545" y="724204"/>
                <a:ext cx="2038635" cy="17055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Area of each face =</a:t>
                </a:r>
              </a:p>
              <a:p>
                <a:r>
                  <a:rPr lang="en-AU" dirty="0" smtClean="0"/>
                  <a:t>Triangle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dirty="0">
                        <a:ea typeface="Cambria Math"/>
                      </a:rPr>
                      <m:t>×</m:t>
                    </m:r>
                    <m:r>
                      <m:rPr>
                        <m:sty m:val="p"/>
                      </m:rPr>
                      <a:rPr lang="en-AU" b="0" i="0" dirty="0" smtClean="0">
                        <a:latin typeface="Cambria Math"/>
                        <a:ea typeface="Cambria Math"/>
                      </a:rPr>
                      <m:t>b</m:t>
                    </m:r>
                    <m:r>
                      <a:rPr lang="en-AU" b="0" i="1" dirty="0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dirty="0" smtClean="0">
                        <a:latin typeface="Cambria Math"/>
                        <a:ea typeface="Cambria Math"/>
                      </a:rPr>
                      <m:t>h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:r>
                  <a:rPr lang="en-AU" b="0" dirty="0" smtClean="0"/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×4×3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:r>
                  <a:rPr lang="en-AU" i="1" dirty="0">
                    <a:latin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=6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545" y="724204"/>
                <a:ext cx="2038635" cy="1705595"/>
              </a:xfrm>
              <a:prstGeom prst="rect">
                <a:avLst/>
              </a:prstGeom>
              <a:blipFill rotWithShape="1">
                <a:blip r:embed="rId3"/>
                <a:stretch>
                  <a:fillRect l="-2388" t="-17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488545" y="3508450"/>
            <a:ext cx="2096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Total Surface Area =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6532611" y="4509120"/>
            <a:ext cx="1071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tx2"/>
                </a:solidFill>
              </a:rPr>
              <a:t>Volume =</a:t>
            </a:r>
            <a:endParaRPr lang="en-AU" dirty="0">
              <a:solidFill>
                <a:schemeClr val="tx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38728" y="2769786"/>
            <a:ext cx="1123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tx2"/>
                </a:solidFill>
              </a:rPr>
              <a:t>Volume = </a:t>
            </a:r>
          </a:p>
          <a:p>
            <a:endParaRPr lang="en-AU" dirty="0" smtClean="0">
              <a:solidFill>
                <a:schemeClr val="tx2"/>
              </a:solidFill>
            </a:endParaRPr>
          </a:p>
          <a:p>
            <a:endParaRPr lang="en-AU" dirty="0">
              <a:solidFill>
                <a:schemeClr val="tx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36577" y="2400454"/>
            <a:ext cx="795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Sketch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532611" y="246363"/>
            <a:ext cx="1146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Working -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467544" y="5949280"/>
            <a:ext cx="4714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Cut out the net and fill in the information. above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088665" y="6651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1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64232" y="4324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2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1299" y="17035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3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39100" y="17035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4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80112" y="16896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5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32611" y="2400454"/>
            <a:ext cx="2388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Rectangle 3 = 5 x 3 = 15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7619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3889" r="40972"/>
          <a:stretch/>
        </p:blipFill>
        <p:spPr bwMode="auto">
          <a:xfrm>
            <a:off x="125279" y="262806"/>
            <a:ext cx="6525895" cy="50139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113414" y="1665874"/>
            <a:ext cx="96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Name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115616" y="2058902"/>
            <a:ext cx="697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4">
                    <a:lumMod val="75000"/>
                  </a:schemeClr>
                </a:solidFill>
              </a:rPr>
              <a:t>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63651" y="3874344"/>
            <a:ext cx="780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6"/>
                </a:solidFill>
              </a:rPr>
              <a:t>Edges </a:t>
            </a:r>
            <a:endParaRPr lang="en-AU" dirty="0" smtClean="0">
              <a:solidFill>
                <a:schemeClr val="accent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13414" y="908870"/>
            <a:ext cx="9859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 Vertices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61629" y="1665874"/>
            <a:ext cx="13863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Total Surface</a:t>
            </a:r>
          </a:p>
          <a:p>
            <a:r>
              <a:rPr lang="en-AU" dirty="0" smtClean="0"/>
              <a:t>Area (TSA)=</a:t>
            </a:r>
          </a:p>
          <a:p>
            <a:r>
              <a:rPr lang="en-AU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488545" y="724204"/>
                <a:ext cx="2038635" cy="17055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Area of each face =</a:t>
                </a:r>
              </a:p>
              <a:p>
                <a:r>
                  <a:rPr lang="en-AU" dirty="0" smtClean="0"/>
                  <a:t>Triangle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dirty="0">
                        <a:ea typeface="Cambria Math"/>
                      </a:rPr>
                      <m:t>×</m:t>
                    </m:r>
                    <m:r>
                      <m:rPr>
                        <m:sty m:val="p"/>
                      </m:rPr>
                      <a:rPr lang="en-AU" b="0" i="0" dirty="0" smtClean="0">
                        <a:latin typeface="Cambria Math"/>
                        <a:ea typeface="Cambria Math"/>
                      </a:rPr>
                      <m:t>b</m:t>
                    </m:r>
                    <m:r>
                      <a:rPr lang="en-AU" b="0" i="1" dirty="0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dirty="0" smtClean="0">
                        <a:latin typeface="Cambria Math"/>
                        <a:ea typeface="Cambria Math"/>
                      </a:rPr>
                      <m:t>h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:r>
                  <a:rPr lang="en-AU" b="0" dirty="0" smtClean="0"/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×4×3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:r>
                  <a:rPr lang="en-AU" i="1" dirty="0">
                    <a:latin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=6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545" y="724204"/>
                <a:ext cx="2038635" cy="1705595"/>
              </a:xfrm>
              <a:prstGeom prst="rect">
                <a:avLst/>
              </a:prstGeom>
              <a:blipFill rotWithShape="1">
                <a:blip r:embed="rId3"/>
                <a:stretch>
                  <a:fillRect l="-2388" t="-17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488545" y="3508450"/>
            <a:ext cx="2096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Total Surface Area =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6532611" y="4509120"/>
            <a:ext cx="1071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tx2"/>
                </a:solidFill>
              </a:rPr>
              <a:t>Volume =</a:t>
            </a:r>
            <a:endParaRPr lang="en-AU" dirty="0">
              <a:solidFill>
                <a:schemeClr val="tx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38728" y="2769786"/>
            <a:ext cx="1123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tx2"/>
                </a:solidFill>
              </a:rPr>
              <a:t>Volume = </a:t>
            </a:r>
          </a:p>
          <a:p>
            <a:endParaRPr lang="en-AU" dirty="0" smtClean="0">
              <a:solidFill>
                <a:schemeClr val="tx2"/>
              </a:solidFill>
            </a:endParaRPr>
          </a:p>
          <a:p>
            <a:endParaRPr lang="en-AU" dirty="0">
              <a:solidFill>
                <a:schemeClr val="tx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36577" y="2400454"/>
            <a:ext cx="795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Sketch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532611" y="246363"/>
            <a:ext cx="1146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Working -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467544" y="5949280"/>
            <a:ext cx="4714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Cut out the net and fill in the information. above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088665" y="6651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1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64232" y="4324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2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1299" y="17035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3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39100" y="17035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4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80112" y="16896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5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32611" y="2400454"/>
            <a:ext cx="2388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Rectangle 3 = 5 x 3 = 15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484842" y="2736581"/>
            <a:ext cx="2388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Rectangle 4 = 5 x 4 = 20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59195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3889" r="40972"/>
          <a:stretch/>
        </p:blipFill>
        <p:spPr bwMode="auto">
          <a:xfrm>
            <a:off x="125279" y="262806"/>
            <a:ext cx="6525895" cy="50139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113414" y="1665874"/>
            <a:ext cx="96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Name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115616" y="2058902"/>
            <a:ext cx="697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4">
                    <a:lumMod val="75000"/>
                  </a:schemeClr>
                </a:solidFill>
              </a:rPr>
              <a:t>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63651" y="3874344"/>
            <a:ext cx="780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6"/>
                </a:solidFill>
              </a:rPr>
              <a:t>Edges </a:t>
            </a:r>
            <a:endParaRPr lang="en-AU" dirty="0" smtClean="0">
              <a:solidFill>
                <a:schemeClr val="accent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13414" y="908870"/>
            <a:ext cx="9859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 Vertices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61629" y="1665874"/>
            <a:ext cx="13863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Total Surface</a:t>
            </a:r>
          </a:p>
          <a:p>
            <a:r>
              <a:rPr lang="en-AU" dirty="0" smtClean="0"/>
              <a:t>Area (TSA)=</a:t>
            </a:r>
          </a:p>
          <a:p>
            <a:r>
              <a:rPr lang="en-AU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488545" y="724204"/>
                <a:ext cx="2038635" cy="17055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Area of each face =</a:t>
                </a:r>
              </a:p>
              <a:p>
                <a:r>
                  <a:rPr lang="en-AU" dirty="0" smtClean="0"/>
                  <a:t>Triangle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dirty="0">
                        <a:ea typeface="Cambria Math"/>
                      </a:rPr>
                      <m:t>×</m:t>
                    </m:r>
                    <m:r>
                      <m:rPr>
                        <m:sty m:val="p"/>
                      </m:rPr>
                      <a:rPr lang="en-AU" b="0" i="0" dirty="0" smtClean="0">
                        <a:latin typeface="Cambria Math"/>
                        <a:ea typeface="Cambria Math"/>
                      </a:rPr>
                      <m:t>b</m:t>
                    </m:r>
                    <m:r>
                      <a:rPr lang="en-AU" b="0" i="1" dirty="0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dirty="0" smtClean="0">
                        <a:latin typeface="Cambria Math"/>
                        <a:ea typeface="Cambria Math"/>
                      </a:rPr>
                      <m:t>h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:r>
                  <a:rPr lang="en-AU" b="0" dirty="0" smtClean="0"/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×4×3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:r>
                  <a:rPr lang="en-AU" i="1" dirty="0">
                    <a:latin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=6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545" y="724204"/>
                <a:ext cx="2038635" cy="1705595"/>
              </a:xfrm>
              <a:prstGeom prst="rect">
                <a:avLst/>
              </a:prstGeom>
              <a:blipFill rotWithShape="1">
                <a:blip r:embed="rId3"/>
                <a:stretch>
                  <a:fillRect l="-2388" t="-17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488545" y="3508450"/>
            <a:ext cx="2096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Total Surface Area =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6532611" y="4509120"/>
            <a:ext cx="1071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tx2"/>
                </a:solidFill>
              </a:rPr>
              <a:t>Volume =</a:t>
            </a:r>
            <a:endParaRPr lang="en-AU" dirty="0">
              <a:solidFill>
                <a:schemeClr val="tx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38728" y="2769786"/>
            <a:ext cx="1123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tx2"/>
                </a:solidFill>
              </a:rPr>
              <a:t>Volume = </a:t>
            </a:r>
          </a:p>
          <a:p>
            <a:endParaRPr lang="en-AU" dirty="0" smtClean="0">
              <a:solidFill>
                <a:schemeClr val="tx2"/>
              </a:solidFill>
            </a:endParaRPr>
          </a:p>
          <a:p>
            <a:endParaRPr lang="en-AU" dirty="0">
              <a:solidFill>
                <a:schemeClr val="tx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36577" y="2400454"/>
            <a:ext cx="795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Sketch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532611" y="246363"/>
            <a:ext cx="1146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Working -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467544" y="5949280"/>
            <a:ext cx="4714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Cut out the net and fill in the information. above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088665" y="6651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1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64232" y="4324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2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1299" y="17035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3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39100" y="17035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4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80112" y="16896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5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32611" y="2400454"/>
            <a:ext cx="2388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Rectangle 3 = 5 x 3 = 15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484842" y="2736581"/>
            <a:ext cx="2388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Rectangle 4 = 5 x 4 = 20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6522980" y="3105913"/>
            <a:ext cx="2388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Rectangle 5 = 5 x 5 = 25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2964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3889" r="40972"/>
          <a:stretch/>
        </p:blipFill>
        <p:spPr bwMode="auto">
          <a:xfrm>
            <a:off x="125279" y="262806"/>
            <a:ext cx="6525895" cy="50139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113414" y="1665874"/>
            <a:ext cx="96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Name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115616" y="2058902"/>
            <a:ext cx="697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4">
                    <a:lumMod val="75000"/>
                  </a:schemeClr>
                </a:solidFill>
              </a:rPr>
              <a:t>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63651" y="3874344"/>
            <a:ext cx="780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6"/>
                </a:solidFill>
              </a:rPr>
              <a:t>Edges </a:t>
            </a:r>
            <a:endParaRPr lang="en-AU" dirty="0" smtClean="0">
              <a:solidFill>
                <a:schemeClr val="accent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13414" y="908870"/>
            <a:ext cx="9859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 Vertices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61629" y="1665874"/>
            <a:ext cx="13863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Total Surface</a:t>
            </a:r>
          </a:p>
          <a:p>
            <a:r>
              <a:rPr lang="en-AU" dirty="0" smtClean="0"/>
              <a:t>Area (TSA)=</a:t>
            </a:r>
          </a:p>
          <a:p>
            <a:r>
              <a:rPr lang="en-AU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488545" y="724204"/>
                <a:ext cx="2038635" cy="17055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Area of each face =</a:t>
                </a:r>
              </a:p>
              <a:p>
                <a:r>
                  <a:rPr lang="en-AU" dirty="0" smtClean="0"/>
                  <a:t>Triangle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dirty="0">
                        <a:ea typeface="Cambria Math"/>
                      </a:rPr>
                      <m:t>×</m:t>
                    </m:r>
                    <m:r>
                      <m:rPr>
                        <m:sty m:val="p"/>
                      </m:rPr>
                      <a:rPr lang="en-AU" b="0" i="0" dirty="0" smtClean="0">
                        <a:latin typeface="Cambria Math"/>
                        <a:ea typeface="Cambria Math"/>
                      </a:rPr>
                      <m:t>b</m:t>
                    </m:r>
                    <m:r>
                      <a:rPr lang="en-AU" b="0" i="1" dirty="0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dirty="0" smtClean="0">
                        <a:latin typeface="Cambria Math"/>
                        <a:ea typeface="Cambria Math"/>
                      </a:rPr>
                      <m:t>h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:r>
                  <a:rPr lang="en-AU" b="0" dirty="0" smtClean="0"/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×4×3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:r>
                  <a:rPr lang="en-AU" i="1" dirty="0">
                    <a:latin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=6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545" y="724204"/>
                <a:ext cx="2038635" cy="1705595"/>
              </a:xfrm>
              <a:prstGeom prst="rect">
                <a:avLst/>
              </a:prstGeom>
              <a:blipFill rotWithShape="1">
                <a:blip r:embed="rId3"/>
                <a:stretch>
                  <a:fillRect l="-2388" t="-17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6488545" y="3508450"/>
                <a:ext cx="2105063" cy="946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Total Surface Area </a:t>
                </a:r>
              </a:p>
              <a:p>
                <a:r>
                  <a:rPr lang="en-AU" dirty="0" smtClean="0"/>
                  <a:t>=2 x 6 + 15 + 20 + 25</a:t>
                </a:r>
              </a:p>
              <a:p>
                <a:r>
                  <a:rPr lang="en-AU" dirty="0" smtClean="0"/>
                  <a:t>= 72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545" y="3508450"/>
                <a:ext cx="2105063" cy="946991"/>
              </a:xfrm>
              <a:prstGeom prst="rect">
                <a:avLst/>
              </a:prstGeom>
              <a:blipFill rotWithShape="1">
                <a:blip r:embed="rId4"/>
                <a:stretch>
                  <a:fillRect l="-2312" t="-3226" r="-1445" b="-70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532611" y="4509120"/>
            <a:ext cx="1071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tx2"/>
                </a:solidFill>
              </a:rPr>
              <a:t>Volume </a:t>
            </a:r>
            <a:r>
              <a:rPr lang="en-AU" dirty="0" smtClean="0">
                <a:solidFill>
                  <a:schemeClr val="tx2"/>
                </a:solidFill>
              </a:rPr>
              <a:t>=</a:t>
            </a:r>
          </a:p>
          <a:p>
            <a:endParaRPr lang="en-AU" dirty="0">
              <a:solidFill>
                <a:schemeClr val="tx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38728" y="2769786"/>
            <a:ext cx="1123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tx2"/>
                </a:solidFill>
              </a:rPr>
              <a:t>Volume = </a:t>
            </a:r>
          </a:p>
          <a:p>
            <a:endParaRPr lang="en-AU" dirty="0" smtClean="0">
              <a:solidFill>
                <a:schemeClr val="tx2"/>
              </a:solidFill>
            </a:endParaRPr>
          </a:p>
          <a:p>
            <a:endParaRPr lang="en-AU" dirty="0">
              <a:solidFill>
                <a:schemeClr val="tx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36577" y="2400454"/>
            <a:ext cx="795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Sketch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532611" y="246363"/>
            <a:ext cx="1146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Working -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467544" y="5949280"/>
            <a:ext cx="4714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Cut out the net and fill in the information. above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088665" y="6651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1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64232" y="4324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2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1299" y="17035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3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39100" y="17035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4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80112" y="16896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5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32611" y="2400454"/>
            <a:ext cx="2388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Rectangle 3 = 5 x 3 = 15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484842" y="2736581"/>
            <a:ext cx="2388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Rectangle 4 = 5 x 4 = 20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6522980" y="3105913"/>
            <a:ext cx="2388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Rectangle 5 = 5 x 5 = 25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71093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3889" r="40972"/>
          <a:stretch/>
        </p:blipFill>
        <p:spPr bwMode="auto">
          <a:xfrm>
            <a:off x="125279" y="262806"/>
            <a:ext cx="6525895" cy="50139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113414" y="1665874"/>
            <a:ext cx="96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Name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115616" y="2058902"/>
            <a:ext cx="697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4">
                    <a:lumMod val="75000"/>
                  </a:schemeClr>
                </a:solidFill>
              </a:rPr>
              <a:t>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63651" y="3874344"/>
            <a:ext cx="780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6"/>
                </a:solidFill>
              </a:rPr>
              <a:t>Edges </a:t>
            </a:r>
            <a:endParaRPr lang="en-AU" dirty="0" smtClean="0">
              <a:solidFill>
                <a:schemeClr val="accent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13414" y="908870"/>
            <a:ext cx="9859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 Vertices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61629" y="1665874"/>
            <a:ext cx="13863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Total Surface</a:t>
            </a:r>
          </a:p>
          <a:p>
            <a:r>
              <a:rPr lang="en-AU" dirty="0" smtClean="0"/>
              <a:t>Area (TSA)=</a:t>
            </a:r>
          </a:p>
          <a:p>
            <a:r>
              <a:rPr lang="en-AU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488545" y="724204"/>
                <a:ext cx="2038635" cy="17055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Area of each face =</a:t>
                </a:r>
              </a:p>
              <a:p>
                <a:r>
                  <a:rPr lang="en-AU" dirty="0" smtClean="0"/>
                  <a:t>Triangle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dirty="0">
                        <a:ea typeface="Cambria Math"/>
                      </a:rPr>
                      <m:t>×</m:t>
                    </m:r>
                    <m:r>
                      <m:rPr>
                        <m:sty m:val="p"/>
                      </m:rPr>
                      <a:rPr lang="en-AU" b="0" i="0" dirty="0" smtClean="0">
                        <a:latin typeface="Cambria Math"/>
                        <a:ea typeface="Cambria Math"/>
                      </a:rPr>
                      <m:t>b</m:t>
                    </m:r>
                    <m:r>
                      <a:rPr lang="en-AU" b="0" i="1" dirty="0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dirty="0" smtClean="0">
                        <a:latin typeface="Cambria Math"/>
                        <a:ea typeface="Cambria Math"/>
                      </a:rPr>
                      <m:t>h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:r>
                  <a:rPr lang="en-AU" b="0" dirty="0" smtClean="0"/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×4×3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:r>
                  <a:rPr lang="en-AU" i="1" dirty="0">
                    <a:latin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=6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545" y="724204"/>
                <a:ext cx="2038635" cy="1705595"/>
              </a:xfrm>
              <a:prstGeom prst="rect">
                <a:avLst/>
              </a:prstGeom>
              <a:blipFill rotWithShape="1">
                <a:blip r:embed="rId3"/>
                <a:stretch>
                  <a:fillRect l="-2388" t="-17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6488545" y="3508450"/>
                <a:ext cx="2105063" cy="946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Total Surface Area </a:t>
                </a:r>
              </a:p>
              <a:p>
                <a:r>
                  <a:rPr lang="en-AU" dirty="0" smtClean="0"/>
                  <a:t>=2 x 6 + 15 + 20 + 25</a:t>
                </a:r>
              </a:p>
              <a:p>
                <a:r>
                  <a:rPr lang="en-AU" dirty="0" smtClean="0"/>
                  <a:t>= 72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545" y="3508450"/>
                <a:ext cx="2105063" cy="946991"/>
              </a:xfrm>
              <a:prstGeom prst="rect">
                <a:avLst/>
              </a:prstGeom>
              <a:blipFill rotWithShape="1">
                <a:blip r:embed="rId4"/>
                <a:stretch>
                  <a:fillRect l="-2312" t="-3226" r="-1445" b="-70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532611" y="4509120"/>
            <a:ext cx="25842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tx2"/>
                </a:solidFill>
              </a:rPr>
              <a:t>Volume </a:t>
            </a:r>
            <a:endParaRPr lang="en-AU" dirty="0">
              <a:solidFill>
                <a:schemeClr val="tx2"/>
              </a:solidFill>
            </a:endParaRPr>
          </a:p>
          <a:p>
            <a:r>
              <a:rPr lang="en-AU" dirty="0" smtClean="0">
                <a:solidFill>
                  <a:schemeClr val="tx2"/>
                </a:solidFill>
              </a:rPr>
              <a:t>= area of triangle x length</a:t>
            </a:r>
          </a:p>
          <a:p>
            <a:endParaRPr lang="en-AU" dirty="0" smtClean="0">
              <a:solidFill>
                <a:schemeClr val="tx2"/>
              </a:solidFill>
            </a:endParaRPr>
          </a:p>
          <a:p>
            <a:endParaRPr lang="en-AU" dirty="0">
              <a:solidFill>
                <a:schemeClr val="tx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38728" y="2769786"/>
            <a:ext cx="1123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tx2"/>
                </a:solidFill>
              </a:rPr>
              <a:t>Volume = </a:t>
            </a:r>
          </a:p>
          <a:p>
            <a:endParaRPr lang="en-AU" dirty="0" smtClean="0">
              <a:solidFill>
                <a:schemeClr val="tx2"/>
              </a:solidFill>
            </a:endParaRPr>
          </a:p>
          <a:p>
            <a:endParaRPr lang="en-AU" dirty="0">
              <a:solidFill>
                <a:schemeClr val="tx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36577" y="2400454"/>
            <a:ext cx="795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Sketch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532611" y="246363"/>
            <a:ext cx="1146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Working -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467544" y="5949280"/>
            <a:ext cx="4714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Cut out the net and fill in the information. above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088665" y="6651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1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64232" y="4324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2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1299" y="17035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3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39100" y="17035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4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80112" y="16896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5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32611" y="2400454"/>
            <a:ext cx="2388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Rectangle 3 = 5 x 3 = 15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484842" y="2736581"/>
            <a:ext cx="2388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Rectangle 4 = 5 x 4 = 20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6522980" y="3105913"/>
            <a:ext cx="2388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Rectangle 5 = 5 x 5 = 25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2048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3889" r="40972"/>
          <a:stretch/>
        </p:blipFill>
        <p:spPr bwMode="auto">
          <a:xfrm>
            <a:off x="125279" y="262806"/>
            <a:ext cx="6525895" cy="50139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113414" y="1665874"/>
            <a:ext cx="96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Name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115616" y="2058902"/>
            <a:ext cx="697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4">
                    <a:lumMod val="75000"/>
                  </a:schemeClr>
                </a:solidFill>
              </a:rPr>
              <a:t>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63651" y="3874344"/>
            <a:ext cx="780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6"/>
                </a:solidFill>
              </a:rPr>
              <a:t>Edges </a:t>
            </a:r>
            <a:endParaRPr lang="en-AU" dirty="0" smtClean="0">
              <a:solidFill>
                <a:schemeClr val="accent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13414" y="908870"/>
            <a:ext cx="9859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 Vertices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61629" y="1665874"/>
            <a:ext cx="13863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Total Surface</a:t>
            </a:r>
          </a:p>
          <a:p>
            <a:r>
              <a:rPr lang="en-AU" dirty="0" smtClean="0"/>
              <a:t>Area (TSA)=</a:t>
            </a:r>
          </a:p>
          <a:p>
            <a:r>
              <a:rPr lang="en-AU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488545" y="724204"/>
                <a:ext cx="2038635" cy="17055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Area of each face =</a:t>
                </a:r>
              </a:p>
              <a:p>
                <a:r>
                  <a:rPr lang="en-AU" dirty="0" smtClean="0"/>
                  <a:t>Triangle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dirty="0">
                        <a:ea typeface="Cambria Math"/>
                      </a:rPr>
                      <m:t>×</m:t>
                    </m:r>
                    <m:r>
                      <m:rPr>
                        <m:sty m:val="p"/>
                      </m:rPr>
                      <a:rPr lang="en-AU" b="0" i="0" dirty="0" smtClean="0">
                        <a:latin typeface="Cambria Math"/>
                        <a:ea typeface="Cambria Math"/>
                      </a:rPr>
                      <m:t>b</m:t>
                    </m:r>
                    <m:r>
                      <a:rPr lang="en-AU" b="0" i="1" dirty="0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dirty="0" smtClean="0">
                        <a:latin typeface="Cambria Math"/>
                        <a:ea typeface="Cambria Math"/>
                      </a:rPr>
                      <m:t>h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:r>
                  <a:rPr lang="en-AU" b="0" dirty="0" smtClean="0"/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×4×3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:r>
                  <a:rPr lang="en-AU" i="1" dirty="0">
                    <a:latin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=6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545" y="724204"/>
                <a:ext cx="2038635" cy="1705595"/>
              </a:xfrm>
              <a:prstGeom prst="rect">
                <a:avLst/>
              </a:prstGeom>
              <a:blipFill rotWithShape="1">
                <a:blip r:embed="rId3"/>
                <a:stretch>
                  <a:fillRect l="-2388" t="-17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6488545" y="3508450"/>
                <a:ext cx="2105063" cy="946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Total Surface Area </a:t>
                </a:r>
              </a:p>
              <a:p>
                <a:r>
                  <a:rPr lang="en-AU" dirty="0" smtClean="0"/>
                  <a:t>=2 x 6 + 15 + 20 + 25</a:t>
                </a:r>
              </a:p>
              <a:p>
                <a:r>
                  <a:rPr lang="en-AU" dirty="0" smtClean="0"/>
                  <a:t>= 72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545" y="3508450"/>
                <a:ext cx="2105063" cy="946991"/>
              </a:xfrm>
              <a:prstGeom prst="rect">
                <a:avLst/>
              </a:prstGeom>
              <a:blipFill rotWithShape="1">
                <a:blip r:embed="rId4"/>
                <a:stretch>
                  <a:fillRect l="-2312" t="-3226" r="-1445" b="-70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532611" y="4509120"/>
                <a:ext cx="2584297" cy="1821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chemeClr val="tx2"/>
                    </a:solidFill>
                  </a:rPr>
                  <a:t>Volume </a:t>
                </a:r>
                <a:endParaRPr lang="en-AU" dirty="0">
                  <a:solidFill>
                    <a:schemeClr val="tx2"/>
                  </a:solidFill>
                </a:endParaRPr>
              </a:p>
              <a:p>
                <a:r>
                  <a:rPr lang="en-AU" dirty="0" smtClean="0">
                    <a:solidFill>
                      <a:schemeClr val="tx2"/>
                    </a:solidFill>
                  </a:rPr>
                  <a:t>= area of triangle x length</a:t>
                </a:r>
              </a:p>
              <a:p>
                <a:r>
                  <a:rPr lang="en-AU" dirty="0" smtClean="0">
                    <a:solidFill>
                      <a:schemeClr val="tx2"/>
                    </a:solidFill>
                  </a:rPr>
                  <a:t>= 6 x 5 </a:t>
                </a:r>
              </a:p>
              <a:p>
                <a:r>
                  <a:rPr lang="en-AU" dirty="0" smtClean="0">
                    <a:solidFill>
                      <a:schemeClr val="tx2"/>
                    </a:solidFill>
                  </a:rPr>
                  <a:t>=30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 smtClean="0">
                  <a:solidFill>
                    <a:schemeClr val="tx2"/>
                  </a:solidFill>
                </a:endParaRPr>
              </a:p>
              <a:p>
                <a:endParaRPr lang="en-AU" dirty="0" smtClean="0">
                  <a:solidFill>
                    <a:schemeClr val="tx2"/>
                  </a:solidFill>
                </a:endParaRPr>
              </a:p>
              <a:p>
                <a:endParaRPr lang="en-AU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611" y="4509120"/>
                <a:ext cx="2584297" cy="1821140"/>
              </a:xfrm>
              <a:prstGeom prst="rect">
                <a:avLst/>
              </a:prstGeom>
              <a:blipFill rotWithShape="1">
                <a:blip r:embed="rId5"/>
                <a:stretch>
                  <a:fillRect l="-2123" t="-1678" r="-117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3838728" y="2769786"/>
            <a:ext cx="1123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tx2"/>
                </a:solidFill>
              </a:rPr>
              <a:t>Volume = </a:t>
            </a:r>
          </a:p>
          <a:p>
            <a:endParaRPr lang="en-AU" dirty="0" smtClean="0">
              <a:solidFill>
                <a:schemeClr val="tx2"/>
              </a:solidFill>
            </a:endParaRPr>
          </a:p>
          <a:p>
            <a:endParaRPr lang="en-AU" dirty="0">
              <a:solidFill>
                <a:schemeClr val="tx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36577" y="2400454"/>
            <a:ext cx="795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Sketch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532611" y="246363"/>
            <a:ext cx="1146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Working -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467544" y="5949280"/>
            <a:ext cx="4714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Cut out the net and fill in the information. above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088665" y="6651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1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64232" y="4324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2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1299" y="17035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3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39100" y="17035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4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80112" y="16896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5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32611" y="2400454"/>
            <a:ext cx="2388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Rectangle 3 = 5 x 3 = 15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484842" y="2736581"/>
            <a:ext cx="2388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Rectangle 4 = 5 x 4 = 20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6522980" y="3105913"/>
            <a:ext cx="2388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Rectangle 5 = 5 x 5 = 25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39622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26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Triangular Prisms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a net of a 3-D shape used to find the surface area </a:t>
            </a:r>
            <a:r>
              <a:rPr lang="en-AU" sz="2400" dirty="0" smtClean="0"/>
              <a:t>of a triangular</a:t>
            </a:r>
            <a:r>
              <a:rPr lang="en-AU" sz="2400" dirty="0" smtClean="0"/>
              <a:t> </a:t>
            </a:r>
            <a:r>
              <a:rPr lang="en-AU" sz="2400" dirty="0" smtClean="0"/>
              <a:t>prism?</a:t>
            </a:r>
            <a:endParaRPr lang="en-AU" sz="2400" dirty="0"/>
          </a:p>
        </p:txBody>
      </p:sp>
      <p:pic>
        <p:nvPicPr>
          <p:cNvPr id="14" name="Picture 13"/>
          <p:cNvPicPr/>
          <p:nvPr/>
        </p:nvPicPr>
        <p:blipFill rotWithShape="1">
          <a:blip r:embed="rId2"/>
          <a:srcRect l="3889" r="40972"/>
          <a:stretch/>
        </p:blipFill>
        <p:spPr bwMode="auto">
          <a:xfrm>
            <a:off x="3109820" y="2188464"/>
            <a:ext cx="2614876" cy="185890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Isosceles Triangle 2"/>
          <p:cNvSpPr/>
          <p:nvPr/>
        </p:nvSpPr>
        <p:spPr>
          <a:xfrm>
            <a:off x="7127114" y="2203518"/>
            <a:ext cx="1060704" cy="9144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Isosceles Triangle 14"/>
          <p:cNvSpPr/>
          <p:nvPr/>
        </p:nvSpPr>
        <p:spPr>
          <a:xfrm>
            <a:off x="6617782" y="2590800"/>
            <a:ext cx="1060704" cy="9144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8" name="Straight Connector 7"/>
          <p:cNvCxnSpPr>
            <a:stCxn id="3" idx="0"/>
            <a:endCxn id="15" idx="0"/>
          </p:cNvCxnSpPr>
          <p:nvPr/>
        </p:nvCxnSpPr>
        <p:spPr>
          <a:xfrm flipH="1">
            <a:off x="7148134" y="2203518"/>
            <a:ext cx="509332" cy="3872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3" idx="2"/>
            <a:endCxn id="15" idx="2"/>
          </p:cNvCxnSpPr>
          <p:nvPr/>
        </p:nvCxnSpPr>
        <p:spPr>
          <a:xfrm flipH="1">
            <a:off x="6617782" y="3117918"/>
            <a:ext cx="509332" cy="3872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3" idx="4"/>
            <a:endCxn id="15" idx="4"/>
          </p:cNvCxnSpPr>
          <p:nvPr/>
        </p:nvCxnSpPr>
        <p:spPr>
          <a:xfrm flipH="1">
            <a:off x="7678486" y="3117918"/>
            <a:ext cx="509332" cy="3872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26766" y="4146092"/>
            <a:ext cx="3466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TSA = Sum the area of all the faces 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3204460" y="4838195"/>
            <a:ext cx="3422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Volume = Area of triangle x Length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62588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26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Triangular Prisms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a net of a 3-D shape used to find the surface area </a:t>
            </a:r>
            <a:r>
              <a:rPr lang="en-AU" sz="2400" dirty="0" smtClean="0"/>
              <a:t>of a triangular</a:t>
            </a:r>
            <a:r>
              <a:rPr lang="en-AU" sz="2400" dirty="0" smtClean="0"/>
              <a:t> </a:t>
            </a:r>
            <a:r>
              <a:rPr lang="en-AU" sz="2400" dirty="0" smtClean="0"/>
              <a:t>prism?</a:t>
            </a:r>
            <a:endParaRPr lang="en-AU" sz="2400" dirty="0"/>
          </a:p>
        </p:txBody>
      </p:sp>
      <p:pic>
        <p:nvPicPr>
          <p:cNvPr id="14" name="Picture 13"/>
          <p:cNvPicPr/>
          <p:nvPr/>
        </p:nvPicPr>
        <p:blipFill rotWithShape="1">
          <a:blip r:embed="rId2"/>
          <a:srcRect l="3889" r="40972"/>
          <a:stretch/>
        </p:blipFill>
        <p:spPr bwMode="auto">
          <a:xfrm>
            <a:off x="3109820" y="2382105"/>
            <a:ext cx="2614876" cy="185890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Isosceles Triangle 2"/>
          <p:cNvSpPr/>
          <p:nvPr/>
        </p:nvSpPr>
        <p:spPr>
          <a:xfrm>
            <a:off x="7127114" y="2203518"/>
            <a:ext cx="1060704" cy="9144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Isosceles Triangle 14"/>
          <p:cNvSpPr/>
          <p:nvPr/>
        </p:nvSpPr>
        <p:spPr>
          <a:xfrm>
            <a:off x="6617782" y="2590800"/>
            <a:ext cx="1060704" cy="9144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8" name="Straight Connector 7"/>
          <p:cNvCxnSpPr>
            <a:stCxn id="3" idx="0"/>
            <a:endCxn id="15" idx="0"/>
          </p:cNvCxnSpPr>
          <p:nvPr/>
        </p:nvCxnSpPr>
        <p:spPr>
          <a:xfrm flipH="1">
            <a:off x="7148134" y="2203518"/>
            <a:ext cx="509332" cy="3872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3" idx="2"/>
            <a:endCxn id="15" idx="2"/>
          </p:cNvCxnSpPr>
          <p:nvPr/>
        </p:nvCxnSpPr>
        <p:spPr>
          <a:xfrm flipH="1">
            <a:off x="6617782" y="3117918"/>
            <a:ext cx="509332" cy="3872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3" idx="4"/>
            <a:endCxn id="15" idx="4"/>
          </p:cNvCxnSpPr>
          <p:nvPr/>
        </p:nvCxnSpPr>
        <p:spPr>
          <a:xfrm flipH="1">
            <a:off x="7678486" y="3117918"/>
            <a:ext cx="509332" cy="3872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35247" y="4190500"/>
            <a:ext cx="3466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TSA = Sum the area of all the faces 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3057400" y="5085184"/>
            <a:ext cx="3422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Volume = Area of triangle x Length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9793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26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Triangular Prisms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a net of a 3-D shape used to find the surface area </a:t>
            </a:r>
            <a:r>
              <a:rPr lang="en-AU" sz="2400" dirty="0" smtClean="0"/>
              <a:t>of a triangular</a:t>
            </a:r>
            <a:r>
              <a:rPr lang="en-AU" sz="2400" dirty="0" smtClean="0"/>
              <a:t> </a:t>
            </a:r>
            <a:r>
              <a:rPr lang="en-AU" sz="2400" dirty="0" smtClean="0"/>
              <a:t>prism?</a:t>
            </a:r>
            <a:endParaRPr lang="en-AU" sz="2400" dirty="0"/>
          </a:p>
        </p:txBody>
      </p:sp>
      <p:pic>
        <p:nvPicPr>
          <p:cNvPr id="14" name="Picture 13"/>
          <p:cNvPicPr/>
          <p:nvPr/>
        </p:nvPicPr>
        <p:blipFill rotWithShape="1">
          <a:blip r:embed="rId2"/>
          <a:srcRect l="3889" r="40972"/>
          <a:stretch/>
        </p:blipFill>
        <p:spPr bwMode="auto">
          <a:xfrm>
            <a:off x="3109820" y="2188464"/>
            <a:ext cx="2614876" cy="185890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Isosceles Triangle 2"/>
          <p:cNvSpPr/>
          <p:nvPr/>
        </p:nvSpPr>
        <p:spPr>
          <a:xfrm>
            <a:off x="7127114" y="2203518"/>
            <a:ext cx="1060704" cy="9144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Isosceles Triangle 14"/>
          <p:cNvSpPr/>
          <p:nvPr/>
        </p:nvSpPr>
        <p:spPr>
          <a:xfrm>
            <a:off x="6617782" y="2590800"/>
            <a:ext cx="1060704" cy="9144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8" name="Straight Connector 7"/>
          <p:cNvCxnSpPr>
            <a:stCxn id="3" idx="0"/>
            <a:endCxn id="15" idx="0"/>
          </p:cNvCxnSpPr>
          <p:nvPr/>
        </p:nvCxnSpPr>
        <p:spPr>
          <a:xfrm flipH="1">
            <a:off x="7148134" y="2203518"/>
            <a:ext cx="509332" cy="3872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3" idx="2"/>
            <a:endCxn id="15" idx="2"/>
          </p:cNvCxnSpPr>
          <p:nvPr/>
        </p:nvCxnSpPr>
        <p:spPr>
          <a:xfrm flipH="1">
            <a:off x="6617782" y="3117918"/>
            <a:ext cx="509332" cy="3872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3" idx="4"/>
            <a:endCxn id="15" idx="4"/>
          </p:cNvCxnSpPr>
          <p:nvPr/>
        </p:nvCxnSpPr>
        <p:spPr>
          <a:xfrm flipH="1">
            <a:off x="7678486" y="3117918"/>
            <a:ext cx="509332" cy="3872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26766" y="4146092"/>
            <a:ext cx="3466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TSA = Sum the area of all the faces 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3204460" y="4838195"/>
            <a:ext cx="3422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Volume = Area of triangle x Length</a:t>
            </a:r>
          </a:p>
          <a:p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52204" y="2125407"/>
            <a:ext cx="23902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chemeClr val="tx2"/>
                </a:solidFill>
              </a:rPr>
              <a:t>How do I find the Surface area and volume of a </a:t>
            </a:r>
            <a:r>
              <a:rPr lang="en-AU" dirty="0" err="1" smtClean="0">
                <a:solidFill>
                  <a:schemeClr val="tx2"/>
                </a:solidFill>
              </a:rPr>
              <a:t>triangulat</a:t>
            </a:r>
            <a:r>
              <a:rPr lang="en-AU" dirty="0" smtClean="0">
                <a:solidFill>
                  <a:schemeClr val="tx2"/>
                </a:solidFill>
              </a:rPr>
              <a:t> prism?</a:t>
            </a:r>
            <a:endParaRPr lang="en-A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45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Plenary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Draw three shapes with a perimeter of 36cm.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145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951</Words>
  <Application>Microsoft Office PowerPoint</Application>
  <PresentationFormat>On-screen Show (4:3)</PresentationFormat>
  <Paragraphs>273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My Perimeter, Area and Volume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PowerPoint Presentation</vt:lpstr>
      <vt:lpstr>Notes Review</vt:lpstr>
      <vt:lpstr>Homework</vt:lpstr>
      <vt:lpstr>Plenary 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37</cp:revision>
  <dcterms:created xsi:type="dcterms:W3CDTF">2014-05-14T02:58:57Z</dcterms:created>
  <dcterms:modified xsi:type="dcterms:W3CDTF">2014-08-08T01:33:52Z</dcterms:modified>
</cp:coreProperties>
</file>
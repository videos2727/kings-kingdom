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261" r:id="rId5"/>
    <p:sldId id="293" r:id="rId6"/>
    <p:sldId id="294" r:id="rId7"/>
    <p:sldId id="292" r:id="rId8"/>
    <p:sldId id="29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26/11/2014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26/11/2014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26/11/2014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26/11/2014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26/11/2014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26/11/2014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26/11/2014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26/11/2014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26/11/2014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26/11/2014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26/11/2014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26/11/2014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Geometry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Name </a:t>
            </a:r>
          </a:p>
          <a:p>
            <a:r>
              <a:rPr lang="en-AU" dirty="0" smtClean="0"/>
              <a:t>Class </a:t>
            </a:r>
          </a:p>
          <a:p>
            <a:r>
              <a:rPr lang="en-AU" dirty="0" smtClean="0"/>
              <a:t>Term 4 Semester 2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340679" y="534320"/>
            <a:ext cx="1260140" cy="1396872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rapezoid 4"/>
          <p:cNvSpPr/>
          <p:nvPr/>
        </p:nvSpPr>
        <p:spPr>
          <a:xfrm>
            <a:off x="970749" y="2528900"/>
            <a:ext cx="1440160" cy="648072"/>
          </a:xfrm>
          <a:prstGeom prst="trapezoi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Hexagon 5"/>
          <p:cNvSpPr/>
          <p:nvPr/>
        </p:nvSpPr>
        <p:spPr>
          <a:xfrm>
            <a:off x="3549499" y="2132856"/>
            <a:ext cx="1512168" cy="1368152"/>
          </a:xfrm>
          <a:prstGeom prst="hexag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Decagon 6"/>
          <p:cNvSpPr/>
          <p:nvPr/>
        </p:nvSpPr>
        <p:spPr>
          <a:xfrm>
            <a:off x="5940152" y="2256179"/>
            <a:ext cx="1224136" cy="1296144"/>
          </a:xfrm>
          <a:prstGeom prst="decag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7596336" y="728700"/>
            <a:ext cx="115212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gular Pentagon 7"/>
          <p:cNvSpPr/>
          <p:nvPr/>
        </p:nvSpPr>
        <p:spPr>
          <a:xfrm>
            <a:off x="1159344" y="4612526"/>
            <a:ext cx="1062969" cy="1002165"/>
          </a:xfrm>
          <a:prstGeom prst="pentag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6156176" y="4365104"/>
            <a:ext cx="144016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940152" y="4365104"/>
            <a:ext cx="26642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6300192" y="5113608"/>
            <a:ext cx="25922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300192" y="5113608"/>
            <a:ext cx="129614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6948264" y="3861048"/>
            <a:ext cx="1224136" cy="17536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971600" y="476672"/>
            <a:ext cx="2712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Similar Triangles </a:t>
            </a:r>
            <a:r>
              <a:rPr lang="en-AU" sz="2800" dirty="0" smtClean="0"/>
              <a:t> </a:t>
            </a:r>
            <a:endParaRPr lang="en-AU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107860" y="103120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determine if two triangles are </a:t>
            </a:r>
            <a:r>
              <a:rPr lang="en-AU" sz="2400" dirty="0" smtClean="0"/>
              <a:t>similar</a:t>
            </a:r>
            <a:r>
              <a:rPr lang="en-AU" sz="2400" dirty="0" smtClean="0"/>
              <a:t>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4624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971600" y="476672"/>
            <a:ext cx="2712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Similar Triangles </a:t>
            </a:r>
            <a:r>
              <a:rPr lang="en-AU" sz="2800" dirty="0" smtClean="0"/>
              <a:t> </a:t>
            </a:r>
            <a:endParaRPr lang="en-AU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107860" y="103120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determine if two triangles are </a:t>
            </a:r>
            <a:r>
              <a:rPr lang="en-AU" sz="2400" dirty="0" smtClean="0"/>
              <a:t>similar</a:t>
            </a:r>
            <a:r>
              <a:rPr lang="en-AU" sz="2400" dirty="0" smtClean="0"/>
              <a:t>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2915816" y="1991635"/>
                <a:ext cx="6278729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Two triangles are similar if corresponding angles are equal and corresponding sides are in proportion.</a:t>
                </a:r>
              </a:p>
              <a:p>
                <a:r>
                  <a:rPr lang="en-AU" sz="2400" dirty="0" smtClean="0"/>
                  <a:t>Similarity statements –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/>
                          <a:ea typeface="Cambria Math"/>
                        </a:rPr>
                        <m:t>∆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𝐴𝐵𝐶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~∆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𝐷𝐸𝐹</m:t>
                      </m:r>
                    </m:oMath>
                  </m:oMathPara>
                </a14:m>
                <a:endParaRPr lang="en-AU" sz="2400" b="0" dirty="0" smtClean="0">
                  <a:ea typeface="Cambria Math"/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1991635"/>
                <a:ext cx="6278729" cy="1938992"/>
              </a:xfrm>
              <a:prstGeom prst="rect">
                <a:avLst/>
              </a:prstGeom>
              <a:blipFill rotWithShape="1">
                <a:blip r:embed="rId2"/>
                <a:stretch>
                  <a:fillRect l="-1456" t="-2516" r="-29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8178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971600" y="476672"/>
            <a:ext cx="2712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Similar Triangles </a:t>
            </a:r>
            <a:r>
              <a:rPr lang="en-AU" sz="2800" dirty="0" smtClean="0"/>
              <a:t> </a:t>
            </a:r>
            <a:endParaRPr lang="en-AU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107860" y="103120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determine if two triangles are </a:t>
            </a:r>
            <a:r>
              <a:rPr lang="en-AU" sz="2400" dirty="0" smtClean="0"/>
              <a:t>similar</a:t>
            </a:r>
            <a:r>
              <a:rPr lang="en-AU" sz="2400" dirty="0" smtClean="0"/>
              <a:t>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2915816" y="1991635"/>
                <a:ext cx="6278729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Two triangles are similar if corresponding angles are equal and corresponding sides are in proportion.</a:t>
                </a:r>
              </a:p>
              <a:p>
                <a:r>
                  <a:rPr lang="en-AU" sz="2400" dirty="0" smtClean="0"/>
                  <a:t>Similarity statements –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/>
                          <a:ea typeface="Cambria Math"/>
                        </a:rPr>
                        <m:t>∆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𝐴𝐵𝐶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~∆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𝐷𝐸𝐹</m:t>
                      </m:r>
                    </m:oMath>
                  </m:oMathPara>
                </a14:m>
                <a:endParaRPr lang="en-AU" sz="2400" b="0" dirty="0" smtClean="0">
                  <a:ea typeface="Cambria Math"/>
                </a:endParaRPr>
              </a:p>
              <a:p>
                <a:pPr/>
                <a:r>
                  <a:rPr lang="en-AU" sz="2400" dirty="0" smtClean="0">
                    <a:solidFill>
                      <a:srgbClr val="FF0000"/>
                    </a:solidFill>
                  </a:rPr>
                  <a:t>Tests for similarity </a:t>
                </a:r>
                <a:r>
                  <a:rPr lang="en-AU" sz="2400" dirty="0" smtClean="0"/>
                  <a:t>– </a:t>
                </a:r>
              </a:p>
              <a:p>
                <a:pPr/>
                <a:r>
                  <a:rPr lang="en-AU" sz="2400" dirty="0" smtClean="0">
                    <a:solidFill>
                      <a:srgbClr val="FF0000"/>
                    </a:solidFill>
                  </a:rPr>
                  <a:t>AAA </a:t>
                </a:r>
                <a:r>
                  <a:rPr lang="en-AU" sz="2400" dirty="0" smtClean="0"/>
                  <a:t>– all three corresponding angles are equal</a:t>
                </a:r>
              </a:p>
              <a:p>
                <a:pPr/>
                <a:r>
                  <a:rPr lang="en-AU" sz="2400" dirty="0" smtClean="0">
                    <a:solidFill>
                      <a:srgbClr val="FF0000"/>
                    </a:solidFill>
                  </a:rPr>
                  <a:t>SSS</a:t>
                </a:r>
                <a:r>
                  <a:rPr lang="en-AU" sz="2400" dirty="0" smtClean="0"/>
                  <a:t> – All three pairs of corresponding sides are in the same ratio. </a:t>
                </a:r>
              </a:p>
              <a:p>
                <a:pPr/>
                <a:r>
                  <a:rPr lang="en-AU" sz="2400" dirty="0" smtClean="0">
                    <a:solidFill>
                      <a:srgbClr val="FF0000"/>
                    </a:solidFill>
                  </a:rPr>
                  <a:t>SAS</a:t>
                </a:r>
                <a:r>
                  <a:rPr lang="en-AU" sz="2400" dirty="0" smtClean="0"/>
                  <a:t>- Two pairs of corresponding sides are in the same ratio and the included angle is equal.</a:t>
                </a:r>
              </a:p>
              <a:p>
                <a:pPr/>
                <a:r>
                  <a:rPr lang="en-AU" sz="2400" dirty="0" smtClean="0">
                    <a:solidFill>
                      <a:srgbClr val="FF0000"/>
                    </a:solidFill>
                  </a:rPr>
                  <a:t>RHS</a:t>
                </a:r>
                <a:r>
                  <a:rPr lang="en-AU" sz="2400" dirty="0" smtClean="0"/>
                  <a:t> – The hypotenuse and another corresponding side are in the same ratio.  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1991635"/>
                <a:ext cx="6278729" cy="4893647"/>
              </a:xfrm>
              <a:prstGeom prst="rect">
                <a:avLst/>
              </a:prstGeom>
              <a:blipFill rotWithShape="1">
                <a:blip r:embed="rId2"/>
                <a:stretch>
                  <a:fillRect l="-1456" t="-998" r="-1942" b="-19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4252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227</Words>
  <Application>Microsoft Office PowerPoint</Application>
  <PresentationFormat>On-screen Show (4:3)</PresentationFormat>
  <Paragraphs>60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My Geometry 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46</cp:revision>
  <dcterms:created xsi:type="dcterms:W3CDTF">2014-05-14T02:58:57Z</dcterms:created>
  <dcterms:modified xsi:type="dcterms:W3CDTF">2014-11-26T04:12:16Z</dcterms:modified>
</cp:coreProperties>
</file>
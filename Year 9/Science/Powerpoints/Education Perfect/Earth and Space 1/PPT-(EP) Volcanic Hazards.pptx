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45221-FC29-4616-B95F-095F76D60456}" type="datetimeFigureOut">
              <a:rPr lang="en-AU" smtClean="0"/>
              <a:t>13/07/2020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F30D-6553-4B94-86F2-238AA7EB86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0555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45221-FC29-4616-B95F-095F76D60456}" type="datetimeFigureOut">
              <a:rPr lang="en-AU" smtClean="0"/>
              <a:t>13/07/2020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F30D-6553-4B94-86F2-238AA7EB86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3148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45221-FC29-4616-B95F-095F76D60456}" type="datetimeFigureOut">
              <a:rPr lang="en-AU" smtClean="0"/>
              <a:t>13/07/2020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F30D-6553-4B94-86F2-238AA7EB86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6096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45221-FC29-4616-B95F-095F76D60456}" type="datetimeFigureOut">
              <a:rPr lang="en-AU" smtClean="0"/>
              <a:t>13/07/2020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F30D-6553-4B94-86F2-238AA7EB86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037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45221-FC29-4616-B95F-095F76D60456}" type="datetimeFigureOut">
              <a:rPr lang="en-AU" smtClean="0"/>
              <a:t>13/07/2020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F30D-6553-4B94-86F2-238AA7EB86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29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45221-FC29-4616-B95F-095F76D60456}" type="datetimeFigureOut">
              <a:rPr lang="en-AU" smtClean="0"/>
              <a:t>13/07/2020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F30D-6553-4B94-86F2-238AA7EB86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405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45221-FC29-4616-B95F-095F76D60456}" type="datetimeFigureOut">
              <a:rPr lang="en-AU" smtClean="0"/>
              <a:t>13/07/2020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F30D-6553-4B94-86F2-238AA7EB86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100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45221-FC29-4616-B95F-095F76D60456}" type="datetimeFigureOut">
              <a:rPr lang="en-AU" smtClean="0"/>
              <a:t>13/07/2020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F30D-6553-4B94-86F2-238AA7EB86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4947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45221-FC29-4616-B95F-095F76D60456}" type="datetimeFigureOut">
              <a:rPr lang="en-AU" smtClean="0"/>
              <a:t>13/07/2020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F30D-6553-4B94-86F2-238AA7EB86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4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45221-FC29-4616-B95F-095F76D60456}" type="datetimeFigureOut">
              <a:rPr lang="en-AU" smtClean="0"/>
              <a:t>13/07/2020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F30D-6553-4B94-86F2-238AA7EB86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907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45221-FC29-4616-B95F-095F76D60456}" type="datetimeFigureOut">
              <a:rPr lang="en-AU" smtClean="0"/>
              <a:t>13/07/2020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F30D-6553-4B94-86F2-238AA7EB86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0491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5221-FC29-4616-B95F-095F76D60456}" type="datetimeFigureOut">
              <a:rPr lang="en-AU" smtClean="0"/>
              <a:t>13/07/2020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FF30D-6553-4B94-86F2-238AA7EB86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8626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.png"/><Relationship Id="rId4" Type="http://schemas.openxmlformats.org/officeDocument/2006/relationships/hyperlink" Target="https://www.britannica.com/place/Eyjafjallajokull-volcano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5.png"/><Relationship Id="rId4" Type="http://schemas.openxmlformats.org/officeDocument/2006/relationships/hyperlink" Target="https://www.educationperfect.com/app/#/Science/1572045/1545992/activity-starter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ww.livescience.com/14603-pinatubo-eruption-20-anniversary.html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britannica.com/place/Mount-Saint-Helens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Volcanic Hazards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284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25600" y="859135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Lesson, you will learn about a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wide range of hazards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created by volcanoes. By the end you should be able to:</a:t>
            </a:r>
            <a:endParaRPr lang="en-AU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119653"/>
              </p:ext>
            </p:extLst>
          </p:nvPr>
        </p:nvGraphicFramePr>
        <p:xfrm>
          <a:off x="1625600" y="2030254"/>
          <a:ext cx="10515600" cy="132588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903742135"/>
                    </a:ext>
                  </a:extLst>
                </a:gridCol>
                <a:gridCol w="9639300">
                  <a:extLst>
                    <a:ext uri="{9D8B030D-6E8A-4147-A177-3AD203B41FA5}">
                      <a16:colId xmlns:a16="http://schemas.microsoft.com/office/drawing/2014/main" val="20205516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>
                          <a:effectLst/>
                          <a:latin typeface="KaTeX_Main"/>
                        </a:rPr>
                        <a:t/>
                      </a:r>
                      <a:br>
                        <a:rPr lang="en-AU" sz="2400" b="1">
                          <a:effectLst/>
                          <a:latin typeface="KaTeX_Main"/>
                        </a:rPr>
                      </a:br>
                      <a:r>
                        <a:rPr lang="en-AU" sz="2400" b="1">
                          <a:effectLst/>
                          <a:latin typeface="KaTeX_Main"/>
                        </a:rPr>
                        <a:t>1.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 dirty="0">
                          <a:solidFill>
                            <a:srgbClr val="009900"/>
                          </a:solidFill>
                          <a:effectLst/>
                        </a:rPr>
                        <a:t>Describe</a:t>
                      </a:r>
                      <a:r>
                        <a:rPr lang="en-AU" sz="2400" b="1" dirty="0">
                          <a:effectLst/>
                        </a:rPr>
                        <a:t> and </a:t>
                      </a:r>
                      <a:r>
                        <a:rPr lang="en-AU" sz="2400" b="1" dirty="0">
                          <a:solidFill>
                            <a:srgbClr val="009900"/>
                          </a:solidFill>
                          <a:effectLst/>
                        </a:rPr>
                        <a:t>identify</a:t>
                      </a:r>
                      <a:r>
                        <a:rPr lang="en-AU" sz="2400" b="1" dirty="0">
                          <a:effectLst/>
                        </a:rPr>
                        <a:t> hazards that are created by volcanoes;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753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>
                          <a:effectLst/>
                          <a:latin typeface="KaTeX_Main"/>
                        </a:rPr>
                        <a:t>2.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 dirty="0">
                          <a:solidFill>
                            <a:srgbClr val="0000FF"/>
                          </a:solidFill>
                          <a:effectLst/>
                        </a:rPr>
                        <a:t>Compare</a:t>
                      </a:r>
                      <a:r>
                        <a:rPr lang="en-AU" sz="2400" b="1" dirty="0">
                          <a:effectLst/>
                        </a:rPr>
                        <a:t> the effects of two historic volcanic eruptions.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116426"/>
                  </a:ext>
                </a:extLst>
              </a:tr>
            </a:tbl>
          </a:graphicData>
        </a:graphic>
      </p:graphicFrame>
      <p:pic>
        <p:nvPicPr>
          <p:cNvPr id="5" name="1509322488.6389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4700" y="3517900"/>
            <a:ext cx="38100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1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778639"/>
            <a:ext cx="111887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9C12"/>
                </a:solidFill>
                <a:effectLst/>
                <a:latin typeface="Arial" panose="020B0604020202020204" pitchFamily="34" charset="0"/>
              </a:rPr>
              <a:t>Volcanic Gases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Volcanoes expel several dangerous gases, including </a:t>
            </a:r>
            <a:r>
              <a:rPr lang="en-AU" sz="2400" b="1" i="0" dirty="0" err="1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sulfur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 dioxide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(SO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hydrogen </a:t>
            </a:r>
            <a:r>
              <a:rPr lang="en-AU" sz="2400" b="1" i="0" dirty="0" err="1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sulfide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(H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​S).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gases are highly toxic, colourless and smell like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rotten eggs!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People caught near an erupting volcano can wear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gas masks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carry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electronic monitors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protect themselves from dangerous gas levels.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ography/1529011173.784171g/1529011173707-3111879717802663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0" y="3921506"/>
            <a:ext cx="4159250" cy="2774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7458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300" y="374640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Ash Clouds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Massive plumes of </a:t>
            </a:r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ash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cause a number of issues for people. Volcanic ash particles are essentially </a:t>
            </a:r>
            <a:r>
              <a:rPr lang="en-AU" sz="2400" b="1" i="0" dirty="0" smtClean="0">
                <a:solidFill>
                  <a:srgbClr val="9A2523"/>
                </a:solidFill>
                <a:effectLst/>
                <a:latin typeface="Arial" panose="020B0604020202020204" pitchFamily="34" charset="0"/>
              </a:rPr>
              <a:t>microscopic pieces of natural glass.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they enter a person's lungs they cause major breathing difficulties.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Ash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even wreck the </a:t>
            </a:r>
            <a:r>
              <a:rPr lang="en-AU" sz="2400" b="1" i="0" dirty="0" smtClean="0">
                <a:solidFill>
                  <a:srgbClr val="7C59B2"/>
                </a:solidFill>
                <a:effectLst/>
                <a:latin typeface="Arial" panose="020B0604020202020204" pitchFamily="34" charset="0"/>
              </a:rPr>
              <a:t>engines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jet-powered aircraft! When Iceland's </a:t>
            </a:r>
            <a:r>
              <a:rPr lang="en-AU" sz="2400" b="0" i="0" u="none" strike="noStrike" dirty="0" err="1" smtClean="0">
                <a:solidFill>
                  <a:srgbClr val="0780B0"/>
                </a:solidFill>
                <a:effectLst/>
                <a:latin typeface="Arial" panose="020B0604020202020204" pitchFamily="34" charset="0"/>
                <a:hlinkClick r:id="rId4"/>
              </a:rPr>
              <a:t>Eyjafjallajökull</a:t>
            </a:r>
            <a:r>
              <a:rPr lang="en-AU" sz="2400" b="0" i="0" u="none" strike="noStrike" dirty="0" smtClean="0">
                <a:solidFill>
                  <a:srgbClr val="0780B0"/>
                </a:solidFill>
                <a:effectLst/>
                <a:latin typeface="Arial" panose="020B0604020202020204" pitchFamily="34" charset="0"/>
                <a:hlinkClick r:id="rId4"/>
              </a:rPr>
              <a:t> volcano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erupted in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2010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 ash cloud over Europe caused the largest air traffic shut-down since World War II.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6164.2583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45300" y="1917700"/>
            <a:ext cx="4921956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4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600839"/>
            <a:ext cx="11303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Ash Clouds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being erupted, ash eventually </a:t>
            </a:r>
            <a:r>
              <a:rPr lang="en-AU" sz="2400" b="1" i="0" dirty="0" smtClean="0">
                <a:solidFill>
                  <a:srgbClr val="7C59B2"/>
                </a:solidFill>
                <a:effectLst/>
                <a:latin typeface="Arial" panose="020B0604020202020204" pitchFamily="34" charset="0"/>
              </a:rPr>
              <a:t>falls back down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makes a blanket over the landscape. This can damage the environment in the short term by </a:t>
            </a:r>
            <a:r>
              <a:rPr lang="en-AU" sz="2400" b="1" i="0" dirty="0" smtClean="0">
                <a:solidFill>
                  <a:srgbClr val="9A2523"/>
                </a:solidFill>
                <a:effectLst/>
                <a:latin typeface="Arial" panose="020B0604020202020204" pitchFamily="34" charset="0"/>
              </a:rPr>
              <a:t>clogging rivers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9A2523"/>
                </a:solidFill>
                <a:effectLst/>
                <a:latin typeface="Arial" panose="020B0604020202020204" pitchFamily="34" charset="0"/>
              </a:rPr>
              <a:t>burying plants.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it's not all bad news! Volcanic ash also </a:t>
            </a:r>
            <a:r>
              <a:rPr lang="en-AU" sz="2400" b="1" i="0" dirty="0" smtClean="0">
                <a:solidFill>
                  <a:srgbClr val="38B06B"/>
                </a:solidFill>
                <a:effectLst/>
                <a:latin typeface="Arial" panose="020B0604020202020204" pitchFamily="34" charset="0"/>
              </a:rPr>
              <a:t>adds nutrients to the soil,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 brings long-term benefits for </a:t>
            </a:r>
            <a:r>
              <a:rPr lang="en-AU" sz="2400" b="1" i="0" dirty="0" smtClean="0">
                <a:solidFill>
                  <a:srgbClr val="146307"/>
                </a:solidFill>
                <a:effectLst/>
                <a:latin typeface="Arial" panose="020B0604020202020204" pitchFamily="34" charset="0"/>
              </a:rPr>
              <a:t>crop plants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people who eat them.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03014134.286341g/1503014150463-87350480594061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3648075"/>
            <a:ext cx="5076825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629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25440"/>
            <a:ext cx="10541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Lava Bombs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u="none" strike="noStrike" dirty="0" smtClean="0">
                <a:solidFill>
                  <a:srgbClr val="0780B0"/>
                </a:solidFill>
                <a:effectLst/>
                <a:hlinkClick r:id="rId4"/>
              </a:rPr>
              <a:t>Lava</a:t>
            </a:r>
            <a:r>
              <a:rPr lang="en-AU" sz="2400" dirty="0" smtClean="0">
                <a:effectLst/>
              </a:rPr>
              <a:t> is molten rock that gets flung out of a volcano during an eruption. It sometimes </a:t>
            </a:r>
            <a:r>
              <a:rPr lang="en-AU" sz="2400" b="1" dirty="0" smtClean="0">
                <a:solidFill>
                  <a:srgbClr val="29C6DF"/>
                </a:solidFill>
                <a:effectLst/>
              </a:rPr>
              <a:t>solidifies</a:t>
            </a:r>
            <a:r>
              <a:rPr lang="en-AU" sz="2400" dirty="0" smtClean="0">
                <a:effectLst/>
              </a:rPr>
              <a:t> in mid-air to form </a:t>
            </a:r>
            <a:r>
              <a:rPr lang="en-AU" sz="2400" b="1" dirty="0" smtClean="0">
                <a:solidFill>
                  <a:srgbClr val="0066CC"/>
                </a:solidFill>
                <a:effectLst/>
              </a:rPr>
              <a:t>'bombs'.</a:t>
            </a:r>
            <a:r>
              <a:rPr lang="en-AU" sz="2400" dirty="0" smtClean="0">
                <a:effectLst/>
              </a:rPr>
              <a:t> These are large fragments of rock at least </a:t>
            </a:r>
            <a:r>
              <a:rPr lang="en-AU" sz="2400" dirty="0" smtClean="0">
                <a:effectLst/>
                <a:latin typeface="KaTeX_Main"/>
              </a:rPr>
              <a:t>64</a:t>
            </a:r>
            <a:r>
              <a:rPr lang="en-AU" sz="2400" dirty="0" smtClean="0">
                <a:effectLst/>
              </a:rPr>
              <a:t> millimetres across.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Lava bombs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often have unique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teardrop shapes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a result of their flight through the air. Despite their name, they usually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don't explode.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their large size and weight means they can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damage buildings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injure people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close to the eruption.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8946607.13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060700" y="3841760"/>
            <a:ext cx="5308600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4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349240"/>
            <a:ext cx="109855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Acid Rain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acidic gases such as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hydrogen chloride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HCl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are emitted from an eruption, they enter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atmosphere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react with the water droplets inside clouds. Those droplets then fall as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acid rain.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Acid rain is a problem because it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pollutes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waterways,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kills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vegetation and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weathers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stone structures. In most cases it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isn't directly harmful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people and animals, despite what you may see on TV!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6665331.8155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41700" y="3765560"/>
            <a:ext cx="49784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6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348040"/>
            <a:ext cx="116459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Pyroclastic Flows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Pyroclastic flows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yet another destructive force produced by volcanoes. They consist of </a:t>
            </a:r>
            <a:r>
              <a:rPr lang="en-AU" sz="2400" b="1" i="0" dirty="0" smtClean="0">
                <a:solidFill>
                  <a:srgbClr val="F39C12"/>
                </a:solidFill>
                <a:effectLst/>
                <a:latin typeface="Arial" panose="020B0604020202020204" pitchFamily="34" charset="0"/>
              </a:rPr>
              <a:t>hot gases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rock fragments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(called </a:t>
            </a:r>
            <a:r>
              <a:rPr lang="en-AU" sz="2400" b="1" i="0" dirty="0" smtClean="0">
                <a:solidFill>
                  <a:srgbClr val="9A2523"/>
                </a:solidFill>
                <a:effectLst/>
                <a:latin typeface="Arial" panose="020B0604020202020204" pitchFamily="34" charset="0"/>
              </a:rPr>
              <a:t>tephra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moving at speeds of up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700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kilometres per hour;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that's over half the speed of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sound!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9C12"/>
                </a:solidFill>
                <a:effectLst/>
                <a:latin typeface="Arial" panose="020B0604020202020204" pitchFamily="34" charset="0"/>
              </a:rPr>
              <a:t>gas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pyroclastic flow is heated to a searing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1000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It burns and flattens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everything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its path!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47125105.60071g/1447125107932-2214951776018797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275" y="3529013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88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46440"/>
            <a:ext cx="110871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8B4513"/>
                </a:solidFill>
                <a:effectLst/>
                <a:latin typeface="Arial" panose="020B0604020202020204" pitchFamily="34" charset="0"/>
              </a:rPr>
              <a:t>Lahars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8B4513"/>
                </a:solidFill>
                <a:effectLst/>
                <a:latin typeface="Arial" panose="020B0604020202020204" pitchFamily="34" charset="0"/>
              </a:rPr>
              <a:t>Lahars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giant mud slides formed when material from a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pyroclastic flow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combines with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water.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usually occurs in river valleys.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Lahars are incredibly dangerous because they can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destroy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almost anything in their path. In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1991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 colossal eruption at </a:t>
            </a:r>
            <a:r>
              <a:rPr lang="en-AU" sz="2400" b="0" i="0" u="none" strike="noStrike" dirty="0" smtClean="0">
                <a:solidFill>
                  <a:srgbClr val="0780B0"/>
                </a:solidFill>
                <a:effectLst/>
                <a:latin typeface="Arial" panose="020B0604020202020204" pitchFamily="34" charset="0"/>
                <a:hlinkClick r:id="rId2"/>
              </a:rPr>
              <a:t>Mount Pinatubo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created lahars up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6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metres thick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buried buildings, rivers and farmland on the Philippine island of Luzon.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Geography/1529011104.472581g/1529011104427-3111879717802663-8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475" y="3888576"/>
            <a:ext cx="4451350" cy="296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029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47640"/>
            <a:ext cx="11811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Volcanoes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majestic and exciting, but their eruptions can also be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deadly.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eruption of </a:t>
            </a:r>
            <a:r>
              <a:rPr lang="en-AU" sz="2400" b="0" i="0" u="none" strike="noStrike" dirty="0" smtClean="0">
                <a:solidFill>
                  <a:srgbClr val="0780B0"/>
                </a:solidFill>
                <a:effectLst/>
                <a:latin typeface="Arial" panose="020B0604020202020204" pitchFamily="34" charset="0"/>
                <a:hlinkClick r:id="rId2"/>
              </a:rPr>
              <a:t>Mount St. Helens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1980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for example, will always be remembered as one of the greatest tragedies in American history.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Mount St. Helens is located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Washington,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one of the western United States of America. Even before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1980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volcano was known for its explosions of </a:t>
            </a:r>
            <a:r>
              <a:rPr lang="en-AU" sz="2400" b="1" i="0" dirty="0" smtClean="0">
                <a:solidFill>
                  <a:srgbClr val="7C59B2"/>
                </a:solidFill>
                <a:effectLst/>
                <a:latin typeface="Arial" panose="020B0604020202020204" pitchFamily="34" charset="0"/>
              </a:rPr>
              <a:t>ash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silica-rich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rock domes.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was an impressive peak that inspired many Native American legends.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29280263.101741g/1529280262864-4157347857748141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791466"/>
            <a:ext cx="5340350" cy="2914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630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109141"/>
            <a:ext cx="11836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weeks before May 1980, geologists noticed that Mount St. Helens was getting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bigger.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Molten rock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was rising up from deep inside the Earth and filling up the volcano, causing its north face to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bulge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outward.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 May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18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north face gave way in a gigantic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landslide.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rock fell from the side of the volcano, the molten material inside burst free in a huge </a:t>
            </a:r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sideways explosion.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created a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pyroclastic flow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overtook the original landslide and buried everything in its path.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0992.8235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70300" y="3894793"/>
            <a:ext cx="4451350" cy="284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58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13541"/>
            <a:ext cx="116205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With 57 lives lost and scoring a 5 on the Volcanic 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Explosivity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Index, this eruption was the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deadliest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American history.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addition to landslides and pyroclastic flows, Mount St. Helens also sent plumes of </a:t>
            </a:r>
            <a:r>
              <a:rPr lang="en-AU" sz="2400" b="1" i="0" dirty="0" smtClean="0">
                <a:solidFill>
                  <a:srgbClr val="7C59B2"/>
                </a:solidFill>
                <a:effectLst/>
                <a:latin typeface="Arial" panose="020B0604020202020204" pitchFamily="34" charset="0"/>
              </a:rPr>
              <a:t>ash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several kilometres into the sky. It even melted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ice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snow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around its summit, which mixed with pyroclastic material to form destructive </a:t>
            </a:r>
            <a:r>
              <a:rPr lang="en-AU" sz="2400" b="1" i="0" dirty="0" smtClean="0">
                <a:solidFill>
                  <a:srgbClr val="8B4513"/>
                </a:solidFill>
                <a:effectLst/>
                <a:latin typeface="Arial" panose="020B0604020202020204" pitchFamily="34" charset="0"/>
              </a:rPr>
              <a:t>lahars.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reason this eruption was so devastating was because most of its power was concentrated in a </a:t>
            </a:r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sideways blast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north face. Very few people expected Mount St. Helens to erupt in this way.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29285487.134281g/1529285487057-1654948517420419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299" y="4330700"/>
            <a:ext cx="3735501" cy="252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018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87900" y="298440"/>
            <a:ext cx="6731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April 1815, explosions at Mount 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Tambora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literally </a:t>
            </a:r>
            <a:r>
              <a:rPr lang="en-AU" sz="2400" b="1" i="0" dirty="0" smtClean="0">
                <a:solidFill>
                  <a:srgbClr val="F39C12"/>
                </a:solidFill>
                <a:effectLst/>
                <a:latin typeface="Arial" panose="020B0604020202020204" pitchFamily="34" charset="0"/>
              </a:rPr>
              <a:t>sent shockwaves around the world!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Sounds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eruption were heard in the furthest reaches of Indonesia, where people thought they were hearing gunshots. Within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1300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kilometres of the volcano, everything was covered in choking </a:t>
            </a:r>
            <a:r>
              <a:rPr lang="en-AU" sz="2400" b="1" i="0" dirty="0" smtClean="0">
                <a:solidFill>
                  <a:srgbClr val="7C59B2"/>
                </a:solidFill>
                <a:effectLst/>
                <a:latin typeface="Arial" panose="020B0604020202020204" pitchFamily="34" charset="0"/>
              </a:rPr>
              <a:t>ash.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Pyroclastic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flows completely flattened the village of 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Tambora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10,000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people lived. Overall, at least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71,000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people tragically lost their lives, making this the deadliest eruption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all of recorded history.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29282573.845471g/1529282573867-165494851742041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25" y="1615930"/>
            <a:ext cx="5203825" cy="262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004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73</Words>
  <Application>Microsoft Office PowerPoint</Application>
  <PresentationFormat>Widescreen</PresentationFormat>
  <Paragraphs>60</Paragraphs>
  <Slides>13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KaTeX_Main</vt:lpstr>
      <vt:lpstr>Office Theme</vt:lpstr>
      <vt:lpstr>Volcanic Hazards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Volcanic Hazards</dc:title>
  <dc:creator>Joseph D'cruz</dc:creator>
  <cp:lastModifiedBy>Joseph D'cruz</cp:lastModifiedBy>
  <cp:revision>2</cp:revision>
  <dcterms:created xsi:type="dcterms:W3CDTF">2020-07-13T11:19:31Z</dcterms:created>
  <dcterms:modified xsi:type="dcterms:W3CDTF">2020-07-13T11:31:03Z</dcterms:modified>
</cp:coreProperties>
</file>
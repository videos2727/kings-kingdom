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61" r:id="rId5"/>
    <p:sldId id="258" r:id="rId6"/>
    <p:sldId id="259" r:id="rId7"/>
    <p:sldId id="262" r:id="rId8"/>
    <p:sldId id="263" r:id="rId9"/>
    <p:sldId id="264" r:id="rId10"/>
    <p:sldId id="266" r:id="rId11"/>
    <p:sldId id="265"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21"/>
  </p:normalViewPr>
  <p:slideViewPr>
    <p:cSldViewPr>
      <p:cViewPr varScale="1">
        <p:scale>
          <a:sx n="108" d="100"/>
          <a:sy n="108" d="100"/>
        </p:scale>
        <p:origin x="1760" y="2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328166" y="1295400"/>
            <a:ext cx="6487668" cy="3152887"/>
          </a:xfrm>
          <a:prstGeom prst="rect">
            <a:avLst/>
          </a:prstGeo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p>
            <a:pPr marL="0" indent="0" algn="l" defTabSz="914400" rtl="0" eaLnBrk="1" latinLnBrk="0" hangingPunct="1">
              <a:spcBef>
                <a:spcPts val="2000"/>
              </a:spcBef>
              <a:buClr>
                <a:schemeClr val="accent1">
                  <a:lumMod val="60000"/>
                  <a:lumOff val="40000"/>
                </a:schemeClr>
              </a:buClr>
              <a:buSzPct val="110000"/>
              <a:buFont typeface="Wingdings 2" pitchFamily="18" charset="2"/>
              <a:buNone/>
            </a:pPr>
            <a:endParaRPr sz="3200" kern="1200">
              <a:solidFill>
                <a:schemeClr val="tx1">
                  <a:lumMod val="65000"/>
                  <a:lumOff val="35000"/>
                </a:schemeClr>
              </a:solidFill>
              <a:latin typeface="+mn-lt"/>
              <a:ea typeface="+mn-ea"/>
              <a:cs typeface="+mn-cs"/>
            </a:endParaRPr>
          </a:p>
        </p:txBody>
      </p:sp>
      <p:sp>
        <p:nvSpPr>
          <p:cNvPr id="2" name="Title 1"/>
          <p:cNvSpPr>
            <a:spLocks noGrp="1"/>
          </p:cNvSpPr>
          <p:nvPr>
            <p:ph type="ctrTitle"/>
          </p:nvPr>
        </p:nvSpPr>
        <p:spPr>
          <a:xfrm>
            <a:off x="1322921" y="1523999"/>
            <a:ext cx="6498158" cy="1724867"/>
          </a:xfrm>
        </p:spPr>
        <p:txBody>
          <a:bodyPr vert="horz" lIns="91440" tIns="45720" rIns="91440" bIns="45720" rtlCol="0" anchor="b" anchorCtr="0">
            <a:noAutofit/>
          </a:bodyPr>
          <a:lstStyle>
            <a:lvl1pPr marL="0" indent="0" algn="ctr" defTabSz="914400" rtl="0" eaLnBrk="1" latinLnBrk="0" hangingPunct="1">
              <a:spcBef>
                <a:spcPct val="0"/>
              </a:spcBef>
              <a:buClr>
                <a:schemeClr val="accent1">
                  <a:lumMod val="60000"/>
                  <a:lumOff val="40000"/>
                </a:schemeClr>
              </a:buClr>
              <a:buSzPct val="110000"/>
              <a:buFont typeface="Wingdings 2" pitchFamily="18" charset="2"/>
              <a:buNone/>
              <a:defRPr sz="4600" kern="1200">
                <a:solidFill>
                  <a:schemeClr val="accent1"/>
                </a:solidFill>
                <a:latin typeface="+mj-lt"/>
                <a:ea typeface="+mj-ea"/>
                <a:cs typeface="+mj-cs"/>
              </a:defRPr>
            </a:lvl1pPr>
          </a:lstStyle>
          <a:p>
            <a:r>
              <a:rPr lang="en-AU"/>
              <a:t>Click to edit Master title style</a:t>
            </a:r>
            <a:endParaRPr/>
          </a:p>
        </p:txBody>
      </p:sp>
      <p:sp>
        <p:nvSpPr>
          <p:cNvPr id="3" name="Subtitle 2"/>
          <p:cNvSpPr>
            <a:spLocks noGrp="1"/>
          </p:cNvSpPr>
          <p:nvPr>
            <p:ph type="subTitle" idx="1"/>
          </p:nvPr>
        </p:nvSpPr>
        <p:spPr>
          <a:xfrm>
            <a:off x="1322921" y="3299012"/>
            <a:ext cx="6498159" cy="916641"/>
          </a:xfrm>
        </p:spPr>
        <p:txBody>
          <a:bodyPr vert="horz" lIns="91440" tIns="45720" rIns="91440" bIns="45720" rtlCol="0">
            <a:normAutofit/>
          </a:bodyPr>
          <a:lstStyle>
            <a:lvl1pPr marL="0" indent="0" algn="ctr" defTabSz="914400" rtl="0" eaLnBrk="1" latinLnBrk="0" hangingPunct="1">
              <a:spcBef>
                <a:spcPts val="300"/>
              </a:spcBef>
              <a:buClr>
                <a:schemeClr val="accent1">
                  <a:lumMod val="60000"/>
                  <a:lumOff val="40000"/>
                </a:schemeClr>
              </a:buClr>
              <a:buSzPct val="110000"/>
              <a:buFont typeface="Wingdings 2" pitchFamily="18" charset="2"/>
              <a:buNone/>
              <a:defRPr sz="1800" kern="1200">
                <a:solidFill>
                  <a:schemeClr val="tx1">
                    <a:tint val="7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a:t>Click to edit Master subtitle style</a:t>
            </a:r>
            <a:endParaRPr dirty="0"/>
          </a:p>
        </p:txBody>
      </p:sp>
      <p:sp>
        <p:nvSpPr>
          <p:cNvPr id="4" name="Date Placeholder 3"/>
          <p:cNvSpPr>
            <a:spLocks noGrp="1"/>
          </p:cNvSpPr>
          <p:nvPr>
            <p:ph type="dt" sz="half" idx="10"/>
          </p:nvPr>
        </p:nvSpPr>
        <p:spPr/>
        <p:txBody>
          <a:bodyPr/>
          <a:lstStyle/>
          <a:p>
            <a:fld id="{7282AD77-1057-47AC-AA6A-A520B797BDF7}"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4C786D3-E0DF-451F-948C-40959120EE68}" type="slidenum">
              <a:rPr lang="en-AU" smtClean="0"/>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a:p>
        </p:txBody>
      </p:sp>
      <p:sp>
        <p:nvSpPr>
          <p:cNvPr id="3" name="Content Placeholder 2"/>
          <p:cNvSpPr>
            <a:spLocks noGrp="1"/>
          </p:cNvSpPr>
          <p:nvPr>
            <p:ph idx="1"/>
          </p:nvPr>
        </p:nvSpPr>
        <p:spPr/>
        <p:txBody>
          <a:bodyPr/>
          <a:lstStyle>
            <a:lvl5pPr>
              <a:defRPr/>
            </a:lvl5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Date Placeholder 3"/>
          <p:cNvSpPr>
            <a:spLocks noGrp="1"/>
          </p:cNvSpPr>
          <p:nvPr>
            <p:ph type="dt" sz="half" idx="10"/>
          </p:nvPr>
        </p:nvSpPr>
        <p:spPr/>
        <p:txBody>
          <a:bodyPr/>
          <a:lstStyle/>
          <a:p>
            <a:fld id="{7282AD77-1057-47AC-AA6A-A520B797BDF7}"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4C786D3-E0DF-451F-948C-40959120EE68}"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363538" y="3352801"/>
            <a:ext cx="8416925" cy="1470025"/>
          </a:xfrm>
        </p:spPr>
        <p:txBody>
          <a:bodyPr/>
          <a:lstStyle/>
          <a:p>
            <a:r>
              <a:rPr lang="en-AU"/>
              <a:t>Click to edit Master title style</a:t>
            </a:r>
            <a:endParaRPr dirty="0"/>
          </a:p>
        </p:txBody>
      </p:sp>
      <p:sp>
        <p:nvSpPr>
          <p:cNvPr id="3" name="Subtitle 2"/>
          <p:cNvSpPr>
            <a:spLocks noGrp="1"/>
          </p:cNvSpPr>
          <p:nvPr>
            <p:ph type="subTitle" idx="1"/>
          </p:nvPr>
        </p:nvSpPr>
        <p:spPr>
          <a:xfrm>
            <a:off x="363538" y="4771029"/>
            <a:ext cx="8416925" cy="972671"/>
          </a:xfrm>
        </p:spPr>
        <p:txBody>
          <a:bodyPr>
            <a:normAutofit/>
          </a:bodyPr>
          <a:lstStyle>
            <a:lvl1pPr marL="0" indent="0" algn="ctr">
              <a:spcBef>
                <a:spcPts val="30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a:t>Click to edit Master subtitle style</a:t>
            </a:r>
            <a:endParaRPr dirty="0"/>
          </a:p>
        </p:txBody>
      </p:sp>
      <p:sp>
        <p:nvSpPr>
          <p:cNvPr id="4" name="Date Placeholder 3"/>
          <p:cNvSpPr>
            <a:spLocks noGrp="1"/>
          </p:cNvSpPr>
          <p:nvPr>
            <p:ph type="dt" sz="half" idx="10"/>
          </p:nvPr>
        </p:nvSpPr>
        <p:spPr/>
        <p:txBody>
          <a:bodyPr/>
          <a:lstStyle/>
          <a:p>
            <a:fld id="{7282AD77-1057-47AC-AA6A-A520B797BDF7}"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4C786D3-E0DF-451F-948C-40959120EE68}" type="slidenum">
              <a:rPr lang="en-AU" smtClean="0"/>
              <a:t>‹#›</a:t>
            </a:fld>
            <a:endParaRPr lang="en-AU"/>
          </a:p>
        </p:txBody>
      </p:sp>
      <p:sp>
        <p:nvSpPr>
          <p:cNvPr id="9" name="Picture Placeholder 2"/>
          <p:cNvSpPr>
            <a:spLocks noGrp="1"/>
          </p:cNvSpPr>
          <p:nvPr>
            <p:ph type="pic" idx="13"/>
          </p:nvPr>
        </p:nvSpPr>
        <p:spPr>
          <a:xfrm>
            <a:off x="370980" y="363538"/>
            <a:ext cx="8402040" cy="2836862"/>
          </a:xfrm>
          <a:ln w="3175">
            <a:solidFill>
              <a:schemeClr val="bg1"/>
            </a:solidFill>
          </a:ln>
          <a:effectLst>
            <a:outerShdw blurRad="63500" sx="100500" sy="100500" algn="ctr"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a:t>Drag picture to placeholder or click icon to add</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9275" y="2403144"/>
            <a:ext cx="8056563" cy="1362075"/>
          </a:xfrm>
        </p:spPr>
        <p:txBody>
          <a:bodyPr anchor="b" anchorCtr="0"/>
          <a:lstStyle>
            <a:lvl1pPr algn="ctr">
              <a:defRPr sz="4600" b="0" cap="none" baseline="0"/>
            </a:lvl1pPr>
          </a:lstStyle>
          <a:p>
            <a:r>
              <a:rPr lang="en-AU"/>
              <a:t>Click to edit Master title style</a:t>
            </a:r>
            <a:endParaRPr/>
          </a:p>
        </p:txBody>
      </p:sp>
      <p:sp>
        <p:nvSpPr>
          <p:cNvPr id="3" name="Text Placeholder 2"/>
          <p:cNvSpPr>
            <a:spLocks noGrp="1"/>
          </p:cNvSpPr>
          <p:nvPr>
            <p:ph type="body" idx="1"/>
          </p:nvPr>
        </p:nvSpPr>
        <p:spPr>
          <a:xfrm>
            <a:off x="549275" y="3736005"/>
            <a:ext cx="8056563" cy="1500187"/>
          </a:xfrm>
        </p:spPr>
        <p:txBody>
          <a:bodyPr anchor="t" anchorCtr="0">
            <a:normAutofit/>
          </a:bodyPr>
          <a:lstStyle>
            <a:lvl1pPr marL="0" indent="0" algn="ctr">
              <a:spcBef>
                <a:spcPts val="300"/>
              </a:spcBef>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a:t>Click to edit Master text styles</a:t>
            </a:r>
          </a:p>
        </p:txBody>
      </p:sp>
      <p:sp>
        <p:nvSpPr>
          <p:cNvPr id="4" name="Date Placeholder 3"/>
          <p:cNvSpPr>
            <a:spLocks noGrp="1"/>
          </p:cNvSpPr>
          <p:nvPr>
            <p:ph type="dt" sz="half" idx="10"/>
          </p:nvPr>
        </p:nvSpPr>
        <p:spPr/>
        <p:txBody>
          <a:bodyPr/>
          <a:lstStyle/>
          <a:p>
            <a:fld id="{7282AD77-1057-47AC-AA6A-A520B797BDF7}"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4C786D3-E0DF-451F-948C-40959120EE68}"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49275" y="107576"/>
            <a:ext cx="8042276" cy="1336956"/>
          </a:xfrm>
        </p:spPr>
        <p:txBody>
          <a:bodyPr/>
          <a:lstStyle/>
          <a:p>
            <a:r>
              <a:rPr lang="en-AU"/>
              <a:t>Click to edit Master title style</a:t>
            </a:r>
            <a:endParaRPr/>
          </a:p>
        </p:txBody>
      </p:sp>
      <p:sp>
        <p:nvSpPr>
          <p:cNvPr id="3" name="Content Placeholder 2"/>
          <p:cNvSpPr>
            <a:spLocks noGrp="1"/>
          </p:cNvSpPr>
          <p:nvPr>
            <p:ph sz="half" idx="1"/>
          </p:nvPr>
        </p:nvSpPr>
        <p:spPr>
          <a:xfrm>
            <a:off x="549275"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Content Placeholder 3"/>
          <p:cNvSpPr>
            <a:spLocks noGrp="1"/>
          </p:cNvSpPr>
          <p:nvPr>
            <p:ph sz="half" idx="2"/>
          </p:nvPr>
        </p:nvSpPr>
        <p:spPr>
          <a:xfrm>
            <a:off x="4751071"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5" name="Date Placeholder 4"/>
          <p:cNvSpPr>
            <a:spLocks noGrp="1"/>
          </p:cNvSpPr>
          <p:nvPr>
            <p:ph type="dt" sz="half" idx="10"/>
          </p:nvPr>
        </p:nvSpPr>
        <p:spPr/>
        <p:txBody>
          <a:bodyPr/>
          <a:lstStyle/>
          <a:p>
            <a:fld id="{7282AD77-1057-47AC-AA6A-A520B797BDF7}" type="datetimeFigureOut">
              <a:rPr lang="en-AU" smtClean="0"/>
              <a:t>9/11/19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4C786D3-E0DF-451F-948C-40959120EE68}"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49274" y="107576"/>
            <a:ext cx="8042276" cy="1336956"/>
          </a:xfrm>
        </p:spPr>
        <p:txBody>
          <a:bodyPr/>
          <a:lstStyle>
            <a:lvl1pPr>
              <a:defRPr/>
            </a:lvl1pPr>
          </a:lstStyle>
          <a:p>
            <a:r>
              <a:rPr lang="en-AU"/>
              <a:t>Click to edit Master title style</a:t>
            </a:r>
            <a:endParaRPr/>
          </a:p>
        </p:txBody>
      </p:sp>
      <p:sp>
        <p:nvSpPr>
          <p:cNvPr id="3" name="Text Placeholder 2"/>
          <p:cNvSpPr>
            <a:spLocks noGrp="1"/>
          </p:cNvSpPr>
          <p:nvPr>
            <p:ph type="body" idx="1"/>
          </p:nvPr>
        </p:nvSpPr>
        <p:spPr>
          <a:xfrm>
            <a:off x="549274"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549274"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5" name="Text Placeholder 4"/>
          <p:cNvSpPr>
            <a:spLocks noGrp="1"/>
          </p:cNvSpPr>
          <p:nvPr>
            <p:ph type="body" sz="quarter" idx="3"/>
          </p:nvPr>
        </p:nvSpPr>
        <p:spPr>
          <a:xfrm>
            <a:off x="4751070"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751070"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7" name="Date Placeholder 6"/>
          <p:cNvSpPr>
            <a:spLocks noGrp="1"/>
          </p:cNvSpPr>
          <p:nvPr>
            <p:ph type="dt" sz="half" idx="10"/>
          </p:nvPr>
        </p:nvSpPr>
        <p:spPr/>
        <p:txBody>
          <a:bodyPr/>
          <a:lstStyle/>
          <a:p>
            <a:fld id="{7282AD77-1057-47AC-AA6A-A520B797BDF7}" type="datetimeFigureOut">
              <a:rPr lang="en-AU" smtClean="0"/>
              <a:t>9/11/19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4C786D3-E0DF-451F-948C-40959120EE68}"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a:p>
        </p:txBody>
      </p:sp>
      <p:sp>
        <p:nvSpPr>
          <p:cNvPr id="3" name="Date Placeholder 2"/>
          <p:cNvSpPr>
            <a:spLocks noGrp="1"/>
          </p:cNvSpPr>
          <p:nvPr>
            <p:ph type="dt" sz="half" idx="10"/>
          </p:nvPr>
        </p:nvSpPr>
        <p:spPr/>
        <p:txBody>
          <a:bodyPr/>
          <a:lstStyle/>
          <a:p>
            <a:fld id="{7282AD77-1057-47AC-AA6A-A520B797BDF7}" type="datetimeFigureOut">
              <a:rPr lang="en-AU" smtClean="0"/>
              <a:t>9/11/19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4C786D3-E0DF-451F-948C-40959120EE68}"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82AD77-1057-47AC-AA6A-A520B797BDF7}" type="datetimeFigureOut">
              <a:rPr lang="en-AU" smtClean="0"/>
              <a:t>9/11/19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4C786D3-E0DF-451F-948C-40959120EE68}"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9" y="611872"/>
            <a:ext cx="3840480" cy="1162050"/>
          </a:xfrm>
        </p:spPr>
        <p:txBody>
          <a:bodyPr anchor="b"/>
          <a:lstStyle>
            <a:lvl1pPr algn="ctr">
              <a:defRPr sz="3600" b="0"/>
            </a:lvl1pPr>
          </a:lstStyle>
          <a:p>
            <a:r>
              <a:rPr lang="en-AU"/>
              <a:t>Click to edit Master title style</a:t>
            </a:r>
            <a:endParaRPr/>
          </a:p>
        </p:txBody>
      </p:sp>
      <p:sp>
        <p:nvSpPr>
          <p:cNvPr id="3" name="Content Placeholder 2"/>
          <p:cNvSpPr>
            <a:spLocks noGrp="1"/>
          </p:cNvSpPr>
          <p:nvPr>
            <p:ph idx="1"/>
          </p:nvPr>
        </p:nvSpPr>
        <p:spPr>
          <a:xfrm>
            <a:off x="4742824" y="368300"/>
            <a:ext cx="3840480" cy="5575300"/>
          </a:xfrm>
        </p:spPr>
        <p:txBody>
          <a:bodyPr>
            <a:normAutofit/>
          </a:bodyPr>
          <a:lstStyle>
            <a:lvl1pPr>
              <a:spcBef>
                <a:spcPts val="2000"/>
              </a:spcBef>
              <a:defRPr sz="2200"/>
            </a:lvl1pPr>
            <a:lvl2pPr>
              <a:defRPr sz="20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Text Placeholder 3"/>
          <p:cNvSpPr>
            <a:spLocks noGrp="1"/>
          </p:cNvSpPr>
          <p:nvPr>
            <p:ph type="body" sz="half" idx="2"/>
          </p:nvPr>
        </p:nvSpPr>
        <p:spPr>
          <a:xfrm>
            <a:off x="533399" y="1787856"/>
            <a:ext cx="3840480"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Date Placeholder 4"/>
          <p:cNvSpPr>
            <a:spLocks noGrp="1"/>
          </p:cNvSpPr>
          <p:nvPr>
            <p:ph type="dt" sz="half" idx="10"/>
          </p:nvPr>
        </p:nvSpPr>
        <p:spPr/>
        <p:txBody>
          <a:bodyPr/>
          <a:lstStyle/>
          <a:p>
            <a:fld id="{7282AD77-1057-47AC-AA6A-A520B797BDF7}" type="datetimeFigureOut">
              <a:rPr lang="en-AU" smtClean="0"/>
              <a:t>9/11/19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4C786D3-E0DF-451F-948C-40959120EE68}" type="slidenum">
              <a:rPr lang="en-AU" smtClean="0"/>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8" y="611872"/>
            <a:ext cx="4079545" cy="1162050"/>
          </a:xfrm>
        </p:spPr>
        <p:txBody>
          <a:bodyPr anchor="b"/>
          <a:lstStyle>
            <a:lvl1pPr algn="ctr">
              <a:defRPr sz="3600" b="0"/>
            </a:lvl1pPr>
          </a:lstStyle>
          <a:p>
            <a:r>
              <a:rPr lang="en-AU"/>
              <a:t>Click to edit Master title style</a:t>
            </a:r>
            <a:endParaRPr/>
          </a:p>
        </p:txBody>
      </p:sp>
      <p:sp>
        <p:nvSpPr>
          <p:cNvPr id="4" name="Text Placeholder 3"/>
          <p:cNvSpPr>
            <a:spLocks noGrp="1"/>
          </p:cNvSpPr>
          <p:nvPr>
            <p:ph type="body" sz="half" idx="2"/>
          </p:nvPr>
        </p:nvSpPr>
        <p:spPr>
          <a:xfrm>
            <a:off x="533398" y="1787856"/>
            <a:ext cx="4079545"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Date Placeholder 4"/>
          <p:cNvSpPr>
            <a:spLocks noGrp="1"/>
          </p:cNvSpPr>
          <p:nvPr>
            <p:ph type="dt" sz="half" idx="10"/>
          </p:nvPr>
        </p:nvSpPr>
        <p:spPr/>
        <p:txBody>
          <a:bodyPr/>
          <a:lstStyle/>
          <a:p>
            <a:fld id="{7282AD77-1057-47AC-AA6A-A520B797BDF7}" type="datetimeFigureOut">
              <a:rPr lang="en-AU" smtClean="0"/>
              <a:t>9/11/19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4C786D3-E0DF-451F-948C-40959120EE68}" type="slidenum">
              <a:rPr lang="en-AU" smtClean="0"/>
              <a:t>‹#›</a:t>
            </a:fld>
            <a:endParaRPr lang="en-AU"/>
          </a:p>
        </p:txBody>
      </p:sp>
      <p:sp>
        <p:nvSpPr>
          <p:cNvPr id="8" name="Picture Placeholder 2"/>
          <p:cNvSpPr>
            <a:spLocks noGrp="1"/>
          </p:cNvSpPr>
          <p:nvPr>
            <p:ph type="pic" idx="1"/>
          </p:nvPr>
        </p:nvSpPr>
        <p:spPr>
          <a:xfrm>
            <a:off x="5090617" y="359392"/>
            <a:ext cx="3657600" cy="5318077"/>
          </a:xfr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lvl1pPr marL="0" indent="0" algn="l" defTabSz="914400" rtl="0" eaLnBrk="1" latinLnBrk="0" hangingPunct="1">
              <a:spcBef>
                <a:spcPts val="2000"/>
              </a:spcBef>
              <a:buClr>
                <a:schemeClr val="accent1">
                  <a:lumMod val="60000"/>
                  <a:lumOff val="40000"/>
                </a:schemeClr>
              </a:buClr>
              <a:buSzPct val="110000"/>
              <a:buFont typeface="Wingdings 2" pitchFamily="18" charset="2"/>
              <a:buNone/>
              <a:defRPr sz="3200" kern="1200">
                <a:solidFill>
                  <a:schemeClr val="tx1">
                    <a:lumMod val="65000"/>
                    <a:lumOff val="35000"/>
                  </a:schemeClr>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a:t>Drag picture to placeholder or click icon to add</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Date Placeholder 3"/>
          <p:cNvSpPr>
            <a:spLocks noGrp="1"/>
          </p:cNvSpPr>
          <p:nvPr>
            <p:ph type="dt" sz="half" idx="10"/>
          </p:nvPr>
        </p:nvSpPr>
        <p:spPr/>
        <p:txBody>
          <a:bodyPr/>
          <a:lstStyle/>
          <a:p>
            <a:fld id="{7282AD77-1057-47AC-AA6A-A520B797BDF7}"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4C786D3-E0DF-451F-948C-40959120EE68}" type="slidenum">
              <a:rPr lang="en-AU" smtClean="0"/>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9792" y="368301"/>
            <a:ext cx="1524000" cy="5575300"/>
          </a:xfrm>
        </p:spPr>
        <p:txBody>
          <a:bodyPr vert="eaVert"/>
          <a:lstStyle/>
          <a:p>
            <a:r>
              <a:rPr lang="en-AU"/>
              <a:t>Click to edit Master title style</a:t>
            </a:r>
            <a:endParaRPr/>
          </a:p>
        </p:txBody>
      </p:sp>
      <p:sp>
        <p:nvSpPr>
          <p:cNvPr id="3" name="Vertical Text Placeholder 2"/>
          <p:cNvSpPr>
            <a:spLocks noGrp="1"/>
          </p:cNvSpPr>
          <p:nvPr>
            <p:ph type="body" orient="vert" idx="1"/>
          </p:nvPr>
        </p:nvSpPr>
        <p:spPr>
          <a:xfrm>
            <a:off x="549274" y="368301"/>
            <a:ext cx="6689726" cy="5575300"/>
          </a:xfrm>
        </p:spPr>
        <p:txBody>
          <a:bodyPr vert="eaVert"/>
          <a:lstStyle>
            <a:lvl5pPr>
              <a:defRPr/>
            </a:lvl5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Date Placeholder 3"/>
          <p:cNvSpPr>
            <a:spLocks noGrp="1"/>
          </p:cNvSpPr>
          <p:nvPr>
            <p:ph type="dt" sz="half" idx="10"/>
          </p:nvPr>
        </p:nvSpPr>
        <p:spPr/>
        <p:txBody>
          <a:bodyPr/>
          <a:lstStyle/>
          <a:p>
            <a:fld id="{7282AD77-1057-47AC-AA6A-A520B797BDF7}"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4C786D3-E0DF-451F-948C-40959120EE68}"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9275" y="107576"/>
            <a:ext cx="8042276" cy="1336956"/>
          </a:xfrm>
          <a:prstGeom prst="rect">
            <a:avLst/>
          </a:prstGeom>
        </p:spPr>
        <p:txBody>
          <a:bodyPr vert="horz" lIns="91440" tIns="45720" rIns="91440" bIns="45720" rtlCol="0" anchor="b" anchorCtr="0">
            <a:noAutofit/>
          </a:bodyPr>
          <a:lstStyle/>
          <a:p>
            <a:r>
              <a:rPr lang="en-AU"/>
              <a:t>Click to edit Master title style</a:t>
            </a:r>
            <a:endParaRPr/>
          </a:p>
        </p:txBody>
      </p:sp>
      <p:sp>
        <p:nvSpPr>
          <p:cNvPr id="3" name="Text Placeholder 2"/>
          <p:cNvSpPr>
            <a:spLocks noGrp="1"/>
          </p:cNvSpPr>
          <p:nvPr>
            <p:ph type="body" idx="1"/>
          </p:nvPr>
        </p:nvSpPr>
        <p:spPr>
          <a:xfrm>
            <a:off x="549275" y="1600201"/>
            <a:ext cx="8042276" cy="4343400"/>
          </a:xfrm>
          <a:prstGeom prst="rect">
            <a:avLst/>
          </a:prstGeom>
        </p:spPr>
        <p:txBody>
          <a:bodyPr vert="horz" lIns="91440" tIns="45720" rIns="91440" bIns="45720" rtlCol="0">
            <a:normAutofit/>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Date Placeholder 3"/>
          <p:cNvSpPr>
            <a:spLocks noGrp="1"/>
          </p:cNvSpPr>
          <p:nvPr>
            <p:ph type="dt" sz="half" idx="2"/>
          </p:nvPr>
        </p:nvSpPr>
        <p:spPr>
          <a:xfrm>
            <a:off x="5629835" y="6275668"/>
            <a:ext cx="2133600" cy="365125"/>
          </a:xfrm>
          <a:prstGeom prst="rect">
            <a:avLst/>
          </a:prstGeom>
        </p:spPr>
        <p:txBody>
          <a:bodyPr vert="horz" lIns="91440" tIns="45720" rIns="91440" bIns="45720" rtlCol="0" anchor="ctr"/>
          <a:lstStyle>
            <a:lvl1pPr algn="r">
              <a:defRPr sz="1200">
                <a:solidFill>
                  <a:schemeClr val="bg1"/>
                </a:solidFill>
              </a:defRPr>
            </a:lvl1pPr>
          </a:lstStyle>
          <a:p>
            <a:fld id="{7282AD77-1057-47AC-AA6A-A520B797BDF7}" type="datetimeFigureOut">
              <a:rPr lang="en-AU" smtClean="0"/>
              <a:t>9/11/19</a:t>
            </a:fld>
            <a:endParaRPr lang="en-AU"/>
          </a:p>
        </p:txBody>
      </p:sp>
      <p:sp>
        <p:nvSpPr>
          <p:cNvPr id="5" name="Footer Placeholder 4"/>
          <p:cNvSpPr>
            <a:spLocks noGrp="1"/>
          </p:cNvSpPr>
          <p:nvPr>
            <p:ph type="ftr" sz="quarter" idx="3"/>
          </p:nvPr>
        </p:nvSpPr>
        <p:spPr>
          <a:xfrm>
            <a:off x="264458" y="6275668"/>
            <a:ext cx="4840941" cy="365125"/>
          </a:xfrm>
          <a:prstGeom prst="rect">
            <a:avLst/>
          </a:prstGeom>
        </p:spPr>
        <p:txBody>
          <a:bodyPr vert="horz" lIns="91440" tIns="45720" rIns="91440" bIns="45720" rtlCol="0" anchor="ctr"/>
          <a:lstStyle>
            <a:lvl1pPr algn="l">
              <a:defRPr sz="1200">
                <a:solidFill>
                  <a:schemeClr val="bg1"/>
                </a:solidFill>
              </a:defRPr>
            </a:lvl1pPr>
          </a:lstStyle>
          <a:p>
            <a:endParaRPr lang="en-AU"/>
          </a:p>
        </p:txBody>
      </p:sp>
      <p:sp>
        <p:nvSpPr>
          <p:cNvPr id="6" name="Slide Number Placeholder 5"/>
          <p:cNvSpPr>
            <a:spLocks noGrp="1"/>
          </p:cNvSpPr>
          <p:nvPr>
            <p:ph type="sldNum" sz="quarter" idx="4"/>
          </p:nvPr>
        </p:nvSpPr>
        <p:spPr>
          <a:xfrm>
            <a:off x="7897906" y="6275668"/>
            <a:ext cx="990600" cy="365125"/>
          </a:xfrm>
          <a:prstGeom prst="rect">
            <a:avLst/>
          </a:prstGeom>
        </p:spPr>
        <p:txBody>
          <a:bodyPr vert="horz" lIns="91440" tIns="45720" rIns="91440" bIns="45720" rtlCol="0" anchor="ctr"/>
          <a:lstStyle>
            <a:lvl1pPr algn="r">
              <a:defRPr sz="3600">
                <a:solidFill>
                  <a:schemeClr val="bg1"/>
                </a:solidFill>
              </a:defRPr>
            </a:lvl1pPr>
          </a:lstStyle>
          <a:p>
            <a:fld id="{A4C786D3-E0DF-451F-948C-40959120EE68}"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914400" rtl="0" eaLnBrk="1" latinLnBrk="0" hangingPunct="1">
        <a:spcBef>
          <a:spcPct val="0"/>
        </a:spcBef>
        <a:buNone/>
        <a:defRPr sz="4600" kern="1200">
          <a:solidFill>
            <a:schemeClr val="accent1"/>
          </a:solidFill>
          <a:latin typeface="+mj-lt"/>
          <a:ea typeface="+mj-ea"/>
          <a:cs typeface="+mj-cs"/>
        </a:defRPr>
      </a:lvl1pPr>
    </p:titleStyle>
    <p:bodyStyle>
      <a:lvl1pPr marL="349250" indent="-349250" algn="l" defTabSz="914400" rtl="0" eaLnBrk="1" latinLnBrk="0" hangingPunct="1">
        <a:spcBef>
          <a:spcPts val="2000"/>
        </a:spcBef>
        <a:buClr>
          <a:schemeClr val="accent1">
            <a:lumMod val="60000"/>
            <a:lumOff val="40000"/>
          </a:schemeClr>
        </a:buClr>
        <a:buSzPct val="110000"/>
        <a:buFont typeface="Wingdings 2" pitchFamily="18" charset="2"/>
        <a:buChar char=""/>
        <a:defRPr sz="24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75000"/>
          </a:schemeClr>
        </a:buClr>
        <a:buSzPct val="110000"/>
        <a:buFont typeface="Wingdings 2" pitchFamily="18" charset="2"/>
        <a:buChar char=""/>
        <a:defRPr sz="2200" kern="1200">
          <a:solidFill>
            <a:schemeClr val="tx1">
              <a:lumMod val="65000"/>
              <a:lumOff val="35000"/>
            </a:schemeClr>
          </a:solidFill>
          <a:latin typeface="+mn-lt"/>
          <a:ea typeface="+mn-ea"/>
          <a:cs typeface="+mn-cs"/>
        </a:defRPr>
      </a:lvl2pPr>
      <a:lvl3pPr marL="96837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2000" kern="1200">
          <a:solidFill>
            <a:schemeClr val="tx1">
              <a:lumMod val="65000"/>
              <a:lumOff val="35000"/>
            </a:schemeClr>
          </a:solidFill>
          <a:latin typeface="+mn-lt"/>
          <a:ea typeface="+mn-ea"/>
          <a:cs typeface="+mn-cs"/>
        </a:defRPr>
      </a:lvl3pPr>
      <a:lvl4pPr marL="1263650" indent="-295275" algn="l" defTabSz="914400" rtl="0" eaLnBrk="1" latinLnBrk="0" hangingPunct="1">
        <a:spcBef>
          <a:spcPts val="600"/>
        </a:spcBef>
        <a:buClr>
          <a:schemeClr val="accent1">
            <a:lumMod val="75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4pPr>
      <a:lvl5pPr marL="154622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5pPr>
      <a:lvl6pPr marL="1828800"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1177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398713"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26892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Price Elasticity of Demand</a:t>
            </a:r>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3919404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Definition</a:t>
            </a:r>
          </a:p>
        </p:txBody>
      </p:sp>
      <p:sp>
        <p:nvSpPr>
          <p:cNvPr id="3" name="Content Placeholder 2"/>
          <p:cNvSpPr>
            <a:spLocks noGrp="1"/>
          </p:cNvSpPr>
          <p:nvPr>
            <p:ph idx="1"/>
          </p:nvPr>
        </p:nvSpPr>
        <p:spPr/>
        <p:txBody>
          <a:bodyPr>
            <a:normAutofit fontScale="92500" lnSpcReduction="20000"/>
          </a:bodyPr>
          <a:lstStyle/>
          <a:p>
            <a:r>
              <a:rPr lang="en-GB" dirty="0"/>
              <a:t>DEF:  Price elasticity measures the responsiveness of demand to a change in price.  Some products are far more price sensitive than others.</a:t>
            </a:r>
            <a:endParaRPr lang="en-AU" dirty="0"/>
          </a:p>
          <a:p>
            <a:pPr marL="0" indent="0">
              <a:buNone/>
            </a:pPr>
            <a:endParaRPr lang="en-AU" dirty="0"/>
          </a:p>
          <a:p>
            <a:r>
              <a:rPr lang="en-GB" dirty="0"/>
              <a:t>Price elasticity can be calculated by:</a:t>
            </a:r>
            <a:endParaRPr lang="en-AU" dirty="0"/>
          </a:p>
          <a:p>
            <a:pPr lvl="2"/>
            <a:r>
              <a:rPr lang="en-GB" u="sng" dirty="0"/>
              <a:t>% of change in quantity demanded</a:t>
            </a:r>
            <a:endParaRPr lang="en-AU" dirty="0"/>
          </a:p>
          <a:p>
            <a:pPr lvl="2"/>
            <a:r>
              <a:rPr lang="en-GB" dirty="0"/>
              <a:t>% change in price</a:t>
            </a:r>
            <a:endParaRPr lang="en-AU" dirty="0"/>
          </a:p>
          <a:p>
            <a:pPr marL="0" indent="0">
              <a:buNone/>
            </a:pPr>
            <a:endParaRPr lang="en-AU" dirty="0"/>
          </a:p>
          <a:p>
            <a:r>
              <a:rPr lang="en-GB" dirty="0"/>
              <a:t>Due to the fact that price and demand have the opposite affect on each other (price up, demand down and vice versa) the price elasticity figure is negative.</a:t>
            </a:r>
            <a:endParaRPr lang="en-AU" dirty="0"/>
          </a:p>
          <a:p>
            <a:endParaRPr lang="en-AU" dirty="0"/>
          </a:p>
        </p:txBody>
      </p:sp>
    </p:spTree>
    <p:extLst>
      <p:ext uri="{BB962C8B-B14F-4D97-AF65-F5344CB8AC3E}">
        <p14:creationId xmlns:p14="http://schemas.microsoft.com/office/powerpoint/2010/main" val="1034223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Classification of PED</a:t>
            </a:r>
          </a:p>
        </p:txBody>
      </p:sp>
      <p:sp>
        <p:nvSpPr>
          <p:cNvPr id="3" name="Content Placeholder 2"/>
          <p:cNvSpPr>
            <a:spLocks noGrp="1"/>
          </p:cNvSpPr>
          <p:nvPr>
            <p:ph idx="1"/>
          </p:nvPr>
        </p:nvSpPr>
        <p:spPr/>
        <p:txBody>
          <a:bodyPr>
            <a:normAutofit fontScale="70000" lnSpcReduction="20000"/>
          </a:bodyPr>
          <a:lstStyle/>
          <a:p>
            <a:r>
              <a:rPr lang="en-GB" b="1" dirty="0"/>
              <a:t>Price Elastic Products:</a:t>
            </a:r>
            <a:endParaRPr lang="en-AU" dirty="0"/>
          </a:p>
          <a:p>
            <a:r>
              <a:rPr lang="en-GB" dirty="0"/>
              <a:t>A price elastic product has a price elasticity of above 1.  This means that the % change in demand is greater than the % change in price that created it.</a:t>
            </a:r>
            <a:endParaRPr lang="en-AU" dirty="0"/>
          </a:p>
          <a:p>
            <a:r>
              <a:rPr lang="en-GB" dirty="0"/>
              <a:t>The higher the price elasticity figure the more price elastic the demand for the product is.  </a:t>
            </a:r>
          </a:p>
          <a:p>
            <a:r>
              <a:rPr lang="en-GB" dirty="0"/>
              <a:t>Cutting price on a price elastic product will </a:t>
            </a:r>
            <a:r>
              <a:rPr lang="en-GB" b="1" dirty="0"/>
              <a:t>boost revenue</a:t>
            </a:r>
            <a:r>
              <a:rPr lang="en-GB" dirty="0"/>
              <a:t>.  </a:t>
            </a:r>
          </a:p>
          <a:p>
            <a:r>
              <a:rPr lang="en-GB" dirty="0"/>
              <a:t>Look at the TOTAL REVENUE METHOD.</a:t>
            </a:r>
            <a:endParaRPr lang="en-AU" dirty="0"/>
          </a:p>
          <a:p>
            <a:r>
              <a:rPr lang="en-GB" dirty="0"/>
              <a:t>It is important to remember that an increase in revenue will not necessarily bring an increase in profits.  To predict the impact on profits one must also have access to cost information.</a:t>
            </a:r>
            <a:endParaRPr lang="en-AU" dirty="0"/>
          </a:p>
          <a:p>
            <a:r>
              <a:rPr lang="en-GB" dirty="0"/>
              <a:t> </a:t>
            </a:r>
            <a:endParaRPr lang="en-AU" dirty="0"/>
          </a:p>
          <a:p>
            <a:endParaRPr lang="en-AU" dirty="0"/>
          </a:p>
        </p:txBody>
      </p:sp>
    </p:spTree>
    <p:extLst>
      <p:ext uri="{BB962C8B-B14F-4D97-AF65-F5344CB8AC3E}">
        <p14:creationId xmlns:p14="http://schemas.microsoft.com/office/powerpoint/2010/main" val="3349672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Classification of PED</a:t>
            </a:r>
          </a:p>
        </p:txBody>
      </p:sp>
      <p:sp>
        <p:nvSpPr>
          <p:cNvPr id="3" name="Content Placeholder 2"/>
          <p:cNvSpPr>
            <a:spLocks noGrp="1"/>
          </p:cNvSpPr>
          <p:nvPr>
            <p:ph idx="1"/>
          </p:nvPr>
        </p:nvSpPr>
        <p:spPr/>
        <p:txBody>
          <a:bodyPr>
            <a:normAutofit fontScale="85000" lnSpcReduction="20000"/>
          </a:bodyPr>
          <a:lstStyle/>
          <a:p>
            <a:r>
              <a:rPr lang="en-GB" b="1" dirty="0"/>
              <a:t>Price Inelastic Products:</a:t>
            </a:r>
            <a:endParaRPr lang="en-AU" dirty="0"/>
          </a:p>
          <a:p>
            <a:r>
              <a:rPr lang="en-GB" dirty="0"/>
              <a:t>These have price </a:t>
            </a:r>
            <a:r>
              <a:rPr lang="en-GB" dirty="0" err="1"/>
              <a:t>elasticities</a:t>
            </a:r>
            <a:r>
              <a:rPr lang="en-GB" dirty="0"/>
              <a:t> below one.  </a:t>
            </a:r>
          </a:p>
          <a:p>
            <a:r>
              <a:rPr lang="en-GB" dirty="0"/>
              <a:t>This means the % change in demand is less than the % change in price.  </a:t>
            </a:r>
          </a:p>
          <a:p>
            <a:r>
              <a:rPr lang="en-GB" dirty="0"/>
              <a:t>In other words, price changes have hardly any effect on demand.  </a:t>
            </a:r>
          </a:p>
          <a:p>
            <a:r>
              <a:rPr lang="en-GB" dirty="0"/>
              <a:t>This could be due to the fact; consumers feel they must have the product or brand in question.  Firms with inelastic products usually feel they can push the price up.  </a:t>
            </a:r>
          </a:p>
          <a:p>
            <a:r>
              <a:rPr lang="en-GB" dirty="0"/>
              <a:t>A price increase </a:t>
            </a:r>
            <a:r>
              <a:rPr lang="en-GB" b="1" dirty="0"/>
              <a:t>will boost revenue. </a:t>
            </a:r>
            <a:r>
              <a:rPr lang="en-GB" dirty="0"/>
              <a:t>Look at TOTAL REVENUE method.  </a:t>
            </a:r>
            <a:endParaRPr lang="en-AU" dirty="0"/>
          </a:p>
          <a:p>
            <a:endParaRPr lang="en-AU" dirty="0"/>
          </a:p>
        </p:txBody>
      </p:sp>
    </p:spTree>
    <p:extLst>
      <p:ext uri="{BB962C8B-B14F-4D97-AF65-F5344CB8AC3E}">
        <p14:creationId xmlns:p14="http://schemas.microsoft.com/office/powerpoint/2010/main" val="382440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Task</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38817022"/>
              </p:ext>
            </p:extLst>
          </p:nvPr>
        </p:nvGraphicFramePr>
        <p:xfrm>
          <a:off x="683568" y="1844825"/>
          <a:ext cx="8064895" cy="4320478"/>
        </p:xfrm>
        <a:graphic>
          <a:graphicData uri="http://schemas.openxmlformats.org/drawingml/2006/table">
            <a:tbl>
              <a:tblPr firstRow="1" firstCol="1" lastRow="1" lastCol="1" bandRow="1" bandCol="1">
                <a:tableStyleId>{5C22544A-7EE6-4342-B048-85BDC9FD1C3A}</a:tableStyleId>
              </a:tblPr>
              <a:tblGrid>
                <a:gridCol w="653271">
                  <a:extLst>
                    <a:ext uri="{9D8B030D-6E8A-4147-A177-3AD203B41FA5}">
                      <a16:colId xmlns:a16="http://schemas.microsoft.com/office/drawing/2014/main" val="20000"/>
                    </a:ext>
                  </a:extLst>
                </a:gridCol>
                <a:gridCol w="1880126">
                  <a:extLst>
                    <a:ext uri="{9D8B030D-6E8A-4147-A177-3AD203B41FA5}">
                      <a16:colId xmlns:a16="http://schemas.microsoft.com/office/drawing/2014/main" val="20001"/>
                    </a:ext>
                  </a:extLst>
                </a:gridCol>
                <a:gridCol w="1727853">
                  <a:extLst>
                    <a:ext uri="{9D8B030D-6E8A-4147-A177-3AD203B41FA5}">
                      <a16:colId xmlns:a16="http://schemas.microsoft.com/office/drawing/2014/main" val="20002"/>
                    </a:ext>
                  </a:extLst>
                </a:gridCol>
                <a:gridCol w="2356666">
                  <a:extLst>
                    <a:ext uri="{9D8B030D-6E8A-4147-A177-3AD203B41FA5}">
                      <a16:colId xmlns:a16="http://schemas.microsoft.com/office/drawing/2014/main" val="20003"/>
                    </a:ext>
                  </a:extLst>
                </a:gridCol>
                <a:gridCol w="1446979">
                  <a:extLst>
                    <a:ext uri="{9D8B030D-6E8A-4147-A177-3AD203B41FA5}">
                      <a16:colId xmlns:a16="http://schemas.microsoft.com/office/drawing/2014/main" val="20004"/>
                    </a:ext>
                  </a:extLst>
                </a:gridCol>
              </a:tblGrid>
              <a:tr h="1440160">
                <a:tc>
                  <a:txBody>
                    <a:bodyPr/>
                    <a:lstStyle/>
                    <a:p>
                      <a:pPr>
                        <a:spcAft>
                          <a:spcPts val="0"/>
                        </a:spcAft>
                      </a:pPr>
                      <a:r>
                        <a:rPr lang="en-GB" sz="1400" dirty="0">
                          <a:effectLst/>
                        </a:rPr>
                        <a:t> </a:t>
                      </a:r>
                      <a:endParaRPr lang="en-AU" sz="1000" dirty="0">
                        <a:effectLst/>
                        <a:latin typeface="Times New Roman"/>
                        <a:ea typeface="Times New Roman"/>
                      </a:endParaRPr>
                    </a:p>
                  </a:txBody>
                  <a:tcPr marL="68580" marR="68580" marT="0" marB="0"/>
                </a:tc>
                <a:tc>
                  <a:txBody>
                    <a:bodyPr/>
                    <a:lstStyle/>
                    <a:p>
                      <a:pPr>
                        <a:spcAft>
                          <a:spcPts val="0"/>
                        </a:spcAft>
                      </a:pPr>
                      <a:r>
                        <a:rPr lang="en-GB" sz="1400">
                          <a:effectLst/>
                        </a:rPr>
                        <a:t>% change in Quantity Demanded</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Change in Price</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PED</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Classification</a:t>
                      </a:r>
                      <a:endParaRPr lang="en-AU" sz="1000">
                        <a:effectLst/>
                        <a:latin typeface="Times New Roman"/>
                        <a:ea typeface="Times New Roman"/>
                      </a:endParaRPr>
                    </a:p>
                  </a:txBody>
                  <a:tcPr marL="68580" marR="68580" marT="0" marB="0"/>
                </a:tc>
                <a:extLst>
                  <a:ext uri="{0D108BD9-81ED-4DB2-BD59-A6C34878D82A}">
                    <a16:rowId xmlns:a16="http://schemas.microsoft.com/office/drawing/2014/main" val="10000"/>
                  </a:ext>
                </a:extLst>
              </a:tr>
              <a:tr h="480053">
                <a:tc>
                  <a:txBody>
                    <a:bodyPr/>
                    <a:lstStyle/>
                    <a:p>
                      <a:pPr>
                        <a:spcAft>
                          <a:spcPts val="0"/>
                        </a:spcAft>
                      </a:pPr>
                      <a:r>
                        <a:rPr lang="en-GB" sz="1400">
                          <a:effectLst/>
                        </a:rPr>
                        <a:t>A</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10</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5</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extLst>
                  <a:ext uri="{0D108BD9-81ED-4DB2-BD59-A6C34878D82A}">
                    <a16:rowId xmlns:a16="http://schemas.microsoft.com/office/drawing/2014/main" val="10001"/>
                  </a:ext>
                </a:extLst>
              </a:tr>
              <a:tr h="480053">
                <a:tc>
                  <a:txBody>
                    <a:bodyPr/>
                    <a:lstStyle/>
                    <a:p>
                      <a:pPr>
                        <a:spcAft>
                          <a:spcPts val="0"/>
                        </a:spcAft>
                      </a:pPr>
                      <a:r>
                        <a:rPr lang="en-GB" sz="1400">
                          <a:effectLst/>
                        </a:rPr>
                        <a:t>B</a:t>
                      </a:r>
                      <a:endParaRPr lang="en-AU" sz="1000">
                        <a:effectLst/>
                        <a:latin typeface="Times New Roman"/>
                        <a:ea typeface="Times New Roman"/>
                      </a:endParaRPr>
                    </a:p>
                  </a:txBody>
                  <a:tcPr marL="68580" marR="68580" marT="0" marB="0"/>
                </a:tc>
                <a:tc>
                  <a:txBody>
                    <a:bodyPr/>
                    <a:lstStyle/>
                    <a:p>
                      <a:pPr>
                        <a:spcAft>
                          <a:spcPts val="0"/>
                        </a:spcAft>
                      </a:pPr>
                      <a:r>
                        <a:rPr lang="en-GB" sz="1400" dirty="0">
                          <a:effectLst/>
                          <a:latin typeface="+mn-lt"/>
                          <a:ea typeface="+mn-ea"/>
                        </a:rPr>
                        <a:t>6</a:t>
                      </a:r>
                      <a:endParaRPr lang="en-AU" sz="1000" dirty="0">
                        <a:effectLst/>
                        <a:latin typeface="Times New Roman"/>
                        <a:ea typeface="Times New Roman"/>
                      </a:endParaRPr>
                    </a:p>
                  </a:txBody>
                  <a:tcPr marL="68580" marR="68580" marT="0" marB="0"/>
                </a:tc>
                <a:tc>
                  <a:txBody>
                    <a:bodyPr/>
                    <a:lstStyle/>
                    <a:p>
                      <a:pPr>
                        <a:spcAft>
                          <a:spcPts val="0"/>
                        </a:spcAft>
                      </a:pPr>
                      <a:r>
                        <a:rPr lang="en-GB" sz="1400" dirty="0">
                          <a:effectLst/>
                          <a:latin typeface="+mn-lt"/>
                          <a:ea typeface="+mn-ea"/>
                        </a:rPr>
                        <a:t>7</a:t>
                      </a:r>
                      <a:endParaRPr lang="en-AU" sz="1000" dirty="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extLst>
                  <a:ext uri="{0D108BD9-81ED-4DB2-BD59-A6C34878D82A}">
                    <a16:rowId xmlns:a16="http://schemas.microsoft.com/office/drawing/2014/main" val="10002"/>
                  </a:ext>
                </a:extLst>
              </a:tr>
              <a:tr h="480053">
                <a:tc>
                  <a:txBody>
                    <a:bodyPr/>
                    <a:lstStyle/>
                    <a:p>
                      <a:pPr>
                        <a:spcAft>
                          <a:spcPts val="0"/>
                        </a:spcAft>
                      </a:pPr>
                      <a:r>
                        <a:rPr lang="en-GB" sz="1400">
                          <a:effectLst/>
                        </a:rPr>
                        <a:t>C</a:t>
                      </a:r>
                      <a:endParaRPr lang="en-AU" sz="1000">
                        <a:effectLst/>
                        <a:latin typeface="Times New Roman"/>
                        <a:ea typeface="Times New Roman"/>
                      </a:endParaRPr>
                    </a:p>
                  </a:txBody>
                  <a:tcPr marL="68580" marR="68580" marT="0" marB="0"/>
                </a:tc>
                <a:tc>
                  <a:txBody>
                    <a:bodyPr/>
                    <a:lstStyle/>
                    <a:p>
                      <a:pPr>
                        <a:spcAft>
                          <a:spcPts val="0"/>
                        </a:spcAft>
                      </a:pPr>
                      <a:r>
                        <a:rPr lang="en-GB" sz="1400" dirty="0">
                          <a:effectLst/>
                          <a:latin typeface="+mn-lt"/>
                          <a:ea typeface="+mn-ea"/>
                        </a:rPr>
                        <a:t>3</a:t>
                      </a:r>
                      <a:endParaRPr lang="en-AU" sz="1000" dirty="0">
                        <a:effectLst/>
                        <a:latin typeface="Times New Roman"/>
                        <a:ea typeface="Times New Roman"/>
                      </a:endParaRPr>
                    </a:p>
                  </a:txBody>
                  <a:tcPr marL="68580" marR="68580" marT="0" marB="0"/>
                </a:tc>
                <a:tc>
                  <a:txBody>
                    <a:bodyPr/>
                    <a:lstStyle/>
                    <a:p>
                      <a:pPr>
                        <a:spcAft>
                          <a:spcPts val="0"/>
                        </a:spcAft>
                      </a:pPr>
                      <a:r>
                        <a:rPr lang="en-GB" sz="1400">
                          <a:effectLst/>
                        </a:rPr>
                        <a:t>8</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extLst>
                  <a:ext uri="{0D108BD9-81ED-4DB2-BD59-A6C34878D82A}">
                    <a16:rowId xmlns:a16="http://schemas.microsoft.com/office/drawing/2014/main" val="10003"/>
                  </a:ext>
                </a:extLst>
              </a:tr>
              <a:tr h="480053">
                <a:tc>
                  <a:txBody>
                    <a:bodyPr/>
                    <a:lstStyle/>
                    <a:p>
                      <a:pPr>
                        <a:spcAft>
                          <a:spcPts val="0"/>
                        </a:spcAft>
                      </a:pPr>
                      <a:r>
                        <a:rPr lang="en-GB" sz="1400">
                          <a:effectLst/>
                        </a:rPr>
                        <a:t>D</a:t>
                      </a:r>
                      <a:endParaRPr lang="en-AU" sz="1000">
                        <a:effectLst/>
                        <a:latin typeface="Times New Roman"/>
                        <a:ea typeface="Times New Roman"/>
                      </a:endParaRPr>
                    </a:p>
                  </a:txBody>
                  <a:tcPr marL="68580" marR="68580" marT="0" marB="0"/>
                </a:tc>
                <a:tc>
                  <a:txBody>
                    <a:bodyPr/>
                    <a:lstStyle/>
                    <a:p>
                      <a:pPr>
                        <a:spcAft>
                          <a:spcPts val="0"/>
                        </a:spcAft>
                      </a:pPr>
                      <a:r>
                        <a:rPr lang="en-GB" sz="1400" dirty="0">
                          <a:effectLst/>
                          <a:latin typeface="+mn-lt"/>
                          <a:ea typeface="+mn-ea"/>
                        </a:rPr>
                        <a:t>60</a:t>
                      </a:r>
                      <a:endParaRPr lang="en-AU" sz="1000" dirty="0">
                        <a:effectLst/>
                        <a:latin typeface="Times New Roman"/>
                        <a:ea typeface="Times New Roman"/>
                      </a:endParaRPr>
                    </a:p>
                  </a:txBody>
                  <a:tcPr marL="68580" marR="68580" marT="0" marB="0"/>
                </a:tc>
                <a:tc>
                  <a:txBody>
                    <a:bodyPr/>
                    <a:lstStyle/>
                    <a:p>
                      <a:pPr>
                        <a:spcAft>
                          <a:spcPts val="0"/>
                        </a:spcAft>
                      </a:pPr>
                      <a:r>
                        <a:rPr lang="en-GB" sz="1400" dirty="0">
                          <a:effectLst/>
                        </a:rPr>
                        <a:t>90</a:t>
                      </a:r>
                      <a:endParaRPr lang="en-AU" sz="1000" dirty="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extLst>
                  <a:ext uri="{0D108BD9-81ED-4DB2-BD59-A6C34878D82A}">
                    <a16:rowId xmlns:a16="http://schemas.microsoft.com/office/drawing/2014/main" val="10004"/>
                  </a:ext>
                </a:extLst>
              </a:tr>
              <a:tr h="480053">
                <a:tc>
                  <a:txBody>
                    <a:bodyPr/>
                    <a:lstStyle/>
                    <a:p>
                      <a:pPr>
                        <a:spcAft>
                          <a:spcPts val="0"/>
                        </a:spcAft>
                      </a:pPr>
                      <a:r>
                        <a:rPr lang="en-GB" sz="1400" dirty="0">
                          <a:effectLst/>
                        </a:rPr>
                        <a:t>E</a:t>
                      </a:r>
                      <a:endParaRPr lang="en-AU" sz="1000" dirty="0">
                        <a:effectLst/>
                        <a:latin typeface="Times New Roman"/>
                        <a:ea typeface="Times New Roman"/>
                      </a:endParaRPr>
                    </a:p>
                  </a:txBody>
                  <a:tcPr marL="68580" marR="68580" marT="0" marB="0"/>
                </a:tc>
                <a:tc>
                  <a:txBody>
                    <a:bodyPr/>
                    <a:lstStyle/>
                    <a:p>
                      <a:pPr>
                        <a:spcAft>
                          <a:spcPts val="0"/>
                        </a:spcAft>
                      </a:pPr>
                      <a:r>
                        <a:rPr lang="en-GB" sz="1400" dirty="0">
                          <a:effectLst/>
                        </a:rPr>
                        <a:t>5</a:t>
                      </a:r>
                      <a:endParaRPr lang="en-AU" sz="1000" dirty="0">
                        <a:effectLst/>
                        <a:latin typeface="Times New Roman"/>
                        <a:ea typeface="Times New Roman"/>
                      </a:endParaRPr>
                    </a:p>
                  </a:txBody>
                  <a:tcPr marL="68580" marR="68580" marT="0" marB="0"/>
                </a:tc>
                <a:tc>
                  <a:txBody>
                    <a:bodyPr/>
                    <a:lstStyle/>
                    <a:p>
                      <a:pPr>
                        <a:spcAft>
                          <a:spcPts val="0"/>
                        </a:spcAft>
                      </a:pPr>
                      <a:r>
                        <a:rPr lang="en-GB" sz="1400" dirty="0">
                          <a:effectLst/>
                          <a:latin typeface="+mn-lt"/>
                          <a:ea typeface="+mn-ea"/>
                        </a:rPr>
                        <a:t>2.5</a:t>
                      </a:r>
                      <a:endParaRPr lang="en-AU" sz="1000" dirty="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extLst>
                  <a:ext uri="{0D108BD9-81ED-4DB2-BD59-A6C34878D82A}">
                    <a16:rowId xmlns:a16="http://schemas.microsoft.com/office/drawing/2014/main" val="10005"/>
                  </a:ext>
                </a:extLst>
              </a:tr>
              <a:tr h="480053">
                <a:tc>
                  <a:txBody>
                    <a:bodyPr/>
                    <a:lstStyle/>
                    <a:p>
                      <a:pPr>
                        <a:spcAft>
                          <a:spcPts val="0"/>
                        </a:spcAft>
                      </a:pPr>
                      <a:r>
                        <a:rPr lang="en-GB" sz="1400">
                          <a:effectLst/>
                        </a:rPr>
                        <a:t>F</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8</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11</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tc>
                  <a:txBody>
                    <a:bodyPr/>
                    <a:lstStyle/>
                    <a:p>
                      <a:pPr>
                        <a:spcAft>
                          <a:spcPts val="0"/>
                        </a:spcAft>
                      </a:pPr>
                      <a:r>
                        <a:rPr lang="en-GB" sz="1400" dirty="0">
                          <a:effectLst/>
                        </a:rPr>
                        <a:t> </a:t>
                      </a:r>
                      <a:endParaRPr lang="en-AU" sz="1000" dirty="0">
                        <a:effectLst/>
                        <a:latin typeface="Times New Roman"/>
                        <a:ea typeface="Times New Roman"/>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57704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New Task</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71123859"/>
              </p:ext>
            </p:extLst>
          </p:nvPr>
        </p:nvGraphicFramePr>
        <p:xfrm>
          <a:off x="395536" y="1268760"/>
          <a:ext cx="8280919" cy="4968552"/>
        </p:xfrm>
        <a:graphic>
          <a:graphicData uri="http://schemas.openxmlformats.org/drawingml/2006/table">
            <a:tbl>
              <a:tblPr firstRow="1" firstCol="1" lastRow="1" lastCol="1" bandRow="1" bandCol="1">
                <a:tableStyleId>{5C22544A-7EE6-4342-B048-85BDC9FD1C3A}</a:tableStyleId>
              </a:tblPr>
              <a:tblGrid>
                <a:gridCol w="1138814">
                  <a:extLst>
                    <a:ext uri="{9D8B030D-6E8A-4147-A177-3AD203B41FA5}">
                      <a16:colId xmlns:a16="http://schemas.microsoft.com/office/drawing/2014/main" val="20000"/>
                    </a:ext>
                  </a:extLst>
                </a:gridCol>
                <a:gridCol w="1132163">
                  <a:extLst>
                    <a:ext uri="{9D8B030D-6E8A-4147-A177-3AD203B41FA5}">
                      <a16:colId xmlns:a16="http://schemas.microsoft.com/office/drawing/2014/main" val="20001"/>
                    </a:ext>
                  </a:extLst>
                </a:gridCol>
                <a:gridCol w="1132163">
                  <a:extLst>
                    <a:ext uri="{9D8B030D-6E8A-4147-A177-3AD203B41FA5}">
                      <a16:colId xmlns:a16="http://schemas.microsoft.com/office/drawing/2014/main" val="20002"/>
                    </a:ext>
                  </a:extLst>
                </a:gridCol>
                <a:gridCol w="1132163">
                  <a:extLst>
                    <a:ext uri="{9D8B030D-6E8A-4147-A177-3AD203B41FA5}">
                      <a16:colId xmlns:a16="http://schemas.microsoft.com/office/drawing/2014/main" val="20003"/>
                    </a:ext>
                  </a:extLst>
                </a:gridCol>
                <a:gridCol w="1132163">
                  <a:extLst>
                    <a:ext uri="{9D8B030D-6E8A-4147-A177-3AD203B41FA5}">
                      <a16:colId xmlns:a16="http://schemas.microsoft.com/office/drawing/2014/main" val="20004"/>
                    </a:ext>
                  </a:extLst>
                </a:gridCol>
                <a:gridCol w="1153776">
                  <a:extLst>
                    <a:ext uri="{9D8B030D-6E8A-4147-A177-3AD203B41FA5}">
                      <a16:colId xmlns:a16="http://schemas.microsoft.com/office/drawing/2014/main" val="20005"/>
                    </a:ext>
                  </a:extLst>
                </a:gridCol>
                <a:gridCol w="1459677">
                  <a:extLst>
                    <a:ext uri="{9D8B030D-6E8A-4147-A177-3AD203B41FA5}">
                      <a16:colId xmlns:a16="http://schemas.microsoft.com/office/drawing/2014/main" val="20006"/>
                    </a:ext>
                  </a:extLst>
                </a:gridCol>
              </a:tblGrid>
              <a:tr h="621069">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tc gridSpan="2">
                  <a:txBody>
                    <a:bodyPr/>
                    <a:lstStyle/>
                    <a:p>
                      <a:pPr>
                        <a:spcAft>
                          <a:spcPts val="0"/>
                        </a:spcAft>
                      </a:pPr>
                      <a:r>
                        <a:rPr lang="en-GB" sz="1400">
                          <a:effectLst/>
                        </a:rPr>
                        <a:t>Original Values</a:t>
                      </a:r>
                      <a:endParaRPr lang="en-AU" sz="1000">
                        <a:effectLst/>
                        <a:latin typeface="Times New Roman"/>
                        <a:ea typeface="Times New Roman"/>
                      </a:endParaRPr>
                    </a:p>
                  </a:txBody>
                  <a:tcPr marL="68580" marR="68580" marT="0" marB="0"/>
                </a:tc>
                <a:tc hMerge="1">
                  <a:txBody>
                    <a:bodyPr/>
                    <a:lstStyle/>
                    <a:p>
                      <a:endParaRPr lang="en-AU"/>
                    </a:p>
                  </a:txBody>
                  <a:tcPr/>
                </a:tc>
                <a:tc gridSpan="2">
                  <a:txBody>
                    <a:bodyPr/>
                    <a:lstStyle/>
                    <a:p>
                      <a:pPr>
                        <a:spcAft>
                          <a:spcPts val="0"/>
                        </a:spcAft>
                      </a:pPr>
                      <a:r>
                        <a:rPr lang="en-GB" sz="1400">
                          <a:effectLst/>
                        </a:rPr>
                        <a:t>New Values</a:t>
                      </a:r>
                      <a:endParaRPr lang="en-AU" sz="1000">
                        <a:effectLst/>
                        <a:latin typeface="Times New Roman"/>
                        <a:ea typeface="Times New Roman"/>
                      </a:endParaRPr>
                    </a:p>
                  </a:txBody>
                  <a:tcPr marL="68580" marR="68580" marT="0" marB="0"/>
                </a:tc>
                <a:tc hMerge="1">
                  <a:txBody>
                    <a:bodyPr/>
                    <a:lstStyle/>
                    <a:p>
                      <a:endParaRPr lang="en-AU"/>
                    </a:p>
                  </a:txBody>
                  <a:tcPr/>
                </a:tc>
                <a:tc rowSpan="2">
                  <a:txBody>
                    <a:bodyPr/>
                    <a:lstStyle/>
                    <a:p>
                      <a:pPr>
                        <a:spcAft>
                          <a:spcPts val="0"/>
                        </a:spcAft>
                      </a:pPr>
                      <a:r>
                        <a:rPr lang="en-GB" sz="1400" dirty="0">
                          <a:effectLst/>
                        </a:rPr>
                        <a:t>PED</a:t>
                      </a:r>
                      <a:endParaRPr lang="en-AU" sz="1000" dirty="0">
                        <a:effectLst/>
                        <a:latin typeface="Times New Roman"/>
                        <a:ea typeface="Times New Roman"/>
                      </a:endParaRPr>
                    </a:p>
                  </a:txBody>
                  <a:tcPr marL="68580" marR="68580" marT="0" marB="0"/>
                </a:tc>
                <a:tc rowSpan="2">
                  <a:txBody>
                    <a:bodyPr/>
                    <a:lstStyle/>
                    <a:p>
                      <a:pPr>
                        <a:spcAft>
                          <a:spcPts val="0"/>
                        </a:spcAft>
                      </a:pPr>
                      <a:r>
                        <a:rPr lang="en-GB" sz="1400">
                          <a:effectLst/>
                        </a:rPr>
                        <a:t>Classification</a:t>
                      </a:r>
                      <a:endParaRPr lang="en-AU" sz="1000">
                        <a:effectLst/>
                        <a:latin typeface="Times New Roman"/>
                        <a:ea typeface="Times New Roman"/>
                      </a:endParaRPr>
                    </a:p>
                  </a:txBody>
                  <a:tcPr marL="68580" marR="68580" marT="0" marB="0"/>
                </a:tc>
                <a:extLst>
                  <a:ext uri="{0D108BD9-81ED-4DB2-BD59-A6C34878D82A}">
                    <a16:rowId xmlns:a16="http://schemas.microsoft.com/office/drawing/2014/main" val="10000"/>
                  </a:ext>
                </a:extLst>
              </a:tr>
              <a:tr h="621069">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QD</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Price</a:t>
                      </a:r>
                      <a:endParaRPr lang="en-AU" sz="1000">
                        <a:effectLst/>
                        <a:latin typeface="Times New Roman"/>
                        <a:ea typeface="Times New Roman"/>
                      </a:endParaRPr>
                    </a:p>
                  </a:txBody>
                  <a:tcPr marL="68580" marR="68580" marT="0" marB="0"/>
                </a:tc>
                <a:tc>
                  <a:txBody>
                    <a:bodyPr/>
                    <a:lstStyle/>
                    <a:p>
                      <a:pPr>
                        <a:spcAft>
                          <a:spcPts val="0"/>
                        </a:spcAft>
                      </a:pPr>
                      <a:r>
                        <a:rPr lang="en-GB" sz="1400" dirty="0">
                          <a:effectLst/>
                        </a:rPr>
                        <a:t>QD</a:t>
                      </a:r>
                      <a:endParaRPr lang="en-AU" sz="1000" dirty="0">
                        <a:effectLst/>
                        <a:latin typeface="Times New Roman"/>
                        <a:ea typeface="Times New Roman"/>
                      </a:endParaRPr>
                    </a:p>
                  </a:txBody>
                  <a:tcPr marL="68580" marR="68580" marT="0" marB="0"/>
                </a:tc>
                <a:tc>
                  <a:txBody>
                    <a:bodyPr/>
                    <a:lstStyle/>
                    <a:p>
                      <a:pPr>
                        <a:spcAft>
                          <a:spcPts val="0"/>
                        </a:spcAft>
                      </a:pPr>
                      <a:r>
                        <a:rPr lang="en-GB" sz="1400">
                          <a:effectLst/>
                        </a:rPr>
                        <a:t>Price</a:t>
                      </a:r>
                      <a:endParaRPr lang="en-AU" sz="1000">
                        <a:effectLst/>
                        <a:latin typeface="Times New Roman"/>
                        <a:ea typeface="Times New Roman"/>
                      </a:endParaRPr>
                    </a:p>
                  </a:txBody>
                  <a:tcPr marL="68580" marR="68580" marT="0" marB="0"/>
                </a:tc>
                <a:tc vMerge="1">
                  <a:txBody>
                    <a:bodyPr/>
                    <a:lstStyle/>
                    <a:p>
                      <a:endParaRPr lang="en-AU"/>
                    </a:p>
                  </a:txBody>
                  <a:tcPr/>
                </a:tc>
                <a:tc vMerge="1">
                  <a:txBody>
                    <a:bodyPr/>
                    <a:lstStyle/>
                    <a:p>
                      <a:endParaRPr lang="en-AU"/>
                    </a:p>
                  </a:txBody>
                  <a:tcPr/>
                </a:tc>
                <a:extLst>
                  <a:ext uri="{0D108BD9-81ED-4DB2-BD59-A6C34878D82A}">
                    <a16:rowId xmlns:a16="http://schemas.microsoft.com/office/drawing/2014/main" val="10001"/>
                  </a:ext>
                </a:extLst>
              </a:tr>
              <a:tr h="621069">
                <a:tc>
                  <a:txBody>
                    <a:bodyPr/>
                    <a:lstStyle/>
                    <a:p>
                      <a:pPr>
                        <a:spcAft>
                          <a:spcPts val="0"/>
                        </a:spcAft>
                      </a:pPr>
                      <a:r>
                        <a:rPr lang="en-GB" sz="1400">
                          <a:effectLst/>
                        </a:rPr>
                        <a:t>A</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100</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5</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120</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3</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extLst>
                  <a:ext uri="{0D108BD9-81ED-4DB2-BD59-A6C34878D82A}">
                    <a16:rowId xmlns:a16="http://schemas.microsoft.com/office/drawing/2014/main" val="10002"/>
                  </a:ext>
                </a:extLst>
              </a:tr>
              <a:tr h="621069">
                <a:tc>
                  <a:txBody>
                    <a:bodyPr/>
                    <a:lstStyle/>
                    <a:p>
                      <a:pPr>
                        <a:spcAft>
                          <a:spcPts val="0"/>
                        </a:spcAft>
                      </a:pPr>
                      <a:r>
                        <a:rPr lang="en-GB" sz="1400">
                          <a:effectLst/>
                        </a:rPr>
                        <a:t>B</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20</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8</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25</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7</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extLst>
                  <a:ext uri="{0D108BD9-81ED-4DB2-BD59-A6C34878D82A}">
                    <a16:rowId xmlns:a16="http://schemas.microsoft.com/office/drawing/2014/main" val="10003"/>
                  </a:ext>
                </a:extLst>
              </a:tr>
              <a:tr h="621069">
                <a:tc>
                  <a:txBody>
                    <a:bodyPr/>
                    <a:lstStyle/>
                    <a:p>
                      <a:pPr>
                        <a:spcAft>
                          <a:spcPts val="0"/>
                        </a:spcAft>
                      </a:pPr>
                      <a:r>
                        <a:rPr lang="en-GB" sz="1400">
                          <a:effectLst/>
                        </a:rPr>
                        <a:t>C</a:t>
                      </a:r>
                      <a:endParaRPr lang="en-AU" sz="1000">
                        <a:effectLst/>
                        <a:latin typeface="Times New Roman"/>
                        <a:ea typeface="Times New Roman"/>
                      </a:endParaRPr>
                    </a:p>
                  </a:txBody>
                  <a:tcPr marL="68580" marR="68580" marT="0" marB="0"/>
                </a:tc>
                <a:tc>
                  <a:txBody>
                    <a:bodyPr/>
                    <a:lstStyle/>
                    <a:p>
                      <a:pPr>
                        <a:spcAft>
                          <a:spcPts val="0"/>
                        </a:spcAft>
                      </a:pPr>
                      <a:r>
                        <a:rPr lang="en-GB" sz="1400" dirty="0">
                          <a:effectLst/>
                        </a:rPr>
                        <a:t>12</a:t>
                      </a:r>
                      <a:endParaRPr lang="en-AU" sz="1000" dirty="0">
                        <a:effectLst/>
                        <a:latin typeface="Times New Roman"/>
                        <a:ea typeface="Times New Roman"/>
                      </a:endParaRPr>
                    </a:p>
                  </a:txBody>
                  <a:tcPr marL="68580" marR="68580" marT="0" marB="0"/>
                </a:tc>
                <a:tc>
                  <a:txBody>
                    <a:bodyPr/>
                    <a:lstStyle/>
                    <a:p>
                      <a:pPr>
                        <a:spcAft>
                          <a:spcPts val="0"/>
                        </a:spcAft>
                      </a:pPr>
                      <a:r>
                        <a:rPr lang="en-GB" sz="1400">
                          <a:effectLst/>
                        </a:rPr>
                        <a:t>3</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16</a:t>
                      </a:r>
                      <a:endParaRPr lang="en-AU" sz="1000">
                        <a:effectLst/>
                        <a:latin typeface="Times New Roman"/>
                        <a:ea typeface="Times New Roman"/>
                      </a:endParaRPr>
                    </a:p>
                  </a:txBody>
                  <a:tcPr marL="68580" marR="68580" marT="0" marB="0"/>
                </a:tc>
                <a:tc>
                  <a:txBody>
                    <a:bodyPr/>
                    <a:lstStyle/>
                    <a:p>
                      <a:pPr>
                        <a:spcAft>
                          <a:spcPts val="0"/>
                        </a:spcAft>
                      </a:pPr>
                      <a:r>
                        <a:rPr lang="en-GB" sz="1400" dirty="0">
                          <a:effectLst/>
                          <a:latin typeface="+mn-lt"/>
                          <a:ea typeface="+mn-ea"/>
                        </a:rPr>
                        <a:t>2</a:t>
                      </a:r>
                      <a:endParaRPr lang="en-AU" sz="1000" dirty="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extLst>
                  <a:ext uri="{0D108BD9-81ED-4DB2-BD59-A6C34878D82A}">
                    <a16:rowId xmlns:a16="http://schemas.microsoft.com/office/drawing/2014/main" val="10004"/>
                  </a:ext>
                </a:extLst>
              </a:tr>
              <a:tr h="621069">
                <a:tc>
                  <a:txBody>
                    <a:bodyPr/>
                    <a:lstStyle/>
                    <a:p>
                      <a:pPr>
                        <a:spcAft>
                          <a:spcPts val="0"/>
                        </a:spcAft>
                      </a:pPr>
                      <a:r>
                        <a:rPr lang="en-GB" sz="1400">
                          <a:effectLst/>
                        </a:rPr>
                        <a:t>D</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150</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12</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200</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10</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extLst>
                  <a:ext uri="{0D108BD9-81ED-4DB2-BD59-A6C34878D82A}">
                    <a16:rowId xmlns:a16="http://schemas.microsoft.com/office/drawing/2014/main" val="10005"/>
                  </a:ext>
                </a:extLst>
              </a:tr>
              <a:tr h="621069">
                <a:tc>
                  <a:txBody>
                    <a:bodyPr/>
                    <a:lstStyle/>
                    <a:p>
                      <a:pPr>
                        <a:spcAft>
                          <a:spcPts val="0"/>
                        </a:spcAft>
                      </a:pPr>
                      <a:r>
                        <a:rPr lang="en-GB" sz="1400">
                          <a:effectLst/>
                        </a:rPr>
                        <a:t>E</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45</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6</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45</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8</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extLst>
                  <a:ext uri="{0D108BD9-81ED-4DB2-BD59-A6C34878D82A}">
                    <a16:rowId xmlns:a16="http://schemas.microsoft.com/office/drawing/2014/main" val="10006"/>
                  </a:ext>
                </a:extLst>
              </a:tr>
              <a:tr h="621069">
                <a:tc>
                  <a:txBody>
                    <a:bodyPr/>
                    <a:lstStyle/>
                    <a:p>
                      <a:pPr>
                        <a:spcAft>
                          <a:spcPts val="0"/>
                        </a:spcAft>
                      </a:pPr>
                      <a:r>
                        <a:rPr lang="en-GB" sz="1400">
                          <a:effectLst/>
                        </a:rPr>
                        <a:t>F</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32</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24</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40</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2</a:t>
                      </a:r>
                      <a:endParaRPr lang="en-AU" sz="1000">
                        <a:effectLst/>
                        <a:latin typeface="Times New Roman"/>
                        <a:ea typeface="Times New Roman"/>
                      </a:endParaRPr>
                    </a:p>
                  </a:txBody>
                  <a:tcPr marL="68580" marR="68580" marT="0" marB="0"/>
                </a:tc>
                <a:tc>
                  <a:txBody>
                    <a:bodyPr/>
                    <a:lstStyle/>
                    <a:p>
                      <a:pPr>
                        <a:spcAft>
                          <a:spcPts val="0"/>
                        </a:spcAft>
                      </a:pPr>
                      <a:r>
                        <a:rPr lang="en-GB" sz="1400">
                          <a:effectLst/>
                        </a:rPr>
                        <a:t> </a:t>
                      </a:r>
                      <a:endParaRPr lang="en-AU" sz="1000">
                        <a:effectLst/>
                        <a:latin typeface="Times New Roman"/>
                        <a:ea typeface="Times New Roman"/>
                      </a:endParaRPr>
                    </a:p>
                  </a:txBody>
                  <a:tcPr marL="68580" marR="68580" marT="0" marB="0"/>
                </a:tc>
                <a:tc>
                  <a:txBody>
                    <a:bodyPr/>
                    <a:lstStyle/>
                    <a:p>
                      <a:pPr>
                        <a:spcAft>
                          <a:spcPts val="0"/>
                        </a:spcAft>
                      </a:pPr>
                      <a:r>
                        <a:rPr lang="en-GB" sz="1400" dirty="0">
                          <a:effectLst/>
                        </a:rPr>
                        <a:t> </a:t>
                      </a:r>
                      <a:endParaRPr lang="en-AU" sz="1000" dirty="0">
                        <a:effectLst/>
                        <a:latin typeface="Times New Roman"/>
                        <a:ea typeface="Times New Roman"/>
                      </a:endParaRPr>
                    </a:p>
                  </a:txBody>
                  <a:tcPr marL="68580" marR="6858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596515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PED along the Demand Curve</a:t>
            </a:r>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3699516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Different Demand Curves</a:t>
            </a:r>
          </a:p>
        </p:txBody>
      </p:sp>
      <p:sp>
        <p:nvSpPr>
          <p:cNvPr id="3" name="Content Placeholder 2"/>
          <p:cNvSpPr>
            <a:spLocks noGrp="1"/>
          </p:cNvSpPr>
          <p:nvPr>
            <p:ph idx="1"/>
          </p:nvPr>
        </p:nvSpPr>
        <p:spPr/>
        <p:txBody>
          <a:bodyPr/>
          <a:lstStyle/>
          <a:p>
            <a:r>
              <a:rPr lang="en-AU" dirty="0"/>
              <a:t>Relatively Elastic</a:t>
            </a:r>
          </a:p>
          <a:p>
            <a:r>
              <a:rPr lang="en-AU" dirty="0"/>
              <a:t>Relatively inelastic</a:t>
            </a:r>
          </a:p>
          <a:p>
            <a:r>
              <a:rPr lang="en-AU" dirty="0"/>
              <a:t>Perfectly elastic</a:t>
            </a:r>
          </a:p>
          <a:p>
            <a:r>
              <a:rPr lang="en-AU" dirty="0"/>
              <a:t>Perfectly inelastic</a:t>
            </a:r>
          </a:p>
          <a:p>
            <a:r>
              <a:rPr lang="en-AU" dirty="0"/>
              <a:t>Unitary</a:t>
            </a:r>
          </a:p>
          <a:p>
            <a:pPr marL="0" indent="0">
              <a:buNone/>
            </a:pPr>
            <a:endParaRPr lang="en-AU" dirty="0"/>
          </a:p>
        </p:txBody>
      </p:sp>
    </p:spTree>
    <p:extLst>
      <p:ext uri="{BB962C8B-B14F-4D97-AF65-F5344CB8AC3E}">
        <p14:creationId xmlns:p14="http://schemas.microsoft.com/office/powerpoint/2010/main" val="1556703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Factors affecting PED</a:t>
            </a:r>
          </a:p>
        </p:txBody>
      </p:sp>
      <p:sp>
        <p:nvSpPr>
          <p:cNvPr id="3" name="Content Placeholder 2"/>
          <p:cNvSpPr>
            <a:spLocks noGrp="1"/>
          </p:cNvSpPr>
          <p:nvPr>
            <p:ph idx="1"/>
          </p:nvPr>
        </p:nvSpPr>
        <p:spPr/>
        <p:txBody>
          <a:bodyPr>
            <a:normAutofit fontScale="77500" lnSpcReduction="20000"/>
          </a:bodyPr>
          <a:lstStyle/>
          <a:p>
            <a:r>
              <a:rPr lang="en-GB" dirty="0"/>
              <a:t>There are FIVE main factors that affect the value of PED.</a:t>
            </a:r>
            <a:endParaRPr lang="en-AU" dirty="0"/>
          </a:p>
          <a:p>
            <a:pPr lvl="0"/>
            <a:r>
              <a:rPr lang="en-GB" dirty="0"/>
              <a:t>The availability and closeness of Substitutes: </a:t>
            </a:r>
          </a:p>
          <a:p>
            <a:pPr lvl="1"/>
            <a:r>
              <a:rPr lang="en-GB" dirty="0" err="1"/>
              <a:t>Eg</a:t>
            </a:r>
            <a:r>
              <a:rPr lang="en-GB" dirty="0"/>
              <a:t> – butter, loo paper, types of meat, types of fruit will tend to have an elastic demand.  Name five products that will have an inelastic demand.</a:t>
            </a:r>
            <a:endParaRPr lang="en-AU" dirty="0"/>
          </a:p>
          <a:p>
            <a:pPr lvl="0"/>
            <a:r>
              <a:rPr lang="en-GB" dirty="0"/>
              <a:t>The necessity of the product: </a:t>
            </a:r>
          </a:p>
          <a:p>
            <a:pPr lvl="1"/>
            <a:r>
              <a:rPr lang="en-GB" dirty="0"/>
              <a:t>The more a product is a necessity, the more the demand will be inelastic. Give 5 examples of a necessity and five items of a luxury.</a:t>
            </a:r>
            <a:endParaRPr lang="en-AU" dirty="0"/>
          </a:p>
          <a:p>
            <a:pPr lvl="0"/>
            <a:r>
              <a:rPr lang="en-GB" dirty="0"/>
              <a:t>Proportion of income spent:  </a:t>
            </a:r>
          </a:p>
          <a:p>
            <a:pPr lvl="1"/>
            <a:r>
              <a:rPr lang="en-GB" dirty="0"/>
              <a:t>A consumer will not notice a small change in price of an inexpensive product that is a small part of overall expenditure, such as chewing gum or a bar of chocolate, so this tends to mean that the demand for these goods is relatively inelastic. Give examples.</a:t>
            </a:r>
            <a:endParaRPr lang="en-AU" dirty="0"/>
          </a:p>
        </p:txBody>
      </p:sp>
    </p:spTree>
    <p:extLst>
      <p:ext uri="{BB962C8B-B14F-4D97-AF65-F5344CB8AC3E}">
        <p14:creationId xmlns:p14="http://schemas.microsoft.com/office/powerpoint/2010/main" val="1860610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Affecting PED continued</a:t>
            </a:r>
          </a:p>
        </p:txBody>
      </p:sp>
      <p:sp>
        <p:nvSpPr>
          <p:cNvPr id="3" name="Content Placeholder 2"/>
          <p:cNvSpPr>
            <a:spLocks noGrp="1"/>
          </p:cNvSpPr>
          <p:nvPr>
            <p:ph idx="1"/>
          </p:nvPr>
        </p:nvSpPr>
        <p:spPr/>
        <p:txBody>
          <a:bodyPr>
            <a:normAutofit fontScale="77500" lnSpcReduction="20000"/>
          </a:bodyPr>
          <a:lstStyle/>
          <a:p>
            <a:r>
              <a:rPr lang="en-GB" dirty="0"/>
              <a:t>Time Period considered: </a:t>
            </a:r>
          </a:p>
          <a:p>
            <a:pPr lvl="1"/>
            <a:r>
              <a:rPr lang="en-GB" dirty="0"/>
              <a:t>It often takes time for consumers to change their buying and consumption habits.  PED thus tends to be more inelastic in the short term and become much more elastic in the longer time period it is measured over.  E.g. use Oil as an example.</a:t>
            </a:r>
            <a:endParaRPr lang="en-AU" dirty="0"/>
          </a:p>
          <a:p>
            <a:pPr lvl="0"/>
            <a:r>
              <a:rPr lang="en-GB" dirty="0"/>
              <a:t>The width of definition: </a:t>
            </a:r>
          </a:p>
          <a:p>
            <a:pPr lvl="1"/>
            <a:r>
              <a:rPr lang="en-GB" dirty="0"/>
              <a:t>For example, when we take the whole definition of food, then food is very inelastic; however, if we define food more narrowly and consider meat, then we would consider meat to be less inelastic as there are many substitutes, i.e. fish, nuts, lentils, vegetables.  If we narrow our definition further, to consider chicken, pork, lamb, beef etc. then we could reasonably assume that the demand for chicken would be relatively elastic.  As the product is defined even more narrowly, like chicken products and then further into brands of chicken products, the demand becomes even more elastic. Do another example.</a:t>
            </a:r>
            <a:endParaRPr lang="en-AU" dirty="0"/>
          </a:p>
          <a:p>
            <a:endParaRPr lang="en-US" dirty="0"/>
          </a:p>
        </p:txBody>
      </p:sp>
    </p:spTree>
    <p:extLst>
      <p:ext uri="{BB962C8B-B14F-4D97-AF65-F5344CB8AC3E}">
        <p14:creationId xmlns:p14="http://schemas.microsoft.com/office/powerpoint/2010/main" val="2550532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Business Relevancy</a:t>
            </a:r>
          </a:p>
        </p:txBody>
      </p:sp>
      <p:sp>
        <p:nvSpPr>
          <p:cNvPr id="3" name="Content Placeholder 2"/>
          <p:cNvSpPr>
            <a:spLocks noGrp="1"/>
          </p:cNvSpPr>
          <p:nvPr>
            <p:ph idx="1"/>
          </p:nvPr>
        </p:nvSpPr>
        <p:spPr/>
        <p:txBody>
          <a:bodyPr/>
          <a:lstStyle/>
          <a:p>
            <a:r>
              <a:rPr lang="en-AU" dirty="0"/>
              <a:t>Firms</a:t>
            </a:r>
          </a:p>
          <a:p>
            <a:r>
              <a:rPr lang="en-AU"/>
              <a:t>Government</a:t>
            </a:r>
          </a:p>
        </p:txBody>
      </p:sp>
    </p:spTree>
    <p:extLst>
      <p:ext uri="{BB962C8B-B14F-4D97-AF65-F5344CB8AC3E}">
        <p14:creationId xmlns:p14="http://schemas.microsoft.com/office/powerpoint/2010/main" val="5884111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Breeze">
      <a:dk1>
        <a:sysClr val="windowText" lastClr="000000"/>
      </a:dk1>
      <a:lt1>
        <a:sysClr val="window" lastClr="FFFFFF"/>
      </a:lt1>
      <a:dk2>
        <a:srgbClr val="09213B"/>
      </a:dk2>
      <a:lt2>
        <a:srgbClr val="D5EDF4"/>
      </a:lt2>
      <a:accent1>
        <a:srgbClr val="2C7C9F"/>
      </a:accent1>
      <a:accent2>
        <a:srgbClr val="244A58"/>
      </a:accent2>
      <a:accent3>
        <a:srgbClr val="E2751D"/>
      </a:accent3>
      <a:accent4>
        <a:srgbClr val="FFB400"/>
      </a:accent4>
      <a:accent5>
        <a:srgbClr val="7EB606"/>
      </a:accent5>
      <a:accent6>
        <a:srgbClr val="C00000"/>
      </a:accent6>
      <a:hlink>
        <a:srgbClr val="7030A0"/>
      </a:hlink>
      <a:folHlink>
        <a:srgbClr val="00B0F0"/>
      </a:folHlink>
    </a:clrScheme>
    <a:fontScheme name="Breeze">
      <a:majorFont>
        <a:latin typeface="News Gothic MT"/>
        <a:ea typeface=""/>
        <a:cs typeface=""/>
        <a:font script="Jpan" typeface="ＭＳ Ｐゴシック"/>
      </a:majorFont>
      <a:minorFont>
        <a:latin typeface="News Gothic MT"/>
        <a:ea typeface=""/>
        <a:cs typeface=""/>
        <a:font script="Jpan" typeface="ＭＳ Ｐゴシック"/>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Breeze.thmx</Template>
  <TotalTime>206</TotalTime>
  <Words>699</Words>
  <Application>Microsoft Macintosh PowerPoint</Application>
  <PresentationFormat>On-screen Show (4:3)</PresentationFormat>
  <Paragraphs>136</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News Gothic MT</vt:lpstr>
      <vt:lpstr>Times New Roman</vt:lpstr>
      <vt:lpstr>Wingdings 2</vt:lpstr>
      <vt:lpstr>Breeze</vt:lpstr>
      <vt:lpstr>Price Elasticity of Demand</vt:lpstr>
      <vt:lpstr>Definition</vt:lpstr>
      <vt:lpstr>Classification of PED</vt:lpstr>
      <vt:lpstr>Classification of PED</vt:lpstr>
      <vt:lpstr>Task</vt:lpstr>
      <vt:lpstr>New Task</vt:lpstr>
      <vt:lpstr>PED along the Demand Curve</vt:lpstr>
      <vt:lpstr>Different Demand Curves</vt:lpstr>
      <vt:lpstr>Factors affecting PED</vt:lpstr>
      <vt:lpstr>Factors Affecting PED continued</vt:lpstr>
      <vt:lpstr>Business Relevancy</vt:lpstr>
    </vt:vector>
  </TitlesOfParts>
  <Company>Perth Modern School</Company>
  <LinksUpToDate>false</LinksUpToDate>
  <SharedDoc>false</SharedDoc>
  <HyperlinksChanged>false</HyperlinksChanged>
  <AppVersion>16.0009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Price Elasticity of Demand</dc:title>
  <dc:creator>software</dc:creator>
  <cp:lastModifiedBy>GUIGAYOMA Jenny</cp:lastModifiedBy>
  <cp:revision>12</cp:revision>
  <dcterms:created xsi:type="dcterms:W3CDTF">2012-02-26T05:20:29Z</dcterms:created>
  <dcterms:modified xsi:type="dcterms:W3CDTF">2019-11-09T03:59:38Z</dcterms:modified>
</cp:coreProperties>
</file>
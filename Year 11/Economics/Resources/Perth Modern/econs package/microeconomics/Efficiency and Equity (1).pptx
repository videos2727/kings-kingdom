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FCF"/>
    <a:srgbClr val="CC66FF"/>
    <a:srgbClr val="66FFCC"/>
    <a:srgbClr val="66CCFF"/>
    <a:srgbClr val="66FFFF"/>
    <a:srgbClr val="FFFF66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21"/>
  </p:normalViewPr>
  <p:slideViewPr>
    <p:cSldViewPr snapToGrid="0" snapToObjects="1">
      <p:cViewPr varScale="1">
        <p:scale>
          <a:sx n="108" d="100"/>
          <a:sy n="108" d="100"/>
        </p:scale>
        <p:origin x="176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5C141-48E7-554C-9AC8-717DC6D5D947}" type="datetimeFigureOut">
              <a:rPr lang="en-US" smtClean="0"/>
              <a:t>11/9/19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EFD751-89C1-EC47-B4BE-B6A861C1EC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87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Maximised</a:t>
            </a:r>
            <a:r>
              <a:rPr lang="en-US" dirty="0"/>
              <a:t> at equilibrium</a:t>
            </a:r>
          </a:p>
          <a:p>
            <a:pPr marL="171450" indent="-171450">
              <a:buFontTx/>
              <a:buChar char="-"/>
            </a:pPr>
            <a:r>
              <a:rPr lang="en-US" dirty="0"/>
              <a:t>CS+PS</a:t>
            </a:r>
          </a:p>
          <a:p>
            <a:pPr marL="171450" indent="-171450">
              <a:buFontTx/>
              <a:buChar char="-"/>
            </a:pPr>
            <a:r>
              <a:rPr lang="en-US" dirty="0"/>
              <a:t>MB=MC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EFD751-89C1-EC47-B4BE-B6A861C1EC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908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producing at optimal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EFD751-89C1-EC47-B4BE-B6A861C1EC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395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Even bearing of costs to</a:t>
            </a:r>
            <a:r>
              <a:rPr lang="en-US" baseline="0" dirty="0"/>
              <a:t> economy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EFD751-89C1-EC47-B4BE-B6A861C1EC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821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</a:t>
            </a:r>
            <a:r>
              <a:rPr lang="en-US" baseline="0" dirty="0"/>
              <a:t> research: Exploring what each means; is there a trade off between the two?</a:t>
            </a:r>
          </a:p>
          <a:p>
            <a:r>
              <a:rPr lang="en-US" baseline="0" dirty="0"/>
              <a:t>Can greater efficiency lead to greater equity?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EFD751-89C1-EC47-B4BE-B6A861C1EC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175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**edited for 2018 -&gt; Need to add explanations of</a:t>
            </a:r>
            <a:r>
              <a:rPr lang="en-US" baseline="0" dirty="0"/>
              <a:t> </a:t>
            </a:r>
            <a:r>
              <a:rPr lang="en-US" baseline="0"/>
              <a:t>each policy (first 4)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EFD751-89C1-EC47-B4BE-B6A861C1EC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DCD4-DC10-5B42-A5C1-8DEAFCC4F2F1}" type="datetimeFigureOut">
              <a:rPr lang="en-US" smtClean="0"/>
              <a:t>11/9/19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78149-2B97-D940-9FA4-3198E1CDB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1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>
                <a:solidFill>
                  <a:srgbClr val="66CCFF"/>
                </a:solidFill>
              </a:defRPr>
            </a:lvl2pPr>
            <a:lvl3pPr>
              <a:defRPr>
                <a:solidFill>
                  <a:srgbClr val="66FFCC"/>
                </a:solidFill>
              </a:defRPr>
            </a:lvl3pPr>
            <a:lvl4pPr>
              <a:defRPr>
                <a:solidFill>
                  <a:srgbClr val="FFFF66"/>
                </a:solidFill>
              </a:defRPr>
            </a:lvl4pPr>
            <a:lvl5pPr>
              <a:defRPr>
                <a:solidFill>
                  <a:srgbClr val="FF6FCF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DCD4-DC10-5B42-A5C1-8DEAFCC4F2F1}" type="datetimeFigureOut">
              <a:rPr lang="en-US" smtClean="0"/>
              <a:t>11/9/19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78149-2B97-D940-9FA4-3198E1CDB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33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DCD4-DC10-5B42-A5C1-8DEAFCC4F2F1}" type="datetimeFigureOut">
              <a:rPr lang="en-US" smtClean="0"/>
              <a:t>11/9/19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78149-2B97-D940-9FA4-3198E1CDB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52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DCD4-DC10-5B42-A5C1-8DEAFCC4F2F1}" type="datetimeFigureOut">
              <a:rPr lang="en-US" smtClean="0"/>
              <a:t>11/9/19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78149-2B97-D940-9FA4-3198E1CDB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301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DCD4-DC10-5B42-A5C1-8DEAFCC4F2F1}" type="datetimeFigureOut">
              <a:rPr lang="en-US" smtClean="0"/>
              <a:t>11/9/19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78149-2B97-D940-9FA4-3198E1CDB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94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DCD4-DC10-5B42-A5C1-8DEAFCC4F2F1}" type="datetimeFigureOut">
              <a:rPr lang="en-US" smtClean="0"/>
              <a:t>11/9/19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78149-2B97-D940-9FA4-3198E1CDB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6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DCD4-DC10-5B42-A5C1-8DEAFCC4F2F1}" type="datetimeFigureOut">
              <a:rPr lang="en-US" smtClean="0"/>
              <a:t>11/9/19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78149-2B97-D940-9FA4-3198E1CDB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2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DCD4-DC10-5B42-A5C1-8DEAFCC4F2F1}" type="datetimeFigureOut">
              <a:rPr lang="en-US" smtClean="0"/>
              <a:t>11/9/19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78149-2B97-D940-9FA4-3198E1CDB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16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DCD4-DC10-5B42-A5C1-8DEAFCC4F2F1}" type="datetimeFigureOut">
              <a:rPr lang="en-US" smtClean="0"/>
              <a:t>11/9/19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78149-2B97-D940-9FA4-3198E1CDB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7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DCD4-DC10-5B42-A5C1-8DEAFCC4F2F1}" type="datetimeFigureOut">
              <a:rPr lang="en-US" smtClean="0"/>
              <a:t>11/9/19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78149-2B97-D940-9FA4-3198E1CDB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498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7DCD4-DC10-5B42-A5C1-8DEAFCC4F2F1}" type="datetimeFigureOut">
              <a:rPr lang="en-US" smtClean="0"/>
              <a:t>11/9/19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78149-2B97-D940-9FA4-3198E1CDB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4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7DCD4-DC10-5B42-A5C1-8DEAFCC4F2F1}" type="datetimeFigureOut">
              <a:rPr lang="en-US" smtClean="0"/>
              <a:t>11/9/19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78149-2B97-D940-9FA4-3198E1CDB4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112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EFFICIENCY AND EQUITY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Year 11</a:t>
            </a:r>
          </a:p>
        </p:txBody>
      </p:sp>
    </p:spTree>
    <p:extLst>
      <p:ext uri="{BB962C8B-B14F-4D97-AF65-F5344CB8AC3E}">
        <p14:creationId xmlns:p14="http://schemas.microsoft.com/office/powerpoint/2010/main" val="4290522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efficiency?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Producing the goods that society wants at the lowest possible cost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66"/>
                </a:solidFill>
              </a:rPr>
              <a:t>Pareto Efficiency:</a:t>
            </a:r>
          </a:p>
          <a:p>
            <a:r>
              <a:rPr lang="en-US" dirty="0"/>
              <a:t>The situation where trying to make someone better off would also make someone worse off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26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Productive efficiency: </a:t>
            </a:r>
          </a:p>
          <a:p>
            <a:pPr lvl="1"/>
            <a:r>
              <a:rPr lang="en-US" dirty="0"/>
              <a:t>Where goods or services are produced at the lowest possible cost</a:t>
            </a:r>
          </a:p>
          <a:p>
            <a:r>
              <a:rPr lang="en-US" dirty="0" err="1"/>
              <a:t>Allocative</a:t>
            </a:r>
            <a:r>
              <a:rPr lang="en-US" dirty="0"/>
              <a:t> efficiency</a:t>
            </a:r>
          </a:p>
          <a:p>
            <a:pPr lvl="1"/>
            <a:r>
              <a:rPr lang="en-US" dirty="0"/>
              <a:t> Production reflects consumer preferences</a:t>
            </a:r>
          </a:p>
          <a:p>
            <a:r>
              <a:rPr lang="en-US" dirty="0"/>
              <a:t>Dynamic efficiency: </a:t>
            </a:r>
          </a:p>
          <a:p>
            <a:pPr lvl="1"/>
            <a:r>
              <a:rPr lang="en-US" dirty="0"/>
              <a:t>Occurs when new technology and innovation is adopted over time</a:t>
            </a:r>
          </a:p>
        </p:txBody>
      </p:sp>
    </p:spTree>
    <p:extLst>
      <p:ext uri="{BB962C8B-B14F-4D97-AF65-F5344CB8AC3E}">
        <p14:creationId xmlns:p14="http://schemas.microsoft.com/office/powerpoint/2010/main" val="352247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Consumers</a:t>
            </a:r>
          </a:p>
          <a:p>
            <a:pPr lvl="1"/>
            <a:r>
              <a:rPr lang="en-US" dirty="0"/>
              <a:t>Consumer surplus: Difference between what a consumer is prepared to pay and what they actually pay in the market</a:t>
            </a:r>
          </a:p>
          <a:p>
            <a:pPr lvl="1"/>
            <a:r>
              <a:rPr lang="en-US" dirty="0"/>
              <a:t>Marginal benefit: Extra benefit from consuming one extra unit of the good or service</a:t>
            </a:r>
          </a:p>
        </p:txBody>
      </p:sp>
    </p:spTree>
    <p:extLst>
      <p:ext uri="{BB962C8B-B14F-4D97-AF65-F5344CB8AC3E}">
        <p14:creationId xmlns:p14="http://schemas.microsoft.com/office/powerpoint/2010/main" val="380870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Producers</a:t>
            </a:r>
          </a:p>
          <a:p>
            <a:pPr lvl="1"/>
            <a:r>
              <a:rPr lang="en-US" dirty="0"/>
              <a:t>Producer surplus: Difference between what a producer is willing to receive and what they actually receive in a market</a:t>
            </a:r>
          </a:p>
          <a:p>
            <a:pPr lvl="1"/>
            <a:r>
              <a:rPr lang="en-US" dirty="0"/>
              <a:t>Marginal cost: The extra opportunity cost of producing one more unit of a good or service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058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surplus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Measure of the net benefits to society from the production and consumption of the good</a:t>
            </a:r>
          </a:p>
        </p:txBody>
      </p:sp>
    </p:spTree>
    <p:extLst>
      <p:ext uri="{BB962C8B-B14F-4D97-AF65-F5344CB8AC3E}">
        <p14:creationId xmlns:p14="http://schemas.microsoft.com/office/powerpoint/2010/main" val="3795235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Deadweight loss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Loss in total surplus that is avoidable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263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Refers to the equal distribution of resources across the society</a:t>
            </a:r>
          </a:p>
        </p:txBody>
      </p:sp>
    </p:spTree>
    <p:extLst>
      <p:ext uri="{BB962C8B-B14F-4D97-AF65-F5344CB8AC3E}">
        <p14:creationId xmlns:p14="http://schemas.microsoft.com/office/powerpoint/2010/main" val="878509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Equity and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Subject to normative and positive analysis</a:t>
            </a:r>
          </a:p>
        </p:txBody>
      </p:sp>
    </p:spTree>
    <p:extLst>
      <p:ext uri="{BB962C8B-B14F-4D97-AF65-F5344CB8AC3E}">
        <p14:creationId xmlns:p14="http://schemas.microsoft.com/office/powerpoint/2010/main" val="4100597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equity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Vertical equity</a:t>
            </a:r>
          </a:p>
          <a:p>
            <a:pPr lvl="1"/>
            <a:r>
              <a:rPr lang="en-US" dirty="0"/>
              <a:t>Equity between the rich and the poor</a:t>
            </a:r>
          </a:p>
          <a:p>
            <a:r>
              <a:rPr lang="en-US" dirty="0"/>
              <a:t>Horizontal equity</a:t>
            </a:r>
          </a:p>
          <a:p>
            <a:pPr lvl="1"/>
            <a:r>
              <a:rPr lang="en-US" dirty="0"/>
              <a:t>To provide everyone with the same opportunity to succeed and earn a high income, i.e. equal opportunity</a:t>
            </a:r>
          </a:p>
        </p:txBody>
      </p:sp>
    </p:spTree>
    <p:extLst>
      <p:ext uri="{BB962C8B-B14F-4D97-AF65-F5344CB8AC3E}">
        <p14:creationId xmlns:p14="http://schemas.microsoft.com/office/powerpoint/2010/main" val="3147951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 options to promote equity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78125"/>
          </a:xfrm>
        </p:spPr>
        <p:txBody>
          <a:bodyPr/>
          <a:lstStyle/>
          <a:p>
            <a:r>
              <a:rPr lang="en-US" dirty="0"/>
              <a:t>Market restrictions</a:t>
            </a:r>
          </a:p>
          <a:p>
            <a:r>
              <a:rPr lang="en-US" dirty="0"/>
              <a:t>Price ceilings/floors</a:t>
            </a:r>
          </a:p>
          <a:p>
            <a:r>
              <a:rPr lang="en-US" dirty="0"/>
              <a:t>Taxes</a:t>
            </a:r>
          </a:p>
          <a:p>
            <a:r>
              <a:rPr lang="en-US" dirty="0"/>
              <a:t>Subsidies</a:t>
            </a:r>
          </a:p>
          <a:p>
            <a:r>
              <a:rPr lang="en-US" dirty="0"/>
              <a:t>Government spending</a:t>
            </a:r>
          </a:p>
          <a:p>
            <a:pPr lvl="1"/>
            <a:r>
              <a:rPr lang="en-US" dirty="0"/>
              <a:t>The social security system (Welfare)</a:t>
            </a:r>
          </a:p>
          <a:p>
            <a:pPr lvl="2"/>
            <a:r>
              <a:rPr lang="en-US" dirty="0"/>
              <a:t>E.g. pensions and unemployment benefits</a:t>
            </a:r>
          </a:p>
          <a:p>
            <a:r>
              <a:rPr lang="en-US" dirty="0"/>
              <a:t>Enforcement of private property rights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07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restrictions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there are restrictions placed of the amount of a good that can be sold in the market</a:t>
            </a:r>
          </a:p>
          <a:p>
            <a:pPr lvl="1"/>
            <a:r>
              <a:rPr lang="en-US" dirty="0"/>
              <a:t>E.g. Taxi licenses</a:t>
            </a:r>
          </a:p>
        </p:txBody>
      </p:sp>
    </p:spTree>
    <p:extLst>
      <p:ext uri="{BB962C8B-B14F-4D97-AF65-F5344CB8AC3E}">
        <p14:creationId xmlns:p14="http://schemas.microsoft.com/office/powerpoint/2010/main" val="1700557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ceilings/floors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the government imposes a minimum or maximum price within a market</a:t>
            </a:r>
          </a:p>
          <a:p>
            <a:r>
              <a:rPr lang="en-US" dirty="0"/>
              <a:t>Price ceiling </a:t>
            </a:r>
            <a:r>
              <a:rPr lang="mr-IN" dirty="0"/>
              <a:t>–</a:t>
            </a:r>
            <a:r>
              <a:rPr lang="en-US" dirty="0"/>
              <a:t> Enforced maximum price</a:t>
            </a:r>
          </a:p>
          <a:p>
            <a:r>
              <a:rPr lang="en-US" dirty="0"/>
              <a:t>Price floor </a:t>
            </a:r>
            <a:r>
              <a:rPr lang="mr-IN" dirty="0"/>
              <a:t>–</a:t>
            </a:r>
            <a:r>
              <a:rPr lang="en-US" dirty="0"/>
              <a:t> Enforced minimum price</a:t>
            </a:r>
          </a:p>
        </p:txBody>
      </p:sp>
    </p:spTree>
    <p:extLst>
      <p:ext uri="{BB962C8B-B14F-4D97-AF65-F5344CB8AC3E}">
        <p14:creationId xmlns:p14="http://schemas.microsoft.com/office/powerpoint/2010/main" val="403389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Where a percentage of the amount paid/earnt is taken as a contribution to state/government revenue</a:t>
            </a:r>
          </a:p>
        </p:txBody>
      </p:sp>
    </p:spTree>
    <p:extLst>
      <p:ext uri="{BB962C8B-B14F-4D97-AF65-F5344CB8AC3E}">
        <p14:creationId xmlns:p14="http://schemas.microsoft.com/office/powerpoint/2010/main" val="153133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Subsidies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 a lump sum given to firms within a particular industry to help keep costs low</a:t>
            </a:r>
          </a:p>
        </p:txBody>
      </p:sp>
    </p:spTree>
    <p:extLst>
      <p:ext uri="{BB962C8B-B14F-4D97-AF65-F5344CB8AC3E}">
        <p14:creationId xmlns:p14="http://schemas.microsoft.com/office/powerpoint/2010/main" val="1028585886"/>
      </p:ext>
    </p:extLst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 Black .thmx</Template>
  <TotalTime>68</TotalTime>
  <Words>426</Words>
  <Application>Microsoft Macintosh PowerPoint</Application>
  <PresentationFormat>On-screen Show (4:3)</PresentationFormat>
  <Paragraphs>68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Mangal</vt:lpstr>
      <vt:lpstr>Black</vt:lpstr>
      <vt:lpstr>EFFICIENCY AND EQUITY</vt:lpstr>
      <vt:lpstr>What is efficiency?</vt:lpstr>
      <vt:lpstr>Types of efficiency</vt:lpstr>
      <vt:lpstr>Measuring benefits</vt:lpstr>
      <vt:lpstr>Measuring benefits</vt:lpstr>
      <vt:lpstr>Total surplus</vt:lpstr>
      <vt:lpstr>Deadweight loss</vt:lpstr>
      <vt:lpstr>Equity</vt:lpstr>
      <vt:lpstr>Equity and efficiency</vt:lpstr>
      <vt:lpstr>Types of equity</vt:lpstr>
      <vt:lpstr>Policy options to promote equity</vt:lpstr>
      <vt:lpstr>Market restrictions</vt:lpstr>
      <vt:lpstr>Price ceilings/floors</vt:lpstr>
      <vt:lpstr>Taxes</vt:lpstr>
      <vt:lpstr>Subsidies</vt:lpstr>
    </vt:vector>
  </TitlesOfParts>
  <Company/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EFFICIENCY AND EQUITY</dc:title>
  <dc:creator>MACBOOKPRO Jiang Yin</dc:creator>
  <cp:lastModifiedBy>GUIGAYOMA Jenny</cp:lastModifiedBy>
  <cp:revision>13</cp:revision>
  <dcterms:created xsi:type="dcterms:W3CDTF">2017-03-06T09:31:37Z</dcterms:created>
  <dcterms:modified xsi:type="dcterms:W3CDTF">2019-11-09T04:00:44Z</dcterms:modified>
</cp:coreProperties>
</file>
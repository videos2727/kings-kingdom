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59" r:id="rId3"/>
    <p:sldId id="261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2" r:id="rId14"/>
    <p:sldId id="270" r:id="rId15"/>
    <p:sldId id="271" r:id="rId16"/>
    <p:sldId id="27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78130" autoAdjust="0"/>
  </p:normalViewPr>
  <p:slideViewPr>
    <p:cSldViewPr snapToGrid="0" snapToObjects="1">
      <p:cViewPr varScale="1">
        <p:scale>
          <a:sx n="88" d="100"/>
          <a:sy n="88" d="100"/>
        </p:scale>
        <p:origin x="23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EA0BA-4659-AD48-B1C2-13329A36A51F}" type="datetimeFigureOut">
              <a:rPr lang="en-US" smtClean="0"/>
              <a:t>11/9/19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AD11FB-1498-F547-8F15-F8BC8976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946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market is</a:t>
            </a:r>
            <a:r>
              <a:rPr lang="en-US" baseline="0" dirty="0"/>
              <a:t> not competitive/ imperfect due to imperfect information/ inability to measure the true value of the good or service and so unable to exert a price that reflects the true value of the good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AD11FB-1498-F547-8F15-F8BC8976629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08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-&gt; The price of the good does not fully reflect its actual</a:t>
            </a:r>
            <a:r>
              <a:rPr lang="en-US" baseline="0" dirty="0"/>
              <a:t> value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AD11FB-1498-F547-8F15-F8BC8976629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812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be </a:t>
            </a:r>
            <a:r>
              <a:rPr lang="en-US" dirty="0" err="1"/>
              <a:t>summarised</a:t>
            </a:r>
            <a:r>
              <a:rPr lang="en-US" dirty="0"/>
              <a:t> as imperfect markets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AD11FB-1498-F547-8F15-F8BC8976629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867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E.g. rental property, tickets to sports events, petrol</a:t>
            </a:r>
            <a:r>
              <a:rPr lang="en-US" baseline="0" dirty="0"/>
              <a:t> and staple foods</a:t>
            </a:r>
            <a:endParaRPr lang="en-US" dirty="0"/>
          </a:p>
          <a:p>
            <a:endParaRPr lang="en-US" dirty="0"/>
          </a:p>
          <a:p>
            <a:r>
              <a:rPr lang="en-US" dirty="0"/>
              <a:t>Analysis: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Influence on CS, PS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Surplus or shortage?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DWL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Need for rationing system to regulate demand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AD11FB-1498-F547-8F15-F8BC8976629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074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Market size</a:t>
            </a:r>
          </a:p>
          <a:p>
            <a:pPr marL="171450" indent="-171450">
              <a:buFontTx/>
              <a:buChar char="-"/>
            </a:pPr>
            <a:r>
              <a:rPr lang="en-US" dirty="0"/>
              <a:t>Surplus</a:t>
            </a:r>
            <a:r>
              <a:rPr lang="en-US" baseline="0" dirty="0"/>
              <a:t> of supply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Deadweight loss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AD11FB-1498-F547-8F15-F8BC8976629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121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Influence on</a:t>
            </a:r>
            <a:r>
              <a:rPr lang="en-US" baseline="0" dirty="0"/>
              <a:t> supply and demand</a:t>
            </a:r>
          </a:p>
          <a:p>
            <a:r>
              <a:rPr lang="en-US" baseline="0" dirty="0"/>
              <a:t>Tax incidence and elasticity</a:t>
            </a:r>
            <a:endParaRPr lang="en-US" dirty="0"/>
          </a:p>
          <a:p>
            <a:r>
              <a:rPr lang="en-US" dirty="0"/>
              <a:t>Influence on efficiency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AD11FB-1498-F547-8F15-F8BC8976629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254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much might the subsidy</a:t>
            </a:r>
            <a:r>
              <a:rPr lang="en-US" baseline="0" dirty="0"/>
              <a:t> be passed onto the consumer?</a:t>
            </a:r>
          </a:p>
          <a:p>
            <a:r>
              <a:rPr lang="en-US" baseline="0" dirty="0"/>
              <a:t>Impact on consumer and producer surplus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AD11FB-1498-F547-8F15-F8BC8976629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911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Title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67" y="187452"/>
            <a:ext cx="8827266" cy="648309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A3DC-869B-A84C-A347-61D73694352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492375"/>
            <a:ext cx="6762749" cy="1470025"/>
          </a:xfrm>
        </p:spPr>
        <p:txBody>
          <a:bodyPr/>
          <a:lstStyle>
            <a:lvl1pPr algn="r">
              <a:defRPr sz="4400">
                <a:solidFill>
                  <a:srgbClr val="000000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1" y="3966882"/>
            <a:ext cx="6762749" cy="1752600"/>
          </a:xfrm>
        </p:spPr>
        <p:txBody>
          <a:bodyPr>
            <a:normAutofit/>
          </a:bodyPr>
          <a:lstStyle>
            <a:lvl1pPr marL="0" indent="0" algn="r">
              <a:spcBef>
                <a:spcPts val="6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359D-D93F-D941-B7F0-39EB4B578B9F}" type="datetimeFigureOut">
              <a:rPr lang="en-US" smtClean="0"/>
              <a:t>11/9/19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Content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87" y="186645"/>
            <a:ext cx="8827266" cy="6483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bg1">
                    <a:lumMod val="6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359D-D93F-D941-B7F0-39EB4B578B9F}" type="datetimeFigureOut">
              <a:rPr lang="en-US" smtClean="0"/>
              <a:t>11/9/19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A3DC-869B-A84C-A347-61D7369435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Section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67" y="187452"/>
            <a:ext cx="8827266" cy="6483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3" y="2591360"/>
            <a:ext cx="7583487" cy="1362075"/>
          </a:xfrm>
        </p:spPr>
        <p:txBody>
          <a:bodyPr anchor="b" anchorCtr="0">
            <a:noAutofit/>
          </a:bodyPr>
          <a:lstStyle>
            <a:lvl1pPr algn="l">
              <a:defRPr sz="4400" b="1" cap="none" baseline="0">
                <a:solidFill>
                  <a:srgbClr val="000000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9463" y="3950354"/>
            <a:ext cx="7583487" cy="1500187"/>
          </a:xfrm>
        </p:spPr>
        <p:txBody>
          <a:bodyPr anchor="t" anchorCtr="0"/>
          <a:lstStyle>
            <a:lvl1pPr marL="0" indent="0" algn="l">
              <a:spcBef>
                <a:spcPts val="600"/>
              </a:spcBef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359D-D93F-D941-B7F0-39EB4B578B9F}" type="datetimeFigureOut">
              <a:rPr lang="en-US" smtClean="0"/>
              <a:t>11/9/19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A3DC-869B-A84C-A347-61D7369435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Overlay-Content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87" y="186645"/>
            <a:ext cx="8827266" cy="6483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9462" y="1828800"/>
            <a:ext cx="3657600" cy="4219575"/>
          </a:xfrm>
        </p:spPr>
        <p:txBody>
          <a:bodyPr>
            <a:normAutofit/>
          </a:bodyPr>
          <a:lstStyle>
            <a:lvl1pPr>
              <a:defRPr sz="2000">
                <a:solidFill>
                  <a:srgbClr val="000000"/>
                </a:solidFill>
              </a:defRPr>
            </a:lvl1pPr>
            <a:lvl2pPr>
              <a:defRPr sz="1800">
                <a:solidFill>
                  <a:srgbClr val="000000"/>
                </a:solidFill>
              </a:defRPr>
            </a:lvl2pPr>
            <a:lvl3pPr>
              <a:defRPr sz="1800">
                <a:solidFill>
                  <a:srgbClr val="000000"/>
                </a:solidFill>
              </a:defRPr>
            </a:lvl3pPr>
            <a:lvl4pPr>
              <a:defRPr sz="1800">
                <a:solidFill>
                  <a:srgbClr val="000000"/>
                </a:solidFill>
              </a:defRPr>
            </a:lvl4pPr>
            <a:lvl5pPr>
              <a:defRPr sz="1800">
                <a:solidFill>
                  <a:srgbClr val="00000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8541" y="1828800"/>
            <a:ext cx="3657600" cy="4219575"/>
          </a:xfrm>
        </p:spPr>
        <p:txBody>
          <a:bodyPr>
            <a:normAutofit/>
          </a:bodyPr>
          <a:lstStyle>
            <a:lvl1pPr>
              <a:defRPr sz="2000">
                <a:solidFill>
                  <a:srgbClr val="000000"/>
                </a:solidFill>
              </a:defRPr>
            </a:lvl1pPr>
            <a:lvl2pPr>
              <a:defRPr sz="1800">
                <a:solidFill>
                  <a:srgbClr val="000000"/>
                </a:solidFill>
              </a:defRPr>
            </a:lvl2pPr>
            <a:lvl3pPr>
              <a:defRPr sz="1800">
                <a:solidFill>
                  <a:srgbClr val="000000"/>
                </a:solidFill>
              </a:defRPr>
            </a:lvl3pPr>
            <a:lvl4pPr>
              <a:defRPr sz="1800">
                <a:solidFill>
                  <a:srgbClr val="000000"/>
                </a:solidFill>
              </a:defRPr>
            </a:lvl4pPr>
            <a:lvl5pPr>
              <a:defRPr sz="1800">
                <a:solidFill>
                  <a:srgbClr val="00000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359D-D93F-D941-B7F0-39EB4B578B9F}" type="datetimeFigureOut">
              <a:rPr lang="en-US" smtClean="0"/>
              <a:t>11/9/19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A3DC-869B-A84C-A347-61D7369435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Overlay-Content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87" y="186645"/>
            <a:ext cx="8827266" cy="6483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3" y="381000"/>
            <a:ext cx="7583487" cy="1044388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9463" y="1438835"/>
            <a:ext cx="3657600" cy="789828"/>
          </a:xfr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9463" y="2362199"/>
            <a:ext cx="3657600" cy="36861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5350" y="1438835"/>
            <a:ext cx="3657600" cy="789828"/>
          </a:xfr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5350" y="2362199"/>
            <a:ext cx="3657600" cy="36861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359D-D93F-D941-B7F0-39EB4B578B9F}" type="datetimeFigureOut">
              <a:rPr lang="en-US" smtClean="0"/>
              <a:t>11/9/19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A3DC-869B-A84C-A347-61D73694352A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874059" y="2286000"/>
            <a:ext cx="3563003" cy="158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815840" y="2286000"/>
            <a:ext cx="3566160" cy="158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74059" y="2286000"/>
            <a:ext cx="3563003" cy="158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815840" y="2286000"/>
            <a:ext cx="3566160" cy="158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Overlay-Content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87" y="186645"/>
            <a:ext cx="8827266" cy="6483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9462" y="1828801"/>
            <a:ext cx="7585076" cy="2057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359D-D93F-D941-B7F0-39EB4B578B9F}" type="datetimeFigureOut">
              <a:rPr lang="en-US" smtClean="0"/>
              <a:t>11/9/19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A3DC-869B-A84C-A347-61D73694352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sz="half" idx="13"/>
          </p:nvPr>
        </p:nvSpPr>
        <p:spPr>
          <a:xfrm>
            <a:off x="779462" y="3991816"/>
            <a:ext cx="7585076" cy="2057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Overlay-Content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87" y="186645"/>
            <a:ext cx="8827266" cy="6483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0953" y="1828801"/>
            <a:ext cx="3657600" cy="2057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359D-D93F-D941-B7F0-39EB4B578B9F}" type="datetimeFigureOut">
              <a:rPr lang="en-US" smtClean="0"/>
              <a:t>11/9/19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A3DC-869B-A84C-A347-61D73694352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sz="half" idx="13"/>
          </p:nvPr>
        </p:nvSpPr>
        <p:spPr>
          <a:xfrm>
            <a:off x="4710953" y="3991816"/>
            <a:ext cx="3657600" cy="2057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779462" y="1828800"/>
            <a:ext cx="3657600" cy="42195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Overlay-Content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87" y="186645"/>
            <a:ext cx="8827266" cy="6483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359D-D93F-D941-B7F0-39EB4B578B9F}" type="datetimeFigureOut">
              <a:rPr lang="en-US" smtClean="0"/>
              <a:t>11/9/19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A3DC-869B-A84C-A347-61D73694352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sz="half" idx="14"/>
          </p:nvPr>
        </p:nvSpPr>
        <p:spPr>
          <a:xfrm>
            <a:off x="779463" y="1828801"/>
            <a:ext cx="3657600" cy="2057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3" name="Content Placeholder 2"/>
          <p:cNvSpPr>
            <a:spLocks noGrp="1"/>
          </p:cNvSpPr>
          <p:nvPr>
            <p:ph sz="half" idx="15"/>
          </p:nvPr>
        </p:nvSpPr>
        <p:spPr>
          <a:xfrm>
            <a:off x="779463" y="3991816"/>
            <a:ext cx="3657600" cy="2057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sz="half" idx="1"/>
          </p:nvPr>
        </p:nvSpPr>
        <p:spPr>
          <a:xfrm>
            <a:off x="4710953" y="1828801"/>
            <a:ext cx="3657600" cy="2057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3"/>
          </p:nvPr>
        </p:nvSpPr>
        <p:spPr>
          <a:xfrm>
            <a:off x="4710953" y="3991816"/>
            <a:ext cx="3657600" cy="2057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Overlay-Content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87" y="186645"/>
            <a:ext cx="8827266" cy="6483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359D-D93F-D941-B7F0-39EB4B578B9F}" type="datetimeFigureOut">
              <a:rPr lang="en-US" smtClean="0"/>
              <a:t>11/9/19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A3DC-869B-A84C-A347-61D7369435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Overlay-Content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87" y="186645"/>
            <a:ext cx="8827266" cy="6483096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359D-D93F-D941-B7F0-39EB4B578B9F}" type="datetimeFigureOut">
              <a:rPr lang="en-US" smtClean="0"/>
              <a:t>11/9/19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A3DC-869B-A84C-A347-61D7369435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Overlay-ContentCa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67" y="187452"/>
            <a:ext cx="8827266" cy="6483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4" y="590550"/>
            <a:ext cx="3657600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3023" y="739588"/>
            <a:ext cx="3657600" cy="53087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464" y="1816100"/>
            <a:ext cx="3657600" cy="3822700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359D-D93F-D941-B7F0-39EB4B578B9F}" type="datetimeFigureOut">
              <a:rPr lang="en-US" smtClean="0"/>
              <a:t>11/9/19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A3DC-869B-A84C-A347-61D7369435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Overlay-PictureCa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7" y="187452"/>
            <a:ext cx="8536656" cy="6483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6200" y="533400"/>
            <a:ext cx="4476750" cy="1252538"/>
          </a:xfrm>
        </p:spPr>
        <p:txBody>
          <a:bodyPr anchor="b"/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86124" y="1828800"/>
            <a:ext cx="4474539" cy="38100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6124" y="6288741"/>
            <a:ext cx="1887537" cy="365125"/>
          </a:xfrm>
        </p:spPr>
        <p:txBody>
          <a:bodyPr/>
          <a:lstStyle/>
          <a:p>
            <a:fld id="{A909359D-D93F-D941-B7F0-39EB4B578B9F}" type="datetimeFigureOut">
              <a:rPr lang="en-US" smtClean="0"/>
              <a:t>11/9/19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67399" y="6288741"/>
            <a:ext cx="26759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A3DC-869B-A84C-A347-61D73694352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flipH="1">
            <a:off x="188253" y="179292"/>
            <a:ext cx="3281087" cy="6483096"/>
          </a:xfrm>
          <a:prstGeom prst="round1Rect">
            <a:avLst>
              <a:gd name="adj" fmla="val 17325"/>
            </a:avLst>
          </a:prstGeom>
          <a:blipFill dpi="0" rotWithShape="0">
            <a:blip r:embed="rId3"/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Overlay-PictureCaption-Ext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67" y="187452"/>
            <a:ext cx="8827266" cy="6483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0953" y="533400"/>
            <a:ext cx="3657600" cy="1252538"/>
          </a:xfrm>
        </p:spPr>
        <p:txBody>
          <a:bodyPr anchor="b"/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flipH="1">
            <a:off x="596153" y="1600199"/>
            <a:ext cx="3657600" cy="3657601"/>
          </a:xfrm>
          <a:prstGeom prst="ellipse">
            <a:avLst/>
          </a:prstGeom>
          <a:blipFill dpi="0" rotWithShape="0">
            <a:blip r:embed="rId3" cstate="print"/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10412" y="1828800"/>
            <a:ext cx="3657600" cy="38100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1000" y="6288741"/>
            <a:ext cx="1865125" cy="365125"/>
          </a:xfrm>
        </p:spPr>
        <p:txBody>
          <a:bodyPr/>
          <a:lstStyle/>
          <a:p>
            <a:fld id="{A909359D-D93F-D941-B7F0-39EB4B578B9F}" type="datetimeFigureOut">
              <a:rPr lang="en-US" smtClean="0"/>
              <a:t>11/9/19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25813" y="6288741"/>
            <a:ext cx="52175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A3DC-869B-A84C-A347-61D7369435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Overlay-PictureCaption-Ext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67" y="187452"/>
            <a:ext cx="8827266" cy="6483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038" y="3778624"/>
            <a:ext cx="7560515" cy="1102658"/>
          </a:xfrm>
        </p:spPr>
        <p:txBody>
          <a:bodyPr anchor="b"/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flipH="1">
            <a:off x="871584" y="762000"/>
            <a:ext cx="7427726" cy="2989730"/>
          </a:xfrm>
          <a:prstGeom prst="roundRect">
            <a:avLst>
              <a:gd name="adj" fmla="val 7476"/>
            </a:avLst>
          </a:prstGeom>
          <a:blipFill dpi="0" rotWithShape="0">
            <a:blip r:embed="rId3"/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8034" y="4827493"/>
            <a:ext cx="7559977" cy="1220881"/>
          </a:xfr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1000" y="6288741"/>
            <a:ext cx="1865125" cy="365125"/>
          </a:xfrm>
        </p:spPr>
        <p:txBody>
          <a:bodyPr/>
          <a:lstStyle/>
          <a:p>
            <a:fld id="{A909359D-D93F-D941-B7F0-39EB4B578B9F}" type="datetimeFigureOut">
              <a:rPr lang="en-US" smtClean="0"/>
              <a:t>11/9/19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25813" y="6288741"/>
            <a:ext cx="52175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A3DC-869B-A84C-A347-61D7369435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Content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87" y="186645"/>
            <a:ext cx="8827266" cy="6483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359D-D93F-D941-B7F0-39EB4B578B9F}" type="datetimeFigureOut">
              <a:rPr lang="en-US" smtClean="0"/>
              <a:t>11/9/19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A3DC-869B-A84C-A347-61D7369435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Content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87" y="186645"/>
            <a:ext cx="8827266" cy="6483096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28646" y="779463"/>
            <a:ext cx="1358153" cy="526891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9462" y="779464"/>
            <a:ext cx="6170613" cy="5268911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359D-D93F-D941-B7F0-39EB4B578B9F}" type="datetimeFigureOut">
              <a:rPr lang="en-US" smtClean="0"/>
              <a:t>11/9/19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A3DC-869B-A84C-A347-61D7369435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 Diagonal Corner Rectangle 7"/>
          <p:cNvSpPr/>
          <p:nvPr/>
        </p:nvSpPr>
        <p:spPr>
          <a:xfrm>
            <a:off x="189707" y="189707"/>
            <a:ext cx="8764587" cy="6478587"/>
          </a:xfrm>
          <a:prstGeom prst="round2DiagRect">
            <a:avLst>
              <a:gd name="adj1" fmla="val 9416"/>
              <a:gd name="adj2" fmla="val 0"/>
            </a:avLst>
          </a:prstGeom>
          <a:gradFill>
            <a:gsLst>
              <a:gs pos="17000">
                <a:schemeClr val="bg2"/>
              </a:gs>
              <a:gs pos="100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9463" y="381000"/>
            <a:ext cx="7583487" cy="104438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9463" y="1828800"/>
            <a:ext cx="7583487" cy="4208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1000" y="6288741"/>
            <a:ext cx="18875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A909359D-D93F-D941-B7F0-39EB4B578B9F}" type="datetimeFigureOut">
              <a:rPr lang="en-US" smtClean="0"/>
              <a:t>11/9/19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04615" y="6288741"/>
            <a:ext cx="5238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4411" y="219635"/>
            <a:ext cx="493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17FA3DC-869B-A84C-A347-61D73694352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914400" rtl="0" eaLnBrk="1" latinLnBrk="0" hangingPunct="1">
        <a:spcBef>
          <a:spcPct val="0"/>
        </a:spcBef>
        <a:buNone/>
        <a:defRPr sz="38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82575" indent="-282575" algn="l" defTabSz="914400" rtl="0" eaLnBrk="1" latinLnBrk="0" hangingPunct="1">
        <a:spcBef>
          <a:spcPts val="2000"/>
        </a:spcBef>
        <a:buFont typeface="Wingdings 2" pitchFamily="18" charset="2"/>
        <a:buChar char=""/>
        <a:defRPr sz="2200" kern="1200">
          <a:solidFill>
            <a:schemeClr val="bg1"/>
          </a:solidFill>
          <a:latin typeface="+mn-lt"/>
          <a:ea typeface="+mn-ea"/>
          <a:cs typeface="+mn-cs"/>
        </a:defRPr>
      </a:lvl1pPr>
      <a:lvl2pPr marL="577850" indent="-295275" algn="l" defTabSz="914400" rtl="0" eaLnBrk="1" latinLnBrk="0" hangingPunct="1">
        <a:spcBef>
          <a:spcPts val="600"/>
        </a:spcBef>
        <a:buFont typeface="Wingdings 2" pitchFamily="18" charset="2"/>
        <a:buChar char="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860425" indent="-282575" algn="l" defTabSz="914400" rtl="0" eaLnBrk="1" latinLnBrk="0" hangingPunct="1">
        <a:spcBef>
          <a:spcPts val="600"/>
        </a:spcBef>
        <a:buFont typeface="Wingdings 2" pitchFamily="18" charset="2"/>
        <a:buChar char="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143000" indent="-282575" algn="l" defTabSz="914400" rtl="0" eaLnBrk="1" latinLnBrk="0" hangingPunct="1">
        <a:spcBef>
          <a:spcPts val="600"/>
        </a:spcBef>
        <a:buFont typeface="Wingdings 2" pitchFamily="18" charset="2"/>
        <a:buChar char="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425575" indent="-282575" algn="l" defTabSz="914400" rtl="0" eaLnBrk="1" latinLnBrk="0" hangingPunct="1">
        <a:spcBef>
          <a:spcPts val="600"/>
        </a:spcBef>
        <a:buFont typeface="Wingdings 2" pitchFamily="18" charset="2"/>
        <a:buChar char="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1711325" indent="-288925" algn="l" defTabSz="914400" rtl="0" eaLnBrk="1" latinLnBrk="0" hangingPunct="1">
        <a:spcBef>
          <a:spcPct val="20000"/>
        </a:spcBef>
        <a:buFont typeface="Wingdings 2" pitchFamily="18" charset="2"/>
        <a:buChar char=""/>
        <a:defRPr lang="en-US" sz="1800" kern="120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2000250" indent="-288925" algn="l" defTabSz="914400" rtl="0" eaLnBrk="1" latinLnBrk="0" hangingPunct="1">
        <a:spcBef>
          <a:spcPct val="20000"/>
        </a:spcBef>
        <a:buFont typeface="Wingdings 2" pitchFamily="18" charset="2"/>
        <a:buChar char=""/>
        <a:defRPr lang="en-US" sz="1800" kern="1200" dirty="0" smtClean="0">
          <a:solidFill>
            <a:schemeClr val="bg1"/>
          </a:solidFill>
          <a:latin typeface="+mn-lt"/>
          <a:ea typeface="+mn-ea"/>
          <a:cs typeface="+mn-cs"/>
        </a:defRPr>
      </a:lvl7pPr>
      <a:lvl8pPr marL="2290763" indent="-288925" algn="l" defTabSz="914400" rtl="0" eaLnBrk="1" latinLnBrk="0" hangingPunct="1">
        <a:spcBef>
          <a:spcPct val="20000"/>
        </a:spcBef>
        <a:buFont typeface="Wingdings 2" pitchFamily="18" charset="2"/>
        <a:buChar char=""/>
        <a:defRPr lang="en-US" sz="1800" kern="1200" dirty="0" smtClean="0">
          <a:solidFill>
            <a:schemeClr val="bg1"/>
          </a:solidFill>
          <a:latin typeface="+mn-lt"/>
          <a:ea typeface="+mn-ea"/>
          <a:cs typeface="+mn-cs"/>
        </a:defRPr>
      </a:lvl8pPr>
      <a:lvl9pPr marL="2571750" indent="-288925" algn="l" defTabSz="914400" rtl="0" eaLnBrk="1" latinLnBrk="0" hangingPunct="1">
        <a:spcBef>
          <a:spcPct val="20000"/>
        </a:spcBef>
        <a:buFont typeface="Wingdings 2" pitchFamily="18" charset="2"/>
        <a:buChar char=""/>
        <a:defRPr lang="en-US" sz="1800" kern="1200" dirty="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Market Failure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Year </a:t>
            </a:r>
            <a:r>
              <a:rPr lang="en-US"/>
              <a:t>11 2018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870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3" y="380999"/>
            <a:ext cx="7583487" cy="1202567"/>
          </a:xfrm>
        </p:spPr>
        <p:txBody>
          <a:bodyPr/>
          <a:lstStyle/>
          <a:p>
            <a:r>
              <a:rPr lang="en-US" dirty="0"/>
              <a:t>What does market failure refer to?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 market is not able to produce the optimal (best) outcome</a:t>
            </a:r>
          </a:p>
          <a:p>
            <a:pPr lvl="1"/>
            <a:r>
              <a:rPr lang="en-US" dirty="0"/>
              <a:t>I.e. Resources are not allocated efficiently</a:t>
            </a:r>
          </a:p>
          <a:p>
            <a:pPr lvl="2"/>
            <a:r>
              <a:rPr lang="en-US" dirty="0"/>
              <a:t>There is deadweight loss</a:t>
            </a:r>
          </a:p>
        </p:txBody>
      </p:sp>
    </p:spTree>
    <p:extLst>
      <p:ext uri="{BB962C8B-B14F-4D97-AF65-F5344CB8AC3E}">
        <p14:creationId xmlns:p14="http://schemas.microsoft.com/office/powerpoint/2010/main" val="351239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Signs of market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 or under-production within the market</a:t>
            </a:r>
          </a:p>
          <a:p>
            <a:r>
              <a:rPr lang="en-US" dirty="0"/>
              <a:t>Over or under-consumption within market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552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Reasons for market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Market power (week 8)</a:t>
            </a:r>
          </a:p>
          <a:p>
            <a:r>
              <a:rPr lang="en-US" dirty="0"/>
              <a:t>Externalities (week 9)</a:t>
            </a:r>
          </a:p>
          <a:p>
            <a:r>
              <a:rPr lang="en-US" dirty="0"/>
              <a:t>Public goods and Common resources (week 10)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853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market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does it result in deadweight loss?</a:t>
            </a:r>
          </a:p>
        </p:txBody>
      </p:sp>
    </p:spTree>
    <p:extLst>
      <p:ext uri="{BB962C8B-B14F-4D97-AF65-F5344CB8AC3E}">
        <p14:creationId xmlns:p14="http://schemas.microsoft.com/office/powerpoint/2010/main" val="3684593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3" y="65986"/>
            <a:ext cx="7583487" cy="1435108"/>
          </a:xfrm>
        </p:spPr>
        <p:txBody>
          <a:bodyPr/>
          <a:lstStyle/>
          <a:p>
            <a:r>
              <a:rPr lang="en-US" dirty="0"/>
              <a:t>Government market intervention</a:t>
            </a:r>
            <a:br>
              <a:rPr lang="en-US" dirty="0"/>
            </a:br>
            <a:r>
              <a:rPr lang="en-US" dirty="0"/>
              <a:t>(Chapter 6 of study guide)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 government intervenes to manage a market</a:t>
            </a:r>
          </a:p>
          <a:p>
            <a:r>
              <a:rPr lang="en-US" dirty="0"/>
              <a:t>Aims:</a:t>
            </a:r>
          </a:p>
          <a:p>
            <a:pPr lvl="1"/>
            <a:r>
              <a:rPr lang="en-US" dirty="0"/>
              <a:t>To reduce inefficiencies when there is market failure</a:t>
            </a:r>
          </a:p>
          <a:p>
            <a:pPr lvl="1"/>
            <a:r>
              <a:rPr lang="en-US" dirty="0"/>
              <a:t>To redistribute resources to increase equity</a:t>
            </a:r>
          </a:p>
          <a:p>
            <a:pPr lvl="1"/>
            <a:r>
              <a:rPr lang="en-US" dirty="0"/>
              <a:t>To gain revenue (e.g. through taxation)</a:t>
            </a:r>
          </a:p>
        </p:txBody>
      </p:sp>
    </p:spTree>
    <p:extLst>
      <p:ext uri="{BB962C8B-B14F-4D97-AF65-F5344CB8AC3E}">
        <p14:creationId xmlns:p14="http://schemas.microsoft.com/office/powerpoint/2010/main" val="1382886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to manage markets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Price controls (price ceiling or floor)</a:t>
            </a:r>
          </a:p>
          <a:p>
            <a:r>
              <a:rPr lang="en-US" dirty="0"/>
              <a:t>Taxation</a:t>
            </a:r>
          </a:p>
          <a:p>
            <a:r>
              <a:rPr lang="en-US" dirty="0"/>
              <a:t>Subsidies</a:t>
            </a:r>
          </a:p>
          <a:p>
            <a:r>
              <a:rPr lang="en-US" dirty="0"/>
              <a:t>Regulation (not covered)</a:t>
            </a:r>
          </a:p>
          <a:p>
            <a:r>
              <a:rPr lang="en-US" dirty="0"/>
              <a:t>Direct provision or use of public/private partnerships (not covered)</a:t>
            </a:r>
          </a:p>
        </p:txBody>
      </p:sp>
    </p:spTree>
    <p:extLst>
      <p:ext uri="{BB962C8B-B14F-4D97-AF65-F5344CB8AC3E}">
        <p14:creationId xmlns:p14="http://schemas.microsoft.com/office/powerpoint/2010/main" val="2032529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ceilings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highest price that a producer can charge on a good</a:t>
            </a:r>
          </a:p>
          <a:p>
            <a:r>
              <a:rPr lang="en-US" dirty="0"/>
              <a:t>Is usually below the equilibrium price</a:t>
            </a:r>
          </a:p>
          <a:p>
            <a:r>
              <a:rPr lang="en-US" dirty="0"/>
              <a:t>Intended to keep prices affordable for majority of the population</a:t>
            </a:r>
          </a:p>
        </p:txBody>
      </p:sp>
    </p:spTree>
    <p:extLst>
      <p:ext uri="{BB962C8B-B14F-4D97-AF65-F5344CB8AC3E}">
        <p14:creationId xmlns:p14="http://schemas.microsoft.com/office/powerpoint/2010/main" val="3831366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Impacts of price ceiling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for rationing process to regulate demand</a:t>
            </a:r>
          </a:p>
          <a:p>
            <a:r>
              <a:rPr lang="en-US" dirty="0"/>
              <a:t>Could lead to black markets</a:t>
            </a:r>
          </a:p>
        </p:txBody>
      </p:sp>
    </p:spTree>
    <p:extLst>
      <p:ext uri="{BB962C8B-B14F-4D97-AF65-F5344CB8AC3E}">
        <p14:creationId xmlns:p14="http://schemas.microsoft.com/office/powerpoint/2010/main" val="2426940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floors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minimum price that a producer can charge on a good</a:t>
            </a:r>
          </a:p>
          <a:p>
            <a:r>
              <a:rPr lang="en-US" dirty="0"/>
              <a:t>Is usually above the equilibrium price</a:t>
            </a:r>
          </a:p>
          <a:p>
            <a:r>
              <a:rPr lang="en-US" dirty="0"/>
              <a:t>Designed to ensure that there is a minimum income received by producers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692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Impacts of price floors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Informal illegal markets could result e.g. where workers are paid less than the minimum wage</a:t>
            </a:r>
          </a:p>
        </p:txBody>
      </p:sp>
    </p:spTree>
    <p:extLst>
      <p:ext uri="{BB962C8B-B14F-4D97-AF65-F5344CB8AC3E}">
        <p14:creationId xmlns:p14="http://schemas.microsoft.com/office/powerpoint/2010/main" val="2061634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Direct tax e.g. income tax</a:t>
            </a:r>
          </a:p>
          <a:p>
            <a:r>
              <a:rPr lang="en-US" dirty="0"/>
              <a:t>Indirect tax</a:t>
            </a:r>
          </a:p>
          <a:p>
            <a:pPr lvl="1"/>
            <a:r>
              <a:rPr lang="en-US" dirty="0"/>
              <a:t>Consumers do not pay the tax directly, but are affected through changes in the price of the good or service</a:t>
            </a:r>
          </a:p>
          <a:p>
            <a:pPr lvl="2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Specific tax: The tax is an fixed amount or is a set sum of money per unit</a:t>
            </a:r>
          </a:p>
          <a:p>
            <a:pPr lvl="2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Ad Valorem tax: Where the tax is a percentage of the value of the transaction, e.g. GST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367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tax?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aid in the redistribution of income</a:t>
            </a:r>
          </a:p>
          <a:p>
            <a:r>
              <a:rPr lang="en-US" dirty="0"/>
              <a:t>To correct externalities (covered in week 9)</a:t>
            </a:r>
          </a:p>
          <a:p>
            <a:r>
              <a:rPr lang="en-US" dirty="0"/>
              <a:t>To earn revenue</a:t>
            </a:r>
          </a:p>
        </p:txBody>
      </p:sp>
    </p:spTree>
    <p:extLst>
      <p:ext uri="{BB962C8B-B14F-4D97-AF65-F5344CB8AC3E}">
        <p14:creationId xmlns:p14="http://schemas.microsoft.com/office/powerpoint/2010/main" val="9333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taxes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Reduces quantity while increasing price</a:t>
            </a:r>
          </a:p>
          <a:p>
            <a:r>
              <a:rPr lang="en-US" dirty="0"/>
              <a:t>Tax incidence depends on the elasticity of the good/service</a:t>
            </a:r>
          </a:p>
          <a:p>
            <a:r>
              <a:rPr lang="en-US"/>
              <a:t>Creates a DWL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802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Subsidies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payment by the government to a firm to reduce production costs and increase output</a:t>
            </a:r>
          </a:p>
          <a:p>
            <a:r>
              <a:rPr lang="en-US" dirty="0"/>
              <a:t>Aim:</a:t>
            </a:r>
          </a:p>
          <a:p>
            <a:pPr lvl="1"/>
            <a:r>
              <a:rPr lang="en-US" dirty="0"/>
              <a:t>To encourage production of goods with positive externalities</a:t>
            </a:r>
          </a:p>
          <a:p>
            <a:pPr lvl="1"/>
            <a:r>
              <a:rPr lang="en-US" dirty="0"/>
              <a:t>Allow the producer to export more</a:t>
            </a:r>
          </a:p>
          <a:p>
            <a:pPr lvl="1"/>
            <a:r>
              <a:rPr lang="en-US" dirty="0"/>
              <a:t>Aid expansion of the firm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64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subsidies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DWL as part of government expenditure on the subsidy is not translated into either consumer or producer surplus</a:t>
            </a:r>
          </a:p>
        </p:txBody>
      </p:sp>
    </p:spTree>
    <p:extLst>
      <p:ext uri="{BB962C8B-B14F-4D97-AF65-F5344CB8AC3E}">
        <p14:creationId xmlns:p14="http://schemas.microsoft.com/office/powerpoint/2010/main" val="3450041242"/>
      </p:ext>
    </p:extLst>
  </p:cSld>
  <p:clrMapOvr>
    <a:masterClrMapping/>
  </p:clrMapOvr>
</p:sld>
</file>

<file path=ppt/theme/theme1.xml><?xml version="1.0" encoding="utf-8"?>
<a:theme xmlns:a="http://schemas.openxmlformats.org/drawingml/2006/main" name="Revolution">
  <a:themeElements>
    <a:clrScheme name="Revolution">
      <a:dk1>
        <a:sysClr val="windowText" lastClr="000000"/>
      </a:dk1>
      <a:lt1>
        <a:sysClr val="window" lastClr="FFFFFF"/>
      </a:lt1>
      <a:dk2>
        <a:srgbClr val="1B3861"/>
      </a:dk2>
      <a:lt2>
        <a:srgbClr val="38ABED"/>
      </a:lt2>
      <a:accent1>
        <a:srgbClr val="0C5986"/>
      </a:accent1>
      <a:accent2>
        <a:srgbClr val="DDF53D"/>
      </a:accent2>
      <a:accent3>
        <a:srgbClr val="508709"/>
      </a:accent3>
      <a:accent4>
        <a:srgbClr val="BF5E00"/>
      </a:accent4>
      <a:accent5>
        <a:srgbClr val="9C0001"/>
      </a:accent5>
      <a:accent6>
        <a:srgbClr val="660075"/>
      </a:accent6>
      <a:hlink>
        <a:srgbClr val="ABF24D"/>
      </a:hlink>
      <a:folHlink>
        <a:srgbClr val="A0E7FB"/>
      </a:folHlink>
    </a:clrScheme>
    <a:fontScheme name="Revolution">
      <a:majorFont>
        <a:latin typeface="Trebuchet MS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Trebuchet MS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Revolution">
      <a: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0800000">
              <a:srgbClr val="808080">
                <a:alpha val="75000"/>
              </a:srgbClr>
            </a:innerShdw>
          </a:effectLst>
        </a:effectStyle>
        <a:effectStyle>
          <a:effectLst>
            <a:innerShdw blurRad="50800" dist="25400" dir="13500000">
              <a:srgbClr val="808080">
                <a:alpha val="75000"/>
              </a:srgbClr>
            </a:innerShdw>
            <a:outerShdw blurRad="63500" dist="50800" dir="5400000" algn="br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1400000"/>
            </a:lightRig>
          </a:scene3d>
          <a:sp3d contourW="12700" prstMaterial="softmetal">
            <a:bevelT w="63500" h="254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Revolution.thmx</Template>
  <TotalTime>169</TotalTime>
  <Words>566</Words>
  <Application>Microsoft Macintosh PowerPoint</Application>
  <PresentationFormat>On-screen Show (4:3)</PresentationFormat>
  <Paragraphs>87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</vt:lpstr>
      <vt:lpstr>Trebuchet MS</vt:lpstr>
      <vt:lpstr>Wingdings 2</vt:lpstr>
      <vt:lpstr>Revolution</vt:lpstr>
      <vt:lpstr>Market Failure</vt:lpstr>
      <vt:lpstr>What does market failure refer to?</vt:lpstr>
      <vt:lpstr>Signs of market failure</vt:lpstr>
      <vt:lpstr>Reasons for market failure</vt:lpstr>
      <vt:lpstr>Exploring market failure</vt:lpstr>
      <vt:lpstr>Government market intervention (Chapter 6 of study guide)</vt:lpstr>
      <vt:lpstr>Measures to manage markets</vt:lpstr>
      <vt:lpstr>Price ceilings</vt:lpstr>
      <vt:lpstr>Impacts of price ceiling</vt:lpstr>
      <vt:lpstr>Price floors</vt:lpstr>
      <vt:lpstr>Impacts of price floors</vt:lpstr>
      <vt:lpstr>Taxes</vt:lpstr>
      <vt:lpstr>Why tax?</vt:lpstr>
      <vt:lpstr>Impact of taxes</vt:lpstr>
      <vt:lpstr>Subsidies</vt:lpstr>
      <vt:lpstr>Impact of subsidies</vt:lpstr>
    </vt:vector>
  </TitlesOfParts>
  <Company/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MACBOOKPRO Jiang Yin</dc:creator>
  <cp:lastModifiedBy>GUIGAYOMA Jenny</cp:lastModifiedBy>
  <cp:revision>17</cp:revision>
  <dcterms:created xsi:type="dcterms:W3CDTF">2017-03-12T10:14:15Z</dcterms:created>
  <dcterms:modified xsi:type="dcterms:W3CDTF">2019-11-09T04:01:11Z</dcterms:modified>
</cp:coreProperties>
</file>
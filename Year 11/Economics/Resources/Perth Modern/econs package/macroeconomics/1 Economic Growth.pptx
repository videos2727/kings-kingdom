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3" r:id="rId1"/>
  </p:sldMasterIdLst>
  <p:notesMasterIdLst>
    <p:notesMasterId r:id="rId17"/>
  </p:notesMasterIdLst>
  <p:sldIdLst>
    <p:sldId id="256" r:id="rId2"/>
    <p:sldId id="258" r:id="rId3"/>
    <p:sldId id="259" r:id="rId4"/>
    <p:sldId id="260" r:id="rId5"/>
    <p:sldId id="261" r:id="rId6"/>
    <p:sldId id="262" r:id="rId7"/>
    <p:sldId id="273" r:id="rId8"/>
    <p:sldId id="272" r:id="rId9"/>
    <p:sldId id="257" r:id="rId10"/>
    <p:sldId id="275" r:id="rId11"/>
    <p:sldId id="274" r:id="rId12"/>
    <p:sldId id="265" r:id="rId13"/>
    <p:sldId id="267"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3"/>
    <p:restoredTop sz="81325" autoAdjust="0"/>
  </p:normalViewPr>
  <p:slideViewPr>
    <p:cSldViewPr snapToGrid="0" snapToObjects="1">
      <p:cViewPr>
        <p:scale>
          <a:sx n="94" d="100"/>
          <a:sy n="94" d="100"/>
        </p:scale>
        <p:origin x="-288" y="-92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heme" Target="theme/theme1.xml"/><Relationship Id="rId2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B08F8D-F307-E64B-9501-5A3147DCE088}" type="datetimeFigureOut">
              <a:rPr lang="en-US" smtClean="0"/>
              <a:t>2/7/17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6A524F-A869-A248-98E2-DADB9B0C3C6B}" type="slidenum">
              <a:rPr lang="en-US" smtClean="0"/>
              <a:t>‹#›</a:t>
            </a:fld>
            <a:endParaRPr lang="en-US"/>
          </a:p>
        </p:txBody>
      </p:sp>
    </p:spTree>
    <p:extLst>
      <p:ext uri="{BB962C8B-B14F-4D97-AF65-F5344CB8AC3E}">
        <p14:creationId xmlns:p14="http://schemas.microsoft.com/office/powerpoint/2010/main" val="39171589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Real income</a:t>
            </a:r>
            <a:r>
              <a:rPr lang="en-US" dirty="0" smtClean="0"/>
              <a:t> is </a:t>
            </a:r>
            <a:r>
              <a:rPr lang="en-US" b="1" dirty="0" smtClean="0"/>
              <a:t>income</a:t>
            </a:r>
            <a:r>
              <a:rPr lang="en-US" dirty="0" smtClean="0"/>
              <a:t> of individuals or nations after adjusting for inflation. It is calculated by subtracting inflation from the nominal </a:t>
            </a:r>
            <a:r>
              <a:rPr lang="en-US" b="1" dirty="0" smtClean="0"/>
              <a:t>income</a:t>
            </a:r>
            <a:r>
              <a:rPr lang="en-US" dirty="0" smtClean="0"/>
              <a:t>.</a:t>
            </a:r>
            <a:endParaRPr lang="en-US" dirty="0"/>
          </a:p>
        </p:txBody>
      </p:sp>
      <p:sp>
        <p:nvSpPr>
          <p:cNvPr id="4" name="Slide Number Placeholder 3"/>
          <p:cNvSpPr>
            <a:spLocks noGrp="1"/>
          </p:cNvSpPr>
          <p:nvPr>
            <p:ph type="sldNum" sz="quarter" idx="10"/>
          </p:nvPr>
        </p:nvSpPr>
        <p:spPr/>
        <p:txBody>
          <a:bodyPr/>
          <a:lstStyle/>
          <a:p>
            <a:fld id="{436A524F-A869-A248-98E2-DADB9B0C3C6B}" type="slidenum">
              <a:rPr lang="en-US" smtClean="0"/>
              <a:t>3</a:t>
            </a:fld>
            <a:endParaRPr lang="en-US"/>
          </a:p>
        </p:txBody>
      </p:sp>
    </p:spTree>
    <p:extLst>
      <p:ext uri="{BB962C8B-B14F-4D97-AF65-F5344CB8AC3E}">
        <p14:creationId xmlns:p14="http://schemas.microsoft.com/office/powerpoint/2010/main" val="2772143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Draw the PPF model</a:t>
            </a:r>
          </a:p>
          <a:p>
            <a:r>
              <a:rPr lang="en-US" dirty="0" smtClean="0"/>
              <a:t>Definition: PPF curve shows the maximum combination of any two goods which an economy could produce</a:t>
            </a:r>
            <a:r>
              <a:rPr lang="en-US" baseline="0" dirty="0" smtClean="0"/>
              <a:t> when all resources are being fully employed and efficiently </a:t>
            </a:r>
            <a:r>
              <a:rPr lang="en-US" baseline="0" dirty="0" err="1" smtClean="0"/>
              <a:t>utilised</a:t>
            </a:r>
            <a:r>
              <a:rPr lang="en-US" baseline="0" dirty="0" smtClean="0"/>
              <a:t>. </a:t>
            </a:r>
          </a:p>
          <a:p>
            <a:r>
              <a:rPr lang="en-US" baseline="0" dirty="0" smtClean="0"/>
              <a:t>Actual growth: when a economy is producing within its PPF and moves closer to the PPF indicates actual growth</a:t>
            </a:r>
          </a:p>
          <a:p>
            <a:r>
              <a:rPr lang="en-US" baseline="0" dirty="0" smtClean="0"/>
              <a:t>Potential growth: the productive potential of an economy may be increased by an increase in the quality and/or quantity of resources and, when this occurs, this is known as potential growth. Denotes an increase in the productive capacity or potential of the economy as more of both goods can now be produced. </a:t>
            </a:r>
          </a:p>
          <a:p>
            <a:r>
              <a:rPr lang="en-US" baseline="0" dirty="0" smtClean="0"/>
              <a:t>Output gap: measure of the difference between actual output and potential output – OG=AO-PO</a:t>
            </a:r>
          </a:p>
          <a:p>
            <a:r>
              <a:rPr lang="en-US" baseline="0" dirty="0" smtClean="0"/>
              <a:t>Link output gap to the BTC: negative output gap: in a trough/downswing – economy is producing less than potential, there will be unemployment, low growth and or a fall in output, typically cause low inflation or even deflation. Positive output gap: in boom/peak – economic growth is above the long run trend rate, actual output greater than potential output, firms will ask workers to do overtime, inflationary pressures.</a:t>
            </a:r>
          </a:p>
          <a:p>
            <a:endParaRPr lang="en-US" dirty="0"/>
          </a:p>
        </p:txBody>
      </p:sp>
      <p:sp>
        <p:nvSpPr>
          <p:cNvPr id="4" name="Slide Number Placeholder 3"/>
          <p:cNvSpPr>
            <a:spLocks noGrp="1"/>
          </p:cNvSpPr>
          <p:nvPr>
            <p:ph type="sldNum" sz="quarter" idx="10"/>
          </p:nvPr>
        </p:nvSpPr>
        <p:spPr/>
        <p:txBody>
          <a:bodyPr/>
          <a:lstStyle/>
          <a:p>
            <a:fld id="{436A524F-A869-A248-98E2-DADB9B0C3C6B}" type="slidenum">
              <a:rPr lang="en-US" smtClean="0"/>
              <a:t>5</a:t>
            </a:fld>
            <a:endParaRPr lang="en-US"/>
          </a:p>
        </p:txBody>
      </p:sp>
    </p:spTree>
    <p:extLst>
      <p:ext uri="{BB962C8B-B14F-4D97-AF65-F5344CB8AC3E}">
        <p14:creationId xmlns:p14="http://schemas.microsoft.com/office/powerpoint/2010/main" val="1133308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Looking</a:t>
            </a:r>
            <a:r>
              <a:rPr lang="en-AU" baseline="0" dirty="0" smtClean="0"/>
              <a:t> at our GDP growth rate, can we see any economic events reflected in the data?</a:t>
            </a:r>
            <a:endParaRPr lang="en-AU" dirty="0"/>
          </a:p>
        </p:txBody>
      </p:sp>
      <p:sp>
        <p:nvSpPr>
          <p:cNvPr id="4" name="Slide Number Placeholder 3"/>
          <p:cNvSpPr>
            <a:spLocks noGrp="1"/>
          </p:cNvSpPr>
          <p:nvPr>
            <p:ph type="sldNum" sz="quarter" idx="10"/>
          </p:nvPr>
        </p:nvSpPr>
        <p:spPr/>
        <p:txBody>
          <a:bodyPr/>
          <a:lstStyle/>
          <a:p>
            <a:fld id="{436A524F-A869-A248-98E2-DADB9B0C3C6B}" type="slidenum">
              <a:rPr lang="en-US" smtClean="0"/>
              <a:t>8</a:t>
            </a:fld>
            <a:endParaRPr lang="en-US"/>
          </a:p>
        </p:txBody>
      </p:sp>
    </p:spTree>
    <p:extLst>
      <p:ext uri="{BB962C8B-B14F-4D97-AF65-F5344CB8AC3E}">
        <p14:creationId xmlns:p14="http://schemas.microsoft.com/office/powerpoint/2010/main" val="1867740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smtClean="0"/>
              <a:t>GDP doesn’t include non-market production</a:t>
            </a:r>
          </a:p>
          <a:p>
            <a:r>
              <a:rPr lang="en-AU" dirty="0" smtClean="0"/>
              <a:t>If someone carries out jobs around their own home that could be done by a paid worker they are contributing to economic growth, but this contribution is not included because it can’t be measured. For example, when someone paints their own home, the Australian Bureau of Statistics can’t put a value on the work done, so this is not included in the official GDP figures.</a:t>
            </a:r>
          </a:p>
          <a:p>
            <a:r>
              <a:rPr lang="en-AU" b="1" dirty="0" smtClean="0"/>
              <a:t>GDP doesn’t provide information about the distribution of production</a:t>
            </a:r>
          </a:p>
          <a:p>
            <a:r>
              <a:rPr lang="en-AU" dirty="0" smtClean="0"/>
              <a:t>GDP only measures changes in the quantity of goods and services produced but there is no information regarding who receives this increased number of goods and services. If the increased production is not shared equally among the citizens of the economy, it can be argued that the economy hasn’t really ‘grown’.</a:t>
            </a:r>
          </a:p>
          <a:p>
            <a:r>
              <a:rPr lang="en-AU" b="1" dirty="0" smtClean="0"/>
              <a:t>GDP doesn’t consider the impact of production on the environment</a:t>
            </a:r>
          </a:p>
          <a:p>
            <a:r>
              <a:rPr lang="en-AU" dirty="0" smtClean="0"/>
              <a:t>Increased production can mean increased pollution, quicker deterioration of the environment, depletion of non-renewable resources and increased climate change. These effects are referred to as negative externalities as they are considered negative outcomes of production. These externalities will all negatively impact our national wealth in the future.</a:t>
            </a:r>
          </a:p>
          <a:p>
            <a:r>
              <a:rPr lang="en-AU" b="1" dirty="0" smtClean="0"/>
              <a:t>GDP involves some ‘guestimates’ of production</a:t>
            </a:r>
          </a:p>
          <a:p>
            <a:r>
              <a:rPr lang="en-AU" dirty="0" smtClean="0"/>
              <a:t>The value of some non-marketed (not sold) production making up GDP has to be ‘</a:t>
            </a:r>
            <a:r>
              <a:rPr lang="en-AU" dirty="0" err="1" smtClean="0"/>
              <a:t>guestimated</a:t>
            </a:r>
            <a:r>
              <a:rPr lang="en-AU" dirty="0" smtClean="0"/>
              <a:t>’, leading to inaccuracies. For example, estimations are made for the part of a farmer’s production that is consumed on the farm, as is the annual value of accommodation provided by houses occupied by their owners. This leads to inaccuracies in Australia’s GDP figures.</a:t>
            </a:r>
          </a:p>
          <a:p>
            <a:endParaRPr lang="en-AU" dirty="0"/>
          </a:p>
        </p:txBody>
      </p:sp>
      <p:sp>
        <p:nvSpPr>
          <p:cNvPr id="4" name="Slide Number Placeholder 3"/>
          <p:cNvSpPr>
            <a:spLocks noGrp="1"/>
          </p:cNvSpPr>
          <p:nvPr>
            <p:ph type="sldNum" sz="quarter" idx="10"/>
          </p:nvPr>
        </p:nvSpPr>
        <p:spPr/>
        <p:txBody>
          <a:bodyPr/>
          <a:lstStyle/>
          <a:p>
            <a:fld id="{436A524F-A869-A248-98E2-DADB9B0C3C6B}" type="slidenum">
              <a:rPr lang="en-US" smtClean="0"/>
              <a:t>12</a:t>
            </a:fld>
            <a:endParaRPr lang="en-US"/>
          </a:p>
        </p:txBody>
      </p:sp>
    </p:spTree>
    <p:extLst>
      <p:ext uri="{BB962C8B-B14F-4D97-AF65-F5344CB8AC3E}">
        <p14:creationId xmlns:p14="http://schemas.microsoft.com/office/powerpoint/2010/main" val="2246829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AU"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AU" smtClean="0"/>
              <a:t>Click to edit Master subtitle style</a:t>
            </a:r>
            <a:endParaRPr kumimoji="0" lang="en-US"/>
          </a:p>
        </p:txBody>
      </p:sp>
      <p:sp>
        <p:nvSpPr>
          <p:cNvPr id="4" name="Date Placeholder 3"/>
          <p:cNvSpPr>
            <a:spLocks noGrp="1"/>
          </p:cNvSpPr>
          <p:nvPr>
            <p:ph type="dt" sz="half" idx="10"/>
          </p:nvPr>
        </p:nvSpPr>
        <p:spPr/>
        <p:txBody>
          <a:bodyPr/>
          <a:lstStyle/>
          <a:p>
            <a:fld id="{3DB4B16D-FC02-5741-B43D-9606CBF810CA}" type="datetimeFigureOut">
              <a:rPr lang="en-US" smtClean="0"/>
              <a:t>2/7/17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48F39E-9C37-485F-AC97-16BB4BDF9F49}" type="slidenum">
              <a:rPr kumimoji="0" lang="en-US" smtClean="0"/>
              <a:t>‹#›</a:t>
            </a:fld>
            <a:endParaRPr kumimoji="0"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AU"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AU" smtClean="0"/>
              <a:t>Click to edit Master text styles</a:t>
            </a:r>
          </a:p>
          <a:p>
            <a:pPr lvl="1" eaLnBrk="1" latinLnBrk="0" hangingPunct="1"/>
            <a:r>
              <a:rPr lang="en-AU" smtClean="0"/>
              <a:t>Second level</a:t>
            </a:r>
          </a:p>
          <a:p>
            <a:pPr lvl="2" eaLnBrk="1" latinLnBrk="0" hangingPunct="1"/>
            <a:r>
              <a:rPr lang="en-AU" smtClean="0"/>
              <a:t>Third level</a:t>
            </a:r>
          </a:p>
          <a:p>
            <a:pPr lvl="3" eaLnBrk="1" latinLnBrk="0" hangingPunct="1"/>
            <a:r>
              <a:rPr lang="en-AU" smtClean="0"/>
              <a:t>Fourth level</a:t>
            </a:r>
          </a:p>
          <a:p>
            <a:pPr lvl="4" eaLnBrk="1" latinLnBrk="0" hangingPunct="1"/>
            <a:r>
              <a:rPr lang="en-AU" smtClean="0"/>
              <a:t>Fifth level</a:t>
            </a:r>
            <a:endParaRPr kumimoji="0" lang="en-US"/>
          </a:p>
        </p:txBody>
      </p:sp>
      <p:sp>
        <p:nvSpPr>
          <p:cNvPr id="4" name="Date Placeholder 3"/>
          <p:cNvSpPr>
            <a:spLocks noGrp="1"/>
          </p:cNvSpPr>
          <p:nvPr>
            <p:ph type="dt" sz="half" idx="10"/>
          </p:nvPr>
        </p:nvSpPr>
        <p:spPr/>
        <p:txBody>
          <a:bodyPr/>
          <a:lstStyle/>
          <a:p>
            <a:fld id="{3DB4B16D-FC02-5741-B43D-9606CBF810CA}" type="datetimeFigureOut">
              <a:rPr lang="en-US" smtClean="0"/>
              <a:t>2/7/17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573AA-089D-6D4F-BB25-D6164892A27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AU"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AU" smtClean="0"/>
              <a:t>Click to edit Master text styles</a:t>
            </a:r>
          </a:p>
        </p:txBody>
      </p:sp>
      <p:sp>
        <p:nvSpPr>
          <p:cNvPr id="4" name="Date Placeholder 3"/>
          <p:cNvSpPr>
            <a:spLocks noGrp="1"/>
          </p:cNvSpPr>
          <p:nvPr>
            <p:ph type="dt" sz="half" idx="10"/>
          </p:nvPr>
        </p:nvSpPr>
        <p:spPr/>
        <p:txBody>
          <a:bodyPr/>
          <a:lstStyle/>
          <a:p>
            <a:fld id="{3DB4B16D-FC02-5741-B43D-9606CBF810CA}" type="datetimeFigureOut">
              <a:rPr lang="en-US" smtClean="0"/>
              <a:t>2/7/17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573AA-089D-6D4F-BB25-D6164892A27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AU"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AU" smtClean="0"/>
              <a:t>Click to edit Master text styles</a:t>
            </a:r>
          </a:p>
          <a:p>
            <a:pPr lvl="1" eaLnBrk="1" latinLnBrk="0" hangingPunct="1"/>
            <a:r>
              <a:rPr lang="en-AU" smtClean="0"/>
              <a:t>Second level</a:t>
            </a:r>
          </a:p>
          <a:p>
            <a:pPr lvl="2" eaLnBrk="1" latinLnBrk="0" hangingPunct="1"/>
            <a:r>
              <a:rPr lang="en-AU" smtClean="0"/>
              <a:t>Third level</a:t>
            </a:r>
          </a:p>
          <a:p>
            <a:pPr lvl="3" eaLnBrk="1" latinLnBrk="0" hangingPunct="1"/>
            <a:r>
              <a:rPr lang="en-AU" smtClean="0"/>
              <a:t>Fourth level</a:t>
            </a:r>
          </a:p>
          <a:p>
            <a:pPr lvl="4" eaLnBrk="1" latinLnBrk="0" hangingPunct="1"/>
            <a:r>
              <a:rPr lang="en-AU"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AU" smtClean="0"/>
              <a:t>Click to edit Master text styles</a:t>
            </a:r>
          </a:p>
          <a:p>
            <a:pPr lvl="1" eaLnBrk="1" latinLnBrk="0" hangingPunct="1"/>
            <a:r>
              <a:rPr lang="en-AU" smtClean="0"/>
              <a:t>Second level</a:t>
            </a:r>
          </a:p>
          <a:p>
            <a:pPr lvl="2" eaLnBrk="1" latinLnBrk="0" hangingPunct="1"/>
            <a:r>
              <a:rPr lang="en-AU" smtClean="0"/>
              <a:t>Third level</a:t>
            </a:r>
          </a:p>
          <a:p>
            <a:pPr lvl="3" eaLnBrk="1" latinLnBrk="0" hangingPunct="1"/>
            <a:r>
              <a:rPr lang="en-AU" smtClean="0"/>
              <a:t>Fourth level</a:t>
            </a:r>
          </a:p>
          <a:p>
            <a:pPr lvl="4" eaLnBrk="1" latinLnBrk="0" hangingPunct="1"/>
            <a:r>
              <a:rPr lang="en-AU" smtClean="0"/>
              <a:t>Fifth level</a:t>
            </a:r>
            <a:endParaRPr kumimoji="0" lang="en-US"/>
          </a:p>
        </p:txBody>
      </p:sp>
      <p:sp>
        <p:nvSpPr>
          <p:cNvPr id="5" name="Date Placeholder 4"/>
          <p:cNvSpPr>
            <a:spLocks noGrp="1"/>
          </p:cNvSpPr>
          <p:nvPr>
            <p:ph type="dt" sz="half" idx="10"/>
          </p:nvPr>
        </p:nvSpPr>
        <p:spPr/>
        <p:txBody>
          <a:bodyPr/>
          <a:lstStyle/>
          <a:p>
            <a:fld id="{3DB4B16D-FC02-5741-B43D-9606CBF810CA}" type="datetimeFigureOut">
              <a:rPr lang="en-US" smtClean="0"/>
              <a:t>2/7/17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573AA-089D-6D4F-BB25-D6164892A27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AU"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AU"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AU" smtClean="0"/>
              <a:t>Click to edit Master text styles</a:t>
            </a:r>
          </a:p>
          <a:p>
            <a:pPr lvl="1" eaLnBrk="1" latinLnBrk="0" hangingPunct="1"/>
            <a:r>
              <a:rPr lang="en-AU" smtClean="0"/>
              <a:t>Second level</a:t>
            </a:r>
          </a:p>
          <a:p>
            <a:pPr lvl="2" eaLnBrk="1" latinLnBrk="0" hangingPunct="1"/>
            <a:r>
              <a:rPr lang="en-AU" smtClean="0"/>
              <a:t>Third level</a:t>
            </a:r>
          </a:p>
          <a:p>
            <a:pPr lvl="3" eaLnBrk="1" latinLnBrk="0" hangingPunct="1"/>
            <a:r>
              <a:rPr lang="en-AU" smtClean="0"/>
              <a:t>Fourth level</a:t>
            </a:r>
          </a:p>
          <a:p>
            <a:pPr lvl="4" eaLnBrk="1" latinLnBrk="0" hangingPunct="1"/>
            <a:r>
              <a:rPr lang="en-AU"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AU"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AU" smtClean="0"/>
              <a:t>Click to edit Master text styles</a:t>
            </a:r>
          </a:p>
          <a:p>
            <a:pPr lvl="1" eaLnBrk="1" latinLnBrk="0" hangingPunct="1"/>
            <a:r>
              <a:rPr lang="en-AU" smtClean="0"/>
              <a:t>Second level</a:t>
            </a:r>
          </a:p>
          <a:p>
            <a:pPr lvl="2" eaLnBrk="1" latinLnBrk="0" hangingPunct="1"/>
            <a:r>
              <a:rPr lang="en-AU" smtClean="0"/>
              <a:t>Third level</a:t>
            </a:r>
          </a:p>
          <a:p>
            <a:pPr lvl="3" eaLnBrk="1" latinLnBrk="0" hangingPunct="1"/>
            <a:r>
              <a:rPr lang="en-AU" smtClean="0"/>
              <a:t>Fourth level</a:t>
            </a:r>
          </a:p>
          <a:p>
            <a:pPr lvl="4" eaLnBrk="1" latinLnBrk="0" hangingPunct="1"/>
            <a:r>
              <a:rPr lang="en-AU" smtClean="0"/>
              <a:t>Fifth level</a:t>
            </a:r>
            <a:endParaRPr kumimoji="0" lang="en-US"/>
          </a:p>
        </p:txBody>
      </p:sp>
      <p:sp>
        <p:nvSpPr>
          <p:cNvPr id="7" name="Date Placeholder 6"/>
          <p:cNvSpPr>
            <a:spLocks noGrp="1"/>
          </p:cNvSpPr>
          <p:nvPr>
            <p:ph type="dt" sz="half" idx="10"/>
          </p:nvPr>
        </p:nvSpPr>
        <p:spPr/>
        <p:txBody>
          <a:bodyPr/>
          <a:lstStyle/>
          <a:p>
            <a:fld id="{3DB4B16D-FC02-5741-B43D-9606CBF810CA}" type="datetimeFigureOut">
              <a:rPr lang="en-US" smtClean="0"/>
              <a:t>2/7/17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F573AA-089D-6D4F-BB25-D6164892A27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AU" smtClean="0"/>
              <a:t>Click to edit Master title style</a:t>
            </a:r>
            <a:endParaRPr kumimoji="0" lang="en-US"/>
          </a:p>
        </p:txBody>
      </p:sp>
      <p:sp>
        <p:nvSpPr>
          <p:cNvPr id="3" name="Date Placeholder 2"/>
          <p:cNvSpPr>
            <a:spLocks noGrp="1"/>
          </p:cNvSpPr>
          <p:nvPr>
            <p:ph type="dt" sz="half" idx="10"/>
          </p:nvPr>
        </p:nvSpPr>
        <p:spPr/>
        <p:txBody>
          <a:bodyPr/>
          <a:lstStyle/>
          <a:p>
            <a:fld id="{3DB4B16D-FC02-5741-B43D-9606CBF810CA}" type="datetimeFigureOut">
              <a:rPr lang="en-US" smtClean="0"/>
              <a:t>2/7/17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F573AA-089D-6D4F-BB25-D6164892A27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B4B16D-FC02-5741-B43D-9606CBF810CA}" type="datetimeFigureOut">
              <a:rPr lang="en-US" smtClean="0"/>
              <a:t>2/7/17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F573AA-089D-6D4F-BB25-D6164892A27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AU"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AU" smtClean="0"/>
              <a:t>Click to edit Master text styles</a:t>
            </a:r>
          </a:p>
          <a:p>
            <a:pPr lvl="1" eaLnBrk="1" latinLnBrk="0" hangingPunct="1"/>
            <a:r>
              <a:rPr lang="en-AU" smtClean="0"/>
              <a:t>Second level</a:t>
            </a:r>
          </a:p>
          <a:p>
            <a:pPr lvl="2" eaLnBrk="1" latinLnBrk="0" hangingPunct="1"/>
            <a:r>
              <a:rPr lang="en-AU" smtClean="0"/>
              <a:t>Third level</a:t>
            </a:r>
          </a:p>
          <a:p>
            <a:pPr lvl="3" eaLnBrk="1" latinLnBrk="0" hangingPunct="1"/>
            <a:r>
              <a:rPr lang="en-AU" smtClean="0"/>
              <a:t>Fourth level</a:t>
            </a:r>
          </a:p>
          <a:p>
            <a:pPr lvl="4" eaLnBrk="1" latinLnBrk="0" hangingPunct="1"/>
            <a:r>
              <a:rPr lang="en-AU"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AU" smtClean="0"/>
              <a:t>Click to edit Master text styles</a:t>
            </a:r>
          </a:p>
        </p:txBody>
      </p:sp>
      <p:sp>
        <p:nvSpPr>
          <p:cNvPr id="5" name="Date Placeholder 4"/>
          <p:cNvSpPr>
            <a:spLocks noGrp="1"/>
          </p:cNvSpPr>
          <p:nvPr>
            <p:ph type="dt" sz="half" idx="10"/>
          </p:nvPr>
        </p:nvSpPr>
        <p:spPr/>
        <p:txBody>
          <a:bodyPr/>
          <a:lstStyle/>
          <a:p>
            <a:fld id="{3DB4B16D-FC02-5741-B43D-9606CBF810CA}" type="datetimeFigureOut">
              <a:rPr lang="en-US" smtClean="0"/>
              <a:t>2/7/17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573AA-089D-6D4F-BB25-D6164892A271}" type="slidenum">
              <a:rPr lang="en-US" smtClean="0"/>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AU"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AU" smtClean="0"/>
              <a:t>Drag picture to placeholder or click icon to add</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AU"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3DB4B16D-FC02-5741-B43D-9606CBF810CA}" type="datetimeFigureOut">
              <a:rPr lang="en-US" smtClean="0"/>
              <a:t>2/7/17</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AFF573AA-089D-6D4F-BB25-D6164892A27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AU"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AU" smtClean="0"/>
              <a:t>Click to edit Master text styles</a:t>
            </a:r>
          </a:p>
          <a:p>
            <a:pPr lvl="1" eaLnBrk="1" latinLnBrk="0" hangingPunct="1"/>
            <a:r>
              <a:rPr lang="en-AU" smtClean="0"/>
              <a:t>Second level</a:t>
            </a:r>
          </a:p>
          <a:p>
            <a:pPr lvl="2" eaLnBrk="1" latinLnBrk="0" hangingPunct="1"/>
            <a:r>
              <a:rPr lang="en-AU" smtClean="0"/>
              <a:t>Third level</a:t>
            </a:r>
          </a:p>
          <a:p>
            <a:pPr lvl="3" eaLnBrk="1" latinLnBrk="0" hangingPunct="1"/>
            <a:r>
              <a:rPr lang="en-AU" smtClean="0"/>
              <a:t>Fourth level</a:t>
            </a:r>
          </a:p>
          <a:p>
            <a:pPr lvl="4" eaLnBrk="1" latinLnBrk="0" hangingPunct="1"/>
            <a:r>
              <a:rPr lang="en-AU" smtClean="0"/>
              <a:t>Fifth level</a:t>
            </a:r>
            <a:endParaRPr kumimoji="0" lang="en-US"/>
          </a:p>
        </p:txBody>
      </p:sp>
      <p:sp>
        <p:nvSpPr>
          <p:cNvPr id="4" name="Date Placeholder 3"/>
          <p:cNvSpPr>
            <a:spLocks noGrp="1"/>
          </p:cNvSpPr>
          <p:nvPr>
            <p:ph type="dt" sz="half" idx="10"/>
          </p:nvPr>
        </p:nvSpPr>
        <p:spPr/>
        <p:txBody>
          <a:bodyPr/>
          <a:lstStyle/>
          <a:p>
            <a:fld id="{3DB4B16D-FC02-5741-B43D-9606CBF810CA}" type="datetimeFigureOut">
              <a:rPr lang="en-US" smtClean="0"/>
              <a:t>2/7/17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573AA-089D-6D4F-BB25-D6164892A27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AU"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AU" smtClean="0"/>
              <a:t>Click to edit Master text styles</a:t>
            </a:r>
          </a:p>
          <a:p>
            <a:pPr lvl="1" eaLnBrk="1" latinLnBrk="0" hangingPunct="1"/>
            <a:r>
              <a:rPr lang="en-AU" smtClean="0"/>
              <a:t>Second level</a:t>
            </a:r>
          </a:p>
          <a:p>
            <a:pPr lvl="2" eaLnBrk="1" latinLnBrk="0" hangingPunct="1"/>
            <a:r>
              <a:rPr lang="en-AU" smtClean="0"/>
              <a:t>Third level</a:t>
            </a:r>
          </a:p>
          <a:p>
            <a:pPr lvl="3" eaLnBrk="1" latinLnBrk="0" hangingPunct="1"/>
            <a:r>
              <a:rPr lang="en-AU" smtClean="0"/>
              <a:t>Fourth level</a:t>
            </a:r>
          </a:p>
          <a:p>
            <a:pPr lvl="4" eaLnBrk="1" latinLnBrk="0" hangingPunct="1"/>
            <a:r>
              <a:rPr lang="en-AU" smtClean="0"/>
              <a:t>Fifth level</a:t>
            </a:r>
            <a:endParaRPr kumimoji="0" lang="en-US"/>
          </a:p>
        </p:txBody>
      </p:sp>
      <p:sp>
        <p:nvSpPr>
          <p:cNvPr id="4" name="Date Placeholder 3"/>
          <p:cNvSpPr>
            <a:spLocks noGrp="1"/>
          </p:cNvSpPr>
          <p:nvPr>
            <p:ph type="dt" sz="half" idx="10"/>
          </p:nvPr>
        </p:nvSpPr>
        <p:spPr/>
        <p:txBody>
          <a:bodyPr/>
          <a:lstStyle/>
          <a:p>
            <a:fld id="{3DB4B16D-FC02-5741-B43D-9606CBF810CA}" type="datetimeFigureOut">
              <a:rPr lang="en-US" smtClean="0"/>
              <a:t>2/7/17</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AFF573AA-089D-6D4F-BB25-D6164892A27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AU"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AU" smtClean="0"/>
              <a:t>Click to edit Master text styles</a:t>
            </a:r>
          </a:p>
          <a:p>
            <a:pPr lvl="1" eaLnBrk="1" latinLnBrk="0" hangingPunct="1"/>
            <a:r>
              <a:rPr kumimoji="0" lang="en-AU" smtClean="0"/>
              <a:t>Second level</a:t>
            </a:r>
          </a:p>
          <a:p>
            <a:pPr lvl="2" eaLnBrk="1" latinLnBrk="0" hangingPunct="1"/>
            <a:r>
              <a:rPr kumimoji="0" lang="en-AU" smtClean="0"/>
              <a:t>Third level</a:t>
            </a:r>
          </a:p>
          <a:p>
            <a:pPr lvl="3" eaLnBrk="1" latinLnBrk="0" hangingPunct="1"/>
            <a:r>
              <a:rPr kumimoji="0" lang="en-AU" smtClean="0"/>
              <a:t>Fourth level</a:t>
            </a:r>
          </a:p>
          <a:p>
            <a:pPr lvl="4" eaLnBrk="1" latinLnBrk="0" hangingPunct="1"/>
            <a:r>
              <a:rPr kumimoji="0" lang="en-AU"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3DB4B16D-FC02-5741-B43D-9606CBF810CA}" type="datetimeFigureOut">
              <a:rPr lang="en-US" smtClean="0"/>
              <a:t>2/7/17</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AFF573AA-089D-6D4F-BB25-D6164892A2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UHiUYj5EA0w" TargetMode="Externa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How do we measure Economic Growth?</a:t>
            </a:r>
            <a:endParaRPr lang="en-US" dirty="0"/>
          </a:p>
        </p:txBody>
      </p:sp>
      <p:sp>
        <p:nvSpPr>
          <p:cNvPr id="3" name="Subtitle 2"/>
          <p:cNvSpPr>
            <a:spLocks noGrp="1"/>
          </p:cNvSpPr>
          <p:nvPr>
            <p:ph type="subTitle" idx="1"/>
          </p:nvPr>
        </p:nvSpPr>
        <p:spPr/>
        <p:txBody>
          <a:bodyPr/>
          <a:lstStyle/>
          <a:p>
            <a:r>
              <a:rPr lang="en-US" dirty="0" smtClean="0"/>
              <a:t>Year 10 Economics</a:t>
            </a:r>
            <a:endParaRPr lang="en-US" dirty="0"/>
          </a:p>
        </p:txBody>
      </p:sp>
      <p:pic>
        <p:nvPicPr>
          <p:cNvPr id="4" name="Picture 3"/>
          <p:cNvPicPr>
            <a:picLocks noChangeAspect="1"/>
          </p:cNvPicPr>
          <p:nvPr/>
        </p:nvPicPr>
        <p:blipFill>
          <a:blip r:embed="rId2"/>
          <a:stretch>
            <a:fillRect/>
          </a:stretch>
        </p:blipFill>
        <p:spPr>
          <a:xfrm>
            <a:off x="3744195" y="261204"/>
            <a:ext cx="4550809" cy="3067212"/>
          </a:xfrm>
          <a:prstGeom prst="rect">
            <a:avLst/>
          </a:prstGeom>
        </p:spPr>
      </p:pic>
    </p:spTree>
    <p:extLst>
      <p:ext uri="{BB962C8B-B14F-4D97-AF65-F5344CB8AC3E}">
        <p14:creationId xmlns:p14="http://schemas.microsoft.com/office/powerpoint/2010/main" val="3127463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Economic Growth</a:t>
            </a:r>
            <a:endParaRPr lang="en-US" dirty="0"/>
          </a:p>
        </p:txBody>
      </p:sp>
      <p:sp>
        <p:nvSpPr>
          <p:cNvPr id="3" name="Content Placeholder 2"/>
          <p:cNvSpPr>
            <a:spLocks noGrp="1"/>
          </p:cNvSpPr>
          <p:nvPr>
            <p:ph idx="1"/>
          </p:nvPr>
        </p:nvSpPr>
        <p:spPr/>
        <p:txBody>
          <a:bodyPr/>
          <a:lstStyle/>
          <a:p>
            <a:pPr marL="118872" indent="0">
              <a:buNone/>
            </a:pPr>
            <a:r>
              <a:rPr lang="en-US" dirty="0" smtClean="0"/>
              <a:t>GDP:</a:t>
            </a:r>
          </a:p>
          <a:p>
            <a:r>
              <a:rPr lang="en-US" dirty="0" smtClean="0"/>
              <a:t>What is it?</a:t>
            </a:r>
          </a:p>
          <a:p>
            <a:r>
              <a:rPr lang="en-US" dirty="0" smtClean="0"/>
              <a:t>How is it measured?</a:t>
            </a:r>
          </a:p>
          <a:p>
            <a:r>
              <a:rPr lang="en-US" dirty="0" smtClean="0"/>
              <a:t>Refinements of GDP</a:t>
            </a:r>
          </a:p>
          <a:p>
            <a:r>
              <a:rPr lang="en-US" dirty="0" smtClean="0"/>
              <a:t>Limitations of GDP</a:t>
            </a:r>
          </a:p>
        </p:txBody>
      </p:sp>
    </p:spTree>
    <p:extLst>
      <p:ext uri="{BB962C8B-B14F-4D97-AF65-F5344CB8AC3E}">
        <p14:creationId xmlns:p14="http://schemas.microsoft.com/office/powerpoint/2010/main" val="34417241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Economic Growth</a:t>
            </a:r>
            <a:endParaRPr lang="en-US" dirty="0"/>
          </a:p>
        </p:txBody>
      </p:sp>
      <p:sp>
        <p:nvSpPr>
          <p:cNvPr id="3" name="Content Placeholder 2"/>
          <p:cNvSpPr>
            <a:spLocks noGrp="1"/>
          </p:cNvSpPr>
          <p:nvPr>
            <p:ph idx="1"/>
          </p:nvPr>
        </p:nvSpPr>
        <p:spPr/>
        <p:txBody>
          <a:bodyPr/>
          <a:lstStyle/>
          <a:p>
            <a:r>
              <a:rPr lang="en-US" dirty="0" smtClean="0"/>
              <a:t>The increasing capacity of the economy to satisfy the wants of its society.</a:t>
            </a:r>
          </a:p>
          <a:p>
            <a:r>
              <a:rPr lang="en-US" dirty="0" smtClean="0"/>
              <a:t>Describes the way the </a:t>
            </a:r>
            <a:r>
              <a:rPr lang="en-US" i="1" dirty="0" smtClean="0"/>
              <a:t>real</a:t>
            </a:r>
            <a:r>
              <a:rPr lang="en-US" dirty="0" smtClean="0"/>
              <a:t> income of an economy increases over time.</a:t>
            </a:r>
          </a:p>
          <a:p>
            <a:r>
              <a:rPr lang="en-US" dirty="0" smtClean="0"/>
              <a:t>Growth enables us to achieve a higher </a:t>
            </a:r>
            <a:r>
              <a:rPr lang="en-US" b="1" dirty="0" smtClean="0"/>
              <a:t>material standard of living</a:t>
            </a:r>
            <a:r>
              <a:rPr lang="en-US" dirty="0" smtClean="0"/>
              <a:t>.</a:t>
            </a:r>
          </a:p>
          <a:p>
            <a:r>
              <a:rPr lang="en-US" dirty="0" smtClean="0"/>
              <a:t>A nation’s growth is usually measured in terms of GDP.</a:t>
            </a:r>
            <a:endParaRPr lang="en-US" dirty="0"/>
          </a:p>
        </p:txBody>
      </p:sp>
    </p:spTree>
    <p:extLst>
      <p:ext uri="{BB962C8B-B14F-4D97-AF65-F5344CB8AC3E}">
        <p14:creationId xmlns:p14="http://schemas.microsoft.com/office/powerpoint/2010/main" val="7012700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Macroeconomic Policy Objectives</a:t>
            </a:r>
            <a:endParaRPr lang="en-US" dirty="0"/>
          </a:p>
        </p:txBody>
      </p:sp>
      <p:sp>
        <p:nvSpPr>
          <p:cNvPr id="3" name="Content Placeholder 2"/>
          <p:cNvSpPr>
            <a:spLocks noGrp="1"/>
          </p:cNvSpPr>
          <p:nvPr>
            <p:ph idx="1"/>
          </p:nvPr>
        </p:nvSpPr>
        <p:spPr/>
        <p:txBody>
          <a:bodyPr/>
          <a:lstStyle/>
          <a:p>
            <a:r>
              <a:rPr lang="en-US" dirty="0" smtClean="0"/>
              <a:t>Economic Growth</a:t>
            </a:r>
          </a:p>
          <a:p>
            <a:endParaRPr lang="en-US" dirty="0"/>
          </a:p>
          <a:p>
            <a:r>
              <a:rPr lang="en-US" dirty="0" smtClean="0"/>
              <a:t>What other policy objectives does economic growth link with?</a:t>
            </a:r>
          </a:p>
          <a:p>
            <a:endParaRPr lang="en-US" dirty="0"/>
          </a:p>
          <a:p>
            <a:r>
              <a:rPr lang="en-US" dirty="0" smtClean="0"/>
              <a:t>Full Employment</a:t>
            </a:r>
          </a:p>
          <a:p>
            <a:r>
              <a:rPr lang="en-US" dirty="0" smtClean="0"/>
              <a:t>Price Stability</a:t>
            </a:r>
            <a:endParaRPr lang="en-US" dirty="0"/>
          </a:p>
        </p:txBody>
      </p:sp>
      <p:pic>
        <p:nvPicPr>
          <p:cNvPr id="4" name="Picture 3"/>
          <p:cNvPicPr>
            <a:picLocks noChangeAspect="1"/>
          </p:cNvPicPr>
          <p:nvPr/>
        </p:nvPicPr>
        <p:blipFill>
          <a:blip r:embed="rId2"/>
          <a:stretch>
            <a:fillRect/>
          </a:stretch>
        </p:blipFill>
        <p:spPr>
          <a:xfrm>
            <a:off x="4041091" y="3877540"/>
            <a:ext cx="5102909" cy="2980460"/>
          </a:xfrm>
          <a:prstGeom prst="rect">
            <a:avLst/>
          </a:prstGeom>
        </p:spPr>
      </p:pic>
    </p:spTree>
    <p:extLst>
      <p:ext uri="{BB962C8B-B14F-4D97-AF65-F5344CB8AC3E}">
        <p14:creationId xmlns:p14="http://schemas.microsoft.com/office/powerpoint/2010/main" val="312147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Economic Growth – PPF Model</a:t>
            </a:r>
            <a:endParaRPr lang="en-US" dirty="0"/>
          </a:p>
        </p:txBody>
      </p:sp>
      <p:sp>
        <p:nvSpPr>
          <p:cNvPr id="3" name="Content Placeholder 2"/>
          <p:cNvSpPr>
            <a:spLocks noGrp="1"/>
          </p:cNvSpPr>
          <p:nvPr>
            <p:ph idx="1"/>
          </p:nvPr>
        </p:nvSpPr>
        <p:spPr/>
        <p:txBody>
          <a:bodyPr/>
          <a:lstStyle/>
          <a:p>
            <a:r>
              <a:rPr lang="en-US" dirty="0" smtClean="0"/>
              <a:t>The PPF Model</a:t>
            </a:r>
          </a:p>
          <a:p>
            <a:pPr lvl="1"/>
            <a:r>
              <a:rPr lang="en-US" dirty="0" smtClean="0"/>
              <a:t>Actual and potential</a:t>
            </a:r>
          </a:p>
          <a:p>
            <a:pPr lvl="1"/>
            <a:r>
              <a:rPr lang="en-US" dirty="0" smtClean="0"/>
              <a:t>Output gap</a:t>
            </a:r>
          </a:p>
          <a:p>
            <a:pPr lvl="1"/>
            <a:endParaRPr lang="en-US" dirty="0"/>
          </a:p>
          <a:p>
            <a:r>
              <a:rPr lang="en-US" dirty="0" smtClean="0"/>
              <a:t>Thinking back to the characteristics of the phases of the BTC, when would you have a positive output gap and when would you have a negative output gap? Why?</a:t>
            </a:r>
            <a:endParaRPr lang="en-US" dirty="0"/>
          </a:p>
        </p:txBody>
      </p:sp>
    </p:spTree>
    <p:extLst>
      <p:ext uri="{BB962C8B-B14F-4D97-AF65-F5344CB8AC3E}">
        <p14:creationId xmlns:p14="http://schemas.microsoft.com/office/powerpoint/2010/main" val="2823469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Measuring Economic Growth</a:t>
            </a:r>
            <a:endParaRPr lang="en-US" dirty="0"/>
          </a:p>
        </p:txBody>
      </p:sp>
      <p:sp>
        <p:nvSpPr>
          <p:cNvPr id="3" name="Content Placeholder 2"/>
          <p:cNvSpPr>
            <a:spLocks noGrp="1"/>
          </p:cNvSpPr>
          <p:nvPr>
            <p:ph idx="1"/>
          </p:nvPr>
        </p:nvSpPr>
        <p:spPr/>
        <p:txBody>
          <a:bodyPr/>
          <a:lstStyle/>
          <a:p>
            <a:r>
              <a:rPr lang="en-US" dirty="0" smtClean="0"/>
              <a:t>Growth rate: Annual % change in GDP</a:t>
            </a:r>
          </a:p>
          <a:p>
            <a:pPr lvl="1"/>
            <a:r>
              <a:rPr lang="en-US" dirty="0" smtClean="0"/>
              <a:t>(GDP2-GDP1)/GDP1 x 100</a:t>
            </a:r>
          </a:p>
          <a:p>
            <a:pPr lvl="1"/>
            <a:endParaRPr lang="en-US" dirty="0" smtClean="0"/>
          </a:p>
          <a:p>
            <a:r>
              <a:rPr lang="en-US" dirty="0" smtClean="0"/>
              <a:t>What does it mean if the GDP growth rate is:</a:t>
            </a:r>
          </a:p>
          <a:p>
            <a:pPr lvl="1"/>
            <a:r>
              <a:rPr lang="en-US" dirty="0" smtClean="0"/>
              <a:t>2.1%?</a:t>
            </a:r>
          </a:p>
          <a:p>
            <a:pPr lvl="1"/>
            <a:r>
              <a:rPr lang="en-US" dirty="0" smtClean="0"/>
              <a:t>-0.2%?</a:t>
            </a:r>
          </a:p>
        </p:txBody>
      </p:sp>
    </p:spTree>
    <p:extLst>
      <p:ext uri="{BB962C8B-B14F-4D97-AF65-F5344CB8AC3E}">
        <p14:creationId xmlns:p14="http://schemas.microsoft.com/office/powerpoint/2010/main" val="367759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Measuring GDP using Aggregate Demand</a:t>
            </a:r>
            <a:endParaRPr lang="en-AU" dirty="0"/>
          </a:p>
        </p:txBody>
      </p:sp>
      <p:sp>
        <p:nvSpPr>
          <p:cNvPr id="3" name="Content Placeholder 2"/>
          <p:cNvSpPr>
            <a:spLocks noGrp="1"/>
          </p:cNvSpPr>
          <p:nvPr>
            <p:ph idx="1"/>
          </p:nvPr>
        </p:nvSpPr>
        <p:spPr/>
        <p:txBody>
          <a:bodyPr/>
          <a:lstStyle/>
          <a:p>
            <a:r>
              <a:rPr lang="en-AU" dirty="0" smtClean="0"/>
              <a:t>The most common method of measuring GDP is using the Aggregate demand method:</a:t>
            </a:r>
          </a:p>
          <a:p>
            <a:r>
              <a:rPr lang="en-AU" dirty="0" smtClean="0"/>
              <a:t>Aggregate Demand = C + I + G + (X-M)</a:t>
            </a:r>
          </a:p>
          <a:p>
            <a:pPr lvl="1"/>
            <a:r>
              <a:rPr lang="en-AU" dirty="0" smtClean="0"/>
              <a:t>Consumption</a:t>
            </a:r>
          </a:p>
          <a:p>
            <a:pPr lvl="1"/>
            <a:r>
              <a:rPr lang="en-AU" dirty="0" smtClean="0"/>
              <a:t>Investment</a:t>
            </a:r>
          </a:p>
          <a:p>
            <a:pPr lvl="1"/>
            <a:r>
              <a:rPr lang="en-AU" dirty="0" smtClean="0"/>
              <a:t>Government Expenditure</a:t>
            </a:r>
          </a:p>
          <a:p>
            <a:pPr lvl="1"/>
            <a:r>
              <a:rPr lang="en-AU" dirty="0" smtClean="0"/>
              <a:t>Net Exports</a:t>
            </a:r>
            <a:endParaRPr lang="en-AU" dirty="0"/>
          </a:p>
        </p:txBody>
      </p:sp>
    </p:spTree>
    <p:extLst>
      <p:ext uri="{BB962C8B-B14F-4D97-AF65-F5344CB8AC3E}">
        <p14:creationId xmlns:p14="http://schemas.microsoft.com/office/powerpoint/2010/main" val="1795323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 y="83477"/>
            <a:ext cx="8122920" cy="6437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17009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are some countries ‘rich’ and other countries ‘poor’?</a:t>
            </a:r>
            <a:endParaRPr lang="en-US" dirty="0"/>
          </a:p>
        </p:txBody>
      </p:sp>
      <p:sp>
        <p:nvSpPr>
          <p:cNvPr id="3" name="Content Placeholder 2"/>
          <p:cNvSpPr>
            <a:spLocks noGrp="1"/>
          </p:cNvSpPr>
          <p:nvPr>
            <p:ph idx="1"/>
          </p:nvPr>
        </p:nvSpPr>
        <p:spPr/>
        <p:txBody>
          <a:bodyPr/>
          <a:lstStyle/>
          <a:p>
            <a:r>
              <a:rPr lang="en-US" dirty="0" smtClean="0"/>
              <a:t>Brainstorm: Why do you think some countries are well off and others are not?</a:t>
            </a:r>
          </a:p>
          <a:p>
            <a:endParaRPr lang="en-US" dirty="0"/>
          </a:p>
          <a:p>
            <a:r>
              <a:rPr lang="en-US" dirty="0" smtClean="0">
                <a:hlinkClick r:id="rId2"/>
              </a:rPr>
              <a:t>https://www.youtube.com/watch?v=UHiUYj5EA0w</a:t>
            </a:r>
            <a:endParaRPr lang="en-US" dirty="0" smtClean="0"/>
          </a:p>
          <a:p>
            <a:endParaRPr lang="en-US" dirty="0" smtClean="0"/>
          </a:p>
          <a:p>
            <a:endParaRPr lang="en-US" dirty="0"/>
          </a:p>
        </p:txBody>
      </p:sp>
      <p:pic>
        <p:nvPicPr>
          <p:cNvPr id="4" name="Picture 3"/>
          <p:cNvPicPr>
            <a:picLocks noChangeAspect="1"/>
          </p:cNvPicPr>
          <p:nvPr/>
        </p:nvPicPr>
        <p:blipFill>
          <a:blip r:embed="rId3"/>
          <a:stretch>
            <a:fillRect/>
          </a:stretch>
        </p:blipFill>
        <p:spPr>
          <a:xfrm>
            <a:off x="4699000" y="3924300"/>
            <a:ext cx="4445000" cy="2933700"/>
          </a:xfrm>
          <a:prstGeom prst="rect">
            <a:avLst/>
          </a:prstGeom>
        </p:spPr>
      </p:pic>
    </p:spTree>
    <p:extLst>
      <p:ext uri="{BB962C8B-B14F-4D97-AF65-F5344CB8AC3E}">
        <p14:creationId xmlns:p14="http://schemas.microsoft.com/office/powerpoint/2010/main" val="36856628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a:bodyPr>
          <a:lstStyle/>
          <a:p>
            <a:pPr eaLnBrk="1" hangingPunct="1">
              <a:defRPr/>
            </a:pPr>
            <a:r>
              <a:rPr lang="en-AU" dirty="0" smtClean="0"/>
              <a:t>For Economic Growth to Occur </a:t>
            </a:r>
          </a:p>
        </p:txBody>
      </p:sp>
      <p:sp>
        <p:nvSpPr>
          <p:cNvPr id="18435" name="Rectangle 3"/>
          <p:cNvSpPr>
            <a:spLocks noGrp="1" noChangeArrowheads="1"/>
          </p:cNvSpPr>
          <p:nvPr>
            <p:ph sz="quarter" idx="1"/>
          </p:nvPr>
        </p:nvSpPr>
        <p:spPr>
          <a:xfrm>
            <a:off x="457200" y="1408177"/>
            <a:ext cx="8229600" cy="4992624"/>
          </a:xfrm>
        </p:spPr>
        <p:txBody>
          <a:bodyPr>
            <a:normAutofit fontScale="92500" lnSpcReduction="20000"/>
          </a:bodyPr>
          <a:lstStyle/>
          <a:p>
            <a:pPr eaLnBrk="1" hangingPunct="1">
              <a:defRPr/>
            </a:pPr>
            <a:r>
              <a:rPr lang="en-AU" dirty="0" smtClean="0"/>
              <a:t>Growth can come from either</a:t>
            </a:r>
          </a:p>
          <a:p>
            <a:pPr eaLnBrk="1" hangingPunct="1">
              <a:defRPr/>
            </a:pPr>
            <a:r>
              <a:rPr lang="en-AU" dirty="0" smtClean="0"/>
              <a:t>Supply Side </a:t>
            </a:r>
          </a:p>
          <a:p>
            <a:pPr lvl="1">
              <a:defRPr/>
            </a:pPr>
            <a:r>
              <a:rPr lang="en-AU" dirty="0" smtClean="0"/>
              <a:t>Quality or quantity of the Factors of Production</a:t>
            </a:r>
          </a:p>
          <a:p>
            <a:pPr lvl="2">
              <a:defRPr/>
            </a:pPr>
            <a:r>
              <a:rPr lang="en-AU" dirty="0" smtClean="0"/>
              <a:t>Land</a:t>
            </a:r>
          </a:p>
          <a:p>
            <a:pPr lvl="2">
              <a:defRPr/>
            </a:pPr>
            <a:r>
              <a:rPr lang="en-AU" dirty="0" smtClean="0"/>
              <a:t>Labour</a:t>
            </a:r>
          </a:p>
          <a:p>
            <a:pPr lvl="2">
              <a:defRPr/>
            </a:pPr>
            <a:r>
              <a:rPr lang="en-AU" dirty="0" smtClean="0"/>
              <a:t>Capital</a:t>
            </a:r>
          </a:p>
          <a:p>
            <a:pPr lvl="2">
              <a:defRPr/>
            </a:pPr>
            <a:r>
              <a:rPr lang="en-AU" dirty="0" smtClean="0"/>
              <a:t>Enterprise</a:t>
            </a:r>
          </a:p>
          <a:p>
            <a:pPr eaLnBrk="1" hangingPunct="1">
              <a:defRPr/>
            </a:pPr>
            <a:r>
              <a:rPr lang="en-AU" dirty="0" smtClean="0"/>
              <a:t>Demand Side</a:t>
            </a:r>
          </a:p>
          <a:p>
            <a:pPr lvl="1">
              <a:defRPr/>
            </a:pPr>
            <a:r>
              <a:rPr lang="en-AU" dirty="0" smtClean="0"/>
              <a:t>Factors that affect spending in the economy</a:t>
            </a:r>
          </a:p>
          <a:p>
            <a:pPr lvl="2">
              <a:defRPr/>
            </a:pPr>
            <a:r>
              <a:rPr lang="en-AU" dirty="0" smtClean="0"/>
              <a:t>Consumption</a:t>
            </a:r>
          </a:p>
          <a:p>
            <a:pPr lvl="2">
              <a:defRPr/>
            </a:pPr>
            <a:r>
              <a:rPr lang="en-AU" dirty="0" smtClean="0"/>
              <a:t>Investment</a:t>
            </a:r>
          </a:p>
          <a:p>
            <a:pPr lvl="2">
              <a:defRPr/>
            </a:pPr>
            <a:r>
              <a:rPr lang="en-AU" dirty="0" smtClean="0"/>
              <a:t>Government expenditure</a:t>
            </a:r>
          </a:p>
          <a:p>
            <a:pPr lvl="2">
              <a:defRPr/>
            </a:pPr>
            <a:r>
              <a:rPr lang="en-AU" dirty="0" smtClean="0"/>
              <a:t>Net Exports (Exports – Imports)</a:t>
            </a:r>
          </a:p>
          <a:p>
            <a:pPr eaLnBrk="1" hangingPunct="1">
              <a:defRPr/>
            </a:pPr>
            <a:endParaRPr lang="en-AU" dirty="0" smtClean="0"/>
          </a:p>
          <a:p>
            <a:pPr eaLnBrk="1" hangingPunct="1">
              <a:defRPr/>
            </a:pPr>
            <a:endParaRPr lang="en-AU" dirty="0" smtClean="0"/>
          </a:p>
          <a:p>
            <a:pPr marL="0" indent="0" eaLnBrk="1" hangingPunct="1">
              <a:buNone/>
              <a:defRPr/>
            </a:pPr>
            <a:endParaRPr lang="en-AU" dirty="0" smtClean="0"/>
          </a:p>
        </p:txBody>
      </p:sp>
    </p:spTree>
    <p:extLst>
      <p:ext uri="{BB962C8B-B14F-4D97-AF65-F5344CB8AC3E}">
        <p14:creationId xmlns:p14="http://schemas.microsoft.com/office/powerpoint/2010/main" val="2115853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Activity</a:t>
            </a:r>
            <a:endParaRPr lang="en-AU" dirty="0"/>
          </a:p>
        </p:txBody>
      </p:sp>
      <p:sp>
        <p:nvSpPr>
          <p:cNvPr id="3" name="Content Placeholder 2"/>
          <p:cNvSpPr>
            <a:spLocks noGrp="1"/>
          </p:cNvSpPr>
          <p:nvPr>
            <p:ph idx="1"/>
          </p:nvPr>
        </p:nvSpPr>
        <p:spPr/>
        <p:txBody>
          <a:bodyPr>
            <a:normAutofit fontScale="77500" lnSpcReduction="20000"/>
          </a:bodyPr>
          <a:lstStyle/>
          <a:p>
            <a:pPr marL="118872" indent="0">
              <a:buNone/>
            </a:pPr>
            <a:r>
              <a:rPr lang="en-AU" sz="3800" dirty="0"/>
              <a:t> </a:t>
            </a:r>
            <a:r>
              <a:rPr lang="en-AU" sz="3800" dirty="0" smtClean="0"/>
              <a:t>1. </a:t>
            </a:r>
            <a:r>
              <a:rPr lang="en-AU" sz="3800" dirty="0"/>
              <a:t>Search the Internet for articles on China’s rate of economic growth.  Read the articles and ascertain the reason(s) for China’s initial high rate of economic growth (10% and higher) and the reasons for its current slow down to a rate of growth of approx. 6 – 7%.</a:t>
            </a:r>
          </a:p>
          <a:p>
            <a:pPr marL="118872" indent="0">
              <a:buNone/>
            </a:pPr>
            <a:r>
              <a:rPr lang="en-AU" sz="3800" dirty="0"/>
              <a:t> </a:t>
            </a:r>
          </a:p>
          <a:p>
            <a:pPr marL="118872" indent="0">
              <a:buNone/>
            </a:pPr>
            <a:r>
              <a:rPr lang="en-AU" sz="3800" dirty="0" smtClean="0"/>
              <a:t>2. </a:t>
            </a:r>
            <a:r>
              <a:rPr lang="en-AU" sz="3800" dirty="0"/>
              <a:t>Is there any connection between the theoretical causes of economic growth and the drivers of China’s economic growth?  Which aspects apply to China.  Give examples.</a:t>
            </a:r>
            <a:r>
              <a:rPr lang="en-AU" dirty="0"/>
              <a:t/>
            </a:r>
            <a:br>
              <a:rPr lang="en-AU" dirty="0"/>
            </a:br>
            <a:endParaRPr lang="en-AU" dirty="0"/>
          </a:p>
        </p:txBody>
      </p:sp>
    </p:spTree>
    <p:extLst>
      <p:ext uri="{BB962C8B-B14F-4D97-AF65-F5344CB8AC3E}">
        <p14:creationId xmlns:p14="http://schemas.microsoft.com/office/powerpoint/2010/main" val="206919461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 of the GDP measure</a:t>
            </a:r>
            <a:endParaRPr lang="en-US" dirty="0"/>
          </a:p>
        </p:txBody>
      </p:sp>
      <p:sp>
        <p:nvSpPr>
          <p:cNvPr id="3" name="Content Placeholder 2"/>
          <p:cNvSpPr>
            <a:spLocks noGrp="1"/>
          </p:cNvSpPr>
          <p:nvPr>
            <p:ph idx="1"/>
          </p:nvPr>
        </p:nvSpPr>
        <p:spPr/>
        <p:txBody>
          <a:bodyPr>
            <a:normAutofit/>
          </a:bodyPr>
          <a:lstStyle/>
          <a:p>
            <a:r>
              <a:rPr lang="en-AU" dirty="0"/>
              <a:t>GDP doesn’t include non-market production</a:t>
            </a:r>
          </a:p>
          <a:p>
            <a:r>
              <a:rPr lang="en-AU" dirty="0"/>
              <a:t>GDP doesn’t provide information about the distribution of production</a:t>
            </a:r>
          </a:p>
          <a:p>
            <a:r>
              <a:rPr lang="en-AU" dirty="0"/>
              <a:t>GDP doesn’t consider the impact of production on the environment</a:t>
            </a:r>
          </a:p>
          <a:p>
            <a:r>
              <a:rPr lang="en-AU" dirty="0"/>
              <a:t>GDP involves some ‘guestimates’ of </a:t>
            </a:r>
            <a:r>
              <a:rPr lang="en-AU" dirty="0" smtClean="0"/>
              <a:t>production.</a:t>
            </a:r>
            <a:endParaRPr lang="en-AU" dirty="0"/>
          </a:p>
          <a:p>
            <a:endParaRPr lang="en-US" dirty="0"/>
          </a:p>
        </p:txBody>
      </p:sp>
    </p:spTree>
    <p:extLst>
      <p:ext uri="{BB962C8B-B14F-4D97-AF65-F5344CB8AC3E}">
        <p14:creationId xmlns:p14="http://schemas.microsoft.com/office/powerpoint/2010/main" val="1128702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defRPr/>
            </a:pPr>
            <a:r>
              <a:rPr lang="en-AU" smtClean="0"/>
              <a:t>Benefits of Economic Growth</a:t>
            </a:r>
          </a:p>
        </p:txBody>
      </p:sp>
      <p:sp>
        <p:nvSpPr>
          <p:cNvPr id="19459" name="Rectangle 3"/>
          <p:cNvSpPr>
            <a:spLocks noGrp="1" noChangeArrowheads="1"/>
          </p:cNvSpPr>
          <p:nvPr>
            <p:ph sz="quarter" idx="1"/>
          </p:nvPr>
        </p:nvSpPr>
        <p:spPr/>
        <p:txBody>
          <a:bodyPr/>
          <a:lstStyle/>
          <a:p>
            <a:pPr eaLnBrk="1" hangingPunct="1">
              <a:defRPr/>
            </a:pPr>
            <a:r>
              <a:rPr lang="en-US" dirty="0" smtClean="0"/>
              <a:t>Satisfy more wants and needs</a:t>
            </a:r>
          </a:p>
          <a:p>
            <a:pPr eaLnBrk="1" hangingPunct="1">
              <a:defRPr/>
            </a:pPr>
            <a:r>
              <a:rPr lang="en-US" dirty="0" smtClean="0"/>
              <a:t>Increase material standard of living</a:t>
            </a:r>
          </a:p>
          <a:p>
            <a:pPr eaLnBrk="1" hangingPunct="1">
              <a:defRPr/>
            </a:pPr>
            <a:r>
              <a:rPr lang="en-US" dirty="0" smtClean="0"/>
              <a:t>Access to more goods and services of a better quality</a:t>
            </a:r>
          </a:p>
          <a:p>
            <a:pPr eaLnBrk="1" hangingPunct="1">
              <a:defRPr/>
            </a:pPr>
            <a:r>
              <a:rPr lang="en-US" dirty="0" smtClean="0"/>
              <a:t>Increase levels of ‘real’ income</a:t>
            </a:r>
          </a:p>
          <a:p>
            <a:pPr eaLnBrk="1" hangingPunct="1">
              <a:defRPr/>
            </a:pPr>
            <a:r>
              <a:rPr lang="en-US" dirty="0" smtClean="0"/>
              <a:t>Reduce unemployment</a:t>
            </a:r>
          </a:p>
          <a:p>
            <a:pPr eaLnBrk="1" hangingPunct="1">
              <a:defRPr/>
            </a:pPr>
            <a:r>
              <a:rPr lang="en-US" dirty="0" smtClean="0"/>
              <a:t>G run budget surplus </a:t>
            </a:r>
            <a:r>
              <a:rPr lang="en-US" sz="2800" dirty="0" smtClean="0"/>
              <a:t>(pay back G debt)</a:t>
            </a:r>
          </a:p>
          <a:p>
            <a:pPr eaLnBrk="1" hangingPunct="1">
              <a:defRPr/>
            </a:pPr>
            <a:r>
              <a:rPr lang="en-US" sz="2800" dirty="0" smtClean="0"/>
              <a:t>Increase business investment</a:t>
            </a:r>
            <a:endParaRPr lang="en-US" dirty="0" smtClean="0"/>
          </a:p>
        </p:txBody>
      </p:sp>
    </p:spTree>
    <p:extLst>
      <p:ext uri="{BB962C8B-B14F-4D97-AF65-F5344CB8AC3E}">
        <p14:creationId xmlns:p14="http://schemas.microsoft.com/office/powerpoint/2010/main" val="36476973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defRPr/>
            </a:pPr>
            <a:r>
              <a:rPr lang="en-AU" smtClean="0"/>
              <a:t>Costs of Economic Growth</a:t>
            </a:r>
          </a:p>
        </p:txBody>
      </p:sp>
      <p:sp>
        <p:nvSpPr>
          <p:cNvPr id="20483" name="Rectangle 3"/>
          <p:cNvSpPr>
            <a:spLocks noGrp="1" noChangeArrowheads="1"/>
          </p:cNvSpPr>
          <p:nvPr>
            <p:ph sz="quarter" idx="1"/>
          </p:nvPr>
        </p:nvSpPr>
        <p:spPr/>
        <p:txBody>
          <a:bodyPr/>
          <a:lstStyle/>
          <a:p>
            <a:pPr eaLnBrk="1" hangingPunct="1">
              <a:defRPr/>
            </a:pPr>
            <a:r>
              <a:rPr lang="en-US" dirty="0" smtClean="0"/>
              <a:t>Structural unemployment </a:t>
            </a:r>
            <a:r>
              <a:rPr lang="en-US" sz="1800" dirty="0" smtClean="0"/>
              <a:t>(to be discussed later)</a:t>
            </a:r>
            <a:endParaRPr lang="en-US" dirty="0" smtClean="0"/>
          </a:p>
          <a:p>
            <a:pPr eaLnBrk="1" hangingPunct="1">
              <a:defRPr/>
            </a:pPr>
            <a:r>
              <a:rPr lang="en-US" dirty="0" smtClean="0"/>
              <a:t>Demand pull inflation </a:t>
            </a:r>
            <a:r>
              <a:rPr lang="en-US" sz="1800" dirty="0" smtClean="0"/>
              <a:t>(to be discussed later)</a:t>
            </a:r>
          </a:p>
          <a:p>
            <a:pPr eaLnBrk="1" hangingPunct="1">
              <a:defRPr/>
            </a:pPr>
            <a:r>
              <a:rPr lang="en-US" dirty="0" smtClean="0"/>
              <a:t>Environmental Degradation</a:t>
            </a:r>
          </a:p>
          <a:p>
            <a:pPr eaLnBrk="1" hangingPunct="1">
              <a:defRPr/>
            </a:pPr>
            <a:r>
              <a:rPr lang="en-US" dirty="0" smtClean="0"/>
              <a:t>Social dislocation</a:t>
            </a:r>
          </a:p>
          <a:p>
            <a:pPr marL="0" indent="0" eaLnBrk="1" hangingPunct="1">
              <a:buNone/>
              <a:defRPr/>
            </a:pPr>
            <a:endParaRPr lang="en-US" dirty="0" smtClean="0"/>
          </a:p>
        </p:txBody>
      </p:sp>
    </p:spTree>
    <p:extLst>
      <p:ext uri="{BB962C8B-B14F-4D97-AF65-F5344CB8AC3E}">
        <p14:creationId xmlns:p14="http://schemas.microsoft.com/office/powerpoint/2010/main" val="813204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Other Indicators of Economic Growth</a:t>
            </a:r>
            <a:endParaRPr lang="en-AU" dirty="0"/>
          </a:p>
        </p:txBody>
      </p:sp>
      <p:sp>
        <p:nvSpPr>
          <p:cNvPr id="3" name="Content Placeholder 2"/>
          <p:cNvSpPr>
            <a:spLocks noGrp="1"/>
          </p:cNvSpPr>
          <p:nvPr>
            <p:ph sz="quarter" idx="1"/>
          </p:nvPr>
        </p:nvSpPr>
        <p:spPr/>
        <p:txBody>
          <a:bodyPr/>
          <a:lstStyle/>
          <a:p>
            <a:r>
              <a:rPr lang="en-AU" dirty="0" smtClean="0"/>
              <a:t>GDP is the economic indicator of Economic Growth.</a:t>
            </a:r>
          </a:p>
          <a:p>
            <a:r>
              <a:rPr lang="en-AU" dirty="0" smtClean="0"/>
              <a:t>It is quantitative, and easy to compare over time and with other nations.  This makes it valuable.</a:t>
            </a:r>
          </a:p>
          <a:p>
            <a:r>
              <a:rPr lang="en-AU" dirty="0" smtClean="0"/>
              <a:t>But when comparing Standard of Living / Quality of Life, what other factors could / should be included?</a:t>
            </a:r>
            <a:endParaRPr lang="en-AU" dirty="0"/>
          </a:p>
        </p:txBody>
      </p:sp>
    </p:spTree>
    <p:extLst>
      <p:ext uri="{BB962C8B-B14F-4D97-AF65-F5344CB8AC3E}">
        <p14:creationId xmlns:p14="http://schemas.microsoft.com/office/powerpoint/2010/main" val="415653594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Module.thmx</Template>
  <TotalTime>454</TotalTime>
  <Words>983</Words>
  <Application>Microsoft Macintosh PowerPoint</Application>
  <PresentationFormat>On-screen Show (4:3)</PresentationFormat>
  <Paragraphs>105</Paragraphs>
  <Slides>15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Corbel</vt:lpstr>
      <vt:lpstr>Wingdings 2</vt:lpstr>
      <vt:lpstr>Wingdings 3</vt:lpstr>
      <vt:lpstr>Arial</vt:lpstr>
      <vt:lpstr>Calibri</vt:lpstr>
      <vt:lpstr>Wingdings</vt:lpstr>
      <vt:lpstr>Module</vt:lpstr>
      <vt:lpstr>How do we measure Economic Growth?</vt:lpstr>
      <vt:lpstr>Economic Growth</vt:lpstr>
      <vt:lpstr>What is Economic Growth</vt:lpstr>
      <vt:lpstr>Macroeconomic Policy Objectives</vt:lpstr>
      <vt:lpstr>Economic Growth – PPF Model</vt:lpstr>
      <vt:lpstr>Measuring Economic Growth</vt:lpstr>
      <vt:lpstr>Measuring GDP using Aggregate Demand</vt:lpstr>
      <vt:lpstr>PowerPoint Presentation</vt:lpstr>
      <vt:lpstr>Why are some countries ‘rich’ and other countries ‘poor’?</vt:lpstr>
      <vt:lpstr>For Economic Growth to Occur </vt:lpstr>
      <vt:lpstr>Activity</vt:lpstr>
      <vt:lpstr>Limitations of the GDP measure</vt:lpstr>
      <vt:lpstr>Benefits of Economic Growth</vt:lpstr>
      <vt:lpstr>Costs of Economic Growth</vt:lpstr>
      <vt:lpstr>Other Indicators of Economic Growth</vt:lpstr>
    </vt:vector>
  </TitlesOfParts>
  <LinksUpToDate>false</LinksUpToDate>
  <SharedDoc>false</SharedDoc>
  <HyperlinksChanged>false</HyperlinksChanged>
  <AppVersion>15.0030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 we measure Economic Growth?</dc:title>
  <dc:creator>monica franz</dc:creator>
  <cp:lastModifiedBy>FRANZ Monica</cp:lastModifiedBy>
  <cp:revision>14</cp:revision>
  <dcterms:created xsi:type="dcterms:W3CDTF">2016-02-21T04:25:13Z</dcterms:created>
  <dcterms:modified xsi:type="dcterms:W3CDTF">2017-02-07T06:12:18Z</dcterms:modified>
</cp:coreProperties>
</file>
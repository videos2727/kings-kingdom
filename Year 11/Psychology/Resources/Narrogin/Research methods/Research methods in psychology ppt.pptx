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handoutMasterIdLst>
    <p:handoutMasterId r:id="rId27"/>
  </p:handout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194" y="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D1FB19-829D-40CB-8718-61E8AF4726B6}" type="datetimeFigureOut">
              <a:rPr lang="en-AU" smtClean="0"/>
              <a:t>4/02/2017</a:t>
            </a:fld>
            <a:endParaRPr lang="en-AU"/>
          </a:p>
        </p:txBody>
      </p:sp>
      <p:sp>
        <p:nvSpPr>
          <p:cNvPr id="4" name="Footer Placeholder 3"/>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49688" y="9428163"/>
            <a:ext cx="2946400" cy="496887"/>
          </a:xfrm>
          <a:prstGeom prst="rect">
            <a:avLst/>
          </a:prstGeom>
        </p:spPr>
        <p:txBody>
          <a:bodyPr vert="horz" lIns="91440" tIns="45720" rIns="91440" bIns="45720" rtlCol="0" anchor="b"/>
          <a:lstStyle>
            <a:lvl1pPr algn="r">
              <a:defRPr sz="1200"/>
            </a:lvl1pPr>
          </a:lstStyle>
          <a:p>
            <a:fld id="{E6A72B2B-D599-411E-9AB2-E3124DE681A7}" type="slidenum">
              <a:rPr lang="en-AU" smtClean="0"/>
              <a:t>‹#›</a:t>
            </a:fld>
            <a:endParaRPr lang="en-AU"/>
          </a:p>
        </p:txBody>
      </p:sp>
    </p:spTree>
    <p:extLst>
      <p:ext uri="{BB962C8B-B14F-4D97-AF65-F5344CB8AC3E}">
        <p14:creationId xmlns:p14="http://schemas.microsoft.com/office/powerpoint/2010/main" val="33655368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DC8A8B6F-9C91-4CC9-AFB9-955B6DD6276B}" type="datetimeFigureOut">
              <a:rPr lang="en-AU" smtClean="0"/>
              <a:t>4/02/2017</a:t>
            </a:fld>
            <a:endParaRPr lang="en-AU"/>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BC543B6F-6F9D-46E9-9323-8B5F092C731E}" type="slidenum">
              <a:rPr lang="en-AU" smtClean="0"/>
              <a:t>‹#›</a:t>
            </a:fld>
            <a:endParaRPr lang="en-AU"/>
          </a:p>
        </p:txBody>
      </p:sp>
    </p:spTree>
    <p:extLst>
      <p:ext uri="{BB962C8B-B14F-4D97-AF65-F5344CB8AC3E}">
        <p14:creationId xmlns:p14="http://schemas.microsoft.com/office/powerpoint/2010/main" val="2149108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4FCD5F0-D308-4CFA-8CC9-DD859CBF27E4}" type="slidenum">
              <a:rPr lang="en-AU" smtClean="0"/>
              <a:t>2</a:t>
            </a:fld>
            <a:endParaRPr lang="en-AU"/>
          </a:p>
        </p:txBody>
      </p:sp>
    </p:spTree>
    <p:extLst>
      <p:ext uri="{BB962C8B-B14F-4D97-AF65-F5344CB8AC3E}">
        <p14:creationId xmlns:p14="http://schemas.microsoft.com/office/powerpoint/2010/main" val="1592839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4FCD5F0-D308-4CFA-8CC9-DD859CBF27E4}" type="slidenum">
              <a:rPr lang="en-AU" smtClean="0"/>
              <a:t>3</a:t>
            </a:fld>
            <a:endParaRPr lang="en-AU"/>
          </a:p>
        </p:txBody>
      </p:sp>
    </p:spTree>
    <p:extLst>
      <p:ext uri="{BB962C8B-B14F-4D97-AF65-F5344CB8AC3E}">
        <p14:creationId xmlns:p14="http://schemas.microsoft.com/office/powerpoint/2010/main" val="105359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4FCD5F0-D308-4CFA-8CC9-DD859CBF27E4}" type="slidenum">
              <a:rPr lang="en-AU" smtClean="0"/>
              <a:t>5</a:t>
            </a:fld>
            <a:endParaRPr lang="en-AU"/>
          </a:p>
        </p:txBody>
      </p:sp>
    </p:spTree>
    <p:extLst>
      <p:ext uri="{BB962C8B-B14F-4D97-AF65-F5344CB8AC3E}">
        <p14:creationId xmlns:p14="http://schemas.microsoft.com/office/powerpoint/2010/main" val="2754034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4FCD5F0-D308-4CFA-8CC9-DD859CBF27E4}" type="slidenum">
              <a:rPr lang="en-AU" smtClean="0"/>
              <a:t>6</a:t>
            </a:fld>
            <a:endParaRPr lang="en-AU"/>
          </a:p>
        </p:txBody>
      </p:sp>
    </p:spTree>
    <p:extLst>
      <p:ext uri="{BB962C8B-B14F-4D97-AF65-F5344CB8AC3E}">
        <p14:creationId xmlns:p14="http://schemas.microsoft.com/office/powerpoint/2010/main" val="3010264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04FCD5F0-D308-4CFA-8CC9-DD859CBF27E4}" type="slidenum">
              <a:rPr lang="en-AU" smtClean="0"/>
              <a:t>7</a:t>
            </a:fld>
            <a:endParaRPr lang="en-AU"/>
          </a:p>
        </p:txBody>
      </p:sp>
    </p:spTree>
    <p:extLst>
      <p:ext uri="{BB962C8B-B14F-4D97-AF65-F5344CB8AC3E}">
        <p14:creationId xmlns:p14="http://schemas.microsoft.com/office/powerpoint/2010/main" val="1232033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633D6AE0-55E5-46C7-8E49-9E52288D15AA}" type="datetimeFigureOut">
              <a:rPr lang="en-AU" smtClean="0"/>
              <a:t>4/02/2017</a:t>
            </a:fld>
            <a:endParaRPr lang="en-AU"/>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AU"/>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8A00990F-7905-465A-ABCC-FB7E34901395}" type="slidenum">
              <a:rPr lang="en-AU" smtClean="0"/>
              <a:t>‹#›</a:t>
            </a:fld>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633D6AE0-55E5-46C7-8E49-9E52288D15AA}" type="datetimeFigureOut">
              <a:rPr lang="en-AU" smtClean="0"/>
              <a:t>4/02/2017</a:t>
            </a:fld>
            <a:endParaRPr lang="en-AU"/>
          </a:p>
        </p:txBody>
      </p:sp>
      <p:sp>
        <p:nvSpPr>
          <p:cNvPr id="9" name="Slide Number Placeholder 8"/>
          <p:cNvSpPr>
            <a:spLocks noGrp="1"/>
          </p:cNvSpPr>
          <p:nvPr>
            <p:ph type="sldNum" sz="quarter" idx="15"/>
          </p:nvPr>
        </p:nvSpPr>
        <p:spPr/>
        <p:txBody>
          <a:bodyPr rtlCol="0"/>
          <a:lstStyle/>
          <a:p>
            <a:fld id="{8A00990F-7905-465A-ABCC-FB7E34901395}" type="slidenum">
              <a:rPr lang="en-AU" smtClean="0"/>
              <a:t>‹#›</a:t>
            </a:fld>
            <a:endParaRPr lang="en-AU"/>
          </a:p>
        </p:txBody>
      </p:sp>
      <p:sp>
        <p:nvSpPr>
          <p:cNvPr id="10" name="Footer Placeholder 9"/>
          <p:cNvSpPr>
            <a:spLocks noGrp="1"/>
          </p:cNvSpPr>
          <p:nvPr>
            <p:ph type="ftr" sz="quarter" idx="16"/>
          </p:nvPr>
        </p:nvSpPr>
        <p:spPr/>
        <p:txBody>
          <a:bodyPr rtlCol="0"/>
          <a:lstStyle/>
          <a:p>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633D6AE0-55E5-46C7-8E49-9E52288D15AA}" type="datetimeFigureOut">
              <a:rPr lang="en-AU" smtClean="0"/>
              <a:t>4/02/2017</a:t>
            </a:fld>
            <a:endParaRPr lang="en-AU"/>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AU"/>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8A00990F-7905-465A-ABCC-FB7E3490139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633D6AE0-55E5-46C7-8E49-9E52288D15AA}" type="datetimeFigureOut">
              <a:rPr lang="en-AU" smtClean="0"/>
              <a:t>4/02/2017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A00990F-7905-465A-ABCC-FB7E34901395}" type="slidenum">
              <a:rPr lang="en-AU" smtClean="0"/>
              <a:t>‹#›</a:t>
            </a:fld>
            <a:endParaRPr lang="en-AU"/>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633D6AE0-55E5-46C7-8E49-9E52288D15AA}" type="datetimeFigureOut">
              <a:rPr lang="en-AU" smtClean="0"/>
              <a:t>4/02/2017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A00990F-7905-465A-ABCC-FB7E34901395}" type="slidenum">
              <a:rPr lang="en-AU" smtClean="0"/>
              <a:t>‹#›</a:t>
            </a:fld>
            <a:endParaRPr lang="en-AU"/>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633D6AE0-55E5-46C7-8E49-9E52288D15AA}" type="datetimeFigureOut">
              <a:rPr lang="en-AU" smtClean="0"/>
              <a:t>4/02/2017</a:t>
            </a:fld>
            <a:endParaRPr lang="en-AU"/>
          </a:p>
        </p:txBody>
      </p:sp>
      <p:sp>
        <p:nvSpPr>
          <p:cNvPr id="7" name="Slide Number Placeholder 6"/>
          <p:cNvSpPr>
            <a:spLocks noGrp="1"/>
          </p:cNvSpPr>
          <p:nvPr>
            <p:ph type="sldNum" sz="quarter" idx="11"/>
          </p:nvPr>
        </p:nvSpPr>
        <p:spPr/>
        <p:txBody>
          <a:bodyPr rtlCol="0"/>
          <a:lstStyle/>
          <a:p>
            <a:fld id="{8A00990F-7905-465A-ABCC-FB7E34901395}" type="slidenum">
              <a:rPr lang="en-AU" smtClean="0"/>
              <a:t>‹#›</a:t>
            </a:fld>
            <a:endParaRPr lang="en-AU"/>
          </a:p>
        </p:txBody>
      </p:sp>
      <p:sp>
        <p:nvSpPr>
          <p:cNvPr id="8" name="Footer Placeholder 7"/>
          <p:cNvSpPr>
            <a:spLocks noGrp="1"/>
          </p:cNvSpPr>
          <p:nvPr>
            <p:ph type="ftr" sz="quarter" idx="12"/>
          </p:nvPr>
        </p:nvSpPr>
        <p:spPr/>
        <p:txBody>
          <a:bodyPr rtlCol="0"/>
          <a:lstStyle/>
          <a:p>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3D6AE0-55E5-46C7-8E49-9E52288D15AA}" type="datetimeFigureOut">
              <a:rPr lang="en-AU" smtClean="0"/>
              <a:t>4/02/2017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A00990F-7905-465A-ABCC-FB7E3490139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633D6AE0-55E5-46C7-8E49-9E52288D15AA}" type="datetimeFigureOut">
              <a:rPr lang="en-AU" smtClean="0"/>
              <a:t>4/02/2017</a:t>
            </a:fld>
            <a:endParaRPr lang="en-AU"/>
          </a:p>
        </p:txBody>
      </p:sp>
      <p:sp>
        <p:nvSpPr>
          <p:cNvPr id="22" name="Slide Number Placeholder 21"/>
          <p:cNvSpPr>
            <a:spLocks noGrp="1"/>
          </p:cNvSpPr>
          <p:nvPr>
            <p:ph type="sldNum" sz="quarter" idx="15"/>
          </p:nvPr>
        </p:nvSpPr>
        <p:spPr/>
        <p:txBody>
          <a:bodyPr rtlCol="0"/>
          <a:lstStyle/>
          <a:p>
            <a:fld id="{8A00990F-7905-465A-ABCC-FB7E34901395}" type="slidenum">
              <a:rPr lang="en-AU" smtClean="0"/>
              <a:t>‹#›</a:t>
            </a:fld>
            <a:endParaRPr lang="en-AU"/>
          </a:p>
        </p:txBody>
      </p:sp>
      <p:sp>
        <p:nvSpPr>
          <p:cNvPr id="23" name="Footer Placeholder 22"/>
          <p:cNvSpPr>
            <a:spLocks noGrp="1"/>
          </p:cNvSpPr>
          <p:nvPr>
            <p:ph type="ftr" sz="quarter" idx="16"/>
          </p:nvPr>
        </p:nvSpPr>
        <p:spPr/>
        <p:txBody>
          <a:bodyPr rtlCol="0"/>
          <a:lstStyle/>
          <a:p>
            <a:endParaRPr lang="en-AU"/>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633D6AE0-55E5-46C7-8E49-9E52288D15AA}" type="datetimeFigureOut">
              <a:rPr lang="en-AU" smtClean="0"/>
              <a:t>4/02/2017</a:t>
            </a:fld>
            <a:endParaRPr lang="en-AU"/>
          </a:p>
        </p:txBody>
      </p:sp>
      <p:sp>
        <p:nvSpPr>
          <p:cNvPr id="18" name="Slide Number Placeholder 17"/>
          <p:cNvSpPr>
            <a:spLocks noGrp="1"/>
          </p:cNvSpPr>
          <p:nvPr>
            <p:ph type="sldNum" sz="quarter" idx="11"/>
          </p:nvPr>
        </p:nvSpPr>
        <p:spPr/>
        <p:txBody>
          <a:bodyPr rtlCol="0"/>
          <a:lstStyle/>
          <a:p>
            <a:fld id="{8A00990F-7905-465A-ABCC-FB7E34901395}" type="slidenum">
              <a:rPr lang="en-AU" smtClean="0"/>
              <a:t>‹#›</a:t>
            </a:fld>
            <a:endParaRPr lang="en-AU"/>
          </a:p>
        </p:txBody>
      </p:sp>
      <p:sp>
        <p:nvSpPr>
          <p:cNvPr id="21" name="Footer Placeholder 20"/>
          <p:cNvSpPr>
            <a:spLocks noGrp="1"/>
          </p:cNvSpPr>
          <p:nvPr>
            <p:ph type="ftr" sz="quarter" idx="12"/>
          </p:nvPr>
        </p:nvSpPr>
        <p:spPr/>
        <p:txBody>
          <a:bodyPr rtlCol="0"/>
          <a:lstStyle/>
          <a:p>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33D6AE0-55E5-46C7-8E49-9E52288D15AA}" type="datetimeFigureOut">
              <a:rPr lang="en-AU" smtClean="0"/>
              <a:t>4/02/2017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A00990F-7905-465A-ABCC-FB7E3490139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33D6AE0-55E5-46C7-8E49-9E52288D15AA}" type="datetimeFigureOut">
              <a:rPr lang="en-AU" smtClean="0"/>
              <a:t>4/02/2017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A00990F-7905-465A-ABCC-FB7E3490139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633D6AE0-55E5-46C7-8E49-9E52288D15AA}" type="datetimeFigureOut">
              <a:rPr lang="en-AU" smtClean="0"/>
              <a:t>4/02/2017</a:t>
            </a:fld>
            <a:endParaRPr lang="en-AU"/>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AU"/>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8A00990F-7905-465A-ABCC-FB7E34901395}"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AU" sz="6000" dirty="0" smtClean="0"/>
              <a:t>Research Methods in Psychology</a:t>
            </a:r>
            <a:endParaRPr lang="en-AU" sz="6000" dirty="0"/>
          </a:p>
        </p:txBody>
      </p:sp>
    </p:spTree>
    <p:extLst>
      <p:ext uri="{BB962C8B-B14F-4D97-AF65-F5344CB8AC3E}">
        <p14:creationId xmlns:p14="http://schemas.microsoft.com/office/powerpoint/2010/main" val="42128463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948720"/>
          </a:xfrm>
        </p:spPr>
        <p:txBody>
          <a:bodyPr>
            <a:normAutofit/>
          </a:bodyPr>
          <a:lstStyle/>
          <a:p>
            <a:pPr algn="ctr"/>
            <a:r>
              <a:rPr lang="en-AU" sz="1600" dirty="0" smtClean="0"/>
              <a:t>Experimental research: construction of research hypothesis; identification of operational independent and dependent variables; </a:t>
            </a:r>
            <a:endParaRPr lang="en-AU" sz="1600" dirty="0"/>
          </a:p>
        </p:txBody>
      </p:sp>
      <p:sp>
        <p:nvSpPr>
          <p:cNvPr id="3" name="Content Placeholder 2"/>
          <p:cNvSpPr>
            <a:spLocks noGrp="1"/>
          </p:cNvSpPr>
          <p:nvPr>
            <p:ph sz="quarter" idx="1"/>
          </p:nvPr>
        </p:nvSpPr>
        <p:spPr/>
        <p:txBody>
          <a:bodyPr>
            <a:normAutofit/>
          </a:bodyPr>
          <a:lstStyle/>
          <a:p>
            <a:r>
              <a:rPr lang="en-AU" sz="1600" dirty="0" smtClean="0"/>
              <a:t>A </a:t>
            </a:r>
            <a:r>
              <a:rPr lang="en-AU" sz="1600" b="1" dirty="0" smtClean="0"/>
              <a:t>hypothesis</a:t>
            </a:r>
            <a:r>
              <a:rPr lang="en-AU" sz="1600" dirty="0" smtClean="0"/>
              <a:t> is a </a:t>
            </a:r>
            <a:r>
              <a:rPr lang="en-AU" sz="1600" u="sng" dirty="0" smtClean="0"/>
              <a:t>testable prediction </a:t>
            </a:r>
            <a:r>
              <a:rPr lang="en-AU" sz="1600" dirty="0" smtClean="0"/>
              <a:t>concerning the possible relationship between two or more variables.</a:t>
            </a:r>
          </a:p>
          <a:p>
            <a:pPr marL="0" indent="0" algn="ctr">
              <a:buNone/>
            </a:pPr>
            <a:r>
              <a:rPr lang="en-AU" sz="1600" b="1" u="sng" dirty="0" smtClean="0"/>
              <a:t>It is NEVER a questions and always a statement.</a:t>
            </a:r>
          </a:p>
          <a:p>
            <a:pPr marL="0" indent="0">
              <a:buNone/>
            </a:pPr>
            <a:r>
              <a:rPr lang="en-AU" sz="1600" dirty="0" smtClean="0"/>
              <a:t>‘I hypothesis that…’, or in an exam apply to the example </a:t>
            </a:r>
            <a:r>
              <a:rPr lang="en-AU" sz="1600" dirty="0" err="1" smtClean="0"/>
              <a:t>e.g</a:t>
            </a:r>
            <a:r>
              <a:rPr lang="en-AU" sz="1600" dirty="0" smtClean="0"/>
              <a:t> ‘Ms Cowan would hypothesis that….’ Both answers are acceptable.</a:t>
            </a:r>
          </a:p>
          <a:p>
            <a:pPr marL="0" indent="0">
              <a:buNone/>
            </a:pPr>
            <a:endParaRPr lang="en-AU" sz="1600" dirty="0"/>
          </a:p>
          <a:p>
            <a:pPr marL="0" indent="0">
              <a:buNone/>
            </a:pPr>
            <a:r>
              <a:rPr lang="en-AU" sz="1600" dirty="0" smtClean="0"/>
              <a:t>Always operationalize your hypothesis, meaning that you must include:</a:t>
            </a:r>
          </a:p>
          <a:p>
            <a:pPr>
              <a:buFontTx/>
              <a:buChar char="-"/>
            </a:pPr>
            <a:r>
              <a:rPr lang="en-AU" sz="1600" dirty="0" smtClean="0"/>
              <a:t>The IV (and how much it will differ from the DV)</a:t>
            </a:r>
          </a:p>
          <a:p>
            <a:pPr>
              <a:buFontTx/>
              <a:buChar char="-"/>
            </a:pPr>
            <a:r>
              <a:rPr lang="en-AU" sz="1600" dirty="0" smtClean="0"/>
              <a:t>The DV</a:t>
            </a:r>
          </a:p>
          <a:p>
            <a:pPr>
              <a:buFontTx/>
              <a:buChar char="-"/>
            </a:pPr>
            <a:r>
              <a:rPr lang="en-AU" sz="1600" dirty="0" smtClean="0"/>
              <a:t>The Population and Sample</a:t>
            </a:r>
          </a:p>
          <a:p>
            <a:pPr>
              <a:buFontTx/>
              <a:buChar char="-"/>
            </a:pPr>
            <a:endParaRPr lang="en-AU" sz="1600" dirty="0"/>
          </a:p>
          <a:p>
            <a:pPr>
              <a:buFontTx/>
              <a:buChar char="-"/>
            </a:pPr>
            <a:r>
              <a:rPr lang="en-AU" sz="1600" dirty="0" err="1" smtClean="0"/>
              <a:t>E.g</a:t>
            </a:r>
            <a:r>
              <a:rPr lang="en-AU" sz="1600" dirty="0" smtClean="0"/>
              <a:t> I hypothesis that </a:t>
            </a:r>
            <a:r>
              <a:rPr lang="en-AU" sz="1600" u="sng" dirty="0" smtClean="0"/>
              <a:t>100 VCE Psychology students (population) </a:t>
            </a:r>
            <a:r>
              <a:rPr lang="en-AU" sz="1600" dirty="0" smtClean="0"/>
              <a:t>who </a:t>
            </a:r>
            <a:r>
              <a:rPr lang="en-AU" sz="1600" u="sng" dirty="0" smtClean="0"/>
              <a:t>study for an average of 6 hours (IV) </a:t>
            </a:r>
            <a:r>
              <a:rPr lang="en-AU" sz="1600" dirty="0" smtClean="0"/>
              <a:t>a week, will </a:t>
            </a:r>
            <a:r>
              <a:rPr lang="en-AU" sz="1600" u="sng" dirty="0" smtClean="0"/>
              <a:t>score 20% higher </a:t>
            </a:r>
            <a:r>
              <a:rPr lang="en-AU" sz="1600" u="sng" dirty="0" err="1" smtClean="0"/>
              <a:t>operationalise</a:t>
            </a:r>
            <a:r>
              <a:rPr lang="en-AU" sz="1600" u="sng" dirty="0" smtClean="0"/>
              <a:t> DV) </a:t>
            </a:r>
            <a:r>
              <a:rPr lang="en-AU" sz="1600" dirty="0" smtClean="0"/>
              <a:t>on the </a:t>
            </a:r>
            <a:r>
              <a:rPr lang="en-AU" sz="1600" u="sng" dirty="0" smtClean="0"/>
              <a:t>mid-year exam (DV) </a:t>
            </a:r>
            <a:r>
              <a:rPr lang="en-AU" sz="1600" dirty="0" smtClean="0"/>
              <a:t>than those who do not.</a:t>
            </a:r>
            <a:endParaRPr lang="en-AU" sz="1600" dirty="0"/>
          </a:p>
        </p:txBody>
      </p:sp>
    </p:spTree>
    <p:extLst>
      <p:ext uri="{BB962C8B-B14F-4D97-AF65-F5344CB8AC3E}">
        <p14:creationId xmlns:p14="http://schemas.microsoft.com/office/powerpoint/2010/main" val="156627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239000" cy="1274400"/>
          </a:xfrm>
        </p:spPr>
        <p:txBody>
          <a:bodyPr>
            <a:noAutofit/>
          </a:bodyPr>
          <a:lstStyle/>
          <a:p>
            <a:pPr algn="ctr"/>
            <a:r>
              <a:rPr lang="en-AU" sz="1600" dirty="0"/>
              <a:t>Experimental research: construction of research hypothesis; identification of operational independent and dependent variables; identification of extraneous and potential confounding variables including individual participant differences, order effect, experimenter effect, placebo effect</a:t>
            </a:r>
          </a:p>
        </p:txBody>
      </p:sp>
      <p:sp>
        <p:nvSpPr>
          <p:cNvPr id="3" name="Content Placeholder 2"/>
          <p:cNvSpPr>
            <a:spLocks noGrp="1"/>
          </p:cNvSpPr>
          <p:nvPr>
            <p:ph sz="quarter" idx="1"/>
          </p:nvPr>
        </p:nvSpPr>
        <p:spPr>
          <a:xfrm>
            <a:off x="457200" y="1609416"/>
            <a:ext cx="7239000" cy="4843920"/>
          </a:xfrm>
        </p:spPr>
        <p:txBody>
          <a:bodyPr>
            <a:normAutofit fontScale="92500" lnSpcReduction="10000"/>
          </a:bodyPr>
          <a:lstStyle/>
          <a:p>
            <a:r>
              <a:rPr lang="en-AU" sz="1600" b="1" dirty="0" smtClean="0"/>
              <a:t>Independent variable:</a:t>
            </a:r>
          </a:p>
          <a:p>
            <a:pPr marL="0" indent="0">
              <a:buNone/>
            </a:pPr>
            <a:r>
              <a:rPr lang="en-AU" sz="1600" dirty="0" smtClean="0"/>
              <a:t>- Manipulated by the researcher</a:t>
            </a:r>
          </a:p>
          <a:p>
            <a:pPr marL="0" indent="0">
              <a:buNone/>
            </a:pPr>
            <a:r>
              <a:rPr lang="en-AU" sz="1600" dirty="0" smtClean="0"/>
              <a:t>- Consists of two or more treatment conditions to which participants are exposed</a:t>
            </a:r>
          </a:p>
          <a:p>
            <a:pPr marL="0" indent="0">
              <a:buNone/>
            </a:pPr>
            <a:r>
              <a:rPr lang="en-AU" sz="1600" dirty="0" smtClean="0"/>
              <a:t>- Assumed to have a direct effect on the DV</a:t>
            </a:r>
          </a:p>
          <a:p>
            <a:r>
              <a:rPr lang="en-AU" sz="1600" b="1" dirty="0" smtClean="0"/>
              <a:t>Dependent variable:</a:t>
            </a:r>
          </a:p>
          <a:p>
            <a:pPr marL="0" indent="0">
              <a:buNone/>
            </a:pPr>
            <a:r>
              <a:rPr lang="en-AU" sz="1600" dirty="0" smtClean="0"/>
              <a:t>- Measured by the researcher</a:t>
            </a:r>
          </a:p>
          <a:p>
            <a:pPr marL="0" indent="0">
              <a:buNone/>
            </a:pPr>
            <a:r>
              <a:rPr lang="en-AU" sz="1600" dirty="0" smtClean="0"/>
              <a:t>- Observed for changes in order to assess the effect of the treatment</a:t>
            </a:r>
          </a:p>
          <a:p>
            <a:pPr marL="0" indent="0">
              <a:buNone/>
            </a:pPr>
            <a:r>
              <a:rPr lang="en-AU" sz="1600" dirty="0" smtClean="0"/>
              <a:t>- Assumed to be directly affected by changes in the IV</a:t>
            </a:r>
          </a:p>
          <a:p>
            <a:r>
              <a:rPr lang="en-AU" sz="1600" b="1" dirty="0" smtClean="0"/>
              <a:t>Extraneous variable:</a:t>
            </a:r>
          </a:p>
          <a:p>
            <a:pPr marL="0" indent="0">
              <a:buNone/>
            </a:pPr>
            <a:r>
              <a:rPr lang="en-AU" sz="1600" dirty="0" smtClean="0"/>
              <a:t>- Any variable that has the potential to influence the DV in an experiment and therefore bias the results.</a:t>
            </a:r>
          </a:p>
          <a:p>
            <a:pPr marL="0" indent="0">
              <a:buNone/>
            </a:pPr>
            <a:r>
              <a:rPr lang="en-AU" sz="1600" dirty="0" smtClean="0"/>
              <a:t>- May be associated with the characteristics of the participants, the experimenter or the experimental design.</a:t>
            </a:r>
          </a:p>
          <a:p>
            <a:r>
              <a:rPr lang="en-AU" sz="1600" b="1" dirty="0" smtClean="0"/>
              <a:t>Confounding variable:</a:t>
            </a:r>
          </a:p>
          <a:p>
            <a:pPr marL="0" indent="0">
              <a:buNone/>
            </a:pPr>
            <a:r>
              <a:rPr lang="en-AU" sz="1600" dirty="0" smtClean="0"/>
              <a:t>- And variable that does have an unwanted effect on the DV in an experiment. The results are therefore biased and cannot be determined whether they are caused by the IV of the confounding variable.</a:t>
            </a:r>
          </a:p>
        </p:txBody>
      </p:sp>
    </p:spTree>
    <p:extLst>
      <p:ext uri="{BB962C8B-B14F-4D97-AF65-F5344CB8AC3E}">
        <p14:creationId xmlns:p14="http://schemas.microsoft.com/office/powerpoint/2010/main" val="376940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Experimental research: construction of research hypothesis; identification of operational independent and dependent variables; identification of extraneous and potential confounding variables including individual participant differences, order effect, experimenter effect, placebo effect</a:t>
            </a:r>
          </a:p>
        </p:txBody>
      </p:sp>
      <p:sp>
        <p:nvSpPr>
          <p:cNvPr id="3" name="Content Placeholder 2"/>
          <p:cNvSpPr>
            <a:spLocks noGrp="1"/>
          </p:cNvSpPr>
          <p:nvPr>
            <p:ph sz="quarter" idx="1"/>
          </p:nvPr>
        </p:nvSpPr>
        <p:spPr/>
        <p:txBody>
          <a:bodyPr>
            <a:normAutofit/>
          </a:bodyPr>
          <a:lstStyle/>
          <a:p>
            <a:r>
              <a:rPr lang="en-AU" sz="1600" b="1" dirty="0" smtClean="0"/>
              <a:t>Eating a low fat diet will improve physical health</a:t>
            </a:r>
          </a:p>
          <a:p>
            <a:r>
              <a:rPr lang="en-AU" sz="1600" b="1" dirty="0" smtClean="0"/>
              <a:t>IV: </a:t>
            </a:r>
            <a:r>
              <a:rPr lang="en-AU" sz="1600" dirty="0" smtClean="0"/>
              <a:t>Eating a low fat diet		</a:t>
            </a:r>
            <a:r>
              <a:rPr lang="en-AU" sz="1600" b="1" dirty="0" smtClean="0"/>
              <a:t>DV: </a:t>
            </a:r>
            <a:r>
              <a:rPr lang="en-AU" sz="1600" dirty="0" smtClean="0"/>
              <a:t>Physical health</a:t>
            </a:r>
          </a:p>
          <a:p>
            <a:endParaRPr lang="en-AU" sz="1600" dirty="0"/>
          </a:p>
          <a:p>
            <a:r>
              <a:rPr lang="en-AU" sz="1600" b="1" dirty="0" smtClean="0"/>
              <a:t>That hungry individuals are more likely to perceive food in a series of ambiguous pictures that individuals who are not hungry.</a:t>
            </a:r>
          </a:p>
          <a:p>
            <a:r>
              <a:rPr lang="en-AU" sz="1600" b="1" dirty="0" smtClean="0"/>
              <a:t>IV: </a:t>
            </a:r>
            <a:r>
              <a:rPr lang="en-AU" sz="1600" dirty="0" smtClean="0"/>
              <a:t>Hunger levels (high and low)	</a:t>
            </a:r>
            <a:r>
              <a:rPr lang="en-AU" sz="1600" b="1" dirty="0" smtClean="0"/>
              <a:t>DV:</a:t>
            </a:r>
            <a:r>
              <a:rPr lang="en-AU" sz="1600" dirty="0" smtClean="0"/>
              <a:t> No. of times food is perceived</a:t>
            </a:r>
            <a:endParaRPr lang="en-AU" sz="1600" b="1" dirty="0" smtClean="0"/>
          </a:p>
          <a:p>
            <a:endParaRPr lang="en-AU" sz="1600" dirty="0"/>
          </a:p>
          <a:p>
            <a:r>
              <a:rPr lang="en-AU" sz="1600" b="1" dirty="0" smtClean="0"/>
              <a:t>The behaviour modification techniques will be successful in extinguishing tantrum behaviour of children in the classroom</a:t>
            </a:r>
          </a:p>
          <a:p>
            <a:r>
              <a:rPr lang="en-AU" sz="1600" b="1" dirty="0" smtClean="0"/>
              <a:t>IV: </a:t>
            </a:r>
            <a:r>
              <a:rPr lang="en-AU" sz="1600" dirty="0" smtClean="0"/>
              <a:t>The use od BM techniques	</a:t>
            </a:r>
            <a:r>
              <a:rPr lang="en-AU" sz="1600" b="1" dirty="0" smtClean="0"/>
              <a:t>DV</a:t>
            </a:r>
            <a:r>
              <a:rPr lang="en-AU" sz="1600" dirty="0" smtClean="0"/>
              <a:t>: Level of extinction of tantrum </a:t>
            </a:r>
            <a:endParaRPr lang="en-AU" sz="1600" b="1" dirty="0"/>
          </a:p>
          <a:p>
            <a:endParaRPr lang="en-AU" sz="1600" dirty="0" smtClean="0"/>
          </a:p>
          <a:p>
            <a:r>
              <a:rPr lang="en-AU" sz="1600" b="1" dirty="0" smtClean="0"/>
              <a:t>That a police car flashing blue lights is more likely to be perceived at night that a police car flashing red lights.</a:t>
            </a:r>
          </a:p>
          <a:p>
            <a:r>
              <a:rPr lang="en-AU" sz="1600" b="1" dirty="0" smtClean="0"/>
              <a:t>IV:</a:t>
            </a:r>
            <a:r>
              <a:rPr lang="en-AU" sz="1600" dirty="0" smtClean="0"/>
              <a:t> Colour of police lights		</a:t>
            </a:r>
            <a:r>
              <a:rPr lang="en-AU" sz="1600" b="1" dirty="0" smtClean="0"/>
              <a:t>DV:</a:t>
            </a:r>
            <a:r>
              <a:rPr lang="en-AU" sz="1600" dirty="0" smtClean="0"/>
              <a:t> Perception at night</a:t>
            </a:r>
            <a:endParaRPr lang="en-AU" sz="1600" b="1" dirty="0" smtClean="0"/>
          </a:p>
        </p:txBody>
      </p:sp>
    </p:spTree>
    <p:extLst>
      <p:ext uri="{BB962C8B-B14F-4D97-AF65-F5344CB8AC3E}">
        <p14:creationId xmlns:p14="http://schemas.microsoft.com/office/powerpoint/2010/main" val="3415541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AU" sz="1600" dirty="0"/>
              <a:t>Experimental research: construction of research hypothesis; identification of operational independent and dependent variables; identification of extraneous and potential confounding variables including individual participant differences, order effect, experimenter effect, placebo effect</a:t>
            </a:r>
          </a:p>
        </p:txBody>
      </p:sp>
      <p:sp>
        <p:nvSpPr>
          <p:cNvPr id="3" name="Content Placeholder 2"/>
          <p:cNvSpPr>
            <a:spLocks noGrp="1"/>
          </p:cNvSpPr>
          <p:nvPr>
            <p:ph sz="quarter" idx="1"/>
          </p:nvPr>
        </p:nvSpPr>
        <p:spPr/>
        <p:txBody>
          <a:bodyPr>
            <a:normAutofit fontScale="92500"/>
          </a:bodyPr>
          <a:lstStyle/>
          <a:p>
            <a:r>
              <a:rPr lang="en-AU" sz="1600" b="1" dirty="0" smtClean="0"/>
              <a:t>Placebo effect (problem)</a:t>
            </a:r>
          </a:p>
          <a:p>
            <a:r>
              <a:rPr lang="en-AU" sz="1600" dirty="0" smtClean="0"/>
              <a:t>A positive or therapeutic result due to a participants expectations of the effect of an inactive substance or dummy treatment.</a:t>
            </a:r>
          </a:p>
          <a:p>
            <a:r>
              <a:rPr lang="en-AU" sz="1600" b="1" dirty="0" smtClean="0"/>
              <a:t>Single blind procedure (method of control for placebo effect)</a:t>
            </a:r>
          </a:p>
          <a:p>
            <a:r>
              <a:rPr lang="en-AU" sz="1600" dirty="0" smtClean="0"/>
              <a:t>Design in which the participants are unaware of their research group allocation. Used to avoid contamination of results from bias and preconceptions of the participants.</a:t>
            </a:r>
          </a:p>
          <a:p>
            <a:endParaRPr lang="en-AU" sz="1600" dirty="0" smtClean="0"/>
          </a:p>
          <a:p>
            <a:r>
              <a:rPr lang="en-AU" sz="1600" b="1" dirty="0" smtClean="0"/>
              <a:t>Experimenter effect (problem)</a:t>
            </a:r>
          </a:p>
          <a:p>
            <a:r>
              <a:rPr lang="en-AU" sz="1600" dirty="0" smtClean="0"/>
              <a:t>Where the expectations of preconceptions of the experimenter bias the results, but either consciously or unconsciously revealing the desired outcome of the experiment, or through unconscious procedural or recording bias.</a:t>
            </a:r>
          </a:p>
          <a:p>
            <a:r>
              <a:rPr lang="en-AU" sz="1600" b="1" dirty="0" smtClean="0"/>
              <a:t>Double blind procedure (method of control for experimenter effect)</a:t>
            </a:r>
          </a:p>
          <a:p>
            <a:r>
              <a:rPr lang="en-AU" sz="1600" dirty="0" smtClean="0"/>
              <a:t>Design in which neither the experimenter not the participants are aware of the allocation of participants to research groups.</a:t>
            </a:r>
          </a:p>
          <a:p>
            <a:r>
              <a:rPr lang="en-AU" sz="1600" dirty="0" smtClean="0"/>
              <a:t>Used to avoid contamination of results from biases and preconceptions </a:t>
            </a:r>
            <a:r>
              <a:rPr lang="en-AU" sz="1600" dirty="0" err="1" smtClean="0"/>
              <a:t>fo</a:t>
            </a:r>
            <a:r>
              <a:rPr lang="en-AU" sz="1600" dirty="0" smtClean="0"/>
              <a:t> the experimenter or participants.</a:t>
            </a:r>
            <a:endParaRPr lang="en-AU" sz="1600" dirty="0"/>
          </a:p>
        </p:txBody>
      </p:sp>
    </p:spTree>
    <p:extLst>
      <p:ext uri="{BB962C8B-B14F-4D97-AF65-F5344CB8AC3E}">
        <p14:creationId xmlns:p14="http://schemas.microsoft.com/office/powerpoint/2010/main" val="336599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404" y="188640"/>
            <a:ext cx="7239000" cy="720080"/>
          </a:xfrm>
        </p:spPr>
        <p:txBody>
          <a:bodyPr>
            <a:noAutofit/>
          </a:bodyPr>
          <a:lstStyle/>
          <a:p>
            <a:pPr algn="ctr"/>
            <a:r>
              <a:rPr lang="en-AU" sz="1600" dirty="0"/>
              <a:t>Experimental research: </a:t>
            </a:r>
            <a:r>
              <a:rPr lang="en-AU" sz="1600" dirty="0" smtClean="0"/>
              <a:t>evaluation of different types of experimental designs including independent-groups, matched participants, repeated measures</a:t>
            </a:r>
            <a:endParaRPr lang="en-AU" sz="1600" dirty="0"/>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1052736"/>
            <a:ext cx="5832648" cy="5801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61070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444664"/>
          </a:xfrm>
        </p:spPr>
        <p:txBody>
          <a:bodyPr>
            <a:normAutofit/>
          </a:bodyPr>
          <a:lstStyle/>
          <a:p>
            <a:pPr algn="ctr"/>
            <a:r>
              <a:rPr lang="en-AU" sz="1600" dirty="0"/>
              <a:t>Experimental research: </a:t>
            </a:r>
            <a:r>
              <a:rPr lang="en-AU" sz="1600" dirty="0" smtClean="0"/>
              <a:t>counter balancing</a:t>
            </a:r>
            <a:endParaRPr lang="en-AU" sz="1600" dirty="0"/>
          </a:p>
        </p:txBody>
      </p:sp>
      <p:sp>
        <p:nvSpPr>
          <p:cNvPr id="3" name="Content Placeholder 2"/>
          <p:cNvSpPr>
            <a:spLocks noGrp="1"/>
          </p:cNvSpPr>
          <p:nvPr>
            <p:ph sz="quarter" idx="1"/>
          </p:nvPr>
        </p:nvSpPr>
        <p:spPr>
          <a:xfrm>
            <a:off x="467544" y="1124744"/>
            <a:ext cx="7239000" cy="5186976"/>
          </a:xfrm>
        </p:spPr>
        <p:txBody>
          <a:bodyPr>
            <a:normAutofit/>
          </a:bodyPr>
          <a:lstStyle/>
          <a:p>
            <a:endParaRPr lang="en-AU" sz="1600" dirty="0" smtClean="0"/>
          </a:p>
          <a:p>
            <a:endParaRPr lang="en-AU" sz="1600" dirty="0"/>
          </a:p>
          <a:p>
            <a:r>
              <a:rPr lang="en-AU" sz="1600" dirty="0" smtClean="0"/>
              <a:t>In repeated measures designs, confounding variable can occur because all participants undergo BOTH conditions. So participants might get tired or bored, or they may improve because they have had a ‘practice’. </a:t>
            </a:r>
            <a:r>
              <a:rPr lang="en-AU" sz="1600" b="1" dirty="0" smtClean="0"/>
              <a:t>Counterbalancing </a:t>
            </a:r>
            <a:r>
              <a:rPr lang="en-AU" sz="1600" dirty="0" smtClean="0"/>
              <a:t>‘cancels out’ this effect.</a:t>
            </a:r>
          </a:p>
          <a:p>
            <a:endParaRPr lang="en-AU" sz="1600" dirty="0"/>
          </a:p>
          <a:p>
            <a:r>
              <a:rPr lang="en-AU" sz="1600" dirty="0" smtClean="0"/>
              <a:t>It involves allocating participants to groups and presenting the IV in a different order. All participants still undergo </a:t>
            </a:r>
            <a:r>
              <a:rPr lang="en-AU" sz="1600" dirty="0"/>
              <a:t>e</a:t>
            </a:r>
            <a:r>
              <a:rPr lang="en-AU" sz="1600" dirty="0" smtClean="0"/>
              <a:t>ach condition of the IV, but in a different order.</a:t>
            </a:r>
            <a:endParaRPr lang="en-AU" sz="1600" dirty="0"/>
          </a:p>
        </p:txBody>
      </p:sp>
    </p:spTree>
    <p:extLst>
      <p:ext uri="{BB962C8B-B14F-4D97-AF65-F5344CB8AC3E}">
        <p14:creationId xmlns:p14="http://schemas.microsoft.com/office/powerpoint/2010/main" val="2830275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467600" cy="1228998"/>
          </a:xfrm>
        </p:spPr>
        <p:txBody>
          <a:bodyPr>
            <a:normAutofit/>
          </a:bodyPr>
          <a:lstStyle/>
          <a:p>
            <a:r>
              <a:rPr lang="en-AU" sz="1600" dirty="0" smtClean="0"/>
              <a:t>Sampling procedures in selection and allocation of participants: random sampling, stratified sampling, random-stratified sampling; random allocation of participants into groups; control and experimental groups.</a:t>
            </a:r>
            <a:endParaRPr lang="en-AU" sz="1600" dirty="0"/>
          </a:p>
        </p:txBody>
      </p:sp>
      <p:sp>
        <p:nvSpPr>
          <p:cNvPr id="3" name="Content Placeholder 2"/>
          <p:cNvSpPr>
            <a:spLocks noGrp="1"/>
          </p:cNvSpPr>
          <p:nvPr>
            <p:ph sz="quarter" idx="1"/>
          </p:nvPr>
        </p:nvSpPr>
        <p:spPr>
          <a:xfrm>
            <a:off x="107504" y="1556792"/>
            <a:ext cx="8712968" cy="5301208"/>
          </a:xfrm>
        </p:spPr>
        <p:txBody>
          <a:bodyPr>
            <a:normAutofit/>
          </a:bodyPr>
          <a:lstStyle/>
          <a:p>
            <a:r>
              <a:rPr lang="en-AU" sz="1600" dirty="0" smtClean="0"/>
              <a:t>The process of selecting participants for a study </a:t>
            </a:r>
          </a:p>
          <a:p>
            <a:pPr marL="0" indent="0">
              <a:buNone/>
            </a:pPr>
            <a:r>
              <a:rPr lang="en-AU" sz="1600" dirty="0" smtClean="0"/>
              <a:t>from a population of interest is known as a </a:t>
            </a:r>
            <a:r>
              <a:rPr lang="en-AU" sz="1600" u="sng" dirty="0" smtClean="0"/>
              <a:t>sample.</a:t>
            </a:r>
          </a:p>
          <a:p>
            <a:pPr marL="0" indent="0">
              <a:buNone/>
            </a:pPr>
            <a:endParaRPr lang="en-AU" sz="1600" u="sng" dirty="0"/>
          </a:p>
          <a:p>
            <a:r>
              <a:rPr lang="en-AU" sz="1600" u="sng" dirty="0" smtClean="0"/>
              <a:t>Convenience Sampling</a:t>
            </a:r>
            <a:r>
              <a:rPr lang="en-AU" sz="1600" dirty="0" smtClean="0"/>
              <a:t> is the process of selecting</a:t>
            </a:r>
          </a:p>
          <a:p>
            <a:pPr marL="0" indent="0">
              <a:buNone/>
            </a:pPr>
            <a:r>
              <a:rPr lang="en-AU" sz="1600" dirty="0" smtClean="0"/>
              <a:t>participants who are easily obtainable. </a:t>
            </a:r>
          </a:p>
          <a:p>
            <a:pPr marL="0" indent="0">
              <a:buNone/>
            </a:pPr>
            <a:r>
              <a:rPr lang="en-AU" sz="1600" dirty="0" smtClean="0"/>
              <a:t>E.G: Cohuna Secondary College</a:t>
            </a:r>
          </a:p>
          <a:p>
            <a:pPr marL="0" indent="0">
              <a:buNone/>
            </a:pPr>
            <a:endParaRPr lang="en-AU" sz="1600" dirty="0"/>
          </a:p>
          <a:p>
            <a:r>
              <a:rPr lang="en-AU" sz="1600" u="sng" dirty="0" smtClean="0"/>
              <a:t>Random Sampling </a:t>
            </a:r>
            <a:r>
              <a:rPr lang="en-AU" sz="1600" dirty="0" smtClean="0"/>
              <a:t>allocates participants from the population of interest in such a way that </a:t>
            </a:r>
            <a:r>
              <a:rPr lang="en-AU" sz="1600" i="1" dirty="0" smtClean="0"/>
              <a:t>each member of the population has an equal chance of being selected.</a:t>
            </a:r>
          </a:p>
          <a:p>
            <a:endParaRPr lang="en-AU" sz="1600" i="1" dirty="0"/>
          </a:p>
          <a:p>
            <a:r>
              <a:rPr lang="en-AU" sz="1600" u="sng" dirty="0" smtClean="0"/>
              <a:t>Stratified Sampling</a:t>
            </a:r>
            <a:r>
              <a:rPr lang="en-AU" sz="1600" dirty="0" smtClean="0"/>
              <a:t> attempts to prevent biases by making the sample more representative of the population. This involves</a:t>
            </a:r>
          </a:p>
          <a:p>
            <a:pPr marL="0" indent="0">
              <a:buNone/>
            </a:pPr>
            <a:r>
              <a:rPr lang="en-AU" sz="1600" dirty="0" smtClean="0"/>
              <a:t>identifying some of the relevant factors (strata)</a:t>
            </a:r>
          </a:p>
          <a:p>
            <a:pPr marL="0" indent="0">
              <a:buNone/>
            </a:pPr>
            <a:r>
              <a:rPr lang="en-AU" sz="1600" dirty="0" smtClean="0"/>
              <a:t>present in a population such as age, sex etc. then </a:t>
            </a:r>
          </a:p>
          <a:p>
            <a:pPr marL="0" indent="0">
              <a:buNone/>
            </a:pPr>
            <a:r>
              <a:rPr lang="en-AU" sz="1600" dirty="0" smtClean="0"/>
              <a:t>Selecting a separate sample from each group.</a:t>
            </a:r>
          </a:p>
          <a:p>
            <a:endParaRPr lang="en-AU" sz="1600" u="sng" dirty="0"/>
          </a:p>
        </p:txBody>
      </p:sp>
      <p:pic>
        <p:nvPicPr>
          <p:cNvPr id="1026" name="Picture 2" descr="http://courses.tlt.psu.edu/course/bio12/module03/population%20samp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096" y="1412776"/>
            <a:ext cx="2966730" cy="20460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rchsbowman.files.wordpress.com/2009/08/081609_2352_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056" y="5157192"/>
            <a:ext cx="2880320" cy="145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8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1600" dirty="0"/>
              <a:t>Sampling procedures in selection and allocation of participants: random sampling, stratified sampling, random-stratified sampling; random allocation of participants into groups; control and experimental groups.</a:t>
            </a:r>
          </a:p>
        </p:txBody>
      </p:sp>
      <p:sp>
        <p:nvSpPr>
          <p:cNvPr id="3" name="Content Placeholder 2"/>
          <p:cNvSpPr>
            <a:spLocks noGrp="1"/>
          </p:cNvSpPr>
          <p:nvPr>
            <p:ph sz="quarter" idx="1"/>
          </p:nvPr>
        </p:nvSpPr>
        <p:spPr/>
        <p:txBody>
          <a:bodyPr>
            <a:normAutofit/>
          </a:bodyPr>
          <a:lstStyle/>
          <a:p>
            <a:r>
              <a:rPr lang="en-AU" sz="1600" b="1" dirty="0" smtClean="0"/>
              <a:t>Random allocation</a:t>
            </a:r>
            <a:r>
              <a:rPr lang="en-AU" sz="1600" dirty="0" smtClean="0"/>
              <a:t> is a means of experimental control which is used to place participants into groups. Random allocation ensures that the participants selected for the experiment are equally likely to be placed in any of the groups in the experiments.</a:t>
            </a:r>
          </a:p>
          <a:p>
            <a:endParaRPr lang="en-AU" sz="1600" dirty="0"/>
          </a:p>
          <a:p>
            <a:r>
              <a:rPr lang="en-AU" sz="1600" dirty="0" smtClean="0"/>
              <a:t>In the </a:t>
            </a:r>
            <a:r>
              <a:rPr lang="en-AU" sz="1600" b="1" dirty="0" smtClean="0"/>
              <a:t>experimental group, </a:t>
            </a:r>
            <a:r>
              <a:rPr lang="en-AU" sz="1600" dirty="0" smtClean="0"/>
              <a:t>participants are exposed to the </a:t>
            </a:r>
            <a:r>
              <a:rPr lang="en-AU" sz="1600" b="1" dirty="0" smtClean="0"/>
              <a:t>IV.</a:t>
            </a:r>
          </a:p>
          <a:p>
            <a:endParaRPr lang="en-AU" sz="1600" b="1" dirty="0"/>
          </a:p>
          <a:p>
            <a:r>
              <a:rPr lang="en-AU" sz="1600" dirty="0" smtClean="0"/>
              <a:t>In the </a:t>
            </a:r>
            <a:r>
              <a:rPr lang="en-AU" sz="1600" b="1" dirty="0" smtClean="0"/>
              <a:t>control group</a:t>
            </a:r>
            <a:r>
              <a:rPr lang="en-AU" sz="1600" dirty="0" smtClean="0"/>
              <a:t>, participants are NOT exposed to the IV, and this group is used as a standard of comparison against the experimental group. This allows to researcher to determine whether is was the IV that has affected the DV.</a:t>
            </a:r>
            <a:endParaRPr lang="en-AU" sz="1600" dirty="0"/>
          </a:p>
        </p:txBody>
      </p:sp>
    </p:spTree>
    <p:extLst>
      <p:ext uri="{BB962C8B-B14F-4D97-AF65-F5344CB8AC3E}">
        <p14:creationId xmlns:p14="http://schemas.microsoft.com/office/powerpoint/2010/main" val="38277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50106"/>
          </a:xfrm>
        </p:spPr>
        <p:txBody>
          <a:bodyPr>
            <a:normAutofit/>
          </a:bodyPr>
          <a:lstStyle/>
          <a:p>
            <a:r>
              <a:rPr lang="en-AU" sz="1600" dirty="0" smtClean="0"/>
              <a:t>Techniques of qualitative and quantitative data collection: case studies; observational studies; self-reports; questionnaires; interviews; brain imaging and recording technologies.</a:t>
            </a:r>
            <a:endParaRPr lang="en-AU" sz="1600" dirty="0"/>
          </a:p>
        </p:txBody>
      </p:sp>
      <p:sp>
        <p:nvSpPr>
          <p:cNvPr id="3" name="Content Placeholder 2"/>
          <p:cNvSpPr>
            <a:spLocks noGrp="1"/>
          </p:cNvSpPr>
          <p:nvPr>
            <p:ph sz="quarter" idx="1"/>
          </p:nvPr>
        </p:nvSpPr>
        <p:spPr>
          <a:xfrm>
            <a:off x="179512" y="1628800"/>
            <a:ext cx="8568952" cy="5229200"/>
          </a:xfrm>
        </p:spPr>
        <p:txBody>
          <a:bodyPr>
            <a:normAutofit/>
          </a:bodyPr>
          <a:lstStyle/>
          <a:p>
            <a:r>
              <a:rPr lang="en-AU" sz="1600" b="1" dirty="0" smtClean="0"/>
              <a:t>Quantitative Data</a:t>
            </a:r>
            <a:r>
              <a:rPr lang="en-AU" sz="1600" dirty="0" smtClean="0"/>
              <a:t> is numerical data, usually collected through experimental research.</a:t>
            </a:r>
          </a:p>
          <a:p>
            <a:endParaRPr lang="en-AU" sz="1600" dirty="0" smtClean="0"/>
          </a:p>
          <a:p>
            <a:endParaRPr lang="en-AU" sz="1600" dirty="0" smtClean="0"/>
          </a:p>
          <a:p>
            <a:r>
              <a:rPr lang="en-AU" sz="1600" b="1" dirty="0" smtClean="0"/>
              <a:t>Qualitative Data </a:t>
            </a:r>
            <a:r>
              <a:rPr lang="en-AU" sz="1600" dirty="0" smtClean="0"/>
              <a:t>is descriptive data (words), usually collected through non-experimental methods such as case studies, observational studies, self-reports, questionnaires and interviews.</a:t>
            </a:r>
          </a:p>
          <a:p>
            <a:endParaRPr lang="en-AU" sz="1600" b="1" dirty="0" smtClean="0"/>
          </a:p>
          <a:p>
            <a:endParaRPr lang="en-AU" sz="1600" b="1" dirty="0"/>
          </a:p>
          <a:p>
            <a:r>
              <a:rPr lang="en-AU" sz="1600" b="1" dirty="0" smtClean="0"/>
              <a:t>Subjective data</a:t>
            </a:r>
            <a:r>
              <a:rPr lang="en-AU" sz="1600" dirty="0" smtClean="0"/>
              <a:t> is obtained by self-report measures in which subjects give verbal or written responses to a series of research questions </a:t>
            </a:r>
            <a:r>
              <a:rPr lang="en-AU" sz="1600" dirty="0" err="1" smtClean="0"/>
              <a:t>e.g</a:t>
            </a:r>
            <a:r>
              <a:rPr lang="en-AU" sz="1600" dirty="0" smtClean="0"/>
              <a:t> a survey on dreams.</a:t>
            </a:r>
          </a:p>
          <a:p>
            <a:endParaRPr lang="en-AU" sz="1600" b="1" dirty="0" smtClean="0"/>
          </a:p>
          <a:p>
            <a:endParaRPr lang="en-AU" sz="1600" b="1" dirty="0"/>
          </a:p>
          <a:p>
            <a:r>
              <a:rPr lang="en-AU" sz="1600" b="1" dirty="0" smtClean="0"/>
              <a:t>Objective data</a:t>
            </a:r>
            <a:r>
              <a:rPr lang="en-AU" sz="1600" dirty="0" smtClean="0"/>
              <a:t> is data that has been gathered using systematic observation which is not influenced by any personal bias </a:t>
            </a:r>
            <a:r>
              <a:rPr lang="en-AU" sz="1600" dirty="0" err="1" smtClean="0"/>
              <a:t>e.g</a:t>
            </a:r>
            <a:r>
              <a:rPr lang="en-AU" sz="1600" dirty="0" smtClean="0"/>
              <a:t> brain images or a test score.</a:t>
            </a:r>
            <a:endParaRPr lang="en-AU" sz="1600" b="1" dirty="0"/>
          </a:p>
        </p:txBody>
      </p:sp>
    </p:spTree>
    <p:extLst>
      <p:ext uri="{BB962C8B-B14F-4D97-AF65-F5344CB8AC3E}">
        <p14:creationId xmlns:p14="http://schemas.microsoft.com/office/powerpoint/2010/main" val="4039255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467600" cy="1228998"/>
          </a:xfrm>
        </p:spPr>
        <p:txBody>
          <a:bodyPr>
            <a:noAutofit/>
          </a:bodyPr>
          <a:lstStyle/>
          <a:p>
            <a:r>
              <a:rPr lang="en-AU" sz="1600" dirty="0" smtClean="0"/>
              <a:t>Statistics: measures of central tendency including mean, median and mode; interpretation of p-values and conclusions; reliability including internal consistency; validity including construct and external; evaluation of research in terms of generalising the findings to the population.</a:t>
            </a:r>
            <a:endParaRPr lang="en-AU" sz="1600" dirty="0"/>
          </a:p>
        </p:txBody>
      </p:sp>
      <p:sp>
        <p:nvSpPr>
          <p:cNvPr id="3" name="Content Placeholder 2"/>
          <p:cNvSpPr>
            <a:spLocks noGrp="1"/>
          </p:cNvSpPr>
          <p:nvPr>
            <p:ph sz="quarter" idx="1"/>
          </p:nvPr>
        </p:nvSpPr>
        <p:spPr/>
        <p:txBody>
          <a:bodyPr>
            <a:normAutofit/>
          </a:bodyPr>
          <a:lstStyle/>
          <a:p>
            <a:r>
              <a:rPr lang="en-AU" sz="1600" b="1" dirty="0" smtClean="0"/>
              <a:t>Measures of Central Tendency: Mean, Median &amp; Mode.</a:t>
            </a:r>
          </a:p>
          <a:p>
            <a:pPr marL="0" indent="0">
              <a:buNone/>
            </a:pPr>
            <a:r>
              <a:rPr lang="en-AU" sz="1600" dirty="0" smtClean="0"/>
              <a:t>Measures of central tendency are statistics that indicate information about the middle scores of a data set.</a:t>
            </a:r>
          </a:p>
          <a:p>
            <a:pPr marL="0" indent="0">
              <a:buNone/>
            </a:pPr>
            <a:endParaRPr lang="en-AU" sz="1600" dirty="0"/>
          </a:p>
          <a:p>
            <a:r>
              <a:rPr lang="en-AU" sz="1600" dirty="0" smtClean="0"/>
              <a:t>The </a:t>
            </a:r>
            <a:r>
              <a:rPr lang="en-AU" sz="1600" b="1" dirty="0" smtClean="0"/>
              <a:t>mean</a:t>
            </a:r>
            <a:r>
              <a:rPr lang="en-AU" sz="1600" dirty="0" smtClean="0"/>
              <a:t> is the average score. It is the most ‘sensitive’ measure of central tendency but it can become easily distorted by extreme or ‘freak’ values.</a:t>
            </a:r>
          </a:p>
          <a:p>
            <a:r>
              <a:rPr lang="en-AU" sz="1600" dirty="0" smtClean="0"/>
              <a:t>The </a:t>
            </a:r>
            <a:r>
              <a:rPr lang="en-AU" sz="1600" b="1" dirty="0" smtClean="0"/>
              <a:t>median</a:t>
            </a:r>
            <a:r>
              <a:rPr lang="en-AU" sz="1600" dirty="0" smtClean="0"/>
              <a:t> is the middle point in a set of data.</a:t>
            </a:r>
          </a:p>
          <a:p>
            <a:r>
              <a:rPr lang="en-AU" sz="1600" dirty="0" smtClean="0"/>
              <a:t>The </a:t>
            </a:r>
            <a:r>
              <a:rPr lang="en-AU" sz="1600" b="1" dirty="0" smtClean="0"/>
              <a:t>mode</a:t>
            </a:r>
            <a:r>
              <a:rPr lang="en-AU" sz="1600" dirty="0" smtClean="0"/>
              <a:t> is the most frequently occurring score in a set of data. Some distributions may have more that one mode.</a:t>
            </a:r>
          </a:p>
          <a:p>
            <a:endParaRPr lang="en-AU" sz="1600" dirty="0"/>
          </a:p>
          <a:p>
            <a:r>
              <a:rPr lang="en-AU" sz="1600" b="1" dirty="0" smtClean="0"/>
              <a:t>Measures of dispersion </a:t>
            </a:r>
            <a:r>
              <a:rPr lang="en-AU" sz="1600" dirty="0" smtClean="0"/>
              <a:t>include the</a:t>
            </a:r>
            <a:r>
              <a:rPr lang="en-AU" sz="1600" b="1" dirty="0" smtClean="0"/>
              <a:t> range </a:t>
            </a:r>
            <a:r>
              <a:rPr lang="en-AU" sz="1600" dirty="0" smtClean="0"/>
              <a:t>and </a:t>
            </a:r>
            <a:r>
              <a:rPr lang="en-AU" sz="1600" b="1" dirty="0" smtClean="0"/>
              <a:t>standard deviation.</a:t>
            </a:r>
          </a:p>
          <a:p>
            <a:endParaRPr lang="en-AU" sz="1600" b="1" dirty="0"/>
          </a:p>
        </p:txBody>
      </p:sp>
    </p:spTree>
    <p:extLst>
      <p:ext uri="{BB962C8B-B14F-4D97-AF65-F5344CB8AC3E}">
        <p14:creationId xmlns:p14="http://schemas.microsoft.com/office/powerpoint/2010/main" val="672627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Statistics: measures of central tendency including mean, median and mode; interpretation of p-values and conclusions; reliability including </a:t>
            </a:r>
            <a:r>
              <a:rPr lang="en-AU" sz="1600" dirty="0" smtClean="0"/>
              <a:t>internal </a:t>
            </a:r>
            <a:r>
              <a:rPr lang="en-AU" sz="1600" dirty="0"/>
              <a:t>consistency; validity including construct and external; evaluation of research in terms of generalising the findings to the population.</a:t>
            </a:r>
          </a:p>
        </p:txBody>
      </p:sp>
      <p:sp>
        <p:nvSpPr>
          <p:cNvPr id="3" name="Content Placeholder 2"/>
          <p:cNvSpPr>
            <a:spLocks noGrp="1"/>
          </p:cNvSpPr>
          <p:nvPr>
            <p:ph sz="quarter" idx="1"/>
          </p:nvPr>
        </p:nvSpPr>
        <p:spPr>
          <a:xfrm>
            <a:off x="107504" y="1484784"/>
            <a:ext cx="8640960" cy="5373216"/>
          </a:xfrm>
        </p:spPr>
        <p:txBody>
          <a:bodyPr>
            <a:normAutofit/>
          </a:bodyPr>
          <a:lstStyle/>
          <a:p>
            <a:r>
              <a:rPr lang="en-AU" sz="1600" b="1" dirty="0"/>
              <a:t>Inferential statistics</a:t>
            </a:r>
            <a:r>
              <a:rPr lang="en-AU" sz="1600" dirty="0"/>
              <a:t> are formal data analysis that measure the </a:t>
            </a:r>
            <a:r>
              <a:rPr lang="en-AU" sz="1600" dirty="0" smtClean="0"/>
              <a:t>likehood </a:t>
            </a:r>
            <a:r>
              <a:rPr lang="en-AU" sz="1600" dirty="0"/>
              <a:t>of results obtained for a study occurring by chance</a:t>
            </a:r>
            <a:r>
              <a:rPr lang="en-AU" sz="1600" dirty="0" smtClean="0"/>
              <a:t>.</a:t>
            </a:r>
          </a:p>
          <a:p>
            <a:endParaRPr lang="en-AU" sz="1600" b="1" dirty="0"/>
          </a:p>
          <a:p>
            <a:r>
              <a:rPr lang="en-AU" sz="1600" dirty="0" smtClean="0"/>
              <a:t>Measures of </a:t>
            </a:r>
            <a:r>
              <a:rPr lang="en-AU" sz="1600" b="1" dirty="0" smtClean="0"/>
              <a:t>statistical significance</a:t>
            </a:r>
            <a:r>
              <a:rPr lang="en-AU" sz="1600" dirty="0" smtClean="0"/>
              <a:t> indicate whether the results obtained in an experiment do not occur by chance and therefore may be attributed to other variables</a:t>
            </a:r>
          </a:p>
          <a:p>
            <a:endParaRPr lang="en-AU" sz="1600" dirty="0"/>
          </a:p>
          <a:p>
            <a:pPr algn="ctr"/>
            <a:r>
              <a:rPr lang="en-AU" sz="1600" b="1" u="sng" dirty="0" smtClean="0"/>
              <a:t>If the results are significant then they are supporting the hypothesis</a:t>
            </a:r>
          </a:p>
          <a:p>
            <a:pPr algn="ctr"/>
            <a:endParaRPr lang="en-AU" sz="1600" b="1" dirty="0"/>
          </a:p>
          <a:p>
            <a:r>
              <a:rPr lang="en-AU" sz="1600" dirty="0" smtClean="0"/>
              <a:t>A </a:t>
            </a:r>
            <a:r>
              <a:rPr lang="en-AU" sz="1600" b="1" dirty="0" smtClean="0"/>
              <a:t>p value </a:t>
            </a:r>
            <a:r>
              <a:rPr lang="en-AU" sz="1600" dirty="0" smtClean="0"/>
              <a:t>represents the probability level which forms the basis for deciding whether chance factors are responsible for the results obtained.</a:t>
            </a:r>
          </a:p>
          <a:p>
            <a:endParaRPr lang="en-AU" sz="1600" dirty="0"/>
          </a:p>
          <a:p>
            <a:r>
              <a:rPr lang="en-AU" sz="1600" dirty="0" smtClean="0"/>
              <a:t>A significant result is one where there is a low probability that chance factors were responsible for any observed difference.</a:t>
            </a:r>
          </a:p>
          <a:p>
            <a:endParaRPr lang="en-AU" sz="1600" dirty="0"/>
          </a:p>
          <a:p>
            <a:r>
              <a:rPr lang="en-AU" sz="1600" dirty="0" smtClean="0"/>
              <a:t>A 0.05 significance level occurs when the probability of chance is five or fewer times in a 100 repetitions of the research.</a:t>
            </a:r>
            <a:endParaRPr lang="en-AU" sz="1600" dirty="0"/>
          </a:p>
        </p:txBody>
      </p:sp>
    </p:spTree>
    <p:extLst>
      <p:ext uri="{BB962C8B-B14F-4D97-AF65-F5344CB8AC3E}">
        <p14:creationId xmlns:p14="http://schemas.microsoft.com/office/powerpoint/2010/main" val="3950895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Statistics: measures of central tendency including mean, median and mode; interpretation of p-values and conclusions; reliability including internal consistency; validity including construct and external; </a:t>
            </a:r>
            <a:r>
              <a:rPr lang="en-AU" sz="1600" dirty="0" smtClean="0"/>
              <a:t>evaluation </a:t>
            </a:r>
            <a:r>
              <a:rPr lang="en-AU" sz="1600" dirty="0"/>
              <a:t>of research in terms of generalising the findings to the population.</a:t>
            </a:r>
          </a:p>
        </p:txBody>
      </p:sp>
      <p:sp>
        <p:nvSpPr>
          <p:cNvPr id="3" name="Content Placeholder 2"/>
          <p:cNvSpPr>
            <a:spLocks noGrp="1"/>
          </p:cNvSpPr>
          <p:nvPr>
            <p:ph sz="quarter" idx="1"/>
          </p:nvPr>
        </p:nvSpPr>
        <p:spPr>
          <a:xfrm>
            <a:off x="107504" y="1484784"/>
            <a:ext cx="8712968" cy="5373216"/>
          </a:xfrm>
        </p:spPr>
        <p:txBody>
          <a:bodyPr>
            <a:normAutofit/>
          </a:bodyPr>
          <a:lstStyle/>
          <a:p>
            <a:endParaRPr lang="en-AU" sz="1600" b="1" dirty="0" smtClean="0"/>
          </a:p>
          <a:p>
            <a:r>
              <a:rPr lang="en-AU" sz="1600" b="1" dirty="0" smtClean="0"/>
              <a:t>P = &lt; 0.05 means </a:t>
            </a:r>
          </a:p>
          <a:p>
            <a:pPr marL="0" indent="0">
              <a:buNone/>
            </a:pPr>
            <a:r>
              <a:rPr lang="en-AU" sz="1600" dirty="0" smtClean="0"/>
              <a:t>‘The probability that this difference would occur by chance alone is less than 5%’</a:t>
            </a:r>
          </a:p>
          <a:p>
            <a:pPr marL="0" indent="0">
              <a:buNone/>
            </a:pPr>
            <a:endParaRPr lang="en-AU" sz="1600" dirty="0"/>
          </a:p>
          <a:p>
            <a:r>
              <a:rPr lang="en-AU" sz="1600" dirty="0" smtClean="0"/>
              <a:t>So if </a:t>
            </a:r>
            <a:r>
              <a:rPr lang="en-AU" sz="1600" u="sng" dirty="0" smtClean="0"/>
              <a:t>p is set at &lt;0.05 </a:t>
            </a:r>
            <a:r>
              <a:rPr lang="en-AU" sz="1600" dirty="0" smtClean="0"/>
              <a:t>and the experiment finds </a:t>
            </a:r>
            <a:r>
              <a:rPr lang="en-AU" sz="1600" u="sng" dirty="0" smtClean="0"/>
              <a:t>a p value of p=0.02 </a:t>
            </a:r>
            <a:r>
              <a:rPr lang="en-AU" sz="1600" dirty="0" smtClean="0"/>
              <a:t>then the difference is statistically significant and the hypothesis</a:t>
            </a:r>
            <a:r>
              <a:rPr lang="en-AU" sz="1600" b="1" dirty="0" smtClean="0"/>
              <a:t> is </a:t>
            </a:r>
            <a:r>
              <a:rPr lang="en-AU" sz="1600" dirty="0" smtClean="0"/>
              <a:t>supported.</a:t>
            </a:r>
          </a:p>
          <a:p>
            <a:endParaRPr lang="en-AU" sz="1600" dirty="0" smtClean="0"/>
          </a:p>
          <a:p>
            <a:r>
              <a:rPr lang="en-AU" sz="1600" dirty="0" smtClean="0"/>
              <a:t>This means that the probability was less </a:t>
            </a:r>
            <a:r>
              <a:rPr lang="en-AU" sz="1600" dirty="0" err="1" smtClean="0"/>
              <a:t>ot</a:t>
            </a:r>
            <a:r>
              <a:rPr lang="en-AU" sz="1600" dirty="0" smtClean="0"/>
              <a:t> equal to 5 in 100 that the results were due to chance.</a:t>
            </a:r>
          </a:p>
          <a:p>
            <a:endParaRPr lang="en-AU" sz="1600" dirty="0" smtClean="0"/>
          </a:p>
          <a:p>
            <a:r>
              <a:rPr lang="en-AU" sz="1600" dirty="0" smtClean="0"/>
              <a:t>If the experiment finds a p value of p=0.06 then the difference is not statistically significant and there would be a null hypothesis. </a:t>
            </a:r>
          </a:p>
          <a:p>
            <a:endParaRPr lang="en-AU" sz="1600" dirty="0" smtClean="0"/>
          </a:p>
        </p:txBody>
      </p:sp>
    </p:spTree>
    <p:extLst>
      <p:ext uri="{BB962C8B-B14F-4D97-AF65-F5344CB8AC3E}">
        <p14:creationId xmlns:p14="http://schemas.microsoft.com/office/powerpoint/2010/main" val="1650465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Statistics: measures of central tendency including mean, median and mode; interpretation of p-values and conclusions; reliability including internal consistency; validity including construct and external; evaluation of research in terms of generalising the findings to the population.</a:t>
            </a:r>
          </a:p>
        </p:txBody>
      </p:sp>
      <p:sp>
        <p:nvSpPr>
          <p:cNvPr id="3" name="Content Placeholder 2"/>
          <p:cNvSpPr>
            <a:spLocks noGrp="1"/>
          </p:cNvSpPr>
          <p:nvPr>
            <p:ph sz="quarter" idx="1"/>
          </p:nvPr>
        </p:nvSpPr>
        <p:spPr/>
        <p:txBody>
          <a:bodyPr>
            <a:normAutofit/>
          </a:bodyPr>
          <a:lstStyle/>
          <a:p>
            <a:r>
              <a:rPr lang="en-AU" sz="1600" b="1" dirty="0" smtClean="0"/>
              <a:t>P</a:t>
            </a:r>
            <a:r>
              <a:rPr lang="en-AU" sz="1600" b="1" dirty="0"/>
              <a:t>&lt; 0.05  </a:t>
            </a:r>
            <a:r>
              <a:rPr lang="en-AU" sz="1600" b="1" dirty="0" smtClean="0"/>
              <a:t>p= </a:t>
            </a:r>
            <a:r>
              <a:rPr lang="en-AU" sz="1600" b="1" dirty="0"/>
              <a:t>0.03	</a:t>
            </a:r>
            <a:endParaRPr lang="en-AU" sz="1600" b="1" dirty="0" smtClean="0"/>
          </a:p>
          <a:p>
            <a:r>
              <a:rPr lang="en-AU" sz="1600" dirty="0" smtClean="0"/>
              <a:t>Hypothesis is supported</a:t>
            </a:r>
          </a:p>
          <a:p>
            <a:endParaRPr lang="en-AU" sz="1600" dirty="0"/>
          </a:p>
          <a:p>
            <a:r>
              <a:rPr lang="en-AU" sz="1600" b="1" dirty="0" smtClean="0"/>
              <a:t>P&lt;0.05 p= 0.05</a:t>
            </a:r>
          </a:p>
          <a:p>
            <a:r>
              <a:rPr lang="en-AU" sz="1600" dirty="0" smtClean="0"/>
              <a:t>Hypothesis is supported</a:t>
            </a:r>
          </a:p>
          <a:p>
            <a:endParaRPr lang="en-AU" sz="1600" dirty="0"/>
          </a:p>
          <a:p>
            <a:r>
              <a:rPr lang="en-AU" sz="1600" b="1" dirty="0" smtClean="0"/>
              <a:t>P&lt;0.03 p = 1.3</a:t>
            </a:r>
          </a:p>
          <a:p>
            <a:r>
              <a:rPr lang="en-AU" sz="1600" dirty="0" smtClean="0"/>
              <a:t>Null hypothesis</a:t>
            </a:r>
          </a:p>
          <a:p>
            <a:endParaRPr lang="en-AU" sz="1600" dirty="0"/>
          </a:p>
          <a:p>
            <a:r>
              <a:rPr lang="en-AU" sz="1600" b="1" dirty="0" smtClean="0"/>
              <a:t>P&lt; 0.04 p = .01</a:t>
            </a:r>
          </a:p>
          <a:p>
            <a:r>
              <a:rPr lang="en-AU" sz="1600" dirty="0" smtClean="0"/>
              <a:t>Hypothesis supported</a:t>
            </a:r>
            <a:endParaRPr lang="en-AU" sz="1600" dirty="0"/>
          </a:p>
          <a:p>
            <a:pPr marL="0" indent="0">
              <a:buNone/>
            </a:pPr>
            <a:endParaRPr lang="en-AU" sz="1600" dirty="0" smtClean="0"/>
          </a:p>
          <a:p>
            <a:r>
              <a:rPr lang="en-AU" sz="1600" b="1" dirty="0" smtClean="0"/>
              <a:t>P &gt; 0.05 p = .06</a:t>
            </a:r>
          </a:p>
          <a:p>
            <a:r>
              <a:rPr lang="en-AU" sz="1600" dirty="0" smtClean="0"/>
              <a:t>Hypothesis supported</a:t>
            </a:r>
            <a:endParaRPr lang="en-AU" sz="1600" dirty="0"/>
          </a:p>
        </p:txBody>
      </p:sp>
    </p:spTree>
    <p:extLst>
      <p:ext uri="{BB962C8B-B14F-4D97-AF65-F5344CB8AC3E}">
        <p14:creationId xmlns:p14="http://schemas.microsoft.com/office/powerpoint/2010/main" val="1635991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Statistics: measures of central tendency including mean, median and mode; interpretation of p-values and conclusions; reliability including internal consistency; validity including construct and external; evaluation of research in terms of generalising the findings to the population.</a:t>
            </a:r>
          </a:p>
        </p:txBody>
      </p:sp>
      <p:sp>
        <p:nvSpPr>
          <p:cNvPr id="3" name="Content Placeholder 2"/>
          <p:cNvSpPr>
            <a:spLocks noGrp="1"/>
          </p:cNvSpPr>
          <p:nvPr>
            <p:ph sz="quarter" idx="1"/>
          </p:nvPr>
        </p:nvSpPr>
        <p:spPr/>
        <p:txBody>
          <a:bodyPr>
            <a:normAutofit/>
          </a:bodyPr>
          <a:lstStyle/>
          <a:p>
            <a:r>
              <a:rPr lang="en-AU" sz="1600" dirty="0" smtClean="0"/>
              <a:t>A </a:t>
            </a:r>
            <a:r>
              <a:rPr lang="en-AU" sz="1600" b="1" dirty="0" smtClean="0"/>
              <a:t>conclusion</a:t>
            </a:r>
            <a:r>
              <a:rPr lang="en-AU" sz="1600" dirty="0" smtClean="0"/>
              <a:t> is drawn based on the results obtained, it draws an inference as to whether the </a:t>
            </a:r>
            <a:r>
              <a:rPr lang="en-AU" sz="1600" i="1" dirty="0" smtClean="0"/>
              <a:t>hypothesis has ben supported or rejected</a:t>
            </a:r>
            <a:r>
              <a:rPr lang="en-AU" sz="1600" dirty="0" smtClean="0"/>
              <a:t>. The researchers has to ensure </a:t>
            </a:r>
            <a:r>
              <a:rPr lang="en-AU" sz="1600" i="1" dirty="0" smtClean="0"/>
              <a:t>that any change in the DV was </a:t>
            </a:r>
            <a:r>
              <a:rPr lang="en-AU" sz="1600" b="1" i="1" dirty="0" smtClean="0"/>
              <a:t>solely</a:t>
            </a:r>
            <a:r>
              <a:rPr lang="en-AU" sz="1600" i="1" dirty="0" smtClean="0"/>
              <a:t> </a:t>
            </a:r>
            <a:r>
              <a:rPr lang="en-AU" sz="1600" dirty="0" smtClean="0"/>
              <a:t>due to the impact of the IV, rather than any confounding or extraneous variables.</a:t>
            </a:r>
          </a:p>
          <a:p>
            <a:r>
              <a:rPr lang="en-AU" sz="1600" b="1" dirty="0" smtClean="0"/>
              <a:t>A conclusion applies only to the sample used in research</a:t>
            </a:r>
            <a:r>
              <a:rPr lang="en-AU" sz="1600" dirty="0" smtClean="0"/>
              <a:t>. A researcher can generalise their results beyond their findings.</a:t>
            </a:r>
          </a:p>
          <a:p>
            <a:endParaRPr lang="en-AU" sz="1600" dirty="0"/>
          </a:p>
          <a:p>
            <a:r>
              <a:rPr lang="en-AU" sz="1600" dirty="0" smtClean="0"/>
              <a:t>A </a:t>
            </a:r>
            <a:r>
              <a:rPr lang="en-AU" sz="1600" b="1" dirty="0" smtClean="0"/>
              <a:t>generalisation </a:t>
            </a:r>
            <a:r>
              <a:rPr lang="en-AU" sz="1600" dirty="0" smtClean="0"/>
              <a:t>is an application of the conclusion based on the results obtained to a wider population in other similar settings outside the study. </a:t>
            </a:r>
            <a:endParaRPr lang="en-AU" sz="1600" dirty="0"/>
          </a:p>
          <a:p>
            <a:endParaRPr lang="en-AU" sz="1600" dirty="0" smtClean="0"/>
          </a:p>
          <a:p>
            <a:r>
              <a:rPr lang="en-AU" sz="1600" dirty="0" smtClean="0"/>
              <a:t>When generalising:</a:t>
            </a:r>
          </a:p>
          <a:p>
            <a:r>
              <a:rPr lang="en-AU" sz="1600" dirty="0"/>
              <a:t>A</a:t>
            </a:r>
            <a:r>
              <a:rPr lang="en-AU" sz="1600" dirty="0" smtClean="0"/>
              <a:t>ny uncontrolled variables need to be accounted for. Look at the research design etc.</a:t>
            </a:r>
          </a:p>
          <a:p>
            <a:r>
              <a:rPr lang="en-AU" sz="1600" dirty="0"/>
              <a:t> T</a:t>
            </a:r>
            <a:r>
              <a:rPr lang="en-AU" sz="1600" dirty="0" smtClean="0"/>
              <a:t>he p value </a:t>
            </a:r>
            <a:r>
              <a:rPr lang="en-AU" sz="1600" b="1" dirty="0" smtClean="0"/>
              <a:t>has to be </a:t>
            </a:r>
            <a:r>
              <a:rPr lang="en-AU" sz="1600" dirty="0" smtClean="0"/>
              <a:t>statistically significant</a:t>
            </a:r>
          </a:p>
          <a:p>
            <a:r>
              <a:rPr lang="en-AU" sz="1600" dirty="0" smtClean="0"/>
              <a:t>Reflect on the population &amp; sample size</a:t>
            </a:r>
            <a:endParaRPr lang="en-AU" sz="1600" dirty="0"/>
          </a:p>
        </p:txBody>
      </p:sp>
    </p:spTree>
    <p:extLst>
      <p:ext uri="{BB962C8B-B14F-4D97-AF65-F5344CB8AC3E}">
        <p14:creationId xmlns:p14="http://schemas.microsoft.com/office/powerpoint/2010/main" val="332748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Statistics: measures of central tendency including mean, median and mode; interpretation of p-values and conclusions; reliability including internal consistency; validity including construct and external; evaluation of research in terms of generalising the findings to the population.</a:t>
            </a:r>
          </a:p>
        </p:txBody>
      </p:sp>
      <p:sp>
        <p:nvSpPr>
          <p:cNvPr id="3" name="Content Placeholder 2"/>
          <p:cNvSpPr>
            <a:spLocks noGrp="1"/>
          </p:cNvSpPr>
          <p:nvPr>
            <p:ph sz="quarter" idx="1"/>
          </p:nvPr>
        </p:nvSpPr>
        <p:spPr>
          <a:xfrm>
            <a:off x="107504" y="1600200"/>
            <a:ext cx="7817296" cy="5257800"/>
          </a:xfrm>
        </p:spPr>
        <p:txBody>
          <a:bodyPr>
            <a:normAutofit/>
          </a:bodyPr>
          <a:lstStyle/>
          <a:p>
            <a:r>
              <a:rPr lang="en-AU" sz="1600" b="1" dirty="0" smtClean="0"/>
              <a:t>Validity is the extent to which an instrument (or experiment) measures what it supposed to measure.</a:t>
            </a:r>
          </a:p>
          <a:p>
            <a:endParaRPr lang="en-AU" sz="1600" dirty="0"/>
          </a:p>
          <a:p>
            <a:r>
              <a:rPr lang="en-AU" sz="1600" b="1" dirty="0" smtClean="0"/>
              <a:t>Internal validity: </a:t>
            </a:r>
            <a:r>
              <a:rPr lang="en-AU" sz="1600" dirty="0" smtClean="0"/>
              <a:t>whether the results gained from a measure are truly due to the variable that it is thought to be measuring</a:t>
            </a:r>
          </a:p>
          <a:p>
            <a:r>
              <a:rPr lang="en-AU" sz="1600" b="1" dirty="0" smtClean="0"/>
              <a:t>Construct validity: </a:t>
            </a:r>
            <a:r>
              <a:rPr lang="en-AU" sz="1600" dirty="0" smtClean="0"/>
              <a:t>involves deciding whether the instrument can be used to support the theory that is being tested. E.g. does a memory test measure all of the abilities associated with memory (sensory, STM &amp; LTM).</a:t>
            </a:r>
          </a:p>
          <a:p>
            <a:r>
              <a:rPr lang="en-AU" sz="1600" b="1" dirty="0" smtClean="0"/>
              <a:t>External validity: </a:t>
            </a:r>
            <a:r>
              <a:rPr lang="en-AU" sz="1600" dirty="0" smtClean="0"/>
              <a:t>examines whether the results gained from the sample used in the research can confidently be generalised to the population.</a:t>
            </a:r>
          </a:p>
          <a:p>
            <a:endParaRPr lang="en-AU" sz="1600" dirty="0" smtClean="0"/>
          </a:p>
          <a:p>
            <a:r>
              <a:rPr lang="en-AU" sz="1600" dirty="0" smtClean="0"/>
              <a:t>In general laboratory experiments are higher in internal validity and studies in the field are higher in external validity. Why do you think this is so?</a:t>
            </a:r>
          </a:p>
          <a:p>
            <a:endParaRPr lang="en-AU" sz="1600" dirty="0"/>
          </a:p>
          <a:p>
            <a:r>
              <a:rPr lang="en-AU" sz="1600" b="1" dirty="0"/>
              <a:t>Reliability refers to how consistent a measuring instrument is.</a:t>
            </a:r>
          </a:p>
          <a:p>
            <a:endParaRPr lang="en-AU" sz="1600" b="1" dirty="0"/>
          </a:p>
          <a:p>
            <a:r>
              <a:rPr lang="en-AU" sz="1600" b="1" dirty="0"/>
              <a:t>Internal reliability</a:t>
            </a:r>
            <a:r>
              <a:rPr lang="en-AU" sz="1600" dirty="0"/>
              <a:t> refers to the extent to which all the items in a research instrument contribute equally to the final score. </a:t>
            </a:r>
            <a:endParaRPr lang="en-AU" sz="1600" b="1" dirty="0"/>
          </a:p>
          <a:p>
            <a:endParaRPr lang="en-AU" sz="1600" dirty="0"/>
          </a:p>
        </p:txBody>
      </p:sp>
    </p:spTree>
    <p:extLst>
      <p:ext uri="{BB962C8B-B14F-4D97-AF65-F5344CB8AC3E}">
        <p14:creationId xmlns:p14="http://schemas.microsoft.com/office/powerpoint/2010/main" val="192859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467600" cy="1301006"/>
          </a:xfrm>
        </p:spPr>
        <p:txBody>
          <a:bodyPr>
            <a:noAutofit/>
          </a:bodyPr>
          <a:lstStyle/>
          <a:p>
            <a:r>
              <a:rPr lang="en-AU" sz="1600" dirty="0" smtClean="0"/>
              <a:t>Ethical principles and professional conduct: the role of the experimenter; protection and security of participants tights; confidentiality; voluntary participation; withdrawal rights, informed consent procedures; use of deception in research; debriefing; use of animals in research; role of ethics committees.</a:t>
            </a:r>
            <a:endParaRPr lang="en-AU" sz="1600" dirty="0"/>
          </a:p>
        </p:txBody>
      </p:sp>
      <p:sp>
        <p:nvSpPr>
          <p:cNvPr id="3" name="Content Placeholder 2"/>
          <p:cNvSpPr>
            <a:spLocks noGrp="1"/>
          </p:cNvSpPr>
          <p:nvPr>
            <p:ph sz="quarter" idx="1"/>
          </p:nvPr>
        </p:nvSpPr>
        <p:spPr>
          <a:xfrm>
            <a:off x="107504" y="1484784"/>
            <a:ext cx="8712968" cy="5373216"/>
          </a:xfrm>
        </p:spPr>
        <p:txBody>
          <a:bodyPr>
            <a:normAutofit/>
          </a:bodyPr>
          <a:lstStyle/>
          <a:p>
            <a:r>
              <a:rPr lang="en-AU" sz="1600" b="1" dirty="0" smtClean="0"/>
              <a:t>Research with animals:</a:t>
            </a:r>
            <a:r>
              <a:rPr lang="en-AU" sz="1600" dirty="0" smtClean="0"/>
              <a:t>  Today animal research is allowed, however, there are very strict guidelines. Animals must be protected, pain must be minimised and they must be well cared for.</a:t>
            </a:r>
          </a:p>
          <a:p>
            <a:endParaRPr lang="en-AU" sz="1600" dirty="0" smtClean="0"/>
          </a:p>
          <a:p>
            <a:r>
              <a:rPr lang="en-AU" sz="1600" b="1" dirty="0" smtClean="0"/>
              <a:t>Advantages of animal research:</a:t>
            </a:r>
            <a:r>
              <a:rPr lang="en-AU" sz="1600" dirty="0" smtClean="0"/>
              <a:t> </a:t>
            </a:r>
          </a:p>
          <a:p>
            <a:r>
              <a:rPr lang="en-AU" sz="1600" dirty="0" smtClean="0"/>
              <a:t>No participants effects on the IV as animals are not aware to the purpose of an experiment</a:t>
            </a:r>
          </a:p>
          <a:p>
            <a:r>
              <a:rPr lang="en-AU" sz="1600" dirty="0" smtClean="0"/>
              <a:t>Animals and humans are very similar in behaviour, so some results can be generalised</a:t>
            </a:r>
          </a:p>
          <a:p>
            <a:r>
              <a:rPr lang="en-AU" sz="1600" dirty="0" smtClean="0"/>
              <a:t>Animals can be used when it is unethical to do so on humans, as scientists primarily have an obligation to humans</a:t>
            </a:r>
          </a:p>
          <a:p>
            <a:endParaRPr lang="en-AU" sz="1600" dirty="0" smtClean="0"/>
          </a:p>
          <a:p>
            <a:r>
              <a:rPr lang="en-AU" sz="1600" b="1" dirty="0" smtClean="0"/>
              <a:t>Limitations of animal research:</a:t>
            </a:r>
          </a:p>
          <a:p>
            <a:r>
              <a:rPr lang="en-AU" sz="1600" dirty="0" smtClean="0"/>
              <a:t>Animals suffer and feel stress, pain and anxiety.</a:t>
            </a:r>
          </a:p>
          <a:p>
            <a:r>
              <a:rPr lang="en-AU" sz="1600" dirty="0" smtClean="0"/>
              <a:t>Inflicting suffering upon any creature is unethical</a:t>
            </a:r>
          </a:p>
          <a:p>
            <a:r>
              <a:rPr lang="en-AU" sz="1600" dirty="0" smtClean="0"/>
              <a:t>Humans are qualitatively different to humans.</a:t>
            </a:r>
            <a:endParaRPr lang="en-AU" sz="1600" dirty="0"/>
          </a:p>
        </p:txBody>
      </p:sp>
    </p:spTree>
    <p:extLst>
      <p:ext uri="{BB962C8B-B14F-4D97-AF65-F5344CB8AC3E}">
        <p14:creationId xmlns:p14="http://schemas.microsoft.com/office/powerpoint/2010/main" val="5371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Ethical principles and professional conduct: the role of the experimenter; protection and security of participants </a:t>
            </a:r>
            <a:r>
              <a:rPr lang="en-AU" sz="1600" dirty="0" smtClean="0"/>
              <a:t>rights</a:t>
            </a:r>
            <a:r>
              <a:rPr lang="en-AU" sz="1600" dirty="0"/>
              <a:t>; confidentiality; voluntary participation; withdrawal rights, informed consent procedures; use of deception in research; debriefing; use of animals in research; role of ethics committees.</a:t>
            </a:r>
          </a:p>
        </p:txBody>
      </p:sp>
      <p:sp>
        <p:nvSpPr>
          <p:cNvPr id="3" name="Content Placeholder 2"/>
          <p:cNvSpPr>
            <a:spLocks noGrp="1"/>
          </p:cNvSpPr>
          <p:nvPr>
            <p:ph sz="quarter" idx="1"/>
          </p:nvPr>
        </p:nvSpPr>
        <p:spPr>
          <a:xfrm>
            <a:off x="107504" y="1600200"/>
            <a:ext cx="8640960" cy="5257800"/>
          </a:xfrm>
        </p:spPr>
        <p:txBody>
          <a:bodyPr>
            <a:normAutofit/>
          </a:bodyPr>
          <a:lstStyle/>
          <a:p>
            <a:r>
              <a:rPr lang="en-AU" sz="1600" dirty="0" smtClean="0"/>
              <a:t>The </a:t>
            </a:r>
            <a:r>
              <a:rPr lang="en-AU" sz="1600" b="1" dirty="0" smtClean="0"/>
              <a:t>role of an ethics committee </a:t>
            </a:r>
            <a:r>
              <a:rPr lang="en-AU" sz="1600" dirty="0" smtClean="0"/>
              <a:t>is to ensure the well-being of participants. Before beginning a study, researchers must submit detailed plans of their proposal to the Human Research Ethics Committee (HREC) of their university or research institution for approval.</a:t>
            </a:r>
          </a:p>
          <a:p>
            <a:endParaRPr lang="en-AU" sz="1600" dirty="0"/>
          </a:p>
          <a:p>
            <a:r>
              <a:rPr lang="en-AU" sz="1600" b="1" dirty="0" smtClean="0"/>
              <a:t>The role of the experimenter: </a:t>
            </a:r>
            <a:r>
              <a:rPr lang="en-AU" sz="1600" dirty="0" smtClean="0"/>
              <a:t>The researcher must always act in a professional manner, making sure that the best interests of the participants, and of society in general are met. These include:</a:t>
            </a:r>
          </a:p>
          <a:p>
            <a:r>
              <a:rPr lang="en-AU" sz="1600" b="1" dirty="0" smtClean="0"/>
              <a:t>Participants rights (respect for participants)</a:t>
            </a:r>
          </a:p>
          <a:p>
            <a:pPr>
              <a:buFontTx/>
              <a:buChar char="-"/>
            </a:pPr>
            <a:r>
              <a:rPr lang="en-AU" sz="1600" b="1" dirty="0" smtClean="0"/>
              <a:t>Confidentiality (privacy). </a:t>
            </a:r>
            <a:r>
              <a:rPr lang="en-AU" sz="1600" dirty="0" smtClean="0"/>
              <a:t>This means that participants must not be identified in any way in terms of test results. Data needs to be securely stored. </a:t>
            </a:r>
            <a:endParaRPr lang="en-AU" sz="1600" dirty="0"/>
          </a:p>
          <a:p>
            <a:pPr>
              <a:buFontTx/>
              <a:buChar char="-"/>
            </a:pPr>
            <a:r>
              <a:rPr lang="en-AU" sz="1600" b="1" dirty="0" smtClean="0"/>
              <a:t>Voluntary participation. </a:t>
            </a:r>
            <a:r>
              <a:rPr lang="en-AU" sz="1600" dirty="0" smtClean="0"/>
              <a:t>Participants have the right to refuse to take part in any study. </a:t>
            </a:r>
            <a:r>
              <a:rPr lang="en-AU" sz="1600" i="1" dirty="0" smtClean="0"/>
              <a:t>There must not be any pressure to take part in the study</a:t>
            </a:r>
            <a:r>
              <a:rPr lang="en-AU" sz="1600" dirty="0" smtClean="0"/>
              <a:t>.</a:t>
            </a:r>
          </a:p>
          <a:p>
            <a:pPr>
              <a:buFontTx/>
              <a:buChar char="-"/>
            </a:pPr>
            <a:r>
              <a:rPr lang="en-AU" sz="1600" b="1" dirty="0" smtClean="0"/>
              <a:t>Withdrawal right</a:t>
            </a:r>
            <a:r>
              <a:rPr lang="en-AU" sz="1600" dirty="0" smtClean="0"/>
              <a:t>. Participants have the right to leave a study at any stage, regardless of the possible effects on the results.</a:t>
            </a:r>
          </a:p>
          <a:p>
            <a:pPr>
              <a:buFontTx/>
              <a:buChar char="-"/>
            </a:pPr>
            <a:r>
              <a:rPr lang="en-AU" sz="1600" dirty="0" smtClean="0"/>
              <a:t>Informed consent: Participants must be given information about a study before they agree to take part in it. For participants under the age of 18, parental consent must also be given</a:t>
            </a:r>
            <a:endParaRPr lang="en-AU" sz="1600" dirty="0"/>
          </a:p>
        </p:txBody>
      </p:sp>
    </p:spTree>
    <p:extLst>
      <p:ext uri="{BB962C8B-B14F-4D97-AF65-F5344CB8AC3E}">
        <p14:creationId xmlns:p14="http://schemas.microsoft.com/office/powerpoint/2010/main" val="333915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1600" dirty="0"/>
              <a:t>Ethical principles and professional conduct: the role of the experimenter; protection and security of participants rights; confidentiality; voluntary participation; withdrawal rights, informed consent procedures; use of deception in research; debriefing; use of animals in research; role of ethics committees.</a:t>
            </a:r>
          </a:p>
        </p:txBody>
      </p:sp>
      <p:sp>
        <p:nvSpPr>
          <p:cNvPr id="3" name="Content Placeholder 2"/>
          <p:cNvSpPr>
            <a:spLocks noGrp="1"/>
          </p:cNvSpPr>
          <p:nvPr>
            <p:ph sz="quarter" idx="1"/>
          </p:nvPr>
        </p:nvSpPr>
        <p:spPr>
          <a:xfrm>
            <a:off x="179512" y="1484784"/>
            <a:ext cx="8568952" cy="5373216"/>
          </a:xfrm>
        </p:spPr>
        <p:txBody>
          <a:bodyPr>
            <a:normAutofit/>
          </a:bodyPr>
          <a:lstStyle/>
          <a:p>
            <a:endParaRPr lang="en-AU" sz="1600" b="1" dirty="0" smtClean="0"/>
          </a:p>
          <a:p>
            <a:endParaRPr lang="en-AU" sz="1600" b="1" dirty="0"/>
          </a:p>
          <a:p>
            <a:r>
              <a:rPr lang="en-AU" sz="1600" b="1" dirty="0" smtClean="0"/>
              <a:t>Deception. </a:t>
            </a:r>
            <a:r>
              <a:rPr lang="en-AU" sz="1600" dirty="0" smtClean="0"/>
              <a:t>This is only permitted if the results would be confounded if the participants had too much information before taking part in the study The researcher must ensure that participants do not unexpectedly suffer distress, and the study must be stopped immediately if this occurs. </a:t>
            </a:r>
            <a:r>
              <a:rPr lang="en-AU" sz="1600" i="1" dirty="0" smtClean="0"/>
              <a:t>Participants must be fully debriefed when the study is complete.</a:t>
            </a:r>
          </a:p>
          <a:p>
            <a:endParaRPr lang="en-AU" sz="1600" i="1" dirty="0"/>
          </a:p>
          <a:p>
            <a:r>
              <a:rPr lang="en-AU" sz="1600" b="1" dirty="0" smtClean="0"/>
              <a:t>Debriefing </a:t>
            </a:r>
            <a:r>
              <a:rPr lang="en-AU" sz="1600" dirty="0" smtClean="0"/>
              <a:t>occurs after the completion of the study and participants are told the results and the conclusions of the study. Any erroneous beliefs about the study are corrected, especially if there was any deception involved. Participants are informed of the availability of and how to obtain counselling if they feel they need it.</a:t>
            </a:r>
            <a:endParaRPr lang="en-AU" sz="1600" b="1" dirty="0"/>
          </a:p>
        </p:txBody>
      </p:sp>
    </p:spTree>
    <p:extLst>
      <p:ext uri="{BB962C8B-B14F-4D97-AF65-F5344CB8AC3E}">
        <p14:creationId xmlns:p14="http://schemas.microsoft.com/office/powerpoint/2010/main" val="400687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066130"/>
          </a:xfrm>
        </p:spPr>
        <p:txBody>
          <a:bodyPr>
            <a:noAutofit/>
          </a:bodyPr>
          <a:lstStyle/>
          <a:p>
            <a:pPr algn="ctr"/>
            <a:r>
              <a:rPr lang="en-AU" sz="7200" dirty="0" smtClean="0"/>
              <a:t>Exam Tips</a:t>
            </a:r>
            <a:endParaRPr lang="en-AU" sz="7200" dirty="0"/>
          </a:p>
        </p:txBody>
      </p:sp>
      <p:sp>
        <p:nvSpPr>
          <p:cNvPr id="3" name="Content Placeholder 2"/>
          <p:cNvSpPr>
            <a:spLocks noGrp="1"/>
          </p:cNvSpPr>
          <p:nvPr>
            <p:ph sz="quarter" idx="1"/>
          </p:nvPr>
        </p:nvSpPr>
        <p:spPr>
          <a:xfrm>
            <a:off x="107504" y="1412776"/>
            <a:ext cx="8640960" cy="5445224"/>
          </a:xfrm>
        </p:spPr>
        <p:txBody>
          <a:bodyPr>
            <a:normAutofit/>
          </a:bodyPr>
          <a:lstStyle/>
          <a:p>
            <a:r>
              <a:rPr lang="en-AU" sz="1600" b="1" dirty="0" smtClean="0"/>
              <a:t>Read the question/research carefully and highlight/underline key information as you read such as:</a:t>
            </a:r>
          </a:p>
          <a:p>
            <a:pPr>
              <a:buFontTx/>
              <a:buChar char="-"/>
            </a:pPr>
            <a:r>
              <a:rPr lang="en-AU" sz="1600" dirty="0" smtClean="0"/>
              <a:t>Population</a:t>
            </a:r>
          </a:p>
          <a:p>
            <a:pPr>
              <a:buFontTx/>
              <a:buChar char="-"/>
            </a:pPr>
            <a:r>
              <a:rPr lang="en-AU" sz="1600" dirty="0" smtClean="0"/>
              <a:t>Sample</a:t>
            </a:r>
          </a:p>
          <a:p>
            <a:pPr>
              <a:buFontTx/>
              <a:buChar char="-"/>
            </a:pPr>
            <a:r>
              <a:rPr lang="en-AU" sz="1600" dirty="0" smtClean="0"/>
              <a:t>IV &amp; DV</a:t>
            </a:r>
          </a:p>
          <a:p>
            <a:pPr>
              <a:buFontTx/>
              <a:buChar char="-"/>
            </a:pPr>
            <a:r>
              <a:rPr lang="en-AU" sz="1600" dirty="0" smtClean="0"/>
              <a:t>Any extraneous and/or confounding variables</a:t>
            </a:r>
          </a:p>
          <a:p>
            <a:pPr>
              <a:buFontTx/>
              <a:buChar char="-"/>
            </a:pPr>
            <a:r>
              <a:rPr lang="en-AU" sz="1600" dirty="0" smtClean="0"/>
              <a:t>The results/findings of the research</a:t>
            </a:r>
          </a:p>
          <a:p>
            <a:pPr>
              <a:buFontTx/>
              <a:buChar char="-"/>
            </a:pPr>
            <a:r>
              <a:rPr lang="en-AU" sz="1600" dirty="0" smtClean="0"/>
              <a:t>Key statistics such as p values</a:t>
            </a:r>
          </a:p>
          <a:p>
            <a:pPr>
              <a:buFontTx/>
              <a:buChar char="-"/>
            </a:pPr>
            <a:endParaRPr lang="en-AU" sz="1600" dirty="0"/>
          </a:p>
          <a:p>
            <a:pPr>
              <a:buFontTx/>
              <a:buChar char="-"/>
            </a:pPr>
            <a:r>
              <a:rPr lang="en-AU" sz="1600" b="1" dirty="0" smtClean="0"/>
              <a:t>I guarantee that you WILL have to</a:t>
            </a:r>
          </a:p>
          <a:p>
            <a:pPr>
              <a:buFontTx/>
              <a:buChar char="-"/>
            </a:pPr>
            <a:r>
              <a:rPr lang="en-AU" sz="1600" dirty="0" smtClean="0"/>
              <a:t>Write an operational hypothesis</a:t>
            </a:r>
          </a:p>
          <a:p>
            <a:pPr>
              <a:buFontTx/>
              <a:buChar char="-"/>
            </a:pPr>
            <a:r>
              <a:rPr lang="en-AU" sz="1600" dirty="0" smtClean="0"/>
              <a:t>Outline the limitations of the study (conclusions &amp; generalisations)</a:t>
            </a:r>
          </a:p>
          <a:p>
            <a:pPr>
              <a:buFontTx/>
              <a:buChar char="-"/>
            </a:pPr>
            <a:r>
              <a:rPr lang="en-AU" sz="1600" dirty="0" smtClean="0"/>
              <a:t>Reflect on a p value</a:t>
            </a:r>
          </a:p>
          <a:p>
            <a:pPr>
              <a:buFontTx/>
              <a:buChar char="-"/>
            </a:pPr>
            <a:r>
              <a:rPr lang="en-AU" sz="1600" dirty="0" smtClean="0"/>
              <a:t>Discuss the results (in relation to the hypothesis). Why it was/was not supported</a:t>
            </a:r>
          </a:p>
          <a:p>
            <a:pPr>
              <a:buFontTx/>
              <a:buChar char="-"/>
            </a:pPr>
            <a:endParaRPr lang="en-AU" sz="1600" dirty="0"/>
          </a:p>
          <a:p>
            <a:pPr algn="ctr">
              <a:buFontTx/>
              <a:buChar char="-"/>
            </a:pPr>
            <a:r>
              <a:rPr lang="en-AU" sz="1600" b="1" dirty="0" smtClean="0"/>
              <a:t>THE FOLLOWING SLIDES CONTAIN THE MARKING CRITERIA FOR A RESEARCH METHODS EXTENDED RESPONSE QUESTION.</a:t>
            </a:r>
            <a:endParaRPr lang="en-AU" sz="1600" b="1" dirty="0"/>
          </a:p>
        </p:txBody>
      </p:sp>
    </p:spTree>
    <p:extLst>
      <p:ext uri="{BB962C8B-B14F-4D97-AF65-F5344CB8AC3E}">
        <p14:creationId xmlns:p14="http://schemas.microsoft.com/office/powerpoint/2010/main" val="3696816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29" y="-28576"/>
            <a:ext cx="9115271" cy="6886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83309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76672"/>
            <a:ext cx="8873692"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56358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3999"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00583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43999"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523843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329</TotalTime>
  <Words>2633</Words>
  <Application>Microsoft Office PowerPoint</Application>
  <PresentationFormat>On-screen Show (4:3)</PresentationFormat>
  <Paragraphs>203</Paragraphs>
  <Slides>24</Slides>
  <Notes>5</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Oriel</vt:lpstr>
      <vt:lpstr>Research Methods in Psychology</vt:lpstr>
      <vt:lpstr>Experimental research: construction of research hypothesis; identification of operational independent and dependent variables; </vt:lpstr>
      <vt:lpstr>Experimental research: construction of research hypothesis; identification of operational independent and dependent variables; identification of extraneous and potential confounding variables including individual participant differences, order effect, experimenter effect, placebo effect</vt:lpstr>
      <vt:lpstr>Experimental research: construction of research hypothesis; identification of operational independent and dependent variables; identification of extraneous and potential confounding variables including individual participant differences, order effect, experimenter effect, placebo effect</vt:lpstr>
      <vt:lpstr>Experimental research: construction of research hypothesis; identification of operational independent and dependent variables; identification of extraneous and potential confounding variables including individual participant differences, order effect, experimenter effect, placebo effect</vt:lpstr>
      <vt:lpstr>Experimental research: evaluation of different types of experimental designs including independent-groups, matched participants, repeated measures</vt:lpstr>
      <vt:lpstr>Experimental research: counter balancing</vt:lpstr>
      <vt:lpstr>Sampling procedures in selection and allocation of participants: random sampling, stratified sampling, random-stratified sampling; random allocation of participants into groups; control and experimental groups.</vt:lpstr>
      <vt:lpstr>Sampling procedures in selection and allocation of participants: random sampling, stratified sampling, random-stratified sampling; random allocation of participants into groups; control and experimental groups.</vt:lpstr>
      <vt:lpstr>Techniques of qualitative and quantitative data collection: case studies; observational studies; self-reports; questionnaires; interviews; brain imaging and recording technologies.</vt:lpstr>
      <vt:lpstr>Statistics: measures of central tendency including mean, median and mode; interpretation of p-values and conclusions; reliability including internal consistency; validity including construct and external; evaluation of research in terms of generalising the findings to the population.</vt:lpstr>
      <vt:lpstr>Statistics: measures of central tendency including mean, median and mode; interpretation of p-values and conclusions; reliability including internal consistency; validity including construct and external; evaluation of research in terms of generalising the findings to the population.</vt:lpstr>
      <vt:lpstr>Statistics: measures of central tendency including mean, median and mode; interpretation of p-values and conclusions; reliability including internal consistency; validity including construct and external; evaluation of research in terms of generalising the findings to the population.</vt:lpstr>
      <vt:lpstr>Statistics: measures of central tendency including mean, median and mode; interpretation of p-values and conclusions; reliability including internal consistency; validity including construct and external; evaluation of research in terms of generalising the findings to the population.</vt:lpstr>
      <vt:lpstr>Statistics: measures of central tendency including mean, median and mode; interpretation of p-values and conclusions; reliability including internal consistency; validity including construct and external; evaluation of research in terms of generalising the findings to the population.</vt:lpstr>
      <vt:lpstr>Statistics: measures of central tendency including mean, median and mode; interpretation of p-values and conclusions; reliability including internal consistency; validity including construct and external; evaluation of research in terms of generalising the findings to the population.</vt:lpstr>
      <vt:lpstr>Ethical principles and professional conduct: the role of the experimenter; protection and security of participants tights; confidentiality; voluntary participation; withdrawal rights, informed consent procedures; use of deception in research; debriefing; use of animals in research; role of ethics committees.</vt:lpstr>
      <vt:lpstr>Ethical principles and professional conduct: the role of the experimenter; protection and security of participants rights; confidentiality; voluntary participation; withdrawal rights, informed consent procedures; use of deception in research; debriefing; use of animals in research; role of ethics committees.</vt:lpstr>
      <vt:lpstr>Ethical principles and professional conduct: the role of the experimenter; protection and security of participants rights; confidentiality; voluntary participation; withdrawal rights, informed consent procedures; use of deception in research; debriefing; use of animals in research; role of ethics committees.</vt:lpstr>
      <vt:lpstr>Exam Tips</vt:lpstr>
      <vt:lpstr>PowerPoint Presentation</vt:lpstr>
      <vt:lpstr>PowerPoint Presentation</vt:lpstr>
      <vt:lpstr>PowerPoint Presentation</vt:lpstr>
      <vt:lpstr>PowerPoint Presentation</vt:lpstr>
    </vt:vector>
  </TitlesOfParts>
  <Company>DEECD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Alexis Cowan</dc:creator>
  <cp:lastModifiedBy>Rory McKenzie</cp:lastModifiedBy>
  <cp:revision>17</cp:revision>
  <cp:lastPrinted>2012-05-21T04:20:59Z</cp:lastPrinted>
  <dcterms:created xsi:type="dcterms:W3CDTF">2012-04-16T22:29:26Z</dcterms:created>
  <dcterms:modified xsi:type="dcterms:W3CDTF">2017-02-04T12:18:37Z</dcterms:modified>
</cp:coreProperties>
</file>
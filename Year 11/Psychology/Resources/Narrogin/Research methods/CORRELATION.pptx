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68" r:id="rId2"/>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p:scale>
          <a:sx n="57" d="100"/>
          <a:sy n="57" d="100"/>
        </p:scale>
        <p:origin x="1170" y="783"/>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166364"/>
            <a:ext cx="11471565" cy="1739347"/>
          </a:xfrm>
        </p:spPr>
        <p:txBody>
          <a:bodyPr tIns="45720" bIns="45720" anchor="ctr">
            <a:normAutofit/>
          </a:bodyPr>
          <a:lstStyle>
            <a:lvl1pPr algn="ctr">
              <a:lnSpc>
                <a:spcPct val="80000"/>
              </a:lnSpc>
              <a:defRPr sz="6000" spc="150" baseline="0"/>
            </a:lvl1pPr>
          </a:lstStyle>
          <a:p>
            <a:r>
              <a:rPr lang="en-US" smtClean="0"/>
              <a:t>Click to edit Master title style</a:t>
            </a:r>
            <a:endParaRPr lang="en-US" dirty="0"/>
          </a:p>
        </p:txBody>
      </p:sp>
      <p:sp>
        <p:nvSpPr>
          <p:cNvPr id="3" name="Subtitle 2"/>
          <p:cNvSpPr>
            <a:spLocks noGrp="1"/>
          </p:cNvSpPr>
          <p:nvPr>
            <p:ph type="subTitle" idx="1"/>
          </p:nvPr>
        </p:nvSpPr>
        <p:spPr>
          <a:xfrm>
            <a:off x="1524000" y="3996250"/>
            <a:ext cx="9144000" cy="1309255"/>
          </a:xfrm>
        </p:spPr>
        <p:txBody>
          <a:bodyPr>
            <a:normAutofit/>
          </a:bodyPr>
          <a:lstStyle>
            <a:lvl1pPr marL="0" indent="0" algn="ctr">
              <a:buNone/>
              <a:defRPr sz="2000"/>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C7A1F89-2168-46C0-93F5-5DC2F0BEA07B}" type="datetimeFigureOut">
              <a:rPr lang="en-AU" smtClean="0"/>
              <a:t>11/03/2018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3624894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C7A1F89-2168-46C0-93F5-5DC2F0BEA07B}" type="datetimeFigureOut">
              <a:rPr lang="en-AU" smtClean="0"/>
              <a:t>11/03/2018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3058796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6843" y="2059012"/>
            <a:ext cx="12195668"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208879"/>
            <a:ext cx="10515600" cy="1676400"/>
          </a:xfrm>
        </p:spPr>
        <p:txBody>
          <a:bodyPr anchor="ctr">
            <a:noAutofit/>
          </a:bodyPr>
          <a:lstStyle>
            <a:lvl1pPr algn="ctr">
              <a:lnSpc>
                <a:spcPct val="80000"/>
              </a:lnSpc>
              <a:defRPr sz="6000" b="0" spc="150" baseline="0">
                <a:solidFill>
                  <a:schemeClr val="bg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33191" y="4010334"/>
            <a:ext cx="10515600" cy="1174639"/>
          </a:xfrm>
        </p:spPr>
        <p:txBody>
          <a:bodyPr anchor="t">
            <a:normAutofit/>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BC7A1F89-2168-46C0-93F5-5DC2F0BEA07B}" type="datetimeFigureOut">
              <a:rPr lang="en-AU" smtClean="0"/>
              <a:t>11/03/2018</a:t>
            </a:fld>
            <a:endParaRPr lang="en-AU"/>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F058BE0-1153-44BC-A60C-52A654A27922}" type="slidenum">
              <a:rPr lang="en-AU" smtClean="0"/>
              <a:t>‹#›</a:t>
            </a:fld>
            <a:endParaRPr lang="en-AU"/>
          </a:p>
        </p:txBody>
      </p:sp>
    </p:spTree>
    <p:extLst>
      <p:ext uri="{BB962C8B-B14F-4D97-AF65-F5344CB8AC3E}">
        <p14:creationId xmlns:p14="http://schemas.microsoft.com/office/powerpoint/2010/main" val="347296355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05344"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30391" y="2011680"/>
            <a:ext cx="4754880" cy="420624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C7A1F89-2168-46C0-93F5-5DC2F0BEA07B}" type="datetimeFigureOut">
              <a:rPr lang="en-AU" smtClean="0"/>
              <a:t>11/03/2018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59201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07008"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07008" y="2656566"/>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31230" y="1913470"/>
            <a:ext cx="4754880" cy="743094"/>
          </a:xfrm>
        </p:spPr>
        <p:txBody>
          <a:bodyPr anchor="ctr">
            <a:normAutofit/>
          </a:bodyPr>
          <a:lstStyle>
            <a:lvl1pPr marL="0" indent="0">
              <a:buNone/>
              <a:defRPr sz="21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31230" y="2656564"/>
            <a:ext cx="4754880" cy="35661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C7A1F89-2168-46C0-93F5-5DC2F0BEA07B}" type="datetimeFigureOut">
              <a:rPr lang="en-AU" smtClean="0"/>
              <a:t>11/03/2018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4201832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7A1F89-2168-46C0-93F5-5DC2F0BEA07B}" type="datetimeFigureOut">
              <a:rPr lang="en-AU" smtClean="0"/>
              <a:t>11/03/2018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1547939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7A1F89-2168-46C0-93F5-5DC2F0BEA07B}" type="datetimeFigureOut">
              <a:rPr lang="en-AU" smtClean="0"/>
              <a:t>11/03/2018</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3998957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207008" y="2120054"/>
            <a:ext cx="6126480" cy="4114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789023" y="2147486"/>
            <a:ext cx="3200400" cy="3432319"/>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C7A1F89-2168-46C0-93F5-5DC2F0BEA07B}" type="datetimeFigureOut">
              <a:rPr lang="en-AU" smtClean="0"/>
              <a:t>11/03/2018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366909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80160" y="2211494"/>
            <a:ext cx="6126480" cy="3931920"/>
          </a:xfrm>
          <a:solidFill>
            <a:schemeClr val="tx2">
              <a:lumMod val="60000"/>
              <a:lumOff val="40000"/>
            </a:schemeClr>
          </a:solidFill>
        </p:spPr>
        <p:txBody>
          <a:bodyPr tIns="365760" anchor="t"/>
          <a:lstStyle>
            <a:lvl1pPr marL="0" indent="0" algn="ctr">
              <a:buNone/>
              <a:defRPr sz="3200">
                <a:solidFill>
                  <a:schemeClr val="tx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790688" y="2150621"/>
            <a:ext cx="3200400" cy="3429000"/>
          </a:xfrm>
        </p:spPr>
        <p:txBody>
          <a:bodyPr>
            <a:normAutofit/>
          </a:bodyPr>
          <a:lstStyle>
            <a:lvl1pPr marL="0" indent="0">
              <a:lnSpc>
                <a:spcPct val="95000"/>
              </a:lnSpc>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C7A1F89-2168-46C0-93F5-5DC2F0BEA07B}" type="datetimeFigureOut">
              <a:rPr lang="en-AU" smtClean="0"/>
              <a:t>11/03/2018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2998604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C7A1F89-2168-46C0-93F5-5DC2F0BEA07B}" type="datetimeFigureOut">
              <a:rPr lang="en-AU" smtClean="0"/>
              <a:t>11/03/2018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2312744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4" y="274638"/>
            <a:ext cx="240238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199" y="274638"/>
            <a:ext cx="7973291"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38200" y="6422854"/>
            <a:ext cx="2743196" cy="365125"/>
          </a:xfrm>
        </p:spPr>
        <p:txBody>
          <a:bodyPr/>
          <a:lstStyle/>
          <a:p>
            <a:fld id="{BC7A1F89-2168-46C0-93F5-5DC2F0BEA07B}" type="datetimeFigureOut">
              <a:rPr lang="en-AU" smtClean="0"/>
              <a:t>11/03/2018</a:t>
            </a:fld>
            <a:endParaRPr lang="en-AU"/>
          </a:p>
        </p:txBody>
      </p:sp>
      <p:sp>
        <p:nvSpPr>
          <p:cNvPr id="5" name="Footer Placeholder 4"/>
          <p:cNvSpPr>
            <a:spLocks noGrp="1"/>
          </p:cNvSpPr>
          <p:nvPr>
            <p:ph type="ftr" sz="quarter" idx="11"/>
          </p:nvPr>
        </p:nvSpPr>
        <p:spPr>
          <a:xfrm>
            <a:off x="3776135" y="6422854"/>
            <a:ext cx="4279669" cy="365125"/>
          </a:xfrm>
        </p:spPr>
        <p:txBody>
          <a:bodyPr/>
          <a:lstStyle/>
          <a:p>
            <a:endParaRPr lang="en-AU"/>
          </a:p>
        </p:txBody>
      </p:sp>
      <p:sp>
        <p:nvSpPr>
          <p:cNvPr id="6" name="Slide Number Placeholder 5"/>
          <p:cNvSpPr>
            <a:spLocks noGrp="1"/>
          </p:cNvSpPr>
          <p:nvPr>
            <p:ph type="sldNum" sz="quarter" idx="12"/>
          </p:nvPr>
        </p:nvSpPr>
        <p:spPr>
          <a:xfrm>
            <a:off x="8073048" y="6422854"/>
            <a:ext cx="879759" cy="365125"/>
          </a:xfrm>
        </p:spPr>
        <p:txBody>
          <a:bodyPr/>
          <a:lstStyle/>
          <a:p>
            <a:fld id="{CF058BE0-1153-44BC-A60C-52A654A27922}" type="slidenum">
              <a:rPr lang="en-AU" smtClean="0"/>
              <a:t>‹#›</a:t>
            </a:fld>
            <a:endParaRPr lang="en-AU"/>
          </a:p>
        </p:txBody>
      </p:sp>
    </p:spTree>
    <p:extLst>
      <p:ext uri="{BB962C8B-B14F-4D97-AF65-F5344CB8AC3E}">
        <p14:creationId xmlns:p14="http://schemas.microsoft.com/office/powerpoint/2010/main" val="810548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483" y="176109"/>
            <a:ext cx="12188952" cy="16459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02919" y="284176"/>
            <a:ext cx="9784080" cy="15087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02919" y="2011680"/>
            <a:ext cx="9784080" cy="420624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02266" y="6422854"/>
            <a:ext cx="3000894" cy="365125"/>
          </a:xfrm>
          <a:prstGeom prst="rect">
            <a:avLst/>
          </a:prstGeom>
        </p:spPr>
        <p:txBody>
          <a:bodyPr vert="horz" lIns="91440" tIns="45720" rIns="45720" bIns="45720" rtlCol="0" anchor="ctr"/>
          <a:lstStyle>
            <a:lvl1pPr algn="l">
              <a:defRPr sz="1050">
                <a:solidFill>
                  <a:schemeClr val="tx1"/>
                </a:solidFill>
              </a:defRPr>
            </a:lvl1pPr>
          </a:lstStyle>
          <a:p>
            <a:fld id="{BC7A1F89-2168-46C0-93F5-5DC2F0BEA07B}" type="datetimeFigureOut">
              <a:rPr lang="en-AU" smtClean="0"/>
              <a:t>11/03/2018</a:t>
            </a:fld>
            <a:endParaRPr lang="en-AU"/>
          </a:p>
        </p:txBody>
      </p:sp>
      <p:sp>
        <p:nvSpPr>
          <p:cNvPr id="5" name="Footer Placeholder 4"/>
          <p:cNvSpPr>
            <a:spLocks noGrp="1"/>
          </p:cNvSpPr>
          <p:nvPr>
            <p:ph type="ftr" sz="quarter" idx="3"/>
          </p:nvPr>
        </p:nvSpPr>
        <p:spPr>
          <a:xfrm>
            <a:off x="5596471" y="6422854"/>
            <a:ext cx="5044440" cy="365125"/>
          </a:xfrm>
          <a:prstGeom prst="rect">
            <a:avLst/>
          </a:prstGeom>
        </p:spPr>
        <p:txBody>
          <a:bodyPr vert="horz" lIns="91440" tIns="45720" rIns="91440" bIns="45720" rtlCol="0" anchor="ctr"/>
          <a:lstStyle>
            <a:lvl1pPr algn="r">
              <a:defRPr sz="1050">
                <a:solidFill>
                  <a:schemeClr val="tx1"/>
                </a:solidFill>
              </a:defRPr>
            </a:lvl1pPr>
          </a:lstStyle>
          <a:p>
            <a:endParaRPr lang="en-AU"/>
          </a:p>
        </p:txBody>
      </p:sp>
      <p:sp>
        <p:nvSpPr>
          <p:cNvPr id="6" name="Slide Number Placeholder 5"/>
          <p:cNvSpPr>
            <a:spLocks noGrp="1"/>
          </p:cNvSpPr>
          <p:nvPr>
            <p:ph type="sldNum" sz="quarter" idx="4"/>
          </p:nvPr>
        </p:nvSpPr>
        <p:spPr>
          <a:xfrm>
            <a:off x="10658927" y="6422854"/>
            <a:ext cx="946264" cy="365125"/>
          </a:xfrm>
          <a:prstGeom prst="rect">
            <a:avLst/>
          </a:prstGeom>
        </p:spPr>
        <p:txBody>
          <a:bodyPr vert="horz" lIns="45720" tIns="45720" rIns="91440" bIns="45720" rtlCol="0" anchor="ctr"/>
          <a:lstStyle>
            <a:lvl1pPr algn="l">
              <a:defRPr sz="1200" b="0">
                <a:solidFill>
                  <a:schemeClr val="tx1"/>
                </a:solidFill>
              </a:defRPr>
            </a:lvl1pPr>
          </a:lstStyle>
          <a:p>
            <a:fld id="{CF058BE0-1153-44BC-A60C-52A654A27922}" type="slidenum">
              <a:rPr lang="en-AU" smtClean="0"/>
              <a:t>‹#›</a:t>
            </a:fld>
            <a:endParaRPr lang="en-AU"/>
          </a:p>
        </p:txBody>
      </p:sp>
    </p:spTree>
    <p:extLst>
      <p:ext uri="{BB962C8B-B14F-4D97-AF65-F5344CB8AC3E}">
        <p14:creationId xmlns:p14="http://schemas.microsoft.com/office/powerpoint/2010/main" val="20637353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85000"/>
        </a:lnSpc>
        <a:spcBef>
          <a:spcPct val="0"/>
        </a:spcBef>
        <a:buNone/>
        <a:defRPr sz="4000" kern="1200" cap="all" baseline="0">
          <a:solidFill>
            <a:schemeClr val="bg2"/>
          </a:solidFill>
          <a:latin typeface="+mj-lt"/>
          <a:ea typeface="+mj-ea"/>
          <a:cs typeface="+mj-cs"/>
        </a:defRPr>
      </a:lvl1pPr>
    </p:titleStyle>
    <p:bodyStyle>
      <a:lvl1pPr marL="182880" indent="-182880" algn="l" defTabSz="914400" rtl="0" eaLnBrk="1" latinLnBrk="0" hangingPunct="1">
        <a:lnSpc>
          <a:spcPct val="90000"/>
        </a:lnSpc>
        <a:spcBef>
          <a:spcPts val="1200"/>
        </a:spcBef>
        <a:spcAft>
          <a:spcPts val="200"/>
        </a:spcAft>
        <a:buClr>
          <a:schemeClr val="tx1"/>
        </a:buClr>
        <a:buFont typeface="Wingdings" pitchFamily="2" charset="2"/>
        <a:buChar char=""/>
        <a:defRPr sz="2200" kern="1200">
          <a:solidFill>
            <a:schemeClr val="tx1"/>
          </a:solidFill>
          <a:latin typeface="+mn-lt"/>
          <a:ea typeface="+mn-ea"/>
          <a:cs typeface="+mn-cs"/>
        </a:defRPr>
      </a:lvl1pPr>
      <a:lvl2pPr marL="411480" indent="-182880" algn="l" defTabSz="914400" rtl="0" eaLnBrk="1" latinLnBrk="0" hangingPunct="1">
        <a:lnSpc>
          <a:spcPct val="90000"/>
        </a:lnSpc>
        <a:spcBef>
          <a:spcPts val="200"/>
        </a:spcBef>
        <a:spcAft>
          <a:spcPts val="400"/>
        </a:spcAft>
        <a:buClr>
          <a:schemeClr val="tx1"/>
        </a:buClr>
        <a:buFont typeface="Wingdings" pitchFamily="2" charset="2"/>
        <a:buChar char=""/>
        <a:defRPr sz="2000" kern="1200">
          <a:solidFill>
            <a:schemeClr val="tx1"/>
          </a:solidFill>
          <a:latin typeface="+mn-lt"/>
          <a:ea typeface="+mn-ea"/>
          <a:cs typeface="+mn-cs"/>
        </a:defRPr>
      </a:lvl2pPr>
      <a:lvl3pPr marL="640080" indent="-182880" algn="l" defTabSz="914400" rtl="0" eaLnBrk="1" latinLnBrk="0" hangingPunct="1">
        <a:lnSpc>
          <a:spcPct val="90000"/>
        </a:lnSpc>
        <a:spcBef>
          <a:spcPts val="200"/>
        </a:spcBef>
        <a:spcAft>
          <a:spcPts val="400"/>
        </a:spcAft>
        <a:buClr>
          <a:schemeClr val="tx1"/>
        </a:buClr>
        <a:buFont typeface="Wingdings" pitchFamily="2" charset="2"/>
        <a:buChar char=""/>
        <a:defRPr sz="1800" kern="1200">
          <a:solidFill>
            <a:schemeClr val="tx1"/>
          </a:solidFill>
          <a:latin typeface="+mn-lt"/>
          <a:ea typeface="+mn-ea"/>
          <a:cs typeface="+mn-cs"/>
        </a:defRPr>
      </a:lvl3pPr>
      <a:lvl4pPr marL="8686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4pPr>
      <a:lvl5pPr marL="1097280" indent="-18288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5pPr>
      <a:lvl6pPr marL="12846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6pPr>
      <a:lvl7pPr marL="14718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7pPr>
      <a:lvl8pPr marL="16290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8pPr>
      <a:lvl9pPr marL="1806200" indent="-228600" algn="l" defTabSz="914400" rtl="0" eaLnBrk="1" latinLnBrk="0" hangingPunct="1">
        <a:lnSpc>
          <a:spcPct val="90000"/>
        </a:lnSpc>
        <a:spcBef>
          <a:spcPts val="200"/>
        </a:spcBef>
        <a:spcAft>
          <a:spcPts val="400"/>
        </a:spcAft>
        <a:buClr>
          <a:schemeClr val="tx1"/>
        </a:buClr>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simplypsychology.org/experimental-method.html"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AU" sz="4800" b="1" dirty="0" smtClean="0">
                <a:latin typeface="Algerian" panose="04020705040A02060702" pitchFamily="82" charset="0"/>
              </a:rPr>
              <a:t>CORRELATION IN PSYCHOLOGY</a:t>
            </a:r>
            <a:endParaRPr lang="en-AU" sz="4800" b="1" dirty="0">
              <a:latin typeface="Algerian" panose="04020705040A02060702" pitchFamily="82" charset="0"/>
            </a:endParaRPr>
          </a:p>
        </p:txBody>
      </p:sp>
      <p:sp>
        <p:nvSpPr>
          <p:cNvPr id="5" name="Content Placeholder 4"/>
          <p:cNvSpPr>
            <a:spLocks noGrp="1"/>
          </p:cNvSpPr>
          <p:nvPr>
            <p:ph idx="1"/>
          </p:nvPr>
        </p:nvSpPr>
        <p:spPr/>
        <p:txBody>
          <a:bodyPr/>
          <a:lstStyle/>
          <a:p>
            <a:endParaRPr lang="en-AU" dirty="0" smtClean="0"/>
          </a:p>
          <a:p>
            <a:endParaRPr lang="en-AU" dirty="0" smtClean="0"/>
          </a:p>
          <a:p>
            <a:r>
              <a:rPr lang="en-AU" dirty="0" smtClean="0">
                <a:solidFill>
                  <a:schemeClr val="bg1"/>
                </a:solidFill>
              </a:rPr>
              <a:t>McLeod, S. A. (2008). Correlation. Retrieved from www.simplypsychology.org/correlation.html</a:t>
            </a:r>
            <a:endParaRPr lang="en-AU" dirty="0">
              <a:solidFill>
                <a:schemeClr val="bg1"/>
              </a:solidFill>
            </a:endParaRPr>
          </a:p>
        </p:txBody>
      </p:sp>
    </p:spTree>
    <p:extLst>
      <p:ext uri="{BB962C8B-B14F-4D97-AF65-F5344CB8AC3E}">
        <p14:creationId xmlns:p14="http://schemas.microsoft.com/office/powerpoint/2010/main" val="28304051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AU"/>
          </a:p>
        </p:txBody>
      </p:sp>
      <p:sp>
        <p:nvSpPr>
          <p:cNvPr id="5" name="Content Placeholder 4"/>
          <p:cNvSpPr>
            <a:spLocks noGrp="1"/>
          </p:cNvSpPr>
          <p:nvPr>
            <p:ph idx="1"/>
          </p:nvPr>
        </p:nvSpPr>
        <p:spPr>
          <a:xfrm>
            <a:off x="1009972" y="1650953"/>
            <a:ext cx="9784080" cy="4206240"/>
          </a:xfrm>
        </p:spPr>
        <p:txBody>
          <a:bodyPr>
            <a:noAutofit/>
          </a:bodyPr>
          <a:lstStyle/>
          <a:p>
            <a:r>
              <a:rPr lang="en-AU" sz="2800" dirty="0">
                <a:solidFill>
                  <a:schemeClr val="bg1"/>
                </a:solidFill>
              </a:rPr>
              <a:t>Correlation means association - more precisely it is a measure of the extent to which two variables are related.</a:t>
            </a:r>
          </a:p>
          <a:p>
            <a:r>
              <a:rPr lang="en-AU" sz="2800" dirty="0">
                <a:solidFill>
                  <a:schemeClr val="bg1"/>
                </a:solidFill>
              </a:rPr>
              <a:t>If an increase in one variable tends to be associated with an increase in the other then this is known as a positive correlation. An example would be height and weight. Taller people tend to be heavier.</a:t>
            </a:r>
          </a:p>
          <a:p>
            <a:r>
              <a:rPr lang="en-AU" sz="2800" dirty="0">
                <a:solidFill>
                  <a:schemeClr val="bg1"/>
                </a:solidFill>
              </a:rPr>
              <a:t>If an increase in one variable tends to be associated with a decrease in the other then this is known as a negative correlation. An example would be height above sea level and temperature. As you climb the mountain (increase in height) it gets colder (decrease in temperature).</a:t>
            </a:r>
          </a:p>
        </p:txBody>
      </p:sp>
    </p:spTree>
    <p:extLst>
      <p:ext uri="{BB962C8B-B14F-4D97-AF65-F5344CB8AC3E}">
        <p14:creationId xmlns:p14="http://schemas.microsoft.com/office/powerpoint/2010/main" val="23242841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sz="3600" dirty="0">
                <a:solidFill>
                  <a:schemeClr val="bg1"/>
                </a:solidFill>
              </a:rPr>
              <a:t>When there is no relationship between two variables this is known as a zero correlation. For example their is no relationship between the amount of tea drunk and level of intelligence.</a:t>
            </a:r>
          </a:p>
        </p:txBody>
      </p:sp>
    </p:spTree>
    <p:extLst>
      <p:ext uri="{BB962C8B-B14F-4D97-AF65-F5344CB8AC3E}">
        <p14:creationId xmlns:p14="http://schemas.microsoft.com/office/powerpoint/2010/main" val="4295874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38180"/>
          </a:xfrm>
        </p:spPr>
        <p:txBody>
          <a:bodyPr>
            <a:normAutofit fontScale="90000"/>
          </a:bodyPr>
          <a:lstStyle/>
          <a:p>
            <a:pPr lvl="0" eaLnBrk="0" fontAlgn="base" hangingPunct="0">
              <a:lnSpc>
                <a:spcPct val="100000"/>
              </a:lnSpc>
              <a:spcAft>
                <a:spcPct val="0"/>
              </a:spcAft>
            </a:pPr>
            <a:r>
              <a:rPr lang="en-US" altLang="en-US" sz="3600" dirty="0" smtClean="0">
                <a:solidFill>
                  <a:srgbClr val="333333"/>
                </a:solidFill>
                <a:latin typeface="Georgia" panose="02040502050405020303" pitchFamily="18" charset="0"/>
              </a:rPr>
              <a:t/>
            </a:r>
            <a:br>
              <a:rPr lang="en-US" altLang="en-US" sz="3600" dirty="0" smtClean="0">
                <a:solidFill>
                  <a:srgbClr val="333333"/>
                </a:solidFill>
                <a:latin typeface="Georgia" panose="02040502050405020303" pitchFamily="18" charset="0"/>
              </a:rPr>
            </a:br>
            <a:r>
              <a:rPr lang="en-US" altLang="en-US" sz="3600" dirty="0">
                <a:solidFill>
                  <a:srgbClr val="333333"/>
                </a:solidFill>
                <a:latin typeface="Georgia" panose="02040502050405020303" pitchFamily="18" charset="0"/>
              </a:rPr>
              <a:t/>
            </a:r>
            <a:br>
              <a:rPr lang="en-US" altLang="en-US" sz="3600" dirty="0">
                <a:solidFill>
                  <a:srgbClr val="333333"/>
                </a:solidFill>
                <a:latin typeface="Georgia" panose="02040502050405020303" pitchFamily="18" charset="0"/>
              </a:rPr>
            </a:br>
            <a:r>
              <a:rPr lang="en-US" altLang="en-US" sz="3600" dirty="0" smtClean="0">
                <a:solidFill>
                  <a:srgbClr val="333333"/>
                </a:solidFill>
                <a:latin typeface="Georgia" panose="02040502050405020303" pitchFamily="18" charset="0"/>
              </a:rPr>
              <a:t/>
            </a:r>
            <a:br>
              <a:rPr lang="en-US" altLang="en-US" sz="3600" dirty="0" smtClean="0">
                <a:solidFill>
                  <a:srgbClr val="333333"/>
                </a:solidFill>
                <a:latin typeface="Georgia" panose="02040502050405020303" pitchFamily="18" charset="0"/>
              </a:rPr>
            </a:br>
            <a:r>
              <a:rPr lang="en-US" altLang="en-US" sz="3600" dirty="0">
                <a:solidFill>
                  <a:srgbClr val="333333"/>
                </a:solidFill>
                <a:latin typeface="Georgia" panose="02040502050405020303" pitchFamily="18" charset="0"/>
              </a:rPr>
              <a:t/>
            </a:r>
            <a:br>
              <a:rPr lang="en-US" altLang="en-US" sz="3600" dirty="0">
                <a:solidFill>
                  <a:srgbClr val="333333"/>
                </a:solidFill>
                <a:latin typeface="Georgia" panose="02040502050405020303" pitchFamily="18" charset="0"/>
              </a:rPr>
            </a:br>
            <a:r>
              <a:rPr lang="en-US" altLang="en-US" sz="2200" dirty="0" smtClean="0">
                <a:solidFill>
                  <a:srgbClr val="333333"/>
                </a:solidFill>
                <a:latin typeface="Georgia" panose="02040502050405020303" pitchFamily="18" charset="0"/>
              </a:rPr>
              <a:t>A </a:t>
            </a:r>
            <a:r>
              <a:rPr lang="en-US" altLang="en-US" sz="2200" dirty="0">
                <a:solidFill>
                  <a:srgbClr val="333333"/>
                </a:solidFill>
                <a:latin typeface="Georgia" panose="02040502050405020303" pitchFamily="18" charset="0"/>
              </a:rPr>
              <a:t>correlation can be expressed visually. This is done by drawing a </a:t>
            </a:r>
            <a:r>
              <a:rPr lang="en-US" altLang="en-US" sz="2200" dirty="0" err="1">
                <a:solidFill>
                  <a:srgbClr val="333333"/>
                </a:solidFill>
                <a:latin typeface="Georgia" panose="02040502050405020303" pitchFamily="18" charset="0"/>
              </a:rPr>
              <a:t>scattergram</a:t>
            </a:r>
            <a:r>
              <a:rPr lang="en-US" altLang="en-US" sz="2200" dirty="0">
                <a:solidFill>
                  <a:srgbClr val="333333"/>
                </a:solidFill>
                <a:latin typeface="Georgia" panose="02040502050405020303" pitchFamily="18" charset="0"/>
              </a:rPr>
              <a:t> - that is one can plot the figures for one variable against the figures for the other on a graph.</a:t>
            </a:r>
            <a:r>
              <a:rPr kumimoji="0" lang="en-US" altLang="en-US" sz="2200" b="0" i="0" u="none" strike="noStrike" cap="none" normalizeH="0" baseline="0" dirty="0" smtClean="0">
                <a:ln>
                  <a:noFill/>
                </a:ln>
                <a:solidFill>
                  <a:schemeClr val="tx1"/>
                </a:solidFill>
                <a:effectLst/>
              </a:rPr>
              <a:t/>
            </a:r>
            <a:br>
              <a:rPr kumimoji="0" lang="en-US" altLang="en-US" sz="2200" b="0" i="0" u="none" strike="noStrike" cap="none" normalizeH="0" baseline="0" dirty="0" smtClean="0">
                <a:ln>
                  <a:noFill/>
                </a:ln>
                <a:solidFill>
                  <a:schemeClr val="tx1"/>
                </a:solidFill>
                <a:effectLst/>
              </a:rPr>
            </a:br>
            <a:r>
              <a:rPr lang="en-US" altLang="en-US" dirty="0">
                <a:solidFill>
                  <a:srgbClr val="333333"/>
                </a:solidFill>
                <a:latin typeface="Georgia" panose="02040502050405020303" pitchFamily="18" charset="0"/>
              </a:rPr>
              <a:t>  </a:t>
            </a:r>
            <a:r>
              <a:rPr kumimoji="0" lang="en-US" altLang="en-US" sz="800" b="0" i="0" u="none" strike="noStrike" cap="none" normalizeH="0" baseline="0" dirty="0" smtClean="0">
                <a:ln>
                  <a:noFill/>
                </a:ln>
                <a:solidFill>
                  <a:schemeClr val="tx1"/>
                </a:solidFill>
                <a:effectLst/>
              </a:rPr>
              <a:t/>
            </a:r>
            <a:br>
              <a:rPr kumimoji="0" lang="en-US" altLang="en-US" sz="800" b="0" i="0" u="none" strike="noStrike" cap="none" normalizeH="0" baseline="0" dirty="0" smtClean="0">
                <a:ln>
                  <a:noFill/>
                </a:ln>
                <a:solidFill>
                  <a:schemeClr val="tx1"/>
                </a:solidFill>
                <a:effectLst/>
              </a:rPr>
            </a:br>
            <a:endParaRPr lang="en-AU" dirty="0"/>
          </a:p>
        </p:txBody>
      </p:sp>
      <p:sp>
        <p:nvSpPr>
          <p:cNvPr id="3" name="Content Placeholder 2"/>
          <p:cNvSpPr>
            <a:spLocks noGrp="1"/>
          </p:cNvSpPr>
          <p:nvPr>
            <p:ph idx="1"/>
          </p:nvPr>
        </p:nvSpPr>
        <p:spPr>
          <a:xfrm>
            <a:off x="2102977" y="6918919"/>
            <a:ext cx="13770366" cy="5086380"/>
          </a:xfrm>
        </p:spPr>
        <p:txBody>
          <a:bodyPr/>
          <a:lstStyle/>
          <a:p>
            <a:endParaRPr lang="en-AU" dirty="0"/>
          </a:p>
        </p:txBody>
      </p:sp>
      <p:sp>
        <p:nvSpPr>
          <p:cNvPr id="4" name="Rectangle 1"/>
          <p:cNvSpPr>
            <a:spLocks noChangeArrowheads="1"/>
          </p:cNvSpPr>
          <p:nvPr/>
        </p:nvSpPr>
        <p:spPr bwMode="auto">
          <a:xfrm>
            <a:off x="1365445" y="2067301"/>
            <a:ext cx="15965642" cy="6586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1100" b="0" i="0" u="none" strike="noStrike" cap="none" normalizeH="0" baseline="0" dirty="0" smtClean="0">
                <a:ln>
                  <a:noFill/>
                </a:ln>
                <a:solidFill>
                  <a:srgbClr val="333333"/>
                </a:solidFill>
                <a:effectLst/>
                <a:latin typeface="Georgia" panose="02040502050405020303" pitchFamily="18" charset="0"/>
              </a:rPr>
              <a:t/>
            </a:r>
            <a:br>
              <a:rPr kumimoji="0" lang="en-US" altLang="en-US" sz="21100" b="0" i="0" u="none" strike="noStrike" cap="none" normalizeH="0" baseline="0" dirty="0" smtClean="0">
                <a:ln>
                  <a:noFill/>
                </a:ln>
                <a:solidFill>
                  <a:srgbClr val="333333"/>
                </a:solidFill>
                <a:effectLst/>
                <a:latin typeface="Georgia" panose="02040502050405020303" pitchFamily="18" charset="0"/>
              </a:rPr>
            </a:br>
            <a:endParaRPr kumimoji="0" lang="en-US" altLang="en-US" sz="21100" b="0" i="0" u="none" strike="noStrike" cap="none" normalizeH="0" baseline="0" dirty="0" smtClean="0">
              <a:ln>
                <a:noFill/>
              </a:ln>
              <a:solidFill>
                <a:srgbClr val="333333"/>
              </a:solidFill>
              <a:effectLst/>
              <a:latin typeface="Georgia" panose="02040502050405020303" pitchFamily="18" charset="0"/>
            </a:endParaRPr>
          </a:p>
        </p:txBody>
      </p:sp>
      <p:pic>
        <p:nvPicPr>
          <p:cNvPr id="1026" name="Picture 2" descr="types of correl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150" y="2170933"/>
            <a:ext cx="7109700" cy="4390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3413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sz="3200" dirty="0">
                <a:solidFill>
                  <a:schemeClr val="bg1"/>
                </a:solidFill>
              </a:rPr>
              <a:t>When you draw a scattergram it doesn't matter which variable goes on the x-axis and which goes on the y-axis. Remember, in correlations we are always dealing with paired scores, so the values of the 2 variables taken together will be used to make the diagram. </a:t>
            </a:r>
            <a:endParaRPr lang="en-AU" sz="3200" dirty="0" smtClean="0">
              <a:solidFill>
                <a:schemeClr val="bg1"/>
              </a:solidFill>
            </a:endParaRPr>
          </a:p>
          <a:p>
            <a:r>
              <a:rPr lang="en-AU" sz="3200" dirty="0" smtClean="0">
                <a:solidFill>
                  <a:schemeClr val="bg1"/>
                </a:solidFill>
              </a:rPr>
              <a:t>Decide </a:t>
            </a:r>
            <a:r>
              <a:rPr lang="en-AU" sz="3200" dirty="0">
                <a:solidFill>
                  <a:schemeClr val="bg1"/>
                </a:solidFill>
              </a:rPr>
              <a:t>which variable goes on each axis and then simply put a cross at the point where the 2 values coincide</a:t>
            </a:r>
          </a:p>
        </p:txBody>
      </p:sp>
    </p:spTree>
    <p:extLst>
      <p:ext uri="{BB962C8B-B14F-4D97-AF65-F5344CB8AC3E}">
        <p14:creationId xmlns:p14="http://schemas.microsoft.com/office/powerpoint/2010/main" val="28178207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sz="4000" dirty="0" smtClean="0">
                <a:solidFill>
                  <a:schemeClr val="bg1"/>
                </a:solidFill>
              </a:rPr>
              <a:t>An </a:t>
            </a:r>
            <a:r>
              <a:rPr lang="en-AU" sz="4000" dirty="0">
                <a:solidFill>
                  <a:schemeClr val="bg1"/>
                </a:solidFill>
              </a:rPr>
              <a:t>area where correlation is widely used is in the study of intelligence where research has been carried out to test the strength of the association between the I.Q. levels of identical and non-identical twins.</a:t>
            </a:r>
          </a:p>
        </p:txBody>
      </p:sp>
    </p:spTree>
    <p:extLst>
      <p:ext uri="{BB962C8B-B14F-4D97-AF65-F5344CB8AC3E}">
        <p14:creationId xmlns:p14="http://schemas.microsoft.com/office/powerpoint/2010/main" val="6373840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ChangeArrowheads="1"/>
          </p:cNvSpPr>
          <p:nvPr/>
        </p:nvSpPr>
        <p:spPr bwMode="auto">
          <a:xfrm>
            <a:off x="-512747" y="431956"/>
            <a:ext cx="12704747" cy="18023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82524" rIns="91440" bIns="4126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smtClean="0">
                <a:ln>
                  <a:noFill/>
                </a:ln>
                <a:solidFill>
                  <a:srgbClr val="333333"/>
                </a:solidFill>
                <a:effectLst/>
                <a:latin typeface="Georgia" panose="02040502050405020303" pitchFamily="18" charset="0"/>
              </a:rPr>
              <a:t>Correlation Coefficients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333333"/>
                </a:solidFill>
                <a:effectLst/>
                <a:latin typeface="Georgia" panose="02040502050405020303" pitchFamily="18" charset="0"/>
              </a:rPr>
              <a:t>Instead of drawing a </a:t>
            </a:r>
            <a:r>
              <a:rPr kumimoji="0" lang="en-US" altLang="en-US" sz="2400" b="0" i="0" u="none" strike="noStrike" cap="none" normalizeH="0" baseline="0" dirty="0" err="1" smtClean="0">
                <a:ln>
                  <a:noFill/>
                </a:ln>
                <a:solidFill>
                  <a:srgbClr val="333333"/>
                </a:solidFill>
                <a:effectLst/>
                <a:latin typeface="Georgia" panose="02040502050405020303" pitchFamily="18" charset="0"/>
              </a:rPr>
              <a:t>scattergram</a:t>
            </a:r>
            <a:r>
              <a:rPr kumimoji="0" lang="en-US" altLang="en-US" sz="2400" b="0" i="0" u="none" strike="noStrike" cap="none" normalizeH="0" baseline="0" dirty="0" smtClean="0">
                <a:ln>
                  <a:noFill/>
                </a:ln>
                <a:solidFill>
                  <a:srgbClr val="333333"/>
                </a:solidFill>
                <a:effectLst/>
                <a:latin typeface="Georgia" panose="02040502050405020303" pitchFamily="18" charset="0"/>
              </a:rPr>
              <a:t> a correlation can be expressed numerically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333333"/>
                </a:solidFill>
                <a:effectLst/>
                <a:latin typeface="Georgia" panose="02040502050405020303" pitchFamily="18" charset="0"/>
              </a:rPr>
              <a:t>as a coefficient, ranging from -1 to +1. When working with continuous variables, the correlation coefficient to use is Pearson’s r.</a:t>
            </a:r>
            <a:endParaRPr kumimoji="0" lang="en-US" altLang="en-US" sz="24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333333"/>
                </a:solidFill>
                <a:effectLst/>
                <a:latin typeface="Georgia" panose="02040502050405020303" pitchFamily="18" charset="0"/>
              </a:rPr>
              <a:t>  </a:t>
            </a:r>
            <a:endParaRPr kumimoji="0" lang="en-US" altLang="en-US" sz="19300" b="0" i="0" u="none" strike="noStrike" cap="none" normalizeH="0" baseline="0" dirty="0" smtClean="0">
              <a:ln>
                <a:noFill/>
              </a:ln>
              <a:solidFill>
                <a:srgbClr val="333333"/>
              </a:solidFill>
              <a:effectLst/>
              <a:latin typeface="Georgia" panose="02040502050405020303" pitchFamily="18" charset="0"/>
            </a:endParaRPr>
          </a:p>
        </p:txBody>
      </p:sp>
      <p:pic>
        <p:nvPicPr>
          <p:cNvPr id="2052" name="Picture 4" descr="correlation coeffici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406" y="2234333"/>
            <a:ext cx="5997316" cy="4029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97192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35693" y="683664"/>
            <a:ext cx="10220771" cy="2862322"/>
          </a:xfrm>
          <a:prstGeom prst="rect">
            <a:avLst/>
          </a:prstGeom>
        </p:spPr>
        <p:txBody>
          <a:bodyPr wrap="square">
            <a:spAutoFit/>
          </a:bodyPr>
          <a:lstStyle/>
          <a:p>
            <a:r>
              <a:rPr lang="en-AU" sz="3600" b="0" i="0" dirty="0" smtClean="0">
                <a:solidFill>
                  <a:srgbClr val="333333"/>
                </a:solidFill>
                <a:effectLst/>
                <a:latin typeface="Georgia" panose="02040502050405020303" pitchFamily="18" charset="0"/>
              </a:rPr>
              <a:t>The correlation coefficient (</a:t>
            </a:r>
            <a:r>
              <a:rPr lang="en-AU" sz="3600" b="0" i="1" dirty="0" smtClean="0">
                <a:solidFill>
                  <a:srgbClr val="333333"/>
                </a:solidFill>
                <a:effectLst/>
                <a:latin typeface="Georgia" panose="02040502050405020303" pitchFamily="18" charset="0"/>
              </a:rPr>
              <a:t>r</a:t>
            </a:r>
            <a:r>
              <a:rPr lang="en-AU" sz="3600" b="0" i="0" dirty="0" smtClean="0">
                <a:solidFill>
                  <a:srgbClr val="333333"/>
                </a:solidFill>
                <a:effectLst/>
                <a:latin typeface="Georgia" panose="02040502050405020303" pitchFamily="18" charset="0"/>
              </a:rPr>
              <a:t>) indicates the extent to which the pairs of numbers for these two variables lie on a straight line. Values over zero indicate a positive correlation, while values under zero indicate a negative correlation.</a:t>
            </a:r>
            <a:endParaRPr lang="en-AU" sz="3600" dirty="0"/>
          </a:p>
        </p:txBody>
      </p:sp>
    </p:spTree>
    <p:extLst>
      <p:ext uri="{BB962C8B-B14F-4D97-AF65-F5344CB8AC3E}">
        <p14:creationId xmlns:p14="http://schemas.microsoft.com/office/powerpoint/2010/main" val="5704125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simplypsychology.org/coefficien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027" y="623843"/>
            <a:ext cx="8428270" cy="5913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3706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5892" y="751343"/>
            <a:ext cx="9460194" cy="6678751"/>
          </a:xfrm>
          <a:prstGeom prst="rect">
            <a:avLst/>
          </a:prstGeom>
        </p:spPr>
        <p:txBody>
          <a:bodyPr wrap="square">
            <a:spAutoFit/>
          </a:bodyPr>
          <a:lstStyle/>
          <a:p>
            <a:r>
              <a:rPr lang="en-AU" sz="2800" b="1" i="0" dirty="0" smtClean="0">
                <a:solidFill>
                  <a:srgbClr val="333333"/>
                </a:solidFill>
                <a:effectLst/>
                <a:latin typeface="Georgia" panose="02040502050405020303" pitchFamily="18" charset="0"/>
              </a:rPr>
              <a:t>Differences between Experiments and Correlations</a:t>
            </a:r>
          </a:p>
          <a:p>
            <a:r>
              <a:rPr lang="en-AU" sz="2400" b="0" i="0" dirty="0" smtClean="0">
                <a:solidFill>
                  <a:srgbClr val="333333"/>
                </a:solidFill>
                <a:effectLst/>
                <a:latin typeface="Georgia" panose="02040502050405020303" pitchFamily="18" charset="0"/>
              </a:rPr>
              <a:t>An </a:t>
            </a:r>
            <a:r>
              <a:rPr lang="en-AU" sz="2400" b="0" i="0" u="none" strike="noStrike" dirty="0" smtClean="0">
                <a:solidFill>
                  <a:srgbClr val="337AB7"/>
                </a:solidFill>
                <a:effectLst/>
                <a:latin typeface="Georgia" panose="02040502050405020303" pitchFamily="18" charset="0"/>
                <a:hlinkClick r:id="rId2"/>
              </a:rPr>
              <a:t>experiment</a:t>
            </a:r>
            <a:r>
              <a:rPr lang="en-AU" sz="2400" b="0" i="0" dirty="0" smtClean="0">
                <a:solidFill>
                  <a:srgbClr val="333333"/>
                </a:solidFill>
                <a:effectLst/>
                <a:latin typeface="Georgia" panose="02040502050405020303" pitchFamily="18" charset="0"/>
              </a:rPr>
              <a:t> isolates and manipulates the independent variable to observe its effect on the dependent variable, and controls the environment in order that extraneous variables may be eliminated. Experiments establish cause and effect.</a:t>
            </a:r>
            <a:br>
              <a:rPr lang="en-AU" sz="2400" b="0" i="0" dirty="0" smtClean="0">
                <a:solidFill>
                  <a:srgbClr val="333333"/>
                </a:solidFill>
                <a:effectLst/>
                <a:latin typeface="Georgia" panose="02040502050405020303" pitchFamily="18" charset="0"/>
              </a:rPr>
            </a:br>
            <a:endParaRPr lang="en-AU" sz="2400" b="0" i="0" dirty="0" smtClean="0">
              <a:solidFill>
                <a:srgbClr val="333333"/>
              </a:solidFill>
              <a:effectLst/>
              <a:latin typeface="Georgia" panose="02040502050405020303" pitchFamily="18" charset="0"/>
            </a:endParaRPr>
          </a:p>
          <a:p>
            <a:r>
              <a:rPr lang="en-AU" sz="2400" b="0" i="0" dirty="0" smtClean="0">
                <a:solidFill>
                  <a:srgbClr val="333333"/>
                </a:solidFill>
                <a:effectLst/>
                <a:latin typeface="Georgia" panose="02040502050405020303" pitchFamily="18" charset="0"/>
              </a:rPr>
              <a:t>A correlation identifies variables and looks for a relationship between them. An experiment tests the effect that an independent variable has upon a dependent variable but a correlation looks for a relationship between two variables.</a:t>
            </a:r>
          </a:p>
          <a:p>
            <a:r>
              <a:rPr lang="en-AU" sz="2400" b="0" i="0" dirty="0" smtClean="0">
                <a:solidFill>
                  <a:srgbClr val="333333"/>
                </a:solidFill>
                <a:effectLst/>
                <a:latin typeface="Georgia" panose="02040502050405020303" pitchFamily="18" charset="0"/>
              </a:rPr>
              <a:t>This means that the experiment can predict cause and effect (causation) but a correlation can only predict a relationship, as another extraneous variable may be involved that it not known about.</a:t>
            </a:r>
            <a:br>
              <a:rPr lang="en-AU" sz="2400" b="0" i="0" dirty="0" smtClean="0">
                <a:solidFill>
                  <a:srgbClr val="333333"/>
                </a:solidFill>
                <a:effectLst/>
                <a:latin typeface="Georgia" panose="02040502050405020303" pitchFamily="18" charset="0"/>
              </a:rPr>
            </a:br>
            <a:endParaRPr lang="en-AU" sz="2400" b="0" i="0" dirty="0" smtClean="0">
              <a:solidFill>
                <a:srgbClr val="333333"/>
              </a:solidFill>
              <a:effectLst/>
              <a:latin typeface="Georgia" panose="02040502050405020303" pitchFamily="18" charset="0"/>
            </a:endParaRPr>
          </a:p>
          <a:p>
            <a:r>
              <a:rPr lang="en-AU" dirty="0" smtClean="0"/>
              <a:t/>
            </a:r>
            <a:br>
              <a:rPr lang="en-AU" dirty="0" smtClean="0"/>
            </a:br>
            <a:endParaRPr lang="en-AU" dirty="0"/>
          </a:p>
        </p:txBody>
      </p:sp>
    </p:spTree>
    <p:extLst>
      <p:ext uri="{BB962C8B-B14F-4D97-AF65-F5344CB8AC3E}">
        <p14:creationId xmlns:p14="http://schemas.microsoft.com/office/powerpoint/2010/main" val="13387867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2906" y="1091828"/>
            <a:ext cx="9169167" cy="4585871"/>
          </a:xfrm>
          <a:prstGeom prst="rect">
            <a:avLst/>
          </a:prstGeom>
        </p:spPr>
        <p:txBody>
          <a:bodyPr wrap="square">
            <a:spAutoFit/>
          </a:bodyPr>
          <a:lstStyle/>
          <a:p>
            <a:r>
              <a:rPr lang="en-AU" sz="4000" b="1" i="0" dirty="0" smtClean="0">
                <a:solidFill>
                  <a:srgbClr val="333333"/>
                </a:solidFill>
                <a:effectLst/>
                <a:latin typeface="Georgia" panose="02040502050405020303" pitchFamily="18" charset="0"/>
              </a:rPr>
              <a:t>Strengths of Correlations</a:t>
            </a:r>
          </a:p>
          <a:p>
            <a:r>
              <a:rPr lang="en-AU" sz="2800" b="1" i="0" dirty="0" smtClean="0">
                <a:solidFill>
                  <a:srgbClr val="333333"/>
                </a:solidFill>
                <a:effectLst/>
                <a:latin typeface="Georgia" panose="02040502050405020303" pitchFamily="18" charset="0"/>
              </a:rPr>
              <a:t>1</a:t>
            </a:r>
            <a:r>
              <a:rPr lang="en-AU" sz="2800" b="0" i="0" dirty="0" smtClean="0">
                <a:solidFill>
                  <a:srgbClr val="333333"/>
                </a:solidFill>
                <a:effectLst/>
                <a:latin typeface="Georgia" panose="02040502050405020303" pitchFamily="18" charset="0"/>
              </a:rPr>
              <a:t>. Correlation allows the researcher to investigate naturally occurring variables that maybe unethical or impractical to test experimentally. For example, it would be unethical to conduct an experiment on whether smoking causes lung cancer.</a:t>
            </a:r>
            <a:br>
              <a:rPr lang="en-AU" sz="2800" b="0" i="0" dirty="0" smtClean="0">
                <a:solidFill>
                  <a:srgbClr val="333333"/>
                </a:solidFill>
                <a:effectLst/>
                <a:latin typeface="Georgia" panose="02040502050405020303" pitchFamily="18" charset="0"/>
              </a:rPr>
            </a:br>
            <a:endParaRPr lang="en-AU" sz="2800" b="0" i="0" dirty="0" smtClean="0">
              <a:solidFill>
                <a:srgbClr val="333333"/>
              </a:solidFill>
              <a:effectLst/>
              <a:latin typeface="Georgia" panose="02040502050405020303" pitchFamily="18" charset="0"/>
            </a:endParaRPr>
          </a:p>
          <a:p>
            <a:r>
              <a:rPr lang="en-AU" sz="2800" b="1" i="0" dirty="0" smtClean="0">
                <a:solidFill>
                  <a:srgbClr val="333333"/>
                </a:solidFill>
                <a:effectLst/>
                <a:latin typeface="Georgia" panose="02040502050405020303" pitchFamily="18" charset="0"/>
              </a:rPr>
              <a:t>2</a:t>
            </a:r>
            <a:r>
              <a:rPr lang="en-AU" sz="2800" b="0" i="0" dirty="0" smtClean="0">
                <a:solidFill>
                  <a:srgbClr val="333333"/>
                </a:solidFill>
                <a:effectLst/>
                <a:latin typeface="Georgia" panose="02040502050405020303" pitchFamily="18" charset="0"/>
              </a:rPr>
              <a:t>. Correlation allows the researcher to clearly and easily see if there is a relationship between variables. This can then be displayed in a graphical form.</a:t>
            </a:r>
            <a:endParaRPr lang="en-AU" sz="2800" b="0" i="0" dirty="0">
              <a:solidFill>
                <a:srgbClr val="333333"/>
              </a:solidFill>
              <a:effectLst/>
              <a:latin typeface="Georgia" panose="02040502050405020303" pitchFamily="18" charset="0"/>
            </a:endParaRPr>
          </a:p>
        </p:txBody>
      </p:sp>
    </p:spTree>
    <p:extLst>
      <p:ext uri="{BB962C8B-B14F-4D97-AF65-F5344CB8AC3E}">
        <p14:creationId xmlns:p14="http://schemas.microsoft.com/office/powerpoint/2010/main" val="22513719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3239" y="503340"/>
            <a:ext cx="10184235" cy="6124754"/>
          </a:xfrm>
          <a:prstGeom prst="rect">
            <a:avLst/>
          </a:prstGeom>
        </p:spPr>
        <p:txBody>
          <a:bodyPr wrap="square">
            <a:spAutoFit/>
          </a:bodyPr>
          <a:lstStyle/>
          <a:p>
            <a:r>
              <a:rPr lang="en-AU" sz="4000" b="1" i="0" dirty="0" smtClean="0">
                <a:solidFill>
                  <a:srgbClr val="333333"/>
                </a:solidFill>
                <a:effectLst/>
                <a:latin typeface="Georgia" panose="02040502050405020303" pitchFamily="18" charset="0"/>
              </a:rPr>
              <a:t>Limitations of Correlations</a:t>
            </a:r>
          </a:p>
          <a:p>
            <a:r>
              <a:rPr lang="en-AU" sz="2400" b="1" i="0" dirty="0" smtClean="0">
                <a:solidFill>
                  <a:srgbClr val="333333"/>
                </a:solidFill>
                <a:effectLst/>
                <a:latin typeface="Georgia" panose="02040502050405020303" pitchFamily="18" charset="0"/>
              </a:rPr>
              <a:t>1</a:t>
            </a:r>
            <a:r>
              <a:rPr lang="en-AU" sz="2400" b="0" i="0" dirty="0" smtClean="0">
                <a:solidFill>
                  <a:srgbClr val="333333"/>
                </a:solidFill>
                <a:effectLst/>
                <a:latin typeface="Georgia" panose="02040502050405020303" pitchFamily="18" charset="0"/>
              </a:rPr>
              <a:t>. </a:t>
            </a:r>
            <a:r>
              <a:rPr lang="en-AU" sz="3200" b="0" i="0" dirty="0" smtClean="0">
                <a:solidFill>
                  <a:srgbClr val="333333"/>
                </a:solidFill>
                <a:effectLst/>
                <a:latin typeface="Georgia" panose="02040502050405020303" pitchFamily="18" charset="0"/>
              </a:rPr>
              <a:t>Correlation is not and cannot be taken to imply causation. Even if there is a very strong association between two variables we cannot assume that one causes the other.</a:t>
            </a:r>
          </a:p>
          <a:p>
            <a:r>
              <a:rPr lang="en-AU" sz="3200" b="0" i="0" dirty="0" smtClean="0">
                <a:solidFill>
                  <a:srgbClr val="333333"/>
                </a:solidFill>
                <a:effectLst/>
                <a:latin typeface="Georgia" panose="02040502050405020303" pitchFamily="18" charset="0"/>
              </a:rPr>
              <a:t>For example suppose we found a positive correlation between watching violence on T.V. and violent behaviour in adolescence. It could be that the cause of both these is a third (extraneous) variable - say for example, growing up in a violent home - and that both the watching of T.V. and the violent behaviour are the outcome of this.</a:t>
            </a:r>
            <a:endParaRPr lang="en-AU" sz="3200" b="0" i="0" dirty="0">
              <a:solidFill>
                <a:srgbClr val="333333"/>
              </a:solidFill>
              <a:effectLst/>
              <a:latin typeface="Georgia" panose="02040502050405020303" pitchFamily="18" charset="0"/>
            </a:endParaRPr>
          </a:p>
        </p:txBody>
      </p:sp>
    </p:spTree>
    <p:extLst>
      <p:ext uri="{BB962C8B-B14F-4D97-AF65-F5344CB8AC3E}">
        <p14:creationId xmlns:p14="http://schemas.microsoft.com/office/powerpoint/2010/main" val="3833973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7071" y="894931"/>
            <a:ext cx="9764785" cy="3539430"/>
          </a:xfrm>
          <a:prstGeom prst="rect">
            <a:avLst/>
          </a:prstGeom>
        </p:spPr>
        <p:txBody>
          <a:bodyPr wrap="square">
            <a:spAutoFit/>
          </a:bodyPr>
          <a:lstStyle/>
          <a:p>
            <a:r>
              <a:rPr lang="en-AU" b="1" i="0" dirty="0" smtClean="0">
                <a:solidFill>
                  <a:srgbClr val="333333"/>
                </a:solidFill>
                <a:effectLst/>
                <a:latin typeface="Georgia" panose="02040502050405020303" pitchFamily="18" charset="0"/>
              </a:rPr>
              <a:t>2</a:t>
            </a:r>
            <a:r>
              <a:rPr lang="en-AU" sz="3200" b="0" i="0" dirty="0" smtClean="0">
                <a:solidFill>
                  <a:srgbClr val="333333"/>
                </a:solidFill>
                <a:effectLst/>
                <a:latin typeface="Georgia" panose="02040502050405020303" pitchFamily="18" charset="0"/>
              </a:rPr>
              <a:t>. Correlation does not allow us to go beyond the data that is given. For example suppose it was found that there was an association between time spent on homework (1/2 hour to 3 hours) and number of G.C.S.E. passes (1 to 6). It would not be legitimate to infer from this that spending 6 hours on homework would be likely to generate 12 G.C.S.E. passes.</a:t>
            </a:r>
            <a:endParaRPr lang="en-AU" sz="3200" dirty="0"/>
          </a:p>
        </p:txBody>
      </p:sp>
    </p:spTree>
    <p:extLst>
      <p:ext uri="{BB962C8B-B14F-4D97-AF65-F5344CB8AC3E}">
        <p14:creationId xmlns:p14="http://schemas.microsoft.com/office/powerpoint/2010/main" val="203044423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Banded">
      <a:dk1>
        <a:srgbClr val="2C2C2C"/>
      </a:dk1>
      <a:lt1>
        <a:srgbClr val="FFFFFF"/>
      </a:lt1>
      <a:dk2>
        <a:srgbClr val="099BDD"/>
      </a:dk2>
      <a:lt2>
        <a:srgbClr val="F2F2F2"/>
      </a:lt2>
      <a:accent1>
        <a:srgbClr val="FFC000"/>
      </a:accent1>
      <a:accent2>
        <a:srgbClr val="A5D028"/>
      </a:accent2>
      <a:accent3>
        <a:srgbClr val="08CC78"/>
      </a:accent3>
      <a:accent4>
        <a:srgbClr val="F24099"/>
      </a:accent4>
      <a:accent5>
        <a:srgbClr val="828288"/>
      </a:accent5>
      <a:accent6>
        <a:srgbClr val="F56617"/>
      </a:accent6>
      <a:hlink>
        <a:srgbClr val="005DBA"/>
      </a:hlink>
      <a:folHlink>
        <a:srgbClr val="6C606A"/>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TM03090430[[fn=Banded]]</Template>
  <TotalTime>1849</TotalTime>
  <Words>579</Words>
  <Application>Microsoft Office PowerPoint</Application>
  <PresentationFormat>Widescreen</PresentationFormat>
  <Paragraphs>30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Algerian</vt:lpstr>
      <vt:lpstr>Arial</vt:lpstr>
      <vt:lpstr>Corbel</vt:lpstr>
      <vt:lpstr>Georgia</vt:lpstr>
      <vt:lpstr>Wingdings</vt:lpstr>
      <vt:lpstr>Banded</vt:lpstr>
      <vt:lpstr>CORRELATION IN PSYCHOLOGY</vt:lpstr>
      <vt:lpstr>PowerPoint Presentation</vt:lpstr>
      <vt:lpstr>PowerPoint Presentation</vt:lpstr>
      <vt:lpstr>    A correlation can be expressed visually. This is done by drawing a scattergram - that is one can plot the figures for one variable against the figures for the other on a graph.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Annabel Kanakis</dc:creator>
  <cp:lastModifiedBy>Annabel Kanakis</cp:lastModifiedBy>
  <cp:revision>8</cp:revision>
  <dcterms:created xsi:type="dcterms:W3CDTF">2018-03-11T04:07:00Z</dcterms:created>
  <dcterms:modified xsi:type="dcterms:W3CDTF">2018-03-12T10:56:45Z</dcterms:modified>
</cp:coreProperties>
</file>
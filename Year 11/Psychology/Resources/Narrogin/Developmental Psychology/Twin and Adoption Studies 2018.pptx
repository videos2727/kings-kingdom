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7" r:id="rId12"/>
    <p:sldId id="266" r:id="rId13"/>
    <p:sldId id="268" r:id="rId14"/>
    <p:sldId id="269" r:id="rId15"/>
    <p:sldId id="283" r:id="rId16"/>
    <p:sldId id="270" r:id="rId17"/>
    <p:sldId id="284" r:id="rId18"/>
    <p:sldId id="271" r:id="rId19"/>
    <p:sldId id="276" r:id="rId20"/>
    <p:sldId id="277" r:id="rId21"/>
    <p:sldId id="285" r:id="rId22"/>
    <p:sldId id="278" r:id="rId23"/>
    <p:sldId id="279" r:id="rId24"/>
    <p:sldId id="280" r:id="rId25"/>
    <p:sldId id="281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9"/>
    <p:restoredTop sz="94562"/>
  </p:normalViewPr>
  <p:slideViewPr>
    <p:cSldViewPr snapToGrid="0" snapToObjects="1">
      <p:cViewPr varScale="1">
        <p:scale>
          <a:sx n="63" d="100"/>
          <a:sy n="63" d="100"/>
        </p:scale>
        <p:origin x="902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Emb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6012" y="1904999"/>
            <a:ext cx="6938963" cy="1582271"/>
          </a:xfrm>
        </p:spPr>
        <p:txBody>
          <a:bodyPr anchor="b" anchorCtr="0"/>
          <a:lstStyle>
            <a:lvl1pPr>
              <a:lnSpc>
                <a:spcPct val="95000"/>
              </a:lnSpc>
              <a:defRPr sz="6600"/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013" y="3487271"/>
            <a:ext cx="6938961" cy="1143000"/>
          </a:xfrm>
        </p:spPr>
        <p:txBody>
          <a:bodyPr/>
          <a:lstStyle>
            <a:lvl1pPr marL="0" indent="0" algn="ctr">
              <a:spcBef>
                <a:spcPts val="300"/>
              </a:spcBef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07741" y="5715000"/>
            <a:ext cx="21336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2659" y="5715000"/>
            <a:ext cx="28956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5715000"/>
            <a:ext cx="4572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coverAccent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86766"/>
            <a:ext cx="7315200" cy="400705"/>
          </a:xfrm>
          <a:prstGeom prst="rect">
            <a:avLst/>
          </a:prstGeom>
        </p:spPr>
      </p:pic>
      <p:pic>
        <p:nvPicPr>
          <p:cNvPr id="10" name="Picture 9" descr="coverAccent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619136"/>
            <a:ext cx="7315200" cy="39138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pageAccent-Ful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Emb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519" y="4038600"/>
            <a:ext cx="6938963" cy="1174376"/>
          </a:xfrm>
        </p:spPr>
        <p:txBody>
          <a:bodyPr anchor="b" anchorCtr="0">
            <a:noAutofit/>
          </a:bodyPr>
          <a:lstStyle>
            <a:lvl1pPr>
              <a:lnSpc>
                <a:spcPct val="95000"/>
              </a:lnSpc>
              <a:defRPr sz="5200"/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2520" y="5212977"/>
            <a:ext cx="6938961" cy="77544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07741" y="6214969"/>
            <a:ext cx="21336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2659" y="6214969"/>
            <a:ext cx="28956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6214969"/>
            <a:ext cx="4572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coverAccent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15801"/>
            <a:ext cx="7315200" cy="400705"/>
          </a:xfrm>
          <a:prstGeom prst="rect">
            <a:avLst/>
          </a:prstGeom>
        </p:spPr>
      </p:pic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1188720" y="1004455"/>
            <a:ext cx="6766560" cy="2729345"/>
          </a:xfrm>
          <a:solidFill>
            <a:schemeClr val="bg2"/>
          </a:solidFill>
          <a:ln w="127000">
            <a:solidFill>
              <a:schemeClr val="tx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012" y="1904998"/>
            <a:ext cx="6938964" cy="1582271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012" y="3487271"/>
            <a:ext cx="6938960" cy="11430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SzPct val="100000"/>
              <a:buFont typeface="Wingdings" pitchFamily="2" charset="2"/>
              <a:buNone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SectionAccentTo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18488"/>
            <a:ext cx="7315200" cy="356382"/>
          </a:xfrm>
          <a:prstGeom prst="rect">
            <a:avLst/>
          </a:prstGeom>
          <a:noFill/>
        </p:spPr>
      </p:pic>
      <p:pic>
        <p:nvPicPr>
          <p:cNvPr id="1027" name="Picture 3" descr="SectionAccentBott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4690872"/>
            <a:ext cx="7315200" cy="35638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pageAccent-Ful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84293"/>
            <a:ext cx="3429000" cy="3639312"/>
          </a:xfrm>
        </p:spPr>
        <p:txBody>
          <a:bodyPr>
            <a:normAutofit/>
          </a:bodyPr>
          <a:lstStyle>
            <a:lvl1pPr marL="282575" indent="-282575">
              <a:defRPr sz="2000"/>
            </a:lvl1pPr>
            <a:lvl2pPr marL="573088" indent="-282575">
              <a:defRPr sz="1800"/>
            </a:lvl2pPr>
            <a:lvl3pPr marL="855663" indent="-282575">
              <a:defRPr sz="1800"/>
            </a:lvl3pPr>
            <a:lvl4pPr marL="1146175" indent="-282575">
              <a:defRPr sz="1800"/>
            </a:lvl4pPr>
            <a:lvl5pPr marL="1430338" indent="-282575">
              <a:defRPr sz="1800"/>
            </a:lvl5pPr>
            <a:lvl6pPr marL="1712913" indent="-282575">
              <a:defRPr sz="1800"/>
            </a:lvl6pPr>
            <a:lvl7pPr marL="2003425" indent="-282575">
              <a:defRPr sz="1800"/>
            </a:lvl7pPr>
            <a:lvl8pPr marL="2286000" indent="-282575">
              <a:defRPr sz="1800"/>
            </a:lvl8pPr>
            <a:lvl9pPr marL="2568575" indent="-282575"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6106" y="2084293"/>
            <a:ext cx="3429000" cy="3639312"/>
          </a:xfrm>
        </p:spPr>
        <p:txBody>
          <a:bodyPr>
            <a:normAutofit/>
          </a:bodyPr>
          <a:lstStyle>
            <a:lvl1pPr marL="282575" indent="-282575">
              <a:defRPr sz="2000"/>
            </a:lvl1pPr>
            <a:lvl2pPr marL="573088" indent="-282575">
              <a:defRPr sz="1800"/>
            </a:lvl2pPr>
            <a:lvl3pPr marL="855663" indent="-282575">
              <a:defRPr sz="1800"/>
            </a:lvl3pPr>
            <a:lvl4pPr marL="1146175" indent="-282575">
              <a:defRPr sz="1800"/>
            </a:lvl4pPr>
            <a:lvl5pPr marL="1430338" indent="-282575">
              <a:defRPr sz="1800"/>
            </a:lvl5pPr>
            <a:lvl6pPr marL="1712913" indent="-282575">
              <a:defRPr sz="1800"/>
            </a:lvl6pPr>
            <a:lvl7pPr marL="2005013" indent="-282575">
              <a:defRPr sz="1800"/>
            </a:lvl7pPr>
            <a:lvl8pPr marL="2287588" indent="-282575">
              <a:defRPr sz="1800"/>
            </a:lvl8pPr>
            <a:lvl9pPr marL="2568575" indent="-280988"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pageAccent-Ful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1100" y="1839913"/>
            <a:ext cx="2743200" cy="903287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971800"/>
            <a:ext cx="3429000" cy="2751804"/>
          </a:xfrm>
        </p:spPr>
        <p:txBody>
          <a:bodyPr>
            <a:normAutofit/>
          </a:bodyPr>
          <a:lstStyle>
            <a:lvl1pPr marL="282575" indent="-282575">
              <a:defRPr sz="1800"/>
            </a:lvl1pPr>
            <a:lvl2pPr marL="573088" indent="-282575">
              <a:defRPr sz="1800"/>
            </a:lvl2pPr>
            <a:lvl3pPr marL="855663" indent="-282575">
              <a:defRPr sz="1800"/>
            </a:lvl3pPr>
            <a:lvl4pPr marL="1146175" indent="-282575">
              <a:defRPr sz="1800"/>
            </a:lvl4pPr>
            <a:lvl5pPr marL="1430338" indent="-284163">
              <a:defRPr sz="1800"/>
            </a:lvl5pPr>
            <a:lvl6pPr marL="1712913" indent="-282575">
              <a:defRPr sz="1600"/>
            </a:lvl6pPr>
            <a:lvl7pPr marL="2003425" indent="-282575">
              <a:defRPr sz="1600"/>
            </a:lvl7pPr>
            <a:lvl8pPr marL="2286000" indent="-282575">
              <a:defRPr sz="1600"/>
            </a:lvl8pPr>
            <a:lvl9pPr marL="2568575" indent="-282575"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69006" y="1839913"/>
            <a:ext cx="2743200" cy="903287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6106" y="2971800"/>
            <a:ext cx="3429000" cy="2751804"/>
          </a:xfrm>
        </p:spPr>
        <p:txBody>
          <a:bodyPr>
            <a:normAutofit/>
          </a:bodyPr>
          <a:lstStyle>
            <a:lvl1pPr marL="282575" indent="-282575">
              <a:defRPr sz="1800"/>
            </a:lvl1pPr>
            <a:lvl2pPr marL="573088" indent="-282575">
              <a:defRPr sz="1800"/>
            </a:lvl2pPr>
            <a:lvl3pPr marL="855663" indent="-282575">
              <a:defRPr sz="1800"/>
            </a:lvl3pPr>
            <a:lvl4pPr marL="1146175" indent="-282575">
              <a:defRPr sz="1800"/>
            </a:lvl4pPr>
            <a:lvl5pPr marL="1430338" indent="-282575">
              <a:defRPr sz="1800"/>
            </a:lvl5pPr>
            <a:lvl6pPr marL="1712913" indent="-282575">
              <a:defRPr sz="1600"/>
            </a:lvl6pPr>
            <a:lvl7pPr marL="2003425" indent="-282575">
              <a:defRPr sz="1600"/>
            </a:lvl7pPr>
            <a:lvl8pPr marL="2286000" indent="-282575">
              <a:defRPr sz="1600"/>
            </a:lvl8pPr>
            <a:lvl9pPr marL="2568575" indent="-282575"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 descr="comparisonRul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47775" y="2686050"/>
            <a:ext cx="2609850" cy="133350"/>
          </a:xfrm>
          <a:prstGeom prst="rect">
            <a:avLst/>
          </a:prstGeom>
          <a:noFill/>
        </p:spPr>
      </p:pic>
      <p:pic>
        <p:nvPicPr>
          <p:cNvPr id="12" name="Picture 2" descr="comparisonRul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5681" y="2686050"/>
            <a:ext cx="2609850" cy="13335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pageAccent-Ful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3429000" cy="1371600"/>
          </a:xfrm>
        </p:spPr>
        <p:txBody>
          <a:bodyPr anchor="b">
            <a:noAutofit/>
          </a:bodyPr>
          <a:lstStyle>
            <a:lvl1pPr algn="ctr">
              <a:defRPr sz="3600" b="0"/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106" y="914400"/>
            <a:ext cx="3429000" cy="4815841"/>
          </a:xfrm>
        </p:spPr>
        <p:txBody>
          <a:bodyPr>
            <a:normAutofit/>
          </a:bodyPr>
          <a:lstStyle>
            <a:lvl1pPr marL="341313" indent="-341313">
              <a:defRPr sz="2200"/>
            </a:lvl1pPr>
            <a:lvl2pPr marL="631825" indent="-284163">
              <a:defRPr sz="2000"/>
            </a:lvl2pPr>
            <a:lvl3pPr marL="914400" indent="-284163">
              <a:defRPr sz="1800"/>
            </a:lvl3pPr>
            <a:lvl4pPr marL="1196975" indent="-284163">
              <a:defRPr sz="1800"/>
            </a:lvl4pPr>
            <a:lvl5pPr marL="1487488" indent="-284163">
              <a:defRPr sz="1800"/>
            </a:lvl5pPr>
            <a:lvl6pPr marL="1770063" indent="-284163">
              <a:defRPr sz="1800"/>
            </a:lvl6pPr>
            <a:lvl7pPr marL="2060575" indent="-284163">
              <a:defRPr sz="1800"/>
            </a:lvl7pPr>
            <a:lvl8pPr marL="2344738" indent="-284163">
              <a:defRPr sz="1800"/>
            </a:lvl8pPr>
            <a:lvl9pPr marL="2627313" indent="-284163"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667001"/>
            <a:ext cx="3429000" cy="2895600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  <p:pic>
        <p:nvPicPr>
          <p:cNvPr id="3074" name="Picture 2" descr="captionAccen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326341"/>
            <a:ext cx="3429000" cy="24030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scrollwork-To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4754083" y="673398"/>
            <a:ext cx="742950" cy="361950"/>
          </a:xfrm>
          <a:prstGeom prst="rect">
            <a:avLst/>
          </a:prstGeom>
          <a:noFill/>
        </p:spPr>
      </p:pic>
      <p:pic>
        <p:nvPicPr>
          <p:cNvPr id="15" name="Picture 3" descr="scrollwork-Bott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4754083" y="5636584"/>
            <a:ext cx="742950" cy="361950"/>
          </a:xfrm>
          <a:prstGeom prst="rect">
            <a:avLst/>
          </a:prstGeom>
          <a:noFill/>
        </p:spPr>
      </p:pic>
      <p:pic>
        <p:nvPicPr>
          <p:cNvPr id="4099" name="Picture 3" descr="scrollwork-Bott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74169" y="5636584"/>
            <a:ext cx="742950" cy="361950"/>
          </a:xfrm>
          <a:prstGeom prst="rect">
            <a:avLst/>
          </a:prstGeom>
          <a:noFill/>
        </p:spPr>
      </p:pic>
      <p:pic>
        <p:nvPicPr>
          <p:cNvPr id="4098" name="Picture 2" descr="scrollwork-To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74169" y="673398"/>
            <a:ext cx="742950" cy="3619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3429000" cy="1371600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81121" y="914400"/>
            <a:ext cx="3108960" cy="4815841"/>
          </a:xfrm>
          <a:solidFill>
            <a:schemeClr val="bg2"/>
          </a:solidFill>
          <a:ln w="127000">
            <a:solidFill>
              <a:schemeClr val="bg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667001"/>
            <a:ext cx="3429000" cy="2895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500"/>
              </a:spcBef>
              <a:buNone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buSzPct val="100000"/>
              <a:buFont typeface="Wingdings" pitchFamily="2" charset="2"/>
              <a:buNone/>
            </a:pPr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aptionAccent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8200" y="2326341"/>
            <a:ext cx="3429000" cy="24030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scrollwork-To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752600" y="565897"/>
            <a:ext cx="742950" cy="361950"/>
          </a:xfrm>
          <a:prstGeom prst="rect">
            <a:avLst/>
          </a:prstGeom>
          <a:noFill/>
        </p:spPr>
      </p:pic>
      <p:pic>
        <p:nvPicPr>
          <p:cNvPr id="15" name="Picture 3" descr="scrollwork-Bott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1752600" y="4128247"/>
            <a:ext cx="742950" cy="361950"/>
          </a:xfrm>
          <a:prstGeom prst="rect">
            <a:avLst/>
          </a:prstGeom>
          <a:noFill/>
        </p:spPr>
      </p:pic>
      <p:pic>
        <p:nvPicPr>
          <p:cNvPr id="4099" name="Picture 3" descr="scrollwork-Bott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8450" y="4128247"/>
            <a:ext cx="742950" cy="361950"/>
          </a:xfrm>
          <a:prstGeom prst="rect">
            <a:avLst/>
          </a:prstGeom>
          <a:noFill/>
        </p:spPr>
      </p:pic>
      <p:pic>
        <p:nvPicPr>
          <p:cNvPr id="4098" name="Picture 2" descr="scrollwork-To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48450" y="565897"/>
            <a:ext cx="742950" cy="3619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4406153"/>
            <a:ext cx="6583680" cy="784412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0" y="780826"/>
            <a:ext cx="4572000" cy="3467548"/>
          </a:xfrm>
          <a:solidFill>
            <a:schemeClr val="bg2"/>
          </a:solidFill>
          <a:ln w="127000">
            <a:solidFill>
              <a:schemeClr val="bg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5446059"/>
            <a:ext cx="7543800" cy="609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0"/>
              </a:spcBef>
              <a:buNone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buSzPct val="100000"/>
              <a:buFont typeface="Wingdings" pitchFamily="2" charset="2"/>
              <a:buNone/>
            </a:pPr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  <p:pic>
        <p:nvPicPr>
          <p:cNvPr id="6146" name="Picture 2" descr="captionLongAccent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0650" y="5204012"/>
            <a:ext cx="6362700" cy="24765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 Pictures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scrollwork-Botto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993402" y="4128247"/>
            <a:ext cx="742950" cy="361950"/>
          </a:xfrm>
          <a:prstGeom prst="rect">
            <a:avLst/>
          </a:prstGeom>
          <a:noFill/>
        </p:spPr>
      </p:pic>
      <p:pic>
        <p:nvPicPr>
          <p:cNvPr id="4099" name="Picture 3" descr="scrollwork-Botto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07649" y="4128247"/>
            <a:ext cx="742950" cy="361950"/>
          </a:xfrm>
          <a:prstGeom prst="rect">
            <a:avLst/>
          </a:prstGeom>
          <a:noFill/>
        </p:spPr>
      </p:pic>
      <p:pic>
        <p:nvPicPr>
          <p:cNvPr id="12" name="Picture 2" descr="scrollwork-To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993402" y="565897"/>
            <a:ext cx="742950" cy="361950"/>
          </a:xfrm>
          <a:prstGeom prst="rect">
            <a:avLst/>
          </a:prstGeom>
          <a:noFill/>
        </p:spPr>
      </p:pic>
      <p:pic>
        <p:nvPicPr>
          <p:cNvPr id="4098" name="Picture 2" descr="scrollwork-To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07649" y="565897"/>
            <a:ext cx="742950" cy="3619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4406153"/>
            <a:ext cx="6583680" cy="784412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780826"/>
            <a:ext cx="2743200" cy="3467548"/>
          </a:xfrm>
          <a:solidFill>
            <a:schemeClr val="bg2"/>
          </a:solidFill>
          <a:ln w="127000">
            <a:solidFill>
              <a:schemeClr val="bg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5446059"/>
            <a:ext cx="7543800" cy="609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0"/>
              </a:spcBef>
              <a:buNone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buSzPct val="100000"/>
              <a:buFont typeface="Wingdings" pitchFamily="2" charset="2"/>
              <a:buNone/>
            </a:pPr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  <p:pic>
        <p:nvPicPr>
          <p:cNvPr id="6146" name="Picture 2" descr="captionLongAccent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0650" y="5204012"/>
            <a:ext cx="6362700" cy="247650"/>
          </a:xfrm>
          <a:prstGeom prst="rect">
            <a:avLst/>
          </a:prstGeom>
          <a:noFill/>
        </p:spPr>
      </p:pic>
      <p:sp>
        <p:nvSpPr>
          <p:cNvPr id="14" name="Picture Placeholder 2"/>
          <p:cNvSpPr>
            <a:spLocks noGrp="1"/>
          </p:cNvSpPr>
          <p:nvPr>
            <p:ph type="pic" idx="13"/>
          </p:nvPr>
        </p:nvSpPr>
        <p:spPr>
          <a:xfrm>
            <a:off x="4912659" y="780826"/>
            <a:ext cx="2743200" cy="3467548"/>
          </a:xfrm>
          <a:solidFill>
            <a:schemeClr val="bg2"/>
          </a:solidFill>
          <a:ln w="127000">
            <a:solidFill>
              <a:schemeClr val="bg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pageAccent-Ful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084294"/>
            <a:ext cx="7543800" cy="3639670"/>
          </a:xfrm>
        </p:spPr>
        <p:txBody>
          <a:bodyPr vert="eaVert"/>
          <a:lstStyle>
            <a:lvl5pPr>
              <a:defRPr/>
            </a:lvl5pPr>
            <a:lvl6pPr marL="2286000">
              <a:defRPr/>
            </a:lvl6pPr>
            <a:lvl7pPr marL="2286000">
              <a:defRPr/>
            </a:lvl7pPr>
            <a:lvl8pPr marL="2286000">
              <a:defRPr/>
            </a:lvl8pPr>
            <a:lvl9pPr marL="2286000">
              <a:defRPr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922048"/>
            <a:ext cx="1676400" cy="4814888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922048"/>
            <a:ext cx="5638800" cy="4814888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  <p:pic>
        <p:nvPicPr>
          <p:cNvPr id="5122" name="Picture 2" descr="verticalAccen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26225" y="860612"/>
            <a:ext cx="247364" cy="493776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Edging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381000"/>
            <a:ext cx="75438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84294"/>
            <a:ext cx="6949440" cy="3639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118412"/>
            <a:ext cx="2133600" cy="275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9CA1C627-02AD-CD4E-A2B2-7B7854345210}" type="datetimeFigureOut">
              <a:rPr lang="en-US" smtClean="0"/>
              <a:t>5/25/2018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18412"/>
            <a:ext cx="2895600" cy="275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43400" y="6118412"/>
            <a:ext cx="457200" cy="275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06261EC8-3403-3541-91C5-ACC7CF6837C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5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spcBef>
          <a:spcPts val="2000"/>
        </a:spcBef>
        <a:buSzPct val="100000"/>
        <a:buFont typeface="Wingdings" pitchFamily="2" charset="2"/>
        <a:buChar char="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1500"/>
        </a:spcBef>
        <a:buClr>
          <a:schemeClr val="tx1">
            <a:lumMod val="60000"/>
            <a:lumOff val="40000"/>
          </a:schemeClr>
        </a:buClr>
        <a:buSzPct val="100000"/>
        <a:buFont typeface="Wingdings" pitchFamily="2" charset="2"/>
        <a:buChar char="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914400" rtl="0" eaLnBrk="1" latinLnBrk="0" hangingPunct="1">
        <a:spcBef>
          <a:spcPts val="1500"/>
        </a:spcBef>
        <a:buSzPct val="100000"/>
        <a:buFont typeface="Wingdings" pitchFamily="2" charset="2"/>
        <a:buChar char="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914400" rtl="0" eaLnBrk="1" latinLnBrk="0" hangingPunct="1">
        <a:spcBef>
          <a:spcPts val="1500"/>
        </a:spcBef>
        <a:buClr>
          <a:schemeClr val="tx1">
            <a:lumMod val="60000"/>
            <a:lumOff val="40000"/>
          </a:schemeClr>
        </a:buClr>
        <a:buSzPct val="100000"/>
        <a:buFont typeface="Wingdings" pitchFamily="2" charset="2"/>
        <a:buChar char="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914400" rtl="0" eaLnBrk="1" latinLnBrk="0" hangingPunct="1">
        <a:spcBef>
          <a:spcPts val="1500"/>
        </a:spcBef>
        <a:buSzPct val="100000"/>
        <a:buFont typeface="Wingdings" pitchFamily="2" charset="2"/>
        <a:buChar char="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914400" rtl="0" eaLnBrk="1" latinLnBrk="0" hangingPunct="1">
        <a:spcBef>
          <a:spcPts val="1500"/>
        </a:spcBef>
        <a:buClr>
          <a:schemeClr val="tx1">
            <a:lumMod val="60000"/>
            <a:lumOff val="40000"/>
          </a:schemeClr>
        </a:buClr>
        <a:buSzPct val="100000"/>
        <a:buFont typeface="Wingdings" pitchFamily="2" charset="2"/>
        <a:buChar char="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00" indent="-457200" algn="l" defTabSz="914400" rtl="0" eaLnBrk="1" latinLnBrk="0" hangingPunct="1">
        <a:spcBef>
          <a:spcPts val="1500"/>
        </a:spcBef>
        <a:buSzPct val="100000"/>
        <a:buFont typeface="Wingdings" pitchFamily="2" charset="2"/>
        <a:buChar char="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57200" algn="l" defTabSz="914400" rtl="0" eaLnBrk="1" latinLnBrk="0" hangingPunct="1">
        <a:spcBef>
          <a:spcPts val="1500"/>
        </a:spcBef>
        <a:buClr>
          <a:schemeClr val="tx1">
            <a:lumMod val="60000"/>
            <a:lumOff val="40000"/>
          </a:schemeClr>
        </a:buClr>
        <a:buSzPct val="100000"/>
        <a:buFont typeface="Wingdings" pitchFamily="2" charset="2"/>
        <a:buChar char="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114800" indent="-457200" algn="l" defTabSz="914400" rtl="0" eaLnBrk="1" latinLnBrk="0" hangingPunct="1">
        <a:spcBef>
          <a:spcPts val="1500"/>
        </a:spcBef>
        <a:buSzPct val="100000"/>
        <a:buFont typeface="Wingdings" pitchFamily="2" charset="2"/>
        <a:buChar char="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Twin and Adoption Studies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523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Nature/nurture debate</a:t>
            </a:r>
            <a:endParaRPr lang="en-AU" sz="2800" dirty="0"/>
          </a:p>
          <a:p>
            <a:pPr lvl="1"/>
            <a:r>
              <a:rPr lang="en-US" sz="2800" dirty="0"/>
              <a:t>twin studies</a:t>
            </a:r>
            <a:endParaRPr lang="en-AU" sz="2800" dirty="0"/>
          </a:p>
          <a:p>
            <a:pPr lvl="1"/>
            <a:r>
              <a:rPr lang="en-US" sz="2800" dirty="0"/>
              <a:t>adoption studies</a:t>
            </a:r>
            <a:endParaRPr lang="en-AU" sz="2800" dirty="0"/>
          </a:p>
          <a:p>
            <a:pPr lvl="1"/>
            <a:r>
              <a:rPr lang="en-US" sz="2800" dirty="0"/>
              <a:t>intelligences as measured by intelligence quotient (IQ)</a:t>
            </a:r>
            <a:r>
              <a:rPr lang="en-AU" sz="28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37919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Nature vs. Nurture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84294"/>
            <a:ext cx="6949440" cy="4284422"/>
          </a:xfrm>
        </p:spPr>
        <p:txBody>
          <a:bodyPr>
            <a:noAutofit/>
          </a:bodyPr>
          <a:lstStyle/>
          <a:p>
            <a:r>
              <a:rPr lang="en-US" sz="2800" dirty="0"/>
              <a:t>The fundamental question!</a:t>
            </a:r>
          </a:p>
          <a:p>
            <a:r>
              <a:rPr lang="en-US" sz="2800" dirty="0"/>
              <a:t>To what extent is intelligence?</a:t>
            </a:r>
          </a:p>
          <a:p>
            <a:pPr lvl="1"/>
            <a:r>
              <a:rPr lang="en-US" sz="2800" dirty="0"/>
              <a:t>Purely a ‘nature’ trait – genes</a:t>
            </a:r>
          </a:p>
          <a:p>
            <a:pPr lvl="1"/>
            <a:r>
              <a:rPr lang="en-US" sz="2800" dirty="0"/>
              <a:t>Purely a ‘nurture’ trait – environment</a:t>
            </a:r>
          </a:p>
          <a:p>
            <a:pPr lvl="1"/>
            <a:r>
              <a:rPr lang="en-US" sz="2800" dirty="0"/>
              <a:t>A combination of both</a:t>
            </a:r>
          </a:p>
          <a:p>
            <a:r>
              <a:rPr lang="en-US" sz="2800" dirty="0"/>
              <a:t>Can use </a:t>
            </a:r>
            <a:r>
              <a:rPr lang="en-US" sz="2800" b="1" u="sng" dirty="0"/>
              <a:t>twin</a:t>
            </a:r>
            <a:r>
              <a:rPr lang="en-US" sz="2800" dirty="0"/>
              <a:t> or </a:t>
            </a:r>
            <a:r>
              <a:rPr lang="en-US" sz="2800" b="1" u="sng" dirty="0"/>
              <a:t>adoption studies</a:t>
            </a:r>
            <a:r>
              <a:rPr lang="en-US" sz="2800" dirty="0"/>
              <a:t> to test this</a:t>
            </a:r>
          </a:p>
        </p:txBody>
      </p:sp>
    </p:spTree>
    <p:extLst>
      <p:ext uri="{BB962C8B-B14F-4D97-AF65-F5344CB8AC3E}">
        <p14:creationId xmlns:p14="http://schemas.microsoft.com/office/powerpoint/2010/main" val="136648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Twin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Placeholder 4" descr="Identical-twins-011.jpg"/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89" b="16389"/>
          <a:stretch>
            <a:fillRect/>
          </a:stretch>
        </p:blipFill>
        <p:spPr>
          <a:xfrm>
            <a:off x="1189038" y="1004888"/>
            <a:ext cx="6765925" cy="2728912"/>
          </a:xfrm>
        </p:spPr>
      </p:pic>
    </p:spTree>
    <p:extLst>
      <p:ext uri="{BB962C8B-B14F-4D97-AF65-F5344CB8AC3E}">
        <p14:creationId xmlns:p14="http://schemas.microsoft.com/office/powerpoint/2010/main" val="161367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Twins</a:t>
            </a:r>
          </a:p>
        </p:txBody>
      </p:sp>
      <p:pic>
        <p:nvPicPr>
          <p:cNvPr id="4" name="Content Placeholder 3" descr="2000px-Identical-fraternal-sperm-egg.svg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682" r="-156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30687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5" name="Content Placeholder 24" descr="Untitled.png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99" r="-7899"/>
          <a:stretch>
            <a:fillRect/>
          </a:stretch>
        </p:blipFill>
        <p:spPr>
          <a:xfrm>
            <a:off x="4914900" y="2084388"/>
            <a:ext cx="3429000" cy="3639312"/>
          </a:xfrm>
        </p:spPr>
      </p:pic>
      <p:pic>
        <p:nvPicPr>
          <p:cNvPr id="26" name="Content Placeholder 25" descr="MZ.png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956" r="-7956"/>
          <a:stretch>
            <a:fillRect/>
          </a:stretch>
        </p:blipFill>
        <p:spPr>
          <a:xfrm>
            <a:off x="800100" y="2084388"/>
            <a:ext cx="3429000" cy="3638550"/>
          </a:xfrm>
        </p:spPr>
      </p:pic>
    </p:spTree>
    <p:extLst>
      <p:ext uri="{BB962C8B-B14F-4D97-AF65-F5344CB8AC3E}">
        <p14:creationId xmlns:p14="http://schemas.microsoft.com/office/powerpoint/2010/main" val="4169840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1834459"/>
              </p:ext>
            </p:extLst>
          </p:nvPr>
        </p:nvGraphicFramePr>
        <p:xfrm>
          <a:off x="1096963" y="2084388"/>
          <a:ext cx="6950076" cy="276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5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0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Degree of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Degree of Gene</a:t>
                      </a:r>
                      <a:r>
                        <a:rPr lang="en-US" baseline="0" dirty="0"/>
                        <a:t> Similarity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0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0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 (approximately)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0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Siblings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 (approximately)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0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Adopted Children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354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095" y="2084294"/>
            <a:ext cx="8293767" cy="4316506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800000"/>
                </a:solidFill>
              </a:rPr>
              <a:t>Comparing Monozygotic twins (MZ) with Dizygotic twins (DZ). Since MZ twins have identical DNA, there should be a </a:t>
            </a:r>
            <a:r>
              <a:rPr lang="en-US" sz="2800" b="1" u="sng" dirty="0">
                <a:solidFill>
                  <a:srgbClr val="800000"/>
                </a:solidFill>
              </a:rPr>
              <a:t>higher concordance rate</a:t>
            </a:r>
            <a:endParaRPr lang="en-US" sz="2800" dirty="0">
              <a:solidFill>
                <a:srgbClr val="800000"/>
              </a:solidFill>
            </a:endParaRPr>
          </a:p>
          <a:p>
            <a:pPr lvl="1"/>
            <a:r>
              <a:rPr lang="en-US" sz="2800" i="1" dirty="0"/>
              <a:t>The probability that a pair of individuals will both have a certain characteristic, given that one of the pair has the characteristic</a:t>
            </a:r>
            <a:endParaRPr lang="en-US" sz="2800" b="1" u="sng" dirty="0">
              <a:solidFill>
                <a:srgbClr val="800000"/>
              </a:solidFill>
            </a:endParaRPr>
          </a:p>
          <a:p>
            <a:r>
              <a:rPr lang="en-US" sz="2800" dirty="0"/>
              <a:t>If intelligence is purely nature then MZ should be identical and DZ should be different</a:t>
            </a:r>
          </a:p>
        </p:txBody>
      </p:sp>
    </p:spTree>
    <p:extLst>
      <p:ext uri="{BB962C8B-B14F-4D97-AF65-F5344CB8AC3E}">
        <p14:creationId xmlns:p14="http://schemas.microsoft.com/office/powerpoint/2010/main" val="947215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7616713"/>
              </p:ext>
            </p:extLst>
          </p:nvPr>
        </p:nvGraphicFramePr>
        <p:xfrm>
          <a:off x="800097" y="2084388"/>
          <a:ext cx="8007018" cy="4243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3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50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316">
                <a:tc>
                  <a:txBody>
                    <a:bodyPr/>
                    <a:lstStyle/>
                    <a:p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MZ concordance is</a:t>
                      </a:r>
                    </a:p>
                    <a:p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significantly higher than DZ</a:t>
                      </a:r>
                      <a:r>
                        <a:rPr lang="en-GB" sz="2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oncordance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disorder has a genetic component.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521">
                <a:tc>
                  <a:txBody>
                    <a:bodyPr/>
                    <a:lstStyle/>
                    <a:p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MZ concordance is same or</a:t>
                      </a:r>
                    </a:p>
                    <a:p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similar to DZ concordance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disorder is environmentally caused.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500">
                <a:tc>
                  <a:txBody>
                    <a:bodyPr/>
                    <a:lstStyle/>
                    <a:p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MZ concordance is 100%</a:t>
                      </a:r>
                      <a:r>
                        <a:rPr lang="en-GB" sz="2400" dirty="0">
                          <a:effectLst/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disorder is genetically caused.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521">
                <a:tc>
                  <a:txBody>
                    <a:bodyPr/>
                    <a:lstStyle/>
                    <a:p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MZ concordance is</a:t>
                      </a:r>
                    </a:p>
                    <a:p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significantly less than 100%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disorder has an environmental component.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293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Adoption Studies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Placeholder 6" descr="Apoption.jpg"/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665" r="-3266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5797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doption Studies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60" b="-636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22210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20842" y="2084293"/>
            <a:ext cx="8486274" cy="4396717"/>
          </a:xfrm>
        </p:spPr>
        <p:txBody>
          <a:bodyPr>
            <a:normAutofit/>
          </a:bodyPr>
          <a:lstStyle/>
          <a:p>
            <a:r>
              <a:rPr lang="en-US" sz="2800" dirty="0"/>
              <a:t>Adoption studies tend to compare the adopted child with the biological mother and the adoptive mother to determine which has the higher concordance rate for a given behaviour</a:t>
            </a:r>
          </a:p>
          <a:p>
            <a:pPr lvl="1"/>
            <a:r>
              <a:rPr lang="en-US" sz="2800" dirty="0"/>
              <a:t>If an adopted child has a higher concordance rate for intelligence to their adopted parent compared to their biological parent, is it more nature or nurture?</a:t>
            </a:r>
          </a:p>
          <a:p>
            <a:pPr lvl="1"/>
            <a:r>
              <a:rPr lang="en-US" sz="2800" dirty="0"/>
              <a:t>Why might adoption studies at times be preferable to twin studies?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21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Twins Reared Apart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Studies can also investigate MZ and DZ twins that were reared apart</a:t>
            </a:r>
          </a:p>
          <a:p>
            <a:pPr lvl="1"/>
            <a:r>
              <a:rPr lang="en-US" sz="2800" dirty="0"/>
              <a:t>Less common form of study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47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Advantages and Disadvantages of Twin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674" y="2084293"/>
            <a:ext cx="8630652" cy="4476927"/>
          </a:xfrm>
        </p:spPr>
        <p:txBody>
          <a:bodyPr>
            <a:noAutofit/>
          </a:bodyPr>
          <a:lstStyle/>
          <a:p>
            <a:r>
              <a:rPr lang="en-US" sz="2400" dirty="0"/>
              <a:t>Strengths:</a:t>
            </a:r>
          </a:p>
          <a:p>
            <a:pPr lvl="1"/>
            <a:r>
              <a:rPr lang="en-US" sz="2400" dirty="0"/>
              <a:t>Twin studies have produced a great deal of data in support of biological roots of disorders; this has helped psychologists to stress prevention for those who are vulnerable to such disorders</a:t>
            </a:r>
          </a:p>
          <a:p>
            <a:pPr lvl="1"/>
            <a:r>
              <a:rPr lang="en-US" sz="2400" dirty="0"/>
              <a:t>There is a high cross-cultural reliability of concordance levels</a:t>
            </a:r>
          </a:p>
        </p:txBody>
      </p:sp>
    </p:spTree>
    <p:extLst>
      <p:ext uri="{BB962C8B-B14F-4D97-AF65-F5344CB8AC3E}">
        <p14:creationId xmlns:p14="http://schemas.microsoft.com/office/powerpoint/2010/main" val="2672648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Advantages and Disadvantages of Twin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84" y="2518610"/>
            <a:ext cx="822943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Limitations:</a:t>
            </a:r>
          </a:p>
          <a:p>
            <a:pPr lvl="1"/>
            <a:r>
              <a:rPr lang="en-US" sz="2400" dirty="0"/>
              <a:t>MZ twins are rarely separated at birth and raised </a:t>
            </a:r>
          </a:p>
          <a:p>
            <a:pPr lvl="1"/>
            <a:r>
              <a:rPr lang="en-US" sz="2400" dirty="0"/>
              <a:t>in a totally different environment, yet this is really necessary to </a:t>
            </a:r>
          </a:p>
          <a:p>
            <a:pPr lvl="1"/>
            <a:r>
              <a:rPr lang="en-US" sz="2400" dirty="0"/>
              <a:t>substantiate claims. 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MZ twins reared together share many of the same experiences. 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DZ twins reared together may not share the same experiences </a:t>
            </a:r>
          </a:p>
          <a:p>
            <a:pPr lvl="1"/>
            <a:r>
              <a:rPr lang="en-US" sz="2400" dirty="0"/>
              <a:t>due to levels of attractiveness or temperament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329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Advantages and Disadvantages of Adoption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/>
              <a:t>Strengths:</a:t>
            </a:r>
          </a:p>
          <a:p>
            <a:pPr lvl="1"/>
            <a:r>
              <a:rPr lang="en-US" sz="2600" dirty="0"/>
              <a:t>Adoption studies allow researchers to isolate variables</a:t>
            </a:r>
          </a:p>
          <a:p>
            <a:pPr lvl="2"/>
            <a:r>
              <a:rPr lang="en-US" sz="2600" dirty="0"/>
              <a:t>If a biological mother has no contact since birth and still matches for a specific trait - for example, the adopted child’s IQ is better than the adoptive mother and in concordance with the birth mother - this is strong evidence that genes play a significant role in the development of this trait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524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Advantages and Disadvantages of Adoption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Limitations:</a:t>
            </a:r>
          </a:p>
          <a:p>
            <a:pPr lvl="1"/>
            <a:r>
              <a:rPr lang="en-US" sz="2400" dirty="0"/>
              <a:t>Selective placement is a problem. Babies tend to placed with families similar in background to the natural parents</a:t>
            </a:r>
          </a:p>
          <a:p>
            <a:pPr lvl="1"/>
            <a:r>
              <a:rPr lang="en-US" sz="2400" dirty="0"/>
              <a:t>Adopted children – as well as twins - are not representative of all children </a:t>
            </a:r>
          </a:p>
          <a:p>
            <a:pPr lvl="1"/>
            <a:r>
              <a:rPr lang="en-US" sz="2400" dirty="0"/>
              <a:t>The act of being given up for adoption may affect the child’s behaviour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747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Studies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what extent is intelligence (as measured by IQ) a result of nature or nurture?</a:t>
            </a:r>
          </a:p>
        </p:txBody>
      </p:sp>
    </p:spTree>
    <p:extLst>
      <p:ext uri="{BB962C8B-B14F-4D97-AF65-F5344CB8AC3E}">
        <p14:creationId xmlns:p14="http://schemas.microsoft.com/office/powerpoint/2010/main" val="3925780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Bouchard &amp; </a:t>
            </a:r>
            <a:r>
              <a:rPr lang="en-US" dirty="0" err="1"/>
              <a:t>McGue</a:t>
            </a:r>
            <a:r>
              <a:rPr lang="en-US" dirty="0"/>
              <a:t> (1981)</a:t>
            </a:r>
            <a:br>
              <a:rPr lang="en-US" dirty="0"/>
            </a:br>
            <a:r>
              <a:rPr lang="en-US" i="1" dirty="0"/>
              <a:t>Meta-analysis of Siblings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ctr"/>
            <a:r>
              <a:rPr lang="en-AU" sz="2400" dirty="0"/>
              <a:t>Conducted a meta-analysis of 111 studies of </a:t>
            </a:r>
            <a:r>
              <a:rPr lang="en-AU" sz="2400" i="1" dirty="0"/>
              <a:t>siblings</a:t>
            </a:r>
            <a:endParaRPr lang="en-AU" sz="2800" dirty="0"/>
          </a:p>
          <a:p>
            <a:pPr lvl="0" fontAlgn="ctr"/>
            <a:r>
              <a:rPr lang="en-AU" sz="2400" dirty="0"/>
              <a:t>Investigated IQ correlations between siblings</a:t>
            </a:r>
          </a:p>
          <a:p>
            <a:pPr lvl="0" fontAlgn="ctr"/>
            <a:r>
              <a:rPr lang="en-AU" sz="2400" dirty="0"/>
              <a:t>Found that there was a positive correlation between kinship and IQ correlation - the closer the siblings were, the more similar their IQ</a:t>
            </a:r>
          </a:p>
        </p:txBody>
      </p:sp>
    </p:spTree>
    <p:extLst>
      <p:ext uri="{BB962C8B-B14F-4D97-AF65-F5344CB8AC3E}">
        <p14:creationId xmlns:p14="http://schemas.microsoft.com/office/powerpoint/2010/main" val="159407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ctr"/>
            <a:r>
              <a:rPr lang="en-AU" sz="2400" dirty="0"/>
              <a:t>Evaluation of study: </a:t>
            </a:r>
          </a:p>
          <a:p>
            <a:pPr lvl="1" fontAlgn="ctr"/>
            <a:r>
              <a:rPr lang="en-AU" dirty="0"/>
              <a:t>Large study, so generalisable</a:t>
            </a:r>
          </a:p>
          <a:p>
            <a:pPr lvl="1" fontAlgn="ctr"/>
            <a:r>
              <a:rPr lang="en-AU" dirty="0"/>
              <a:t>However, siblings are raised in the same environment, so influence may not be purely genetic, and it is difficult to differentiate between influence of genetics and environment</a:t>
            </a:r>
          </a:p>
          <a:p>
            <a:pPr lvl="1" fontAlgn="ctr"/>
            <a:r>
              <a:rPr lang="en-AU" dirty="0"/>
              <a:t>Also, age - the further apart the siblings in age, the less correlated their IQs are expected to be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21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AU" dirty="0"/>
              <a:t>In order to investigate the role of genetics by itself, identical twins that are raised separately from birth must be studied. Identical twins have a 100% genetic relationship, but if raised in separate environments, any similarity (beyond that expected by chance) in IQ must be due to similarity in genetics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55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Horn et al. (1979)</a:t>
            </a:r>
            <a:br>
              <a:rPr lang="en-US" dirty="0"/>
            </a:br>
            <a:r>
              <a:rPr lang="en-US" i="1" dirty="0"/>
              <a:t>The Texas Adoption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AU" dirty="0"/>
              <a:t>Conducted a study on parents who raised BOTH adopted and natural children</a:t>
            </a:r>
          </a:p>
          <a:p>
            <a:pPr lvl="0"/>
            <a:r>
              <a:rPr lang="en-AU" dirty="0"/>
              <a:t>All children have the same upbringing, therefore same environment, but some were similar in genetics and some were not</a:t>
            </a:r>
          </a:p>
          <a:p>
            <a:pPr lvl="0"/>
            <a:r>
              <a:rPr lang="en-AU" dirty="0"/>
              <a:t>Found no significant differences in correlation of parent-child IQs between natural and adopted children</a:t>
            </a:r>
          </a:p>
          <a:p>
            <a:pPr lvl="0"/>
            <a:r>
              <a:rPr lang="en-AU" dirty="0"/>
              <a:t>Adoptive parents were wealthy, white, middle class and children were poor, lower class backgrounds, with lower IQ parents</a:t>
            </a:r>
          </a:p>
          <a:p>
            <a:r>
              <a:rPr lang="en-AU" dirty="0"/>
              <a:t>Conclusion that genetics has little impact - mostly environment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91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Wahlsten</a:t>
            </a:r>
            <a:r>
              <a:rPr lang="en-US" dirty="0"/>
              <a:t> (1987)</a:t>
            </a:r>
            <a:br>
              <a:rPr lang="en-US" dirty="0"/>
            </a:br>
            <a:r>
              <a:rPr lang="en-US" i="1" dirty="0"/>
              <a:t>French Adoption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dirty="0"/>
              <a:t>Well controlled adoption studies in France</a:t>
            </a:r>
          </a:p>
          <a:p>
            <a:pPr lvl="0"/>
            <a:r>
              <a:rPr lang="en-AU" dirty="0"/>
              <a:t>Transferred infant from family with low socio-economic status to with high economic status parents</a:t>
            </a:r>
          </a:p>
          <a:p>
            <a:pPr lvl="0"/>
            <a:r>
              <a:rPr lang="en-AU" dirty="0"/>
              <a:t>Increased IQ of children by 12-16 points</a:t>
            </a:r>
          </a:p>
          <a:p>
            <a:pPr lvl="0"/>
            <a:r>
              <a:rPr lang="en-AU" dirty="0"/>
              <a:t>Suggests that environment has a lot to do with intelligence, as well genetics - enriched environment = good</a:t>
            </a:r>
          </a:p>
        </p:txBody>
      </p:sp>
    </p:spTree>
    <p:extLst>
      <p:ext uri="{BB962C8B-B14F-4D97-AF65-F5344CB8AC3E}">
        <p14:creationId xmlns:p14="http://schemas.microsoft.com/office/powerpoint/2010/main" val="1681492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Daniels &amp; </a:t>
            </a:r>
            <a:r>
              <a:rPr lang="en-US" dirty="0" err="1"/>
              <a:t>Plomin</a:t>
            </a:r>
            <a:r>
              <a:rPr lang="en-US" dirty="0"/>
              <a:t> (1985)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Longitudinal study- tested sociability </a:t>
            </a:r>
            <a:r>
              <a:rPr lang="en-US" dirty="0" err="1"/>
              <a:t>vs</a:t>
            </a:r>
            <a:r>
              <a:rPr lang="en-US" dirty="0"/>
              <a:t> shyness of children adopted at 12 and 24 months</a:t>
            </a:r>
          </a:p>
          <a:p>
            <a:r>
              <a:rPr lang="en-US" dirty="0"/>
              <a:t>Found heredity played a role in shyness- extreme shyness in biological mum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shy child at 2 years</a:t>
            </a:r>
          </a:p>
          <a:p>
            <a:r>
              <a:rPr lang="en-US" dirty="0"/>
              <a:t>Also found that family environment was also important in the development of shyness </a:t>
            </a:r>
            <a:r>
              <a:rPr lang="en-US" dirty="0">
                <a:sym typeface="Wingdings"/>
              </a:rPr>
              <a:t>–</a:t>
            </a:r>
            <a:r>
              <a:rPr lang="en-US" dirty="0"/>
              <a:t> shyness in adoptive mum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shy child at 2 years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18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Followed children of two groups of mothers- low and high intelligence</a:t>
            </a:r>
          </a:p>
          <a:p>
            <a:pPr lvl="1"/>
            <a:r>
              <a:rPr lang="en-US" dirty="0"/>
              <a:t>Adopted at birth by parents of above income and education</a:t>
            </a:r>
          </a:p>
          <a:p>
            <a:pPr lvl="1"/>
            <a:r>
              <a:rPr lang="en-US" dirty="0"/>
              <a:t>Children from low IQ mothers scored above average in IQ</a:t>
            </a:r>
          </a:p>
          <a:p>
            <a:pPr lvl="1"/>
            <a:r>
              <a:rPr lang="en-US" dirty="0"/>
              <a:t>Children from high IQ mothers scored even higher though</a:t>
            </a:r>
          </a:p>
          <a:p>
            <a:r>
              <a:rPr lang="en-US" dirty="0"/>
              <a:t>Shows that both heredity and environment play a part in IQ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8499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Formal">
  <a:themeElements>
    <a:clrScheme name="Formal">
      <a:dk1>
        <a:srgbClr val="534239"/>
      </a:dk1>
      <a:lt1>
        <a:srgbClr val="FFFFFF"/>
      </a:lt1>
      <a:dk2>
        <a:srgbClr val="3D3A48"/>
      </a:dk2>
      <a:lt2>
        <a:srgbClr val="E1DFD1"/>
      </a:lt2>
      <a:accent1>
        <a:srgbClr val="907F76"/>
      </a:accent1>
      <a:accent2>
        <a:srgbClr val="A46645"/>
      </a:accent2>
      <a:accent3>
        <a:srgbClr val="CD9C47"/>
      </a:accent3>
      <a:accent4>
        <a:srgbClr val="9A92CD"/>
      </a:accent4>
      <a:accent5>
        <a:srgbClr val="7D639B"/>
      </a:accent5>
      <a:accent6>
        <a:srgbClr val="733678"/>
      </a:accent6>
      <a:hlink>
        <a:srgbClr val="A84914"/>
      </a:hlink>
      <a:folHlink>
        <a:srgbClr val="B25672"/>
      </a:folHlink>
    </a:clrScheme>
    <a:fontScheme name="Formal">
      <a:majorFont>
        <a:latin typeface="Garamond"/>
        <a:ea typeface=""/>
        <a:cs typeface=""/>
        <a:font script="Jpan" typeface="ヒラギノ明朝 Pro W3"/>
        <a:font script="Hans" typeface="宋体"/>
        <a:font script="Hant" typeface="新細明體"/>
      </a:majorFont>
      <a:minorFont>
        <a:latin typeface="Garamond"/>
        <a:ea typeface=""/>
        <a:cs typeface=""/>
        <a:font script="Jpan" typeface="ヒラギノ明朝 Pro W3"/>
        <a:font script="Hans" typeface="宋体"/>
        <a:font script="Hant" typeface="新細明體"/>
      </a:minorFont>
    </a:fontScheme>
    <a:fmtScheme name="Formal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0000"/>
                <a:satMod val="200000"/>
              </a:schemeClr>
              <a:schemeClr val="phClr">
                <a:shade val="90000"/>
                <a:satMod val="150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80000"/>
                <a:satMod val="135000"/>
              </a:schemeClr>
              <a:schemeClr val="phClr">
                <a:shade val="80000"/>
                <a:satMod val="150000"/>
              </a:schemeClr>
            </a:duotone>
          </a:blip>
          <a:tile tx="0" ty="0" sx="65000" sy="65000" flip="none" algn="tl"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>
              <a:shade val="90000"/>
              <a:alpha val="90000"/>
            </a:schemeClr>
          </a:solidFill>
          <a:prstDash val="solid"/>
          <a:miter/>
        </a:ln>
        <a:ln w="38100" cap="flat" cmpd="sng" algn="ctr">
          <a:solidFill>
            <a:schemeClr val="phClr">
              <a:shade val="85000"/>
              <a:alpha val="90000"/>
              <a:satMod val="125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88900" dist="38100" dir="5400000" sx="101000" sy="101000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morning" dir="t">
              <a:rot lat="0" lon="0" rev="6000000"/>
            </a:lightRig>
          </a:scene3d>
          <a:sp3d prstMaterial="metal">
            <a:bevelT w="25400" h="12700" prst="artDeco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3">
            <a:duotone>
              <a:schemeClr val="phClr">
                <a:tint val="50000"/>
                <a:satMod val="250000"/>
              </a:schemeClr>
              <a:schemeClr val="phClr">
                <a:shade val="80000"/>
                <a:satMod val="175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tint val="10000"/>
                <a:satMod val="260000"/>
                <a:lumMod val="115000"/>
              </a:schemeClr>
              <a:schemeClr val="phClr">
                <a:shade val="75000"/>
                <a:satMod val="175000"/>
                <a:lumMod val="105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Formal.thmx</Template>
  <TotalTime>138</TotalTime>
  <Words>908</Words>
  <Application>Microsoft Office PowerPoint</Application>
  <PresentationFormat>On-screen Show (4:3)</PresentationFormat>
  <Paragraphs>102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Garamond</vt:lpstr>
      <vt:lpstr>Wingdings</vt:lpstr>
      <vt:lpstr>Formal</vt:lpstr>
      <vt:lpstr>Twin and Adoption Studies</vt:lpstr>
      <vt:lpstr>Content</vt:lpstr>
      <vt:lpstr>Nature vs. Nurture</vt:lpstr>
      <vt:lpstr>Twin Studies</vt:lpstr>
      <vt:lpstr>Twins</vt:lpstr>
      <vt:lpstr>PowerPoint Presentation</vt:lpstr>
      <vt:lpstr>PowerPoint Presentation</vt:lpstr>
      <vt:lpstr>PowerPoint Presentation</vt:lpstr>
      <vt:lpstr>PowerPoint Presentation</vt:lpstr>
      <vt:lpstr>Adoption Studies</vt:lpstr>
      <vt:lpstr>PowerPoint Presentation</vt:lpstr>
      <vt:lpstr>PowerPoint Presentation</vt:lpstr>
      <vt:lpstr>Twins Reared Apart</vt:lpstr>
      <vt:lpstr>Advantages and Disadvantages of Twin Studies</vt:lpstr>
      <vt:lpstr>Advantages and Disadvantages of Twin Studies</vt:lpstr>
      <vt:lpstr>Advantages and Disadvantages of Adoption Studies</vt:lpstr>
      <vt:lpstr>Advantages and Disadvantages of Adoption Studies</vt:lpstr>
      <vt:lpstr>Empirical Studies</vt:lpstr>
      <vt:lpstr>Bouchard &amp; McGue (1981) Meta-analysis of Siblings</vt:lpstr>
      <vt:lpstr>PowerPoint Presentation</vt:lpstr>
      <vt:lpstr>PowerPoint Presentation</vt:lpstr>
      <vt:lpstr>Horn et al. (1979) The Texas Adoption Study</vt:lpstr>
      <vt:lpstr>Wahlsten (1987) French Adoption Study</vt:lpstr>
      <vt:lpstr>Daniels &amp; Plomin (1985)</vt:lpstr>
      <vt:lpstr>PowerPoint Presentation</vt:lpstr>
    </vt:vector>
  </TitlesOfParts>
  <Company>Tranby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Twin and Adoption Studies</dc:title>
  <dc:creator>Anthony Britza</dc:creator>
  <cp:lastModifiedBy>Rory Mckenzie</cp:lastModifiedBy>
  <cp:revision>31</cp:revision>
  <dcterms:created xsi:type="dcterms:W3CDTF">2015-06-14T01:16:56Z</dcterms:created>
  <dcterms:modified xsi:type="dcterms:W3CDTF">2018-05-25T00:54:26Z</dcterms:modified>
</cp:coreProperties>
</file>
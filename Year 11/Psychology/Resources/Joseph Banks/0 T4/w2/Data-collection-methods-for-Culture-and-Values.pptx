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1"/>
  </p:sldMasterIdLst>
  <p:notesMasterIdLst>
    <p:notesMasterId r:id="rId18"/>
  </p:notesMasterIdLst>
  <p:sldIdLst>
    <p:sldId id="262" r:id="rId2"/>
    <p:sldId id="400" r:id="rId3"/>
    <p:sldId id="354" r:id="rId4"/>
    <p:sldId id="259" r:id="rId5"/>
    <p:sldId id="390" r:id="rId6"/>
    <p:sldId id="391" r:id="rId7"/>
    <p:sldId id="385" r:id="rId8"/>
    <p:sldId id="387" r:id="rId9"/>
    <p:sldId id="392" r:id="rId10"/>
    <p:sldId id="395" r:id="rId11"/>
    <p:sldId id="396" r:id="rId12"/>
    <p:sldId id="397" r:id="rId13"/>
    <p:sldId id="393" r:id="rId14"/>
    <p:sldId id="398" r:id="rId15"/>
    <p:sldId id="394" r:id="rId16"/>
    <p:sldId id="39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21" autoAdjust="0"/>
    <p:restoredTop sz="88255" autoAdjust="0"/>
  </p:normalViewPr>
  <p:slideViewPr>
    <p:cSldViewPr snapToGrid="0" snapToObjects="1">
      <p:cViewPr varScale="1">
        <p:scale>
          <a:sx n="111" d="100"/>
          <a:sy n="111" d="100"/>
        </p:scale>
        <p:origin x="84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89A3D-5FA8-6B42-92CA-B793AF9680B3}" type="datetimeFigureOut">
              <a:rPr lang="en-US" smtClean="0"/>
              <a:t>10/19/21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3A09D-58FF-8544-8F30-659E369A30FA}" type="slidenum">
              <a:rPr lang="en-US" smtClean="0"/>
              <a:t>‹#›</a:t>
            </a:fld>
            <a:endParaRPr lang="en-US"/>
          </a:p>
        </p:txBody>
      </p:sp>
    </p:spTree>
    <p:extLst>
      <p:ext uri="{BB962C8B-B14F-4D97-AF65-F5344CB8AC3E}">
        <p14:creationId xmlns:p14="http://schemas.microsoft.com/office/powerpoint/2010/main" val="282556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1</a:t>
            </a:fld>
            <a:endParaRPr lang="en-US"/>
          </a:p>
        </p:txBody>
      </p:sp>
    </p:spTree>
    <p:extLst>
      <p:ext uri="{BB962C8B-B14F-4D97-AF65-F5344CB8AC3E}">
        <p14:creationId xmlns:p14="http://schemas.microsoft.com/office/powerpoint/2010/main" val="1775962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3</a:t>
            </a:fld>
            <a:endParaRPr lang="en-US"/>
          </a:p>
        </p:txBody>
      </p:sp>
    </p:spTree>
    <p:extLst>
      <p:ext uri="{BB962C8B-B14F-4D97-AF65-F5344CB8AC3E}">
        <p14:creationId xmlns:p14="http://schemas.microsoft.com/office/powerpoint/2010/main" val="1148827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4</a:t>
            </a:fld>
            <a:endParaRPr lang="en-US"/>
          </a:p>
        </p:txBody>
      </p:sp>
    </p:spTree>
    <p:extLst>
      <p:ext uri="{BB962C8B-B14F-4D97-AF65-F5344CB8AC3E}">
        <p14:creationId xmlns:p14="http://schemas.microsoft.com/office/powerpoint/2010/main" val="3910340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5</a:t>
            </a:fld>
            <a:endParaRPr lang="en-US"/>
          </a:p>
        </p:txBody>
      </p:sp>
    </p:spTree>
    <p:extLst>
      <p:ext uri="{BB962C8B-B14F-4D97-AF65-F5344CB8AC3E}">
        <p14:creationId xmlns:p14="http://schemas.microsoft.com/office/powerpoint/2010/main" val="2468244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6</a:t>
            </a:fld>
            <a:endParaRPr lang="en-US"/>
          </a:p>
        </p:txBody>
      </p:sp>
    </p:spTree>
    <p:extLst>
      <p:ext uri="{BB962C8B-B14F-4D97-AF65-F5344CB8AC3E}">
        <p14:creationId xmlns:p14="http://schemas.microsoft.com/office/powerpoint/2010/main" val="1469453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7</a:t>
            </a:fld>
            <a:endParaRPr lang="en-US"/>
          </a:p>
        </p:txBody>
      </p:sp>
    </p:spTree>
    <p:extLst>
      <p:ext uri="{BB962C8B-B14F-4D97-AF65-F5344CB8AC3E}">
        <p14:creationId xmlns:p14="http://schemas.microsoft.com/office/powerpoint/2010/main" val="1352179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5A3A09D-58FF-8544-8F30-659E369A30FA}" type="slidenum">
              <a:rPr lang="en-US" smtClean="0"/>
              <a:t>8</a:t>
            </a:fld>
            <a:endParaRPr lang="en-US"/>
          </a:p>
        </p:txBody>
      </p:sp>
    </p:spTree>
    <p:extLst>
      <p:ext uri="{BB962C8B-B14F-4D97-AF65-F5344CB8AC3E}">
        <p14:creationId xmlns:p14="http://schemas.microsoft.com/office/powerpoint/2010/main" val="259520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0961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73589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US"/>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134453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US"/>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9247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9657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14523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4020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10/19/21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7116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44181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4270761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10344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10/19/21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35889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10/19/21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3221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33382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176510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90284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10/19/21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841283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290446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10/19/21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650992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10/19/21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107448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5.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4000" dirty="0"/>
              <a:t>Do now</a:t>
            </a:r>
          </a:p>
        </p:txBody>
      </p:sp>
      <p:graphicFrame>
        <p:nvGraphicFramePr>
          <p:cNvPr id="7" name="Table 6"/>
          <p:cNvGraphicFramePr>
            <a:graphicFrameLocks noGrp="1"/>
          </p:cNvGraphicFramePr>
          <p:nvPr>
            <p:extLst>
              <p:ext uri="{D42A27DB-BD31-4B8C-83A1-F6EECF244321}">
                <p14:modId xmlns:p14="http://schemas.microsoft.com/office/powerpoint/2010/main" val="2896422333"/>
              </p:ext>
            </p:extLst>
          </p:nvPr>
        </p:nvGraphicFramePr>
        <p:xfrm>
          <a:off x="8890788" y="5547858"/>
          <a:ext cx="3126644" cy="128016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Extended Response on Social Psych and Culture and Values – Week 3</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CB713E8-D0D0-4D35-8F6A-4F52B4B63A36}"/>
              </a:ext>
            </a:extLst>
          </p:cNvPr>
          <p:cNvSpPr txBox="1"/>
          <p:nvPr/>
        </p:nvSpPr>
        <p:spPr>
          <a:xfrm>
            <a:off x="1" y="4663440"/>
            <a:ext cx="1551296" cy="2246769"/>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a:ea typeface="+mn-ea"/>
                <a:cs typeface="+mn-cs"/>
              </a:rPr>
              <a:t>Pens out</a:t>
            </a:r>
          </a:p>
        </p:txBody>
      </p:sp>
      <p:graphicFrame>
        <p:nvGraphicFramePr>
          <p:cNvPr id="3" name="Table 5">
            <a:extLst>
              <a:ext uri="{FF2B5EF4-FFF2-40B4-BE49-F238E27FC236}">
                <a16:creationId xmlns:a16="http://schemas.microsoft.com/office/drawing/2014/main" id="{40E54E23-EE86-4D8B-BD4F-3B14F5EEC06F}"/>
              </a:ext>
            </a:extLst>
          </p:cNvPr>
          <p:cNvGraphicFramePr>
            <a:graphicFrameLocks noGrp="1"/>
          </p:cNvGraphicFramePr>
          <p:nvPr>
            <p:extLst>
              <p:ext uri="{D42A27DB-BD31-4B8C-83A1-F6EECF244321}">
                <p14:modId xmlns:p14="http://schemas.microsoft.com/office/powerpoint/2010/main" val="1238678688"/>
              </p:ext>
            </p:extLst>
          </p:nvPr>
        </p:nvGraphicFramePr>
        <p:xfrm>
          <a:off x="1696720" y="804834"/>
          <a:ext cx="10420976" cy="4704708"/>
        </p:xfrm>
        <a:graphic>
          <a:graphicData uri="http://schemas.openxmlformats.org/drawingml/2006/table">
            <a:tbl>
              <a:tblPr firstRow="1" bandRow="1">
                <a:tableStyleId>{5C22544A-7EE6-4342-B048-85BDC9FD1C3A}</a:tableStyleId>
              </a:tblPr>
              <a:tblGrid>
                <a:gridCol w="2605244">
                  <a:extLst>
                    <a:ext uri="{9D8B030D-6E8A-4147-A177-3AD203B41FA5}">
                      <a16:colId xmlns:a16="http://schemas.microsoft.com/office/drawing/2014/main" val="3545831142"/>
                    </a:ext>
                  </a:extLst>
                </a:gridCol>
                <a:gridCol w="2605244">
                  <a:extLst>
                    <a:ext uri="{9D8B030D-6E8A-4147-A177-3AD203B41FA5}">
                      <a16:colId xmlns:a16="http://schemas.microsoft.com/office/drawing/2014/main" val="2137757491"/>
                    </a:ext>
                  </a:extLst>
                </a:gridCol>
                <a:gridCol w="2605244">
                  <a:extLst>
                    <a:ext uri="{9D8B030D-6E8A-4147-A177-3AD203B41FA5}">
                      <a16:colId xmlns:a16="http://schemas.microsoft.com/office/drawing/2014/main" val="1213408973"/>
                    </a:ext>
                  </a:extLst>
                </a:gridCol>
                <a:gridCol w="2605244">
                  <a:extLst>
                    <a:ext uri="{9D8B030D-6E8A-4147-A177-3AD203B41FA5}">
                      <a16:colId xmlns:a16="http://schemas.microsoft.com/office/drawing/2014/main" val="205132370"/>
                    </a:ext>
                  </a:extLst>
                </a:gridCol>
              </a:tblGrid>
              <a:tr h="310280">
                <a:tc>
                  <a:txBody>
                    <a:bodyPr/>
                    <a:lstStyle/>
                    <a:p>
                      <a:r>
                        <a:rPr lang="en-AU" dirty="0"/>
                        <a:t>Measuring tool</a:t>
                      </a:r>
                    </a:p>
                  </a:txBody>
                  <a:tcPr/>
                </a:tc>
                <a:tc>
                  <a:txBody>
                    <a:bodyPr/>
                    <a:lstStyle/>
                    <a:p>
                      <a:r>
                        <a:rPr lang="en-AU" dirty="0"/>
                        <a:t>Description</a:t>
                      </a:r>
                    </a:p>
                  </a:txBody>
                  <a:tcPr/>
                </a:tc>
                <a:tc>
                  <a:txBody>
                    <a:bodyPr/>
                    <a:lstStyle/>
                    <a:p>
                      <a:r>
                        <a:rPr lang="en-AU" dirty="0"/>
                        <a:t>Strength</a:t>
                      </a:r>
                    </a:p>
                  </a:txBody>
                  <a:tcPr/>
                </a:tc>
                <a:tc>
                  <a:txBody>
                    <a:bodyPr/>
                    <a:lstStyle/>
                    <a:p>
                      <a:r>
                        <a:rPr lang="en-AU" dirty="0"/>
                        <a:t>Weakness</a:t>
                      </a:r>
                    </a:p>
                  </a:txBody>
                  <a:tcPr/>
                </a:tc>
                <a:extLst>
                  <a:ext uri="{0D108BD9-81ED-4DB2-BD59-A6C34878D82A}">
                    <a16:rowId xmlns:a16="http://schemas.microsoft.com/office/drawing/2014/main" val="2141042138"/>
                  </a:ext>
                </a:extLst>
              </a:tr>
              <a:tr h="1241118">
                <a:tc>
                  <a:txBody>
                    <a:bodyPr/>
                    <a:lstStyle/>
                    <a:p>
                      <a:r>
                        <a:rPr lang="en-AU" sz="1600" dirty="0"/>
                        <a:t>Observation</a:t>
                      </a:r>
                    </a:p>
                  </a:txBody>
                  <a:tcPr/>
                </a:tc>
                <a:tc>
                  <a:txBody>
                    <a:bodyPr/>
                    <a:lstStyle/>
                    <a:p>
                      <a:r>
                        <a:rPr lang="en-US" sz="1600" dirty="0"/>
                        <a:t>Individuals are asked to comment freely without limitation on their attitude towards a particular topic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Descriptive, very specific, interesting, useful.</a:t>
                      </a:r>
                    </a:p>
                    <a:p>
                      <a:endParaRPr lang="en-AU"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ysClr val="windowText" lastClr="000000"/>
                          </a:solidFill>
                        </a:rPr>
                        <a:t>Have to assume underlying attitude</a:t>
                      </a:r>
                      <a:r>
                        <a:rPr lang="en-AU" sz="1600" dirty="0">
                          <a:solidFill>
                            <a:sysClr val="windowText" lastClr="000000"/>
                          </a:solidFill>
                        </a:rPr>
                        <a:t> from behaviour.</a:t>
                      </a:r>
                      <a:endParaRPr lang="en-US" sz="1600" dirty="0">
                        <a:solidFill>
                          <a:sysClr val="windowText" lastClr="000000"/>
                        </a:solidFill>
                      </a:endParaRPr>
                    </a:p>
                    <a:p>
                      <a:endParaRPr lang="en-AU" sz="1600" dirty="0"/>
                    </a:p>
                  </a:txBody>
                  <a:tcPr/>
                </a:tc>
                <a:extLst>
                  <a:ext uri="{0D108BD9-81ED-4DB2-BD59-A6C34878D82A}">
                    <a16:rowId xmlns:a16="http://schemas.microsoft.com/office/drawing/2014/main" val="3256476451"/>
                  </a:ext>
                </a:extLst>
              </a:tr>
              <a:tr h="1473828">
                <a:tc>
                  <a:txBody>
                    <a:bodyPr/>
                    <a:lstStyle/>
                    <a:p>
                      <a:r>
                        <a:rPr lang="en-AU" sz="1600" dirty="0"/>
                        <a:t>Open-ended interviews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 persons attitude is measured by them indicating the extent to which they agree or disagree with statements.</a:t>
                      </a:r>
                    </a:p>
                  </a:txBody>
                  <a:tcPr/>
                </a:tc>
                <a:tc>
                  <a:txBody>
                    <a:bodyPr/>
                    <a:lstStyle/>
                    <a:p>
                      <a:r>
                        <a:rPr lang="en-US" sz="1600" dirty="0"/>
                        <a:t>Useful when attitudes being investigated people may not want to be honest about</a:t>
                      </a:r>
                      <a:r>
                        <a:rPr lang="en-AU" sz="1600" dirty="0"/>
                        <a:t>.</a:t>
                      </a:r>
                      <a:endParaRPr lang="en-US" sz="1600" dirty="0"/>
                    </a:p>
                  </a:txBody>
                  <a:tcPr/>
                </a:tc>
                <a:tc>
                  <a:txBody>
                    <a:bodyPr/>
                    <a:lstStyle/>
                    <a:p>
                      <a:r>
                        <a:rPr lang="en-AU" sz="1600" dirty="0"/>
                        <a:t>Lack of detail, restricting (does not allow participants to explain). </a:t>
                      </a:r>
                    </a:p>
                  </a:txBody>
                  <a:tcPr/>
                </a:tc>
                <a:extLst>
                  <a:ext uri="{0D108BD9-81ED-4DB2-BD59-A6C34878D82A}">
                    <a16:rowId xmlns:a16="http://schemas.microsoft.com/office/drawing/2014/main" val="224639872"/>
                  </a:ext>
                </a:extLst>
              </a:tr>
              <a:tr h="1473828">
                <a:tc>
                  <a:txBody>
                    <a:bodyPr/>
                    <a:lstStyle/>
                    <a:p>
                      <a:r>
                        <a:rPr lang="en-AU" sz="1600" dirty="0"/>
                        <a:t>Likert Scale</a:t>
                      </a:r>
                    </a:p>
                  </a:txBody>
                  <a:tcPr/>
                </a:tc>
                <a:tc>
                  <a:txBody>
                    <a:bodyPr/>
                    <a:lstStyle/>
                    <a:p>
                      <a:r>
                        <a:rPr lang="en-US" sz="1600" dirty="0"/>
                        <a:t>When a person is observed within a specific circumstance or environment and their </a:t>
                      </a:r>
                      <a:r>
                        <a:rPr lang="en-US" sz="1600" dirty="0" err="1"/>
                        <a:t>behaviour</a:t>
                      </a:r>
                      <a:r>
                        <a:rPr lang="en-US" sz="1600" dirty="0"/>
                        <a:t> is recorded</a:t>
                      </a:r>
                      <a:r>
                        <a:rPr lang="en-AU" sz="1600" dirty="0"/>
                        <a:t>.</a:t>
                      </a:r>
                      <a:endParaRPr lang="en-US" sz="1600" dirty="0"/>
                    </a:p>
                  </a:txBody>
                  <a:tcPr/>
                </a:tc>
                <a:tc>
                  <a:txBody>
                    <a:bodyPr/>
                    <a:lstStyle/>
                    <a:p>
                      <a:r>
                        <a:rPr lang="en-AU" sz="1600" dirty="0"/>
                        <a:t>Easy to analyse, due to associating numbers with statements. </a:t>
                      </a:r>
                    </a:p>
                  </a:txBody>
                  <a:tcPr/>
                </a:tc>
                <a:tc>
                  <a:txBody>
                    <a:bodyPr/>
                    <a:lstStyle/>
                    <a:p>
                      <a:r>
                        <a:rPr lang="en-AU" sz="1600" dirty="0"/>
                        <a:t>Difficult to analyse, subject to social desirability.</a:t>
                      </a:r>
                    </a:p>
                  </a:txBody>
                  <a:tcPr/>
                </a:tc>
                <a:extLst>
                  <a:ext uri="{0D108BD9-81ED-4DB2-BD59-A6C34878D82A}">
                    <a16:rowId xmlns:a16="http://schemas.microsoft.com/office/drawing/2014/main" val="2788533881"/>
                  </a:ext>
                </a:extLst>
              </a:tr>
            </a:tbl>
          </a:graphicData>
        </a:graphic>
      </p:graphicFrame>
      <p:sp>
        <p:nvSpPr>
          <p:cNvPr id="9" name="TextBox 8">
            <a:extLst>
              <a:ext uri="{FF2B5EF4-FFF2-40B4-BE49-F238E27FC236}">
                <a16:creationId xmlns:a16="http://schemas.microsoft.com/office/drawing/2014/main" id="{7DD5A61F-4C8B-4EA5-9B81-A9C961A3D817}"/>
              </a:ext>
            </a:extLst>
          </p:cNvPr>
          <p:cNvSpPr txBox="1"/>
          <p:nvPr/>
        </p:nvSpPr>
        <p:spPr>
          <a:xfrm>
            <a:off x="3416300" y="219516"/>
            <a:ext cx="6162040" cy="461665"/>
          </a:xfrm>
          <a:prstGeom prst="rect">
            <a:avLst/>
          </a:prstGeom>
          <a:noFill/>
        </p:spPr>
        <p:txBody>
          <a:bodyPr wrap="square">
            <a:spAutoFit/>
          </a:bodyPr>
          <a:lstStyle/>
          <a:p>
            <a:r>
              <a:rPr lang="en-US" sz="2400" b="1" dirty="0">
                <a:solidFill>
                  <a:schemeClr val="accent1"/>
                </a:solidFill>
              </a:rPr>
              <a:t>Matching</a:t>
            </a:r>
            <a:r>
              <a:rPr lang="en-US" b="1" dirty="0">
                <a:solidFill>
                  <a:schemeClr val="accent1"/>
                </a:solidFill>
              </a:rPr>
              <a:t>!</a:t>
            </a:r>
            <a:endParaRPr lang="en-AU" dirty="0"/>
          </a:p>
        </p:txBody>
      </p:sp>
    </p:spTree>
    <p:extLst>
      <p:ext uri="{BB962C8B-B14F-4D97-AF65-F5344CB8AC3E}">
        <p14:creationId xmlns:p14="http://schemas.microsoft.com/office/powerpoint/2010/main" val="1441705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163D7AB-D807-A348-A66F-C35701075D87}"/>
              </a:ext>
            </a:extLst>
          </p:cNvPr>
          <p:cNvSpPr txBox="1"/>
          <p:nvPr/>
        </p:nvSpPr>
        <p:spPr>
          <a:xfrm>
            <a:off x="2384386" y="138896"/>
            <a:ext cx="5777544" cy="646331"/>
          </a:xfrm>
          <a:prstGeom prst="rect">
            <a:avLst/>
          </a:prstGeom>
          <a:noFill/>
        </p:spPr>
        <p:txBody>
          <a:bodyPr wrap="none" rtlCol="0">
            <a:spAutoFit/>
          </a:bodyPr>
          <a:lstStyle/>
          <a:p>
            <a:r>
              <a:rPr lang="en-US" sz="3600" b="1" dirty="0"/>
              <a:t>Peer review and marking</a:t>
            </a:r>
          </a:p>
        </p:txBody>
      </p:sp>
      <p:sp>
        <p:nvSpPr>
          <p:cNvPr id="5" name="TextBox 4">
            <a:extLst>
              <a:ext uri="{FF2B5EF4-FFF2-40B4-BE49-F238E27FC236}">
                <a16:creationId xmlns:a16="http://schemas.microsoft.com/office/drawing/2014/main" id="{9980EE7E-3EEC-C345-BB8C-057B86CF5D07}"/>
              </a:ext>
            </a:extLst>
          </p:cNvPr>
          <p:cNvSpPr txBox="1"/>
          <p:nvPr/>
        </p:nvSpPr>
        <p:spPr>
          <a:xfrm>
            <a:off x="718019" y="1124731"/>
            <a:ext cx="4626588" cy="923330"/>
          </a:xfrm>
          <a:prstGeom prst="rect">
            <a:avLst/>
          </a:prstGeom>
          <a:noFill/>
        </p:spPr>
        <p:txBody>
          <a:bodyPr wrap="none" rtlCol="0">
            <a:spAutoFit/>
          </a:bodyPr>
          <a:lstStyle/>
          <a:p>
            <a:r>
              <a:rPr lang="en-US" b="1" dirty="0"/>
              <a:t>Feedback sheet</a:t>
            </a:r>
          </a:p>
          <a:p>
            <a:r>
              <a:rPr lang="en-US" b="1" dirty="0"/>
              <a:t>On a piece of paper write two headings</a:t>
            </a:r>
            <a:endParaRPr lang="en-US" dirty="0"/>
          </a:p>
          <a:p>
            <a:endParaRPr lang="en-US" dirty="0"/>
          </a:p>
        </p:txBody>
      </p:sp>
      <p:graphicFrame>
        <p:nvGraphicFramePr>
          <p:cNvPr id="6" name="Table 6">
            <a:extLst>
              <a:ext uri="{FF2B5EF4-FFF2-40B4-BE49-F238E27FC236}">
                <a16:creationId xmlns:a16="http://schemas.microsoft.com/office/drawing/2014/main" id="{8BC366E0-C8E9-4445-B9BE-68D56C88AC81}"/>
              </a:ext>
            </a:extLst>
          </p:cNvPr>
          <p:cNvGraphicFramePr>
            <a:graphicFrameLocks noGrp="1"/>
          </p:cNvGraphicFramePr>
          <p:nvPr>
            <p:extLst>
              <p:ext uri="{D42A27DB-BD31-4B8C-83A1-F6EECF244321}">
                <p14:modId xmlns:p14="http://schemas.microsoft.com/office/powerpoint/2010/main" val="185329704"/>
              </p:ext>
            </p:extLst>
          </p:nvPr>
        </p:nvGraphicFramePr>
        <p:xfrm>
          <a:off x="511021" y="2176835"/>
          <a:ext cx="5445246" cy="2663035"/>
        </p:xfrm>
        <a:graphic>
          <a:graphicData uri="http://schemas.openxmlformats.org/drawingml/2006/table">
            <a:tbl>
              <a:tblPr firstRow="1" bandRow="1">
                <a:tableStyleId>{912C8C85-51F0-491E-9774-3900AFEF0FD7}</a:tableStyleId>
              </a:tblPr>
              <a:tblGrid>
                <a:gridCol w="2722623">
                  <a:extLst>
                    <a:ext uri="{9D8B030D-6E8A-4147-A177-3AD203B41FA5}">
                      <a16:colId xmlns:a16="http://schemas.microsoft.com/office/drawing/2014/main" val="3845810966"/>
                    </a:ext>
                  </a:extLst>
                </a:gridCol>
                <a:gridCol w="2722623">
                  <a:extLst>
                    <a:ext uri="{9D8B030D-6E8A-4147-A177-3AD203B41FA5}">
                      <a16:colId xmlns:a16="http://schemas.microsoft.com/office/drawing/2014/main" val="2544125070"/>
                    </a:ext>
                  </a:extLst>
                </a:gridCol>
              </a:tblGrid>
              <a:tr h="377035">
                <a:tc>
                  <a:txBody>
                    <a:bodyPr/>
                    <a:lstStyle/>
                    <a:p>
                      <a:r>
                        <a:rPr lang="en-US" dirty="0"/>
                        <a:t>Glow</a:t>
                      </a:r>
                    </a:p>
                  </a:txBody>
                  <a:tcPr/>
                </a:tc>
                <a:tc>
                  <a:txBody>
                    <a:bodyPr/>
                    <a:lstStyle/>
                    <a:p>
                      <a:r>
                        <a:rPr lang="en-US" dirty="0"/>
                        <a:t>Grow</a:t>
                      </a:r>
                    </a:p>
                  </a:txBody>
                  <a:tcPr/>
                </a:tc>
                <a:extLst>
                  <a:ext uri="{0D108BD9-81ED-4DB2-BD59-A6C34878D82A}">
                    <a16:rowId xmlns:a16="http://schemas.microsoft.com/office/drawing/2014/main" val="1850914172"/>
                  </a:ext>
                </a:extLst>
              </a:tr>
              <a:tr h="843934">
                <a:tc>
                  <a:txBody>
                    <a:bodyPr/>
                    <a:lstStyle/>
                    <a:p>
                      <a:pPr marL="285750" indent="-285750" algn="l">
                        <a:buFont typeface="Arial" panose="020B0604020202020204" pitchFamily="34" charset="0"/>
                        <a:buChar char="•"/>
                      </a:pPr>
                      <a:r>
                        <a:rPr lang="en-US" dirty="0"/>
                        <a:t>What did your peer do well?</a:t>
                      </a:r>
                    </a:p>
                    <a:p>
                      <a:pPr marL="285750" indent="-285750" algn="l">
                        <a:buFont typeface="Arial" panose="020B0604020202020204" pitchFamily="34" charset="0"/>
                        <a:buChar char="•"/>
                      </a:pPr>
                      <a:r>
                        <a:rPr lang="en-US" dirty="0"/>
                        <a:t>Structure.</a:t>
                      </a:r>
                    </a:p>
                    <a:p>
                      <a:pPr marL="285750" indent="-285750" algn="l">
                        <a:buFont typeface="Arial" panose="020B0604020202020204" pitchFamily="34" charset="0"/>
                        <a:buChar char="•"/>
                      </a:pPr>
                      <a:r>
                        <a:rPr lang="en-US" dirty="0"/>
                        <a:t>Gave examples with context.</a:t>
                      </a:r>
                    </a:p>
                    <a:p>
                      <a:pPr marL="285750" indent="-285750" algn="l">
                        <a:buFont typeface="Arial" panose="020B0604020202020204" pitchFamily="34" charset="0"/>
                        <a:buChar char="•"/>
                      </a:pPr>
                      <a:r>
                        <a:rPr lang="en-US" dirty="0"/>
                        <a:t>Followed the marking key</a:t>
                      </a:r>
                    </a:p>
                  </a:txBody>
                  <a:tcPr/>
                </a:tc>
                <a:tc>
                  <a:txBody>
                    <a:bodyPr/>
                    <a:lstStyle/>
                    <a:p>
                      <a:pPr marL="285750" indent="-285750" algn="l">
                        <a:buFont typeface="Arial" panose="020B0604020202020204" pitchFamily="34" charset="0"/>
                        <a:buChar char="•"/>
                      </a:pPr>
                      <a:r>
                        <a:rPr lang="en-US" dirty="0"/>
                        <a:t>What did they miss?</a:t>
                      </a:r>
                    </a:p>
                    <a:p>
                      <a:pPr marL="285750" indent="-285750" algn="l">
                        <a:buFont typeface="Arial" panose="020B0604020202020204" pitchFamily="34" charset="0"/>
                        <a:buChar char="•"/>
                      </a:pPr>
                      <a:r>
                        <a:rPr lang="en-US" dirty="0"/>
                        <a:t>What definitions did they miss / not complete.</a:t>
                      </a:r>
                    </a:p>
                    <a:p>
                      <a:pPr marL="285750" indent="-285750" algn="l">
                        <a:buFont typeface="Arial" panose="020B0604020202020204" pitchFamily="34" charset="0"/>
                        <a:buChar char="•"/>
                      </a:pPr>
                      <a:r>
                        <a:rPr lang="en-US" dirty="0"/>
                        <a:t>Did the sentences make sense?</a:t>
                      </a:r>
                    </a:p>
                    <a:p>
                      <a:pPr marL="285750" indent="-285750" algn="l">
                        <a:buFont typeface="Arial" panose="020B0604020202020204" pitchFamily="34" charset="0"/>
                        <a:buChar char="•"/>
                      </a:pPr>
                      <a:r>
                        <a:rPr lang="en-US" dirty="0"/>
                        <a:t>Too much waffle</a:t>
                      </a:r>
                    </a:p>
                    <a:p>
                      <a:pPr algn="l"/>
                      <a:endParaRPr lang="en-US" dirty="0"/>
                    </a:p>
                  </a:txBody>
                  <a:tcPr/>
                </a:tc>
                <a:extLst>
                  <a:ext uri="{0D108BD9-81ED-4DB2-BD59-A6C34878D82A}">
                    <a16:rowId xmlns:a16="http://schemas.microsoft.com/office/drawing/2014/main" val="1812342231"/>
                  </a:ext>
                </a:extLst>
              </a:tr>
            </a:tbl>
          </a:graphicData>
        </a:graphic>
      </p:graphicFrame>
      <p:sp>
        <p:nvSpPr>
          <p:cNvPr id="7" name="TextBox 6">
            <a:extLst>
              <a:ext uri="{FF2B5EF4-FFF2-40B4-BE49-F238E27FC236}">
                <a16:creationId xmlns:a16="http://schemas.microsoft.com/office/drawing/2014/main" id="{34368D65-75E0-7842-A21A-C13B1A00066E}"/>
              </a:ext>
            </a:extLst>
          </p:cNvPr>
          <p:cNvSpPr txBox="1"/>
          <p:nvPr/>
        </p:nvSpPr>
        <p:spPr>
          <a:xfrm>
            <a:off x="7054393" y="1094801"/>
            <a:ext cx="4347772" cy="3693319"/>
          </a:xfrm>
          <a:prstGeom prst="rect">
            <a:avLst/>
          </a:prstGeom>
          <a:noFill/>
        </p:spPr>
        <p:txBody>
          <a:bodyPr wrap="square" rtlCol="0">
            <a:spAutoFit/>
          </a:bodyPr>
          <a:lstStyle/>
          <a:p>
            <a:r>
              <a:rPr lang="en-US" b="1" dirty="0"/>
              <a:t>Instructions:</a:t>
            </a:r>
          </a:p>
          <a:p>
            <a:pPr marL="342900" indent="-342900">
              <a:buFont typeface="+mj-lt"/>
              <a:buAutoNum type="arabicPeriod"/>
            </a:pPr>
            <a:endParaRPr lang="en-US" dirty="0"/>
          </a:p>
          <a:p>
            <a:pPr marL="342900" indent="-342900">
              <a:buFont typeface="+mj-lt"/>
              <a:buAutoNum type="arabicPeriod"/>
            </a:pPr>
            <a:r>
              <a:rPr lang="en-US" dirty="0"/>
              <a:t>Leave your draft on your table with the feedback sheet</a:t>
            </a:r>
          </a:p>
          <a:p>
            <a:pPr marL="342900" indent="-342900">
              <a:buFont typeface="+mj-lt"/>
              <a:buAutoNum type="arabicPeriod"/>
            </a:pPr>
            <a:r>
              <a:rPr lang="en-US" dirty="0"/>
              <a:t>Bring a pen and a marking key</a:t>
            </a:r>
          </a:p>
          <a:p>
            <a:pPr marL="342900" indent="-342900">
              <a:buFont typeface="+mj-lt"/>
              <a:buAutoNum type="arabicPeriod"/>
            </a:pPr>
            <a:r>
              <a:rPr lang="en-US" dirty="0"/>
              <a:t>You will sit at another students desk</a:t>
            </a:r>
          </a:p>
          <a:p>
            <a:pPr marL="342900" indent="-342900">
              <a:buFont typeface="+mj-lt"/>
              <a:buAutoNum type="arabicPeriod"/>
            </a:pPr>
            <a:endParaRPr lang="en-US" dirty="0"/>
          </a:p>
          <a:p>
            <a:pPr marL="342900" indent="-342900">
              <a:buFont typeface="+mj-lt"/>
              <a:buAutoNum type="arabicPeriod"/>
            </a:pPr>
            <a:r>
              <a:rPr lang="en-US" dirty="0"/>
              <a:t>4 minutes to read</a:t>
            </a:r>
          </a:p>
          <a:p>
            <a:pPr marL="342900" indent="-342900">
              <a:buFont typeface="+mj-lt"/>
              <a:buAutoNum type="arabicPeriod"/>
            </a:pPr>
            <a:r>
              <a:rPr lang="en-US" dirty="0"/>
              <a:t>2 minutes to review with the marking key </a:t>
            </a:r>
          </a:p>
          <a:p>
            <a:pPr marL="342900" indent="-342900">
              <a:buFont typeface="+mj-lt"/>
              <a:buAutoNum type="arabicPeriod"/>
            </a:pPr>
            <a:r>
              <a:rPr lang="en-US" dirty="0"/>
              <a:t>2 minutes to give SPECIFIC feedback </a:t>
            </a:r>
          </a:p>
        </p:txBody>
      </p:sp>
    </p:spTree>
    <p:extLst>
      <p:ext uri="{BB962C8B-B14F-4D97-AF65-F5344CB8AC3E}">
        <p14:creationId xmlns:p14="http://schemas.microsoft.com/office/powerpoint/2010/main" val="2313376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72" y="3219352"/>
            <a:ext cx="8977745" cy="1323439"/>
          </a:xfrm>
        </p:spPr>
        <p:txBody>
          <a:bodyPr>
            <a:normAutofit/>
          </a:bodyPr>
          <a:lstStyle/>
          <a:p>
            <a:r>
              <a:rPr lang="en-US" sz="4000" b="1" dirty="0"/>
              <a:t>Success Criteria </a:t>
            </a:r>
          </a:p>
        </p:txBody>
      </p:sp>
      <p:sp>
        <p:nvSpPr>
          <p:cNvPr id="4" name="Title 1"/>
          <p:cNvSpPr txBox="1">
            <a:spLocks/>
          </p:cNvSpPr>
          <p:nvPr/>
        </p:nvSpPr>
        <p:spPr>
          <a:xfrm>
            <a:off x="0" y="391704"/>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solidFill>
              </a:rPr>
              <a:t>Learning Intention </a:t>
            </a:r>
          </a:p>
        </p:txBody>
      </p:sp>
      <p:sp>
        <p:nvSpPr>
          <p:cNvPr id="5" name="TextBox 4"/>
          <p:cNvSpPr txBox="1"/>
          <p:nvPr/>
        </p:nvSpPr>
        <p:spPr>
          <a:xfrm>
            <a:off x="451936" y="1479760"/>
            <a:ext cx="10606961" cy="1200329"/>
          </a:xfrm>
          <a:prstGeom prst="rect">
            <a:avLst/>
          </a:prstGeom>
          <a:noFill/>
        </p:spPr>
        <p:txBody>
          <a:bodyPr wrap="square" rtlCol="0">
            <a:spAutoFit/>
          </a:bodyPr>
          <a:lstStyle/>
          <a:p>
            <a:r>
              <a:rPr lang="en-US" sz="2400" dirty="0">
                <a:solidFill>
                  <a:srgbClr val="194431"/>
                </a:solidFill>
              </a:rPr>
              <a:t>By the end of the lesson I will be able to:</a:t>
            </a:r>
          </a:p>
          <a:p>
            <a:pPr marL="342900" indent="-342900">
              <a:buFont typeface="Arial" panose="020B0604020202020204" pitchFamily="34" charset="0"/>
              <a:buChar char="•"/>
            </a:pPr>
            <a:r>
              <a:rPr lang="en-US" sz="2400" dirty="0">
                <a:solidFill>
                  <a:srgbClr val="194431"/>
                </a:solidFill>
              </a:rPr>
              <a:t>Explain data collection tools to measure attitudes</a:t>
            </a:r>
          </a:p>
          <a:p>
            <a:pPr marL="342900" indent="-342900">
              <a:buFont typeface="Arial" panose="020B0604020202020204" pitchFamily="34" charset="0"/>
              <a:buChar char="•"/>
            </a:pPr>
            <a:endParaRPr lang="en-US" sz="2400" dirty="0">
              <a:solidFill>
                <a:srgbClr val="194431"/>
              </a:solidFill>
            </a:endParaRPr>
          </a:p>
        </p:txBody>
      </p:sp>
      <p:pic>
        <p:nvPicPr>
          <p:cNvPr id="3" name="Picture 2" descr="Iconsmind-Outline-Pen-5.ic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703" y="192389"/>
            <a:ext cx="1724875" cy="1724875"/>
          </a:xfrm>
          <a:prstGeom prst="rect">
            <a:avLst/>
          </a:prstGeom>
        </p:spPr>
      </p:pic>
      <p:sp>
        <p:nvSpPr>
          <p:cNvPr id="7" name="Content Placeholder 6"/>
          <p:cNvSpPr>
            <a:spLocks noGrp="1"/>
          </p:cNvSpPr>
          <p:nvPr>
            <p:ph idx="1"/>
          </p:nvPr>
        </p:nvSpPr>
        <p:spPr>
          <a:xfrm>
            <a:off x="658012" y="4730181"/>
            <a:ext cx="5498948" cy="2127819"/>
          </a:xfrm>
        </p:spPr>
        <p:txBody>
          <a:bodyPr>
            <a:normAutofit/>
          </a:bodyPr>
          <a:lstStyle/>
          <a:p>
            <a:pPr marL="342900" indent="-342900">
              <a:buFont typeface="Arial" panose="020B0604020202020204" pitchFamily="34" charset="0"/>
              <a:buChar char="•"/>
            </a:pPr>
            <a:r>
              <a:rPr lang="en-US" sz="2000" dirty="0">
                <a:solidFill>
                  <a:srgbClr val="194431"/>
                </a:solidFill>
              </a:rPr>
              <a:t>Research ‘Focus groups’</a:t>
            </a:r>
          </a:p>
          <a:p>
            <a:pPr marL="342900" indent="-342900">
              <a:buFont typeface="Arial" panose="020B0604020202020204" pitchFamily="34" charset="0"/>
              <a:buChar char="•"/>
            </a:pPr>
            <a:r>
              <a:rPr lang="en-US" sz="2000" dirty="0">
                <a:solidFill>
                  <a:srgbClr val="194431"/>
                </a:solidFill>
              </a:rPr>
              <a:t>Create a data collection tool to measure attitudes</a:t>
            </a:r>
          </a:p>
          <a:p>
            <a:pPr marL="342900" indent="-342900">
              <a:buFont typeface="Arial" panose="020B0604020202020204" pitchFamily="34" charset="0"/>
              <a:buChar char="•"/>
            </a:pPr>
            <a:r>
              <a:rPr lang="en-US" dirty="0">
                <a:solidFill>
                  <a:srgbClr val="194431"/>
                </a:solidFill>
              </a:rPr>
              <a:t>Complete practice exam questions</a:t>
            </a:r>
            <a:endParaRPr lang="en-US" sz="2000" dirty="0">
              <a:solidFill>
                <a:srgbClr val="194431"/>
              </a:solidFill>
            </a:endParaRPr>
          </a:p>
          <a:p>
            <a:pPr marL="342900" indent="-342900">
              <a:buFont typeface="Arial" panose="020B0604020202020204" pitchFamily="34" charset="0"/>
              <a:buChar char="•"/>
            </a:pPr>
            <a:endParaRPr lang="en-US" sz="2000" dirty="0">
              <a:solidFill>
                <a:srgbClr val="194431"/>
              </a:solidFill>
            </a:endParaRPr>
          </a:p>
        </p:txBody>
      </p:sp>
      <p:sp>
        <p:nvSpPr>
          <p:cNvPr id="8" name="TextBox 7">
            <a:extLst>
              <a:ext uri="{FF2B5EF4-FFF2-40B4-BE49-F238E27FC236}">
                <a16:creationId xmlns:a16="http://schemas.microsoft.com/office/drawing/2014/main" id="{0D485EBB-265A-4D98-BE4F-CCFB89DFF366}"/>
              </a:ext>
            </a:extLst>
          </p:cNvPr>
          <p:cNvSpPr txBox="1"/>
          <p:nvPr/>
        </p:nvSpPr>
        <p:spPr>
          <a:xfrm>
            <a:off x="6242003" y="3047911"/>
            <a:ext cx="5854429" cy="3785652"/>
          </a:xfrm>
          <a:prstGeom prst="rect">
            <a:avLst/>
          </a:prstGeom>
          <a:solidFill>
            <a:schemeClr val="bg2">
              <a:lumMod val="60000"/>
              <a:lumOff val="40000"/>
            </a:schemeClr>
          </a:solidFill>
        </p:spPr>
        <p:txBody>
          <a:bodyPr wrap="square">
            <a:spAutoFit/>
          </a:bodyPr>
          <a:lstStyle/>
          <a:p>
            <a:r>
              <a:rPr lang="en-US" sz="1600" b="1" dirty="0"/>
              <a:t>Culture and values Syllabus Points</a:t>
            </a:r>
          </a:p>
          <a:p>
            <a:endParaRPr lang="en-US" sz="1600" dirty="0"/>
          </a:p>
          <a:p>
            <a:pPr marL="285750" indent="-285750">
              <a:buFont typeface="Arial" panose="020B0604020202020204" pitchFamily="34" charset="0"/>
              <a:buChar char="•"/>
            </a:pPr>
            <a:r>
              <a:rPr lang="en-AU" sz="1600" dirty="0"/>
              <a:t>attitude formation – Tripartite model </a:t>
            </a:r>
          </a:p>
          <a:p>
            <a:pPr marL="285750" indent="-285750">
              <a:buFont typeface="Arial" panose="020B0604020202020204" pitchFamily="34" charset="0"/>
              <a:buChar char="•"/>
            </a:pPr>
            <a:r>
              <a:rPr lang="en-AU" sz="1600" dirty="0">
                <a:highlight>
                  <a:srgbClr val="FFFF00"/>
                </a:highlight>
              </a:rPr>
              <a:t>tools for measuring attitudes </a:t>
            </a:r>
          </a:p>
          <a:p>
            <a:r>
              <a:rPr lang="en-AU" sz="1600" dirty="0">
                <a:highlight>
                  <a:srgbClr val="FFFF00"/>
                </a:highlight>
              </a:rPr>
              <a:t>	o observational methods </a:t>
            </a:r>
          </a:p>
          <a:p>
            <a:r>
              <a:rPr lang="en-AU" sz="1600" dirty="0">
                <a:highlight>
                  <a:srgbClr val="FFFF00"/>
                </a:highlight>
              </a:rPr>
              <a:t>	o qualitative self-report methods – interviews and 	focus groups </a:t>
            </a:r>
          </a:p>
          <a:p>
            <a:r>
              <a:rPr lang="en-AU" sz="1600" dirty="0">
                <a:highlight>
                  <a:srgbClr val="FFFF00"/>
                </a:highlight>
              </a:rPr>
              <a:t>	o quantitative self-report measures – rating scales</a:t>
            </a:r>
            <a:endParaRPr lang="en-US" sz="1600" dirty="0">
              <a:highlight>
                <a:srgbClr val="FFFF00"/>
              </a:highlight>
            </a:endParaRPr>
          </a:p>
          <a:p>
            <a:pPr marL="285750" indent="-285750">
              <a:buFont typeface="Arial" panose="020B0604020202020204" pitchFamily="34" charset="0"/>
              <a:buChar char="•"/>
            </a:pPr>
            <a:r>
              <a:rPr lang="en-US" sz="1600" dirty="0"/>
              <a:t>racism </a:t>
            </a:r>
          </a:p>
          <a:p>
            <a:r>
              <a:rPr lang="en-US" sz="1600" dirty="0"/>
              <a:t>	o causes of prejudice </a:t>
            </a:r>
          </a:p>
          <a:p>
            <a:r>
              <a:rPr lang="en-US" sz="1600" dirty="0"/>
              <a:t>	o reducing prejudice </a:t>
            </a:r>
          </a:p>
          <a:p>
            <a:r>
              <a:rPr lang="en-US" sz="1600" dirty="0"/>
              <a:t>	o (viewing activity – Remember the Titans</a:t>
            </a:r>
            <a:endParaRPr lang="fr-FR" sz="1600" dirty="0"/>
          </a:p>
          <a:p>
            <a:pPr marL="285750" indent="-285750">
              <a:buFont typeface="Arial" panose="020B0604020202020204" pitchFamily="34" charset="0"/>
              <a:buChar char="•"/>
            </a:pPr>
            <a:r>
              <a:rPr lang="fr-FR" sz="1600" dirty="0"/>
              <a:t>cultural influences on attitudes </a:t>
            </a:r>
          </a:p>
          <a:p>
            <a:r>
              <a:rPr lang="fr-FR" sz="1600" dirty="0"/>
              <a:t>	o </a:t>
            </a:r>
            <a:r>
              <a:rPr lang="fr-FR" sz="1600" dirty="0" err="1"/>
              <a:t>individualistic</a:t>
            </a:r>
            <a:r>
              <a:rPr lang="fr-FR" sz="1600" dirty="0"/>
              <a:t> cultures </a:t>
            </a:r>
          </a:p>
          <a:p>
            <a:r>
              <a:rPr lang="fr-FR" sz="1600" dirty="0"/>
              <a:t>	o </a:t>
            </a:r>
            <a:r>
              <a:rPr lang="fr-FR" sz="1600" dirty="0" err="1"/>
              <a:t>collectivist</a:t>
            </a:r>
            <a:r>
              <a:rPr lang="fr-FR" sz="1600" dirty="0"/>
              <a:t> cultures</a:t>
            </a:r>
            <a:endParaRPr lang="en-AU" sz="1600" dirty="0"/>
          </a:p>
        </p:txBody>
      </p:sp>
    </p:spTree>
    <p:extLst>
      <p:ext uri="{BB962C8B-B14F-4D97-AF65-F5344CB8AC3E}">
        <p14:creationId xmlns:p14="http://schemas.microsoft.com/office/powerpoint/2010/main" val="15838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3B59F9-BFAC-094C-A3AF-AA8819DA489A}"/>
              </a:ext>
            </a:extLst>
          </p:cNvPr>
          <p:cNvSpPr txBox="1"/>
          <p:nvPr/>
        </p:nvSpPr>
        <p:spPr>
          <a:xfrm rot="16200000">
            <a:off x="-1076415" y="2249623"/>
            <a:ext cx="2491387" cy="338554"/>
          </a:xfrm>
          <a:prstGeom prst="rect">
            <a:avLst/>
          </a:prstGeom>
          <a:solidFill>
            <a:srgbClr val="B4E7E6"/>
          </a:solidFill>
        </p:spPr>
        <p:txBody>
          <a:bodyPr wrap="square" rtlCol="0">
            <a:spAutoFit/>
          </a:bodyPr>
          <a:lstStyle/>
          <a:p>
            <a:r>
              <a:rPr lang="en-AU" sz="1600" b="1" dirty="0"/>
              <a:t>Concept development</a:t>
            </a:r>
          </a:p>
        </p:txBody>
      </p:sp>
      <p:sp>
        <p:nvSpPr>
          <p:cNvPr id="6" name="Rectangle 5">
            <a:extLst>
              <a:ext uri="{FF2B5EF4-FFF2-40B4-BE49-F238E27FC236}">
                <a16:creationId xmlns:a16="http://schemas.microsoft.com/office/drawing/2014/main" id="{5D0CBF23-574E-0A44-947F-AF55EC077F39}"/>
              </a:ext>
            </a:extLst>
          </p:cNvPr>
          <p:cNvSpPr/>
          <p:nvPr/>
        </p:nvSpPr>
        <p:spPr>
          <a:xfrm>
            <a:off x="995152" y="938737"/>
            <a:ext cx="7602582" cy="2862322"/>
          </a:xfrm>
          <a:prstGeom prst="rect">
            <a:avLst/>
          </a:prstGeom>
          <a:solidFill>
            <a:srgbClr val="B4E7E6">
              <a:alpha val="54118"/>
            </a:srgbClr>
          </a:solidFill>
        </p:spPr>
        <p:txBody>
          <a:bodyPr wrap="square">
            <a:spAutoFit/>
          </a:bodyPr>
          <a:lstStyle/>
          <a:p>
            <a:pPr marL="233363" indent="-233363">
              <a:buClr>
                <a:prstClr val="black">
                  <a:lumMod val="50000"/>
                  <a:lumOff val="50000"/>
                </a:prstClr>
              </a:buClr>
              <a:buSzPct val="94000"/>
              <a:buFont typeface="Calibri" pitchFamily="34" charset="0"/>
              <a:buChar char="»"/>
            </a:pPr>
            <a:r>
              <a:rPr lang="en-US" sz="2000" dirty="0">
                <a:solidFill>
                  <a:prstClr val="black">
                    <a:lumMod val="75000"/>
                    <a:lumOff val="25000"/>
                  </a:prstClr>
                </a:solidFill>
              </a:rPr>
              <a:t>Cannot statistically </a:t>
            </a:r>
            <a:r>
              <a:rPr lang="en-US" sz="2000" dirty="0" err="1">
                <a:solidFill>
                  <a:prstClr val="black">
                    <a:lumMod val="75000"/>
                    <a:lumOff val="25000"/>
                  </a:prstClr>
                </a:solidFill>
              </a:rPr>
              <a:t>analyse</a:t>
            </a:r>
            <a:r>
              <a:rPr lang="en-US" sz="2000" dirty="0">
                <a:solidFill>
                  <a:prstClr val="black">
                    <a:lumMod val="75000"/>
                    <a:lumOff val="25000"/>
                  </a:prstClr>
                </a:solidFill>
              </a:rPr>
              <a:t> qualitative data- qualities do not have a number attached to them </a:t>
            </a:r>
          </a:p>
          <a:p>
            <a:pPr marL="233363" indent="-233363">
              <a:buClr>
                <a:prstClr val="black">
                  <a:lumMod val="50000"/>
                  <a:lumOff val="50000"/>
                </a:prstClr>
              </a:buClr>
              <a:buSzPct val="94000"/>
              <a:buFont typeface="Calibri" pitchFamily="34" charset="0"/>
              <a:buChar char="»"/>
            </a:pPr>
            <a:r>
              <a:rPr lang="en-US" sz="2000" dirty="0">
                <a:solidFill>
                  <a:prstClr val="black">
                    <a:lumMod val="75000"/>
                    <a:lumOff val="25000"/>
                  </a:prstClr>
                </a:solidFill>
              </a:rPr>
              <a:t>It’s </a:t>
            </a:r>
            <a:r>
              <a:rPr lang="en-US" sz="2000" b="1" dirty="0">
                <a:solidFill>
                  <a:prstClr val="black">
                    <a:lumMod val="75000"/>
                    <a:lumOff val="25000"/>
                  </a:prstClr>
                </a:solidFill>
              </a:rPr>
              <a:t>difficult</a:t>
            </a:r>
            <a:r>
              <a:rPr lang="en-US" sz="2000" dirty="0">
                <a:solidFill>
                  <a:prstClr val="black">
                    <a:lumMod val="75000"/>
                    <a:lumOff val="25000"/>
                  </a:prstClr>
                </a:solidFill>
              </a:rPr>
              <a:t> to determine the </a:t>
            </a:r>
            <a:r>
              <a:rPr lang="en-US" sz="2000" b="1" dirty="0">
                <a:solidFill>
                  <a:prstClr val="black">
                    <a:lumMod val="75000"/>
                    <a:lumOff val="25000"/>
                  </a:prstClr>
                </a:solidFill>
              </a:rPr>
              <a:t>affective &amp; cognitive </a:t>
            </a:r>
            <a:r>
              <a:rPr lang="en-US" sz="2000" dirty="0">
                <a:solidFill>
                  <a:prstClr val="black">
                    <a:lumMod val="75000"/>
                    <a:lumOff val="25000"/>
                  </a:prstClr>
                </a:solidFill>
              </a:rPr>
              <a:t>components of a person’s attitude</a:t>
            </a:r>
          </a:p>
          <a:p>
            <a:pPr marL="233363" indent="-233363">
              <a:buClr>
                <a:prstClr val="black">
                  <a:lumMod val="50000"/>
                  <a:lumOff val="50000"/>
                </a:prstClr>
              </a:buClr>
              <a:buSzPct val="94000"/>
              <a:buFont typeface="Calibri" pitchFamily="34" charset="0"/>
              <a:buChar char="»"/>
            </a:pPr>
            <a:r>
              <a:rPr lang="en-US" sz="2000" dirty="0">
                <a:solidFill>
                  <a:prstClr val="black">
                    <a:lumMod val="75000"/>
                    <a:lumOff val="25000"/>
                  </a:prstClr>
                </a:solidFill>
              </a:rPr>
              <a:t>One good way to do this is to ask them- </a:t>
            </a:r>
            <a:r>
              <a:rPr lang="en-US" sz="2000" b="1" dirty="0">
                <a:solidFill>
                  <a:prstClr val="black"/>
                </a:solidFill>
              </a:rPr>
              <a:t>Self Reports</a:t>
            </a:r>
          </a:p>
          <a:p>
            <a:pPr marL="233363" indent="-233363">
              <a:buClr>
                <a:prstClr val="black">
                  <a:lumMod val="50000"/>
                  <a:lumOff val="50000"/>
                </a:prstClr>
              </a:buClr>
              <a:buSzPct val="94000"/>
              <a:buFont typeface="Calibri" pitchFamily="34" charset="0"/>
              <a:buChar char="»"/>
            </a:pPr>
            <a:r>
              <a:rPr lang="en-US" sz="2000" dirty="0">
                <a:solidFill>
                  <a:prstClr val="black"/>
                </a:solidFill>
              </a:rPr>
              <a:t>Self Reports comprise of:</a:t>
            </a:r>
          </a:p>
          <a:p>
            <a:pPr marL="690563" lvl="1" indent="-233363">
              <a:buClr>
                <a:prstClr val="black">
                  <a:lumMod val="50000"/>
                  <a:lumOff val="50000"/>
                </a:prstClr>
              </a:buClr>
              <a:buSzPct val="94000"/>
              <a:buFont typeface="Calibri" pitchFamily="34" charset="0"/>
              <a:buChar char="»"/>
            </a:pPr>
            <a:r>
              <a:rPr lang="en-US" sz="2000" b="1" dirty="0">
                <a:solidFill>
                  <a:prstClr val="black"/>
                </a:solidFill>
              </a:rPr>
              <a:t>Qualitative Data:</a:t>
            </a:r>
          </a:p>
          <a:p>
            <a:pPr marL="1147763" lvl="2" indent="-233363">
              <a:buClr>
                <a:prstClr val="black">
                  <a:lumMod val="50000"/>
                  <a:lumOff val="50000"/>
                </a:prstClr>
              </a:buClr>
              <a:buSzPct val="94000"/>
              <a:buFont typeface="Calibri" pitchFamily="34" charset="0"/>
              <a:buChar char="»"/>
            </a:pPr>
            <a:r>
              <a:rPr lang="en-US" sz="2000" dirty="0">
                <a:solidFill>
                  <a:prstClr val="black"/>
                </a:solidFill>
              </a:rPr>
              <a:t>Open-Ended Interviews</a:t>
            </a:r>
          </a:p>
          <a:p>
            <a:pPr marL="1147763" lvl="2" indent="-233363">
              <a:buClr>
                <a:prstClr val="black">
                  <a:lumMod val="50000"/>
                  <a:lumOff val="50000"/>
                </a:prstClr>
              </a:buClr>
              <a:buSzPct val="94000"/>
              <a:buFont typeface="Calibri" pitchFamily="34" charset="0"/>
              <a:buChar char="»"/>
            </a:pPr>
            <a:r>
              <a:rPr lang="en-US" sz="2000" dirty="0">
                <a:solidFill>
                  <a:prstClr val="black"/>
                </a:solidFill>
              </a:rPr>
              <a:t>Indirect Questioning</a:t>
            </a:r>
          </a:p>
        </p:txBody>
      </p:sp>
      <p:graphicFrame>
        <p:nvGraphicFramePr>
          <p:cNvPr id="9" name="Table 8">
            <a:extLst>
              <a:ext uri="{FF2B5EF4-FFF2-40B4-BE49-F238E27FC236}">
                <a16:creationId xmlns:a16="http://schemas.microsoft.com/office/drawing/2014/main" id="{F4660C92-7CA7-E642-B616-E56D9EAA166A}"/>
              </a:ext>
            </a:extLst>
          </p:cNvPr>
          <p:cNvGraphicFramePr>
            <a:graphicFrameLocks noGrp="1"/>
          </p:cNvGraphicFramePr>
          <p:nvPr>
            <p:extLst>
              <p:ext uri="{D42A27DB-BD31-4B8C-83A1-F6EECF244321}">
                <p14:modId xmlns:p14="http://schemas.microsoft.com/office/powerpoint/2010/main" val="2983501011"/>
              </p:ext>
            </p:extLst>
          </p:nvPr>
        </p:nvGraphicFramePr>
        <p:xfrm>
          <a:off x="8911243" y="42560"/>
          <a:ext cx="3280757" cy="2152498"/>
        </p:xfrm>
        <a:graphic>
          <a:graphicData uri="http://schemas.openxmlformats.org/drawingml/2006/table">
            <a:tbl>
              <a:tblPr firstRow="1" bandRow="1">
                <a:tableStyleId>{7DF18680-E054-41AD-8BC1-D1AEF772440D}</a:tableStyleId>
              </a:tblPr>
              <a:tblGrid>
                <a:gridCol w="3280757">
                  <a:extLst>
                    <a:ext uri="{9D8B030D-6E8A-4147-A177-3AD203B41FA5}">
                      <a16:colId xmlns:a16="http://schemas.microsoft.com/office/drawing/2014/main" val="3535165183"/>
                    </a:ext>
                  </a:extLst>
                </a:gridCol>
              </a:tblGrid>
              <a:tr h="689458">
                <a:tc>
                  <a:txBody>
                    <a:bodyPr/>
                    <a:lstStyle/>
                    <a:p>
                      <a:pPr algn="ctr"/>
                      <a:r>
                        <a:rPr lang="en-AU" dirty="0"/>
                        <a:t>Vocabulary </a:t>
                      </a:r>
                    </a:p>
                  </a:txBody>
                  <a:tcPr>
                    <a:solidFill>
                      <a:schemeClr val="accent1"/>
                    </a:solidFill>
                  </a:tcPr>
                </a:tc>
                <a:extLst>
                  <a:ext uri="{0D108BD9-81ED-4DB2-BD59-A6C34878D82A}">
                    <a16:rowId xmlns:a16="http://schemas.microsoft.com/office/drawing/2014/main" val="2660461276"/>
                  </a:ext>
                </a:extLst>
              </a:tr>
              <a:tr h="689458">
                <a:tc>
                  <a:txBody>
                    <a:bodyPr/>
                    <a:lstStyle/>
                    <a:p>
                      <a:r>
                        <a:rPr lang="en-AU" b="1" dirty="0"/>
                        <a:t>Adjectives </a:t>
                      </a:r>
                      <a:r>
                        <a:rPr lang="en-AU" b="0" dirty="0"/>
                        <a:t>– Descriptive words</a:t>
                      </a:r>
                    </a:p>
                    <a:p>
                      <a:r>
                        <a:rPr lang="en-AU" b="1" dirty="0"/>
                        <a:t>Statistics</a:t>
                      </a:r>
                      <a:r>
                        <a:rPr lang="en-AU" b="0" dirty="0"/>
                        <a:t> - </a:t>
                      </a:r>
                      <a:r>
                        <a:rPr lang="en-US" sz="1800" b="0" i="0" kern="1200" dirty="0">
                          <a:solidFill>
                            <a:schemeClr val="dk1"/>
                          </a:solidFill>
                          <a:effectLst/>
                          <a:latin typeface="+mn-lt"/>
                          <a:ea typeface="+mn-ea"/>
                          <a:cs typeface="+mn-cs"/>
                        </a:rPr>
                        <a:t>collecting and </a:t>
                      </a:r>
                      <a:r>
                        <a:rPr lang="en-US" sz="1800" b="0" i="0" kern="1200" dirty="0" err="1">
                          <a:solidFill>
                            <a:schemeClr val="dk1"/>
                          </a:solidFill>
                          <a:effectLst/>
                          <a:latin typeface="+mn-lt"/>
                          <a:ea typeface="+mn-ea"/>
                          <a:cs typeface="+mn-cs"/>
                        </a:rPr>
                        <a:t>analysing</a:t>
                      </a:r>
                      <a:r>
                        <a:rPr lang="en-US" sz="1800" b="0" i="0" kern="1200" dirty="0">
                          <a:solidFill>
                            <a:schemeClr val="dk1"/>
                          </a:solidFill>
                          <a:effectLst/>
                          <a:latin typeface="+mn-lt"/>
                          <a:ea typeface="+mn-ea"/>
                          <a:cs typeface="+mn-cs"/>
                        </a:rPr>
                        <a:t> numerical data in large quantities.</a:t>
                      </a:r>
                      <a:endParaRPr lang="en-AU" b="0" dirty="0"/>
                    </a:p>
                  </a:txBody>
                  <a:tcPr>
                    <a:solidFill>
                      <a:schemeClr val="bg2">
                        <a:lumMod val="40000"/>
                        <a:lumOff val="60000"/>
                      </a:schemeClr>
                    </a:solidFill>
                  </a:tcPr>
                </a:tc>
                <a:extLst>
                  <a:ext uri="{0D108BD9-81ED-4DB2-BD59-A6C34878D82A}">
                    <a16:rowId xmlns:a16="http://schemas.microsoft.com/office/drawing/2014/main" val="189824520"/>
                  </a:ext>
                </a:extLst>
              </a:tr>
            </a:tbl>
          </a:graphicData>
        </a:graphic>
      </p:graphicFrame>
      <p:graphicFrame>
        <p:nvGraphicFramePr>
          <p:cNvPr id="10" name="Table 9">
            <a:extLst>
              <a:ext uri="{FF2B5EF4-FFF2-40B4-BE49-F238E27FC236}">
                <a16:creationId xmlns:a16="http://schemas.microsoft.com/office/drawing/2014/main" id="{15AA9FBA-6EF7-DB44-B12B-B686880AA94A}"/>
              </a:ext>
            </a:extLst>
          </p:cNvPr>
          <p:cNvGraphicFramePr>
            <a:graphicFrameLocks noGrp="1"/>
          </p:cNvGraphicFramePr>
          <p:nvPr>
            <p:extLst>
              <p:ext uri="{D42A27DB-BD31-4B8C-83A1-F6EECF244321}">
                <p14:modId xmlns:p14="http://schemas.microsoft.com/office/powerpoint/2010/main" val="1450523877"/>
              </p:ext>
            </p:extLst>
          </p:nvPr>
        </p:nvGraphicFramePr>
        <p:xfrm>
          <a:off x="8840123" y="4911917"/>
          <a:ext cx="3222567" cy="1833880"/>
        </p:xfrm>
        <a:graphic>
          <a:graphicData uri="http://schemas.openxmlformats.org/drawingml/2006/table">
            <a:tbl>
              <a:tblPr firstRow="1" bandRow="1">
                <a:tableStyleId>{00A15C55-8517-42AA-B614-E9B94910E393}</a:tableStyleId>
              </a:tblPr>
              <a:tblGrid>
                <a:gridCol w="3222567">
                  <a:extLst>
                    <a:ext uri="{9D8B030D-6E8A-4147-A177-3AD203B41FA5}">
                      <a16:colId xmlns:a16="http://schemas.microsoft.com/office/drawing/2014/main" val="3535165183"/>
                    </a:ext>
                  </a:extLst>
                </a:gridCol>
              </a:tblGrid>
              <a:tr h="370840">
                <a:tc>
                  <a:txBody>
                    <a:bodyPr/>
                    <a:lstStyle/>
                    <a:p>
                      <a:pPr algn="ctr"/>
                      <a:r>
                        <a:rPr lang="en-AU" dirty="0">
                          <a:solidFill>
                            <a:schemeClr val="tx1"/>
                          </a:solidFill>
                        </a:rPr>
                        <a:t>Check for understanding</a:t>
                      </a:r>
                    </a:p>
                  </a:txBody>
                  <a:tcPr/>
                </a:tc>
                <a:extLst>
                  <a:ext uri="{0D108BD9-81ED-4DB2-BD59-A6C34878D82A}">
                    <a16:rowId xmlns:a16="http://schemas.microsoft.com/office/drawing/2014/main" val="2660461276"/>
                  </a:ext>
                </a:extLst>
              </a:tr>
              <a:tr h="370840">
                <a:tc>
                  <a:txBody>
                    <a:bodyPr/>
                    <a:lstStyle/>
                    <a:p>
                      <a:pPr marL="285750" indent="-285750">
                        <a:buFont typeface="Arial" panose="020B0604020202020204" pitchFamily="34" charset="0"/>
                        <a:buChar char="•"/>
                      </a:pPr>
                      <a:r>
                        <a:rPr lang="en-AU" dirty="0"/>
                        <a:t>Describe in-direct questioning</a:t>
                      </a:r>
                    </a:p>
                    <a:p>
                      <a:pPr marL="285750" indent="-285750">
                        <a:buFont typeface="Arial" panose="020B0604020202020204" pitchFamily="34" charset="0"/>
                        <a:buChar char="•"/>
                      </a:pPr>
                      <a:r>
                        <a:rPr lang="en-AU" b="0" dirty="0"/>
                        <a:t>Explain the strength and weaknesses of qualitative data</a:t>
                      </a:r>
                    </a:p>
                  </a:txBody>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706" y="42560"/>
            <a:ext cx="908059" cy="749280"/>
          </a:xfrm>
          <a:prstGeom prst="rect">
            <a:avLst/>
          </a:prstGeom>
        </p:spPr>
      </p:pic>
      <p:sp>
        <p:nvSpPr>
          <p:cNvPr id="11" name="Rectangle 6">
            <a:extLst>
              <a:ext uri="{FF2B5EF4-FFF2-40B4-BE49-F238E27FC236}">
                <a16:creationId xmlns:a16="http://schemas.microsoft.com/office/drawing/2014/main" id="{AE900986-3A58-4964-86B5-41457F60BBD2}"/>
              </a:ext>
            </a:extLst>
          </p:cNvPr>
          <p:cNvSpPr>
            <a:spLocks noChangeArrowheads="1"/>
          </p:cNvSpPr>
          <p:nvPr/>
        </p:nvSpPr>
        <p:spPr bwMode="auto">
          <a:xfrm>
            <a:off x="1004735" y="3882833"/>
            <a:ext cx="7619811" cy="2862964"/>
          </a:xfrm>
          <a:prstGeom prst="rect">
            <a:avLst/>
          </a:prstGeom>
          <a:solidFill>
            <a:schemeClr val="accent6">
              <a:lumMod val="20000"/>
              <a:lumOff val="80000"/>
            </a:schemeClr>
          </a:solidFill>
          <a:ln>
            <a:noFill/>
          </a:ln>
          <a:effectLst/>
        </p:spPr>
        <p:txBody>
          <a:bodyPr wrap="square" lIns="92075" tIns="46038" rIns="92075" bIns="46038">
            <a:spAutoFit/>
          </a:bodyPr>
          <a:lstStyle/>
          <a:p>
            <a:r>
              <a:rPr lang="en-US" sz="2000" b="1" dirty="0">
                <a:latin typeface="Arial"/>
                <a:cs typeface="Arial"/>
              </a:rPr>
              <a:t>In-direct questioning</a:t>
            </a:r>
          </a:p>
          <a:p>
            <a:pPr marL="457200" indent="-457200">
              <a:buFont typeface="Arial" panose="020B0604020202020204" pitchFamily="34" charset="0"/>
              <a:buChar char="•"/>
            </a:pPr>
            <a:r>
              <a:rPr lang="en-US" sz="2000" dirty="0"/>
              <a:t>Subjects are asked to write down adjectives that they would use to describe their attitude towards a person, object or experience.</a:t>
            </a:r>
          </a:p>
          <a:p>
            <a:pPr marL="457200" indent="-457200">
              <a:buFont typeface="Arial" panose="020B0604020202020204" pitchFamily="34" charset="0"/>
              <a:buChar char="•"/>
            </a:pPr>
            <a:r>
              <a:rPr lang="en-US" sz="2000" dirty="0"/>
              <a:t>Adjectives are then </a:t>
            </a:r>
            <a:r>
              <a:rPr lang="en-US" sz="2000" dirty="0" err="1"/>
              <a:t>analysed</a:t>
            </a:r>
            <a:r>
              <a:rPr lang="en-US" sz="2000" dirty="0"/>
              <a:t> to determine if a person has a positive or negative attitude towards the topic.</a:t>
            </a:r>
          </a:p>
          <a:p>
            <a:pPr marL="457200" indent="-457200">
              <a:buFont typeface="Arial" panose="020B0604020202020204" pitchFamily="34" charset="0"/>
              <a:buChar char="•"/>
            </a:pPr>
            <a:r>
              <a:rPr lang="en-US" sz="2000" dirty="0"/>
              <a:t>Can assess sets of beliefs or ideas relevant to participant.</a:t>
            </a:r>
          </a:p>
          <a:p>
            <a:pPr marL="457200" indent="-457200">
              <a:buFont typeface="Arial" panose="020B0604020202020204" pitchFamily="34" charset="0"/>
              <a:buChar char="•"/>
            </a:pPr>
            <a:r>
              <a:rPr lang="en-US" sz="2000" dirty="0"/>
              <a:t>Useful in developing an attitude scale for a </a:t>
            </a:r>
            <a:r>
              <a:rPr lang="en-US" sz="2000" dirty="0" err="1"/>
              <a:t>L.ikert</a:t>
            </a:r>
            <a:r>
              <a:rPr lang="en-US" sz="2000" dirty="0"/>
              <a:t> scale</a:t>
            </a:r>
          </a:p>
          <a:p>
            <a:pPr marL="457200" indent="-457200">
              <a:buFont typeface="Arial" panose="020B0604020202020204" pitchFamily="34" charset="0"/>
              <a:buChar char="•"/>
            </a:pPr>
            <a:endParaRPr lang="en-US" sz="2000" dirty="0">
              <a:latin typeface="Arial"/>
              <a:cs typeface="Arial"/>
            </a:endParaRPr>
          </a:p>
        </p:txBody>
      </p:sp>
      <p:sp>
        <p:nvSpPr>
          <p:cNvPr id="14" name="TextBox 13">
            <a:extLst>
              <a:ext uri="{FF2B5EF4-FFF2-40B4-BE49-F238E27FC236}">
                <a16:creationId xmlns:a16="http://schemas.microsoft.com/office/drawing/2014/main" id="{F12F4170-C554-49A2-902F-5987A9A86984}"/>
              </a:ext>
            </a:extLst>
          </p:cNvPr>
          <p:cNvSpPr txBox="1"/>
          <p:nvPr/>
        </p:nvSpPr>
        <p:spPr>
          <a:xfrm>
            <a:off x="1623067" y="112203"/>
            <a:ext cx="7626754" cy="707886"/>
          </a:xfrm>
          <a:prstGeom prst="rect">
            <a:avLst/>
          </a:prstGeom>
          <a:noFill/>
        </p:spPr>
        <p:txBody>
          <a:bodyPr wrap="square" rtlCol="0">
            <a:spAutoFit/>
          </a:bodyPr>
          <a:lstStyle/>
          <a:p>
            <a:r>
              <a:rPr lang="en-AU" sz="4000" b="1" dirty="0">
                <a:solidFill>
                  <a:srgbClr val="2D6069"/>
                </a:solidFill>
              </a:rPr>
              <a:t>Qualitative data methods</a:t>
            </a:r>
          </a:p>
        </p:txBody>
      </p:sp>
      <p:pic>
        <p:nvPicPr>
          <p:cNvPr id="15" name="Picture 14">
            <a:extLst>
              <a:ext uri="{FF2B5EF4-FFF2-40B4-BE49-F238E27FC236}">
                <a16:creationId xmlns:a16="http://schemas.microsoft.com/office/drawing/2014/main" id="{1A512989-3E77-4531-99D9-E8D94E2D48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7504" y="2794404"/>
            <a:ext cx="3135186" cy="1485088"/>
          </a:xfrm>
          <a:prstGeom prst="rect">
            <a:avLst/>
          </a:prstGeom>
        </p:spPr>
      </p:pic>
    </p:spTree>
    <p:extLst>
      <p:ext uri="{BB962C8B-B14F-4D97-AF65-F5344CB8AC3E}">
        <p14:creationId xmlns:p14="http://schemas.microsoft.com/office/powerpoint/2010/main" val="283915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3B59F9-BFAC-094C-A3AF-AA8819DA489A}"/>
              </a:ext>
            </a:extLst>
          </p:cNvPr>
          <p:cNvSpPr txBox="1"/>
          <p:nvPr/>
        </p:nvSpPr>
        <p:spPr>
          <a:xfrm rot="16200000">
            <a:off x="-1076415" y="2249623"/>
            <a:ext cx="2491387" cy="338554"/>
          </a:xfrm>
          <a:prstGeom prst="rect">
            <a:avLst/>
          </a:prstGeom>
          <a:solidFill>
            <a:srgbClr val="B4E7E6"/>
          </a:solidFill>
        </p:spPr>
        <p:txBody>
          <a:bodyPr wrap="square" rtlCol="0">
            <a:spAutoFit/>
          </a:bodyPr>
          <a:lstStyle/>
          <a:p>
            <a:r>
              <a:rPr lang="en-AU" sz="1600" b="1" dirty="0"/>
              <a:t>Concept development</a:t>
            </a:r>
          </a:p>
        </p:txBody>
      </p:sp>
      <p:sp>
        <p:nvSpPr>
          <p:cNvPr id="6" name="Rectangle 5">
            <a:extLst>
              <a:ext uri="{FF2B5EF4-FFF2-40B4-BE49-F238E27FC236}">
                <a16:creationId xmlns:a16="http://schemas.microsoft.com/office/drawing/2014/main" id="{5D0CBF23-574E-0A44-947F-AF55EC077F39}"/>
              </a:ext>
            </a:extLst>
          </p:cNvPr>
          <p:cNvSpPr/>
          <p:nvPr/>
        </p:nvSpPr>
        <p:spPr>
          <a:xfrm>
            <a:off x="995152" y="938737"/>
            <a:ext cx="7602582" cy="2862322"/>
          </a:xfrm>
          <a:prstGeom prst="rect">
            <a:avLst/>
          </a:prstGeom>
          <a:solidFill>
            <a:srgbClr val="B4E7E6">
              <a:alpha val="54118"/>
            </a:srgbClr>
          </a:solidFill>
        </p:spPr>
        <p:txBody>
          <a:bodyPr wrap="square">
            <a:spAutoFit/>
          </a:bodyPr>
          <a:lstStyle/>
          <a:p>
            <a:pPr marL="233363" indent="-233363">
              <a:buClr>
                <a:prstClr val="black">
                  <a:lumMod val="50000"/>
                  <a:lumOff val="50000"/>
                </a:prstClr>
              </a:buClr>
              <a:buSzPct val="94000"/>
              <a:buFont typeface="Calibri" pitchFamily="34" charset="0"/>
              <a:buChar char="»"/>
            </a:pPr>
            <a:r>
              <a:rPr lang="en-US" sz="2000" dirty="0">
                <a:solidFill>
                  <a:prstClr val="black"/>
                </a:solidFill>
              </a:rPr>
              <a:t>Information collected in numerical form which can then be used to statistically describe a characteristic, </a:t>
            </a:r>
            <a:r>
              <a:rPr lang="en-US" sz="2000" dirty="0" err="1">
                <a:solidFill>
                  <a:prstClr val="black"/>
                </a:solidFill>
              </a:rPr>
              <a:t>behaviour</a:t>
            </a:r>
            <a:r>
              <a:rPr lang="en-US" sz="2000" dirty="0">
                <a:solidFill>
                  <a:prstClr val="black"/>
                </a:solidFill>
              </a:rPr>
              <a:t> or attitude.</a:t>
            </a:r>
          </a:p>
          <a:p>
            <a:pPr marL="233363" indent="-233363">
              <a:buClr>
                <a:prstClr val="black">
                  <a:lumMod val="50000"/>
                  <a:lumOff val="50000"/>
                </a:prstClr>
              </a:buClr>
              <a:buSzPct val="94000"/>
              <a:buFont typeface="Calibri" pitchFamily="34" charset="0"/>
              <a:buChar char="»"/>
            </a:pPr>
            <a:r>
              <a:rPr lang="en-US" sz="2000" dirty="0">
                <a:solidFill>
                  <a:prstClr val="black"/>
                </a:solidFill>
              </a:rPr>
              <a:t>To determine a persons cognitive and affective attitude components through quantitative data </a:t>
            </a:r>
            <a:r>
              <a:rPr lang="en-US" sz="2000" b="1" dirty="0">
                <a:solidFill>
                  <a:prstClr val="black"/>
                </a:solidFill>
              </a:rPr>
              <a:t>self reports </a:t>
            </a:r>
            <a:r>
              <a:rPr lang="en-US" sz="2000" dirty="0">
                <a:solidFill>
                  <a:prstClr val="black"/>
                </a:solidFill>
              </a:rPr>
              <a:t>also comprise of:</a:t>
            </a:r>
          </a:p>
          <a:p>
            <a:pPr marL="690563" lvl="1" indent="-233363">
              <a:buClr>
                <a:prstClr val="black">
                  <a:lumMod val="50000"/>
                  <a:lumOff val="50000"/>
                </a:prstClr>
              </a:buClr>
              <a:buSzPct val="94000"/>
              <a:buFont typeface="Calibri" pitchFamily="34" charset="0"/>
              <a:buChar char="»"/>
            </a:pPr>
            <a:r>
              <a:rPr lang="en-US" sz="2000" b="1" dirty="0">
                <a:solidFill>
                  <a:prstClr val="black"/>
                </a:solidFill>
              </a:rPr>
              <a:t>Quantitative Data:</a:t>
            </a:r>
          </a:p>
          <a:p>
            <a:pPr marL="1147763" lvl="2" indent="-233363">
              <a:buClr>
                <a:prstClr val="black">
                  <a:lumMod val="50000"/>
                  <a:lumOff val="50000"/>
                </a:prstClr>
              </a:buClr>
              <a:buSzPct val="94000"/>
              <a:buFont typeface="Calibri" pitchFamily="34" charset="0"/>
              <a:buChar char="»"/>
            </a:pPr>
            <a:r>
              <a:rPr lang="en-US" sz="2000" dirty="0">
                <a:solidFill>
                  <a:prstClr val="black"/>
                </a:solidFill>
              </a:rPr>
              <a:t>Fixed-Response Questions</a:t>
            </a:r>
          </a:p>
          <a:p>
            <a:pPr marL="1147763" lvl="2" indent="-233363">
              <a:buClr>
                <a:prstClr val="black">
                  <a:lumMod val="50000"/>
                  <a:lumOff val="50000"/>
                </a:prstClr>
              </a:buClr>
              <a:buSzPct val="94000"/>
              <a:buFont typeface="Calibri" pitchFamily="34" charset="0"/>
              <a:buChar char="»"/>
            </a:pPr>
            <a:r>
              <a:rPr lang="en-US" sz="2000" dirty="0">
                <a:solidFill>
                  <a:prstClr val="black"/>
                </a:solidFill>
              </a:rPr>
              <a:t>Likert-Scales</a:t>
            </a:r>
          </a:p>
        </p:txBody>
      </p:sp>
      <p:graphicFrame>
        <p:nvGraphicFramePr>
          <p:cNvPr id="9" name="Table 8">
            <a:extLst>
              <a:ext uri="{FF2B5EF4-FFF2-40B4-BE49-F238E27FC236}">
                <a16:creationId xmlns:a16="http://schemas.microsoft.com/office/drawing/2014/main" id="{F4660C92-7CA7-E642-B616-E56D9EAA166A}"/>
              </a:ext>
            </a:extLst>
          </p:cNvPr>
          <p:cNvGraphicFramePr>
            <a:graphicFrameLocks noGrp="1"/>
          </p:cNvGraphicFramePr>
          <p:nvPr>
            <p:extLst>
              <p:ext uri="{D42A27DB-BD31-4B8C-83A1-F6EECF244321}">
                <p14:modId xmlns:p14="http://schemas.microsoft.com/office/powerpoint/2010/main" val="1986838575"/>
              </p:ext>
            </p:extLst>
          </p:nvPr>
        </p:nvGraphicFramePr>
        <p:xfrm>
          <a:off x="8911243" y="42560"/>
          <a:ext cx="3280757" cy="1603858"/>
        </p:xfrm>
        <a:graphic>
          <a:graphicData uri="http://schemas.openxmlformats.org/drawingml/2006/table">
            <a:tbl>
              <a:tblPr firstRow="1" bandRow="1">
                <a:tableStyleId>{7DF18680-E054-41AD-8BC1-D1AEF772440D}</a:tableStyleId>
              </a:tblPr>
              <a:tblGrid>
                <a:gridCol w="3280757">
                  <a:extLst>
                    <a:ext uri="{9D8B030D-6E8A-4147-A177-3AD203B41FA5}">
                      <a16:colId xmlns:a16="http://schemas.microsoft.com/office/drawing/2014/main" val="3535165183"/>
                    </a:ext>
                  </a:extLst>
                </a:gridCol>
              </a:tblGrid>
              <a:tr h="689458">
                <a:tc>
                  <a:txBody>
                    <a:bodyPr/>
                    <a:lstStyle/>
                    <a:p>
                      <a:pPr algn="ctr"/>
                      <a:r>
                        <a:rPr lang="en-AU" dirty="0"/>
                        <a:t>Vocabulary </a:t>
                      </a:r>
                    </a:p>
                  </a:txBody>
                  <a:tcPr>
                    <a:solidFill>
                      <a:schemeClr val="accent1"/>
                    </a:solidFill>
                  </a:tcPr>
                </a:tc>
                <a:extLst>
                  <a:ext uri="{0D108BD9-81ED-4DB2-BD59-A6C34878D82A}">
                    <a16:rowId xmlns:a16="http://schemas.microsoft.com/office/drawing/2014/main" val="2660461276"/>
                  </a:ext>
                </a:extLst>
              </a:tr>
              <a:tr h="689458">
                <a:tc>
                  <a:txBody>
                    <a:bodyPr/>
                    <a:lstStyle/>
                    <a:p>
                      <a:r>
                        <a:rPr lang="en-AU" b="1" dirty="0"/>
                        <a:t>Statistics</a:t>
                      </a:r>
                      <a:r>
                        <a:rPr lang="en-AU" b="0" dirty="0"/>
                        <a:t> - </a:t>
                      </a:r>
                      <a:r>
                        <a:rPr lang="en-US" sz="1800" b="0" i="0" kern="1200" dirty="0">
                          <a:solidFill>
                            <a:schemeClr val="dk1"/>
                          </a:solidFill>
                          <a:effectLst/>
                          <a:latin typeface="+mn-lt"/>
                          <a:ea typeface="+mn-ea"/>
                          <a:cs typeface="+mn-cs"/>
                        </a:rPr>
                        <a:t>collecting and </a:t>
                      </a:r>
                      <a:r>
                        <a:rPr lang="en-US" sz="1800" b="0" i="0" kern="1200" dirty="0" err="1">
                          <a:solidFill>
                            <a:schemeClr val="dk1"/>
                          </a:solidFill>
                          <a:effectLst/>
                          <a:latin typeface="+mn-lt"/>
                          <a:ea typeface="+mn-ea"/>
                          <a:cs typeface="+mn-cs"/>
                        </a:rPr>
                        <a:t>analysing</a:t>
                      </a:r>
                      <a:r>
                        <a:rPr lang="en-US" sz="1800" b="0" i="0" kern="1200" dirty="0">
                          <a:solidFill>
                            <a:schemeClr val="dk1"/>
                          </a:solidFill>
                          <a:effectLst/>
                          <a:latin typeface="+mn-lt"/>
                          <a:ea typeface="+mn-ea"/>
                          <a:cs typeface="+mn-cs"/>
                        </a:rPr>
                        <a:t> numerical data in large quantities.</a:t>
                      </a:r>
                      <a:endParaRPr lang="en-AU" b="0" dirty="0"/>
                    </a:p>
                  </a:txBody>
                  <a:tcPr>
                    <a:solidFill>
                      <a:schemeClr val="bg2">
                        <a:lumMod val="40000"/>
                        <a:lumOff val="60000"/>
                      </a:schemeClr>
                    </a:solidFill>
                  </a:tcPr>
                </a:tc>
                <a:extLst>
                  <a:ext uri="{0D108BD9-81ED-4DB2-BD59-A6C34878D82A}">
                    <a16:rowId xmlns:a16="http://schemas.microsoft.com/office/drawing/2014/main" val="189824520"/>
                  </a:ext>
                </a:extLst>
              </a:tr>
            </a:tbl>
          </a:graphicData>
        </a:graphic>
      </p:graphicFrame>
      <p:graphicFrame>
        <p:nvGraphicFramePr>
          <p:cNvPr id="10" name="Table 9">
            <a:extLst>
              <a:ext uri="{FF2B5EF4-FFF2-40B4-BE49-F238E27FC236}">
                <a16:creationId xmlns:a16="http://schemas.microsoft.com/office/drawing/2014/main" id="{15AA9FBA-6EF7-DB44-B12B-B686880AA94A}"/>
              </a:ext>
            </a:extLst>
          </p:cNvPr>
          <p:cNvGraphicFramePr>
            <a:graphicFrameLocks noGrp="1"/>
          </p:cNvGraphicFramePr>
          <p:nvPr>
            <p:extLst>
              <p:ext uri="{D42A27DB-BD31-4B8C-83A1-F6EECF244321}">
                <p14:modId xmlns:p14="http://schemas.microsoft.com/office/powerpoint/2010/main" val="396317760"/>
              </p:ext>
            </p:extLst>
          </p:nvPr>
        </p:nvGraphicFramePr>
        <p:xfrm>
          <a:off x="8840123" y="4911917"/>
          <a:ext cx="3222567" cy="1559560"/>
        </p:xfrm>
        <a:graphic>
          <a:graphicData uri="http://schemas.openxmlformats.org/drawingml/2006/table">
            <a:tbl>
              <a:tblPr firstRow="1" bandRow="1">
                <a:tableStyleId>{00A15C55-8517-42AA-B614-E9B94910E393}</a:tableStyleId>
              </a:tblPr>
              <a:tblGrid>
                <a:gridCol w="3222567">
                  <a:extLst>
                    <a:ext uri="{9D8B030D-6E8A-4147-A177-3AD203B41FA5}">
                      <a16:colId xmlns:a16="http://schemas.microsoft.com/office/drawing/2014/main" val="3535165183"/>
                    </a:ext>
                  </a:extLst>
                </a:gridCol>
              </a:tblGrid>
              <a:tr h="370840">
                <a:tc>
                  <a:txBody>
                    <a:bodyPr/>
                    <a:lstStyle/>
                    <a:p>
                      <a:pPr algn="ctr"/>
                      <a:r>
                        <a:rPr lang="en-AU" dirty="0">
                          <a:solidFill>
                            <a:schemeClr val="tx1"/>
                          </a:solidFill>
                        </a:rPr>
                        <a:t>Check for understanding</a:t>
                      </a:r>
                    </a:p>
                  </a:txBody>
                  <a:tcPr/>
                </a:tc>
                <a:extLst>
                  <a:ext uri="{0D108BD9-81ED-4DB2-BD59-A6C34878D82A}">
                    <a16:rowId xmlns:a16="http://schemas.microsoft.com/office/drawing/2014/main" val="2660461276"/>
                  </a:ext>
                </a:extLst>
              </a:tr>
              <a:tr h="391603">
                <a:tc>
                  <a:txBody>
                    <a:bodyPr/>
                    <a:lstStyle/>
                    <a:p>
                      <a:pPr marL="285750" indent="-285750">
                        <a:buFont typeface="Arial" panose="020B0604020202020204" pitchFamily="34" charset="0"/>
                        <a:buChar char="•"/>
                      </a:pPr>
                      <a:r>
                        <a:rPr lang="en-AU" dirty="0"/>
                        <a:t>Describe fixed response</a:t>
                      </a:r>
                    </a:p>
                    <a:p>
                      <a:pPr marL="285750" indent="-285750">
                        <a:buFont typeface="Arial" panose="020B0604020202020204" pitchFamily="34" charset="0"/>
                        <a:buChar char="•"/>
                      </a:pPr>
                      <a:r>
                        <a:rPr lang="en-AU" b="0" dirty="0"/>
                        <a:t>Explain the strength and weaknesses of quantitative data</a:t>
                      </a:r>
                    </a:p>
                  </a:txBody>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706" y="42560"/>
            <a:ext cx="908059" cy="749280"/>
          </a:xfrm>
          <a:prstGeom prst="rect">
            <a:avLst/>
          </a:prstGeom>
        </p:spPr>
      </p:pic>
      <p:sp>
        <p:nvSpPr>
          <p:cNvPr id="11" name="Rectangle 6">
            <a:extLst>
              <a:ext uri="{FF2B5EF4-FFF2-40B4-BE49-F238E27FC236}">
                <a16:creationId xmlns:a16="http://schemas.microsoft.com/office/drawing/2014/main" id="{AE900986-3A58-4964-86B5-41457F60BBD2}"/>
              </a:ext>
            </a:extLst>
          </p:cNvPr>
          <p:cNvSpPr>
            <a:spLocks noChangeArrowheads="1"/>
          </p:cNvSpPr>
          <p:nvPr/>
        </p:nvSpPr>
        <p:spPr bwMode="auto">
          <a:xfrm>
            <a:off x="1004735" y="3882833"/>
            <a:ext cx="7619811" cy="2893742"/>
          </a:xfrm>
          <a:prstGeom prst="rect">
            <a:avLst/>
          </a:prstGeom>
          <a:solidFill>
            <a:schemeClr val="accent6">
              <a:lumMod val="20000"/>
              <a:lumOff val="80000"/>
            </a:schemeClr>
          </a:solidFill>
          <a:ln>
            <a:noFill/>
          </a:ln>
          <a:effectLst/>
        </p:spPr>
        <p:txBody>
          <a:bodyPr wrap="square" lIns="92075" tIns="46038" rIns="92075" bIns="46038">
            <a:spAutoFit/>
          </a:bodyPr>
          <a:lstStyle/>
          <a:p>
            <a:r>
              <a:rPr lang="en-US" sz="2000" b="1" dirty="0">
                <a:latin typeface="Arial"/>
                <a:cs typeface="Arial"/>
              </a:rPr>
              <a:t>Fixed response</a:t>
            </a:r>
          </a:p>
          <a:p>
            <a:endParaRPr lang="en-US" dirty="0"/>
          </a:p>
          <a:p>
            <a:r>
              <a:rPr lang="en-US" dirty="0"/>
              <a:t>All interviewees or survey participants are asked the same questions and asked to choose answers from among the same set of alternatives.</a:t>
            </a:r>
          </a:p>
          <a:p>
            <a:endParaRPr lang="en-US" dirty="0"/>
          </a:p>
          <a:p>
            <a:r>
              <a:rPr lang="en-US" dirty="0"/>
              <a:t>Several styles:</a:t>
            </a:r>
          </a:p>
          <a:p>
            <a:pPr lvl="1"/>
            <a:r>
              <a:rPr lang="en-US" dirty="0"/>
              <a:t>Yes/No/Undecided</a:t>
            </a:r>
          </a:p>
          <a:p>
            <a:pPr lvl="1"/>
            <a:r>
              <a:rPr lang="en-US" dirty="0"/>
              <a:t>True/False/Undecided</a:t>
            </a:r>
          </a:p>
          <a:p>
            <a:pPr lvl="1"/>
            <a:r>
              <a:rPr lang="en-US" dirty="0"/>
              <a:t>1%/5%/10%/no limit</a:t>
            </a:r>
          </a:p>
        </p:txBody>
      </p:sp>
      <p:sp>
        <p:nvSpPr>
          <p:cNvPr id="14" name="TextBox 13">
            <a:extLst>
              <a:ext uri="{FF2B5EF4-FFF2-40B4-BE49-F238E27FC236}">
                <a16:creationId xmlns:a16="http://schemas.microsoft.com/office/drawing/2014/main" id="{F12F4170-C554-49A2-902F-5987A9A86984}"/>
              </a:ext>
            </a:extLst>
          </p:cNvPr>
          <p:cNvSpPr txBox="1"/>
          <p:nvPr/>
        </p:nvSpPr>
        <p:spPr>
          <a:xfrm>
            <a:off x="1623067" y="112203"/>
            <a:ext cx="7626754" cy="707886"/>
          </a:xfrm>
          <a:prstGeom prst="rect">
            <a:avLst/>
          </a:prstGeom>
          <a:noFill/>
        </p:spPr>
        <p:txBody>
          <a:bodyPr wrap="square" rtlCol="0">
            <a:spAutoFit/>
          </a:bodyPr>
          <a:lstStyle/>
          <a:p>
            <a:r>
              <a:rPr lang="en-AU" sz="4000" b="1" dirty="0">
                <a:solidFill>
                  <a:srgbClr val="2D6069"/>
                </a:solidFill>
              </a:rPr>
              <a:t>Quantitative data methods</a:t>
            </a:r>
          </a:p>
        </p:txBody>
      </p:sp>
      <p:pic>
        <p:nvPicPr>
          <p:cNvPr id="12" name="Picture 11">
            <a:extLst>
              <a:ext uri="{FF2B5EF4-FFF2-40B4-BE49-F238E27FC236}">
                <a16:creationId xmlns:a16="http://schemas.microsoft.com/office/drawing/2014/main" id="{55133936-9A3F-417A-AE95-57BBCE5A48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03885" y="2076267"/>
            <a:ext cx="3288114" cy="1833880"/>
          </a:xfrm>
          <a:prstGeom prst="rect">
            <a:avLst/>
          </a:prstGeom>
        </p:spPr>
      </p:pic>
    </p:spTree>
    <p:extLst>
      <p:ext uri="{BB962C8B-B14F-4D97-AF65-F5344CB8AC3E}">
        <p14:creationId xmlns:p14="http://schemas.microsoft.com/office/powerpoint/2010/main" val="101944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3B59F9-BFAC-094C-A3AF-AA8819DA489A}"/>
              </a:ext>
            </a:extLst>
          </p:cNvPr>
          <p:cNvSpPr txBox="1"/>
          <p:nvPr/>
        </p:nvSpPr>
        <p:spPr>
          <a:xfrm rot="16200000">
            <a:off x="-1076415" y="2249623"/>
            <a:ext cx="2491387" cy="338554"/>
          </a:xfrm>
          <a:prstGeom prst="rect">
            <a:avLst/>
          </a:prstGeom>
          <a:solidFill>
            <a:srgbClr val="B4E7E6"/>
          </a:solidFill>
        </p:spPr>
        <p:txBody>
          <a:bodyPr wrap="square" rtlCol="0">
            <a:spAutoFit/>
          </a:bodyPr>
          <a:lstStyle/>
          <a:p>
            <a:r>
              <a:rPr lang="en-AU" sz="1600" b="1" dirty="0"/>
              <a:t>Concept development</a:t>
            </a:r>
          </a:p>
        </p:txBody>
      </p:sp>
      <p:sp>
        <p:nvSpPr>
          <p:cNvPr id="6" name="Rectangle 5">
            <a:extLst>
              <a:ext uri="{FF2B5EF4-FFF2-40B4-BE49-F238E27FC236}">
                <a16:creationId xmlns:a16="http://schemas.microsoft.com/office/drawing/2014/main" id="{5D0CBF23-574E-0A44-947F-AF55EC077F39}"/>
              </a:ext>
            </a:extLst>
          </p:cNvPr>
          <p:cNvSpPr/>
          <p:nvPr/>
        </p:nvSpPr>
        <p:spPr>
          <a:xfrm>
            <a:off x="527151" y="1260113"/>
            <a:ext cx="7907598" cy="5324535"/>
          </a:xfrm>
          <a:prstGeom prst="rect">
            <a:avLst/>
          </a:prstGeom>
          <a:solidFill>
            <a:srgbClr val="B4E7E6">
              <a:alpha val="54118"/>
            </a:srgbClr>
          </a:solidFill>
        </p:spPr>
        <p:txBody>
          <a:bodyPr wrap="square">
            <a:spAutoFit/>
          </a:bodyPr>
          <a:lstStyle/>
          <a:p>
            <a:pPr marL="233363" indent="-233363">
              <a:buClr>
                <a:prstClr val="black">
                  <a:lumMod val="50000"/>
                  <a:lumOff val="50000"/>
                </a:prstClr>
              </a:buClr>
              <a:buSzPct val="94000"/>
              <a:buFont typeface="Calibri" pitchFamily="34" charset="0"/>
              <a:buChar char="»"/>
            </a:pPr>
            <a:r>
              <a:rPr lang="en-US" sz="2000" dirty="0">
                <a:solidFill>
                  <a:prstClr val="black"/>
                </a:solidFill>
              </a:rPr>
              <a:t>When a person is observed within a specific circumstance or environment and their </a:t>
            </a:r>
            <a:r>
              <a:rPr lang="en-US" sz="2000" dirty="0" err="1">
                <a:solidFill>
                  <a:prstClr val="black"/>
                </a:solidFill>
              </a:rPr>
              <a:t>behaviour</a:t>
            </a:r>
            <a:r>
              <a:rPr lang="en-US" sz="2000" dirty="0">
                <a:solidFill>
                  <a:prstClr val="black"/>
                </a:solidFill>
              </a:rPr>
              <a:t> within that circumstance or environment is recorded, this is mostly qualitative data.</a:t>
            </a:r>
          </a:p>
          <a:p>
            <a:pPr marL="233363" indent="-233363">
              <a:buClr>
                <a:prstClr val="black">
                  <a:lumMod val="50000"/>
                  <a:lumOff val="50000"/>
                </a:prstClr>
              </a:buClr>
              <a:buSzPct val="94000"/>
              <a:buFont typeface="Calibri" pitchFamily="34" charset="0"/>
              <a:buChar char="»"/>
            </a:pPr>
            <a:endParaRPr lang="en-US" sz="2000" dirty="0">
              <a:solidFill>
                <a:prstClr val="black"/>
              </a:solidFill>
            </a:endParaRPr>
          </a:p>
          <a:p>
            <a:pPr marL="233363" indent="-233363">
              <a:buClr>
                <a:prstClr val="black">
                  <a:lumMod val="50000"/>
                  <a:lumOff val="50000"/>
                </a:prstClr>
              </a:buClr>
              <a:buSzPct val="94000"/>
              <a:buFont typeface="Calibri" pitchFamily="34" charset="0"/>
              <a:buChar char="»"/>
            </a:pPr>
            <a:r>
              <a:rPr lang="en-US" sz="2000" dirty="0">
                <a:solidFill>
                  <a:prstClr val="black"/>
                </a:solidFill>
              </a:rPr>
              <a:t>The info recorded can be used to determine the </a:t>
            </a:r>
            <a:r>
              <a:rPr lang="en-US" sz="2000" dirty="0" err="1">
                <a:solidFill>
                  <a:prstClr val="black"/>
                </a:solidFill>
              </a:rPr>
              <a:t>behavioural</a:t>
            </a:r>
            <a:r>
              <a:rPr lang="en-US" sz="2000" dirty="0">
                <a:solidFill>
                  <a:prstClr val="black"/>
                </a:solidFill>
              </a:rPr>
              <a:t> component of an attitude.</a:t>
            </a:r>
          </a:p>
          <a:p>
            <a:pPr>
              <a:buClr>
                <a:prstClr val="black">
                  <a:lumMod val="50000"/>
                  <a:lumOff val="50000"/>
                </a:prstClr>
              </a:buClr>
              <a:buSzPct val="94000"/>
            </a:pPr>
            <a:endParaRPr lang="en-US" sz="2000" dirty="0">
              <a:solidFill>
                <a:prstClr val="black"/>
              </a:solidFill>
            </a:endParaRPr>
          </a:p>
          <a:p>
            <a:pPr marL="233363" indent="-233363">
              <a:buClr>
                <a:prstClr val="black">
                  <a:lumMod val="50000"/>
                  <a:lumOff val="50000"/>
                </a:prstClr>
              </a:buClr>
              <a:buSzPct val="94000"/>
              <a:buFont typeface="Calibri" pitchFamily="34" charset="0"/>
              <a:buChar char="»"/>
            </a:pPr>
            <a:r>
              <a:rPr lang="en-US" sz="2000" dirty="0">
                <a:solidFill>
                  <a:prstClr val="black"/>
                </a:solidFill>
              </a:rPr>
              <a:t>People watched are usually unaware, therefore capture behavior that is more natural than behavior occurring in the artificial setting of a lab.</a:t>
            </a:r>
          </a:p>
          <a:p>
            <a:pPr marL="233363" indent="-233363">
              <a:buClr>
                <a:prstClr val="black">
                  <a:lumMod val="50000"/>
                  <a:lumOff val="50000"/>
                </a:prstClr>
              </a:buClr>
              <a:buSzPct val="94000"/>
              <a:buFont typeface="Calibri" pitchFamily="34" charset="0"/>
              <a:buChar char="»"/>
            </a:pPr>
            <a:endParaRPr lang="en-US" sz="2000" dirty="0">
              <a:solidFill>
                <a:prstClr val="black"/>
              </a:solidFill>
            </a:endParaRPr>
          </a:p>
          <a:p>
            <a:pPr marL="233363" indent="-233363">
              <a:buClr>
                <a:prstClr val="black">
                  <a:lumMod val="50000"/>
                  <a:lumOff val="50000"/>
                </a:prstClr>
              </a:buClr>
              <a:buSzPct val="94000"/>
              <a:buFont typeface="Calibri" pitchFamily="34" charset="0"/>
              <a:buChar char="»"/>
            </a:pPr>
            <a:r>
              <a:rPr lang="en-US" sz="2000" dirty="0">
                <a:solidFill>
                  <a:prstClr val="black"/>
                </a:solidFill>
              </a:rPr>
              <a:t>Strength: Useful when attitudes being investigated people may not want to be honest about. Somewhat free of participant bias. </a:t>
            </a:r>
          </a:p>
          <a:p>
            <a:pPr marL="233363" indent="-233363">
              <a:buClr>
                <a:prstClr val="black">
                  <a:lumMod val="50000"/>
                  <a:lumOff val="50000"/>
                </a:prstClr>
              </a:buClr>
              <a:buSzPct val="94000"/>
              <a:buFont typeface="Calibri" pitchFamily="34" charset="0"/>
              <a:buChar char="»"/>
            </a:pPr>
            <a:endParaRPr lang="en-US" sz="2000" dirty="0">
              <a:solidFill>
                <a:prstClr val="black"/>
              </a:solidFill>
            </a:endParaRPr>
          </a:p>
          <a:p>
            <a:pPr marL="233363" indent="-233363">
              <a:buClr>
                <a:prstClr val="black">
                  <a:lumMod val="50000"/>
                  <a:lumOff val="50000"/>
                </a:prstClr>
              </a:buClr>
              <a:buSzPct val="94000"/>
              <a:buFont typeface="Calibri" pitchFamily="34" charset="0"/>
              <a:buChar char="»"/>
            </a:pPr>
            <a:r>
              <a:rPr lang="en-US" sz="2000" dirty="0">
                <a:solidFill>
                  <a:prstClr val="black"/>
                </a:solidFill>
              </a:rPr>
              <a:t>Limitation: have to assume underlying attitude from </a:t>
            </a:r>
            <a:r>
              <a:rPr lang="en-US" sz="2000" dirty="0" err="1">
                <a:solidFill>
                  <a:prstClr val="black"/>
                </a:solidFill>
              </a:rPr>
              <a:t>behaviour</a:t>
            </a:r>
            <a:r>
              <a:rPr lang="en-US" sz="2000" dirty="0">
                <a:solidFill>
                  <a:prstClr val="black"/>
                </a:solidFill>
              </a:rPr>
              <a:t>, interpretation bias from experimenter. </a:t>
            </a:r>
          </a:p>
        </p:txBody>
      </p:sp>
      <p:graphicFrame>
        <p:nvGraphicFramePr>
          <p:cNvPr id="9" name="Table 8">
            <a:extLst>
              <a:ext uri="{FF2B5EF4-FFF2-40B4-BE49-F238E27FC236}">
                <a16:creationId xmlns:a16="http://schemas.microsoft.com/office/drawing/2014/main" id="{F4660C92-7CA7-E642-B616-E56D9EAA166A}"/>
              </a:ext>
            </a:extLst>
          </p:cNvPr>
          <p:cNvGraphicFramePr>
            <a:graphicFrameLocks noGrp="1"/>
          </p:cNvGraphicFramePr>
          <p:nvPr>
            <p:extLst>
              <p:ext uri="{D42A27DB-BD31-4B8C-83A1-F6EECF244321}">
                <p14:modId xmlns:p14="http://schemas.microsoft.com/office/powerpoint/2010/main" val="2155500607"/>
              </p:ext>
            </p:extLst>
          </p:nvPr>
        </p:nvGraphicFramePr>
        <p:xfrm>
          <a:off x="8902700" y="42560"/>
          <a:ext cx="3289300" cy="1878178"/>
        </p:xfrm>
        <a:graphic>
          <a:graphicData uri="http://schemas.openxmlformats.org/drawingml/2006/table">
            <a:tbl>
              <a:tblPr firstRow="1" bandRow="1">
                <a:tableStyleId>{7DF18680-E054-41AD-8BC1-D1AEF772440D}</a:tableStyleId>
              </a:tblPr>
              <a:tblGrid>
                <a:gridCol w="3289300">
                  <a:extLst>
                    <a:ext uri="{9D8B030D-6E8A-4147-A177-3AD203B41FA5}">
                      <a16:colId xmlns:a16="http://schemas.microsoft.com/office/drawing/2014/main" val="3535165183"/>
                    </a:ext>
                  </a:extLst>
                </a:gridCol>
              </a:tblGrid>
              <a:tr h="689458">
                <a:tc>
                  <a:txBody>
                    <a:bodyPr/>
                    <a:lstStyle/>
                    <a:p>
                      <a:pPr algn="ctr"/>
                      <a:r>
                        <a:rPr lang="en-AU" dirty="0"/>
                        <a:t>Vocabulary </a:t>
                      </a:r>
                    </a:p>
                  </a:txBody>
                  <a:tcPr>
                    <a:solidFill>
                      <a:schemeClr val="accent1"/>
                    </a:solidFill>
                  </a:tcPr>
                </a:tc>
                <a:extLst>
                  <a:ext uri="{0D108BD9-81ED-4DB2-BD59-A6C34878D82A}">
                    <a16:rowId xmlns:a16="http://schemas.microsoft.com/office/drawing/2014/main" val="2660461276"/>
                  </a:ext>
                </a:extLst>
              </a:tr>
              <a:tr h="689458">
                <a:tc>
                  <a:txBody>
                    <a:bodyPr/>
                    <a:lstStyle/>
                    <a:p>
                      <a:r>
                        <a:rPr lang="en-US" sz="1800" b="1" i="0" kern="1200" dirty="0">
                          <a:solidFill>
                            <a:schemeClr val="dk1"/>
                          </a:solidFill>
                          <a:effectLst/>
                          <a:latin typeface="+mn-lt"/>
                          <a:ea typeface="+mn-ea"/>
                          <a:cs typeface="+mn-cs"/>
                        </a:rPr>
                        <a:t>Circumstance</a:t>
                      </a:r>
                      <a:r>
                        <a:rPr lang="en-US" sz="1800" b="0" i="0" kern="1200" dirty="0">
                          <a:solidFill>
                            <a:schemeClr val="dk1"/>
                          </a:solidFill>
                          <a:effectLst/>
                          <a:latin typeface="+mn-lt"/>
                          <a:ea typeface="+mn-ea"/>
                          <a:cs typeface="+mn-cs"/>
                        </a:rPr>
                        <a:t> - a fact or condition connected with or relevant to an event or action.</a:t>
                      </a:r>
                      <a:endParaRPr lang="en-AU" b="0" dirty="0"/>
                    </a:p>
                  </a:txBody>
                  <a:tcPr>
                    <a:solidFill>
                      <a:schemeClr val="bg2">
                        <a:lumMod val="40000"/>
                        <a:lumOff val="60000"/>
                      </a:schemeClr>
                    </a:solidFill>
                  </a:tcPr>
                </a:tc>
                <a:extLst>
                  <a:ext uri="{0D108BD9-81ED-4DB2-BD59-A6C34878D82A}">
                    <a16:rowId xmlns:a16="http://schemas.microsoft.com/office/drawing/2014/main" val="189824520"/>
                  </a:ext>
                </a:extLst>
              </a:tr>
            </a:tbl>
          </a:graphicData>
        </a:graphic>
      </p:graphicFrame>
      <p:graphicFrame>
        <p:nvGraphicFramePr>
          <p:cNvPr id="10" name="Table 9">
            <a:extLst>
              <a:ext uri="{FF2B5EF4-FFF2-40B4-BE49-F238E27FC236}">
                <a16:creationId xmlns:a16="http://schemas.microsoft.com/office/drawing/2014/main" id="{15AA9FBA-6EF7-DB44-B12B-B686880AA94A}"/>
              </a:ext>
            </a:extLst>
          </p:cNvPr>
          <p:cNvGraphicFramePr>
            <a:graphicFrameLocks noGrp="1"/>
          </p:cNvGraphicFramePr>
          <p:nvPr>
            <p:extLst>
              <p:ext uri="{D42A27DB-BD31-4B8C-83A1-F6EECF244321}">
                <p14:modId xmlns:p14="http://schemas.microsoft.com/office/powerpoint/2010/main" val="872129183"/>
              </p:ext>
            </p:extLst>
          </p:nvPr>
        </p:nvGraphicFramePr>
        <p:xfrm>
          <a:off x="8765584" y="4911917"/>
          <a:ext cx="3222567" cy="1833880"/>
        </p:xfrm>
        <a:graphic>
          <a:graphicData uri="http://schemas.openxmlformats.org/drawingml/2006/table">
            <a:tbl>
              <a:tblPr firstRow="1" bandRow="1">
                <a:tableStyleId>{00A15C55-8517-42AA-B614-E9B94910E393}</a:tableStyleId>
              </a:tblPr>
              <a:tblGrid>
                <a:gridCol w="3222567">
                  <a:extLst>
                    <a:ext uri="{9D8B030D-6E8A-4147-A177-3AD203B41FA5}">
                      <a16:colId xmlns:a16="http://schemas.microsoft.com/office/drawing/2014/main" val="3535165183"/>
                    </a:ext>
                  </a:extLst>
                </a:gridCol>
              </a:tblGrid>
              <a:tr h="370840">
                <a:tc>
                  <a:txBody>
                    <a:bodyPr/>
                    <a:lstStyle/>
                    <a:p>
                      <a:pPr algn="ctr"/>
                      <a:r>
                        <a:rPr lang="en-AU" dirty="0">
                          <a:solidFill>
                            <a:schemeClr val="tx1"/>
                          </a:solidFill>
                        </a:rPr>
                        <a:t>Check for understanding</a:t>
                      </a:r>
                    </a:p>
                  </a:txBody>
                  <a:tcPr/>
                </a:tc>
                <a:extLst>
                  <a:ext uri="{0D108BD9-81ED-4DB2-BD59-A6C34878D82A}">
                    <a16:rowId xmlns:a16="http://schemas.microsoft.com/office/drawing/2014/main" val="2660461276"/>
                  </a:ext>
                </a:extLst>
              </a:tr>
              <a:tr h="391603">
                <a:tc>
                  <a:txBody>
                    <a:bodyPr/>
                    <a:lstStyle/>
                    <a:p>
                      <a:pPr marL="285750" indent="-285750">
                        <a:buFont typeface="Arial" panose="020B0604020202020204" pitchFamily="34" charset="0"/>
                        <a:buChar char="•"/>
                      </a:pPr>
                      <a:r>
                        <a:rPr lang="en-AU" dirty="0"/>
                        <a:t>Describe observation data collection</a:t>
                      </a:r>
                    </a:p>
                    <a:p>
                      <a:pPr marL="285750" indent="-285750">
                        <a:buFont typeface="Arial" panose="020B0604020202020204" pitchFamily="34" charset="0"/>
                        <a:buChar char="•"/>
                      </a:pPr>
                      <a:r>
                        <a:rPr lang="en-AU" b="0" dirty="0"/>
                        <a:t>Explain the strength and weaknesses of quantitative data</a:t>
                      </a:r>
                    </a:p>
                  </a:txBody>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872" y="42560"/>
            <a:ext cx="857893" cy="707886"/>
          </a:xfrm>
          <a:prstGeom prst="rect">
            <a:avLst/>
          </a:prstGeom>
        </p:spPr>
      </p:pic>
      <p:sp>
        <p:nvSpPr>
          <p:cNvPr id="14" name="TextBox 13">
            <a:extLst>
              <a:ext uri="{FF2B5EF4-FFF2-40B4-BE49-F238E27FC236}">
                <a16:creationId xmlns:a16="http://schemas.microsoft.com/office/drawing/2014/main" id="{F12F4170-C554-49A2-902F-5987A9A86984}"/>
              </a:ext>
            </a:extLst>
          </p:cNvPr>
          <p:cNvSpPr txBox="1"/>
          <p:nvPr/>
        </p:nvSpPr>
        <p:spPr>
          <a:xfrm>
            <a:off x="1623067" y="112203"/>
            <a:ext cx="7626754" cy="707886"/>
          </a:xfrm>
          <a:prstGeom prst="rect">
            <a:avLst/>
          </a:prstGeom>
          <a:noFill/>
        </p:spPr>
        <p:txBody>
          <a:bodyPr wrap="square" rtlCol="0">
            <a:spAutoFit/>
          </a:bodyPr>
          <a:lstStyle/>
          <a:p>
            <a:r>
              <a:rPr lang="en-AU" sz="4000" b="1" dirty="0">
                <a:solidFill>
                  <a:srgbClr val="2D6069"/>
                </a:solidFill>
              </a:rPr>
              <a:t>Observation data collection </a:t>
            </a:r>
          </a:p>
        </p:txBody>
      </p:sp>
      <p:pic>
        <p:nvPicPr>
          <p:cNvPr id="15" name="Picture 14">
            <a:extLst>
              <a:ext uri="{FF2B5EF4-FFF2-40B4-BE49-F238E27FC236}">
                <a16:creationId xmlns:a16="http://schemas.microsoft.com/office/drawing/2014/main" id="{B97B202A-9B43-4B0E-90DB-9F69201750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3344" y="2091641"/>
            <a:ext cx="2357439" cy="1572953"/>
          </a:xfrm>
          <a:prstGeom prst="rect">
            <a:avLst/>
          </a:prstGeom>
        </p:spPr>
      </p:pic>
      <p:pic>
        <p:nvPicPr>
          <p:cNvPr id="16" name="Picture 15">
            <a:extLst>
              <a:ext uri="{FF2B5EF4-FFF2-40B4-BE49-F238E27FC236}">
                <a16:creationId xmlns:a16="http://schemas.microsoft.com/office/drawing/2014/main" id="{03E7FAEE-4E38-4B0E-93BA-8B8C322BDF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55775" y="2863801"/>
            <a:ext cx="2494606" cy="1878178"/>
          </a:xfrm>
          <a:prstGeom prst="rect">
            <a:avLst/>
          </a:prstGeom>
        </p:spPr>
      </p:pic>
    </p:spTree>
    <p:extLst>
      <p:ext uri="{BB962C8B-B14F-4D97-AF65-F5344CB8AC3E}">
        <p14:creationId xmlns:p14="http://schemas.microsoft.com/office/powerpoint/2010/main" val="301711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DA994B-C446-422A-90EF-06BCEC2EE46E}"/>
              </a:ext>
            </a:extLst>
          </p:cNvPr>
          <p:cNvSpPr txBox="1"/>
          <p:nvPr/>
        </p:nvSpPr>
        <p:spPr>
          <a:xfrm>
            <a:off x="4214757" y="204596"/>
            <a:ext cx="7626754" cy="707886"/>
          </a:xfrm>
          <a:prstGeom prst="rect">
            <a:avLst/>
          </a:prstGeom>
          <a:noFill/>
        </p:spPr>
        <p:txBody>
          <a:bodyPr wrap="square" rtlCol="0">
            <a:spAutoFit/>
          </a:bodyPr>
          <a:lstStyle/>
          <a:p>
            <a:r>
              <a:rPr lang="en-AU" sz="4000" b="1" dirty="0">
                <a:solidFill>
                  <a:srgbClr val="2D6069"/>
                </a:solidFill>
              </a:rPr>
              <a:t>Your turn</a:t>
            </a:r>
          </a:p>
        </p:txBody>
      </p:sp>
      <p:sp>
        <p:nvSpPr>
          <p:cNvPr id="9" name="Rectangle 8">
            <a:extLst>
              <a:ext uri="{FF2B5EF4-FFF2-40B4-BE49-F238E27FC236}">
                <a16:creationId xmlns:a16="http://schemas.microsoft.com/office/drawing/2014/main" id="{904BC870-472B-4ADC-910B-DB67AF42EA61}"/>
              </a:ext>
            </a:extLst>
          </p:cNvPr>
          <p:cNvSpPr/>
          <p:nvPr/>
        </p:nvSpPr>
        <p:spPr>
          <a:xfrm>
            <a:off x="1279362" y="1277984"/>
            <a:ext cx="8006880" cy="4524315"/>
          </a:xfrm>
          <a:prstGeom prst="rect">
            <a:avLst/>
          </a:prstGeom>
          <a:solidFill>
            <a:srgbClr val="B4E7E6">
              <a:alpha val="54118"/>
            </a:srgbClr>
          </a:solidFill>
        </p:spPr>
        <p:txBody>
          <a:bodyPr wrap="square">
            <a:spAutoFit/>
          </a:bodyPr>
          <a:lstStyle/>
          <a:p>
            <a:r>
              <a:rPr lang="en-US" sz="2400" dirty="0"/>
              <a:t>Do some independent research into the data collection method: </a:t>
            </a:r>
            <a:r>
              <a:rPr lang="en-US" sz="2400" dirty="0">
                <a:highlight>
                  <a:srgbClr val="FFFF00"/>
                </a:highlight>
              </a:rPr>
              <a:t>focus group</a:t>
            </a:r>
            <a:r>
              <a:rPr lang="en-US" sz="2400" dirty="0"/>
              <a:t>. </a:t>
            </a:r>
          </a:p>
          <a:p>
            <a:r>
              <a:rPr lang="en-US" sz="2400" b="1" dirty="0"/>
              <a:t>You can use your textbooks or internet.</a:t>
            </a:r>
          </a:p>
          <a:p>
            <a:endParaRPr lang="en-US" sz="2400" dirty="0"/>
          </a:p>
          <a:p>
            <a:pPr marL="342900" indent="-342900">
              <a:buFont typeface="Arial" panose="020B0604020202020204" pitchFamily="34" charset="0"/>
              <a:buChar char="•"/>
            </a:pPr>
            <a:r>
              <a:rPr lang="en-US" sz="2400" dirty="0"/>
              <a:t>What is it?</a:t>
            </a:r>
          </a:p>
          <a:p>
            <a:pPr marL="342900" indent="-342900">
              <a:buFont typeface="Arial" panose="020B0604020202020204" pitchFamily="34" charset="0"/>
              <a:buChar char="•"/>
            </a:pPr>
            <a:r>
              <a:rPr lang="en-US" sz="2400" dirty="0"/>
              <a:t>When is it typically used?</a:t>
            </a:r>
          </a:p>
          <a:p>
            <a:pPr marL="342900" indent="-342900">
              <a:buFont typeface="Arial" panose="020B0604020202020204" pitchFamily="34" charset="0"/>
              <a:buChar char="•"/>
            </a:pPr>
            <a:r>
              <a:rPr lang="en-US" sz="2400" dirty="0"/>
              <a:t>What are the strengths?</a:t>
            </a:r>
          </a:p>
          <a:p>
            <a:pPr marL="342900" indent="-342900">
              <a:buFont typeface="Arial" panose="020B0604020202020204" pitchFamily="34" charset="0"/>
              <a:buChar char="•"/>
            </a:pPr>
            <a:r>
              <a:rPr lang="en-US" sz="2400" dirty="0"/>
              <a:t>What are the weaknesses?</a:t>
            </a:r>
          </a:p>
          <a:p>
            <a:pPr marL="342900" indent="-342900">
              <a:buFont typeface="Arial" panose="020B0604020202020204" pitchFamily="34" charset="0"/>
              <a:buChar char="•"/>
            </a:pPr>
            <a:endParaRPr lang="en-US" sz="2400" dirty="0"/>
          </a:p>
          <a:p>
            <a:r>
              <a:rPr lang="en-US" sz="2400" dirty="0"/>
              <a:t>4 minutes research</a:t>
            </a:r>
          </a:p>
          <a:p>
            <a:r>
              <a:rPr lang="en-US" sz="2400" dirty="0"/>
              <a:t>1 minute share with your group</a:t>
            </a:r>
          </a:p>
          <a:p>
            <a:r>
              <a:rPr lang="en-US" sz="2400" dirty="0"/>
              <a:t>2 minutes brainstorm as a class</a:t>
            </a:r>
          </a:p>
        </p:txBody>
      </p:sp>
      <p:sp>
        <p:nvSpPr>
          <p:cNvPr id="8" name="TextBox 7">
            <a:extLst>
              <a:ext uri="{FF2B5EF4-FFF2-40B4-BE49-F238E27FC236}">
                <a16:creationId xmlns:a16="http://schemas.microsoft.com/office/drawing/2014/main" id="{DF02CCB6-2077-4C5C-AB01-A17326B65531}"/>
              </a:ext>
            </a:extLst>
          </p:cNvPr>
          <p:cNvSpPr txBox="1"/>
          <p:nvPr/>
        </p:nvSpPr>
        <p:spPr>
          <a:xfrm>
            <a:off x="0" y="-6605"/>
            <a:ext cx="3982720"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Activity 1</a:t>
            </a:r>
          </a:p>
        </p:txBody>
      </p:sp>
    </p:spTree>
    <p:extLst>
      <p:ext uri="{BB962C8B-B14F-4D97-AF65-F5344CB8AC3E}">
        <p14:creationId xmlns:p14="http://schemas.microsoft.com/office/powerpoint/2010/main" val="1225642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56F0-FA1B-394C-88AD-D47F123B4F75}"/>
              </a:ext>
            </a:extLst>
          </p:cNvPr>
          <p:cNvSpPr>
            <a:spLocks noGrp="1"/>
          </p:cNvSpPr>
          <p:nvPr>
            <p:ph type="title"/>
          </p:nvPr>
        </p:nvSpPr>
        <p:spPr>
          <a:xfrm>
            <a:off x="842480" y="1406264"/>
            <a:ext cx="10507040" cy="2704488"/>
          </a:xfrm>
        </p:spPr>
        <p:txBody>
          <a:bodyPr/>
          <a:lstStyle/>
          <a:p>
            <a:br>
              <a:rPr lang="en-US" dirty="0"/>
            </a:br>
            <a:r>
              <a:rPr lang="en-US" dirty="0"/>
              <a:t> </a:t>
            </a:r>
          </a:p>
        </p:txBody>
      </p:sp>
      <p:sp>
        <p:nvSpPr>
          <p:cNvPr id="6" name="TextBox 5">
            <a:extLst>
              <a:ext uri="{FF2B5EF4-FFF2-40B4-BE49-F238E27FC236}">
                <a16:creationId xmlns:a16="http://schemas.microsoft.com/office/drawing/2014/main" id="{4FDA994B-C446-422A-90EF-06BCEC2EE46E}"/>
              </a:ext>
            </a:extLst>
          </p:cNvPr>
          <p:cNvSpPr txBox="1"/>
          <p:nvPr/>
        </p:nvSpPr>
        <p:spPr>
          <a:xfrm>
            <a:off x="1598895" y="634718"/>
            <a:ext cx="7626754" cy="707886"/>
          </a:xfrm>
          <a:prstGeom prst="rect">
            <a:avLst/>
          </a:prstGeom>
          <a:noFill/>
        </p:spPr>
        <p:txBody>
          <a:bodyPr wrap="square" rtlCol="0">
            <a:spAutoFit/>
          </a:bodyPr>
          <a:lstStyle/>
          <a:p>
            <a:r>
              <a:rPr lang="en-AU" sz="4000" b="1" dirty="0">
                <a:solidFill>
                  <a:srgbClr val="2D6069"/>
                </a:solidFill>
              </a:rPr>
              <a:t>Complete now/for homework</a:t>
            </a:r>
          </a:p>
        </p:txBody>
      </p:sp>
      <p:sp>
        <p:nvSpPr>
          <p:cNvPr id="7" name="Rectangle 6">
            <a:extLst>
              <a:ext uri="{FF2B5EF4-FFF2-40B4-BE49-F238E27FC236}">
                <a16:creationId xmlns:a16="http://schemas.microsoft.com/office/drawing/2014/main" id="{3A159323-2B57-4028-AE27-8469B4B2BEBF}"/>
              </a:ext>
            </a:extLst>
          </p:cNvPr>
          <p:cNvSpPr/>
          <p:nvPr/>
        </p:nvSpPr>
        <p:spPr>
          <a:xfrm>
            <a:off x="1623067" y="2691415"/>
            <a:ext cx="7602582" cy="3170099"/>
          </a:xfrm>
          <a:prstGeom prst="rect">
            <a:avLst/>
          </a:prstGeom>
          <a:solidFill>
            <a:srgbClr val="B4E7E6">
              <a:alpha val="54118"/>
            </a:srgbClr>
          </a:solidFill>
        </p:spPr>
        <p:txBody>
          <a:bodyPr wrap="square">
            <a:spAutoFit/>
          </a:bodyPr>
          <a:lstStyle/>
          <a:p>
            <a:pPr algn="ctr"/>
            <a:r>
              <a:rPr lang="en-US" sz="4000" b="1" dirty="0"/>
              <a:t>Practice Exam Questions over the next few slides culture and values: Attitudes</a:t>
            </a:r>
          </a:p>
          <a:p>
            <a:pPr algn="ctr"/>
            <a:endParaRPr lang="en-US" sz="4000" b="1" dirty="0"/>
          </a:p>
          <a:p>
            <a:pPr algn="ctr"/>
            <a:r>
              <a:rPr lang="en-US" sz="4000" b="1" dirty="0"/>
              <a:t>5 questions in total</a:t>
            </a:r>
            <a:endParaRPr lang="en-US" sz="4000" dirty="0"/>
          </a:p>
        </p:txBody>
      </p:sp>
    </p:spTree>
    <p:extLst>
      <p:ext uri="{BB962C8B-B14F-4D97-AF65-F5344CB8AC3E}">
        <p14:creationId xmlns:p14="http://schemas.microsoft.com/office/powerpoint/2010/main" val="710502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4C49D-5322-4F5A-8701-F7921979CE58}"/>
              </a:ext>
            </a:extLst>
          </p:cNvPr>
          <p:cNvSpPr>
            <a:spLocks noGrp="1"/>
          </p:cNvSpPr>
          <p:nvPr>
            <p:ph idx="1"/>
          </p:nvPr>
        </p:nvSpPr>
        <p:spPr>
          <a:xfrm>
            <a:off x="609598" y="511630"/>
            <a:ext cx="9170127" cy="5984964"/>
          </a:xfrm>
        </p:spPr>
        <p:txBody>
          <a:bodyPr>
            <a:normAutofit/>
          </a:bodyPr>
          <a:lstStyle/>
          <a:p>
            <a:r>
              <a:rPr lang="en-AU" dirty="0"/>
              <a:t>Q1: Outline </a:t>
            </a:r>
            <a:r>
              <a:rPr lang="en-AU" dirty="0" err="1"/>
              <a:t>Sherif</a:t>
            </a:r>
            <a:r>
              <a:rPr lang="en-AU" dirty="0"/>
              <a:t> et al experiment (5 marks)</a:t>
            </a:r>
          </a:p>
          <a:p>
            <a:r>
              <a:rPr lang="en-AU" dirty="0"/>
              <a:t>Q2: </a:t>
            </a:r>
            <a:r>
              <a:rPr lang="en-US" sz="2000" dirty="0"/>
              <a:t>As a doctor, Ellen knows that Down syndrome is genetically caused condition that leads to an intellectual disability. When Ellen became pregnant, show knew she should probably abort her baby if she knew that it will be born with Down syndrome because the baby will be abnormal and have poor quality of life. However, she also feels the guilt and pain of losing a child. </a:t>
            </a:r>
          </a:p>
          <a:p>
            <a:pPr marL="0" indent="0">
              <a:buNone/>
            </a:pPr>
            <a:r>
              <a:rPr lang="en-US" dirty="0"/>
              <a:t>	I</a:t>
            </a:r>
            <a:r>
              <a:rPr lang="en-US" sz="2000" dirty="0"/>
              <a:t>dentify the affective, behavioral and cognitive components 	to this attitude, as well as the strength and direction of the 	attitude. (5 marks). </a:t>
            </a:r>
          </a:p>
          <a:p>
            <a:r>
              <a:rPr lang="en-US" sz="2000" dirty="0"/>
              <a:t>Q3: Lesly is a strict Catholic and strongly values life, believing it is sacred and should be considered over free will and convenience. Lesly was horrified to hear that Ellen would have an abortion, telling her that she would be a murderer. (5 marks)</a:t>
            </a:r>
          </a:p>
          <a:p>
            <a:pPr marL="0" indent="0">
              <a:buNone/>
            </a:pPr>
            <a:r>
              <a:rPr lang="en-US" dirty="0"/>
              <a:t>	</a:t>
            </a:r>
            <a:r>
              <a:rPr lang="en-US" sz="2000" dirty="0"/>
              <a:t>Identify the affective, behavioral and cognitive components to 	this attitude, as well as the strength and direction of the attitude. </a:t>
            </a:r>
          </a:p>
          <a:p>
            <a:pPr marL="0" indent="0">
              <a:buNone/>
            </a:pPr>
            <a:endParaRPr lang="en-US" sz="2000" dirty="0"/>
          </a:p>
          <a:p>
            <a:endParaRPr lang="en-AU" dirty="0"/>
          </a:p>
        </p:txBody>
      </p:sp>
    </p:spTree>
    <p:extLst>
      <p:ext uri="{BB962C8B-B14F-4D97-AF65-F5344CB8AC3E}">
        <p14:creationId xmlns:p14="http://schemas.microsoft.com/office/powerpoint/2010/main" val="1874721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4C49D-5322-4F5A-8701-F7921979CE58}"/>
              </a:ext>
            </a:extLst>
          </p:cNvPr>
          <p:cNvSpPr>
            <a:spLocks noGrp="1"/>
          </p:cNvSpPr>
          <p:nvPr>
            <p:ph idx="1"/>
          </p:nvPr>
        </p:nvSpPr>
        <p:spPr>
          <a:xfrm>
            <a:off x="609599" y="339634"/>
            <a:ext cx="8918604" cy="6156960"/>
          </a:xfrm>
        </p:spPr>
        <p:txBody>
          <a:bodyPr>
            <a:normAutofit fontScale="92500" lnSpcReduction="20000"/>
          </a:bodyPr>
          <a:lstStyle/>
          <a:p>
            <a:pPr marL="0" indent="0">
              <a:buNone/>
            </a:pPr>
            <a:r>
              <a:rPr lang="en-AU" dirty="0">
                <a:highlight>
                  <a:srgbClr val="FFFF00"/>
                </a:highlight>
              </a:rPr>
              <a:t>ANSWERS</a:t>
            </a:r>
          </a:p>
          <a:p>
            <a:r>
              <a:rPr lang="en-AU" dirty="0"/>
              <a:t>Q1: Outline </a:t>
            </a:r>
            <a:r>
              <a:rPr lang="en-AU" dirty="0" err="1"/>
              <a:t>Sherif</a:t>
            </a:r>
            <a:r>
              <a:rPr lang="en-AU" dirty="0"/>
              <a:t> et al experiment (5 marks)</a:t>
            </a:r>
          </a:p>
          <a:p>
            <a:pPr marL="0" indent="0">
              <a:buNone/>
            </a:pPr>
            <a:r>
              <a:rPr lang="en-GB" b="1" dirty="0"/>
              <a:t>Aim </a:t>
            </a:r>
            <a:r>
              <a:rPr lang="en-GB" dirty="0"/>
              <a:t>was to test realistic conflict theory, that if </a:t>
            </a:r>
            <a:r>
              <a:rPr lang="en-GB" b="0" i="0" dirty="0">
                <a:effectLst/>
              </a:rPr>
              <a:t>two or more groups are seeking the same limited resources, this will lead to </a:t>
            </a:r>
            <a:r>
              <a:rPr lang="en-GB" b="1" i="0" dirty="0">
                <a:effectLst/>
              </a:rPr>
              <a:t>conflict</a:t>
            </a:r>
            <a:r>
              <a:rPr lang="en-GB" b="0" i="0" dirty="0">
                <a:effectLst/>
              </a:rPr>
              <a:t>, negative stereotypes and beliefs, and discrimination between the groups.</a:t>
            </a:r>
            <a:endParaRPr lang="en-GB" dirty="0"/>
          </a:p>
          <a:p>
            <a:pPr marL="0" indent="0">
              <a:buNone/>
            </a:pPr>
            <a:r>
              <a:rPr lang="en-GB" b="1" dirty="0"/>
              <a:t>Participants</a:t>
            </a:r>
            <a:r>
              <a:rPr lang="en-GB" dirty="0"/>
              <a:t>: The researchers took 22 white middle-class, 12-year-old boys and split them into two groups.</a:t>
            </a:r>
          </a:p>
          <a:p>
            <a:pPr marL="0" indent="0">
              <a:buNone/>
            </a:pPr>
            <a:r>
              <a:rPr lang="en-GB" b="1" dirty="0"/>
              <a:t>Procedure: </a:t>
            </a:r>
            <a:r>
              <a:rPr lang="en-GB" dirty="0"/>
              <a:t>The researchers had the boys compete for a prize using various competitions between two groups, such as tug-of-war. </a:t>
            </a:r>
            <a:r>
              <a:rPr lang="en-GB" b="1" dirty="0"/>
              <a:t>OR</a:t>
            </a:r>
            <a:r>
              <a:rPr lang="en-GB" dirty="0"/>
              <a:t> </a:t>
            </a:r>
            <a:r>
              <a:rPr lang="en-AU" dirty="0"/>
              <a:t>Researchers later forced the groups to work together to reach common goals, such as fixing the camps water supply.</a:t>
            </a:r>
            <a:endParaRPr lang="en-GB" dirty="0"/>
          </a:p>
          <a:p>
            <a:pPr marL="0" indent="0">
              <a:buNone/>
            </a:pPr>
            <a:r>
              <a:rPr lang="en-GB" b="1" dirty="0"/>
              <a:t>Results</a:t>
            </a:r>
            <a:r>
              <a:rPr lang="en-GB" dirty="0"/>
              <a:t>: Prejudicial attitudes occurred quickly through name calling and taunting, this quickly escalated to burning each others' flags, teasing private properly and physical aggression. </a:t>
            </a:r>
            <a:r>
              <a:rPr lang="en-GB" b="1" dirty="0"/>
              <a:t>OR</a:t>
            </a:r>
            <a:r>
              <a:rPr lang="en-GB" dirty="0"/>
              <a:t> </a:t>
            </a:r>
            <a:r>
              <a:rPr lang="en-AU" dirty="0"/>
              <a:t>Cooperation phase eased prejudice and tension among the groups, as one group allowed the other to drink first as they did not have their water bottles with them.</a:t>
            </a:r>
          </a:p>
          <a:p>
            <a:pPr marL="0" indent="0">
              <a:buNone/>
            </a:pPr>
            <a:r>
              <a:rPr lang="en-AU" b="1" dirty="0"/>
              <a:t>In conclusion</a:t>
            </a:r>
            <a:r>
              <a:rPr lang="en-AU" dirty="0"/>
              <a:t>, when people compete for scarce resources (e.g. jobs, land etc.) there is a rise in hostility between groups. </a:t>
            </a:r>
            <a:r>
              <a:rPr lang="en-AU" b="1" dirty="0"/>
              <a:t>OR</a:t>
            </a:r>
            <a:r>
              <a:rPr lang="en-AU" dirty="0"/>
              <a:t> When people are forced cooperate in the right conditions, negative attitudes between groups are decreased. </a:t>
            </a:r>
          </a:p>
          <a:p>
            <a:pPr marL="0" indent="0">
              <a:buNone/>
            </a:pPr>
            <a:endParaRPr lang="en-US" sz="2000" dirty="0"/>
          </a:p>
          <a:p>
            <a:endParaRPr lang="en-AU" dirty="0"/>
          </a:p>
        </p:txBody>
      </p:sp>
    </p:spTree>
    <p:extLst>
      <p:ext uri="{BB962C8B-B14F-4D97-AF65-F5344CB8AC3E}">
        <p14:creationId xmlns:p14="http://schemas.microsoft.com/office/powerpoint/2010/main" val="2298228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6AD8-6DCD-47D7-B690-6728964446F5}"/>
              </a:ext>
            </a:extLst>
          </p:cNvPr>
          <p:cNvSpPr>
            <a:spLocks noGrp="1"/>
          </p:cNvSpPr>
          <p:nvPr>
            <p:ph type="title"/>
          </p:nvPr>
        </p:nvSpPr>
        <p:spPr/>
        <p:txBody>
          <a:bodyPr/>
          <a:lstStyle/>
          <a:p>
            <a:r>
              <a:rPr lang="en-AU" dirty="0"/>
              <a:t>Answer Q2</a:t>
            </a:r>
          </a:p>
        </p:txBody>
      </p:sp>
      <p:graphicFrame>
        <p:nvGraphicFramePr>
          <p:cNvPr id="4" name="Content Placeholder 3">
            <a:extLst>
              <a:ext uri="{FF2B5EF4-FFF2-40B4-BE49-F238E27FC236}">
                <a16:creationId xmlns:a16="http://schemas.microsoft.com/office/drawing/2014/main" id="{6977B3EB-C81F-4F85-9F71-D4BF5F557F7A}"/>
              </a:ext>
            </a:extLst>
          </p:cNvPr>
          <p:cNvGraphicFramePr>
            <a:graphicFrameLocks noGrp="1"/>
          </p:cNvGraphicFramePr>
          <p:nvPr>
            <p:ph idx="1"/>
            <p:extLst>
              <p:ext uri="{D42A27DB-BD31-4B8C-83A1-F6EECF244321}">
                <p14:modId xmlns:p14="http://schemas.microsoft.com/office/powerpoint/2010/main" val="4053464541"/>
              </p:ext>
            </p:extLst>
          </p:nvPr>
        </p:nvGraphicFramePr>
        <p:xfrm>
          <a:off x="511824" y="2270799"/>
          <a:ext cx="10933043" cy="4518991"/>
        </p:xfrm>
        <a:graphic>
          <a:graphicData uri="http://schemas.openxmlformats.org/drawingml/2006/table">
            <a:tbl>
              <a:tblPr firstRow="1" bandRow="1">
                <a:tableStyleId>{5C22544A-7EE6-4342-B048-85BDC9FD1C3A}</a:tableStyleId>
              </a:tblPr>
              <a:tblGrid>
                <a:gridCol w="9641332">
                  <a:extLst>
                    <a:ext uri="{9D8B030D-6E8A-4147-A177-3AD203B41FA5}">
                      <a16:colId xmlns:a16="http://schemas.microsoft.com/office/drawing/2014/main" val="2240409420"/>
                    </a:ext>
                  </a:extLst>
                </a:gridCol>
                <a:gridCol w="1291711">
                  <a:extLst>
                    <a:ext uri="{9D8B030D-6E8A-4147-A177-3AD203B41FA5}">
                      <a16:colId xmlns:a16="http://schemas.microsoft.com/office/drawing/2014/main" val="109616110"/>
                    </a:ext>
                  </a:extLst>
                </a:gridCol>
              </a:tblGrid>
              <a:tr h="870412">
                <a:tc>
                  <a:txBody>
                    <a:bodyPr/>
                    <a:lstStyle/>
                    <a:p>
                      <a:r>
                        <a:rPr lang="en-US" dirty="0"/>
                        <a:t>Description for marks</a:t>
                      </a:r>
                    </a:p>
                  </a:txBody>
                  <a:tcPr/>
                </a:tc>
                <a:tc>
                  <a:txBody>
                    <a:bodyPr/>
                    <a:lstStyle/>
                    <a:p>
                      <a:r>
                        <a:rPr lang="en-US" dirty="0"/>
                        <a:t>5</a:t>
                      </a:r>
                    </a:p>
                  </a:txBody>
                  <a:tcPr/>
                </a:tc>
                <a:extLst>
                  <a:ext uri="{0D108BD9-81ED-4DB2-BD59-A6C34878D82A}">
                    <a16:rowId xmlns:a16="http://schemas.microsoft.com/office/drawing/2014/main" val="1500233294"/>
                  </a:ext>
                </a:extLst>
              </a:tr>
              <a:tr h="2146223">
                <a:tc>
                  <a:txBody>
                    <a:bodyPr/>
                    <a:lstStyle/>
                    <a:p>
                      <a:r>
                        <a:rPr lang="en-US" dirty="0"/>
                        <a:t>Affective: Guilt and pain</a:t>
                      </a:r>
                    </a:p>
                    <a:p>
                      <a:r>
                        <a:rPr lang="en-US" dirty="0"/>
                        <a:t>Behavioral: Would abort her baby</a:t>
                      </a:r>
                    </a:p>
                    <a:p>
                      <a:r>
                        <a:rPr lang="en-US" dirty="0"/>
                        <a:t>Cognitive: </a:t>
                      </a:r>
                      <a:r>
                        <a:rPr lang="en-US" sz="1800" dirty="0"/>
                        <a:t>If born with Down syndrome the baby will be abnormal and have poor quality of life</a:t>
                      </a:r>
                      <a:endParaRPr lang="en-US" dirty="0"/>
                    </a:p>
                  </a:txBody>
                  <a:tcPr/>
                </a:tc>
                <a:tc>
                  <a:txBody>
                    <a:bodyPr/>
                    <a:lstStyle/>
                    <a:p>
                      <a:r>
                        <a:rPr lang="en-US" dirty="0"/>
                        <a:t>1</a:t>
                      </a:r>
                    </a:p>
                    <a:p>
                      <a:r>
                        <a:rPr lang="en-US" dirty="0"/>
                        <a:t>1</a:t>
                      </a:r>
                    </a:p>
                    <a:p>
                      <a:r>
                        <a:rPr lang="en-US" dirty="0"/>
                        <a:t>1</a:t>
                      </a:r>
                    </a:p>
                  </a:txBody>
                  <a:tcPr/>
                </a:tc>
                <a:extLst>
                  <a:ext uri="{0D108BD9-81ED-4DB2-BD59-A6C34878D82A}">
                    <a16:rowId xmlns:a16="http://schemas.microsoft.com/office/drawing/2014/main" val="3116699212"/>
                  </a:ext>
                </a:extLst>
              </a:tr>
              <a:tr h="1502356">
                <a:tc>
                  <a:txBody>
                    <a:bodyPr/>
                    <a:lstStyle/>
                    <a:p>
                      <a:r>
                        <a:rPr lang="en-US" dirty="0"/>
                        <a:t>Attitude strength: Weak, use of ‘probably’ and conflicting affective and cognitive components.</a:t>
                      </a:r>
                    </a:p>
                    <a:p>
                      <a:r>
                        <a:rPr lang="en-US" dirty="0"/>
                        <a:t>Attitude direction: Positives for abortion</a:t>
                      </a:r>
                    </a:p>
                  </a:txBody>
                  <a:tcPr/>
                </a:tc>
                <a:tc>
                  <a:txBody>
                    <a:bodyPr/>
                    <a:lstStyle/>
                    <a:p>
                      <a:r>
                        <a:rPr lang="en-US" dirty="0"/>
                        <a:t>1</a:t>
                      </a:r>
                    </a:p>
                    <a:p>
                      <a:r>
                        <a:rPr lang="en-US" dirty="0"/>
                        <a:t>1</a:t>
                      </a:r>
                    </a:p>
                  </a:txBody>
                  <a:tcPr/>
                </a:tc>
                <a:extLst>
                  <a:ext uri="{0D108BD9-81ED-4DB2-BD59-A6C34878D82A}">
                    <a16:rowId xmlns:a16="http://schemas.microsoft.com/office/drawing/2014/main" val="4137982976"/>
                  </a:ext>
                </a:extLst>
              </a:tr>
            </a:tbl>
          </a:graphicData>
        </a:graphic>
      </p:graphicFrame>
    </p:spTree>
    <p:extLst>
      <p:ext uri="{BB962C8B-B14F-4D97-AF65-F5344CB8AC3E}">
        <p14:creationId xmlns:p14="http://schemas.microsoft.com/office/powerpoint/2010/main" val="102672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6AD8-6DCD-47D7-B690-6728964446F5}"/>
              </a:ext>
            </a:extLst>
          </p:cNvPr>
          <p:cNvSpPr>
            <a:spLocks noGrp="1"/>
          </p:cNvSpPr>
          <p:nvPr>
            <p:ph type="title"/>
          </p:nvPr>
        </p:nvSpPr>
        <p:spPr/>
        <p:txBody>
          <a:bodyPr/>
          <a:lstStyle/>
          <a:p>
            <a:r>
              <a:rPr lang="en-AU" dirty="0"/>
              <a:t>Answer Q3</a:t>
            </a:r>
          </a:p>
        </p:txBody>
      </p:sp>
      <p:sp>
        <p:nvSpPr>
          <p:cNvPr id="5" name="Content Placeholder 4">
            <a:extLst>
              <a:ext uri="{FF2B5EF4-FFF2-40B4-BE49-F238E27FC236}">
                <a16:creationId xmlns:a16="http://schemas.microsoft.com/office/drawing/2014/main" id="{E36A0325-2E32-4247-B11C-1D6E146F134D}"/>
              </a:ext>
            </a:extLst>
          </p:cNvPr>
          <p:cNvSpPr>
            <a:spLocks noGrp="1"/>
          </p:cNvSpPr>
          <p:nvPr>
            <p:ph idx="1"/>
          </p:nvPr>
        </p:nvSpPr>
        <p:spPr/>
        <p:txBody>
          <a:bodyPr/>
          <a:lstStyle/>
          <a:p>
            <a:endParaRPr lang="en-AU"/>
          </a:p>
        </p:txBody>
      </p:sp>
      <p:graphicFrame>
        <p:nvGraphicFramePr>
          <p:cNvPr id="6" name="Content Placeholder 3">
            <a:extLst>
              <a:ext uri="{FF2B5EF4-FFF2-40B4-BE49-F238E27FC236}">
                <a16:creationId xmlns:a16="http://schemas.microsoft.com/office/drawing/2014/main" id="{0134D56D-A382-4B45-89B7-DEE8A06143FC}"/>
              </a:ext>
            </a:extLst>
          </p:cNvPr>
          <p:cNvGraphicFramePr>
            <a:graphicFrameLocks/>
          </p:cNvGraphicFramePr>
          <p:nvPr>
            <p:extLst>
              <p:ext uri="{D42A27DB-BD31-4B8C-83A1-F6EECF244321}">
                <p14:modId xmlns:p14="http://schemas.microsoft.com/office/powerpoint/2010/main" val="2513290551"/>
              </p:ext>
            </p:extLst>
          </p:nvPr>
        </p:nvGraphicFramePr>
        <p:xfrm>
          <a:off x="442668" y="2209801"/>
          <a:ext cx="10933043" cy="4518991"/>
        </p:xfrm>
        <a:graphic>
          <a:graphicData uri="http://schemas.openxmlformats.org/drawingml/2006/table">
            <a:tbl>
              <a:tblPr firstRow="1" bandRow="1">
                <a:tableStyleId>{5C22544A-7EE6-4342-B048-85BDC9FD1C3A}</a:tableStyleId>
              </a:tblPr>
              <a:tblGrid>
                <a:gridCol w="9475304">
                  <a:extLst>
                    <a:ext uri="{9D8B030D-6E8A-4147-A177-3AD203B41FA5}">
                      <a16:colId xmlns:a16="http://schemas.microsoft.com/office/drawing/2014/main" val="2240409420"/>
                    </a:ext>
                  </a:extLst>
                </a:gridCol>
                <a:gridCol w="1457739">
                  <a:extLst>
                    <a:ext uri="{9D8B030D-6E8A-4147-A177-3AD203B41FA5}">
                      <a16:colId xmlns:a16="http://schemas.microsoft.com/office/drawing/2014/main" val="109616110"/>
                    </a:ext>
                  </a:extLst>
                </a:gridCol>
              </a:tblGrid>
              <a:tr h="870412">
                <a:tc>
                  <a:txBody>
                    <a:bodyPr/>
                    <a:lstStyle/>
                    <a:p>
                      <a:r>
                        <a:rPr lang="en-US" dirty="0"/>
                        <a:t>Description for marks</a:t>
                      </a:r>
                    </a:p>
                  </a:txBody>
                  <a:tcPr/>
                </a:tc>
                <a:tc>
                  <a:txBody>
                    <a:bodyPr/>
                    <a:lstStyle/>
                    <a:p>
                      <a:r>
                        <a:rPr lang="en-US" dirty="0"/>
                        <a:t>5</a:t>
                      </a:r>
                    </a:p>
                  </a:txBody>
                  <a:tcPr/>
                </a:tc>
                <a:extLst>
                  <a:ext uri="{0D108BD9-81ED-4DB2-BD59-A6C34878D82A}">
                    <a16:rowId xmlns:a16="http://schemas.microsoft.com/office/drawing/2014/main" val="1500233294"/>
                  </a:ext>
                </a:extLst>
              </a:tr>
              <a:tr h="2146223">
                <a:tc>
                  <a:txBody>
                    <a:bodyPr/>
                    <a:lstStyle/>
                    <a:p>
                      <a:r>
                        <a:rPr lang="en-US" dirty="0"/>
                        <a:t>Affective: Horrified that someone would have an abortion</a:t>
                      </a:r>
                    </a:p>
                    <a:p>
                      <a:r>
                        <a:rPr lang="en-US" dirty="0"/>
                        <a:t>Behavioral: Telling Ellen she would be a murderer</a:t>
                      </a:r>
                    </a:p>
                    <a:p>
                      <a:r>
                        <a:rPr lang="en-US" dirty="0"/>
                        <a:t>Cognitive: Life </a:t>
                      </a:r>
                      <a:r>
                        <a:rPr lang="en-US" sz="1800" dirty="0"/>
                        <a:t>is sacred and should be considered over free will and convenience. </a:t>
                      </a:r>
                      <a:endParaRPr lang="en-US" dirty="0"/>
                    </a:p>
                  </a:txBody>
                  <a:tcPr/>
                </a:tc>
                <a:tc>
                  <a:txBody>
                    <a:bodyPr/>
                    <a:lstStyle/>
                    <a:p>
                      <a:r>
                        <a:rPr lang="en-US" dirty="0"/>
                        <a:t>1</a:t>
                      </a:r>
                    </a:p>
                    <a:p>
                      <a:r>
                        <a:rPr lang="en-US" dirty="0"/>
                        <a:t>1</a:t>
                      </a:r>
                    </a:p>
                    <a:p>
                      <a:r>
                        <a:rPr lang="en-US" dirty="0"/>
                        <a:t>1</a:t>
                      </a:r>
                    </a:p>
                  </a:txBody>
                  <a:tcPr/>
                </a:tc>
                <a:extLst>
                  <a:ext uri="{0D108BD9-81ED-4DB2-BD59-A6C34878D82A}">
                    <a16:rowId xmlns:a16="http://schemas.microsoft.com/office/drawing/2014/main" val="3116699212"/>
                  </a:ext>
                </a:extLst>
              </a:tr>
              <a:tr h="1502356">
                <a:tc>
                  <a:txBody>
                    <a:bodyPr/>
                    <a:lstStyle/>
                    <a:p>
                      <a:r>
                        <a:rPr lang="en-US" dirty="0"/>
                        <a:t>Attitude strength: Strong, shown through strong feelings and behaviors.</a:t>
                      </a:r>
                    </a:p>
                    <a:p>
                      <a:r>
                        <a:rPr lang="en-US" dirty="0"/>
                        <a:t>Attitude direction: Negative towards abortions</a:t>
                      </a:r>
                    </a:p>
                  </a:txBody>
                  <a:tcPr/>
                </a:tc>
                <a:tc>
                  <a:txBody>
                    <a:bodyPr/>
                    <a:lstStyle/>
                    <a:p>
                      <a:r>
                        <a:rPr lang="en-US" dirty="0"/>
                        <a:t>1</a:t>
                      </a:r>
                    </a:p>
                    <a:p>
                      <a:r>
                        <a:rPr lang="en-US" dirty="0"/>
                        <a:t>1</a:t>
                      </a:r>
                    </a:p>
                  </a:txBody>
                  <a:tcPr/>
                </a:tc>
                <a:extLst>
                  <a:ext uri="{0D108BD9-81ED-4DB2-BD59-A6C34878D82A}">
                    <a16:rowId xmlns:a16="http://schemas.microsoft.com/office/drawing/2014/main" val="4137982976"/>
                  </a:ext>
                </a:extLst>
              </a:tr>
            </a:tbl>
          </a:graphicData>
        </a:graphic>
      </p:graphicFrame>
    </p:spTree>
    <p:extLst>
      <p:ext uri="{BB962C8B-B14F-4D97-AF65-F5344CB8AC3E}">
        <p14:creationId xmlns:p14="http://schemas.microsoft.com/office/powerpoint/2010/main" val="117788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8A2100-B40F-4B25-8BF8-DEB3009EF2A0}"/>
              </a:ext>
            </a:extLst>
          </p:cNvPr>
          <p:cNvSpPr>
            <a:spLocks noGrp="1"/>
          </p:cNvSpPr>
          <p:nvPr>
            <p:ph idx="1"/>
          </p:nvPr>
        </p:nvSpPr>
        <p:spPr>
          <a:xfrm>
            <a:off x="809897" y="1251858"/>
            <a:ext cx="8677836" cy="3916363"/>
          </a:xfrm>
        </p:spPr>
        <p:txBody>
          <a:bodyPr>
            <a:normAutofit/>
          </a:bodyPr>
          <a:lstStyle/>
          <a:p>
            <a:r>
              <a:rPr lang="en-AU" dirty="0"/>
              <a:t>Q4: </a:t>
            </a:r>
            <a:r>
              <a:rPr lang="en-US" sz="2000" dirty="0"/>
              <a:t>When Dave was 14 years old, he was in a car crash which was caused by a drunk driver. Dave becomes very angry at his friends if they consider driving home when under the influence, as he knows that they could seriously injure themselves and others. He often hides their keys when they are drunk so they are forced to stay or take an uber. </a:t>
            </a:r>
          </a:p>
          <a:p>
            <a:pPr marL="0" indent="0">
              <a:buNone/>
            </a:pPr>
            <a:r>
              <a:rPr lang="en-US" sz="2000" dirty="0"/>
              <a:t>	Identify the affective, behavioral and cognitive components 	to this attitude, as well as the strength and direction of the 	attitude. (5 marks)</a:t>
            </a:r>
          </a:p>
          <a:p>
            <a:pPr marL="0" indent="0">
              <a:buNone/>
            </a:pPr>
            <a:r>
              <a:rPr lang="en-US" sz="2000" dirty="0"/>
              <a:t>	Explain how Dave’s attitude was formed. (2 marks)</a:t>
            </a:r>
          </a:p>
          <a:p>
            <a:endParaRPr lang="en-AU" dirty="0"/>
          </a:p>
        </p:txBody>
      </p:sp>
    </p:spTree>
    <p:extLst>
      <p:ext uri="{BB962C8B-B14F-4D97-AF65-F5344CB8AC3E}">
        <p14:creationId xmlns:p14="http://schemas.microsoft.com/office/powerpoint/2010/main" val="4000189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6AD8-6DCD-47D7-B690-6728964446F5}"/>
              </a:ext>
            </a:extLst>
          </p:cNvPr>
          <p:cNvSpPr>
            <a:spLocks noGrp="1"/>
          </p:cNvSpPr>
          <p:nvPr>
            <p:ph type="title"/>
          </p:nvPr>
        </p:nvSpPr>
        <p:spPr/>
        <p:txBody>
          <a:bodyPr/>
          <a:lstStyle/>
          <a:p>
            <a:r>
              <a:rPr lang="en-AU" dirty="0"/>
              <a:t>Answer Q4</a:t>
            </a:r>
          </a:p>
        </p:txBody>
      </p:sp>
      <p:sp>
        <p:nvSpPr>
          <p:cNvPr id="5" name="Content Placeholder 4">
            <a:extLst>
              <a:ext uri="{FF2B5EF4-FFF2-40B4-BE49-F238E27FC236}">
                <a16:creationId xmlns:a16="http://schemas.microsoft.com/office/drawing/2014/main" id="{E36A0325-2E32-4247-B11C-1D6E146F134D}"/>
              </a:ext>
            </a:extLst>
          </p:cNvPr>
          <p:cNvSpPr>
            <a:spLocks noGrp="1"/>
          </p:cNvSpPr>
          <p:nvPr>
            <p:ph idx="1"/>
          </p:nvPr>
        </p:nvSpPr>
        <p:spPr/>
        <p:txBody>
          <a:bodyPr/>
          <a:lstStyle/>
          <a:p>
            <a:endParaRPr lang="en-AU"/>
          </a:p>
        </p:txBody>
      </p:sp>
      <p:graphicFrame>
        <p:nvGraphicFramePr>
          <p:cNvPr id="7" name="Content Placeholder 3">
            <a:extLst>
              <a:ext uri="{FF2B5EF4-FFF2-40B4-BE49-F238E27FC236}">
                <a16:creationId xmlns:a16="http://schemas.microsoft.com/office/drawing/2014/main" id="{0D6CC643-AB06-4896-BC02-99B6038D86BC}"/>
              </a:ext>
            </a:extLst>
          </p:cNvPr>
          <p:cNvGraphicFramePr>
            <a:graphicFrameLocks/>
          </p:cNvGraphicFramePr>
          <p:nvPr>
            <p:extLst>
              <p:ext uri="{D42A27DB-BD31-4B8C-83A1-F6EECF244321}">
                <p14:modId xmlns:p14="http://schemas.microsoft.com/office/powerpoint/2010/main" val="1033383335"/>
              </p:ext>
            </p:extLst>
          </p:nvPr>
        </p:nvGraphicFramePr>
        <p:xfrm>
          <a:off x="488771" y="2209801"/>
          <a:ext cx="10933043" cy="4301765"/>
        </p:xfrm>
        <a:graphic>
          <a:graphicData uri="http://schemas.openxmlformats.org/drawingml/2006/table">
            <a:tbl>
              <a:tblPr firstRow="1" bandRow="1">
                <a:tableStyleId>{5C22544A-7EE6-4342-B048-85BDC9FD1C3A}</a:tableStyleId>
              </a:tblPr>
              <a:tblGrid>
                <a:gridCol w="9475304">
                  <a:extLst>
                    <a:ext uri="{9D8B030D-6E8A-4147-A177-3AD203B41FA5}">
                      <a16:colId xmlns:a16="http://schemas.microsoft.com/office/drawing/2014/main" val="2240409420"/>
                    </a:ext>
                  </a:extLst>
                </a:gridCol>
                <a:gridCol w="1457739">
                  <a:extLst>
                    <a:ext uri="{9D8B030D-6E8A-4147-A177-3AD203B41FA5}">
                      <a16:colId xmlns:a16="http://schemas.microsoft.com/office/drawing/2014/main" val="109616110"/>
                    </a:ext>
                  </a:extLst>
                </a:gridCol>
              </a:tblGrid>
              <a:tr h="699237">
                <a:tc>
                  <a:txBody>
                    <a:bodyPr/>
                    <a:lstStyle/>
                    <a:p>
                      <a:r>
                        <a:rPr lang="en-US" dirty="0"/>
                        <a:t>Description for marks</a:t>
                      </a:r>
                    </a:p>
                  </a:txBody>
                  <a:tcPr/>
                </a:tc>
                <a:tc>
                  <a:txBody>
                    <a:bodyPr/>
                    <a:lstStyle/>
                    <a:p>
                      <a:r>
                        <a:rPr lang="en-US" dirty="0"/>
                        <a:t>5</a:t>
                      </a:r>
                    </a:p>
                  </a:txBody>
                  <a:tcPr/>
                </a:tc>
                <a:extLst>
                  <a:ext uri="{0D108BD9-81ED-4DB2-BD59-A6C34878D82A}">
                    <a16:rowId xmlns:a16="http://schemas.microsoft.com/office/drawing/2014/main" val="1500233294"/>
                  </a:ext>
                </a:extLst>
              </a:tr>
              <a:tr h="982832">
                <a:tc>
                  <a:txBody>
                    <a:bodyPr/>
                    <a:lstStyle/>
                    <a:p>
                      <a:r>
                        <a:rPr lang="en-US" dirty="0"/>
                        <a:t>Affective: Angry at his friends</a:t>
                      </a:r>
                    </a:p>
                    <a:p>
                      <a:r>
                        <a:rPr lang="en-US" dirty="0"/>
                        <a:t>Behavioral: </a:t>
                      </a:r>
                      <a:r>
                        <a:rPr lang="en-US" sz="1800" dirty="0"/>
                        <a:t>He often hides their keys to prevent them for driving home. </a:t>
                      </a:r>
                      <a:endParaRPr lang="en-US" dirty="0"/>
                    </a:p>
                    <a:p>
                      <a:r>
                        <a:rPr lang="en-US" dirty="0"/>
                        <a:t>Cognitive: </a:t>
                      </a:r>
                      <a:r>
                        <a:rPr lang="en-US" sz="1800" dirty="0"/>
                        <a:t>He knows that they could seriously injure themselves and others if they drive home drunk.</a:t>
                      </a:r>
                      <a:endParaRPr lang="en-US" dirty="0"/>
                    </a:p>
                  </a:txBody>
                  <a:tcPr/>
                </a:tc>
                <a:tc>
                  <a:txBody>
                    <a:bodyPr/>
                    <a:lstStyle/>
                    <a:p>
                      <a:r>
                        <a:rPr lang="en-US" dirty="0"/>
                        <a:t>1</a:t>
                      </a:r>
                    </a:p>
                    <a:p>
                      <a:r>
                        <a:rPr lang="en-US" dirty="0"/>
                        <a:t>1</a:t>
                      </a:r>
                    </a:p>
                    <a:p>
                      <a:r>
                        <a:rPr lang="en-US" dirty="0"/>
                        <a:t>1</a:t>
                      </a:r>
                    </a:p>
                  </a:txBody>
                  <a:tcPr/>
                </a:tc>
                <a:extLst>
                  <a:ext uri="{0D108BD9-81ED-4DB2-BD59-A6C34878D82A}">
                    <a16:rowId xmlns:a16="http://schemas.microsoft.com/office/drawing/2014/main" val="3116699212"/>
                  </a:ext>
                </a:extLst>
              </a:tr>
              <a:tr h="1206904">
                <a:tc>
                  <a:txBody>
                    <a:bodyPr/>
                    <a:lstStyle/>
                    <a:p>
                      <a:r>
                        <a:rPr lang="en-US" dirty="0"/>
                        <a:t>Attitude strength: Strong, shown through strong feelings and behaviors.</a:t>
                      </a:r>
                    </a:p>
                    <a:p>
                      <a:r>
                        <a:rPr lang="en-US" dirty="0"/>
                        <a:t>Attitude direction: Negative towards drink driving.</a:t>
                      </a:r>
                    </a:p>
                  </a:txBody>
                  <a:tcPr/>
                </a:tc>
                <a:tc>
                  <a:txBody>
                    <a:bodyPr/>
                    <a:lstStyle/>
                    <a:p>
                      <a:r>
                        <a:rPr lang="en-US" dirty="0"/>
                        <a:t>1</a:t>
                      </a:r>
                    </a:p>
                    <a:p>
                      <a:r>
                        <a:rPr lang="en-US" dirty="0"/>
                        <a:t>1</a:t>
                      </a:r>
                    </a:p>
                  </a:txBody>
                  <a:tcPr/>
                </a:tc>
                <a:extLst>
                  <a:ext uri="{0D108BD9-81ED-4DB2-BD59-A6C34878D82A}">
                    <a16:rowId xmlns:a16="http://schemas.microsoft.com/office/drawing/2014/main" val="4137982976"/>
                  </a:ext>
                </a:extLst>
              </a:tr>
              <a:tr h="1206904">
                <a:tc>
                  <a:txBody>
                    <a:bodyPr/>
                    <a:lstStyle/>
                    <a:p>
                      <a:r>
                        <a:rPr lang="en-US" dirty="0"/>
                        <a:t>Dave’s attitude was formed through direct experience, as he discovered the horrible impacts on people drink driving can have when his life was personally impacted by the behavior. </a:t>
                      </a:r>
                    </a:p>
                  </a:txBody>
                  <a:tcPr/>
                </a:tc>
                <a:tc>
                  <a:txBody>
                    <a:bodyPr/>
                    <a:lstStyle/>
                    <a:p>
                      <a:r>
                        <a:rPr lang="en-US" dirty="0"/>
                        <a:t>1-2</a:t>
                      </a:r>
                    </a:p>
                  </a:txBody>
                  <a:tcPr/>
                </a:tc>
                <a:extLst>
                  <a:ext uri="{0D108BD9-81ED-4DB2-BD59-A6C34878D82A}">
                    <a16:rowId xmlns:a16="http://schemas.microsoft.com/office/drawing/2014/main" val="771985103"/>
                  </a:ext>
                </a:extLst>
              </a:tr>
            </a:tbl>
          </a:graphicData>
        </a:graphic>
      </p:graphicFrame>
    </p:spTree>
    <p:extLst>
      <p:ext uri="{BB962C8B-B14F-4D97-AF65-F5344CB8AC3E}">
        <p14:creationId xmlns:p14="http://schemas.microsoft.com/office/powerpoint/2010/main" val="285811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8A2100-B40F-4B25-8BF8-DEB3009EF2A0}"/>
              </a:ext>
            </a:extLst>
          </p:cNvPr>
          <p:cNvSpPr>
            <a:spLocks noGrp="1"/>
          </p:cNvSpPr>
          <p:nvPr>
            <p:ph idx="1"/>
          </p:nvPr>
        </p:nvSpPr>
        <p:spPr>
          <a:xfrm>
            <a:off x="809896" y="687978"/>
            <a:ext cx="8865327" cy="6008914"/>
          </a:xfrm>
        </p:spPr>
        <p:txBody>
          <a:bodyPr>
            <a:normAutofit fontScale="92500" lnSpcReduction="20000"/>
          </a:bodyPr>
          <a:lstStyle/>
          <a:p>
            <a:pPr>
              <a:lnSpc>
                <a:spcPct val="90000"/>
              </a:lnSpc>
              <a:spcAft>
                <a:spcPts val="600"/>
              </a:spcAft>
            </a:pPr>
            <a:r>
              <a:rPr lang="en-US" sz="2000" dirty="0"/>
              <a:t>Q5 – mini extended response</a:t>
            </a:r>
          </a:p>
          <a:p>
            <a:pPr marL="0" indent="0">
              <a:lnSpc>
                <a:spcPct val="90000"/>
              </a:lnSpc>
              <a:spcAft>
                <a:spcPts val="600"/>
              </a:spcAft>
              <a:buNone/>
            </a:pPr>
            <a:r>
              <a:rPr lang="en-US" sz="2000" dirty="0"/>
              <a:t>Nick, a high school student was physically abused at school as students suspected he was gay. A group of four boys called him names and punched him. One of those boys, Marcus was always told by his father that homosexuals were inferior to heterosexuals because they were not ‘normal’, as relationships and families must be between a man and a woman. </a:t>
            </a:r>
            <a:endParaRPr lang="en-US" sz="2000" i="1" dirty="0"/>
          </a:p>
          <a:p>
            <a:pPr marL="0" indent="0">
              <a:lnSpc>
                <a:spcPct val="90000"/>
              </a:lnSpc>
              <a:spcAft>
                <a:spcPts val="600"/>
              </a:spcAft>
              <a:buNone/>
            </a:pPr>
            <a:r>
              <a:rPr lang="en-US" sz="2000" dirty="0"/>
              <a:t>When the teacher found out about the incident, she was trying to figure out how to reduce sexual prejudice in her classroom. She read an article that explained how heterosexuals with a gay friend or relative have significantly more </a:t>
            </a:r>
            <a:r>
              <a:rPr lang="en-US" sz="2000" dirty="0" err="1"/>
              <a:t>favourable</a:t>
            </a:r>
            <a:r>
              <a:rPr lang="en-US" sz="2000" dirty="0"/>
              <a:t> attitudes toward lesbians and gay men as a group. </a:t>
            </a:r>
            <a:endParaRPr lang="en-US" sz="2000" i="1" dirty="0"/>
          </a:p>
          <a:p>
            <a:pPr marL="0" indent="0">
              <a:lnSpc>
                <a:spcPct val="90000"/>
              </a:lnSpc>
              <a:spcAft>
                <a:spcPts val="600"/>
              </a:spcAft>
              <a:buNone/>
            </a:pPr>
            <a:endParaRPr lang="en-US" sz="2000" i="1" dirty="0"/>
          </a:p>
          <a:p>
            <a:pPr marL="285750" indent="-228600">
              <a:lnSpc>
                <a:spcPct val="90000"/>
              </a:lnSpc>
              <a:spcAft>
                <a:spcPts val="600"/>
              </a:spcAft>
              <a:buFont typeface="Arial" panose="020B0604020202020204" pitchFamily="34" charset="0"/>
              <a:buChar char="•"/>
            </a:pPr>
            <a:r>
              <a:rPr lang="en-US" sz="2000" i="1" dirty="0"/>
              <a:t>Identify, define and apply two factors that lead Nick to form sexual prejudice (6 marks).</a:t>
            </a:r>
          </a:p>
          <a:p>
            <a:pPr marL="285750" indent="-228600">
              <a:lnSpc>
                <a:spcPct val="90000"/>
              </a:lnSpc>
              <a:spcAft>
                <a:spcPts val="600"/>
              </a:spcAft>
              <a:buFont typeface="Arial" panose="020B0604020202020204" pitchFamily="34" charset="0"/>
              <a:buChar char="•"/>
            </a:pPr>
            <a:r>
              <a:rPr lang="en-US" sz="2000" i="1" dirty="0"/>
              <a:t>Define inter-group contact (1 mark).</a:t>
            </a:r>
          </a:p>
          <a:p>
            <a:pPr marL="285750" indent="-228600">
              <a:lnSpc>
                <a:spcPct val="90000"/>
              </a:lnSpc>
              <a:spcAft>
                <a:spcPts val="600"/>
              </a:spcAft>
              <a:buFont typeface="Arial" panose="020B0604020202020204" pitchFamily="34" charset="0"/>
              <a:buChar char="•"/>
            </a:pPr>
            <a:r>
              <a:rPr lang="en-US" sz="2000" i="1" dirty="0"/>
              <a:t>Describe two considerations that the teacher should incorporate in her lessons to reduce prejudice in her classroom using inter-group contact (4 marks).</a:t>
            </a:r>
          </a:p>
          <a:p>
            <a:endParaRPr lang="en-AU" dirty="0"/>
          </a:p>
        </p:txBody>
      </p:sp>
    </p:spTree>
    <p:extLst>
      <p:ext uri="{BB962C8B-B14F-4D97-AF65-F5344CB8AC3E}">
        <p14:creationId xmlns:p14="http://schemas.microsoft.com/office/powerpoint/2010/main" val="888788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6AD8-6DCD-47D7-B690-6728964446F5}"/>
              </a:ext>
            </a:extLst>
          </p:cNvPr>
          <p:cNvSpPr>
            <a:spLocks noGrp="1"/>
          </p:cNvSpPr>
          <p:nvPr>
            <p:ph type="title"/>
          </p:nvPr>
        </p:nvSpPr>
        <p:spPr>
          <a:xfrm>
            <a:off x="363710" y="-571500"/>
            <a:ext cx="8677836" cy="1143000"/>
          </a:xfrm>
        </p:spPr>
        <p:txBody>
          <a:bodyPr/>
          <a:lstStyle/>
          <a:p>
            <a:r>
              <a:rPr lang="en-AU" dirty="0"/>
              <a:t>Answer Q5</a:t>
            </a:r>
          </a:p>
        </p:txBody>
      </p:sp>
      <p:graphicFrame>
        <p:nvGraphicFramePr>
          <p:cNvPr id="6" name="Content Placeholder 3">
            <a:extLst>
              <a:ext uri="{FF2B5EF4-FFF2-40B4-BE49-F238E27FC236}">
                <a16:creationId xmlns:a16="http://schemas.microsoft.com/office/drawing/2014/main" id="{A98E7869-BA9E-4F5D-9C7E-3A02955F788E}"/>
              </a:ext>
            </a:extLst>
          </p:cNvPr>
          <p:cNvGraphicFramePr>
            <a:graphicFrameLocks noGrp="1"/>
          </p:cNvGraphicFramePr>
          <p:nvPr>
            <p:ph idx="1"/>
            <p:extLst>
              <p:ext uri="{D42A27DB-BD31-4B8C-83A1-F6EECF244321}">
                <p14:modId xmlns:p14="http://schemas.microsoft.com/office/powerpoint/2010/main" val="2068494179"/>
              </p:ext>
            </p:extLst>
          </p:nvPr>
        </p:nvGraphicFramePr>
        <p:xfrm>
          <a:off x="111579" y="608318"/>
          <a:ext cx="11968842" cy="6249682"/>
        </p:xfrm>
        <a:graphic>
          <a:graphicData uri="http://schemas.openxmlformats.org/drawingml/2006/table">
            <a:tbl>
              <a:tblPr firstRow="1" bandRow="1">
                <a:tableStyleId>{5C22544A-7EE6-4342-B048-85BDC9FD1C3A}</a:tableStyleId>
              </a:tblPr>
              <a:tblGrid>
                <a:gridCol w="11115917">
                  <a:extLst>
                    <a:ext uri="{9D8B030D-6E8A-4147-A177-3AD203B41FA5}">
                      <a16:colId xmlns:a16="http://schemas.microsoft.com/office/drawing/2014/main" val="783131951"/>
                    </a:ext>
                  </a:extLst>
                </a:gridCol>
                <a:gridCol w="852925">
                  <a:extLst>
                    <a:ext uri="{9D8B030D-6E8A-4147-A177-3AD203B41FA5}">
                      <a16:colId xmlns:a16="http://schemas.microsoft.com/office/drawing/2014/main" val="1052476581"/>
                    </a:ext>
                  </a:extLst>
                </a:gridCol>
              </a:tblGrid>
              <a:tr h="403844">
                <a:tc>
                  <a:txBody>
                    <a:bodyPr/>
                    <a:lstStyle/>
                    <a:p>
                      <a:r>
                        <a:rPr lang="en-US" sz="1400" dirty="0"/>
                        <a:t>Description</a:t>
                      </a:r>
                    </a:p>
                  </a:txBody>
                  <a:tcPr/>
                </a:tc>
                <a:tc>
                  <a:txBody>
                    <a:bodyPr/>
                    <a:lstStyle/>
                    <a:p>
                      <a:r>
                        <a:rPr lang="en-US" sz="1400" dirty="0"/>
                        <a:t>Marks</a:t>
                      </a:r>
                    </a:p>
                  </a:txBody>
                  <a:tcPr/>
                </a:tc>
                <a:extLst>
                  <a:ext uri="{0D108BD9-81ED-4DB2-BD59-A6C34878D82A}">
                    <a16:rowId xmlns:a16="http://schemas.microsoft.com/office/drawing/2014/main" val="2642826868"/>
                  </a:ext>
                </a:extLst>
              </a:tr>
              <a:tr h="3126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i="1" dirty="0"/>
                        <a:t>Identify, define and apply two factors that lead Nick to form sexual prejudice</a:t>
                      </a:r>
                      <a:endParaRPr lang="en-US" sz="1400" dirty="0"/>
                    </a:p>
                  </a:txBody>
                  <a:tcPr>
                    <a:solidFill>
                      <a:schemeClr val="accent2"/>
                    </a:solidFill>
                  </a:tcPr>
                </a:tc>
                <a:tc>
                  <a:txBody>
                    <a:bodyPr/>
                    <a:lstStyle/>
                    <a:p>
                      <a:r>
                        <a:rPr lang="en-US" sz="1400" dirty="0"/>
                        <a:t>6</a:t>
                      </a:r>
                    </a:p>
                  </a:txBody>
                  <a:tcPr>
                    <a:solidFill>
                      <a:schemeClr val="accent2"/>
                    </a:solidFill>
                  </a:tcPr>
                </a:tc>
                <a:extLst>
                  <a:ext uri="{0D108BD9-81ED-4DB2-BD59-A6C34878D82A}">
                    <a16:rowId xmlns:a16="http://schemas.microsoft.com/office/drawing/2014/main" val="3263225083"/>
                  </a:ext>
                </a:extLst>
              </a:tr>
              <a:tr h="994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Identify: Group prejudice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prstClr val="black">
                              <a:lumMod val="85000"/>
                              <a:lumOff val="15000"/>
                            </a:prstClr>
                          </a:solidFill>
                        </a:rPr>
                        <a:t>Define: a negative attitude towards a group of people that is formed through conforming to group norms.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Apply: The other boys in the group that were abusing Nick may not have originally agreed that Nick deserved to be abused, but followed along to fit into the group to be accepted. </a:t>
                      </a:r>
                    </a:p>
                  </a:txBody>
                  <a:tcPr/>
                </a:tc>
                <a:tc>
                  <a:txBody>
                    <a:bodyPr/>
                    <a:lstStyle/>
                    <a:p>
                      <a:r>
                        <a:rPr lang="en-US" sz="1400" dirty="0"/>
                        <a:t>1</a:t>
                      </a:r>
                    </a:p>
                    <a:p>
                      <a:r>
                        <a:rPr lang="en-US" sz="1400" dirty="0"/>
                        <a:t>1</a:t>
                      </a:r>
                    </a:p>
                    <a:p>
                      <a:r>
                        <a:rPr lang="en-US" sz="1400" dirty="0"/>
                        <a:t>1</a:t>
                      </a:r>
                    </a:p>
                  </a:txBody>
                  <a:tcPr/>
                </a:tc>
                <a:extLst>
                  <a:ext uri="{0D108BD9-81ED-4DB2-BD59-A6C34878D82A}">
                    <a16:rowId xmlns:a16="http://schemas.microsoft.com/office/drawing/2014/main" val="392323260"/>
                  </a:ext>
                </a:extLst>
              </a:tr>
              <a:tr h="1449683">
                <a:tc>
                  <a:txBody>
                    <a:bodyPr/>
                    <a:lstStyle/>
                    <a:p>
                      <a:r>
                        <a:rPr lang="en-US" sz="1400" dirty="0"/>
                        <a:t>Identify: Group categorization / in-group out-group</a:t>
                      </a:r>
                    </a:p>
                    <a:p>
                      <a:r>
                        <a:rPr lang="en-US" sz="1400" dirty="0"/>
                        <a:t>Describe: Categorizing into differentiating groups, increasing the perception of differences between groups and overemphasizing similarities within groups. </a:t>
                      </a:r>
                    </a:p>
                    <a:p>
                      <a:r>
                        <a:rPr lang="en-US" sz="1400" dirty="0"/>
                        <a:t>Apply: Marcus learned group categorization, identification and comparison from his father, believing that believes heterosexuals are better (and more similar to him) and homosexuals are lesser (and very different from him) / Marcus learned from his father that homosexuals are out-group and heterosexuals are his in-group.</a:t>
                      </a:r>
                    </a:p>
                  </a:txBody>
                  <a:tcPr/>
                </a:tc>
                <a:tc>
                  <a:txBody>
                    <a:bodyPr/>
                    <a:lstStyle/>
                    <a:p>
                      <a:r>
                        <a:rPr lang="en-US" sz="1400" dirty="0"/>
                        <a:t>1</a:t>
                      </a:r>
                    </a:p>
                    <a:p>
                      <a:r>
                        <a:rPr lang="en-US" sz="1400" dirty="0"/>
                        <a:t>1</a:t>
                      </a:r>
                    </a:p>
                    <a:p>
                      <a:endParaRPr lang="en-US" sz="1400" dirty="0"/>
                    </a:p>
                    <a:p>
                      <a:r>
                        <a:rPr lang="en-US" sz="1400" dirty="0"/>
                        <a:t>1</a:t>
                      </a:r>
                    </a:p>
                  </a:txBody>
                  <a:tcPr/>
                </a:tc>
                <a:extLst>
                  <a:ext uri="{0D108BD9-81ED-4DB2-BD59-A6C34878D82A}">
                    <a16:rowId xmlns:a16="http://schemas.microsoft.com/office/drawing/2014/main" val="965493772"/>
                  </a:ext>
                </a:extLst>
              </a:tr>
              <a:tr h="3126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i="1" dirty="0"/>
                        <a:t>Define inter-group contact </a:t>
                      </a:r>
                    </a:p>
                  </a:txBody>
                  <a:tcPr>
                    <a:solidFill>
                      <a:schemeClr val="accent2"/>
                    </a:solidFill>
                  </a:tcPr>
                </a:tc>
                <a:tc>
                  <a:txBody>
                    <a:bodyPr/>
                    <a:lstStyle/>
                    <a:p>
                      <a:r>
                        <a:rPr lang="en-US" sz="1400" dirty="0"/>
                        <a:t>1</a:t>
                      </a:r>
                    </a:p>
                  </a:txBody>
                  <a:tcPr>
                    <a:solidFill>
                      <a:schemeClr val="accent2"/>
                    </a:solidFill>
                  </a:tcPr>
                </a:tc>
                <a:extLst>
                  <a:ext uri="{0D108BD9-81ED-4DB2-BD59-A6C34878D82A}">
                    <a16:rowId xmlns:a16="http://schemas.microsoft.com/office/drawing/2014/main" val="2036339362"/>
                  </a:ext>
                </a:extLst>
              </a:tr>
              <a:tr h="5400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Inter-group contact is increased contact between people of different groups to make people aware of similarities and reduce prejudice.</a:t>
                      </a:r>
                    </a:p>
                  </a:txBody>
                  <a:tcPr/>
                </a:tc>
                <a:tc>
                  <a:txBody>
                    <a:bodyPr/>
                    <a:lstStyle/>
                    <a:p>
                      <a:r>
                        <a:rPr lang="en-US" sz="1400" dirty="0"/>
                        <a:t>1</a:t>
                      </a:r>
                    </a:p>
                  </a:txBody>
                  <a:tcPr/>
                </a:tc>
                <a:extLst>
                  <a:ext uri="{0D108BD9-81ED-4DB2-BD59-A6C34878D82A}">
                    <a16:rowId xmlns:a16="http://schemas.microsoft.com/office/drawing/2014/main" val="1431677455"/>
                  </a:ext>
                </a:extLst>
              </a:tr>
              <a:tr h="331357">
                <a:tc>
                  <a:txBody>
                    <a:bodyPr/>
                    <a:lstStyle/>
                    <a:p>
                      <a:r>
                        <a:rPr lang="en-US" sz="1400" dirty="0"/>
                        <a:t>Describe two considerations</a:t>
                      </a:r>
                    </a:p>
                  </a:txBody>
                  <a:tcPr>
                    <a:solidFill>
                      <a:schemeClr val="accent2"/>
                    </a:solidFill>
                  </a:tcPr>
                </a:tc>
                <a:tc>
                  <a:txBody>
                    <a:bodyPr/>
                    <a:lstStyle/>
                    <a:p>
                      <a:r>
                        <a:rPr lang="en-US" sz="1400" dirty="0"/>
                        <a:t>4</a:t>
                      </a:r>
                    </a:p>
                  </a:txBody>
                  <a:tcPr>
                    <a:solidFill>
                      <a:schemeClr val="accent2"/>
                    </a:solidFill>
                  </a:tcPr>
                </a:tc>
                <a:extLst>
                  <a:ext uri="{0D108BD9-81ED-4DB2-BD59-A6C34878D82A}">
                    <a16:rowId xmlns:a16="http://schemas.microsoft.com/office/drawing/2014/main" val="2620431014"/>
                  </a:ext>
                </a:extLst>
              </a:tr>
              <a:tr h="1904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Possible answers include but are not limited to: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Inter-group contact must be sustained or last over a prolonged period of time. The teacher needs to make sure students of different sexual orientation work together for an entire term in order to form relationships and empathy.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Inter-group contact must be with people of equal status and power, which can be applied by giving equally important group roles in collaborative activities.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Inter-group contact should include superordinate goals which exceed lesser goals, the teacher should create group competitions and project work that allows students to work towards winning or achieving a high grade together. </a:t>
                      </a:r>
                    </a:p>
                  </a:txBody>
                  <a:tcPr/>
                </a:tc>
                <a:tc>
                  <a:txBody>
                    <a:bodyPr/>
                    <a:lstStyle/>
                    <a:p>
                      <a:endParaRPr lang="en-US" sz="1400" dirty="0"/>
                    </a:p>
                    <a:p>
                      <a:r>
                        <a:rPr lang="en-US" sz="1400" dirty="0"/>
                        <a:t>1-2</a:t>
                      </a:r>
                    </a:p>
                    <a:p>
                      <a:endParaRPr lang="en-US" sz="1400" dirty="0"/>
                    </a:p>
                    <a:p>
                      <a:r>
                        <a:rPr lang="en-US" sz="1400" dirty="0"/>
                        <a:t>1-2</a:t>
                      </a:r>
                    </a:p>
                    <a:p>
                      <a:endParaRPr lang="en-US" sz="1400" dirty="0"/>
                    </a:p>
                    <a:p>
                      <a:r>
                        <a:rPr lang="en-US" sz="1400" dirty="0"/>
                        <a:t>1-2</a:t>
                      </a:r>
                    </a:p>
                  </a:txBody>
                  <a:tcPr/>
                </a:tc>
                <a:extLst>
                  <a:ext uri="{0D108BD9-81ED-4DB2-BD59-A6C34878D82A}">
                    <a16:rowId xmlns:a16="http://schemas.microsoft.com/office/drawing/2014/main" val="991471957"/>
                  </a:ext>
                </a:extLst>
              </a:tr>
            </a:tbl>
          </a:graphicData>
        </a:graphic>
      </p:graphicFrame>
    </p:spTree>
    <p:extLst>
      <p:ext uri="{BB962C8B-B14F-4D97-AF65-F5344CB8AC3E}">
        <p14:creationId xmlns:p14="http://schemas.microsoft.com/office/powerpoint/2010/main" val="712212442"/>
      </p:ext>
    </p:extLst>
  </p:cSld>
  <p:clrMapOvr>
    <a:masterClrMapping/>
  </p:clrMapOvr>
</p:sld>
</file>

<file path=ppt/theme/theme1.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4451</TotalTime>
  <Words>2094</Words>
  <Application>Microsoft Macintosh PowerPoint</Application>
  <PresentationFormat>Widescreen</PresentationFormat>
  <Paragraphs>246</Paragraphs>
  <Slides>16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Gothic</vt:lpstr>
      <vt:lpstr>Wingdings 2</vt:lpstr>
      <vt:lpstr>Saba</vt:lpstr>
      <vt:lpstr>PowerPoint Presentation</vt:lpstr>
      <vt:lpstr>PowerPoint Presentation</vt:lpstr>
      <vt:lpstr>Success Criteria </vt:lpstr>
      <vt:lpstr>PowerPoint Presentation</vt:lpstr>
      <vt:lpstr>PowerPoint Presentation</vt:lpstr>
      <vt:lpstr>PowerPoint Presentation</vt:lpstr>
      <vt:lpstr>PowerPoint Presentation</vt:lpstr>
      <vt:lpstr>  </vt:lpstr>
      <vt:lpstr>PowerPoint Presentation</vt:lpstr>
      <vt:lpstr>PowerPoint Presentation</vt:lpstr>
      <vt:lpstr>Answer Q2</vt:lpstr>
      <vt:lpstr>Answer Q3</vt:lpstr>
      <vt:lpstr>PowerPoint Presentation</vt:lpstr>
      <vt:lpstr>Answer Q4</vt:lpstr>
      <vt:lpstr>PowerPoint Presentation</vt:lpstr>
      <vt:lpstr>Answer Q5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1.Define personality 2.Define the psychodynamic theory of personality  3.Describe an Id dominant personality</dc:title>
  <dc:creator>sarahdavey.yoga@gmail.com</dc:creator>
  <cp:lastModifiedBy>DAVEY Sarah [Joseph Banks Secondary College]</cp:lastModifiedBy>
  <cp:revision>42</cp:revision>
  <dcterms:created xsi:type="dcterms:W3CDTF">2020-07-20T06:36:36Z</dcterms:created>
  <dcterms:modified xsi:type="dcterms:W3CDTF">2021-10-19T00:49:40Z</dcterms:modified>
</cp:coreProperties>
</file>
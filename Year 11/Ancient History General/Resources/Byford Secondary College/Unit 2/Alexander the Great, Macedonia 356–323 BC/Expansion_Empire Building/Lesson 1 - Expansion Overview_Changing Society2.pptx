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88"/>
    <p:restoredTop sz="94316"/>
  </p:normalViewPr>
  <p:slideViewPr>
    <p:cSldViewPr snapToGrid="0" snapToObjects="1">
      <p:cViewPr varScale="1">
        <p:scale>
          <a:sx n="75" d="100"/>
          <a:sy n="75" d="100"/>
        </p:scale>
        <p:origin x="18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69E31E-89C8-45E6-BCDA-ABE7151A8446}"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04F9DB7-6A1C-42E7-BE2E-8C15FC118D3E}">
      <dgm:prSet/>
      <dgm:spPr/>
      <dgm:t>
        <a:bodyPr/>
        <a:lstStyle/>
        <a:p>
          <a:pPr algn="ctr"/>
          <a:r>
            <a:rPr lang="en-US" dirty="0">
              <a:latin typeface="Abadi MT Condensed Extra Bold" charset="0"/>
              <a:ea typeface="Abadi MT Condensed Extra Bold" charset="0"/>
              <a:cs typeface="Abadi MT Condensed Extra Bold" charset="0"/>
            </a:rPr>
            <a:t>Alexander made Babylonia the capital of his Empire</a:t>
          </a:r>
        </a:p>
      </dgm:t>
    </dgm:pt>
    <dgm:pt modelId="{4838F40E-7AE6-4490-97C7-6EDD0B2C6F33}" type="parTrans" cxnId="{68964A39-9D75-4998-8E1F-A581661D5142}">
      <dgm:prSet/>
      <dgm:spPr/>
      <dgm:t>
        <a:bodyPr/>
        <a:lstStyle/>
        <a:p>
          <a:endParaRPr lang="en-US"/>
        </a:p>
      </dgm:t>
    </dgm:pt>
    <dgm:pt modelId="{38FE97AC-76BB-4B5D-93A6-45C7947885EB}" type="sibTrans" cxnId="{68964A39-9D75-4998-8E1F-A581661D5142}">
      <dgm:prSet/>
      <dgm:spPr/>
      <dgm:t>
        <a:bodyPr/>
        <a:lstStyle/>
        <a:p>
          <a:endParaRPr lang="en-US"/>
        </a:p>
      </dgm:t>
    </dgm:pt>
    <dgm:pt modelId="{0286178A-1980-43ED-BBFA-0CDA376CC6CC}">
      <dgm:prSet/>
      <dgm:spPr/>
      <dgm:t>
        <a:bodyPr/>
        <a:lstStyle/>
        <a:p>
          <a:pPr algn="ctr"/>
          <a:r>
            <a:rPr lang="en-US" dirty="0">
              <a:latin typeface="Abadi MT Condensed Extra Bold" charset="0"/>
              <a:ea typeface="Abadi MT Condensed Extra Bold" charset="0"/>
              <a:cs typeface="Abadi MT Condensed Extra Bold" charset="0"/>
            </a:rPr>
            <a:t>He married one of Darius’ daughters and “encouraged” 10,000 of his soldiers to take Persian wives</a:t>
          </a:r>
        </a:p>
      </dgm:t>
    </dgm:pt>
    <dgm:pt modelId="{30D75351-DE8C-40AA-A56A-87C5E2708919}" type="parTrans" cxnId="{245A88A7-8122-4C1E-A0A6-A4CB6653622D}">
      <dgm:prSet/>
      <dgm:spPr/>
      <dgm:t>
        <a:bodyPr/>
        <a:lstStyle/>
        <a:p>
          <a:endParaRPr lang="en-US"/>
        </a:p>
      </dgm:t>
    </dgm:pt>
    <dgm:pt modelId="{475554BE-F1F5-493A-A20F-5BE2932AEED5}" type="sibTrans" cxnId="{245A88A7-8122-4C1E-A0A6-A4CB6653622D}">
      <dgm:prSet/>
      <dgm:spPr/>
      <dgm:t>
        <a:bodyPr/>
        <a:lstStyle/>
        <a:p>
          <a:endParaRPr lang="en-US"/>
        </a:p>
      </dgm:t>
    </dgm:pt>
    <dgm:pt modelId="{EA425B99-028F-4C6F-AEC6-7F0C9D55A59E}">
      <dgm:prSet/>
      <dgm:spPr/>
      <dgm:t>
        <a:bodyPr/>
        <a:lstStyle/>
        <a:p>
          <a:pPr algn="ctr"/>
          <a:r>
            <a:rPr lang="en-US" dirty="0">
              <a:latin typeface="Abadi MT Condensed Extra Bold" charset="0"/>
              <a:ea typeface="Abadi MT Condensed Extra Bold" charset="0"/>
              <a:cs typeface="Abadi MT Condensed Extra Bold" charset="0"/>
            </a:rPr>
            <a:t>He died the following year at 33 before he could produce an heir and his kingdom was divided among </a:t>
          </a:r>
          <a:r>
            <a:rPr lang="en-US" b="1" dirty="0">
              <a:latin typeface="Abadi MT Condensed Extra Bold" charset="0"/>
              <a:ea typeface="Abadi MT Condensed Extra Bold" charset="0"/>
              <a:cs typeface="Abadi MT Condensed Extra Bold" charset="0"/>
            </a:rPr>
            <a:t>3 of his generals</a:t>
          </a:r>
          <a:endParaRPr lang="en-US" dirty="0">
            <a:latin typeface="Abadi MT Condensed Extra Bold" charset="0"/>
            <a:ea typeface="Abadi MT Condensed Extra Bold" charset="0"/>
            <a:cs typeface="Abadi MT Condensed Extra Bold" charset="0"/>
          </a:endParaRPr>
        </a:p>
      </dgm:t>
    </dgm:pt>
    <dgm:pt modelId="{BCA78505-BC5A-4AD7-A298-155D0D29EFEA}" type="parTrans" cxnId="{AAB39ED8-8A0D-4056-8207-39107F6483D4}">
      <dgm:prSet/>
      <dgm:spPr/>
      <dgm:t>
        <a:bodyPr/>
        <a:lstStyle/>
        <a:p>
          <a:endParaRPr lang="en-US"/>
        </a:p>
      </dgm:t>
    </dgm:pt>
    <dgm:pt modelId="{B6A6E109-852C-4007-B10C-83D229A302F5}" type="sibTrans" cxnId="{AAB39ED8-8A0D-4056-8207-39107F6483D4}">
      <dgm:prSet/>
      <dgm:spPr/>
      <dgm:t>
        <a:bodyPr/>
        <a:lstStyle/>
        <a:p>
          <a:endParaRPr lang="en-US"/>
        </a:p>
      </dgm:t>
    </dgm:pt>
    <dgm:pt modelId="{21D2ADED-DFA4-3C4B-9F51-790311022654}" type="pres">
      <dgm:prSet presAssocID="{D269E31E-89C8-45E6-BCDA-ABE7151A8446}" presName="linear" presStyleCnt="0">
        <dgm:presLayoutVars>
          <dgm:animLvl val="lvl"/>
          <dgm:resizeHandles val="exact"/>
        </dgm:presLayoutVars>
      </dgm:prSet>
      <dgm:spPr/>
      <dgm:t>
        <a:bodyPr/>
        <a:lstStyle/>
        <a:p>
          <a:endParaRPr lang="en-US"/>
        </a:p>
      </dgm:t>
    </dgm:pt>
    <dgm:pt modelId="{613DA259-EAB3-184E-B269-9634ECF0A702}" type="pres">
      <dgm:prSet presAssocID="{004F9DB7-6A1C-42E7-BE2E-8C15FC118D3E}" presName="parentText" presStyleLbl="node1" presStyleIdx="0" presStyleCnt="3">
        <dgm:presLayoutVars>
          <dgm:chMax val="0"/>
          <dgm:bulletEnabled val="1"/>
        </dgm:presLayoutVars>
      </dgm:prSet>
      <dgm:spPr/>
      <dgm:t>
        <a:bodyPr/>
        <a:lstStyle/>
        <a:p>
          <a:endParaRPr lang="en-US"/>
        </a:p>
      </dgm:t>
    </dgm:pt>
    <dgm:pt modelId="{ACCD1215-406A-AC48-AC8C-BE6680AA2240}" type="pres">
      <dgm:prSet presAssocID="{38FE97AC-76BB-4B5D-93A6-45C7947885EB}" presName="spacer" presStyleCnt="0"/>
      <dgm:spPr/>
    </dgm:pt>
    <dgm:pt modelId="{6683B633-9D2E-5E47-B2CA-EA212A1BBFCD}" type="pres">
      <dgm:prSet presAssocID="{0286178A-1980-43ED-BBFA-0CDA376CC6CC}" presName="parentText" presStyleLbl="node1" presStyleIdx="1" presStyleCnt="3">
        <dgm:presLayoutVars>
          <dgm:chMax val="0"/>
          <dgm:bulletEnabled val="1"/>
        </dgm:presLayoutVars>
      </dgm:prSet>
      <dgm:spPr/>
      <dgm:t>
        <a:bodyPr/>
        <a:lstStyle/>
        <a:p>
          <a:endParaRPr lang="en-US"/>
        </a:p>
      </dgm:t>
    </dgm:pt>
    <dgm:pt modelId="{CA9DEF78-549C-B24F-95F1-7AF0E16F4C2F}" type="pres">
      <dgm:prSet presAssocID="{475554BE-F1F5-493A-A20F-5BE2932AEED5}" presName="spacer" presStyleCnt="0"/>
      <dgm:spPr/>
    </dgm:pt>
    <dgm:pt modelId="{4B50541C-6C9D-4C48-9025-812B0AE8661A}" type="pres">
      <dgm:prSet presAssocID="{EA425B99-028F-4C6F-AEC6-7F0C9D55A59E}" presName="parentText" presStyleLbl="node1" presStyleIdx="2" presStyleCnt="3">
        <dgm:presLayoutVars>
          <dgm:chMax val="0"/>
          <dgm:bulletEnabled val="1"/>
        </dgm:presLayoutVars>
      </dgm:prSet>
      <dgm:spPr/>
      <dgm:t>
        <a:bodyPr/>
        <a:lstStyle/>
        <a:p>
          <a:endParaRPr lang="en-US"/>
        </a:p>
      </dgm:t>
    </dgm:pt>
  </dgm:ptLst>
  <dgm:cxnLst>
    <dgm:cxn modelId="{68964A39-9D75-4998-8E1F-A581661D5142}" srcId="{D269E31E-89C8-45E6-BCDA-ABE7151A8446}" destId="{004F9DB7-6A1C-42E7-BE2E-8C15FC118D3E}" srcOrd="0" destOrd="0" parTransId="{4838F40E-7AE6-4490-97C7-6EDD0B2C6F33}" sibTransId="{38FE97AC-76BB-4B5D-93A6-45C7947885EB}"/>
    <dgm:cxn modelId="{44CC8E3C-C624-5D46-919E-91426A162EDA}" type="presOf" srcId="{0286178A-1980-43ED-BBFA-0CDA376CC6CC}" destId="{6683B633-9D2E-5E47-B2CA-EA212A1BBFCD}" srcOrd="0" destOrd="0" presId="urn:microsoft.com/office/officeart/2005/8/layout/vList2"/>
    <dgm:cxn modelId="{F0E7F7FA-82B5-0549-9B03-70697B8376AC}" type="presOf" srcId="{D269E31E-89C8-45E6-BCDA-ABE7151A8446}" destId="{21D2ADED-DFA4-3C4B-9F51-790311022654}" srcOrd="0" destOrd="0" presId="urn:microsoft.com/office/officeart/2005/8/layout/vList2"/>
    <dgm:cxn modelId="{245A88A7-8122-4C1E-A0A6-A4CB6653622D}" srcId="{D269E31E-89C8-45E6-BCDA-ABE7151A8446}" destId="{0286178A-1980-43ED-BBFA-0CDA376CC6CC}" srcOrd="1" destOrd="0" parTransId="{30D75351-DE8C-40AA-A56A-87C5E2708919}" sibTransId="{475554BE-F1F5-493A-A20F-5BE2932AEED5}"/>
    <dgm:cxn modelId="{AAB39ED8-8A0D-4056-8207-39107F6483D4}" srcId="{D269E31E-89C8-45E6-BCDA-ABE7151A8446}" destId="{EA425B99-028F-4C6F-AEC6-7F0C9D55A59E}" srcOrd="2" destOrd="0" parTransId="{BCA78505-BC5A-4AD7-A298-155D0D29EFEA}" sibTransId="{B6A6E109-852C-4007-B10C-83D229A302F5}"/>
    <dgm:cxn modelId="{6772FE9A-372C-194B-8F4B-44C68613431E}" type="presOf" srcId="{EA425B99-028F-4C6F-AEC6-7F0C9D55A59E}" destId="{4B50541C-6C9D-4C48-9025-812B0AE8661A}" srcOrd="0" destOrd="0" presId="urn:microsoft.com/office/officeart/2005/8/layout/vList2"/>
    <dgm:cxn modelId="{4101285B-5D42-EB4D-AB8E-E79683024A2F}" type="presOf" srcId="{004F9DB7-6A1C-42E7-BE2E-8C15FC118D3E}" destId="{613DA259-EAB3-184E-B269-9634ECF0A702}" srcOrd="0" destOrd="0" presId="urn:microsoft.com/office/officeart/2005/8/layout/vList2"/>
    <dgm:cxn modelId="{D1036347-AB75-A340-BC56-357CB4BBEEAD}" type="presParOf" srcId="{21D2ADED-DFA4-3C4B-9F51-790311022654}" destId="{613DA259-EAB3-184E-B269-9634ECF0A702}" srcOrd="0" destOrd="0" presId="urn:microsoft.com/office/officeart/2005/8/layout/vList2"/>
    <dgm:cxn modelId="{EE058A96-548E-CE4A-9AB8-B4084F3058AB}" type="presParOf" srcId="{21D2ADED-DFA4-3C4B-9F51-790311022654}" destId="{ACCD1215-406A-AC48-AC8C-BE6680AA2240}" srcOrd="1" destOrd="0" presId="urn:microsoft.com/office/officeart/2005/8/layout/vList2"/>
    <dgm:cxn modelId="{D9E4E8B4-468F-EE4B-861D-7E77A0F99794}" type="presParOf" srcId="{21D2ADED-DFA4-3C4B-9F51-790311022654}" destId="{6683B633-9D2E-5E47-B2CA-EA212A1BBFCD}" srcOrd="2" destOrd="0" presId="urn:microsoft.com/office/officeart/2005/8/layout/vList2"/>
    <dgm:cxn modelId="{18301ABE-F0C2-C94D-B34B-E0066BFF6F5D}" type="presParOf" srcId="{21D2ADED-DFA4-3C4B-9F51-790311022654}" destId="{CA9DEF78-549C-B24F-95F1-7AF0E16F4C2F}" srcOrd="3" destOrd="0" presId="urn:microsoft.com/office/officeart/2005/8/layout/vList2"/>
    <dgm:cxn modelId="{9041CF86-6DB7-EA41-B966-A5C8C1B22B55}" type="presParOf" srcId="{21D2ADED-DFA4-3C4B-9F51-790311022654}" destId="{4B50541C-6C9D-4C48-9025-812B0AE8661A}"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3DA259-EAB3-184E-B269-9634ECF0A702}">
      <dsp:nvSpPr>
        <dsp:cNvPr id="0" name=""/>
        <dsp:cNvSpPr/>
      </dsp:nvSpPr>
      <dsp:spPr>
        <a:xfrm>
          <a:off x="0" y="60980"/>
          <a:ext cx="5029199" cy="156445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a:latin typeface="Abadi MT Condensed Extra Bold" charset="0"/>
              <a:ea typeface="Abadi MT Condensed Extra Bold" charset="0"/>
              <a:cs typeface="Abadi MT Condensed Extra Bold" charset="0"/>
            </a:rPr>
            <a:t>Alexander made Babylonia the capital of his Empire</a:t>
          </a:r>
        </a:p>
      </dsp:txBody>
      <dsp:txXfrm>
        <a:off x="76371" y="137351"/>
        <a:ext cx="4876457" cy="1411717"/>
      </dsp:txXfrm>
    </dsp:sp>
    <dsp:sp modelId="{6683B633-9D2E-5E47-B2CA-EA212A1BBFCD}">
      <dsp:nvSpPr>
        <dsp:cNvPr id="0" name=""/>
        <dsp:cNvSpPr/>
      </dsp:nvSpPr>
      <dsp:spPr>
        <a:xfrm>
          <a:off x="0" y="1691679"/>
          <a:ext cx="5029199" cy="1564459"/>
        </a:xfrm>
        <a:prstGeom prst="roundRect">
          <a:avLst/>
        </a:prstGeom>
        <a:solidFill>
          <a:schemeClr val="accent2">
            <a:hueOff val="-716791"/>
            <a:satOff val="-17272"/>
            <a:lumOff val="-1039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a:latin typeface="Abadi MT Condensed Extra Bold" charset="0"/>
              <a:ea typeface="Abadi MT Condensed Extra Bold" charset="0"/>
              <a:cs typeface="Abadi MT Condensed Extra Bold" charset="0"/>
            </a:rPr>
            <a:t>He married one of Darius’ daughters and “encouraged” 10,000 of his soldiers to take Persian wives</a:t>
          </a:r>
        </a:p>
      </dsp:txBody>
      <dsp:txXfrm>
        <a:off x="76371" y="1768050"/>
        <a:ext cx="4876457" cy="1411717"/>
      </dsp:txXfrm>
    </dsp:sp>
    <dsp:sp modelId="{4B50541C-6C9D-4C48-9025-812B0AE8661A}">
      <dsp:nvSpPr>
        <dsp:cNvPr id="0" name=""/>
        <dsp:cNvSpPr/>
      </dsp:nvSpPr>
      <dsp:spPr>
        <a:xfrm>
          <a:off x="0" y="3322378"/>
          <a:ext cx="5029199" cy="1564459"/>
        </a:xfrm>
        <a:prstGeom prst="roundRect">
          <a:avLst/>
        </a:prstGeom>
        <a:solidFill>
          <a:schemeClr val="accent2">
            <a:hueOff val="-1433582"/>
            <a:satOff val="-34544"/>
            <a:lumOff val="-2078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lvl="0" algn="ctr" defTabSz="1022350">
            <a:lnSpc>
              <a:spcPct val="90000"/>
            </a:lnSpc>
            <a:spcBef>
              <a:spcPct val="0"/>
            </a:spcBef>
            <a:spcAft>
              <a:spcPct val="35000"/>
            </a:spcAft>
          </a:pPr>
          <a:r>
            <a:rPr lang="en-US" sz="2300" kern="1200" dirty="0">
              <a:latin typeface="Abadi MT Condensed Extra Bold" charset="0"/>
              <a:ea typeface="Abadi MT Condensed Extra Bold" charset="0"/>
              <a:cs typeface="Abadi MT Condensed Extra Bold" charset="0"/>
            </a:rPr>
            <a:t>He died the following year at 33 before he could produce an heir and his kingdom was divided among </a:t>
          </a:r>
          <a:r>
            <a:rPr lang="en-US" sz="2300" b="1" kern="1200" dirty="0">
              <a:latin typeface="Abadi MT Condensed Extra Bold" charset="0"/>
              <a:ea typeface="Abadi MT Condensed Extra Bold" charset="0"/>
              <a:cs typeface="Abadi MT Condensed Extra Bold" charset="0"/>
            </a:rPr>
            <a:t>3 of his generals</a:t>
          </a:r>
          <a:endParaRPr lang="en-US" sz="2300" kern="1200" dirty="0">
            <a:latin typeface="Abadi MT Condensed Extra Bold" charset="0"/>
            <a:ea typeface="Abadi MT Condensed Extra Bold" charset="0"/>
            <a:cs typeface="Abadi MT Condensed Extra Bold" charset="0"/>
          </a:endParaRPr>
        </a:p>
      </dsp:txBody>
      <dsp:txXfrm>
        <a:off x="76371" y="3398749"/>
        <a:ext cx="4876457" cy="141171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C04D27-5E48-E244-B1FE-4C96D4BAE4DE}" type="datetimeFigureOut">
              <a:rPr lang="en-US" smtClean="0"/>
              <a:t>6/19/20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197338-FFF6-5D46-A810-03060A102352}" type="slidenum">
              <a:rPr lang="en-US" smtClean="0"/>
              <a:t>‹#›</a:t>
            </a:fld>
            <a:endParaRPr lang="en-US"/>
          </a:p>
        </p:txBody>
      </p:sp>
    </p:spTree>
    <p:extLst>
      <p:ext uri="{BB962C8B-B14F-4D97-AF65-F5344CB8AC3E}">
        <p14:creationId xmlns:p14="http://schemas.microsoft.com/office/powerpoint/2010/main" val="797299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6231597-5A56-BF46-9237-C4EFDFBC3F6F}" type="datetimeFigureOut">
              <a:rPr lang="en-US" smtClean="0"/>
              <a:t>6/19/20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10776189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231597-5A56-BF46-9237-C4EFDFBC3F6F}" type="datetimeFigureOut">
              <a:rPr lang="en-US" smtClean="0"/>
              <a:t>6/19/20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1811979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6231597-5A56-BF46-9237-C4EFDFBC3F6F}" type="datetimeFigureOut">
              <a:rPr lang="en-US" smtClean="0"/>
              <a:t>6/19/20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479740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6231597-5A56-BF46-9237-C4EFDFBC3F6F}" type="datetimeFigureOut">
              <a:rPr lang="en-US" smtClean="0"/>
              <a:t>6/19/20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13507374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6231597-5A56-BF46-9237-C4EFDFBC3F6F}" type="datetimeFigureOut">
              <a:rPr lang="en-US" smtClean="0"/>
              <a:t>6/19/20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7949082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6231597-5A56-BF46-9237-C4EFDFBC3F6F}" type="datetimeFigureOut">
              <a:rPr lang="en-US" smtClean="0"/>
              <a:t>6/19/20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5264166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231597-5A56-BF46-9237-C4EFDFBC3F6F}" type="datetimeFigureOut">
              <a:rPr lang="en-US" smtClean="0"/>
              <a:t>6/19/20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1999343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231597-5A56-BF46-9237-C4EFDFBC3F6F}" type="datetimeFigureOut">
              <a:rPr lang="en-US" smtClean="0"/>
              <a:t>6/19/20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1286117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6231597-5A56-BF46-9237-C4EFDFBC3F6F}" type="datetimeFigureOut">
              <a:rPr lang="en-US" smtClean="0"/>
              <a:t>6/19/20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1356419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231597-5A56-BF46-9237-C4EFDFBC3F6F}" type="datetimeFigureOut">
              <a:rPr lang="en-US" smtClean="0"/>
              <a:t>6/19/20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1806783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6231597-5A56-BF46-9237-C4EFDFBC3F6F}" type="datetimeFigureOut">
              <a:rPr lang="en-US" smtClean="0"/>
              <a:t>6/19/20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00CBA55-A053-EF42-9D3A-F193CC900F55}" type="slidenum">
              <a:rPr lang="en-US" smtClean="0"/>
              <a:t>‹#›</a:t>
            </a:fld>
            <a:endParaRPr lang="en-US"/>
          </a:p>
        </p:txBody>
      </p:sp>
    </p:spTree>
    <p:extLst>
      <p:ext uri="{BB962C8B-B14F-4D97-AF65-F5344CB8AC3E}">
        <p14:creationId xmlns:p14="http://schemas.microsoft.com/office/powerpoint/2010/main" val="1188339397"/>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231597-5A56-BF46-9237-C4EFDFBC3F6F}" type="datetimeFigureOut">
              <a:rPr lang="en-US" smtClean="0"/>
              <a:t>6/19/20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0CBA55-A053-EF42-9D3A-F193CC900F55}" type="slidenum">
              <a:rPr lang="en-US" smtClean="0"/>
              <a:t>‹#›</a:t>
            </a:fld>
            <a:endParaRPr lang="en-US"/>
          </a:p>
        </p:txBody>
      </p:sp>
    </p:spTree>
    <p:extLst>
      <p:ext uri="{BB962C8B-B14F-4D97-AF65-F5344CB8AC3E}">
        <p14:creationId xmlns:p14="http://schemas.microsoft.com/office/powerpoint/2010/main" val="10417987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_80C88D5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01C9CC24-B375-4226-BF2B-61FADBBA696A}"/>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CD70A28E-4FD8-4474-A206-E15B5EBB303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1084747"/>
            <a:ext cx="12188952" cy="3294207"/>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a:extLst>
              <a:ext uri="{FF2B5EF4-FFF2-40B4-BE49-F238E27FC236}">
                <a16:creationId xmlns="" xmlns:a16="http://schemas.microsoft.com/office/drawing/2014/main" id="{39647E21-5366-4638-AC97-D8CD4111EB57}"/>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l="8235" r="8214" b="45501"/>
          <a:stretch>
            <a:fillRect/>
          </a:stretch>
        </p:blipFill>
        <p:spPr>
          <a:xfrm flipV="1">
            <a:off x="0" y="0"/>
            <a:ext cx="12191999" cy="4473360"/>
          </a:xfrm>
          <a:custGeom>
            <a:avLst/>
            <a:gdLst>
              <a:gd name="connsiteX0" fmla="*/ 0 w 12191999"/>
              <a:gd name="connsiteY0" fmla="*/ 4473360 h 4473360"/>
              <a:gd name="connsiteX1" fmla="*/ 12191999 w 12191999"/>
              <a:gd name="connsiteY1" fmla="*/ 4473360 h 4473360"/>
              <a:gd name="connsiteX2" fmla="*/ 12191999 w 12191999"/>
              <a:gd name="connsiteY2" fmla="*/ 0 h 4473360"/>
              <a:gd name="connsiteX3" fmla="*/ 0 w 12191999"/>
              <a:gd name="connsiteY3" fmla="*/ 0 h 4473360"/>
            </a:gdLst>
            <a:ahLst/>
            <a:cxnLst>
              <a:cxn ang="0">
                <a:pos x="connsiteX0" y="connsiteY0"/>
              </a:cxn>
              <a:cxn ang="0">
                <a:pos x="connsiteX1" y="connsiteY1"/>
              </a:cxn>
              <a:cxn ang="0">
                <a:pos x="connsiteX2" y="connsiteY2"/>
              </a:cxn>
              <a:cxn ang="0">
                <a:pos x="connsiteX3" y="connsiteY3"/>
              </a:cxn>
            </a:cxnLst>
            <a:rect l="l" t="t" r="r" b="b"/>
            <a:pathLst>
              <a:path w="12191999" h="4473360">
                <a:moveTo>
                  <a:pt x="0" y="4473360"/>
                </a:moveTo>
                <a:lnTo>
                  <a:pt x="12191999" y="4473360"/>
                </a:lnTo>
                <a:lnTo>
                  <a:pt x="12191999" y="0"/>
                </a:lnTo>
                <a:lnTo>
                  <a:pt x="0" y="0"/>
                </a:lnTo>
                <a:close/>
              </a:path>
            </a:pathLst>
          </a:custGeom>
        </p:spPr>
      </p:pic>
      <p:sp>
        <p:nvSpPr>
          <p:cNvPr id="4" name="Title 3"/>
          <p:cNvSpPr>
            <a:spLocks noGrp="1"/>
          </p:cNvSpPr>
          <p:nvPr>
            <p:ph type="ctrTitle"/>
          </p:nvPr>
        </p:nvSpPr>
        <p:spPr>
          <a:xfrm>
            <a:off x="850907" y="2083866"/>
            <a:ext cx="10684151" cy="1345134"/>
          </a:xfrm>
        </p:spPr>
        <p:txBody>
          <a:bodyPr anchor="ctr">
            <a:normAutofit/>
          </a:bodyPr>
          <a:lstStyle/>
          <a:p>
            <a:r>
              <a:rPr lang="en-US" sz="5600" dirty="0" smtClean="0">
                <a:solidFill>
                  <a:srgbClr val="FFFFFF"/>
                </a:solidFill>
                <a:latin typeface="Abadi MT Condensed Extra Bold" charset="0"/>
                <a:ea typeface="Abadi MT Condensed Extra Bold" charset="0"/>
                <a:cs typeface="Abadi MT Condensed Extra Bold" charset="0"/>
              </a:rPr>
              <a:t>Expansion Overview</a:t>
            </a:r>
            <a:endParaRPr lang="en-US" sz="5600" dirty="0">
              <a:solidFill>
                <a:srgbClr val="FFFFFF"/>
              </a:solidFill>
              <a:latin typeface="Abadi MT Condensed Extra Bold" charset="0"/>
              <a:ea typeface="Abadi MT Condensed Extra Bold" charset="0"/>
              <a:cs typeface="Abadi MT Condensed Extra Bold" charset="0"/>
            </a:endParaRPr>
          </a:p>
        </p:txBody>
      </p:sp>
      <p:sp>
        <p:nvSpPr>
          <p:cNvPr id="5" name="Subtitle 4"/>
          <p:cNvSpPr>
            <a:spLocks noGrp="1"/>
          </p:cNvSpPr>
          <p:nvPr>
            <p:ph type="subTitle" idx="1"/>
          </p:nvPr>
        </p:nvSpPr>
        <p:spPr>
          <a:xfrm>
            <a:off x="1171575" y="4196269"/>
            <a:ext cx="9469211" cy="865639"/>
          </a:xfrm>
        </p:spPr>
        <p:txBody>
          <a:bodyPr anchor="ctr">
            <a:normAutofit/>
          </a:bodyPr>
          <a:lstStyle/>
          <a:p>
            <a:r>
              <a:rPr lang="en-US" sz="2800" smtClean="0">
                <a:solidFill>
                  <a:srgbClr val="000000"/>
                </a:solidFill>
                <a:latin typeface="Abadi MT Condensed Extra Bold" charset="0"/>
                <a:ea typeface="Abadi MT Condensed Extra Bold" charset="0"/>
                <a:cs typeface="Abadi MT Condensed Extra Bold" charset="0"/>
              </a:rPr>
              <a:t>Year 11 Ancient History </a:t>
            </a:r>
            <a:r>
              <a:rPr lang="mr-IN" sz="2800" dirty="0" smtClean="0">
                <a:solidFill>
                  <a:srgbClr val="000000"/>
                </a:solidFill>
                <a:latin typeface="Abadi MT Condensed Extra Bold" charset="0"/>
                <a:ea typeface="Abadi MT Condensed Extra Bold" charset="0"/>
                <a:cs typeface="Abadi MT Condensed Extra Bold" charset="0"/>
              </a:rPr>
              <a:t>–</a:t>
            </a:r>
            <a:r>
              <a:rPr lang="en-US" sz="2800" dirty="0" smtClean="0">
                <a:solidFill>
                  <a:srgbClr val="000000"/>
                </a:solidFill>
                <a:latin typeface="Abadi MT Condensed Extra Bold" charset="0"/>
                <a:ea typeface="Abadi MT Condensed Extra Bold" charset="0"/>
                <a:cs typeface="Abadi MT Condensed Extra Bold" charset="0"/>
              </a:rPr>
              <a:t> Lesson 1</a:t>
            </a:r>
          </a:p>
        </p:txBody>
      </p:sp>
      <p:sp>
        <p:nvSpPr>
          <p:cNvPr id="7" name="Subtitle 4"/>
          <p:cNvSpPr txBox="1">
            <a:spLocks/>
          </p:cNvSpPr>
          <p:nvPr/>
        </p:nvSpPr>
        <p:spPr>
          <a:xfrm>
            <a:off x="-364397" y="6385657"/>
            <a:ext cx="2430607" cy="346364"/>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solidFill>
                <a:latin typeface="+mn-lt"/>
                <a:ea typeface="+mn-ea"/>
                <a:cs typeface="+mn-cs"/>
              </a:defRPr>
            </a:lvl9pPr>
          </a:lstStyle>
          <a:p>
            <a:r>
              <a:rPr lang="en-AU" sz="1800" smtClean="0">
                <a:solidFill>
                  <a:srgbClr val="000000"/>
                </a:solidFill>
                <a:latin typeface="Abadi MT Condensed Extra Bold" charset="0"/>
                <a:ea typeface="Abadi MT Condensed Extra Bold" charset="0"/>
                <a:cs typeface="Abadi MT Condensed Extra Bold" charset="0"/>
              </a:rPr>
              <a:t>Ms Barrie HASS</a:t>
            </a:r>
            <a:endParaRPr lang="en-US" sz="1800" dirty="0">
              <a:solidFill>
                <a:srgbClr val="000000"/>
              </a:solidFill>
              <a:latin typeface="Abadi MT Condensed Extra Bold" charset="0"/>
              <a:ea typeface="Abadi MT Condensed Extra Bold" charset="0"/>
              <a:cs typeface="Abadi MT Condensed Extra Bold" charset="0"/>
            </a:endParaRPr>
          </a:p>
        </p:txBody>
      </p:sp>
    </p:spTree>
    <p:extLst>
      <p:ext uri="{BB962C8B-B14F-4D97-AF65-F5344CB8AC3E}">
        <p14:creationId xmlns:p14="http://schemas.microsoft.com/office/powerpoint/2010/main" val="1470092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 xmlns:a16="http://schemas.microsoft.com/office/drawing/2014/main" id="{0BC9EFE1-D8CB-4668-9980-DB108327A79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5" name="Picture 74">
            <a:extLst>
              <a:ext uri="{FF2B5EF4-FFF2-40B4-BE49-F238E27FC236}">
                <a16:creationId xmlns="" xmlns:a16="http://schemas.microsoft.com/office/drawing/2014/main" id="{7CBAE1BD-B8E4-4029-8AA2-C77E4FED9864}"/>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p:cNvSpPr>
            <a:spLocks noGrp="1"/>
          </p:cNvSpPr>
          <p:nvPr>
            <p:ph type="title"/>
          </p:nvPr>
        </p:nvSpPr>
        <p:spPr>
          <a:xfrm>
            <a:off x="623924" y="770037"/>
            <a:ext cx="5296506" cy="2101070"/>
          </a:xfrm>
        </p:spPr>
        <p:txBody>
          <a:bodyPr vert="horz" lIns="91440" tIns="45720" rIns="91440" bIns="45720" rtlCol="0" anchor="t">
            <a:noAutofit/>
          </a:bodyPr>
          <a:lstStyle/>
          <a:p>
            <a:pPr algn="ctr"/>
            <a:r>
              <a:rPr lang="en-US" sz="3600" b="1" u="sng" dirty="0">
                <a:solidFill>
                  <a:srgbClr val="000000"/>
                </a:solidFill>
                <a:latin typeface="Abadi MT Condensed Extra Bold" charset="0"/>
                <a:ea typeface="Abadi MT Condensed Extra Bold" charset="0"/>
                <a:cs typeface="Abadi MT Condensed Extra Bold" charset="0"/>
              </a:rPr>
              <a:t>Why ‘The Great’?</a:t>
            </a:r>
            <a:r>
              <a:rPr lang="en-US" sz="3600" dirty="0">
                <a:solidFill>
                  <a:srgbClr val="000000"/>
                </a:solidFill>
                <a:latin typeface="Abadi MT Condensed Extra Bold" charset="0"/>
                <a:ea typeface="Abadi MT Condensed Extra Bold" charset="0"/>
                <a:cs typeface="Abadi MT Condensed Extra Bold" charset="0"/>
              </a:rPr>
              <a:t/>
            </a:r>
            <a:br>
              <a:rPr lang="en-US" sz="3600" dirty="0">
                <a:solidFill>
                  <a:srgbClr val="000000"/>
                </a:solidFill>
                <a:latin typeface="Abadi MT Condensed Extra Bold" charset="0"/>
                <a:ea typeface="Abadi MT Condensed Extra Bold" charset="0"/>
                <a:cs typeface="Abadi MT Condensed Extra Bold" charset="0"/>
              </a:rPr>
            </a:br>
            <a:r>
              <a:rPr lang="en-US" sz="3600" dirty="0">
                <a:solidFill>
                  <a:srgbClr val="000000"/>
                </a:solidFill>
                <a:latin typeface="Abadi MT Condensed Extra Bold" charset="0"/>
                <a:ea typeface="Abadi MT Condensed Extra Bold" charset="0"/>
                <a:cs typeface="Abadi MT Condensed Extra Bold" charset="0"/>
              </a:rPr>
              <a:t> In ten years</a:t>
            </a:r>
            <a:r>
              <a:rPr lang="en-US" sz="3600" dirty="0" smtClean="0">
                <a:solidFill>
                  <a:srgbClr val="000000"/>
                </a:solidFill>
                <a:latin typeface="Abadi MT Condensed Extra Bold" charset="0"/>
                <a:ea typeface="Abadi MT Condensed Extra Bold" charset="0"/>
                <a:cs typeface="Abadi MT Condensed Extra Bold" charset="0"/>
              </a:rPr>
              <a:t>,</a:t>
            </a:r>
            <a:br>
              <a:rPr lang="en-US" sz="3600" dirty="0" smtClean="0">
                <a:solidFill>
                  <a:srgbClr val="000000"/>
                </a:solidFill>
                <a:latin typeface="Abadi MT Condensed Extra Bold" charset="0"/>
                <a:ea typeface="Abadi MT Condensed Extra Bold" charset="0"/>
                <a:cs typeface="Abadi MT Condensed Extra Bold" charset="0"/>
              </a:rPr>
            </a:br>
            <a:r>
              <a:rPr lang="en-US" sz="3600" dirty="0" smtClean="0">
                <a:solidFill>
                  <a:srgbClr val="000000"/>
                </a:solidFill>
                <a:latin typeface="Abadi MT Condensed Extra Bold" charset="0"/>
                <a:ea typeface="Abadi MT Condensed Extra Bold" charset="0"/>
                <a:cs typeface="Abadi MT Condensed Extra Bold" charset="0"/>
              </a:rPr>
              <a:t> </a:t>
            </a:r>
            <a:r>
              <a:rPr lang="en-US" sz="3600" dirty="0">
                <a:solidFill>
                  <a:srgbClr val="000000"/>
                </a:solidFill>
                <a:latin typeface="Abadi MT Condensed Extra Bold" charset="0"/>
                <a:ea typeface="Abadi MT Condensed Extra Bold" charset="0"/>
                <a:cs typeface="Abadi MT Condensed Extra Bold" charset="0"/>
              </a:rPr>
              <a:t>Alexander of Macedonia created the largest empire in the world up to that time</a:t>
            </a:r>
            <a:br>
              <a:rPr lang="en-US" sz="3600" dirty="0">
                <a:solidFill>
                  <a:srgbClr val="000000"/>
                </a:solidFill>
                <a:latin typeface="Abadi MT Condensed Extra Bold" charset="0"/>
                <a:ea typeface="Abadi MT Condensed Extra Bold" charset="0"/>
                <a:cs typeface="Abadi MT Condensed Extra Bold" charset="0"/>
              </a:rPr>
            </a:br>
            <a:r>
              <a:rPr lang="en-US" sz="3600" dirty="0">
                <a:solidFill>
                  <a:srgbClr val="000000"/>
                </a:solidFill>
                <a:latin typeface="Abadi MT Condensed Extra Bold" charset="0"/>
                <a:ea typeface="Abadi MT Condensed Extra Bold" charset="0"/>
                <a:cs typeface="Abadi MT Condensed Extra Bold" charset="0"/>
              </a:rPr>
              <a:t>Alexander spread Greek culture, ensuring cultural diffusion and the survival of the qualities of classical Greece</a:t>
            </a:r>
            <a:br>
              <a:rPr lang="en-US" sz="3600" dirty="0">
                <a:solidFill>
                  <a:srgbClr val="000000"/>
                </a:solidFill>
                <a:latin typeface="Abadi MT Condensed Extra Bold" charset="0"/>
                <a:ea typeface="Abadi MT Condensed Extra Bold" charset="0"/>
                <a:cs typeface="Abadi MT Condensed Extra Bold" charset="0"/>
              </a:rPr>
            </a:br>
            <a:endParaRPr lang="en-US" sz="3600" dirty="0">
              <a:solidFill>
                <a:srgbClr val="000000"/>
              </a:solidFill>
              <a:latin typeface="Abadi MT Condensed Extra Bold" charset="0"/>
              <a:ea typeface="Abadi MT Condensed Extra Bold" charset="0"/>
              <a:cs typeface="Abadi MT Condensed Extra Bold" charset="0"/>
            </a:endParaRPr>
          </a:p>
        </p:txBody>
      </p:sp>
      <p:sp>
        <p:nvSpPr>
          <p:cNvPr id="77" name="Freeform 49">
            <a:extLst>
              <a:ext uri="{FF2B5EF4-FFF2-40B4-BE49-F238E27FC236}">
                <a16:creationId xmlns="" xmlns:a16="http://schemas.microsoft.com/office/drawing/2014/main" id="{77DA6D33-2D62-458C-BF5D-DBF612FD557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8" name="Picture 4" descr="ownload Alexanderthe Great - Alexander The Great Transparent PNG ..."/>
          <p:cNvPicPr>
            <a:picLocks noChangeAspect="1" noChangeArrowheads="1"/>
          </p:cNvPicPr>
          <p:nvPr/>
        </p:nvPicPr>
        <p:blipFill rotWithShape="1">
          <a:blip r:embed="rId3">
            <a:extLst>
              <a:ext uri="{28A0092B-C50C-407E-A947-70E740481C1C}">
                <a14:useLocalDpi xmlns:a14="http://schemas.microsoft.com/office/drawing/2010/main" val="0"/>
              </a:ext>
            </a:extLst>
          </a:blip>
          <a:srcRect t="8144" r="-2" b="13892"/>
          <a:stretch/>
        </p:blipFill>
        <p:spPr bwMode="auto">
          <a:xfrm>
            <a:off x="6893318" y="770037"/>
            <a:ext cx="5298683" cy="6097438"/>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91673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lumMod val="67000"/>
              </a:schemeClr>
            </a:gs>
            <a:gs pos="48000">
              <a:schemeClr val="accent1">
                <a:lumMod val="97000"/>
                <a:lumOff val="3000"/>
              </a:schemeClr>
            </a:gs>
            <a:gs pos="100000">
              <a:schemeClr val="accent1">
                <a:lumMod val="60000"/>
                <a:lumOff val="40000"/>
              </a:schemeClr>
            </a:gs>
          </a:gsLst>
          <a:lin ang="16200000" scaled="1"/>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Abadi MT Condensed Extra Bold" charset="0"/>
                <a:ea typeface="Abadi MT Condensed Extra Bold" charset="0"/>
                <a:cs typeface="Abadi MT Condensed Extra Bold" charset="0"/>
              </a:rPr>
              <a:t>What does this map teach you about ATG’s empire?</a:t>
            </a:r>
            <a:endParaRPr lang="en-US" dirty="0">
              <a:latin typeface="Abadi MT Condensed Extra Bold" charset="0"/>
              <a:ea typeface="Abadi MT Condensed Extra Bold" charset="0"/>
              <a:cs typeface="Abadi MT Condensed Extra Bold" charset="0"/>
            </a:endParaRPr>
          </a:p>
        </p:txBody>
      </p:sp>
      <p:pic>
        <p:nvPicPr>
          <p:cNvPr id="4" name="Content Placeholder 3"/>
          <p:cNvPicPr>
            <a:picLocks noGrp="1" noChangeAspect="1"/>
          </p:cNvPicPr>
          <p:nvPr>
            <p:ph idx="1"/>
          </p:nvPr>
        </p:nvPicPr>
        <p:blipFill>
          <a:blip r:embed="rId2"/>
          <a:stretch>
            <a:fillRect/>
          </a:stretch>
        </p:blipFill>
        <p:spPr>
          <a:xfrm>
            <a:off x="1967949" y="1690688"/>
            <a:ext cx="8256101" cy="5048210"/>
          </a:xfrm>
          <a:prstGeom prst="rect">
            <a:avLst/>
          </a:prstGeom>
        </p:spPr>
      </p:pic>
    </p:spTree>
    <p:extLst>
      <p:ext uri="{BB962C8B-B14F-4D97-AF65-F5344CB8AC3E}">
        <p14:creationId xmlns:p14="http://schemas.microsoft.com/office/powerpoint/2010/main" val="1783016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4351DFE5-F63D-4BE0-BDA9-E3EB88F01AA5}"/>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5601" y="0"/>
            <a:ext cx="11480494" cy="2753936"/>
          </a:xfrm>
          <a:prstGeom prst="rect">
            <a:avLst/>
          </a:prstGeom>
          <a:gradFill>
            <a:gsLst>
              <a:gs pos="0">
                <a:schemeClr val="accent2"/>
              </a:gs>
              <a:gs pos="25000">
                <a:schemeClr val="accent2"/>
              </a:gs>
              <a:gs pos="94000">
                <a:schemeClr val="accent1"/>
              </a:gs>
              <a:gs pos="100000">
                <a:schemeClr val="accent1"/>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0" name="Picture 9">
            <a:extLst>
              <a:ext uri="{FF2B5EF4-FFF2-40B4-BE49-F238E27FC236}">
                <a16:creationId xmlns="" xmlns:a16="http://schemas.microsoft.com/office/drawing/2014/main" id="{3AA16612-ACD2-4A16-8F2B-4514FD6BF28F}"/>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179226" y="826680"/>
            <a:ext cx="9833548" cy="1325563"/>
          </a:xfrm>
        </p:spPr>
        <p:txBody>
          <a:bodyPr>
            <a:normAutofit/>
          </a:bodyPr>
          <a:lstStyle/>
          <a:p>
            <a:pPr algn="ctr"/>
            <a:r>
              <a:rPr lang="en-US" sz="4800" dirty="0" smtClean="0">
                <a:solidFill>
                  <a:srgbClr val="FFFFFF"/>
                </a:solidFill>
                <a:latin typeface="Abadi MT Condensed Extra Bold" charset="0"/>
                <a:ea typeface="Abadi MT Condensed Extra Bold" charset="0"/>
                <a:cs typeface="Abadi MT Condensed Extra Bold" charset="0"/>
              </a:rPr>
              <a:t>Securing/Expanding an Empire</a:t>
            </a:r>
            <a:endParaRPr lang="en-US" sz="4800" dirty="0">
              <a:solidFill>
                <a:srgbClr val="FFFFFF"/>
              </a:solidFill>
              <a:latin typeface="Abadi MT Condensed Extra Bold" charset="0"/>
              <a:ea typeface="Abadi MT Condensed Extra Bold" charset="0"/>
              <a:cs typeface="Abadi MT Condensed Extra Bold" charset="0"/>
            </a:endParaRPr>
          </a:p>
        </p:txBody>
      </p:sp>
      <p:sp>
        <p:nvSpPr>
          <p:cNvPr id="3" name="Content Placeholder 2"/>
          <p:cNvSpPr>
            <a:spLocks noGrp="1"/>
          </p:cNvSpPr>
          <p:nvPr>
            <p:ph idx="1"/>
          </p:nvPr>
        </p:nvSpPr>
        <p:spPr>
          <a:xfrm>
            <a:off x="528061" y="2635770"/>
            <a:ext cx="11308033" cy="3875866"/>
          </a:xfrm>
        </p:spPr>
        <p:txBody>
          <a:bodyPr>
            <a:noAutofit/>
          </a:bodyPr>
          <a:lstStyle/>
          <a:p>
            <a:r>
              <a:rPr lang="en-US" dirty="0">
                <a:latin typeface="Abadi MT Condensed Extra Bold" charset="0"/>
                <a:ea typeface="Abadi MT Condensed Extra Bold" charset="0"/>
                <a:cs typeface="Abadi MT Condensed Extra Bold" charset="0"/>
              </a:rPr>
              <a:t>Alexander </a:t>
            </a:r>
            <a:r>
              <a:rPr lang="en-US" dirty="0" smtClean="0">
                <a:latin typeface="Abadi MT Condensed Extra Bold" charset="0"/>
                <a:ea typeface="Abadi MT Condensed Extra Bold" charset="0"/>
                <a:cs typeface="Abadi MT Condensed Extra Bold" charset="0"/>
              </a:rPr>
              <a:t>squashed rebellions </a:t>
            </a:r>
            <a:r>
              <a:rPr lang="en-US" dirty="0">
                <a:latin typeface="Abadi MT Condensed Extra Bold" charset="0"/>
                <a:ea typeface="Abadi MT Condensed Extra Bold" charset="0"/>
                <a:cs typeface="Abadi MT Condensed Extra Bold" charset="0"/>
              </a:rPr>
              <a:t>in the northern regions to the Danube River</a:t>
            </a:r>
          </a:p>
          <a:p>
            <a:r>
              <a:rPr lang="en-US" dirty="0">
                <a:latin typeface="Abadi MT Condensed Extra Bold" charset="0"/>
                <a:ea typeface="Abadi MT Condensed Extra Bold" charset="0"/>
                <a:cs typeface="Abadi MT Condensed Extra Bold" charset="0"/>
              </a:rPr>
              <a:t>In the process of reconquering the Greek city states, his forces destroyed Thebes, massacring all, including women and children</a:t>
            </a:r>
          </a:p>
          <a:p>
            <a:r>
              <a:rPr lang="en-US" dirty="0">
                <a:latin typeface="Abadi MT Condensed Extra Bold" charset="0"/>
                <a:ea typeface="Abadi MT Condensed Extra Bold" charset="0"/>
                <a:cs typeface="Abadi MT Condensed Extra Bold" charset="0"/>
              </a:rPr>
              <a:t>Alexander’s forces of over 40,000 crossed at the Dardanelles into Asia, where he declared that the whole of Asia would be won by the spear</a:t>
            </a:r>
          </a:p>
          <a:p>
            <a:r>
              <a:rPr lang="en-US" dirty="0">
                <a:latin typeface="Abadi MT Condensed Extra Bold" charset="0"/>
                <a:ea typeface="Abadi MT Condensed Extra Bold" charset="0"/>
                <a:cs typeface="Abadi MT Condensed Extra Bold" charset="0"/>
              </a:rPr>
              <a:t>Alexander’s forced dispatched the Persian army, losing only 110 men </a:t>
            </a:r>
            <a:r>
              <a:rPr lang="en-US" dirty="0" smtClean="0">
                <a:latin typeface="Abadi MT Condensed Extra Bold" charset="0"/>
                <a:ea typeface="Abadi MT Condensed Extra Bold" charset="0"/>
                <a:cs typeface="Abadi MT Condensed Extra Bold" charset="0"/>
              </a:rPr>
              <a:t>(legend)</a:t>
            </a:r>
          </a:p>
          <a:p>
            <a:r>
              <a:rPr lang="en-US" dirty="0" smtClean="0">
                <a:latin typeface="Abadi MT Condensed Extra Bold" charset="0"/>
                <a:ea typeface="Abadi MT Condensed Extra Bold" charset="0"/>
                <a:cs typeface="Abadi MT Condensed Extra Bold" charset="0"/>
              </a:rPr>
              <a:t>Again Alexander was victorious, and Darius was forced to flee, abandoning his mother, wife and children to Alexander</a:t>
            </a:r>
          </a:p>
          <a:p>
            <a:endParaRPr lang="en-US" dirty="0">
              <a:solidFill>
                <a:srgbClr val="000000"/>
              </a:solidFill>
              <a:latin typeface="Abadi MT Condensed Extra Bold" charset="0"/>
              <a:ea typeface="Abadi MT Condensed Extra Bold" charset="0"/>
              <a:cs typeface="Abadi MT Condensed Extra Bold" charset="0"/>
            </a:endParaRPr>
          </a:p>
        </p:txBody>
      </p:sp>
    </p:spTree>
    <p:extLst>
      <p:ext uri="{BB962C8B-B14F-4D97-AF65-F5344CB8AC3E}">
        <p14:creationId xmlns:p14="http://schemas.microsoft.com/office/powerpoint/2010/main" val="788290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 xmlns:a16="http://schemas.microsoft.com/office/drawing/2014/main" id="{49CD2D09-B1BB-4DF5-9E1C-3D21B21EDEFD}"/>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20431" y="0"/>
            <a:ext cx="6271569"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p>
        </p:txBody>
      </p:sp>
      <p:pic>
        <p:nvPicPr>
          <p:cNvPr id="75" name="Picture 74">
            <a:extLst>
              <a:ext uri="{FF2B5EF4-FFF2-40B4-BE49-F238E27FC236}">
                <a16:creationId xmlns="" xmlns:a16="http://schemas.microsoft.com/office/drawing/2014/main" id="{83355637-BA71-4F63-94C9-E77BF81BDFC0}"/>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3" name="Content Placeholder 2"/>
          <p:cNvSpPr>
            <a:spLocks noGrp="1"/>
          </p:cNvSpPr>
          <p:nvPr>
            <p:ph idx="1"/>
          </p:nvPr>
        </p:nvSpPr>
        <p:spPr>
          <a:xfrm>
            <a:off x="221673" y="249382"/>
            <a:ext cx="5290127" cy="6345382"/>
          </a:xfrm>
        </p:spPr>
        <p:txBody>
          <a:bodyPr anchor="ctr">
            <a:normAutofit fontScale="92500" lnSpcReduction="20000"/>
          </a:bodyPr>
          <a:lstStyle/>
          <a:p>
            <a:r>
              <a:rPr lang="en-US" dirty="0">
                <a:solidFill>
                  <a:srgbClr val="000000"/>
                </a:solidFill>
                <a:latin typeface="Abadi MT Condensed Extra Bold" charset="0"/>
                <a:ea typeface="Abadi MT Condensed Extra Bold" charset="0"/>
                <a:cs typeface="Abadi MT Condensed Extra Bold" charset="0"/>
              </a:rPr>
              <a:t>Major cities in Asia Minor and along the Phoenician coast surrendered to Alexander</a:t>
            </a:r>
          </a:p>
          <a:p>
            <a:r>
              <a:rPr lang="en-US" dirty="0">
                <a:solidFill>
                  <a:srgbClr val="000000"/>
                </a:solidFill>
                <a:latin typeface="Abadi MT Condensed Extra Bold" charset="0"/>
                <a:ea typeface="Abadi MT Condensed Extra Bold" charset="0"/>
                <a:cs typeface="Abadi MT Condensed Extra Bold" charset="0"/>
              </a:rPr>
              <a:t>Alexander proceeded to Egypt, where he established the city of Alexandria and was made pharaoh          </a:t>
            </a:r>
          </a:p>
          <a:p>
            <a:r>
              <a:rPr lang="en-US" dirty="0">
                <a:solidFill>
                  <a:srgbClr val="000000"/>
                </a:solidFill>
                <a:latin typeface="Abadi MT Condensed Extra Bold" charset="0"/>
                <a:ea typeface="Abadi MT Condensed Extra Bold" charset="0"/>
                <a:cs typeface="Abadi MT Condensed Extra Bold" charset="0"/>
              </a:rPr>
              <a:t>Yet again, Alexander’s forces defeated Darius, this time in Mesopotamia</a:t>
            </a:r>
          </a:p>
          <a:p>
            <a:r>
              <a:rPr lang="en-US" dirty="0">
                <a:solidFill>
                  <a:srgbClr val="000000"/>
                </a:solidFill>
                <a:latin typeface="Abadi MT Condensed Extra Bold" charset="0"/>
                <a:ea typeface="Abadi MT Condensed Extra Bold" charset="0"/>
                <a:cs typeface="Abadi MT Condensed Extra Bold" charset="0"/>
              </a:rPr>
              <a:t>Alexander was proclaimed king of Persia and Darius’s royal city and palace were burned to the ground</a:t>
            </a:r>
          </a:p>
          <a:p>
            <a:r>
              <a:rPr lang="en-US" dirty="0">
                <a:solidFill>
                  <a:srgbClr val="000000"/>
                </a:solidFill>
                <a:latin typeface="Abadi MT Condensed Extra Bold" charset="0"/>
                <a:ea typeface="Abadi MT Condensed Extra Bold" charset="0"/>
                <a:cs typeface="Abadi MT Condensed Extra Bold" charset="0"/>
              </a:rPr>
              <a:t>Again, Darius fled… Alexander pursued</a:t>
            </a:r>
          </a:p>
          <a:p>
            <a:r>
              <a:rPr lang="en-US" dirty="0">
                <a:solidFill>
                  <a:srgbClr val="000000"/>
                </a:solidFill>
                <a:latin typeface="Abadi MT Condensed Extra Bold" charset="0"/>
                <a:ea typeface="Abadi MT Condensed Extra Bold" charset="0"/>
                <a:cs typeface="Abadi MT Condensed Extra Bold" charset="0"/>
              </a:rPr>
              <a:t>When Darius was found murdered by his own men, Alexander executed the assassins and gave Darius a royal funeral</a:t>
            </a:r>
          </a:p>
        </p:txBody>
      </p:sp>
      <p:sp>
        <p:nvSpPr>
          <p:cNvPr id="77" name="Freeform 49">
            <a:extLst>
              <a:ext uri="{FF2B5EF4-FFF2-40B4-BE49-F238E27FC236}">
                <a16:creationId xmlns="" xmlns:a16="http://schemas.microsoft.com/office/drawing/2014/main" id="{967C29FE-FD32-4AFB-AD20-DBDF5864B2D8}"/>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13915" y="590635"/>
            <a:ext cx="5478085" cy="6276841"/>
          </a:xfrm>
          <a:custGeom>
            <a:avLst/>
            <a:gdLst>
              <a:gd name="connsiteX0" fmla="*/ 2178155 w 5478085"/>
              <a:gd name="connsiteY0" fmla="*/ 0 h 6276841"/>
              <a:gd name="connsiteX1" fmla="*/ 5478085 w 5478085"/>
              <a:gd name="connsiteY1" fmla="*/ 3299930 h 6276841"/>
              <a:gd name="connsiteX2" fmla="*/ 3751098 w 5478085"/>
              <a:gd name="connsiteY2" fmla="*/ 6201577 h 6276841"/>
              <a:gd name="connsiteX3" fmla="*/ 3594858 w 5478085"/>
              <a:gd name="connsiteY3" fmla="*/ 6276841 h 6276841"/>
              <a:gd name="connsiteX4" fmla="*/ 761453 w 5478085"/>
              <a:gd name="connsiteY4" fmla="*/ 6276841 h 6276841"/>
              <a:gd name="connsiteX5" fmla="*/ 605213 w 5478085"/>
              <a:gd name="connsiteY5" fmla="*/ 6201577 h 6276841"/>
              <a:gd name="connsiteX6" fmla="*/ 79093 w 5478085"/>
              <a:gd name="connsiteY6" fmla="*/ 5846317 h 6276841"/>
              <a:gd name="connsiteX7" fmla="*/ 0 w 5478085"/>
              <a:gd name="connsiteY7" fmla="*/ 5774432 h 6276841"/>
              <a:gd name="connsiteX8" fmla="*/ 0 w 5478085"/>
              <a:gd name="connsiteY8" fmla="*/ 825429 h 6276841"/>
              <a:gd name="connsiteX9" fmla="*/ 79093 w 5478085"/>
              <a:gd name="connsiteY9" fmla="*/ 753544 h 6276841"/>
              <a:gd name="connsiteX10" fmla="*/ 2178155 w 5478085"/>
              <a:gd name="connsiteY10" fmla="*/ 0 h 627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8085" h="6276841">
                <a:moveTo>
                  <a:pt x="2178155" y="0"/>
                </a:moveTo>
                <a:cubicBezTo>
                  <a:pt x="4000656" y="0"/>
                  <a:pt x="5478085" y="1477429"/>
                  <a:pt x="5478085" y="3299930"/>
                </a:cubicBezTo>
                <a:cubicBezTo>
                  <a:pt x="5478085" y="4552900"/>
                  <a:pt x="4779769" y="5642769"/>
                  <a:pt x="3751098" y="6201577"/>
                </a:cubicBezTo>
                <a:lnTo>
                  <a:pt x="3594858" y="6276841"/>
                </a:lnTo>
                <a:lnTo>
                  <a:pt x="761453" y="6276841"/>
                </a:lnTo>
                <a:lnTo>
                  <a:pt x="605213" y="6201577"/>
                </a:lnTo>
                <a:cubicBezTo>
                  <a:pt x="418182" y="6099975"/>
                  <a:pt x="242071" y="5980818"/>
                  <a:pt x="79093" y="5846317"/>
                </a:cubicBezTo>
                <a:lnTo>
                  <a:pt x="0" y="5774432"/>
                </a:lnTo>
                <a:lnTo>
                  <a:pt x="0" y="825429"/>
                </a:lnTo>
                <a:lnTo>
                  <a:pt x="79093" y="753544"/>
                </a:lnTo>
                <a:cubicBezTo>
                  <a:pt x="649516" y="282789"/>
                  <a:pt x="1380811" y="0"/>
                  <a:pt x="2178155"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accent3"/>
                </a:gs>
                <a:gs pos="100000">
                  <a:schemeClr val="accent3"/>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3600"/>
          </a:p>
        </p:txBody>
      </p:sp>
      <p:pic>
        <p:nvPicPr>
          <p:cNvPr id="1028" name="Picture 4" descr="lexander The Great Png &amp; Free Alexander The Great.png Transparent"/>
          <p:cNvPicPr>
            <a:picLocks noChangeAspect="1" noChangeArrowheads="1"/>
          </p:cNvPicPr>
          <p:nvPr/>
        </p:nvPicPr>
        <p:blipFill rotWithShape="1">
          <a:blip r:embed="rId3">
            <a:extLst>
              <a:ext uri="{28A0092B-C50C-407E-A947-70E740481C1C}">
                <a14:useLocalDpi xmlns:a14="http://schemas.microsoft.com/office/drawing/2010/main" val="0"/>
              </a:ext>
            </a:extLst>
          </a:blip>
          <a:srcRect r="3" b="10820"/>
          <a:stretch/>
        </p:blipFill>
        <p:spPr bwMode="auto">
          <a:xfrm>
            <a:off x="6645271" y="249382"/>
            <a:ext cx="5955360" cy="6853106"/>
          </a:xfrm>
          <a:custGeom>
            <a:avLst/>
            <a:gdLst/>
            <a:ahLst/>
            <a:cxnLst/>
            <a:rect l="l" t="t" r="r" b="b"/>
            <a:pathLst>
              <a:path w="5298683" h="6097438">
                <a:moveTo>
                  <a:pt x="3120528" y="0"/>
                </a:moveTo>
                <a:cubicBezTo>
                  <a:pt x="3874524" y="0"/>
                  <a:pt x="4566062" y="267415"/>
                  <a:pt x="5105473" y="712577"/>
                </a:cubicBezTo>
                <a:lnTo>
                  <a:pt x="5298683" y="888178"/>
                </a:lnTo>
                <a:lnTo>
                  <a:pt x="5298683" y="5352876"/>
                </a:lnTo>
                <a:lnTo>
                  <a:pt x="5105473" y="5528477"/>
                </a:lnTo>
                <a:cubicBezTo>
                  <a:pt x="4874296" y="5719261"/>
                  <a:pt x="4615179" y="5877397"/>
                  <a:pt x="4335177" y="5995828"/>
                </a:cubicBezTo>
                <a:lnTo>
                  <a:pt x="4057556" y="6097438"/>
                </a:lnTo>
                <a:lnTo>
                  <a:pt x="2183499" y="6097438"/>
                </a:lnTo>
                <a:lnTo>
                  <a:pt x="1905878" y="5995828"/>
                </a:lnTo>
                <a:cubicBezTo>
                  <a:pt x="785873" y="5522106"/>
                  <a:pt x="0" y="4413092"/>
                  <a:pt x="0" y="3120527"/>
                </a:cubicBezTo>
                <a:cubicBezTo>
                  <a:pt x="0" y="1397108"/>
                  <a:pt x="1397108" y="0"/>
                  <a:pt x="3120528" y="0"/>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1324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 xmlns:a16="http://schemas.microsoft.com/office/drawing/2014/main" id="{3B854194-185D-494D-905C-7C7CB2E30F6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 xmlns:a16="http://schemas.microsoft.com/office/drawing/2014/main" id="{B4F5FA0D-0104-4987-8241-EFF7C85B88DE}"/>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4"/>
              </a:gs>
              <a:gs pos="25000">
                <a:schemeClr val="accent4"/>
              </a:gs>
              <a:gs pos="94000">
                <a:schemeClr val="accent2"/>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 xmlns:a16="http://schemas.microsoft.com/office/drawing/2014/main" id="{2897127E-6CEF-446C-BE87-93B7C46E49D1}"/>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pPr algn="ctr"/>
            <a:r>
              <a:rPr lang="en-US" sz="6600" dirty="0">
                <a:solidFill>
                  <a:srgbClr val="FFFFFF"/>
                </a:solidFill>
                <a:latin typeface="Abadi MT Condensed Extra Bold" charset="0"/>
                <a:ea typeface="Abadi MT Condensed Extra Bold" charset="0"/>
                <a:cs typeface="Abadi MT Condensed Extra Bold" charset="0"/>
              </a:rPr>
              <a:t>Limits and Retreat</a:t>
            </a:r>
          </a:p>
        </p:txBody>
      </p:sp>
      <p:sp>
        <p:nvSpPr>
          <p:cNvPr id="3" name="Content Placeholder 2"/>
          <p:cNvSpPr>
            <a:spLocks noGrp="1"/>
          </p:cNvSpPr>
          <p:nvPr>
            <p:ph idx="1"/>
          </p:nvPr>
        </p:nvSpPr>
        <p:spPr>
          <a:xfrm>
            <a:off x="6090574" y="801866"/>
            <a:ext cx="5306084" cy="5230634"/>
          </a:xfrm>
        </p:spPr>
        <p:txBody>
          <a:bodyPr anchor="ctr">
            <a:noAutofit/>
          </a:bodyPr>
          <a:lstStyle/>
          <a:p>
            <a:r>
              <a:rPr lang="en-US" sz="2400" dirty="0">
                <a:solidFill>
                  <a:srgbClr val="000000"/>
                </a:solidFill>
                <a:latin typeface="Abadi MT Condensed Extra Bold" charset="0"/>
                <a:ea typeface="Abadi MT Condensed Extra Bold" charset="0"/>
                <a:cs typeface="Abadi MT Condensed Extra Bold" charset="0"/>
              </a:rPr>
              <a:t>In the spring of 327 BC, Alexander and his army marched into India</a:t>
            </a:r>
          </a:p>
          <a:p>
            <a:r>
              <a:rPr lang="en-US" sz="2400" dirty="0">
                <a:solidFill>
                  <a:srgbClr val="000000"/>
                </a:solidFill>
                <a:latin typeface="Abadi MT Condensed Extra Bold" charset="0"/>
                <a:ea typeface="Abadi MT Condensed Extra Bold" charset="0"/>
                <a:cs typeface="Abadi MT Condensed Extra Bold" charset="0"/>
              </a:rPr>
              <a:t>As he conquered regions he allowed rulers to continue to govern in his name</a:t>
            </a:r>
          </a:p>
          <a:p>
            <a:r>
              <a:rPr lang="en-US" sz="2400" dirty="0">
                <a:solidFill>
                  <a:srgbClr val="000000"/>
                </a:solidFill>
                <a:latin typeface="Abadi MT Condensed Extra Bold" charset="0"/>
                <a:ea typeface="Abadi MT Condensed Extra Bold" charset="0"/>
                <a:cs typeface="Abadi MT Condensed Extra Bold" charset="0"/>
              </a:rPr>
              <a:t>In India, his horse Bucephalus was killed</a:t>
            </a:r>
          </a:p>
          <a:p>
            <a:r>
              <a:rPr lang="en-US" sz="2400" dirty="0">
                <a:solidFill>
                  <a:srgbClr val="000000"/>
                </a:solidFill>
                <a:latin typeface="Abadi MT Condensed Extra Bold" charset="0"/>
                <a:ea typeface="Abadi MT Condensed Extra Bold" charset="0"/>
                <a:cs typeface="Abadi MT Condensed Extra Bold" charset="0"/>
              </a:rPr>
              <a:t>At the Indus, the Macedonians rebelled and refused to go any farther</a:t>
            </a:r>
          </a:p>
          <a:p>
            <a:r>
              <a:rPr lang="en-US" sz="2400" dirty="0">
                <a:solidFill>
                  <a:srgbClr val="000000"/>
                </a:solidFill>
                <a:latin typeface="Abadi MT Condensed Extra Bold" charset="0"/>
                <a:ea typeface="Abadi MT Condensed Extra Bold" charset="0"/>
                <a:cs typeface="Abadi MT Condensed Extra Bold" charset="0"/>
              </a:rPr>
              <a:t>The forces travelled down the Indus and  began the arduous journey back to Mesopotamia</a:t>
            </a:r>
          </a:p>
          <a:p>
            <a:r>
              <a:rPr lang="en-US" sz="2400" dirty="0">
                <a:solidFill>
                  <a:srgbClr val="000000"/>
                </a:solidFill>
                <a:latin typeface="Abadi MT Condensed Extra Bold" charset="0"/>
                <a:ea typeface="Abadi MT Condensed Extra Bold" charset="0"/>
                <a:cs typeface="Abadi MT Condensed Extra Bold" charset="0"/>
              </a:rPr>
              <a:t>His best friend, </a:t>
            </a:r>
            <a:r>
              <a:rPr lang="en-US" sz="2400" dirty="0" err="1">
                <a:solidFill>
                  <a:srgbClr val="000000"/>
                </a:solidFill>
                <a:latin typeface="Abadi MT Condensed Extra Bold" charset="0"/>
                <a:ea typeface="Abadi MT Condensed Extra Bold" charset="0"/>
                <a:cs typeface="Abadi MT Condensed Extra Bold" charset="0"/>
              </a:rPr>
              <a:t>Hephaestion</a:t>
            </a:r>
            <a:r>
              <a:rPr lang="en-US" sz="2400" dirty="0">
                <a:solidFill>
                  <a:srgbClr val="000000"/>
                </a:solidFill>
                <a:latin typeface="Abadi MT Condensed Extra Bold" charset="0"/>
                <a:ea typeface="Abadi MT Condensed Extra Bold" charset="0"/>
                <a:cs typeface="Abadi MT Condensed Extra Bold" charset="0"/>
              </a:rPr>
              <a:t>, died of a fever; to console himself, Alexander led a ferocious military campaign and went on a drinking binge</a:t>
            </a:r>
          </a:p>
          <a:p>
            <a:endParaRPr lang="en-US" sz="2400" dirty="0">
              <a:solidFill>
                <a:srgbClr val="000000"/>
              </a:solidFill>
              <a:latin typeface="Abadi MT Condensed Extra Bold" charset="0"/>
              <a:ea typeface="Abadi MT Condensed Extra Bold" charset="0"/>
              <a:cs typeface="Abadi MT Condensed Extra Bold" charset="0"/>
            </a:endParaRPr>
          </a:p>
        </p:txBody>
      </p:sp>
    </p:spTree>
    <p:extLst>
      <p:ext uri="{BB962C8B-B14F-4D97-AF65-F5344CB8AC3E}">
        <p14:creationId xmlns:p14="http://schemas.microsoft.com/office/powerpoint/2010/main" val="17013831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 xmlns:a16="http://schemas.microsoft.com/office/drawing/2014/main" id="{457D4A72-F4F1-498A-B083-59E8C50B7892}"/>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0">
                <a:schemeClr val="accent4"/>
              </a:gs>
              <a:gs pos="25000">
                <a:schemeClr val="accent4"/>
              </a:gs>
              <a:gs pos="94000">
                <a:schemeClr val="accent2"/>
              </a:gs>
              <a:gs pos="100000">
                <a:schemeClr val="accent2"/>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 xmlns:a16="http://schemas.microsoft.com/office/drawing/2014/main" id="{C7FF3303-6FC3-4637-A201-B4CCC1C992CF}"/>
              </a:ext>
              <a:ext uri="{C183D7F6-B498-43B3-948B-1728B52AA6E4}">
                <adec:decorative xmlns=""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220636" cy="6858000"/>
          </a:xfrm>
          <a:prstGeom prst="rect">
            <a:avLst/>
          </a:prstGeom>
        </p:spPr>
      </p:pic>
      <p:sp>
        <p:nvSpPr>
          <p:cNvPr id="2" name="Title 1"/>
          <p:cNvSpPr>
            <a:spLocks noGrp="1"/>
          </p:cNvSpPr>
          <p:nvPr>
            <p:ph type="title"/>
          </p:nvPr>
        </p:nvSpPr>
        <p:spPr>
          <a:xfrm>
            <a:off x="640079" y="2023236"/>
            <a:ext cx="3659777" cy="2820908"/>
          </a:xfrm>
        </p:spPr>
        <p:txBody>
          <a:bodyPr>
            <a:normAutofit/>
          </a:bodyPr>
          <a:lstStyle/>
          <a:p>
            <a:pPr algn="ctr"/>
            <a:r>
              <a:rPr lang="en-US" sz="7200" dirty="0">
                <a:solidFill>
                  <a:srgbClr val="FFFFFF"/>
                </a:solidFill>
                <a:latin typeface="Abadi MT Condensed Extra Bold" charset="0"/>
                <a:ea typeface="Abadi MT Condensed Extra Bold" charset="0"/>
                <a:cs typeface="Abadi MT Condensed Extra Bold" charset="0"/>
              </a:rPr>
              <a:t>Securing a Legacy</a:t>
            </a:r>
          </a:p>
        </p:txBody>
      </p:sp>
      <p:graphicFrame>
        <p:nvGraphicFramePr>
          <p:cNvPr id="5" name="Content Placeholder 2">
            <a:extLst>
              <a:ext uri="{FF2B5EF4-FFF2-40B4-BE49-F238E27FC236}">
                <a16:creationId xmlns="" xmlns:a16="http://schemas.microsoft.com/office/drawing/2014/main" id="{672CC00C-C5CB-41F4-9A5C-7511C7C1D922}"/>
              </a:ext>
            </a:extLst>
          </p:cNvPr>
          <p:cNvGraphicFramePr>
            <a:graphicFrameLocks noGrp="1"/>
          </p:cNvGraphicFramePr>
          <p:nvPr>
            <p:ph idx="1"/>
            <p:extLst>
              <p:ext uri="{D42A27DB-BD31-4B8C-83A1-F6EECF244321}">
                <p14:modId xmlns:p14="http://schemas.microsoft.com/office/powerpoint/2010/main" val="1370811086"/>
              </p:ext>
            </p:extLst>
          </p:nvPr>
        </p:nvGraphicFramePr>
        <p:xfrm>
          <a:off x="6355080" y="955653"/>
          <a:ext cx="5029200" cy="494781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23374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 xmlns:a16="http://schemas.microsoft.com/office/drawing/2014/main" id="{E945E29B-B971-41C6-A57B-B29BBB108A39}"/>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10" name="Group 9">
            <a:extLst>
              <a:ext uri="{FF2B5EF4-FFF2-40B4-BE49-F238E27FC236}">
                <a16:creationId xmlns="" xmlns:a16="http://schemas.microsoft.com/office/drawing/2014/main" id="{4C76015D-CFEA-4204-9A50-352560FFC252}"/>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1" name="Oval 5">
              <a:extLst>
                <a:ext uri="{FF2B5EF4-FFF2-40B4-BE49-F238E27FC236}">
                  <a16:creationId xmlns="" xmlns:a16="http://schemas.microsoft.com/office/drawing/2014/main" id="{7325C43C-72B5-4DC9-B386-90859B58BF0D}"/>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sp>
        <p:sp>
          <p:nvSpPr>
            <p:cNvPr id="12" name="Oval 11">
              <a:extLst>
                <a:ext uri="{FF2B5EF4-FFF2-40B4-BE49-F238E27FC236}">
                  <a16:creationId xmlns="" xmlns:a16="http://schemas.microsoft.com/office/drawing/2014/main" id="{C95AD9A4-5AF5-48C4-BC2A-635316433A45}"/>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sp>
        <p:sp>
          <p:nvSpPr>
            <p:cNvPr id="13" name="Oval 5">
              <a:extLst>
                <a:ext uri="{FF2B5EF4-FFF2-40B4-BE49-F238E27FC236}">
                  <a16:creationId xmlns="" xmlns:a16="http://schemas.microsoft.com/office/drawing/2014/main" id="{AF4A3D62-D56C-4A32-8C75-100D383EC615}"/>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sp>
      </p:grpSp>
      <p:sp useBgFill="1">
        <p:nvSpPr>
          <p:cNvPr id="15" name="Rectangle 14">
            <a:extLst>
              <a:ext uri="{FF2B5EF4-FFF2-40B4-BE49-F238E27FC236}">
                <a16:creationId xmlns="" xmlns:a16="http://schemas.microsoft.com/office/drawing/2014/main" id="{3E1F47E4-066D-4C27-98C8-B2B2C7BABFE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38772"/>
            <a:ext cx="12192000" cy="398045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8200" y="1760505"/>
            <a:ext cx="10515600" cy="935025"/>
          </a:xfrm>
        </p:spPr>
        <p:txBody>
          <a:bodyPr>
            <a:normAutofit/>
          </a:bodyPr>
          <a:lstStyle/>
          <a:p>
            <a:pPr algn="ctr"/>
            <a:r>
              <a:rPr lang="en-US" sz="4800">
                <a:solidFill>
                  <a:schemeClr val="tx2"/>
                </a:solidFill>
                <a:latin typeface="Abadi MT Condensed Extra Bold" charset="0"/>
                <a:ea typeface="Abadi MT Condensed Extra Bold" charset="0"/>
                <a:cs typeface="Abadi MT Condensed Extra Bold" charset="0"/>
              </a:rPr>
              <a:t>Alexander’s Death</a:t>
            </a:r>
          </a:p>
        </p:txBody>
      </p:sp>
      <p:sp>
        <p:nvSpPr>
          <p:cNvPr id="3" name="Content Placeholder 2"/>
          <p:cNvSpPr>
            <a:spLocks noGrp="1"/>
          </p:cNvSpPr>
          <p:nvPr>
            <p:ph idx="1"/>
          </p:nvPr>
        </p:nvSpPr>
        <p:spPr>
          <a:xfrm>
            <a:off x="2384952" y="3012928"/>
            <a:ext cx="7422096" cy="2109445"/>
          </a:xfrm>
        </p:spPr>
        <p:txBody>
          <a:bodyPr>
            <a:normAutofit fontScale="92500" lnSpcReduction="20000"/>
          </a:bodyPr>
          <a:lstStyle/>
          <a:p>
            <a:r>
              <a:rPr lang="en-US" sz="3200" dirty="0">
                <a:solidFill>
                  <a:schemeClr val="tx2"/>
                </a:solidFill>
                <a:latin typeface="Abadi MT Condensed Extra Bold" charset="0"/>
                <a:ea typeface="Abadi MT Condensed Extra Bold" charset="0"/>
                <a:cs typeface="Abadi MT Condensed Extra Bold" charset="0"/>
              </a:rPr>
              <a:t>Alexander died of a fever at 33</a:t>
            </a:r>
          </a:p>
          <a:p>
            <a:r>
              <a:rPr lang="en-US" sz="3200" dirty="0">
                <a:solidFill>
                  <a:schemeClr val="tx2"/>
                </a:solidFill>
                <a:latin typeface="Abadi MT Condensed Extra Bold" charset="0"/>
                <a:ea typeface="Abadi MT Condensed Extra Bold" charset="0"/>
                <a:cs typeface="Abadi MT Condensed Extra Bold" charset="0"/>
              </a:rPr>
              <a:t>Possible reports that he was had been plagued by several bad “omens” </a:t>
            </a:r>
          </a:p>
          <a:p>
            <a:r>
              <a:rPr lang="en-US" sz="3200" dirty="0">
                <a:solidFill>
                  <a:schemeClr val="tx2"/>
                </a:solidFill>
                <a:latin typeface="Abadi MT Condensed Extra Bold" charset="0"/>
                <a:ea typeface="Abadi MT Condensed Extra Bold" charset="0"/>
                <a:cs typeface="Abadi MT Condensed Extra Bold" charset="0"/>
              </a:rPr>
              <a:t>Some others from the time claimed Alexander was poisoned during the drinking binge</a:t>
            </a:r>
          </a:p>
          <a:p>
            <a:endParaRPr lang="en-US" sz="1800" dirty="0">
              <a:solidFill>
                <a:schemeClr val="tx2"/>
              </a:solidFill>
              <a:latin typeface="Abadi MT Condensed Extra Bold" charset="0"/>
              <a:ea typeface="Abadi MT Condensed Extra Bold" charset="0"/>
              <a:cs typeface="Abadi MT Condensed Extra Bold" charset="0"/>
            </a:endParaRPr>
          </a:p>
        </p:txBody>
      </p:sp>
    </p:spTree>
    <p:extLst>
      <p:ext uri="{BB962C8B-B14F-4D97-AF65-F5344CB8AC3E}">
        <p14:creationId xmlns:p14="http://schemas.microsoft.com/office/powerpoint/2010/main" val="148438865"/>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 xmlns:a16="http://schemas.microsoft.com/office/drawing/2014/main" id="{5B32A67F-3598-4A13-8552-DA884FFCCE5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560032" y="544777"/>
            <a:ext cx="4573475" cy="2076333"/>
          </a:xfrm>
        </p:spPr>
        <p:txBody>
          <a:bodyPr vert="horz" lIns="91440" tIns="45720" rIns="91440" bIns="45720" rtlCol="0" anchor="t">
            <a:noAutofit/>
          </a:bodyPr>
          <a:lstStyle/>
          <a:p>
            <a:r>
              <a:rPr lang="en-US" sz="3600" kern="1200" dirty="0" smtClean="0">
                <a:solidFill>
                  <a:schemeClr val="bg1"/>
                </a:solidFill>
                <a:latin typeface="Abadi MT Condensed Extra Bold" charset="0"/>
                <a:ea typeface="Abadi MT Condensed Extra Bold" charset="0"/>
                <a:cs typeface="Abadi MT Condensed Extra Bold" charset="0"/>
              </a:rPr>
              <a:t>Activity: </a:t>
            </a:r>
            <a:r>
              <a:rPr lang="en-US" sz="3600" kern="1200" dirty="0" smtClean="0">
                <a:solidFill>
                  <a:schemeClr val="bg1"/>
                </a:solidFill>
                <a:latin typeface="Abadi MT Condensed Extra Bold" charset="0"/>
                <a:ea typeface="Abadi MT Condensed Extra Bold" charset="0"/>
                <a:cs typeface="Abadi MT Condensed Extra Bold" charset="0"/>
              </a:rPr>
              <a:t/>
            </a:r>
            <a:br>
              <a:rPr lang="en-US" sz="3600" kern="1200" dirty="0" smtClean="0">
                <a:solidFill>
                  <a:schemeClr val="bg1"/>
                </a:solidFill>
                <a:latin typeface="Abadi MT Condensed Extra Bold" charset="0"/>
                <a:ea typeface="Abadi MT Condensed Extra Bold" charset="0"/>
                <a:cs typeface="Abadi MT Condensed Extra Bold" charset="0"/>
              </a:rPr>
            </a:br>
            <a:r>
              <a:rPr lang="en-US" sz="3600" dirty="0" smtClean="0">
                <a:solidFill>
                  <a:schemeClr val="bg1"/>
                </a:solidFill>
                <a:latin typeface="Abadi MT Condensed Extra Bold" charset="0"/>
                <a:ea typeface="Abadi MT Condensed Extra Bold" charset="0"/>
                <a:cs typeface="Abadi MT Condensed Extra Bold" charset="0"/>
              </a:rPr>
              <a:t>Using th</a:t>
            </a:r>
            <a:r>
              <a:rPr lang="en-US" sz="3600" dirty="0" smtClean="0">
                <a:solidFill>
                  <a:schemeClr val="bg1"/>
                </a:solidFill>
                <a:latin typeface="Abadi MT Condensed Extra Bold" charset="0"/>
                <a:ea typeface="Abadi MT Condensed Extra Bold" charset="0"/>
                <a:cs typeface="Abadi MT Condensed Extra Bold" charset="0"/>
              </a:rPr>
              <a:t>e template create a storyboard/comic strip of ATG’s life.</a:t>
            </a:r>
            <a:br>
              <a:rPr lang="en-US" sz="3600" dirty="0" smtClean="0">
                <a:solidFill>
                  <a:schemeClr val="bg1"/>
                </a:solidFill>
                <a:latin typeface="Abadi MT Condensed Extra Bold" charset="0"/>
                <a:ea typeface="Abadi MT Condensed Extra Bold" charset="0"/>
                <a:cs typeface="Abadi MT Condensed Extra Bold" charset="0"/>
              </a:rPr>
            </a:br>
            <a:r>
              <a:rPr lang="en-US" sz="3600" dirty="0">
                <a:solidFill>
                  <a:schemeClr val="bg1"/>
                </a:solidFill>
                <a:latin typeface="Abadi MT Condensed Extra Bold" charset="0"/>
                <a:ea typeface="Abadi MT Condensed Extra Bold" charset="0"/>
                <a:cs typeface="Abadi MT Condensed Extra Bold" charset="0"/>
              </a:rPr>
              <a:t/>
            </a:r>
            <a:br>
              <a:rPr lang="en-US" sz="3600" dirty="0">
                <a:solidFill>
                  <a:schemeClr val="bg1"/>
                </a:solidFill>
                <a:latin typeface="Abadi MT Condensed Extra Bold" charset="0"/>
                <a:ea typeface="Abadi MT Condensed Extra Bold" charset="0"/>
                <a:cs typeface="Abadi MT Condensed Extra Bold" charset="0"/>
              </a:rPr>
            </a:br>
            <a:r>
              <a:rPr lang="en-US" sz="3600" dirty="0" smtClean="0">
                <a:solidFill>
                  <a:schemeClr val="bg1"/>
                </a:solidFill>
                <a:latin typeface="Abadi MT Condensed Extra Bold" charset="0"/>
                <a:ea typeface="Abadi MT Condensed Extra Bold" charset="0"/>
                <a:cs typeface="Abadi MT Condensed Extra Bold" charset="0"/>
              </a:rPr>
              <a:t>If incomplete, this will become homework.</a:t>
            </a:r>
            <a:br>
              <a:rPr lang="en-US" sz="3600" dirty="0" smtClean="0">
                <a:solidFill>
                  <a:schemeClr val="bg1"/>
                </a:solidFill>
                <a:latin typeface="Abadi MT Condensed Extra Bold" charset="0"/>
                <a:ea typeface="Abadi MT Condensed Extra Bold" charset="0"/>
                <a:cs typeface="Abadi MT Condensed Extra Bold" charset="0"/>
              </a:rPr>
            </a:br>
            <a:r>
              <a:rPr lang="en-US" sz="3600" dirty="0">
                <a:solidFill>
                  <a:schemeClr val="bg1"/>
                </a:solidFill>
                <a:latin typeface="Abadi MT Condensed Extra Bold" charset="0"/>
                <a:ea typeface="Abadi MT Condensed Extra Bold" charset="0"/>
                <a:cs typeface="Abadi MT Condensed Extra Bold" charset="0"/>
              </a:rPr>
              <a:t/>
            </a:r>
            <a:br>
              <a:rPr lang="en-US" sz="3600" dirty="0">
                <a:solidFill>
                  <a:schemeClr val="bg1"/>
                </a:solidFill>
                <a:latin typeface="Abadi MT Condensed Extra Bold" charset="0"/>
                <a:ea typeface="Abadi MT Condensed Extra Bold" charset="0"/>
                <a:cs typeface="Abadi MT Condensed Extra Bold" charset="0"/>
              </a:rPr>
            </a:br>
            <a:r>
              <a:rPr lang="en-US" sz="3600" dirty="0" smtClean="0">
                <a:solidFill>
                  <a:schemeClr val="bg1"/>
                </a:solidFill>
                <a:latin typeface="Abadi MT Condensed Extra Bold" charset="0"/>
                <a:ea typeface="Abadi MT Condensed Extra Bold" charset="0"/>
                <a:cs typeface="Abadi MT Condensed Extra Bold" charset="0"/>
              </a:rPr>
              <a:t>NOTE: These will be displayed.</a:t>
            </a:r>
            <a:endParaRPr lang="en-US" sz="3600" kern="1200" dirty="0">
              <a:solidFill>
                <a:schemeClr val="bg1"/>
              </a:solidFill>
              <a:latin typeface="Abadi MT Condensed Extra Bold" charset="0"/>
              <a:ea typeface="Abadi MT Condensed Extra Bold" charset="0"/>
              <a:cs typeface="Abadi MT Condensed Extra Bold" charset="0"/>
            </a:endParaRPr>
          </a:p>
        </p:txBody>
      </p:sp>
      <p:sp>
        <p:nvSpPr>
          <p:cNvPr id="12" name="Freeform: Shape 11">
            <a:extLst>
              <a:ext uri="{FF2B5EF4-FFF2-40B4-BE49-F238E27FC236}">
                <a16:creationId xmlns="" xmlns:a16="http://schemas.microsoft.com/office/drawing/2014/main" id="{BCC55ACC-A2F6-403C-A3A4-D59B3734D45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857312" y="381000"/>
            <a:ext cx="6334689" cy="6477000"/>
          </a:xfrm>
          <a:custGeom>
            <a:avLst/>
            <a:gdLst>
              <a:gd name="connsiteX0" fmla="*/ 3561588 w 6334689"/>
              <a:gd name="connsiteY0" fmla="*/ 0 h 6477000"/>
              <a:gd name="connsiteX1" fmla="*/ 6309883 w 6334689"/>
              <a:gd name="connsiteY1" fmla="*/ 1296087 h 6477000"/>
              <a:gd name="connsiteX2" fmla="*/ 6334689 w 6334689"/>
              <a:gd name="connsiteY2" fmla="*/ 1329261 h 6477000"/>
              <a:gd name="connsiteX3" fmla="*/ 6334689 w 6334689"/>
              <a:gd name="connsiteY3" fmla="*/ 5793916 h 6477000"/>
              <a:gd name="connsiteX4" fmla="*/ 6309883 w 6334689"/>
              <a:gd name="connsiteY4" fmla="*/ 5827089 h 6477000"/>
              <a:gd name="connsiteX5" fmla="*/ 5760467 w 6334689"/>
              <a:gd name="connsiteY5" fmla="*/ 6363539 h 6477000"/>
              <a:gd name="connsiteX6" fmla="*/ 5607796 w 6334689"/>
              <a:gd name="connsiteY6" fmla="*/ 6477000 h 6477000"/>
              <a:gd name="connsiteX7" fmla="*/ 1519571 w 6334689"/>
              <a:gd name="connsiteY7" fmla="*/ 6477000 h 6477000"/>
              <a:gd name="connsiteX8" fmla="*/ 1296088 w 6334689"/>
              <a:gd name="connsiteY8" fmla="*/ 6309883 h 6477000"/>
              <a:gd name="connsiteX9" fmla="*/ 0 w 6334689"/>
              <a:gd name="connsiteY9" fmla="*/ 3561588 h 6477000"/>
              <a:gd name="connsiteX10" fmla="*/ 3561588 w 6334689"/>
              <a:gd name="connsiteY10" fmla="*/ 0 h 647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4689" h="6477000">
                <a:moveTo>
                  <a:pt x="3561588" y="0"/>
                </a:moveTo>
                <a:cubicBezTo>
                  <a:pt x="4668032" y="0"/>
                  <a:pt x="5656635" y="504534"/>
                  <a:pt x="6309883" y="1296087"/>
                </a:cubicBezTo>
                <a:lnTo>
                  <a:pt x="6334689" y="1329261"/>
                </a:lnTo>
                <a:lnTo>
                  <a:pt x="6334689" y="5793916"/>
                </a:lnTo>
                <a:lnTo>
                  <a:pt x="6309883" y="5827089"/>
                </a:lnTo>
                <a:cubicBezTo>
                  <a:pt x="6146571" y="6024977"/>
                  <a:pt x="5962299" y="6204927"/>
                  <a:pt x="5760467" y="6363539"/>
                </a:cubicBezTo>
                <a:lnTo>
                  <a:pt x="5607796" y="6477000"/>
                </a:lnTo>
                <a:lnTo>
                  <a:pt x="1519571" y="6477000"/>
                </a:lnTo>
                <a:lnTo>
                  <a:pt x="1296088" y="6309883"/>
                </a:lnTo>
                <a:cubicBezTo>
                  <a:pt x="504535" y="5656635"/>
                  <a:pt x="0" y="4668032"/>
                  <a:pt x="0" y="3561588"/>
                </a:cubicBezTo>
                <a:cubicBezTo>
                  <a:pt x="0" y="1594577"/>
                  <a:pt x="1594577" y="0"/>
                  <a:pt x="3561588" y="0"/>
                </a:cubicBez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 xmlns:a16="http://schemas.microsoft.com/office/drawing/2014/main" id="{598EBA13-C937-430B-9523-439FE21096E6}"/>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21086" y="544777"/>
            <a:ext cx="6170914" cy="6313225"/>
          </a:xfrm>
          <a:custGeom>
            <a:avLst/>
            <a:gdLst>
              <a:gd name="connsiteX0" fmla="*/ 3397813 w 6170914"/>
              <a:gd name="connsiteY0" fmla="*/ 0 h 6313225"/>
              <a:gd name="connsiteX1" fmla="*/ 6019731 w 6170914"/>
              <a:gd name="connsiteY1" fmla="*/ 1236489 h 6313225"/>
              <a:gd name="connsiteX2" fmla="*/ 6170914 w 6170914"/>
              <a:gd name="connsiteY2" fmla="*/ 1438663 h 6313225"/>
              <a:gd name="connsiteX3" fmla="*/ 6170914 w 6170914"/>
              <a:gd name="connsiteY3" fmla="*/ 5356963 h 6313225"/>
              <a:gd name="connsiteX4" fmla="*/ 6019731 w 6170914"/>
              <a:gd name="connsiteY4" fmla="*/ 5559138 h 6313225"/>
              <a:gd name="connsiteX5" fmla="*/ 5194591 w 6170914"/>
              <a:gd name="connsiteY5" fmla="*/ 6282226 h 6313225"/>
              <a:gd name="connsiteX6" fmla="*/ 5141791 w 6170914"/>
              <a:gd name="connsiteY6" fmla="*/ 6313225 h 6313225"/>
              <a:gd name="connsiteX7" fmla="*/ 1659199 w 6170914"/>
              <a:gd name="connsiteY7" fmla="*/ 6313225 h 6313225"/>
              <a:gd name="connsiteX8" fmla="*/ 1498064 w 6170914"/>
              <a:gd name="connsiteY8" fmla="*/ 6215333 h 6313225"/>
              <a:gd name="connsiteX9" fmla="*/ 0 w 6170914"/>
              <a:gd name="connsiteY9" fmla="*/ 3397813 h 6313225"/>
              <a:gd name="connsiteX10" fmla="*/ 3397813 w 6170914"/>
              <a:gd name="connsiteY10" fmla="*/ 0 h 6313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170914" h="6313225">
                <a:moveTo>
                  <a:pt x="3397813" y="0"/>
                </a:moveTo>
                <a:cubicBezTo>
                  <a:pt x="4453378" y="0"/>
                  <a:pt x="5396522" y="481334"/>
                  <a:pt x="6019731" y="1236489"/>
                </a:cubicBezTo>
                <a:lnTo>
                  <a:pt x="6170914" y="1438663"/>
                </a:lnTo>
                <a:lnTo>
                  <a:pt x="6170914" y="5356963"/>
                </a:lnTo>
                <a:lnTo>
                  <a:pt x="6019731" y="5559138"/>
                </a:lnTo>
                <a:cubicBezTo>
                  <a:pt x="5786028" y="5842321"/>
                  <a:pt x="5507333" y="6086998"/>
                  <a:pt x="5194591" y="6282226"/>
                </a:cubicBezTo>
                <a:lnTo>
                  <a:pt x="5141791" y="6313225"/>
                </a:lnTo>
                <a:lnTo>
                  <a:pt x="1659199" y="6313225"/>
                </a:lnTo>
                <a:lnTo>
                  <a:pt x="1498064" y="6215333"/>
                </a:lnTo>
                <a:cubicBezTo>
                  <a:pt x="594240" y="5604721"/>
                  <a:pt x="0" y="4570663"/>
                  <a:pt x="0" y="3397813"/>
                </a:cubicBezTo>
                <a:cubicBezTo>
                  <a:pt x="0" y="1521253"/>
                  <a:pt x="1521253" y="0"/>
                  <a:pt x="3397813"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Pencil">
            <a:extLst>
              <a:ext uri="{FF2B5EF4-FFF2-40B4-BE49-F238E27FC236}">
                <a16:creationId xmlns="" xmlns:a16="http://schemas.microsoft.com/office/drawing/2014/main" id="{DA658CE4-342A-41D1-80D4-1FCD8436E39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a:off x="7210424" y="1845770"/>
            <a:ext cx="4333875" cy="4333875"/>
          </a:xfrm>
          <a:prstGeom prst="rect">
            <a:avLst/>
          </a:prstGeom>
        </p:spPr>
      </p:pic>
    </p:spTree>
    <p:extLst>
      <p:ext uri="{BB962C8B-B14F-4D97-AF65-F5344CB8AC3E}">
        <p14:creationId xmlns:p14="http://schemas.microsoft.com/office/powerpoint/2010/main" val="1131359516"/>
      </p:ext>
    </p:extLst>
  </p:cSld>
  <p:clrMapOvr>
    <a:masterClrMapping/>
  </p:clrMapOvr>
</p:sld>
</file>

<file path=ppt/theme/theme1.xml><?xml version="1.0" encoding="utf-8"?>
<a:theme xmlns:a="http://schemas.openxmlformats.org/drawingml/2006/main" name="Office Theme">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148</TotalTime>
  <Words>290</Words>
  <Application>Microsoft Macintosh PowerPoint</Application>
  <PresentationFormat>Widescreen</PresentationFormat>
  <Paragraphs>33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Abadi MT Condensed Extra Bold</vt:lpstr>
      <vt:lpstr>Arial</vt:lpstr>
      <vt:lpstr>Calibri</vt:lpstr>
      <vt:lpstr>Calibri Light</vt:lpstr>
      <vt:lpstr>Office Theme</vt:lpstr>
      <vt:lpstr>Expansion Overview</vt:lpstr>
      <vt:lpstr>Why ‘The Great’?  In ten years,  Alexander of Macedonia created the largest empire in the world up to that time Alexander spread Greek culture, ensuring cultural diffusion and the survival of the qualities of classical Greece </vt:lpstr>
      <vt:lpstr>What does this map teach you about ATG’s empire?</vt:lpstr>
      <vt:lpstr>Securing/Expanding an Empire</vt:lpstr>
      <vt:lpstr>PowerPoint Presentation</vt:lpstr>
      <vt:lpstr>Limits and Retreat</vt:lpstr>
      <vt:lpstr>Securing a Legacy</vt:lpstr>
      <vt:lpstr>Alexander’s Death</vt:lpstr>
      <vt:lpstr>Activity:  Using the template create a storyboard/comic strip of ATG’s life.  If incomplete, this will become homework.  NOTE: These will be displayed.</vt:lpstr>
    </vt:vector>
  </TitlesOfParts>
  <Company/>
  <LinksUpToDate>false</LinksUpToDate>
  <SharedDoc>false</SharedDoc>
  <HyperlinksChanged>false</HyperlinksChanged>
  <AppVersion>15.0035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Expansion Overview</dc:title>
  <dc:creator>BARRIE Lauren [Byford Secondary College]</dc:creator>
  <cp:lastModifiedBy>BARRIE Lauren [Byford Secondary College]</cp:lastModifiedBy>
  <cp:revision>15</cp:revision>
  <dcterms:created xsi:type="dcterms:W3CDTF">2020-06-16T02:47:21Z</dcterms:created>
  <dcterms:modified xsi:type="dcterms:W3CDTF">2020-06-19T01:47:26Z</dcterms:modified>
</cp:coreProperties>
</file>
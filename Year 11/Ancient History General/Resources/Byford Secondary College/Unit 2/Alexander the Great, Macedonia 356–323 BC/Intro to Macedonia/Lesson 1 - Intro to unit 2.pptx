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0" r:id="rId12"/>
    <p:sldId id="267" r:id="rId13"/>
    <p:sldId id="271" r:id="rId14"/>
    <p:sldId id="266" r:id="rId15"/>
    <p:sldId id="27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77"/>
    <p:restoredTop sz="93902"/>
  </p:normalViewPr>
  <p:slideViewPr>
    <p:cSldViewPr snapToGrid="0" snapToObjects="1">
      <p:cViewPr varScale="1">
        <p:scale>
          <a:sx n="93" d="100"/>
          <a:sy n="93" d="100"/>
        </p:scale>
        <p:origin x="216"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0060D-6CE4-BB4C-92B2-D36B1CDB1D2F}" type="datetimeFigureOut">
              <a:rPr lang="en-US" smtClean="0"/>
              <a:t>6/2/20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88A79-161F-8043-9A88-A5E4A8EA77A6}" type="slidenum">
              <a:rPr lang="en-US" smtClean="0"/>
              <a:t>‹#›</a:t>
            </a:fld>
            <a:endParaRPr lang="en-US"/>
          </a:p>
        </p:txBody>
      </p:sp>
    </p:spTree>
    <p:extLst>
      <p:ext uri="{BB962C8B-B14F-4D97-AF65-F5344CB8AC3E}">
        <p14:creationId xmlns:p14="http://schemas.microsoft.com/office/powerpoint/2010/main" val="111723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6/2/20</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6/2/20</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6/2/20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6/2/20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6/2/20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6/2/20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6/2/20</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6/2/20</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6/2/20</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3cHA56C9Eq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Power in the ancient world</a:t>
            </a:r>
            <a:endParaRPr lang="en-US" dirty="0"/>
          </a:p>
        </p:txBody>
      </p:sp>
      <p:sp>
        <p:nvSpPr>
          <p:cNvPr id="3" name="Subtitle 2"/>
          <p:cNvSpPr>
            <a:spLocks noGrp="1"/>
          </p:cNvSpPr>
          <p:nvPr>
            <p:ph type="subTitle" idx="1"/>
          </p:nvPr>
        </p:nvSpPr>
        <p:spPr/>
        <p:txBody>
          <a:bodyPr>
            <a:normAutofit lnSpcReduction="10000"/>
          </a:bodyPr>
          <a:lstStyle/>
          <a:p>
            <a:r>
              <a:rPr lang="en-US" dirty="0" smtClean="0"/>
              <a:t>Year 11 Ancient History</a:t>
            </a:r>
          </a:p>
          <a:p>
            <a:r>
              <a:rPr lang="en-US" dirty="0" smtClean="0"/>
              <a:t>Unit 1, Week 1: Lesson 1</a:t>
            </a:r>
            <a:endParaRPr lang="en-US" dirty="0"/>
          </a:p>
        </p:txBody>
      </p:sp>
    </p:spTree>
    <p:extLst>
      <p:ext uri="{BB962C8B-B14F-4D97-AF65-F5344CB8AC3E}">
        <p14:creationId xmlns:p14="http://schemas.microsoft.com/office/powerpoint/2010/main" val="310687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Use connect</a:t>
            </a:r>
            <a:endParaRPr lang="en-US" dirty="0"/>
          </a:p>
        </p:txBody>
      </p:sp>
      <p:sp>
        <p:nvSpPr>
          <p:cNvPr id="3" name="Content Placeholder 2"/>
          <p:cNvSpPr>
            <a:spLocks noGrp="1"/>
          </p:cNvSpPr>
          <p:nvPr>
            <p:ph idx="1"/>
          </p:nvPr>
        </p:nvSpPr>
        <p:spPr>
          <a:xfrm>
            <a:off x="1251678" y="1236133"/>
            <a:ext cx="10178322" cy="4643459"/>
          </a:xfrm>
        </p:spPr>
        <p:txBody>
          <a:bodyPr>
            <a:noAutofit/>
          </a:bodyPr>
          <a:lstStyle/>
          <a:p>
            <a:r>
              <a:rPr lang="en-US" sz="3600" smtClean="0"/>
              <a:t>The following will be found on our Connect Page:</a:t>
            </a:r>
          </a:p>
          <a:p>
            <a:r>
              <a:rPr lang="en-US" sz="3600" smtClean="0"/>
              <a:t>Unit 2 Program </a:t>
            </a:r>
          </a:p>
          <a:p>
            <a:r>
              <a:rPr lang="en-US" sz="3600" smtClean="0"/>
              <a:t>Course content - uploaded each week</a:t>
            </a:r>
          </a:p>
          <a:p>
            <a:r>
              <a:rPr lang="en-US" sz="3600" smtClean="0"/>
              <a:t>Extra Resources/revision material</a:t>
            </a:r>
            <a:br>
              <a:rPr lang="en-US" sz="3600" smtClean="0"/>
            </a:br>
            <a:r>
              <a:rPr lang="en-US" sz="3600" smtClean="0"/>
              <a:t/>
            </a:r>
            <a:br>
              <a:rPr lang="en-US" sz="3600" smtClean="0"/>
            </a:br>
            <a:r>
              <a:rPr lang="en-US" sz="3600" smtClean="0"/>
              <a:t/>
            </a:r>
            <a:br>
              <a:rPr lang="en-US" sz="3600" smtClean="0"/>
            </a:br>
            <a:r>
              <a:rPr lang="en-US" sz="3600" smtClean="0"/>
              <a:t/>
            </a:r>
            <a:br>
              <a:rPr lang="en-US" sz="3600" smtClean="0"/>
            </a:br>
            <a:r>
              <a:rPr lang="en-US" sz="3600" smtClean="0"/>
              <a:t>No surprises!</a:t>
            </a:r>
            <a:endParaRPr lang="en-US" sz="3600" dirty="0"/>
          </a:p>
        </p:txBody>
      </p:sp>
      <p:pic>
        <p:nvPicPr>
          <p:cNvPr id="4" name="Picture 3"/>
          <p:cNvPicPr>
            <a:picLocks noChangeAspect="1"/>
          </p:cNvPicPr>
          <p:nvPr/>
        </p:nvPicPr>
        <p:blipFill>
          <a:blip r:embed="rId2"/>
          <a:stretch>
            <a:fillRect/>
          </a:stretch>
        </p:blipFill>
        <p:spPr>
          <a:xfrm>
            <a:off x="9199033" y="3952040"/>
            <a:ext cx="2768600" cy="2781300"/>
          </a:xfrm>
          <a:prstGeom prst="rect">
            <a:avLst/>
          </a:prstGeom>
        </p:spPr>
      </p:pic>
    </p:spTree>
    <p:extLst>
      <p:ext uri="{BB962C8B-B14F-4D97-AF65-F5344CB8AC3E}">
        <p14:creationId xmlns:p14="http://schemas.microsoft.com/office/powerpoint/2010/main" val="181138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2 Program</a:t>
            </a:r>
            <a:endParaRPr lang="en-US" dirty="0"/>
          </a:p>
        </p:txBody>
      </p:sp>
      <p:sp>
        <p:nvSpPr>
          <p:cNvPr id="3" name="Text Placeholder 2"/>
          <p:cNvSpPr>
            <a:spLocks noGrp="1"/>
          </p:cNvSpPr>
          <p:nvPr>
            <p:ph type="body" idx="1"/>
          </p:nvPr>
        </p:nvSpPr>
        <p:spPr/>
        <p:txBody>
          <a:bodyPr/>
          <a:lstStyle/>
          <a:p>
            <a:r>
              <a:rPr lang="en-US" dirty="0" smtClean="0"/>
              <a:t>Ensure you keep this!</a:t>
            </a:r>
            <a:endParaRPr lang="en-US" dirty="0"/>
          </a:p>
        </p:txBody>
      </p:sp>
    </p:spTree>
    <p:extLst>
      <p:ext uri="{BB962C8B-B14F-4D97-AF65-F5344CB8AC3E}">
        <p14:creationId xmlns:p14="http://schemas.microsoft.com/office/powerpoint/2010/main" val="1837252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2: power in the ancient world</a:t>
            </a:r>
            <a:endParaRPr lang="en-US" dirty="0"/>
          </a:p>
        </p:txBody>
      </p:sp>
      <p:sp>
        <p:nvSpPr>
          <p:cNvPr id="3" name="Content Placeholder 2"/>
          <p:cNvSpPr>
            <a:spLocks noGrp="1"/>
          </p:cNvSpPr>
          <p:nvPr>
            <p:ph idx="1"/>
          </p:nvPr>
        </p:nvSpPr>
        <p:spPr>
          <a:xfrm>
            <a:off x="1251678" y="1874517"/>
            <a:ext cx="10178322" cy="4809066"/>
          </a:xfrm>
        </p:spPr>
        <p:txBody>
          <a:bodyPr/>
          <a:lstStyle/>
          <a:p>
            <a:pPr marL="0" indent="0" algn="ctr">
              <a:buNone/>
            </a:pPr>
            <a:r>
              <a:rPr lang="en-US" sz="2800" b="1" dirty="0"/>
              <a:t>Alexander the Great, Macedonia, 356 - 323BCE</a:t>
            </a:r>
            <a:br>
              <a:rPr lang="en-US" sz="2800" b="1" dirty="0"/>
            </a:br>
            <a:r>
              <a:rPr lang="en-US" sz="2800" b="1" dirty="0"/>
              <a:t>Julius Caesar, Rome, 100-44BCE</a:t>
            </a:r>
            <a:endParaRPr lang="en-US" sz="2800" dirty="0"/>
          </a:p>
          <a:p>
            <a:r>
              <a:rPr lang="en-US" sz="2400" dirty="0"/>
              <a:t>In this unit, students learn that, in ancient societies, </a:t>
            </a:r>
            <a:r>
              <a:rPr lang="en-US" sz="2400" u="sng" dirty="0"/>
              <a:t>key individuals</a:t>
            </a:r>
            <a:r>
              <a:rPr lang="en-US" sz="2400" dirty="0"/>
              <a:t> have acted as </a:t>
            </a:r>
            <a:r>
              <a:rPr lang="en-US" sz="2400" u="sng" dirty="0"/>
              <a:t>agents of change</a:t>
            </a:r>
            <a:r>
              <a:rPr lang="en-US" sz="2400" dirty="0"/>
              <a:t>, interacting with groups and institutions, and </a:t>
            </a:r>
            <a:r>
              <a:rPr lang="en-US" sz="2400" u="sng" dirty="0"/>
              <a:t>using their power to shape their society.</a:t>
            </a:r>
            <a:r>
              <a:rPr lang="en-US" sz="2400" dirty="0"/>
              <a:t> </a:t>
            </a:r>
          </a:p>
          <a:p>
            <a:r>
              <a:rPr lang="en-US" sz="2400" dirty="0"/>
              <a:t>They investigate key individuals’ </a:t>
            </a:r>
            <a:r>
              <a:rPr lang="en-US" sz="2400" u="sng" dirty="0"/>
              <a:t>motives</a:t>
            </a:r>
            <a:r>
              <a:rPr lang="en-US" sz="2400" dirty="0"/>
              <a:t>, the </a:t>
            </a:r>
            <a:r>
              <a:rPr lang="en-US" sz="2400" u="sng" dirty="0"/>
              <a:t>methods</a:t>
            </a:r>
            <a:r>
              <a:rPr lang="en-US" sz="2400" dirty="0"/>
              <a:t> they used to achieve power, the </a:t>
            </a:r>
            <a:r>
              <a:rPr lang="en-US" sz="2400" u="sng" dirty="0"/>
              <a:t>ways</a:t>
            </a:r>
            <a:r>
              <a:rPr lang="en-US" sz="2400" dirty="0"/>
              <a:t> they used their power, the </a:t>
            </a:r>
            <a:r>
              <a:rPr lang="en-US" sz="2400" u="sng" dirty="0"/>
              <a:t>responses</a:t>
            </a:r>
            <a:r>
              <a:rPr lang="en-US" sz="2400" dirty="0"/>
              <a:t> of others to their use of power, and their </a:t>
            </a:r>
            <a:r>
              <a:rPr lang="en-US" sz="2400" u="sng" dirty="0"/>
              <a:t>impact and influence</a:t>
            </a:r>
            <a:r>
              <a:rPr lang="en-US" sz="2400" dirty="0"/>
              <a:t> on society. </a:t>
            </a:r>
          </a:p>
          <a:p>
            <a:r>
              <a:rPr lang="en-US" sz="2400" dirty="0"/>
              <a:t>Students also learn that individuals, groups, and institutions have a </a:t>
            </a:r>
            <a:r>
              <a:rPr lang="en-US" sz="2400" u="sng" dirty="0"/>
              <a:t>variety types of power</a:t>
            </a:r>
            <a:r>
              <a:rPr lang="en-US" sz="2400" dirty="0"/>
              <a:t>, and that power is </a:t>
            </a:r>
            <a:r>
              <a:rPr lang="en-US" sz="2400" u="sng" dirty="0"/>
              <a:t>not distributed evenly </a:t>
            </a:r>
            <a:r>
              <a:rPr lang="en-US" sz="2400" dirty="0"/>
              <a:t>throughout the society.</a:t>
            </a:r>
          </a:p>
          <a:p>
            <a:endParaRPr lang="en-US" dirty="0"/>
          </a:p>
        </p:txBody>
      </p:sp>
    </p:spTree>
    <p:extLst>
      <p:ext uri="{BB962C8B-B14F-4D97-AF65-F5344CB8AC3E}">
        <p14:creationId xmlns:p14="http://schemas.microsoft.com/office/powerpoint/2010/main" val="1507508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8545019"/>
              </p:ext>
            </p:extLst>
          </p:nvPr>
        </p:nvGraphicFramePr>
        <p:xfrm>
          <a:off x="1287721" y="241203"/>
          <a:ext cx="10418727" cy="6244656"/>
        </p:xfrm>
        <a:graphic>
          <a:graphicData uri="http://schemas.openxmlformats.org/drawingml/2006/table">
            <a:tbl>
              <a:tblPr firstRow="1" bandRow="1">
                <a:tableStyleId>{5C22544A-7EE6-4342-B048-85BDC9FD1C3A}</a:tableStyleId>
              </a:tblPr>
              <a:tblGrid>
                <a:gridCol w="1106990"/>
                <a:gridCol w="5838828"/>
                <a:gridCol w="3472909"/>
              </a:tblGrid>
              <a:tr h="780582">
                <a:tc>
                  <a:txBody>
                    <a:bodyPr/>
                    <a:lstStyle/>
                    <a:p>
                      <a:pPr algn="ctr"/>
                      <a:r>
                        <a:rPr lang="en-US" sz="2400" dirty="0" smtClean="0"/>
                        <a:t>Week</a:t>
                      </a:r>
                      <a:endParaRPr lang="en-US" sz="2400" dirty="0"/>
                    </a:p>
                  </a:txBody>
                  <a:tcPr/>
                </a:tc>
                <a:tc>
                  <a:txBody>
                    <a:bodyPr/>
                    <a:lstStyle/>
                    <a:p>
                      <a:pPr algn="ctr"/>
                      <a:r>
                        <a:rPr lang="en-US" sz="2400" dirty="0" smtClean="0"/>
                        <a:t>Content</a:t>
                      </a:r>
                      <a:endParaRPr lang="en-US" sz="2400" dirty="0"/>
                    </a:p>
                  </a:txBody>
                  <a:tcPr/>
                </a:tc>
                <a:tc>
                  <a:txBody>
                    <a:bodyPr/>
                    <a:lstStyle/>
                    <a:p>
                      <a:pPr algn="ctr"/>
                      <a:r>
                        <a:rPr lang="en-US" sz="2400" dirty="0" smtClean="0"/>
                        <a:t>Assessment/s</a:t>
                      </a:r>
                      <a:endParaRPr lang="en-US" sz="2400" dirty="0"/>
                    </a:p>
                  </a:txBody>
                  <a:tcPr/>
                </a:tc>
              </a:tr>
              <a:tr h="780582">
                <a:tc>
                  <a:txBody>
                    <a:bodyPr/>
                    <a:lstStyle/>
                    <a:p>
                      <a:pPr algn="ctr"/>
                      <a:r>
                        <a:rPr lang="en-US" sz="2400" dirty="0" smtClean="0"/>
                        <a:t>1</a:t>
                      </a:r>
                      <a:endParaRPr lang="en-US" sz="2400" dirty="0"/>
                    </a:p>
                  </a:txBody>
                  <a:tcPr/>
                </a:tc>
                <a:tc>
                  <a:txBody>
                    <a:bodyPr/>
                    <a:lstStyle/>
                    <a:p>
                      <a:pPr algn="ctr"/>
                      <a:r>
                        <a:rPr lang="en-US" sz="2400" dirty="0" smtClean="0"/>
                        <a:t>Macedonia</a:t>
                      </a:r>
                      <a:r>
                        <a:rPr lang="en-US" sz="2400" baseline="0" dirty="0" smtClean="0"/>
                        <a:t> Overview</a:t>
                      </a:r>
                      <a:endParaRPr lang="en-US" sz="2400" dirty="0"/>
                    </a:p>
                  </a:txBody>
                  <a:tcPr/>
                </a:tc>
                <a:tc>
                  <a:txBody>
                    <a:bodyPr/>
                    <a:lstStyle/>
                    <a:p>
                      <a:pPr algn="ctr"/>
                      <a:endParaRPr lang="en-US" sz="2400"/>
                    </a:p>
                  </a:txBody>
                  <a:tcPr/>
                </a:tc>
              </a:tr>
              <a:tr h="780582">
                <a:tc>
                  <a:txBody>
                    <a:bodyPr/>
                    <a:lstStyle/>
                    <a:p>
                      <a:pPr algn="ctr"/>
                      <a:r>
                        <a:rPr lang="en-US" sz="2400" dirty="0" smtClean="0"/>
                        <a:t>2</a:t>
                      </a:r>
                      <a:r>
                        <a:rPr lang="en-US" sz="2400" baseline="0" dirty="0" smtClean="0"/>
                        <a:t> - 5</a:t>
                      </a:r>
                      <a:endParaRPr lang="en-US" sz="2400" dirty="0"/>
                    </a:p>
                  </a:txBody>
                  <a:tcPr/>
                </a:tc>
                <a:tc>
                  <a:txBody>
                    <a:bodyPr/>
                    <a:lstStyle/>
                    <a:p>
                      <a:pPr algn="ctr"/>
                      <a:r>
                        <a:rPr lang="en-US" sz="2400" dirty="0" smtClean="0"/>
                        <a:t>Alexander</a:t>
                      </a:r>
                      <a:r>
                        <a:rPr lang="en-US" sz="2400" baseline="0" dirty="0" smtClean="0"/>
                        <a:t> the Great</a:t>
                      </a:r>
                      <a:endParaRPr lang="en-US" sz="2400" dirty="0"/>
                    </a:p>
                  </a:txBody>
                  <a:tcPr/>
                </a:tc>
                <a:tc>
                  <a:txBody>
                    <a:bodyPr/>
                    <a:lstStyle/>
                    <a:p>
                      <a:pPr algn="ctr"/>
                      <a:r>
                        <a:rPr lang="en-US" sz="2400" dirty="0" smtClean="0"/>
                        <a:t>T6:</a:t>
                      </a:r>
                      <a:r>
                        <a:rPr lang="en-US" sz="2400" baseline="0" dirty="0" smtClean="0"/>
                        <a:t> Source Analysis</a:t>
                      </a:r>
                      <a:endParaRPr lang="en-US" sz="2400" dirty="0"/>
                    </a:p>
                  </a:txBody>
                  <a:tcPr/>
                </a:tc>
              </a:tr>
              <a:tr h="780582">
                <a:tc>
                  <a:txBody>
                    <a:bodyPr/>
                    <a:lstStyle/>
                    <a:p>
                      <a:pPr algn="ctr"/>
                      <a:r>
                        <a:rPr lang="en-US" sz="2400" dirty="0" smtClean="0"/>
                        <a:t>6 - 7</a:t>
                      </a:r>
                      <a:endParaRPr lang="en-US" sz="2400" dirty="0"/>
                    </a:p>
                  </a:txBody>
                  <a:tcPr/>
                </a:tc>
                <a:tc>
                  <a:txBody>
                    <a:bodyPr/>
                    <a:lstStyle/>
                    <a:p>
                      <a:pPr algn="ctr"/>
                      <a:r>
                        <a:rPr lang="en-US" sz="2400" dirty="0" smtClean="0"/>
                        <a:t>Representations of ATG</a:t>
                      </a:r>
                      <a:endParaRPr lang="en-US" sz="2400" dirty="0"/>
                    </a:p>
                  </a:txBody>
                  <a:tcPr/>
                </a:tc>
                <a:tc>
                  <a:txBody>
                    <a:bodyPr/>
                    <a:lstStyle/>
                    <a:p>
                      <a:pPr algn="ctr"/>
                      <a:r>
                        <a:rPr lang="en-US" sz="2400" dirty="0" smtClean="0"/>
                        <a:t>T7:</a:t>
                      </a:r>
                      <a:r>
                        <a:rPr lang="en-US" sz="2400" baseline="0" dirty="0" smtClean="0"/>
                        <a:t> Test</a:t>
                      </a:r>
                      <a:endParaRPr lang="en-US" sz="2400" dirty="0"/>
                    </a:p>
                  </a:txBody>
                  <a:tcPr/>
                </a:tc>
              </a:tr>
              <a:tr h="780582">
                <a:tc>
                  <a:txBody>
                    <a:bodyPr/>
                    <a:lstStyle/>
                    <a:p>
                      <a:pPr algn="ctr"/>
                      <a:r>
                        <a:rPr lang="en-US" sz="2400" dirty="0" smtClean="0"/>
                        <a:t>8</a:t>
                      </a:r>
                      <a:endParaRPr lang="en-US" sz="2400" dirty="0"/>
                    </a:p>
                  </a:txBody>
                  <a:tcPr/>
                </a:tc>
                <a:tc>
                  <a:txBody>
                    <a:bodyPr/>
                    <a:lstStyle/>
                    <a:p>
                      <a:pPr algn="ctr"/>
                      <a:r>
                        <a:rPr lang="en-US" sz="2400" dirty="0" smtClean="0"/>
                        <a:t>Rome Overview</a:t>
                      </a:r>
                      <a:endParaRPr lang="en-US" sz="2400" dirty="0"/>
                    </a:p>
                  </a:txBody>
                  <a:tcPr/>
                </a:tc>
                <a:tc>
                  <a:txBody>
                    <a:bodyPr/>
                    <a:lstStyle/>
                    <a:p>
                      <a:pPr algn="ctr"/>
                      <a:endParaRPr lang="en-US" sz="2400"/>
                    </a:p>
                  </a:txBody>
                  <a:tcPr/>
                </a:tc>
              </a:tr>
              <a:tr h="780582">
                <a:tc>
                  <a:txBody>
                    <a:bodyPr/>
                    <a:lstStyle/>
                    <a:p>
                      <a:pPr algn="ctr"/>
                      <a:r>
                        <a:rPr lang="en-US" sz="2400" dirty="0" smtClean="0"/>
                        <a:t>9 </a:t>
                      </a:r>
                      <a:r>
                        <a:rPr lang="en-US" sz="2400" baseline="0" dirty="0" smtClean="0"/>
                        <a:t> - 12</a:t>
                      </a:r>
                      <a:endParaRPr lang="en-US" sz="2400" dirty="0"/>
                    </a:p>
                  </a:txBody>
                  <a:tcPr/>
                </a:tc>
                <a:tc>
                  <a:txBody>
                    <a:bodyPr/>
                    <a:lstStyle/>
                    <a:p>
                      <a:pPr algn="ctr"/>
                      <a:r>
                        <a:rPr lang="en-US" sz="2400" dirty="0" smtClean="0"/>
                        <a:t>Julius Caesar</a:t>
                      </a:r>
                      <a:endParaRPr lang="en-US" sz="2400" dirty="0"/>
                    </a:p>
                  </a:txBody>
                  <a:tcPr/>
                </a:tc>
                <a:tc>
                  <a:txBody>
                    <a:bodyPr/>
                    <a:lstStyle/>
                    <a:p>
                      <a:pPr algn="ctr"/>
                      <a:r>
                        <a:rPr lang="en-US" sz="2400" dirty="0" smtClean="0"/>
                        <a:t>T8: Essay/Explanation</a:t>
                      </a:r>
                      <a:endParaRPr lang="en-US" sz="2400" dirty="0"/>
                    </a:p>
                  </a:txBody>
                  <a:tcPr/>
                </a:tc>
              </a:tr>
              <a:tr h="780582">
                <a:tc>
                  <a:txBody>
                    <a:bodyPr/>
                    <a:lstStyle/>
                    <a:p>
                      <a:pPr algn="ctr"/>
                      <a:r>
                        <a:rPr lang="en-US" sz="2400" dirty="0" smtClean="0"/>
                        <a:t>13</a:t>
                      </a:r>
                      <a:endParaRPr lang="en-US" sz="2400" dirty="0"/>
                    </a:p>
                  </a:txBody>
                  <a:tcPr/>
                </a:tc>
                <a:tc>
                  <a:txBody>
                    <a:bodyPr/>
                    <a:lstStyle/>
                    <a:p>
                      <a:pPr algn="ctr"/>
                      <a:r>
                        <a:rPr lang="en-US" sz="2400" dirty="0" smtClean="0"/>
                        <a:t>Representations</a:t>
                      </a:r>
                      <a:r>
                        <a:rPr lang="en-US" sz="2400" baseline="0" dirty="0" smtClean="0"/>
                        <a:t> of Caesar</a:t>
                      </a:r>
                      <a:endParaRPr lang="en-US" sz="2400" dirty="0"/>
                    </a:p>
                  </a:txBody>
                  <a:tcPr/>
                </a:tc>
                <a:tc>
                  <a:txBody>
                    <a:bodyPr/>
                    <a:lstStyle/>
                    <a:p>
                      <a:pPr algn="ctr"/>
                      <a:r>
                        <a:rPr lang="en-US" sz="2400" dirty="0" smtClean="0"/>
                        <a:t>T9:</a:t>
                      </a:r>
                      <a:r>
                        <a:rPr lang="en-US" sz="2400" baseline="0" dirty="0" smtClean="0"/>
                        <a:t> Source Analysis</a:t>
                      </a:r>
                      <a:endParaRPr lang="en-US" sz="2400" dirty="0"/>
                    </a:p>
                  </a:txBody>
                  <a:tcPr/>
                </a:tc>
              </a:tr>
              <a:tr h="780582">
                <a:tc>
                  <a:txBody>
                    <a:bodyPr/>
                    <a:lstStyle/>
                    <a:p>
                      <a:pPr algn="ctr"/>
                      <a:r>
                        <a:rPr lang="en-US" sz="2400" dirty="0" smtClean="0"/>
                        <a:t>14 - 16</a:t>
                      </a:r>
                      <a:endParaRPr lang="en-US" sz="2400" dirty="0"/>
                    </a:p>
                  </a:txBody>
                  <a:tcPr/>
                </a:tc>
                <a:tc>
                  <a:txBody>
                    <a:bodyPr/>
                    <a:lstStyle/>
                    <a:p>
                      <a:pPr algn="ctr"/>
                      <a:r>
                        <a:rPr lang="en-US" sz="2400" dirty="0" smtClean="0"/>
                        <a:t>Investigation</a:t>
                      </a:r>
                      <a:endParaRPr lang="en-US" sz="2400" dirty="0"/>
                    </a:p>
                  </a:txBody>
                  <a:tcPr/>
                </a:tc>
                <a:tc>
                  <a:txBody>
                    <a:bodyPr/>
                    <a:lstStyle/>
                    <a:p>
                      <a:pPr algn="ctr"/>
                      <a:r>
                        <a:rPr lang="en-US" sz="2400" dirty="0" smtClean="0"/>
                        <a:t>T10:</a:t>
                      </a:r>
                      <a:r>
                        <a:rPr lang="en-US" sz="2400" baseline="0" dirty="0" smtClean="0"/>
                        <a:t> Inquiry</a:t>
                      </a:r>
                      <a:endParaRPr lang="en-US" sz="2400" dirty="0"/>
                    </a:p>
                  </a:txBody>
                  <a:tcPr/>
                </a:tc>
              </a:tr>
            </a:tbl>
          </a:graphicData>
        </a:graphic>
      </p:graphicFrame>
    </p:spTree>
    <p:extLst>
      <p:ext uri="{BB962C8B-B14F-4D97-AF65-F5344CB8AC3E}">
        <p14:creationId xmlns:p14="http://schemas.microsoft.com/office/powerpoint/2010/main" val="201983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617" y="1520068"/>
            <a:ext cx="10178322" cy="574545"/>
          </a:xfrm>
        </p:spPr>
        <p:txBody>
          <a:bodyPr>
            <a:normAutofit fontScale="90000"/>
          </a:bodyPr>
          <a:lstStyle/>
          <a:p>
            <a:r>
              <a:rPr lang="en-US" dirty="0" smtClean="0"/>
              <a:t>This week</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3725666"/>
              </p:ext>
            </p:extLst>
          </p:nvPr>
        </p:nvGraphicFramePr>
        <p:xfrm>
          <a:off x="1250950" y="2286000"/>
          <a:ext cx="10179050" cy="2316480"/>
        </p:xfrm>
        <a:graphic>
          <a:graphicData uri="http://schemas.openxmlformats.org/drawingml/2006/table">
            <a:tbl>
              <a:tblPr firstRow="1" bandRow="1">
                <a:tableStyleId>{5C22544A-7EE6-4342-B048-85BDC9FD1C3A}</a:tableStyleId>
              </a:tblPr>
              <a:tblGrid>
                <a:gridCol w="1598576"/>
                <a:gridCol w="8580474"/>
              </a:tblGrid>
              <a:tr h="370840">
                <a:tc>
                  <a:txBody>
                    <a:bodyPr/>
                    <a:lstStyle/>
                    <a:p>
                      <a:r>
                        <a:rPr lang="en-US" sz="3200" dirty="0" smtClean="0"/>
                        <a:t>Lesson</a:t>
                      </a:r>
                      <a:endParaRPr lang="en-US" sz="3200" dirty="0"/>
                    </a:p>
                  </a:txBody>
                  <a:tcPr/>
                </a:tc>
                <a:tc>
                  <a:txBody>
                    <a:bodyPr/>
                    <a:lstStyle/>
                    <a:p>
                      <a:r>
                        <a:rPr lang="en-US" sz="3200" dirty="0" smtClean="0"/>
                        <a:t>Topic/Content</a:t>
                      </a:r>
                      <a:endParaRPr lang="en-US" sz="3200" dirty="0"/>
                    </a:p>
                  </a:txBody>
                  <a:tcPr/>
                </a:tc>
              </a:tr>
              <a:tr h="370840">
                <a:tc>
                  <a:txBody>
                    <a:bodyPr/>
                    <a:lstStyle/>
                    <a:p>
                      <a:r>
                        <a:rPr lang="en-US" sz="3200" dirty="0" smtClean="0"/>
                        <a:t>1</a:t>
                      </a:r>
                      <a:endParaRPr lang="en-US" sz="3200" dirty="0"/>
                    </a:p>
                  </a:txBody>
                  <a:tcPr/>
                </a:tc>
                <a:tc>
                  <a:txBody>
                    <a:bodyPr/>
                    <a:lstStyle/>
                    <a:p>
                      <a:r>
                        <a:rPr lang="en-US" sz="3200" dirty="0" smtClean="0"/>
                        <a:t>Macedonia</a:t>
                      </a:r>
                      <a:r>
                        <a:rPr lang="en-US" sz="3200" baseline="0" dirty="0" smtClean="0"/>
                        <a:t> </a:t>
                      </a:r>
                      <a:r>
                        <a:rPr lang="mr-IN" sz="3200" baseline="0" dirty="0" smtClean="0"/>
                        <a:t>–</a:t>
                      </a:r>
                      <a:r>
                        <a:rPr lang="en-US" sz="3200" baseline="0" dirty="0" smtClean="0"/>
                        <a:t> Overview, Geography</a:t>
                      </a:r>
                      <a:endParaRPr lang="en-US" sz="3200" dirty="0"/>
                    </a:p>
                  </a:txBody>
                  <a:tcPr/>
                </a:tc>
              </a:tr>
              <a:tr h="370840">
                <a:tc>
                  <a:txBody>
                    <a:bodyPr/>
                    <a:lstStyle/>
                    <a:p>
                      <a:r>
                        <a:rPr lang="en-US" sz="3200" dirty="0" smtClean="0"/>
                        <a:t>2</a:t>
                      </a:r>
                      <a:endParaRPr lang="en-US" sz="3200" dirty="0"/>
                    </a:p>
                  </a:txBody>
                  <a:tcPr/>
                </a:tc>
                <a:tc>
                  <a:txBody>
                    <a:bodyPr/>
                    <a:lstStyle/>
                    <a:p>
                      <a:r>
                        <a:rPr lang="en-US" sz="3200" dirty="0" smtClean="0"/>
                        <a:t>Macedonia </a:t>
                      </a:r>
                      <a:r>
                        <a:rPr lang="mr-IN" sz="3200" dirty="0" smtClean="0"/>
                        <a:t>–</a:t>
                      </a:r>
                      <a:r>
                        <a:rPr lang="en-US" sz="3200" dirty="0" smtClean="0"/>
                        <a:t> Key Structures</a:t>
                      </a:r>
                      <a:endParaRPr lang="en-US" sz="3200" dirty="0"/>
                    </a:p>
                  </a:txBody>
                  <a:tcPr/>
                </a:tc>
              </a:tr>
              <a:tr h="370840">
                <a:tc>
                  <a:txBody>
                    <a:bodyPr/>
                    <a:lstStyle/>
                    <a:p>
                      <a:r>
                        <a:rPr lang="en-US" sz="3200" dirty="0" smtClean="0"/>
                        <a:t>3</a:t>
                      </a:r>
                      <a:endParaRPr lang="en-US" sz="3200" dirty="0"/>
                    </a:p>
                  </a:txBody>
                  <a:tcPr/>
                </a:tc>
                <a:tc>
                  <a:txBody>
                    <a:bodyPr/>
                    <a:lstStyle/>
                    <a:p>
                      <a:r>
                        <a:rPr lang="en-US" sz="3200" dirty="0" smtClean="0"/>
                        <a:t>Values, Beliefs &amp; Timeline</a:t>
                      </a:r>
                      <a:endParaRPr lang="en-US" sz="3200" dirty="0"/>
                    </a:p>
                  </a:txBody>
                  <a:tcPr/>
                </a:tc>
              </a:tr>
            </a:tbl>
          </a:graphicData>
        </a:graphic>
      </p:graphicFrame>
    </p:spTree>
    <p:extLst>
      <p:ext uri="{BB962C8B-B14F-4D97-AF65-F5344CB8AC3E}">
        <p14:creationId xmlns:p14="http://schemas.microsoft.com/office/powerpoint/2010/main" val="143355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www.youtube.com/watch?v=3cHA56C9EqY</a:t>
            </a:r>
            <a:endParaRPr lang="en-US" dirty="0" smtClean="0"/>
          </a:p>
          <a:p>
            <a:r>
              <a:rPr lang="en-US" dirty="0" smtClean="0"/>
              <a:t>Watch the following video</a:t>
            </a:r>
          </a:p>
        </p:txBody>
      </p:sp>
    </p:spTree>
    <p:extLst>
      <p:ext uri="{BB962C8B-B14F-4D97-AF65-F5344CB8AC3E}">
        <p14:creationId xmlns:p14="http://schemas.microsoft.com/office/powerpoint/2010/main" val="897447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DIscussion</a:t>
            </a:r>
            <a:endParaRPr lang="en-US" dirty="0"/>
          </a:p>
        </p:txBody>
      </p:sp>
      <p:sp>
        <p:nvSpPr>
          <p:cNvPr id="3" name="Text Placeholder 2"/>
          <p:cNvSpPr>
            <a:spLocks noGrp="1"/>
          </p:cNvSpPr>
          <p:nvPr>
            <p:ph type="body" idx="1"/>
          </p:nvPr>
        </p:nvSpPr>
        <p:spPr/>
        <p:txBody>
          <a:bodyPr/>
          <a:lstStyle/>
          <a:p>
            <a:r>
              <a:rPr lang="en-US" dirty="0" smtClean="0"/>
              <a:t>Macedonia </a:t>
            </a:r>
            <a:r>
              <a:rPr lang="mr-IN" dirty="0" smtClean="0"/>
              <a:t>–</a:t>
            </a:r>
            <a:endParaRPr lang="en-US" dirty="0"/>
          </a:p>
          <a:p>
            <a:r>
              <a:rPr lang="en-US" dirty="0" smtClean="0"/>
              <a:t>People/events/ideas?</a:t>
            </a:r>
            <a:endParaRPr lang="en-US" dirty="0"/>
          </a:p>
        </p:txBody>
      </p:sp>
    </p:spTree>
    <p:extLst>
      <p:ext uri="{BB962C8B-B14F-4D97-AF65-F5344CB8AC3E}">
        <p14:creationId xmlns:p14="http://schemas.microsoft.com/office/powerpoint/2010/main" val="34918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terms:</a:t>
            </a:r>
            <a:endParaRPr lang="en-US" dirty="0"/>
          </a:p>
        </p:txBody>
      </p:sp>
      <p:sp>
        <p:nvSpPr>
          <p:cNvPr id="3" name="Content Placeholder 2"/>
          <p:cNvSpPr>
            <a:spLocks noGrp="1"/>
          </p:cNvSpPr>
          <p:nvPr>
            <p:ph idx="1"/>
          </p:nvPr>
        </p:nvSpPr>
        <p:spPr/>
        <p:txBody>
          <a:bodyPr/>
          <a:lstStyle/>
          <a:p>
            <a:r>
              <a:rPr lang="en-US" b="1" i="1" dirty="0" smtClean="0"/>
              <a:t>HELLENIC</a:t>
            </a:r>
            <a:r>
              <a:rPr lang="en-US" dirty="0" smtClean="0"/>
              <a:t>: </a:t>
            </a:r>
            <a:r>
              <a:rPr lang="en-US" dirty="0"/>
              <a:t>of, relating to, or characteristic of the </a:t>
            </a:r>
            <a:r>
              <a:rPr lang="en-US" dirty="0" smtClean="0"/>
              <a:t>ancient</a:t>
            </a:r>
            <a:r>
              <a:rPr lang="en-US" dirty="0"/>
              <a:t> </a:t>
            </a:r>
            <a:r>
              <a:rPr lang="en-US" dirty="0" smtClean="0"/>
              <a:t>Greeks (especially </a:t>
            </a:r>
            <a:r>
              <a:rPr lang="en-US" dirty="0"/>
              <a:t>before the time of Alexander the </a:t>
            </a:r>
            <a:r>
              <a:rPr lang="en-US" dirty="0" smtClean="0"/>
              <a:t>Great).</a:t>
            </a:r>
          </a:p>
          <a:p>
            <a:r>
              <a:rPr lang="en-US" b="1" i="1" dirty="0" smtClean="0"/>
              <a:t>HELLENISTIC</a:t>
            </a:r>
            <a:r>
              <a:rPr lang="en-US" dirty="0" smtClean="0"/>
              <a:t>: the </a:t>
            </a:r>
            <a:r>
              <a:rPr lang="en-US" dirty="0"/>
              <a:t>period of Mediterranean history between the death of Alexander the Great in 323 BC and the emergence of the Roman </a:t>
            </a:r>
            <a:r>
              <a:rPr lang="en-US" dirty="0" smtClean="0"/>
              <a:t>Empire.</a:t>
            </a:r>
          </a:p>
          <a:p>
            <a:r>
              <a:rPr lang="en-US" b="1" i="1" dirty="0" smtClean="0"/>
              <a:t>PHALANX: </a:t>
            </a:r>
            <a:r>
              <a:rPr lang="en-US" dirty="0" smtClean="0"/>
              <a:t>a body </a:t>
            </a:r>
            <a:r>
              <a:rPr lang="en-US" dirty="0"/>
              <a:t>of troops or police officers standing or moving in close formation</a:t>
            </a:r>
            <a:r>
              <a:rPr lang="en-US" dirty="0" smtClean="0"/>
              <a:t>.</a:t>
            </a:r>
          </a:p>
          <a:p>
            <a:r>
              <a:rPr lang="en-US" b="1" i="1" dirty="0" smtClean="0"/>
              <a:t>LEAGUE OF CORINTH: </a:t>
            </a:r>
            <a:r>
              <a:rPr lang="en-US" dirty="0"/>
              <a:t>offensive and defensive alliance of all the Greek states </a:t>
            </a:r>
            <a:r>
              <a:rPr lang="en-US" dirty="0" smtClean="0"/>
              <a:t>(except Sparta, </a:t>
            </a:r>
            <a:r>
              <a:rPr lang="en-US" dirty="0"/>
              <a:t>organized in 337 </a:t>
            </a:r>
            <a:r>
              <a:rPr lang="en-US" cap="all" dirty="0"/>
              <a:t>BCE</a:t>
            </a:r>
            <a:r>
              <a:rPr lang="en-US" dirty="0"/>
              <a:t> </a:t>
            </a:r>
            <a:r>
              <a:rPr lang="en-US" dirty="0" smtClean="0"/>
              <a:t>at Corinth</a:t>
            </a:r>
            <a:r>
              <a:rPr lang="en-US" dirty="0"/>
              <a:t> </a:t>
            </a:r>
            <a:r>
              <a:rPr lang="en-US" dirty="0" smtClean="0"/>
              <a:t>under </a:t>
            </a:r>
            <a:r>
              <a:rPr lang="en-US" dirty="0"/>
              <a:t>the leadership </a:t>
            </a:r>
            <a:r>
              <a:rPr lang="en-US" dirty="0" smtClean="0"/>
              <a:t>of Philip 11 of Macedon.</a:t>
            </a:r>
            <a:r>
              <a:rPr lang="en-US" dirty="0"/>
              <a:t> </a:t>
            </a:r>
            <a:endParaRPr lang="en-US" b="1" i="1" dirty="0"/>
          </a:p>
        </p:txBody>
      </p:sp>
    </p:spTree>
    <p:extLst>
      <p:ext uri="{BB962C8B-B14F-4D97-AF65-F5344CB8AC3E}">
        <p14:creationId xmlns:p14="http://schemas.microsoft.com/office/powerpoint/2010/main" val="1538155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Ancient </a:t>
            </a:r>
            <a:r>
              <a:rPr lang="en-US" dirty="0" err="1" smtClean="0"/>
              <a:t>macedonia</a:t>
            </a:r>
            <a:endParaRPr lang="en-US" dirty="0"/>
          </a:p>
        </p:txBody>
      </p:sp>
      <p:sp>
        <p:nvSpPr>
          <p:cNvPr id="3" name="Content Placeholder 2"/>
          <p:cNvSpPr>
            <a:spLocks noGrp="1"/>
          </p:cNvSpPr>
          <p:nvPr>
            <p:ph idx="1"/>
          </p:nvPr>
        </p:nvSpPr>
        <p:spPr>
          <a:xfrm>
            <a:off x="1251678" y="1456660"/>
            <a:ext cx="10178322" cy="5207375"/>
          </a:xfrm>
        </p:spPr>
        <p:txBody>
          <a:bodyPr>
            <a:normAutofit/>
          </a:bodyPr>
          <a:lstStyle/>
          <a:p>
            <a:r>
              <a:rPr lang="en-US" dirty="0" smtClean="0"/>
              <a:t>Small </a:t>
            </a:r>
            <a:r>
              <a:rPr lang="en-US" dirty="0"/>
              <a:t>kingdom located in northern Greece. </a:t>
            </a:r>
            <a:r>
              <a:rPr lang="en-US" i="1" dirty="0" err="1" smtClean="0"/>
              <a:t>Mackednoi</a:t>
            </a:r>
            <a:r>
              <a:rPr lang="en-US" i="1" dirty="0"/>
              <a:t> </a:t>
            </a:r>
            <a:r>
              <a:rPr lang="en-US" dirty="0"/>
              <a:t>(</a:t>
            </a:r>
            <a:r>
              <a:rPr lang="en-US" dirty="0" err="1"/>
              <a:t>Mahk-ed-noy</a:t>
            </a:r>
            <a:r>
              <a:rPr lang="en-US" dirty="0"/>
              <a:t>) tribe first inhabited the area and gave the country its name. </a:t>
            </a:r>
            <a:endParaRPr lang="en-US" dirty="0" smtClean="0"/>
          </a:p>
          <a:p>
            <a:r>
              <a:rPr lang="en-US" dirty="0" smtClean="0"/>
              <a:t>According </a:t>
            </a:r>
            <a:r>
              <a:rPr lang="en-US" dirty="0"/>
              <a:t>to the ancient historian, Herodotus, they were the first people to call themselves “</a:t>
            </a:r>
            <a:r>
              <a:rPr lang="en-US" dirty="0" err="1"/>
              <a:t>hellenes</a:t>
            </a:r>
            <a:r>
              <a:rPr lang="en-US" dirty="0"/>
              <a:t>.” The term Hellenistic later became synonymous with all things Greek. </a:t>
            </a:r>
            <a:endParaRPr lang="en-US" dirty="0" smtClean="0"/>
          </a:p>
          <a:p>
            <a:r>
              <a:rPr lang="en-US" dirty="0" smtClean="0"/>
              <a:t>However</a:t>
            </a:r>
            <a:r>
              <a:rPr lang="en-US" dirty="0"/>
              <a:t>, the </a:t>
            </a:r>
            <a:r>
              <a:rPr lang="en-US" i="1" dirty="0" err="1"/>
              <a:t>Mackednoi</a:t>
            </a:r>
            <a:r>
              <a:rPr lang="en-US" i="1" dirty="0"/>
              <a:t> </a:t>
            </a:r>
            <a:r>
              <a:rPr lang="en-US" dirty="0"/>
              <a:t>tribe had little to do with southern Greece for centuries.</a:t>
            </a:r>
          </a:p>
          <a:p>
            <a:r>
              <a:rPr lang="en-US" dirty="0" smtClean="0"/>
              <a:t>Macedonian </a:t>
            </a:r>
            <a:r>
              <a:rPr lang="en-US" dirty="0"/>
              <a:t>monarchy began in 808 B.C.E. with </a:t>
            </a:r>
            <a:r>
              <a:rPr lang="en-US" dirty="0" err="1"/>
              <a:t>Caranus</a:t>
            </a:r>
            <a:r>
              <a:rPr lang="en-US" dirty="0"/>
              <a:t>, who was the first known king of Macedonia. </a:t>
            </a:r>
            <a:endParaRPr lang="en-US" dirty="0"/>
          </a:p>
          <a:p>
            <a:r>
              <a:rPr lang="en-US" dirty="0" smtClean="0"/>
              <a:t>359 </a:t>
            </a:r>
            <a:r>
              <a:rPr lang="en-US" dirty="0"/>
              <a:t>B.C.E., when King Phillip II became the ruler, he united the southern Greek city-states with the north, and brought them all under Macedonian rule. </a:t>
            </a:r>
            <a:endParaRPr lang="en-US" dirty="0" smtClean="0"/>
          </a:p>
          <a:p>
            <a:r>
              <a:rPr lang="en-US" dirty="0" smtClean="0"/>
              <a:t>King </a:t>
            </a:r>
            <a:r>
              <a:rPr lang="en-US" dirty="0"/>
              <a:t>Phillip II improved his army and began to devise plans to conquer other lands in the Mediterranean region. </a:t>
            </a:r>
            <a:endParaRPr lang="en-US" dirty="0" smtClean="0"/>
          </a:p>
          <a:p>
            <a:r>
              <a:rPr lang="en-US" dirty="0" smtClean="0"/>
              <a:t>He </a:t>
            </a:r>
            <a:r>
              <a:rPr lang="en-US" dirty="0"/>
              <a:t>died before he was able to put his plans into action. His son Alexander, later known as Alexander the Great, was able to expand Macedonia</a:t>
            </a:r>
            <a:r>
              <a:rPr lang="en-US" dirty="0" smtClean="0"/>
              <a:t>.</a:t>
            </a:r>
            <a:endParaRPr lang="en-US" dirty="0"/>
          </a:p>
          <a:p>
            <a:endParaRPr lang="en-US" dirty="0"/>
          </a:p>
          <a:p>
            <a:endParaRPr lang="en-US" dirty="0"/>
          </a:p>
        </p:txBody>
      </p:sp>
    </p:spTree>
    <p:extLst>
      <p:ext uri="{BB962C8B-B14F-4D97-AF65-F5344CB8AC3E}">
        <p14:creationId xmlns:p14="http://schemas.microsoft.com/office/powerpoint/2010/main" val="1332461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geography</a:t>
            </a:r>
            <a:endParaRPr lang="en-US" dirty="0"/>
          </a:p>
        </p:txBody>
      </p:sp>
      <p:sp>
        <p:nvSpPr>
          <p:cNvPr id="3" name="Text Placeholder 2"/>
          <p:cNvSpPr>
            <a:spLocks noGrp="1"/>
          </p:cNvSpPr>
          <p:nvPr>
            <p:ph type="body" idx="1"/>
          </p:nvPr>
        </p:nvSpPr>
        <p:spPr/>
        <p:txBody>
          <a:bodyPr/>
          <a:lstStyle/>
          <a:p>
            <a:r>
              <a:rPr lang="en-US" dirty="0" err="1" smtClean="0"/>
              <a:t>Colour</a:t>
            </a:r>
            <a:r>
              <a:rPr lang="en-US" dirty="0" smtClean="0"/>
              <a:t> the following onto your map and label</a:t>
            </a:r>
            <a:endParaRPr lang="en-US" dirty="0"/>
          </a:p>
        </p:txBody>
      </p:sp>
    </p:spTree>
    <p:extLst>
      <p:ext uri="{BB962C8B-B14F-4D97-AF65-F5344CB8AC3E}">
        <p14:creationId xmlns:p14="http://schemas.microsoft.com/office/powerpoint/2010/main" val="2059608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acedonia (ancient kingdom) - Wikipedia"/>
          <p:cNvPicPr>
            <a:picLocks noChangeAspect="1" noChangeArrowheads="1"/>
          </p:cNvPicPr>
          <p:nvPr/>
        </p:nvPicPr>
        <p:blipFill rotWithShape="1">
          <a:blip r:embed="rId2">
            <a:extLst>
              <a:ext uri="{28A0092B-C50C-407E-A947-70E740481C1C}">
                <a14:useLocalDpi xmlns:a14="http://schemas.microsoft.com/office/drawing/2010/main" val="0"/>
              </a:ext>
            </a:extLst>
          </a:blip>
          <a:srcRect l="-1" t="2500" r="781"/>
          <a:stretch/>
        </p:blipFill>
        <p:spPr bwMode="auto">
          <a:xfrm>
            <a:off x="1814946" y="0"/>
            <a:ext cx="8797636" cy="691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967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geography</a:t>
            </a:r>
            <a:endParaRPr lang="en-US" dirty="0"/>
          </a:p>
        </p:txBody>
      </p:sp>
      <p:sp>
        <p:nvSpPr>
          <p:cNvPr id="3" name="Content Placeholder 2"/>
          <p:cNvSpPr>
            <a:spLocks noGrp="1"/>
          </p:cNvSpPr>
          <p:nvPr>
            <p:ph idx="1"/>
          </p:nvPr>
        </p:nvSpPr>
        <p:spPr>
          <a:xfrm>
            <a:off x="1251678" y="1163783"/>
            <a:ext cx="10178322" cy="4715810"/>
          </a:xfrm>
        </p:spPr>
        <p:txBody>
          <a:bodyPr>
            <a:normAutofit/>
          </a:bodyPr>
          <a:lstStyle/>
          <a:p>
            <a:r>
              <a:rPr lang="en-US" sz="3600" dirty="0" smtClean="0"/>
              <a:t>Mountains divided the </a:t>
            </a:r>
            <a:r>
              <a:rPr lang="en-US" sz="3600" dirty="0"/>
              <a:t>G</a:t>
            </a:r>
            <a:r>
              <a:rPr lang="en-US" sz="3600" dirty="0" smtClean="0"/>
              <a:t>reeks into independent city-states</a:t>
            </a:r>
          </a:p>
          <a:p>
            <a:r>
              <a:rPr lang="en-US" sz="3600" dirty="0" smtClean="0"/>
              <a:t>Access to the sea allowed for trade and </a:t>
            </a:r>
            <a:r>
              <a:rPr lang="en-US" sz="3600" b="1" u="sng" dirty="0" smtClean="0"/>
              <a:t>cultural diffusion</a:t>
            </a:r>
            <a:r>
              <a:rPr lang="en-US" sz="3600" dirty="0" smtClean="0"/>
              <a:t> (sharing of ideas)</a:t>
            </a:r>
          </a:p>
          <a:p>
            <a:r>
              <a:rPr lang="en-US" sz="3600" dirty="0" smtClean="0"/>
              <a:t>Wealth and innovation made it a target for invasion</a:t>
            </a:r>
          </a:p>
          <a:p>
            <a:endParaRPr lang="en-US" sz="3600" dirty="0"/>
          </a:p>
        </p:txBody>
      </p:sp>
    </p:spTree>
    <p:extLst>
      <p:ext uri="{BB962C8B-B14F-4D97-AF65-F5344CB8AC3E}">
        <p14:creationId xmlns:p14="http://schemas.microsoft.com/office/powerpoint/2010/main" val="485459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xmlns="" id="{C98F4480-8749-4E48-82BB-3A0F2F311E0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a:extLst>
              <a:ext uri="{FF2B5EF4-FFF2-40B4-BE49-F238E27FC236}">
                <a16:creationId xmlns:a16="http://schemas.microsoft.com/office/drawing/2014/main" xmlns="" id="{5249F694-12BA-47C4-9FF3-570372F3B9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251679" y="645107"/>
            <a:ext cx="6541986" cy="1640894"/>
          </a:xfrm>
        </p:spPr>
        <p:txBody>
          <a:bodyPr vert="horz" lIns="91440" tIns="45720" rIns="91440" bIns="45720" rtlCol="0" anchor="t">
            <a:noAutofit/>
          </a:bodyPr>
          <a:lstStyle/>
          <a:p>
            <a:pPr>
              <a:lnSpc>
                <a:spcPct val="90000"/>
              </a:lnSpc>
            </a:pPr>
            <a:r>
              <a:rPr lang="en-US" sz="4400" spc="200" dirty="0" smtClean="0">
                <a:solidFill>
                  <a:schemeClr val="tx2"/>
                </a:solidFill>
                <a:latin typeface="+mj-lt"/>
              </a:rPr>
              <a:t>Who am </a:t>
            </a:r>
            <a:r>
              <a:rPr lang="en-US" sz="4400" spc="200" dirty="0" err="1" smtClean="0">
                <a:solidFill>
                  <a:schemeClr val="tx2"/>
                </a:solidFill>
                <a:latin typeface="+mj-lt"/>
              </a:rPr>
              <a:t>i</a:t>
            </a:r>
            <a:r>
              <a:rPr lang="en-US" sz="4400" spc="200" dirty="0" smtClean="0">
                <a:solidFill>
                  <a:schemeClr val="tx2"/>
                </a:solidFill>
                <a:latin typeface="+mj-lt"/>
              </a:rPr>
              <a:t>?</a:t>
            </a:r>
            <a:endParaRPr lang="en-US" sz="4400" spc="200" dirty="0">
              <a:solidFill>
                <a:schemeClr val="tx2"/>
              </a:solidFill>
              <a:latin typeface="+mj-lt"/>
            </a:endParaRPr>
          </a:p>
        </p:txBody>
      </p:sp>
      <p:sp>
        <p:nvSpPr>
          <p:cNvPr id="4" name="Text Placeholder 3"/>
          <p:cNvSpPr>
            <a:spLocks noGrp="1"/>
          </p:cNvSpPr>
          <p:nvPr>
            <p:ph type="body" sz="half" idx="2"/>
          </p:nvPr>
        </p:nvSpPr>
        <p:spPr>
          <a:xfrm>
            <a:off x="723014" y="1414130"/>
            <a:ext cx="4657059" cy="4812715"/>
          </a:xfrm>
        </p:spPr>
        <p:txBody>
          <a:bodyPr vert="horz" lIns="91440" tIns="45720" rIns="91440" bIns="45720" rtlCol="0">
            <a:noAutofit/>
          </a:bodyPr>
          <a:lstStyle/>
          <a:p>
            <a:pPr indent="-228600" algn="ctr">
              <a:lnSpc>
                <a:spcPct val="110000"/>
              </a:lnSpc>
              <a:spcBef>
                <a:spcPts val="700"/>
              </a:spcBef>
            </a:pPr>
            <a:r>
              <a:rPr lang="en-US" sz="2000" dirty="0" smtClean="0">
                <a:solidFill>
                  <a:schemeClr val="tx1"/>
                </a:solidFill>
              </a:rPr>
              <a:t>King Philip II of Macedon</a:t>
            </a:r>
          </a:p>
          <a:p>
            <a:pPr indent="-228600" algn="ctr">
              <a:lnSpc>
                <a:spcPct val="110000"/>
              </a:lnSpc>
              <a:spcBef>
                <a:spcPts val="700"/>
              </a:spcBef>
            </a:pPr>
            <a:r>
              <a:rPr lang="en-US" sz="2000" dirty="0" smtClean="0">
                <a:solidFill>
                  <a:schemeClr val="tx1"/>
                </a:solidFill>
              </a:rPr>
              <a:t>382BC </a:t>
            </a:r>
            <a:r>
              <a:rPr lang="mr-IN" sz="2000" dirty="0" smtClean="0">
                <a:solidFill>
                  <a:schemeClr val="tx1"/>
                </a:solidFill>
              </a:rPr>
              <a:t>–</a:t>
            </a:r>
            <a:r>
              <a:rPr lang="en-US" sz="2000" dirty="0" smtClean="0">
                <a:solidFill>
                  <a:schemeClr val="tx1"/>
                </a:solidFill>
              </a:rPr>
              <a:t> 336BC</a:t>
            </a:r>
          </a:p>
          <a:p>
            <a:pPr indent="-228600" algn="ctr">
              <a:lnSpc>
                <a:spcPct val="110000"/>
              </a:lnSpc>
              <a:spcBef>
                <a:spcPts val="700"/>
              </a:spcBef>
            </a:pPr>
            <a:endParaRPr lang="en-US" sz="2000" dirty="0">
              <a:solidFill>
                <a:schemeClr val="tx1"/>
              </a:solidFill>
            </a:endParaRPr>
          </a:p>
        </p:txBody>
      </p:sp>
      <p:pic>
        <p:nvPicPr>
          <p:cNvPr id="5" name="Picture Placeholder 4"/>
          <p:cNvPicPr>
            <a:picLocks noGrp="1" noChangeAspect="1"/>
          </p:cNvPicPr>
          <p:nvPr>
            <p:ph type="pic" idx="1"/>
          </p:nvPr>
        </p:nvPicPr>
        <p:blipFill rotWithShape="1">
          <a:blip r:embed="rId2"/>
          <a:srcRect l="12416" r="6664" b="-2"/>
          <a:stretch/>
        </p:blipFill>
        <p:spPr>
          <a:xfrm>
            <a:off x="5279472" y="645107"/>
            <a:ext cx="5995465" cy="5594047"/>
          </a:xfrm>
          <a:prstGeom prst="rect">
            <a:avLst/>
          </a:prstGeom>
        </p:spPr>
      </p:pic>
    </p:spTree>
    <p:extLst>
      <p:ext uri="{BB962C8B-B14F-4D97-AF65-F5344CB8AC3E}">
        <p14:creationId xmlns:p14="http://schemas.microsoft.com/office/powerpoint/2010/main" val="3607906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Phillip II of </a:t>
            </a:r>
            <a:r>
              <a:rPr lang="en-US" dirty="0" err="1" smtClean="0"/>
              <a:t>macedon</a:t>
            </a:r>
            <a:r>
              <a:rPr lang="en-US" dirty="0" smtClean="0"/>
              <a:t/>
            </a:r>
            <a:br>
              <a:rPr lang="en-US" dirty="0" smtClean="0"/>
            </a:br>
            <a:r>
              <a:rPr lang="en-US" sz="2400" u="sng" dirty="0" err="1" smtClean="0"/>
              <a:t>Summarise</a:t>
            </a:r>
            <a:r>
              <a:rPr lang="en-US" sz="2400" dirty="0" smtClean="0"/>
              <a:t> the following on your worksheet</a:t>
            </a:r>
            <a:endParaRPr lang="en-US" dirty="0"/>
          </a:p>
        </p:txBody>
      </p:sp>
      <p:sp>
        <p:nvSpPr>
          <p:cNvPr id="3" name="Content Placeholder 2"/>
          <p:cNvSpPr>
            <a:spLocks noGrp="1"/>
          </p:cNvSpPr>
          <p:nvPr>
            <p:ph idx="1"/>
          </p:nvPr>
        </p:nvSpPr>
        <p:spPr>
          <a:xfrm>
            <a:off x="1251678" y="1565565"/>
            <a:ext cx="10178322" cy="4959926"/>
          </a:xfrm>
        </p:spPr>
        <p:txBody>
          <a:bodyPr>
            <a:normAutofit fontScale="92500" lnSpcReduction="10000"/>
          </a:bodyPr>
          <a:lstStyle/>
          <a:p>
            <a:r>
              <a:rPr lang="en-US" dirty="0" smtClean="0">
                <a:solidFill>
                  <a:schemeClr val="tx1"/>
                </a:solidFill>
              </a:rPr>
              <a:t>Phillip </a:t>
            </a:r>
            <a:r>
              <a:rPr lang="en-US" dirty="0">
                <a:solidFill>
                  <a:schemeClr val="tx1"/>
                </a:solidFill>
              </a:rPr>
              <a:t>II created a federation of Greek states called the League of Corinth or Hellenic League to strengthen his military forces. </a:t>
            </a:r>
            <a:endParaRPr lang="en-US" dirty="0" smtClean="0">
              <a:solidFill>
                <a:schemeClr val="tx1"/>
              </a:solidFill>
            </a:endParaRPr>
          </a:p>
          <a:p>
            <a:r>
              <a:rPr lang="en-US" dirty="0" smtClean="0">
                <a:solidFill>
                  <a:schemeClr val="tx1"/>
                </a:solidFill>
              </a:rPr>
              <a:t>It </a:t>
            </a:r>
            <a:r>
              <a:rPr lang="en-US" dirty="0">
                <a:solidFill>
                  <a:schemeClr val="tx1"/>
                </a:solidFill>
              </a:rPr>
              <a:t>was the first time in history that most of the Greek states had joined together as a single political entity.</a:t>
            </a:r>
          </a:p>
          <a:p>
            <a:r>
              <a:rPr lang="en-US" dirty="0">
                <a:solidFill>
                  <a:schemeClr val="tx1"/>
                </a:solidFill>
              </a:rPr>
              <a:t>Ancient Macedon was renowned for its military might. </a:t>
            </a:r>
            <a:endParaRPr lang="en-US" dirty="0" smtClean="0">
              <a:solidFill>
                <a:schemeClr val="tx1"/>
              </a:solidFill>
            </a:endParaRPr>
          </a:p>
          <a:p>
            <a:r>
              <a:rPr lang="en-US" dirty="0" smtClean="0">
                <a:solidFill>
                  <a:schemeClr val="tx1"/>
                </a:solidFill>
              </a:rPr>
              <a:t>Phillip </a:t>
            </a:r>
            <a:r>
              <a:rPr lang="en-US" dirty="0">
                <a:solidFill>
                  <a:schemeClr val="tx1"/>
                </a:solidFill>
              </a:rPr>
              <a:t>II introduced a new kind of infantry known as the Macedonian phalanx, in which each soldier carried a long spear (called a </a:t>
            </a:r>
            <a:r>
              <a:rPr lang="en-US" dirty="0" err="1">
                <a:solidFill>
                  <a:schemeClr val="tx1"/>
                </a:solidFill>
              </a:rPr>
              <a:t>sarissa</a:t>
            </a:r>
            <a:r>
              <a:rPr lang="en-US" dirty="0">
                <a:solidFill>
                  <a:schemeClr val="tx1"/>
                </a:solidFill>
              </a:rPr>
              <a:t>) that was approximately 13 to 20 feet long. </a:t>
            </a:r>
            <a:endParaRPr lang="en-US" dirty="0" smtClean="0">
              <a:solidFill>
                <a:schemeClr val="tx1"/>
              </a:solidFill>
            </a:endParaRPr>
          </a:p>
          <a:p>
            <a:r>
              <a:rPr lang="en-US" dirty="0" smtClean="0">
                <a:solidFill>
                  <a:schemeClr val="tx1"/>
                </a:solidFill>
              </a:rPr>
              <a:t>The </a:t>
            </a:r>
            <a:r>
              <a:rPr lang="en-US" dirty="0">
                <a:solidFill>
                  <a:schemeClr val="tx1"/>
                </a:solidFill>
              </a:rPr>
              <a:t>tight formation of the Macedonian phalanx formed a wall of spears, which was considered nearly impenetrable.</a:t>
            </a:r>
          </a:p>
          <a:p>
            <a:r>
              <a:rPr lang="en-US" dirty="0">
                <a:solidFill>
                  <a:schemeClr val="tx1"/>
                </a:solidFill>
              </a:rPr>
              <a:t>Phillip II dreamed of conquering the Persian Empire—the world’s largest at the time. </a:t>
            </a:r>
            <a:endParaRPr lang="en-US" dirty="0" smtClean="0">
              <a:solidFill>
                <a:schemeClr val="tx1"/>
              </a:solidFill>
            </a:endParaRPr>
          </a:p>
          <a:p>
            <a:r>
              <a:rPr lang="en-US" dirty="0" smtClean="0">
                <a:solidFill>
                  <a:schemeClr val="tx1"/>
                </a:solidFill>
              </a:rPr>
              <a:t>He </a:t>
            </a:r>
            <a:r>
              <a:rPr lang="en-US" dirty="0">
                <a:solidFill>
                  <a:schemeClr val="tx1"/>
                </a:solidFill>
              </a:rPr>
              <a:t>was assassinated in 336 B.C., in </a:t>
            </a:r>
            <a:r>
              <a:rPr lang="en-US" dirty="0" err="1">
                <a:solidFill>
                  <a:schemeClr val="tx1"/>
                </a:solidFill>
              </a:rPr>
              <a:t>Aigai</a:t>
            </a:r>
            <a:r>
              <a:rPr lang="en-US" dirty="0">
                <a:solidFill>
                  <a:schemeClr val="tx1"/>
                </a:solidFill>
              </a:rPr>
              <a:t>, the capital city of Macedon, before he could realize his vision. </a:t>
            </a:r>
            <a:endParaRPr lang="en-US" dirty="0" smtClean="0">
              <a:solidFill>
                <a:schemeClr val="tx1"/>
              </a:solidFill>
            </a:endParaRPr>
          </a:p>
          <a:p>
            <a:r>
              <a:rPr lang="en-US" dirty="0" smtClean="0">
                <a:solidFill>
                  <a:schemeClr val="tx1"/>
                </a:solidFill>
              </a:rPr>
              <a:t>His son,  Alexander the Great, one </a:t>
            </a:r>
            <a:r>
              <a:rPr lang="en-US" dirty="0">
                <a:solidFill>
                  <a:schemeClr val="tx1"/>
                </a:solidFill>
              </a:rPr>
              <a:t>of history’s greatest military minds, came to power and finished the job his father had started.</a:t>
            </a:r>
          </a:p>
          <a:p>
            <a:pPr algn="ctr"/>
            <a:endParaRPr lang="en-US" dirty="0">
              <a:solidFill>
                <a:schemeClr val="tx1"/>
              </a:solidFill>
            </a:endParaRPr>
          </a:p>
          <a:p>
            <a:endParaRPr lang="en-US" dirty="0"/>
          </a:p>
        </p:txBody>
      </p:sp>
    </p:spTree>
    <p:extLst>
      <p:ext uri="{BB962C8B-B14F-4D97-AF65-F5344CB8AC3E}">
        <p14:creationId xmlns:p14="http://schemas.microsoft.com/office/powerpoint/2010/main" val="81523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51679" y="645107"/>
            <a:ext cx="6541986" cy="1640894"/>
          </a:xfrm>
        </p:spPr>
        <p:txBody>
          <a:bodyPr vert="horz" lIns="91440" tIns="45720" rIns="91440" bIns="45720" rtlCol="0" anchor="t">
            <a:noAutofit/>
          </a:bodyPr>
          <a:lstStyle/>
          <a:p>
            <a:pPr>
              <a:lnSpc>
                <a:spcPct val="90000"/>
              </a:lnSpc>
            </a:pPr>
            <a:r>
              <a:rPr lang="en-US" sz="4400" spc="200" dirty="0" smtClean="0">
                <a:solidFill>
                  <a:schemeClr val="tx2"/>
                </a:solidFill>
                <a:latin typeface="+mj-lt"/>
              </a:rPr>
              <a:t>Who am </a:t>
            </a:r>
            <a:r>
              <a:rPr lang="en-US" sz="4400" spc="200" dirty="0" err="1" smtClean="0">
                <a:solidFill>
                  <a:schemeClr val="tx2"/>
                </a:solidFill>
                <a:latin typeface="+mj-lt"/>
              </a:rPr>
              <a:t>i</a:t>
            </a:r>
            <a:r>
              <a:rPr lang="en-US" sz="4400" spc="200" dirty="0" smtClean="0">
                <a:solidFill>
                  <a:schemeClr val="tx2"/>
                </a:solidFill>
                <a:latin typeface="+mj-lt"/>
              </a:rPr>
              <a:t>?</a:t>
            </a:r>
            <a:endParaRPr lang="en-US" sz="4400" spc="200" dirty="0">
              <a:solidFill>
                <a:schemeClr val="tx2"/>
              </a:solidFill>
              <a:latin typeface="+mj-lt"/>
            </a:endParaRPr>
          </a:p>
        </p:txBody>
      </p:sp>
      <p:sp>
        <p:nvSpPr>
          <p:cNvPr id="4" name="Text Placeholder 3"/>
          <p:cNvSpPr>
            <a:spLocks noGrp="1"/>
          </p:cNvSpPr>
          <p:nvPr>
            <p:ph type="body" sz="half" idx="2"/>
          </p:nvPr>
        </p:nvSpPr>
        <p:spPr>
          <a:xfrm>
            <a:off x="723014" y="1414130"/>
            <a:ext cx="4657059" cy="4812715"/>
          </a:xfrm>
        </p:spPr>
        <p:txBody>
          <a:bodyPr vert="horz" lIns="91440" tIns="45720" rIns="91440" bIns="45720" rtlCol="0">
            <a:noAutofit/>
          </a:bodyPr>
          <a:lstStyle/>
          <a:p>
            <a:pPr indent="-228600" algn="ctr">
              <a:lnSpc>
                <a:spcPct val="110000"/>
              </a:lnSpc>
              <a:spcBef>
                <a:spcPts val="700"/>
              </a:spcBef>
            </a:pPr>
            <a:r>
              <a:rPr lang="en-US" sz="2000" dirty="0" smtClean="0">
                <a:solidFill>
                  <a:schemeClr val="tx1"/>
                </a:solidFill>
              </a:rPr>
              <a:t>Alexander III of Macedon</a:t>
            </a:r>
          </a:p>
          <a:p>
            <a:pPr indent="-228600" algn="ctr">
              <a:lnSpc>
                <a:spcPct val="110000"/>
              </a:lnSpc>
              <a:spcBef>
                <a:spcPts val="700"/>
              </a:spcBef>
            </a:pPr>
            <a:r>
              <a:rPr lang="en-US" sz="2000" dirty="0" smtClean="0">
                <a:solidFill>
                  <a:schemeClr val="tx1"/>
                </a:solidFill>
              </a:rPr>
              <a:t>356BCE </a:t>
            </a:r>
            <a:r>
              <a:rPr lang="mr-IN" sz="2000" dirty="0" smtClean="0">
                <a:solidFill>
                  <a:schemeClr val="tx1"/>
                </a:solidFill>
              </a:rPr>
              <a:t>–</a:t>
            </a:r>
            <a:r>
              <a:rPr lang="en-US" sz="2000" dirty="0" smtClean="0">
                <a:solidFill>
                  <a:schemeClr val="tx1"/>
                </a:solidFill>
              </a:rPr>
              <a:t> 323BCE</a:t>
            </a:r>
          </a:p>
          <a:p>
            <a:pPr indent="-228600" algn="ctr">
              <a:lnSpc>
                <a:spcPct val="110000"/>
              </a:lnSpc>
              <a:spcBef>
                <a:spcPts val="700"/>
              </a:spcBef>
            </a:pPr>
            <a:endParaRPr lang="en-US" sz="2000" dirty="0">
              <a:solidFill>
                <a:schemeClr val="tx1"/>
              </a:solidFill>
            </a:endParaRPr>
          </a:p>
        </p:txBody>
      </p:sp>
      <p:pic>
        <p:nvPicPr>
          <p:cNvPr id="3074" name="Picture 2" descr="lexander the Great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6843" y="645107"/>
            <a:ext cx="4461265" cy="4986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021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Alexander the great</a:t>
            </a:r>
            <a:br>
              <a:rPr lang="en-US" dirty="0" smtClean="0"/>
            </a:br>
            <a:r>
              <a:rPr lang="en-US" sz="2400" u="sng" dirty="0" err="1" smtClean="0"/>
              <a:t>Summarise</a:t>
            </a:r>
            <a:r>
              <a:rPr lang="en-US" sz="2400" dirty="0" smtClean="0"/>
              <a:t> the following on your worksheet</a:t>
            </a:r>
            <a:endParaRPr lang="en-US" dirty="0"/>
          </a:p>
        </p:txBody>
      </p:sp>
      <p:sp>
        <p:nvSpPr>
          <p:cNvPr id="3" name="Content Placeholder 2"/>
          <p:cNvSpPr>
            <a:spLocks noGrp="1"/>
          </p:cNvSpPr>
          <p:nvPr>
            <p:ph idx="1"/>
          </p:nvPr>
        </p:nvSpPr>
        <p:spPr>
          <a:xfrm>
            <a:off x="1251678" y="1565565"/>
            <a:ext cx="10178322" cy="4959926"/>
          </a:xfrm>
        </p:spPr>
        <p:txBody>
          <a:bodyPr>
            <a:normAutofit fontScale="92500" lnSpcReduction="10000"/>
          </a:bodyPr>
          <a:lstStyle/>
          <a:p>
            <a:r>
              <a:rPr lang="en-US" dirty="0">
                <a:solidFill>
                  <a:schemeClr val="tx1"/>
                </a:solidFill>
              </a:rPr>
              <a:t>C</a:t>
            </a:r>
            <a:r>
              <a:rPr lang="en-US" dirty="0" smtClean="0">
                <a:solidFill>
                  <a:schemeClr val="tx1"/>
                </a:solidFill>
              </a:rPr>
              <a:t>harismatic</a:t>
            </a:r>
            <a:r>
              <a:rPr lang="en-US" dirty="0">
                <a:solidFill>
                  <a:schemeClr val="tx1"/>
                </a:solidFill>
              </a:rPr>
              <a:t>, ruthless, brilliant and </a:t>
            </a:r>
            <a:r>
              <a:rPr lang="en-US" dirty="0" smtClean="0">
                <a:solidFill>
                  <a:schemeClr val="tx1"/>
                </a:solidFill>
              </a:rPr>
              <a:t>bloodthirsty</a:t>
            </a:r>
          </a:p>
          <a:p>
            <a:r>
              <a:rPr lang="en-US" dirty="0" smtClean="0">
                <a:solidFill>
                  <a:schemeClr val="tx1"/>
                </a:solidFill>
              </a:rPr>
              <a:t>13 reign </a:t>
            </a:r>
            <a:r>
              <a:rPr lang="en-US" dirty="0">
                <a:solidFill>
                  <a:schemeClr val="tx1"/>
                </a:solidFill>
              </a:rPr>
              <a:t>as king of Macedonia changed the course of both European and Asian </a:t>
            </a:r>
            <a:r>
              <a:rPr lang="en-US" dirty="0" smtClean="0">
                <a:solidFill>
                  <a:schemeClr val="tx1"/>
                </a:solidFill>
              </a:rPr>
              <a:t>history.</a:t>
            </a:r>
          </a:p>
          <a:p>
            <a:r>
              <a:rPr lang="en-US" dirty="0" smtClean="0">
                <a:solidFill>
                  <a:schemeClr val="tx1"/>
                </a:solidFill>
              </a:rPr>
              <a:t>Greek philosopher Aristotle tutored Alexander </a:t>
            </a:r>
            <a:r>
              <a:rPr lang="en-US" dirty="0">
                <a:solidFill>
                  <a:schemeClr val="tx1"/>
                </a:solidFill>
              </a:rPr>
              <a:t>during Phillip II’s reign. Scholars have attributed Alexander’s diplomatic skills and habit of carrying books with him on his military campaigns to Aristotle’s influence.</a:t>
            </a:r>
          </a:p>
          <a:p>
            <a:r>
              <a:rPr lang="en-US" dirty="0" smtClean="0">
                <a:solidFill>
                  <a:schemeClr val="tx1"/>
                </a:solidFill>
              </a:rPr>
              <a:t>Took the </a:t>
            </a:r>
            <a:r>
              <a:rPr lang="en-US" dirty="0">
                <a:solidFill>
                  <a:schemeClr val="tx1"/>
                </a:solidFill>
              </a:rPr>
              <a:t>throne at age 20 after his father’s assassination. He quickly harnessed the military forces of the Hellenic League, assembling an army of more than 43,000 infantry and 5,500 cavalry.</a:t>
            </a:r>
          </a:p>
          <a:p>
            <a:r>
              <a:rPr lang="en-US" dirty="0">
                <a:solidFill>
                  <a:schemeClr val="tx1"/>
                </a:solidFill>
              </a:rPr>
              <a:t>In 334 B.C., he led the Macedonian army across the narrow straights of the Hellespont (today called the Dardanelles) into northwest Turkey. In one long military campaign that lasted 11 years, he conquered </a:t>
            </a:r>
            <a:r>
              <a:rPr lang="en-US" dirty="0" smtClean="0">
                <a:solidFill>
                  <a:schemeClr val="tx1"/>
                </a:solidFill>
              </a:rPr>
              <a:t>the</a:t>
            </a:r>
            <a:r>
              <a:rPr lang="en-US" dirty="0">
                <a:solidFill>
                  <a:schemeClr val="tx1"/>
                </a:solidFill>
              </a:rPr>
              <a:t> </a:t>
            </a:r>
            <a:r>
              <a:rPr lang="en-US" dirty="0" smtClean="0">
                <a:solidFill>
                  <a:schemeClr val="tx1"/>
                </a:solidFill>
              </a:rPr>
              <a:t>Persian Empire making </a:t>
            </a:r>
            <a:r>
              <a:rPr lang="en-US" dirty="0">
                <a:solidFill>
                  <a:schemeClr val="tx1"/>
                </a:solidFill>
              </a:rPr>
              <a:t>Macedonia the largest, most powerful empire in the world.</a:t>
            </a:r>
          </a:p>
          <a:p>
            <a:r>
              <a:rPr lang="en-US" dirty="0">
                <a:solidFill>
                  <a:schemeClr val="tx1"/>
                </a:solidFill>
              </a:rPr>
              <a:t>Alexander the Great’s Macedonian Empire spanned from Greece to India. He died of unknown causes in 323 B.C. in the ancient city of Babylon, in modern-day Iraq. He was just 32 years old.</a:t>
            </a:r>
          </a:p>
          <a:p>
            <a:r>
              <a:rPr lang="en-US" dirty="0">
                <a:solidFill>
                  <a:schemeClr val="tx1"/>
                </a:solidFill>
              </a:rPr>
              <a:t>Alexander the Great had no direct heirs, and the Macedonian Empire quickly crumbled after his death. Military generals divided up the Macedonian territory in a series of </a:t>
            </a:r>
            <a:r>
              <a:rPr lang="en-US">
                <a:solidFill>
                  <a:schemeClr val="tx1"/>
                </a:solidFill>
              </a:rPr>
              <a:t>civil </a:t>
            </a:r>
            <a:r>
              <a:rPr lang="en-US" smtClean="0">
                <a:solidFill>
                  <a:schemeClr val="tx1"/>
                </a:solidFill>
              </a:rPr>
              <a:t>wars</a:t>
            </a:r>
            <a:r>
              <a:rPr lang="en-US">
                <a:solidFill>
                  <a:schemeClr val="tx1"/>
                </a:solidFill>
              </a:rPr>
              <a:t>.</a:t>
            </a:r>
            <a:endParaRPr lang="en-US" dirty="0">
              <a:solidFill>
                <a:schemeClr val="tx1"/>
              </a:solidFill>
            </a:endParaRPr>
          </a:p>
        </p:txBody>
      </p:sp>
    </p:spTree>
    <p:extLst>
      <p:ext uri="{BB962C8B-B14F-4D97-AF65-F5344CB8AC3E}">
        <p14:creationId xmlns:p14="http://schemas.microsoft.com/office/powerpoint/2010/main" val="2008736900"/>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61</TotalTime>
  <Words>692</Words>
  <Application>Microsoft Macintosh PowerPoint</Application>
  <PresentationFormat>Widescreen</PresentationFormat>
  <Paragraphs>94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Gill Sans MT</vt:lpstr>
      <vt:lpstr>Impact</vt:lpstr>
      <vt:lpstr>Mangal</vt:lpstr>
      <vt:lpstr>Arial</vt:lpstr>
      <vt:lpstr>Badge</vt:lpstr>
      <vt:lpstr>Power in the ancient world</vt:lpstr>
      <vt:lpstr>Use connect</vt:lpstr>
      <vt:lpstr>Unit 2 Program</vt:lpstr>
      <vt:lpstr>Unit 2: power in the ancient world</vt:lpstr>
      <vt:lpstr>PowerPoint Presentation</vt:lpstr>
      <vt:lpstr>This week</vt:lpstr>
      <vt:lpstr>ACTIVITY</vt:lpstr>
      <vt:lpstr>DIscussion</vt:lpstr>
      <vt:lpstr>Key terms:</vt:lpstr>
      <vt:lpstr>Ancient macedonia</vt:lpstr>
      <vt:lpstr>geography</vt:lpstr>
      <vt:lpstr>PowerPoint Presentation</vt:lpstr>
      <vt:lpstr>geography</vt:lpstr>
      <vt:lpstr>Who am i?</vt:lpstr>
      <vt:lpstr>Phillip II of macedon Summarise the following on your worksheet</vt:lpstr>
      <vt:lpstr>Who am i?</vt:lpstr>
      <vt:lpstr>Alexander the great Summarise the following on your worksheet</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in the ancient world</dc:title>
  <dc:creator>BARRIE Lauren [Byford Secondary College]</dc:creator>
  <cp:lastModifiedBy>BARRIE Lauren [Byford Secondary College]</cp:lastModifiedBy>
  <cp:revision>26</cp:revision>
  <dcterms:created xsi:type="dcterms:W3CDTF">2020-06-02T04:24:18Z</dcterms:created>
  <dcterms:modified xsi:type="dcterms:W3CDTF">2020-06-02T05:25:32Z</dcterms:modified>
</cp:coreProperties>
</file>
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3" r:id="rId3"/>
    <p:sldId id="264" r:id="rId4"/>
    <p:sldId id="265" r:id="rId5"/>
    <p:sldId id="266" r:id="rId6"/>
    <p:sldId id="267" r:id="rId7"/>
    <p:sldId id="268" r:id="rId8"/>
    <p:sldId id="269" r:id="rId9"/>
    <p:sldId id="270" r:id="rId10"/>
    <p:sldId id="271" r:id="rId11"/>
    <p:sldId id="272" r:id="rId12"/>
    <p:sldId id="27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43"/>
    <p:restoredTop sz="93902"/>
  </p:normalViewPr>
  <p:slideViewPr>
    <p:cSldViewPr snapToGrid="0" snapToObjects="1">
      <p:cViewPr varScale="1">
        <p:scale>
          <a:sx n="95" d="100"/>
          <a:sy n="95" d="100"/>
        </p:scale>
        <p:origin x="200" y="7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F0060D-6CE4-BB4C-92B2-D36B1CDB1D2F}" type="datetimeFigureOut">
              <a:rPr lang="en-US" smtClean="0"/>
              <a:t>6/2/20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88A79-161F-8043-9A88-A5E4A8EA77A6}" type="slidenum">
              <a:rPr lang="en-US" smtClean="0"/>
              <a:t>‹#›</a:t>
            </a:fld>
            <a:endParaRPr lang="en-US"/>
          </a:p>
        </p:txBody>
      </p:sp>
    </p:spTree>
    <p:extLst>
      <p:ext uri="{BB962C8B-B14F-4D97-AF65-F5344CB8AC3E}">
        <p14:creationId xmlns:p14="http://schemas.microsoft.com/office/powerpoint/2010/main" val="1117230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smtClean="0"/>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pPr/>
              <a:t>6/2/20</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6/2/20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pPr/>
              <a:t>6/2/20</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t>6/2/20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t>6/2/20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t>6/2/20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6/2/20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smtClean="0"/>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t>6/2/20</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mod="1">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t>6/2/20</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6/2/20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6/2/20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pPr/>
              <a:t>6/2/20</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Key structures</a:t>
            </a:r>
            <a:br>
              <a:rPr lang="en-US" dirty="0" smtClean="0"/>
            </a:br>
            <a:r>
              <a:rPr lang="en-US" dirty="0" err="1" smtClean="0"/>
              <a:t>Spermc</a:t>
            </a:r>
            <a:endParaRPr lang="en-US" dirty="0"/>
          </a:p>
        </p:txBody>
      </p:sp>
      <p:sp>
        <p:nvSpPr>
          <p:cNvPr id="3" name="Subtitle 2"/>
          <p:cNvSpPr>
            <a:spLocks noGrp="1"/>
          </p:cNvSpPr>
          <p:nvPr>
            <p:ph type="subTitle" idx="1"/>
          </p:nvPr>
        </p:nvSpPr>
        <p:spPr/>
        <p:txBody>
          <a:bodyPr>
            <a:normAutofit lnSpcReduction="10000"/>
          </a:bodyPr>
          <a:lstStyle/>
          <a:p>
            <a:r>
              <a:rPr lang="en-US" dirty="0" smtClean="0"/>
              <a:t>Year 11 Ancient History</a:t>
            </a:r>
          </a:p>
          <a:p>
            <a:r>
              <a:rPr lang="en-US" dirty="0" smtClean="0"/>
              <a:t>Unit 1, Week 1: Lesson </a:t>
            </a:r>
            <a:r>
              <a:rPr lang="en-US" dirty="0" smtClean="0"/>
              <a:t>2</a:t>
            </a:r>
            <a:endParaRPr lang="en-US" dirty="0"/>
          </a:p>
        </p:txBody>
      </p:sp>
    </p:spTree>
    <p:extLst>
      <p:ext uri="{BB962C8B-B14F-4D97-AF65-F5344CB8AC3E}">
        <p14:creationId xmlns:p14="http://schemas.microsoft.com/office/powerpoint/2010/main" val="310687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DIscussion</a:t>
            </a:r>
            <a:endParaRPr lang="en-US" dirty="0"/>
          </a:p>
        </p:txBody>
      </p:sp>
      <p:sp>
        <p:nvSpPr>
          <p:cNvPr id="3" name="Text Placeholder 2"/>
          <p:cNvSpPr>
            <a:spLocks noGrp="1"/>
          </p:cNvSpPr>
          <p:nvPr>
            <p:ph type="body" idx="1"/>
          </p:nvPr>
        </p:nvSpPr>
        <p:spPr/>
        <p:txBody>
          <a:bodyPr/>
          <a:lstStyle/>
          <a:p>
            <a:r>
              <a:rPr lang="en-AU" dirty="0" smtClean="0"/>
              <a:t>What do we already know about Macedonian society?</a:t>
            </a:r>
            <a:endParaRPr lang="en-US" dirty="0"/>
          </a:p>
        </p:txBody>
      </p:sp>
    </p:spTree>
    <p:extLst>
      <p:ext uri="{BB962C8B-B14F-4D97-AF65-F5344CB8AC3E}">
        <p14:creationId xmlns:p14="http://schemas.microsoft.com/office/powerpoint/2010/main" val="349189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Today’s lesson:</a:t>
            </a:r>
            <a:endParaRPr lang="en-US" dirty="0"/>
          </a:p>
        </p:txBody>
      </p:sp>
      <p:sp>
        <p:nvSpPr>
          <p:cNvPr id="3" name="Content Placeholder 2"/>
          <p:cNvSpPr>
            <a:spLocks noGrp="1"/>
          </p:cNvSpPr>
          <p:nvPr>
            <p:ph idx="1"/>
          </p:nvPr>
        </p:nvSpPr>
        <p:spPr>
          <a:xfrm>
            <a:off x="1251678" y="1422401"/>
            <a:ext cx="10178322" cy="5215466"/>
          </a:xfrm>
        </p:spPr>
        <p:txBody>
          <a:bodyPr>
            <a:normAutofit/>
          </a:bodyPr>
          <a:lstStyle/>
          <a:p>
            <a:r>
              <a:rPr lang="en-US" sz="2500" dirty="0">
                <a:solidFill>
                  <a:schemeClr val="tx1"/>
                </a:solidFill>
              </a:rPr>
              <a:t>Key social, political, economic, religious, political, military and cultural structures/institutions of </a:t>
            </a:r>
            <a:r>
              <a:rPr lang="en-US" sz="2500" dirty="0" smtClean="0">
                <a:solidFill>
                  <a:schemeClr val="tx1"/>
                </a:solidFill>
              </a:rPr>
              <a:t>Macedonia</a:t>
            </a:r>
          </a:p>
          <a:p>
            <a:endParaRPr lang="en-US" sz="2500" dirty="0">
              <a:solidFill>
                <a:schemeClr val="tx1"/>
              </a:solidFill>
            </a:endParaRPr>
          </a:p>
          <a:p>
            <a:r>
              <a:rPr lang="en-US" sz="2500" dirty="0" smtClean="0">
                <a:solidFill>
                  <a:schemeClr val="tx1"/>
                </a:solidFill>
              </a:rPr>
              <a:t>ACTIVITY:</a:t>
            </a:r>
          </a:p>
          <a:p>
            <a:r>
              <a:rPr lang="en-US" sz="2500" dirty="0">
                <a:solidFill>
                  <a:schemeClr val="tx1"/>
                </a:solidFill>
              </a:rPr>
              <a:t>Create a mind map </a:t>
            </a:r>
            <a:r>
              <a:rPr lang="en-US" sz="2500" dirty="0" smtClean="0">
                <a:solidFill>
                  <a:schemeClr val="tx1"/>
                </a:solidFill>
              </a:rPr>
              <a:t>on an A3 piece of paper</a:t>
            </a:r>
            <a:endParaRPr lang="en-US" sz="2500" dirty="0">
              <a:solidFill>
                <a:schemeClr val="tx1"/>
              </a:solidFill>
            </a:endParaRPr>
          </a:p>
          <a:p>
            <a:r>
              <a:rPr lang="en-US" sz="2500" dirty="0">
                <a:solidFill>
                  <a:schemeClr val="tx1"/>
                </a:solidFill>
              </a:rPr>
              <a:t>We will </a:t>
            </a:r>
            <a:r>
              <a:rPr lang="en-US" sz="2500" dirty="0" err="1">
                <a:solidFill>
                  <a:schemeClr val="tx1"/>
                </a:solidFill>
              </a:rPr>
              <a:t>summarise</a:t>
            </a:r>
            <a:r>
              <a:rPr lang="en-US" sz="2500" dirty="0">
                <a:solidFill>
                  <a:schemeClr val="tx1"/>
                </a:solidFill>
              </a:rPr>
              <a:t>/dot-point ideas about </a:t>
            </a:r>
            <a:r>
              <a:rPr lang="en-US" sz="2500" dirty="0" smtClean="0">
                <a:solidFill>
                  <a:schemeClr val="tx1"/>
                </a:solidFill>
              </a:rPr>
              <a:t>Macedonian </a:t>
            </a:r>
            <a:r>
              <a:rPr lang="en-US" sz="2500" dirty="0">
                <a:solidFill>
                  <a:schemeClr val="tx1"/>
                </a:solidFill>
              </a:rPr>
              <a:t>society</a:t>
            </a:r>
          </a:p>
          <a:p>
            <a:r>
              <a:rPr lang="en-US" sz="2500" dirty="0">
                <a:solidFill>
                  <a:schemeClr val="tx1"/>
                </a:solidFill>
              </a:rPr>
              <a:t>You will need </a:t>
            </a:r>
            <a:r>
              <a:rPr lang="en-US" sz="2500" u="sng" dirty="0">
                <a:solidFill>
                  <a:schemeClr val="tx1"/>
                </a:solidFill>
              </a:rPr>
              <a:t>6 different </a:t>
            </a:r>
            <a:r>
              <a:rPr lang="en-US" sz="2500" u="sng" dirty="0" err="1">
                <a:solidFill>
                  <a:schemeClr val="tx1"/>
                </a:solidFill>
              </a:rPr>
              <a:t>coloured</a:t>
            </a:r>
            <a:r>
              <a:rPr lang="en-US" sz="2500" u="sng" dirty="0">
                <a:solidFill>
                  <a:schemeClr val="tx1"/>
                </a:solidFill>
              </a:rPr>
              <a:t> </a:t>
            </a:r>
            <a:r>
              <a:rPr lang="en-US" sz="2500" u="sng" dirty="0" err="1">
                <a:solidFill>
                  <a:schemeClr val="tx1"/>
                </a:solidFill>
              </a:rPr>
              <a:t>textas</a:t>
            </a:r>
            <a:r>
              <a:rPr lang="en-US" sz="2500" u="sng" dirty="0">
                <a:solidFill>
                  <a:schemeClr val="tx1"/>
                </a:solidFill>
              </a:rPr>
              <a:t>/pencils </a:t>
            </a:r>
            <a:r>
              <a:rPr lang="en-US" sz="2500" dirty="0">
                <a:solidFill>
                  <a:schemeClr val="tx1"/>
                </a:solidFill>
              </a:rPr>
              <a:t>to </a:t>
            </a:r>
            <a:r>
              <a:rPr lang="en-US" sz="2500" dirty="0" err="1">
                <a:solidFill>
                  <a:schemeClr val="tx1"/>
                </a:solidFill>
              </a:rPr>
              <a:t>colour</a:t>
            </a:r>
            <a:r>
              <a:rPr lang="en-US" sz="2500" dirty="0">
                <a:solidFill>
                  <a:schemeClr val="tx1"/>
                </a:solidFill>
              </a:rPr>
              <a:t> co-ordinate your page!</a:t>
            </a:r>
          </a:p>
          <a:p>
            <a:pPr lvl="2"/>
            <a:r>
              <a:rPr lang="en-US" sz="2500" dirty="0">
                <a:solidFill>
                  <a:schemeClr val="tx1"/>
                </a:solidFill>
              </a:rPr>
              <a:t>This will assist in </a:t>
            </a:r>
            <a:r>
              <a:rPr lang="en-US" sz="2500" dirty="0" err="1">
                <a:solidFill>
                  <a:schemeClr val="tx1"/>
                </a:solidFill>
              </a:rPr>
              <a:t>organisation</a:t>
            </a:r>
            <a:r>
              <a:rPr lang="en-US" sz="2500" dirty="0">
                <a:solidFill>
                  <a:schemeClr val="tx1"/>
                </a:solidFill>
              </a:rPr>
              <a:t> of ideas and </a:t>
            </a:r>
            <a:r>
              <a:rPr lang="en-US" sz="2500" dirty="0" err="1" smtClean="0">
                <a:solidFill>
                  <a:schemeClr val="tx1"/>
                </a:solidFill>
              </a:rPr>
              <a:t>memorisation</a:t>
            </a:r>
            <a:endParaRPr lang="en-US" sz="2500" dirty="0" smtClean="0">
              <a:solidFill>
                <a:schemeClr val="tx1"/>
              </a:solidFill>
            </a:endParaRPr>
          </a:p>
          <a:p>
            <a:r>
              <a:rPr lang="en-US" sz="2900" b="1" i="1" u="sng" dirty="0" smtClean="0">
                <a:solidFill>
                  <a:schemeClr val="tx1"/>
                </a:solidFill>
              </a:rPr>
              <a:t>To be stapled in your book at the end of the lesson</a:t>
            </a:r>
            <a:endParaRPr lang="en-US" sz="2900" b="1" i="1" u="sng" dirty="0">
              <a:solidFill>
                <a:schemeClr val="tx1"/>
              </a:solidFill>
            </a:endParaRPr>
          </a:p>
          <a:p>
            <a:endParaRPr lang="en-US" sz="2500" dirty="0">
              <a:solidFill>
                <a:schemeClr val="tx1"/>
              </a:solidFill>
            </a:endParaRPr>
          </a:p>
        </p:txBody>
      </p:sp>
    </p:spTree>
    <p:extLst>
      <p:ext uri="{BB962C8B-B14F-4D97-AF65-F5344CB8AC3E}">
        <p14:creationId xmlns:p14="http://schemas.microsoft.com/office/powerpoint/2010/main" val="15381550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765931"/>
          </a:xfrm>
        </p:spPr>
        <p:txBody>
          <a:bodyPr>
            <a:normAutofit fontScale="90000"/>
          </a:bodyPr>
          <a:lstStyle/>
          <a:p>
            <a:r>
              <a:rPr lang="en-US" dirty="0" smtClean="0"/>
              <a:t>Social structures</a:t>
            </a:r>
            <a:endParaRPr lang="en-US" dirty="0"/>
          </a:p>
        </p:txBody>
      </p:sp>
      <p:sp>
        <p:nvSpPr>
          <p:cNvPr id="3" name="Content Placeholder 2"/>
          <p:cNvSpPr>
            <a:spLocks noGrp="1"/>
          </p:cNvSpPr>
          <p:nvPr>
            <p:ph idx="1"/>
          </p:nvPr>
        </p:nvSpPr>
        <p:spPr>
          <a:xfrm>
            <a:off x="1155985" y="1148316"/>
            <a:ext cx="10178322" cy="5220586"/>
          </a:xfrm>
        </p:spPr>
        <p:txBody>
          <a:bodyPr/>
          <a:lstStyle/>
          <a:p>
            <a:r>
              <a:rPr lang="en-US" dirty="0"/>
              <a:t>Evidence we have focusses on the elites and upper classes</a:t>
            </a:r>
          </a:p>
          <a:p>
            <a:r>
              <a:rPr lang="en-US" dirty="0"/>
              <a:t>Macedonian elite were called </a:t>
            </a:r>
            <a:r>
              <a:rPr lang="en-US" b="1" i="1" dirty="0" err="1"/>
              <a:t>hetairoi</a:t>
            </a:r>
            <a:r>
              <a:rPr lang="en-US" dirty="0"/>
              <a:t>, or companions.</a:t>
            </a:r>
          </a:p>
          <a:p>
            <a:r>
              <a:rPr lang="en-US" dirty="0"/>
              <a:t>The </a:t>
            </a:r>
            <a:r>
              <a:rPr lang="en-US" dirty="0" err="1"/>
              <a:t>hetairoi</a:t>
            </a:r>
            <a:r>
              <a:rPr lang="en-US" dirty="0"/>
              <a:t> met at </a:t>
            </a:r>
            <a:r>
              <a:rPr lang="en-US" b="1" i="1" dirty="0"/>
              <a:t>symposia</a:t>
            </a:r>
            <a:r>
              <a:rPr lang="en-US" dirty="0"/>
              <a:t>, or big meetings, where they would come together and compete for influence and the king's </a:t>
            </a:r>
            <a:r>
              <a:rPr lang="en-US" dirty="0" err="1"/>
              <a:t>favour</a:t>
            </a:r>
            <a:r>
              <a:rPr lang="en-US" dirty="0"/>
              <a:t>. </a:t>
            </a:r>
          </a:p>
          <a:p>
            <a:r>
              <a:rPr lang="en-US" dirty="0"/>
              <a:t>These symposia were notorious for drunken brawls and other debauchery. </a:t>
            </a:r>
          </a:p>
          <a:p>
            <a:r>
              <a:rPr lang="en-US" dirty="0"/>
              <a:t>Macedonian women had limited rights. But they were a little better off than women in Greek city-states like Athens, who were almost always secluded at home. </a:t>
            </a:r>
          </a:p>
          <a:p>
            <a:r>
              <a:rPr lang="en-US" dirty="0"/>
              <a:t>Macedonians also tended to own fewer slaves than the Greeks</a:t>
            </a:r>
            <a:r>
              <a:rPr lang="en-US" dirty="0" smtClean="0"/>
              <a:t>.</a:t>
            </a:r>
            <a:endParaRPr lang="en-US" dirty="0"/>
          </a:p>
        </p:txBody>
      </p:sp>
    </p:spTree>
    <p:extLst>
      <p:ext uri="{BB962C8B-B14F-4D97-AF65-F5344CB8AC3E}">
        <p14:creationId xmlns:p14="http://schemas.microsoft.com/office/powerpoint/2010/main" val="663622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765931"/>
          </a:xfrm>
        </p:spPr>
        <p:txBody>
          <a:bodyPr>
            <a:normAutofit fontScale="90000"/>
          </a:bodyPr>
          <a:lstStyle/>
          <a:p>
            <a:r>
              <a:rPr lang="en-US" dirty="0" smtClean="0"/>
              <a:t>Political structures</a:t>
            </a:r>
            <a:endParaRPr lang="en-US" dirty="0"/>
          </a:p>
        </p:txBody>
      </p:sp>
      <p:sp>
        <p:nvSpPr>
          <p:cNvPr id="3" name="Content Placeholder 2"/>
          <p:cNvSpPr>
            <a:spLocks noGrp="1"/>
          </p:cNvSpPr>
          <p:nvPr>
            <p:ph idx="1"/>
          </p:nvPr>
        </p:nvSpPr>
        <p:spPr>
          <a:xfrm>
            <a:off x="1155985" y="1148316"/>
            <a:ext cx="10178322" cy="5220586"/>
          </a:xfrm>
        </p:spPr>
        <p:txBody>
          <a:bodyPr/>
          <a:lstStyle/>
          <a:p>
            <a:r>
              <a:rPr lang="en-US" dirty="0"/>
              <a:t>Unlike Greek city-states that had a kind of democratic government, Macedonia was a </a:t>
            </a:r>
            <a:r>
              <a:rPr lang="en-US" b="1" dirty="0"/>
              <a:t>hereditary monarchy: </a:t>
            </a:r>
            <a:r>
              <a:rPr lang="en-US" dirty="0"/>
              <a:t>kingship was handed down to another member of the family. </a:t>
            </a:r>
          </a:p>
          <a:p>
            <a:r>
              <a:rPr lang="en-US" dirty="0"/>
              <a:t>Kings often polygamous, meaning they had many wives,</a:t>
            </a:r>
          </a:p>
          <a:p>
            <a:r>
              <a:rPr lang="en-US" dirty="0"/>
              <a:t>Succession was sometimes controversial, with various children from various mothers all rivals to be the heir.</a:t>
            </a:r>
          </a:p>
          <a:p>
            <a:r>
              <a:rPr lang="en-US" dirty="0"/>
              <a:t>King was the head of state, the commander of the armed forces, and also the head of the religion: the power to mint coins and circulate money. </a:t>
            </a:r>
          </a:p>
          <a:p>
            <a:r>
              <a:rPr lang="en-US" dirty="0"/>
              <a:t>Even though the king had ultimate power, he did convene a council called the </a:t>
            </a:r>
            <a:r>
              <a:rPr lang="en-US" b="1" i="1" dirty="0"/>
              <a:t>synedrion</a:t>
            </a:r>
            <a:r>
              <a:rPr lang="en-US" dirty="0"/>
              <a:t>. The synedrion was made up of high-ranking Macedonian men, and they would meet to discuss issues and give the king advice. The king didn't get to choose the members of the synedrion because some of them had been guaranteed a spot by birthright.</a:t>
            </a:r>
          </a:p>
          <a:p>
            <a:r>
              <a:rPr lang="en-US" dirty="0"/>
              <a:t>The first known Macedonian king is </a:t>
            </a:r>
            <a:r>
              <a:rPr lang="en-US" dirty="0" err="1"/>
              <a:t>Caranus</a:t>
            </a:r>
            <a:r>
              <a:rPr lang="en-US" dirty="0"/>
              <a:t>, and King </a:t>
            </a:r>
            <a:r>
              <a:rPr lang="en-US" dirty="0" err="1"/>
              <a:t>Amyntas</a:t>
            </a:r>
            <a:r>
              <a:rPr lang="en-US" dirty="0"/>
              <a:t> III was the first to really unify all of the regions of Macedonia. The major ruling dynasty of Macedonia was the </a:t>
            </a:r>
            <a:r>
              <a:rPr lang="en-US" b="1" dirty="0" err="1"/>
              <a:t>Argeads</a:t>
            </a:r>
            <a:r>
              <a:rPr lang="en-US" dirty="0"/>
              <a:t>, who gave us King Philip II and Alexander the Great, who expanded and strengthened Macedonia.</a:t>
            </a:r>
          </a:p>
        </p:txBody>
      </p:sp>
    </p:spTree>
    <p:extLst>
      <p:ext uri="{BB962C8B-B14F-4D97-AF65-F5344CB8AC3E}">
        <p14:creationId xmlns:p14="http://schemas.microsoft.com/office/powerpoint/2010/main" val="2050890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765931"/>
          </a:xfrm>
        </p:spPr>
        <p:txBody>
          <a:bodyPr>
            <a:normAutofit fontScale="90000"/>
          </a:bodyPr>
          <a:lstStyle/>
          <a:p>
            <a:r>
              <a:rPr lang="en-US" dirty="0" smtClean="0"/>
              <a:t>Economic structures</a:t>
            </a:r>
            <a:endParaRPr lang="en-US" dirty="0"/>
          </a:p>
        </p:txBody>
      </p:sp>
      <p:sp>
        <p:nvSpPr>
          <p:cNvPr id="3" name="Content Placeholder 2"/>
          <p:cNvSpPr>
            <a:spLocks noGrp="1"/>
          </p:cNvSpPr>
          <p:nvPr>
            <p:ph idx="1"/>
          </p:nvPr>
        </p:nvSpPr>
        <p:spPr>
          <a:xfrm>
            <a:off x="1155985" y="1148316"/>
            <a:ext cx="10178322" cy="5220586"/>
          </a:xfrm>
        </p:spPr>
        <p:txBody>
          <a:bodyPr>
            <a:normAutofit/>
          </a:bodyPr>
          <a:lstStyle/>
          <a:p>
            <a:r>
              <a:rPr lang="en-US" dirty="0"/>
              <a:t>Early on, the Macedonian economy relied on its timber resources. Then, they began to acquire some gold and silver mines, and charge port duties.</a:t>
            </a:r>
          </a:p>
          <a:p>
            <a:r>
              <a:rPr lang="en-US" dirty="0"/>
              <a:t>There was a big gap between the rich elites and the poor, but as Philip II expanded Macedonian lands, the economy grew. </a:t>
            </a:r>
          </a:p>
          <a:p>
            <a:r>
              <a:rPr lang="en-US" dirty="0"/>
              <a:t>Under Philip II and Alexander the economy became </a:t>
            </a:r>
            <a:r>
              <a:rPr lang="en-US" b="1" dirty="0"/>
              <a:t>monetary</a:t>
            </a:r>
            <a:r>
              <a:rPr lang="en-US" dirty="0"/>
              <a:t>, which means that coins were issued and used everywhere as money. </a:t>
            </a:r>
          </a:p>
          <a:p>
            <a:r>
              <a:rPr lang="en-US" dirty="0"/>
              <a:t>That's a sign of a much more prosperous economy because coins make business transactions go much faster than negotiating and bartering a stack of timber for some sheep.</a:t>
            </a:r>
          </a:p>
        </p:txBody>
      </p:sp>
    </p:spTree>
    <p:extLst>
      <p:ext uri="{BB962C8B-B14F-4D97-AF65-F5344CB8AC3E}">
        <p14:creationId xmlns:p14="http://schemas.microsoft.com/office/powerpoint/2010/main" val="1693341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08412" y="41870"/>
            <a:ext cx="11264900" cy="5892800"/>
          </a:xfrm>
          <a:prstGeom prst="rect">
            <a:avLst/>
          </a:prstGeom>
        </p:spPr>
      </p:pic>
      <p:sp>
        <p:nvSpPr>
          <p:cNvPr id="3" name="TextBox 2"/>
          <p:cNvSpPr txBox="1"/>
          <p:nvPr/>
        </p:nvSpPr>
        <p:spPr>
          <a:xfrm>
            <a:off x="1048870" y="5934670"/>
            <a:ext cx="10824883" cy="923330"/>
          </a:xfrm>
          <a:prstGeom prst="rect">
            <a:avLst/>
          </a:prstGeom>
          <a:noFill/>
        </p:spPr>
        <p:txBody>
          <a:bodyPr wrap="square" rtlCol="0">
            <a:spAutoFit/>
          </a:bodyPr>
          <a:lstStyle/>
          <a:p>
            <a:r>
              <a:rPr lang="en-US" dirty="0"/>
              <a:t>Philip III of Macedon, 323-300 BC. Silver drachm, </a:t>
            </a:r>
            <a:r>
              <a:rPr lang="en-US" dirty="0" err="1"/>
              <a:t>Kolophon</a:t>
            </a:r>
            <a:r>
              <a:rPr lang="en-US" dirty="0"/>
              <a:t> mint, struck c. 323-319 BC. </a:t>
            </a:r>
          </a:p>
          <a:p>
            <a:r>
              <a:rPr lang="en-US" dirty="0"/>
              <a:t>Head of Alexander as Herakles clad in </a:t>
            </a:r>
            <a:r>
              <a:rPr lang="en-US" dirty="0" err="1"/>
              <a:t>Nemean</a:t>
            </a:r>
            <a:r>
              <a:rPr lang="en-US" dirty="0"/>
              <a:t> lion skin rt. / Zeus enthroned left, holding eagle and scepter, lyre to left, ΦIΛIΠΠOY behind.</a:t>
            </a:r>
          </a:p>
        </p:txBody>
      </p:sp>
    </p:spTree>
    <p:extLst>
      <p:ext uri="{BB962C8B-B14F-4D97-AF65-F5344CB8AC3E}">
        <p14:creationId xmlns:p14="http://schemas.microsoft.com/office/powerpoint/2010/main" val="155828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765931"/>
          </a:xfrm>
        </p:spPr>
        <p:txBody>
          <a:bodyPr>
            <a:normAutofit fontScale="90000"/>
          </a:bodyPr>
          <a:lstStyle/>
          <a:p>
            <a:r>
              <a:rPr lang="en-US" dirty="0" smtClean="0"/>
              <a:t>Religious structures</a:t>
            </a:r>
            <a:endParaRPr lang="en-US" dirty="0"/>
          </a:p>
        </p:txBody>
      </p:sp>
      <p:sp>
        <p:nvSpPr>
          <p:cNvPr id="3" name="Content Placeholder 2"/>
          <p:cNvSpPr>
            <a:spLocks noGrp="1"/>
          </p:cNvSpPr>
          <p:nvPr>
            <p:ph idx="1"/>
          </p:nvPr>
        </p:nvSpPr>
        <p:spPr>
          <a:xfrm>
            <a:off x="1155985" y="1148316"/>
            <a:ext cx="10178322" cy="5220586"/>
          </a:xfrm>
        </p:spPr>
        <p:txBody>
          <a:bodyPr>
            <a:normAutofit lnSpcReduction="10000"/>
          </a:bodyPr>
          <a:lstStyle/>
          <a:p>
            <a:r>
              <a:rPr lang="en-US" dirty="0"/>
              <a:t>Same Gods as Greeks: worshipped the 12 Olympians</a:t>
            </a:r>
          </a:p>
          <a:p>
            <a:r>
              <a:rPr lang="en-US" dirty="0"/>
              <a:t>Zeus was the single most important deity </a:t>
            </a:r>
          </a:p>
          <a:p>
            <a:r>
              <a:rPr lang="en-US" dirty="0" err="1"/>
              <a:t>Makedon</a:t>
            </a:r>
            <a:r>
              <a:rPr lang="en-US" dirty="0"/>
              <a:t>, the mythical ancestor of the Macedonians, was held to be a son of Zeus, and Zeus features prominently in Macedonian coinage.</a:t>
            </a:r>
          </a:p>
          <a:p>
            <a:r>
              <a:rPr lang="en-US" dirty="0"/>
              <a:t>The most important </a:t>
            </a:r>
            <a:r>
              <a:rPr lang="en-US" dirty="0" err="1"/>
              <a:t>centre</a:t>
            </a:r>
            <a:r>
              <a:rPr lang="en-US" dirty="0"/>
              <a:t> of worship of Zeus was </a:t>
            </a:r>
            <a:r>
              <a:rPr lang="en-US" dirty="0" smtClean="0"/>
              <a:t>at Dion in Pieria,</a:t>
            </a:r>
            <a:r>
              <a:rPr lang="en-US" dirty="0"/>
              <a:t> </a:t>
            </a:r>
            <a:r>
              <a:rPr lang="en-US" dirty="0" smtClean="0"/>
              <a:t>the </a:t>
            </a:r>
            <a:r>
              <a:rPr lang="en-US" dirty="0"/>
              <a:t>spiritual </a:t>
            </a:r>
            <a:r>
              <a:rPr lang="en-US" dirty="0" err="1"/>
              <a:t>centre</a:t>
            </a:r>
            <a:r>
              <a:rPr lang="en-US" dirty="0"/>
              <a:t> of the Macedonians, where beginning in 400 BC King </a:t>
            </a:r>
            <a:r>
              <a:rPr lang="en-US" dirty="0" err="1"/>
              <a:t>Archelaus</a:t>
            </a:r>
            <a:r>
              <a:rPr lang="en-US" dirty="0"/>
              <a:t> established an annual festival, which in </a:t>
            </a:r>
            <a:r>
              <a:rPr lang="en-US" dirty="0" err="1"/>
              <a:t>honour</a:t>
            </a:r>
            <a:r>
              <a:rPr lang="en-US" dirty="0"/>
              <a:t> of Zeus featured lavish sacrifices and athletic contests</a:t>
            </a:r>
          </a:p>
          <a:p>
            <a:r>
              <a:rPr lang="en-US" dirty="0"/>
              <a:t>Worship of Zeus's son Heracles was also prominent; coins featuring Heracles appear from the 5th century BC onwards.</a:t>
            </a:r>
          </a:p>
          <a:p>
            <a:r>
              <a:rPr lang="en-US" dirty="0"/>
              <a:t>This was in large part because the </a:t>
            </a:r>
            <a:r>
              <a:rPr lang="en-US" dirty="0" err="1"/>
              <a:t>Argead</a:t>
            </a:r>
            <a:r>
              <a:rPr lang="en-US" dirty="0"/>
              <a:t> kings of Macedon traced their lineage to Heracles, making sacrifices to him in the Macedonian capitals of </a:t>
            </a:r>
            <a:r>
              <a:rPr lang="en-US" dirty="0" err="1"/>
              <a:t>Vergina</a:t>
            </a:r>
            <a:r>
              <a:rPr lang="en-US" dirty="0"/>
              <a:t> and Pella.</a:t>
            </a:r>
          </a:p>
          <a:p>
            <a:r>
              <a:rPr lang="en-US" dirty="0"/>
              <a:t>Importance of the worship of Artemis. Artemis was often depicted as a huntress and served as a tutelary goddess for young girls entering the coming-of-age process, much </a:t>
            </a:r>
            <a:r>
              <a:rPr lang="en-US" dirty="0" smtClean="0"/>
              <a:t>as Heracles </a:t>
            </a:r>
            <a:r>
              <a:rPr lang="en-US" dirty="0" err="1" smtClean="0"/>
              <a:t>Kynagidas</a:t>
            </a:r>
            <a:r>
              <a:rPr lang="en-US" dirty="0" smtClean="0"/>
              <a:t> (</a:t>
            </a:r>
            <a:r>
              <a:rPr lang="en-US" dirty="0"/>
              <a:t>Hunter) did for young men who had completed it.</a:t>
            </a:r>
          </a:p>
        </p:txBody>
      </p:sp>
    </p:spTree>
    <p:extLst>
      <p:ext uri="{BB962C8B-B14F-4D97-AF65-F5344CB8AC3E}">
        <p14:creationId xmlns:p14="http://schemas.microsoft.com/office/powerpoint/2010/main" val="1223016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765931"/>
          </a:xfrm>
        </p:spPr>
        <p:txBody>
          <a:bodyPr>
            <a:normAutofit fontScale="90000"/>
          </a:bodyPr>
          <a:lstStyle/>
          <a:p>
            <a:r>
              <a:rPr lang="en-US" dirty="0" smtClean="0"/>
              <a:t>Religious structures</a:t>
            </a:r>
            <a:endParaRPr lang="en-US" dirty="0"/>
          </a:p>
        </p:txBody>
      </p:sp>
      <p:sp>
        <p:nvSpPr>
          <p:cNvPr id="3" name="Content Placeholder 2"/>
          <p:cNvSpPr>
            <a:spLocks noGrp="1"/>
          </p:cNvSpPr>
          <p:nvPr>
            <p:ph idx="1"/>
          </p:nvPr>
        </p:nvSpPr>
        <p:spPr>
          <a:xfrm>
            <a:off x="1155985" y="1148316"/>
            <a:ext cx="10178322" cy="5220586"/>
          </a:xfrm>
        </p:spPr>
        <p:txBody>
          <a:bodyPr>
            <a:normAutofit/>
          </a:bodyPr>
          <a:lstStyle/>
          <a:p>
            <a:r>
              <a:rPr lang="en-US" dirty="0">
                <a:solidFill>
                  <a:schemeClr val="tx1"/>
                </a:solidFill>
              </a:rPr>
              <a:t>Macedonian elite built lavish tombs at the time of death rather than constructing temples during life</a:t>
            </a:r>
          </a:p>
          <a:p>
            <a:r>
              <a:rPr lang="en-US" dirty="0">
                <a:solidFill>
                  <a:schemeClr val="tx1"/>
                </a:solidFill>
              </a:rPr>
              <a:t>Macedonian burials contain items similar to those at Mycenae, such as burial with weapons, gold death masks </a:t>
            </a:r>
          </a:p>
          <a:p>
            <a:r>
              <a:rPr lang="en-US" dirty="0">
                <a:solidFill>
                  <a:schemeClr val="tx1"/>
                </a:solidFill>
              </a:rPr>
              <a:t>Macedonian monarchs seen as Gods: began with the death of Philip II, yet it was his </a:t>
            </a:r>
            <a:r>
              <a:rPr lang="en-US" dirty="0" smtClean="0">
                <a:solidFill>
                  <a:schemeClr val="tx1"/>
                </a:solidFill>
              </a:rPr>
              <a:t>son Alexander the Great</a:t>
            </a:r>
            <a:r>
              <a:rPr lang="en-US" dirty="0">
                <a:solidFill>
                  <a:schemeClr val="tx1"/>
                </a:solidFill>
              </a:rPr>
              <a:t> who unambiguously claimed to be </a:t>
            </a:r>
            <a:r>
              <a:rPr lang="en-US" dirty="0" smtClean="0">
                <a:solidFill>
                  <a:schemeClr val="tx1"/>
                </a:solidFill>
              </a:rPr>
              <a:t>a living god</a:t>
            </a:r>
          </a:p>
          <a:p>
            <a:r>
              <a:rPr lang="en-US" dirty="0" smtClean="0">
                <a:solidFill>
                  <a:schemeClr val="tx1"/>
                </a:solidFill>
              </a:rPr>
              <a:t>Alexander </a:t>
            </a:r>
            <a:r>
              <a:rPr lang="en-US" dirty="0">
                <a:solidFill>
                  <a:schemeClr val="tx1"/>
                </a:solidFill>
              </a:rPr>
              <a:t>visits </a:t>
            </a:r>
            <a:r>
              <a:rPr lang="en-US" dirty="0" smtClean="0">
                <a:solidFill>
                  <a:schemeClr val="tx1"/>
                </a:solidFill>
              </a:rPr>
              <a:t>the oracle</a:t>
            </a:r>
            <a:r>
              <a:rPr lang="en-US" dirty="0">
                <a:solidFill>
                  <a:schemeClr val="tx1"/>
                </a:solidFill>
              </a:rPr>
              <a:t> </a:t>
            </a:r>
            <a:r>
              <a:rPr lang="en-US" dirty="0" smtClean="0">
                <a:solidFill>
                  <a:schemeClr val="tx1"/>
                </a:solidFill>
              </a:rPr>
              <a:t>of </a:t>
            </a:r>
            <a:r>
              <a:rPr lang="en-US" dirty="0" err="1" smtClean="0">
                <a:solidFill>
                  <a:schemeClr val="tx1"/>
                </a:solidFill>
              </a:rPr>
              <a:t>Didyma</a:t>
            </a:r>
            <a:r>
              <a:rPr lang="en-US" dirty="0">
                <a:solidFill>
                  <a:schemeClr val="tx1"/>
                </a:solidFill>
              </a:rPr>
              <a:t> in 334 BC to confirm </a:t>
            </a:r>
            <a:r>
              <a:rPr lang="en-US" dirty="0" smtClean="0">
                <a:solidFill>
                  <a:schemeClr val="tx1"/>
                </a:solidFill>
              </a:rPr>
              <a:t>his divine status: </a:t>
            </a:r>
            <a:r>
              <a:rPr lang="en-US" dirty="0">
                <a:solidFill>
                  <a:schemeClr val="tx1"/>
                </a:solidFill>
              </a:rPr>
              <a:t>priest there convinced him that Philip II was merely his mortal father and Zeus his actual father, Alexander began styling himself as the 'Son of Zeus’,</a:t>
            </a:r>
          </a:p>
        </p:txBody>
      </p:sp>
    </p:spTree>
    <p:extLst>
      <p:ext uri="{BB962C8B-B14F-4D97-AF65-F5344CB8AC3E}">
        <p14:creationId xmlns:p14="http://schemas.microsoft.com/office/powerpoint/2010/main" val="2135196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765931"/>
          </a:xfrm>
        </p:spPr>
        <p:txBody>
          <a:bodyPr>
            <a:normAutofit fontScale="90000"/>
          </a:bodyPr>
          <a:lstStyle/>
          <a:p>
            <a:r>
              <a:rPr lang="en-US" dirty="0" smtClean="0"/>
              <a:t>Military structures</a:t>
            </a:r>
            <a:endParaRPr lang="en-US" dirty="0"/>
          </a:p>
        </p:txBody>
      </p:sp>
      <p:sp>
        <p:nvSpPr>
          <p:cNvPr id="3" name="Content Placeholder 2"/>
          <p:cNvSpPr>
            <a:spLocks noGrp="1"/>
          </p:cNvSpPr>
          <p:nvPr>
            <p:ph idx="1"/>
          </p:nvPr>
        </p:nvSpPr>
        <p:spPr>
          <a:xfrm>
            <a:off x="1155985" y="1148316"/>
            <a:ext cx="10178322" cy="5220586"/>
          </a:xfrm>
        </p:spPr>
        <p:txBody>
          <a:bodyPr>
            <a:normAutofit/>
          </a:bodyPr>
          <a:lstStyle/>
          <a:p>
            <a:r>
              <a:rPr lang="en-US" dirty="0"/>
              <a:t>One of Philip's most important achievements: reforming the Macedonian army - Introduced lighter weaponry and an extra long pike or spear called a </a:t>
            </a:r>
            <a:r>
              <a:rPr lang="en-US" b="1" dirty="0" err="1"/>
              <a:t>sarissa</a:t>
            </a:r>
            <a:r>
              <a:rPr lang="en-US" dirty="0"/>
              <a:t>.</a:t>
            </a:r>
          </a:p>
          <a:p>
            <a:r>
              <a:rPr lang="en-US" dirty="0"/>
              <a:t>Philip took the soldiers on forced marches carrying their gear to get them in battle shape</a:t>
            </a:r>
          </a:p>
          <a:p>
            <a:r>
              <a:rPr lang="en-US" dirty="0"/>
              <a:t>Improved some tactics he learned in Greece like the </a:t>
            </a:r>
            <a:r>
              <a:rPr lang="en-US" b="1" dirty="0"/>
              <a:t>phalanx</a:t>
            </a:r>
            <a:r>
              <a:rPr lang="en-US" dirty="0"/>
              <a:t>, in which soldiers marched together in a tight formation like a finger. He improved siege warfare with better catapults and used cavalry forces together with ground troops in a revolutionary way.</a:t>
            </a:r>
          </a:p>
          <a:p>
            <a:r>
              <a:rPr lang="en-US" dirty="0"/>
              <a:t>King Philip II had grand visions of taking over all of Greece and parts of Asia, but he knew that he would have to be clever and patient. He used all sorts of diplomatic strategies, and even bribes, to placate and conquer Greek city-states. </a:t>
            </a:r>
          </a:p>
          <a:p>
            <a:r>
              <a:rPr lang="en-US" dirty="0"/>
              <a:t>He was brilliant at playing city-states against one another, inflaming their rivalries so that they would not unite against him. When the time was right, he would strike with his elite military.</a:t>
            </a:r>
          </a:p>
        </p:txBody>
      </p:sp>
    </p:spTree>
    <p:extLst>
      <p:ext uri="{BB962C8B-B14F-4D97-AF65-F5344CB8AC3E}">
        <p14:creationId xmlns:p14="http://schemas.microsoft.com/office/powerpoint/2010/main" val="1795195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65490" y="0"/>
            <a:ext cx="10061020" cy="6858000"/>
          </a:xfrm>
          <a:prstGeom prst="rect">
            <a:avLst/>
          </a:prstGeom>
        </p:spPr>
      </p:pic>
    </p:spTree>
    <p:extLst>
      <p:ext uri="{BB962C8B-B14F-4D97-AF65-F5344CB8AC3E}">
        <p14:creationId xmlns:p14="http://schemas.microsoft.com/office/powerpoint/2010/main" val="55829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765931"/>
          </a:xfrm>
        </p:spPr>
        <p:txBody>
          <a:bodyPr>
            <a:normAutofit fontScale="90000"/>
          </a:bodyPr>
          <a:lstStyle/>
          <a:p>
            <a:r>
              <a:rPr lang="en-US" dirty="0" smtClean="0"/>
              <a:t>Cultural structures</a:t>
            </a:r>
            <a:endParaRPr lang="en-US" dirty="0"/>
          </a:p>
        </p:txBody>
      </p:sp>
      <p:sp>
        <p:nvSpPr>
          <p:cNvPr id="3" name="Content Placeholder 2"/>
          <p:cNvSpPr>
            <a:spLocks noGrp="1"/>
          </p:cNvSpPr>
          <p:nvPr>
            <p:ph idx="1"/>
          </p:nvPr>
        </p:nvSpPr>
        <p:spPr>
          <a:xfrm>
            <a:off x="1155985" y="1148316"/>
            <a:ext cx="10178322" cy="5220586"/>
          </a:xfrm>
        </p:spPr>
        <p:txBody>
          <a:bodyPr>
            <a:normAutofit/>
          </a:bodyPr>
          <a:lstStyle/>
          <a:p>
            <a:r>
              <a:rPr lang="en-US" dirty="0">
                <a:solidFill>
                  <a:schemeClr val="tx1"/>
                </a:solidFill>
              </a:rPr>
              <a:t>Macedonian elite: importing significantly greater customs, artwork, and art traditions from other regions of Greece. </a:t>
            </a:r>
          </a:p>
          <a:p>
            <a:r>
              <a:rPr lang="en-US" dirty="0" smtClean="0">
                <a:solidFill>
                  <a:schemeClr val="tx1"/>
                </a:solidFill>
              </a:rPr>
              <a:t>Macedonian metalwork</a:t>
            </a:r>
            <a:r>
              <a:rPr lang="en-US" dirty="0">
                <a:solidFill>
                  <a:schemeClr val="tx1"/>
                </a:solidFill>
              </a:rPr>
              <a:t> usually </a:t>
            </a:r>
            <a:r>
              <a:rPr lang="en-US" dirty="0" smtClean="0">
                <a:solidFill>
                  <a:schemeClr val="tx1"/>
                </a:solidFill>
              </a:rPr>
              <a:t>followed Athenian styles of vase shapes</a:t>
            </a:r>
            <a:r>
              <a:rPr lang="en-US" dirty="0">
                <a:solidFill>
                  <a:schemeClr val="tx1"/>
                </a:solidFill>
              </a:rPr>
              <a:t> </a:t>
            </a:r>
            <a:r>
              <a:rPr lang="en-US" dirty="0" smtClean="0">
                <a:solidFill>
                  <a:schemeClr val="tx1"/>
                </a:solidFill>
              </a:rPr>
              <a:t>from </a:t>
            </a:r>
            <a:r>
              <a:rPr lang="en-US" dirty="0">
                <a:solidFill>
                  <a:schemeClr val="tx1"/>
                </a:solidFill>
              </a:rPr>
              <a:t>the 6th century BC onward, with drinking vessels, jewellery, containers, crowns, </a:t>
            </a:r>
            <a:r>
              <a:rPr lang="en-US" dirty="0" smtClean="0">
                <a:solidFill>
                  <a:schemeClr val="tx1"/>
                </a:solidFill>
              </a:rPr>
              <a:t>and coins</a:t>
            </a:r>
            <a:r>
              <a:rPr lang="en-US" dirty="0">
                <a:solidFill>
                  <a:schemeClr val="tx1"/>
                </a:solidFill>
              </a:rPr>
              <a:t> </a:t>
            </a:r>
            <a:r>
              <a:rPr lang="en-US" dirty="0" smtClean="0">
                <a:solidFill>
                  <a:schemeClr val="tx1"/>
                </a:solidFill>
              </a:rPr>
              <a:t>among </a:t>
            </a:r>
            <a:r>
              <a:rPr lang="en-US" dirty="0">
                <a:solidFill>
                  <a:schemeClr val="tx1"/>
                </a:solidFill>
              </a:rPr>
              <a:t>the many metal objects found in Macedonian tombs.</a:t>
            </a:r>
          </a:p>
          <a:p>
            <a:r>
              <a:rPr lang="en-US" dirty="0">
                <a:solidFill>
                  <a:schemeClr val="tx1"/>
                </a:solidFill>
              </a:rPr>
              <a:t>Surviving Macedonian painted artwork </a:t>
            </a:r>
            <a:r>
              <a:rPr lang="en-US" dirty="0" smtClean="0">
                <a:solidFill>
                  <a:schemeClr val="tx1"/>
                </a:solidFill>
              </a:rPr>
              <a:t>includes frescoes and murals</a:t>
            </a:r>
            <a:r>
              <a:rPr lang="en-US" dirty="0">
                <a:solidFill>
                  <a:schemeClr val="tx1"/>
                </a:solidFill>
              </a:rPr>
              <a:t> </a:t>
            </a:r>
            <a:r>
              <a:rPr lang="en-US" dirty="0" smtClean="0">
                <a:solidFill>
                  <a:schemeClr val="tx1"/>
                </a:solidFill>
              </a:rPr>
              <a:t>on </a:t>
            </a:r>
            <a:r>
              <a:rPr lang="en-US" dirty="0">
                <a:solidFill>
                  <a:schemeClr val="tx1"/>
                </a:solidFill>
              </a:rPr>
              <a:t>walls, but also decoration </a:t>
            </a:r>
            <a:r>
              <a:rPr lang="en-US" dirty="0" smtClean="0">
                <a:solidFill>
                  <a:schemeClr val="tx1"/>
                </a:solidFill>
              </a:rPr>
              <a:t>on sculpted artwork (such as statues)</a:t>
            </a:r>
            <a:r>
              <a:rPr lang="en-US" dirty="0">
                <a:solidFill>
                  <a:schemeClr val="tx1"/>
                </a:solidFill>
              </a:rPr>
              <a:t> </a:t>
            </a:r>
            <a:endParaRPr lang="en-US" dirty="0" smtClean="0">
              <a:solidFill>
                <a:schemeClr val="tx1"/>
              </a:solidFill>
            </a:endParaRPr>
          </a:p>
          <a:p>
            <a:r>
              <a:rPr lang="en-US" dirty="0" smtClean="0">
                <a:solidFill>
                  <a:schemeClr val="tx1"/>
                </a:solidFill>
              </a:rPr>
              <a:t>Mosaics </a:t>
            </a:r>
            <a:r>
              <a:rPr lang="en-US" dirty="0">
                <a:solidFill>
                  <a:schemeClr val="tx1"/>
                </a:solidFill>
              </a:rPr>
              <a:t>serve as another significant form of surviving Macedonian artwork, especially those discovered </a:t>
            </a:r>
            <a:r>
              <a:rPr lang="en-US" dirty="0" smtClean="0">
                <a:solidFill>
                  <a:schemeClr val="tx1"/>
                </a:solidFill>
              </a:rPr>
              <a:t>at Pella</a:t>
            </a:r>
            <a:r>
              <a:rPr lang="en-US">
                <a:solidFill>
                  <a:schemeClr val="tx1"/>
                </a:solidFill>
              </a:rPr>
              <a:t> </a:t>
            </a:r>
            <a:r>
              <a:rPr lang="en-US" smtClean="0">
                <a:solidFill>
                  <a:schemeClr val="tx1"/>
                </a:solidFill>
              </a:rPr>
              <a:t>dating </a:t>
            </a:r>
            <a:r>
              <a:rPr lang="en-US" dirty="0">
                <a:solidFill>
                  <a:schemeClr val="tx1"/>
                </a:solidFill>
              </a:rPr>
              <a:t>to the 4th century BC: with mythological themes </a:t>
            </a:r>
          </a:p>
          <a:p>
            <a:r>
              <a:rPr lang="en-US" dirty="0">
                <a:solidFill>
                  <a:schemeClr val="tx1"/>
                </a:solidFill>
              </a:rPr>
              <a:t>Common themes of Macedonian paintings and mosaics include warfare, hunting and aggressive masculine sexuality (i.e. abduction of women for rape or marriage)</a:t>
            </a:r>
          </a:p>
        </p:txBody>
      </p:sp>
    </p:spTree>
    <p:extLst>
      <p:ext uri="{BB962C8B-B14F-4D97-AF65-F5344CB8AC3E}">
        <p14:creationId xmlns:p14="http://schemas.microsoft.com/office/powerpoint/2010/main" val="2028023877"/>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Badge</Template>
  <TotalTime>72</TotalTime>
  <Words>329</Words>
  <Application>Microsoft Macintosh PowerPoint</Application>
  <PresentationFormat>Widescreen</PresentationFormat>
  <Paragraphs>60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Calibri</vt:lpstr>
      <vt:lpstr>Gill Sans MT</vt:lpstr>
      <vt:lpstr>Impact</vt:lpstr>
      <vt:lpstr>Arial</vt:lpstr>
      <vt:lpstr>Badge</vt:lpstr>
      <vt:lpstr>Key structures Spermc</vt:lpstr>
      <vt:lpstr>DIscussion</vt:lpstr>
      <vt:lpstr>Today’s lesson:</vt:lpstr>
      <vt:lpstr>Social structures</vt:lpstr>
      <vt:lpstr>Political structures</vt:lpstr>
      <vt:lpstr>Economic structures</vt:lpstr>
      <vt:lpstr>PowerPoint Presentation</vt:lpstr>
      <vt:lpstr>Religious structures</vt:lpstr>
      <vt:lpstr>Religious structures</vt:lpstr>
      <vt:lpstr>Military structures</vt:lpstr>
      <vt:lpstr>PowerPoint Presentation</vt:lpstr>
      <vt:lpstr>Cultural structures</vt:lpstr>
    </vt:vector>
  </TitlesOfParts>
  <Company/>
  <LinksUpToDate>false</LinksUpToDate>
  <SharedDoc>false</SharedDoc>
  <HyperlinksChanged>false</HyperlinksChanged>
  <AppVersion>15.0035</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in the ancient world</dc:title>
  <dc:creator>BARRIE Lauren [Byford Secondary College]</dc:creator>
  <cp:lastModifiedBy>BARRIE Lauren [Byford Secondary College]</cp:lastModifiedBy>
  <cp:revision>39</cp:revision>
  <dcterms:created xsi:type="dcterms:W3CDTF">2020-06-02T04:24:18Z</dcterms:created>
  <dcterms:modified xsi:type="dcterms:W3CDTF">2020-06-02T05:41:31Z</dcterms:modified>
</cp:coreProperties>
</file>
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478" r:id="rId4"/>
  </p:sldMasterIdLst>
  <p:notesMasterIdLst>
    <p:notesMasterId r:id="rId12"/>
  </p:notesMasterIdLst>
  <p:sldIdLst>
    <p:sldId id="256" r:id="rId5"/>
    <p:sldId id="270" r:id="rId6"/>
    <p:sldId id="260" r:id="rId7"/>
    <p:sldId id="278" r:id="rId8"/>
    <p:sldId id="277" r:id="rId9"/>
    <p:sldId id="272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3875" autoAdjust="0"/>
  </p:normalViewPr>
  <p:slideViewPr>
    <p:cSldViewPr snapToGrid="0">
      <p:cViewPr>
        <p:scale>
          <a:sx n="100" d="100"/>
          <a:sy n="100" d="100"/>
        </p:scale>
        <p:origin x="1560" y="608"/>
      </p:cViewPr>
      <p:guideLst/>
    </p:cSldViewPr>
  </p:slideViewPr>
  <p:outlineViewPr>
    <p:cViewPr>
      <p:scale>
        <a:sx n="33" d="100"/>
        <a:sy n="33" d="100"/>
      </p:scale>
      <p:origin x="0" y="-47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07771-3FAA-4D43-A059-9A7D838C2880}" type="datetimeFigureOut">
              <a:rPr lang="en-US" smtClean="0"/>
              <a:t>6/15/20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B68C18-1BF1-F447-95ED-60EAAE354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59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137A75DA-C6FF-4420-94B9-E3338D1F9A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743615" y="1367500"/>
            <a:ext cx="2397795" cy="2397795"/>
          </a:xfrm>
          <a:prstGeom prst="ellipse">
            <a:avLst/>
          </a:prstGeo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Portrait Photo</a:t>
            </a:r>
          </a:p>
        </p:txBody>
      </p:sp>
    </p:spTree>
    <p:extLst>
      <p:ext uri="{BB962C8B-B14F-4D97-AF65-F5344CB8AC3E}">
        <p14:creationId xmlns:p14="http://schemas.microsoft.com/office/powerpoint/2010/main" val="182742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E2565D1-06D8-4141-9B5F-95C29313C16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Text Placeholder 19">
            <a:extLst>
              <a:ext uri="{FF2B5EF4-FFF2-40B4-BE49-F238E27FC236}">
                <a16:creationId xmlns="" xmlns:a16="http://schemas.microsoft.com/office/drawing/2014/main" id="{04FBD4F5-432F-4C2D-A734-6CC48615FF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BDDDD7-72ED-FC4E-8075-0107060235C5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3837580B-9009-4524-B820-7ACB27BCB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cxnSp>
        <p:nvCxnSpPr>
          <p:cNvPr id="12" name="Straight Connector 11" title="Horizontal Rule Line">
            <a:extLst>
              <a:ext uri="{FF2B5EF4-FFF2-40B4-BE49-F238E27FC236}">
                <a16:creationId xmlns="" xmlns:a16="http://schemas.microsoft.com/office/drawing/2014/main" id="{54F1A406-73A8-450C-B21C-AA9616F476C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95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mage / Icon Bullets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B3D9D9-8B30-6A45-929D-0A0366E2E953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=""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="" xmlns:a16="http://schemas.microsoft.com/office/drawing/2014/main" id="{0CF91DE7-F23F-444D-B56E-B059EC98D98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="" xmlns:a16="http://schemas.microsoft.com/office/drawing/2014/main" id="{DD8B7AFB-040F-4222-BF21-649EEB9B76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="" xmlns:a16="http://schemas.microsoft.com/office/drawing/2014/main" id="{36C44B50-DCD8-4661-AE20-1744F5052F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="" xmlns:a16="http://schemas.microsoft.com/office/drawing/2014/main" id="{C0107EA4-5D36-4C90-97D0-F9F14116BDE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="" xmlns:a16="http://schemas.microsoft.com/office/drawing/2014/main" id="{CB22D40E-097C-4007-9190-A374980653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="" xmlns:a16="http://schemas.microsoft.com/office/drawing/2014/main" id="{D385A57E-D5E6-4E0A-BE4C-C1B40196AB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6" name="Picture Placeholder 22">
            <a:extLst>
              <a:ext uri="{FF2B5EF4-FFF2-40B4-BE49-F238E27FC236}">
                <a16:creationId xmlns="" xmlns:a16="http://schemas.microsoft.com/office/drawing/2014/main" id="{3D1BBD84-BA1A-4F7F-BD78-6D42162E33D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7" name="Picture Placeholder 24">
            <a:extLst>
              <a:ext uri="{FF2B5EF4-FFF2-40B4-BE49-F238E27FC236}">
                <a16:creationId xmlns="" xmlns:a16="http://schemas.microsoft.com/office/drawing/2014/main" id="{75DDD589-ADD5-491E-B180-F1FCDF9ED6A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8" name="Picture Placeholder 26">
            <a:extLst>
              <a:ext uri="{FF2B5EF4-FFF2-40B4-BE49-F238E27FC236}">
                <a16:creationId xmlns="" xmlns:a16="http://schemas.microsoft.com/office/drawing/2014/main" id="{BFFFDD99-5C1A-4C7C-8FA2-BEA3DB4BA88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9" name="Picture Placeholder 30">
            <a:extLst>
              <a:ext uri="{FF2B5EF4-FFF2-40B4-BE49-F238E27FC236}">
                <a16:creationId xmlns="" xmlns:a16="http://schemas.microsoft.com/office/drawing/2014/main" id="{23C5456C-A352-4CF6-8671-B2572BAD518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0" name="Picture Placeholder 32">
            <a:extLst>
              <a:ext uri="{FF2B5EF4-FFF2-40B4-BE49-F238E27FC236}">
                <a16:creationId xmlns="" xmlns:a16="http://schemas.microsoft.com/office/drawing/2014/main" id="{C7C33AAD-B12F-4AA1-80BD-D7D3D1304B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4">
            <a:extLst>
              <a:ext uri="{FF2B5EF4-FFF2-40B4-BE49-F238E27FC236}">
                <a16:creationId xmlns="" xmlns:a16="http://schemas.microsoft.com/office/drawing/2014/main" id="{E2951AF1-2CE3-48B5-9CF3-7488DCDF3299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4187982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Bullets in a 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62550" y="2019300"/>
            <a:ext cx="1944000" cy="2700000"/>
          </a:xfr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  <a:gs pos="100000">
                <a:schemeClr val="accent1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19B67-2563-3544-8019-B2D766585AE6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9" name="Text Placeholder 8">
            <a:extLst>
              <a:ext uri="{FF2B5EF4-FFF2-40B4-BE49-F238E27FC236}">
                <a16:creationId xmlns="" xmlns:a16="http://schemas.microsoft.com/office/drawing/2014/main" id="{617748B7-E5B4-4481-8BBD-FA336F544D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806" y="2019300"/>
            <a:ext cx="1943100" cy="2700000"/>
          </a:xfrm>
          <a:gradFill>
            <a:gsLst>
              <a:gs pos="0">
                <a:schemeClr val="accent3">
                  <a:lumMod val="20000"/>
                  <a:lumOff val="80000"/>
                </a:schemeClr>
              </a:gs>
              <a:gs pos="99000">
                <a:schemeClr val="accent3">
                  <a:lumMod val="20000"/>
                  <a:lumOff val="80000"/>
                </a:schemeClr>
              </a:gs>
              <a:gs pos="100000">
                <a:schemeClr val="accent3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47DBBB1B-8761-455D-AD09-0A48C1ED27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163" y="2019300"/>
            <a:ext cx="1943100" cy="2700000"/>
          </a:xfrm>
          <a:gradFill>
            <a:gsLst>
              <a:gs pos="0">
                <a:schemeClr val="accent5">
                  <a:lumMod val="20000"/>
                  <a:lumOff val="80000"/>
                </a:schemeClr>
              </a:gs>
              <a:gs pos="99000">
                <a:schemeClr val="accent5">
                  <a:lumMod val="20000"/>
                  <a:lumOff val="80000"/>
                </a:schemeClr>
              </a:gs>
              <a:gs pos="100000">
                <a:schemeClr val="accent5"/>
              </a:gs>
            </a:gsLst>
            <a:lin ang="5400000" scaled="1"/>
          </a:gradFill>
        </p:spPr>
        <p:txBody>
          <a:bodyPr lIns="0" tIns="1332000" rIns="0" bIns="0">
            <a:no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noProof="0"/>
              <a:t>Event Description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="" xmlns:a16="http://schemas.microsoft.com/office/drawing/2014/main" id="{701A7388-8628-470F-82E9-729C86AAFD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20550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CAE5D4FA-2556-4640-8793-063247AA27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53356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8379251E-EDF2-4AC5-AB5B-C1FD66A9D6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985713" y="2324100"/>
            <a:ext cx="828000" cy="828000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i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=""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316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=""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91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Image / Icon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 title="Page Number Shape">
            <a:extLst>
              <a:ext uri="{FF2B5EF4-FFF2-40B4-BE49-F238E27FC236}">
                <a16:creationId xmlns="" xmlns:a16="http://schemas.microsoft.com/office/drawing/2014/main" id="{4C028BF1-8F7F-4E8E-9D47-05D46323E336}"/>
              </a:ext>
            </a:extLst>
          </p:cNvPr>
          <p:cNvSpPr/>
          <p:nvPr userDrawn="1"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F1C92E-34EF-7443-98EE-55EB64C2F5FD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=""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5D7203A2-76F7-4D98-BFEB-C48DDC3E5C6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="" xmlns:a16="http://schemas.microsoft.com/office/drawing/2014/main" id="{333FF03C-99D8-472E-A74F-87D3B5A569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982C482D-2EED-4942-A5D4-D8A794C248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51D4C5CB-E26D-42D3-B242-792D37C50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332000" rIns="0" bIns="0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="" xmlns:a16="http://schemas.microsoft.com/office/drawing/2014/main" id="{8F1F9D8C-5E2A-414E-9E1D-AB7DF4824DB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571AC612-4E8C-42E2-88EB-DB98E2791D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332000" rIns="0" bIns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="" xmlns:a16="http://schemas.microsoft.com/office/drawing/2014/main" id="{2AA95DF8-549D-4CA3-8E1A-D2DEB8CF46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648550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="" xmlns:a16="http://schemas.microsoft.com/office/drawing/2014/main" id="{AA78BAAC-8764-4AFE-9AC1-DF47930B46E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781581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="" xmlns:a16="http://schemas.microsoft.com/office/drawing/2014/main" id="{88491EA9-E431-4D48-BD30-3BA8FACC97F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914613" y="729000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="" xmlns:a16="http://schemas.microsoft.com/office/drawing/2014/main" id="{130F713C-752D-4C1A-89AB-638A7DAF60A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648550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="" xmlns:a16="http://schemas.microsoft.com/office/drawing/2014/main" id="{EDF00299-5001-4927-B344-D4AE0D5F039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81581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="" xmlns:a16="http://schemas.microsoft.com/office/drawing/2014/main" id="{4CBE51A8-3BCA-490E-93CB-B70BBCCD967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914613" y="3598323"/>
            <a:ext cx="972000" cy="972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2325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dium Photos with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831932"/>
            <a:ext cx="3833906" cy="1562638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noProof="0"/>
              <a:t>Click to edit your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6DA4A-63D4-BC43-9B38-53D06F7CC9C4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4573117"/>
            <a:ext cx="3842550" cy="1178396"/>
          </a:xfrm>
        </p:spPr>
        <p:txBody>
          <a:bodyPr/>
          <a:lstStyle>
            <a:lvl1pPr marL="0" indent="0" algn="r">
              <a:buNone/>
              <a:defRPr/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=""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0">
            <a:extLst>
              <a:ext uri="{FF2B5EF4-FFF2-40B4-BE49-F238E27FC236}">
                <a16:creationId xmlns="" xmlns:a16="http://schemas.microsoft.com/office/drawing/2014/main" id="{4EDDE9BC-8D20-403B-A5FE-C277A3515DE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424736" y="482857"/>
            <a:ext cx="2179814" cy="217981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i="1"/>
            </a:lvl1pPr>
          </a:lstStyle>
          <a:p>
            <a:r>
              <a:rPr lang="en-US" noProof="0"/>
              <a:t>Insert Portrait Photo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="" xmlns:a16="http://schemas.microsoft.com/office/drawing/2014/main" id="{2BF5E186-AFA1-42AA-AE51-CF3AC059F0F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62550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="" xmlns:a16="http://schemas.microsoft.com/office/drawing/2014/main" id="{C860CCD0-F268-4994-9434-F0E0132A4E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5581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="" xmlns:a16="http://schemas.microsoft.com/office/drawing/2014/main" id="{28D5E220-4F6C-4A47-9F47-4CA88EA23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428613" y="559678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="" xmlns:a16="http://schemas.microsoft.com/office/drawing/2014/main" id="{1DFEF73A-C0FC-4A4C-8342-991CEFF532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2550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/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="" xmlns:a16="http://schemas.microsoft.com/office/drawing/2014/main" id="{E60572FB-0574-4BE3-9637-7CA7B5ACA8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95356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="" xmlns:a16="http://schemas.microsoft.com/office/drawing/2014/main" id="{155E2FBC-2458-49C4-B75C-CAEAC6D9F1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8163" y="3429000"/>
            <a:ext cx="1944000" cy="2700000"/>
          </a:xfrm>
          <a:solidFill>
            <a:schemeClr val="bg1"/>
          </a:solidFill>
        </p:spPr>
        <p:txBody>
          <a:bodyPr lIns="0" tIns="1944000" rIns="0" bIns="72000" anchor="ctr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en-US" noProof="0"/>
              <a:t>Item Description</a:t>
            </a:r>
          </a:p>
        </p:txBody>
      </p:sp>
      <p:sp>
        <p:nvSpPr>
          <p:cNvPr id="27" name="Picture Placeholder 22">
            <a:extLst>
              <a:ext uri="{FF2B5EF4-FFF2-40B4-BE49-F238E27FC236}">
                <a16:creationId xmlns="" xmlns:a16="http://schemas.microsoft.com/office/drawing/2014/main" id="{844B1DAB-161E-44A0-9E15-DA816B46A4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5234550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8" name="Picture Placeholder 24">
            <a:extLst>
              <a:ext uri="{FF2B5EF4-FFF2-40B4-BE49-F238E27FC236}">
                <a16:creationId xmlns="" xmlns:a16="http://schemas.microsoft.com/office/drawing/2014/main" id="{8811849A-335B-47C0-980E-357EE8C4BCC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367581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29" name="Picture Placeholder 26">
            <a:extLst>
              <a:ext uri="{FF2B5EF4-FFF2-40B4-BE49-F238E27FC236}">
                <a16:creationId xmlns="" xmlns:a16="http://schemas.microsoft.com/office/drawing/2014/main" id="{E1254A81-6A51-429E-91AC-6B4CADA71DC5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9500613" y="647388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0" name="Picture Placeholder 30">
            <a:extLst>
              <a:ext uri="{FF2B5EF4-FFF2-40B4-BE49-F238E27FC236}">
                <a16:creationId xmlns="" xmlns:a16="http://schemas.microsoft.com/office/drawing/2014/main" id="{64053090-461C-448F-9705-7FEE78A4133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234550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1" name="Picture Placeholder 32">
            <a:extLst>
              <a:ext uri="{FF2B5EF4-FFF2-40B4-BE49-F238E27FC236}">
                <a16:creationId xmlns="" xmlns:a16="http://schemas.microsoft.com/office/drawing/2014/main" id="{7AD2F7CB-CFE4-4C72-864A-D00C1CEAA2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367581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  <p:sp>
        <p:nvSpPr>
          <p:cNvPr id="32" name="Picture Placeholder 34">
            <a:extLst>
              <a:ext uri="{FF2B5EF4-FFF2-40B4-BE49-F238E27FC236}">
                <a16:creationId xmlns="" xmlns:a16="http://schemas.microsoft.com/office/drawing/2014/main" id="{CCA07CA3-C8D4-41EA-A0FB-74E1A477039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500163" y="3516711"/>
            <a:ext cx="18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2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Insert Icon / Picture</a:t>
            </a:r>
          </a:p>
        </p:txBody>
      </p:sp>
    </p:spTree>
    <p:extLst>
      <p:ext uri="{BB962C8B-B14F-4D97-AF65-F5344CB8AC3E}">
        <p14:creationId xmlns:p14="http://schemas.microsoft.com/office/powerpoint/2010/main" val="1108071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-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47656" y="1264197"/>
            <a:ext cx="5670487" cy="4268965"/>
          </a:xfrm>
        </p:spPr>
        <p:txBody>
          <a:bodyPr anchor="ctr">
            <a:normAutofit/>
          </a:bodyPr>
          <a:lstStyle>
            <a:lvl1pPr algn="l">
              <a:lnSpc>
                <a:spcPct val="85000"/>
              </a:lnSpc>
              <a:defRPr sz="6000" cap="none" baseline="0">
                <a:solidFill>
                  <a:schemeClr val="tx2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666" y="4151085"/>
            <a:ext cx="4633806" cy="1591181"/>
          </a:xfrm>
        </p:spPr>
        <p:txBody>
          <a:bodyPr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3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cxnSp>
        <p:nvCxnSpPr>
          <p:cNvPr id="9" name="Straight Connector 8" title="Verticle Rule Line"/>
          <p:cNvCxnSpPr>
            <a:cxnSpLocks/>
          </p:cNvCxnSpPr>
          <p:nvPr/>
        </p:nvCxnSpPr>
        <p:spPr>
          <a:xfrm>
            <a:off x="5524563" y="1115733"/>
            <a:ext cx="0" cy="4626534"/>
          </a:xfrm>
          <a:prstGeom prst="line">
            <a:avLst/>
          </a:prstGeom>
          <a:ln w="635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05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29964A5-3468-3F49-AD7A-0CF5EB762F89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45348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=""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="" xmlns:a16="http://schemas.microsoft.com/office/drawing/2014/main" id="{FBC751F3-ABD6-4995-8494-4932D12ACE1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26063" y="559678"/>
            <a:ext cx="6103937" cy="519183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7545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2221622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66A1A72B-59FA-4D91-8267-669EAAD445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2000" y="2895600"/>
            <a:ext cx="3842550" cy="2855913"/>
          </a:xfrm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02336" indent="0" algn="r">
              <a:buNone/>
              <a:defRPr/>
            </a:lvl2pPr>
            <a:lvl3pPr marL="859536" indent="0" algn="r">
              <a:buNone/>
              <a:defRPr/>
            </a:lvl3pPr>
            <a:lvl4pPr marL="1316736" indent="0" algn="r">
              <a:buNone/>
              <a:defRPr/>
            </a:lvl4pPr>
            <a:lvl5pPr marL="1773936" indent="0" algn="r">
              <a:buNone/>
              <a:defRPr/>
            </a:lvl5pPr>
          </a:lstStyle>
          <a:p>
            <a:pPr lvl="0"/>
            <a:r>
              <a:rPr lang="en-US" noProof="0"/>
              <a:t>Place your subtitle here</a:t>
            </a:r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=""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1466EC8C-C8BE-4149-A684-18CFF4574C1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7488" y="559678"/>
            <a:ext cx="6132512" cy="519183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Drag picture to placeholder or click icon to add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87491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16C1126B-4E27-49D1-926A-A5CDC562C77C}"/>
              </a:ext>
            </a:extLst>
          </p:cNvPr>
          <p:cNvSpPr/>
          <p:nvPr userDrawn="1"/>
        </p:nvSpPr>
        <p:spPr>
          <a:xfrm>
            <a:off x="0" y="0"/>
            <a:ext cx="489619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9677"/>
            <a:ext cx="3833906" cy="5274923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1D0754-1959-7F4F-A198-3F4710E170D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21" name="Straight Connector 20" title="Horizontal Rule Line">
            <a:extLst>
              <a:ext uri="{FF2B5EF4-FFF2-40B4-BE49-F238E27FC236}">
                <a16:creationId xmlns="" xmlns:a16="http://schemas.microsoft.com/office/drawing/2014/main" id="{D75086F1-E157-4A98-93DB-478F34A1158E}"/>
              </a:ext>
            </a:extLst>
          </p:cNvPr>
          <p:cNvCxnSpPr/>
          <p:nvPr userDrawn="1"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="" xmlns:a16="http://schemas.microsoft.com/office/drawing/2014/main" id="{4889D34E-DF9E-41B7-A5EC-B9D63999B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559678"/>
            <a:ext cx="6172200" cy="5617285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226173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E73E-FB98-2A42-974A-9CD83D46C100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5430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A115EF-7A83-9842-815E-554E5DEB63CD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770199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097A0-4000-B744-87D8-18F42A934248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43447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74EA9-4639-9B48-9E98-70455404EF00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2390238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A90851AE-F437-A04B-ADE2-D5E346F2089C}" type="datetime1">
              <a:rPr lang="en-US" noProof="0" smtClean="0"/>
              <a:t>6/15/20</a:t>
            </a:fld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13D2E340-0663-474B-992C-9192B5C45E57}" type="slidenum">
              <a:rPr lang="en-US" noProof="0" smtClean="0"/>
              <a:t>‹#›</a:t>
            </a:fld>
            <a:endParaRPr lang="en-US" noProof="0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093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9" r:id="rId1"/>
    <p:sldLayoutId id="2147484480" r:id="rId2"/>
    <p:sldLayoutId id="2147484495" r:id="rId3"/>
    <p:sldLayoutId id="2147484490" r:id="rId4"/>
    <p:sldLayoutId id="2147484491" r:id="rId5"/>
    <p:sldLayoutId id="2147484492" r:id="rId6"/>
    <p:sldLayoutId id="2147484493" r:id="rId7"/>
    <p:sldLayoutId id="2147484496" r:id="rId8"/>
    <p:sldLayoutId id="2147484481" r:id="rId9"/>
    <p:sldLayoutId id="2147484498" r:id="rId10"/>
    <p:sldLayoutId id="2147484499" r:id="rId11"/>
    <p:sldLayoutId id="2147484500" r:id="rId12"/>
    <p:sldLayoutId id="2147484482" r:id="rId13"/>
    <p:sldLayoutId id="2147484483" r:id="rId14"/>
    <p:sldLayoutId id="2147484484" r:id="rId15"/>
    <p:sldLayoutId id="2147484485" r:id="rId16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679374-8EAE-4873-9BB6-F6C630302D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Continuing an aim - Persia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E42C4E3-AFAF-4630-AF6D-21FB3C29C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666" y="4513307"/>
            <a:ext cx="4633806" cy="992466"/>
          </a:xfrm>
        </p:spPr>
        <p:txBody>
          <a:bodyPr/>
          <a:lstStyle/>
          <a:p>
            <a:r>
              <a:rPr lang="en-US" dirty="0" smtClean="0"/>
              <a:t>Year 11 Ancient History</a:t>
            </a:r>
          </a:p>
          <a:p>
            <a:r>
              <a:rPr lang="en-US" dirty="0" smtClean="0"/>
              <a:t>Week 2 </a:t>
            </a:r>
            <a:r>
              <a:rPr lang="mr-IN" dirty="0" smtClean="0"/>
              <a:t>–</a:t>
            </a:r>
            <a:r>
              <a:rPr lang="en-US" dirty="0" smtClean="0"/>
              <a:t> Lesson 2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6" name="Picture 6" descr=" Look at Both Sides of Alexander the Great - Practice of History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27" b="13027"/>
          <a:stretch>
            <a:fillRect/>
          </a:stretch>
        </p:blipFill>
        <p:spPr bwMode="auto">
          <a:xfrm>
            <a:off x="2052362" y="1264197"/>
            <a:ext cx="3249110" cy="324911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886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Motivations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 smtClean="0"/>
              <a:t>After Alexander came to the throne he executed those responsible for his father’s death and then decided to fulfil his father’s dream of conquering </a:t>
            </a:r>
            <a:r>
              <a:rPr lang="en-US" sz="2800" dirty="0" err="1" smtClean="0"/>
              <a:t>Peria</a:t>
            </a:r>
            <a:r>
              <a:rPr lang="en-US" sz="2800" dirty="0" smtClean="0"/>
              <a:t> in revenge for their invasion of Greece 150 years before, though first he had to quash the revolts in many Greek city-states.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7162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72769D-B8C8-4982-AE15-C41C3D92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559678"/>
            <a:ext cx="4129181" cy="4952492"/>
          </a:xfrm>
        </p:spPr>
        <p:txBody>
          <a:bodyPr/>
          <a:lstStyle/>
          <a:p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D45E12-8254-4FAB-AF03-3FA92E2D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800" dirty="0" smtClean="0"/>
              <a:t>Conquest of Persia took over 11 years</a:t>
            </a:r>
          </a:p>
          <a:p>
            <a:r>
              <a:rPr lang="en-AU" sz="2800" dirty="0" smtClean="0"/>
              <a:t>Army of 50,000 + Greeks and Macedonians</a:t>
            </a:r>
          </a:p>
          <a:p>
            <a:r>
              <a:rPr lang="en-AU" sz="2800" dirty="0" smtClean="0"/>
              <a:t>Travelled more than 30,000 </a:t>
            </a:r>
            <a:r>
              <a:rPr lang="en-AU" sz="2800" dirty="0" err="1" smtClean="0"/>
              <a:t>kms</a:t>
            </a:r>
            <a:endParaRPr lang="en-AU" sz="2800" dirty="0" smtClean="0"/>
          </a:p>
          <a:p>
            <a:r>
              <a:rPr lang="en-AU" sz="2800" dirty="0" smtClean="0"/>
              <a:t>Methods:</a:t>
            </a:r>
          </a:p>
          <a:p>
            <a:pPr lvl="1"/>
            <a:r>
              <a:rPr lang="en-AU" sz="2400" dirty="0" smtClean="0"/>
              <a:t>Greek Phalanx</a:t>
            </a:r>
          </a:p>
          <a:p>
            <a:pPr lvl="1"/>
            <a:r>
              <a:rPr lang="en-AU" sz="2400" dirty="0" smtClean="0"/>
              <a:t>Mobile, lightly armed infantry and cavalry</a:t>
            </a:r>
          </a:p>
          <a:p>
            <a:r>
              <a:rPr lang="en-AU" sz="2800" dirty="0" smtClean="0"/>
              <a:t>Victory after victory</a:t>
            </a:r>
            <a:r>
              <a:rPr lang="en-AU" sz="2800" dirty="0"/>
              <a:t> </a:t>
            </a:r>
            <a:r>
              <a:rPr lang="en-AU" sz="2800" dirty="0" smtClean="0"/>
              <a:t>BUT long and difficult campaign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C282D6-6FE9-264F-8985-EBC96419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7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King </a:t>
            </a:r>
            <a:br>
              <a:rPr lang="en-US" dirty="0" smtClean="0"/>
            </a:br>
            <a:r>
              <a:rPr lang="en-US" dirty="0" smtClean="0"/>
              <a:t>Darius III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4</a:t>
            </a:fld>
            <a:endParaRPr lang="en-US" noProof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9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Last king of </a:t>
            </a:r>
            <a:r>
              <a:rPr lang="en-US" dirty="0" err="1" smtClean="0"/>
              <a:t>Achaemenid</a:t>
            </a:r>
            <a:r>
              <a:rPr lang="en-US" dirty="0" smtClean="0"/>
              <a:t> Empire of Persia</a:t>
            </a:r>
          </a:p>
          <a:p>
            <a:r>
              <a:rPr lang="en-US" dirty="0" smtClean="0"/>
              <a:t>Ancient Iranian Empire </a:t>
            </a:r>
          </a:p>
          <a:p>
            <a:r>
              <a:rPr lang="en-US" dirty="0" smtClean="0"/>
              <a:t>Stretched from borders of India down through Egypt and up to the Northern Borders of Greece</a:t>
            </a:r>
          </a:p>
          <a:p>
            <a:r>
              <a:rPr lang="en-US" dirty="0" smtClean="0"/>
              <a:t>Dominant empire</a:t>
            </a:r>
            <a:endParaRPr lang="en-US" dirty="0"/>
          </a:p>
          <a:p>
            <a:r>
              <a:rPr lang="en-US" dirty="0" smtClean="0"/>
              <a:t>Unstable but STRONG (resourced) empire</a:t>
            </a:r>
          </a:p>
          <a:p>
            <a:r>
              <a:rPr lang="en-US" dirty="0"/>
              <a:t>336BC </a:t>
            </a:r>
            <a:r>
              <a:rPr lang="mr-IN" dirty="0"/>
              <a:t>–</a:t>
            </a:r>
            <a:r>
              <a:rPr lang="en-US" dirty="0"/>
              <a:t> 330BC </a:t>
            </a:r>
            <a:r>
              <a:rPr lang="en-US" dirty="0" smtClean="0"/>
              <a:t>ruled</a:t>
            </a:r>
            <a:endParaRPr lang="en-US" dirty="0"/>
          </a:p>
        </p:txBody>
      </p:sp>
      <p:pic>
        <p:nvPicPr>
          <p:cNvPr id="2050" name="Picture 2" descr="arius III of Persi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5156" y="2953292"/>
            <a:ext cx="2190750" cy="301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5800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noProof="0" smtClean="0"/>
              <a:t>5</a:t>
            </a:fld>
            <a:endParaRPr lang="en-US" noProof="0"/>
          </a:p>
        </p:txBody>
      </p:sp>
      <p:pic>
        <p:nvPicPr>
          <p:cNvPr id="1026" name="Picture 2" descr="lex-map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58332"/>
            <a:ext cx="11061700" cy="6301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155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72769D-B8C8-4982-AE15-C41C3D92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559678"/>
            <a:ext cx="4129181" cy="4952492"/>
          </a:xfrm>
        </p:spPr>
        <p:txBody>
          <a:bodyPr/>
          <a:lstStyle/>
          <a:p>
            <a:r>
              <a:rPr lang="en-US" dirty="0" smtClean="0"/>
              <a:t>ACTIVITY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D45E12-8254-4FAB-AF03-3FA92E2D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u="sng" dirty="0" smtClean="0"/>
              <a:t>ACTIVITY</a:t>
            </a:r>
          </a:p>
          <a:p>
            <a:pPr marL="0" indent="0" algn="ctr">
              <a:buNone/>
            </a:pPr>
            <a:r>
              <a:rPr lang="en-US" dirty="0" smtClean="0"/>
              <a:t>Read through the information sheet as a class.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Highlight using 3 different </a:t>
            </a:r>
            <a:r>
              <a:rPr lang="en-US" dirty="0" err="1" smtClean="0"/>
              <a:t>colours</a:t>
            </a:r>
            <a:r>
              <a:rPr lang="en-US" dirty="0" smtClean="0"/>
              <a:t>.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Answer the questions below.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C282D6-6FE9-264F-8985-EBC96419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931400" y="1917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6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72769D-B8C8-4982-AE15-C41C3D921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5" y="559678"/>
            <a:ext cx="4129181" cy="4952492"/>
          </a:xfrm>
        </p:spPr>
        <p:txBody>
          <a:bodyPr/>
          <a:lstStyle/>
          <a:p>
            <a:r>
              <a:rPr lang="en-US" smtClean="0"/>
              <a:t>Source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D45E12-8254-4FAB-AF03-3FA92E2DC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through each of the sources</a:t>
            </a:r>
          </a:p>
          <a:p>
            <a:r>
              <a:rPr lang="en-US" dirty="0" smtClean="0"/>
              <a:t>Answer the following about each source:</a:t>
            </a:r>
          </a:p>
          <a:p>
            <a:pPr marL="745236" lvl="1" indent="-342900">
              <a:buFont typeface="+mj-lt"/>
              <a:buAutoNum type="alphaLcPeriod"/>
            </a:pPr>
            <a:r>
              <a:rPr lang="en-US" dirty="0" smtClean="0"/>
              <a:t>Identify the MESSAGE of this source.</a:t>
            </a:r>
            <a:br>
              <a:rPr lang="en-US" dirty="0" smtClean="0"/>
            </a:br>
            <a:r>
              <a:rPr lang="en-US" dirty="0" smtClean="0"/>
              <a:t>”The message of this source is...”</a:t>
            </a:r>
          </a:p>
          <a:p>
            <a:pPr marL="745236" lvl="1" indent="-342900">
              <a:buFont typeface="+mj-lt"/>
              <a:buAutoNum type="alphaLcPeriod"/>
            </a:pPr>
            <a:r>
              <a:rPr lang="en-US" dirty="0" smtClean="0"/>
              <a:t>What does this teach you about Alexander the Great? How does it contribute to your understanding about him?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0C282D6-6FE9-264F-8985-EBC96419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2E340-0663-474B-992C-9192B5C45E57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579100" y="3276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54243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175639_Biography_presentation_cr - v2" id="{A01E65BC-612A-475B-B592-779A440066C3}" vid="{453437E2-1A5B-4416-AE85-AE3C10623C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60E032F-2E55-4A86-BB2D-1A317C642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77EC923-6023-4411-8330-A0042153EE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B4AFBF-E012-4607-B95C-D9E661912AC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Biography presentation</Template>
  <TotalTime>0</TotalTime>
  <Words>192</Words>
  <Application>Microsoft Macintosh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Century Schoolbook</vt:lpstr>
      <vt:lpstr>Corbel</vt:lpstr>
      <vt:lpstr>Mangal</vt:lpstr>
      <vt:lpstr>Arial</vt:lpstr>
      <vt:lpstr>Headlines</vt:lpstr>
      <vt:lpstr>Continuing an aim - Persia</vt:lpstr>
      <vt:lpstr>Motivations</vt:lpstr>
      <vt:lpstr>Overview</vt:lpstr>
      <vt:lpstr>King  Darius III</vt:lpstr>
      <vt:lpstr>PowerPoint Presentation</vt:lpstr>
      <vt:lpstr>ACTIVITY</vt:lpstr>
      <vt:lpstr>Source Analysis</vt:lpstr>
    </vt:vector>
  </TitlesOfParts>
  <Company/>
  <LinksUpToDate>false</LinksUpToDate>
  <SharedDoc>false</SharedDoc>
  <HyperlinksChanged>false</HyperlinksChanged>
  <AppVersion>15.0035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BARRIE Lauren [Byford Secondary College]</dc:creator>
  <cp:lastModifiedBy/>
  <cp:revision>1</cp:revision>
  <dcterms:created xsi:type="dcterms:W3CDTF">2020-06-11T03:43:09Z</dcterms:created>
  <dcterms:modified xsi:type="dcterms:W3CDTF">2020-06-15T00:37:43Z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
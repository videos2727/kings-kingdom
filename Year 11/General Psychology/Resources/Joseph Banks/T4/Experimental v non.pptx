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2" r:id="rId2"/>
    <p:sldId id="261" r:id="rId3"/>
    <p:sldId id="408" r:id="rId4"/>
    <p:sldId id="409" r:id="rId5"/>
    <p:sldId id="354" r:id="rId6"/>
    <p:sldId id="259" r:id="rId7"/>
    <p:sldId id="423" r:id="rId8"/>
    <p:sldId id="413" r:id="rId9"/>
    <p:sldId id="434" r:id="rId10"/>
    <p:sldId id="440" r:id="rId11"/>
    <p:sldId id="439" r:id="rId12"/>
    <p:sldId id="357" r:id="rId13"/>
    <p:sldId id="441" r:id="rId14"/>
    <p:sldId id="442" r:id="rId15"/>
    <p:sldId id="443" r:id="rId16"/>
    <p:sldId id="40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9" autoAdjust="0"/>
    <p:restoredTop sz="94780"/>
  </p:normalViewPr>
  <p:slideViewPr>
    <p:cSldViewPr snapToGrid="0">
      <p:cViewPr varScale="1">
        <p:scale>
          <a:sx n="120" d="100"/>
          <a:sy n="120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8DD8BB-F030-4093-94AC-948C52C84703}" type="doc">
      <dgm:prSet loTypeId="urn:microsoft.com/office/officeart/2011/layout/Tab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80A58AB4-9C03-41A0-9E21-B3F692074F23}">
      <dgm:prSet phldrT="[Text]"/>
      <dgm:spPr/>
      <dgm:t>
        <a:bodyPr/>
        <a:lstStyle/>
        <a:p>
          <a:r>
            <a:rPr lang="en-AU" dirty="0"/>
            <a:t>Ethics </a:t>
          </a:r>
        </a:p>
      </dgm:t>
    </dgm:pt>
    <dgm:pt modelId="{63D481BD-3B5C-45F4-A766-D4CAC160A81E}" type="parTrans" cxnId="{FD19C116-070E-4B4C-9CD2-FD082E565F57}">
      <dgm:prSet/>
      <dgm:spPr/>
      <dgm:t>
        <a:bodyPr/>
        <a:lstStyle/>
        <a:p>
          <a:endParaRPr lang="en-AU"/>
        </a:p>
      </dgm:t>
    </dgm:pt>
    <dgm:pt modelId="{9E2EBCA3-0AB4-4C0F-9228-1559FEB9751F}" type="sibTrans" cxnId="{FD19C116-070E-4B4C-9CD2-FD082E565F57}">
      <dgm:prSet/>
      <dgm:spPr/>
      <dgm:t>
        <a:bodyPr/>
        <a:lstStyle/>
        <a:p>
          <a:endParaRPr lang="en-AU"/>
        </a:p>
      </dgm:t>
    </dgm:pt>
    <dgm:pt modelId="{C58A5FFC-D3E2-46D9-AE75-40AB5A067F0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rgbClr val="222222"/>
              </a:solidFill>
              <a:latin typeface="Droid Serif"/>
            </a:rPr>
            <a:t>It is not ethical, feasible or possible to manipulate an independent variable (e.g., does damage to a person’s hippocampus impair the formation of long-term memory traces?).</a:t>
          </a:r>
          <a:endParaRPr lang="en-AU" dirty="0"/>
        </a:p>
      </dgm:t>
    </dgm:pt>
    <dgm:pt modelId="{2C76283E-5B25-4EEF-91F2-FB16009D7F01}" type="parTrans" cxnId="{E9F8AE23-7F8F-460C-893E-C356078301F2}">
      <dgm:prSet/>
      <dgm:spPr/>
      <dgm:t>
        <a:bodyPr/>
        <a:lstStyle/>
        <a:p>
          <a:endParaRPr lang="en-AU"/>
        </a:p>
      </dgm:t>
    </dgm:pt>
    <dgm:pt modelId="{DB88CC94-2022-4FCF-9F15-9530F986063D}" type="sibTrans" cxnId="{E9F8AE23-7F8F-460C-893E-C356078301F2}">
      <dgm:prSet/>
      <dgm:spPr/>
      <dgm:t>
        <a:bodyPr/>
        <a:lstStyle/>
        <a:p>
          <a:endParaRPr lang="en-AU"/>
        </a:p>
      </dgm:t>
    </dgm:pt>
    <dgm:pt modelId="{046C9C4C-3C46-45D5-882F-39ABFBA7483E}">
      <dgm:prSet phldrT="[Text]"/>
      <dgm:spPr/>
      <dgm:t>
        <a:bodyPr/>
        <a:lstStyle/>
        <a:p>
          <a:r>
            <a:rPr lang="en-AU" dirty="0"/>
            <a:t>Exploratory</a:t>
          </a:r>
        </a:p>
      </dgm:t>
    </dgm:pt>
    <dgm:pt modelId="{E646D22D-2BCB-45D7-8736-596A2007477F}" type="parTrans" cxnId="{FE11B048-B1B6-4409-81D4-C0549DE5BAAB}">
      <dgm:prSet/>
      <dgm:spPr/>
      <dgm:t>
        <a:bodyPr/>
        <a:lstStyle/>
        <a:p>
          <a:endParaRPr lang="en-AU"/>
        </a:p>
      </dgm:t>
    </dgm:pt>
    <dgm:pt modelId="{586F75B6-935A-47B7-B388-DEE24A0485BD}" type="sibTrans" cxnId="{FE11B048-B1B6-4409-81D4-C0549DE5BAAB}">
      <dgm:prSet/>
      <dgm:spPr/>
      <dgm:t>
        <a:bodyPr/>
        <a:lstStyle/>
        <a:p>
          <a:endParaRPr lang="en-AU"/>
        </a:p>
      </dgm:t>
    </dgm:pt>
    <dgm:pt modelId="{2177D1F8-D7DA-428C-B795-BD846C01C22D}">
      <dgm:prSet phldrT="[Text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>
              <a:solidFill>
                <a:srgbClr val="222222"/>
              </a:solidFill>
              <a:latin typeface="Droid Serif"/>
            </a:rPr>
            <a:t>The research question is broad and exploratory (e.g., what is it like to be a working mother diagnosed with depression?) </a:t>
          </a:r>
        </a:p>
      </dgm:t>
    </dgm:pt>
    <dgm:pt modelId="{5E50762B-3134-4714-A87F-49597385CAE2}" type="parTrans" cxnId="{80D3B187-B48E-47D8-BE14-201C22DC42C1}">
      <dgm:prSet/>
      <dgm:spPr/>
      <dgm:t>
        <a:bodyPr/>
        <a:lstStyle/>
        <a:p>
          <a:endParaRPr lang="en-AU"/>
        </a:p>
      </dgm:t>
    </dgm:pt>
    <dgm:pt modelId="{AB7C067A-68E5-4C08-8E5C-CE86E70C3A7A}" type="sibTrans" cxnId="{80D3B187-B48E-47D8-BE14-201C22DC42C1}">
      <dgm:prSet/>
      <dgm:spPr/>
      <dgm:t>
        <a:bodyPr/>
        <a:lstStyle/>
        <a:p>
          <a:endParaRPr lang="en-AU"/>
        </a:p>
      </dgm:t>
    </dgm:pt>
    <dgm:pt modelId="{10C38C63-9046-4C6C-BBC3-FA1A2AEE32AF}">
      <dgm:prSet phldrT="[Text]"/>
      <dgm:spPr/>
      <dgm:t>
        <a:bodyPr/>
        <a:lstStyle/>
        <a:p>
          <a:r>
            <a:rPr lang="en-AU" dirty="0"/>
            <a:t>Statistics</a:t>
          </a:r>
        </a:p>
      </dgm:t>
    </dgm:pt>
    <dgm:pt modelId="{88AFE5FB-788F-4CBB-92FA-6AE8373076CE}" type="parTrans" cxnId="{D7FAB2AD-73E5-4AF7-9F64-B28441605666}">
      <dgm:prSet/>
      <dgm:spPr/>
      <dgm:t>
        <a:bodyPr/>
        <a:lstStyle/>
        <a:p>
          <a:endParaRPr lang="en-AU"/>
        </a:p>
      </dgm:t>
    </dgm:pt>
    <dgm:pt modelId="{D987CEE6-AE02-4E29-A898-78482521D68C}" type="sibTrans" cxnId="{D7FAB2AD-73E5-4AF7-9F64-B28441605666}">
      <dgm:prSet/>
      <dgm:spPr/>
      <dgm:t>
        <a:bodyPr/>
        <a:lstStyle/>
        <a:p>
          <a:endParaRPr lang="en-AU"/>
        </a:p>
      </dgm:t>
    </dgm:pt>
    <dgm:pt modelId="{0481F7D2-AF99-45B8-B41D-11205509E03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rgbClr val="222222"/>
              </a:solidFill>
              <a:latin typeface="Droid Serif"/>
            </a:rPr>
            <a:t>The research question pertains to a non-causal statistical relationship between variables (e.g., is there a correlation between verbal intelligence and mathematical intelligence?). Or it relates to a single variable (e.g., How accurate are people’s first impressions?).</a:t>
          </a:r>
          <a:endParaRPr lang="en-AU" dirty="0"/>
        </a:p>
      </dgm:t>
    </dgm:pt>
    <dgm:pt modelId="{5301D00F-DB8B-40BD-A586-F4429C870FE6}" type="parTrans" cxnId="{D5EB5999-7719-4E51-9810-D6466DEA8D10}">
      <dgm:prSet/>
      <dgm:spPr/>
      <dgm:t>
        <a:bodyPr/>
        <a:lstStyle/>
        <a:p>
          <a:endParaRPr lang="en-AU"/>
        </a:p>
      </dgm:t>
    </dgm:pt>
    <dgm:pt modelId="{ACAD42AE-71F3-4CA8-A9D0-15B9D1ED9CBE}" type="sibTrans" cxnId="{D5EB5999-7719-4E51-9810-D6466DEA8D10}">
      <dgm:prSet/>
      <dgm:spPr/>
      <dgm:t>
        <a:bodyPr/>
        <a:lstStyle/>
        <a:p>
          <a:endParaRPr lang="en-AU"/>
        </a:p>
      </dgm:t>
    </dgm:pt>
    <dgm:pt modelId="{096A94F0-D2BE-4463-B488-EE0BD7E5681C}" type="pres">
      <dgm:prSet presAssocID="{3F8DD8BB-F030-4093-94AC-948C52C84703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832BC9C-D359-47AF-A5D3-C35CE65D341A}" type="pres">
      <dgm:prSet presAssocID="{80A58AB4-9C03-41A0-9E21-B3F692074F23}" presName="composite" presStyleCnt="0"/>
      <dgm:spPr/>
    </dgm:pt>
    <dgm:pt modelId="{FE82D255-E53A-4E4C-B09A-65E329B3EFFF}" type="pres">
      <dgm:prSet presAssocID="{80A58AB4-9C03-41A0-9E21-B3F692074F23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D22AC72B-08BE-4359-AB6A-A60FF59BE1F8}" type="pres">
      <dgm:prSet presAssocID="{80A58AB4-9C03-41A0-9E21-B3F692074F23}" presName="Parent" presStyleLbl="alignNode1" presStyleIdx="0" presStyleCnt="3" custScaleX="64774">
        <dgm:presLayoutVars>
          <dgm:chMax val="3"/>
          <dgm:chPref val="3"/>
          <dgm:bulletEnabled val="1"/>
        </dgm:presLayoutVars>
      </dgm:prSet>
      <dgm:spPr/>
    </dgm:pt>
    <dgm:pt modelId="{3681B350-AC42-46E1-BBAA-A52F7E505A7E}" type="pres">
      <dgm:prSet presAssocID="{80A58AB4-9C03-41A0-9E21-B3F692074F23}" presName="Accent" presStyleLbl="parChTrans1D1" presStyleIdx="0" presStyleCnt="3"/>
      <dgm:spPr/>
    </dgm:pt>
    <dgm:pt modelId="{E6B27830-BB96-4919-AB2D-A07CC49BDF6A}" type="pres">
      <dgm:prSet presAssocID="{9E2EBCA3-0AB4-4C0F-9228-1559FEB9751F}" presName="sibTrans" presStyleCnt="0"/>
      <dgm:spPr/>
    </dgm:pt>
    <dgm:pt modelId="{C1FA9BAC-68A1-432C-BF2D-01DBFE9E9DD4}" type="pres">
      <dgm:prSet presAssocID="{046C9C4C-3C46-45D5-882F-39ABFBA7483E}" presName="composite" presStyleCnt="0"/>
      <dgm:spPr/>
    </dgm:pt>
    <dgm:pt modelId="{40BEE729-37E2-49CF-B11E-65FC98771A5D}" type="pres">
      <dgm:prSet presAssocID="{046C9C4C-3C46-45D5-882F-39ABFBA7483E}" presName="FirstChild" presStyleLbl="revTx" presStyleIdx="1" presStyleCnt="3" custScaleY="61154">
        <dgm:presLayoutVars>
          <dgm:chMax val="0"/>
          <dgm:chPref val="0"/>
          <dgm:bulletEnabled val="1"/>
        </dgm:presLayoutVars>
      </dgm:prSet>
      <dgm:spPr/>
    </dgm:pt>
    <dgm:pt modelId="{C1C66F95-1653-4DD9-AD48-72D790504887}" type="pres">
      <dgm:prSet presAssocID="{046C9C4C-3C46-45D5-882F-39ABFBA7483E}" presName="Parent" presStyleLbl="alignNode1" presStyleIdx="1" presStyleCnt="3" custScaleX="64072">
        <dgm:presLayoutVars>
          <dgm:chMax val="3"/>
          <dgm:chPref val="3"/>
          <dgm:bulletEnabled val="1"/>
        </dgm:presLayoutVars>
      </dgm:prSet>
      <dgm:spPr/>
    </dgm:pt>
    <dgm:pt modelId="{BC3313C1-48A0-4B77-BE06-334C7D7B57D3}" type="pres">
      <dgm:prSet presAssocID="{046C9C4C-3C46-45D5-882F-39ABFBA7483E}" presName="Accent" presStyleLbl="parChTrans1D1" presStyleIdx="1" presStyleCnt="3"/>
      <dgm:spPr/>
    </dgm:pt>
    <dgm:pt modelId="{ADF1F09F-6F6B-46C5-B339-7DE2E371AEEA}" type="pres">
      <dgm:prSet presAssocID="{586F75B6-935A-47B7-B388-DEE24A0485BD}" presName="sibTrans" presStyleCnt="0"/>
      <dgm:spPr/>
    </dgm:pt>
    <dgm:pt modelId="{F71E3B75-E955-49D4-923C-139EBCCDE4CA}" type="pres">
      <dgm:prSet presAssocID="{10C38C63-9046-4C6C-BBC3-FA1A2AEE32AF}" presName="composite" presStyleCnt="0"/>
      <dgm:spPr/>
    </dgm:pt>
    <dgm:pt modelId="{624F8F63-55BC-4A29-BA9F-D5F7ED3F83F2}" type="pres">
      <dgm:prSet presAssocID="{10C38C63-9046-4C6C-BBC3-FA1A2AEE32AF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0649900E-E6E7-4C7A-844A-B34AC2DC6403}" type="pres">
      <dgm:prSet presAssocID="{10C38C63-9046-4C6C-BBC3-FA1A2AEE32AF}" presName="Parent" presStyleLbl="alignNode1" presStyleIdx="2" presStyleCnt="3" custScaleX="69684">
        <dgm:presLayoutVars>
          <dgm:chMax val="3"/>
          <dgm:chPref val="3"/>
          <dgm:bulletEnabled val="1"/>
        </dgm:presLayoutVars>
      </dgm:prSet>
      <dgm:spPr/>
    </dgm:pt>
    <dgm:pt modelId="{DB4AAFA5-5CB0-4100-A6A0-3DA50407E03B}" type="pres">
      <dgm:prSet presAssocID="{10C38C63-9046-4C6C-BBC3-FA1A2AEE32AF}" presName="Accent" presStyleLbl="parChTrans1D1" presStyleIdx="2" presStyleCnt="3"/>
      <dgm:spPr/>
    </dgm:pt>
  </dgm:ptLst>
  <dgm:cxnLst>
    <dgm:cxn modelId="{FD19C116-070E-4B4C-9CD2-FD082E565F57}" srcId="{3F8DD8BB-F030-4093-94AC-948C52C84703}" destId="{80A58AB4-9C03-41A0-9E21-B3F692074F23}" srcOrd="0" destOrd="0" parTransId="{63D481BD-3B5C-45F4-A766-D4CAC160A81E}" sibTransId="{9E2EBCA3-0AB4-4C0F-9228-1559FEB9751F}"/>
    <dgm:cxn modelId="{E9F8AE23-7F8F-460C-893E-C356078301F2}" srcId="{80A58AB4-9C03-41A0-9E21-B3F692074F23}" destId="{C58A5FFC-D3E2-46D9-AE75-40AB5A067F02}" srcOrd="0" destOrd="0" parTransId="{2C76283E-5B25-4EEF-91F2-FB16009D7F01}" sibTransId="{DB88CC94-2022-4FCF-9F15-9530F986063D}"/>
    <dgm:cxn modelId="{181AA042-B618-43E9-8798-153CC843C191}" type="presOf" srcId="{046C9C4C-3C46-45D5-882F-39ABFBA7483E}" destId="{C1C66F95-1653-4DD9-AD48-72D790504887}" srcOrd="0" destOrd="0" presId="urn:microsoft.com/office/officeart/2011/layout/TabList"/>
    <dgm:cxn modelId="{FE11B048-B1B6-4409-81D4-C0549DE5BAAB}" srcId="{3F8DD8BB-F030-4093-94AC-948C52C84703}" destId="{046C9C4C-3C46-45D5-882F-39ABFBA7483E}" srcOrd="1" destOrd="0" parTransId="{E646D22D-2BCB-45D7-8736-596A2007477F}" sibTransId="{586F75B6-935A-47B7-B388-DEE24A0485BD}"/>
    <dgm:cxn modelId="{05A46E5C-4C42-4B0A-85C1-D7320EAD17BF}" type="presOf" srcId="{0481F7D2-AF99-45B8-B41D-11205509E033}" destId="{624F8F63-55BC-4A29-BA9F-D5F7ED3F83F2}" srcOrd="0" destOrd="0" presId="urn:microsoft.com/office/officeart/2011/layout/TabList"/>
    <dgm:cxn modelId="{80D3B187-B48E-47D8-BE14-201C22DC42C1}" srcId="{046C9C4C-3C46-45D5-882F-39ABFBA7483E}" destId="{2177D1F8-D7DA-428C-B795-BD846C01C22D}" srcOrd="0" destOrd="0" parTransId="{5E50762B-3134-4714-A87F-49597385CAE2}" sibTransId="{AB7C067A-68E5-4C08-8E5C-CE86E70C3A7A}"/>
    <dgm:cxn modelId="{D5EB5999-7719-4E51-9810-D6466DEA8D10}" srcId="{10C38C63-9046-4C6C-BBC3-FA1A2AEE32AF}" destId="{0481F7D2-AF99-45B8-B41D-11205509E033}" srcOrd="0" destOrd="0" parTransId="{5301D00F-DB8B-40BD-A586-F4429C870FE6}" sibTransId="{ACAD42AE-71F3-4CA8-A9D0-15B9D1ED9CBE}"/>
    <dgm:cxn modelId="{D7FAB2AD-73E5-4AF7-9F64-B28441605666}" srcId="{3F8DD8BB-F030-4093-94AC-948C52C84703}" destId="{10C38C63-9046-4C6C-BBC3-FA1A2AEE32AF}" srcOrd="2" destOrd="0" parTransId="{88AFE5FB-788F-4CBB-92FA-6AE8373076CE}" sibTransId="{D987CEE6-AE02-4E29-A898-78482521D68C}"/>
    <dgm:cxn modelId="{7EB54AB3-8312-4E7D-ABFD-95FE6562F786}" type="presOf" srcId="{3F8DD8BB-F030-4093-94AC-948C52C84703}" destId="{096A94F0-D2BE-4463-B488-EE0BD7E5681C}" srcOrd="0" destOrd="0" presId="urn:microsoft.com/office/officeart/2011/layout/TabList"/>
    <dgm:cxn modelId="{4E770EBA-9183-40B8-89E8-33316C0A0CD9}" type="presOf" srcId="{80A58AB4-9C03-41A0-9E21-B3F692074F23}" destId="{D22AC72B-08BE-4359-AB6A-A60FF59BE1F8}" srcOrd="0" destOrd="0" presId="urn:microsoft.com/office/officeart/2011/layout/TabList"/>
    <dgm:cxn modelId="{59AE8BEC-A742-48DF-BED8-D42D5914ACEB}" type="presOf" srcId="{2177D1F8-D7DA-428C-B795-BD846C01C22D}" destId="{40BEE729-37E2-49CF-B11E-65FC98771A5D}" srcOrd="0" destOrd="0" presId="urn:microsoft.com/office/officeart/2011/layout/TabList"/>
    <dgm:cxn modelId="{479D5BF6-AFC2-4B19-B2AD-3B66C971944E}" type="presOf" srcId="{C58A5FFC-D3E2-46D9-AE75-40AB5A067F02}" destId="{FE82D255-E53A-4E4C-B09A-65E329B3EFFF}" srcOrd="0" destOrd="0" presId="urn:microsoft.com/office/officeart/2011/layout/TabList"/>
    <dgm:cxn modelId="{A2E5B2F7-E72F-4E3F-A1E5-091670F4B86E}" type="presOf" srcId="{10C38C63-9046-4C6C-BBC3-FA1A2AEE32AF}" destId="{0649900E-E6E7-4C7A-844A-B34AC2DC6403}" srcOrd="0" destOrd="0" presId="urn:microsoft.com/office/officeart/2011/layout/TabList"/>
    <dgm:cxn modelId="{C3511E56-FAB7-4D6E-A7A3-A7C9FB36B5E8}" type="presParOf" srcId="{096A94F0-D2BE-4463-B488-EE0BD7E5681C}" destId="{5832BC9C-D359-47AF-A5D3-C35CE65D341A}" srcOrd="0" destOrd="0" presId="urn:microsoft.com/office/officeart/2011/layout/TabList"/>
    <dgm:cxn modelId="{AF0B5D80-0595-4393-A8C6-CBE6567A3E8B}" type="presParOf" srcId="{5832BC9C-D359-47AF-A5D3-C35CE65D341A}" destId="{FE82D255-E53A-4E4C-B09A-65E329B3EFFF}" srcOrd="0" destOrd="0" presId="urn:microsoft.com/office/officeart/2011/layout/TabList"/>
    <dgm:cxn modelId="{F24B03E2-CE45-4928-836B-B9F4AABC8C10}" type="presParOf" srcId="{5832BC9C-D359-47AF-A5D3-C35CE65D341A}" destId="{D22AC72B-08BE-4359-AB6A-A60FF59BE1F8}" srcOrd="1" destOrd="0" presId="urn:microsoft.com/office/officeart/2011/layout/TabList"/>
    <dgm:cxn modelId="{96ECF22B-B6BB-4000-863F-19AC530B543D}" type="presParOf" srcId="{5832BC9C-D359-47AF-A5D3-C35CE65D341A}" destId="{3681B350-AC42-46E1-BBAA-A52F7E505A7E}" srcOrd="2" destOrd="0" presId="urn:microsoft.com/office/officeart/2011/layout/TabList"/>
    <dgm:cxn modelId="{FF158810-652F-43EC-9092-3D701B8A072B}" type="presParOf" srcId="{096A94F0-D2BE-4463-B488-EE0BD7E5681C}" destId="{E6B27830-BB96-4919-AB2D-A07CC49BDF6A}" srcOrd="1" destOrd="0" presId="urn:microsoft.com/office/officeart/2011/layout/TabList"/>
    <dgm:cxn modelId="{329F5F68-1309-4108-B083-361B9CF60282}" type="presParOf" srcId="{096A94F0-D2BE-4463-B488-EE0BD7E5681C}" destId="{C1FA9BAC-68A1-432C-BF2D-01DBFE9E9DD4}" srcOrd="2" destOrd="0" presId="urn:microsoft.com/office/officeart/2011/layout/TabList"/>
    <dgm:cxn modelId="{DC8642EF-F244-456B-915E-884B709EE655}" type="presParOf" srcId="{C1FA9BAC-68A1-432C-BF2D-01DBFE9E9DD4}" destId="{40BEE729-37E2-49CF-B11E-65FC98771A5D}" srcOrd="0" destOrd="0" presId="urn:microsoft.com/office/officeart/2011/layout/TabList"/>
    <dgm:cxn modelId="{CED711FC-3274-45BD-903C-ACBA139E1B3E}" type="presParOf" srcId="{C1FA9BAC-68A1-432C-BF2D-01DBFE9E9DD4}" destId="{C1C66F95-1653-4DD9-AD48-72D790504887}" srcOrd="1" destOrd="0" presId="urn:microsoft.com/office/officeart/2011/layout/TabList"/>
    <dgm:cxn modelId="{5ECF1521-904C-45B8-A00E-A71A17B04CB8}" type="presParOf" srcId="{C1FA9BAC-68A1-432C-BF2D-01DBFE9E9DD4}" destId="{BC3313C1-48A0-4B77-BE06-334C7D7B57D3}" srcOrd="2" destOrd="0" presId="urn:microsoft.com/office/officeart/2011/layout/TabList"/>
    <dgm:cxn modelId="{56FF75FD-23BD-4ED6-9EB7-E5C14221CA5A}" type="presParOf" srcId="{096A94F0-D2BE-4463-B488-EE0BD7E5681C}" destId="{ADF1F09F-6F6B-46C5-B339-7DE2E371AEEA}" srcOrd="3" destOrd="0" presId="urn:microsoft.com/office/officeart/2011/layout/TabList"/>
    <dgm:cxn modelId="{F1556987-904F-49E5-AA27-1A5277CC4421}" type="presParOf" srcId="{096A94F0-D2BE-4463-B488-EE0BD7E5681C}" destId="{F71E3B75-E955-49D4-923C-139EBCCDE4CA}" srcOrd="4" destOrd="0" presId="urn:microsoft.com/office/officeart/2011/layout/TabList"/>
    <dgm:cxn modelId="{0A4CBE7D-8672-4721-9859-43EDA4E55D2B}" type="presParOf" srcId="{F71E3B75-E955-49D4-923C-139EBCCDE4CA}" destId="{624F8F63-55BC-4A29-BA9F-D5F7ED3F83F2}" srcOrd="0" destOrd="0" presId="urn:microsoft.com/office/officeart/2011/layout/TabList"/>
    <dgm:cxn modelId="{7C7D77C5-6652-47D2-920A-8F8435A0E386}" type="presParOf" srcId="{F71E3B75-E955-49D4-923C-139EBCCDE4CA}" destId="{0649900E-E6E7-4C7A-844A-B34AC2DC6403}" srcOrd="1" destOrd="0" presId="urn:microsoft.com/office/officeart/2011/layout/TabList"/>
    <dgm:cxn modelId="{E2C7E30F-C374-4A9C-BBEC-8C5C0B8223F9}" type="presParOf" srcId="{F71E3B75-E955-49D4-923C-139EBCCDE4CA}" destId="{DB4AAFA5-5CB0-4100-A6A0-3DA50407E03B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AAFA5-5CB0-4100-A6A0-3DA50407E03B}">
      <dsp:nvSpPr>
        <dsp:cNvPr id="0" name=""/>
        <dsp:cNvSpPr/>
      </dsp:nvSpPr>
      <dsp:spPr>
        <a:xfrm>
          <a:off x="0" y="3926714"/>
          <a:ext cx="112380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3313C1-48A0-4B77-BE06-334C7D7B57D3}">
      <dsp:nvSpPr>
        <dsp:cNvPr id="0" name=""/>
        <dsp:cNvSpPr/>
      </dsp:nvSpPr>
      <dsp:spPr>
        <a:xfrm>
          <a:off x="0" y="2596743"/>
          <a:ext cx="112380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81B350-AC42-46E1-BBAA-A52F7E505A7E}">
      <dsp:nvSpPr>
        <dsp:cNvPr id="0" name=""/>
        <dsp:cNvSpPr/>
      </dsp:nvSpPr>
      <dsp:spPr>
        <a:xfrm>
          <a:off x="0" y="1266771"/>
          <a:ext cx="112380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82D255-E53A-4E4C-B09A-65E329B3EFFF}">
      <dsp:nvSpPr>
        <dsp:cNvPr id="0" name=""/>
        <dsp:cNvSpPr/>
      </dsp:nvSpPr>
      <dsp:spPr>
        <a:xfrm>
          <a:off x="2921886" y="132"/>
          <a:ext cx="8316137" cy="1266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100" kern="1200" dirty="0">
              <a:solidFill>
                <a:srgbClr val="222222"/>
              </a:solidFill>
              <a:latin typeface="Droid Serif"/>
            </a:rPr>
            <a:t>It is not ethical, feasible or possible to manipulate an independent variable (e.g., does damage to a person’s hippocampus impair the formation of long-term memory traces?).</a:t>
          </a:r>
          <a:endParaRPr lang="en-AU" sz="2100" kern="1200" dirty="0"/>
        </a:p>
      </dsp:txBody>
      <dsp:txXfrm>
        <a:off x="2921886" y="132"/>
        <a:ext cx="8316137" cy="1266639"/>
      </dsp:txXfrm>
    </dsp:sp>
    <dsp:sp modelId="{D22AC72B-08BE-4359-AB6A-A60FF59BE1F8}">
      <dsp:nvSpPr>
        <dsp:cNvPr id="0" name=""/>
        <dsp:cNvSpPr/>
      </dsp:nvSpPr>
      <dsp:spPr>
        <a:xfrm>
          <a:off x="514631" y="132"/>
          <a:ext cx="1892622" cy="126663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700" kern="1200" dirty="0"/>
            <a:t>Ethics </a:t>
          </a:r>
        </a:p>
      </dsp:txBody>
      <dsp:txXfrm>
        <a:off x="576474" y="61975"/>
        <a:ext cx="1768936" cy="1204796"/>
      </dsp:txXfrm>
    </dsp:sp>
    <dsp:sp modelId="{40BEE729-37E2-49CF-B11E-65FC98771A5D}">
      <dsp:nvSpPr>
        <dsp:cNvPr id="0" name=""/>
        <dsp:cNvSpPr/>
      </dsp:nvSpPr>
      <dsp:spPr>
        <a:xfrm>
          <a:off x="2921886" y="1576123"/>
          <a:ext cx="8316137" cy="77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100" kern="1200" dirty="0">
              <a:solidFill>
                <a:srgbClr val="222222"/>
              </a:solidFill>
              <a:latin typeface="Droid Serif"/>
            </a:rPr>
            <a:t>The research question is broad and exploratory (e.g., what is it like to be a working mother diagnosed with depression?) </a:t>
          </a:r>
        </a:p>
      </dsp:txBody>
      <dsp:txXfrm>
        <a:off x="2921886" y="1576123"/>
        <a:ext cx="8316137" cy="774600"/>
      </dsp:txXfrm>
    </dsp:sp>
    <dsp:sp modelId="{C1C66F95-1653-4DD9-AD48-72D790504887}">
      <dsp:nvSpPr>
        <dsp:cNvPr id="0" name=""/>
        <dsp:cNvSpPr/>
      </dsp:nvSpPr>
      <dsp:spPr>
        <a:xfrm>
          <a:off x="524887" y="1330103"/>
          <a:ext cx="1872110" cy="126663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700" kern="1200" dirty="0"/>
            <a:t>Exploratory</a:t>
          </a:r>
        </a:p>
      </dsp:txBody>
      <dsp:txXfrm>
        <a:off x="586730" y="1391946"/>
        <a:ext cx="1748424" cy="1204796"/>
      </dsp:txXfrm>
    </dsp:sp>
    <dsp:sp modelId="{624F8F63-55BC-4A29-BA9F-D5F7ED3F83F2}">
      <dsp:nvSpPr>
        <dsp:cNvPr id="0" name=""/>
        <dsp:cNvSpPr/>
      </dsp:nvSpPr>
      <dsp:spPr>
        <a:xfrm>
          <a:off x="2921886" y="2660075"/>
          <a:ext cx="8316137" cy="1266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100" kern="1200" dirty="0">
              <a:solidFill>
                <a:srgbClr val="222222"/>
              </a:solidFill>
              <a:latin typeface="Droid Serif"/>
            </a:rPr>
            <a:t>The research question pertains to a non-causal statistical relationship between variables (e.g., is there a correlation between verbal intelligence and mathematical intelligence?). Or it relates to a single variable (e.g., How accurate are people’s first impressions?).</a:t>
          </a:r>
          <a:endParaRPr lang="en-AU" sz="2100" kern="1200" dirty="0"/>
        </a:p>
      </dsp:txBody>
      <dsp:txXfrm>
        <a:off x="2921886" y="2660075"/>
        <a:ext cx="8316137" cy="1266639"/>
      </dsp:txXfrm>
    </dsp:sp>
    <dsp:sp modelId="{0649900E-E6E7-4C7A-844A-B34AC2DC6403}">
      <dsp:nvSpPr>
        <dsp:cNvPr id="0" name=""/>
        <dsp:cNvSpPr/>
      </dsp:nvSpPr>
      <dsp:spPr>
        <a:xfrm>
          <a:off x="442899" y="2660075"/>
          <a:ext cx="2036087" cy="126663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700" kern="1200" dirty="0"/>
            <a:t>Statistics</a:t>
          </a:r>
        </a:p>
      </dsp:txBody>
      <dsp:txXfrm>
        <a:off x="504742" y="2721918"/>
        <a:ext cx="1912401" cy="1204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8:26.55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67 134 16383,'79'0'0,"1"0"0,1 0 0,-3 0 0,-23 0 0,-1 0 0,22 0 0,9 0 0,-5 0 0,7 0 0,-2 0 0,-13 0 0,-3 0 0,4 0 0,21 0 0,5-1 0,-12 2 0,-15 2 0,-5 0 0,5-3 0,1 1 0,8 5 0,-2 0 0,-17-5 0,0 0 0,18 2 0,-5 0 0,-2-3 0,-2 0 0,2 0 0,-25 0 0,11 0 0,-31 0 0,6 0 0,32 0 0,-17 0 0,22 0 0,-23 0 0,-5 0 0,34 0 0,-11 0 0,9 0 0,-16 0 0,-11 0 0,-11 0 0,-1 0 0,15 0 0,-17 0 0,25 0 0,-12 0 0,-4 0 0,11 5 0,6-4 0,-8 4 0,14-5 0,1 0 0,-19 0 0,37 0 0,-12 0 0,4 0 0,4 5 0,5-4 0,-22 9 0,16-9 0,-32 4 0,-7-5 0,0 0 0,12 0 0,31 0 0,12 0 0,-45 0 0,0 0 0,32 0 0,5 0 0,-33 0 0,24 0 0,-11 0 0,-8 0 0,13 0 0,-24 0 0,4 0 0,8 0 0,-2 0 0,2 0 0,-14 0 0,-6 0 0,0 0 0,7 0 0,-6 0 0,6 0 0,-7 0 0,0 0 0,6 0 0,-5 0 0,6 0 0,-8 0 0,8 0 0,16 0 0,-11 0 0,16 0 0,-19 0 0,-1 0 0,-1 0 0,-7 0 0,0 0 0,-6 0 0,5 0 0,-11 5 0,0-4 0,-2 3 0,-5-1 0,5-2 0,0 3 0,-2-4 0,5 0 0,-8 0 0,10 0 0,-8 0 0,2 0 0,6 0 0,-7 0 0,9 0 0,-11 0 0,4 0 0,-2 0 0,-101 0 0,27 0 0,-19 0 0,-6 0 0,-16 0 0,-9 0 0,47 0 0,-2 0 0,-5 0 0,-2 0 0,-2 0 0,0 0 0,-4 0 0,3 0 0,12 0 0,-1 0 0,-23 0 0,-5 0 0,-4 0 0,-1 0 0,-2 0 0,-2 0 0,-6 1 0,-1-2 0,1-7 0,2-3 0,14 2 0,0-1 0,-15-4 0,0-1 0,13 4 0,3 1 0,3 3 0,3 1 0,11 2 0,3 1 0,6-1 0,3 2 0,-31 2 0,31 1 0,-2-2 0,-12-4 0,-2 0 0,2 4 0,-2-1 0,-20-9 0,0-1 0,22 10 0,-2 1 0,-14-3 0,-10-1 0,5 2 0,-10 2 0,1 2 0,16-1 0,-4 0 0,2 0 0,9 0 0,2 0 0,-2 0 0,-5 0 0,-1 0 0,-2 0 0,-3 0 0,-2 1 0,-4-2 0,8-2 0,-3 0 0,-1-1 0,2 0 0,-13 1 0,2 0 0,2-1 0,7-1 0,2-1 0,-1 2 0,0 1 0,0 1 0,5 0 0,-11 2 0,1 0 0,16 0 0,-2 0 0,3 0 0,-17 0 0,2 0 0,-1 0 0,4 0 0,25 0 0,3 0 0,1 0 0,5 0 0,-3 0 0,20 0 0,10 0 0,10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9:38.53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92 16383,'94'0'0,"-1"0"0,-34 0 0,15 0 0,-6 0 0,23 0 0,-28 0 0,24 0 0,-7 0 0,-14 0 0,12 0 0,-13 0 0,-1 0 0,-1 0 0,-7 0 0,-1 0 0,1 0 0,-7 0 0,-1 0 0,-7 0 0,-5-4 0,-2 3 0,-6-3 0,6 4 0,-4 0 0,4 0 0,0-5 0,-4 4 0,9-4 0,-9 5 0,4 0 0,-6-4 0,-5 3 0,7-3 0,-8 4 0,10 0 0,-6 0 0,-1 0 0,3 0 0,-6-4 0,7 4 0,-2-8 0,-5 8 0,8-4 0,-7 4 0,4 0 0,1-3 0,-2 2 0,-1-3 0,2 4 0,-4 0 0,6 0 0,-1 0 0,-5 0 0,6 0 0,-6 0 0,4 0 0,0-3 0,-4-1 0,4-4 0,-5-3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05T03:29:41.21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16383,'98'0'0,"-39"0"0,-5 0 0,-4 0 0,34 0 0,-6 0 0,1 0 0,-22 0 0,1 0 0,25 0 0,15 0 0,0 0 0,-21 0 0,18 0 0,-29 0 0,14 0 0,-8 0 0,-7 0 0,-2 0 0,-8 0 0,0 0 0,-6 0 0,4 0 0,-10 0 0,11 0 0,-11 0 0,5 0 0,-7 0 0,-6 0 0,-1 0 0,-6 0 0,-5 0 0,7 0 0,-6 0 0,3 0 0,12 0 0,-13 0 0,14 0 0,-12 0 0,1 0 0,-6 0 0,4 0 0,-1 0 0,-2 0 0,14 3 0,-18 2 0,10 0 0,0 3 0,-14-4 0,20 2 0,-18 0 0,10-1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D3873-AB04-409D-B98E-E1115DDE5A93}" type="datetimeFigureOut">
              <a:rPr lang="en-AU" smtClean="0"/>
              <a:t>7/11/21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5F82F-C985-4009-866C-BDC9567AD0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043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3A09D-58FF-8544-8F30-659E369A30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27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3A09D-58FF-8544-8F30-659E369A30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40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12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3A09D-58FF-8544-8F30-659E369A30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24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3A09D-58FF-8544-8F30-659E369A30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9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3A09D-58FF-8544-8F30-659E369A30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37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3A09D-58FF-8544-8F30-659E369A30F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4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E0CE-AE67-4616-9129-27C368801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12437-B04D-45F7-88F3-FA2F01140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AD4BB-BCBC-4295-AC33-56942CCB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0125-C1FE-4159-A40C-3C0C9B31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9C562-90DB-47EF-A31D-58A5DB4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775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302E-0EF3-49AD-94D4-5F0AF6BA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AE32-5FFA-4348-A488-89E5940BE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68DE0-0D0C-47CE-9CAD-37E47997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AFF0E-002B-49C8-9492-B5403BF7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42AB1-5C7A-471C-8B1F-3B4E0E8A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40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034B-5836-4C55-A37B-1FA4DEA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7FD99-AFD6-4AE0-8FD0-AF797AFAD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B0A8D-126D-455E-B0A4-29C42F23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8DDD-2FD1-41CB-AB9D-E450F97D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B1A5D-B0C4-445F-97BE-535CE216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82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8D98-B26C-4869-AE5A-2FFD9711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7AD5F-CC30-4641-971C-0F5B82437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77528-AFF6-4077-9D23-9BA51E7BB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36A29-067C-4426-B02F-64600DADC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AA5B4-D889-4627-912F-9F665408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7885A-6474-4E46-AEB7-0A0EE5CC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848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BB05-FB14-40B0-914F-ADAEFD15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6D332-C582-4B5C-BA2A-6075689C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BEB33-61CF-4952-930F-4DAA565F1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0E467-5AF1-428E-97AC-2AB0C4E93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18E9C-8940-4687-86C1-75BC96B1C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84F58-55BB-45D9-8273-7F043B80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F013C-0606-4582-A69B-9EED1862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DCDE6-E72E-4BBD-A558-569C3D3D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35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6209-A74F-4796-AEC7-17E6E271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35C78-AEF1-42EB-AC8A-FE79247EF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1C58F-AEF9-4F36-9941-76912AF8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ACC1F-B514-4C89-9CC5-A8B242A8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759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B195F-9886-4BED-B641-F866B594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80749-7E3C-43FD-9FF5-8835BED1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CBAF9-7634-42C9-B2F3-0DE3B2CC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64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4E5A-AA6F-4422-BF34-6EAFEDF3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05763-C156-48A8-B2B5-541FA5B27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4D07C-50CC-4381-B702-DC2E60D35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C7C00-4325-4988-862D-6200943C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1C205-8FF6-49FC-8BCA-032C0DF3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10692-C49A-4AF4-8B87-6BBC1EA6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411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D70B-760F-4FB9-BFCE-0D94B1A7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EA1FD-C947-4DCA-ABAE-D3C1D8C8D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CDED3-5B3F-435A-821D-C3246EDCA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37869-71BA-4E2B-B884-FAF203EE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393C-8952-44F8-85A1-3E56B813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27112-2FBE-48B2-A95A-88555E50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27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541F-26C5-4D5D-9FD8-5B28B729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9B16F-5746-4BC9-871D-1965FD926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4489D-02C5-4F6D-9BFD-F303E019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09B58-6315-494E-AB96-1317667A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195A2-9EDC-4241-9F3D-E8A1A0D6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844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495E6-AE37-4AA5-8F8D-14BA68A8D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08D6E-C326-4BFF-88FA-A2B44435F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E8B11-181D-4338-B665-73D1B86F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22A60-AE69-4053-9506-51027C4F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2FCAA-F83D-45B8-8577-5078DC47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68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D9C7C-4295-414E-B578-59E471DF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EE516-4FE9-41B2-9938-F281274A6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F4559-690B-4AE2-A5F2-225C87B56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C3168-B871-402F-94B4-9CCE495F0F3E}" type="datetimeFigureOut">
              <a:rPr lang="en-AU" smtClean="0"/>
              <a:t>7/11/21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618BA-B79E-40D2-A4CC-3B325619D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27350-96CD-49D1-B1EC-4A81A45BC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1D350-63F0-456D-8D91-8407E8A92A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181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jp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hyperlink" Target="https://wikieducator.org/Introduction_to_Research_Methods_In_Psychology/Non-Experimental_Research_Methods/Case_Studie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llthatsinteresting.com/genie-wiley-feral-child" TargetMode="External"/><Relationship Id="rId2" Type="http://schemas.openxmlformats.org/officeDocument/2006/relationships/hyperlink" Target="https://www.planetcustodian.com/shocking-cases-of-feral-children/12449/#Marina_Chapman_-_Columbi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hyperlink" Target="https://wikieducator.org/Introduction_to_Research_Methods_In_Psychology/Non-Experimental_Research_Methods/Archival_Research" TargetMode="External"/><Relationship Id="rId4" Type="http://schemas.openxmlformats.org/officeDocument/2006/relationships/hyperlink" Target="https://www2.archivists.org/book/export/html/14460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61884"/>
            <a:ext cx="266877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/>
              <a:t>Do now</a:t>
            </a:r>
            <a:endParaRPr lang="en-AU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255181" y="4381571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8" name="Picture 7" descr="Keep silence and be quiet lips and finger silent sign, no noise ...">
            <a:extLst>
              <a:ext uri="{FF2B5EF4-FFF2-40B4-BE49-F238E27FC236}">
                <a16:creationId xmlns:a16="http://schemas.microsoft.com/office/drawing/2014/main" id="{17EFC8D5-1DFA-4781-9C54-CA86A08F7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678" y="112119"/>
            <a:ext cx="1606284" cy="160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4E278B44-D4F7-CA40-9838-A0AC2B844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824" r="6769" b="31825"/>
          <a:stretch/>
        </p:blipFill>
        <p:spPr>
          <a:xfrm>
            <a:off x="2909420" y="112119"/>
            <a:ext cx="7303609" cy="484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0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3B9C-04C2-45AB-B020-769F964C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/>
              <a:t>Answer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CA11CD-4DC6-4FE7-BC2D-F4DDE0CAC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59" r="-1" b="-1"/>
          <a:stretch/>
        </p:blipFill>
        <p:spPr>
          <a:xfrm>
            <a:off x="17225" y="0"/>
            <a:ext cx="8757065" cy="599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8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31EF36-D2FB-F147-A076-1612CBEC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2787650"/>
            <a:ext cx="118237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5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11BB-54BA-A24E-B938-727D4118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711-AF3C-9343-990C-A10349A91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is statistically significant as more than 95% of the results are due to the change in the independent variable</a:t>
            </a:r>
          </a:p>
          <a:p>
            <a:r>
              <a:rPr lang="en-US" dirty="0"/>
              <a:t>There is only 5% chance that the results are due to chance </a:t>
            </a:r>
          </a:p>
          <a:p>
            <a:r>
              <a:rPr lang="en-US" dirty="0"/>
              <a:t>This is a real difference caused by the independent variable </a:t>
            </a:r>
          </a:p>
        </p:txBody>
      </p:sp>
    </p:spTree>
    <p:extLst>
      <p:ext uri="{BB962C8B-B14F-4D97-AF65-F5344CB8AC3E}">
        <p14:creationId xmlns:p14="http://schemas.microsoft.com/office/powerpoint/2010/main" val="21320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162" y="3506128"/>
            <a:ext cx="8977745" cy="132343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Success Criteria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287079" y="371799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6"/>
                </a:solidFill>
              </a:rPr>
              <a:t>Learning Intention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541" y="1237558"/>
            <a:ext cx="52207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94431"/>
                </a:solidFill>
              </a:rPr>
              <a:t>By the end of the lesson, I will be able to:</a:t>
            </a:r>
          </a:p>
          <a:p>
            <a:endParaRPr lang="en-US" dirty="0">
              <a:solidFill>
                <a:srgbClr val="19443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4431"/>
                </a:solidFill>
              </a:rPr>
              <a:t>Describe the use of non-experimental research including: case studies, correlations and archival research.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4431"/>
                </a:solidFill>
              </a:rPr>
              <a:t>Evaluate case studies and correlational studies.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4431"/>
                </a:solidFill>
              </a:rPr>
              <a:t>Describe characteristics of experimental </a:t>
            </a:r>
            <a:r>
              <a:rPr lang="en-US" dirty="0" err="1">
                <a:solidFill>
                  <a:srgbClr val="194431"/>
                </a:solidFill>
              </a:rPr>
              <a:t>reseach</a:t>
            </a:r>
            <a:endParaRPr lang="en-US" dirty="0">
              <a:solidFill>
                <a:srgbClr val="194431"/>
              </a:solidFill>
            </a:endParaRP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458" y="497108"/>
            <a:ext cx="819759" cy="819759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43822" y="4269077"/>
            <a:ext cx="5220708" cy="254411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 will have answered all ‘check for understanding’ questions regarding correlations and case studies. </a:t>
            </a:r>
          </a:p>
          <a:p>
            <a:r>
              <a:rPr lang="en-US" sz="2400" dirty="0"/>
              <a:t>I will have researched real-life correlation studies in twin and adoption studies to assess the strength and direction of associations. </a:t>
            </a:r>
          </a:p>
          <a:p>
            <a:r>
              <a:rPr lang="en-US" sz="2400" dirty="0"/>
              <a:t>I will have researched real-life case studies on feral children to assess the uses, strengths and limitations of case-studies. </a:t>
            </a:r>
          </a:p>
          <a:p>
            <a:r>
              <a:rPr lang="en-US" sz="2400" dirty="0"/>
              <a:t>I will have researched Archival research and answered comprehension questions. </a:t>
            </a:r>
          </a:p>
          <a:p>
            <a:r>
              <a:rPr lang="en-US" sz="2400" dirty="0"/>
              <a:t>I will work on my group project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794AD-0C24-4542-8AB2-51362B65F904}"/>
              </a:ext>
            </a:extLst>
          </p:cNvPr>
          <p:cNvSpPr txBox="1"/>
          <p:nvPr/>
        </p:nvSpPr>
        <p:spPr>
          <a:xfrm>
            <a:off x="6482752" y="943299"/>
            <a:ext cx="5112086" cy="50167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Research methods syllabus </a:t>
            </a:r>
          </a:p>
          <a:p>
            <a:endParaRPr lang="en-US" sz="1600" b="1" dirty="0"/>
          </a:p>
          <a:p>
            <a:r>
              <a:rPr lang="en-US" sz="1600" b="1" dirty="0"/>
              <a:t>Planning and conducting psychological research </a:t>
            </a:r>
          </a:p>
          <a:p>
            <a:r>
              <a:rPr lang="en-US" sz="1600" dirty="0"/>
              <a:t>• research terminology </a:t>
            </a:r>
          </a:p>
          <a:p>
            <a:r>
              <a:rPr lang="en-US" sz="1600" dirty="0"/>
              <a:t>• ethics in psychology research </a:t>
            </a:r>
          </a:p>
          <a:p>
            <a:r>
              <a:rPr lang="en-US" sz="1600" dirty="0"/>
              <a:t>• steps in the scientific method </a:t>
            </a:r>
          </a:p>
          <a:p>
            <a:r>
              <a:rPr lang="en-US" sz="1600" dirty="0"/>
              <a:t>• differences between sample and population data </a:t>
            </a:r>
          </a:p>
          <a:p>
            <a:r>
              <a:rPr lang="en-US" sz="1600" dirty="0"/>
              <a:t>• experimental research methods </a:t>
            </a:r>
          </a:p>
          <a:p>
            <a:r>
              <a:rPr lang="en-US" sz="1600" dirty="0"/>
              <a:t>• </a:t>
            </a:r>
            <a:r>
              <a:rPr lang="en-US" sz="1600" dirty="0">
                <a:highlight>
                  <a:srgbClr val="FFFF00"/>
                </a:highlight>
              </a:rPr>
              <a:t>non-experimental (descriptive) research methods </a:t>
            </a:r>
          </a:p>
          <a:p>
            <a:endParaRPr lang="en-US" sz="1600" dirty="0"/>
          </a:p>
          <a:p>
            <a:r>
              <a:rPr lang="en-US" sz="1600" b="1" dirty="0"/>
              <a:t>Processing and evaluating psychological research </a:t>
            </a:r>
          </a:p>
          <a:p>
            <a:r>
              <a:rPr lang="en-US" sz="1600" dirty="0"/>
              <a:t>• methods of displaying quantitative data—tables, graphs and diagrams </a:t>
            </a:r>
          </a:p>
          <a:p>
            <a:r>
              <a:rPr lang="en-US" sz="1600" dirty="0"/>
              <a:t>• interpretation of the following forms of data: </a:t>
            </a:r>
          </a:p>
          <a:p>
            <a:r>
              <a:rPr lang="en-US" sz="1600" dirty="0"/>
              <a:t>• role of probability </a:t>
            </a:r>
          </a:p>
          <a:p>
            <a:r>
              <a:rPr lang="en-US" sz="1600" dirty="0">
                <a:highlight>
                  <a:srgbClr val="FFFF00"/>
                </a:highlight>
              </a:rPr>
              <a:t>• use of correlation to establish association between variables</a:t>
            </a:r>
          </a:p>
          <a:p>
            <a:r>
              <a:rPr lang="en-US" sz="1600" dirty="0"/>
              <a:t> • sources of error in data and ways of reducing them </a:t>
            </a:r>
          </a:p>
          <a:p>
            <a:r>
              <a:rPr lang="en-US" sz="1600" dirty="0"/>
              <a:t>o evidence-based conclusions related to the hypothesis</a:t>
            </a:r>
            <a:endParaRPr lang="en-AU" sz="1600" dirty="0"/>
          </a:p>
          <a:p>
            <a:endParaRPr lang="en-AU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23BC5D-59CD-5848-AC09-E17BDF998BD8}"/>
                  </a:ext>
                </a:extLst>
              </p14:cNvPr>
              <p14:cNvContentPartPr/>
              <p14:nvPr/>
            </p14:nvContentPartPr>
            <p14:xfrm>
              <a:off x="6737160" y="2778154"/>
              <a:ext cx="2562120" cy="77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23BC5D-59CD-5848-AC09-E17BDF998B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7160" y="2598514"/>
                <a:ext cx="2741760" cy="43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38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B59F9-BFAC-094C-A3AF-AA8819DA489A}"/>
              </a:ext>
            </a:extLst>
          </p:cNvPr>
          <p:cNvSpPr txBox="1"/>
          <p:nvPr/>
        </p:nvSpPr>
        <p:spPr>
          <a:xfrm rot="16200000">
            <a:off x="-1076415" y="2249623"/>
            <a:ext cx="2491387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Concept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688280" y="943549"/>
            <a:ext cx="10816148" cy="1200329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22222"/>
                </a:solidFill>
                <a:latin typeface="Droid Serif"/>
              </a:rPr>
              <a:t>Non-experimental research</a:t>
            </a:r>
            <a:r>
              <a:rPr lang="en-US" sz="2400" dirty="0">
                <a:solidFill>
                  <a:srgbClr val="222222"/>
                </a:solidFill>
                <a:latin typeface="Droid Serif"/>
              </a:rPr>
              <a:t> is research that lacks the manipulation of an independent variable. Instead, they measure variables as they naturally occur (in the lab or real world). This is useful when: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946" y="138221"/>
            <a:ext cx="717210" cy="5918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2F4170-C554-49A2-902F-5987A9A86984}"/>
              </a:ext>
            </a:extLst>
          </p:cNvPr>
          <p:cNvSpPr txBox="1"/>
          <p:nvPr/>
        </p:nvSpPr>
        <p:spPr>
          <a:xfrm>
            <a:off x="3643253" y="0"/>
            <a:ext cx="7626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Non-experimental research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1BD0672-5A5B-42F3-AD49-714D2D15E9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15588"/>
              </p:ext>
            </p:extLst>
          </p:nvPr>
        </p:nvGraphicFramePr>
        <p:xfrm>
          <a:off x="266405" y="2950028"/>
          <a:ext cx="11238024" cy="3926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7CE7B28-8B04-2D4B-BD8C-87FAB7160CA5}"/>
              </a:ext>
            </a:extLst>
          </p:cNvPr>
          <p:cNvSpPr txBox="1"/>
          <p:nvPr/>
        </p:nvSpPr>
        <p:spPr>
          <a:xfrm>
            <a:off x="805543" y="2416629"/>
            <a:ext cx="7936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Why do researchers use non-experimental research:</a:t>
            </a:r>
          </a:p>
        </p:txBody>
      </p:sp>
    </p:spTree>
    <p:extLst>
      <p:ext uri="{BB962C8B-B14F-4D97-AF65-F5344CB8AC3E}">
        <p14:creationId xmlns:p14="http://schemas.microsoft.com/office/powerpoint/2010/main" val="283915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28303-B0E0-B24D-827A-DB2F27B589E7}"/>
              </a:ext>
            </a:extLst>
          </p:cNvPr>
          <p:cNvSpPr txBox="1"/>
          <p:nvPr/>
        </p:nvSpPr>
        <p:spPr>
          <a:xfrm rot="16200000">
            <a:off x="-956768" y="1966409"/>
            <a:ext cx="2282869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7F281-14B9-8A40-996E-6EE09DF44A40}"/>
              </a:ext>
            </a:extLst>
          </p:cNvPr>
          <p:cNvSpPr txBox="1"/>
          <p:nvPr/>
        </p:nvSpPr>
        <p:spPr>
          <a:xfrm>
            <a:off x="358420" y="1384536"/>
            <a:ext cx="3240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Case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B4513F-B5E6-D341-953B-808D74B48D2B}"/>
              </a:ext>
            </a:extLst>
          </p:cNvPr>
          <p:cNvGraphicFramePr>
            <a:graphicFrameLocks noGrp="1"/>
          </p:cNvGraphicFramePr>
          <p:nvPr/>
        </p:nvGraphicFramePr>
        <p:xfrm>
          <a:off x="8128000" y="5306612"/>
          <a:ext cx="4064000" cy="1559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34395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17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AU" dirty="0"/>
                        <a:t>Why would a researcher use non-experimental research?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AU" dirty="0"/>
                        <a:t>What are the key characteristics of a case study?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81545"/>
                  </a:ext>
                </a:extLst>
              </a:tr>
            </a:tbl>
          </a:graphicData>
        </a:graphic>
      </p:graphicFrame>
      <p:sp>
        <p:nvSpPr>
          <p:cNvPr id="3" name="AutoShape 4" descr="Image result for literature 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B484A0-5E09-7148-B314-85224814330C}"/>
              </a:ext>
            </a:extLst>
          </p:cNvPr>
          <p:cNvSpPr txBox="1"/>
          <p:nvPr/>
        </p:nvSpPr>
        <p:spPr>
          <a:xfrm>
            <a:off x="4055012" y="1408358"/>
            <a:ext cx="2250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Correlation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FB1ACF-3E5D-A04B-8043-78EF4371D9C1}"/>
              </a:ext>
            </a:extLst>
          </p:cNvPr>
          <p:cNvCxnSpPr>
            <a:cxnSpLocks/>
          </p:cNvCxnSpPr>
          <p:nvPr/>
        </p:nvCxnSpPr>
        <p:spPr>
          <a:xfrm>
            <a:off x="4055012" y="1943320"/>
            <a:ext cx="0" cy="4791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6C645A4-0C95-5144-AFE4-A832C0057246}"/>
              </a:ext>
            </a:extLst>
          </p:cNvPr>
          <p:cNvSpPr txBox="1"/>
          <p:nvPr/>
        </p:nvSpPr>
        <p:spPr>
          <a:xfrm>
            <a:off x="460375" y="25533"/>
            <a:ext cx="8961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Non-experimental research is used: </a:t>
            </a:r>
          </a:p>
          <a:p>
            <a:r>
              <a:rPr lang="en-US" sz="2000" dirty="0"/>
              <a:t>- when manipulation of the IV is impossible  OR</a:t>
            </a:r>
          </a:p>
          <a:p>
            <a:r>
              <a:rPr lang="en-US" sz="2000" dirty="0"/>
              <a:t>- when a researcher has not got a specific research question yet – exploring a topic before setting up a experimental research. There are two types: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0BD37D-01B1-DA42-A8D9-B4E1C5445C68}"/>
              </a:ext>
            </a:extLst>
          </p:cNvPr>
          <p:cNvSpPr txBox="1"/>
          <p:nvPr/>
        </p:nvSpPr>
        <p:spPr>
          <a:xfrm>
            <a:off x="425986" y="2068342"/>
            <a:ext cx="351290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 detailed </a:t>
            </a:r>
            <a:r>
              <a:rPr lang="en-AU" sz="2000" b="1" dirty="0"/>
              <a:t>study</a:t>
            </a:r>
            <a:r>
              <a:rPr lang="en-AU" sz="2000" dirty="0"/>
              <a:t> of a specific subject, such as a person, group, place, event, organization, or phenomenon.</a:t>
            </a:r>
          </a:p>
          <a:p>
            <a:endParaRPr lang="en-US" sz="2000" dirty="0"/>
          </a:p>
          <a:p>
            <a:r>
              <a:rPr lang="en-US" sz="2000" dirty="0"/>
              <a:t>Uses multiple forms of data collection methods to collect rich data on one topic.</a:t>
            </a:r>
          </a:p>
          <a:p>
            <a:endParaRPr lang="en-US" sz="2000" dirty="0"/>
          </a:p>
          <a:p>
            <a:r>
              <a:rPr lang="en-US" sz="2000" dirty="0"/>
              <a:t>May study several variables.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e.g.  Phineas Gage or looking at a small group of patients after similar brain injuries</a:t>
            </a:r>
            <a:endParaRPr lang="en-AU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B2F380-FDBC-AF42-A4A2-646C92C6B227}"/>
              </a:ext>
            </a:extLst>
          </p:cNvPr>
          <p:cNvSpPr txBox="1"/>
          <p:nvPr/>
        </p:nvSpPr>
        <p:spPr>
          <a:xfrm>
            <a:off x="4171137" y="2068342"/>
            <a:ext cx="257421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Looks at the strength and relationship between two variables. </a:t>
            </a:r>
          </a:p>
          <a:p>
            <a:r>
              <a:rPr lang="en-US" sz="2000" b="1" dirty="0"/>
              <a:t>Does not prove causation.</a:t>
            </a:r>
          </a:p>
          <a:p>
            <a:endParaRPr lang="en-US" sz="2000" b="1" dirty="0"/>
          </a:p>
          <a:p>
            <a:r>
              <a:rPr lang="en-US" sz="2000" dirty="0"/>
              <a:t>The variables studied are called behavioral variables rather than IV and DV.</a:t>
            </a:r>
          </a:p>
          <a:p>
            <a:endParaRPr lang="en-US" sz="2000" dirty="0"/>
          </a:p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DFB84F-3D6E-CA41-8105-AB4E9A0F9F31}"/>
              </a:ext>
            </a:extLst>
          </p:cNvPr>
          <p:cNvCxnSpPr>
            <a:cxnSpLocks/>
          </p:cNvCxnSpPr>
          <p:nvPr/>
        </p:nvCxnSpPr>
        <p:spPr>
          <a:xfrm>
            <a:off x="6885298" y="1996355"/>
            <a:ext cx="0" cy="4791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D3A188-56AD-DA4C-972A-92E4EA8B1B0B}"/>
              </a:ext>
            </a:extLst>
          </p:cNvPr>
          <p:cNvSpPr txBox="1"/>
          <p:nvPr/>
        </p:nvSpPr>
        <p:spPr>
          <a:xfrm>
            <a:off x="7802049" y="1431701"/>
            <a:ext cx="3780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Archival research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7B9E6-3CC2-FC4D-B062-AEF2321BC65E}"/>
              </a:ext>
            </a:extLst>
          </p:cNvPr>
          <p:cNvSpPr/>
          <p:nvPr/>
        </p:nvSpPr>
        <p:spPr>
          <a:xfrm>
            <a:off x="7309521" y="2378486"/>
            <a:ext cx="47644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AU" b="1" dirty="0"/>
              <a:t>Archival research</a:t>
            </a:r>
            <a:r>
              <a:rPr lang="en-AU" dirty="0"/>
              <a:t>, researchers access repositories of old material to analyse</a:t>
            </a:r>
            <a:r>
              <a:rPr lang="en-AU" dirty="0">
                <a:solidFill>
                  <a:srgbClr val="0E344D"/>
                </a:solidFill>
              </a:rPr>
              <a:t>.</a:t>
            </a:r>
            <a:endParaRPr lang="en-AU" b="1" dirty="0">
              <a:solidFill>
                <a:srgbClr val="0E344D"/>
              </a:solidFill>
            </a:endParaRPr>
          </a:p>
        </p:txBody>
      </p:sp>
      <p:pic>
        <p:nvPicPr>
          <p:cNvPr id="17" name="Picture 16" descr="A picture containing text, warehouse, file&#10;&#10;Description automatically generated">
            <a:extLst>
              <a:ext uri="{FF2B5EF4-FFF2-40B4-BE49-F238E27FC236}">
                <a16:creationId xmlns:a16="http://schemas.microsoft.com/office/drawing/2014/main" id="{B7959EE0-446D-F84A-80C0-5A2B95B96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641" y="3292510"/>
            <a:ext cx="24765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3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5378" y="2303707"/>
            <a:ext cx="559062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Positive Correlation: </a:t>
            </a:r>
            <a:r>
              <a:rPr lang="en-US" dirty="0"/>
              <a:t>Two variables change in the same direction - one increases, the other increases. One decreases, the other decreases. For example, increased caffeine intake and energy levels.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Negative Correlation:</a:t>
            </a:r>
            <a:r>
              <a:rPr lang="en-US" dirty="0"/>
              <a:t> Two variables change in the opposite direction - one increases, one decreases. For example, the less hours you sleep, the more tired you become.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Correlation coefficient: </a:t>
            </a:r>
            <a:r>
              <a:rPr lang="en-US" dirty="0"/>
              <a:t>A numerical value (r) that indicates both the strength and direction of a relationship between two values. This ranges from -1 to +1. See the images below. </a:t>
            </a:r>
            <a:endParaRPr lang="en-US" sz="6000" dirty="0"/>
          </a:p>
          <a:p>
            <a:pPr lvl="0">
              <a:defRPr/>
            </a:pPr>
            <a:endParaRPr lang="en-US" sz="2800" dirty="0"/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821BA1C5-BC1A-4094-AED6-484730238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524" y="1010271"/>
            <a:ext cx="5776949" cy="345918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089980-C1BC-4861-B425-28E8D1D12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88838"/>
              </p:ext>
            </p:extLst>
          </p:nvPr>
        </p:nvGraphicFramePr>
        <p:xfrm>
          <a:off x="6756374" y="5201803"/>
          <a:ext cx="5130949" cy="1102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30949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sz="1400" dirty="0"/>
                        <a:t>What would be the correlation coefficient for the above scatterplots?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sz="1400" dirty="0"/>
                        <a:t>Provide an example for each of the above scatterplots.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57073DD-16FF-42C6-8223-8AF5E57D6BF2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AA57CB-03D6-42F5-AAEE-A0770EF7B5DC}"/>
              </a:ext>
            </a:extLst>
          </p:cNvPr>
          <p:cNvSpPr txBox="1">
            <a:spLocks/>
          </p:cNvSpPr>
          <p:nvPr/>
        </p:nvSpPr>
        <p:spPr>
          <a:xfrm>
            <a:off x="369333" y="-9233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Correlation Studies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92D7D-EC72-4183-AE55-9C59C4654844}"/>
              </a:ext>
            </a:extLst>
          </p:cNvPr>
          <p:cNvSpPr/>
          <p:nvPr/>
        </p:nvSpPr>
        <p:spPr>
          <a:xfrm>
            <a:off x="505379" y="892359"/>
            <a:ext cx="5622766" cy="1569660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Correlational studies are a non-experimental method to identify the </a:t>
            </a:r>
            <a:r>
              <a:rPr lang="en-US" sz="2400" i="1" dirty="0"/>
              <a:t>strength</a:t>
            </a:r>
            <a:r>
              <a:rPr lang="en-US" sz="2400" dirty="0"/>
              <a:t> and </a:t>
            </a:r>
            <a:r>
              <a:rPr lang="en-US" sz="2400" i="1" dirty="0"/>
              <a:t>direction</a:t>
            </a:r>
            <a:r>
              <a:rPr lang="en-US" sz="2400" dirty="0"/>
              <a:t> of a relationship between two variables.</a:t>
            </a:r>
          </a:p>
        </p:txBody>
      </p:sp>
      <p:pic>
        <p:nvPicPr>
          <p:cNvPr id="12" name="Picture 11" descr="Iconsmind-Outline-Pen-5.ico">
            <a:extLst>
              <a:ext uri="{FF2B5EF4-FFF2-40B4-BE49-F238E27FC236}">
                <a16:creationId xmlns:a16="http://schemas.microsoft.com/office/drawing/2014/main" id="{8431B8F6-9F0B-49B4-8920-CDDE465CC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78" y="224690"/>
            <a:ext cx="508959" cy="5089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7E06B7-A585-3345-B381-80F30D53923C}"/>
                  </a:ext>
                </a:extLst>
              </p14:cNvPr>
              <p14:cNvContentPartPr/>
              <p14:nvPr/>
            </p14:nvContentPartPr>
            <p14:xfrm>
              <a:off x="678360" y="1816234"/>
              <a:ext cx="906120" cy="33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7E06B7-A585-3345-B381-80F30D5392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360" y="1636594"/>
                <a:ext cx="108576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D7646E-8006-1949-AE7B-5F23771F885A}"/>
                  </a:ext>
                </a:extLst>
              </p14:cNvPr>
              <p14:cNvContentPartPr/>
              <p14:nvPr/>
            </p14:nvContentPartPr>
            <p14:xfrm>
              <a:off x="2361720" y="1863394"/>
              <a:ext cx="912600" cy="15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D7646E-8006-1949-AE7B-5F23771F88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1720" y="1683754"/>
                <a:ext cx="1092240" cy="3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760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3034" y="628689"/>
            <a:ext cx="6756327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b="1" dirty="0"/>
            </a:br>
            <a:r>
              <a:rPr lang="en-US" b="1" dirty="0"/>
              <a:t>Strengths of Correlation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Correlation allows the researcher to investigate naturally occurring variables that maybe unethical or impractical to test experimentally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Correlation also helps researchers identify related variables to direct a future hypothesis and study it experimentally.</a:t>
            </a:r>
          </a:p>
          <a:p>
            <a:endParaRPr lang="en-US" dirty="0"/>
          </a:p>
          <a:p>
            <a:r>
              <a:rPr lang="en-US" b="1" dirty="0"/>
              <a:t>Limitations of Correlation Studies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Correlation does not equal causation</a:t>
            </a:r>
            <a:r>
              <a:rPr lang="en-US" dirty="0"/>
              <a:t> - there are many spurious relationships that exist in the world! There is no independent variable, as no variable was manipulated, BOTH were measured.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could be that the cause of both changes in the two variables are caused by a third (extraneous) variable – example: growing up in a violent home - and that both the watching of T.V. and the violent </a:t>
            </a:r>
            <a:r>
              <a:rPr lang="en-US" dirty="0" err="1"/>
              <a:t>behaviour</a:t>
            </a:r>
            <a:r>
              <a:rPr lang="en-US" dirty="0"/>
              <a:t> are the outcome of this.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Variables in correlation studies are known as ‘</a:t>
            </a:r>
            <a:r>
              <a:rPr lang="en-US" dirty="0" err="1"/>
              <a:t>behavioural</a:t>
            </a:r>
            <a:r>
              <a:rPr lang="en-US" dirty="0"/>
              <a:t> variables’ instead of IV and DV.</a:t>
            </a:r>
          </a:p>
          <a:p>
            <a:pPr lvl="0">
              <a:defRPr/>
            </a:pPr>
            <a:endParaRPr lang="en-US" sz="6000" dirty="0"/>
          </a:p>
          <a:p>
            <a:pPr lvl="0">
              <a:defRPr/>
            </a:pPr>
            <a:endParaRPr 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754BEEE-6365-420B-BECB-9525FF605542}"/>
              </a:ext>
            </a:extLst>
          </p:cNvPr>
          <p:cNvSpPr txBox="1">
            <a:spLocks/>
          </p:cNvSpPr>
          <p:nvPr/>
        </p:nvSpPr>
        <p:spPr>
          <a:xfrm>
            <a:off x="369333" y="-9233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Correlation Studies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3BE3F-5932-4669-A17E-E0B464DC3C54}"/>
              </a:ext>
            </a:extLst>
          </p:cNvPr>
          <p:cNvSpPr txBox="1"/>
          <p:nvPr/>
        </p:nvSpPr>
        <p:spPr>
          <a:xfrm rot="16200000">
            <a:off x="-956768" y="2097597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663F2ACD-E0F7-49F1-9C9C-7CDC7885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011" y="60386"/>
            <a:ext cx="4687989" cy="312532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BA629B-D565-4DEA-800F-5424FEF33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878322"/>
              </p:ext>
            </p:extLst>
          </p:nvPr>
        </p:nvGraphicFramePr>
        <p:xfrm>
          <a:off x="8303172" y="5494051"/>
          <a:ext cx="3888828" cy="136394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888828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419069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937283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AU" sz="1400" dirty="0"/>
                        <a:t>If two monozygotic twins (100% same genes) have a high IQ, showing a strong positive correlation between gene similarity and IQ score. What could be a third, extraneous factor?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pic>
        <p:nvPicPr>
          <p:cNvPr id="10" name="Picture 9" descr="Iconsmind-Outline-Pen-5.ico">
            <a:extLst>
              <a:ext uri="{FF2B5EF4-FFF2-40B4-BE49-F238E27FC236}">
                <a16:creationId xmlns:a16="http://schemas.microsoft.com/office/drawing/2014/main" id="{74A742E4-554D-48E7-8938-A7B01A630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78" y="224690"/>
            <a:ext cx="508959" cy="508959"/>
          </a:xfrm>
          <a:prstGeom prst="rect">
            <a:avLst/>
          </a:prstGeom>
        </p:spPr>
      </p:pic>
      <p:pic>
        <p:nvPicPr>
          <p:cNvPr id="1028" name="Picture 4" descr="Correlation is not causation. The profound implications of confusing… | by  Anthony Figueroa | Towards Data Science">
            <a:extLst>
              <a:ext uri="{FF2B5EF4-FFF2-40B4-BE49-F238E27FC236}">
                <a16:creationId xmlns:a16="http://schemas.microsoft.com/office/drawing/2014/main" id="{38A574BA-B25A-AF4D-A2E6-18B4F154E5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5" t="4722" r="17500" b="4697"/>
          <a:stretch/>
        </p:blipFill>
        <p:spPr bwMode="auto">
          <a:xfrm>
            <a:off x="8904157" y="3129404"/>
            <a:ext cx="3132699" cy="236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37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26A8-3F3F-4023-B734-B5AF706F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157" y="958752"/>
            <a:ext cx="8125892" cy="1325563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Authentic problem-solving</a:t>
            </a:r>
            <a:br>
              <a:rPr lang="en-AU" sz="44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</a:br>
            <a:endParaRPr lang="en-AU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89365-0648-413F-96E8-99D1672138C0}"/>
              </a:ext>
            </a:extLst>
          </p:cNvPr>
          <p:cNvSpPr/>
          <p:nvPr/>
        </p:nvSpPr>
        <p:spPr>
          <a:xfrm>
            <a:off x="323334" y="2180036"/>
            <a:ext cx="11591186" cy="3785652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In groups of 3-4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Look up studies that have used </a:t>
            </a:r>
            <a:r>
              <a:rPr lang="en-AU" sz="2400" i="1" dirty="0" err="1"/>
              <a:t>r-</a:t>
            </a:r>
            <a:r>
              <a:rPr lang="en-AU" sz="2400" dirty="0" err="1"/>
              <a:t>value</a:t>
            </a:r>
            <a:r>
              <a:rPr lang="en-AU" sz="2400" dirty="0"/>
              <a:t> correlations to identify relationships between variables (e.g. IQ between twins, self-regulation among adoptive parents and children). </a:t>
            </a:r>
            <a:endParaRPr lang="en-AU" sz="2400" b="1" dirty="0"/>
          </a:p>
          <a:p>
            <a:r>
              <a:rPr lang="en-AU" sz="2400" b="1" dirty="0"/>
              <a:t>Find out: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AU" sz="2400" i="0" dirty="0">
                <a:solidFill>
                  <a:srgbClr val="12073C"/>
                </a:solidFill>
                <a:effectLst/>
                <a:latin typeface="Montserrat"/>
              </a:rPr>
              <a:t>Identify two variables that are moderately positively correlated.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AU" sz="2400" i="0" dirty="0">
                <a:solidFill>
                  <a:srgbClr val="12073C"/>
                </a:solidFill>
                <a:effectLst/>
                <a:latin typeface="Montserrat"/>
              </a:rPr>
              <a:t>Identify two variables that are negatively correlated (can be small/low).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AU" sz="2400" i="0" dirty="0">
                <a:solidFill>
                  <a:srgbClr val="12073C"/>
                </a:solidFill>
                <a:effectLst/>
                <a:latin typeface="Montserrat"/>
              </a:rPr>
              <a:t>Identify two variables that have little to no correlation.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12073C"/>
                </a:solidFill>
                <a:latin typeface="Montserrat"/>
              </a:rPr>
              <a:t>Explain how these relationships could be caused by something else. </a:t>
            </a:r>
            <a:endParaRPr lang="en-AU" sz="2400" dirty="0"/>
          </a:p>
          <a:p>
            <a:endParaRPr lang="en-AU" sz="2400" dirty="0"/>
          </a:p>
          <a:p>
            <a:pPr marL="0" indent="0">
              <a:buNone/>
            </a:pPr>
            <a:r>
              <a:rPr lang="en-AU" sz="2400" b="1" dirty="0"/>
              <a:t>Be prepared to share!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6DAF6-E8D8-4AD9-B3E0-6DA9A6795D66}"/>
              </a:ext>
            </a:extLst>
          </p:cNvPr>
          <p:cNvSpPr/>
          <p:nvPr/>
        </p:nvSpPr>
        <p:spPr>
          <a:xfrm>
            <a:off x="10462003" y="251638"/>
            <a:ext cx="1452517" cy="830997"/>
          </a:xfrm>
          <a:prstGeom prst="rect">
            <a:avLst/>
          </a:prstGeom>
          <a:solidFill>
            <a:schemeClr val="accent2">
              <a:alpha val="54118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AU" sz="2400" b="1" dirty="0"/>
              <a:t>15 minutes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50DAA-49A9-4B40-870E-D58598461902}"/>
              </a:ext>
            </a:extLst>
          </p:cNvPr>
          <p:cNvSpPr txBox="1"/>
          <p:nvPr/>
        </p:nvSpPr>
        <p:spPr>
          <a:xfrm>
            <a:off x="0" y="320812"/>
            <a:ext cx="1894314" cy="584775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/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4140873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688280" y="943549"/>
            <a:ext cx="8168641" cy="1200329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52525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US" sz="2400" b="1" i="0" dirty="0">
                <a:solidFill>
                  <a:srgbClr val="252525"/>
                </a:solidFill>
                <a:effectLst/>
                <a:latin typeface="Arial" panose="020B0604020202020204" pitchFamily="34" charset="0"/>
              </a:rPr>
              <a:t>case study </a:t>
            </a:r>
            <a:r>
              <a:rPr lang="en-US" sz="2400" b="0" i="0" dirty="0">
                <a:solidFill>
                  <a:srgbClr val="252525"/>
                </a:solidFill>
                <a:effectLst/>
                <a:latin typeface="Arial" panose="020B0604020202020204" pitchFamily="34" charset="0"/>
              </a:rPr>
              <a:t>is the intensive, thorough examination of a single subject, or very few subjects, with a unique characteristic. </a:t>
            </a:r>
            <a:endParaRPr lang="en-US" sz="2400" dirty="0">
              <a:solidFill>
                <a:srgbClr val="252525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109" y="88488"/>
            <a:ext cx="717210" cy="5918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2F4170-C554-49A2-902F-5987A9A86984}"/>
              </a:ext>
            </a:extLst>
          </p:cNvPr>
          <p:cNvSpPr txBox="1"/>
          <p:nvPr/>
        </p:nvSpPr>
        <p:spPr>
          <a:xfrm>
            <a:off x="3643253" y="0"/>
            <a:ext cx="7626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Case studies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8FC0E4-F50F-4FD6-B172-D8AD32F99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79" y="2425261"/>
            <a:ext cx="8168641" cy="409407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In case studies, the data collection methods made are generally wide‐ranging and detailed. This usually includes interviews, observations, surveys, brain scans and more. </a:t>
            </a:r>
          </a:p>
          <a:p>
            <a:endParaRPr lang="en-US" sz="2000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These are generally used as exploratory research or due to an inability to manipulate variables (e.g. ethics). </a:t>
            </a:r>
          </a:p>
          <a:p>
            <a:endParaRPr lang="en-US" sz="2000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Some famous case studies in psychology include Phineas Gage, H.M, Anna O, Kitty Genovese and Little Albert. </a:t>
            </a:r>
          </a:p>
          <a:p>
            <a:endParaRPr lang="en-US" sz="2000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More on case studies: </a:t>
            </a: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  <a:hlinkClick r:id="rId4"/>
              </a:rPr>
              <a:t>https://wikieducator.org/Introduction_to_Research_Methods_In_Psychology/Non-Experimental_Research_Methods/Case_Studies</a:t>
            </a: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 </a:t>
            </a:r>
            <a:endParaRPr lang="en-US" sz="20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7DE44C-36E9-40C8-A620-547041307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368416"/>
              </p:ext>
            </p:extLst>
          </p:nvPr>
        </p:nvGraphicFramePr>
        <p:xfrm>
          <a:off x="8973879" y="5507816"/>
          <a:ext cx="3100658" cy="8216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00658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82444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439182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AU" sz="1400" dirty="0"/>
                        <a:t>Why do psychologists use case studies?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pic>
        <p:nvPicPr>
          <p:cNvPr id="5" name="Picture 4" descr="A person wearing a suit and tie&#10;&#10;Description automatically generated with medium confidence">
            <a:extLst>
              <a:ext uri="{FF2B5EF4-FFF2-40B4-BE49-F238E27FC236}">
                <a16:creationId xmlns:a16="http://schemas.microsoft.com/office/drawing/2014/main" id="{0CA7C7EB-37F0-4A37-A3C6-472592E02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172" y="472151"/>
            <a:ext cx="2143125" cy="2143125"/>
          </a:xfrm>
          <a:prstGeom prst="rect">
            <a:avLst/>
          </a:prstGeom>
        </p:spPr>
      </p:pic>
      <p:pic>
        <p:nvPicPr>
          <p:cNvPr id="11" name="Picture 10" descr="A picture containing text, person, old&#10;&#10;Description automatically generated">
            <a:extLst>
              <a:ext uri="{FF2B5EF4-FFF2-40B4-BE49-F238E27FC236}">
                <a16:creationId xmlns:a16="http://schemas.microsoft.com/office/drawing/2014/main" id="{8B8B0298-137A-46A4-9EE2-600F5A2A11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104" y="2821613"/>
            <a:ext cx="1594617" cy="22380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56FC77-4FF1-4B47-AB49-9939C8EE1EBA}"/>
              </a:ext>
            </a:extLst>
          </p:cNvPr>
          <p:cNvSpPr txBox="1"/>
          <p:nvPr/>
        </p:nvSpPr>
        <p:spPr>
          <a:xfrm rot="16200000">
            <a:off x="-956768" y="2097597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</p:spTree>
    <p:extLst>
      <p:ext uri="{BB962C8B-B14F-4D97-AF65-F5344CB8AC3E}">
        <p14:creationId xmlns:p14="http://schemas.microsoft.com/office/powerpoint/2010/main" val="42099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26A8-3F3F-4023-B734-B5AF706F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157" y="958752"/>
            <a:ext cx="8125892" cy="1325563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Authentic problem-solving</a:t>
            </a:r>
            <a:br>
              <a:rPr lang="en-AU" sz="44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</a:br>
            <a:endParaRPr lang="en-AU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89365-0648-413F-96E8-99D1672138C0}"/>
              </a:ext>
            </a:extLst>
          </p:cNvPr>
          <p:cNvSpPr/>
          <p:nvPr/>
        </p:nvSpPr>
        <p:spPr>
          <a:xfrm>
            <a:off x="395825" y="3697724"/>
            <a:ext cx="11676172" cy="3046988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In groups of 3-4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Look up case studies of feral children (Genie Wiley’s case is particularly useful). </a:t>
            </a:r>
            <a:endParaRPr lang="en-AU" sz="2400" b="1" dirty="0"/>
          </a:p>
          <a:p>
            <a:r>
              <a:rPr lang="en-AU" sz="2400" b="1" dirty="0"/>
              <a:t>Find out: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AU" sz="2400" i="0" dirty="0">
                <a:solidFill>
                  <a:srgbClr val="12073C"/>
                </a:solidFill>
                <a:effectLst/>
                <a:latin typeface="Montserrat"/>
              </a:rPr>
              <a:t>How are case studies useful in examining human development?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AU" sz="2400" i="0" dirty="0">
                <a:solidFill>
                  <a:srgbClr val="12073C"/>
                </a:solidFill>
                <a:effectLst/>
                <a:latin typeface="Montserrat"/>
              </a:rPr>
              <a:t>What are the strengths and limitations of using case studies in psychology?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AU" sz="2400" i="0" dirty="0">
                <a:solidFill>
                  <a:srgbClr val="12073C"/>
                </a:solidFill>
                <a:effectLst/>
                <a:latin typeface="Montserrat"/>
              </a:rPr>
              <a:t>Use examples from your research into feral children</a:t>
            </a:r>
            <a:r>
              <a:rPr lang="en-AU" sz="2400" dirty="0">
                <a:solidFill>
                  <a:srgbClr val="12073C"/>
                </a:solidFill>
                <a:latin typeface="Montserrat"/>
              </a:rPr>
              <a:t>.</a:t>
            </a:r>
            <a:endParaRPr lang="en-AU" sz="2400" dirty="0"/>
          </a:p>
          <a:p>
            <a:pPr marL="0" indent="0">
              <a:buNone/>
            </a:pPr>
            <a:r>
              <a:rPr lang="en-AU" sz="2400" b="1" dirty="0"/>
              <a:t>Be prepared to share!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6DAF6-E8D8-4AD9-B3E0-6DA9A6795D66}"/>
              </a:ext>
            </a:extLst>
          </p:cNvPr>
          <p:cNvSpPr/>
          <p:nvPr/>
        </p:nvSpPr>
        <p:spPr>
          <a:xfrm>
            <a:off x="10462003" y="251638"/>
            <a:ext cx="1452517" cy="830997"/>
          </a:xfrm>
          <a:prstGeom prst="rect">
            <a:avLst/>
          </a:prstGeom>
          <a:solidFill>
            <a:schemeClr val="accent2">
              <a:alpha val="54118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AU" sz="2400" b="1" dirty="0"/>
              <a:t>15 minutes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50DAA-49A9-4B40-870E-D58598461902}"/>
              </a:ext>
            </a:extLst>
          </p:cNvPr>
          <p:cNvSpPr txBox="1"/>
          <p:nvPr/>
        </p:nvSpPr>
        <p:spPr>
          <a:xfrm>
            <a:off x="0" y="320812"/>
            <a:ext cx="1894314" cy="584775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/>
              <a:t>Activity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69D2C7-0AE5-42E4-9FEC-E38B810F5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93" y="2178715"/>
            <a:ext cx="7982821" cy="10163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pPr fontAlgn="base"/>
            <a:r>
              <a:rPr lang="en-AU" sz="2000" dirty="0">
                <a:solidFill>
                  <a:srgbClr val="12073C"/>
                </a:solidFill>
                <a:latin typeface="Montserrat"/>
                <a:hlinkClick r:id="rId2"/>
              </a:rPr>
              <a:t>https://www.planetcustodian.com/shocking-cases-of-feral-children/12449/#Marina_Chapman_-_Columbia</a:t>
            </a:r>
            <a:r>
              <a:rPr lang="en-AU" sz="2000" dirty="0">
                <a:solidFill>
                  <a:srgbClr val="12073C"/>
                </a:solidFill>
                <a:latin typeface="Montserrat"/>
              </a:rPr>
              <a:t> </a:t>
            </a:r>
          </a:p>
          <a:p>
            <a:pPr fontAlgn="base"/>
            <a:r>
              <a:rPr lang="en-AU" sz="2000" dirty="0">
                <a:hlinkClick r:id="rId3"/>
              </a:rPr>
              <a:t>https://allthatsinteresting.com/genie-wiley-feral-child</a:t>
            </a:r>
            <a:r>
              <a:rPr lang="en-AU" sz="2000" dirty="0"/>
              <a:t> </a:t>
            </a:r>
            <a:endParaRPr lang="en-AU" sz="2000" dirty="0">
              <a:solidFill>
                <a:srgbClr val="12073C"/>
              </a:solidFill>
              <a:latin typeface="Montserrat"/>
            </a:endParaRPr>
          </a:p>
        </p:txBody>
      </p:sp>
      <p:pic>
        <p:nvPicPr>
          <p:cNvPr id="8" name="Picture 7" descr="A picture containing outdoor, ground, person&#10;&#10;Description automatically generated">
            <a:extLst>
              <a:ext uri="{FF2B5EF4-FFF2-40B4-BE49-F238E27FC236}">
                <a16:creationId xmlns:a16="http://schemas.microsoft.com/office/drawing/2014/main" id="{1800FE48-1079-4CE6-B579-E2142E0F5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879" y="1179063"/>
            <a:ext cx="3344118" cy="234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9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810198" y="1232988"/>
            <a:ext cx="8501441" cy="835854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Archival research</a:t>
            </a:r>
            <a:r>
              <a:rPr lang="en-AU" sz="2400" dirty="0">
                <a:solidFill>
                  <a:srgbClr val="0E344D"/>
                </a:solidFill>
                <a:latin typeface="Calibri" panose="020F0502020204030204"/>
              </a:rPr>
              <a:t>, researchers access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repositories of old material to analyse.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E344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969" y="417730"/>
            <a:ext cx="717210" cy="5918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2F4170-C554-49A2-902F-5987A9A86984}"/>
              </a:ext>
            </a:extLst>
          </p:cNvPr>
          <p:cNvSpPr txBox="1"/>
          <p:nvPr/>
        </p:nvSpPr>
        <p:spPr>
          <a:xfrm>
            <a:off x="3658493" y="301646"/>
            <a:ext cx="7626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Archival research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8FC0E4-F50F-4FD6-B172-D8AD32F99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78" y="2607313"/>
            <a:ext cx="10215941" cy="37862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Archival research is commonly used in Psychology is the form of a ‘meta-analysis’. </a:t>
            </a:r>
          </a:p>
          <a:p>
            <a:endParaRPr lang="en-US" sz="2000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Examine the following links (and your own research) to complete the following questions:</a:t>
            </a:r>
          </a:p>
          <a:p>
            <a:endParaRPr lang="en-US" sz="2000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Describe in your own words what Archival research is.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Explain the strengths and weaknesses of Archival research in Psychology.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Provide 2 examples of meta-analysis in Psychology, explaining why they are examples of archival research.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  <a:hlinkClick r:id="rId4"/>
              </a:rPr>
              <a:t>https://www2.archivists.org/book/export/html/14460</a:t>
            </a:r>
            <a:endParaRPr lang="en-US" sz="2000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  <a:hlinkClick r:id="rId5"/>
              </a:rPr>
              <a:t>https://wikieducator.org/Introduction_to_Research_Methods_In_Psychology/Non-Experimental_Research_Methods/Archival_Research</a:t>
            </a: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56FC77-4FF1-4B47-AB49-9939C8EE1EBA}"/>
              </a:ext>
            </a:extLst>
          </p:cNvPr>
          <p:cNvSpPr txBox="1"/>
          <p:nvPr/>
        </p:nvSpPr>
        <p:spPr>
          <a:xfrm rot="16200000">
            <a:off x="-956768" y="2097597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pic>
        <p:nvPicPr>
          <p:cNvPr id="3" name="Picture 2" descr="A picture containing text, warehouse, file&#10;&#10;Description automatically generated">
            <a:extLst>
              <a:ext uri="{FF2B5EF4-FFF2-40B4-BE49-F238E27FC236}">
                <a16:creationId xmlns:a16="http://schemas.microsoft.com/office/drawing/2014/main" id="{6D903345-D140-432A-AF99-2BD4654DAB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953" y="519216"/>
            <a:ext cx="24765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9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688279" y="1030634"/>
            <a:ext cx="8168641" cy="1015663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Definition: A type of research that research utilizing randomized assignment of participants to conditions and systematic manipulation of variables with the objective of drawing causal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8FC0E4-F50F-4FD6-B172-D8AD32F99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77" y="2335240"/>
            <a:ext cx="8168641" cy="31707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000" b="1" dirty="0"/>
              <a:t>Main Characteristics: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Has an independent and dependent variable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Attempts to control as many extraneous variables as possible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Tries to determine cause and effect relationships (IV impacts DV)</a:t>
            </a:r>
          </a:p>
          <a:p>
            <a:endParaRPr lang="en-US" sz="2000" dirty="0"/>
          </a:p>
          <a:p>
            <a:r>
              <a:rPr lang="en-US" sz="2000" b="1" dirty="0"/>
              <a:t>Other characteristics: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Uses a form of participant allocation (experimental design)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Experimental and control group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Use of operationalized hypothesis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Use of statistical significance testing (with p values) to draw conclusions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7DE44C-36E9-40C8-A620-547041307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293296"/>
              </p:ext>
            </p:extLst>
          </p:nvPr>
        </p:nvGraphicFramePr>
        <p:xfrm>
          <a:off x="8973879" y="5507816"/>
          <a:ext cx="3100658" cy="11139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00658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82444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439182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AU" sz="1400" dirty="0"/>
                        <a:t>Why do psychologists use experimental research?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656FC77-4FF1-4B47-AB49-9939C8EE1EBA}"/>
              </a:ext>
            </a:extLst>
          </p:cNvPr>
          <p:cNvSpPr txBox="1"/>
          <p:nvPr/>
        </p:nvSpPr>
        <p:spPr>
          <a:xfrm rot="16200000">
            <a:off x="-956768" y="2097597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CD0CA-B55C-6C42-A82A-CDA05E8595D1}"/>
              </a:ext>
            </a:extLst>
          </p:cNvPr>
          <p:cNvSpPr txBox="1"/>
          <p:nvPr/>
        </p:nvSpPr>
        <p:spPr>
          <a:xfrm>
            <a:off x="1332297" y="180512"/>
            <a:ext cx="3910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Experimental research</a:t>
            </a:r>
          </a:p>
        </p:txBody>
      </p:sp>
    </p:spTree>
    <p:extLst>
      <p:ext uri="{BB962C8B-B14F-4D97-AF65-F5344CB8AC3E}">
        <p14:creationId xmlns:p14="http://schemas.microsoft.com/office/powerpoint/2010/main" val="277413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688279" y="1030634"/>
            <a:ext cx="8168641" cy="1015663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</a:rPr>
              <a:t>Definition: A type of research that research utilizing randomized assignment of participants to conditions and systematic manipulation of variables with the objective of drawing causal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8FC0E4-F50F-4FD6-B172-D8AD32F99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77" y="2335240"/>
            <a:ext cx="8168641" cy="44018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r>
              <a:rPr lang="en-US" sz="2000" b="1" dirty="0"/>
              <a:t>Laboratory Experiment:</a:t>
            </a:r>
          </a:p>
          <a:p>
            <a:r>
              <a:rPr lang="en-US" sz="2000" dirty="0"/>
              <a:t>Experiment happening in a controlled environment </a:t>
            </a:r>
          </a:p>
          <a:p>
            <a:r>
              <a:rPr lang="en-US" sz="2000" dirty="0"/>
              <a:t> e.g. Milgram, Asch</a:t>
            </a:r>
          </a:p>
          <a:p>
            <a:endParaRPr lang="en-US" sz="2000" dirty="0"/>
          </a:p>
          <a:p>
            <a:r>
              <a:rPr lang="en-US" sz="2000" b="1" dirty="0"/>
              <a:t>Field Experiment:</a:t>
            </a:r>
          </a:p>
          <a:p>
            <a:r>
              <a:rPr lang="en-US" sz="2000" dirty="0"/>
              <a:t>Sometimes researchers might opt to conduct their experiments “in the field”</a:t>
            </a:r>
          </a:p>
          <a:p>
            <a:r>
              <a:rPr lang="en-US" sz="2000" dirty="0"/>
              <a:t>e.g. experimenter might have a person pretend to faint and observe to see how long it takes onlookers to respond.</a:t>
            </a:r>
          </a:p>
          <a:p>
            <a:r>
              <a:rPr lang="en-US" sz="2000" dirty="0"/>
              <a:t>Great way to see behaviour in realistic settings</a:t>
            </a:r>
          </a:p>
          <a:p>
            <a:endParaRPr lang="en-US" sz="2000" dirty="0"/>
          </a:p>
          <a:p>
            <a:r>
              <a:rPr lang="en-US" sz="2000" b="1" dirty="0"/>
              <a:t>Quasi-experiment:</a:t>
            </a:r>
          </a:p>
          <a:p>
            <a:r>
              <a:rPr lang="en-US" sz="2000" dirty="0"/>
              <a:t>often referred to as natural experiments because the researchers do not have true control over the independent variable.</a:t>
            </a:r>
          </a:p>
          <a:p>
            <a:r>
              <a:rPr lang="en-US" sz="2000" dirty="0"/>
              <a:t>e.g. Age, gender, race, sex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7DE44C-36E9-40C8-A620-547041307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160694"/>
              </p:ext>
            </p:extLst>
          </p:nvPr>
        </p:nvGraphicFramePr>
        <p:xfrm>
          <a:off x="8973879" y="5196403"/>
          <a:ext cx="3100658" cy="15406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00658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82444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439182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AU" sz="1400" dirty="0"/>
                        <a:t>Describe each of the types of experiments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AU" sz="1400" dirty="0"/>
                        <a:t>Evaluate the use of each type of experiment in terms of reliability and validity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656FC77-4FF1-4B47-AB49-9939C8EE1EBA}"/>
              </a:ext>
            </a:extLst>
          </p:cNvPr>
          <p:cNvSpPr txBox="1"/>
          <p:nvPr/>
        </p:nvSpPr>
        <p:spPr>
          <a:xfrm rot="16200000">
            <a:off x="-956768" y="2097597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CD0CA-B55C-6C42-A82A-CDA05E8595D1}"/>
              </a:ext>
            </a:extLst>
          </p:cNvPr>
          <p:cNvSpPr txBox="1"/>
          <p:nvPr/>
        </p:nvSpPr>
        <p:spPr>
          <a:xfrm>
            <a:off x="1332297" y="180512"/>
            <a:ext cx="51257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Experimental research - types</a:t>
            </a:r>
          </a:p>
        </p:txBody>
      </p:sp>
    </p:spTree>
    <p:extLst>
      <p:ext uri="{BB962C8B-B14F-4D97-AF65-F5344CB8AC3E}">
        <p14:creationId xmlns:p14="http://schemas.microsoft.com/office/powerpoint/2010/main" val="40111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3046-D781-2241-8E1F-83C1B752E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3: Independent 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993D-DD75-7548-A416-C2A2B3F78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b="1" dirty="0"/>
              <a:t>Open up the syllabus on SEQTA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Choose an item in yellow from your revision list </a:t>
            </a:r>
          </a:p>
          <a:p>
            <a:pPr marL="0" indent="0">
              <a:buNone/>
            </a:pPr>
            <a:r>
              <a:rPr lang="en-US" sz="3600" dirty="0"/>
              <a:t>Work silently and independently</a:t>
            </a:r>
            <a:br>
              <a:rPr lang="en-US" sz="3600" dirty="0"/>
            </a:b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Elaboratively rehearse </a:t>
            </a:r>
            <a:r>
              <a:rPr lang="en-US" sz="3600" dirty="0"/>
              <a:t>material and try a </a:t>
            </a:r>
            <a:r>
              <a:rPr lang="en-US" sz="3600" b="1" dirty="0"/>
              <a:t>memory technique!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92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6024</TotalTime>
  <Words>1704</Words>
  <Application>Microsoft Macintosh PowerPoint</Application>
  <PresentationFormat>Widescreen</PresentationFormat>
  <Paragraphs>197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Droid Serif</vt:lpstr>
      <vt:lpstr>Montserrat</vt:lpstr>
      <vt:lpstr>Office Theme</vt:lpstr>
      <vt:lpstr>PowerPoint Presentation</vt:lpstr>
      <vt:lpstr>Answer</vt:lpstr>
      <vt:lpstr>PowerPoint Presentation</vt:lpstr>
      <vt:lpstr>answer</vt:lpstr>
      <vt:lpstr>Success Criteria </vt:lpstr>
      <vt:lpstr>PowerPoint Presentation</vt:lpstr>
      <vt:lpstr>PowerPoint Presentation</vt:lpstr>
      <vt:lpstr>PowerPoint Presentation</vt:lpstr>
      <vt:lpstr>PowerPoint Presentation</vt:lpstr>
      <vt:lpstr>Authentic problem-solving </vt:lpstr>
      <vt:lpstr>PowerPoint Presentation</vt:lpstr>
      <vt:lpstr>Authentic problem-solving </vt:lpstr>
      <vt:lpstr>PowerPoint Presentation</vt:lpstr>
      <vt:lpstr>PowerPoint Presentation</vt:lpstr>
      <vt:lpstr>PowerPoint Presentation</vt:lpstr>
      <vt:lpstr>TASK 3: Independent revision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SMITH Alix [Joseph Banks Secondary College]</dc:creator>
  <cp:lastModifiedBy>DAVEY Sarah [Joseph Banks Secondary College]</cp:lastModifiedBy>
  <cp:revision>31</cp:revision>
  <dcterms:created xsi:type="dcterms:W3CDTF">2021-04-26T13:37:20Z</dcterms:created>
  <dcterms:modified xsi:type="dcterms:W3CDTF">2021-11-07T13:59:43Z</dcterms:modified>
</cp:coreProperties>
</file>
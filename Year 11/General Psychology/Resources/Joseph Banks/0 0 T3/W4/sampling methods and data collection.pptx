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80" r:id="rId3"/>
  </p:sldMasterIdLst>
  <p:notesMasterIdLst>
    <p:notesMasterId r:id="rId24"/>
  </p:notesMasterIdLst>
  <p:sldIdLst>
    <p:sldId id="262" r:id="rId4"/>
    <p:sldId id="263" r:id="rId5"/>
    <p:sldId id="406" r:id="rId6"/>
    <p:sldId id="317" r:id="rId7"/>
    <p:sldId id="419" r:id="rId8"/>
    <p:sldId id="423" r:id="rId9"/>
    <p:sldId id="421" r:id="rId10"/>
    <p:sldId id="422" r:id="rId11"/>
    <p:sldId id="420" r:id="rId12"/>
    <p:sldId id="403" r:id="rId13"/>
    <p:sldId id="359" r:id="rId14"/>
    <p:sldId id="400" r:id="rId15"/>
    <p:sldId id="408" r:id="rId16"/>
    <p:sldId id="409" r:id="rId17"/>
    <p:sldId id="410" r:id="rId18"/>
    <p:sldId id="407" r:id="rId19"/>
    <p:sldId id="413" r:id="rId20"/>
    <p:sldId id="414" r:id="rId21"/>
    <p:sldId id="416" r:id="rId22"/>
    <p:sldId id="34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/>
    <p:restoredTop sz="91071"/>
  </p:normalViewPr>
  <p:slideViewPr>
    <p:cSldViewPr snapToGrid="0" snapToObjects="1">
      <p:cViewPr varScale="1">
        <p:scale>
          <a:sx n="115" d="100"/>
          <a:sy n="115" d="100"/>
        </p:scale>
        <p:origin x="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JBSC</a:t>
            </a:r>
            <a:r>
              <a:rPr lang="en-US" baseline="0" dirty="0"/>
              <a:t> Strata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Amount of people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E40-3840-A0EF-68953065132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4E40-3840-A0EF-68953065132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4E40-3840-A0EF-68953065132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E40-3840-A0EF-68953065132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4E40-3840-A0EF-68953065132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4-4E40-3840-A0EF-689530651327}"/>
                </c:ext>
              </c:extLst>
            </c:dLbl>
            <c:dLbl>
              <c:idx val="2"/>
              <c:layout>
                <c:manualLayout>
                  <c:x val="-2.0774227399836402E-17"/>
                  <c:y val="-4.484068568419508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E40-3840-A0EF-68953065132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4E40-3840-A0EF-68953065132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Year 7 - 10</c:v>
                </c:pt>
                <c:pt idx="1">
                  <c:v>Teaching and support</c:v>
                </c:pt>
                <c:pt idx="2">
                  <c:v>Admin and cleaners</c:v>
                </c:pt>
                <c:pt idx="3">
                  <c:v>Year 11 - 12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1100</c:v>
                </c:pt>
                <c:pt idx="1">
                  <c:v>110</c:v>
                </c:pt>
                <c:pt idx="2">
                  <c:v>50</c:v>
                </c:pt>
                <c:pt idx="3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40-3840-A0EF-68953065132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FAB6C-3138-6440-BC93-B4B889D09C18}" type="datetimeFigureOut">
              <a:rPr lang="en-US" smtClean="0"/>
              <a:t>8/8/21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B88CF-89E8-E740-B754-A3753DCF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2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10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14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97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51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7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05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www.simplypsychology.org</a:t>
            </a:r>
            <a:r>
              <a:rPr lang="en-US" dirty="0"/>
              <a:t>/</a:t>
            </a:r>
            <a:r>
              <a:rPr lang="en-US" dirty="0" err="1"/>
              <a:t>sampling.html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80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15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15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42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00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32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44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9403-0A70-6342-AD93-9768B2D93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54347-3F03-124F-96EB-030C73460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5659E-A2D1-B748-A249-5D5B4D67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66F3E-DC9C-7A42-B6AA-EE9329C5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2BB6A-4459-D440-A462-AB491D2E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8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3771-2C5D-324E-96C1-1D073135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ADD6-06C2-0140-BC76-1998A0BB2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9CD7A-B170-7644-97DA-49A85FFE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B10CC-78FB-B046-99D1-DC57EDA1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0E833-292B-2849-B271-F8640E73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8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C990-558A-AE46-80F7-D4F77B03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4EDAA-4286-C746-BE37-6BAFABA43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4AA73-B1E1-2D41-9458-0FA447D7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DFF87-2C57-4849-8357-2EF037D3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753EE-FC36-7C41-B550-E9A2EA45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2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75A6-5B2E-5D4D-B8C3-87CE4BCE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974F-F3B7-BE45-9CE2-3F5CAD14F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57523-300B-2945-B9DE-50200343B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7CC82-CAA8-DC46-ADE1-A1C394DD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5D147-F3C5-0C42-9AFB-A75140B7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E03AD-15F3-414D-930C-1B5AEABC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9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1B44-9F47-A149-A10A-1687F36E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1B29-62C9-564B-A7C6-17C8E87FA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3DD78-19AC-F244-84D1-3AAA433A2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1DD53-EFE3-404D-B262-89B66C74D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CEBA4-5169-8B4B-92C3-0A0D1E0F9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6305B-45B6-0040-84CF-FF35B78E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62CE6-4603-A948-A3DB-46FA184B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122EF-0C06-EE45-BAB2-384B428C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5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26B2-FE7B-FA44-901F-604F43CE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DD536-C96F-D846-93FC-DBA7EB65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951AF-46E5-964D-82E4-6EC18DA2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21BC4-FBA5-9545-800E-B783DDAC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9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D2B45-6D3E-5140-9E1A-EA6BD1F7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CA7E1-6DB7-5348-9A38-94A036A2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C71B7-DFE4-0741-A4BB-22829005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90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B3DB-7E96-B241-951E-E0213CB5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E2D9-6211-4F4B-90D8-E32643AD1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E4D28-C849-1F4E-BEB1-4232BBBD4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73FAF-7209-E043-807C-C17A5520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9F006-D4FB-EE42-A616-30D03C31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3CA3F-1808-CB4E-942B-E869B8CE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7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FB93-FFEA-6B43-AC94-7159009E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7D9EC-D130-1946-8998-11940C62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D7668-5870-B446-A751-8DC345898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0E1C2-86D2-B740-868A-F6676DD5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BE31-E8B5-BF43-82AD-2FF081CD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355F8-0EDC-6D4C-85CC-3AC3BB22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6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E170-EF20-594A-A449-DC901974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84A1D-6C2C-2945-94AA-730A7F67C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1DD28-B73A-3B4D-B817-2A14D701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C8CE-002D-0947-9AC3-A3D63D6D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C238-FC97-594A-8BE5-F401E278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7AD74-D535-EE47-9F94-E8712FCCB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504AE-ACBE-694B-8C8A-48DA810EC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42C47-4ACA-904D-A9F0-5427F9FE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A839-90C6-CA44-AA4A-5466C044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18E6-8954-6145-826C-A4DF1124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8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Rectangle 7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208929"/>
            <a:ext cx="7278624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257800"/>
            <a:ext cx="7278624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0" y="390526"/>
            <a:ext cx="7339584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1584" y="6356351"/>
            <a:ext cx="6315456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8659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64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97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171950"/>
            <a:ext cx="7277225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1" y="5257800"/>
            <a:ext cx="7277224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1" y="389966"/>
            <a:ext cx="7333129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85130" y="6356351"/>
            <a:ext cx="63121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0612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267201" y="2877671"/>
            <a:ext cx="7529156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</p:spTree>
    <p:extLst>
      <p:ext uri="{BB962C8B-B14F-4D97-AF65-F5344CB8AC3E}">
        <p14:creationId xmlns:p14="http://schemas.microsoft.com/office/powerpoint/2010/main" val="806158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565" y="914400"/>
            <a:ext cx="8677836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565" y="2209801"/>
            <a:ext cx="8677836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4564" y="6356351"/>
            <a:ext cx="65691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2259" y="361017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3" y="1976718"/>
            <a:ext cx="219456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306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45270" y="268288"/>
            <a:ext cx="1465431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1" y="3429000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401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800" y="6356351"/>
            <a:ext cx="2163483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70821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07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4773706"/>
            <a:ext cx="39624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472" y="3429001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0472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8283" y="6104966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2" y="268288"/>
            <a:ext cx="39624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8888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992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76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985113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5855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5855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73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2214562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09599" y="4224973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46402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1788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0960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1925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95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02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9403" y="990600"/>
            <a:ext cx="475488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776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29081" y="268288"/>
            <a:ext cx="54864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5153" y="6124015"/>
            <a:ext cx="2336800" cy="365125"/>
          </a:xfrm>
        </p:spPr>
        <p:txBody>
          <a:bodyPr/>
          <a:lstStyle>
            <a:lvl1pPr algn="l">
              <a:defRPr/>
            </a:lvl1pPr>
          </a:lstStyle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51517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347011" y="990600"/>
            <a:ext cx="5462016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4143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622367" y="268288"/>
            <a:ext cx="2185943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9144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811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47295" y="268288"/>
            <a:ext cx="961015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4008968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4470400" y="268289"/>
            <a:ext cx="6269317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4470400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7667333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48108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609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1035425"/>
            <a:ext cx="1763060" cy="5090739"/>
          </a:xfrm>
        </p:spPr>
        <p:txBody>
          <a:bodyPr vert="eaVert" anchor="t" anchorCtr="0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035425"/>
            <a:ext cx="80264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104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Rectangle 7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208929"/>
            <a:ext cx="7278624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257800"/>
            <a:ext cx="7278624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0" y="390526"/>
            <a:ext cx="7339584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1584" y="6356351"/>
            <a:ext cx="6315456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8659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664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406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171950"/>
            <a:ext cx="7277225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1" y="5257800"/>
            <a:ext cx="7277224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1" y="389966"/>
            <a:ext cx="7333129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85130" y="6356351"/>
            <a:ext cx="63121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0612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267201" y="2877671"/>
            <a:ext cx="7529156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6238578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565" y="914400"/>
            <a:ext cx="8677836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565" y="2209801"/>
            <a:ext cx="8677836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4564" y="6356351"/>
            <a:ext cx="65691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2259" y="361017"/>
            <a:ext cx="675341" cy="365125"/>
          </a:xfrm>
        </p:spPr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3" y="1976718"/>
            <a:ext cx="219456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40893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45270" y="268288"/>
            <a:ext cx="1465431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1" y="3429000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401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800" y="6356351"/>
            <a:ext cx="2163483" cy="365125"/>
          </a:xfrm>
        </p:spPr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70821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756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4773706"/>
            <a:ext cx="39624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472" y="3429001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0472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8283" y="6104966"/>
            <a:ext cx="675341" cy="365125"/>
          </a:xfrm>
        </p:spPr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2" y="268288"/>
            <a:ext cx="39624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20290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992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8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985113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5855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5855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739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2214562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09599" y="4224973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80890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42704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0960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53988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240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570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9403" y="990600"/>
            <a:ext cx="475488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741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29081" y="268288"/>
            <a:ext cx="54864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5153" y="6124015"/>
            <a:ext cx="2336800" cy="365125"/>
          </a:xfrm>
        </p:spPr>
        <p:txBody>
          <a:bodyPr/>
          <a:lstStyle>
            <a:lvl1pPr algn="l">
              <a:defRPr/>
            </a:lvl1pPr>
          </a:lstStyle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51517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347011" y="990600"/>
            <a:ext cx="5462016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7849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622367" y="268288"/>
            <a:ext cx="2185943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9144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924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47295" y="268288"/>
            <a:ext cx="961015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4008968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4470400" y="268289"/>
            <a:ext cx="6269317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4470400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7667333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47557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286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1035425"/>
            <a:ext cx="1763060" cy="5090739"/>
          </a:xfrm>
        </p:spPr>
        <p:txBody>
          <a:bodyPr vert="eaVert" anchor="t" anchorCtr="0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035425"/>
            <a:ext cx="80264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106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1DFC-17E5-C14E-BC3E-6F75E2F6365C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235F-EC74-7846-ADD8-6E0795AA4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C31F3-683C-D045-A95B-0EC27CA2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EF1DC-57E7-904E-98BF-D5D10293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47479-C980-A84E-A2E5-5881B9D50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AACE0-986B-954A-BDE6-68B4D7D9F963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5FE8-A678-014F-B1F7-4D6BC1F62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7D8D9-8D56-9242-B7FA-28E157121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5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8677836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209801"/>
            <a:ext cx="8677836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98212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083" y="6356351"/>
            <a:ext cx="8009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8659" y="361017"/>
            <a:ext cx="675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18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8677836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209801"/>
            <a:ext cx="8677836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98212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A011D86-DC34-7546-97EC-749AB3079894}" type="datetimeFigureOut">
              <a:rPr lang="en-US" smtClean="0"/>
              <a:t>8/8/21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083" y="6356351"/>
            <a:ext cx="8009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8659" y="361017"/>
            <a:ext cx="675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8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mplypsychology.org/sampling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0" y="4549676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227BF2-3A23-4146-A5CB-2F1E3B806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499950"/>
              </p:ext>
            </p:extLst>
          </p:nvPr>
        </p:nvGraphicFramePr>
        <p:xfrm>
          <a:off x="8277101" y="5828170"/>
          <a:ext cx="3914899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14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b="1" dirty="0"/>
                        <a:t>Next assessment </a:t>
                      </a:r>
                      <a:r>
                        <a:rPr lang="en-US" sz="1800" dirty="0"/>
                        <a:t>Investigation 1: 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Mnemonics and memory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977C874-59B7-7D40-AD84-39D71CED2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442480"/>
              </p:ext>
            </p:extLst>
          </p:nvPr>
        </p:nvGraphicFramePr>
        <p:xfrm>
          <a:off x="2517924" y="1067125"/>
          <a:ext cx="8205494" cy="4638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747">
                  <a:extLst>
                    <a:ext uri="{9D8B030D-6E8A-4147-A177-3AD203B41FA5}">
                      <a16:colId xmlns:a16="http://schemas.microsoft.com/office/drawing/2014/main" val="1757585107"/>
                    </a:ext>
                  </a:extLst>
                </a:gridCol>
                <a:gridCol w="4102747">
                  <a:extLst>
                    <a:ext uri="{9D8B030D-6E8A-4147-A177-3AD203B41FA5}">
                      <a16:colId xmlns:a16="http://schemas.microsoft.com/office/drawing/2014/main" val="2017565963"/>
                    </a:ext>
                  </a:extLst>
                </a:gridCol>
              </a:tblGrid>
              <a:tr h="44491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Terminology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792114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Operationalise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variable that could impact the results in research and is controlled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958320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Extraneous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extent to how replicable a piece of research is and how consistent the results would 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958005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the research is testable, measurable, and follows a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38096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Taking an abstract variable and making it testable and measurable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75163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Scientific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variable measured in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766486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Dependent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extent to which your research measures what it intends to measure (how accurate it is)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70411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F77788-628B-D74F-9C0E-DD4DE058DDCD}"/>
              </a:ext>
            </a:extLst>
          </p:cNvPr>
          <p:cNvSpPr txBox="1"/>
          <p:nvPr/>
        </p:nvSpPr>
        <p:spPr>
          <a:xfrm>
            <a:off x="3102592" y="18910"/>
            <a:ext cx="78390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your </a:t>
            </a:r>
            <a:r>
              <a:rPr lang="en-US" sz="2800" b="1" dirty="0" err="1"/>
              <a:t>powerteam</a:t>
            </a:r>
            <a:r>
              <a:rPr lang="en-US" sz="2800" b="1" dirty="0"/>
              <a:t> match the correct term to the definition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44170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8176" y="0"/>
            <a:ext cx="50535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endParaRPr lang="en-US" sz="2800" dirty="0"/>
          </a:p>
          <a:p>
            <a:pPr marL="514350" lvl="0" indent="-514350">
              <a:buAutoNum type="arabicPeriod"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0" y="4877584"/>
            <a:ext cx="2197290" cy="193899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073425A4-5ABE-064D-9673-F5C90011D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725130"/>
              </p:ext>
            </p:extLst>
          </p:nvPr>
        </p:nvGraphicFramePr>
        <p:xfrm>
          <a:off x="2339795" y="923775"/>
          <a:ext cx="8205494" cy="4868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747">
                  <a:extLst>
                    <a:ext uri="{9D8B030D-6E8A-4147-A177-3AD203B41FA5}">
                      <a16:colId xmlns:a16="http://schemas.microsoft.com/office/drawing/2014/main" val="1757585107"/>
                    </a:ext>
                  </a:extLst>
                </a:gridCol>
                <a:gridCol w="4102747">
                  <a:extLst>
                    <a:ext uri="{9D8B030D-6E8A-4147-A177-3AD203B41FA5}">
                      <a16:colId xmlns:a16="http://schemas.microsoft.com/office/drawing/2014/main" val="2017565963"/>
                    </a:ext>
                  </a:extLst>
                </a:gridCol>
              </a:tblGrid>
              <a:tr h="4788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Terminology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792114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Extraneous variable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variable that could impact the results in research and is controlled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958320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extent to how replicable a piece of research is and how consistent the results would 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958005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Scientific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the research is testable, measurable, and follows a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38096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Operationalise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Taking an abstract variable and making it testable and measurable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75163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Dependent variable 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variable measured in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766486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extent to which your research measures what it intends to measure (how accurate it is)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70411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3D3BDD-44C1-554B-AD25-55ED419D6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312441"/>
              </p:ext>
            </p:extLst>
          </p:nvPr>
        </p:nvGraphicFramePr>
        <p:xfrm>
          <a:off x="8277101" y="5828170"/>
          <a:ext cx="3914899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14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b="1" dirty="0"/>
                        <a:t>Next assessment </a:t>
                      </a:r>
                      <a:r>
                        <a:rPr lang="en-US" sz="1800" dirty="0"/>
                        <a:t>Investigation 1: 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Mnemonics and memory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6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1500831" y="1500829"/>
            <a:ext cx="33709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A9135-6D23-9B40-A318-5A5318AD7149}"/>
              </a:ext>
            </a:extLst>
          </p:cNvPr>
          <p:cNvSpPr txBox="1"/>
          <p:nvPr/>
        </p:nvSpPr>
        <p:spPr>
          <a:xfrm>
            <a:off x="808940" y="2055538"/>
            <a:ext cx="103589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What is the difference between a sample</a:t>
            </a:r>
          </a:p>
          <a:p>
            <a:r>
              <a:rPr lang="en-US" sz="4000" b="1" dirty="0"/>
              <a:t>and a population?</a:t>
            </a:r>
          </a:p>
        </p:txBody>
      </p:sp>
    </p:spTree>
    <p:extLst>
      <p:ext uri="{BB962C8B-B14F-4D97-AF65-F5344CB8AC3E}">
        <p14:creationId xmlns:p14="http://schemas.microsoft.com/office/powerpoint/2010/main" val="2626991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028303-B0E0-B24D-827A-DB2F27B589E7}"/>
              </a:ext>
            </a:extLst>
          </p:cNvPr>
          <p:cNvSpPr txBox="1"/>
          <p:nvPr/>
        </p:nvSpPr>
        <p:spPr>
          <a:xfrm rot="16200000">
            <a:off x="-1102807" y="1085874"/>
            <a:ext cx="2541080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Activate Prior Knowledge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BCDAA-A982-034A-8C4C-91D47D9534D7}"/>
              </a:ext>
            </a:extLst>
          </p:cNvPr>
          <p:cNvSpPr txBox="1"/>
          <p:nvPr/>
        </p:nvSpPr>
        <p:spPr>
          <a:xfrm>
            <a:off x="1169130" y="351076"/>
            <a:ext cx="9853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/>
              <a:t>Answer:</a:t>
            </a:r>
          </a:p>
        </p:txBody>
      </p:sp>
      <p:sp>
        <p:nvSpPr>
          <p:cNvPr id="4" name="Rectangle 3"/>
          <p:cNvSpPr/>
          <p:nvPr/>
        </p:nvSpPr>
        <p:spPr>
          <a:xfrm>
            <a:off x="2405448" y="1990632"/>
            <a:ext cx="6602627" cy="3520482"/>
          </a:xfrm>
          <a:prstGeom prst="rect">
            <a:avLst/>
          </a:prstGeom>
          <a:solidFill>
            <a:srgbClr val="9ACDED"/>
          </a:solidFill>
        </p:spPr>
        <p:txBody>
          <a:bodyPr wrap="square">
            <a:spAutoFit/>
          </a:bodyPr>
          <a:lstStyle/>
          <a:p>
            <a:r>
              <a:rPr lang="en-AU" sz="2400" b="1" u="sng" dirty="0"/>
              <a:t>Sample: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In a study or experiment, the sample is the group that is a subset of the population (a larger group) being studied for research purposes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400" dirty="0"/>
          </a:p>
          <a:p>
            <a:r>
              <a:rPr lang="en-AU" sz="2400" b="1" u="sng" dirty="0"/>
              <a:t>Population:</a:t>
            </a:r>
            <a:endParaRPr lang="en-AU" sz="24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The group of *people to whom the findings from a research study apply</a:t>
            </a:r>
          </a:p>
        </p:txBody>
      </p:sp>
      <p:pic>
        <p:nvPicPr>
          <p:cNvPr id="6" name="Picture 5" descr="Iconsmind-Outline-Pen-5.ico">
            <a:extLst>
              <a:ext uri="{FF2B5EF4-FFF2-40B4-BE49-F238E27FC236}">
                <a16:creationId xmlns:a16="http://schemas.microsoft.com/office/drawing/2014/main" id="{001B3486-EF5E-1246-B3FD-CF10909F3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512" y="940794"/>
            <a:ext cx="1221221" cy="12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9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1500831" y="1500829"/>
            <a:ext cx="33709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740E9-035F-7241-B4FB-F10B8E5CD49A}"/>
              </a:ext>
            </a:extLst>
          </p:cNvPr>
          <p:cNvSpPr txBox="1"/>
          <p:nvPr/>
        </p:nvSpPr>
        <p:spPr>
          <a:xfrm>
            <a:off x="1878689" y="1968298"/>
            <a:ext cx="801052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Write an operationalized hypothesis for:</a:t>
            </a:r>
          </a:p>
          <a:p>
            <a:endParaRPr lang="en-US" sz="3200" b="1" dirty="0"/>
          </a:p>
          <a:p>
            <a:r>
              <a:rPr lang="en-US" sz="3200" dirty="0"/>
              <a:t>Population: Teachers</a:t>
            </a:r>
          </a:p>
          <a:p>
            <a:r>
              <a:rPr lang="en-US" sz="3200" dirty="0"/>
              <a:t>IV: kind students</a:t>
            </a:r>
          </a:p>
          <a:p>
            <a:r>
              <a:rPr lang="en-US" sz="3200" dirty="0"/>
              <a:t>DV: mood</a:t>
            </a:r>
          </a:p>
        </p:txBody>
      </p:sp>
    </p:spTree>
    <p:extLst>
      <p:ext uri="{BB962C8B-B14F-4D97-AF65-F5344CB8AC3E}">
        <p14:creationId xmlns:p14="http://schemas.microsoft.com/office/powerpoint/2010/main" val="322530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1500831" y="1500829"/>
            <a:ext cx="33709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740E9-035F-7241-B4FB-F10B8E5CD49A}"/>
              </a:ext>
            </a:extLst>
          </p:cNvPr>
          <p:cNvSpPr txBox="1"/>
          <p:nvPr/>
        </p:nvSpPr>
        <p:spPr>
          <a:xfrm>
            <a:off x="763072" y="736169"/>
            <a:ext cx="1066585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Check your answer:</a:t>
            </a:r>
          </a:p>
          <a:p>
            <a:endParaRPr lang="en-US" sz="3200" dirty="0"/>
          </a:p>
          <a:p>
            <a:r>
              <a:rPr lang="en-US" sz="3200" dirty="0"/>
              <a:t>It is hypothesized that teachers who receive 10 kind words a day from students will demonstrate a happier mood than teachers who do not receive kind words from students, as measures by a self-report mood survey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*</a:t>
            </a:r>
            <a:r>
              <a:rPr lang="en-US" sz="3200" i="1" dirty="0"/>
              <a:t>Your hypothesis may look different check </a:t>
            </a:r>
            <a:r>
              <a:rPr lang="en-US" sz="3200" i="1" dirty="0" err="1"/>
              <a:t>ti</a:t>
            </a:r>
            <a:r>
              <a:rPr lang="en-US" sz="3200" i="1" dirty="0"/>
              <a:t> has the same ingredients as above </a:t>
            </a:r>
            <a:r>
              <a:rPr lang="en-US" sz="3200" i="1" dirty="0" err="1"/>
              <a:t>tho</a:t>
            </a:r>
            <a:r>
              <a:rPr lang="en-US" sz="3200" i="1" dirty="0"/>
              <a:t>! (</a:t>
            </a:r>
            <a:r>
              <a:rPr lang="en-US" sz="3200" i="1" dirty="0" err="1"/>
              <a:t>operatitonalsied</a:t>
            </a:r>
            <a:r>
              <a:rPr lang="en-US" sz="3200" i="1" dirty="0"/>
              <a:t> IV and DV, compare to control.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82610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1500831" y="1500829"/>
            <a:ext cx="33709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740E9-035F-7241-B4FB-F10B8E5CD49A}"/>
              </a:ext>
            </a:extLst>
          </p:cNvPr>
          <p:cNvSpPr txBox="1"/>
          <p:nvPr/>
        </p:nvSpPr>
        <p:spPr>
          <a:xfrm>
            <a:off x="1878689" y="1968298"/>
            <a:ext cx="7489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Define the term extraneous variables</a:t>
            </a:r>
          </a:p>
        </p:txBody>
      </p:sp>
    </p:spTree>
    <p:extLst>
      <p:ext uri="{BB962C8B-B14F-4D97-AF65-F5344CB8AC3E}">
        <p14:creationId xmlns:p14="http://schemas.microsoft.com/office/powerpoint/2010/main" val="406018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1500831" y="1500829"/>
            <a:ext cx="33709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740E9-035F-7241-B4FB-F10B8E5CD49A}"/>
              </a:ext>
            </a:extLst>
          </p:cNvPr>
          <p:cNvSpPr txBox="1"/>
          <p:nvPr/>
        </p:nvSpPr>
        <p:spPr>
          <a:xfrm>
            <a:off x="713612" y="1984924"/>
            <a:ext cx="1082860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b="1" dirty="0"/>
          </a:p>
          <a:p>
            <a:r>
              <a:rPr lang="en-US" sz="3200" b="1" dirty="0"/>
              <a:t>Answer:</a:t>
            </a:r>
          </a:p>
          <a:p>
            <a:endParaRPr lang="en-US" sz="3200" b="1" dirty="0"/>
          </a:p>
          <a:p>
            <a:r>
              <a:rPr lang="en-US" sz="3200" b="1" dirty="0"/>
              <a:t>Any variables (which is not the independent variable)</a:t>
            </a:r>
          </a:p>
          <a:p>
            <a:r>
              <a:rPr lang="en-US" sz="3200" b="1" dirty="0"/>
              <a:t>which may impact the dependent variable and thus</a:t>
            </a:r>
          </a:p>
          <a:p>
            <a:r>
              <a:rPr lang="en-US" sz="3200" b="1" dirty="0"/>
              <a:t>Must be controlled for</a:t>
            </a: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448699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1500831" y="1500829"/>
            <a:ext cx="33709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740E9-035F-7241-B4FB-F10B8E5CD49A}"/>
              </a:ext>
            </a:extLst>
          </p:cNvPr>
          <p:cNvSpPr txBox="1"/>
          <p:nvPr/>
        </p:nvSpPr>
        <p:spPr>
          <a:xfrm>
            <a:off x="1878689" y="1968298"/>
            <a:ext cx="756008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With the below variables</a:t>
            </a:r>
          </a:p>
          <a:p>
            <a:endParaRPr lang="en-US" sz="3200" b="1" dirty="0"/>
          </a:p>
          <a:p>
            <a:r>
              <a:rPr lang="en-US" sz="3200" dirty="0"/>
              <a:t>Population: Teachers</a:t>
            </a:r>
          </a:p>
          <a:p>
            <a:r>
              <a:rPr lang="en-US" sz="3200" dirty="0"/>
              <a:t>IV: kind students</a:t>
            </a:r>
          </a:p>
          <a:p>
            <a:r>
              <a:rPr lang="en-US" sz="3200" dirty="0"/>
              <a:t>DV: mood</a:t>
            </a:r>
          </a:p>
          <a:p>
            <a:endParaRPr lang="en-US" sz="3200" dirty="0"/>
          </a:p>
          <a:p>
            <a:r>
              <a:rPr lang="en-US" sz="3200" dirty="0"/>
              <a:t>Come up with 3 extraneous variables</a:t>
            </a:r>
          </a:p>
        </p:txBody>
      </p:sp>
    </p:spTree>
    <p:extLst>
      <p:ext uri="{BB962C8B-B14F-4D97-AF65-F5344CB8AC3E}">
        <p14:creationId xmlns:p14="http://schemas.microsoft.com/office/powerpoint/2010/main" val="2798052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87F6-7899-8A4C-B0CE-119200A5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8922D-88C9-C849-8D39-ACF38E38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Topics covered today: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Sampling methods</a:t>
            </a:r>
          </a:p>
          <a:p>
            <a:pPr marL="0" indent="0">
              <a:buNone/>
            </a:pPr>
            <a:r>
              <a:rPr lang="en-US" dirty="0"/>
              <a:t>Data collection methods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30" name="Picture 6" descr="NCES Blog | Statistical concepts in brief: How and why does NCES use sample  surveys?">
            <a:extLst>
              <a:ext uri="{FF2B5EF4-FFF2-40B4-BE49-F238E27FC236}">
                <a16:creationId xmlns:a16="http://schemas.microsoft.com/office/drawing/2014/main" id="{495B3FBE-0533-1F4A-8561-0E89BB6D6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738" y="0"/>
            <a:ext cx="4682446" cy="287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4 Data Collection Techniques: Which One's Right for You? - Atlan | Humans  of Data">
            <a:extLst>
              <a:ext uri="{FF2B5EF4-FFF2-40B4-BE49-F238E27FC236}">
                <a16:creationId xmlns:a16="http://schemas.microsoft.com/office/drawing/2014/main" id="{7C3665A6-456A-7E48-A70B-D9F87221F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838" y="2784573"/>
            <a:ext cx="4549162" cy="292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928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9587660"/>
              </p:ext>
            </p:extLst>
          </p:nvPr>
        </p:nvGraphicFramePr>
        <p:xfrm>
          <a:off x="484908" y="4343624"/>
          <a:ext cx="11075524" cy="2232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5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4198">
                <a:tc>
                  <a:txBody>
                    <a:bodyPr/>
                    <a:lstStyle/>
                    <a:p>
                      <a:r>
                        <a:rPr lang="en-US" dirty="0"/>
                        <a:t>Everyone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198">
                <a:tc>
                  <a:txBody>
                    <a:bodyPr/>
                    <a:lstStyle/>
                    <a:p>
                      <a:r>
                        <a:rPr lang="en-US" sz="2400" b="0" dirty="0"/>
                        <a:t>A table to compare the different sampling and data collection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19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Practiced my skill of writing operationalized hypotheses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-184165" y="0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Learning Intention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3391" y="1193800"/>
            <a:ext cx="110755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94431"/>
                </a:solidFill>
              </a:rPr>
              <a:t>By the end of the lesson I will be able to:</a:t>
            </a:r>
            <a:br>
              <a:rPr lang="en-US" sz="2400" dirty="0">
                <a:solidFill>
                  <a:srgbClr val="194431"/>
                </a:solidFill>
              </a:rPr>
            </a:br>
            <a:endParaRPr lang="en-US" sz="2400" dirty="0">
              <a:solidFill>
                <a:srgbClr val="194431"/>
              </a:solidFill>
            </a:endParaRPr>
          </a:p>
          <a:p>
            <a:r>
              <a:rPr lang="en-US" sz="2000" dirty="0"/>
              <a:t>Describe and evaluate the different sampling methods</a:t>
            </a:r>
          </a:p>
          <a:p>
            <a:endParaRPr lang="en-US" sz="2000" dirty="0"/>
          </a:p>
          <a:p>
            <a:r>
              <a:rPr lang="en-US" sz="2000" dirty="0"/>
              <a:t>Describe and evaluate the different data collection methods</a:t>
            </a:r>
          </a:p>
          <a:p>
            <a:endParaRPr lang="en-US" sz="2000" dirty="0">
              <a:solidFill>
                <a:srgbClr val="194431"/>
              </a:solidFill>
            </a:endParaRP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431" y="136524"/>
            <a:ext cx="1143001" cy="11430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676DBBC-1F85-554D-A2D6-B79EE01495D2}"/>
              </a:ext>
            </a:extLst>
          </p:cNvPr>
          <p:cNvSpPr txBox="1">
            <a:spLocks/>
          </p:cNvSpPr>
          <p:nvPr/>
        </p:nvSpPr>
        <p:spPr>
          <a:xfrm>
            <a:off x="-184165" y="3149824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2405113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4A59-47D4-2D4A-B660-17DA2CB89A3E}"/>
              </a:ext>
            </a:extLst>
          </p:cNvPr>
          <p:cNvSpPr txBox="1"/>
          <p:nvPr/>
        </p:nvSpPr>
        <p:spPr>
          <a:xfrm rot="16200000">
            <a:off x="-956768" y="1523698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70E73-56BD-9945-BE31-1BADB9D8A41C}"/>
              </a:ext>
            </a:extLst>
          </p:cNvPr>
          <p:cNvSpPr txBox="1"/>
          <p:nvPr/>
        </p:nvSpPr>
        <p:spPr>
          <a:xfrm>
            <a:off x="547311" y="152907"/>
            <a:ext cx="806521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TASK 1: </a:t>
            </a:r>
            <a:r>
              <a:rPr lang="en-AU" sz="2800" b="1" dirty="0"/>
              <a:t>Sampling methods</a:t>
            </a:r>
          </a:p>
          <a:p>
            <a:r>
              <a:rPr lang="en-AU" sz="2800" b="1" dirty="0">
                <a:solidFill>
                  <a:schemeClr val="accent1"/>
                </a:solidFill>
              </a:rPr>
              <a:t>what will I be doing: </a:t>
            </a:r>
            <a:r>
              <a:rPr lang="en-AU" sz="2000" dirty="0"/>
              <a:t>Researching 2 of the below sampling methods, your partner will be researcher the other two sampling methods</a:t>
            </a:r>
          </a:p>
          <a:p>
            <a:r>
              <a:rPr lang="en-AU" sz="2800" b="1" dirty="0">
                <a:solidFill>
                  <a:schemeClr val="accent1"/>
                </a:solidFill>
              </a:rPr>
              <a:t>Who with: </a:t>
            </a:r>
            <a:r>
              <a:rPr lang="en-AU" sz="2000" dirty="0"/>
              <a:t>In pairs of two</a:t>
            </a:r>
          </a:p>
          <a:p>
            <a:r>
              <a:rPr lang="en-AU" sz="2800" b="1" dirty="0">
                <a:solidFill>
                  <a:schemeClr val="accent1"/>
                </a:solidFill>
              </a:rPr>
              <a:t>How long for: </a:t>
            </a:r>
            <a:r>
              <a:rPr lang="en-AU" sz="2000" dirty="0"/>
              <a:t>15 minutes</a:t>
            </a:r>
          </a:p>
          <a:p>
            <a:r>
              <a:rPr lang="en-AU" sz="2800" b="1" dirty="0">
                <a:solidFill>
                  <a:schemeClr val="accent1"/>
                </a:solidFill>
              </a:rPr>
              <a:t>What do I need to research: </a:t>
            </a:r>
            <a:r>
              <a:rPr lang="en-AU" sz="2000" dirty="0">
                <a:hlinkClick r:id="rId3"/>
              </a:rPr>
              <a:t>Click me!</a:t>
            </a:r>
            <a:endParaRPr lang="en-AU" sz="2000" dirty="0"/>
          </a:p>
          <a:p>
            <a:r>
              <a:rPr lang="en-AU" sz="2800" b="1" dirty="0">
                <a:solidFill>
                  <a:schemeClr val="accent1"/>
                </a:solidFill>
              </a:rPr>
              <a:t>What do I create: </a:t>
            </a:r>
            <a:r>
              <a:rPr lang="en-AU" sz="2000" dirty="0"/>
              <a:t>The table below</a:t>
            </a:r>
            <a:endParaRPr lang="en-AU"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21DEA7-128D-A044-9ED9-2E822794E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48456"/>
              </p:ext>
            </p:extLst>
          </p:nvPr>
        </p:nvGraphicFramePr>
        <p:xfrm>
          <a:off x="9030594" y="504687"/>
          <a:ext cx="3150896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896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Vocabulary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1" dirty="0"/>
                        <a:t>Population: </a:t>
                      </a:r>
                      <a:r>
                        <a:rPr lang="en-AU" sz="1400" dirty="0"/>
                        <a:t>The group of people that the research is interested in</a:t>
                      </a:r>
                      <a:endParaRPr lang="en-AU" sz="1400" b="1" dirty="0"/>
                    </a:p>
                    <a:p>
                      <a:r>
                        <a:rPr lang="en-AU" sz="1400" b="1" dirty="0"/>
                        <a:t>Sample: </a:t>
                      </a:r>
                      <a:r>
                        <a:rPr lang="en-AU" sz="1400" b="0" dirty="0"/>
                        <a:t>The selected participants for the research</a:t>
                      </a:r>
                    </a:p>
                    <a:p>
                      <a:endParaRPr lang="en-A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E4CB6F2-E4A4-7940-9F1E-F8EF4C7F4417}"/>
              </a:ext>
            </a:extLst>
          </p:cNvPr>
          <p:cNvSpPr txBox="1"/>
          <p:nvPr/>
        </p:nvSpPr>
        <p:spPr>
          <a:xfrm>
            <a:off x="8612525" y="0"/>
            <a:ext cx="3568965" cy="30777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r"/>
            <a:r>
              <a:rPr lang="en-AU" sz="1400" dirty="0"/>
              <a:t>LO: Describe and evaluate sampling methods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3B6C825-7604-3B42-BC8C-2F6CBE70F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976086"/>
              </p:ext>
            </p:extLst>
          </p:nvPr>
        </p:nvGraphicFramePr>
        <p:xfrm>
          <a:off x="547311" y="3335250"/>
          <a:ext cx="10686472" cy="34290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74983">
                  <a:extLst>
                    <a:ext uri="{9D8B030D-6E8A-4147-A177-3AD203B41FA5}">
                      <a16:colId xmlns:a16="http://schemas.microsoft.com/office/drawing/2014/main" val="1365543969"/>
                    </a:ext>
                  </a:extLst>
                </a:gridCol>
                <a:gridCol w="3468253">
                  <a:extLst>
                    <a:ext uri="{9D8B030D-6E8A-4147-A177-3AD203B41FA5}">
                      <a16:colId xmlns:a16="http://schemas.microsoft.com/office/drawing/2014/main" val="2652709220"/>
                    </a:ext>
                  </a:extLst>
                </a:gridCol>
                <a:gridCol w="2671618">
                  <a:extLst>
                    <a:ext uri="{9D8B030D-6E8A-4147-A177-3AD203B41FA5}">
                      <a16:colId xmlns:a16="http://schemas.microsoft.com/office/drawing/2014/main" val="406090001"/>
                    </a:ext>
                  </a:extLst>
                </a:gridCol>
                <a:gridCol w="2671618">
                  <a:extLst>
                    <a:ext uri="{9D8B030D-6E8A-4147-A177-3AD203B41FA5}">
                      <a16:colId xmlns:a16="http://schemas.microsoft.com/office/drawing/2014/main" val="2194875251"/>
                    </a:ext>
                  </a:extLst>
                </a:gridCol>
              </a:tblGrid>
              <a:tr h="6323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Sampling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 (how does it 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Advantage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108622"/>
                  </a:ext>
                </a:extLst>
              </a:tr>
              <a:tr h="699173">
                <a:tc>
                  <a:txBody>
                    <a:bodyPr/>
                    <a:lstStyle/>
                    <a:p>
                      <a:r>
                        <a:rPr lang="en-US" b="1" dirty="0"/>
                        <a:t>Opportunity</a:t>
                      </a:r>
                      <a:br>
                        <a:rPr lang="en-US" b="1" dirty="0"/>
                      </a:br>
                      <a:r>
                        <a:rPr lang="en-US" b="1" dirty="0"/>
                        <a:t>(convenience)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542178"/>
                  </a:ext>
                </a:extLst>
              </a:tr>
              <a:tr h="699173">
                <a:tc>
                  <a:txBody>
                    <a:bodyPr/>
                    <a:lstStyle/>
                    <a:p>
                      <a:r>
                        <a:rPr lang="en-US" b="1" dirty="0"/>
                        <a:t>Volunteer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37511"/>
                  </a:ext>
                </a:extLst>
              </a:tr>
              <a:tr h="699173">
                <a:tc>
                  <a:txBody>
                    <a:bodyPr/>
                    <a:lstStyle/>
                    <a:p>
                      <a:r>
                        <a:rPr lang="en-US" b="1" dirty="0"/>
                        <a:t>Stratified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947887"/>
                  </a:ext>
                </a:extLst>
              </a:tr>
              <a:tr h="699173">
                <a:tc>
                  <a:txBody>
                    <a:bodyPr/>
                    <a:lstStyle/>
                    <a:p>
                      <a:r>
                        <a:rPr lang="en-US" b="1" dirty="0"/>
                        <a:t>Systematic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563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759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852941" y="852941"/>
            <a:ext cx="2075214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Check your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A9135-6D23-9B40-A318-5A5318AD7149}"/>
              </a:ext>
            </a:extLst>
          </p:cNvPr>
          <p:cNvSpPr txBox="1"/>
          <p:nvPr/>
        </p:nvSpPr>
        <p:spPr>
          <a:xfrm>
            <a:off x="808940" y="2055538"/>
            <a:ext cx="85911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Explain how volunteer sampling works</a:t>
            </a:r>
          </a:p>
        </p:txBody>
      </p:sp>
    </p:spTree>
    <p:extLst>
      <p:ext uri="{BB962C8B-B14F-4D97-AF65-F5344CB8AC3E}">
        <p14:creationId xmlns:p14="http://schemas.microsoft.com/office/powerpoint/2010/main" val="3483496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5A9135-6D23-9B40-A318-5A5318AD7149}"/>
              </a:ext>
            </a:extLst>
          </p:cNvPr>
          <p:cNvSpPr txBox="1"/>
          <p:nvPr/>
        </p:nvSpPr>
        <p:spPr>
          <a:xfrm>
            <a:off x="808940" y="2055538"/>
            <a:ext cx="90681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What are the strengths and limitations of </a:t>
            </a:r>
          </a:p>
          <a:p>
            <a:r>
              <a:rPr lang="en-US" sz="4000" b="1" dirty="0"/>
              <a:t>Opportunity sampling?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40E31-D69F-0D4E-A347-9E598512A932}"/>
              </a:ext>
            </a:extLst>
          </p:cNvPr>
          <p:cNvSpPr txBox="1"/>
          <p:nvPr/>
        </p:nvSpPr>
        <p:spPr>
          <a:xfrm rot="16200000">
            <a:off x="-852941" y="852941"/>
            <a:ext cx="2075214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Check your learning</a:t>
            </a:r>
          </a:p>
        </p:txBody>
      </p:sp>
    </p:spTree>
    <p:extLst>
      <p:ext uri="{BB962C8B-B14F-4D97-AF65-F5344CB8AC3E}">
        <p14:creationId xmlns:p14="http://schemas.microsoft.com/office/powerpoint/2010/main" val="4209015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5A9135-6D23-9B40-A318-5A5318AD7149}"/>
              </a:ext>
            </a:extLst>
          </p:cNvPr>
          <p:cNvSpPr txBox="1"/>
          <p:nvPr/>
        </p:nvSpPr>
        <p:spPr>
          <a:xfrm>
            <a:off x="369333" y="182388"/>
            <a:ext cx="109953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Target population Joseph Banks Secondary College</a:t>
            </a:r>
          </a:p>
          <a:p>
            <a:r>
              <a:rPr lang="en-US" sz="2400" dirty="0"/>
              <a:t>Target population size: 1,800 (staff and students)</a:t>
            </a:r>
          </a:p>
          <a:p>
            <a:r>
              <a:rPr lang="en-US" sz="2400" dirty="0"/>
              <a:t>Use stratified sampling for this target population.</a:t>
            </a:r>
          </a:p>
          <a:p>
            <a:r>
              <a:rPr lang="en-US" sz="2400" dirty="0"/>
              <a:t>Researchers want a sample of 180 participants</a:t>
            </a:r>
          </a:p>
          <a:p>
            <a:endParaRPr lang="en-US" sz="2400" dirty="0"/>
          </a:p>
          <a:p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058CB-9DE7-4B4F-BC25-0CC0601E7565}"/>
              </a:ext>
            </a:extLst>
          </p:cNvPr>
          <p:cNvSpPr txBox="1"/>
          <p:nvPr/>
        </p:nvSpPr>
        <p:spPr>
          <a:xfrm rot="16200000">
            <a:off x="-852941" y="852941"/>
            <a:ext cx="2075214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Check your learning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305548E-1ED8-2A46-8FBF-7EB77A503F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5831861"/>
              </p:ext>
            </p:extLst>
          </p:nvPr>
        </p:nvGraphicFramePr>
        <p:xfrm>
          <a:off x="6472518" y="1521216"/>
          <a:ext cx="6523745" cy="4503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F4CA02C0-18C5-DE4F-8A10-A3C478AD7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690994"/>
              </p:ext>
            </p:extLst>
          </p:nvPr>
        </p:nvGraphicFramePr>
        <p:xfrm>
          <a:off x="398538" y="2318737"/>
          <a:ext cx="6737368" cy="2432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4986">
                  <a:extLst>
                    <a:ext uri="{9D8B030D-6E8A-4147-A177-3AD203B41FA5}">
                      <a16:colId xmlns:a16="http://schemas.microsoft.com/office/drawing/2014/main" val="3015928491"/>
                    </a:ext>
                  </a:extLst>
                </a:gridCol>
                <a:gridCol w="5122382">
                  <a:extLst>
                    <a:ext uri="{9D8B030D-6E8A-4147-A177-3AD203B41FA5}">
                      <a16:colId xmlns:a16="http://schemas.microsoft.com/office/drawing/2014/main" val="1493668811"/>
                    </a:ext>
                  </a:extLst>
                </a:gridCol>
              </a:tblGrid>
              <a:tr h="3791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Amount of people in total population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598383"/>
                  </a:ext>
                </a:extLst>
              </a:tr>
              <a:tr h="3791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7 - 10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843659"/>
                  </a:ext>
                </a:extLst>
              </a:tr>
              <a:tr h="3791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11 - 12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34298"/>
                  </a:ext>
                </a:extLst>
              </a:tr>
              <a:tr h="5778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Teaching and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488279"/>
                  </a:ext>
                </a:extLst>
              </a:tr>
              <a:tr h="6544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Admin and cleaners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755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430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4A59-47D4-2D4A-B660-17DA2CB89A3E}"/>
              </a:ext>
            </a:extLst>
          </p:cNvPr>
          <p:cNvSpPr txBox="1"/>
          <p:nvPr/>
        </p:nvSpPr>
        <p:spPr>
          <a:xfrm rot="16200000">
            <a:off x="-956768" y="1523698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70E73-56BD-9945-BE31-1BADB9D8A41C}"/>
              </a:ext>
            </a:extLst>
          </p:cNvPr>
          <p:cNvSpPr txBox="1"/>
          <p:nvPr/>
        </p:nvSpPr>
        <p:spPr>
          <a:xfrm>
            <a:off x="369332" y="0"/>
            <a:ext cx="11822668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TASK 1: </a:t>
            </a:r>
            <a:r>
              <a:rPr lang="en-AU" sz="2800" b="1" dirty="0"/>
              <a:t>Data collection method</a:t>
            </a:r>
          </a:p>
          <a:p>
            <a:r>
              <a:rPr lang="en-AU" sz="2800" b="1" dirty="0">
                <a:solidFill>
                  <a:schemeClr val="accent1"/>
                </a:solidFill>
              </a:rPr>
              <a:t>What will I be doing: </a:t>
            </a:r>
            <a:r>
              <a:rPr lang="en-AU" sz="2000" dirty="0"/>
              <a:t>Researching 2 of the below sampling methods, your partner will be researcher the other two sampling methods</a:t>
            </a:r>
          </a:p>
          <a:p>
            <a:r>
              <a:rPr lang="en-AU" sz="2800" b="1" dirty="0">
                <a:solidFill>
                  <a:schemeClr val="accent1"/>
                </a:solidFill>
              </a:rPr>
              <a:t>Who with: </a:t>
            </a:r>
            <a:r>
              <a:rPr lang="en-AU" sz="2000" dirty="0"/>
              <a:t>In pairs of two</a:t>
            </a:r>
          </a:p>
          <a:p>
            <a:r>
              <a:rPr lang="en-AU" sz="2800" b="1" dirty="0">
                <a:solidFill>
                  <a:schemeClr val="accent1"/>
                </a:solidFill>
              </a:rPr>
              <a:t>How long for: </a:t>
            </a:r>
            <a:r>
              <a:rPr lang="en-AU" sz="2000" dirty="0"/>
              <a:t>15 minutes</a:t>
            </a:r>
          </a:p>
          <a:p>
            <a:r>
              <a:rPr lang="en-AU" sz="2800" b="1" dirty="0">
                <a:solidFill>
                  <a:schemeClr val="accent1"/>
                </a:solidFill>
              </a:rPr>
              <a:t>What do I need to research:</a:t>
            </a:r>
            <a:r>
              <a:rPr lang="en-AU" sz="2000" b="1" dirty="0">
                <a:solidFill>
                  <a:schemeClr val="accent1"/>
                </a:solidFill>
              </a:rPr>
              <a:t> </a:t>
            </a:r>
            <a:endParaRPr lang="en-AU" sz="2000" dirty="0"/>
          </a:p>
          <a:p>
            <a:r>
              <a:rPr lang="en-AU" sz="2800" b="1" dirty="0">
                <a:solidFill>
                  <a:schemeClr val="accent1"/>
                </a:solidFill>
              </a:rPr>
              <a:t>What do I create: </a:t>
            </a:r>
            <a:r>
              <a:rPr lang="en-AU" sz="2000" dirty="0"/>
              <a:t>The table below</a:t>
            </a:r>
            <a:endParaRPr lang="en-A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CB6F2-E4A4-7940-9F1E-F8EF4C7F4417}"/>
              </a:ext>
            </a:extLst>
          </p:cNvPr>
          <p:cNvSpPr txBox="1"/>
          <p:nvPr/>
        </p:nvSpPr>
        <p:spPr>
          <a:xfrm>
            <a:off x="8612525" y="0"/>
            <a:ext cx="3568965" cy="30777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r"/>
            <a:r>
              <a:rPr lang="en-AU" sz="1400" dirty="0"/>
              <a:t>LO: Describe and evaluate sampling methods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3B6C825-7604-3B42-BC8C-2F6CBE70F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692355"/>
              </p:ext>
            </p:extLst>
          </p:nvPr>
        </p:nvGraphicFramePr>
        <p:xfrm>
          <a:off x="184666" y="2946543"/>
          <a:ext cx="11361875" cy="39114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93485">
                  <a:extLst>
                    <a:ext uri="{9D8B030D-6E8A-4147-A177-3AD203B41FA5}">
                      <a16:colId xmlns:a16="http://schemas.microsoft.com/office/drawing/2014/main" val="1365543969"/>
                    </a:ext>
                  </a:extLst>
                </a:gridCol>
                <a:gridCol w="3687452">
                  <a:extLst>
                    <a:ext uri="{9D8B030D-6E8A-4147-A177-3AD203B41FA5}">
                      <a16:colId xmlns:a16="http://schemas.microsoft.com/office/drawing/2014/main" val="2652709220"/>
                    </a:ext>
                  </a:extLst>
                </a:gridCol>
                <a:gridCol w="2840469">
                  <a:extLst>
                    <a:ext uri="{9D8B030D-6E8A-4147-A177-3AD203B41FA5}">
                      <a16:colId xmlns:a16="http://schemas.microsoft.com/office/drawing/2014/main" val="406090001"/>
                    </a:ext>
                  </a:extLst>
                </a:gridCol>
                <a:gridCol w="2840469">
                  <a:extLst>
                    <a:ext uri="{9D8B030D-6E8A-4147-A177-3AD203B41FA5}">
                      <a16:colId xmlns:a16="http://schemas.microsoft.com/office/drawing/2014/main" val="2194875251"/>
                    </a:ext>
                  </a:extLst>
                </a:gridCol>
              </a:tblGrid>
              <a:tr h="4155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Advantage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108622"/>
                  </a:ext>
                </a:extLst>
              </a:tr>
              <a:tr h="699173">
                <a:tc>
                  <a:txBody>
                    <a:bodyPr/>
                    <a:lstStyle/>
                    <a:p>
                      <a:r>
                        <a:rPr lang="en-US" b="1" dirty="0"/>
                        <a:t>Interview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542178"/>
                  </a:ext>
                </a:extLst>
              </a:tr>
              <a:tr h="699173">
                <a:tc>
                  <a:txBody>
                    <a:bodyPr/>
                    <a:lstStyle/>
                    <a:p>
                      <a:r>
                        <a:rPr lang="en-US" b="1" dirty="0"/>
                        <a:t>Archival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37511"/>
                  </a:ext>
                </a:extLst>
              </a:tr>
              <a:tr h="699173">
                <a:tc>
                  <a:txBody>
                    <a:bodyPr/>
                    <a:lstStyle/>
                    <a:p>
                      <a:r>
                        <a:rPr lang="en-US" b="1" dirty="0"/>
                        <a:t>Case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947887"/>
                  </a:ext>
                </a:extLst>
              </a:tr>
              <a:tr h="699173">
                <a:tc>
                  <a:txBody>
                    <a:bodyPr/>
                    <a:lstStyle/>
                    <a:p>
                      <a:r>
                        <a:rPr lang="en-US" b="1" dirty="0"/>
                        <a:t>Survey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563300"/>
                  </a:ext>
                </a:extLst>
              </a:tr>
              <a:tr h="699173">
                <a:tc>
                  <a:txBody>
                    <a:bodyPr/>
                    <a:lstStyle/>
                    <a:p>
                      <a:r>
                        <a:rPr lang="en-US" b="1" dirty="0"/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82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303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5A9135-6D23-9B40-A318-5A5318AD7149}"/>
              </a:ext>
            </a:extLst>
          </p:cNvPr>
          <p:cNvSpPr txBox="1"/>
          <p:nvPr/>
        </p:nvSpPr>
        <p:spPr>
          <a:xfrm>
            <a:off x="808940" y="2055538"/>
            <a:ext cx="1001286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What type of data would an interview collect?</a:t>
            </a:r>
          </a:p>
          <a:p>
            <a:endParaRPr lang="en-US" sz="4000" b="1" dirty="0"/>
          </a:p>
          <a:p>
            <a:r>
              <a:rPr lang="en-US" sz="4000" b="1" dirty="0"/>
              <a:t>Subjective / Objective</a:t>
            </a:r>
          </a:p>
          <a:p>
            <a:r>
              <a:rPr lang="en-US" sz="4000" b="1" dirty="0"/>
              <a:t>Qualitative / Quantitative</a:t>
            </a:r>
          </a:p>
          <a:p>
            <a:endParaRPr lang="en-US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40E31-D69F-0D4E-A347-9E598512A932}"/>
              </a:ext>
            </a:extLst>
          </p:cNvPr>
          <p:cNvSpPr txBox="1"/>
          <p:nvPr/>
        </p:nvSpPr>
        <p:spPr>
          <a:xfrm rot="16200000">
            <a:off x="-852941" y="852941"/>
            <a:ext cx="2075214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Check your learning</a:t>
            </a:r>
          </a:p>
        </p:txBody>
      </p:sp>
    </p:spTree>
    <p:extLst>
      <p:ext uri="{BB962C8B-B14F-4D97-AF65-F5344CB8AC3E}">
        <p14:creationId xmlns:p14="http://schemas.microsoft.com/office/powerpoint/2010/main" val="57722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740E31-D69F-0D4E-A347-9E598512A932}"/>
              </a:ext>
            </a:extLst>
          </p:cNvPr>
          <p:cNvSpPr txBox="1"/>
          <p:nvPr/>
        </p:nvSpPr>
        <p:spPr>
          <a:xfrm rot="16200000">
            <a:off x="-852941" y="852941"/>
            <a:ext cx="2075214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Check your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5BADD-B9D2-7840-97A4-99EDEB2FBAD7}"/>
              </a:ext>
            </a:extLst>
          </p:cNvPr>
          <p:cNvSpPr txBox="1"/>
          <p:nvPr/>
        </p:nvSpPr>
        <p:spPr>
          <a:xfrm>
            <a:off x="1129553" y="2850776"/>
            <a:ext cx="9589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What are the disadvantages of case studies?</a:t>
            </a:r>
          </a:p>
        </p:txBody>
      </p:sp>
    </p:spTree>
    <p:extLst>
      <p:ext uri="{BB962C8B-B14F-4D97-AF65-F5344CB8AC3E}">
        <p14:creationId xmlns:p14="http://schemas.microsoft.com/office/powerpoint/2010/main" val="2552628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740E31-D69F-0D4E-A347-9E598512A932}"/>
              </a:ext>
            </a:extLst>
          </p:cNvPr>
          <p:cNvSpPr txBox="1"/>
          <p:nvPr/>
        </p:nvSpPr>
        <p:spPr>
          <a:xfrm rot="16200000">
            <a:off x="-540141" y="539176"/>
            <a:ext cx="1447685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Skill practice</a:t>
            </a:r>
          </a:p>
        </p:txBody>
      </p:sp>
      <p:pic>
        <p:nvPicPr>
          <p:cNvPr id="6" name="Picture 5" descr="062608-glossy-black-icon-people-things-people-student-study.png">
            <a:extLst>
              <a:ext uri="{FF2B5EF4-FFF2-40B4-BE49-F238E27FC236}">
                <a16:creationId xmlns:a16="http://schemas.microsoft.com/office/drawing/2014/main" id="{0BD29827-3543-2C48-9C24-FD188B042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922" y="-44823"/>
            <a:ext cx="2178424" cy="21784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B85DB8-CCFC-AC4D-BE9B-5401EEE42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22" y="203201"/>
            <a:ext cx="8902700" cy="3860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74A11F-CC0D-9C44-963B-52627D127366}"/>
              </a:ext>
            </a:extLst>
          </p:cNvPr>
          <p:cNvSpPr txBox="1"/>
          <p:nvPr/>
        </p:nvSpPr>
        <p:spPr>
          <a:xfrm>
            <a:off x="792222" y="4356850"/>
            <a:ext cx="6522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Task: Open up the operational hypothesis worksheet. </a:t>
            </a:r>
          </a:p>
          <a:p>
            <a:r>
              <a:rPr lang="en-US" b="1" dirty="0"/>
              <a:t>Pick out the population and variables and formulate a hypotheses </a:t>
            </a:r>
          </a:p>
        </p:txBody>
      </p:sp>
    </p:spTree>
    <p:extLst>
      <p:ext uri="{BB962C8B-B14F-4D97-AF65-F5344CB8AC3E}">
        <p14:creationId xmlns:p14="http://schemas.microsoft.com/office/powerpoint/2010/main" val="962567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2E555-EA4A-4184-918C-1630F809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b="1" dirty="0"/>
              <a:t>Exit Ticket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0E94D-8BB9-4152-80A2-4A18D0903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7082" y="3657601"/>
            <a:ext cx="8677836" cy="147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b="1" dirty="0"/>
              <a:t>Fist to five and explain to partner</a:t>
            </a:r>
          </a:p>
        </p:txBody>
      </p:sp>
      <p:pic>
        <p:nvPicPr>
          <p:cNvPr id="4" name="Picture 3" descr="__-41-51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234" y="136524"/>
            <a:ext cx="1765167" cy="176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2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sson template" id="{BE3FD172-D024-DE49-B586-228D6C825ABD}" vid="{767780C8-878E-A447-AAC4-C73CC567D16E}"/>
    </a:ext>
  </a:extLst>
</a:theme>
</file>

<file path=ppt/theme/theme2.xml><?xml version="1.0" encoding="utf-8"?>
<a:theme xmlns:a="http://schemas.openxmlformats.org/drawingml/2006/main" name="Saba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esson template" id="{BE3FD172-D024-DE49-B586-228D6C825ABD}" vid="{007CADC7-1C8C-EE44-9A84-575C6C189305}"/>
    </a:ext>
  </a:extLst>
</a:theme>
</file>

<file path=ppt/theme/theme3.xml><?xml version="1.0" encoding="utf-8"?>
<a:theme xmlns:a="http://schemas.openxmlformats.org/drawingml/2006/main" name="1_Saba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esson template" id="{BE3FD172-D024-DE49-B586-228D6C825ABD}" vid="{E2FDA488-A169-CE43-BC5C-1C56A94CA57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1096</TotalTime>
  <Words>1115</Words>
  <Application>Microsoft Macintosh PowerPoint</Application>
  <PresentationFormat>Widescreen</PresentationFormat>
  <Paragraphs>224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Century Gothic</vt:lpstr>
      <vt:lpstr>Wingdings 2</vt:lpstr>
      <vt:lpstr>Office Theme</vt:lpstr>
      <vt:lpstr>Saba</vt:lpstr>
      <vt:lpstr>1_Saba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Design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Exit Ticket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DAVEY Sarah [Joseph Banks Secondary College]</dc:creator>
  <cp:lastModifiedBy>DAVEY Sarah [Joseph Banks Secondary College]</cp:lastModifiedBy>
  <cp:revision>13</cp:revision>
  <dcterms:created xsi:type="dcterms:W3CDTF">2021-03-09T07:47:16Z</dcterms:created>
  <dcterms:modified xsi:type="dcterms:W3CDTF">2021-08-08T12:17:18Z</dcterms:modified>
</cp:coreProperties>
</file>
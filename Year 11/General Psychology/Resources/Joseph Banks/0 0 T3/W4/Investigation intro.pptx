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62" r:id="rId2"/>
    <p:sldId id="263" r:id="rId3"/>
    <p:sldId id="407" r:id="rId4"/>
    <p:sldId id="408" r:id="rId5"/>
    <p:sldId id="399" r:id="rId6"/>
    <p:sldId id="359" r:id="rId7"/>
    <p:sldId id="409" r:id="rId8"/>
    <p:sldId id="400" r:id="rId9"/>
    <p:sldId id="377" r:id="rId10"/>
    <p:sldId id="382" r:id="rId11"/>
    <p:sldId id="378" r:id="rId12"/>
    <p:sldId id="379" r:id="rId13"/>
    <p:sldId id="380" r:id="rId14"/>
    <p:sldId id="40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7"/>
    <p:restoredTop sz="94643"/>
  </p:normalViewPr>
  <p:slideViewPr>
    <p:cSldViewPr snapToGrid="0" snapToObjects="1">
      <p:cViewPr>
        <p:scale>
          <a:sx n="147" d="100"/>
          <a:sy n="147" d="100"/>
        </p:scale>
        <p:origin x="14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1FAB6C-3138-6440-BC93-B4B889D09C18}" type="datetimeFigureOut">
              <a:rPr lang="en-US" smtClean="0"/>
              <a:t>8/10/21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1B88CF-89E8-E740-B754-A3753DCFC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524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questions: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What are the three divisions of the brain?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What is the oldest part of the brain?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B88CF-89E8-E740-B754-A3753DCFCD8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48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D9403-0A70-6342-AD93-9768B2D939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B54347-3F03-124F-96EB-030C73460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5659E-A2D1-B748-A249-5D5B4D67E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8/10/21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66F3E-DC9C-7A42-B6AA-EE9329C57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2BB6A-4459-D440-A462-AB491D2E9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381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73771-2C5D-324E-96C1-1D0731351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9ADD6-06C2-0140-BC76-1998A0BB2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9CD7A-B170-7644-97DA-49A85FFE6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8/10/21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B10CC-78FB-B046-99D1-DC57EDA1D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90E833-292B-2849-B271-F8640E733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681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6C990-558A-AE46-80F7-D4F77B03F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A4EDAA-4286-C746-BE37-6BAFABA43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4AA73-B1E1-2D41-9458-0FA447D7E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8/10/21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DFF87-2C57-4849-8357-2EF037D32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753EE-FC36-7C41-B550-E9A2EA45D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829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475A6-5B2E-5D4D-B8C3-87CE4BCEA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4974F-F3B7-BE45-9CE2-3F5CAD14F6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D57523-300B-2945-B9DE-50200343B8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7CC82-CAA8-DC46-ADE1-A1C394DDC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8/10/21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35D147-F3C5-0C42-9AFB-A75140B7E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7E03AD-15F3-414D-930C-1B5AEABC8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393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B1B44-9F47-A149-A10A-1687F36E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91B29-62C9-564B-A7C6-17C8E87FA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53DD78-19AC-F244-84D1-3AAA433A27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B1DD53-EFE3-404D-B262-89B66C74DE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ACEBA4-5169-8B4B-92C3-0A0D1E0F9A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46305B-45B6-0040-84CF-FF35B78E3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8/10/21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B62CE6-4603-A948-A3DB-46FA184B7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B122EF-0C06-EE45-BAB2-384B428C4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553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526B2-FE7B-FA44-901F-604F43CEC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ADD536-C96F-D846-93FC-DBA7EB65C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8/10/21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3951AF-46E5-964D-82E4-6EC18DA2D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E21BC4-FBA5-9545-800E-B783DDAC8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498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0D2B45-6D3E-5140-9E1A-EA6BD1F75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8/10/21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CCA7E1-6DB7-5348-9A38-94A036A21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0C71B7-DFE4-0741-A4BB-22829005B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590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1B3DB-7E96-B241-951E-E0213CB50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5E2D9-6211-4F4B-90D8-E32643AD1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DE4D28-C849-1F4E-BEB1-4232BBBD46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B73FAF-7209-E043-807C-C17A5520B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8/10/21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19F006-D4FB-EE42-A616-30D03C31B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F3CA3F-1808-CB4E-942B-E869B8CE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975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BFB93-FFEA-6B43-AC94-7159009E4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F7D9EC-D130-1946-8998-11940C629B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7D7668-5870-B446-A751-8DC3458983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70E1C2-86D2-B740-868A-F6676DD51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8/10/21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CBE31-E8B5-BF43-82AD-2FF081CD7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9355F8-0EDC-6D4C-85CC-3AC3BB229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266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4E170-EF20-594A-A449-DC9019749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584A1D-6C2C-2945-94AA-730A7F67CF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1DD28-B73A-3B4D-B817-2A14D7016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8/10/21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4C8CE-002D-0947-9AC3-A3D63D6D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6C238-FC97-594A-8BE5-F401E278D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923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E7AD74-D535-EE47-9F94-E8712FCCB3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B504AE-ACBE-694B-8C8A-48DA810EC9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142C47-4ACA-904D-A9F0-5427F9FEE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8/10/21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3A839-90C6-CA44-AA4A-5466C0449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918E6-8954-6145-826C-A4DF11243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08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DC31F3-683C-D045-A95B-0EC27CA2C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8EF1DC-57E7-904E-98BF-D5D10293D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47479-C980-A84E-A2E5-5881B9D50A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EAACE0-986B-954A-BDE6-68B4D7D9F963}" type="datetimeFigureOut">
              <a:rPr lang="en-US" smtClean="0"/>
              <a:t>8/10/21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25FE8-A678-014F-B1F7-4D6BC1F62D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7D8D9-8D56-9242-B7FA-28E1571212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753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6605"/>
            <a:ext cx="3102592" cy="923330"/>
          </a:xfrm>
          <a:prstGeom prst="homePlate">
            <a:avLst/>
          </a:prstGeom>
          <a:solidFill>
            <a:srgbClr val="7030A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5400" dirty="0"/>
              <a:t>Do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92210" y="916725"/>
            <a:ext cx="8136206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endParaRPr lang="en-US" sz="2800" dirty="0"/>
          </a:p>
          <a:p>
            <a:pPr marL="457200" indent="-457200">
              <a:buFont typeface="+mj-lt"/>
              <a:buAutoNum type="arabicPeriod"/>
            </a:pPr>
            <a:r>
              <a:rPr lang="en-US" sz="3600" b="1" dirty="0"/>
              <a:t>Find the mean, median, mode and range:</a:t>
            </a:r>
          </a:p>
          <a:p>
            <a:endParaRPr lang="en-US" sz="3200" b="1" dirty="0"/>
          </a:p>
          <a:p>
            <a:pPr algn="ctr"/>
            <a:r>
              <a:rPr lang="en-US" sz="3200" b="1" dirty="0"/>
              <a:t>1, 4, 5, 12, 14, 3, 17, 20, 21, 1, 4, 2, 7, 13 </a:t>
            </a:r>
            <a:endParaRPr lang="en-US" sz="3200" dirty="0"/>
          </a:p>
          <a:p>
            <a:endParaRPr lang="en-US" sz="3200" dirty="0"/>
          </a:p>
          <a:p>
            <a:r>
              <a:rPr lang="en-US" sz="3200" b="1" dirty="0"/>
              <a:t>2. Name 4 types of continuous data</a:t>
            </a:r>
          </a:p>
          <a:p>
            <a:endParaRPr lang="en-US" sz="3200" b="1" dirty="0"/>
          </a:p>
          <a:p>
            <a:r>
              <a:rPr lang="en-US" sz="3200" b="1" dirty="0"/>
              <a:t>3. Name 4 types of discrete data</a:t>
            </a:r>
          </a:p>
          <a:p>
            <a:pPr lvl="0">
              <a:defRPr/>
            </a:pPr>
            <a:endParaRPr lang="en-US" sz="2800" dirty="0"/>
          </a:p>
          <a:p>
            <a:pPr lvl="0">
              <a:defRPr/>
            </a:pPr>
            <a:endParaRPr lang="en-US" sz="2800" dirty="0"/>
          </a:p>
          <a:p>
            <a:pPr marL="514350" lvl="0" indent="-514350">
              <a:buAutoNum type="arabicPeriod"/>
              <a:defRPr/>
            </a:pPr>
            <a:endParaRPr lang="en-US" sz="28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7162727"/>
              </p:ext>
            </p:extLst>
          </p:nvPr>
        </p:nvGraphicFramePr>
        <p:xfrm>
          <a:off x="8481693" y="5847080"/>
          <a:ext cx="3710307" cy="10109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7103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sz="1800" dirty="0"/>
                        <a:t>Reminders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585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800" dirty="0"/>
                        <a:t>Assessment: </a:t>
                      </a: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800" dirty="0"/>
                        <a:t>Start today and write up next week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CB713E8-D0D0-4D35-8F6A-4F52B4B63A36}"/>
              </a:ext>
            </a:extLst>
          </p:cNvPr>
          <p:cNvSpPr txBox="1"/>
          <p:nvPr/>
        </p:nvSpPr>
        <p:spPr>
          <a:xfrm>
            <a:off x="40589" y="4470581"/>
            <a:ext cx="2197290" cy="230832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Reminders:</a:t>
            </a:r>
          </a:p>
          <a:p>
            <a:pPr lvl="0" defTabSz="457200">
              <a:defRPr/>
            </a:pPr>
            <a:r>
              <a:rPr lang="en-AU" sz="2400" dirty="0">
                <a:solidFill>
                  <a:prstClr val="black"/>
                </a:solidFill>
                <a:latin typeface="Century Gothic"/>
              </a:rPr>
              <a:t>Books out </a:t>
            </a:r>
          </a:p>
          <a:p>
            <a:pPr lvl="0" defTabSz="457200">
              <a:defRPr/>
            </a:pPr>
            <a:r>
              <a:rPr lang="en-AU" sz="2400" dirty="0">
                <a:solidFill>
                  <a:prstClr val="black"/>
                </a:solidFill>
                <a:latin typeface="Century Gothic"/>
              </a:rPr>
              <a:t>Pens out</a:t>
            </a:r>
          </a:p>
          <a:p>
            <a:pPr lvl="0" defTabSz="457200">
              <a:defRPr/>
            </a:pPr>
            <a:r>
              <a:rPr lang="en-AU" sz="2400" dirty="0">
                <a:solidFill>
                  <a:prstClr val="black"/>
                </a:solidFill>
                <a:latin typeface="Century Gothic"/>
              </a:rPr>
              <a:t>Whiteboard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Phones away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Bags on floor</a:t>
            </a:r>
          </a:p>
        </p:txBody>
      </p:sp>
    </p:spTree>
    <p:extLst>
      <p:ext uri="{BB962C8B-B14F-4D97-AF65-F5344CB8AC3E}">
        <p14:creationId xmlns:p14="http://schemas.microsoft.com/office/powerpoint/2010/main" val="1441705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6423"/>
            <a:ext cx="2588821" cy="923330"/>
          </a:xfrm>
          <a:prstGeom prst="homePlate">
            <a:avLst/>
          </a:prstGeom>
          <a:solidFill>
            <a:srgbClr val="7030A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5400" dirty="0"/>
              <a:t>Do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8176" y="0"/>
            <a:ext cx="50535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endParaRPr lang="en-US" sz="2800" dirty="0"/>
          </a:p>
          <a:p>
            <a:pPr marL="514350" lvl="0" indent="-514350">
              <a:buAutoNum type="arabicPeriod"/>
              <a:defRPr/>
            </a:pPr>
            <a:endParaRPr lang="en-US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B713E8-D0D0-4D35-8F6A-4F52B4B63A36}"/>
              </a:ext>
            </a:extLst>
          </p:cNvPr>
          <p:cNvSpPr txBox="1"/>
          <p:nvPr/>
        </p:nvSpPr>
        <p:spPr>
          <a:xfrm>
            <a:off x="0" y="4919008"/>
            <a:ext cx="2197290" cy="193899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Reminders: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Phones away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Bags on floor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Books out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Pens out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6849D8-5901-6B48-92A2-7C953DB25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3824" y="24679"/>
            <a:ext cx="9140316" cy="55823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DA4018-2D14-4444-8F5E-E83D0742B809}"/>
              </a:ext>
            </a:extLst>
          </p:cNvPr>
          <p:cNvSpPr txBox="1"/>
          <p:nvPr/>
        </p:nvSpPr>
        <p:spPr>
          <a:xfrm>
            <a:off x="2974428" y="5801710"/>
            <a:ext cx="892128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1. Describe three findings from the above data set (3 marks)</a:t>
            </a:r>
          </a:p>
          <a:p>
            <a:r>
              <a:rPr lang="en-US" sz="2800" dirty="0"/>
              <a:t>2. What type of data is the above graph depicting (1 mark)</a:t>
            </a:r>
          </a:p>
        </p:txBody>
      </p:sp>
    </p:spTree>
    <p:extLst>
      <p:ext uri="{BB962C8B-B14F-4D97-AF65-F5344CB8AC3E}">
        <p14:creationId xmlns:p14="http://schemas.microsoft.com/office/powerpoint/2010/main" val="231964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6605"/>
            <a:ext cx="2565070" cy="923330"/>
          </a:xfrm>
          <a:prstGeom prst="homePlate">
            <a:avLst/>
          </a:prstGeom>
          <a:solidFill>
            <a:srgbClr val="7030A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5400" dirty="0"/>
              <a:t>Do now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B713E8-D0D0-4D35-8F6A-4F52B4B63A36}"/>
              </a:ext>
            </a:extLst>
          </p:cNvPr>
          <p:cNvSpPr txBox="1"/>
          <p:nvPr/>
        </p:nvSpPr>
        <p:spPr>
          <a:xfrm>
            <a:off x="40589" y="4470581"/>
            <a:ext cx="2197290" cy="230832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Reminders: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Phones away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Bags on floor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Books out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Pens out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Whiteboard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EB45EA-C118-5A42-BBAA-B0DCE8D90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604" y="62793"/>
            <a:ext cx="9724738" cy="54711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54F5EC8-B311-A641-A3FE-4A1261465ED2}"/>
              </a:ext>
            </a:extLst>
          </p:cNvPr>
          <p:cNvSpPr txBox="1"/>
          <p:nvPr/>
        </p:nvSpPr>
        <p:spPr>
          <a:xfrm>
            <a:off x="2974428" y="5801710"/>
            <a:ext cx="869827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1. Describe two findings from the above data set (2 marks)</a:t>
            </a:r>
          </a:p>
          <a:p>
            <a:r>
              <a:rPr lang="en-US" sz="2800" dirty="0"/>
              <a:t>2. Describe a trend from the above data set (1 mark)</a:t>
            </a:r>
          </a:p>
        </p:txBody>
      </p:sp>
    </p:spTree>
    <p:extLst>
      <p:ext uri="{BB962C8B-B14F-4D97-AF65-F5344CB8AC3E}">
        <p14:creationId xmlns:p14="http://schemas.microsoft.com/office/powerpoint/2010/main" val="2864717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6605"/>
            <a:ext cx="3102592" cy="923330"/>
          </a:xfrm>
          <a:prstGeom prst="homePlate">
            <a:avLst/>
          </a:prstGeom>
          <a:solidFill>
            <a:srgbClr val="7030A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5400" dirty="0"/>
              <a:t>Do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37879" y="916725"/>
            <a:ext cx="937123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sz="2800" dirty="0"/>
              <a:t>Thumbs up thumbs down</a:t>
            </a:r>
          </a:p>
          <a:p>
            <a:pPr lvl="0" algn="ctr">
              <a:defRPr/>
            </a:pPr>
            <a:r>
              <a:rPr lang="en-US" sz="2800" dirty="0"/>
              <a:t>True or False</a:t>
            </a:r>
          </a:p>
          <a:p>
            <a:pPr lvl="0">
              <a:defRPr/>
            </a:pPr>
            <a:endParaRPr lang="en-US" sz="2800" dirty="0"/>
          </a:p>
          <a:p>
            <a:pPr marL="514350" lvl="0" indent="-514350">
              <a:buAutoNum type="arabicPeriod"/>
              <a:defRPr/>
            </a:pPr>
            <a:r>
              <a:rPr lang="en-US" sz="2800" dirty="0"/>
              <a:t>Extraneous variables are what researchers try to control for</a:t>
            </a:r>
          </a:p>
          <a:p>
            <a:pPr marL="514350" lvl="0" indent="-514350">
              <a:buAutoNum type="arabicPeriod"/>
              <a:defRPr/>
            </a:pPr>
            <a:r>
              <a:rPr lang="en-US" sz="2800" dirty="0"/>
              <a:t>The independent variable is what what is being measured</a:t>
            </a:r>
          </a:p>
          <a:p>
            <a:pPr marL="514350" lvl="0" indent="-514350">
              <a:buAutoNum type="arabicPeriod"/>
              <a:defRPr/>
            </a:pPr>
            <a:r>
              <a:rPr lang="en-US" sz="2800" dirty="0"/>
              <a:t>On a graph the independent variable goes on the Y axis</a:t>
            </a:r>
          </a:p>
          <a:p>
            <a:pPr marL="514350" lvl="0" indent="-514350">
              <a:buAutoNum type="arabicPeriod"/>
              <a:defRPr/>
            </a:pPr>
            <a:r>
              <a:rPr lang="en-US" sz="2800" dirty="0"/>
              <a:t>Reliability is the same as validity </a:t>
            </a:r>
          </a:p>
          <a:p>
            <a:pPr marL="514350" lvl="0" indent="-514350">
              <a:buAutoNum type="arabicPeriod"/>
              <a:defRPr/>
            </a:pPr>
            <a:r>
              <a:rPr lang="en-US" sz="2800" dirty="0"/>
              <a:t>Validity is how well controlled the variable were</a:t>
            </a:r>
          </a:p>
          <a:p>
            <a:pPr lvl="0">
              <a:defRPr/>
            </a:pPr>
            <a:endParaRPr lang="en-US" sz="2800" dirty="0"/>
          </a:p>
          <a:p>
            <a:pPr marL="514350" lvl="0" indent="-514350">
              <a:buAutoNum type="arabicPeriod"/>
              <a:defRPr/>
            </a:pPr>
            <a:endParaRPr lang="en-US" sz="2800" dirty="0"/>
          </a:p>
          <a:p>
            <a:pPr marL="514350" lvl="0" indent="-514350">
              <a:buAutoNum type="arabicPeriod"/>
              <a:defRPr/>
            </a:pPr>
            <a:endParaRPr lang="en-US" sz="28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481693" y="5847080"/>
          <a:ext cx="3710307" cy="10109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7103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sz="1800" dirty="0"/>
                        <a:t>Reminders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585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800" dirty="0"/>
                        <a:t>Assessment: </a:t>
                      </a: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800" dirty="0"/>
                        <a:t>Start today and write up next week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CB713E8-D0D0-4D35-8F6A-4F52B4B63A36}"/>
              </a:ext>
            </a:extLst>
          </p:cNvPr>
          <p:cNvSpPr txBox="1"/>
          <p:nvPr/>
        </p:nvSpPr>
        <p:spPr>
          <a:xfrm>
            <a:off x="40589" y="4470581"/>
            <a:ext cx="2197290" cy="230832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Reminders: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Phones away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Bags on floor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Books out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Pens out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Whiteboard</a:t>
            </a:r>
          </a:p>
        </p:txBody>
      </p:sp>
    </p:spTree>
    <p:extLst>
      <p:ext uri="{BB962C8B-B14F-4D97-AF65-F5344CB8AC3E}">
        <p14:creationId xmlns:p14="http://schemas.microsoft.com/office/powerpoint/2010/main" val="2691952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D625539-DDA3-CD49-A515-93ED6762E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0472" y="0"/>
            <a:ext cx="1921527" cy="147233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96FE21-9F4C-F64E-9022-163D12187526}"/>
              </a:ext>
            </a:extLst>
          </p:cNvPr>
          <p:cNvSpPr txBox="1"/>
          <p:nvPr/>
        </p:nvSpPr>
        <p:spPr>
          <a:xfrm rot="16200000">
            <a:off x="-990358" y="1523698"/>
            <a:ext cx="2350067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Active prior knowledge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9DE076-A4C0-0441-B5C7-B282FA0766FA}"/>
              </a:ext>
            </a:extLst>
          </p:cNvPr>
          <p:cNvSpPr txBox="1"/>
          <p:nvPr/>
        </p:nvSpPr>
        <p:spPr>
          <a:xfrm>
            <a:off x="973777" y="1959428"/>
            <a:ext cx="9590061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/>
              <a:t>What participant rights do you remember?</a:t>
            </a:r>
          </a:p>
          <a:p>
            <a:pPr algn="ctr"/>
            <a:r>
              <a:rPr lang="en-US" sz="4000" b="1" dirty="0"/>
              <a:t>  </a:t>
            </a:r>
          </a:p>
          <a:p>
            <a:pPr algn="ctr"/>
            <a:r>
              <a:rPr lang="en-US" sz="4000" b="1" dirty="0"/>
              <a:t>Why do researchers have ethics in research?</a:t>
            </a:r>
          </a:p>
          <a:p>
            <a:pPr algn="ctr"/>
            <a:endParaRPr lang="en-US" sz="4000" b="1" dirty="0"/>
          </a:p>
          <a:p>
            <a:pPr algn="ctr"/>
            <a:r>
              <a:rPr lang="en-US" sz="4000" b="1" dirty="0"/>
              <a:t>Be prepared to share</a:t>
            </a:r>
          </a:p>
        </p:txBody>
      </p:sp>
    </p:spTree>
    <p:extLst>
      <p:ext uri="{BB962C8B-B14F-4D97-AF65-F5344CB8AC3E}">
        <p14:creationId xmlns:p14="http://schemas.microsoft.com/office/powerpoint/2010/main" val="3925082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4477839"/>
              </p:ext>
            </p:extLst>
          </p:nvPr>
        </p:nvGraphicFramePr>
        <p:xfrm>
          <a:off x="484908" y="4343624"/>
          <a:ext cx="11075524" cy="22325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75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44198">
                <a:tc>
                  <a:txBody>
                    <a:bodyPr/>
                    <a:lstStyle/>
                    <a:p>
                      <a:r>
                        <a:rPr lang="en-US" dirty="0"/>
                        <a:t>Everyone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4198">
                <a:tc>
                  <a:txBody>
                    <a:bodyPr/>
                    <a:lstStyle/>
                    <a:p>
                      <a:r>
                        <a:rPr lang="en-US" sz="2400" b="0" dirty="0"/>
                        <a:t>Participated in the investigation and completed the survey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419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Peer reviewed someone else's method section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itle 1"/>
          <p:cNvSpPr txBox="1">
            <a:spLocks/>
          </p:cNvSpPr>
          <p:nvPr/>
        </p:nvSpPr>
        <p:spPr>
          <a:xfrm>
            <a:off x="-184165" y="0"/>
            <a:ext cx="562276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accent1"/>
                </a:solidFill>
              </a:rPr>
              <a:t>Learning Intention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1568" y="1100561"/>
            <a:ext cx="1107552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By the end of the lesson I will be able to:</a:t>
            </a:r>
            <a:br>
              <a:rPr lang="en-US" sz="2800" dirty="0"/>
            </a:br>
            <a:endParaRPr lang="en-US" sz="2800" dirty="0"/>
          </a:p>
          <a:p>
            <a:r>
              <a:rPr lang="en-US" sz="2400" dirty="0"/>
              <a:t>Collect the data for the investigation</a:t>
            </a:r>
          </a:p>
          <a:p>
            <a:r>
              <a:rPr lang="en-US" sz="2400" dirty="0"/>
              <a:t>Write notes for my method section </a:t>
            </a:r>
          </a:p>
          <a:p>
            <a:r>
              <a:rPr lang="en-US" sz="2400" dirty="0"/>
              <a:t>Describe the key terms for my investigation and the introduction section</a:t>
            </a:r>
          </a:p>
        </p:txBody>
      </p:sp>
      <p:pic>
        <p:nvPicPr>
          <p:cNvPr id="3" name="Picture 2" descr="Iconsmind-Outline-Pen-5.ico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8931" y="100898"/>
            <a:ext cx="1143001" cy="114300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676DBBC-1F85-554D-A2D6-B79EE01495D2}"/>
              </a:ext>
            </a:extLst>
          </p:cNvPr>
          <p:cNvSpPr txBox="1">
            <a:spLocks/>
          </p:cNvSpPr>
          <p:nvPr/>
        </p:nvSpPr>
        <p:spPr>
          <a:xfrm>
            <a:off x="-184165" y="3149824"/>
            <a:ext cx="562276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accent1"/>
                </a:solidFill>
              </a:rPr>
              <a:t>Success Criteria</a:t>
            </a:r>
          </a:p>
        </p:txBody>
      </p:sp>
    </p:spTree>
    <p:extLst>
      <p:ext uri="{BB962C8B-B14F-4D97-AF65-F5344CB8AC3E}">
        <p14:creationId xmlns:p14="http://schemas.microsoft.com/office/powerpoint/2010/main" val="2405113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482AB-043A-DF40-B8E5-FEDFE0D0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7648" y="187391"/>
            <a:ext cx="6370122" cy="1325563"/>
          </a:xfrm>
        </p:spPr>
        <p:txBody>
          <a:bodyPr/>
          <a:lstStyle/>
          <a:p>
            <a:r>
              <a:rPr lang="en-US" b="1" dirty="0"/>
              <a:t>STEP 1: Participant briefing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304AEB-AD73-B243-AFA5-061D2A9B4A80}"/>
              </a:ext>
            </a:extLst>
          </p:cNvPr>
          <p:cNvSpPr txBox="1"/>
          <p:nvPr/>
        </p:nvSpPr>
        <p:spPr>
          <a:xfrm>
            <a:off x="1883565" y="1536705"/>
            <a:ext cx="842487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Thank you for taking part in this research and for signing the consent forms*</a:t>
            </a:r>
          </a:p>
          <a:p>
            <a:r>
              <a:rPr lang="en-US" dirty="0"/>
              <a:t>Your data will be kept anonymous at all times</a:t>
            </a:r>
          </a:p>
          <a:p>
            <a:r>
              <a:rPr lang="en-US" dirty="0"/>
              <a:t>If you feel you need to leave the experiment please inform the researcher at any time**</a:t>
            </a:r>
          </a:p>
          <a:p>
            <a:endParaRPr lang="en-US" dirty="0"/>
          </a:p>
          <a:p>
            <a:r>
              <a:rPr lang="en-US" dirty="0"/>
              <a:t>The aim of this investigation is to investigate group dynamics under competition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D02697-CF59-E143-9021-0D5408FB55AE}"/>
              </a:ext>
            </a:extLst>
          </p:cNvPr>
          <p:cNvSpPr txBox="1"/>
          <p:nvPr/>
        </p:nvSpPr>
        <p:spPr>
          <a:xfrm>
            <a:off x="131618" y="3429000"/>
            <a:ext cx="1122218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Step 2: Move to your assigned team</a:t>
            </a:r>
          </a:p>
          <a:p>
            <a:pPr algn="ctr"/>
            <a:r>
              <a:rPr lang="en-US" sz="4400" dirty="0"/>
              <a:t>and brainstorm ideas for your structure.</a:t>
            </a:r>
          </a:p>
          <a:p>
            <a:pPr algn="ctr"/>
            <a:r>
              <a:rPr lang="en-US" sz="4400" dirty="0"/>
              <a:t>I will pick out and brief the leaders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A325F8-5F76-764E-9B74-C0F5BF9231ED}"/>
              </a:ext>
            </a:extLst>
          </p:cNvPr>
          <p:cNvSpPr txBox="1"/>
          <p:nvPr/>
        </p:nvSpPr>
        <p:spPr>
          <a:xfrm>
            <a:off x="249382" y="6115792"/>
            <a:ext cx="89910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 No consent form really needed as this is a learning activity and not real publishable research</a:t>
            </a:r>
          </a:p>
          <a:p>
            <a:r>
              <a:rPr lang="en-US" dirty="0"/>
              <a:t>** </a:t>
            </a:r>
            <a:r>
              <a:rPr lang="en-US" dirty="0" err="1"/>
              <a:t>haha</a:t>
            </a:r>
            <a:r>
              <a:rPr lang="en-US" dirty="0"/>
              <a:t> kidding you can’t leave </a:t>
            </a:r>
            <a:r>
              <a:rPr lang="en-US" dirty="0">
                <a:sym typeface="Wingdings" pitchFamily="2" charset="2"/>
              </a:rPr>
              <a:t> love you all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338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454A59-47D4-2D4A-B660-17DA2CB89A3E}"/>
              </a:ext>
            </a:extLst>
          </p:cNvPr>
          <p:cNvSpPr txBox="1"/>
          <p:nvPr/>
        </p:nvSpPr>
        <p:spPr>
          <a:xfrm rot="16200000">
            <a:off x="-506064" y="1523698"/>
            <a:ext cx="1381468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Investigation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970E73-56BD-9945-BE31-1BADB9D8A41C}"/>
              </a:ext>
            </a:extLst>
          </p:cNvPr>
          <p:cNvSpPr txBox="1"/>
          <p:nvPr/>
        </p:nvSpPr>
        <p:spPr>
          <a:xfrm>
            <a:off x="2123815" y="242861"/>
            <a:ext cx="76729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dirty="0">
                <a:solidFill>
                  <a:schemeClr val="accent1"/>
                </a:solidFill>
              </a:rPr>
              <a:t>GOAL: BUILD THE TALLEST FREE STANDING TOWER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AAB358-1EF4-7D44-A12D-9DF509A6789B}"/>
              </a:ext>
            </a:extLst>
          </p:cNvPr>
          <p:cNvSpPr txBox="1"/>
          <p:nvPr/>
        </p:nvSpPr>
        <p:spPr>
          <a:xfrm>
            <a:off x="1027814" y="1095473"/>
            <a:ext cx="1847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CA27ED-28D2-4B48-9903-E8A0D8BB009D}"/>
              </a:ext>
            </a:extLst>
          </p:cNvPr>
          <p:cNvSpPr txBox="1"/>
          <p:nvPr/>
        </p:nvSpPr>
        <p:spPr>
          <a:xfrm>
            <a:off x="369336" y="797510"/>
            <a:ext cx="1182266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Instructions:</a:t>
            </a:r>
          </a:p>
          <a:p>
            <a:endParaRPr lang="en-AU" sz="2800" b="1" dirty="0"/>
          </a:p>
          <a:p>
            <a:r>
              <a:rPr lang="en-AU" sz="2800" dirty="0"/>
              <a:t>1. You will be randomly allocated into one of three groups</a:t>
            </a:r>
          </a:p>
          <a:p>
            <a:r>
              <a:rPr lang="en-AU" sz="2800" dirty="0"/>
              <a:t>2. One from each group will be randomly selected as the "leader" - you may tell the group if you are a leader or a member only</a:t>
            </a:r>
          </a:p>
          <a:p>
            <a:r>
              <a:rPr lang="en-AU" sz="2800" dirty="0"/>
              <a:t>3. You will each come to get 25 straws and 1.5 meters of tape and one pair of scissors</a:t>
            </a:r>
          </a:p>
          <a:p>
            <a:r>
              <a:rPr lang="en-AU" sz="2800" dirty="0"/>
              <a:t>4. Each group gets 3 minutes of brainstorming time to plan how they will create their structure</a:t>
            </a:r>
          </a:p>
          <a:p>
            <a:r>
              <a:rPr lang="en-AU" sz="2800" dirty="0"/>
              <a:t>5. Each group will then compete to create the highest structure in 10 minutes</a:t>
            </a:r>
          </a:p>
          <a:p>
            <a:r>
              <a:rPr lang="en-AU" sz="2800" dirty="0"/>
              <a:t>6. After 15 minutes the tallest structure will be assessed and win</a:t>
            </a:r>
          </a:p>
          <a:p>
            <a:r>
              <a:rPr lang="en-AU" sz="2800" dirty="0"/>
              <a:t>7. Fill out the survey about the task immediately after - in silence </a:t>
            </a:r>
          </a:p>
        </p:txBody>
      </p:sp>
    </p:spTree>
    <p:extLst>
      <p:ext uri="{BB962C8B-B14F-4D97-AF65-F5344CB8AC3E}">
        <p14:creationId xmlns:p14="http://schemas.microsoft.com/office/powerpoint/2010/main" val="878759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B8DC52-3CC7-AD40-895E-985C974B4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993" y="1076786"/>
            <a:ext cx="11036300" cy="2692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630E07-6D2D-A042-8929-90780AECB0BA}"/>
              </a:ext>
            </a:extLst>
          </p:cNvPr>
          <p:cNvSpPr txBox="1"/>
          <p:nvPr/>
        </p:nvSpPr>
        <p:spPr>
          <a:xfrm>
            <a:off x="1807617" y="95383"/>
            <a:ext cx="70839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5400" b="1" i="0" u="none" strike="noStrike" kern="1200" cap="none" spc="0" normalizeH="0" baseline="0" noProof="0" dirty="0">
                <a:ln>
                  <a:noFill/>
                </a:ln>
                <a:solidFill>
                  <a:srgbClr val="2D6069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Method</a:t>
            </a:r>
          </a:p>
        </p:txBody>
      </p:sp>
      <p:pic>
        <p:nvPicPr>
          <p:cNvPr id="8" name="Picture 7" descr="Iconsmind-Outline-Pen-5.ico">
            <a:extLst>
              <a:ext uri="{FF2B5EF4-FFF2-40B4-BE49-F238E27FC236}">
                <a16:creationId xmlns:a16="http://schemas.microsoft.com/office/drawing/2014/main" id="{C952C0E1-3CDB-804C-8AD9-2B83A63B0B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186" y="95383"/>
            <a:ext cx="788771" cy="6508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380CF3F-1905-FC41-BBBE-504A8DAAA5A4}"/>
              </a:ext>
            </a:extLst>
          </p:cNvPr>
          <p:cNvSpPr/>
          <p:nvPr/>
        </p:nvSpPr>
        <p:spPr>
          <a:xfrm>
            <a:off x="977956" y="1349266"/>
            <a:ext cx="7734243" cy="581134"/>
          </a:xfrm>
          <a:prstGeom prst="rect">
            <a:avLst/>
          </a:prstGeom>
          <a:solidFill>
            <a:schemeClr val="bg2">
              <a:alpha val="39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A64165-42CB-9744-BEC7-D1058E8CB325}"/>
              </a:ext>
            </a:extLst>
          </p:cNvPr>
          <p:cNvSpPr txBox="1"/>
          <p:nvPr/>
        </p:nvSpPr>
        <p:spPr>
          <a:xfrm>
            <a:off x="496936" y="3554779"/>
            <a:ext cx="11580414" cy="29238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2D6069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Step 1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</a:b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Identify participants (how many? Who are they/demographic information)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Identify sampling method 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Explain why sampling method was used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Identify participant allocation 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Explain why participant allocation was used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F85237-3639-A941-9A9F-0927E37BA231}"/>
              </a:ext>
            </a:extLst>
          </p:cNvPr>
          <p:cNvSpPr txBox="1"/>
          <p:nvPr/>
        </p:nvSpPr>
        <p:spPr>
          <a:xfrm rot="16200000">
            <a:off x="-702934" y="1774766"/>
            <a:ext cx="1852687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Skill development</a:t>
            </a:r>
          </a:p>
        </p:txBody>
      </p:sp>
    </p:spTree>
    <p:extLst>
      <p:ext uri="{BB962C8B-B14F-4D97-AF65-F5344CB8AC3E}">
        <p14:creationId xmlns:p14="http://schemas.microsoft.com/office/powerpoint/2010/main" val="2283006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7630E07-6D2D-A042-8929-90780AECB0BA}"/>
              </a:ext>
            </a:extLst>
          </p:cNvPr>
          <p:cNvSpPr txBox="1"/>
          <p:nvPr/>
        </p:nvSpPr>
        <p:spPr>
          <a:xfrm>
            <a:off x="1807617" y="95383"/>
            <a:ext cx="70839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5400" b="1" i="0" u="none" strike="noStrike" kern="1200" cap="none" spc="0" normalizeH="0" baseline="0" noProof="0" dirty="0">
                <a:ln>
                  <a:noFill/>
                </a:ln>
                <a:solidFill>
                  <a:srgbClr val="2D6069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Method</a:t>
            </a:r>
          </a:p>
        </p:txBody>
      </p:sp>
      <p:pic>
        <p:nvPicPr>
          <p:cNvPr id="8" name="Picture 7" descr="Iconsmind-Outline-Pen-5.ico">
            <a:extLst>
              <a:ext uri="{FF2B5EF4-FFF2-40B4-BE49-F238E27FC236}">
                <a16:creationId xmlns:a16="http://schemas.microsoft.com/office/drawing/2014/main" id="{C952C0E1-3CDB-804C-8AD9-2B83A63B0B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186" y="95383"/>
            <a:ext cx="788771" cy="6508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BA64165-42CB-9744-BEC7-D1058E8CB325}"/>
              </a:ext>
            </a:extLst>
          </p:cNvPr>
          <p:cNvSpPr txBox="1"/>
          <p:nvPr/>
        </p:nvSpPr>
        <p:spPr>
          <a:xfrm>
            <a:off x="583571" y="1326155"/>
            <a:ext cx="4312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2D6069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Example of Step 1: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CDDB9F9-9B63-0F43-98DF-3E09A46AC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0610" y="95383"/>
            <a:ext cx="6511092" cy="6447362"/>
          </a:xfrm>
          <a:prstGeom prst="rect">
            <a:avLst/>
          </a:prstGeom>
          <a:scene3d>
            <a:camera prst="orthographicFront"/>
            <a:lightRig rig="threePt" dir="t"/>
          </a:scene3d>
          <a:sp3d contourW="82550">
            <a:contourClr>
              <a:schemeClr val="accent1"/>
            </a:contourClr>
          </a:sp3d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C42CAED-D478-A947-BC46-65DA37AA76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57" y="4122729"/>
            <a:ext cx="3650804" cy="20444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0CF8628-2810-BF4B-9DC9-6A4CDB2C41E7}"/>
              </a:ext>
            </a:extLst>
          </p:cNvPr>
          <p:cNvSpPr txBox="1"/>
          <p:nvPr/>
        </p:nvSpPr>
        <p:spPr>
          <a:xfrm rot="16200000">
            <a:off x="-702934" y="1774766"/>
            <a:ext cx="1852687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Skill development</a:t>
            </a:r>
          </a:p>
        </p:txBody>
      </p:sp>
    </p:spTree>
    <p:extLst>
      <p:ext uri="{BB962C8B-B14F-4D97-AF65-F5344CB8AC3E}">
        <p14:creationId xmlns:p14="http://schemas.microsoft.com/office/powerpoint/2010/main" val="942202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33A94C9-4338-054C-AED0-9BAC30C7F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850" y="1045867"/>
            <a:ext cx="11036300" cy="2692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630E07-6D2D-A042-8929-90780AECB0BA}"/>
              </a:ext>
            </a:extLst>
          </p:cNvPr>
          <p:cNvSpPr txBox="1"/>
          <p:nvPr/>
        </p:nvSpPr>
        <p:spPr>
          <a:xfrm>
            <a:off x="1807617" y="95383"/>
            <a:ext cx="70839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5400" b="1" i="0" u="none" strike="noStrike" kern="1200" cap="none" spc="0" normalizeH="0" baseline="0" noProof="0" dirty="0">
                <a:ln>
                  <a:noFill/>
                </a:ln>
                <a:solidFill>
                  <a:srgbClr val="2D6069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Method</a:t>
            </a:r>
          </a:p>
        </p:txBody>
      </p:sp>
      <p:pic>
        <p:nvPicPr>
          <p:cNvPr id="8" name="Picture 7" descr="Iconsmind-Outline-Pen-5.ico">
            <a:extLst>
              <a:ext uri="{FF2B5EF4-FFF2-40B4-BE49-F238E27FC236}">
                <a16:creationId xmlns:a16="http://schemas.microsoft.com/office/drawing/2014/main" id="{C952C0E1-3CDB-804C-8AD9-2B83A63B0B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186" y="95383"/>
            <a:ext cx="788771" cy="6508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380CF3F-1905-FC41-BBBE-504A8DAAA5A4}"/>
              </a:ext>
            </a:extLst>
          </p:cNvPr>
          <p:cNvSpPr/>
          <p:nvPr/>
        </p:nvSpPr>
        <p:spPr>
          <a:xfrm>
            <a:off x="1254427" y="1859810"/>
            <a:ext cx="1455753" cy="320548"/>
          </a:xfrm>
          <a:prstGeom prst="rect">
            <a:avLst/>
          </a:prstGeom>
          <a:solidFill>
            <a:schemeClr val="bg2">
              <a:alpha val="39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A64165-42CB-9744-BEC7-D1058E8CB325}"/>
              </a:ext>
            </a:extLst>
          </p:cNvPr>
          <p:cNvSpPr txBox="1"/>
          <p:nvPr/>
        </p:nvSpPr>
        <p:spPr>
          <a:xfrm>
            <a:off x="543625" y="4514164"/>
            <a:ext cx="7338869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2D6069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Step 2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</a:b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Identify the materials used in the investigation 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Explain why materials were used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5F23C2-18B3-2543-B9FC-C925BD58F9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5492" y="3738267"/>
            <a:ext cx="8394348" cy="1551793"/>
          </a:xfrm>
          <a:prstGeom prst="rect">
            <a:avLst/>
          </a:prstGeom>
          <a:scene3d>
            <a:camera prst="orthographicFront"/>
            <a:lightRig rig="threePt" dir="t"/>
          </a:scene3d>
          <a:sp3d contourW="82550">
            <a:contourClr>
              <a:schemeClr val="accent1"/>
            </a:contourClr>
          </a:sp3d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FC5D606-D191-6243-8FE5-E780A26F7478}"/>
              </a:ext>
            </a:extLst>
          </p:cNvPr>
          <p:cNvSpPr txBox="1"/>
          <p:nvPr/>
        </p:nvSpPr>
        <p:spPr>
          <a:xfrm rot="16200000">
            <a:off x="-702934" y="1774766"/>
            <a:ext cx="1852687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Skill development</a:t>
            </a:r>
          </a:p>
        </p:txBody>
      </p:sp>
    </p:spTree>
    <p:extLst>
      <p:ext uri="{BB962C8B-B14F-4D97-AF65-F5344CB8AC3E}">
        <p14:creationId xmlns:p14="http://schemas.microsoft.com/office/powerpoint/2010/main" val="3743877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7630E07-6D2D-A042-8929-90780AECB0BA}"/>
              </a:ext>
            </a:extLst>
          </p:cNvPr>
          <p:cNvSpPr txBox="1"/>
          <p:nvPr/>
        </p:nvSpPr>
        <p:spPr>
          <a:xfrm>
            <a:off x="1807617" y="95383"/>
            <a:ext cx="70839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5400" b="1" i="0" u="none" strike="noStrike" kern="1200" cap="none" spc="0" normalizeH="0" baseline="0" noProof="0" dirty="0">
                <a:ln>
                  <a:noFill/>
                </a:ln>
                <a:solidFill>
                  <a:srgbClr val="2D6069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Method</a:t>
            </a:r>
          </a:p>
        </p:txBody>
      </p:sp>
      <p:pic>
        <p:nvPicPr>
          <p:cNvPr id="8" name="Picture 7" descr="Iconsmind-Outline-Pen-5.ico">
            <a:extLst>
              <a:ext uri="{FF2B5EF4-FFF2-40B4-BE49-F238E27FC236}">
                <a16:creationId xmlns:a16="http://schemas.microsoft.com/office/drawing/2014/main" id="{C952C0E1-3CDB-804C-8AD9-2B83A63B0B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186" y="95383"/>
            <a:ext cx="788771" cy="6508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BA64165-42CB-9744-BEC7-D1058E8CB325}"/>
              </a:ext>
            </a:extLst>
          </p:cNvPr>
          <p:cNvSpPr txBox="1"/>
          <p:nvPr/>
        </p:nvSpPr>
        <p:spPr>
          <a:xfrm>
            <a:off x="496937" y="3239246"/>
            <a:ext cx="10429458" cy="3662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2D6069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Step 4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</a:b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Provide a step-by-step guide on the procedure of the investigation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4C600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Sentence starters: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Firstly the researchers briefed participants on the aim that…..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Then the researchers handed out the questionnaire that measured…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Participants anonymity was maintained through…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14ADF7-F5F2-184A-B453-80B162C1754B}"/>
              </a:ext>
            </a:extLst>
          </p:cNvPr>
          <p:cNvSpPr txBox="1"/>
          <p:nvPr/>
        </p:nvSpPr>
        <p:spPr>
          <a:xfrm rot="16200000">
            <a:off x="-773567" y="1557848"/>
            <a:ext cx="1852687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Skill development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94CAE02-368D-DC44-9307-4FB9C45BF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0909" y="1294583"/>
            <a:ext cx="9806037" cy="239226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380CF3F-1905-FC41-BBBE-504A8DAAA5A4}"/>
              </a:ext>
            </a:extLst>
          </p:cNvPr>
          <p:cNvSpPr/>
          <p:nvPr/>
        </p:nvSpPr>
        <p:spPr>
          <a:xfrm>
            <a:off x="2100909" y="2277823"/>
            <a:ext cx="4333031" cy="212893"/>
          </a:xfrm>
          <a:prstGeom prst="rect">
            <a:avLst/>
          </a:prstGeom>
          <a:solidFill>
            <a:schemeClr val="bg2">
              <a:alpha val="39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07201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7630E07-6D2D-A042-8929-90780AECB0BA}"/>
              </a:ext>
            </a:extLst>
          </p:cNvPr>
          <p:cNvSpPr txBox="1"/>
          <p:nvPr/>
        </p:nvSpPr>
        <p:spPr>
          <a:xfrm>
            <a:off x="1807617" y="95383"/>
            <a:ext cx="70839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5400" b="1" i="0" u="none" strike="noStrike" kern="1200" cap="none" spc="0" normalizeH="0" baseline="0" noProof="0" dirty="0">
                <a:ln>
                  <a:noFill/>
                </a:ln>
                <a:solidFill>
                  <a:srgbClr val="2D6069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Method</a:t>
            </a:r>
          </a:p>
        </p:txBody>
      </p:sp>
      <p:pic>
        <p:nvPicPr>
          <p:cNvPr id="8" name="Picture 7" descr="Iconsmind-Outline-Pen-5.ico">
            <a:extLst>
              <a:ext uri="{FF2B5EF4-FFF2-40B4-BE49-F238E27FC236}">
                <a16:creationId xmlns:a16="http://schemas.microsoft.com/office/drawing/2014/main" id="{C952C0E1-3CDB-804C-8AD9-2B83A63B0B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186" y="95383"/>
            <a:ext cx="788771" cy="6508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380CF3F-1905-FC41-BBBE-504A8DAAA5A4}"/>
              </a:ext>
            </a:extLst>
          </p:cNvPr>
          <p:cNvSpPr/>
          <p:nvPr/>
        </p:nvSpPr>
        <p:spPr>
          <a:xfrm>
            <a:off x="4839103" y="1869124"/>
            <a:ext cx="4052485" cy="226767"/>
          </a:xfrm>
          <a:prstGeom prst="rect">
            <a:avLst/>
          </a:prstGeom>
          <a:solidFill>
            <a:schemeClr val="bg2">
              <a:alpha val="39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A64165-42CB-9744-BEC7-D1058E8CB325}"/>
              </a:ext>
            </a:extLst>
          </p:cNvPr>
          <p:cNvSpPr txBox="1"/>
          <p:nvPr/>
        </p:nvSpPr>
        <p:spPr>
          <a:xfrm>
            <a:off x="325315" y="3983593"/>
            <a:ext cx="8284113" cy="2415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2D6069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Step 5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</a:b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Identify possible extraneous variables.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Explain how extraneous variables are being controlled for.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287C01F-7FE5-5544-9757-584C19E3C61D}"/>
              </a:ext>
            </a:extLst>
          </p:cNvPr>
          <p:cNvGraphicFramePr>
            <a:graphicFrameLocks noGrp="1"/>
          </p:cNvGraphicFramePr>
          <p:nvPr/>
        </p:nvGraphicFramePr>
        <p:xfrm>
          <a:off x="8891588" y="4259937"/>
          <a:ext cx="3231857" cy="24645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231857">
                  <a:extLst>
                    <a:ext uri="{9D8B030D-6E8A-4147-A177-3AD203B41FA5}">
                      <a16:colId xmlns:a16="http://schemas.microsoft.com/office/drawing/2014/main" val="3734395305"/>
                    </a:ext>
                  </a:extLst>
                </a:gridCol>
              </a:tblGrid>
              <a:tr h="49837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Vocabulary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4172276"/>
                  </a:ext>
                </a:extLst>
              </a:tr>
              <a:tr h="1966202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800" b="1" dirty="0"/>
                        <a:t>Extraneous variables: </a:t>
                      </a:r>
                      <a:r>
                        <a:rPr lang="en-US" sz="1800" dirty="0"/>
                        <a:t>variables that the researchers tries to control for, so they do not influence the dependent variable (they are not being studied in the experiment).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18154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83329399-4597-F948-8F56-301C87B632E8}"/>
              </a:ext>
            </a:extLst>
          </p:cNvPr>
          <p:cNvSpPr txBox="1"/>
          <p:nvPr/>
        </p:nvSpPr>
        <p:spPr>
          <a:xfrm rot="16200000">
            <a:off x="-737158" y="1584267"/>
            <a:ext cx="1852687" cy="369332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Skill development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9CBE42-94F4-2340-A1F8-472A779FD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833" y="1028280"/>
            <a:ext cx="11036300" cy="26924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1EBF549-DE5F-E946-BB33-321AE83B615D}"/>
              </a:ext>
            </a:extLst>
          </p:cNvPr>
          <p:cNvSpPr/>
          <p:nvPr/>
        </p:nvSpPr>
        <p:spPr>
          <a:xfrm>
            <a:off x="1422595" y="2936735"/>
            <a:ext cx="4673405" cy="215073"/>
          </a:xfrm>
          <a:prstGeom prst="rect">
            <a:avLst/>
          </a:prstGeom>
          <a:solidFill>
            <a:schemeClr val="bg2">
              <a:alpha val="39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68127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454A59-47D4-2D4A-B660-17DA2CB89A3E}"/>
              </a:ext>
            </a:extLst>
          </p:cNvPr>
          <p:cNvSpPr txBox="1"/>
          <p:nvPr/>
        </p:nvSpPr>
        <p:spPr>
          <a:xfrm rot="16200000">
            <a:off x="-956768" y="1523698"/>
            <a:ext cx="2282869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Concept Development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970E73-56BD-9945-BE31-1BADB9D8A41C}"/>
              </a:ext>
            </a:extLst>
          </p:cNvPr>
          <p:cNvSpPr txBox="1"/>
          <p:nvPr/>
        </p:nvSpPr>
        <p:spPr>
          <a:xfrm>
            <a:off x="2064439" y="5354"/>
            <a:ext cx="22274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dirty="0">
                <a:solidFill>
                  <a:schemeClr val="accent1"/>
                </a:solidFill>
              </a:rPr>
              <a:t>Research task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AAB358-1EF4-7D44-A12D-9DF509A6789B}"/>
              </a:ext>
            </a:extLst>
          </p:cNvPr>
          <p:cNvSpPr txBox="1"/>
          <p:nvPr/>
        </p:nvSpPr>
        <p:spPr>
          <a:xfrm>
            <a:off x="1362083" y="1411483"/>
            <a:ext cx="904070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Research the 3 leadership styles:</a:t>
            </a:r>
          </a:p>
          <a:p>
            <a:pPr algn="ctr"/>
            <a:r>
              <a:rPr lang="en-US" sz="2800" b="1" dirty="0"/>
              <a:t>Autocratic</a:t>
            </a:r>
          </a:p>
          <a:p>
            <a:pPr algn="ctr"/>
            <a:r>
              <a:rPr lang="en-US" sz="2800" b="1" dirty="0"/>
              <a:t>Democratic</a:t>
            </a:r>
          </a:p>
          <a:p>
            <a:pPr algn="ctr"/>
            <a:r>
              <a:rPr lang="en-US" sz="2800" b="1" dirty="0"/>
              <a:t>    Laisse-faire   </a:t>
            </a:r>
          </a:p>
          <a:p>
            <a:pPr algn="ctr"/>
            <a:endParaRPr lang="en-US" sz="2800" b="1" dirty="0"/>
          </a:p>
          <a:p>
            <a:pPr algn="ctr"/>
            <a:endParaRPr lang="en-US" sz="2800" b="1" dirty="0"/>
          </a:p>
          <a:p>
            <a:endParaRPr lang="en-US" sz="2800" dirty="0"/>
          </a:p>
          <a:p>
            <a:r>
              <a:rPr lang="en-US" sz="2800" dirty="0"/>
              <a:t>You will need to be able to describe it and the outcomes each leadership style has on group outcomes and productivity.</a:t>
            </a:r>
          </a:p>
          <a:p>
            <a:endParaRPr lang="en-US" sz="2800" dirty="0"/>
          </a:p>
          <a:p>
            <a:r>
              <a:rPr lang="en-US" sz="2800" dirty="0"/>
              <a:t>Use the links on SEQTA</a:t>
            </a:r>
          </a:p>
        </p:txBody>
      </p:sp>
    </p:spTree>
    <p:extLst>
      <p:ext uri="{BB962C8B-B14F-4D97-AF65-F5344CB8AC3E}">
        <p14:creationId xmlns:p14="http://schemas.microsoft.com/office/powerpoint/2010/main" val="2201799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sson template" id="{BE3FD172-D024-DE49-B586-228D6C825ABD}" vid="{767780C8-878E-A447-AAC4-C73CC567D16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2252</TotalTime>
  <Words>777</Words>
  <Application>Microsoft Macintosh PowerPoint</Application>
  <PresentationFormat>Widescreen</PresentationFormat>
  <Paragraphs>142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STEP 1: Participant briefing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DAVEY Sarah [Joseph Banks Secondary College]</dc:creator>
  <cp:lastModifiedBy>DAVEY Sarah [Joseph Banks Secondary College]</cp:lastModifiedBy>
  <cp:revision>9</cp:revision>
  <dcterms:created xsi:type="dcterms:W3CDTF">2021-08-10T13:40:17Z</dcterms:created>
  <dcterms:modified xsi:type="dcterms:W3CDTF">2021-08-12T03:13:06Z</dcterms:modified>
</cp:coreProperties>
</file>
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80" r:id="rId2"/>
  </p:sldMasterIdLst>
  <p:notesMasterIdLst>
    <p:notesMasterId r:id="rId18"/>
  </p:notesMasterIdLst>
  <p:sldIdLst>
    <p:sldId id="318" r:id="rId3"/>
    <p:sldId id="364" r:id="rId4"/>
    <p:sldId id="407" r:id="rId5"/>
    <p:sldId id="376" r:id="rId6"/>
    <p:sldId id="379" r:id="rId7"/>
    <p:sldId id="381" r:id="rId8"/>
    <p:sldId id="256" r:id="rId9"/>
    <p:sldId id="366" r:id="rId10"/>
    <p:sldId id="365" r:id="rId11"/>
    <p:sldId id="421" r:id="rId12"/>
    <p:sldId id="423" r:id="rId13"/>
    <p:sldId id="286" r:id="rId14"/>
    <p:sldId id="361" r:id="rId15"/>
    <p:sldId id="321" r:id="rId16"/>
    <p:sldId id="31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93"/>
    <p:restoredTop sz="94643"/>
  </p:normalViewPr>
  <p:slideViewPr>
    <p:cSldViewPr snapToGrid="0" snapToObjects="1">
      <p:cViewPr varScale="1">
        <p:scale>
          <a:sx n="122" d="100"/>
          <a:sy n="122" d="100"/>
        </p:scale>
        <p:origin x="208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D04F59E-2CDC-2646-A469-C31325DD406F}" type="doc">
      <dgm:prSet loTypeId="urn:microsoft.com/office/officeart/2005/8/layout/radial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982220B-00FD-F74A-8FF5-8E5983BABF7C}">
      <dgm:prSet phldrT="[Text]"/>
      <dgm:spPr/>
      <dgm:t>
        <a:bodyPr/>
        <a:lstStyle/>
        <a:p>
          <a:r>
            <a:rPr lang="en-GB" b="1" dirty="0"/>
            <a:t>Evaluating research</a:t>
          </a:r>
        </a:p>
      </dgm:t>
    </dgm:pt>
    <dgm:pt modelId="{B1794EEA-4398-1B4F-98AD-D1B3CE1A1078}" type="parTrans" cxnId="{DFB5DFEC-8A38-2C45-A43E-087BDA2E26F2}">
      <dgm:prSet/>
      <dgm:spPr/>
      <dgm:t>
        <a:bodyPr/>
        <a:lstStyle/>
        <a:p>
          <a:endParaRPr lang="en-GB"/>
        </a:p>
      </dgm:t>
    </dgm:pt>
    <dgm:pt modelId="{F86C85E0-4CD6-934F-8ABD-BE58CE842C65}" type="sibTrans" cxnId="{DFB5DFEC-8A38-2C45-A43E-087BDA2E26F2}">
      <dgm:prSet/>
      <dgm:spPr/>
      <dgm:t>
        <a:bodyPr/>
        <a:lstStyle/>
        <a:p>
          <a:endParaRPr lang="en-GB"/>
        </a:p>
      </dgm:t>
    </dgm:pt>
    <dgm:pt modelId="{84BD9B27-7477-A445-A8D7-0E9B311B4705}">
      <dgm:prSet phldrT="[Text]"/>
      <dgm:spPr/>
      <dgm:t>
        <a:bodyPr/>
        <a:lstStyle/>
        <a:p>
          <a:r>
            <a:rPr lang="en-GB" dirty="0"/>
            <a:t>Generalisability to target population</a:t>
          </a:r>
        </a:p>
      </dgm:t>
    </dgm:pt>
    <dgm:pt modelId="{0C92A992-62A1-D543-A727-8795E3185EDD}" type="parTrans" cxnId="{DDEE6754-9DD0-794B-978A-D90BF46AD231}">
      <dgm:prSet/>
      <dgm:spPr/>
      <dgm:t>
        <a:bodyPr/>
        <a:lstStyle/>
        <a:p>
          <a:endParaRPr lang="en-GB"/>
        </a:p>
      </dgm:t>
    </dgm:pt>
    <dgm:pt modelId="{208ECC4F-F1DA-4F48-911D-8785323B61BB}" type="sibTrans" cxnId="{DDEE6754-9DD0-794B-978A-D90BF46AD231}">
      <dgm:prSet/>
      <dgm:spPr/>
      <dgm:t>
        <a:bodyPr/>
        <a:lstStyle/>
        <a:p>
          <a:endParaRPr lang="en-GB"/>
        </a:p>
      </dgm:t>
    </dgm:pt>
    <dgm:pt modelId="{6E0D86E5-1F8B-8842-B53C-7E91F75F942D}">
      <dgm:prSet phldrT="[Text]"/>
      <dgm:spPr/>
      <dgm:t>
        <a:bodyPr/>
        <a:lstStyle/>
        <a:p>
          <a:r>
            <a:rPr lang="en-GB" dirty="0"/>
            <a:t>Reliability</a:t>
          </a:r>
        </a:p>
      </dgm:t>
    </dgm:pt>
    <dgm:pt modelId="{A2F96436-473C-994A-9EE7-E9E0CE6EC6EB}" type="parTrans" cxnId="{9205C83A-F3A0-794C-AF21-FFC7D25E304D}">
      <dgm:prSet/>
      <dgm:spPr/>
      <dgm:t>
        <a:bodyPr/>
        <a:lstStyle/>
        <a:p>
          <a:endParaRPr lang="en-GB"/>
        </a:p>
      </dgm:t>
    </dgm:pt>
    <dgm:pt modelId="{00C169F9-971B-C344-AEF7-EC99B188192A}" type="sibTrans" cxnId="{9205C83A-F3A0-794C-AF21-FFC7D25E304D}">
      <dgm:prSet/>
      <dgm:spPr/>
      <dgm:t>
        <a:bodyPr/>
        <a:lstStyle/>
        <a:p>
          <a:endParaRPr lang="en-GB"/>
        </a:p>
      </dgm:t>
    </dgm:pt>
    <dgm:pt modelId="{322EC63F-F8A4-6044-B172-CF6B5D1FD28C}">
      <dgm:prSet phldrT="[Text]"/>
      <dgm:spPr/>
      <dgm:t>
        <a:bodyPr/>
        <a:lstStyle/>
        <a:p>
          <a:r>
            <a:rPr lang="en-GB" dirty="0"/>
            <a:t> Validity</a:t>
          </a:r>
        </a:p>
      </dgm:t>
    </dgm:pt>
    <dgm:pt modelId="{175443F8-2B49-B043-A384-BC9028DFEA9D}" type="parTrans" cxnId="{8298168A-49C2-A941-96B7-59E78496FF7D}">
      <dgm:prSet/>
      <dgm:spPr/>
      <dgm:t>
        <a:bodyPr/>
        <a:lstStyle/>
        <a:p>
          <a:endParaRPr lang="en-GB"/>
        </a:p>
      </dgm:t>
    </dgm:pt>
    <dgm:pt modelId="{AB07BD02-FB5E-4549-A3F4-F0E428EE3E6B}" type="sibTrans" cxnId="{8298168A-49C2-A941-96B7-59E78496FF7D}">
      <dgm:prSet/>
      <dgm:spPr/>
      <dgm:t>
        <a:bodyPr/>
        <a:lstStyle/>
        <a:p>
          <a:endParaRPr lang="en-GB"/>
        </a:p>
      </dgm:t>
    </dgm:pt>
    <dgm:pt modelId="{73980A84-89BA-6D42-BCFD-38BA6C319ED7}">
      <dgm:prSet/>
      <dgm:spPr/>
      <dgm:t>
        <a:bodyPr/>
        <a:lstStyle/>
        <a:p>
          <a:r>
            <a:rPr lang="en-GB" dirty="0"/>
            <a:t>Ethics</a:t>
          </a:r>
        </a:p>
      </dgm:t>
    </dgm:pt>
    <dgm:pt modelId="{3602BBDC-4A8B-FD4F-981F-DDAF23684101}" type="parTrans" cxnId="{77976B23-7C63-414F-9D0D-C6E2F415C6DC}">
      <dgm:prSet/>
      <dgm:spPr/>
      <dgm:t>
        <a:bodyPr/>
        <a:lstStyle/>
        <a:p>
          <a:endParaRPr lang="en-GB"/>
        </a:p>
      </dgm:t>
    </dgm:pt>
    <dgm:pt modelId="{C988D3B9-1897-8C4E-AB7C-80FA0FC6CBD0}" type="sibTrans" cxnId="{77976B23-7C63-414F-9D0D-C6E2F415C6DC}">
      <dgm:prSet/>
      <dgm:spPr/>
      <dgm:t>
        <a:bodyPr/>
        <a:lstStyle/>
        <a:p>
          <a:endParaRPr lang="en-GB"/>
        </a:p>
      </dgm:t>
    </dgm:pt>
    <dgm:pt modelId="{3FA60905-49D2-9C44-AAE1-044B5FC62515}">
      <dgm:prSet/>
      <dgm:spPr/>
      <dgm:t>
        <a:bodyPr/>
        <a:lstStyle/>
        <a:p>
          <a:r>
            <a:rPr lang="en-GB" dirty="0"/>
            <a:t>Methodological flaws</a:t>
          </a:r>
        </a:p>
      </dgm:t>
    </dgm:pt>
    <dgm:pt modelId="{78FBF7D8-D5E7-7D48-9014-9EAE77A9A3F9}" type="parTrans" cxnId="{73457AF4-365F-4D4A-A7A8-4981DEE18377}">
      <dgm:prSet/>
      <dgm:spPr/>
      <dgm:t>
        <a:bodyPr/>
        <a:lstStyle/>
        <a:p>
          <a:endParaRPr lang="en-GB"/>
        </a:p>
      </dgm:t>
    </dgm:pt>
    <dgm:pt modelId="{BC60C94D-74FB-D243-9CF3-4B458B7E71E1}" type="sibTrans" cxnId="{73457AF4-365F-4D4A-A7A8-4981DEE18377}">
      <dgm:prSet/>
      <dgm:spPr/>
      <dgm:t>
        <a:bodyPr/>
        <a:lstStyle/>
        <a:p>
          <a:endParaRPr lang="en-GB"/>
        </a:p>
      </dgm:t>
    </dgm:pt>
    <dgm:pt modelId="{0FB4CDC7-F9AC-B449-A96B-E15D54EEC445}">
      <dgm:prSet/>
      <dgm:spPr/>
      <dgm:t>
        <a:bodyPr/>
        <a:lstStyle/>
        <a:p>
          <a:r>
            <a:rPr lang="en-GB" dirty="0"/>
            <a:t>Comparing to past research</a:t>
          </a:r>
        </a:p>
      </dgm:t>
    </dgm:pt>
    <dgm:pt modelId="{B4B185DB-0DC1-0943-9EAD-109FB3936FD0}" type="parTrans" cxnId="{9850FE51-C30B-BF4B-B735-1D73BC482104}">
      <dgm:prSet/>
      <dgm:spPr/>
      <dgm:t>
        <a:bodyPr/>
        <a:lstStyle/>
        <a:p>
          <a:endParaRPr lang="en-GB"/>
        </a:p>
      </dgm:t>
    </dgm:pt>
    <dgm:pt modelId="{9C817D34-7AA3-3642-8B18-3C4FC9FD75D1}" type="sibTrans" cxnId="{9850FE51-C30B-BF4B-B735-1D73BC482104}">
      <dgm:prSet/>
      <dgm:spPr/>
      <dgm:t>
        <a:bodyPr/>
        <a:lstStyle/>
        <a:p>
          <a:endParaRPr lang="en-GB"/>
        </a:p>
      </dgm:t>
    </dgm:pt>
    <dgm:pt modelId="{4E681C0C-6D19-FA45-9432-498F27675B7C}" type="pres">
      <dgm:prSet presAssocID="{8D04F59E-2CDC-2646-A469-C31325DD406F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088ACD0-4992-0B41-81DA-71C70661F5DB}" type="pres">
      <dgm:prSet presAssocID="{B982220B-00FD-F74A-8FF5-8E5983BABF7C}" presName="centerShape" presStyleLbl="node0" presStyleIdx="0" presStyleCnt="1"/>
      <dgm:spPr/>
    </dgm:pt>
    <dgm:pt modelId="{056D5543-F453-B141-B89F-142D8FA14506}" type="pres">
      <dgm:prSet presAssocID="{A2F96436-473C-994A-9EE7-E9E0CE6EC6EB}" presName="parTrans" presStyleLbl="bgSibTrans2D1" presStyleIdx="0" presStyleCnt="6"/>
      <dgm:spPr/>
    </dgm:pt>
    <dgm:pt modelId="{6E6799B1-0969-B642-801A-E240C0BD4B87}" type="pres">
      <dgm:prSet presAssocID="{6E0D86E5-1F8B-8842-B53C-7E91F75F942D}" presName="node" presStyleLbl="node1" presStyleIdx="0" presStyleCnt="6">
        <dgm:presLayoutVars>
          <dgm:bulletEnabled val="1"/>
        </dgm:presLayoutVars>
      </dgm:prSet>
      <dgm:spPr/>
    </dgm:pt>
    <dgm:pt modelId="{AB63EBEA-55B8-F841-A7A7-23376B7E5242}" type="pres">
      <dgm:prSet presAssocID="{175443F8-2B49-B043-A384-BC9028DFEA9D}" presName="parTrans" presStyleLbl="bgSibTrans2D1" presStyleIdx="1" presStyleCnt="6"/>
      <dgm:spPr/>
    </dgm:pt>
    <dgm:pt modelId="{7337081C-73C5-AD42-8BAD-498FEBD70AF0}" type="pres">
      <dgm:prSet presAssocID="{322EC63F-F8A4-6044-B172-CF6B5D1FD28C}" presName="node" presStyleLbl="node1" presStyleIdx="1" presStyleCnt="6">
        <dgm:presLayoutVars>
          <dgm:bulletEnabled val="1"/>
        </dgm:presLayoutVars>
      </dgm:prSet>
      <dgm:spPr/>
    </dgm:pt>
    <dgm:pt modelId="{670F2A40-6CD5-984D-98F6-920C1C55068D}" type="pres">
      <dgm:prSet presAssocID="{3602BBDC-4A8B-FD4F-981F-DDAF23684101}" presName="parTrans" presStyleLbl="bgSibTrans2D1" presStyleIdx="2" presStyleCnt="6"/>
      <dgm:spPr/>
    </dgm:pt>
    <dgm:pt modelId="{A204DBDB-1C99-8F4B-A423-76A8DAC71E93}" type="pres">
      <dgm:prSet presAssocID="{73980A84-89BA-6D42-BCFD-38BA6C319ED7}" presName="node" presStyleLbl="node1" presStyleIdx="2" presStyleCnt="6">
        <dgm:presLayoutVars>
          <dgm:bulletEnabled val="1"/>
        </dgm:presLayoutVars>
      </dgm:prSet>
      <dgm:spPr/>
    </dgm:pt>
    <dgm:pt modelId="{3FEF0001-E76A-4748-9746-2C869AA29E23}" type="pres">
      <dgm:prSet presAssocID="{0C92A992-62A1-D543-A727-8795E3185EDD}" presName="parTrans" presStyleLbl="bgSibTrans2D1" presStyleIdx="3" presStyleCnt="6"/>
      <dgm:spPr/>
    </dgm:pt>
    <dgm:pt modelId="{2169982B-A3C5-314F-B8D5-B4B5DA319389}" type="pres">
      <dgm:prSet presAssocID="{84BD9B27-7477-A445-A8D7-0E9B311B4705}" presName="node" presStyleLbl="node1" presStyleIdx="3" presStyleCnt="6">
        <dgm:presLayoutVars>
          <dgm:bulletEnabled val="1"/>
        </dgm:presLayoutVars>
      </dgm:prSet>
      <dgm:spPr/>
    </dgm:pt>
    <dgm:pt modelId="{FE1A6643-98B1-1C4A-BF22-E55401F64E83}" type="pres">
      <dgm:prSet presAssocID="{78FBF7D8-D5E7-7D48-9014-9EAE77A9A3F9}" presName="parTrans" presStyleLbl="bgSibTrans2D1" presStyleIdx="4" presStyleCnt="6"/>
      <dgm:spPr/>
    </dgm:pt>
    <dgm:pt modelId="{43D9D5CF-C16A-FE46-A5E4-F2D171294401}" type="pres">
      <dgm:prSet presAssocID="{3FA60905-49D2-9C44-AAE1-044B5FC62515}" presName="node" presStyleLbl="node1" presStyleIdx="4" presStyleCnt="6">
        <dgm:presLayoutVars>
          <dgm:bulletEnabled val="1"/>
        </dgm:presLayoutVars>
      </dgm:prSet>
      <dgm:spPr/>
    </dgm:pt>
    <dgm:pt modelId="{F0E81D88-CEB7-2F47-91FB-415CCEBF48DC}" type="pres">
      <dgm:prSet presAssocID="{B4B185DB-0DC1-0943-9EAD-109FB3936FD0}" presName="parTrans" presStyleLbl="bgSibTrans2D1" presStyleIdx="5" presStyleCnt="6"/>
      <dgm:spPr/>
    </dgm:pt>
    <dgm:pt modelId="{07F76174-A8CC-9048-8675-AB422999763F}" type="pres">
      <dgm:prSet presAssocID="{0FB4CDC7-F9AC-B449-A96B-E15D54EEC445}" presName="node" presStyleLbl="node1" presStyleIdx="5" presStyleCnt="6">
        <dgm:presLayoutVars>
          <dgm:bulletEnabled val="1"/>
        </dgm:presLayoutVars>
      </dgm:prSet>
      <dgm:spPr/>
    </dgm:pt>
  </dgm:ptLst>
  <dgm:cxnLst>
    <dgm:cxn modelId="{BB549B13-9AFC-A542-8DCE-4D206A6829FB}" type="presOf" srcId="{B982220B-00FD-F74A-8FF5-8E5983BABF7C}" destId="{1088ACD0-4992-0B41-81DA-71C70661F5DB}" srcOrd="0" destOrd="0" presId="urn:microsoft.com/office/officeart/2005/8/layout/radial4"/>
    <dgm:cxn modelId="{77976B23-7C63-414F-9D0D-C6E2F415C6DC}" srcId="{B982220B-00FD-F74A-8FF5-8E5983BABF7C}" destId="{73980A84-89BA-6D42-BCFD-38BA6C319ED7}" srcOrd="2" destOrd="0" parTransId="{3602BBDC-4A8B-FD4F-981F-DDAF23684101}" sibTransId="{C988D3B9-1897-8C4E-AB7C-80FA0FC6CBD0}"/>
    <dgm:cxn modelId="{B773E826-1E1A-2A49-AD73-144BC4CDB9BF}" type="presOf" srcId="{B4B185DB-0DC1-0943-9EAD-109FB3936FD0}" destId="{F0E81D88-CEB7-2F47-91FB-415CCEBF48DC}" srcOrd="0" destOrd="0" presId="urn:microsoft.com/office/officeart/2005/8/layout/radial4"/>
    <dgm:cxn modelId="{D1D4FB31-DD59-254F-8A4D-F6540B9842DC}" type="presOf" srcId="{8D04F59E-2CDC-2646-A469-C31325DD406F}" destId="{4E681C0C-6D19-FA45-9432-498F27675B7C}" srcOrd="0" destOrd="0" presId="urn:microsoft.com/office/officeart/2005/8/layout/radial4"/>
    <dgm:cxn modelId="{9205C83A-F3A0-794C-AF21-FFC7D25E304D}" srcId="{B982220B-00FD-F74A-8FF5-8E5983BABF7C}" destId="{6E0D86E5-1F8B-8842-B53C-7E91F75F942D}" srcOrd="0" destOrd="0" parTransId="{A2F96436-473C-994A-9EE7-E9E0CE6EC6EB}" sibTransId="{00C169F9-971B-C344-AEF7-EC99B188192A}"/>
    <dgm:cxn modelId="{32202542-32BA-094E-8D17-F0D54013AE67}" type="presOf" srcId="{0C92A992-62A1-D543-A727-8795E3185EDD}" destId="{3FEF0001-E76A-4748-9746-2C869AA29E23}" srcOrd="0" destOrd="0" presId="urn:microsoft.com/office/officeart/2005/8/layout/radial4"/>
    <dgm:cxn modelId="{CB6FCD4A-8603-354F-9CB3-DBF72B0BBD47}" type="presOf" srcId="{3602BBDC-4A8B-FD4F-981F-DDAF23684101}" destId="{670F2A40-6CD5-984D-98F6-920C1C55068D}" srcOrd="0" destOrd="0" presId="urn:microsoft.com/office/officeart/2005/8/layout/radial4"/>
    <dgm:cxn modelId="{9850FE51-C30B-BF4B-B735-1D73BC482104}" srcId="{B982220B-00FD-F74A-8FF5-8E5983BABF7C}" destId="{0FB4CDC7-F9AC-B449-A96B-E15D54EEC445}" srcOrd="5" destOrd="0" parTransId="{B4B185DB-0DC1-0943-9EAD-109FB3936FD0}" sibTransId="{9C817D34-7AA3-3642-8B18-3C4FC9FD75D1}"/>
    <dgm:cxn modelId="{DDEE6754-9DD0-794B-978A-D90BF46AD231}" srcId="{B982220B-00FD-F74A-8FF5-8E5983BABF7C}" destId="{84BD9B27-7477-A445-A8D7-0E9B311B4705}" srcOrd="3" destOrd="0" parTransId="{0C92A992-62A1-D543-A727-8795E3185EDD}" sibTransId="{208ECC4F-F1DA-4F48-911D-8785323B61BB}"/>
    <dgm:cxn modelId="{F204A95B-A05E-A94A-8BB9-7E9B4856C49D}" type="presOf" srcId="{73980A84-89BA-6D42-BCFD-38BA6C319ED7}" destId="{A204DBDB-1C99-8F4B-A423-76A8DAC71E93}" srcOrd="0" destOrd="0" presId="urn:microsoft.com/office/officeart/2005/8/layout/radial4"/>
    <dgm:cxn modelId="{59BD705D-0949-5147-A6C6-FA7F4D01F17D}" type="presOf" srcId="{0FB4CDC7-F9AC-B449-A96B-E15D54EEC445}" destId="{07F76174-A8CC-9048-8675-AB422999763F}" srcOrd="0" destOrd="0" presId="urn:microsoft.com/office/officeart/2005/8/layout/radial4"/>
    <dgm:cxn modelId="{CE876B70-7E76-1445-A7E8-44CA8EBDF6C9}" type="presOf" srcId="{84BD9B27-7477-A445-A8D7-0E9B311B4705}" destId="{2169982B-A3C5-314F-B8D5-B4B5DA319389}" srcOrd="0" destOrd="0" presId="urn:microsoft.com/office/officeart/2005/8/layout/radial4"/>
    <dgm:cxn modelId="{38EE967C-5278-FC47-AD6E-9E537C502261}" type="presOf" srcId="{6E0D86E5-1F8B-8842-B53C-7E91F75F942D}" destId="{6E6799B1-0969-B642-801A-E240C0BD4B87}" srcOrd="0" destOrd="0" presId="urn:microsoft.com/office/officeart/2005/8/layout/radial4"/>
    <dgm:cxn modelId="{8298168A-49C2-A941-96B7-59E78496FF7D}" srcId="{B982220B-00FD-F74A-8FF5-8E5983BABF7C}" destId="{322EC63F-F8A4-6044-B172-CF6B5D1FD28C}" srcOrd="1" destOrd="0" parTransId="{175443F8-2B49-B043-A384-BC9028DFEA9D}" sibTransId="{AB07BD02-FB5E-4549-A3F4-F0E428EE3E6B}"/>
    <dgm:cxn modelId="{B595E9B4-5123-B24B-95BF-E88D80B723C2}" type="presOf" srcId="{A2F96436-473C-994A-9EE7-E9E0CE6EC6EB}" destId="{056D5543-F453-B141-B89F-142D8FA14506}" srcOrd="0" destOrd="0" presId="urn:microsoft.com/office/officeart/2005/8/layout/radial4"/>
    <dgm:cxn modelId="{BB4533BD-858C-FF4A-9F97-6AD9DE09C048}" type="presOf" srcId="{175443F8-2B49-B043-A384-BC9028DFEA9D}" destId="{AB63EBEA-55B8-F841-A7A7-23376B7E5242}" srcOrd="0" destOrd="0" presId="urn:microsoft.com/office/officeart/2005/8/layout/radial4"/>
    <dgm:cxn modelId="{DFB5DFEC-8A38-2C45-A43E-087BDA2E26F2}" srcId="{8D04F59E-2CDC-2646-A469-C31325DD406F}" destId="{B982220B-00FD-F74A-8FF5-8E5983BABF7C}" srcOrd="0" destOrd="0" parTransId="{B1794EEA-4398-1B4F-98AD-D1B3CE1A1078}" sibTransId="{F86C85E0-4CD6-934F-8ABD-BE58CE842C65}"/>
    <dgm:cxn modelId="{3A6419F2-2640-9448-B8B7-3E8711AEF0DE}" type="presOf" srcId="{78FBF7D8-D5E7-7D48-9014-9EAE77A9A3F9}" destId="{FE1A6643-98B1-1C4A-BF22-E55401F64E83}" srcOrd="0" destOrd="0" presId="urn:microsoft.com/office/officeart/2005/8/layout/radial4"/>
    <dgm:cxn modelId="{73457AF4-365F-4D4A-A7A8-4981DEE18377}" srcId="{B982220B-00FD-F74A-8FF5-8E5983BABF7C}" destId="{3FA60905-49D2-9C44-AAE1-044B5FC62515}" srcOrd="4" destOrd="0" parTransId="{78FBF7D8-D5E7-7D48-9014-9EAE77A9A3F9}" sibTransId="{BC60C94D-74FB-D243-9CF3-4B458B7E71E1}"/>
    <dgm:cxn modelId="{B70C3CF5-4302-9E4B-9AF1-29B72DFBFE13}" type="presOf" srcId="{3FA60905-49D2-9C44-AAE1-044B5FC62515}" destId="{43D9D5CF-C16A-FE46-A5E4-F2D171294401}" srcOrd="0" destOrd="0" presId="urn:microsoft.com/office/officeart/2005/8/layout/radial4"/>
    <dgm:cxn modelId="{35E09DF9-E7D7-CD42-A085-178BEB884501}" type="presOf" srcId="{322EC63F-F8A4-6044-B172-CF6B5D1FD28C}" destId="{7337081C-73C5-AD42-8BAD-498FEBD70AF0}" srcOrd="0" destOrd="0" presId="urn:microsoft.com/office/officeart/2005/8/layout/radial4"/>
    <dgm:cxn modelId="{4BDCD083-40BD-EF42-A5A3-F0AC4F67DCD4}" type="presParOf" srcId="{4E681C0C-6D19-FA45-9432-498F27675B7C}" destId="{1088ACD0-4992-0B41-81DA-71C70661F5DB}" srcOrd="0" destOrd="0" presId="urn:microsoft.com/office/officeart/2005/8/layout/radial4"/>
    <dgm:cxn modelId="{3809403B-3C9C-0248-B3EE-8508E413E2C7}" type="presParOf" srcId="{4E681C0C-6D19-FA45-9432-498F27675B7C}" destId="{056D5543-F453-B141-B89F-142D8FA14506}" srcOrd="1" destOrd="0" presId="urn:microsoft.com/office/officeart/2005/8/layout/radial4"/>
    <dgm:cxn modelId="{85BDF3DD-6688-D64D-ACB5-7E6BD7970EEB}" type="presParOf" srcId="{4E681C0C-6D19-FA45-9432-498F27675B7C}" destId="{6E6799B1-0969-B642-801A-E240C0BD4B87}" srcOrd="2" destOrd="0" presId="urn:microsoft.com/office/officeart/2005/8/layout/radial4"/>
    <dgm:cxn modelId="{278ED417-DA67-CB47-AB20-FB7C714D4862}" type="presParOf" srcId="{4E681C0C-6D19-FA45-9432-498F27675B7C}" destId="{AB63EBEA-55B8-F841-A7A7-23376B7E5242}" srcOrd="3" destOrd="0" presId="urn:microsoft.com/office/officeart/2005/8/layout/radial4"/>
    <dgm:cxn modelId="{674A65E3-CC23-354B-A8C7-9595519BB77C}" type="presParOf" srcId="{4E681C0C-6D19-FA45-9432-498F27675B7C}" destId="{7337081C-73C5-AD42-8BAD-498FEBD70AF0}" srcOrd="4" destOrd="0" presId="urn:microsoft.com/office/officeart/2005/8/layout/radial4"/>
    <dgm:cxn modelId="{DEEFBEF4-8FC5-974F-B4B0-128CA768A10F}" type="presParOf" srcId="{4E681C0C-6D19-FA45-9432-498F27675B7C}" destId="{670F2A40-6CD5-984D-98F6-920C1C55068D}" srcOrd="5" destOrd="0" presId="urn:microsoft.com/office/officeart/2005/8/layout/radial4"/>
    <dgm:cxn modelId="{F1B8488A-F8C5-8B43-90D6-5658B2866B18}" type="presParOf" srcId="{4E681C0C-6D19-FA45-9432-498F27675B7C}" destId="{A204DBDB-1C99-8F4B-A423-76A8DAC71E93}" srcOrd="6" destOrd="0" presId="urn:microsoft.com/office/officeart/2005/8/layout/radial4"/>
    <dgm:cxn modelId="{70F9781A-6B42-DA43-9317-469DC2D48AD6}" type="presParOf" srcId="{4E681C0C-6D19-FA45-9432-498F27675B7C}" destId="{3FEF0001-E76A-4748-9746-2C869AA29E23}" srcOrd="7" destOrd="0" presId="urn:microsoft.com/office/officeart/2005/8/layout/radial4"/>
    <dgm:cxn modelId="{5781C3E6-3658-C04D-8B2A-B9F9C1AA0C13}" type="presParOf" srcId="{4E681C0C-6D19-FA45-9432-498F27675B7C}" destId="{2169982B-A3C5-314F-B8D5-B4B5DA319389}" srcOrd="8" destOrd="0" presId="urn:microsoft.com/office/officeart/2005/8/layout/radial4"/>
    <dgm:cxn modelId="{CCAB43C4-70D3-C247-AB34-F2FE68AF4DFB}" type="presParOf" srcId="{4E681C0C-6D19-FA45-9432-498F27675B7C}" destId="{FE1A6643-98B1-1C4A-BF22-E55401F64E83}" srcOrd="9" destOrd="0" presId="urn:microsoft.com/office/officeart/2005/8/layout/radial4"/>
    <dgm:cxn modelId="{3A0E7477-D8BD-9243-B8C7-83EFF5939AFB}" type="presParOf" srcId="{4E681C0C-6D19-FA45-9432-498F27675B7C}" destId="{43D9D5CF-C16A-FE46-A5E4-F2D171294401}" srcOrd="10" destOrd="0" presId="urn:microsoft.com/office/officeart/2005/8/layout/radial4"/>
    <dgm:cxn modelId="{AC14ECDC-6941-6240-8526-2BA3079E8FA1}" type="presParOf" srcId="{4E681C0C-6D19-FA45-9432-498F27675B7C}" destId="{F0E81D88-CEB7-2F47-91FB-415CCEBF48DC}" srcOrd="11" destOrd="0" presId="urn:microsoft.com/office/officeart/2005/8/layout/radial4"/>
    <dgm:cxn modelId="{0630B0C2-725B-6344-99F9-B9247ACA574B}" type="presParOf" srcId="{4E681C0C-6D19-FA45-9432-498F27675B7C}" destId="{07F76174-A8CC-9048-8675-AB422999763F}" srcOrd="1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88ACD0-4992-0B41-81DA-71C70661F5DB}">
      <dsp:nvSpPr>
        <dsp:cNvPr id="0" name=""/>
        <dsp:cNvSpPr/>
      </dsp:nvSpPr>
      <dsp:spPr>
        <a:xfrm>
          <a:off x="3255444" y="2578159"/>
          <a:ext cx="2109236" cy="210923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Evaluating research</a:t>
          </a:r>
        </a:p>
      </dsp:txBody>
      <dsp:txXfrm>
        <a:off x="3564334" y="2887049"/>
        <a:ext cx="1491456" cy="1491456"/>
      </dsp:txXfrm>
    </dsp:sp>
    <dsp:sp modelId="{056D5543-F453-B141-B89F-142D8FA14506}">
      <dsp:nvSpPr>
        <dsp:cNvPr id="0" name=""/>
        <dsp:cNvSpPr/>
      </dsp:nvSpPr>
      <dsp:spPr>
        <a:xfrm rot="10800000">
          <a:off x="1111887" y="3332211"/>
          <a:ext cx="2025661" cy="60113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6799B1-0969-B642-801A-E240C0BD4B87}">
      <dsp:nvSpPr>
        <dsp:cNvPr id="0" name=""/>
        <dsp:cNvSpPr/>
      </dsp:nvSpPr>
      <dsp:spPr>
        <a:xfrm>
          <a:off x="373654" y="3042191"/>
          <a:ext cx="1476465" cy="11811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Reliability</a:t>
          </a:r>
        </a:p>
      </dsp:txBody>
      <dsp:txXfrm>
        <a:off x="408249" y="3076786"/>
        <a:ext cx="1407275" cy="1111982"/>
      </dsp:txXfrm>
    </dsp:sp>
    <dsp:sp modelId="{AB63EBEA-55B8-F841-A7A7-23376B7E5242}">
      <dsp:nvSpPr>
        <dsp:cNvPr id="0" name=""/>
        <dsp:cNvSpPr/>
      </dsp:nvSpPr>
      <dsp:spPr>
        <a:xfrm rot="12960000">
          <a:off x="1529251" y="2047698"/>
          <a:ext cx="2025661" cy="60113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37081C-73C5-AD42-8BAD-498FEBD70AF0}">
      <dsp:nvSpPr>
        <dsp:cNvPr id="0" name=""/>
        <dsp:cNvSpPr/>
      </dsp:nvSpPr>
      <dsp:spPr>
        <a:xfrm>
          <a:off x="984451" y="1162351"/>
          <a:ext cx="1476465" cy="11811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 Validity</a:t>
          </a:r>
        </a:p>
      </dsp:txBody>
      <dsp:txXfrm>
        <a:off x="1019046" y="1196946"/>
        <a:ext cx="1407275" cy="1111982"/>
      </dsp:txXfrm>
    </dsp:sp>
    <dsp:sp modelId="{670F2A40-6CD5-984D-98F6-920C1C55068D}">
      <dsp:nvSpPr>
        <dsp:cNvPr id="0" name=""/>
        <dsp:cNvSpPr/>
      </dsp:nvSpPr>
      <dsp:spPr>
        <a:xfrm rot="15120000">
          <a:off x="2621923" y="1253825"/>
          <a:ext cx="2025661" cy="60113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04DBDB-1C99-8F4B-A423-76A8DAC71E93}">
      <dsp:nvSpPr>
        <dsp:cNvPr id="0" name=""/>
        <dsp:cNvSpPr/>
      </dsp:nvSpPr>
      <dsp:spPr>
        <a:xfrm>
          <a:off x="2583539" y="546"/>
          <a:ext cx="1476465" cy="11811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Ethics</a:t>
          </a:r>
        </a:p>
      </dsp:txBody>
      <dsp:txXfrm>
        <a:off x="2618134" y="35141"/>
        <a:ext cx="1407275" cy="1111982"/>
      </dsp:txXfrm>
    </dsp:sp>
    <dsp:sp modelId="{3FEF0001-E76A-4748-9746-2C869AA29E23}">
      <dsp:nvSpPr>
        <dsp:cNvPr id="0" name=""/>
        <dsp:cNvSpPr/>
      </dsp:nvSpPr>
      <dsp:spPr>
        <a:xfrm rot="17280000">
          <a:off x="3972540" y="1253825"/>
          <a:ext cx="2025661" cy="60113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9982B-A3C5-314F-B8D5-B4B5DA319389}">
      <dsp:nvSpPr>
        <dsp:cNvPr id="0" name=""/>
        <dsp:cNvSpPr/>
      </dsp:nvSpPr>
      <dsp:spPr>
        <a:xfrm>
          <a:off x="4560120" y="546"/>
          <a:ext cx="1476465" cy="11811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Generalisability to target population</a:t>
          </a:r>
        </a:p>
      </dsp:txBody>
      <dsp:txXfrm>
        <a:off x="4594715" y="35141"/>
        <a:ext cx="1407275" cy="1111982"/>
      </dsp:txXfrm>
    </dsp:sp>
    <dsp:sp modelId="{FE1A6643-98B1-1C4A-BF22-E55401F64E83}">
      <dsp:nvSpPr>
        <dsp:cNvPr id="0" name=""/>
        <dsp:cNvSpPr/>
      </dsp:nvSpPr>
      <dsp:spPr>
        <a:xfrm rot="19440000">
          <a:off x="5065212" y="2047698"/>
          <a:ext cx="2025661" cy="60113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D9D5CF-C16A-FE46-A5E4-F2D171294401}">
      <dsp:nvSpPr>
        <dsp:cNvPr id="0" name=""/>
        <dsp:cNvSpPr/>
      </dsp:nvSpPr>
      <dsp:spPr>
        <a:xfrm>
          <a:off x="6159207" y="1162351"/>
          <a:ext cx="1476465" cy="11811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Methodological flaws</a:t>
          </a:r>
        </a:p>
      </dsp:txBody>
      <dsp:txXfrm>
        <a:off x="6193802" y="1196946"/>
        <a:ext cx="1407275" cy="1111982"/>
      </dsp:txXfrm>
    </dsp:sp>
    <dsp:sp modelId="{F0E81D88-CEB7-2F47-91FB-415CCEBF48DC}">
      <dsp:nvSpPr>
        <dsp:cNvPr id="0" name=""/>
        <dsp:cNvSpPr/>
      </dsp:nvSpPr>
      <dsp:spPr>
        <a:xfrm>
          <a:off x="5482576" y="3332211"/>
          <a:ext cx="2025661" cy="601132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F76174-A8CC-9048-8675-AB422999763F}">
      <dsp:nvSpPr>
        <dsp:cNvPr id="0" name=""/>
        <dsp:cNvSpPr/>
      </dsp:nvSpPr>
      <dsp:spPr>
        <a:xfrm>
          <a:off x="6770004" y="3042191"/>
          <a:ext cx="1476465" cy="11811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kern="1200" dirty="0"/>
            <a:t>Comparing to past research</a:t>
          </a:r>
        </a:p>
      </dsp:txBody>
      <dsp:txXfrm>
        <a:off x="6804599" y="3076786"/>
        <a:ext cx="1407275" cy="11119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89A3D-5FA8-6B42-92CA-B793AF9680B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A3A09D-58FF-8544-8F30-659E369A3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64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19D573-4650-784F-BCB3-D758643C5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787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39003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8" name="Rectangle 7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208929"/>
            <a:ext cx="7278624" cy="10486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0" y="5257800"/>
            <a:ext cx="7278624" cy="62179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100000"/>
              <a:buFont typeface="Wingdings 2" pitchFamily="18" charset="2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0" y="390526"/>
            <a:ext cx="7339584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2200" b="0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91584" y="6356351"/>
            <a:ext cx="6315456" cy="365125"/>
          </a:xfrm>
        </p:spPr>
        <p:txBody>
          <a:bodyPr vert="horz" lIns="91440" tIns="45720" rIns="91440" bIns="45720" rtlCol="0" anchor="ctr"/>
          <a:lstStyle>
            <a:lvl1pPr marL="0" algn="l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08659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1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896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249271" y="268288"/>
            <a:ext cx="7559040" cy="2560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67200" y="4171950"/>
            <a:ext cx="7277225" cy="1085850"/>
          </a:xfrm>
        </p:spPr>
        <p:txBody>
          <a:bodyPr>
            <a:normAutofit/>
          </a:bodyPr>
          <a:lstStyle>
            <a:lvl1pPr>
              <a:defRPr sz="460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67201" y="5257800"/>
            <a:ext cx="7277224" cy="618565"/>
          </a:xfrm>
        </p:spPr>
        <p:txBody>
          <a:bodyPr>
            <a:normAutofit/>
          </a:bodyPr>
          <a:lstStyle>
            <a:lvl1pPr marL="0" indent="0" algn="l">
              <a:spcBef>
                <a:spcPct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spcBef>
                <a:spcPct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68801" y="389966"/>
            <a:ext cx="7333129" cy="365125"/>
          </a:xfrm>
        </p:spPr>
        <p:txBody>
          <a:bodyPr/>
          <a:lstStyle>
            <a:lvl1pPr>
              <a:defRPr sz="2200" b="0" baseline="0">
                <a:solidFill>
                  <a:schemeClr val="bg1"/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85130" y="6356351"/>
            <a:ext cx="631214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020612" y="6356351"/>
            <a:ext cx="914400" cy="365125"/>
          </a:xfr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100" b="1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267201" y="2877671"/>
            <a:ext cx="7529156" cy="128016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8587" y="268289"/>
            <a:ext cx="243840" cy="388685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344535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4565" y="914400"/>
            <a:ext cx="8677836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04565" y="2209801"/>
            <a:ext cx="8677836" cy="391636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16141" y="6356351"/>
            <a:ext cx="2336800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04564" y="6356351"/>
            <a:ext cx="65691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42259" y="361017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3" y="1976718"/>
            <a:ext cx="2194560" cy="46257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477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345270" y="268288"/>
            <a:ext cx="1465431" cy="635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46401" y="3429000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46401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16800" y="6356351"/>
            <a:ext cx="2163483" cy="365125"/>
          </a:xfrm>
        </p:spPr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70821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7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9833" y="4773706"/>
            <a:ext cx="3962400" cy="18445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0472" y="3429001"/>
            <a:ext cx="6621928" cy="1398494"/>
          </a:xfrm>
        </p:spPr>
        <p:txBody>
          <a:bodyPr anchor="b" anchorCtr="0"/>
          <a:lstStyle>
            <a:lvl1pPr algn="r">
              <a:defRPr sz="4600" b="0" cap="none" baseline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60472" y="4824414"/>
            <a:ext cx="6621928" cy="1320800"/>
          </a:xfrm>
        </p:spPr>
        <p:txBody>
          <a:bodyPr anchor="t" anchorCtr="0">
            <a:normAutofit/>
          </a:bodyPr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8283" y="6104966"/>
            <a:ext cx="675341" cy="365125"/>
          </a:xfrm>
        </p:spPr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59832" y="268288"/>
            <a:ext cx="3962400" cy="44386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4523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0992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206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9851136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05855" y="2054132"/>
            <a:ext cx="4754880" cy="639762"/>
          </a:xfrm>
        </p:spPr>
        <p:txBody>
          <a:bodyPr anchor="b">
            <a:noAutofit/>
          </a:bodyPr>
          <a:lstStyle>
            <a:lvl1pPr marL="0" indent="0" algn="ctr">
              <a:spcBef>
                <a:spcPct val="0"/>
              </a:spcBef>
              <a:buNone/>
              <a:defRPr sz="20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05855" y="2689412"/>
            <a:ext cx="4754880" cy="343675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164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99" y="2214562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609599" y="4224973"/>
            <a:ext cx="9861551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1811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0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3"/>
            <a:ext cx="4754880" cy="3911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07616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914400"/>
            <a:ext cx="9855201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0992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2"/>
          <p:cNvSpPr>
            <a:spLocks noGrp="1"/>
          </p:cNvSpPr>
          <p:nvPr>
            <p:ph sz="half" idx="13"/>
          </p:nvPr>
        </p:nvSpPr>
        <p:spPr>
          <a:xfrm>
            <a:off x="570992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1" name="Content Placeholder 2"/>
          <p:cNvSpPr>
            <a:spLocks noGrp="1"/>
          </p:cNvSpPr>
          <p:nvPr>
            <p:ph sz="half" idx="14"/>
          </p:nvPr>
        </p:nvSpPr>
        <p:spPr>
          <a:xfrm>
            <a:off x="609600" y="2214562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12" name="Content Placeholder 2"/>
          <p:cNvSpPr>
            <a:spLocks noGrp="1"/>
          </p:cNvSpPr>
          <p:nvPr>
            <p:ph sz="half" idx="15"/>
          </p:nvPr>
        </p:nvSpPr>
        <p:spPr>
          <a:xfrm>
            <a:off x="609600" y="4224973"/>
            <a:ext cx="4754880" cy="19202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34479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0865225" y="268288"/>
            <a:ext cx="957431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894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14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9403" y="990600"/>
            <a:ext cx="4754880" cy="51355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329081" y="268288"/>
            <a:ext cx="5486400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995082"/>
            <a:ext cx="4754880" cy="1035424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057401"/>
            <a:ext cx="4754880" cy="3657601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15153" y="6124015"/>
            <a:ext cx="2336800" cy="365125"/>
          </a:xfrm>
        </p:spPr>
        <p:txBody>
          <a:bodyPr/>
          <a:lstStyle>
            <a:lvl1pPr algn="l">
              <a:defRPr/>
            </a:lvl1pPr>
          </a:lstStyle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33083" y="6356351"/>
            <a:ext cx="51517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6347011" y="990600"/>
            <a:ext cx="5462016" cy="561181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76510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9622367" y="268288"/>
            <a:ext cx="2185943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9144000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844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847295" y="268288"/>
            <a:ext cx="961015" cy="36393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717" y="4267200"/>
            <a:ext cx="8636000" cy="566738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832" y="268288"/>
            <a:ext cx="4008968" cy="363931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1717" y="4840942"/>
            <a:ext cx="8633883" cy="130427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2"/>
          <p:cNvSpPr>
            <a:spLocks noGrp="1"/>
          </p:cNvSpPr>
          <p:nvPr>
            <p:ph type="pic" idx="13"/>
          </p:nvPr>
        </p:nvSpPr>
        <p:spPr>
          <a:xfrm>
            <a:off x="4470400" y="268289"/>
            <a:ext cx="6269317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1" name="Picture Placeholder 2"/>
          <p:cNvSpPr>
            <a:spLocks noGrp="1"/>
          </p:cNvSpPr>
          <p:nvPr>
            <p:ph type="pic" idx="14"/>
          </p:nvPr>
        </p:nvSpPr>
        <p:spPr>
          <a:xfrm>
            <a:off x="4470400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  <p:sp>
        <p:nvSpPr>
          <p:cNvPr id="12" name="Picture Placeholder 2"/>
          <p:cNvSpPr>
            <a:spLocks noGrp="1"/>
          </p:cNvSpPr>
          <p:nvPr>
            <p:ph type="pic" idx="15"/>
          </p:nvPr>
        </p:nvSpPr>
        <p:spPr>
          <a:xfrm>
            <a:off x="7667333" y="2131936"/>
            <a:ext cx="3072384" cy="177566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412837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616141" y="268288"/>
            <a:ext cx="2194560" cy="1645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4465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865225" y="268288"/>
            <a:ext cx="957431" cy="56692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58399" y="1035425"/>
            <a:ext cx="1763060" cy="5090739"/>
          </a:xfrm>
        </p:spPr>
        <p:txBody>
          <a:bodyPr vert="eaVert" anchor="t" anchorCtr="0"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035425"/>
            <a:ext cx="8026400" cy="5109789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9929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9403-0A70-6342-AD93-9768B2D93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B54347-3F03-124F-96EB-030C73460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5659E-A2D1-B748-A249-5D5B4D67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866F3E-DC9C-7A42-B6AA-EE9329C57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2BB6A-4459-D440-A462-AB491D2E9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1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3771-2C5D-324E-96C1-1D073135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9ADD6-06C2-0140-BC76-1998A0BB2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9CD7A-B170-7644-97DA-49A85FFE6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B10CC-78FB-B046-99D1-DC57EDA1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0E833-292B-2849-B271-F8640E73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30166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6C990-558A-AE46-80F7-D4F77B03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4EDAA-4286-C746-BE37-6BAFABA43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4AA73-B1E1-2D41-9458-0FA447D7E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DFF87-2C57-4849-8357-2EF037D32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753EE-FC36-7C41-B550-E9A2EA45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3143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475A6-5B2E-5D4D-B8C3-87CE4BCEA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4974F-F3B7-BE45-9CE2-3F5CAD14F6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57523-300B-2945-B9DE-50200343B8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7CC82-CAA8-DC46-ADE1-A1C394DD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5D147-F3C5-0C42-9AFB-A75140B7E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7E03AD-15F3-414D-930C-1B5AEABC8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37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1B44-9F47-A149-A10A-1687F36EC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391B29-62C9-564B-A7C6-17C8E87FA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3DD78-19AC-F244-84D1-3AAA433A27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1DD53-EFE3-404D-B262-89B66C74DE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ACEBA4-5169-8B4B-92C3-0A0D1E0F9A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6305B-45B6-0040-84CF-FF35B78E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B62CE6-4603-A948-A3DB-46FA184B7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B122EF-0C06-EE45-BAB2-384B428C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4080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26B2-FE7B-FA44-901F-604F43CEC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ADD536-C96F-D846-93FC-DBA7EB65C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3951AF-46E5-964D-82E4-6EC18DA2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21BC4-FBA5-9545-800E-B783DDAC8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960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0D2B45-6D3E-5140-9E1A-EA6BD1F75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CCA7E1-6DB7-5348-9A38-94A036A21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C71B7-DFE4-0741-A4BB-22829005B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5065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1B3DB-7E96-B241-951E-E0213CB5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5E2D9-6211-4F4B-90D8-E32643AD18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E4D28-C849-1F4E-BEB1-4232BBBD46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73FAF-7209-E043-807C-C17A5520B8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19F006-D4FB-EE42-A616-30D03C31B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3CA3F-1808-CB4E-942B-E869B8CE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91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BFB93-FFEA-6B43-AC94-7159009E4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F7D9EC-D130-1946-8998-11940C629B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D7668-5870-B446-A751-8DC345898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0E1C2-86D2-B740-868A-F6676DD51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CBE31-E8B5-BF43-82AD-2FF081CD7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9355F8-0EDC-6D4C-85CC-3AC3BB229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670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E170-EF20-594A-A449-DC9019749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584A1D-6C2C-2945-94AA-730A7F67CF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F1DD28-B73A-3B4D-B817-2A14D701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4C8CE-002D-0947-9AC3-A3D63D6D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96C238-FC97-594A-8BE5-F401E278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8402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E7AD74-D535-EE47-9F94-E8712FCCB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504AE-ACBE-694B-8C8A-48DA810EC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42C47-4ACA-904D-A9F0-5427F9FEE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3A839-90C6-CA44-AA4A-5466C0449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918E6-8954-6145-826C-A4DF11243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94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914400"/>
            <a:ext cx="8677836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209801"/>
            <a:ext cx="8677836" cy="3916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598212" y="6356351"/>
            <a:ext cx="233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EB507C1E-5E0D-3E4D-8113-714502558754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3083" y="6356351"/>
            <a:ext cx="80094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08659" y="361017"/>
            <a:ext cx="6753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 b="1">
                <a:solidFill>
                  <a:schemeClr val="bg1"/>
                </a:solidFill>
              </a:defRPr>
            </a:lvl1pPr>
          </a:lstStyle>
          <a:p>
            <a:fld id="{CC611861-616C-A14E-8244-40FC50D01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48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1800"/>
        </a:spcBef>
        <a:buClr>
          <a:schemeClr val="accent1"/>
        </a:buClr>
        <a:buSzPct val="100000"/>
        <a:buFont typeface="Wingdings 2" pitchFamily="18" charset="2"/>
        <a:buChar char="¡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50000"/>
          </a:schemeClr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100000"/>
        <a:buFont typeface="Wingdings 2" pitchFamily="18" charset="2"/>
        <a:buChar char="¡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1377950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6pPr>
      <a:lvl7pPr marL="1603375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7pPr>
      <a:lvl8pPr marL="1830388" indent="-228600" algn="l" defTabSz="914400" rtl="0" eaLnBrk="1" latinLnBrk="0" hangingPunct="1">
        <a:spcBef>
          <a:spcPct val="20000"/>
        </a:spcBef>
        <a:buClr>
          <a:schemeClr val="accent1">
            <a:lumMod val="50000"/>
          </a:schemeClr>
        </a:buClr>
        <a:buFont typeface="Wingdings 2" pitchFamily="18" charset="2"/>
        <a:buChar char=""/>
        <a:defRPr lang="en-US" sz="1800" kern="1200" dirty="0" smtClean="0">
          <a:solidFill>
            <a:schemeClr val="tx2"/>
          </a:solidFill>
          <a:latin typeface="+mn-lt"/>
          <a:ea typeface="+mn-ea"/>
          <a:cs typeface="+mn-cs"/>
        </a:defRPr>
      </a:lvl8pPr>
      <a:lvl9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Wingdings 2" pitchFamily="18" charset="2"/>
        <a:buChar char=""/>
        <a:defRPr lang="en-US" sz="1800" kern="1200" dirty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DC31F3-683C-D045-A95B-0EC27CA2C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8EF1DC-57E7-904E-98BF-D5D10293D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47479-C980-A84E-A2E5-5881B9D50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AACE0-986B-954A-BDE6-68B4D7D9F963}" type="datetimeFigureOut">
              <a:rPr lang="en-US" smtClean="0"/>
              <a:t>8/10/21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25FE8-A678-014F-B1F7-4D6BC1F62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7D8D9-8D56-9242-B7FA-28E157121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85387-20FC-2648-8F1D-0C359D3EA0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40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157" y="3837366"/>
            <a:ext cx="10187469" cy="1398494"/>
          </a:xfrm>
        </p:spPr>
        <p:txBody>
          <a:bodyPr>
            <a:noAutofit/>
          </a:bodyPr>
          <a:lstStyle/>
          <a:p>
            <a:pPr algn="l"/>
            <a:br>
              <a:rPr lang="en-US" sz="5400" b="1" dirty="0">
                <a:solidFill>
                  <a:schemeClr val="tx1"/>
                </a:solidFill>
              </a:rPr>
            </a:br>
            <a:r>
              <a:rPr lang="en-US" sz="5400" b="1" dirty="0">
                <a:solidFill>
                  <a:schemeClr val="tx1"/>
                </a:solidFill>
              </a:rPr>
              <a:t>DO NOW</a:t>
            </a:r>
            <a:br>
              <a:rPr lang="en-US" sz="5400" b="1" dirty="0">
                <a:solidFill>
                  <a:schemeClr val="tx1"/>
                </a:solidFill>
              </a:rPr>
            </a:br>
            <a:br>
              <a:rPr lang="en-US" sz="54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1.Define the independent, </a:t>
            </a:r>
            <a:r>
              <a:rPr lang="en-US" sz="2800" b="1" dirty="0" err="1">
                <a:solidFill>
                  <a:schemeClr val="tx1"/>
                </a:solidFill>
              </a:rPr>
              <a:t>dependant</a:t>
            </a:r>
            <a:r>
              <a:rPr lang="en-US" sz="2800" b="1" dirty="0">
                <a:solidFill>
                  <a:schemeClr val="tx1"/>
                </a:solidFill>
              </a:rPr>
              <a:t> and extraneous variables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2. What does the term operationalize mean?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3. What is the difference between experimental and non-experimental research?</a:t>
            </a:r>
            <a:br>
              <a:rPr lang="en-US" sz="2800" b="1" dirty="0">
                <a:solidFill>
                  <a:schemeClr val="tx1"/>
                </a:solidFill>
              </a:rPr>
            </a:br>
            <a:r>
              <a:rPr lang="en-US" sz="2800" b="1" dirty="0">
                <a:solidFill>
                  <a:schemeClr val="tx1"/>
                </a:solidFill>
              </a:rPr>
              <a:t>4. Name and describe 4 ways of data collection</a:t>
            </a:r>
            <a:br>
              <a:rPr lang="en-US" sz="2800" b="1" dirty="0">
                <a:solidFill>
                  <a:schemeClr val="tx1"/>
                </a:solidFill>
              </a:rPr>
            </a:br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C61E9-95A9-7846-B140-C4F85CDE326A}"/>
              </a:ext>
            </a:extLst>
          </p:cNvPr>
          <p:cNvSpPr txBox="1"/>
          <p:nvPr/>
        </p:nvSpPr>
        <p:spPr>
          <a:xfrm>
            <a:off x="8048844" y="4397008"/>
            <a:ext cx="2197290" cy="230832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Reminders: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Phones away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Bags on floor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Books out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Pens out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Whiteboard</a:t>
            </a:r>
          </a:p>
        </p:txBody>
      </p:sp>
    </p:spTree>
    <p:extLst>
      <p:ext uri="{BB962C8B-B14F-4D97-AF65-F5344CB8AC3E}">
        <p14:creationId xmlns:p14="http://schemas.microsoft.com/office/powerpoint/2010/main" val="2998335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D93BF-F70F-4D39-82F9-8703EAA06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8996" y="283265"/>
            <a:ext cx="6621928" cy="1398494"/>
          </a:xfrm>
        </p:spPr>
        <p:txBody>
          <a:bodyPr/>
          <a:lstStyle/>
          <a:p>
            <a:r>
              <a:rPr lang="en-AU" dirty="0"/>
              <a:t>Do Now Answers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CE55F-0DA9-4904-9DB5-46944D813A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648" y="2146852"/>
            <a:ext cx="8857681" cy="3998362"/>
          </a:xfrm>
        </p:spPr>
        <p:txBody>
          <a:bodyPr>
            <a:normAutofit fontScale="77500" lnSpcReduction="20000"/>
          </a:bodyPr>
          <a:lstStyle/>
          <a:p>
            <a:pPr marL="342900" indent="-342900" algn="l">
              <a:buAutoNum type="arabicPeriod"/>
            </a:pPr>
            <a:r>
              <a:rPr lang="en-AU" sz="2200" dirty="0"/>
              <a:t>IV = Manipulated DV = Measured EV = may impact results so try to control</a:t>
            </a:r>
          </a:p>
          <a:p>
            <a:pPr marL="342900" indent="-342900" algn="l">
              <a:buAutoNum type="arabicPeriod"/>
            </a:pPr>
            <a:endParaRPr lang="en-AU" sz="2200" dirty="0"/>
          </a:p>
          <a:p>
            <a:pPr marL="342900" indent="-342900" algn="l">
              <a:buAutoNum type="arabicPeriod"/>
            </a:pPr>
            <a:r>
              <a:rPr lang="en-AU" sz="2200" dirty="0"/>
              <a:t>To make a construct specific and measurable</a:t>
            </a:r>
          </a:p>
          <a:p>
            <a:pPr marL="342900" indent="-342900" algn="l">
              <a:buAutoNum type="arabicPeriod"/>
            </a:pPr>
            <a:endParaRPr lang="en-AU" sz="2200" dirty="0"/>
          </a:p>
          <a:p>
            <a:pPr marL="342900" indent="-342900" algn="l">
              <a:buAutoNum type="arabicPeriod"/>
            </a:pPr>
            <a:r>
              <a:rPr lang="en-AU" sz="2200" dirty="0"/>
              <a:t> Experimental = tests cause and effect has an IV and </a:t>
            </a:r>
            <a:r>
              <a:rPr lang="en-AU" sz="2200" dirty="0" err="1"/>
              <a:t>Dv</a:t>
            </a:r>
            <a:r>
              <a:rPr lang="en-AU" sz="2200" dirty="0"/>
              <a:t>. </a:t>
            </a:r>
          </a:p>
          <a:p>
            <a:pPr algn="l"/>
            <a:r>
              <a:rPr lang="en-AU" sz="2200" dirty="0"/>
              <a:t>Non-Experimental = measuring the relationship of two variables</a:t>
            </a:r>
          </a:p>
          <a:p>
            <a:pPr algn="l"/>
            <a:endParaRPr lang="en-AU" sz="2200" dirty="0"/>
          </a:p>
          <a:p>
            <a:pPr marL="342900" indent="-342900" algn="l">
              <a:buAutoNum type="arabicPeriod" startAt="4"/>
            </a:pPr>
            <a:r>
              <a:rPr lang="en-AU" sz="2200" dirty="0"/>
              <a:t>Survey, Interview, Observation, Case Study</a:t>
            </a:r>
          </a:p>
          <a:p>
            <a:pPr marL="342900" indent="-342900" algn="l">
              <a:buAutoNum type="arabicPeriod" startAt="4"/>
            </a:pPr>
            <a:endParaRPr lang="en-AU" sz="2200" dirty="0"/>
          </a:p>
          <a:p>
            <a:pPr algn="l"/>
            <a:r>
              <a:rPr lang="en-AU" sz="2200" dirty="0"/>
              <a:t>Survey – Series of open and closed questions requiring a written response by participants</a:t>
            </a:r>
          </a:p>
          <a:p>
            <a:pPr algn="l"/>
            <a:r>
              <a:rPr lang="en-AU" sz="2200" dirty="0"/>
              <a:t>Interview – Series of open and closed questions requiring a verbal response by participants</a:t>
            </a:r>
          </a:p>
          <a:p>
            <a:pPr algn="l"/>
            <a:r>
              <a:rPr lang="en-AU" sz="2200" dirty="0"/>
              <a:t>Observations – 2 or more researchers watch and either tally behaviours and code them or describe the behaviours through a report</a:t>
            </a:r>
          </a:p>
          <a:p>
            <a:pPr algn="l"/>
            <a:r>
              <a:rPr lang="en-AU" sz="2200" dirty="0"/>
              <a:t>Case Study – where one phenomena or person is looked at in great detail using multiple methods of data collection ( surveys, brain scans, observations etc)</a:t>
            </a:r>
          </a:p>
          <a:p>
            <a:pPr algn="l"/>
            <a:endParaRPr lang="en-AU" sz="2200" dirty="0"/>
          </a:p>
          <a:p>
            <a:pPr algn="l"/>
            <a:endParaRPr lang="en-AU" sz="2200" dirty="0"/>
          </a:p>
          <a:p>
            <a:pPr algn="l"/>
            <a:endParaRPr lang="en-AU" dirty="0"/>
          </a:p>
          <a:p>
            <a:pPr marL="342900" indent="-342900" algn="l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21701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0DBE5C2-F080-DC49-A640-7B1828C235E5}"/>
              </a:ext>
            </a:extLst>
          </p:cNvPr>
          <p:cNvGraphicFramePr>
            <a:graphicFrameLocks noGrp="1"/>
          </p:cNvGraphicFramePr>
          <p:nvPr/>
        </p:nvGraphicFramePr>
        <p:xfrm>
          <a:off x="188121" y="2303082"/>
          <a:ext cx="10167828" cy="283464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541957">
                  <a:extLst>
                    <a:ext uri="{9D8B030D-6E8A-4147-A177-3AD203B41FA5}">
                      <a16:colId xmlns:a16="http://schemas.microsoft.com/office/drawing/2014/main" val="212523115"/>
                    </a:ext>
                  </a:extLst>
                </a:gridCol>
                <a:gridCol w="2163469">
                  <a:extLst>
                    <a:ext uri="{9D8B030D-6E8A-4147-A177-3AD203B41FA5}">
                      <a16:colId xmlns:a16="http://schemas.microsoft.com/office/drawing/2014/main" val="2541539036"/>
                    </a:ext>
                  </a:extLst>
                </a:gridCol>
                <a:gridCol w="2920445">
                  <a:extLst>
                    <a:ext uri="{9D8B030D-6E8A-4147-A177-3AD203B41FA5}">
                      <a16:colId xmlns:a16="http://schemas.microsoft.com/office/drawing/2014/main" val="3104919356"/>
                    </a:ext>
                  </a:extLst>
                </a:gridCol>
                <a:gridCol w="2541957">
                  <a:extLst>
                    <a:ext uri="{9D8B030D-6E8A-4147-A177-3AD203B41FA5}">
                      <a16:colId xmlns:a16="http://schemas.microsoft.com/office/drawing/2014/main" val="1743350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Convenience 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Volunteer sampling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baseline="0" dirty="0"/>
                        <a:t>Stratified sampling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161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b="1" dirty="0"/>
                        <a:t>How are the participants selected?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8051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b="1" dirty="0"/>
                        <a:t>Advantages</a:t>
                      </a:r>
                      <a:r>
                        <a:rPr lang="en-AU" b="1" baseline="0" dirty="0"/>
                        <a:t> of the method</a:t>
                      </a:r>
                      <a:endParaRPr lang="en-A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341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b="1" dirty="0"/>
                        <a:t>Disadvantages of the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04223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6EA71F-A640-284C-AFBC-148AB7FF428F}"/>
              </a:ext>
            </a:extLst>
          </p:cNvPr>
          <p:cNvSpPr txBox="1"/>
          <p:nvPr/>
        </p:nvSpPr>
        <p:spPr>
          <a:xfrm>
            <a:off x="1366576" y="401934"/>
            <a:ext cx="31630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DO NOW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F7C35C-B8E0-D043-972D-20209818C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603" y="222640"/>
            <a:ext cx="2515437" cy="192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953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7965-EEB1-5449-B321-C2D0A0046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942" y="2879678"/>
            <a:ext cx="8677836" cy="1143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Identify a weakness of random sampling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79B44C-845A-AA4C-BA64-CDEF9C74453F}"/>
              </a:ext>
            </a:extLst>
          </p:cNvPr>
          <p:cNvSpPr txBox="1"/>
          <p:nvPr/>
        </p:nvSpPr>
        <p:spPr>
          <a:xfrm rot="16200000">
            <a:off x="-1070435" y="1070437"/>
            <a:ext cx="2479425" cy="338554"/>
          </a:xfrm>
          <a:prstGeom prst="rect">
            <a:avLst/>
          </a:prstGeom>
          <a:solidFill>
            <a:srgbClr val="B4E7E6"/>
          </a:solidFill>
        </p:spPr>
        <p:txBody>
          <a:bodyPr wrap="square" rtlCol="0">
            <a:spAutoFit/>
          </a:bodyPr>
          <a:lstStyle/>
          <a:p>
            <a:r>
              <a:rPr lang="en-AU" sz="1600" b="1" dirty="0"/>
              <a:t>Activate prior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83827F-D2C8-0A4D-B1FC-4A4068F28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603" y="222640"/>
            <a:ext cx="2515437" cy="192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98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7965-EEB1-5449-B321-C2D0A0046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942" y="2879678"/>
            <a:ext cx="8677836" cy="11430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are some other designs when planning research in psychology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79B44C-845A-AA4C-BA64-CDEF9C74453F}"/>
              </a:ext>
            </a:extLst>
          </p:cNvPr>
          <p:cNvSpPr txBox="1"/>
          <p:nvPr/>
        </p:nvSpPr>
        <p:spPr>
          <a:xfrm rot="16200000">
            <a:off x="-1070435" y="1070437"/>
            <a:ext cx="2479425" cy="338554"/>
          </a:xfrm>
          <a:prstGeom prst="rect">
            <a:avLst/>
          </a:prstGeom>
          <a:solidFill>
            <a:srgbClr val="B4E7E6"/>
          </a:solidFill>
        </p:spPr>
        <p:txBody>
          <a:bodyPr wrap="square" rtlCol="0">
            <a:spAutoFit/>
          </a:bodyPr>
          <a:lstStyle/>
          <a:p>
            <a:r>
              <a:rPr lang="en-AU" sz="1600" b="1" dirty="0"/>
              <a:t>Activate prior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F6E3EA-E174-C245-8DB4-7A2C5023A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2603" y="222640"/>
            <a:ext cx="2515437" cy="1927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507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7965-EEB1-5449-B321-C2D0A0046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942" y="2879678"/>
            <a:ext cx="8677836" cy="11430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Define extraneous variable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79B44C-845A-AA4C-BA64-CDEF9C74453F}"/>
              </a:ext>
            </a:extLst>
          </p:cNvPr>
          <p:cNvSpPr txBox="1"/>
          <p:nvPr/>
        </p:nvSpPr>
        <p:spPr>
          <a:xfrm rot="16200000">
            <a:off x="-1070435" y="1070437"/>
            <a:ext cx="2479425" cy="338554"/>
          </a:xfrm>
          <a:prstGeom prst="rect">
            <a:avLst/>
          </a:prstGeom>
          <a:solidFill>
            <a:srgbClr val="B4E7E6"/>
          </a:solidFill>
        </p:spPr>
        <p:txBody>
          <a:bodyPr wrap="square" rtlCol="0">
            <a:spAutoFit/>
          </a:bodyPr>
          <a:lstStyle/>
          <a:p>
            <a:r>
              <a:rPr lang="en-AU" sz="1600" b="1" dirty="0"/>
              <a:t>Activate prior learning</a:t>
            </a:r>
          </a:p>
        </p:txBody>
      </p:sp>
    </p:spTree>
    <p:extLst>
      <p:ext uri="{BB962C8B-B14F-4D97-AF65-F5344CB8AC3E}">
        <p14:creationId xmlns:p14="http://schemas.microsoft.com/office/powerpoint/2010/main" val="161494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9F42-FDA2-1343-9CBA-A19B6C0BD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000" b="1" dirty="0">
                <a:solidFill>
                  <a:schemeClr val="tx1"/>
                </a:solidFill>
              </a:rPr>
              <a:t>RESEARCH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7F0D4-9248-BF4C-951B-D99043FF6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115" y="2488818"/>
            <a:ext cx="8677836" cy="3916363"/>
          </a:xfrm>
        </p:spPr>
        <p:txBody>
          <a:bodyPr/>
          <a:lstStyle/>
          <a:p>
            <a:pPr marL="0" indent="0">
              <a:buNone/>
            </a:pPr>
            <a:r>
              <a:rPr lang="en-US" sz="2800" b="1" u="sng" dirty="0"/>
              <a:t>Syllabus points:</a:t>
            </a:r>
          </a:p>
          <a:p>
            <a:pPr marL="0" indent="0">
              <a:buNone/>
            </a:pPr>
            <a:r>
              <a:rPr lang="en-US" sz="2800" dirty="0"/>
              <a:t>Participant rights and the role of the researcher</a:t>
            </a:r>
          </a:p>
          <a:p>
            <a:pPr marL="0" indent="0">
              <a:buNone/>
            </a:pPr>
            <a:r>
              <a:rPr lang="en-US" sz="2800" dirty="0"/>
              <a:t>Sources of error in research </a:t>
            </a:r>
          </a:p>
          <a:p>
            <a:pPr marL="0" indent="0">
              <a:buNone/>
            </a:pPr>
            <a:r>
              <a:rPr lang="en-US" sz="2800" dirty="0"/>
              <a:t>Evaluating research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767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E1372-3B7C-4BBA-8497-F72E6A33EFB2}"/>
              </a:ext>
            </a:extLst>
          </p:cNvPr>
          <p:cNvSpPr txBox="1"/>
          <p:nvPr/>
        </p:nvSpPr>
        <p:spPr>
          <a:xfrm>
            <a:off x="1307567" y="1030414"/>
            <a:ext cx="8378687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b="1" dirty="0"/>
              <a:t>Why do researchers conduct research?</a:t>
            </a:r>
          </a:p>
          <a:p>
            <a:endParaRPr lang="en-AU" sz="4400" b="1" dirty="0"/>
          </a:p>
          <a:p>
            <a:r>
              <a:rPr lang="en-AU" sz="4400" b="1" dirty="0"/>
              <a:t>What topics would you want to research?</a:t>
            </a:r>
          </a:p>
          <a:p>
            <a:endParaRPr lang="en-AU" sz="4400" b="1" dirty="0"/>
          </a:p>
          <a:p>
            <a:r>
              <a:rPr lang="en-AU" sz="4400" dirty="0"/>
              <a:t>Be prepared to share</a:t>
            </a:r>
          </a:p>
        </p:txBody>
      </p:sp>
    </p:spTree>
    <p:extLst>
      <p:ext uri="{BB962C8B-B14F-4D97-AF65-F5344CB8AC3E}">
        <p14:creationId xmlns:p14="http://schemas.microsoft.com/office/powerpoint/2010/main" val="4221680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EE1372-3B7C-4BBA-8497-F72E6A33EFB2}"/>
              </a:ext>
            </a:extLst>
          </p:cNvPr>
          <p:cNvSpPr txBox="1"/>
          <p:nvPr/>
        </p:nvSpPr>
        <p:spPr>
          <a:xfrm>
            <a:off x="969065" y="998883"/>
            <a:ext cx="837868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7200" b="1" dirty="0"/>
              <a:t>What terms are used to evaluate a piece of research?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819683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07656-53C3-6C4F-87C1-03AAF2AB3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43242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What do we know about the terms: </a:t>
            </a:r>
            <a:br>
              <a:rPr lang="en-US" b="1" dirty="0"/>
            </a:br>
            <a:r>
              <a:rPr lang="en-US" b="1" dirty="0"/>
              <a:t>evaluation, reliability, validity and accuracy?</a:t>
            </a:r>
            <a:br>
              <a:rPr lang="en-US" b="1" dirty="0"/>
            </a:br>
            <a:br>
              <a:rPr lang="en-US" b="1" dirty="0"/>
            </a:br>
            <a:r>
              <a:rPr lang="en-US" sz="3600" b="1" i="1" dirty="0"/>
              <a:t>Think, Pair, Share – on your whiteboard write the key words that come to mind</a:t>
            </a:r>
            <a:endParaRPr lang="en-US" b="1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D962CD-31BD-0E4A-8206-7D6D4720F0D3}"/>
              </a:ext>
            </a:extLst>
          </p:cNvPr>
          <p:cNvSpPr txBox="1"/>
          <p:nvPr/>
        </p:nvSpPr>
        <p:spPr>
          <a:xfrm rot="16200000">
            <a:off x="-1126399" y="1307703"/>
            <a:ext cx="2622131" cy="369332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Activate prior knowledge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6D085A-45FE-5844-B033-4ABC25C87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473" y="160024"/>
            <a:ext cx="1921527" cy="1472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21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2641D-CF7A-7D4A-8DE0-E7074ED68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338" y="0"/>
            <a:ext cx="10515600" cy="1325563"/>
          </a:xfrm>
        </p:spPr>
        <p:txBody>
          <a:bodyPr/>
          <a:lstStyle/>
          <a:p>
            <a:r>
              <a:rPr lang="en-US" b="1" dirty="0"/>
              <a:t>Key terms</a:t>
            </a:r>
          </a:p>
        </p:txBody>
      </p:sp>
      <p:pic>
        <p:nvPicPr>
          <p:cNvPr id="1026" name="Picture 2" descr="Image result for reliability validity and accuracy">
            <a:extLst>
              <a:ext uri="{FF2B5EF4-FFF2-40B4-BE49-F238E27FC236}">
                <a16:creationId xmlns:a16="http://schemas.microsoft.com/office/drawing/2014/main" id="{37494892-DB17-0E4F-9982-F6A33AF8C2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5" t="40259" r="12476" b="14045"/>
          <a:stretch/>
        </p:blipFill>
        <p:spPr bwMode="auto">
          <a:xfrm>
            <a:off x="6742190" y="5265683"/>
            <a:ext cx="5449810" cy="1592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5FAFC8-91C6-0F45-9622-85948C814FF7}"/>
              </a:ext>
            </a:extLst>
          </p:cNvPr>
          <p:cNvSpPr txBox="1"/>
          <p:nvPr/>
        </p:nvSpPr>
        <p:spPr>
          <a:xfrm rot="16200000">
            <a:off x="-956768" y="1523698"/>
            <a:ext cx="2282869" cy="369332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Concept Development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4A5DDEE-AAA5-0940-A459-36058A7E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343" y="107069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Reliability: </a:t>
            </a:r>
            <a:r>
              <a:rPr lang="en-US" dirty="0"/>
              <a:t>high or low</a:t>
            </a:r>
          </a:p>
          <a:p>
            <a:pPr marL="0" indent="0">
              <a:buNone/>
            </a:pPr>
            <a:r>
              <a:rPr lang="en-US" dirty="0"/>
              <a:t>Consistency of the results. Can you replicate the study and get the same result.</a:t>
            </a:r>
          </a:p>
          <a:p>
            <a:pPr marL="0" indent="0">
              <a:buNone/>
            </a:pPr>
            <a:r>
              <a:rPr lang="en-US" b="1" dirty="0"/>
              <a:t>Validity: </a:t>
            </a:r>
            <a:r>
              <a:rPr lang="en-US" dirty="0"/>
              <a:t>high or low</a:t>
            </a:r>
          </a:p>
          <a:p>
            <a:pPr marL="0" indent="0">
              <a:buNone/>
            </a:pPr>
            <a:r>
              <a:rPr lang="en-US" dirty="0"/>
              <a:t>Did the test measure what it was intended to measure. Was the test a good measure of reaction time?</a:t>
            </a:r>
          </a:p>
          <a:p>
            <a:pPr marL="0" indent="0">
              <a:buNone/>
            </a:pPr>
            <a:r>
              <a:rPr lang="en-US" b="1" dirty="0"/>
              <a:t>Accuracy:</a:t>
            </a:r>
          </a:p>
          <a:p>
            <a:pPr marL="0" indent="0">
              <a:buNone/>
            </a:pPr>
            <a:r>
              <a:rPr lang="en-US" dirty="0"/>
              <a:t>How close the measurement is to the expected value </a:t>
            </a:r>
          </a:p>
        </p:txBody>
      </p:sp>
      <p:graphicFrame>
        <p:nvGraphicFramePr>
          <p:cNvPr id="4" name="Table 6">
            <a:extLst>
              <a:ext uri="{FF2B5EF4-FFF2-40B4-BE49-F238E27FC236}">
                <a16:creationId xmlns:a16="http://schemas.microsoft.com/office/drawing/2014/main" id="{560F719B-4E8E-414C-B0D6-97AE64F9E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4399406"/>
              </p:ext>
            </p:extLst>
          </p:nvPr>
        </p:nvGraphicFramePr>
        <p:xfrm>
          <a:off x="7567448" y="0"/>
          <a:ext cx="4624552" cy="10109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624552">
                  <a:extLst>
                    <a:ext uri="{9D8B030D-6E8A-4147-A177-3AD203B41FA5}">
                      <a16:colId xmlns:a16="http://schemas.microsoft.com/office/drawing/2014/main" val="39178756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Tip to remember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615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Reliability: </a:t>
                      </a:r>
                      <a:r>
                        <a:rPr lang="en-US" dirty="0"/>
                        <a:t>replicable or repeatable</a:t>
                      </a:r>
                    </a:p>
                    <a:p>
                      <a:r>
                        <a:rPr lang="en-US" b="1" dirty="0"/>
                        <a:t>Validity: </a:t>
                      </a:r>
                      <a:r>
                        <a:rPr lang="en-US" b="0" dirty="0"/>
                        <a:t>variables (were they controlled well?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5685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1438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48F48-F366-794E-BC67-D51A15247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424" y="292812"/>
            <a:ext cx="8677836" cy="1143000"/>
          </a:xfrm>
        </p:spPr>
        <p:txBody>
          <a:bodyPr/>
          <a:lstStyle/>
          <a:p>
            <a:r>
              <a:rPr lang="en-US" b="1" dirty="0"/>
              <a:t>Experiments - controlling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B302C-9D21-CF4B-AA17-CB114EF51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387" y="1855787"/>
            <a:ext cx="5662613" cy="35675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To ensure that it is the IV effecting the DV   </a:t>
            </a:r>
          </a:p>
          <a:p>
            <a:pPr marL="0" indent="0">
              <a:buNone/>
            </a:pPr>
            <a:r>
              <a:rPr lang="en-US" sz="2400" b="1" dirty="0"/>
              <a:t>Extraneous variables – </a:t>
            </a:r>
            <a:r>
              <a:rPr lang="en-US" sz="2400" dirty="0"/>
              <a:t>Any variable that could effect the DV and therefore effects the reliability of the results if left uncontrolled </a:t>
            </a:r>
          </a:p>
          <a:p>
            <a:pPr marL="0" indent="0">
              <a:buNone/>
            </a:pPr>
            <a:r>
              <a:rPr lang="en-US" sz="2400" b="1" dirty="0"/>
              <a:t>Confounding variables – </a:t>
            </a:r>
            <a:r>
              <a:rPr lang="en-US" sz="2400" dirty="0"/>
              <a:t>Any variable left uncontrolled that does effect the DV and therefore effects the reliability of the results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D24F32-5936-B64E-9325-16BABCCA89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55787"/>
            <a:ext cx="6096000" cy="4305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CA656E-B000-924E-BD56-9B0A64AA3A84}"/>
              </a:ext>
            </a:extLst>
          </p:cNvPr>
          <p:cNvSpPr txBox="1"/>
          <p:nvPr/>
        </p:nvSpPr>
        <p:spPr>
          <a:xfrm rot="16200000">
            <a:off x="-1070435" y="1070437"/>
            <a:ext cx="2479425" cy="338554"/>
          </a:xfrm>
          <a:prstGeom prst="rect">
            <a:avLst/>
          </a:prstGeom>
          <a:solidFill>
            <a:srgbClr val="B4E7E6"/>
          </a:solidFill>
        </p:spPr>
        <p:txBody>
          <a:bodyPr wrap="square" rtlCol="0">
            <a:spAutoFit/>
          </a:bodyPr>
          <a:lstStyle/>
          <a:p>
            <a:r>
              <a:rPr lang="en-AU" sz="1600" b="1" dirty="0"/>
              <a:t>Activate prior learning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49DB81-D4E1-D64A-99AF-30A5F31EE7A9}"/>
              </a:ext>
            </a:extLst>
          </p:cNvPr>
          <p:cNvSpPr txBox="1"/>
          <p:nvPr/>
        </p:nvSpPr>
        <p:spPr>
          <a:xfrm>
            <a:off x="1169491" y="6192618"/>
            <a:ext cx="9853018" cy="523220"/>
          </a:xfrm>
          <a:prstGeom prst="rect">
            <a:avLst/>
          </a:prstGeom>
          <a:noFill/>
          <a:ln w="76200">
            <a:solidFill>
              <a:schemeClr val="accent6"/>
            </a:solidFill>
          </a:ln>
        </p:spPr>
        <p:txBody>
          <a:bodyPr wrap="none" rtlCol="0">
            <a:spAutoFit/>
          </a:bodyPr>
          <a:lstStyle/>
          <a:p>
            <a:r>
              <a:rPr lang="en-US" sz="2800" dirty="0"/>
              <a:t>If there are many confounding variables the research lacks validity.</a:t>
            </a:r>
          </a:p>
        </p:txBody>
      </p:sp>
    </p:spTree>
    <p:extLst>
      <p:ext uri="{BB962C8B-B14F-4D97-AF65-F5344CB8AC3E}">
        <p14:creationId xmlns:p14="http://schemas.microsoft.com/office/powerpoint/2010/main" val="21520798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671069B-35A6-FC45-A340-FF3B0E2127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225887"/>
              </p:ext>
            </p:extLst>
          </p:nvPr>
        </p:nvGraphicFramePr>
        <p:xfrm>
          <a:off x="3571875" y="2085975"/>
          <a:ext cx="8620125" cy="46879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94D14776-DF5E-DB44-B682-C6F2549F770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12746"/>
          <a:stretch/>
        </p:blipFill>
        <p:spPr>
          <a:xfrm>
            <a:off x="0" y="4219903"/>
            <a:ext cx="3734128" cy="26380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245169-CE21-7744-AFEF-9660BE72400F}"/>
              </a:ext>
            </a:extLst>
          </p:cNvPr>
          <p:cNvSpPr txBox="1"/>
          <p:nvPr/>
        </p:nvSpPr>
        <p:spPr>
          <a:xfrm>
            <a:off x="171451" y="84082"/>
            <a:ext cx="50978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Evaluating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53DE1E-1EDE-C247-AE99-1C456D588C2C}"/>
              </a:ext>
            </a:extLst>
          </p:cNvPr>
          <p:cNvSpPr txBox="1"/>
          <p:nvPr/>
        </p:nvSpPr>
        <p:spPr>
          <a:xfrm>
            <a:off x="1357313" y="1115806"/>
            <a:ext cx="9844087" cy="64633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You do not need to cover all of these points to evaluate a piece of research – </a:t>
            </a:r>
          </a:p>
          <a:p>
            <a:pPr algn="ctr"/>
            <a:r>
              <a:rPr lang="en-US" b="1" dirty="0"/>
              <a:t>Read the question and see what it is specifically asking you to evaluate in the research </a:t>
            </a:r>
          </a:p>
        </p:txBody>
      </p:sp>
    </p:spTree>
    <p:extLst>
      <p:ext uri="{BB962C8B-B14F-4D97-AF65-F5344CB8AC3E}">
        <p14:creationId xmlns:p14="http://schemas.microsoft.com/office/powerpoint/2010/main" val="31707601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D0CBF23-574E-0A44-947F-AF55EC077F39}"/>
              </a:ext>
            </a:extLst>
          </p:cNvPr>
          <p:cNvSpPr/>
          <p:nvPr/>
        </p:nvSpPr>
        <p:spPr>
          <a:xfrm>
            <a:off x="208137" y="1829538"/>
            <a:ext cx="9540673" cy="923330"/>
          </a:xfrm>
          <a:prstGeom prst="rect">
            <a:avLst/>
          </a:prstGeom>
          <a:solidFill>
            <a:srgbClr val="B4E7E6">
              <a:alpha val="54118"/>
            </a:srgbClr>
          </a:solidFill>
        </p:spPr>
        <p:txBody>
          <a:bodyPr wrap="square">
            <a:spAutoFit/>
          </a:bodyPr>
          <a:lstStyle/>
          <a:p>
            <a:pPr algn="ctr"/>
            <a:r>
              <a:rPr lang="en-AU" dirty="0"/>
              <a:t>Definition: </a:t>
            </a:r>
          </a:p>
          <a:p>
            <a:pPr algn="ctr"/>
            <a:r>
              <a:rPr lang="en-AU" dirty="0"/>
              <a:t>a measure of how well a researcher thinks their experimental results from a sample can be extended to the population as a whole.</a:t>
            </a:r>
            <a:endParaRPr lang="en-AU" sz="2400" b="1" dirty="0">
              <a:solidFill>
                <a:srgbClr val="1D1D1A"/>
              </a:solidFill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30E07-6D2D-A042-8929-90780AECB0BA}"/>
              </a:ext>
            </a:extLst>
          </p:cNvPr>
          <p:cNvSpPr txBox="1"/>
          <p:nvPr/>
        </p:nvSpPr>
        <p:spPr>
          <a:xfrm>
            <a:off x="812800" y="963005"/>
            <a:ext cx="91834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2D6069"/>
                </a:solidFill>
                <a:highlight>
                  <a:srgbClr val="FFFF00"/>
                </a:highlight>
              </a:rPr>
              <a:t>Generalisability</a:t>
            </a:r>
            <a:r>
              <a:rPr lang="en-AU" sz="4000" b="1" dirty="0">
                <a:solidFill>
                  <a:srgbClr val="2D6069"/>
                </a:solidFill>
              </a:rPr>
              <a:t> to the population</a:t>
            </a:r>
          </a:p>
        </p:txBody>
      </p:sp>
      <p:pic>
        <p:nvPicPr>
          <p:cNvPr id="8" name="Picture 7" descr="Iconsmind-Outline-Pen-5.ico">
            <a:extLst>
              <a:ext uri="{FF2B5EF4-FFF2-40B4-BE49-F238E27FC236}">
                <a16:creationId xmlns:a16="http://schemas.microsoft.com/office/drawing/2014/main" id="{C952C0E1-3CDB-804C-8AD9-2B83A63B0B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37" y="68099"/>
            <a:ext cx="1209326" cy="9978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2E320F-18F9-D440-ADB9-706F5D0E9401}"/>
              </a:ext>
            </a:extLst>
          </p:cNvPr>
          <p:cNvSpPr txBox="1"/>
          <p:nvPr/>
        </p:nvSpPr>
        <p:spPr>
          <a:xfrm>
            <a:off x="1494285" y="107102"/>
            <a:ext cx="53029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b="1" dirty="0">
                <a:solidFill>
                  <a:srgbClr val="2D6069"/>
                </a:solidFill>
              </a:rPr>
              <a:t>Evaluating research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E1FBA5-442E-774E-A7FC-6E91E3AF405B}"/>
              </a:ext>
            </a:extLst>
          </p:cNvPr>
          <p:cNvSpPr txBox="1"/>
          <p:nvPr/>
        </p:nvSpPr>
        <p:spPr>
          <a:xfrm>
            <a:off x="163093" y="3712203"/>
            <a:ext cx="7327780" cy="2862322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A researcher often cannot test the whole target population, instead the take a sample of the population and </a:t>
            </a:r>
            <a:r>
              <a:rPr lang="en-US" b="1" dirty="0"/>
              <a:t>infer </a:t>
            </a:r>
            <a:r>
              <a:rPr lang="en-US" dirty="0"/>
              <a:t>the results from this smaller sample to the whole target population.</a:t>
            </a:r>
          </a:p>
          <a:p>
            <a:endParaRPr lang="en-US" dirty="0"/>
          </a:p>
          <a:p>
            <a:r>
              <a:rPr lang="en-US" dirty="0"/>
              <a:t>It is important that the sample is r</a:t>
            </a:r>
            <a:r>
              <a:rPr lang="en-US" b="1" dirty="0"/>
              <a:t>epresentative</a:t>
            </a:r>
            <a:r>
              <a:rPr lang="en-US" dirty="0"/>
              <a:t> of the whole target population </a:t>
            </a:r>
            <a:r>
              <a:rPr lang="en-US" dirty="0" err="1"/>
              <a:t>i.e</a:t>
            </a:r>
            <a:r>
              <a:rPr lang="en-US" dirty="0"/>
              <a:t> there is no </a:t>
            </a:r>
            <a:r>
              <a:rPr lang="en-US" b="1" dirty="0"/>
              <a:t>sample bias. </a:t>
            </a:r>
          </a:p>
          <a:p>
            <a:endParaRPr lang="en-US" b="1" dirty="0"/>
          </a:p>
          <a:p>
            <a:r>
              <a:rPr lang="en-US" dirty="0"/>
              <a:t>To do this / to evaluate whether a piece of research has high generalizability - look at their sample and sample method</a:t>
            </a:r>
          </a:p>
          <a:p>
            <a:endParaRPr lang="en-US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A4BDD443-5FE2-BD49-A40B-D348B6EEE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37187"/>
              </p:ext>
            </p:extLst>
          </p:nvPr>
        </p:nvGraphicFramePr>
        <p:xfrm>
          <a:off x="7756634" y="3652520"/>
          <a:ext cx="4435366" cy="3205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35366">
                  <a:extLst>
                    <a:ext uri="{9D8B030D-6E8A-4147-A177-3AD203B41FA5}">
                      <a16:colId xmlns:a16="http://schemas.microsoft.com/office/drawing/2014/main" val="32050194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Definitions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446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Infer: </a:t>
                      </a:r>
                      <a:r>
                        <a:rPr lang="en-AU" dirty="0"/>
                        <a:t>conclude (something) from evidence.</a:t>
                      </a:r>
                      <a:endParaRPr lang="en-US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Representative:</a:t>
                      </a:r>
                      <a:r>
                        <a:rPr lang="en-AU" b="1" dirty="0"/>
                        <a:t> </a:t>
                      </a:r>
                      <a:r>
                        <a:rPr lang="en-AU" b="0" dirty="0"/>
                        <a:t>a representative sample </a:t>
                      </a:r>
                      <a:r>
                        <a:rPr lang="en-AU" dirty="0"/>
                        <a:t>is a subset of a population that accurately reflect the characteristics of the larger group.</a:t>
                      </a:r>
                      <a:endParaRPr lang="en-US" b="1" dirty="0"/>
                    </a:p>
                    <a:p>
                      <a:r>
                        <a:rPr lang="en-US" b="1" dirty="0"/>
                        <a:t>Sample Bias: </a:t>
                      </a:r>
                      <a:r>
                        <a:rPr lang="en-US" b="0" dirty="0"/>
                        <a:t>the </a:t>
                      </a:r>
                      <a:r>
                        <a:rPr lang="en-AU" b="0" dirty="0"/>
                        <a:t>sample</a:t>
                      </a:r>
                      <a:r>
                        <a:rPr lang="en-AU" dirty="0"/>
                        <a:t> has some members of the intended population which are over-represented or under-represented.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7371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045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E40A-5FB4-D74C-8F95-466AA94F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60948"/>
            <a:ext cx="6508377" cy="839067"/>
          </a:xfrm>
        </p:spPr>
        <p:txBody>
          <a:bodyPr/>
          <a:lstStyle/>
          <a:p>
            <a:r>
              <a:rPr lang="en-AU" sz="5400" b="1" dirty="0"/>
              <a:t>Practice </a:t>
            </a:r>
          </a:p>
        </p:txBody>
      </p:sp>
      <p:pic>
        <p:nvPicPr>
          <p:cNvPr id="5" name="Picture 4" descr="062608-glossy-black-icon-people-things-people-student-study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922" y="-44823"/>
            <a:ext cx="2178424" cy="21784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B2590B0-90AE-D843-A83B-D57A7C4B03D5}"/>
              </a:ext>
            </a:extLst>
          </p:cNvPr>
          <p:cNvSpPr txBox="1"/>
          <p:nvPr/>
        </p:nvSpPr>
        <p:spPr>
          <a:xfrm>
            <a:off x="239525" y="3481975"/>
            <a:ext cx="3284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1. Outline what happened: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33C1BD-E42F-8E40-96E7-D5E47F56C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040" y="4063008"/>
            <a:ext cx="4445000" cy="2146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57FD11-6A3D-5542-B719-58B825B581BD}"/>
              </a:ext>
            </a:extLst>
          </p:cNvPr>
          <p:cNvSpPr txBox="1"/>
          <p:nvPr/>
        </p:nvSpPr>
        <p:spPr>
          <a:xfrm>
            <a:off x="5418992" y="3481975"/>
            <a:ext cx="6773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2. Evaluate the research by discussing one of the following: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504D1F-35BB-DB48-B314-A4F250F236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746"/>
          <a:stretch/>
        </p:blipFill>
        <p:spPr>
          <a:xfrm>
            <a:off x="7068689" y="4063008"/>
            <a:ext cx="3734128" cy="26380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85858C-85DB-8845-B7B5-A33C0D86BEA6}"/>
              </a:ext>
            </a:extLst>
          </p:cNvPr>
          <p:cNvSpPr txBox="1"/>
          <p:nvPr/>
        </p:nvSpPr>
        <p:spPr>
          <a:xfrm>
            <a:off x="190682" y="1073650"/>
            <a:ext cx="4408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Research one of the following studies: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7E6C23-70EF-A946-B92C-F691779F2DC1}"/>
              </a:ext>
            </a:extLst>
          </p:cNvPr>
          <p:cNvSpPr txBox="1"/>
          <p:nvPr/>
        </p:nvSpPr>
        <p:spPr>
          <a:xfrm>
            <a:off x="200025" y="1871663"/>
            <a:ext cx="92400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monster study - </a:t>
            </a:r>
            <a:r>
              <a:rPr lang="en-AU" dirty="0"/>
              <a:t>Johnson</a:t>
            </a:r>
            <a:r>
              <a:rPr lang="en-US" dirty="0"/>
              <a:t>		</a:t>
            </a:r>
            <a:r>
              <a:rPr lang="en-AU" dirty="0"/>
              <a:t>The Schacter and Singer Experiment on Emotion</a:t>
            </a:r>
          </a:p>
          <a:p>
            <a:endParaRPr lang="en-US" dirty="0"/>
          </a:p>
          <a:p>
            <a:r>
              <a:rPr lang="en-US" dirty="0"/>
              <a:t>Or </a:t>
            </a:r>
            <a:r>
              <a:rPr lang="en-AU" dirty="0"/>
              <a:t>Car Crash Experiment – Loftus and Palmer</a:t>
            </a:r>
          </a:p>
        </p:txBody>
      </p:sp>
    </p:spTree>
    <p:extLst>
      <p:ext uri="{BB962C8B-B14F-4D97-AF65-F5344CB8AC3E}">
        <p14:creationId xmlns:p14="http://schemas.microsoft.com/office/powerpoint/2010/main" val="3438221955"/>
      </p:ext>
    </p:extLst>
  </p:cSld>
  <p:clrMapOvr>
    <a:masterClrMapping/>
  </p:clrMapOvr>
</p:sld>
</file>

<file path=ppt/theme/theme1.xml><?xml version="1.0" encoding="utf-8"?>
<a:theme xmlns:a="http://schemas.openxmlformats.org/drawingml/2006/main" name="Saba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laza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60000"/>
                <a:satMod val="135000"/>
              </a:schemeClr>
            </a:gs>
            <a:gs pos="100000">
              <a:schemeClr val="phClr">
                <a:tint val="100000"/>
                <a:shade val="100000"/>
                <a:satMod val="13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0000"/>
                <a:satMod val="120000"/>
              </a:schemeClr>
            </a:gs>
            <a:gs pos="35000">
              <a:schemeClr val="phClr">
                <a:shade val="100000"/>
                <a:satMod val="150000"/>
              </a:schemeClr>
            </a:gs>
            <a:gs pos="70000">
              <a:schemeClr val="phClr">
                <a:tint val="100000"/>
                <a:shade val="100000"/>
                <a:satMod val="200000"/>
                <a:greenMod val="100000"/>
              </a:schemeClr>
            </a:gs>
            <a:gs pos="100000">
              <a:schemeClr val="phClr">
                <a:tint val="100000"/>
                <a:shade val="100000"/>
                <a:satMod val="250000"/>
                <a:greenMod val="100000"/>
              </a:schemeClr>
            </a:gs>
          </a:gsLst>
          <a:lin ang="162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190500" dist="63500" dir="5400000">
              <a:srgbClr val="FFFFFF">
                <a:alpha val="65000"/>
              </a:srgbClr>
            </a:innerShdw>
          </a:effectLst>
          <a:scene3d>
            <a:camera prst="orthographicFront">
              <a:rot lat="0" lon="0" rev="0"/>
            </a:camera>
            <a:lightRig rig="twoPt" dir="r">
              <a:rot lat="0" lon="0" rev="6000000"/>
            </a:lightRig>
          </a:scene3d>
          <a:sp3d prstMaterial="matte">
            <a:bevelT w="0" h="0" prst="relaxedInset"/>
          </a:sp3d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88900" dist="38100" dir="6600000" sx="101000" sy="101000" rotWithShape="0">
              <a:srgbClr val="000000">
                <a:alpha val="50000"/>
              </a:srgbClr>
            </a:outerShdw>
          </a:effectLst>
          <a:scene3d>
            <a:camera prst="perspectiveFront" fov="3000000"/>
            <a:lightRig rig="morning" dir="tl">
              <a:rot lat="0" lon="0" rev="1800000"/>
            </a:lightRig>
          </a:scene3d>
          <a:sp3d contourW="38100" prstMaterial="softEdge">
            <a:bevelT w="25400" h="38100"/>
            <a:contourClr>
              <a:schemeClr val="phClr">
                <a:tint val="6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ABFCDE80-9FF4-EB43-9EB8-ADDCCB13B279}" vid="{9C6BB66C-35D3-EB49-8314-0F986D4FA8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sson template" id="{BE3FD172-D024-DE49-B586-228D6C825ABD}" vid="{767780C8-878E-A447-AAC4-C73CC567D16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Saba</Template>
  <TotalTime>1653</TotalTime>
  <Words>737</Words>
  <Application>Microsoft Macintosh PowerPoint</Application>
  <PresentationFormat>Widescreen</PresentationFormat>
  <Paragraphs>97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Century Gothic</vt:lpstr>
      <vt:lpstr>Wingdings 2</vt:lpstr>
      <vt:lpstr>Saba</vt:lpstr>
      <vt:lpstr>Office Theme</vt:lpstr>
      <vt:lpstr> DO NOW  1.Define the independent, dependant and extraneous variables 2. What does the term operationalize mean? 3. What is the difference between experimental and non-experimental research? 4. Name and describe 4 ways of data collection </vt:lpstr>
      <vt:lpstr>Do Now Answers</vt:lpstr>
      <vt:lpstr>PowerPoint Presentation</vt:lpstr>
      <vt:lpstr>Identify a weakness of random sampling</vt:lpstr>
      <vt:lpstr>What are some other designs when planning research in psychology</vt:lpstr>
      <vt:lpstr>Define extraneous variable</vt:lpstr>
      <vt:lpstr>RESEARCH METHODS</vt:lpstr>
      <vt:lpstr>PowerPoint Presentation</vt:lpstr>
      <vt:lpstr>PowerPoint Presentation</vt:lpstr>
      <vt:lpstr>What do we know about the terms:  evaluation, reliability, validity and accuracy?  Think, Pair, Share – on your whiteboard write the key words that come to mind</vt:lpstr>
      <vt:lpstr>Key terms</vt:lpstr>
      <vt:lpstr>Experiments - controlling variables</vt:lpstr>
      <vt:lpstr>PowerPoint Presentation</vt:lpstr>
      <vt:lpstr>PowerPoint Presentation</vt:lpstr>
      <vt:lpstr>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 NOW  [Insert Word]</dc:title>
  <dc:creator>DAVEY Sarah [Joseph Banks Secondary College]</dc:creator>
  <cp:lastModifiedBy>DAVEY Sarah [Joseph Banks Secondary College]</cp:lastModifiedBy>
  <cp:revision>18</cp:revision>
  <dcterms:created xsi:type="dcterms:W3CDTF">2020-02-26T04:17:00Z</dcterms:created>
  <dcterms:modified xsi:type="dcterms:W3CDTF">2021-08-11T12:47:12Z</dcterms:modified>
</cp:coreProperties>
</file>
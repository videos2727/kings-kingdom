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2" r:id="rId2"/>
    <p:sldId id="263" r:id="rId3"/>
    <p:sldId id="373" r:id="rId4"/>
    <p:sldId id="365" r:id="rId5"/>
    <p:sldId id="369" r:id="rId6"/>
    <p:sldId id="311" r:id="rId7"/>
    <p:sldId id="312" r:id="rId8"/>
    <p:sldId id="313" r:id="rId9"/>
    <p:sldId id="314" r:id="rId10"/>
    <p:sldId id="372" r:id="rId11"/>
    <p:sldId id="3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8"/>
    <p:restoredTop sz="94643"/>
  </p:normalViewPr>
  <p:slideViewPr>
    <p:cSldViewPr snapToGrid="0" snapToObjects="1">
      <p:cViewPr varScale="1">
        <p:scale>
          <a:sx n="162" d="100"/>
          <a:sy n="162" d="100"/>
        </p:scale>
        <p:origin x="6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323B2-AC46-364D-9A95-E3DE56155A89}" type="datetimeFigureOut">
              <a:rPr lang="en-US" smtClean="0"/>
              <a:t>4/28/21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31FA5E-25A6-C74E-BE78-F157B4C232FC}" type="slidenum">
              <a:rPr lang="en-US" smtClean="0"/>
              <a:t>‹#›</a:t>
            </a:fld>
            <a:endParaRPr lang="en-US"/>
          </a:p>
        </p:txBody>
      </p:sp>
    </p:spTree>
    <p:extLst>
      <p:ext uri="{BB962C8B-B14F-4D97-AF65-F5344CB8AC3E}">
        <p14:creationId xmlns:p14="http://schemas.microsoft.com/office/powerpoint/2010/main" val="1017576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A3A09D-58FF-8544-8F30-659E369A30FA}" type="slidenum">
              <a:rPr lang="en-US" smtClean="0"/>
              <a:t>9</a:t>
            </a:fld>
            <a:endParaRPr lang="en-US"/>
          </a:p>
        </p:txBody>
      </p:sp>
    </p:spTree>
    <p:extLst>
      <p:ext uri="{BB962C8B-B14F-4D97-AF65-F5344CB8AC3E}">
        <p14:creationId xmlns:p14="http://schemas.microsoft.com/office/powerpoint/2010/main" val="3261993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A3A09D-58FF-8544-8F30-659E369A30FA}" type="slidenum">
              <a:rPr lang="en-US" smtClean="0"/>
              <a:t>10</a:t>
            </a:fld>
            <a:endParaRPr lang="en-US"/>
          </a:p>
        </p:txBody>
      </p:sp>
    </p:spTree>
    <p:extLst>
      <p:ext uri="{BB962C8B-B14F-4D97-AF65-F5344CB8AC3E}">
        <p14:creationId xmlns:p14="http://schemas.microsoft.com/office/powerpoint/2010/main" val="239134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15A9-E6AF-0442-8279-4E931B6E92C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943A1E-1E53-B941-B090-5A3A6D8CA7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B67EB0E-8A5A-B847-9D72-7BCD233FDA65}"/>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CE489852-3543-354E-AED0-B10972513A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88DE2-36CC-204A-86FA-312B32433F8D}"/>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2203966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6ED62-544C-D84B-89B4-6BD1CA28733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59BA44-EAC9-514E-8B26-AD3B2D9E798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4E00CD-058C-3D4D-B75E-C0436F36E75F}"/>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53A90242-FBEA-7441-807C-51A9CE7B12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37A6C-3DF5-A24C-8A51-6EEB1D82BB96}"/>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12879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68F68-DABA-F447-A64B-B187F5E07E2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BBD9252-08AE-0B4C-B325-75A298D6D4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DD7F640-CE6D-2644-BFED-F25413F4494F}"/>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A4321DCA-1F40-C849-9F28-A73F6FD3C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40C7A8-DFEE-D044-B684-DD4CF3BEC37F}"/>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1633556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CAC05-73E5-7247-9785-E2C4FACFE7F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855100-B5E0-A145-AC97-02B825D6BE0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B34EE50-3044-0D49-9560-255069B6B2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66092E5-A9E7-744F-AE05-446B7D10F0C3}"/>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6" name="Footer Placeholder 5">
            <a:extLst>
              <a:ext uri="{FF2B5EF4-FFF2-40B4-BE49-F238E27FC236}">
                <a16:creationId xmlns:a16="http://schemas.microsoft.com/office/drawing/2014/main" id="{CD7DE6CB-A28D-3544-9B65-85B17B1DC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774996-DF11-DB43-9D91-0AEBED27ECFC}"/>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66221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EC301-3AC3-0945-9463-7CE19BEF0F6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296705-D459-3341-A8A8-26348F91EB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BC9DF9A-ABAA-5243-9542-2479BE173C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670D98F-0C43-B740-A22F-C6B2406622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10A049-8C97-054E-AE35-C7FC58CE92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949A596-D784-2E45-8EC0-D82A34080302}"/>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8" name="Footer Placeholder 7">
            <a:extLst>
              <a:ext uri="{FF2B5EF4-FFF2-40B4-BE49-F238E27FC236}">
                <a16:creationId xmlns:a16="http://schemas.microsoft.com/office/drawing/2014/main" id="{8D2584D8-C030-BC40-AE36-74A4C0E2C9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8B7DC8-97F1-5943-B151-D6D9BD150B9B}"/>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598957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472AD-EA77-194A-B12F-A9B2BFCCFE2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EC6D7CD-67A3-784E-AB9E-29A896AEEA66}"/>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4" name="Footer Placeholder 3">
            <a:extLst>
              <a:ext uri="{FF2B5EF4-FFF2-40B4-BE49-F238E27FC236}">
                <a16:creationId xmlns:a16="http://schemas.microsoft.com/office/drawing/2014/main" id="{90889E64-51DA-0241-ADFF-124C20FF4E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381C04-12FA-AC49-ABAA-55EF2880FF69}"/>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2853664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397EA8-1C17-3D41-8D4D-0C476A55DD4B}"/>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3" name="Footer Placeholder 2">
            <a:extLst>
              <a:ext uri="{FF2B5EF4-FFF2-40B4-BE49-F238E27FC236}">
                <a16:creationId xmlns:a16="http://schemas.microsoft.com/office/drawing/2014/main" id="{185088B9-7BB2-DB47-8077-315EA6A27A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B96B9E-B4C9-1049-8555-D52D0A1FC0AD}"/>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2620219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7F5A9-08A0-2D49-AF89-39C04B9B03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213D11-9651-A441-87D6-EC825AAA1D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C91DFC7-B736-1D43-A531-60FE8B638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1FB757-EEF9-CC42-8639-F97F7AFA14BC}"/>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6" name="Footer Placeholder 5">
            <a:extLst>
              <a:ext uri="{FF2B5EF4-FFF2-40B4-BE49-F238E27FC236}">
                <a16:creationId xmlns:a16="http://schemas.microsoft.com/office/drawing/2014/main" id="{AABDC0EE-9B17-ED49-92BD-012B1F8F1D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80F003-588B-5E45-8CAC-4A1F4A0E8778}"/>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2924755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FFECA-324E-F44D-A408-FCA3C56DB2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AFEFB57-7378-1B44-96B0-56D4CC5450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95802F-9954-3445-B8F1-52D06BDCD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F79B93F-6F49-C043-8D07-03714D4993A1}"/>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6" name="Footer Placeholder 5">
            <a:extLst>
              <a:ext uri="{FF2B5EF4-FFF2-40B4-BE49-F238E27FC236}">
                <a16:creationId xmlns:a16="http://schemas.microsoft.com/office/drawing/2014/main" id="{F7ED890D-562C-C24A-8DC1-0D2220E10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B40A67-EB22-394E-8982-07CCA8AFCA03}"/>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2225924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C806-BA51-C844-90F1-F8DF735DF60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44C955-AD67-FD45-A94E-5AC2F4457F6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A1EAF4-C650-AA41-A957-36D51CB60CF9}"/>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B6225C7F-F7BD-AC47-8547-B2170AA73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0DF4F6-A78B-C048-9FBC-A3C6DF570BF2}"/>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170437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76823B-232F-F040-A300-03172622455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A2B14A5-9824-8144-AA89-66C1CF511DC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97E4A0C-F913-1345-9063-5DDE92ACD2CD}"/>
              </a:ext>
            </a:extLst>
          </p:cNvPr>
          <p:cNvSpPr>
            <a:spLocks noGrp="1"/>
          </p:cNvSpPr>
          <p:nvPr>
            <p:ph type="dt" sz="half" idx="10"/>
          </p:nvPr>
        </p:nvSpPr>
        <p:spPr/>
        <p:txBody>
          <a:body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C06FDA3D-87F1-AE45-9D27-941688D16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07AFE-088D-1A4E-9437-68F11A46D3FF}"/>
              </a:ext>
            </a:extLst>
          </p:cNvPr>
          <p:cNvSpPr>
            <a:spLocks noGrp="1"/>
          </p:cNvSpPr>
          <p:nvPr>
            <p:ph type="sldNum" sz="quarter" idx="12"/>
          </p:nvPr>
        </p:nvSpPr>
        <p:spPr/>
        <p:txBody>
          <a:bodyPr/>
          <a:lstStyle/>
          <a:p>
            <a:fld id="{402FD8A9-FE1C-4D4A-8D3A-B8D051DFC4CA}" type="slidenum">
              <a:rPr lang="en-US" smtClean="0"/>
              <a:t>‹#›</a:t>
            </a:fld>
            <a:endParaRPr lang="en-US"/>
          </a:p>
        </p:txBody>
      </p:sp>
    </p:spTree>
    <p:extLst>
      <p:ext uri="{BB962C8B-B14F-4D97-AF65-F5344CB8AC3E}">
        <p14:creationId xmlns:p14="http://schemas.microsoft.com/office/powerpoint/2010/main" val="4185190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7F6738-4BCE-C945-8D57-CED00B8C78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138370A-3F1F-594A-967E-FB6877479E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D2323A-1BEF-A844-906B-0AB2984A1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EE8723-C91A-F149-A2EF-C2C076C0880A}" type="datetimeFigureOut">
              <a:rPr lang="en-US" smtClean="0"/>
              <a:t>4/28/21</a:t>
            </a:fld>
            <a:endParaRPr lang="en-US"/>
          </a:p>
        </p:txBody>
      </p:sp>
      <p:sp>
        <p:nvSpPr>
          <p:cNvPr id="5" name="Footer Placeholder 4">
            <a:extLst>
              <a:ext uri="{FF2B5EF4-FFF2-40B4-BE49-F238E27FC236}">
                <a16:creationId xmlns:a16="http://schemas.microsoft.com/office/drawing/2014/main" id="{17C1CA4D-891E-174F-9E0D-C97331E256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4AC913-9EB0-824F-B76B-D89D9057FC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FD8A9-FE1C-4D4A-8D3A-B8D051DFC4CA}" type="slidenum">
              <a:rPr lang="en-US" smtClean="0"/>
              <a:t>‹#›</a:t>
            </a:fld>
            <a:endParaRPr lang="en-US"/>
          </a:p>
        </p:txBody>
      </p:sp>
    </p:spTree>
    <p:extLst>
      <p:ext uri="{BB962C8B-B14F-4D97-AF65-F5344CB8AC3E}">
        <p14:creationId xmlns:p14="http://schemas.microsoft.com/office/powerpoint/2010/main" val="2445499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ideo" Target="https://www.youtube.com/embed/PnFKaaOSPmk"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Do now</a:t>
            </a:r>
          </a:p>
        </p:txBody>
      </p:sp>
      <p:sp>
        <p:nvSpPr>
          <p:cNvPr id="5" name="TextBox 4"/>
          <p:cNvSpPr txBox="1"/>
          <p:nvPr/>
        </p:nvSpPr>
        <p:spPr>
          <a:xfrm>
            <a:off x="2021983" y="1249249"/>
            <a:ext cx="9079605" cy="3108543"/>
          </a:xfrm>
          <a:prstGeom prst="rect">
            <a:avLst/>
          </a:prstGeom>
          <a:noFill/>
        </p:spPr>
        <p:txBody>
          <a:bodyPr wrap="square" rtlCol="0">
            <a:spAutoFit/>
          </a:bodyPr>
          <a:lstStyle/>
          <a:p>
            <a:pPr lvl="0">
              <a:defRPr/>
            </a:pPr>
            <a:r>
              <a:rPr lang="en-US" sz="2800" dirty="0"/>
              <a:t>Quizizz code: </a:t>
            </a:r>
          </a:p>
          <a:p>
            <a:pPr lvl="0">
              <a:defRPr/>
            </a:pPr>
            <a:endParaRPr lang="en-US" sz="2800" dirty="0"/>
          </a:p>
          <a:p>
            <a:pPr lvl="0">
              <a:defRPr/>
            </a:pPr>
            <a:r>
              <a:rPr lang="en-US" sz="2800" dirty="0"/>
              <a:t>While you wait:</a:t>
            </a:r>
          </a:p>
          <a:p>
            <a:pPr lvl="0">
              <a:defRPr/>
            </a:pPr>
            <a:r>
              <a:rPr lang="en-US" sz="2800" dirty="0"/>
              <a:t>1. Name the 6 participant rights		(6 marks) 		</a:t>
            </a:r>
          </a:p>
          <a:p>
            <a:pPr lvl="0">
              <a:defRPr/>
            </a:pPr>
            <a:r>
              <a:rPr lang="en-US" sz="2800" dirty="0"/>
              <a:t>2. Outline 3 parenting styles			(6 marks)</a:t>
            </a:r>
          </a:p>
          <a:p>
            <a:pPr marL="514350" lvl="0" indent="-514350">
              <a:buAutoNum type="arabicPeriod"/>
              <a:defRPr/>
            </a:pPr>
            <a:endParaRPr lang="en-US" sz="2800" dirty="0"/>
          </a:p>
        </p:txBody>
      </p:sp>
      <p:sp>
        <p:nvSpPr>
          <p:cNvPr id="2" name="TextBox 1">
            <a:extLst>
              <a:ext uri="{FF2B5EF4-FFF2-40B4-BE49-F238E27FC236}">
                <a16:creationId xmlns:a16="http://schemas.microsoft.com/office/drawing/2014/main" id="{0CB713E8-D0D0-4D35-8F6A-4F52B4B63A36}"/>
              </a:ext>
            </a:extLst>
          </p:cNvPr>
          <p:cNvSpPr txBox="1"/>
          <p:nvPr/>
        </p:nvSpPr>
        <p:spPr>
          <a:xfrm>
            <a:off x="0" y="4549676"/>
            <a:ext cx="2197290" cy="2308324"/>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1240231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102592" cy="923330"/>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5400" dirty="0"/>
              <a:t>Answers</a:t>
            </a:r>
          </a:p>
        </p:txBody>
      </p:sp>
      <p:sp>
        <p:nvSpPr>
          <p:cNvPr id="5" name="TextBox 4"/>
          <p:cNvSpPr txBox="1"/>
          <p:nvPr/>
        </p:nvSpPr>
        <p:spPr>
          <a:xfrm>
            <a:off x="3428176" y="0"/>
            <a:ext cx="5053517" cy="954107"/>
          </a:xfrm>
          <a:prstGeom prst="rect">
            <a:avLst/>
          </a:prstGeom>
          <a:noFill/>
        </p:spPr>
        <p:txBody>
          <a:bodyPr wrap="square" rtlCol="0">
            <a:spAutoFit/>
          </a:bodyPr>
          <a:lstStyle/>
          <a:p>
            <a:pPr lvl="0">
              <a:defRPr/>
            </a:pPr>
            <a:endParaRPr lang="en-US" sz="2800" dirty="0"/>
          </a:p>
          <a:p>
            <a:pPr marL="514350" lvl="0" indent="-514350">
              <a:buAutoNum type="arabicPeriod"/>
              <a:defRPr/>
            </a:pPr>
            <a:endParaRPr lang="en-US" sz="2800" dirty="0"/>
          </a:p>
        </p:txBody>
      </p:sp>
      <p:sp>
        <p:nvSpPr>
          <p:cNvPr id="2" name="TextBox 1">
            <a:extLst>
              <a:ext uri="{FF2B5EF4-FFF2-40B4-BE49-F238E27FC236}">
                <a16:creationId xmlns:a16="http://schemas.microsoft.com/office/drawing/2014/main" id="{0CB713E8-D0D0-4D35-8F6A-4F52B4B63A36}"/>
              </a:ext>
            </a:extLst>
          </p:cNvPr>
          <p:cNvSpPr txBox="1"/>
          <p:nvPr/>
        </p:nvSpPr>
        <p:spPr>
          <a:xfrm>
            <a:off x="0" y="4919008"/>
            <a:ext cx="2197290" cy="1938992"/>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a:ea typeface="+mn-ea"/>
                <a:cs typeface="+mn-cs"/>
              </a:rPr>
              <a:t>Pens out</a:t>
            </a:r>
          </a:p>
        </p:txBody>
      </p:sp>
      <p:sp>
        <p:nvSpPr>
          <p:cNvPr id="7" name="Rectangle 6">
            <a:extLst>
              <a:ext uri="{FF2B5EF4-FFF2-40B4-BE49-F238E27FC236}">
                <a16:creationId xmlns:a16="http://schemas.microsoft.com/office/drawing/2014/main" id="{C456AEE0-F18B-F647-B29A-53E302690F8E}"/>
              </a:ext>
            </a:extLst>
          </p:cNvPr>
          <p:cNvSpPr/>
          <p:nvPr/>
        </p:nvSpPr>
        <p:spPr>
          <a:xfrm>
            <a:off x="2610119" y="1280202"/>
            <a:ext cx="9144000" cy="523220"/>
          </a:xfrm>
          <a:prstGeom prst="rect">
            <a:avLst/>
          </a:prstGeom>
        </p:spPr>
        <p:txBody>
          <a:bodyPr wrap="square">
            <a:spAutoFit/>
          </a:bodyPr>
          <a:lstStyle/>
          <a:p>
            <a:pPr lvl="0">
              <a:defRPr/>
            </a:pPr>
            <a:r>
              <a:rPr lang="en-US" sz="2800" dirty="0"/>
              <a:t>Define the terms qualitative and quantitative data </a:t>
            </a:r>
          </a:p>
        </p:txBody>
      </p:sp>
    </p:spTree>
    <p:extLst>
      <p:ext uri="{BB962C8B-B14F-4D97-AF65-F5344CB8AC3E}">
        <p14:creationId xmlns:p14="http://schemas.microsoft.com/office/powerpoint/2010/main" val="3046877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074742"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Bowlby (Phases in the development of attachment)</a:t>
            </a:r>
            <a:endParaRPr kumimoji="0" lang="en-US" sz="20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74168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Internal working model:</a:t>
                      </a:r>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8140389" y="5210482"/>
          <a:ext cx="4051611" cy="1529080"/>
        </p:xfrm>
        <a:graphic>
          <a:graphicData uri="http://schemas.openxmlformats.org/drawingml/2006/table">
            <a:tbl>
              <a:tblPr firstRow="1" bandRow="1">
                <a:tableStyleId>{5C22544A-7EE6-4342-B048-85BDC9FD1C3A}</a:tableStyleId>
              </a:tblPr>
              <a:tblGrid>
                <a:gridCol w="4051611">
                  <a:extLst>
                    <a:ext uri="{9D8B030D-6E8A-4147-A177-3AD203B41FA5}">
                      <a16:colId xmlns:a16="http://schemas.microsoft.com/office/drawing/2014/main" val="1858754453"/>
                    </a:ext>
                  </a:extLst>
                </a:gridCol>
              </a:tblGrid>
              <a:tr h="370840">
                <a:tc>
                  <a:txBody>
                    <a:bodyPr/>
                    <a:lstStyle/>
                    <a:p>
                      <a:pPr algn="ctr"/>
                      <a:r>
                        <a:rPr lang="en-AU" sz="14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400" b="0" baseline="0" dirty="0"/>
                        <a:t>Did Bowlby engage in experimental or non-experimental research? Explain.</a:t>
                      </a:r>
                    </a:p>
                    <a:p>
                      <a:pPr marL="342900" indent="-342900">
                        <a:buFont typeface="+mj-lt"/>
                        <a:buAutoNum type="arabicPeriod"/>
                      </a:pPr>
                      <a:r>
                        <a:rPr lang="en-AU" sz="1400" b="0" baseline="0" dirty="0"/>
                        <a:t>Explain the behaviours Bowlby observed from which he concluded that children try to maintain proximity to their mothers.</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236661" y="821004"/>
            <a:ext cx="7743557" cy="5847755"/>
          </a:xfrm>
          <a:prstGeom prst="rect">
            <a:avLst/>
          </a:prstGeom>
          <a:noFill/>
        </p:spPr>
        <p:txBody>
          <a:bodyPr wrap="square" rtlCol="0">
            <a:spAutoFit/>
          </a:bodyPr>
          <a:lstStyle/>
          <a:p>
            <a:pPr marL="342900" lvl="0" indent="-342900" defTabSz="914400">
              <a:buFont typeface="Courier New" panose="02070309020205020404" pitchFamily="49" charset="0"/>
              <a:buChar char="o"/>
              <a:defRPr/>
            </a:pPr>
            <a:r>
              <a:rPr lang="en-AU" sz="2000" dirty="0"/>
              <a:t>The child’s attachment relationship with their primary caregiver leads to the development of an internal working model (Bowlby, 1969).</a:t>
            </a:r>
          </a:p>
          <a:p>
            <a:pPr marL="342900" lvl="0" indent="-342900" defTabSz="914400">
              <a:buFont typeface="Courier New" panose="02070309020205020404" pitchFamily="49" charset="0"/>
              <a:buChar char="o"/>
              <a:defRPr/>
            </a:pPr>
            <a:endParaRPr lang="en-AU" sz="2000" dirty="0"/>
          </a:p>
          <a:p>
            <a:r>
              <a:rPr lang="en-AU" sz="2000" dirty="0"/>
              <a:t>This internal working model is a cognitive framework comprising mental representations for understanding the world, self, and others. It is this mental representation that guides future social and emotional behaviours as the child’s internal working model guides their responsiveness and trust of others and self.</a:t>
            </a:r>
          </a:p>
          <a:p>
            <a:endParaRPr lang="en-AU" sz="2000" dirty="0"/>
          </a:p>
          <a:p>
            <a:pPr marL="342900" lvl="0" indent="-342900" defTabSz="914400">
              <a:buFont typeface="Courier New" panose="02070309020205020404" pitchFamily="49" charset="0"/>
              <a:buChar char="o"/>
              <a:defRPr/>
            </a:pPr>
            <a:endParaRPr lang="en-AU" sz="2000" dirty="0"/>
          </a:p>
          <a:p>
            <a:r>
              <a:rPr lang="en-AU" sz="2000" b="1" dirty="0"/>
              <a:t>There are three main features of the internal working model:</a:t>
            </a:r>
          </a:p>
          <a:p>
            <a:r>
              <a:rPr lang="en-AU" sz="2000" dirty="0"/>
              <a:t>1- a model of others as being trustworthy</a:t>
            </a:r>
          </a:p>
          <a:p>
            <a:r>
              <a:rPr lang="en-AU" sz="2000" dirty="0"/>
              <a:t>2 - a model of the self as valuable</a:t>
            </a:r>
          </a:p>
          <a:p>
            <a:r>
              <a:rPr lang="en-AU" sz="2000" dirty="0"/>
              <a:t>3-  a model of the self as effective when interacting with others</a:t>
            </a:r>
            <a:endParaRPr lang="en-AU" dirty="0"/>
          </a:p>
          <a:p>
            <a:pPr marL="342900" lvl="0" indent="-342900" defTabSz="914400">
              <a:buFont typeface="Courier New" panose="02070309020205020404" pitchFamily="49" charset="0"/>
              <a:buChar char="o"/>
              <a:defRPr/>
            </a:pPr>
            <a:endParaRPr lang="en-AU" dirty="0"/>
          </a:p>
          <a:p>
            <a:pPr marL="342900" lvl="0" indent="-342900" defTabSz="914400">
              <a:buFont typeface="Courier New" panose="02070309020205020404" pitchFamily="49" charset="0"/>
              <a:buChar char="o"/>
              <a:defRPr/>
            </a:pPr>
            <a:endParaRPr lang="en-AU" dirty="0"/>
          </a:p>
          <a:p>
            <a:pPr marL="342900" lvl="0" indent="-342900" defTabSz="914400">
              <a:buFont typeface="Courier New" panose="02070309020205020404" pitchFamily="49" charset="0"/>
              <a:buChar char="o"/>
              <a:defRPr/>
            </a:pPr>
            <a:endParaRPr lang="en-AU" dirty="0"/>
          </a:p>
          <a:p>
            <a:pPr marL="342900" lvl="0" indent="-342900" defTabSz="914400">
              <a:buFont typeface="Courier New" panose="02070309020205020404" pitchFamily="49" charset="0"/>
              <a:buChar char="o"/>
              <a:defRPr/>
            </a:pPr>
            <a:endParaRPr kumimoji="0" lang="en-AU"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914400">
              <a:defRPr/>
            </a:pPr>
            <a:endParaRPr kumimoji="0" lang="en-AU"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D2947737-3D24-4B48-AB60-A89DC054FD3E}"/>
              </a:ext>
            </a:extLst>
          </p:cNvPr>
          <p:cNvPicPr>
            <a:picLocks noChangeAspect="1"/>
          </p:cNvPicPr>
          <p:nvPr/>
        </p:nvPicPr>
        <p:blipFill>
          <a:blip r:embed="rId2"/>
          <a:stretch>
            <a:fillRect/>
          </a:stretch>
        </p:blipFill>
        <p:spPr>
          <a:xfrm>
            <a:off x="8001089" y="1751771"/>
            <a:ext cx="4188823" cy="2737101"/>
          </a:xfrm>
          <a:prstGeom prst="rect">
            <a:avLst/>
          </a:prstGeom>
        </p:spPr>
      </p:pic>
    </p:spTree>
    <p:extLst>
      <p:ext uri="{BB962C8B-B14F-4D97-AF65-F5344CB8AC3E}">
        <p14:creationId xmlns:p14="http://schemas.microsoft.com/office/powerpoint/2010/main" val="2691106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5BD4E-3495-A642-9C6C-245743824506}"/>
              </a:ext>
            </a:extLst>
          </p:cNvPr>
          <p:cNvSpPr txBox="1"/>
          <p:nvPr/>
        </p:nvSpPr>
        <p:spPr>
          <a:xfrm rot="16200000">
            <a:off x="-1132746" y="1427018"/>
            <a:ext cx="2634824" cy="369332"/>
          </a:xfrm>
          <a:prstGeom prst="rect">
            <a:avLst/>
          </a:prstGeom>
          <a:solidFill>
            <a:schemeClr val="accent2"/>
          </a:solidFill>
        </p:spPr>
        <p:txBody>
          <a:bodyPr wrap="none" rtlCol="0">
            <a:spAutoFit/>
          </a:bodyPr>
          <a:lstStyle/>
          <a:p>
            <a:r>
              <a:rPr lang="en-US" dirty="0"/>
              <a:t>Check your understanding</a:t>
            </a:r>
          </a:p>
        </p:txBody>
      </p:sp>
      <p:sp>
        <p:nvSpPr>
          <p:cNvPr id="3" name="TextBox 2">
            <a:extLst>
              <a:ext uri="{FF2B5EF4-FFF2-40B4-BE49-F238E27FC236}">
                <a16:creationId xmlns:a16="http://schemas.microsoft.com/office/drawing/2014/main" id="{8FC002F9-0EF6-604B-936A-38F632754676}"/>
              </a:ext>
            </a:extLst>
          </p:cNvPr>
          <p:cNvSpPr txBox="1"/>
          <p:nvPr/>
        </p:nvSpPr>
        <p:spPr>
          <a:xfrm>
            <a:off x="1205345" y="914398"/>
            <a:ext cx="10640291" cy="4832092"/>
          </a:xfrm>
          <a:prstGeom prst="rect">
            <a:avLst/>
          </a:prstGeom>
          <a:noFill/>
        </p:spPr>
        <p:txBody>
          <a:bodyPr wrap="square" rtlCol="0">
            <a:spAutoFit/>
          </a:bodyPr>
          <a:lstStyle/>
          <a:p>
            <a:r>
              <a:rPr lang="en-US" sz="2800" b="1" dirty="0"/>
              <a:t>TURN AND TALK</a:t>
            </a:r>
          </a:p>
          <a:p>
            <a:endParaRPr lang="en-US" sz="2800" b="1" dirty="0"/>
          </a:p>
          <a:p>
            <a:endParaRPr lang="en-US" sz="2800" b="1" dirty="0"/>
          </a:p>
          <a:p>
            <a:pPr marL="514350" indent="-514350">
              <a:buAutoNum type="arabicPeriod"/>
            </a:pPr>
            <a:r>
              <a:rPr lang="en-US" sz="2800" b="1" dirty="0"/>
              <a:t>Define attachment 																	(2 marks)</a:t>
            </a:r>
          </a:p>
          <a:p>
            <a:pPr marL="514350" indent="-514350">
              <a:buAutoNum type="arabicPeriod"/>
            </a:pPr>
            <a:r>
              <a:rPr lang="en-US" sz="2800" b="1" dirty="0"/>
              <a:t>Outline attachment theory 																(4 marks)</a:t>
            </a:r>
          </a:p>
          <a:p>
            <a:pPr marL="514350" indent="-514350">
              <a:buAutoNum type="arabicPeriod"/>
            </a:pPr>
            <a:r>
              <a:rPr lang="en-US" sz="2800" b="1" dirty="0"/>
              <a:t>Prior to Harlow – why did Scientists believe babies attached to their caregivers?																	(2 marks)</a:t>
            </a:r>
          </a:p>
          <a:p>
            <a:pPr marL="514350" indent="-514350">
              <a:buAutoNum type="arabicPeriod"/>
            </a:pPr>
            <a:r>
              <a:rPr lang="en-US" sz="2800" b="1" dirty="0"/>
              <a:t>What did Bowlby add to the theory of attachment? 	(5 marks)</a:t>
            </a:r>
          </a:p>
        </p:txBody>
      </p:sp>
    </p:spTree>
    <p:extLst>
      <p:ext uri="{BB962C8B-B14F-4D97-AF65-F5344CB8AC3E}">
        <p14:creationId xmlns:p14="http://schemas.microsoft.com/office/powerpoint/2010/main" val="4160511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5721E5-8DA7-E749-9C18-9E86F41335C5}"/>
              </a:ext>
            </a:extLst>
          </p:cNvPr>
          <p:cNvSpPr txBox="1"/>
          <p:nvPr/>
        </p:nvSpPr>
        <p:spPr>
          <a:xfrm>
            <a:off x="508659" y="2159330"/>
            <a:ext cx="6521144" cy="1862048"/>
          </a:xfrm>
          <a:prstGeom prst="rect">
            <a:avLst/>
          </a:prstGeom>
          <a:noFill/>
        </p:spPr>
        <p:txBody>
          <a:bodyPr wrap="none" rtlCol="0">
            <a:spAutoFit/>
          </a:bodyPr>
          <a:lstStyle/>
          <a:p>
            <a:r>
              <a:rPr lang="en-US" sz="11500" b="1" dirty="0"/>
              <a:t>Ainsworth</a:t>
            </a:r>
          </a:p>
        </p:txBody>
      </p:sp>
      <p:pic>
        <p:nvPicPr>
          <p:cNvPr id="1028" name="Picture 4" descr="Candid photograph of Mary Ainsworth">
            <a:extLst>
              <a:ext uri="{FF2B5EF4-FFF2-40B4-BE49-F238E27FC236}">
                <a16:creationId xmlns:a16="http://schemas.microsoft.com/office/drawing/2014/main" id="{7CBA81C1-A749-2348-939E-E26432A384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1774" y="0"/>
            <a:ext cx="523022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2597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Ainsworth’ </a:t>
            </a:r>
            <a:r>
              <a:rPr kumimoji="0" lang="en-US" sz="2800" b="1" i="1" u="none" strike="noStrike" kern="1200" cap="none" spc="0" normalizeH="0" baseline="0" noProof="0" dirty="0">
                <a:ln>
                  <a:noFill/>
                </a:ln>
                <a:solidFill>
                  <a:srgbClr val="305289"/>
                </a:solidFill>
                <a:effectLst/>
                <a:uLnTx/>
                <a:uFillTx/>
                <a:latin typeface="Calibri Light" panose="020F0302020204030204"/>
                <a:ea typeface="+mn-ea"/>
                <a:cs typeface="+mn-cs"/>
              </a:rPr>
              <a:t>Strange Situation</a:t>
            </a: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(1978)</a:t>
            </a:r>
            <a:endPar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8757128" y="5824806"/>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Describe Ainsworth’s research method.</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423486" y="880820"/>
            <a:ext cx="7028874" cy="612475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Designed an experiment to researched the differences in the </a:t>
            </a:r>
            <a:r>
              <a:rPr kumimoji="0" lang="en-AU" sz="2800" b="1" i="0" u="none" strike="noStrike" kern="1200" cap="none" spc="0" normalizeH="0" baseline="0" noProof="0" dirty="0">
                <a:ln>
                  <a:noFill/>
                </a:ln>
                <a:solidFill>
                  <a:prstClr val="black"/>
                </a:solidFill>
                <a:effectLst/>
                <a:uLnTx/>
                <a:uFillTx/>
                <a:latin typeface="Calibri" panose="020F0502020204030204"/>
                <a:ea typeface="+mn-ea"/>
                <a:cs typeface="+mn-cs"/>
              </a:rPr>
              <a:t>quality</a:t>
            </a: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 of attachment</a:t>
            </a:r>
          </a:p>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Experiment took place in a room and then a fixed sequence of events was orchestrated:</a:t>
            </a:r>
          </a:p>
          <a:p>
            <a:pPr marL="1428750" marR="0" lvl="2"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The infant enters with the mother</a:t>
            </a:r>
          </a:p>
          <a:p>
            <a:pPr marL="1428750" marR="0" lvl="2"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The infant plays with mother present</a:t>
            </a:r>
          </a:p>
          <a:p>
            <a:pPr marL="1428750" marR="0" lvl="2"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A stranger enters</a:t>
            </a:r>
          </a:p>
          <a:p>
            <a:pPr marL="1428750" marR="0" lvl="2"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The mother leaves infant alone in room with the stranger (separation)</a:t>
            </a:r>
          </a:p>
          <a:p>
            <a:pPr marL="1428750" marR="0" lvl="2"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The mother returns (reunion)</a:t>
            </a:r>
          </a:p>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The infant’s reactions were observed and recorded</a:t>
            </a:r>
          </a:p>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 name="Picture 1"/>
          <p:cNvPicPr>
            <a:picLocks noChangeAspect="1"/>
          </p:cNvPicPr>
          <p:nvPr/>
        </p:nvPicPr>
        <p:blipFill>
          <a:blip r:embed="rId2"/>
          <a:stretch>
            <a:fillRect/>
          </a:stretch>
        </p:blipFill>
        <p:spPr>
          <a:xfrm>
            <a:off x="7612500" y="2310715"/>
            <a:ext cx="4438087" cy="3357822"/>
          </a:xfrm>
          <a:prstGeom prst="rect">
            <a:avLst/>
          </a:prstGeom>
        </p:spPr>
      </p:pic>
    </p:spTree>
    <p:extLst>
      <p:ext uri="{BB962C8B-B14F-4D97-AF65-F5344CB8AC3E}">
        <p14:creationId xmlns:p14="http://schemas.microsoft.com/office/powerpoint/2010/main" val="429333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Ainsworth’ </a:t>
            </a:r>
            <a:r>
              <a:rPr kumimoji="0" lang="en-US" sz="2800" b="1" i="1" u="none" strike="noStrike" kern="1200" cap="none" spc="0" normalizeH="0" baseline="0" noProof="0" dirty="0">
                <a:ln>
                  <a:noFill/>
                </a:ln>
                <a:solidFill>
                  <a:srgbClr val="305289"/>
                </a:solidFill>
                <a:effectLst/>
                <a:uLnTx/>
                <a:uFillTx/>
                <a:latin typeface="Calibri Light" panose="020F0302020204030204"/>
                <a:ea typeface="+mn-ea"/>
                <a:cs typeface="+mn-cs"/>
              </a:rPr>
              <a:t>Strange Situation</a:t>
            </a: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(1978)</a:t>
            </a:r>
            <a:endPar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8808720" y="4605605"/>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Record your own observations of the infants’ reactions.</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pic>
        <p:nvPicPr>
          <p:cNvPr id="3" name="PnFKaaOSPmk"/>
          <p:cNvPicPr>
            <a:picLocks noRot="1" noChangeAspect="1"/>
          </p:cNvPicPr>
          <p:nvPr>
            <a:videoFile r:link="rId1"/>
          </p:nvPr>
        </p:nvPicPr>
        <p:blipFill>
          <a:blip r:embed="rId3"/>
          <a:stretch>
            <a:fillRect/>
          </a:stretch>
        </p:blipFill>
        <p:spPr>
          <a:xfrm>
            <a:off x="503472" y="1286509"/>
            <a:ext cx="9773759" cy="5497739"/>
          </a:xfrm>
          <a:prstGeom prst="rect">
            <a:avLst/>
          </a:prstGeom>
        </p:spPr>
      </p:pic>
    </p:spTree>
    <p:extLst>
      <p:ext uri="{BB962C8B-B14F-4D97-AF65-F5344CB8AC3E}">
        <p14:creationId xmlns:p14="http://schemas.microsoft.com/office/powerpoint/2010/main" val="1363669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Ainsworth’ </a:t>
            </a:r>
            <a:r>
              <a:rPr kumimoji="0" lang="en-US" sz="2800" b="1" i="1" u="none" strike="noStrike" kern="1200" cap="none" spc="0" normalizeH="0" baseline="0" noProof="0" dirty="0">
                <a:ln>
                  <a:noFill/>
                </a:ln>
                <a:solidFill>
                  <a:srgbClr val="305289"/>
                </a:solidFill>
                <a:effectLst/>
                <a:uLnTx/>
                <a:uFillTx/>
                <a:latin typeface="Calibri Light" panose="020F0302020204030204"/>
                <a:ea typeface="+mn-ea"/>
                <a:cs typeface="+mn-cs"/>
              </a:rPr>
              <a:t>Strange Situation</a:t>
            </a: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(1978)</a:t>
            </a:r>
            <a:endPar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8808720" y="5674988"/>
          <a:ext cx="3383280" cy="9499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Distinguish Ainsworth’s categories of infant behaviour</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sp>
        <p:nvSpPr>
          <p:cNvPr id="2" name="TextBox 1">
            <a:extLst>
              <a:ext uri="{FF2B5EF4-FFF2-40B4-BE49-F238E27FC236}">
                <a16:creationId xmlns:a16="http://schemas.microsoft.com/office/drawing/2014/main" id="{F45C0799-6784-464F-886F-E9762FA45512}"/>
              </a:ext>
            </a:extLst>
          </p:cNvPr>
          <p:cNvSpPr txBox="1"/>
          <p:nvPr/>
        </p:nvSpPr>
        <p:spPr>
          <a:xfrm>
            <a:off x="831273" y="874877"/>
            <a:ext cx="6914405" cy="646331"/>
          </a:xfrm>
          <a:prstGeom prst="rect">
            <a:avLst/>
          </a:prstGeom>
          <a:noFill/>
        </p:spPr>
        <p:txBody>
          <a:bodyPr wrap="square" rtlCol="0">
            <a:spAutoFit/>
          </a:bodyPr>
          <a:lstStyle/>
          <a:p>
            <a:r>
              <a:rPr lang="en-US" dirty="0"/>
              <a:t>Through the observations Ainsworth catagorised 3 attachment types based on infant behaviour at 3 main stages of the observation:</a:t>
            </a:r>
          </a:p>
        </p:txBody>
      </p:sp>
      <p:graphicFrame>
        <p:nvGraphicFramePr>
          <p:cNvPr id="5" name="Table 5">
            <a:extLst>
              <a:ext uri="{FF2B5EF4-FFF2-40B4-BE49-F238E27FC236}">
                <a16:creationId xmlns:a16="http://schemas.microsoft.com/office/drawing/2014/main" id="{0B1FC919-F9BC-DA49-ABBC-0C3688C9047B}"/>
              </a:ext>
            </a:extLst>
          </p:cNvPr>
          <p:cNvGraphicFramePr>
            <a:graphicFrameLocks noGrp="1"/>
          </p:cNvGraphicFramePr>
          <p:nvPr/>
        </p:nvGraphicFramePr>
        <p:xfrm>
          <a:off x="605367" y="1919911"/>
          <a:ext cx="7912924" cy="4220018"/>
        </p:xfrm>
        <a:graphic>
          <a:graphicData uri="http://schemas.openxmlformats.org/drawingml/2006/table">
            <a:tbl>
              <a:tblPr firstRow="1" bandRow="1">
                <a:tableStyleId>{93296810-A885-4BE3-A3E7-6D5BEEA58F35}</a:tableStyleId>
              </a:tblPr>
              <a:tblGrid>
                <a:gridCol w="1253572">
                  <a:extLst>
                    <a:ext uri="{9D8B030D-6E8A-4147-A177-3AD203B41FA5}">
                      <a16:colId xmlns:a16="http://schemas.microsoft.com/office/drawing/2014/main" val="49561374"/>
                    </a:ext>
                  </a:extLst>
                </a:gridCol>
                <a:gridCol w="2438400">
                  <a:extLst>
                    <a:ext uri="{9D8B030D-6E8A-4147-A177-3AD203B41FA5}">
                      <a16:colId xmlns:a16="http://schemas.microsoft.com/office/drawing/2014/main" val="3510702387"/>
                    </a:ext>
                  </a:extLst>
                </a:gridCol>
                <a:gridCol w="2022763">
                  <a:extLst>
                    <a:ext uri="{9D8B030D-6E8A-4147-A177-3AD203B41FA5}">
                      <a16:colId xmlns:a16="http://schemas.microsoft.com/office/drawing/2014/main" val="356920451"/>
                    </a:ext>
                  </a:extLst>
                </a:gridCol>
                <a:gridCol w="2198189">
                  <a:extLst>
                    <a:ext uri="{9D8B030D-6E8A-4147-A177-3AD203B41FA5}">
                      <a16:colId xmlns:a16="http://schemas.microsoft.com/office/drawing/2014/main" val="957884531"/>
                    </a:ext>
                  </a:extLst>
                </a:gridCol>
              </a:tblGrid>
              <a:tr h="928178">
                <a:tc>
                  <a:txBody>
                    <a:bodyPr/>
                    <a:lstStyle/>
                    <a:p>
                      <a:endParaRPr lang="en-US"/>
                    </a:p>
                  </a:txBody>
                  <a:tcPr/>
                </a:tc>
                <a:tc>
                  <a:txBody>
                    <a:bodyPr/>
                    <a:lstStyle/>
                    <a:p>
                      <a:r>
                        <a:rPr lang="en-US" dirty="0"/>
                        <a:t>Type A:</a:t>
                      </a:r>
                    </a:p>
                    <a:p>
                      <a:r>
                        <a:rPr lang="en-US" dirty="0"/>
                        <a:t>Avoidant attached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Secure Attachment </a:t>
                      </a:r>
                    </a:p>
                    <a:p>
                      <a:endParaRPr lang="en-US" dirty="0"/>
                    </a:p>
                  </a:txBody>
                  <a:tcPr/>
                </a:tc>
                <a:tc>
                  <a:txBody>
                    <a:bodyPr/>
                    <a:lstStyle/>
                    <a:p>
                      <a:r>
                        <a:rPr lang="en-US" dirty="0"/>
                        <a:t>Type C:</a:t>
                      </a:r>
                    </a:p>
                    <a:p>
                      <a:r>
                        <a:rPr lang="en-US" dirty="0"/>
                        <a:t>Anxiously attached</a:t>
                      </a:r>
                    </a:p>
                  </a:txBody>
                  <a:tcPr/>
                </a:tc>
                <a:extLst>
                  <a:ext uri="{0D108BD9-81ED-4DB2-BD59-A6C34878D82A}">
                    <a16:rowId xmlns:a16="http://schemas.microsoft.com/office/drawing/2014/main" val="1642785084"/>
                  </a:ext>
                </a:extLst>
              </a:tr>
              <a:tr h="773097">
                <a:tc>
                  <a:txBody>
                    <a:bodyPr/>
                    <a:lstStyle/>
                    <a:p>
                      <a:r>
                        <a:rPr lang="en-US" dirty="0"/>
                        <a:t>Separation behaviour</a:t>
                      </a:r>
                    </a:p>
                  </a:txBody>
                  <a:tcPr/>
                </a:tc>
                <a:tc>
                  <a:txBody>
                    <a:bodyPr/>
                    <a:lstStyle/>
                    <a:p>
                      <a:r>
                        <a:rPr lang="en-US" dirty="0"/>
                        <a:t>Shows limited sign of distress when mother leaves</a:t>
                      </a:r>
                    </a:p>
                  </a:txBody>
                  <a:tcPr/>
                </a:tc>
                <a:tc>
                  <a:txBody>
                    <a:bodyPr/>
                    <a:lstStyle/>
                    <a:p>
                      <a:r>
                        <a:rPr lang="en-US" dirty="0"/>
                        <a:t>Distressed when mother leaves</a:t>
                      </a:r>
                    </a:p>
                  </a:txBody>
                  <a:tcPr/>
                </a:tc>
                <a:tc>
                  <a:txBody>
                    <a:bodyPr/>
                    <a:lstStyle/>
                    <a:p>
                      <a:r>
                        <a:rPr lang="en-US" dirty="0"/>
                        <a:t>Intense distress when mother leaves</a:t>
                      </a:r>
                    </a:p>
                  </a:txBody>
                  <a:tcPr/>
                </a:tc>
                <a:extLst>
                  <a:ext uri="{0D108BD9-81ED-4DB2-BD59-A6C34878D82A}">
                    <a16:rowId xmlns:a16="http://schemas.microsoft.com/office/drawing/2014/main" val="2324993876"/>
                  </a:ext>
                </a:extLst>
              </a:tr>
              <a:tr h="773097">
                <a:tc>
                  <a:txBody>
                    <a:bodyPr/>
                    <a:lstStyle/>
                    <a:p>
                      <a:r>
                        <a:rPr lang="en-US" dirty="0"/>
                        <a:t>Stranger Anxiety</a:t>
                      </a:r>
                    </a:p>
                  </a:txBody>
                  <a:tcPr/>
                </a:tc>
                <a:tc>
                  <a:txBody>
                    <a:bodyPr/>
                    <a:lstStyle/>
                    <a:p>
                      <a:r>
                        <a:rPr lang="en-US" dirty="0"/>
                        <a:t>Okay with stranger, plays normally when  present</a:t>
                      </a:r>
                    </a:p>
                  </a:txBody>
                  <a:tcPr/>
                </a:tc>
                <a:tc>
                  <a:txBody>
                    <a:bodyPr/>
                    <a:lstStyle/>
                    <a:p>
                      <a:r>
                        <a:rPr lang="en-US" dirty="0"/>
                        <a:t>Avoidant of stranger when alone, friendly when mother is present</a:t>
                      </a:r>
                    </a:p>
                  </a:txBody>
                  <a:tcPr/>
                </a:tc>
                <a:tc>
                  <a:txBody>
                    <a:bodyPr/>
                    <a:lstStyle/>
                    <a:p>
                      <a:r>
                        <a:rPr lang="en-US" dirty="0"/>
                        <a:t>Fear of strangers and avoids</a:t>
                      </a:r>
                    </a:p>
                  </a:txBody>
                  <a:tcPr/>
                </a:tc>
                <a:extLst>
                  <a:ext uri="{0D108BD9-81ED-4DB2-BD59-A6C34878D82A}">
                    <a16:rowId xmlns:a16="http://schemas.microsoft.com/office/drawing/2014/main" val="341087336"/>
                  </a:ext>
                </a:extLst>
              </a:tr>
              <a:tr h="773097">
                <a:tc>
                  <a:txBody>
                    <a:bodyPr/>
                    <a:lstStyle/>
                    <a:p>
                      <a:r>
                        <a:rPr lang="en-US" dirty="0"/>
                        <a:t>Reunion Behaviour</a:t>
                      </a:r>
                    </a:p>
                  </a:txBody>
                  <a:tcPr/>
                </a:tc>
                <a:tc>
                  <a:txBody>
                    <a:bodyPr/>
                    <a:lstStyle/>
                    <a:p>
                      <a:r>
                        <a:rPr lang="en-US" dirty="0"/>
                        <a:t>Little interest when mother returns</a:t>
                      </a:r>
                    </a:p>
                  </a:txBody>
                  <a:tcPr/>
                </a:tc>
                <a:tc>
                  <a:txBody>
                    <a:bodyPr/>
                    <a:lstStyle/>
                    <a:p>
                      <a:r>
                        <a:rPr lang="en-US" dirty="0"/>
                        <a:t>Positive and greets mother when she returns </a:t>
                      </a:r>
                    </a:p>
                  </a:txBody>
                  <a:tcPr/>
                </a:tc>
                <a:tc>
                  <a:txBody>
                    <a:bodyPr/>
                    <a:lstStyle/>
                    <a:p>
                      <a:r>
                        <a:rPr lang="en-US" dirty="0"/>
                        <a:t>Child is not easy to calm once mother has returned</a:t>
                      </a:r>
                    </a:p>
                  </a:txBody>
                  <a:tcPr/>
                </a:tc>
                <a:extLst>
                  <a:ext uri="{0D108BD9-81ED-4DB2-BD59-A6C34878D82A}">
                    <a16:rowId xmlns:a16="http://schemas.microsoft.com/office/drawing/2014/main" val="204407921"/>
                  </a:ext>
                </a:extLst>
              </a:tr>
            </a:tbl>
          </a:graphicData>
        </a:graphic>
      </p:graphicFrame>
    </p:spTree>
    <p:extLst>
      <p:ext uri="{BB962C8B-B14F-4D97-AF65-F5344CB8AC3E}">
        <p14:creationId xmlns:p14="http://schemas.microsoft.com/office/powerpoint/2010/main" val="2746459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Ainsworth’ </a:t>
            </a:r>
            <a:r>
              <a:rPr kumimoji="0" lang="en-US" sz="2800" b="1" i="1" u="none" strike="noStrike" kern="1200" cap="none" spc="0" normalizeH="0" baseline="0" noProof="0" dirty="0">
                <a:ln>
                  <a:noFill/>
                </a:ln>
                <a:solidFill>
                  <a:srgbClr val="305289"/>
                </a:solidFill>
                <a:effectLst/>
                <a:uLnTx/>
                <a:uFillTx/>
                <a:latin typeface="Calibri Light" panose="020F0302020204030204"/>
                <a:ea typeface="+mn-ea"/>
                <a:cs typeface="+mn-cs"/>
              </a:rPr>
              <a:t>Strange Situation </a:t>
            </a: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(1978)</a:t>
            </a:r>
            <a:endPar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9857439" y="3071273"/>
          <a:ext cx="2334561" cy="2865120"/>
        </p:xfrm>
        <a:graphic>
          <a:graphicData uri="http://schemas.openxmlformats.org/drawingml/2006/table">
            <a:tbl>
              <a:tblPr firstRow="1" bandRow="1">
                <a:tableStyleId>{5C22544A-7EE6-4342-B048-85BDC9FD1C3A}</a:tableStyleId>
              </a:tblPr>
              <a:tblGrid>
                <a:gridCol w="2334561">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Distinguish the behaviours of the mothers of each type of infant. </a:t>
                      </a:r>
                    </a:p>
                    <a:p>
                      <a:pPr marL="342900" indent="-342900">
                        <a:buFont typeface="+mj-lt"/>
                        <a:buAutoNum type="arabicPeriod"/>
                      </a:pPr>
                      <a:r>
                        <a:rPr lang="en-AU" sz="1600" b="0" baseline="0" dirty="0"/>
                        <a:t>How, according to Ainsworth, do different responses of mothers affected attachment? </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sp>
        <p:nvSpPr>
          <p:cNvPr id="4" name="TextBox 3">
            <a:extLst>
              <a:ext uri="{FF2B5EF4-FFF2-40B4-BE49-F238E27FC236}">
                <a16:creationId xmlns:a16="http://schemas.microsoft.com/office/drawing/2014/main" id="{FFA15FF7-DAB8-E745-85CE-A1BCD46227A3}"/>
              </a:ext>
            </a:extLst>
          </p:cNvPr>
          <p:cNvSpPr txBox="1"/>
          <p:nvPr/>
        </p:nvSpPr>
        <p:spPr>
          <a:xfrm>
            <a:off x="263346" y="1027352"/>
            <a:ext cx="8482795" cy="563231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Ainsworth believes that attachment security depends on how sensitive and response a caregiver is to an infant’s signals:</a:t>
            </a:r>
          </a:p>
          <a:p>
            <a:pPr marL="1371600" marR="0" lvl="2"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Infants in Group B (securely attached) tend to have mothers who are more sensitive, accepting and expressive of affection towards them than the mothers of those who are insecurely attached.</a:t>
            </a:r>
          </a:p>
          <a:p>
            <a:pPr marL="1371600" marR="0" lvl="2"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lang="en-AU" sz="2400" dirty="0">
              <a:solidFill>
                <a:prstClr val="black"/>
              </a:solidFill>
              <a:latin typeface="Calibri" panose="020F0502020204030204"/>
            </a:endParaRPr>
          </a:p>
          <a:p>
            <a:pPr marL="1371600" marR="0" lvl="2"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Mothers of Group A types infants are insensitive to their signals, they do not often have close body contact with their infant, and instead of being affectionate, they are often irritable and behave in an angry manner. </a:t>
            </a:r>
          </a:p>
          <a:p>
            <a:pPr marR="0" lvl="2" algn="l" defTabSz="914400" rtl="0" eaLnBrk="1" fontAlgn="auto" latinLnBrk="0" hangingPunct="1">
              <a:lnSpc>
                <a:spcPct val="100000"/>
              </a:lnSpc>
              <a:spcBef>
                <a:spcPts val="0"/>
              </a:spcBef>
              <a:spcAft>
                <a:spcPts val="0"/>
              </a:spcAft>
              <a:buClrTx/>
              <a:buSzTx/>
              <a:tabLst/>
              <a:defRPr/>
            </a:pPr>
            <a:endPar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371600" marR="0" lvl="2"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rPr>
              <a:t>The mother of Group C type infants are insensitive and awkward with their infants and are not affectionate, but not as rejecting as the Group A mothers</a:t>
            </a:r>
          </a:p>
        </p:txBody>
      </p:sp>
    </p:spTree>
    <p:extLst>
      <p:ext uri="{BB962C8B-B14F-4D97-AF65-F5344CB8AC3E}">
        <p14:creationId xmlns:p14="http://schemas.microsoft.com/office/powerpoint/2010/main" val="1931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3473BDB-BC5F-364D-BFB8-0992948BF2B1}"/>
              </a:ext>
            </a:extLst>
          </p:cNvPr>
          <p:cNvSpPr txBox="1"/>
          <p:nvPr/>
        </p:nvSpPr>
        <p:spPr>
          <a:xfrm>
            <a:off x="263346" y="118438"/>
            <a:ext cx="8545374" cy="596571"/>
          </a:xfrm>
          <a:prstGeom prst="rect">
            <a:avLst/>
          </a:prstGeom>
        </p:spPr>
        <p:txBody>
          <a:bodyPr vert="horz" lIns="91440" tIns="45720" rIns="91440" bIns="45720" rtlCol="0" anchor="t">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2800" b="1" i="0" u="none" strike="noStrike" kern="1200" cap="none" spc="0" normalizeH="0" baseline="0" noProof="0" dirty="0">
                <a:ln>
                  <a:noFill/>
                </a:ln>
                <a:solidFill>
                  <a:srgbClr val="305289"/>
                </a:solidFill>
                <a:effectLst/>
                <a:uLnTx/>
                <a:uFillTx/>
                <a:latin typeface="Calibri Light" panose="020F0302020204030204"/>
                <a:ea typeface="+mn-ea"/>
                <a:cs typeface="+mn-cs"/>
              </a:rPr>
              <a:t>Attachment Theory – Impact on later life</a:t>
            </a:r>
            <a:endParaRPr kumimoji="0" lang="en-US" sz="2400" b="1" i="0" u="none" strike="noStrike" kern="1200" cap="none" spc="0" normalizeH="0" baseline="0" noProof="0" dirty="0">
              <a:ln>
                <a:noFill/>
              </a:ln>
              <a:solidFill>
                <a:srgbClr val="305289"/>
              </a:solidFill>
              <a:effectLst/>
              <a:uLnTx/>
              <a:uFillTx/>
              <a:latin typeface="Calibri Light" panose="020F0302020204030204"/>
              <a:ea typeface="+mn-ea"/>
              <a:cs typeface="+mn-cs"/>
            </a:endParaRPr>
          </a:p>
        </p:txBody>
      </p:sp>
      <p:graphicFrame>
        <p:nvGraphicFramePr>
          <p:cNvPr id="11" name="Table 10">
            <a:extLst>
              <a:ext uri="{FF2B5EF4-FFF2-40B4-BE49-F238E27FC236}">
                <a16:creationId xmlns:a16="http://schemas.microsoft.com/office/drawing/2014/main" id="{83FFDBBF-2634-7A40-A3BE-259A891E7C1D}"/>
              </a:ext>
            </a:extLst>
          </p:cNvPr>
          <p:cNvGraphicFramePr>
            <a:graphicFrameLocks noGrp="1"/>
          </p:cNvGraphicFramePr>
          <p:nvPr/>
        </p:nvGraphicFramePr>
        <p:xfrm>
          <a:off x="8860312" y="113463"/>
          <a:ext cx="3331688" cy="2169160"/>
        </p:xfrm>
        <a:graphic>
          <a:graphicData uri="http://schemas.openxmlformats.org/drawingml/2006/table">
            <a:tbl>
              <a:tblPr firstRow="1" bandRow="1">
                <a:tableStyleId>{5C22544A-7EE6-4342-B048-85BDC9FD1C3A}</a:tableStyleId>
              </a:tblPr>
              <a:tblGrid>
                <a:gridCol w="3331688">
                  <a:extLst>
                    <a:ext uri="{9D8B030D-6E8A-4147-A177-3AD203B41FA5}">
                      <a16:colId xmlns:a16="http://schemas.microsoft.com/office/drawing/2014/main" val="1858754453"/>
                    </a:ext>
                  </a:extLst>
                </a:gridCol>
              </a:tblGrid>
              <a:tr h="370840">
                <a:tc>
                  <a:txBody>
                    <a:bodyPr/>
                    <a:lstStyle/>
                    <a:p>
                      <a:pPr algn="ctr"/>
                      <a:r>
                        <a:rPr lang="en-AU" sz="1400" dirty="0"/>
                        <a:t>Vocabulary</a:t>
                      </a:r>
                    </a:p>
                  </a:txBody>
                  <a:tcPr>
                    <a:solidFill>
                      <a:srgbClr val="425E57"/>
                    </a:solidFill>
                  </a:tcPr>
                </a:tc>
                <a:extLst>
                  <a:ext uri="{0D108BD9-81ED-4DB2-BD59-A6C34878D82A}">
                    <a16:rowId xmlns:a16="http://schemas.microsoft.com/office/drawing/2014/main" val="3609628046"/>
                  </a:ext>
                </a:extLst>
              </a:tr>
              <a:tr h="370840">
                <a:tc>
                  <a:txBody>
                    <a:bodyPr/>
                    <a:lstStyle/>
                    <a:p>
                      <a:r>
                        <a:rPr lang="en-AU" sz="1400" b="1" baseline="0" dirty="0"/>
                        <a:t>attachment:</a:t>
                      </a:r>
                      <a:r>
                        <a:rPr lang="en-AU" sz="1400" b="0" baseline="0" dirty="0"/>
                        <a:t> the close emotional bond or relationship between an infant and the primary caregiver (</a:t>
                      </a:r>
                      <a:r>
                        <a:rPr lang="en-AU" sz="1400" b="1" baseline="0" dirty="0"/>
                        <a:t>attachment </a:t>
                      </a:r>
                      <a:r>
                        <a:rPr lang="en-AU" sz="1400" b="0" baseline="0" dirty="0"/>
                        <a:t>theory aims to explain this relationship)</a:t>
                      </a:r>
                    </a:p>
                    <a:p>
                      <a:r>
                        <a:rPr lang="en-AU" sz="1400" b="1" baseline="0" dirty="0"/>
                        <a:t>infancy</a:t>
                      </a:r>
                      <a:r>
                        <a:rPr lang="en-AU" sz="1400" b="0" baseline="0" dirty="0"/>
                        <a:t>: roughly the first year of life</a:t>
                      </a:r>
                    </a:p>
                    <a:p>
                      <a:r>
                        <a:rPr lang="en-AU" sz="1400" b="1" baseline="0" dirty="0"/>
                        <a:t>surrogate: </a:t>
                      </a:r>
                      <a:r>
                        <a:rPr lang="en-AU" sz="1400" b="0" baseline="0" dirty="0"/>
                        <a:t>anyone/anything that ‘substitutes for’ or ‘plays the part of’ something else</a:t>
                      </a:r>
                      <a:endParaRPr lang="en-AU" sz="1400" b="1" baseline="0" dirty="0"/>
                    </a:p>
                  </a:txBody>
                  <a:tcPr>
                    <a:solidFill>
                      <a:srgbClr val="425E57">
                        <a:alpha val="41961"/>
                      </a:srgbClr>
                    </a:solidFill>
                  </a:tcPr>
                </a:tc>
                <a:extLst>
                  <a:ext uri="{0D108BD9-81ED-4DB2-BD59-A6C34878D82A}">
                    <a16:rowId xmlns:a16="http://schemas.microsoft.com/office/drawing/2014/main" val="2915210793"/>
                  </a:ext>
                </a:extLst>
              </a:tr>
            </a:tbl>
          </a:graphicData>
        </a:graphic>
      </p:graphicFrame>
      <p:graphicFrame>
        <p:nvGraphicFramePr>
          <p:cNvPr id="15" name="Table 14">
            <a:extLst>
              <a:ext uri="{FF2B5EF4-FFF2-40B4-BE49-F238E27FC236}">
                <a16:creationId xmlns:a16="http://schemas.microsoft.com/office/drawing/2014/main" id="{C955C9F2-0CEF-7446-8F30-4E8D619EBA59}"/>
              </a:ext>
            </a:extLst>
          </p:cNvPr>
          <p:cNvGraphicFramePr>
            <a:graphicFrameLocks noGrp="1"/>
          </p:cNvGraphicFramePr>
          <p:nvPr/>
        </p:nvGraphicFramePr>
        <p:xfrm>
          <a:off x="9857439" y="3071273"/>
          <a:ext cx="2334561" cy="2865120"/>
        </p:xfrm>
        <a:graphic>
          <a:graphicData uri="http://schemas.openxmlformats.org/drawingml/2006/table">
            <a:tbl>
              <a:tblPr firstRow="1" bandRow="1">
                <a:tableStyleId>{5C22544A-7EE6-4342-B048-85BDC9FD1C3A}</a:tableStyleId>
              </a:tblPr>
              <a:tblGrid>
                <a:gridCol w="2334561">
                  <a:extLst>
                    <a:ext uri="{9D8B030D-6E8A-4147-A177-3AD203B41FA5}">
                      <a16:colId xmlns:a16="http://schemas.microsoft.com/office/drawing/2014/main" val="1858754453"/>
                    </a:ext>
                  </a:extLst>
                </a:gridCol>
              </a:tblGrid>
              <a:tr h="370840">
                <a:tc>
                  <a:txBody>
                    <a:bodyPr/>
                    <a:lstStyle/>
                    <a:p>
                      <a:pPr algn="ctr"/>
                      <a:r>
                        <a:rPr lang="en-AU" sz="1600" dirty="0"/>
                        <a:t>Checking for Understanding</a:t>
                      </a:r>
                    </a:p>
                  </a:txBody>
                  <a:tcPr>
                    <a:solidFill>
                      <a:srgbClr val="A55069"/>
                    </a:solidFill>
                  </a:tcPr>
                </a:tc>
                <a:extLst>
                  <a:ext uri="{0D108BD9-81ED-4DB2-BD59-A6C34878D82A}">
                    <a16:rowId xmlns:a16="http://schemas.microsoft.com/office/drawing/2014/main" val="3609628046"/>
                  </a:ext>
                </a:extLst>
              </a:tr>
              <a:tr h="370840">
                <a:tc>
                  <a:txBody>
                    <a:bodyPr/>
                    <a:lstStyle/>
                    <a:p>
                      <a:pPr marL="342900" indent="-342900">
                        <a:buFont typeface="+mj-lt"/>
                        <a:buAutoNum type="arabicPeriod"/>
                      </a:pPr>
                      <a:r>
                        <a:rPr lang="en-AU" sz="1600" b="0" baseline="0" dirty="0"/>
                        <a:t>Distinguish the behaviours of the mothers of each type of infant. </a:t>
                      </a:r>
                    </a:p>
                    <a:p>
                      <a:pPr marL="342900" indent="-342900">
                        <a:buFont typeface="+mj-lt"/>
                        <a:buAutoNum type="arabicPeriod"/>
                      </a:pPr>
                      <a:r>
                        <a:rPr lang="en-AU" sz="1600" b="0" baseline="0" dirty="0"/>
                        <a:t>How, according to Ainsworth, do different responses of mothers affected attachment? </a:t>
                      </a:r>
                    </a:p>
                  </a:txBody>
                  <a:tcPr>
                    <a:solidFill>
                      <a:srgbClr val="A55069">
                        <a:alpha val="41176"/>
                      </a:srgbClr>
                    </a:solidFill>
                  </a:tcPr>
                </a:tc>
                <a:extLst>
                  <a:ext uri="{0D108BD9-81ED-4DB2-BD59-A6C34878D82A}">
                    <a16:rowId xmlns:a16="http://schemas.microsoft.com/office/drawing/2014/main" val="2915210793"/>
                  </a:ext>
                </a:extLst>
              </a:tr>
            </a:tbl>
          </a:graphicData>
        </a:graphic>
      </p:graphicFrame>
      <p:sp>
        <p:nvSpPr>
          <p:cNvPr id="10" name="Rounded Rectangle 9">
            <a:extLst>
              <a:ext uri="{FF2B5EF4-FFF2-40B4-BE49-F238E27FC236}">
                <a16:creationId xmlns:a16="http://schemas.microsoft.com/office/drawing/2014/main" id="{91B81EA3-0C52-424E-B342-37EE26E471E5}"/>
              </a:ext>
            </a:extLst>
          </p:cNvPr>
          <p:cNvSpPr/>
          <p:nvPr/>
        </p:nvSpPr>
        <p:spPr>
          <a:xfrm rot="16200000">
            <a:off x="-906374" y="1789283"/>
            <a:ext cx="2078182" cy="261257"/>
          </a:xfrm>
          <a:prstGeom prst="roundRect">
            <a:avLst/>
          </a:prstGeom>
          <a:solidFill>
            <a:srgbClr val="4472C4">
              <a:alpha val="5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305289"/>
                </a:solidFill>
                <a:effectLst/>
                <a:uLnTx/>
                <a:uFillTx/>
                <a:latin typeface="Calibri" panose="020F0502020204030204"/>
                <a:ea typeface="+mn-ea"/>
                <a:cs typeface="+mn-cs"/>
              </a:rPr>
              <a:t>Concept Development</a:t>
            </a:r>
          </a:p>
        </p:txBody>
      </p:sp>
      <p:graphicFrame>
        <p:nvGraphicFramePr>
          <p:cNvPr id="7" name="Table 5">
            <a:extLst>
              <a:ext uri="{FF2B5EF4-FFF2-40B4-BE49-F238E27FC236}">
                <a16:creationId xmlns:a16="http://schemas.microsoft.com/office/drawing/2014/main" id="{8A6967DD-42FA-664F-BA84-550B0F0E0EB4}"/>
              </a:ext>
            </a:extLst>
          </p:cNvPr>
          <p:cNvGraphicFramePr>
            <a:graphicFrameLocks noGrp="1"/>
          </p:cNvGraphicFramePr>
          <p:nvPr/>
        </p:nvGraphicFramePr>
        <p:xfrm>
          <a:off x="340735" y="880820"/>
          <a:ext cx="8493781" cy="3764662"/>
        </p:xfrm>
        <a:graphic>
          <a:graphicData uri="http://schemas.openxmlformats.org/drawingml/2006/table">
            <a:tbl>
              <a:tblPr firstRow="1" bandRow="1">
                <a:tableStyleId>{93296810-A885-4BE3-A3E7-6D5BEEA58F35}</a:tableStyleId>
              </a:tblPr>
              <a:tblGrid>
                <a:gridCol w="1345592">
                  <a:extLst>
                    <a:ext uri="{9D8B030D-6E8A-4147-A177-3AD203B41FA5}">
                      <a16:colId xmlns:a16="http://schemas.microsoft.com/office/drawing/2014/main" val="49561374"/>
                    </a:ext>
                  </a:extLst>
                </a:gridCol>
                <a:gridCol w="2617394">
                  <a:extLst>
                    <a:ext uri="{9D8B030D-6E8A-4147-A177-3AD203B41FA5}">
                      <a16:colId xmlns:a16="http://schemas.microsoft.com/office/drawing/2014/main" val="3510702387"/>
                    </a:ext>
                  </a:extLst>
                </a:gridCol>
                <a:gridCol w="2171246">
                  <a:extLst>
                    <a:ext uri="{9D8B030D-6E8A-4147-A177-3AD203B41FA5}">
                      <a16:colId xmlns:a16="http://schemas.microsoft.com/office/drawing/2014/main" val="356920451"/>
                    </a:ext>
                  </a:extLst>
                </a:gridCol>
                <a:gridCol w="2359549">
                  <a:extLst>
                    <a:ext uri="{9D8B030D-6E8A-4147-A177-3AD203B41FA5}">
                      <a16:colId xmlns:a16="http://schemas.microsoft.com/office/drawing/2014/main" val="957884531"/>
                    </a:ext>
                  </a:extLst>
                </a:gridCol>
              </a:tblGrid>
              <a:tr h="781725">
                <a:tc>
                  <a:txBody>
                    <a:bodyPr/>
                    <a:lstStyle/>
                    <a:p>
                      <a:endParaRPr lang="en-US"/>
                    </a:p>
                  </a:txBody>
                  <a:tcPr/>
                </a:tc>
                <a:tc>
                  <a:txBody>
                    <a:bodyPr/>
                    <a:lstStyle/>
                    <a:p>
                      <a:r>
                        <a:rPr lang="en-US" dirty="0"/>
                        <a:t>Type A:</a:t>
                      </a:r>
                    </a:p>
                    <a:p>
                      <a:r>
                        <a:rPr lang="en-US" dirty="0"/>
                        <a:t>Avoidant attached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Secure Attachment </a:t>
                      </a:r>
                    </a:p>
                    <a:p>
                      <a:endParaRPr lang="en-US" dirty="0"/>
                    </a:p>
                  </a:txBody>
                  <a:tcPr/>
                </a:tc>
                <a:tc>
                  <a:txBody>
                    <a:bodyPr/>
                    <a:lstStyle/>
                    <a:p>
                      <a:r>
                        <a:rPr lang="en-US" dirty="0"/>
                        <a:t>Type C:</a:t>
                      </a:r>
                    </a:p>
                    <a:p>
                      <a:r>
                        <a:rPr lang="en-US" dirty="0"/>
                        <a:t>Anxiously attached</a:t>
                      </a:r>
                    </a:p>
                  </a:txBody>
                  <a:tcPr/>
                </a:tc>
                <a:extLst>
                  <a:ext uri="{0D108BD9-81ED-4DB2-BD59-A6C34878D82A}">
                    <a16:rowId xmlns:a16="http://schemas.microsoft.com/office/drawing/2014/main" val="1642785084"/>
                  </a:ext>
                </a:extLst>
              </a:tr>
              <a:tr h="1112902">
                <a:tc>
                  <a:txBody>
                    <a:bodyPr/>
                    <a:lstStyle/>
                    <a:p>
                      <a:r>
                        <a:rPr lang="en-US" dirty="0"/>
                        <a:t>View of self</a:t>
                      </a:r>
                    </a:p>
                  </a:txBody>
                  <a:tcPr/>
                </a:tc>
                <a:tc>
                  <a:txBody>
                    <a:bodyPr/>
                    <a:lstStyle/>
                    <a:p>
                      <a:r>
                        <a:rPr lang="en-US" dirty="0"/>
                        <a:t>Extreme levels of self-reliance / values independence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i="0" kern="1200" dirty="0">
                          <a:solidFill>
                            <a:schemeClr val="dk1"/>
                          </a:solidFill>
                          <a:effectLst/>
                          <a:latin typeface="+mn-lt"/>
                          <a:ea typeface="+mn-ea"/>
                          <a:cs typeface="+mn-cs"/>
                        </a:rPr>
                        <a:t>appreciate your own self-worth</a:t>
                      </a:r>
                      <a:endParaRPr lang="en-US" dirty="0"/>
                    </a:p>
                    <a:p>
                      <a:endParaRPr lang="en-US" dirty="0"/>
                    </a:p>
                  </a:txBody>
                  <a:tcPr/>
                </a:tc>
                <a:tc>
                  <a:txBody>
                    <a:bodyPr/>
                    <a:lstStyle/>
                    <a:p>
                      <a:r>
                        <a:rPr lang="en-AU" sz="1800" b="0" i="0" kern="1200" dirty="0">
                          <a:solidFill>
                            <a:schemeClr val="dk1"/>
                          </a:solidFill>
                          <a:effectLst/>
                          <a:latin typeface="+mn-lt"/>
                          <a:ea typeface="+mn-ea"/>
                          <a:cs typeface="+mn-cs"/>
                        </a:rPr>
                        <a:t>need to feel wanted and crave intimacy/ closeness</a:t>
                      </a:r>
                      <a:endParaRPr lang="en-US" dirty="0"/>
                    </a:p>
                  </a:txBody>
                  <a:tcPr/>
                </a:tc>
                <a:extLst>
                  <a:ext uri="{0D108BD9-81ED-4DB2-BD59-A6C34878D82A}">
                    <a16:rowId xmlns:a16="http://schemas.microsoft.com/office/drawing/2014/main" val="2324993876"/>
                  </a:ext>
                </a:extLst>
              </a:tr>
              <a:tr h="1112902">
                <a:tc>
                  <a:txBody>
                    <a:bodyPr/>
                    <a:lstStyle/>
                    <a:p>
                      <a:r>
                        <a:rPr lang="en-US" dirty="0"/>
                        <a:t>Long-term attachments</a:t>
                      </a:r>
                    </a:p>
                  </a:txBody>
                  <a:tcPr/>
                </a:tc>
                <a:tc>
                  <a:txBody>
                    <a:bodyPr/>
                    <a:lstStyle/>
                    <a:p>
                      <a:r>
                        <a:rPr lang="en-AU" sz="1800" b="0" i="0" kern="1200" dirty="0">
                          <a:solidFill>
                            <a:schemeClr val="dk1"/>
                          </a:solidFill>
                          <a:effectLst/>
                          <a:latin typeface="+mn-lt"/>
                          <a:ea typeface="+mn-ea"/>
                          <a:cs typeface="+mn-cs"/>
                        </a:rPr>
                        <a:t>have a hard time with emotional intimacy and trusting people</a:t>
                      </a:r>
                    </a:p>
                    <a:p>
                      <a:r>
                        <a:rPr lang="en-AU" sz="1800" b="0" i="0" kern="1200" dirty="0">
                          <a:solidFill>
                            <a:schemeClr val="dk1"/>
                          </a:solidFill>
                          <a:effectLst/>
                          <a:latin typeface="+mn-lt"/>
                          <a:ea typeface="+mn-ea"/>
                          <a:cs typeface="+mn-cs"/>
                        </a:rPr>
                        <a:t>Escapist tendencies and attitudes</a:t>
                      </a:r>
                      <a:endParaRPr lang="en-US" dirty="0"/>
                    </a:p>
                  </a:txBody>
                  <a:tcPr/>
                </a:tc>
                <a:tc>
                  <a:txBody>
                    <a:bodyPr/>
                    <a:lstStyle/>
                    <a:p>
                      <a:r>
                        <a:rPr lang="en-AU" sz="1800" b="0" i="0" kern="1200" dirty="0">
                          <a:solidFill>
                            <a:schemeClr val="dk1"/>
                          </a:solidFill>
                          <a:effectLst/>
                          <a:latin typeface="+mn-lt"/>
                          <a:ea typeface="+mn-ea"/>
                          <a:cs typeface="+mn-cs"/>
                        </a:rPr>
                        <a:t>find satisfaction in being with others, openly seek support and comfort from your partner </a:t>
                      </a:r>
                      <a:endParaRPr lang="en-US" dirty="0"/>
                    </a:p>
                  </a:txBody>
                  <a:tcPr/>
                </a:tc>
                <a:tc>
                  <a:txBody>
                    <a:bodyPr/>
                    <a:lstStyle/>
                    <a:p>
                      <a:r>
                        <a:rPr lang="en-US" dirty="0"/>
                        <a:t>Find it difficult to give partner space / observe their boundaries. </a:t>
                      </a:r>
                    </a:p>
                    <a:p>
                      <a:r>
                        <a:rPr lang="en-US" dirty="0"/>
                        <a:t>Often anxious when apart</a:t>
                      </a:r>
                    </a:p>
                  </a:txBody>
                  <a:tcPr/>
                </a:tc>
                <a:extLst>
                  <a:ext uri="{0D108BD9-81ED-4DB2-BD59-A6C34878D82A}">
                    <a16:rowId xmlns:a16="http://schemas.microsoft.com/office/drawing/2014/main" val="341087336"/>
                  </a:ext>
                </a:extLst>
              </a:tr>
            </a:tbl>
          </a:graphicData>
        </a:graphic>
      </p:graphicFrame>
      <p:sp>
        <p:nvSpPr>
          <p:cNvPr id="2" name="TextBox 1">
            <a:extLst>
              <a:ext uri="{FF2B5EF4-FFF2-40B4-BE49-F238E27FC236}">
                <a16:creationId xmlns:a16="http://schemas.microsoft.com/office/drawing/2014/main" id="{AC430D9A-42B9-2C41-98FD-4A5450724313}"/>
              </a:ext>
            </a:extLst>
          </p:cNvPr>
          <p:cNvSpPr txBox="1"/>
          <p:nvPr/>
        </p:nvSpPr>
        <p:spPr>
          <a:xfrm>
            <a:off x="132717" y="5816232"/>
            <a:ext cx="9343455" cy="923330"/>
          </a:xfrm>
          <a:prstGeom prst="rect">
            <a:avLst/>
          </a:prstGeom>
          <a:noFill/>
        </p:spPr>
        <p:txBody>
          <a:bodyPr wrap="none" rtlCol="0">
            <a:spAutoFit/>
          </a:bodyPr>
          <a:lstStyle/>
          <a:p>
            <a:r>
              <a:rPr lang="en-US" b="1" i="1" dirty="0"/>
              <a:t>Points to note:</a:t>
            </a:r>
          </a:p>
          <a:p>
            <a:r>
              <a:rPr lang="en-US" i="1" dirty="0"/>
              <a:t>Attachment types aren’t fixed, they can change</a:t>
            </a:r>
          </a:p>
          <a:p>
            <a:r>
              <a:rPr lang="en-US" i="1" dirty="0"/>
              <a:t>It is possible to change your attachment types and behaviours by unpacking childhood experience</a:t>
            </a:r>
          </a:p>
        </p:txBody>
      </p:sp>
    </p:spTree>
    <p:extLst>
      <p:ext uri="{BB962C8B-B14F-4D97-AF65-F5344CB8AC3E}">
        <p14:creationId xmlns:p14="http://schemas.microsoft.com/office/powerpoint/2010/main" val="305090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28AE72-2FBB-2F4A-A32D-E50DC8467CDD}"/>
              </a:ext>
            </a:extLst>
          </p:cNvPr>
          <p:cNvSpPr txBox="1"/>
          <p:nvPr/>
        </p:nvSpPr>
        <p:spPr>
          <a:xfrm>
            <a:off x="1339403" y="2137893"/>
            <a:ext cx="7455118" cy="769441"/>
          </a:xfrm>
          <a:prstGeom prst="rect">
            <a:avLst/>
          </a:prstGeom>
          <a:noFill/>
        </p:spPr>
        <p:txBody>
          <a:bodyPr wrap="none" rtlCol="0">
            <a:spAutoFit/>
          </a:bodyPr>
          <a:lstStyle/>
          <a:p>
            <a:r>
              <a:rPr lang="en-US" sz="4400" dirty="0"/>
              <a:t>WORK ON YOUR ASSESSSMENT.</a:t>
            </a:r>
          </a:p>
        </p:txBody>
      </p:sp>
    </p:spTree>
    <p:extLst>
      <p:ext uri="{BB962C8B-B14F-4D97-AF65-F5344CB8AC3E}">
        <p14:creationId xmlns:p14="http://schemas.microsoft.com/office/powerpoint/2010/main" val="2340123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TotalTime>
  <Words>1152</Words>
  <Application>Microsoft Macintosh PowerPoint</Application>
  <PresentationFormat>Widescreen</PresentationFormat>
  <Paragraphs>145</Paragraphs>
  <Slides>11</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Century Gothic</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DAVEY Sarah [Joseph Banks Secondary College]</dc:creator>
  <cp:lastModifiedBy>DAVEY Sarah [Joseph Banks Secondary College]</cp:lastModifiedBy>
  <cp:revision>4</cp:revision>
  <dcterms:created xsi:type="dcterms:W3CDTF">2021-04-27T10:07:09Z</dcterms:created>
  <dcterms:modified xsi:type="dcterms:W3CDTF">2021-04-29T00:32:25Z</dcterms:modified>
</cp:coreProperties>
</file>
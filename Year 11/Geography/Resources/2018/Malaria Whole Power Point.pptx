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9"/>
  </p:handoutMasterIdLst>
  <p:sldIdLst>
    <p:sldId id="302" r:id="rId2"/>
    <p:sldId id="256" r:id="rId3"/>
    <p:sldId id="303" r:id="rId4"/>
    <p:sldId id="270" r:id="rId5"/>
    <p:sldId id="272" r:id="rId6"/>
    <p:sldId id="273" r:id="rId7"/>
    <p:sldId id="271" r:id="rId8"/>
    <p:sldId id="258" r:id="rId9"/>
    <p:sldId id="297" r:id="rId10"/>
    <p:sldId id="298" r:id="rId11"/>
    <p:sldId id="274" r:id="rId12"/>
    <p:sldId id="257" r:id="rId13"/>
    <p:sldId id="263" r:id="rId14"/>
    <p:sldId id="265" r:id="rId15"/>
    <p:sldId id="276" r:id="rId16"/>
    <p:sldId id="275" r:id="rId17"/>
    <p:sldId id="266" r:id="rId18"/>
    <p:sldId id="277" r:id="rId19"/>
    <p:sldId id="278" r:id="rId20"/>
    <p:sldId id="280" r:id="rId21"/>
    <p:sldId id="279" r:id="rId22"/>
    <p:sldId id="304" r:id="rId23"/>
    <p:sldId id="290" r:id="rId24"/>
    <p:sldId id="267" r:id="rId25"/>
    <p:sldId id="268" r:id="rId26"/>
    <p:sldId id="305" r:id="rId27"/>
    <p:sldId id="284" r:id="rId28"/>
    <p:sldId id="285" r:id="rId29"/>
    <p:sldId id="286" r:id="rId30"/>
    <p:sldId id="287" r:id="rId31"/>
    <p:sldId id="296" r:id="rId32"/>
    <p:sldId id="281" r:id="rId33"/>
    <p:sldId id="299" r:id="rId34"/>
    <p:sldId id="283" r:id="rId35"/>
    <p:sldId id="300" r:id="rId36"/>
    <p:sldId id="293" r:id="rId37"/>
    <p:sldId id="295" r:id="rId38"/>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377A2B55-DCFD-4EB5-9A84-3C44397A1C4E}" type="datetimeFigureOut">
              <a:rPr lang="en-AU" smtClean="0"/>
              <a:t>2/05/2018</a:t>
            </a:fld>
            <a:endParaRPr lang="en-AU"/>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35630F9-66CD-4193-84EF-6A74D4494C5E}" type="slidenum">
              <a:rPr lang="en-AU" smtClean="0"/>
              <a:t>‹#›</a:t>
            </a:fld>
            <a:endParaRPr lang="en-AU"/>
          </a:p>
        </p:txBody>
      </p:sp>
    </p:spTree>
    <p:extLst>
      <p:ext uri="{BB962C8B-B14F-4D97-AF65-F5344CB8AC3E}">
        <p14:creationId xmlns:p14="http://schemas.microsoft.com/office/powerpoint/2010/main" val="299525083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832DEB57-5D7A-4653-8FDE-B7EC1FAC9B82}" type="slidenum">
              <a:rPr lang="en-AU" smtClean="0"/>
              <a:t>‹#›</a:t>
            </a:fld>
            <a:endParaRPr lang="en-AU"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9" name="Slide Number Placeholder 8"/>
          <p:cNvSpPr>
            <a:spLocks noGrp="1"/>
          </p:cNvSpPr>
          <p:nvPr>
            <p:ph type="sldNum" sz="quarter" idx="11"/>
          </p:nvPr>
        </p:nvSpPr>
        <p:spPr/>
        <p:txBody>
          <a:bodyPr/>
          <a:lstStyle/>
          <a:p>
            <a:fld id="{832DEB57-5D7A-4653-8FDE-B7EC1FAC9B82}" type="slidenum">
              <a:rPr lang="en-AU" smtClean="0"/>
              <a:t>‹#›</a:t>
            </a:fld>
            <a:endParaRPr lang="en-AU" dirty="0"/>
          </a:p>
        </p:txBody>
      </p:sp>
      <p:sp>
        <p:nvSpPr>
          <p:cNvPr id="10" name="Footer Placeholder 9"/>
          <p:cNvSpPr>
            <a:spLocks noGrp="1"/>
          </p:cNvSpPr>
          <p:nvPr>
            <p:ph type="ftr" sz="quarter" idx="12"/>
          </p:nvPr>
        </p:nvSpPr>
        <p:spPr/>
        <p:txBody>
          <a:bodyPr/>
          <a:lstStyle/>
          <a:p>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A1D314-D18A-4328-BAAF-63AF9FF2901B}" type="datetimeFigureOut">
              <a:rPr lang="en-AU" smtClean="0"/>
              <a:t>2/05/2018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32DEB57-5D7A-4653-8FDE-B7EC1FAC9B82}" type="slidenum">
              <a:rPr lang="en-AU" smtClean="0"/>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32DEB57-5D7A-4653-8FDE-B7EC1FAC9B82}" type="slidenum">
              <a:rPr lang="en-AU" smtClean="0"/>
              <a:t>‹#›</a:t>
            </a:fld>
            <a:endParaRPr lang="en-AU"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BA1D314-D18A-4328-BAAF-63AF9FF2901B}" type="datetimeFigureOut">
              <a:rPr lang="en-AU" smtClean="0"/>
              <a:t>2/05/2018</a:t>
            </a:fld>
            <a:endParaRPr lang="en-AU"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www.youtube.com/watch?v=gwYIyjwYluc"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www.who.int/malaria/publications/country-profiles/profile_idn_en.pdf" TargetMode="External"/><Relationship Id="rId1" Type="http://schemas.openxmlformats.org/officeDocument/2006/relationships/slideLayout" Target="../slideLayouts/slideLayout6.xml"/><Relationship Id="rId4" Type="http://schemas.openxmlformats.org/officeDocument/2006/relationships/image" Target="../media/image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409854"/>
            <a:ext cx="8229600" cy="1354162"/>
          </a:xfrm>
        </p:spPr>
        <p:txBody>
          <a:bodyPr>
            <a:normAutofit/>
          </a:bodyPr>
          <a:lstStyle/>
          <a:p>
            <a:pPr algn="ctr"/>
            <a:r>
              <a:rPr lang="en-AU" sz="2400" dirty="0" smtClean="0">
                <a:latin typeface="Aharoni" pitchFamily="2" charset="-79"/>
                <a:cs typeface="Aharoni" pitchFamily="2" charset="-79"/>
              </a:rPr>
              <a:t>Malaria – Tropical Diseases</a:t>
            </a:r>
            <a:br>
              <a:rPr lang="en-AU" sz="2400" dirty="0" smtClean="0">
                <a:latin typeface="Aharoni" pitchFamily="2" charset="-79"/>
                <a:cs typeface="Aharoni" pitchFamily="2" charset="-79"/>
              </a:rPr>
            </a:br>
            <a:r>
              <a:rPr lang="en-AU" sz="2400" dirty="0" smtClean="0">
                <a:solidFill>
                  <a:srgbClr val="FF0000"/>
                </a:solidFill>
                <a:latin typeface="Aharoni" pitchFamily="2" charset="-79"/>
                <a:cs typeface="Aharoni" pitchFamily="2" charset="-79"/>
              </a:rPr>
              <a:t>Depth Study Two</a:t>
            </a:r>
            <a:r>
              <a:rPr lang="en-AU" sz="2400" dirty="0" smtClean="0">
                <a:latin typeface="Aharoni" pitchFamily="2" charset="-79"/>
                <a:cs typeface="Aharoni" pitchFamily="2" charset="-79"/>
              </a:rPr>
              <a:t/>
            </a:r>
            <a:br>
              <a:rPr lang="en-AU" sz="2400" dirty="0" smtClean="0">
                <a:latin typeface="Aharoni" pitchFamily="2" charset="-79"/>
                <a:cs typeface="Aharoni" pitchFamily="2" charset="-79"/>
              </a:rPr>
            </a:br>
            <a:r>
              <a:rPr lang="en-AU" sz="2400" dirty="0" smtClean="0">
                <a:latin typeface="Aharoni" pitchFamily="2" charset="-79"/>
                <a:cs typeface="Aharoni" pitchFamily="2" charset="-79"/>
              </a:rPr>
              <a:t>Unit 1 - GEOGRAPHY</a:t>
            </a:r>
            <a:endParaRPr lang="en-AU" sz="2400" dirty="0">
              <a:latin typeface="Aharoni" pitchFamily="2" charset="-79"/>
              <a:cs typeface="Aharoni" pitchFamily="2" charset="-79"/>
            </a:endParaRPr>
          </a:p>
        </p:txBody>
      </p:sp>
      <p:sp>
        <p:nvSpPr>
          <p:cNvPr id="5" name="Rectangle 4"/>
          <p:cNvSpPr/>
          <p:nvPr/>
        </p:nvSpPr>
        <p:spPr>
          <a:xfrm>
            <a:off x="0" y="2348880"/>
            <a:ext cx="8352928" cy="3970318"/>
          </a:xfrm>
          <a:prstGeom prst="rect">
            <a:avLst/>
          </a:prstGeom>
        </p:spPr>
        <p:txBody>
          <a:bodyPr wrap="square">
            <a:spAutoFit/>
          </a:bodyPr>
          <a:lstStyle/>
          <a:p>
            <a:pPr marL="457200" indent="-457200">
              <a:buFont typeface="Arial" panose="020B0604020202020204" pitchFamily="34" charset="0"/>
              <a:buChar char="•"/>
            </a:pPr>
            <a:r>
              <a:rPr lang="en-AU" sz="2800" i="1" dirty="0">
                <a:solidFill>
                  <a:srgbClr val="C00000"/>
                </a:solidFill>
              </a:rPr>
              <a:t>A biological or chemical hazard that has the potential to impact adversely on the wellbeing of people or on the environment more generally. </a:t>
            </a:r>
          </a:p>
          <a:p>
            <a:pPr marL="457200" indent="-457200">
              <a:buFont typeface="Arial" panose="020B0604020202020204" pitchFamily="34" charset="0"/>
              <a:buChar char="•"/>
            </a:pPr>
            <a:r>
              <a:rPr lang="en-AU" sz="2800" i="1" dirty="0">
                <a:solidFill>
                  <a:srgbClr val="C00000"/>
                </a:solidFill>
              </a:rPr>
              <a:t>Ecological hazards involve both biological and chemical agents. </a:t>
            </a:r>
          </a:p>
          <a:p>
            <a:pPr marL="457200" indent="-457200">
              <a:buFont typeface="Arial" panose="020B0604020202020204" pitchFamily="34" charset="0"/>
              <a:buChar char="•"/>
            </a:pPr>
            <a:r>
              <a:rPr lang="en-AU" sz="2800" i="1" dirty="0">
                <a:solidFill>
                  <a:srgbClr val="C00000"/>
                </a:solidFill>
              </a:rPr>
              <a:t>Biological factors lead to infectious diseases. While many of these diseases have proven difficult to eradicate, enough is known about them to mount interventions that drastically reduce their incidence. </a:t>
            </a:r>
          </a:p>
        </p:txBody>
      </p:sp>
      <p:pic>
        <p:nvPicPr>
          <p:cNvPr id="8194"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136964">
            <a:off x="5588103" y="197112"/>
            <a:ext cx="3214061" cy="17796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58638">
            <a:off x="268259" y="420257"/>
            <a:ext cx="2457793" cy="17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7404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409854"/>
            <a:ext cx="8229600" cy="1354162"/>
          </a:xfrm>
        </p:spPr>
        <p:txBody>
          <a:bodyPr>
            <a:normAutofit fontScale="90000"/>
          </a:bodyPr>
          <a:lstStyle/>
          <a:p>
            <a:pPr algn="ctr"/>
            <a:r>
              <a:rPr lang="en-AU" sz="2400" dirty="0" smtClean="0">
                <a:latin typeface="Aharoni" pitchFamily="2" charset="-79"/>
                <a:cs typeface="Aharoni" pitchFamily="2" charset="-79"/>
              </a:rPr>
              <a:t>Malaria – Tropical Diseases</a:t>
            </a:r>
            <a:br>
              <a:rPr lang="en-AU" sz="2400" dirty="0" smtClean="0">
                <a:latin typeface="Aharoni" pitchFamily="2" charset="-79"/>
                <a:cs typeface="Aharoni" pitchFamily="2" charset="-79"/>
              </a:rPr>
            </a:br>
            <a:r>
              <a:rPr lang="en-AU" sz="2400" dirty="0" smtClean="0">
                <a:solidFill>
                  <a:srgbClr val="FF0000"/>
                </a:solidFill>
                <a:latin typeface="Aharoni" pitchFamily="2" charset="-79"/>
                <a:cs typeface="Aharoni" pitchFamily="2" charset="-79"/>
              </a:rPr>
              <a:t>Depth Study Two  </a:t>
            </a:r>
            <a:br>
              <a:rPr lang="en-AU" sz="2400" dirty="0" smtClean="0">
                <a:solidFill>
                  <a:srgbClr val="FF0000"/>
                </a:solidFill>
                <a:latin typeface="Aharoni" pitchFamily="2" charset="-79"/>
                <a:cs typeface="Aharoni" pitchFamily="2" charset="-79"/>
              </a:rPr>
            </a:br>
            <a:r>
              <a:rPr lang="en-AU" sz="2400" dirty="0" smtClean="0">
                <a:solidFill>
                  <a:srgbClr val="FF0000"/>
                </a:solidFill>
                <a:latin typeface="Aharoni" pitchFamily="2" charset="-79"/>
                <a:cs typeface="Aharoni" pitchFamily="2" charset="-79"/>
              </a:rPr>
              <a:t>Ecological Hazards</a:t>
            </a:r>
            <a:r>
              <a:rPr lang="en-AU" sz="2400" dirty="0" smtClean="0">
                <a:latin typeface="Aharoni" pitchFamily="2" charset="-79"/>
                <a:cs typeface="Aharoni" pitchFamily="2" charset="-79"/>
              </a:rPr>
              <a:t/>
            </a:r>
            <a:br>
              <a:rPr lang="en-AU" sz="2400" dirty="0" smtClean="0">
                <a:latin typeface="Aharoni" pitchFamily="2" charset="-79"/>
                <a:cs typeface="Aharoni" pitchFamily="2" charset="-79"/>
              </a:rPr>
            </a:br>
            <a:r>
              <a:rPr lang="en-AU" sz="2400" dirty="0" smtClean="0">
                <a:latin typeface="Aharoni" pitchFamily="2" charset="-79"/>
                <a:cs typeface="Aharoni" pitchFamily="2" charset="-79"/>
              </a:rPr>
              <a:t>Unit 1 - GEOGRAPHY</a:t>
            </a:r>
            <a:endParaRPr lang="en-AU" sz="2400" dirty="0">
              <a:latin typeface="Aharoni" pitchFamily="2" charset="-79"/>
              <a:cs typeface="Aharoni" pitchFamily="2" charset="-79"/>
            </a:endParaRPr>
          </a:p>
        </p:txBody>
      </p:sp>
      <p:sp>
        <p:nvSpPr>
          <p:cNvPr id="5" name="Rectangle 4"/>
          <p:cNvSpPr/>
          <p:nvPr/>
        </p:nvSpPr>
        <p:spPr>
          <a:xfrm>
            <a:off x="740781" y="2852936"/>
            <a:ext cx="7344816" cy="2862322"/>
          </a:xfrm>
          <a:prstGeom prst="rect">
            <a:avLst/>
          </a:prstGeom>
        </p:spPr>
        <p:txBody>
          <a:bodyPr wrap="square">
            <a:spAutoFit/>
          </a:bodyPr>
          <a:lstStyle/>
          <a:p>
            <a:pPr algn="ctr"/>
            <a:r>
              <a:rPr lang="en-AU" sz="3600" i="1" dirty="0" smtClean="0">
                <a:solidFill>
                  <a:srgbClr val="C00000"/>
                </a:solidFill>
              </a:rPr>
              <a:t>Malaria</a:t>
            </a:r>
            <a:r>
              <a:rPr lang="en-AU" sz="3600" i="1" dirty="0" smtClean="0">
                <a:solidFill>
                  <a:schemeClr val="accent4">
                    <a:lumMod val="50000"/>
                  </a:schemeClr>
                </a:solidFill>
              </a:rPr>
              <a:t> is a disease caused by parasites that are carried by mosquitoes. Once in the bloodstream, the parasite inhabits the red blood cell (RBC). </a:t>
            </a:r>
            <a:endParaRPr lang="en-AU" sz="3600" i="1" dirty="0">
              <a:solidFill>
                <a:schemeClr val="accent4">
                  <a:lumMod val="50000"/>
                </a:schemeClr>
              </a:solidFill>
            </a:endParaRPr>
          </a:p>
        </p:txBody>
      </p:sp>
      <p:pic>
        <p:nvPicPr>
          <p:cNvPr id="8194"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136964">
            <a:off x="5588103" y="197112"/>
            <a:ext cx="3214061" cy="17796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58638">
            <a:off x="268259" y="420257"/>
            <a:ext cx="2457793" cy="17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9729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e2041615\AppData\Local\Microsoft\Windows\Temporary Internet Files\Content.IE5\U750XSMG\mosquito[1].gif">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136964">
            <a:off x="2923806" y="1996864"/>
            <a:ext cx="3214061" cy="1779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916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Key Information</a:t>
            </a:r>
            <a:endParaRPr lang="en-AU" b="1" dirty="0"/>
          </a:p>
        </p:txBody>
      </p:sp>
      <p:sp>
        <p:nvSpPr>
          <p:cNvPr id="3" name="TextBox 2"/>
          <p:cNvSpPr txBox="1"/>
          <p:nvPr/>
        </p:nvSpPr>
        <p:spPr>
          <a:xfrm>
            <a:off x="971600" y="1417638"/>
            <a:ext cx="7560840" cy="3970318"/>
          </a:xfrm>
          <a:prstGeom prst="rect">
            <a:avLst/>
          </a:prstGeom>
          <a:noFill/>
        </p:spPr>
        <p:txBody>
          <a:bodyPr wrap="square" rtlCol="0">
            <a:spAutoFit/>
          </a:bodyPr>
          <a:lstStyle/>
          <a:p>
            <a:pPr marL="285750" indent="-285750">
              <a:buFont typeface="Arial" panose="020B0604020202020204" pitchFamily="34" charset="0"/>
              <a:buChar char="•"/>
            </a:pPr>
            <a:r>
              <a:rPr lang="en-AU" dirty="0" smtClean="0"/>
              <a:t>Malaria is by far the most serious vector-borne disease in the World.</a:t>
            </a:r>
          </a:p>
          <a:p>
            <a:pPr marL="285750" indent="-285750">
              <a:buFont typeface="Arial" panose="020B0604020202020204" pitchFamily="34" charset="0"/>
              <a:buChar char="•"/>
            </a:pPr>
            <a:endParaRPr lang="en-AU" dirty="0" smtClean="0"/>
          </a:p>
          <a:p>
            <a:pPr marL="285750" indent="-285750">
              <a:buFont typeface="Arial" panose="020B0604020202020204" pitchFamily="34" charset="0"/>
              <a:buChar char="•"/>
            </a:pPr>
            <a:r>
              <a:rPr lang="en-AU" dirty="0" smtClean="0"/>
              <a:t>According to the WHO (</a:t>
            </a:r>
            <a:r>
              <a:rPr lang="en-AU" i="1" dirty="0" smtClean="0"/>
              <a:t>World Health Organisation</a:t>
            </a:r>
            <a:r>
              <a:rPr lang="en-AU" dirty="0" smtClean="0"/>
              <a:t>), there are more than 200 million people infected with malaria every year.</a:t>
            </a:r>
          </a:p>
          <a:p>
            <a:pPr marL="285750" indent="-285750">
              <a:buFont typeface="Arial" panose="020B0604020202020204" pitchFamily="34" charset="0"/>
              <a:buChar char="•"/>
            </a:pPr>
            <a:endParaRPr lang="en-AU" dirty="0" smtClean="0"/>
          </a:p>
          <a:p>
            <a:pPr marL="285750" indent="-285750">
              <a:buFont typeface="Arial" panose="020B0604020202020204" pitchFamily="34" charset="0"/>
              <a:buChar char="•"/>
            </a:pPr>
            <a:r>
              <a:rPr lang="en-AU" dirty="0" smtClean="0"/>
              <a:t>Malaria is a serious and sometimes fatal disease which is widespread in many tropical and subtropical countries.</a:t>
            </a:r>
          </a:p>
          <a:p>
            <a:endParaRPr lang="en-AU" dirty="0" smtClean="0"/>
          </a:p>
          <a:p>
            <a:pPr marL="285750" indent="-285750">
              <a:buFont typeface="Arial" panose="020B0604020202020204" pitchFamily="34" charset="0"/>
              <a:buChar char="•"/>
            </a:pPr>
            <a:r>
              <a:rPr lang="en-AU" dirty="0" smtClean="0"/>
              <a:t>It is caught by being bitten by an infected mosquito that is carrying the malaria parasites in its saliva.</a:t>
            </a:r>
          </a:p>
          <a:p>
            <a:endParaRPr lang="en-AU" dirty="0" smtClean="0"/>
          </a:p>
          <a:p>
            <a:pPr marL="285750" indent="-285750">
              <a:buFont typeface="Arial" panose="020B0604020202020204" pitchFamily="34" charset="0"/>
              <a:buChar char="•"/>
            </a:pPr>
            <a:r>
              <a:rPr lang="en-AU" dirty="0" smtClean="0"/>
              <a:t>The malaria parasite is a microscopic organism called </a:t>
            </a:r>
            <a:r>
              <a:rPr lang="en-AU" b="1" dirty="0" smtClean="0"/>
              <a:t>Plasmodium </a:t>
            </a:r>
            <a:r>
              <a:rPr lang="en-AU" dirty="0" smtClean="0"/>
              <a:t>and belongs to the group of tiny organisms known as protozoans.</a:t>
            </a:r>
          </a:p>
          <a:p>
            <a:endParaRPr lang="en-AU" dirty="0"/>
          </a:p>
        </p:txBody>
      </p:sp>
      <p:pic>
        <p:nvPicPr>
          <p:cNvPr id="9218" name="Picture 2" descr="C:\Users\e2041615\AppData\Local\Microsoft\Windows\Temporary Internet Files\Content.IE5\TM8SEV2T\No-Mosquito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5257799"/>
            <a:ext cx="1141104" cy="116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2318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Key Information</a:t>
            </a:r>
            <a:endParaRPr lang="en-AU" b="1" dirty="0"/>
          </a:p>
        </p:txBody>
      </p:sp>
      <p:sp>
        <p:nvSpPr>
          <p:cNvPr id="3" name="TextBox 2"/>
          <p:cNvSpPr txBox="1"/>
          <p:nvPr/>
        </p:nvSpPr>
        <p:spPr>
          <a:xfrm>
            <a:off x="755576" y="1417638"/>
            <a:ext cx="7931224" cy="5909310"/>
          </a:xfrm>
          <a:prstGeom prst="rect">
            <a:avLst/>
          </a:prstGeom>
          <a:noFill/>
        </p:spPr>
        <p:txBody>
          <a:bodyPr wrap="square" rtlCol="0">
            <a:spAutoFit/>
          </a:bodyPr>
          <a:lstStyle/>
          <a:p>
            <a:pPr marL="285750" indent="-285750">
              <a:buFont typeface="Arial" panose="020B0604020202020204" pitchFamily="34" charset="0"/>
              <a:buChar char="•"/>
            </a:pPr>
            <a:r>
              <a:rPr lang="en-AU" dirty="0" smtClean="0"/>
              <a:t>Malaria occurs in over 100 countries and more than 40% of the people in the world are at risk.</a:t>
            </a:r>
            <a:endParaRPr lang="en-AU" dirty="0"/>
          </a:p>
          <a:p>
            <a:pPr marL="285750" indent="-285750">
              <a:buFont typeface="Arial" panose="020B0604020202020204" pitchFamily="34" charset="0"/>
              <a:buChar char="•"/>
            </a:pPr>
            <a:r>
              <a:rPr lang="en-AU" dirty="0" smtClean="0"/>
              <a:t>SYMPTOMS:</a:t>
            </a:r>
          </a:p>
          <a:p>
            <a:pPr marL="285750" indent="-285750">
              <a:buFontTx/>
              <a:buChar char="-"/>
            </a:pPr>
            <a:r>
              <a:rPr lang="en-AU" dirty="0" smtClean="0"/>
              <a:t>Flu-like illness</a:t>
            </a:r>
          </a:p>
          <a:p>
            <a:pPr marL="285750" indent="-285750">
              <a:buFontTx/>
              <a:buChar char="-"/>
            </a:pPr>
            <a:r>
              <a:rPr lang="en-AU" dirty="0" smtClean="0"/>
              <a:t>Headaches</a:t>
            </a:r>
          </a:p>
          <a:p>
            <a:pPr marL="285750" indent="-285750">
              <a:buFontTx/>
              <a:buChar char="-"/>
            </a:pPr>
            <a:r>
              <a:rPr lang="en-AU" dirty="0" smtClean="0"/>
              <a:t>Fever</a:t>
            </a:r>
          </a:p>
          <a:p>
            <a:pPr marL="285750" indent="-285750">
              <a:buFontTx/>
              <a:buChar char="-"/>
            </a:pPr>
            <a:r>
              <a:rPr lang="en-AU" dirty="0" smtClean="0"/>
              <a:t>Nausea</a:t>
            </a:r>
          </a:p>
          <a:p>
            <a:pPr marL="285750" indent="-285750">
              <a:buFontTx/>
              <a:buChar char="-"/>
            </a:pPr>
            <a:r>
              <a:rPr lang="en-AU" dirty="0" smtClean="0"/>
              <a:t>Vomiting</a:t>
            </a:r>
          </a:p>
          <a:p>
            <a:pPr marL="285750" indent="-285750">
              <a:buFontTx/>
              <a:buChar char="-"/>
            </a:pPr>
            <a:r>
              <a:rPr lang="en-AU" dirty="0" smtClean="0"/>
              <a:t>Muscle pains </a:t>
            </a:r>
          </a:p>
          <a:p>
            <a:pPr marL="285750" indent="-285750">
              <a:buFontTx/>
              <a:buChar char="-"/>
            </a:pPr>
            <a:r>
              <a:rPr lang="en-AU" dirty="0" smtClean="0"/>
              <a:t>Fatigue and tiredness</a:t>
            </a:r>
          </a:p>
          <a:p>
            <a:pPr marL="285750" indent="-285750">
              <a:buFontTx/>
              <a:buChar char="-"/>
            </a:pPr>
            <a:r>
              <a:rPr lang="en-AU" dirty="0" smtClean="0"/>
              <a:t>Chills and sweating</a:t>
            </a:r>
          </a:p>
          <a:p>
            <a:pPr marL="285750" indent="-285750">
              <a:buFontTx/>
              <a:buChar char="-"/>
            </a:pPr>
            <a:r>
              <a:rPr lang="en-AU" dirty="0" smtClean="0"/>
              <a:t>May cause anaemia and jaundice (yellow colouring of the skin)</a:t>
            </a:r>
          </a:p>
          <a:p>
            <a:pPr marL="285750" indent="-285750">
              <a:buFont typeface="Arial" panose="020B0604020202020204" pitchFamily="34" charset="0"/>
              <a:buChar char="•"/>
            </a:pPr>
            <a:r>
              <a:rPr lang="en-AU" dirty="0" smtClean="0"/>
              <a:t>COMPLICATIONS</a:t>
            </a:r>
          </a:p>
          <a:p>
            <a:pPr marL="285750" indent="-285750">
              <a:buFontTx/>
              <a:buChar char="-"/>
            </a:pPr>
            <a:r>
              <a:rPr lang="en-AU" dirty="0" smtClean="0"/>
              <a:t>Extensive destruction to red blood cells</a:t>
            </a:r>
          </a:p>
          <a:p>
            <a:pPr marL="285750" indent="-285750">
              <a:buFontTx/>
              <a:buChar char="-"/>
            </a:pPr>
            <a:r>
              <a:rPr lang="en-AU" dirty="0" smtClean="0"/>
              <a:t>Liver failure</a:t>
            </a:r>
          </a:p>
          <a:p>
            <a:pPr marL="285750" indent="-285750">
              <a:buFontTx/>
              <a:buChar char="-"/>
            </a:pPr>
            <a:r>
              <a:rPr lang="en-AU" dirty="0" smtClean="0"/>
              <a:t>Enlarged spleen</a:t>
            </a:r>
          </a:p>
          <a:p>
            <a:pPr marL="285750" indent="-285750">
              <a:buFontTx/>
              <a:buChar char="-"/>
            </a:pPr>
            <a:r>
              <a:rPr lang="en-AU" dirty="0" smtClean="0"/>
              <a:t>Dehydration</a:t>
            </a:r>
          </a:p>
          <a:p>
            <a:pPr marL="285750" indent="-285750">
              <a:buFontTx/>
              <a:buChar char="-"/>
            </a:pPr>
            <a:r>
              <a:rPr lang="en-AU" dirty="0" smtClean="0"/>
              <a:t>Kidney failure</a:t>
            </a:r>
          </a:p>
          <a:p>
            <a:pPr marL="285750" indent="-285750">
              <a:buFontTx/>
              <a:buChar char="-"/>
            </a:pPr>
            <a:r>
              <a:rPr lang="en-AU" dirty="0" smtClean="0"/>
              <a:t>Swelling of the brain due to blockages in small blood vessels.</a:t>
            </a:r>
          </a:p>
          <a:p>
            <a:pPr marL="285750" indent="-285750">
              <a:buFontTx/>
              <a:buChar char="-"/>
            </a:pPr>
            <a:endParaRPr lang="en-AU" dirty="0" smtClean="0"/>
          </a:p>
          <a:p>
            <a:pPr marL="285750" indent="-285750">
              <a:buFont typeface="Arial" panose="020B0604020202020204" pitchFamily="34" charset="0"/>
              <a:buChar char="•"/>
            </a:pPr>
            <a:endParaRPr lang="en-AU" dirty="0"/>
          </a:p>
        </p:txBody>
      </p:sp>
      <p:pic>
        <p:nvPicPr>
          <p:cNvPr id="10242" name="Picture 2" descr="C:\Users\e2041615\AppData\Local\Microsoft\Windows\Temporary Internet Files\Content.IE5\U750XSMG\Mosquitoes Clipart 20659036-2[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1772816"/>
            <a:ext cx="1722531" cy="2451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396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Symptoms and the Nature of Malaria</a:t>
            </a:r>
            <a:endParaRPr lang="en-AU" b="1" dirty="0"/>
          </a:p>
        </p:txBody>
      </p:sp>
      <p:sp>
        <p:nvSpPr>
          <p:cNvPr id="3" name="TextBox 2"/>
          <p:cNvSpPr txBox="1"/>
          <p:nvPr/>
        </p:nvSpPr>
        <p:spPr>
          <a:xfrm>
            <a:off x="323528" y="1772816"/>
            <a:ext cx="7056784" cy="2031325"/>
          </a:xfrm>
          <a:prstGeom prst="rect">
            <a:avLst/>
          </a:prstGeom>
          <a:noFill/>
        </p:spPr>
        <p:txBody>
          <a:bodyPr wrap="square" rtlCol="0">
            <a:spAutoFit/>
          </a:bodyPr>
          <a:lstStyle/>
          <a:p>
            <a:pPr marL="285750" indent="-285750">
              <a:buFont typeface="Arial" panose="020B0604020202020204" pitchFamily="34" charset="0"/>
              <a:buChar char="•"/>
            </a:pPr>
            <a:r>
              <a:rPr lang="en-AU" dirty="0" smtClean="0"/>
              <a:t>For most people, symptoms begin 10 days to 4 weeks after the infection, although a person may feel ill as early as 8 days or up to a year.</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smtClean="0"/>
              <a:t>Some parasites can rest in the liver for several months up to 4 years after a person is bitten by an infected mosquito.</a:t>
            </a:r>
          </a:p>
          <a:p>
            <a:pPr marL="285750" indent="-285750">
              <a:buFont typeface="Arial" panose="020B0604020202020204" pitchFamily="34" charset="0"/>
              <a:buChar char="•"/>
            </a:pPr>
            <a:endParaRPr lang="en-AU" dirty="0"/>
          </a:p>
        </p:txBody>
      </p:sp>
    </p:spTree>
    <p:extLst>
      <p:ext uri="{BB962C8B-B14F-4D97-AF65-F5344CB8AC3E}">
        <p14:creationId xmlns:p14="http://schemas.microsoft.com/office/powerpoint/2010/main" val="3073882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Transmission and Nature of Malaria</a:t>
            </a:r>
            <a:endParaRPr lang="en-AU" b="1" dirty="0"/>
          </a:p>
        </p:txBody>
      </p:sp>
      <p:sp>
        <p:nvSpPr>
          <p:cNvPr id="3" name="TextBox 2"/>
          <p:cNvSpPr txBox="1"/>
          <p:nvPr/>
        </p:nvSpPr>
        <p:spPr>
          <a:xfrm>
            <a:off x="683568" y="1417638"/>
            <a:ext cx="6984776" cy="4247317"/>
          </a:xfrm>
          <a:prstGeom prst="rect">
            <a:avLst/>
          </a:prstGeom>
          <a:noFill/>
        </p:spPr>
        <p:txBody>
          <a:bodyPr wrap="square" rtlCol="0">
            <a:spAutoFit/>
          </a:bodyPr>
          <a:lstStyle/>
          <a:p>
            <a:pPr marL="285750" indent="-285750">
              <a:buFont typeface="Arial" panose="020B0604020202020204" pitchFamily="34" charset="0"/>
              <a:buChar char="•"/>
            </a:pPr>
            <a:r>
              <a:rPr lang="en-AU" dirty="0" smtClean="0"/>
              <a:t>The parasites enter the host’s bloodstream when bitten by an infected mosquito and then migrate to the liver where they multiply before returning back into the bloodstream to invade the r____ b_______ c______.</a:t>
            </a:r>
          </a:p>
          <a:p>
            <a:endParaRPr lang="en-AU" dirty="0" smtClean="0"/>
          </a:p>
          <a:p>
            <a:pPr marL="285750" indent="-285750">
              <a:buFont typeface="Arial" panose="020B0604020202020204" pitchFamily="34" charset="0"/>
              <a:buChar char="•"/>
            </a:pPr>
            <a:r>
              <a:rPr lang="en-AU" dirty="0" smtClean="0"/>
              <a:t>The parasites continually multiply inside the red cells until they burst releasing large numbers of parasites into the blood plasma causing the characteristic fever associated with the disease. This phase of the disease occurs in cycles of 48 hours.</a:t>
            </a:r>
          </a:p>
          <a:p>
            <a:endParaRPr lang="en-AU" dirty="0" smtClean="0"/>
          </a:p>
          <a:p>
            <a:pPr marL="285750" indent="-285750">
              <a:buFont typeface="Arial" panose="020B0604020202020204" pitchFamily="34" charset="0"/>
              <a:buChar char="•"/>
            </a:pPr>
            <a:r>
              <a:rPr lang="en-AU" dirty="0" smtClean="0"/>
              <a:t>The free parasites are then able to infect any mosquito that feeds on the host’s (human) blood during this phase. </a:t>
            </a:r>
          </a:p>
          <a:p>
            <a:endParaRPr lang="en-AU" dirty="0" smtClean="0"/>
          </a:p>
          <a:p>
            <a:pPr marL="285750" indent="-285750">
              <a:buFont typeface="Arial" panose="020B0604020202020204" pitchFamily="34" charset="0"/>
              <a:buChar char="•"/>
            </a:pPr>
            <a:r>
              <a:rPr lang="en-AU" dirty="0" smtClean="0"/>
              <a:t>The cycle then continues as the parasites multiply inside the mosquito and eventually invade the salivary glands. </a:t>
            </a:r>
            <a:endParaRPr lang="en-AU" dirty="0"/>
          </a:p>
        </p:txBody>
      </p:sp>
      <p:pic>
        <p:nvPicPr>
          <p:cNvPr id="11266" name="Picture 2" descr="C:\Users\e2041615\AppData\Local\Microsoft\Windows\Temporary Internet Files\Content.IE5\IU11W1OL\clipart006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013176"/>
            <a:ext cx="1659508" cy="1380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229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fontScale="90000"/>
          </a:bodyPr>
          <a:lstStyle/>
          <a:p>
            <a:r>
              <a:rPr lang="en-AU" sz="1800" b="1" u="sng" dirty="0" smtClean="0"/>
              <a:t>The spatial and temporal distribution of the hazard, and how an understanding of biophysical and human processes can be used to explain the patterns that are identified.</a:t>
            </a:r>
            <a:br>
              <a:rPr lang="en-AU" sz="1800" b="1" u="sng" dirty="0" smtClean="0"/>
            </a:br>
            <a:r>
              <a:rPr lang="en-AU" sz="1800" b="1" u="sng" dirty="0" smtClean="0"/>
              <a:t>Dot Point 12 syllabus</a:t>
            </a:r>
            <a:endParaRPr lang="en-AU" sz="1800" b="1" u="sng" dirty="0"/>
          </a:p>
        </p:txBody>
      </p:sp>
      <p:sp>
        <p:nvSpPr>
          <p:cNvPr id="3" name="Content Placeholder 2"/>
          <p:cNvSpPr>
            <a:spLocks noGrp="1"/>
          </p:cNvSpPr>
          <p:nvPr>
            <p:ph idx="1"/>
          </p:nvPr>
        </p:nvSpPr>
        <p:spPr>
          <a:xfrm>
            <a:off x="457200" y="1412776"/>
            <a:ext cx="7787208" cy="4752528"/>
          </a:xfrm>
        </p:spPr>
        <p:txBody>
          <a:bodyPr>
            <a:normAutofit/>
          </a:bodyPr>
          <a:lstStyle/>
          <a:p>
            <a:r>
              <a:rPr lang="en-AU" sz="1600" i="1" u="sng" dirty="0" smtClean="0"/>
              <a:t>Spatial distribution </a:t>
            </a:r>
            <a:r>
              <a:rPr lang="en-AU" sz="1600" dirty="0" smtClean="0"/>
              <a:t>means the arrangement of the geographical phenomena (malaria) across the Earth’s surface whilst </a:t>
            </a:r>
            <a:r>
              <a:rPr lang="en-AU" sz="1600" i="1" u="sng" dirty="0" smtClean="0"/>
              <a:t>temporal distribution </a:t>
            </a:r>
            <a:r>
              <a:rPr lang="en-AU" sz="1600" dirty="0" smtClean="0"/>
              <a:t>is  how wide spread has the phenomena (malaria) been over time.</a:t>
            </a:r>
          </a:p>
          <a:p>
            <a:r>
              <a:rPr lang="en-AU" sz="1600" dirty="0" smtClean="0"/>
              <a:t>Africa (Sub-Sahara in particular), South East Asia, South  and Central America are the regions on Earth where incidences of malaria commonly occur. This is because the regions </a:t>
            </a:r>
            <a:r>
              <a:rPr lang="en-AU" sz="1600" dirty="0"/>
              <a:t> </a:t>
            </a:r>
            <a:r>
              <a:rPr lang="en-AU" sz="1600" dirty="0" smtClean="0"/>
              <a:t>experience tropical and Equatorial conditions – hot and humid.</a:t>
            </a:r>
          </a:p>
          <a:p>
            <a:r>
              <a:rPr lang="en-AU" sz="1600" dirty="0" smtClean="0"/>
              <a:t>Africa has been at the heart of major incidences of malaria over time (temporal distribution). The African slave trade during the 17</a:t>
            </a:r>
            <a:r>
              <a:rPr lang="en-AU" sz="1600" baseline="30000" dirty="0" smtClean="0"/>
              <a:t>th</a:t>
            </a:r>
            <a:r>
              <a:rPr lang="en-AU" sz="1600" dirty="0" smtClean="0"/>
              <a:t> and 18</a:t>
            </a:r>
            <a:r>
              <a:rPr lang="en-AU" sz="1600" baseline="30000" dirty="0" smtClean="0"/>
              <a:t>th</a:t>
            </a:r>
            <a:r>
              <a:rPr lang="en-AU" sz="1600" dirty="0" smtClean="0"/>
              <a:t> centuries saw it move to the Americas . Yet the history of Malaria occurrences can be traced back much further than this by thousands of years.</a:t>
            </a:r>
          </a:p>
          <a:p>
            <a:r>
              <a:rPr lang="en-AU" sz="1600" dirty="0" smtClean="0"/>
              <a:t>Global movement of people around the world has meant that  at the close of the 20th century, malaria  on a global scale remained endemic in more than 100 countries throughout the tropical and subtropical zones, including large areas of Central and South America, Hispaniola (Haiti and the Dominican Republic), Africa, the Middle East, the Indian subcontinent, Southeast Asia, and Oceania.</a:t>
            </a:r>
          </a:p>
          <a:p>
            <a:r>
              <a:rPr lang="en-AU" sz="1600" dirty="0" smtClean="0"/>
              <a:t>As more than 1 billion people  travel by air each year, planes can carry infected disease vectors (rats and malaria infected mosquitos) across the world within 24 hours.</a:t>
            </a:r>
          </a:p>
          <a:p>
            <a:pPr marL="0" indent="0">
              <a:buNone/>
            </a:pPr>
            <a:endParaRPr lang="en-AU" sz="1600" dirty="0"/>
          </a:p>
        </p:txBody>
      </p:sp>
    </p:spTree>
    <p:extLst>
      <p:ext uri="{BB962C8B-B14F-4D97-AF65-F5344CB8AC3E}">
        <p14:creationId xmlns:p14="http://schemas.microsoft.com/office/powerpoint/2010/main" val="33842521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Mosquitoes - Malaria </a:t>
            </a:r>
            <a:endParaRPr lang="en-AU" dirty="0"/>
          </a:p>
        </p:txBody>
      </p:sp>
      <p:sp>
        <p:nvSpPr>
          <p:cNvPr id="3" name="Content Placeholder 2"/>
          <p:cNvSpPr>
            <a:spLocks noGrp="1"/>
          </p:cNvSpPr>
          <p:nvPr>
            <p:ph idx="1"/>
          </p:nvPr>
        </p:nvSpPr>
        <p:spPr/>
        <p:txBody>
          <a:bodyPr>
            <a:normAutofit fontScale="92500" lnSpcReduction="10000"/>
          </a:bodyPr>
          <a:lstStyle/>
          <a:p>
            <a:r>
              <a:rPr lang="en-AU" sz="2400" dirty="0" smtClean="0"/>
              <a:t>Malaria is transmitted among humans by</a:t>
            </a:r>
            <a:r>
              <a:rPr lang="en-AU" sz="2400" b="1" dirty="0" smtClean="0"/>
              <a:t> female </a:t>
            </a:r>
            <a:r>
              <a:rPr lang="en-AU" sz="2400" dirty="0" smtClean="0"/>
              <a:t>mosquitoes of the genus </a:t>
            </a:r>
            <a:r>
              <a:rPr lang="en-AU" sz="2400" b="1" dirty="0" smtClean="0"/>
              <a:t>Anopheles. </a:t>
            </a:r>
          </a:p>
          <a:p>
            <a:r>
              <a:rPr lang="en-AU" sz="2400" dirty="0" smtClean="0"/>
              <a:t>Female mosquitoes take blood meals to carry out egg production and these blood meals are the link to human and the mosquito hosts in the parasite life cycle.</a:t>
            </a:r>
          </a:p>
          <a:p>
            <a:r>
              <a:rPr lang="en-AU" sz="2400" dirty="0" smtClean="0"/>
              <a:t>Several factors are linked to the successful development of the malaria parasite – important factors include </a:t>
            </a:r>
            <a:r>
              <a:rPr lang="en-AU" sz="2400" b="1" dirty="0" smtClean="0"/>
              <a:t>humidity </a:t>
            </a:r>
            <a:r>
              <a:rPr lang="en-AU" sz="2400" dirty="0" smtClean="0"/>
              <a:t>and </a:t>
            </a:r>
            <a:r>
              <a:rPr lang="en-AU" sz="2400" b="1" dirty="0" smtClean="0"/>
              <a:t>ambient temperature.</a:t>
            </a:r>
            <a:r>
              <a:rPr lang="en-AU" sz="2400" dirty="0" smtClean="0"/>
              <a:t> </a:t>
            </a:r>
          </a:p>
          <a:p>
            <a:r>
              <a:rPr lang="en-AU" sz="2400" dirty="0" smtClean="0"/>
              <a:t>Higher temperatures accelerate the parasite growth in the mosquito. Another factor is whether the Anopheles survives long enough to allow the parasite to complete its cycle in the mosquito host. </a:t>
            </a:r>
          </a:p>
          <a:p>
            <a:r>
              <a:rPr lang="en-AU" sz="2400" dirty="0" smtClean="0"/>
              <a:t>The mosquito host does not suffer noticeable effects from the presence of the parasites.</a:t>
            </a:r>
            <a:endParaRPr lang="en-AU" sz="2400" dirty="0"/>
          </a:p>
        </p:txBody>
      </p:sp>
      <p:pic>
        <p:nvPicPr>
          <p:cNvPr id="4"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136964">
            <a:off x="6289193" y="175425"/>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068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Do all mosquitoes transmit malaria?</a:t>
            </a:r>
            <a:endParaRPr lang="en-AU" dirty="0"/>
          </a:p>
        </p:txBody>
      </p:sp>
      <p:sp>
        <p:nvSpPr>
          <p:cNvPr id="3" name="Content Placeholder 2"/>
          <p:cNvSpPr>
            <a:spLocks noGrp="1"/>
          </p:cNvSpPr>
          <p:nvPr>
            <p:ph idx="1"/>
          </p:nvPr>
        </p:nvSpPr>
        <p:spPr>
          <a:xfrm>
            <a:off x="467544" y="1556792"/>
            <a:ext cx="7620000" cy="4800600"/>
          </a:xfrm>
        </p:spPr>
        <p:txBody>
          <a:bodyPr>
            <a:normAutofit fontScale="92500"/>
          </a:bodyPr>
          <a:lstStyle/>
          <a:p>
            <a:r>
              <a:rPr lang="en-AU" sz="2800" dirty="0" smtClean="0"/>
              <a:t>Only certain species of mosquitoes of the</a:t>
            </a:r>
            <a:r>
              <a:rPr lang="en-AU" sz="2800" b="1" dirty="0" smtClean="0"/>
              <a:t> Anopheles genus.</a:t>
            </a:r>
          </a:p>
          <a:p>
            <a:r>
              <a:rPr lang="en-AU" sz="2800" dirty="0" smtClean="0"/>
              <a:t>Malaria is caused by a </a:t>
            </a:r>
            <a:r>
              <a:rPr lang="en-AU" sz="2800" b="1" dirty="0" smtClean="0"/>
              <a:t>one-celled parasite </a:t>
            </a:r>
            <a:r>
              <a:rPr lang="en-AU" sz="2800" dirty="0" smtClean="0"/>
              <a:t>called a P</a:t>
            </a:r>
            <a:r>
              <a:rPr lang="en-AU" sz="2800" b="1" dirty="0" smtClean="0"/>
              <a:t>________________. </a:t>
            </a:r>
          </a:p>
          <a:p>
            <a:r>
              <a:rPr lang="en-AU" sz="2800" b="1" dirty="0" smtClean="0"/>
              <a:t>Female Anopheles </a:t>
            </a:r>
            <a:r>
              <a:rPr lang="en-AU" sz="2800" dirty="0" smtClean="0"/>
              <a:t>mosquitoes pick up the parasite from infected people when they bite to obtain blood required to nurture their eggs. The parasites reproduce and develop inside the mosquito. When the mosquito bites again, the parasites contained in the s_____________ gland are injected and pass into the blood of the person being bitten. </a:t>
            </a:r>
            <a:endParaRPr lang="en-AU" sz="2800" dirty="0"/>
          </a:p>
        </p:txBody>
      </p:sp>
      <p:pic>
        <p:nvPicPr>
          <p:cNvPr id="4"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53295">
            <a:off x="7225048" y="5502170"/>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3583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Extent &amp; Spread of Malaria</a:t>
            </a:r>
            <a:endParaRPr lang="en-AU" b="1" dirty="0"/>
          </a:p>
        </p:txBody>
      </p:sp>
      <p:sp>
        <p:nvSpPr>
          <p:cNvPr id="6" name="TextBox 5"/>
          <p:cNvSpPr txBox="1"/>
          <p:nvPr/>
        </p:nvSpPr>
        <p:spPr>
          <a:xfrm>
            <a:off x="609600" y="1570038"/>
            <a:ext cx="8229600" cy="4891682"/>
          </a:xfrm>
          <a:prstGeom prst="rect">
            <a:avLst/>
          </a:prstGeom>
          <a:noFill/>
        </p:spPr>
        <p:txBody>
          <a:bodyPr wrap="square" rtlCol="0">
            <a:spAutoFit/>
          </a:bodyPr>
          <a:lstStyle/>
          <a:p>
            <a:endParaRPr lang="en-AU" dirty="0"/>
          </a:p>
        </p:txBody>
      </p:sp>
      <p:sp>
        <p:nvSpPr>
          <p:cNvPr id="8" name="TextBox 7"/>
          <p:cNvSpPr txBox="1"/>
          <p:nvPr/>
        </p:nvSpPr>
        <p:spPr>
          <a:xfrm>
            <a:off x="457200" y="1268760"/>
            <a:ext cx="8382000" cy="7848302"/>
          </a:xfrm>
          <a:prstGeom prst="rect">
            <a:avLst/>
          </a:prstGeom>
          <a:noFill/>
        </p:spPr>
        <p:txBody>
          <a:bodyPr wrap="square" rtlCol="0">
            <a:spAutoFit/>
          </a:bodyPr>
          <a:lstStyle/>
          <a:p>
            <a:pPr marL="285750" indent="-285750">
              <a:buFont typeface="Arial" charset="0"/>
              <a:buChar char="•"/>
            </a:pPr>
            <a:r>
              <a:rPr lang="en-AU" dirty="0" smtClean="0"/>
              <a:t>Malaria is mainly spread through </a:t>
            </a:r>
            <a:r>
              <a:rPr lang="en-AU" b="1" dirty="0" smtClean="0"/>
              <a:t>expansion diffusion.</a:t>
            </a:r>
            <a:endParaRPr lang="en-AU" dirty="0" smtClean="0"/>
          </a:p>
          <a:p>
            <a:pPr marL="285750" indent="-285750">
              <a:buFont typeface="Arial" charset="0"/>
              <a:buChar char="•"/>
            </a:pPr>
            <a:r>
              <a:rPr lang="en-AU" dirty="0" smtClean="0"/>
              <a:t>Expansion diffusion occurs when an infectious disease is spread outwards from its source.</a:t>
            </a:r>
          </a:p>
          <a:p>
            <a:pPr marL="285750" indent="-285750">
              <a:buFont typeface="Arial" charset="0"/>
              <a:buChar char="•"/>
            </a:pPr>
            <a:r>
              <a:rPr lang="en-AU" dirty="0" smtClean="0"/>
              <a:t>It is an example of an endemic disease.</a:t>
            </a:r>
          </a:p>
          <a:p>
            <a:pPr marL="285750" indent="-285750">
              <a:buFont typeface="Arial" charset="0"/>
              <a:buChar char="•"/>
            </a:pPr>
            <a:r>
              <a:rPr lang="en-AU" dirty="0" smtClean="0"/>
              <a:t>Endemic diseases are diseases that consistently occur in a community or area.</a:t>
            </a:r>
          </a:p>
          <a:p>
            <a:pPr marL="285750" indent="-285750">
              <a:buFont typeface="Arial" charset="0"/>
              <a:buChar char="•"/>
            </a:pPr>
            <a:r>
              <a:rPr lang="en-AU" dirty="0" smtClean="0"/>
              <a:t>Malaria mortality rates are highest in Africa.</a:t>
            </a:r>
          </a:p>
          <a:p>
            <a:pPr marL="285750" indent="-285750">
              <a:buFont typeface="Arial" charset="0"/>
              <a:buChar char="•"/>
            </a:pPr>
            <a:r>
              <a:rPr lang="en-AU" dirty="0" smtClean="0"/>
              <a:t>Reason is that the African mosquito  species have a relatively long lifespan. These species prefer to bite humans over animals.</a:t>
            </a:r>
          </a:p>
          <a:p>
            <a:pPr marL="285750" indent="-285750">
              <a:buFont typeface="Arial" charset="0"/>
              <a:buChar char="•"/>
            </a:pPr>
            <a:r>
              <a:rPr lang="en-AU" dirty="0" smtClean="0"/>
              <a:t>Generally female A_______________ mosquitos live for 2-3 weeks.</a:t>
            </a:r>
          </a:p>
          <a:p>
            <a:pPr marL="285750" indent="-285750">
              <a:buFont typeface="Arial" charset="0"/>
              <a:buChar char="•"/>
            </a:pPr>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p:txBody>
      </p:sp>
      <p:pic>
        <p:nvPicPr>
          <p:cNvPr id="7"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53295">
            <a:off x="7009023" y="5456282"/>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1603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850106"/>
          </a:xfrm>
        </p:spPr>
        <p:txBody>
          <a:bodyPr>
            <a:normAutofit/>
          </a:bodyPr>
          <a:lstStyle/>
          <a:p>
            <a:r>
              <a:rPr lang="en-AU" sz="1600" b="1" u="sng" dirty="0" smtClean="0"/>
              <a:t>Magnitude, duration, frequency, probability and scale of spatial impact of the hazard</a:t>
            </a:r>
            <a:br>
              <a:rPr lang="en-AU" sz="1600" b="1" u="sng" dirty="0" smtClean="0"/>
            </a:br>
            <a:r>
              <a:rPr lang="en-AU" sz="1600" b="1" u="sng" dirty="0" smtClean="0"/>
              <a:t>Dot Point </a:t>
            </a:r>
            <a:r>
              <a:rPr lang="en-AU" sz="1600" b="1" u="sng" smtClean="0"/>
              <a:t>13 syllabus </a:t>
            </a:r>
            <a:endParaRPr lang="en-AU" sz="1600" b="1" u="sng" dirty="0"/>
          </a:p>
        </p:txBody>
      </p:sp>
      <p:sp>
        <p:nvSpPr>
          <p:cNvPr id="4" name="Content Placeholder 3"/>
          <p:cNvSpPr>
            <a:spLocks noGrp="1"/>
          </p:cNvSpPr>
          <p:nvPr>
            <p:ph idx="1"/>
          </p:nvPr>
        </p:nvSpPr>
        <p:spPr>
          <a:xfrm>
            <a:off x="457200" y="1124744"/>
            <a:ext cx="8229600" cy="5001419"/>
          </a:xfrm>
        </p:spPr>
        <p:txBody>
          <a:bodyPr>
            <a:normAutofit lnSpcReduction="10000"/>
          </a:bodyPr>
          <a:lstStyle/>
          <a:p>
            <a:r>
              <a:rPr lang="en-AU" sz="2400" dirty="0" smtClean="0"/>
              <a:t>Duration: Malaria is linked to seasonal weather patterns with infection rates rising during the wetter months when more water is in swamps, drains &amp; lakes.</a:t>
            </a:r>
          </a:p>
          <a:p>
            <a:r>
              <a:rPr lang="en-AU" sz="2400" dirty="0" smtClean="0"/>
              <a:t>The incubation period is about 7 days (for the Anopheles mosquito) to 40 days. Once infected by the parasite, the illness is permanent with individuals showing various symptoms. </a:t>
            </a:r>
          </a:p>
          <a:p>
            <a:r>
              <a:rPr lang="en-AU" sz="2400" dirty="0" smtClean="0"/>
              <a:t>Where people are regularly bitten by infected mosquitos, there has been evidence of an immunity developed in the person.</a:t>
            </a:r>
          </a:p>
          <a:p>
            <a:r>
              <a:rPr lang="en-AU" sz="2400" dirty="0" smtClean="0"/>
              <a:t>Scale: some 3.4 billion people live in areas at risk of malaria transmission and  malaria is the leading cause of death in developing nations (LDC’s) with young children and pregnant women vulnerable.</a:t>
            </a:r>
            <a:endParaRPr lang="en-AU" sz="2400" dirty="0"/>
          </a:p>
        </p:txBody>
      </p:sp>
      <p:pic>
        <p:nvPicPr>
          <p:cNvPr id="5"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53295">
            <a:off x="7225048" y="5502170"/>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0862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AU" dirty="0" smtClean="0"/>
              <a:t>World Malaria Report 2014 by WHO</a:t>
            </a:r>
            <a:endParaRPr lang="en-AU" dirty="0"/>
          </a:p>
        </p:txBody>
      </p:sp>
      <p:sp>
        <p:nvSpPr>
          <p:cNvPr id="5" name="Content Placeholder 4"/>
          <p:cNvSpPr>
            <a:spLocks noGrp="1"/>
          </p:cNvSpPr>
          <p:nvPr>
            <p:ph idx="1"/>
          </p:nvPr>
        </p:nvSpPr>
        <p:spPr/>
        <p:txBody>
          <a:bodyPr>
            <a:normAutofit/>
          </a:bodyPr>
          <a:lstStyle/>
          <a:p>
            <a:r>
              <a:rPr lang="en-AU" sz="2400" dirty="0"/>
              <a:t>In 2013, there were an estimated 198 million cases of malaria (uncertainty range: 124–283 million)</a:t>
            </a:r>
          </a:p>
          <a:p>
            <a:r>
              <a:rPr lang="en-AU" sz="2400" dirty="0" smtClean="0"/>
              <a:t>In 2013, </a:t>
            </a:r>
            <a:r>
              <a:rPr lang="en-AU" sz="2400" dirty="0"/>
              <a:t>584 000 malaria deaths globally </a:t>
            </a:r>
            <a:r>
              <a:rPr lang="en-AU" sz="2400" dirty="0" smtClean="0"/>
              <a:t>                            (</a:t>
            </a:r>
            <a:r>
              <a:rPr lang="en-AU" sz="2400" dirty="0"/>
              <a:t>range: 367 000–755 000).</a:t>
            </a:r>
          </a:p>
          <a:p>
            <a:r>
              <a:rPr lang="en-AU" sz="2400" dirty="0"/>
              <a:t>In 2013, approximately 82% of malaria cases and 90% of malaria deaths occurred in the WHO African Region, with children aged </a:t>
            </a:r>
            <a:r>
              <a:rPr lang="en-AU" sz="2400" dirty="0" smtClean="0"/>
              <a:t>under 5 </a:t>
            </a:r>
            <a:r>
              <a:rPr lang="en-AU" sz="2400" dirty="0"/>
              <a:t>years and pregnant women most severely affected</a:t>
            </a:r>
            <a:r>
              <a:rPr lang="en-AU" sz="2400" dirty="0" smtClean="0"/>
              <a:t>.</a:t>
            </a:r>
          </a:p>
          <a:p>
            <a:r>
              <a:rPr lang="en-AU" sz="2400" dirty="0"/>
              <a:t>Malaria incidence rates are estimated to have fallen by 30% globally between 2000 and 2013, </a:t>
            </a:r>
            <a:r>
              <a:rPr lang="en-AU" sz="2400" dirty="0" smtClean="0"/>
              <a:t>while estimated </a:t>
            </a:r>
            <a:r>
              <a:rPr lang="en-AU" sz="2400" dirty="0"/>
              <a:t>mortality rates fell by 47%.</a:t>
            </a:r>
          </a:p>
        </p:txBody>
      </p:sp>
      <p:pic>
        <p:nvPicPr>
          <p:cNvPr id="6"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453295">
            <a:off x="7225048" y="5502170"/>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4709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1800" b="1" dirty="0" smtClean="0"/>
              <a:t>The nature of the risks to be managed</a:t>
            </a:r>
            <a:br>
              <a:rPr lang="en-AU" sz="1800" b="1" dirty="0" smtClean="0"/>
            </a:br>
            <a:r>
              <a:rPr lang="en-AU" sz="1800" b="1" dirty="0" smtClean="0"/>
              <a:t>Dot Point 11</a:t>
            </a:r>
            <a:endParaRPr lang="en-AU" sz="1800" b="1" dirty="0"/>
          </a:p>
        </p:txBody>
      </p:sp>
      <p:sp>
        <p:nvSpPr>
          <p:cNvPr id="3" name="Content Placeholder 2"/>
          <p:cNvSpPr>
            <a:spLocks noGrp="1"/>
          </p:cNvSpPr>
          <p:nvPr>
            <p:ph idx="1"/>
          </p:nvPr>
        </p:nvSpPr>
        <p:spPr/>
        <p:txBody>
          <a:bodyPr>
            <a:normAutofit/>
          </a:bodyPr>
          <a:lstStyle/>
          <a:p>
            <a:pPr marL="0" indent="0">
              <a:buNone/>
            </a:pPr>
            <a:r>
              <a:rPr lang="en-AU" sz="2000" dirty="0" smtClean="0"/>
              <a:t>When examining the concept of risk management in Malaria you need to consider the:</a:t>
            </a:r>
          </a:p>
          <a:p>
            <a:pPr>
              <a:buFont typeface="Wingdings" panose="05000000000000000000" pitchFamily="2" charset="2"/>
              <a:buChar char="v"/>
            </a:pPr>
            <a:r>
              <a:rPr lang="en-AU" sz="2800" b="1" i="1" dirty="0" smtClean="0"/>
              <a:t>loss (potential loss of life)</a:t>
            </a:r>
          </a:p>
          <a:p>
            <a:pPr>
              <a:buFont typeface="Wingdings" panose="05000000000000000000" pitchFamily="2" charset="2"/>
              <a:buChar char="v"/>
            </a:pPr>
            <a:r>
              <a:rPr lang="en-AU" sz="2800" b="1" i="1" dirty="0" smtClean="0"/>
              <a:t>vulnerability(measure of an inability to cope with malaria)</a:t>
            </a:r>
          </a:p>
          <a:p>
            <a:pPr>
              <a:buFont typeface="Wingdings" panose="05000000000000000000" pitchFamily="2" charset="2"/>
              <a:buChar char="v"/>
            </a:pPr>
            <a:r>
              <a:rPr lang="en-AU" sz="2800" b="1" i="1" dirty="0" smtClean="0"/>
              <a:t>resilience (capacity to recover from malaria) </a:t>
            </a:r>
          </a:p>
          <a:p>
            <a:pPr>
              <a:buFont typeface="Wingdings" panose="05000000000000000000" pitchFamily="2" charset="2"/>
              <a:buChar char="v"/>
            </a:pPr>
            <a:r>
              <a:rPr lang="en-AU" sz="2800" b="1" i="1" dirty="0" smtClean="0"/>
              <a:t>adaptation (change in behaviour </a:t>
            </a:r>
            <a:r>
              <a:rPr lang="en-AU" sz="2800" b="1" i="1" dirty="0"/>
              <a:t>t</a:t>
            </a:r>
            <a:r>
              <a:rPr lang="en-AU" sz="2800" b="1" i="1" dirty="0" smtClean="0"/>
              <a:t>o minimise future loss from malaria).</a:t>
            </a:r>
          </a:p>
          <a:p>
            <a:pPr marL="0" indent="0">
              <a:buNone/>
            </a:pPr>
            <a:r>
              <a:rPr lang="en-AU" sz="2800" dirty="0" smtClean="0"/>
              <a:t>These four points will be considered throughout        Dot Point 14, 15,17 &amp; 18.</a:t>
            </a:r>
          </a:p>
        </p:txBody>
      </p:sp>
      <p:pic>
        <p:nvPicPr>
          <p:cNvPr id="5122" name="Picture 2" descr="C:\Users\e2041615\AppData\Local\Microsoft\Windows\Temporary Internet Files\Content.IE5\IU11W1OL\mosquito[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116632"/>
            <a:ext cx="1275585" cy="1106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2381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Vulnerability to Malaria</a:t>
            </a:r>
            <a:endParaRPr lang="en-AU" dirty="0"/>
          </a:p>
        </p:txBody>
      </p:sp>
      <p:sp>
        <p:nvSpPr>
          <p:cNvPr id="3" name="TextBox 2"/>
          <p:cNvSpPr txBox="1"/>
          <p:nvPr/>
        </p:nvSpPr>
        <p:spPr>
          <a:xfrm>
            <a:off x="395536" y="1124744"/>
            <a:ext cx="7488832" cy="4524315"/>
          </a:xfrm>
          <a:prstGeom prst="rect">
            <a:avLst/>
          </a:prstGeom>
          <a:noFill/>
        </p:spPr>
        <p:txBody>
          <a:bodyPr wrap="square" rtlCol="0">
            <a:spAutoFit/>
          </a:bodyPr>
          <a:lstStyle/>
          <a:p>
            <a:pPr marL="285750" indent="-285750">
              <a:buFont typeface="Arial" charset="0"/>
              <a:buChar char="•"/>
            </a:pPr>
            <a:endParaRPr lang="en-AU" dirty="0" smtClean="0"/>
          </a:p>
          <a:p>
            <a:pPr marL="285750" indent="-285750">
              <a:buFont typeface="Arial" charset="0"/>
              <a:buChar char="•"/>
            </a:pPr>
            <a:r>
              <a:rPr lang="en-AU" dirty="0" smtClean="0"/>
              <a:t>Approximately half the world is at risk of contracting malaria.</a:t>
            </a:r>
          </a:p>
          <a:p>
            <a:pPr marL="285750" indent="-285750">
              <a:buFont typeface="Arial" charset="0"/>
              <a:buChar char="•"/>
            </a:pPr>
            <a:endParaRPr lang="en-AU" dirty="0"/>
          </a:p>
          <a:p>
            <a:pPr marL="285750" indent="-285750">
              <a:buFont typeface="Arial" charset="0"/>
              <a:buChar char="•"/>
            </a:pPr>
            <a:r>
              <a:rPr lang="en-AU" dirty="0" smtClean="0"/>
              <a:t>Children are more vulnerable to malaria since they have lower immunity against diseases, such as malaria.</a:t>
            </a:r>
          </a:p>
          <a:p>
            <a:pPr marL="285750" indent="-285750">
              <a:buFont typeface="Arial" charset="0"/>
              <a:buChar char="•"/>
            </a:pPr>
            <a:endParaRPr lang="en-AU" dirty="0"/>
          </a:p>
          <a:p>
            <a:pPr marL="285750" indent="-285750">
              <a:buFont typeface="Arial" charset="0"/>
              <a:buChar char="•"/>
            </a:pPr>
            <a:r>
              <a:rPr lang="en-AU" dirty="0" smtClean="0"/>
              <a:t>Example – According to WHO (W______________ H________________ O_________________, approximately 600,000 children under the age of f_____ die from malaria each year in Sub-Saharan Africa.</a:t>
            </a:r>
          </a:p>
          <a:p>
            <a:pPr marL="285750" indent="-285750">
              <a:buFont typeface="Arial" charset="0"/>
              <a:buChar char="•"/>
            </a:pPr>
            <a:endParaRPr lang="en-AU" dirty="0"/>
          </a:p>
          <a:p>
            <a:pPr marL="285750" indent="-285750">
              <a:buFont typeface="Arial" charset="0"/>
              <a:buChar char="•"/>
            </a:pPr>
            <a:r>
              <a:rPr lang="en-AU" dirty="0" smtClean="0"/>
              <a:t>Pregnant women are also vulnerable</a:t>
            </a:r>
          </a:p>
          <a:p>
            <a:pPr marL="285750" indent="-285750">
              <a:buFont typeface="Arial" charset="0"/>
              <a:buChar char="•"/>
            </a:pPr>
            <a:endParaRPr lang="en-AU" dirty="0"/>
          </a:p>
          <a:p>
            <a:pPr marL="285750" indent="-285750">
              <a:buFont typeface="Arial" charset="0"/>
              <a:buChar char="•"/>
            </a:pPr>
            <a:r>
              <a:rPr lang="en-AU" dirty="0" smtClean="0"/>
              <a:t>People with AIDS/HIV are also vulnerable due to a weakened immunity or immune system.</a:t>
            </a:r>
          </a:p>
          <a:p>
            <a:pPr marL="285750" indent="-285750">
              <a:buFont typeface="Arial" charset="0"/>
              <a:buChar char="•"/>
            </a:pPr>
            <a:endParaRPr lang="en-AU" dirty="0" smtClean="0"/>
          </a:p>
          <a:p>
            <a:pPr marL="285750" indent="-285750">
              <a:buFont typeface="Arial" charset="0"/>
              <a:buChar char="•"/>
            </a:pPr>
            <a:endParaRPr lang="en-AU" dirty="0"/>
          </a:p>
        </p:txBody>
      </p:sp>
      <p:pic>
        <p:nvPicPr>
          <p:cNvPr id="3074" name="Picture 2" descr="C:\Users\e2041615\AppData\Local\Microsoft\Windows\Temporary Internet Files\Content.IE5\U750XSMG\Mosquitoes Clipart 20659036-2[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288" y="4869160"/>
            <a:ext cx="1115165" cy="1587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015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Malaria &amp; Indonesia</a:t>
            </a:r>
            <a:endParaRPr lang="en-AU" dirty="0"/>
          </a:p>
        </p:txBody>
      </p:sp>
      <p:sp>
        <p:nvSpPr>
          <p:cNvPr id="3" name="TextBox 2"/>
          <p:cNvSpPr txBox="1"/>
          <p:nvPr/>
        </p:nvSpPr>
        <p:spPr>
          <a:xfrm>
            <a:off x="251520" y="1268759"/>
            <a:ext cx="8280920" cy="4524315"/>
          </a:xfrm>
          <a:prstGeom prst="rect">
            <a:avLst/>
          </a:prstGeom>
          <a:noFill/>
        </p:spPr>
        <p:txBody>
          <a:bodyPr wrap="square" rtlCol="0">
            <a:spAutoFit/>
          </a:bodyPr>
          <a:lstStyle/>
          <a:p>
            <a:pPr marL="285750" indent="-285750">
              <a:buFont typeface="Arial" charset="0"/>
              <a:buChar char="•"/>
            </a:pPr>
            <a:r>
              <a:rPr lang="en-AU" dirty="0" smtClean="0"/>
              <a:t>117 million people in Indonesia live in areas endemic to malaria.</a:t>
            </a:r>
          </a:p>
          <a:p>
            <a:pPr marL="285750" indent="-285750">
              <a:buFont typeface="Arial" charset="0"/>
              <a:buChar char="•"/>
            </a:pPr>
            <a:endParaRPr lang="en-AU" dirty="0"/>
          </a:p>
          <a:p>
            <a:pPr marL="285750" indent="-285750">
              <a:buFont typeface="Arial" charset="0"/>
              <a:buChar char="•"/>
            </a:pPr>
            <a:r>
              <a:rPr lang="en-AU" dirty="0" smtClean="0"/>
              <a:t>Cases of malaria are noted across many of Indonesia’s many islands.</a:t>
            </a:r>
          </a:p>
          <a:p>
            <a:pPr marL="285750" indent="-285750">
              <a:buFont typeface="Arial" charset="0"/>
              <a:buChar char="•"/>
            </a:pPr>
            <a:endParaRPr lang="en-AU" dirty="0"/>
          </a:p>
          <a:p>
            <a:pPr marL="285750" indent="-285750">
              <a:buFont typeface="Arial" charset="0"/>
              <a:buChar char="•"/>
            </a:pPr>
            <a:r>
              <a:rPr lang="en-AU" dirty="0" smtClean="0"/>
              <a:t>Malaria is less widespread on the islands of Bali and Java where 70% of the population live.</a:t>
            </a:r>
          </a:p>
          <a:p>
            <a:pPr marL="285750" indent="-285750">
              <a:buFont typeface="Arial" charset="0"/>
              <a:buChar char="•"/>
            </a:pPr>
            <a:endParaRPr lang="en-AU" dirty="0"/>
          </a:p>
          <a:p>
            <a:pPr marL="285750" indent="-285750">
              <a:buFont typeface="Arial" charset="0"/>
              <a:buChar char="•"/>
            </a:pPr>
            <a:r>
              <a:rPr lang="en-AU" dirty="0" smtClean="0"/>
              <a:t>Incidence of malaria infections sometimes increases of intensifies due to physical factors, such as disasters. </a:t>
            </a:r>
          </a:p>
          <a:p>
            <a:pPr marL="285750" indent="-285750">
              <a:buFont typeface="Arial" charset="0"/>
              <a:buChar char="•"/>
            </a:pPr>
            <a:endParaRPr lang="en-AU" dirty="0"/>
          </a:p>
          <a:p>
            <a:pPr marL="285750" indent="-285750">
              <a:buFont typeface="Arial" charset="0"/>
              <a:buChar char="•"/>
            </a:pPr>
            <a:r>
              <a:rPr lang="en-AU" dirty="0" smtClean="0"/>
              <a:t>Example – a malaria epidemic occurred when Indonesia was hit by a tsunami in 2004 (Boxing Day Tsunami). Pools of stagnant water left behind by the tsunami event, combined with heavy rains provided suitable conditions for breeding (mosquitos). Survivors of the tsunami became more vulnerable to malaria infection.</a:t>
            </a:r>
            <a:endParaRPr lang="en-AU" dirty="0"/>
          </a:p>
          <a:p>
            <a:pPr marL="285750" indent="-285750">
              <a:buFont typeface="Arial" charset="0"/>
              <a:buChar char="•"/>
            </a:pPr>
            <a:endParaRPr lang="en-AU" dirty="0" smtClean="0"/>
          </a:p>
          <a:p>
            <a:pPr marL="285750" indent="-285750">
              <a:buFont typeface="Arial" charset="0"/>
              <a:buChar char="•"/>
            </a:pPr>
            <a:endParaRPr lang="en-AU" dirty="0"/>
          </a:p>
        </p:txBody>
      </p:sp>
      <p:sp>
        <p:nvSpPr>
          <p:cNvPr id="4" name="Rectangle 3"/>
          <p:cNvSpPr/>
          <p:nvPr/>
        </p:nvSpPr>
        <p:spPr>
          <a:xfrm>
            <a:off x="827584" y="5331409"/>
            <a:ext cx="6624736" cy="923330"/>
          </a:xfrm>
          <a:prstGeom prst="rect">
            <a:avLst/>
          </a:prstGeom>
        </p:spPr>
        <p:txBody>
          <a:bodyPr wrap="square">
            <a:spAutoFit/>
          </a:bodyPr>
          <a:lstStyle/>
          <a:p>
            <a:r>
              <a:rPr lang="en-AU" dirty="0">
                <a:hlinkClick r:id="rId2"/>
              </a:rPr>
              <a:t>http://</a:t>
            </a:r>
            <a:r>
              <a:rPr lang="en-AU" dirty="0" smtClean="0">
                <a:hlinkClick r:id="rId2"/>
              </a:rPr>
              <a:t>www.who.int/malaria/publications/country-profiles/profile_idn_en.pdf</a:t>
            </a:r>
            <a:endParaRPr lang="en-AU" dirty="0" smtClean="0"/>
          </a:p>
          <a:p>
            <a:endParaRPr lang="en-AU" dirty="0"/>
          </a:p>
        </p:txBody>
      </p:sp>
      <p:pic>
        <p:nvPicPr>
          <p:cNvPr id="4098" name="Picture 2" descr="C:\Users\e2041615\AppData\Local\Microsoft\Windows\Temporary Internet Files\Content.IE5\TM8SEV2T\Mosquito[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252623"/>
            <a:ext cx="1459067" cy="10161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e2041615\AppData\Local\Microsoft\Windows\Temporary Internet Files\Content.IE5\U750XSMG\mosquito[1].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453295">
            <a:off x="6864233" y="5466915"/>
            <a:ext cx="1908480" cy="105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0597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ctr"/>
            <a:r>
              <a:rPr lang="en-AU" sz="1800" b="1" dirty="0" smtClean="0"/>
              <a:t>The </a:t>
            </a:r>
            <a:r>
              <a:rPr lang="en-AU" sz="1800" b="1" dirty="0"/>
              <a:t>PHYSICAL and HUMAN FACTORS that explains why some people and places are more vulnerable to Malaria. </a:t>
            </a:r>
            <a:r>
              <a:rPr lang="en-AU" sz="1800" b="1" dirty="0" smtClean="0"/>
              <a:t/>
            </a:r>
            <a:br>
              <a:rPr lang="en-AU" sz="1800" b="1" dirty="0" smtClean="0"/>
            </a:br>
            <a:r>
              <a:rPr lang="en-AU" sz="1800" b="1" i="1" dirty="0" smtClean="0">
                <a:solidFill>
                  <a:srgbClr val="FF0000"/>
                </a:solidFill>
              </a:rPr>
              <a:t>Dot Point 14</a:t>
            </a:r>
            <a:r>
              <a:rPr lang="en-AU" sz="1800" b="1" dirty="0" smtClean="0"/>
              <a:t/>
            </a:r>
            <a:br>
              <a:rPr lang="en-AU" sz="1800" b="1" dirty="0" smtClean="0"/>
            </a:br>
            <a:r>
              <a:rPr lang="en-AU" sz="1800" b="1" dirty="0" smtClean="0"/>
              <a:t>The </a:t>
            </a:r>
            <a:r>
              <a:rPr lang="en-AU" sz="1800" b="1" dirty="0"/>
              <a:t>activities of people can certainly intensify the impacts of malaria</a:t>
            </a:r>
            <a:r>
              <a:rPr lang="en-AU" sz="1800" b="1" dirty="0" smtClean="0"/>
              <a:t>.</a:t>
            </a:r>
            <a:br>
              <a:rPr lang="en-AU" sz="1800" b="1" dirty="0" smtClean="0"/>
            </a:br>
            <a:r>
              <a:rPr lang="en-AU" sz="1800" b="1" i="1" dirty="0" smtClean="0">
                <a:solidFill>
                  <a:srgbClr val="FF0000"/>
                </a:solidFill>
              </a:rPr>
              <a:t>Dot Point 15</a:t>
            </a:r>
            <a:r>
              <a:rPr lang="en-AU" sz="1600" dirty="0"/>
              <a:t/>
            </a:r>
            <a:br>
              <a:rPr lang="en-AU" sz="1600" dirty="0"/>
            </a:br>
            <a:r>
              <a:rPr lang="en-AU" sz="1600" dirty="0" smtClean="0"/>
              <a:t>(Students are to develop this table  and fill out accordingly)</a:t>
            </a:r>
            <a:endParaRPr lang="en-AU" sz="1600" b="1" dirty="0"/>
          </a:p>
        </p:txBody>
      </p:sp>
      <p:graphicFrame>
        <p:nvGraphicFramePr>
          <p:cNvPr id="9" name="Table 8"/>
          <p:cNvGraphicFramePr>
            <a:graphicFrameLocks noGrp="1"/>
          </p:cNvGraphicFramePr>
          <p:nvPr>
            <p:extLst>
              <p:ext uri="{D42A27DB-BD31-4B8C-83A1-F6EECF244321}">
                <p14:modId xmlns:p14="http://schemas.microsoft.com/office/powerpoint/2010/main" val="3795623970"/>
              </p:ext>
            </p:extLst>
          </p:nvPr>
        </p:nvGraphicFramePr>
        <p:xfrm>
          <a:off x="1259632" y="1844824"/>
          <a:ext cx="6840760" cy="4536504"/>
        </p:xfrm>
        <a:graphic>
          <a:graphicData uri="http://schemas.openxmlformats.org/drawingml/2006/table">
            <a:tbl>
              <a:tblPr>
                <a:tableStyleId>{073A0DAA-6AF3-43AB-8588-CEC1D06C72B9}</a:tableStyleId>
              </a:tblPr>
              <a:tblGrid>
                <a:gridCol w="3641799"/>
                <a:gridCol w="3198961"/>
              </a:tblGrid>
              <a:tr h="536598">
                <a:tc>
                  <a:txBody>
                    <a:bodyPr/>
                    <a:lstStyle/>
                    <a:p>
                      <a:pPr algn="ctr"/>
                      <a:r>
                        <a:rPr lang="en-AU" b="1" dirty="0" smtClean="0"/>
                        <a:t>Physical Factors</a:t>
                      </a:r>
                      <a:endParaRPr lang="en-AU" b="1" dirty="0"/>
                    </a:p>
                  </a:txBody>
                  <a:tcPr/>
                </a:tc>
                <a:tc>
                  <a:txBody>
                    <a:bodyPr/>
                    <a:lstStyle/>
                    <a:p>
                      <a:pPr algn="ctr"/>
                      <a:r>
                        <a:rPr lang="en-AU" b="1" dirty="0" smtClean="0"/>
                        <a:t>Human Factors</a:t>
                      </a:r>
                      <a:endParaRPr lang="en-AU" b="1" dirty="0"/>
                    </a:p>
                  </a:txBody>
                  <a:tcPr/>
                </a:tc>
              </a:tr>
              <a:tr h="3999906">
                <a:tc>
                  <a:txBody>
                    <a:bodyPr/>
                    <a:lstStyle/>
                    <a:p>
                      <a:r>
                        <a:rPr lang="en-AU" dirty="0" smtClean="0"/>
                        <a:t>Pages 62-68</a:t>
                      </a:r>
                      <a:endParaRPr lang="en-AU" dirty="0"/>
                    </a:p>
                  </a:txBody>
                  <a:tcPr/>
                </a:tc>
                <a:tc>
                  <a:txBody>
                    <a:bodyPr/>
                    <a:lstStyle/>
                    <a:p>
                      <a:r>
                        <a:rPr lang="en-AU" dirty="0" smtClean="0"/>
                        <a:t>Pages 74-75</a:t>
                      </a:r>
                      <a:endParaRPr lang="en-AU" dirty="0"/>
                    </a:p>
                  </a:txBody>
                  <a:tcPr/>
                </a:tc>
              </a:tr>
            </a:tbl>
          </a:graphicData>
        </a:graphic>
      </p:graphicFrame>
    </p:spTree>
    <p:extLst>
      <p:ext uri="{BB962C8B-B14F-4D97-AF65-F5344CB8AC3E}">
        <p14:creationId xmlns:p14="http://schemas.microsoft.com/office/powerpoint/2010/main" val="25661467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Factors contributing to the spread of Malaria</a:t>
            </a:r>
            <a:endParaRPr lang="en-AU" dirty="0"/>
          </a:p>
        </p:txBody>
      </p:sp>
      <p:sp>
        <p:nvSpPr>
          <p:cNvPr id="3" name="TextBox 2"/>
          <p:cNvSpPr txBox="1"/>
          <p:nvPr/>
        </p:nvSpPr>
        <p:spPr>
          <a:xfrm>
            <a:off x="251520" y="1484784"/>
            <a:ext cx="8640960" cy="6186309"/>
          </a:xfrm>
          <a:prstGeom prst="rect">
            <a:avLst/>
          </a:prstGeom>
          <a:noFill/>
        </p:spPr>
        <p:txBody>
          <a:bodyPr wrap="square" rtlCol="0">
            <a:spAutoFit/>
          </a:bodyPr>
          <a:lstStyle/>
          <a:p>
            <a:pPr marL="285750" indent="-285750">
              <a:buFont typeface="Arial" charset="0"/>
              <a:buChar char="•"/>
            </a:pPr>
            <a:r>
              <a:rPr lang="en-AU" b="1" u="sng" dirty="0" smtClean="0"/>
              <a:t>SOCIO – ECONOMIC FACTORS: (HUMAN FACTORS)</a:t>
            </a:r>
          </a:p>
          <a:p>
            <a:endParaRPr lang="en-AU" dirty="0"/>
          </a:p>
          <a:p>
            <a:r>
              <a:rPr lang="en-AU" b="1" dirty="0" smtClean="0">
                <a:sym typeface="Webdings"/>
              </a:rPr>
              <a:t> </a:t>
            </a:r>
            <a:r>
              <a:rPr lang="en-AU" b="1" dirty="0" smtClean="0"/>
              <a:t>Overcrowded living conditions:</a:t>
            </a:r>
          </a:p>
          <a:p>
            <a:endParaRPr lang="en-AU" dirty="0"/>
          </a:p>
          <a:p>
            <a:pPr marL="285750" indent="-285750">
              <a:buFontTx/>
              <a:buChar char="-"/>
            </a:pPr>
            <a:r>
              <a:rPr lang="en-AU" dirty="0" smtClean="0"/>
              <a:t>Refers to situations where large numbers of people live very close together in small areas. People interact with each other more often and more closely. As a consequence, diseases spread easily and quickly.</a:t>
            </a:r>
          </a:p>
          <a:p>
            <a:pPr marL="285750" indent="-285750">
              <a:buFontTx/>
              <a:buChar char="-"/>
            </a:pPr>
            <a:r>
              <a:rPr lang="en-AU" dirty="0" smtClean="0"/>
              <a:t>Overcrowded housing, unhygienic conditions. Houses sometimes do not have proper doors and windows to keep out Anopheles mosquitos that tend to be active at night. </a:t>
            </a:r>
          </a:p>
          <a:p>
            <a:pPr marL="285750" indent="-285750">
              <a:buFontTx/>
              <a:buChar char="-"/>
            </a:pPr>
            <a:r>
              <a:rPr lang="en-AU" dirty="0" smtClean="0"/>
              <a:t>The crowded living conditions also mean that mosquitos can move from one person to another person.</a:t>
            </a:r>
          </a:p>
          <a:p>
            <a:pPr marL="285750" indent="-285750">
              <a:buFontTx/>
              <a:buChar char="-"/>
            </a:pPr>
            <a:endParaRPr lang="en-AU" dirty="0"/>
          </a:p>
          <a:p>
            <a:pPr marL="285750" indent="-285750">
              <a:buFont typeface="Webdings"/>
              <a:buChar char="ý"/>
            </a:pPr>
            <a:r>
              <a:rPr lang="en-AU" b="1" dirty="0" smtClean="0">
                <a:sym typeface="Webdings"/>
              </a:rPr>
              <a:t>Lack of proper sanitation:</a:t>
            </a:r>
          </a:p>
          <a:p>
            <a:endParaRPr lang="en-AU" b="1" dirty="0">
              <a:sym typeface="Webdings"/>
            </a:endParaRPr>
          </a:p>
          <a:p>
            <a:pPr marL="285750" indent="-285750">
              <a:buFontTx/>
              <a:buChar char="-"/>
            </a:pPr>
            <a:r>
              <a:rPr lang="en-AU" dirty="0" smtClean="0">
                <a:sym typeface="Webdings"/>
              </a:rPr>
              <a:t>The lack of proper sanitation can contribute to the spread of malaria.</a:t>
            </a:r>
          </a:p>
          <a:p>
            <a:pPr marL="285750" indent="-285750">
              <a:buFontTx/>
              <a:buChar char="-"/>
            </a:pPr>
            <a:r>
              <a:rPr lang="en-AU" dirty="0" smtClean="0">
                <a:sym typeface="Webdings"/>
              </a:rPr>
              <a:t>If waste water is not disposed of properly, stagnant pools of water will then appear in these areas. Pools of water replenish when it rains and provide ideal breeding grounds for mosquitos.</a:t>
            </a:r>
          </a:p>
          <a:p>
            <a:pPr marL="285750" indent="-285750">
              <a:buFontTx/>
              <a:buChar char="-"/>
            </a:pPr>
            <a:endParaRPr lang="en-AU" dirty="0">
              <a:sym typeface="Webdings"/>
            </a:endParaRPr>
          </a:p>
          <a:p>
            <a:pPr marL="285750" indent="-285750">
              <a:buFontTx/>
              <a:buChar char="-"/>
            </a:pPr>
            <a:endParaRPr lang="en-AU" dirty="0" smtClean="0"/>
          </a:p>
          <a:p>
            <a:pPr marL="285750" indent="-285750">
              <a:buFontTx/>
              <a:buChar char="-"/>
            </a:pPr>
            <a:endParaRPr lang="en-AU" dirty="0" smtClean="0"/>
          </a:p>
          <a:p>
            <a:pPr marL="285750" indent="-285750">
              <a:buFontTx/>
              <a:buChar char="-"/>
            </a:pPr>
            <a:endParaRPr lang="en-AU" dirty="0"/>
          </a:p>
        </p:txBody>
      </p:sp>
      <p:pic>
        <p:nvPicPr>
          <p:cNvPr id="1027" name="Picture 3" descr="C:\Users\e2041615\AppData\Local\Microsoft\Windows\Temporary Internet Files\Content.IE5\TM8SEV2T\mathafix-moustique[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980728"/>
            <a:ext cx="1431243" cy="141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0318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476672"/>
            <a:ext cx="8568952" cy="5632311"/>
          </a:xfrm>
          <a:prstGeom prst="rect">
            <a:avLst/>
          </a:prstGeom>
          <a:noFill/>
        </p:spPr>
        <p:txBody>
          <a:bodyPr wrap="square" rtlCol="0">
            <a:spAutoFit/>
          </a:bodyPr>
          <a:lstStyle/>
          <a:p>
            <a:pPr marL="285750" indent="-285750">
              <a:buFont typeface="Webdings"/>
              <a:buChar char="ý"/>
            </a:pPr>
            <a:r>
              <a:rPr lang="en-AU" b="1" dirty="0" smtClean="0">
                <a:sym typeface="Webdings"/>
              </a:rPr>
              <a:t>Limited provision of and access to health care</a:t>
            </a:r>
          </a:p>
          <a:p>
            <a:endParaRPr lang="en-AU" b="1" dirty="0">
              <a:sym typeface="Webdings"/>
            </a:endParaRPr>
          </a:p>
          <a:p>
            <a:pPr marL="285750" indent="-285750">
              <a:buFontTx/>
              <a:buChar char="-"/>
            </a:pPr>
            <a:r>
              <a:rPr lang="en-AU" dirty="0" smtClean="0">
                <a:sym typeface="Webdings"/>
              </a:rPr>
              <a:t>Limited access to and provision of health care – reasons include shortage of doctors, lack of medical and health services in rural areas</a:t>
            </a:r>
          </a:p>
          <a:p>
            <a:pPr marL="285750" indent="-285750">
              <a:buFontTx/>
              <a:buChar char="-"/>
            </a:pPr>
            <a:r>
              <a:rPr lang="en-AU" dirty="0" smtClean="0">
                <a:sym typeface="Webdings"/>
              </a:rPr>
              <a:t>Cost of malaria treatment can contribute to the spread.</a:t>
            </a:r>
          </a:p>
          <a:p>
            <a:pPr marL="285750" indent="-285750">
              <a:buFontTx/>
              <a:buChar char="-"/>
            </a:pPr>
            <a:r>
              <a:rPr lang="en-AU" dirty="0" smtClean="0">
                <a:sym typeface="Webdings"/>
              </a:rPr>
              <a:t>Malaria treatment tends to be costly and unaffordable in many developing of LDC’s (Less Developed Countries) where the disease is prevalent. </a:t>
            </a:r>
          </a:p>
          <a:p>
            <a:pPr marL="285750" indent="-285750">
              <a:buFontTx/>
              <a:buChar char="-"/>
            </a:pPr>
            <a:endParaRPr lang="en-AU" dirty="0">
              <a:sym typeface="Webdings"/>
            </a:endParaRPr>
          </a:p>
          <a:p>
            <a:pPr marL="285750" indent="-285750">
              <a:buFont typeface="Webdings"/>
              <a:buChar char="ý"/>
            </a:pPr>
            <a:r>
              <a:rPr lang="en-AU" b="1" dirty="0" smtClean="0">
                <a:sym typeface="Webdings"/>
              </a:rPr>
              <a:t>Poor drainage</a:t>
            </a:r>
          </a:p>
          <a:p>
            <a:endParaRPr lang="en-AU" b="1" dirty="0">
              <a:sym typeface="Webdings"/>
            </a:endParaRPr>
          </a:p>
          <a:p>
            <a:pPr marL="285750" indent="-285750">
              <a:buFontTx/>
              <a:buChar char="-"/>
            </a:pPr>
            <a:r>
              <a:rPr lang="en-AU" dirty="0" smtClean="0">
                <a:sym typeface="Webdings"/>
              </a:rPr>
              <a:t>Poor drainage of water provides ideal conditions for growth in mosquito populations.</a:t>
            </a:r>
          </a:p>
          <a:p>
            <a:pPr marL="285750" indent="-285750">
              <a:buFontTx/>
              <a:buChar char="-"/>
            </a:pPr>
            <a:r>
              <a:rPr lang="en-AU" dirty="0" smtClean="0">
                <a:sym typeface="Webdings"/>
              </a:rPr>
              <a:t>Areas which experience limited education or knowledge of malaria are vulnerable as no precaution or effort is taken to remove stagnant water.</a:t>
            </a:r>
          </a:p>
          <a:p>
            <a:pPr marL="285750" indent="-285750">
              <a:buFontTx/>
              <a:buChar char="-"/>
            </a:pPr>
            <a:endParaRPr lang="en-AU" dirty="0">
              <a:sym typeface="Webdings"/>
            </a:endParaRPr>
          </a:p>
          <a:p>
            <a:pPr marL="285750" indent="-285750">
              <a:buFontTx/>
              <a:buChar char="-"/>
            </a:pPr>
            <a:endParaRPr lang="en-AU" dirty="0" smtClean="0">
              <a:sym typeface="Webdings"/>
            </a:endParaRPr>
          </a:p>
          <a:p>
            <a:pPr marL="285750" indent="-285750">
              <a:buFontTx/>
              <a:buChar char="-"/>
            </a:pPr>
            <a:endParaRPr lang="en-AU" dirty="0">
              <a:sym typeface="Webdings"/>
            </a:endParaRPr>
          </a:p>
          <a:p>
            <a:r>
              <a:rPr lang="en-AU" dirty="0" smtClean="0">
                <a:sym typeface="Webdings"/>
              </a:rPr>
              <a:t>*** Malaria is increasingly the result or intensified by ‘</a:t>
            </a:r>
            <a:r>
              <a:rPr lang="en-AU" b="1" i="1" dirty="0" smtClean="0">
                <a:sym typeface="Webdings"/>
              </a:rPr>
              <a:t>human factors</a:t>
            </a:r>
            <a:r>
              <a:rPr lang="en-AU" dirty="0" smtClean="0">
                <a:sym typeface="Webdings"/>
              </a:rPr>
              <a:t>’ and activities, such as air travel, tourism, living standards </a:t>
            </a:r>
            <a:r>
              <a:rPr lang="en-AU" dirty="0" err="1" smtClean="0">
                <a:sym typeface="Webdings"/>
              </a:rPr>
              <a:t>etc</a:t>
            </a:r>
            <a:r>
              <a:rPr lang="en-AU" dirty="0" smtClean="0">
                <a:sym typeface="Webdings"/>
              </a:rPr>
              <a:t> rather than being determined or influenced by environmental conditions or </a:t>
            </a:r>
            <a:r>
              <a:rPr lang="en-AU" b="1" i="1" dirty="0" smtClean="0">
                <a:sym typeface="Webdings"/>
              </a:rPr>
              <a:t>‘physical factors’.</a:t>
            </a:r>
          </a:p>
          <a:p>
            <a:endParaRPr lang="en-AU" b="1" i="1" dirty="0" smtClean="0">
              <a:sym typeface="Webdings"/>
            </a:endParaRPr>
          </a:p>
        </p:txBody>
      </p:sp>
      <p:pic>
        <p:nvPicPr>
          <p:cNvPr id="2051" name="Picture 3" descr="C:\Users\e2041615\AppData\Local\Microsoft\Windows\Temporary Internet Files\Content.IE5\IU11W1OL\Mastah_Mosquito_VBW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5574628"/>
            <a:ext cx="1289577" cy="106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1033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Factors contributing to the spread of Malaria</a:t>
            </a:r>
          </a:p>
        </p:txBody>
      </p:sp>
      <p:sp>
        <p:nvSpPr>
          <p:cNvPr id="3" name="TextBox 2"/>
          <p:cNvSpPr txBox="1"/>
          <p:nvPr/>
        </p:nvSpPr>
        <p:spPr>
          <a:xfrm>
            <a:off x="323528" y="1584860"/>
            <a:ext cx="8136904" cy="6463308"/>
          </a:xfrm>
          <a:prstGeom prst="rect">
            <a:avLst/>
          </a:prstGeom>
          <a:noFill/>
        </p:spPr>
        <p:txBody>
          <a:bodyPr wrap="square" rtlCol="0">
            <a:spAutoFit/>
          </a:bodyPr>
          <a:lstStyle/>
          <a:p>
            <a:pPr marL="285750" indent="-285750">
              <a:buFont typeface="Arial" charset="0"/>
              <a:buChar char="•"/>
            </a:pPr>
            <a:r>
              <a:rPr lang="en-AU" b="1" u="sng" dirty="0" smtClean="0"/>
              <a:t>PHYSICAL FACTORS:</a:t>
            </a:r>
          </a:p>
          <a:p>
            <a:endParaRPr lang="en-AU" b="1" u="sng" dirty="0" smtClean="0"/>
          </a:p>
          <a:p>
            <a:r>
              <a:rPr lang="en-AU" b="1" u="sng" dirty="0" smtClean="0"/>
              <a:t>Climate</a:t>
            </a:r>
          </a:p>
          <a:p>
            <a:pPr marL="285750" indent="-285750">
              <a:buFont typeface="Webdings"/>
              <a:buChar char="Û"/>
            </a:pPr>
            <a:r>
              <a:rPr lang="en-AU" dirty="0" smtClean="0">
                <a:sym typeface="Webdings"/>
              </a:rPr>
              <a:t>Rainfall, r______________ h____________ and t__________________ all have a direct affect or impact on mosquitoes.</a:t>
            </a:r>
          </a:p>
          <a:p>
            <a:pPr marL="285750" indent="-285750">
              <a:buFont typeface="Webdings"/>
              <a:buChar char="Û"/>
            </a:pPr>
            <a:endParaRPr lang="en-AU" dirty="0">
              <a:sym typeface="Webdings"/>
            </a:endParaRPr>
          </a:p>
          <a:p>
            <a:pPr marL="285750" indent="-285750">
              <a:buFont typeface="Webdings"/>
              <a:buChar char="Û"/>
            </a:pPr>
            <a:r>
              <a:rPr lang="en-AU" dirty="0" smtClean="0">
                <a:sym typeface="Webdings"/>
              </a:rPr>
              <a:t>Monsoons create ideal conditions for mosquitoes to breed as they often result in large amounts of rainfall.</a:t>
            </a:r>
          </a:p>
          <a:p>
            <a:pPr marL="285750" indent="-285750">
              <a:buFont typeface="Webdings"/>
              <a:buChar char="Û"/>
            </a:pPr>
            <a:endParaRPr lang="en-AU" dirty="0">
              <a:sym typeface="Webdings"/>
            </a:endParaRPr>
          </a:p>
          <a:p>
            <a:pPr marL="285750" indent="-285750">
              <a:buFont typeface="Webdings"/>
              <a:buChar char="Û"/>
            </a:pPr>
            <a:r>
              <a:rPr lang="en-AU" dirty="0" smtClean="0">
                <a:sym typeface="Webdings"/>
              </a:rPr>
              <a:t>Habitats for m________________ to breed – pools of stagnant water.</a:t>
            </a:r>
          </a:p>
          <a:p>
            <a:pPr marL="285750" indent="-285750">
              <a:buFont typeface="Webdings"/>
              <a:buChar char="Û"/>
            </a:pPr>
            <a:endParaRPr lang="en-AU" dirty="0">
              <a:sym typeface="Webdings"/>
            </a:endParaRPr>
          </a:p>
          <a:p>
            <a:pPr marL="285750" indent="-285750">
              <a:buFont typeface="Webdings"/>
              <a:buChar char="Û"/>
            </a:pPr>
            <a:r>
              <a:rPr lang="en-AU" dirty="0" smtClean="0">
                <a:sym typeface="Webdings"/>
              </a:rPr>
              <a:t>Habitats may be removed when rainfall is too high, since s______________ water may be washed away.</a:t>
            </a:r>
          </a:p>
          <a:p>
            <a:pPr marL="285750" indent="-285750">
              <a:buFont typeface="Webdings"/>
              <a:buChar char="Û"/>
            </a:pPr>
            <a:endParaRPr lang="en-AU" dirty="0">
              <a:sym typeface="Webdings"/>
            </a:endParaRPr>
          </a:p>
          <a:p>
            <a:pPr marL="285750" indent="-285750">
              <a:buFont typeface="Webdings"/>
              <a:buChar char="Û"/>
            </a:pPr>
            <a:r>
              <a:rPr lang="en-AU" dirty="0" smtClean="0">
                <a:sym typeface="Webdings"/>
              </a:rPr>
              <a:t>Relative humidity that ranges from 50% to 60% is required for the activity and </a:t>
            </a:r>
            <a:r>
              <a:rPr lang="en-AU" dirty="0" smtClean="0">
                <a:sym typeface="Webdings"/>
              </a:rPr>
              <a:t>survival </a:t>
            </a:r>
            <a:r>
              <a:rPr lang="en-AU" dirty="0" smtClean="0">
                <a:sym typeface="Webdings"/>
              </a:rPr>
              <a:t>of mosquitoes.</a:t>
            </a:r>
          </a:p>
          <a:p>
            <a:pPr marL="285750" indent="-285750">
              <a:buFont typeface="Webdings"/>
              <a:buChar char="Û"/>
            </a:pPr>
            <a:endParaRPr lang="en-AU" dirty="0">
              <a:sym typeface="Webdings"/>
            </a:endParaRPr>
          </a:p>
          <a:p>
            <a:pPr marL="285750" indent="-285750">
              <a:buFont typeface="Webdings"/>
              <a:buChar char="Û"/>
            </a:pPr>
            <a:r>
              <a:rPr lang="en-AU" dirty="0" smtClean="0">
                <a:sym typeface="Webdings"/>
              </a:rPr>
              <a:t>Higher humidity levels → longer lifespan of mosquitoes→ more infected.</a:t>
            </a:r>
          </a:p>
          <a:p>
            <a:pPr marL="285750" indent="-285750">
              <a:buFont typeface="Webdings"/>
              <a:buChar char="Û"/>
            </a:pPr>
            <a:endParaRPr lang="en-AU" dirty="0">
              <a:sym typeface="Webdings"/>
            </a:endParaRPr>
          </a:p>
          <a:p>
            <a:pPr marL="285750" indent="-285750">
              <a:buFont typeface="Webdings"/>
              <a:buChar char="Û"/>
            </a:pPr>
            <a:endParaRPr lang="en-AU" dirty="0" smtClean="0">
              <a:sym typeface="Webdings"/>
            </a:endParaRPr>
          </a:p>
          <a:p>
            <a:pPr marL="285750" indent="-285750">
              <a:buFont typeface="Webdings"/>
              <a:buChar char="Û"/>
            </a:pPr>
            <a:endParaRPr lang="en-AU" dirty="0" smtClean="0">
              <a:sym typeface="Webdings"/>
            </a:endParaRPr>
          </a:p>
          <a:p>
            <a:pPr marL="285750" indent="-285750">
              <a:buFont typeface="Webdings"/>
              <a:buChar char="Û"/>
            </a:pPr>
            <a:endParaRPr lang="en-AU" b="1" dirty="0" smtClean="0"/>
          </a:p>
          <a:p>
            <a:endParaRPr lang="en-AU" b="1" u="sng" dirty="0"/>
          </a:p>
        </p:txBody>
      </p:sp>
      <p:pic>
        <p:nvPicPr>
          <p:cNvPr id="6146" name="Picture 2" descr="C:\Users\e2041615\AppData\Local\Microsoft\Windows\Temporary Internet Files\Content.IE5\IU11W1OL\cartoon-mosquito-8[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836712"/>
            <a:ext cx="1396051" cy="1221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8961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99792" y="2348880"/>
            <a:ext cx="3312368" cy="923330"/>
          </a:xfrm>
          <a:prstGeom prst="rect">
            <a:avLst/>
          </a:prstGeom>
          <a:noFill/>
        </p:spPr>
        <p:txBody>
          <a:bodyPr wrap="square" rtlCol="0">
            <a:spAutoFit/>
          </a:bodyPr>
          <a:lstStyle/>
          <a:p>
            <a:pPr algn="ctr"/>
            <a:r>
              <a:rPr lang="en-AU" sz="5400" dirty="0" smtClean="0"/>
              <a:t>IMPACTS</a:t>
            </a:r>
            <a:endParaRPr lang="en-AU" sz="5400" dirty="0"/>
          </a:p>
        </p:txBody>
      </p:sp>
      <p:cxnSp>
        <p:nvCxnSpPr>
          <p:cNvPr id="4" name="Straight Arrow Connector 3"/>
          <p:cNvCxnSpPr/>
          <p:nvPr/>
        </p:nvCxnSpPr>
        <p:spPr>
          <a:xfrm>
            <a:off x="5554960" y="3263280"/>
            <a:ext cx="1105272" cy="1173832"/>
          </a:xfrm>
          <a:prstGeom prst="straightConnector1">
            <a:avLst/>
          </a:prstGeom>
          <a:ln w="762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5554960" y="1484784"/>
            <a:ext cx="817240" cy="936104"/>
          </a:xfrm>
          <a:prstGeom prst="straightConnector1">
            <a:avLst/>
          </a:prstGeom>
          <a:ln w="762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2195736" y="1376772"/>
            <a:ext cx="1584176" cy="1152128"/>
          </a:xfrm>
          <a:prstGeom prst="straightConnector1">
            <a:avLst/>
          </a:prstGeom>
          <a:ln w="762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469360" y="404664"/>
            <a:ext cx="2135088" cy="2308324"/>
          </a:xfrm>
          <a:prstGeom prst="rect">
            <a:avLst/>
          </a:prstGeom>
          <a:noFill/>
        </p:spPr>
        <p:txBody>
          <a:bodyPr wrap="square" rtlCol="0">
            <a:spAutoFit/>
          </a:bodyPr>
          <a:lstStyle/>
          <a:p>
            <a:r>
              <a:rPr lang="en-AU" b="1" dirty="0" smtClean="0"/>
              <a:t>Social: </a:t>
            </a:r>
          </a:p>
          <a:p>
            <a:pPr marL="285750" indent="-285750">
              <a:buFont typeface="Arial" charset="0"/>
              <a:buChar char="•"/>
            </a:pPr>
            <a:r>
              <a:rPr lang="en-AU" dirty="0" smtClean="0"/>
              <a:t>High Death Rate</a:t>
            </a:r>
          </a:p>
          <a:p>
            <a:pPr marL="285750" indent="-285750">
              <a:buFont typeface="Arial" charset="0"/>
              <a:buChar char="•"/>
            </a:pPr>
            <a:r>
              <a:rPr lang="en-AU" dirty="0" smtClean="0"/>
              <a:t>High Infant mortality rate . Including pregnant women may infect the unborn child.</a:t>
            </a:r>
            <a:endParaRPr lang="en-AU" dirty="0"/>
          </a:p>
        </p:txBody>
      </p:sp>
      <p:sp>
        <p:nvSpPr>
          <p:cNvPr id="12" name="TextBox 11"/>
          <p:cNvSpPr txBox="1"/>
          <p:nvPr/>
        </p:nvSpPr>
        <p:spPr>
          <a:xfrm>
            <a:off x="3635896" y="4293096"/>
            <a:ext cx="5184576" cy="2308324"/>
          </a:xfrm>
          <a:prstGeom prst="rect">
            <a:avLst/>
          </a:prstGeom>
          <a:noFill/>
        </p:spPr>
        <p:txBody>
          <a:bodyPr wrap="square" rtlCol="0">
            <a:spAutoFit/>
          </a:bodyPr>
          <a:lstStyle/>
          <a:p>
            <a:r>
              <a:rPr lang="en-AU" b="1" dirty="0" smtClean="0"/>
              <a:t>Economic:</a:t>
            </a:r>
          </a:p>
          <a:p>
            <a:pPr marL="285750" indent="-285750">
              <a:buFont typeface="Arial" charset="0"/>
              <a:buChar char="•"/>
            </a:pPr>
            <a:r>
              <a:rPr lang="en-AU" dirty="0" smtClean="0"/>
              <a:t>Pressure of malaria on households – economic burden of increased medical costs</a:t>
            </a:r>
          </a:p>
          <a:p>
            <a:pPr marL="285750" indent="-285750">
              <a:buFont typeface="Arial" charset="0"/>
              <a:buChar char="•"/>
            </a:pPr>
            <a:r>
              <a:rPr lang="en-AU" dirty="0" smtClean="0"/>
              <a:t>Cost of health care  - including building and maintaining hospitals</a:t>
            </a:r>
          </a:p>
          <a:p>
            <a:pPr marL="285750" indent="-285750">
              <a:buFont typeface="Arial" charset="0"/>
              <a:buChar char="•"/>
            </a:pPr>
            <a:r>
              <a:rPr lang="en-AU" dirty="0" smtClean="0"/>
              <a:t>Loss of productivity  - lower productivity impacts on slowing down economic growth. </a:t>
            </a:r>
          </a:p>
          <a:p>
            <a:pPr marL="285750" indent="-285750">
              <a:buFont typeface="Arial" charset="0"/>
              <a:buChar char="•"/>
            </a:pPr>
            <a:endParaRPr lang="en-AU" dirty="0"/>
          </a:p>
        </p:txBody>
      </p:sp>
      <p:cxnSp>
        <p:nvCxnSpPr>
          <p:cNvPr id="14" name="Straight Arrow Connector 13"/>
          <p:cNvCxnSpPr/>
          <p:nvPr/>
        </p:nvCxnSpPr>
        <p:spPr>
          <a:xfrm flipH="1" flipV="1">
            <a:off x="2987824" y="4437112"/>
            <a:ext cx="936104" cy="727530"/>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21918" y="2307937"/>
            <a:ext cx="2872429" cy="4801314"/>
          </a:xfrm>
          <a:prstGeom prst="rect">
            <a:avLst/>
          </a:prstGeom>
          <a:noFill/>
        </p:spPr>
        <p:txBody>
          <a:bodyPr wrap="square" rtlCol="0">
            <a:spAutoFit/>
          </a:bodyPr>
          <a:lstStyle/>
          <a:p>
            <a:pPr marL="285750" indent="-285750">
              <a:buFont typeface="Arial" charset="0"/>
              <a:buChar char="•"/>
            </a:pPr>
            <a:r>
              <a:rPr lang="en-AU" dirty="0" smtClean="0"/>
              <a:t>Insecticide treated nets</a:t>
            </a:r>
          </a:p>
          <a:p>
            <a:pPr marL="285750" indent="-285750">
              <a:buFont typeface="Arial" charset="0"/>
              <a:buChar char="•"/>
            </a:pPr>
            <a:r>
              <a:rPr lang="en-AU" dirty="0" smtClean="0"/>
              <a:t>Days lost from school.</a:t>
            </a:r>
          </a:p>
          <a:p>
            <a:pPr marL="285750" indent="-285750">
              <a:buFont typeface="Arial" charset="0"/>
              <a:buChar char="•"/>
            </a:pPr>
            <a:r>
              <a:rPr lang="en-AU" dirty="0" smtClean="0"/>
              <a:t>Funeral costs</a:t>
            </a:r>
          </a:p>
          <a:p>
            <a:pPr marL="285750" indent="-285750">
              <a:buFont typeface="Arial" charset="0"/>
              <a:buChar char="•"/>
            </a:pPr>
            <a:r>
              <a:rPr lang="en-AU" dirty="0" smtClean="0"/>
              <a:t>Travel expenses to obtain treatment.</a:t>
            </a:r>
          </a:p>
          <a:p>
            <a:pPr marL="285750" indent="-285750">
              <a:buFont typeface="Arial" charset="0"/>
              <a:buChar char="•"/>
            </a:pPr>
            <a:r>
              <a:rPr lang="en-AU" dirty="0" smtClean="0"/>
              <a:t>Purchasing medical supplies and medication</a:t>
            </a:r>
          </a:p>
          <a:p>
            <a:pPr marL="285750" indent="-285750">
              <a:buFont typeface="Arial" charset="0"/>
              <a:buChar char="•"/>
            </a:pPr>
            <a:r>
              <a:rPr lang="en-AU" dirty="0" smtClean="0"/>
              <a:t>Lost income from days off work</a:t>
            </a:r>
          </a:p>
          <a:p>
            <a:pPr marL="285750" indent="-285750">
              <a:buFont typeface="Arial" charset="0"/>
              <a:buChar char="•"/>
            </a:pPr>
            <a:r>
              <a:rPr lang="en-AU" dirty="0" smtClean="0"/>
              <a:t>Preventative measures</a:t>
            </a:r>
          </a:p>
          <a:p>
            <a:pPr marL="285750" indent="-285750">
              <a:buFont typeface="Arial" charset="0"/>
              <a:buChar char="•"/>
            </a:pPr>
            <a:r>
              <a:rPr lang="en-AU" dirty="0" smtClean="0"/>
              <a:t>Causes an increase in spending for households</a:t>
            </a:r>
          </a:p>
          <a:p>
            <a:pPr marL="285750" indent="-285750">
              <a:buFont typeface="Arial" charset="0"/>
              <a:buChar char="•"/>
            </a:pPr>
            <a:r>
              <a:rPr lang="en-AU" dirty="0" smtClean="0"/>
              <a:t>Expensive for government – health care services, lost income as people are out of work.</a:t>
            </a:r>
          </a:p>
          <a:p>
            <a:pPr marL="285750" indent="-285750">
              <a:buFont typeface="Arial" charset="0"/>
              <a:buChar char="•"/>
            </a:pPr>
            <a:endParaRPr lang="en-AU" dirty="0"/>
          </a:p>
        </p:txBody>
      </p:sp>
      <p:sp>
        <p:nvSpPr>
          <p:cNvPr id="18" name="TextBox 17"/>
          <p:cNvSpPr txBox="1"/>
          <p:nvPr/>
        </p:nvSpPr>
        <p:spPr>
          <a:xfrm>
            <a:off x="395536" y="332656"/>
            <a:ext cx="4752528" cy="1200329"/>
          </a:xfrm>
          <a:prstGeom prst="rect">
            <a:avLst/>
          </a:prstGeom>
          <a:noFill/>
        </p:spPr>
        <p:txBody>
          <a:bodyPr wrap="square" rtlCol="0">
            <a:spAutoFit/>
          </a:bodyPr>
          <a:lstStyle/>
          <a:p>
            <a:r>
              <a:rPr lang="en-AU" b="1" dirty="0" smtClean="0"/>
              <a:t>Environmental:</a:t>
            </a:r>
          </a:p>
          <a:p>
            <a:pPr marL="285750" indent="-285750">
              <a:buFont typeface="Arial" charset="0"/>
              <a:buChar char="•"/>
            </a:pPr>
            <a:r>
              <a:rPr lang="en-AU" dirty="0" smtClean="0"/>
              <a:t>Disruption to ecosystems</a:t>
            </a:r>
          </a:p>
          <a:p>
            <a:pPr marL="285750" indent="-285750">
              <a:buFont typeface="Arial" charset="0"/>
              <a:buChar char="•"/>
            </a:pPr>
            <a:r>
              <a:rPr lang="en-AU" b="1" dirty="0" smtClean="0"/>
              <a:t> </a:t>
            </a:r>
            <a:r>
              <a:rPr lang="en-AU" dirty="0" smtClean="0"/>
              <a:t>Preventative sprays such as DDT and impact on agriculture etc…</a:t>
            </a:r>
            <a:endParaRPr lang="en-AU" b="1" dirty="0"/>
          </a:p>
        </p:txBody>
      </p:sp>
    </p:spTree>
    <p:extLst>
      <p:ext uri="{BB962C8B-B14F-4D97-AF65-F5344CB8AC3E}">
        <p14:creationId xmlns:p14="http://schemas.microsoft.com/office/powerpoint/2010/main" val="36432642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Pronounce this…</a:t>
            </a:r>
            <a:endParaRPr lang="en-AU" dirty="0"/>
          </a:p>
        </p:txBody>
      </p:sp>
      <p:sp>
        <p:nvSpPr>
          <p:cNvPr id="3" name="Content Placeholder 2"/>
          <p:cNvSpPr>
            <a:spLocks noGrp="1"/>
          </p:cNvSpPr>
          <p:nvPr>
            <p:ph idx="1"/>
          </p:nvPr>
        </p:nvSpPr>
        <p:spPr/>
        <p:txBody>
          <a:bodyPr>
            <a:normAutofit/>
          </a:bodyPr>
          <a:lstStyle/>
          <a:p>
            <a:pPr marL="114300" indent="0" algn="ctr">
              <a:buNone/>
            </a:pPr>
            <a:r>
              <a:rPr lang="en-AU" sz="4000" dirty="0" smtClean="0"/>
              <a:t>dichlorodiphenyltrichloroethane</a:t>
            </a:r>
            <a:endParaRPr lang="en-AU" sz="4000" dirty="0"/>
          </a:p>
        </p:txBody>
      </p:sp>
    </p:spTree>
    <p:extLst>
      <p:ext uri="{BB962C8B-B14F-4D97-AF65-F5344CB8AC3E}">
        <p14:creationId xmlns:p14="http://schemas.microsoft.com/office/powerpoint/2010/main" val="14259854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Impacts in an LDC – Indonesia</a:t>
            </a:r>
            <a:endParaRPr lang="en-AU" dirty="0"/>
          </a:p>
        </p:txBody>
      </p:sp>
      <p:sp>
        <p:nvSpPr>
          <p:cNvPr id="3" name="TextBox 2"/>
          <p:cNvSpPr txBox="1"/>
          <p:nvPr/>
        </p:nvSpPr>
        <p:spPr>
          <a:xfrm>
            <a:off x="899592" y="1700808"/>
            <a:ext cx="7560840" cy="2123658"/>
          </a:xfrm>
          <a:prstGeom prst="rect">
            <a:avLst/>
          </a:prstGeom>
          <a:noFill/>
        </p:spPr>
        <p:txBody>
          <a:bodyPr wrap="square" rtlCol="0">
            <a:spAutoFit/>
          </a:bodyPr>
          <a:lstStyle/>
          <a:p>
            <a:pPr algn="ctr"/>
            <a:r>
              <a:rPr lang="en-AU" sz="4400" b="1" dirty="0" smtClean="0"/>
              <a:t>List examples of the impact which occur in an LDC as opposed to an MDC.</a:t>
            </a:r>
            <a:endParaRPr lang="en-AU" sz="4400" b="1" dirty="0"/>
          </a:p>
        </p:txBody>
      </p:sp>
    </p:spTree>
    <p:extLst>
      <p:ext uri="{BB962C8B-B14F-4D97-AF65-F5344CB8AC3E}">
        <p14:creationId xmlns:p14="http://schemas.microsoft.com/office/powerpoint/2010/main" val="27650961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2400" b="1" dirty="0" smtClean="0"/>
              <a:t>Malaria’s impact on people,</a:t>
            </a:r>
            <a:br>
              <a:rPr lang="en-AU" sz="2400" b="1" dirty="0" smtClean="0"/>
            </a:br>
            <a:r>
              <a:rPr lang="en-AU" sz="2400" b="1" dirty="0" smtClean="0"/>
              <a:t>property and economic activity</a:t>
            </a:r>
            <a:br>
              <a:rPr lang="en-AU" sz="2400" b="1" dirty="0" smtClean="0"/>
            </a:br>
            <a:r>
              <a:rPr lang="en-AU" sz="2400" b="1" dirty="0" smtClean="0"/>
              <a:t>Dot </a:t>
            </a:r>
            <a:r>
              <a:rPr lang="en-AU" sz="2400" b="1" smtClean="0"/>
              <a:t>POINT 16</a:t>
            </a:r>
            <a:endParaRPr lang="en-AU" sz="2400" b="1" dirty="0"/>
          </a:p>
        </p:txBody>
      </p:sp>
      <p:sp>
        <p:nvSpPr>
          <p:cNvPr id="3" name="Content Placeholder 2"/>
          <p:cNvSpPr>
            <a:spLocks noGrp="1"/>
          </p:cNvSpPr>
          <p:nvPr>
            <p:ph idx="1"/>
          </p:nvPr>
        </p:nvSpPr>
        <p:spPr/>
        <p:txBody>
          <a:bodyPr>
            <a:normAutofit/>
          </a:bodyPr>
          <a:lstStyle/>
          <a:p>
            <a:r>
              <a:rPr lang="en-AU" sz="2800" dirty="0" smtClean="0"/>
              <a:t>It is in LDC’s that Malaria is seen at its greatest. </a:t>
            </a:r>
          </a:p>
          <a:p>
            <a:r>
              <a:rPr lang="en-AU" sz="2800" dirty="0"/>
              <a:t>T</a:t>
            </a:r>
            <a:r>
              <a:rPr lang="en-AU" sz="2800" dirty="0" smtClean="0"/>
              <a:t>here is a strong link (correlation) between it, poverty and geography. Many of these affected LCD’s are located in the tropical and Equatorial regions of Earth.</a:t>
            </a:r>
          </a:p>
          <a:p>
            <a:r>
              <a:rPr lang="en-AU" sz="2800" dirty="0" smtClean="0"/>
              <a:t>Examine the social and economic impacts of malaria by reading and taking notes from pages 72-73 of the textbook and other sources.</a:t>
            </a:r>
          </a:p>
          <a:p>
            <a:r>
              <a:rPr lang="en-AU" sz="2800" b="1" i="1" dirty="0" smtClean="0"/>
              <a:t>Question: Why is malaria often more dangerous to people in regions where it is not widespread?</a:t>
            </a:r>
            <a:endParaRPr lang="en-AU" sz="2800" b="1" i="1" dirty="0"/>
          </a:p>
        </p:txBody>
      </p:sp>
    </p:spTree>
    <p:extLst>
      <p:ext uri="{BB962C8B-B14F-4D97-AF65-F5344CB8AC3E}">
        <p14:creationId xmlns:p14="http://schemas.microsoft.com/office/powerpoint/2010/main" val="24415717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457200" y="274638"/>
            <a:ext cx="8229600" cy="1282154"/>
          </a:xfrm>
        </p:spPr>
        <p:txBody>
          <a:bodyPr>
            <a:normAutofit fontScale="90000"/>
          </a:bodyPr>
          <a:lstStyle/>
          <a:p>
            <a:r>
              <a:rPr lang="en-AU" sz="2400" b="1" dirty="0" smtClean="0"/>
              <a:t>The sustainability of risk management policies, procedures and practices designed to reduce the impacts of Malaria in the short and long term  (prevention, mitigation and preparedness)</a:t>
            </a:r>
            <a:br>
              <a:rPr lang="en-AU" sz="2400" b="1" dirty="0" smtClean="0"/>
            </a:br>
            <a:r>
              <a:rPr lang="en-AU" sz="2400" b="1" dirty="0" smtClean="0"/>
              <a:t>Dot Point 18</a:t>
            </a:r>
            <a:endParaRPr lang="en-AU" sz="2400" b="1" dirty="0"/>
          </a:p>
        </p:txBody>
      </p:sp>
      <p:sp>
        <p:nvSpPr>
          <p:cNvPr id="11" name="Content Placeholder 10"/>
          <p:cNvSpPr>
            <a:spLocks noGrp="1"/>
          </p:cNvSpPr>
          <p:nvPr>
            <p:ph idx="1"/>
          </p:nvPr>
        </p:nvSpPr>
        <p:spPr>
          <a:xfrm>
            <a:off x="457200" y="1844824"/>
            <a:ext cx="8229600" cy="4281339"/>
          </a:xfrm>
        </p:spPr>
        <p:txBody>
          <a:bodyPr/>
          <a:lstStyle/>
          <a:p>
            <a:r>
              <a:rPr lang="en-AU" dirty="0" smtClean="0"/>
              <a:t>Pages 69, </a:t>
            </a:r>
            <a:r>
              <a:rPr lang="en-AU" dirty="0" smtClean="0"/>
              <a:t>76-77</a:t>
            </a:r>
          </a:p>
          <a:p>
            <a:r>
              <a:rPr lang="en-AU" dirty="0" smtClean="0"/>
              <a:t>Read and answer questions – </a:t>
            </a:r>
          </a:p>
          <a:p>
            <a:endParaRPr lang="en-AU" dirty="0" smtClean="0"/>
          </a:p>
          <a:p>
            <a:r>
              <a:rPr lang="en-AU" dirty="0" smtClean="0"/>
              <a:t>2</a:t>
            </a:r>
          </a:p>
          <a:p>
            <a:r>
              <a:rPr lang="en-AU" dirty="0" smtClean="0"/>
              <a:t>3</a:t>
            </a:r>
          </a:p>
          <a:p>
            <a:r>
              <a:rPr lang="en-AU" dirty="0" smtClean="0"/>
              <a:t>4</a:t>
            </a:r>
          </a:p>
          <a:p>
            <a:r>
              <a:rPr lang="en-AU" dirty="0" smtClean="0"/>
              <a:t>Extension – Question 1 (complete for homework/revision in preparation for next assessment) </a:t>
            </a:r>
            <a:r>
              <a:rPr lang="en-AU" b="1" u="sng" dirty="0" smtClean="0">
                <a:solidFill>
                  <a:srgbClr val="0070C0"/>
                </a:solidFill>
              </a:rPr>
              <a:t>DUE: MONDAY 7</a:t>
            </a:r>
            <a:r>
              <a:rPr lang="en-AU" b="1" u="sng" baseline="30000" dirty="0" smtClean="0">
                <a:solidFill>
                  <a:srgbClr val="0070C0"/>
                </a:solidFill>
              </a:rPr>
              <a:t>TH</a:t>
            </a:r>
            <a:r>
              <a:rPr lang="en-AU" b="1" u="sng" dirty="0" smtClean="0">
                <a:solidFill>
                  <a:srgbClr val="0070C0"/>
                </a:solidFill>
              </a:rPr>
              <a:t> OF MAY</a:t>
            </a:r>
          </a:p>
        </p:txBody>
      </p:sp>
    </p:spTree>
    <p:extLst>
      <p:ext uri="{BB962C8B-B14F-4D97-AF65-F5344CB8AC3E}">
        <p14:creationId xmlns:p14="http://schemas.microsoft.com/office/powerpoint/2010/main" val="33257379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Page 73 – Question 6 </a:t>
            </a:r>
            <a:endParaRPr lang="en-AU" dirty="0"/>
          </a:p>
        </p:txBody>
      </p:sp>
      <p:sp>
        <p:nvSpPr>
          <p:cNvPr id="3" name="Rectangle 3"/>
          <p:cNvSpPr>
            <a:spLocks noChangeArrowheads="1"/>
          </p:cNvSpPr>
          <p:nvPr/>
        </p:nvSpPr>
        <p:spPr bwMode="auto">
          <a:xfrm>
            <a:off x="3851920" y="2305853"/>
            <a:ext cx="3299265" cy="36658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867" kern="0">
              <a:solidFill>
                <a:srgbClr val="000000"/>
              </a:solidFill>
              <a:cs typeface="Arial"/>
              <a:sym typeface="Arial"/>
            </a:endParaRPr>
          </a:p>
        </p:txBody>
      </p:sp>
      <p:sp>
        <p:nvSpPr>
          <p:cNvPr id="4" name="Oval 4"/>
          <p:cNvSpPr>
            <a:spLocks noChangeArrowheads="1"/>
          </p:cNvSpPr>
          <p:nvPr/>
        </p:nvSpPr>
        <p:spPr bwMode="auto">
          <a:xfrm>
            <a:off x="4258320" y="2712253"/>
            <a:ext cx="2571764" cy="2267805"/>
          </a:xfrm>
          <a:prstGeom prst="ellipse">
            <a:avLst/>
          </a:prstGeom>
          <a:solidFill>
            <a:srgbClr val="FF33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sz="1867" kern="0">
              <a:solidFill>
                <a:srgbClr val="000000"/>
              </a:solidFill>
              <a:cs typeface="Arial"/>
              <a:sym typeface="Arial"/>
            </a:endParaRPr>
          </a:p>
        </p:txBody>
      </p:sp>
      <p:sp>
        <p:nvSpPr>
          <p:cNvPr id="5" name="Rectangle 5"/>
          <p:cNvSpPr>
            <a:spLocks noChangeArrowheads="1"/>
          </p:cNvSpPr>
          <p:nvPr/>
        </p:nvSpPr>
        <p:spPr bwMode="auto">
          <a:xfrm>
            <a:off x="4139787" y="2593721"/>
            <a:ext cx="1413431" cy="2569401"/>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sz="1867" kern="0">
              <a:solidFill>
                <a:srgbClr val="000000"/>
              </a:solidFill>
              <a:cs typeface="Arial"/>
              <a:sym typeface="Arial"/>
            </a:endParaRPr>
          </a:p>
        </p:txBody>
      </p:sp>
      <p:sp>
        <p:nvSpPr>
          <p:cNvPr id="6" name="Oval 6"/>
          <p:cNvSpPr>
            <a:spLocks noChangeArrowheads="1"/>
          </p:cNvSpPr>
          <p:nvPr/>
        </p:nvSpPr>
        <p:spPr bwMode="auto">
          <a:xfrm>
            <a:off x="4260436" y="2712253"/>
            <a:ext cx="2571765" cy="2267805"/>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sz="1867" kern="0">
              <a:solidFill>
                <a:srgbClr val="000000"/>
              </a:solidFill>
              <a:cs typeface="Arial"/>
              <a:sym typeface="Arial"/>
            </a:endParaRPr>
          </a:p>
        </p:txBody>
      </p:sp>
      <p:sp>
        <p:nvSpPr>
          <p:cNvPr id="7" name="Text Box 7"/>
          <p:cNvSpPr txBox="1">
            <a:spLocks noChangeArrowheads="1"/>
          </p:cNvSpPr>
          <p:nvPr/>
        </p:nvSpPr>
        <p:spPr bwMode="auto">
          <a:xfrm>
            <a:off x="4662088" y="5034011"/>
            <a:ext cx="216799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6400" kern="0" dirty="0">
                <a:solidFill>
                  <a:srgbClr val="000000"/>
                </a:solidFill>
                <a:cs typeface="Arial"/>
                <a:sym typeface="Arial"/>
              </a:rPr>
              <a:t>End</a:t>
            </a:r>
          </a:p>
        </p:txBody>
      </p:sp>
    </p:spTree>
    <p:extLst>
      <p:ext uri="{BB962C8B-B14F-4D97-AF65-F5344CB8AC3E}">
        <p14:creationId xmlns:p14="http://schemas.microsoft.com/office/powerpoint/2010/main" val="214588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300000"/>
                                        <p:tgtEl>
                                          <p:spTgt spid="4"/>
                                        </p:tgtEl>
                                      </p:cBhvr>
                                    </p:animEffect>
                                  </p:childTnLst>
                                </p:cTn>
                              </p:par>
                            </p:childTnLst>
                          </p:cTn>
                        </p:par>
                        <p:par>
                          <p:cTn id="8" fill="hold">
                            <p:stCondLst>
                              <p:cond delay="300000"/>
                            </p:stCondLst>
                            <p:childTnLst>
                              <p:par>
                                <p:cTn id="9" presetID="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subTnLst>
                                    <p:audio>
                                      <p:cMediaNode vol="100000">
                                        <p:cTn display="0" masterRel="sameClick">
                                          <p:stCondLst>
                                            <p:cond evt="begin" delay="0">
                                              <p:tn val="9"/>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Challenges in managing the spread of Malaria</a:t>
            </a:r>
            <a:endParaRPr lang="en-AU" b="1" dirty="0"/>
          </a:p>
        </p:txBody>
      </p:sp>
      <p:sp>
        <p:nvSpPr>
          <p:cNvPr id="3" name="TextBox 2"/>
          <p:cNvSpPr txBox="1"/>
          <p:nvPr/>
        </p:nvSpPr>
        <p:spPr>
          <a:xfrm>
            <a:off x="457200" y="1700808"/>
            <a:ext cx="8229600" cy="5447645"/>
          </a:xfrm>
          <a:prstGeom prst="rect">
            <a:avLst/>
          </a:prstGeom>
          <a:noFill/>
        </p:spPr>
        <p:txBody>
          <a:bodyPr wrap="square" rtlCol="0">
            <a:spAutoFit/>
          </a:bodyPr>
          <a:lstStyle/>
          <a:p>
            <a:r>
              <a:rPr lang="en-AU" sz="2400" b="1" dirty="0" smtClean="0"/>
              <a:t>Social and Economic Challenges:</a:t>
            </a:r>
          </a:p>
          <a:p>
            <a:endParaRPr lang="en-AU" dirty="0"/>
          </a:p>
          <a:p>
            <a:pPr marL="342900" indent="-342900">
              <a:buFont typeface="Arial" charset="0"/>
              <a:buChar char="•"/>
            </a:pPr>
            <a:r>
              <a:rPr lang="en-AU" sz="2400" b="1" dirty="0" smtClean="0"/>
              <a:t>Health care:</a:t>
            </a:r>
          </a:p>
          <a:p>
            <a:r>
              <a:rPr lang="en-AU" sz="1600" dirty="0" smtClean="0"/>
              <a:t> resistance to drugs is caused by incompletely treating an infected person. The surviving parasites sometimes then develop a resistance to the drugs being used. </a:t>
            </a:r>
          </a:p>
          <a:p>
            <a:pPr marL="285750" indent="-285750">
              <a:buFontTx/>
              <a:buChar char="-"/>
            </a:pPr>
            <a:endParaRPr lang="en-AU" dirty="0"/>
          </a:p>
          <a:p>
            <a:pPr marL="342900" indent="-342900">
              <a:buFont typeface="Arial" panose="020B0604020202020204" pitchFamily="34" charset="0"/>
              <a:buChar char="•"/>
            </a:pPr>
            <a:r>
              <a:rPr lang="en-AU" sz="2400" b="1" dirty="0" smtClean="0"/>
              <a:t>Human Activities:</a:t>
            </a:r>
            <a:endParaRPr lang="en-AU" sz="2400" b="1" dirty="0"/>
          </a:p>
          <a:p>
            <a:pPr marL="285750" indent="-285750">
              <a:buFontTx/>
              <a:buChar char="-"/>
            </a:pPr>
            <a:r>
              <a:rPr lang="en-AU" sz="1600" b="1" dirty="0" smtClean="0"/>
              <a:t>Population movement </a:t>
            </a:r>
            <a:r>
              <a:rPr lang="en-AU" sz="1600" dirty="0" smtClean="0"/>
              <a:t>– the movement of people transmits and spreads diseases to new locations and areas.</a:t>
            </a:r>
          </a:p>
          <a:p>
            <a:pPr marL="285750" indent="-285750">
              <a:buFontTx/>
              <a:buChar char="-"/>
            </a:pPr>
            <a:r>
              <a:rPr lang="en-AU" sz="1600" b="1" dirty="0" smtClean="0"/>
              <a:t>Border Control</a:t>
            </a:r>
          </a:p>
          <a:p>
            <a:pPr marL="285750" indent="-285750">
              <a:buFontTx/>
              <a:buChar char="-"/>
            </a:pPr>
            <a:r>
              <a:rPr lang="en-AU" sz="1600" b="1" dirty="0" smtClean="0"/>
              <a:t>Travel advisory information </a:t>
            </a:r>
            <a:r>
              <a:rPr lang="en-AU" sz="1600" dirty="0" smtClean="0"/>
              <a:t>– DFAT (Australian Government) -</a:t>
            </a:r>
          </a:p>
          <a:p>
            <a:r>
              <a:rPr lang="en-AU" sz="1600" dirty="0" smtClean="0"/>
              <a:t>travel information to inform travellers about specific risks when visiting particular destinations, such as </a:t>
            </a:r>
            <a:r>
              <a:rPr lang="en-AU" sz="1600" dirty="0" err="1" smtClean="0"/>
              <a:t>SmartTraveller</a:t>
            </a:r>
            <a:r>
              <a:rPr lang="en-AU" sz="1600" dirty="0" smtClean="0"/>
              <a:t> website information. Available on the internet, yet may not be accessible by everyone.</a:t>
            </a:r>
          </a:p>
          <a:p>
            <a:pPr marL="342900" indent="-342900">
              <a:buFont typeface="Arial" panose="020B0604020202020204" pitchFamily="34" charset="0"/>
              <a:buChar char="•"/>
            </a:pPr>
            <a:r>
              <a:rPr lang="en-AU" sz="2400" b="1" dirty="0" smtClean="0"/>
              <a:t>Forest </a:t>
            </a:r>
            <a:r>
              <a:rPr lang="en-AU" sz="2400" b="1" dirty="0" smtClean="0"/>
              <a:t>Clearance:</a:t>
            </a:r>
            <a:endParaRPr lang="en-AU" dirty="0" smtClean="0"/>
          </a:p>
          <a:p>
            <a:r>
              <a:rPr lang="en-AU" sz="1600" dirty="0" smtClean="0"/>
              <a:t>Cleared land can provide ideal </a:t>
            </a:r>
            <a:r>
              <a:rPr lang="en-AU" sz="1600" dirty="0" smtClean="0"/>
              <a:t>conditions and suitable </a:t>
            </a:r>
            <a:r>
              <a:rPr lang="en-AU" sz="1600" dirty="0" smtClean="0"/>
              <a:t>habitats for mosquitoes to breed. Irrigation-based agriculture can also </a:t>
            </a:r>
            <a:r>
              <a:rPr lang="en-AU" sz="1600" dirty="0" smtClean="0"/>
              <a:t>assist </a:t>
            </a:r>
            <a:r>
              <a:rPr lang="en-AU" sz="1600" dirty="0" smtClean="0"/>
              <a:t>in an increase in mosquito breeding, such as rice fields/paddies.</a:t>
            </a:r>
          </a:p>
          <a:p>
            <a:pPr marL="342900" indent="-342900">
              <a:buFont typeface="Arial" panose="020B0604020202020204" pitchFamily="34" charset="0"/>
              <a:buChar char="•"/>
            </a:pPr>
            <a:endParaRPr lang="en-AU" sz="2400" b="1" dirty="0"/>
          </a:p>
        </p:txBody>
      </p:sp>
    </p:spTree>
    <p:extLst>
      <p:ext uri="{BB962C8B-B14F-4D97-AF65-F5344CB8AC3E}">
        <p14:creationId xmlns:p14="http://schemas.microsoft.com/office/powerpoint/2010/main" val="1081123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Challenges in managing the spread of </a:t>
            </a:r>
            <a:r>
              <a:rPr lang="en-AU" b="1" dirty="0" smtClean="0"/>
              <a:t>Malaria </a:t>
            </a:r>
            <a:r>
              <a:rPr lang="en-AU" b="1" dirty="0" err="1" smtClean="0"/>
              <a:t>cont</a:t>
            </a:r>
            <a:r>
              <a:rPr lang="en-AU" b="1" dirty="0" smtClean="0"/>
              <a:t>…</a:t>
            </a:r>
            <a:endParaRPr lang="en-AU" dirty="0"/>
          </a:p>
        </p:txBody>
      </p:sp>
      <p:sp>
        <p:nvSpPr>
          <p:cNvPr id="3" name="TextBox 2"/>
          <p:cNvSpPr txBox="1"/>
          <p:nvPr/>
        </p:nvSpPr>
        <p:spPr>
          <a:xfrm>
            <a:off x="457200" y="1772816"/>
            <a:ext cx="8640960" cy="4339650"/>
          </a:xfrm>
          <a:prstGeom prst="rect">
            <a:avLst/>
          </a:prstGeom>
          <a:noFill/>
        </p:spPr>
        <p:txBody>
          <a:bodyPr wrap="square" rtlCol="0">
            <a:spAutoFit/>
          </a:bodyPr>
          <a:lstStyle/>
          <a:p>
            <a:r>
              <a:rPr lang="en-AU" sz="2400" b="1" dirty="0" smtClean="0"/>
              <a:t>Environmental challenges:</a:t>
            </a:r>
          </a:p>
          <a:p>
            <a:endParaRPr lang="en-AU" sz="2400" b="1" dirty="0"/>
          </a:p>
          <a:p>
            <a:pPr marL="342900" indent="-342900">
              <a:buFont typeface="Arial" panose="020B0604020202020204" pitchFamily="34" charset="0"/>
              <a:buChar char="•"/>
            </a:pPr>
            <a:r>
              <a:rPr lang="en-AU" sz="2400" b="1" dirty="0" smtClean="0"/>
              <a:t>Climate</a:t>
            </a:r>
          </a:p>
          <a:p>
            <a:r>
              <a:rPr lang="en-AU" dirty="0" smtClean="0"/>
              <a:t>Changes and variations in amount of rainfall and temperature impact on both the range and behaviour of mosquitoes.</a:t>
            </a:r>
          </a:p>
          <a:p>
            <a:endParaRPr lang="en-AU" dirty="0"/>
          </a:p>
          <a:p>
            <a:r>
              <a:rPr lang="en-AU" dirty="0" smtClean="0"/>
              <a:t>Increased temperatures impact on the rate at which mosquitoes breed and mature </a:t>
            </a:r>
          </a:p>
          <a:p>
            <a:endParaRPr lang="en-AU" dirty="0"/>
          </a:p>
          <a:p>
            <a:r>
              <a:rPr lang="en-AU" dirty="0" smtClean="0"/>
              <a:t>Stagnant water is prominent when there are higher amounts of rainfall.</a:t>
            </a:r>
          </a:p>
          <a:p>
            <a:endParaRPr lang="en-AU" dirty="0"/>
          </a:p>
          <a:p>
            <a:r>
              <a:rPr lang="en-AU" dirty="0" smtClean="0"/>
              <a:t>Monsoons – the number of malaria cases increases.</a:t>
            </a:r>
          </a:p>
          <a:p>
            <a:endParaRPr lang="en-AU" dirty="0"/>
          </a:p>
          <a:p>
            <a:endParaRPr lang="en-AU" dirty="0" smtClean="0"/>
          </a:p>
          <a:p>
            <a:endParaRPr lang="en-AU" sz="2400" b="1" dirty="0"/>
          </a:p>
        </p:txBody>
      </p:sp>
    </p:spTree>
    <p:extLst>
      <p:ext uri="{BB962C8B-B14F-4D97-AF65-F5344CB8AC3E}">
        <p14:creationId xmlns:p14="http://schemas.microsoft.com/office/powerpoint/2010/main" val="24975001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PREVENTION</a:t>
            </a:r>
            <a:endParaRPr lang="en-AU" dirty="0"/>
          </a:p>
        </p:txBody>
      </p:sp>
      <p:pic>
        <p:nvPicPr>
          <p:cNvPr id="4" name="Picture 2" descr="C:\Users\e2041615\AppData\Local\Microsoft\Windows\Temporary Internet Files\Content.IE5\P9NYWZ4Z\melga[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2240" y="175442"/>
            <a:ext cx="1421791" cy="10508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51520" y="1417638"/>
            <a:ext cx="8550583" cy="6463308"/>
          </a:xfrm>
          <a:prstGeom prst="rect">
            <a:avLst/>
          </a:prstGeom>
          <a:noFill/>
        </p:spPr>
        <p:txBody>
          <a:bodyPr wrap="square" rtlCol="0">
            <a:spAutoFit/>
          </a:bodyPr>
          <a:lstStyle/>
          <a:p>
            <a:pPr marL="285750" indent="-285750">
              <a:buFont typeface="Arial" panose="020B0604020202020204" pitchFamily="34" charset="0"/>
              <a:buChar char="•"/>
            </a:pPr>
            <a:r>
              <a:rPr lang="en-AU" dirty="0" smtClean="0"/>
              <a:t>Malaria is a preventable and treatable disease.</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smtClean="0"/>
              <a:t>Malaria can be prevented in a variety of ways:</a:t>
            </a:r>
          </a:p>
          <a:p>
            <a:endParaRPr lang="en-AU" dirty="0"/>
          </a:p>
          <a:p>
            <a:pPr marL="285750" indent="-285750">
              <a:buFont typeface="Wingdings"/>
              <a:buChar char="C"/>
            </a:pPr>
            <a:r>
              <a:rPr lang="en-AU" dirty="0" smtClean="0">
                <a:sym typeface="Wingdings"/>
              </a:rPr>
              <a:t>Using repellent sprays to get rid of mosquito breeding sites in homes.</a:t>
            </a:r>
          </a:p>
          <a:p>
            <a:pPr marL="285750" indent="-285750">
              <a:buFont typeface="Wingdings"/>
              <a:buChar char="C"/>
            </a:pPr>
            <a:endParaRPr lang="en-AU" dirty="0">
              <a:sym typeface="Wingdings"/>
            </a:endParaRPr>
          </a:p>
          <a:p>
            <a:pPr marL="285750" indent="-285750">
              <a:buFont typeface="Wingdings"/>
              <a:buChar char="C"/>
            </a:pPr>
            <a:r>
              <a:rPr lang="en-AU" dirty="0" smtClean="0">
                <a:sym typeface="Wingdings"/>
              </a:rPr>
              <a:t>Using bed nets treated with insecticides or in unavailable, nets that have small enough mesh to stop mosquito entry.</a:t>
            </a:r>
          </a:p>
          <a:p>
            <a:pPr marL="285750" indent="-285750">
              <a:buFont typeface="Wingdings"/>
              <a:buChar char="C"/>
            </a:pPr>
            <a:endParaRPr lang="en-AU" dirty="0">
              <a:sym typeface="Wingdings"/>
            </a:endParaRPr>
          </a:p>
          <a:p>
            <a:pPr marL="285750" indent="-285750">
              <a:buFont typeface="Wingdings"/>
              <a:buChar char="C"/>
            </a:pPr>
            <a:r>
              <a:rPr lang="en-AU" dirty="0" smtClean="0">
                <a:sym typeface="Wingdings"/>
              </a:rPr>
              <a:t>Putting screens in windows and doors to stop mosquitoes entering.</a:t>
            </a:r>
          </a:p>
          <a:p>
            <a:pPr marL="285750" indent="-285750">
              <a:buFont typeface="Wingdings"/>
              <a:buChar char="C"/>
            </a:pPr>
            <a:endParaRPr lang="en-AU" dirty="0">
              <a:sym typeface="Wingdings"/>
            </a:endParaRPr>
          </a:p>
          <a:p>
            <a:pPr marL="285750" indent="-285750">
              <a:buFont typeface="Wingdings"/>
              <a:buChar char="C"/>
            </a:pPr>
            <a:r>
              <a:rPr lang="en-AU" dirty="0" smtClean="0">
                <a:sym typeface="Wingdings"/>
              </a:rPr>
              <a:t>Reducing breeding grounds for mosquitoes, such as keeping water containers covered.</a:t>
            </a:r>
          </a:p>
          <a:p>
            <a:pPr marL="285750" indent="-285750">
              <a:buFont typeface="Wingdings"/>
              <a:buChar char="C"/>
            </a:pPr>
            <a:endParaRPr lang="en-AU" dirty="0">
              <a:sym typeface="Wingdings"/>
            </a:endParaRPr>
          </a:p>
          <a:p>
            <a:pPr marL="285750" indent="-285750">
              <a:buFont typeface="Wingdings"/>
              <a:buChar char="C"/>
            </a:pPr>
            <a:r>
              <a:rPr lang="en-AU" dirty="0" smtClean="0">
                <a:sym typeface="Wingdings"/>
              </a:rPr>
              <a:t>Informing people about malaria – education, danger signs.</a:t>
            </a:r>
          </a:p>
          <a:p>
            <a:pPr marL="285750" indent="-285750">
              <a:buFont typeface="Wingdings"/>
              <a:buChar char="C"/>
            </a:pPr>
            <a:endParaRPr lang="en-AU" dirty="0">
              <a:sym typeface="Wingdings"/>
            </a:endParaRPr>
          </a:p>
          <a:p>
            <a:pPr marL="285750" indent="-285750">
              <a:buFont typeface="Wingdings"/>
              <a:buChar char="C"/>
            </a:pPr>
            <a:r>
              <a:rPr lang="en-AU" dirty="0" smtClean="0">
                <a:sym typeface="Wingdings"/>
              </a:rPr>
              <a:t>Informing and advising people to access treatment early if they suspect malaria.</a:t>
            </a:r>
          </a:p>
          <a:p>
            <a:pPr marL="285750" indent="-285750">
              <a:buFont typeface="Wingdings"/>
              <a:buChar char="C"/>
            </a:pPr>
            <a:endParaRPr lang="en-AU" dirty="0">
              <a:sym typeface="Wingdings"/>
            </a:endParaRPr>
          </a:p>
          <a:p>
            <a:endParaRPr lang="en-AU" dirty="0" smtClean="0">
              <a:sym typeface="Wingdings"/>
            </a:endParaRPr>
          </a:p>
          <a:p>
            <a:pPr marL="285750" indent="-285750">
              <a:buFont typeface="Wingdings"/>
              <a:buChar char="C"/>
            </a:pPr>
            <a:endParaRPr lang="en-AU" dirty="0">
              <a:sym typeface="Wingdings"/>
            </a:endParaRPr>
          </a:p>
          <a:p>
            <a:pPr marL="285750" indent="-285750">
              <a:buFont typeface="Wingdings"/>
              <a:buChar char="C"/>
            </a:pPr>
            <a:endParaRPr lang="en-AU" dirty="0" smtClean="0">
              <a:sym typeface="Wingdings"/>
            </a:endParaRPr>
          </a:p>
          <a:p>
            <a:pPr marL="285750" indent="-285750">
              <a:buFont typeface="Wingdings"/>
              <a:buChar char="C"/>
            </a:pPr>
            <a:endParaRPr lang="en-AU" dirty="0" smtClean="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p:txBody>
      </p:sp>
    </p:spTree>
    <p:extLst>
      <p:ext uri="{BB962C8B-B14F-4D97-AF65-F5344CB8AC3E}">
        <p14:creationId xmlns:p14="http://schemas.microsoft.com/office/powerpoint/2010/main" val="33074336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The ABCD of Malaria Prevention &amp; Treatment</a:t>
            </a:r>
            <a:endParaRPr lang="en-AU" dirty="0"/>
          </a:p>
        </p:txBody>
      </p:sp>
      <p:sp>
        <p:nvSpPr>
          <p:cNvPr id="3" name="TextBox 2"/>
          <p:cNvSpPr txBox="1"/>
          <p:nvPr/>
        </p:nvSpPr>
        <p:spPr>
          <a:xfrm>
            <a:off x="179512" y="1268760"/>
            <a:ext cx="8640960" cy="4893647"/>
          </a:xfrm>
          <a:prstGeom prst="rect">
            <a:avLst/>
          </a:prstGeom>
          <a:noFill/>
        </p:spPr>
        <p:txBody>
          <a:bodyPr wrap="square" rtlCol="0">
            <a:spAutoFit/>
          </a:bodyPr>
          <a:lstStyle/>
          <a:p>
            <a:r>
              <a:rPr lang="en-AU" sz="5400" dirty="0" smtClean="0"/>
              <a:t>A - </a:t>
            </a:r>
            <a:r>
              <a:rPr lang="en-AU" dirty="0" smtClean="0"/>
              <a:t>Be </a:t>
            </a:r>
            <a:r>
              <a:rPr lang="en-AU" b="1" dirty="0" smtClean="0"/>
              <a:t>AWARE</a:t>
            </a:r>
            <a:r>
              <a:rPr lang="en-AU" dirty="0" smtClean="0"/>
              <a:t> of the risk of malaria if you are travelling to a country which is vulnerable to malaria.   </a:t>
            </a:r>
          </a:p>
          <a:p>
            <a:endParaRPr lang="en-AU" dirty="0"/>
          </a:p>
          <a:p>
            <a:r>
              <a:rPr lang="en-AU" sz="5400" dirty="0" smtClean="0"/>
              <a:t>B - </a:t>
            </a:r>
            <a:r>
              <a:rPr lang="en-AU" sz="2000" dirty="0" smtClean="0"/>
              <a:t>Avoid mosquito </a:t>
            </a:r>
            <a:r>
              <a:rPr lang="en-AU" sz="2000" b="1" dirty="0" smtClean="0"/>
              <a:t>BITES </a:t>
            </a:r>
            <a:r>
              <a:rPr lang="en-AU" sz="2000" dirty="0" smtClean="0"/>
              <a:t>by taking appropriate measures. Reducing the number of bites, will then reduce the chances of getting malaria.</a:t>
            </a:r>
          </a:p>
          <a:p>
            <a:endParaRPr lang="en-AU" sz="2000" dirty="0"/>
          </a:p>
          <a:p>
            <a:r>
              <a:rPr lang="en-AU" sz="5400" dirty="0" smtClean="0"/>
              <a:t>C – </a:t>
            </a:r>
            <a:r>
              <a:rPr lang="en-AU" sz="2000" b="1" dirty="0" smtClean="0"/>
              <a:t>COMPLY </a:t>
            </a:r>
            <a:r>
              <a:rPr lang="en-AU" sz="2000" dirty="0" smtClean="0"/>
              <a:t>with the appropriate treatment regimen.</a:t>
            </a:r>
          </a:p>
          <a:p>
            <a:endParaRPr lang="en-AU" sz="2000" dirty="0"/>
          </a:p>
          <a:p>
            <a:r>
              <a:rPr lang="en-AU" sz="5400" dirty="0" smtClean="0"/>
              <a:t>D – </a:t>
            </a:r>
            <a:r>
              <a:rPr lang="en-AU" sz="2000" dirty="0" smtClean="0"/>
              <a:t>Early </a:t>
            </a:r>
            <a:r>
              <a:rPr lang="en-AU" sz="2000" b="1" dirty="0" smtClean="0"/>
              <a:t>DIAGNOSIS</a:t>
            </a:r>
            <a:r>
              <a:rPr lang="en-AU" sz="2000" dirty="0" smtClean="0"/>
              <a:t>  of Malaria.</a:t>
            </a:r>
            <a:endParaRPr lang="en-AU" sz="5400" dirty="0"/>
          </a:p>
        </p:txBody>
      </p:sp>
      <p:pic>
        <p:nvPicPr>
          <p:cNvPr id="4" name="Picture 3" descr="C:\Users\e2041615\AppData\Local\Microsoft\Windows\Temporary Internet Files\Content.IE5\IU11W1OL\Mastah_Mosquito_VBW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9073" y="5733256"/>
            <a:ext cx="917948" cy="760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7965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SEE – Social, Economic &amp; Environmental Impacts</a:t>
            </a:r>
            <a:endParaRPr lang="en-AU" dirty="0"/>
          </a:p>
        </p:txBody>
      </p:sp>
      <p:sp>
        <p:nvSpPr>
          <p:cNvPr id="3" name="TextBox 2"/>
          <p:cNvSpPr txBox="1"/>
          <p:nvPr/>
        </p:nvSpPr>
        <p:spPr>
          <a:xfrm>
            <a:off x="1259632" y="1916832"/>
            <a:ext cx="6840760" cy="1446550"/>
          </a:xfrm>
          <a:prstGeom prst="rect">
            <a:avLst/>
          </a:prstGeom>
          <a:noFill/>
        </p:spPr>
        <p:txBody>
          <a:bodyPr wrap="square" rtlCol="0">
            <a:spAutoFit/>
          </a:bodyPr>
          <a:lstStyle/>
          <a:p>
            <a:pPr algn="ctr"/>
            <a:r>
              <a:rPr lang="en-AU" sz="4400" dirty="0" smtClean="0"/>
              <a:t>List examples of each in relation to Malaria</a:t>
            </a:r>
            <a:endParaRPr lang="en-AU" sz="4400" dirty="0"/>
          </a:p>
        </p:txBody>
      </p:sp>
    </p:spTree>
    <p:extLst>
      <p:ext uri="{BB962C8B-B14F-4D97-AF65-F5344CB8AC3E}">
        <p14:creationId xmlns:p14="http://schemas.microsoft.com/office/powerpoint/2010/main" val="5328333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Re-emergence of Malaria</a:t>
            </a:r>
            <a:endParaRPr lang="en-AU" dirty="0"/>
          </a:p>
        </p:txBody>
      </p:sp>
      <p:pic>
        <p:nvPicPr>
          <p:cNvPr id="7170" name="Picture 2" descr="C:\Users\e2041615\AppData\Local\Microsoft\Windows\Temporary Internet Files\Content.IE5\P9NYWZ4Z\melga[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5015" y="203673"/>
            <a:ext cx="1133759" cy="10508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79512" y="1484784"/>
            <a:ext cx="8528512" cy="4801314"/>
          </a:xfrm>
          <a:prstGeom prst="rect">
            <a:avLst/>
          </a:prstGeom>
          <a:noFill/>
        </p:spPr>
        <p:txBody>
          <a:bodyPr wrap="square" rtlCol="0">
            <a:spAutoFit/>
          </a:bodyPr>
          <a:lstStyle/>
          <a:p>
            <a:pPr marL="285750" indent="-285750">
              <a:buFont typeface="Arial" panose="020B0604020202020204" pitchFamily="34" charset="0"/>
              <a:buChar char="•"/>
            </a:pPr>
            <a:r>
              <a:rPr lang="en-AU" dirty="0" smtClean="0"/>
              <a:t>A program called “The Global Malaria Eradication Programme”, ran in the 1950s and 1960s resulted in a large reduction in malaria in many countries and locations around the world. However, this program did not lead to global eradication of malaria.</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smtClean="0"/>
              <a:t>Malaria has re-emerged since the late 1980’s, particularly in countries in Central Asia.</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smtClean="0"/>
              <a:t>Factors leading to the re-emergence of malaria include:</a:t>
            </a:r>
          </a:p>
          <a:p>
            <a:endParaRPr lang="en-AU" dirty="0"/>
          </a:p>
          <a:p>
            <a:r>
              <a:rPr lang="en-AU" dirty="0"/>
              <a:t>	</a:t>
            </a:r>
            <a:r>
              <a:rPr lang="en-AU" dirty="0" smtClean="0"/>
              <a:t>-  </a:t>
            </a:r>
            <a:r>
              <a:rPr lang="en-AU" b="1" dirty="0" smtClean="0"/>
              <a:t>air travel </a:t>
            </a:r>
            <a:r>
              <a:rPr lang="en-AU" dirty="0" smtClean="0"/>
              <a:t>– due to an increase in air travel, vectors can be transported to new 	areas. </a:t>
            </a:r>
          </a:p>
          <a:p>
            <a:r>
              <a:rPr lang="en-AU" dirty="0"/>
              <a:t>	</a:t>
            </a:r>
            <a:r>
              <a:rPr lang="en-AU" dirty="0" smtClean="0"/>
              <a:t>-  </a:t>
            </a:r>
            <a:r>
              <a:rPr lang="en-AU" b="1" dirty="0" smtClean="0"/>
              <a:t>climate change </a:t>
            </a:r>
            <a:r>
              <a:rPr lang="en-AU" dirty="0" smtClean="0"/>
              <a:t>– when the climate gets warmer, temperatures at higher 	altitudes increase.</a:t>
            </a:r>
          </a:p>
          <a:p>
            <a:r>
              <a:rPr lang="en-AU" dirty="0"/>
              <a:t>	</a:t>
            </a:r>
            <a:r>
              <a:rPr lang="en-AU" dirty="0" smtClean="0"/>
              <a:t>-  </a:t>
            </a:r>
            <a:r>
              <a:rPr lang="en-AU" b="1" dirty="0" smtClean="0"/>
              <a:t>insecticide-resistant mosquitoes </a:t>
            </a:r>
            <a:r>
              <a:rPr lang="en-AU" dirty="0" smtClean="0"/>
              <a:t>– use of chemical pesticide DDT was 	replaced 	by other chemicals</a:t>
            </a:r>
          </a:p>
          <a:p>
            <a:r>
              <a:rPr lang="en-AU" dirty="0"/>
              <a:t>	</a:t>
            </a:r>
            <a:r>
              <a:rPr lang="en-AU" dirty="0" smtClean="0"/>
              <a:t>-  </a:t>
            </a:r>
            <a:r>
              <a:rPr lang="en-AU" b="1" dirty="0" smtClean="0"/>
              <a:t>resistance to anti-malarial drugs </a:t>
            </a:r>
            <a:r>
              <a:rPr lang="en-AU" dirty="0" smtClean="0"/>
              <a:t>– rise in the use of incomplete doses and 	use of counterfeit anti-malarial drugs. Malaria parasites build resistance. </a:t>
            </a:r>
          </a:p>
          <a:p>
            <a:endParaRPr lang="en-AU" dirty="0"/>
          </a:p>
        </p:txBody>
      </p:sp>
    </p:spTree>
    <p:extLst>
      <p:ext uri="{BB962C8B-B14F-4D97-AF65-F5344CB8AC3E}">
        <p14:creationId xmlns:p14="http://schemas.microsoft.com/office/powerpoint/2010/main" val="14852232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Prevention of Malaria</a:t>
            </a:r>
            <a:endParaRPr lang="en-AU" dirty="0"/>
          </a:p>
        </p:txBody>
      </p:sp>
      <p:sp>
        <p:nvSpPr>
          <p:cNvPr id="3" name="Content Placeholder 2"/>
          <p:cNvSpPr>
            <a:spLocks noGrp="1"/>
          </p:cNvSpPr>
          <p:nvPr>
            <p:ph idx="1"/>
          </p:nvPr>
        </p:nvSpPr>
        <p:spPr/>
        <p:txBody>
          <a:bodyPr>
            <a:normAutofit/>
          </a:bodyPr>
          <a:lstStyle/>
          <a:p>
            <a:r>
              <a:rPr lang="en-AU" b="1" dirty="0" smtClean="0"/>
              <a:t>How can people prevent malaria?</a:t>
            </a:r>
          </a:p>
          <a:p>
            <a:pPr marL="0" indent="0">
              <a:buNone/>
            </a:pPr>
            <a:endParaRPr lang="en-AU" dirty="0"/>
          </a:p>
          <a:p>
            <a:pPr>
              <a:buFontTx/>
              <a:buChar char="-"/>
            </a:pPr>
            <a:r>
              <a:rPr lang="en-AU" dirty="0" smtClean="0"/>
              <a:t>Take an antimalarial drug (4-6 weeks before travel, prescription) </a:t>
            </a:r>
          </a:p>
          <a:p>
            <a:pPr>
              <a:buFontTx/>
              <a:buChar char="-"/>
            </a:pPr>
            <a:r>
              <a:rPr lang="en-AU" dirty="0" smtClean="0"/>
              <a:t>Prevent mosquito bites.</a:t>
            </a:r>
          </a:p>
          <a:p>
            <a:pPr>
              <a:buFontTx/>
              <a:buChar char="-"/>
            </a:pPr>
            <a:endParaRPr lang="en-AU" dirty="0"/>
          </a:p>
          <a:p>
            <a:pPr marL="0" indent="0">
              <a:buNone/>
            </a:pPr>
            <a:r>
              <a:rPr lang="en-AU" dirty="0" smtClean="0"/>
              <a:t>Malaria is both treatable and preventable, however, it depends on various factors… </a:t>
            </a:r>
            <a:r>
              <a:rPr lang="en-AU" b="1" dirty="0" smtClean="0">
                <a:solidFill>
                  <a:srgbClr val="FF0000"/>
                </a:solidFill>
              </a:rPr>
              <a:t>Think of examples?</a:t>
            </a:r>
          </a:p>
          <a:p>
            <a:pPr marL="0" indent="0">
              <a:buNone/>
            </a:pPr>
            <a:r>
              <a:rPr lang="en-AU" dirty="0" smtClean="0"/>
              <a:t>Preventable and curative tools developed over time.</a:t>
            </a:r>
          </a:p>
          <a:p>
            <a:pPr>
              <a:buFontTx/>
              <a:buChar char="-"/>
            </a:pPr>
            <a:endParaRPr lang="en-AU" dirty="0"/>
          </a:p>
          <a:p>
            <a:pPr marL="0" indent="0">
              <a:buNone/>
            </a:pPr>
            <a:endParaRPr lang="en-AU" dirty="0"/>
          </a:p>
        </p:txBody>
      </p:sp>
    </p:spTree>
    <p:extLst>
      <p:ext uri="{BB962C8B-B14F-4D97-AF65-F5344CB8AC3E}">
        <p14:creationId xmlns:p14="http://schemas.microsoft.com/office/powerpoint/2010/main" val="12383276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757412"/>
            <a:ext cx="7920880" cy="3170099"/>
          </a:xfrm>
          <a:prstGeom prst="rect">
            <a:avLst/>
          </a:prstGeom>
          <a:noFill/>
        </p:spPr>
        <p:txBody>
          <a:bodyPr wrap="square" rtlCol="0">
            <a:spAutoFit/>
          </a:bodyPr>
          <a:lstStyle/>
          <a:p>
            <a:pPr algn="ctr"/>
            <a:r>
              <a:rPr lang="en-AU" sz="4000" b="1" dirty="0" smtClean="0">
                <a:solidFill>
                  <a:srgbClr val="FF0000"/>
                </a:solidFill>
              </a:rPr>
              <a:t>STAKEHOLDERS</a:t>
            </a:r>
          </a:p>
          <a:p>
            <a:endParaRPr lang="en-AU" sz="4000" b="1" dirty="0" smtClean="0"/>
          </a:p>
          <a:p>
            <a:pPr marL="571500" indent="-571500">
              <a:buFont typeface="Arial" charset="0"/>
              <a:buChar char="•"/>
            </a:pPr>
            <a:r>
              <a:rPr lang="en-AU" sz="4000" b="1" dirty="0" smtClean="0"/>
              <a:t>List 8 stakeholders</a:t>
            </a:r>
          </a:p>
          <a:p>
            <a:pPr marL="571500" indent="-571500">
              <a:buFont typeface="Arial" charset="0"/>
              <a:buChar char="•"/>
            </a:pPr>
            <a:r>
              <a:rPr lang="en-AU" sz="4000" b="1" dirty="0" smtClean="0"/>
              <a:t>Explain the various values and viewpoints of three stakeholders</a:t>
            </a:r>
            <a:endParaRPr lang="en-AU" sz="4000" b="1" dirty="0"/>
          </a:p>
        </p:txBody>
      </p:sp>
      <p:pic>
        <p:nvPicPr>
          <p:cNvPr id="12290" name="Picture 2" descr="C:\Users\e2041615\AppData\Local\Microsoft\Windows\Temporary Internet Files\Content.IE5\U750XSMG\mosquito[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9958951">
            <a:off x="6195005" y="4449750"/>
            <a:ext cx="2344528" cy="1679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1378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Examples of Stakeholders</a:t>
            </a:r>
            <a:endParaRPr lang="en-AU" dirty="0"/>
          </a:p>
        </p:txBody>
      </p:sp>
      <p:sp>
        <p:nvSpPr>
          <p:cNvPr id="3" name="Content Placeholder 2"/>
          <p:cNvSpPr>
            <a:spLocks noGrp="1"/>
          </p:cNvSpPr>
          <p:nvPr>
            <p:ph idx="1"/>
          </p:nvPr>
        </p:nvSpPr>
        <p:spPr/>
        <p:txBody>
          <a:bodyPr/>
          <a:lstStyle/>
          <a:p>
            <a:r>
              <a:rPr lang="en-AU" dirty="0" smtClean="0"/>
              <a:t>WHO – World Health Organisation</a:t>
            </a:r>
          </a:p>
          <a:p>
            <a:r>
              <a:rPr lang="en-AU" dirty="0" smtClean="0"/>
              <a:t>UNDP – United Nations Development Programme</a:t>
            </a:r>
            <a:r>
              <a:rPr lang="en-AU" dirty="0"/>
              <a:t>.</a:t>
            </a:r>
            <a:endParaRPr lang="en-AU" dirty="0" smtClean="0"/>
          </a:p>
          <a:p>
            <a:r>
              <a:rPr lang="en-AU" dirty="0" smtClean="0"/>
              <a:t>???</a:t>
            </a:r>
          </a:p>
          <a:p>
            <a:r>
              <a:rPr lang="en-AU" dirty="0" smtClean="0"/>
              <a:t>???</a:t>
            </a:r>
          </a:p>
          <a:p>
            <a:r>
              <a:rPr lang="en-AU" dirty="0" smtClean="0"/>
              <a:t>???</a:t>
            </a:r>
          </a:p>
        </p:txBody>
      </p:sp>
    </p:spTree>
    <p:extLst>
      <p:ext uri="{BB962C8B-B14F-4D97-AF65-F5344CB8AC3E}">
        <p14:creationId xmlns:p14="http://schemas.microsoft.com/office/powerpoint/2010/main" val="837643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Malaria in an MDC - Australia</a:t>
            </a:r>
            <a:endParaRPr lang="en-AU" dirty="0"/>
          </a:p>
        </p:txBody>
      </p:sp>
      <p:sp>
        <p:nvSpPr>
          <p:cNvPr id="3" name="TextBox 2"/>
          <p:cNvSpPr txBox="1"/>
          <p:nvPr/>
        </p:nvSpPr>
        <p:spPr>
          <a:xfrm>
            <a:off x="179512" y="1340768"/>
            <a:ext cx="8784976" cy="4801314"/>
          </a:xfrm>
          <a:prstGeom prst="rect">
            <a:avLst/>
          </a:prstGeom>
          <a:noFill/>
        </p:spPr>
        <p:txBody>
          <a:bodyPr wrap="square" rtlCol="0">
            <a:spAutoFit/>
          </a:bodyPr>
          <a:lstStyle/>
          <a:p>
            <a:pPr marL="285750" indent="-285750">
              <a:buFont typeface="Arial" charset="0"/>
              <a:buChar char="•"/>
            </a:pPr>
            <a:r>
              <a:rPr lang="en-AU" dirty="0" smtClean="0"/>
              <a:t>In Australia, malaria is endemic.</a:t>
            </a:r>
          </a:p>
          <a:p>
            <a:pPr marL="285750" indent="-285750">
              <a:buFont typeface="Arial" charset="0"/>
              <a:buChar char="•"/>
            </a:pPr>
            <a:endParaRPr lang="en-AU" dirty="0"/>
          </a:p>
          <a:p>
            <a:pPr marL="285750" indent="-285750">
              <a:buFont typeface="Arial" charset="0"/>
              <a:buChar char="•"/>
            </a:pPr>
            <a:r>
              <a:rPr lang="en-AU" dirty="0" smtClean="0"/>
              <a:t>Malaria was declared eradicated from Australia in 1981</a:t>
            </a:r>
            <a:r>
              <a:rPr lang="en-AU" dirty="0"/>
              <a:t>. WHO declared Australia malaria free in 1981</a:t>
            </a:r>
            <a:r>
              <a:rPr lang="en-AU" dirty="0" smtClean="0"/>
              <a:t>.</a:t>
            </a:r>
          </a:p>
          <a:p>
            <a:pPr marL="285750" indent="-285750">
              <a:buFont typeface="Arial" charset="0"/>
              <a:buChar char="•"/>
            </a:pPr>
            <a:endParaRPr lang="en-AU" dirty="0"/>
          </a:p>
          <a:p>
            <a:pPr marL="285750" indent="-285750">
              <a:buFont typeface="Arial" charset="0"/>
              <a:buChar char="•"/>
            </a:pPr>
            <a:r>
              <a:rPr lang="en-AU" dirty="0" smtClean="0"/>
              <a:t>Northern parts of Australia are at future risk – why?</a:t>
            </a:r>
          </a:p>
          <a:p>
            <a:endParaRPr lang="en-AU" dirty="0"/>
          </a:p>
          <a:p>
            <a:pPr marL="285750" indent="-285750">
              <a:buFont typeface="Arial" charset="0"/>
              <a:buChar char="•"/>
            </a:pPr>
            <a:r>
              <a:rPr lang="en-AU" dirty="0" smtClean="0"/>
              <a:t>The last major outbreak in Australia occurred at the end of World War II, when servicemen infected with malaria returned from Papua New Guinea.</a:t>
            </a:r>
            <a:br>
              <a:rPr lang="en-AU" dirty="0" smtClean="0"/>
            </a:br>
            <a:endParaRPr lang="en-AU" dirty="0"/>
          </a:p>
          <a:p>
            <a:pPr marL="285750" indent="-285750">
              <a:buFont typeface="Arial" charset="0"/>
              <a:buChar char="•"/>
            </a:pPr>
            <a:r>
              <a:rPr lang="en-AU" dirty="0" smtClean="0"/>
              <a:t>There are about 700-1000 cases each year, due to people contracting the disease overseas.</a:t>
            </a:r>
          </a:p>
          <a:p>
            <a:pPr marL="285750" indent="-285750">
              <a:buFont typeface="Arial" charset="0"/>
              <a:buChar char="•"/>
            </a:pPr>
            <a:endParaRPr lang="en-AU" dirty="0"/>
          </a:p>
          <a:p>
            <a:r>
              <a:rPr lang="en-AU" b="1" dirty="0" smtClean="0"/>
              <a:t>RISK MANAGEMENT – How is the risk managed in terms of Malaria in Australia (MDC)? List examples!</a:t>
            </a:r>
          </a:p>
          <a:p>
            <a:pPr marL="285750" indent="-285750">
              <a:buFont typeface="Arial" charset="0"/>
              <a:buChar char="•"/>
            </a:pPr>
            <a:endParaRPr lang="en-AU" dirty="0"/>
          </a:p>
          <a:p>
            <a:pPr marL="285750" indent="-285750">
              <a:buFont typeface="Arial" charset="0"/>
              <a:buChar char="•"/>
            </a:pPr>
            <a:endParaRPr lang="en-AU" dirty="0"/>
          </a:p>
        </p:txBody>
      </p:sp>
    </p:spTree>
    <p:extLst>
      <p:ext uri="{BB962C8B-B14F-4D97-AF65-F5344CB8AC3E}">
        <p14:creationId xmlns:p14="http://schemas.microsoft.com/office/powerpoint/2010/main" val="24070705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LDC’s V MDC’s</a:t>
            </a:r>
            <a:endParaRPr lang="en-AU" dirty="0"/>
          </a:p>
        </p:txBody>
      </p:sp>
      <p:sp>
        <p:nvSpPr>
          <p:cNvPr id="3" name="TextBox 2"/>
          <p:cNvSpPr txBox="1"/>
          <p:nvPr/>
        </p:nvSpPr>
        <p:spPr>
          <a:xfrm>
            <a:off x="251520" y="1196752"/>
            <a:ext cx="3744416" cy="5078313"/>
          </a:xfrm>
          <a:prstGeom prst="rect">
            <a:avLst/>
          </a:prstGeom>
          <a:noFill/>
          <a:ln w="57150">
            <a:solidFill>
              <a:schemeClr val="tx1">
                <a:lumMod val="95000"/>
                <a:lumOff val="5000"/>
              </a:schemeClr>
            </a:solidFill>
          </a:ln>
        </p:spPr>
        <p:txBody>
          <a:bodyPr wrap="square" rtlCol="0">
            <a:spAutoFit/>
          </a:bodyPr>
          <a:lstStyle/>
          <a:p>
            <a:r>
              <a:rPr lang="en-AU" dirty="0" smtClean="0"/>
              <a:t>Indonesia (LDC)</a:t>
            </a:r>
          </a:p>
          <a:p>
            <a:endParaRPr lang="en-AU" dirty="0" smtClean="0"/>
          </a:p>
          <a:p>
            <a:pPr marL="285750" indent="-285750">
              <a:buFont typeface="Arial" charset="0"/>
              <a:buChar char="•"/>
            </a:pPr>
            <a:r>
              <a:rPr lang="en-AU" dirty="0" smtClean="0"/>
              <a:t>Higher population density – larger proportion of young children.</a:t>
            </a:r>
          </a:p>
          <a:p>
            <a:pPr marL="285750" indent="-285750">
              <a:buFont typeface="Arial" charset="0"/>
              <a:buChar char="•"/>
            </a:pPr>
            <a:endParaRPr lang="en-AU" dirty="0"/>
          </a:p>
          <a:p>
            <a:pPr marL="285750" indent="-285750">
              <a:buFont typeface="Arial" charset="0"/>
              <a:buChar char="•"/>
            </a:pPr>
            <a:r>
              <a:rPr lang="en-AU" dirty="0" smtClean="0"/>
              <a:t>Possible lack of regulation, including building codes, rules on building. Often planning impacts on recovery.</a:t>
            </a:r>
          </a:p>
          <a:p>
            <a:pPr marL="285750" indent="-285750">
              <a:buFont typeface="Arial" charset="0"/>
              <a:buChar char="•"/>
            </a:pPr>
            <a:endParaRPr lang="en-AU" dirty="0"/>
          </a:p>
          <a:p>
            <a:pPr marL="285750" indent="-285750">
              <a:buFont typeface="Arial" charset="0"/>
              <a:buChar char="•"/>
            </a:pPr>
            <a:r>
              <a:rPr lang="en-AU" dirty="0" smtClean="0"/>
              <a:t>Lack of resilience – Why?</a:t>
            </a:r>
          </a:p>
          <a:p>
            <a:pPr marL="285750" indent="-285750">
              <a:buFont typeface="Arial" charset="0"/>
              <a:buChar char="•"/>
            </a:pPr>
            <a:endParaRPr lang="en-AU" dirty="0"/>
          </a:p>
          <a:p>
            <a:pPr marL="285750" indent="-285750">
              <a:buFont typeface="Arial" charset="0"/>
              <a:buChar char="•"/>
            </a:pPr>
            <a:r>
              <a:rPr lang="en-AU" dirty="0" smtClean="0"/>
              <a:t>Limited financial resources</a:t>
            </a:r>
          </a:p>
          <a:p>
            <a:pPr marL="285750" indent="-285750">
              <a:buFont typeface="Arial" charset="0"/>
              <a:buChar char="•"/>
            </a:pPr>
            <a:endParaRPr lang="en-AU" dirty="0"/>
          </a:p>
          <a:p>
            <a:pPr marL="285750" indent="-285750">
              <a:buFont typeface="Arial" charset="0"/>
              <a:buChar char="•"/>
            </a:pPr>
            <a:r>
              <a:rPr lang="en-AU" dirty="0" smtClean="0"/>
              <a:t>Type of industry – agriculture such as rice cultivation is typically “subsistence”.</a:t>
            </a:r>
          </a:p>
          <a:p>
            <a:endParaRPr lang="en-AU" dirty="0"/>
          </a:p>
        </p:txBody>
      </p:sp>
      <p:sp>
        <p:nvSpPr>
          <p:cNvPr id="4" name="TextBox 3"/>
          <p:cNvSpPr txBox="1"/>
          <p:nvPr/>
        </p:nvSpPr>
        <p:spPr>
          <a:xfrm>
            <a:off x="4355976" y="1196752"/>
            <a:ext cx="4032448" cy="5078313"/>
          </a:xfrm>
          <a:prstGeom prst="rect">
            <a:avLst/>
          </a:prstGeom>
          <a:noFill/>
          <a:ln w="38100">
            <a:solidFill>
              <a:schemeClr val="tx1"/>
            </a:solidFill>
          </a:ln>
        </p:spPr>
        <p:txBody>
          <a:bodyPr wrap="square" rtlCol="0">
            <a:spAutoFit/>
          </a:bodyPr>
          <a:lstStyle/>
          <a:p>
            <a:r>
              <a:rPr lang="en-AU" dirty="0" smtClean="0"/>
              <a:t>Australia (MDC)</a:t>
            </a:r>
          </a:p>
          <a:p>
            <a:endParaRPr lang="en-AU" dirty="0"/>
          </a:p>
          <a:p>
            <a:pPr marL="285750" indent="-285750">
              <a:buFont typeface="Arial" charset="0"/>
              <a:buChar char="•"/>
            </a:pPr>
            <a:r>
              <a:rPr lang="en-AU" dirty="0" smtClean="0"/>
              <a:t>Ability to reduce risks associated with hazards, such as bushfires and malaria.</a:t>
            </a:r>
          </a:p>
          <a:p>
            <a:pPr marL="285750" indent="-285750">
              <a:buFont typeface="Arial" charset="0"/>
              <a:buChar char="•"/>
            </a:pPr>
            <a:endParaRPr lang="en-AU" dirty="0"/>
          </a:p>
          <a:p>
            <a:pPr marL="285750" indent="-285750">
              <a:buFont typeface="Arial" charset="0"/>
              <a:buChar char="•"/>
            </a:pPr>
            <a:r>
              <a:rPr lang="en-AU" dirty="0" smtClean="0"/>
              <a:t>Preparedness by organisations, including government.</a:t>
            </a:r>
          </a:p>
          <a:p>
            <a:pPr marL="285750" indent="-285750">
              <a:buFont typeface="Arial" charset="0"/>
              <a:buChar char="•"/>
            </a:pPr>
            <a:endParaRPr lang="en-AU" dirty="0"/>
          </a:p>
          <a:p>
            <a:pPr marL="285750" indent="-285750">
              <a:buFont typeface="Arial" charset="0"/>
              <a:buChar char="•"/>
            </a:pPr>
            <a:r>
              <a:rPr lang="en-AU" dirty="0" smtClean="0"/>
              <a:t>Education programs</a:t>
            </a:r>
          </a:p>
          <a:p>
            <a:pPr marL="285750" indent="-285750">
              <a:buFont typeface="Arial" charset="0"/>
              <a:buChar char="•"/>
            </a:pPr>
            <a:endParaRPr lang="en-AU" dirty="0"/>
          </a:p>
          <a:p>
            <a:pPr marL="285750" indent="-285750">
              <a:buFont typeface="Arial" charset="0"/>
              <a:buChar char="•"/>
            </a:pPr>
            <a:r>
              <a:rPr lang="en-AU" dirty="0" smtClean="0"/>
              <a:t>Mitigation of impacts – disaster planning and management.</a:t>
            </a:r>
          </a:p>
          <a:p>
            <a:pPr marL="285750" indent="-285750">
              <a:buFont typeface="Arial" charset="0"/>
              <a:buChar char="•"/>
            </a:pPr>
            <a:endParaRPr lang="en-AU" dirty="0"/>
          </a:p>
          <a:p>
            <a:pPr marL="285750" indent="-285750">
              <a:buFont typeface="Arial" charset="0"/>
              <a:buChar char="•"/>
            </a:pPr>
            <a:r>
              <a:rPr lang="en-AU" dirty="0" smtClean="0"/>
              <a:t>Production and industry returns faster.</a:t>
            </a:r>
          </a:p>
          <a:p>
            <a:pPr marL="285750" indent="-285750">
              <a:buFont typeface="Arial" charset="0"/>
              <a:buChar char="•"/>
            </a:pPr>
            <a:endParaRPr lang="en-AU" dirty="0"/>
          </a:p>
          <a:p>
            <a:endParaRPr lang="en-AU" dirty="0"/>
          </a:p>
        </p:txBody>
      </p:sp>
    </p:spTree>
    <p:extLst>
      <p:ext uri="{BB962C8B-B14F-4D97-AF65-F5344CB8AC3E}">
        <p14:creationId xmlns:p14="http://schemas.microsoft.com/office/powerpoint/2010/main" val="324016762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3326</TotalTime>
  <Words>2974</Words>
  <Application>Microsoft Office PowerPoint</Application>
  <PresentationFormat>On-screen Show (4:3)</PresentationFormat>
  <Paragraphs>336</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Adjacency</vt:lpstr>
      <vt:lpstr>Malaria – Tropical Diseases Depth Study Two Unit 1 - GEOGRAPHY</vt:lpstr>
      <vt:lpstr>Malaria – Tropical Diseases Depth Study Two   Ecological Hazards Unit 1 - GEOGRAPHY</vt:lpstr>
      <vt:lpstr>PowerPoint Presentation</vt:lpstr>
      <vt:lpstr>Key Information</vt:lpstr>
      <vt:lpstr>Key Information</vt:lpstr>
      <vt:lpstr>Symptoms and the Nature of Malaria</vt:lpstr>
      <vt:lpstr>Transmission and Nature of Malaria</vt:lpstr>
      <vt:lpstr>The spatial and temporal distribution of the hazard, and how an understanding of biophysical and human processes can be used to explain the patterns that are identified. Dot Point 12 syllabus</vt:lpstr>
      <vt:lpstr>Mosquitoes - Malaria </vt:lpstr>
      <vt:lpstr>Do all mosquitoes transmit malaria?</vt:lpstr>
      <vt:lpstr>Extent &amp; Spread of Malaria</vt:lpstr>
      <vt:lpstr>Magnitude, duration, frequency, probability and scale of spatial impact of the hazard Dot Point 13 syllabus </vt:lpstr>
      <vt:lpstr>World Malaria Report 2014 by WHO</vt:lpstr>
      <vt:lpstr>The nature of the risks to be managed Dot Point 11</vt:lpstr>
      <vt:lpstr>Vulnerability to Malaria</vt:lpstr>
      <vt:lpstr>Malaria &amp; Indonesia</vt:lpstr>
      <vt:lpstr>The PHYSICAL and HUMAN FACTORS that explains why some people and places are more vulnerable to Malaria.  Dot Point 14 The activities of people can certainly intensify the impacts of malaria. Dot Point 15 (Students are to develop this table  and fill out accordingly)</vt:lpstr>
      <vt:lpstr>Factors contributing to the spread of Malaria</vt:lpstr>
      <vt:lpstr>PowerPoint Presentation</vt:lpstr>
      <vt:lpstr>Factors contributing to the spread of Malaria</vt:lpstr>
      <vt:lpstr>PowerPoint Presentation</vt:lpstr>
      <vt:lpstr>Pronounce this…</vt:lpstr>
      <vt:lpstr>Impacts in an LDC – Indonesia</vt:lpstr>
      <vt:lpstr>Malaria’s impact on people, property and economic activity Dot POINT 16</vt:lpstr>
      <vt:lpstr>The sustainability of risk management policies, procedures and practices designed to reduce the impacts of Malaria in the short and long term  (prevention, mitigation and preparedness) Dot Point 18</vt:lpstr>
      <vt:lpstr>Page 73 – Question 6 </vt:lpstr>
      <vt:lpstr>Challenges in managing the spread of Malaria</vt:lpstr>
      <vt:lpstr>Challenges in managing the spread of Malaria cont…</vt:lpstr>
      <vt:lpstr>PREVENTION</vt:lpstr>
      <vt:lpstr>The ABCD of Malaria Prevention &amp; Treatment</vt:lpstr>
      <vt:lpstr>SEE – Social, Economic &amp; Environmental Impacts</vt:lpstr>
      <vt:lpstr>Re-emergence of Malaria</vt:lpstr>
      <vt:lpstr>Prevention of Malaria</vt:lpstr>
      <vt:lpstr>PowerPoint Presentation</vt:lpstr>
      <vt:lpstr>Examples of Stakeholders</vt:lpstr>
      <vt:lpstr>Malaria in an MDC - Australia</vt:lpstr>
      <vt:lpstr>LDC’s V MDC’s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Malaria – Tropical Disease Depth Study Two Unit One</dc:title>
  <dc:creator>annison</dc:creator>
  <cp:lastModifiedBy>e4081018</cp:lastModifiedBy>
  <cp:revision>122</cp:revision>
  <cp:lastPrinted>2016-05-12T04:15:35Z</cp:lastPrinted>
  <dcterms:created xsi:type="dcterms:W3CDTF">2015-05-02T06:47:43Z</dcterms:created>
  <dcterms:modified xsi:type="dcterms:W3CDTF">2018-05-02T08:39:27Z</dcterms:modified>
</cp:coreProperties>
</file>
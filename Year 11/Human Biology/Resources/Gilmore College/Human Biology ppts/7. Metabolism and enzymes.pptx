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7" r:id="rId4"/>
    <p:sldId id="258" r:id="rId5"/>
    <p:sldId id="259" r:id="rId6"/>
    <p:sldId id="260" r:id="rId7"/>
    <p:sldId id="267" r:id="rId8"/>
    <p:sldId id="268" r:id="rId9"/>
    <p:sldId id="273" r:id="rId10"/>
    <p:sldId id="261" r:id="rId11"/>
    <p:sldId id="269" r:id="rId12"/>
    <p:sldId id="270" r:id="rId13"/>
    <p:sldId id="271" r:id="rId14"/>
    <p:sldId id="272" r:id="rId15"/>
    <p:sldId id="274" r:id="rId16"/>
    <p:sldId id="276" r:id="rId17"/>
    <p:sldId id="277" r:id="rId18"/>
    <p:sldId id="278" r:id="rId19"/>
    <p:sldId id="279" r:id="rId20"/>
    <p:sldId id="281" r:id="rId21"/>
    <p:sldId id="280" r:id="rId22"/>
    <p:sldId id="262" r:id="rId23"/>
    <p:sldId id="282" r:id="rId24"/>
    <p:sldId id="287" r:id="rId25"/>
    <p:sldId id="288" r:id="rId26"/>
    <p:sldId id="289" r:id="rId27"/>
    <p:sldId id="290" r:id="rId28"/>
    <p:sldId id="283" r:id="rId29"/>
    <p:sldId id="263" r:id="rId30"/>
    <p:sldId id="264" r:id="rId31"/>
    <p:sldId id="265" r:id="rId32"/>
    <p:sldId id="266"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8" d="100"/>
          <a:sy n="88" d="100"/>
        </p:scale>
        <p:origin x="49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19/01/2022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27669832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19/01/2022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802497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7DF4103-AC13-4E81-8F4A-7126A09DB8C9}" type="datetimeFigureOut">
              <a:rPr lang="en-AU" smtClean="0"/>
              <a:t>19/01/2022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9709304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47DF4103-AC13-4E81-8F4A-7126A09DB8C9}" type="datetimeFigureOut">
              <a:rPr lang="en-AU" smtClean="0"/>
              <a:t>19/01/2022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507289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47DF4103-AC13-4E81-8F4A-7126A09DB8C9}" type="datetimeFigureOut">
              <a:rPr lang="en-AU" smtClean="0"/>
              <a:t>19/01/2022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962155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47DF4103-AC13-4E81-8F4A-7126A09DB8C9}" type="datetimeFigureOut">
              <a:rPr lang="en-AU" smtClean="0"/>
              <a:t>19/01/2022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4160661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DF4103-AC13-4E81-8F4A-7126A09DB8C9}" type="datetimeFigureOut">
              <a:rPr lang="en-AU" smtClean="0"/>
              <a:t>19/01/2022</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377650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7DF4103-AC13-4E81-8F4A-7126A09DB8C9}" type="datetimeFigureOut">
              <a:rPr lang="en-AU" smtClean="0"/>
              <a:t>19/01/2022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1457894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7DF4103-AC13-4E81-8F4A-7126A09DB8C9}" type="datetimeFigureOut">
              <a:rPr lang="en-AU" smtClean="0"/>
              <a:t>19/01/2022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053992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19/01/2022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93806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19/01/2022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515187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19/01/2022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906386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19/01/2022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4302305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4EBC541-E1E4-46F0-B6E0-A9FD71F2F171}" type="datetimeFigureOut">
              <a:rPr lang="en-AU" smtClean="0"/>
              <a:t>19/01/2022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773925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04EBC541-E1E4-46F0-B6E0-A9FD71F2F171}" type="datetimeFigureOut">
              <a:rPr lang="en-AU" smtClean="0"/>
              <a:t>19/01/2022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5893515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04EBC541-E1E4-46F0-B6E0-A9FD71F2F171}" type="datetimeFigureOut">
              <a:rPr lang="en-AU" smtClean="0"/>
              <a:t>19/01/2022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3184568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04EBC541-E1E4-46F0-B6E0-A9FD71F2F171}" type="datetimeFigureOut">
              <a:rPr lang="en-AU" smtClean="0"/>
              <a:t>19/01/2022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41975329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EBC541-E1E4-46F0-B6E0-A9FD71F2F171}" type="datetimeFigureOut">
              <a:rPr lang="en-AU" smtClean="0"/>
              <a:t>19/01/2022</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1148839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4EBC541-E1E4-46F0-B6E0-A9FD71F2F171}" type="datetimeFigureOut">
              <a:rPr lang="en-AU" smtClean="0"/>
              <a:t>19/01/2022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1461088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4EBC541-E1E4-46F0-B6E0-A9FD71F2F171}" type="datetimeFigureOut">
              <a:rPr lang="en-AU" smtClean="0"/>
              <a:t>19/01/2022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21566055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19/01/2022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141002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19/01/2022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52913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DF4103-AC13-4E81-8F4A-7126A09DB8C9}" type="datetimeFigureOut">
              <a:rPr lang="en-AU" smtClean="0"/>
              <a:t>19/01/2022</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F673CC-80CF-4E11-86F4-AB5A15E3C01E}" type="slidenum">
              <a:rPr lang="en-AU" smtClean="0"/>
              <a:t>‹#›</a:t>
            </a:fld>
            <a:endParaRPr lang="en-AU"/>
          </a:p>
        </p:txBody>
      </p:sp>
    </p:spTree>
    <p:extLst>
      <p:ext uri="{BB962C8B-B14F-4D97-AF65-F5344CB8AC3E}">
        <p14:creationId xmlns:p14="http://schemas.microsoft.com/office/powerpoint/2010/main" val="36186949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EBC541-E1E4-46F0-B6E0-A9FD71F2F171}" type="datetimeFigureOut">
              <a:rPr lang="en-AU" smtClean="0"/>
              <a:t>19/01/2022</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24464C-AF91-46F0-8BFB-6ED76731428E}" type="slidenum">
              <a:rPr lang="en-AU" smtClean="0"/>
              <a:t>‹#›</a:t>
            </a:fld>
            <a:endParaRPr lang="en-AU"/>
          </a:p>
        </p:txBody>
      </p:sp>
    </p:spTree>
    <p:extLst>
      <p:ext uri="{BB962C8B-B14F-4D97-AF65-F5344CB8AC3E}">
        <p14:creationId xmlns:p14="http://schemas.microsoft.com/office/powerpoint/2010/main" val="1359971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62152" y="1122363"/>
            <a:ext cx="11209282" cy="2387600"/>
          </a:xfrm>
        </p:spPr>
        <p:txBody>
          <a:bodyPr>
            <a:normAutofit/>
          </a:bodyPr>
          <a:lstStyle/>
          <a:p>
            <a:r>
              <a:rPr lang="en-AU" sz="8000" b="1" dirty="0" smtClean="0"/>
              <a:t>Metabolism and Enzymes </a:t>
            </a:r>
            <a:endParaRPr lang="en-AU" sz="8000" b="1" dirty="0"/>
          </a:p>
        </p:txBody>
      </p:sp>
      <p:sp>
        <p:nvSpPr>
          <p:cNvPr id="3" name="Subtitle 2"/>
          <p:cNvSpPr>
            <a:spLocks noGrp="1"/>
          </p:cNvSpPr>
          <p:nvPr>
            <p:ph type="subTitle" idx="1"/>
          </p:nvPr>
        </p:nvSpPr>
        <p:spPr/>
        <p:txBody>
          <a:bodyPr/>
          <a:lstStyle/>
          <a:p>
            <a:r>
              <a:rPr lang="en-AU" dirty="0" smtClean="0"/>
              <a:t>Year 11 Human Biology </a:t>
            </a:r>
          </a:p>
          <a:p>
            <a:r>
              <a:rPr lang="en-AU" dirty="0" smtClean="0"/>
              <a:t>ATAR </a:t>
            </a:r>
          </a:p>
          <a:p>
            <a:r>
              <a:rPr lang="en-AU" dirty="0" smtClean="0"/>
              <a:t>PowerPoint #7</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492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SCSA Syllabus Reference </a:t>
            </a:r>
            <a:endParaRPr lang="en-AU" sz="6000" dirty="0"/>
          </a:p>
        </p:txBody>
      </p:sp>
      <p:sp>
        <p:nvSpPr>
          <p:cNvPr id="3" name="Content Placeholder 2"/>
          <p:cNvSpPr>
            <a:spLocks noGrp="1"/>
          </p:cNvSpPr>
          <p:nvPr>
            <p:ph idx="1"/>
          </p:nvPr>
        </p:nvSpPr>
        <p:spPr/>
        <p:txBody>
          <a:bodyPr/>
          <a:lstStyle/>
          <a:p>
            <a:r>
              <a:rPr lang="en-AU" dirty="0"/>
              <a:t>Biochemical processes, including anabolic and catabolic reactions in the cell, are controlled in the presence of specific enzymes</a:t>
            </a:r>
          </a:p>
          <a:p>
            <a:endParaRPr lang="en-AU" dirty="0"/>
          </a:p>
          <a:p>
            <a:r>
              <a:rPr lang="en-AU" dirty="0"/>
              <a:t>For efficient metabolism, cells require oxygen and nutrients, including carbohydrates, proteins, lipids, vitamins and minerals</a:t>
            </a:r>
          </a:p>
          <a:p>
            <a:endParaRPr lang="en-AU" dirty="0"/>
          </a:p>
          <a:p>
            <a:r>
              <a:rPr lang="en-AU" dirty="0"/>
              <a:t>Enzyme function can be affected by factors including pH, temperature, presence of inhibitors, co-enzymes and co-factors, and the concentration of reactants and products</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9133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Lesson Intention </a:t>
            </a:r>
            <a:endParaRPr lang="en-AU" sz="6000" b="1" dirty="0"/>
          </a:p>
        </p:txBody>
      </p:sp>
      <p:sp>
        <p:nvSpPr>
          <p:cNvPr id="3" name="Content Placeholder 2"/>
          <p:cNvSpPr>
            <a:spLocks noGrp="1"/>
          </p:cNvSpPr>
          <p:nvPr>
            <p:ph idx="1"/>
          </p:nvPr>
        </p:nvSpPr>
        <p:spPr/>
        <p:txBody>
          <a:bodyPr/>
          <a:lstStyle/>
          <a:p>
            <a:r>
              <a:rPr lang="en-AU" dirty="0"/>
              <a:t>To describe the process of metabolism and the role of different organic molecules in it. </a:t>
            </a:r>
            <a:endParaRPr lang="en-AU" dirty="0" smtClean="0"/>
          </a:p>
          <a:p>
            <a:endParaRPr lang="en-AU" dirty="0" smtClean="0"/>
          </a:p>
          <a:p>
            <a:r>
              <a:rPr lang="en-AU" dirty="0"/>
              <a:t>To identify inorganic compounds in biochemical processes </a:t>
            </a:r>
          </a:p>
          <a:p>
            <a:endParaRPr lang="en-AU" dirty="0"/>
          </a:p>
          <a:p>
            <a:r>
              <a:rPr lang="en-AU" dirty="0"/>
              <a:t>To explore the role of enzymes as biological catalysts and the factors that affect their activity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83027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Success Criteria </a:t>
            </a:r>
            <a:endParaRPr lang="en-AU" sz="6000" b="1" dirty="0"/>
          </a:p>
        </p:txBody>
      </p:sp>
      <p:sp>
        <p:nvSpPr>
          <p:cNvPr id="3" name="Content Placeholder 2"/>
          <p:cNvSpPr>
            <a:spLocks noGrp="1"/>
          </p:cNvSpPr>
          <p:nvPr>
            <p:ph idx="1"/>
          </p:nvPr>
        </p:nvSpPr>
        <p:spPr>
          <a:xfrm>
            <a:off x="306977" y="1451156"/>
            <a:ext cx="11571514" cy="5167357"/>
          </a:xfrm>
        </p:spPr>
        <p:txBody>
          <a:bodyPr>
            <a:normAutofit lnSpcReduction="10000"/>
          </a:bodyPr>
          <a:lstStyle/>
          <a:p>
            <a:pPr>
              <a:lnSpc>
                <a:spcPct val="100000"/>
              </a:lnSpc>
              <a:spcAft>
                <a:spcPts val="1200"/>
              </a:spcAft>
            </a:pPr>
            <a:r>
              <a:rPr lang="en-AU" dirty="0" smtClean="0"/>
              <a:t>define </a:t>
            </a:r>
            <a:r>
              <a:rPr lang="en-AU" dirty="0"/>
              <a:t>metabolism </a:t>
            </a:r>
          </a:p>
          <a:p>
            <a:pPr>
              <a:lnSpc>
                <a:spcPct val="100000"/>
              </a:lnSpc>
              <a:spcAft>
                <a:spcPts val="1200"/>
              </a:spcAft>
            </a:pPr>
            <a:r>
              <a:rPr lang="en-AU" dirty="0" smtClean="0"/>
              <a:t>distinguish </a:t>
            </a:r>
            <a:r>
              <a:rPr lang="en-AU" dirty="0"/>
              <a:t>between catabolism and anabolism </a:t>
            </a:r>
          </a:p>
          <a:p>
            <a:pPr>
              <a:lnSpc>
                <a:spcPct val="100000"/>
              </a:lnSpc>
              <a:spcAft>
                <a:spcPts val="1200"/>
              </a:spcAft>
            </a:pPr>
            <a:r>
              <a:rPr lang="en-AU" dirty="0" smtClean="0"/>
              <a:t>recognise </a:t>
            </a:r>
            <a:r>
              <a:rPr lang="en-AU" dirty="0"/>
              <a:t>different organic substances e.g. carbohydrates and proteins </a:t>
            </a:r>
          </a:p>
          <a:p>
            <a:pPr>
              <a:lnSpc>
                <a:spcPct val="100000"/>
              </a:lnSpc>
              <a:spcAft>
                <a:spcPts val="1200"/>
              </a:spcAft>
            </a:pPr>
            <a:r>
              <a:rPr lang="en-AU" dirty="0" smtClean="0"/>
              <a:t>describe </a:t>
            </a:r>
            <a:r>
              <a:rPr lang="en-AU" dirty="0"/>
              <a:t>the structure of different organic substances. </a:t>
            </a:r>
          </a:p>
          <a:p>
            <a:pPr>
              <a:lnSpc>
                <a:spcPct val="100000"/>
              </a:lnSpc>
              <a:spcAft>
                <a:spcPts val="1200"/>
              </a:spcAft>
            </a:pPr>
            <a:r>
              <a:rPr lang="en-AU" dirty="0" smtClean="0"/>
              <a:t>define </a:t>
            </a:r>
            <a:r>
              <a:rPr lang="en-AU" dirty="0"/>
              <a:t>the terminology involved with </a:t>
            </a:r>
            <a:r>
              <a:rPr lang="en-AU" dirty="0" smtClean="0"/>
              <a:t>enzymes</a:t>
            </a:r>
            <a:endParaRPr lang="en-AU" dirty="0"/>
          </a:p>
          <a:p>
            <a:pPr>
              <a:lnSpc>
                <a:spcPct val="100000"/>
              </a:lnSpc>
              <a:spcAft>
                <a:spcPts val="1200"/>
              </a:spcAft>
            </a:pPr>
            <a:r>
              <a:rPr lang="en-AU" dirty="0" smtClean="0"/>
              <a:t>use </a:t>
            </a:r>
            <a:r>
              <a:rPr lang="en-AU" dirty="0"/>
              <a:t>the lock-and-key model and induced fit model to explain how enzymes work. </a:t>
            </a:r>
          </a:p>
          <a:p>
            <a:pPr>
              <a:lnSpc>
                <a:spcPct val="100000"/>
              </a:lnSpc>
              <a:spcAft>
                <a:spcPts val="1200"/>
              </a:spcAft>
            </a:pPr>
            <a:r>
              <a:rPr lang="en-AU" dirty="0" smtClean="0"/>
              <a:t>state </a:t>
            </a:r>
            <a:r>
              <a:rPr lang="en-AU" dirty="0"/>
              <a:t>and explain how different factors affect enzyme activity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3481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302172" y="1463017"/>
            <a:ext cx="11506200" cy="4969313"/>
          </a:xfrm>
        </p:spPr>
        <p:txBody>
          <a:bodyPr/>
          <a:lstStyle/>
          <a:p>
            <a:r>
              <a:rPr lang="en-AU" b="1" dirty="0"/>
              <a:t>Metabolism</a:t>
            </a:r>
            <a:r>
              <a:rPr lang="en-AU" dirty="0"/>
              <a:t>: all the chemical reactions occurring in a living </a:t>
            </a:r>
            <a:r>
              <a:rPr lang="en-AU" dirty="0" smtClean="0"/>
              <a:t>organism</a:t>
            </a:r>
          </a:p>
          <a:p>
            <a:endParaRPr lang="en-AU" dirty="0"/>
          </a:p>
          <a:p>
            <a:r>
              <a:rPr lang="en-AU" b="1" dirty="0"/>
              <a:t>Catabolism</a:t>
            </a:r>
            <a:r>
              <a:rPr lang="en-AU" dirty="0"/>
              <a:t>: chemical reactions that break down large organic molecules into smaller ones, with the release of energy </a:t>
            </a:r>
            <a:endParaRPr lang="en-AU" dirty="0" smtClean="0"/>
          </a:p>
          <a:p>
            <a:endParaRPr lang="en-AU" dirty="0"/>
          </a:p>
          <a:p>
            <a:r>
              <a:rPr lang="en-AU" b="1" dirty="0" smtClean="0"/>
              <a:t>Anabolism</a:t>
            </a:r>
            <a:r>
              <a:rPr lang="en-AU" dirty="0" smtClean="0"/>
              <a:t>: </a:t>
            </a:r>
            <a:r>
              <a:rPr lang="en-AU" dirty="0"/>
              <a:t>the process of combining small molecules to make larger ones; it requires energy. </a:t>
            </a:r>
            <a:endParaRPr lang="en-AU" dirty="0" smtClean="0"/>
          </a:p>
          <a:p>
            <a:endParaRPr lang="en-AU" dirty="0"/>
          </a:p>
          <a:p>
            <a:r>
              <a:rPr lang="en-AU" b="1" dirty="0"/>
              <a:t>Nutrient</a:t>
            </a:r>
            <a:r>
              <a:rPr lang="en-AU" dirty="0"/>
              <a:t>: any substance in food that provides energy, is essential for growth, or assists in the functioning of the body.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196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333703" y="1599872"/>
            <a:ext cx="11521965" cy="4879755"/>
          </a:xfrm>
        </p:spPr>
        <p:txBody>
          <a:bodyPr/>
          <a:lstStyle/>
          <a:p>
            <a:r>
              <a:rPr lang="en-AU" b="1" dirty="0"/>
              <a:t>Organic compound</a:t>
            </a:r>
            <a:r>
              <a:rPr lang="en-AU" dirty="0"/>
              <a:t>: substances that have large molecules and contain carbon, such as carbohydrates, amino acids and proteins. </a:t>
            </a:r>
            <a:endParaRPr lang="en-AU" dirty="0" smtClean="0"/>
          </a:p>
          <a:p>
            <a:endParaRPr lang="en-AU" dirty="0"/>
          </a:p>
          <a:p>
            <a:r>
              <a:rPr lang="en-AU" b="1" dirty="0"/>
              <a:t>Carbohydrates</a:t>
            </a:r>
            <a:r>
              <a:rPr lang="en-AU" dirty="0"/>
              <a:t>: organic molecules that are the main source of energy for cells. </a:t>
            </a:r>
            <a:endParaRPr lang="en-AU" dirty="0" smtClean="0"/>
          </a:p>
          <a:p>
            <a:endParaRPr lang="en-AU" dirty="0"/>
          </a:p>
          <a:p>
            <a:r>
              <a:rPr lang="en-AU" b="1" dirty="0"/>
              <a:t>Protein</a:t>
            </a:r>
            <a:r>
              <a:rPr lang="en-AU" dirty="0"/>
              <a:t>: organic compounds that are made up of many amino acids. </a:t>
            </a:r>
            <a:endParaRPr lang="en-AU" dirty="0" smtClean="0"/>
          </a:p>
          <a:p>
            <a:endParaRPr lang="en-AU" dirty="0"/>
          </a:p>
          <a:p>
            <a:r>
              <a:rPr lang="en-AU" b="1" dirty="0"/>
              <a:t>Inorganic compounds: </a:t>
            </a:r>
            <a:r>
              <a:rPr lang="en-AU" dirty="0"/>
              <a:t>not containing carbon or having small molecules.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632296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838200" y="1513490"/>
            <a:ext cx="10515600" cy="4663473"/>
          </a:xfrm>
        </p:spPr>
        <p:txBody>
          <a:bodyPr>
            <a:normAutofit/>
          </a:bodyPr>
          <a:lstStyle/>
          <a:p>
            <a:r>
              <a:rPr lang="en-AU" b="1" dirty="0"/>
              <a:t>Enzyme</a:t>
            </a:r>
            <a:r>
              <a:rPr lang="en-AU" dirty="0"/>
              <a:t>: an organic substance (usually a protein) that increases the speed of chemical changes without being altered or destroyed in the change; an organic catalyst. </a:t>
            </a:r>
            <a:endParaRPr lang="en-AU" dirty="0" smtClean="0"/>
          </a:p>
          <a:p>
            <a:endParaRPr lang="en-AU" dirty="0"/>
          </a:p>
          <a:p>
            <a:r>
              <a:rPr lang="en-AU" b="1" dirty="0"/>
              <a:t>Activation energy</a:t>
            </a:r>
            <a:r>
              <a:rPr lang="en-AU" dirty="0"/>
              <a:t>: the energy needed to break the bonds of the reacting particles in a chemical reaction; the energy needed to start a chemical reaction. </a:t>
            </a:r>
            <a:endParaRPr lang="en-AU" dirty="0" smtClean="0"/>
          </a:p>
          <a:p>
            <a:endParaRPr lang="en-AU" dirty="0"/>
          </a:p>
          <a:p>
            <a:r>
              <a:rPr lang="en-AU" b="1" dirty="0"/>
              <a:t>Catalysts</a:t>
            </a:r>
            <a:r>
              <a:rPr lang="en-AU" dirty="0"/>
              <a:t>: a substance that lowers the activation energy of a reaction, increasing the rate of reaction without being consumed.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478744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lstStyle/>
          <a:p>
            <a:r>
              <a:rPr lang="en-AU" b="1" dirty="0"/>
              <a:t>Substrate</a:t>
            </a:r>
            <a:r>
              <a:rPr lang="en-AU" dirty="0"/>
              <a:t>: a molecule upon which an enzyme reacts. </a:t>
            </a:r>
            <a:endParaRPr lang="en-AU" dirty="0" smtClean="0"/>
          </a:p>
          <a:p>
            <a:endParaRPr lang="en-AU" dirty="0"/>
          </a:p>
          <a:p>
            <a:r>
              <a:rPr lang="en-AU" b="1" dirty="0"/>
              <a:t>Active Site</a:t>
            </a:r>
            <a:r>
              <a:rPr lang="en-AU" dirty="0"/>
              <a:t>: the part of an enzyme molecule that combines with the substrate. </a:t>
            </a:r>
            <a:endParaRPr lang="en-AU" dirty="0" smtClean="0"/>
          </a:p>
          <a:p>
            <a:endParaRPr lang="en-AU" dirty="0"/>
          </a:p>
          <a:p>
            <a:r>
              <a:rPr lang="en-AU" b="1" dirty="0"/>
              <a:t>Enzyme-substrate complex</a:t>
            </a:r>
            <a:r>
              <a:rPr lang="en-AU" dirty="0"/>
              <a:t>: the structure formed when an enzyme and a substrate combine</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4729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Metabolism </a:t>
            </a:r>
            <a:endParaRPr lang="en-AU" sz="6000" b="1" dirty="0"/>
          </a:p>
        </p:txBody>
      </p:sp>
      <p:sp>
        <p:nvSpPr>
          <p:cNvPr id="3" name="Content Placeholder 2"/>
          <p:cNvSpPr>
            <a:spLocks noGrp="1"/>
          </p:cNvSpPr>
          <p:nvPr>
            <p:ph idx="1"/>
          </p:nvPr>
        </p:nvSpPr>
        <p:spPr/>
        <p:txBody>
          <a:bodyPr/>
          <a:lstStyle/>
          <a:p>
            <a:r>
              <a:rPr lang="en-AU" dirty="0" smtClean="0"/>
              <a:t>Metabolism is made up of two different types of chemical reaction: </a:t>
            </a:r>
          </a:p>
          <a:p>
            <a:pPr lvl="1"/>
            <a:r>
              <a:rPr lang="en-AU" sz="2800" dirty="0" smtClean="0"/>
              <a:t>Catabolic metabolism is the reactions in which large molecules are broken down to smaller ones. Catabolic reactions release energy. E.g. digestion </a:t>
            </a:r>
          </a:p>
          <a:p>
            <a:pPr lvl="1"/>
            <a:r>
              <a:rPr lang="en-AU" sz="2800" dirty="0" smtClean="0"/>
              <a:t>Anabolic metabolism is the reactions in which small molecules are built up into larger ones. Anabolic reactions require energy. E.g. protein synthesis. </a:t>
            </a:r>
            <a:endParaRPr lang="en-AU" sz="28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75031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Nutrients </a:t>
            </a:r>
            <a:endParaRPr lang="en-AU" sz="6000" b="1" dirty="0"/>
          </a:p>
        </p:txBody>
      </p:sp>
      <p:sp>
        <p:nvSpPr>
          <p:cNvPr id="3" name="Content Placeholder 2"/>
          <p:cNvSpPr>
            <a:spLocks noGrp="1"/>
          </p:cNvSpPr>
          <p:nvPr>
            <p:ph idx="1"/>
          </p:nvPr>
        </p:nvSpPr>
        <p:spPr>
          <a:xfrm>
            <a:off x="838200" y="1825624"/>
            <a:ext cx="10515600" cy="4512113"/>
          </a:xfrm>
        </p:spPr>
        <p:txBody>
          <a:bodyPr>
            <a:normAutofit lnSpcReduction="10000"/>
          </a:bodyPr>
          <a:lstStyle/>
          <a:p>
            <a:r>
              <a:rPr lang="en-AU" dirty="0" smtClean="0"/>
              <a:t>Nutrients are used for growth, repair or maintaining the body, that is, any substance required for metabolism. </a:t>
            </a:r>
          </a:p>
          <a:p>
            <a:endParaRPr lang="en-AU" dirty="0" smtClean="0"/>
          </a:p>
          <a:p>
            <a:r>
              <a:rPr lang="en-AU" dirty="0" smtClean="0"/>
              <a:t>There are six groups of nutrients: </a:t>
            </a:r>
          </a:p>
          <a:p>
            <a:pPr lvl="1"/>
            <a:r>
              <a:rPr lang="en-AU" sz="2800" dirty="0" smtClean="0"/>
              <a:t>Water </a:t>
            </a:r>
          </a:p>
          <a:p>
            <a:pPr lvl="1"/>
            <a:r>
              <a:rPr lang="en-AU" sz="2800" dirty="0" smtClean="0"/>
              <a:t>Carbohydrates </a:t>
            </a:r>
          </a:p>
          <a:p>
            <a:pPr lvl="1"/>
            <a:r>
              <a:rPr lang="en-AU" sz="2800" dirty="0" smtClean="0"/>
              <a:t>Lipids </a:t>
            </a:r>
          </a:p>
          <a:p>
            <a:pPr lvl="1"/>
            <a:r>
              <a:rPr lang="en-AU" sz="2800" dirty="0" smtClean="0"/>
              <a:t>Proteins </a:t>
            </a:r>
          </a:p>
          <a:p>
            <a:pPr lvl="1"/>
            <a:r>
              <a:rPr lang="en-AU" sz="2800" dirty="0" smtClean="0"/>
              <a:t>Minerals </a:t>
            </a:r>
          </a:p>
          <a:p>
            <a:pPr lvl="1"/>
            <a:r>
              <a:rPr lang="en-AU" sz="2800" dirty="0" smtClean="0"/>
              <a:t>Vitamins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55923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Organic Compounds </a:t>
            </a:r>
            <a:endParaRPr lang="en-AU" sz="6000" b="1" dirty="0"/>
          </a:p>
        </p:txBody>
      </p:sp>
      <p:sp>
        <p:nvSpPr>
          <p:cNvPr id="3" name="Content Placeholder 2"/>
          <p:cNvSpPr>
            <a:spLocks noGrp="1"/>
          </p:cNvSpPr>
          <p:nvPr>
            <p:ph idx="1"/>
          </p:nvPr>
        </p:nvSpPr>
        <p:spPr/>
        <p:txBody>
          <a:bodyPr/>
          <a:lstStyle/>
          <a:p>
            <a:r>
              <a:rPr lang="en-AU" dirty="0" smtClean="0"/>
              <a:t>Organic compounds are molecules with a carbon chain. </a:t>
            </a:r>
          </a:p>
          <a:p>
            <a:endParaRPr lang="en-AU" dirty="0"/>
          </a:p>
          <a:p>
            <a:r>
              <a:rPr lang="en-AU" dirty="0" smtClean="0"/>
              <a:t>This includes carbohydrates, lipids, proteins and nucleic acids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883461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Carbohydrates </a:t>
            </a:r>
            <a:endParaRPr lang="en-AU" sz="6000" b="1" dirty="0"/>
          </a:p>
        </p:txBody>
      </p:sp>
      <p:sp>
        <p:nvSpPr>
          <p:cNvPr id="3" name="Content Placeholder 2"/>
          <p:cNvSpPr>
            <a:spLocks noGrp="1"/>
          </p:cNvSpPr>
          <p:nvPr>
            <p:ph idx="1"/>
          </p:nvPr>
        </p:nvSpPr>
        <p:spPr>
          <a:xfrm>
            <a:off x="838200" y="1825625"/>
            <a:ext cx="5058103" cy="4351338"/>
          </a:xfrm>
        </p:spPr>
        <p:txBody>
          <a:bodyPr/>
          <a:lstStyle/>
          <a:p>
            <a:r>
              <a:rPr lang="en-AU" dirty="0" smtClean="0"/>
              <a:t>Main source of energy for cells </a:t>
            </a:r>
          </a:p>
          <a:p>
            <a:endParaRPr lang="en-AU" dirty="0" smtClean="0"/>
          </a:p>
          <a:p>
            <a:r>
              <a:rPr lang="en-AU" dirty="0" smtClean="0"/>
              <a:t>Simple sugars (glucose) are used in cellular respiration to release energy, while complex carbohydrates (starch) are broken down into simple sugars.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p:cNvPicPr>
            <a:picLocks noChangeAspect="1"/>
          </p:cNvPicPr>
          <p:nvPr/>
        </p:nvPicPr>
        <p:blipFill>
          <a:blip r:embed="rId2"/>
          <a:stretch>
            <a:fillRect/>
          </a:stretch>
        </p:blipFill>
        <p:spPr>
          <a:xfrm>
            <a:off x="6495392" y="2746347"/>
            <a:ext cx="5457497" cy="3868024"/>
          </a:xfrm>
          <a:prstGeom prst="rect">
            <a:avLst/>
          </a:prstGeom>
        </p:spPr>
      </p:pic>
    </p:spTree>
    <p:extLst>
      <p:ext uri="{BB962C8B-B14F-4D97-AF65-F5344CB8AC3E}">
        <p14:creationId xmlns:p14="http://schemas.microsoft.com/office/powerpoint/2010/main" val="16275148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Lipids </a:t>
            </a:r>
            <a:endParaRPr lang="en-AU" sz="6000" b="1" dirty="0"/>
          </a:p>
        </p:txBody>
      </p:sp>
      <p:sp>
        <p:nvSpPr>
          <p:cNvPr id="3" name="Content Placeholder 2"/>
          <p:cNvSpPr>
            <a:spLocks noGrp="1"/>
          </p:cNvSpPr>
          <p:nvPr>
            <p:ph idx="1"/>
          </p:nvPr>
        </p:nvSpPr>
        <p:spPr/>
        <p:txBody>
          <a:bodyPr/>
          <a:lstStyle/>
          <a:p>
            <a:r>
              <a:rPr lang="en-AU" dirty="0" smtClean="0"/>
              <a:t>Includes fats and oil and are another important energy source. </a:t>
            </a:r>
          </a:p>
          <a:p>
            <a:endParaRPr lang="en-AU" dirty="0" smtClean="0"/>
          </a:p>
          <a:p>
            <a:r>
              <a:rPr lang="en-AU" dirty="0" smtClean="0"/>
              <a:t>They are broken down into fatty acids and glycerol. The glycerol can then enter the glycolysis pathway to cellular respiration. </a:t>
            </a:r>
          </a:p>
          <a:p>
            <a:endParaRPr lang="en-AU" dirty="0" smtClean="0"/>
          </a:p>
          <a:p>
            <a:r>
              <a:rPr lang="en-AU" dirty="0" smtClean="0"/>
              <a:t>Other examples of lipids are phospholipids, which are important in the cell membrane, and steroids, including cholesterol and sex hormones.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018284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Proteins</a:t>
            </a:r>
            <a:endParaRPr lang="en-AU" sz="6000" b="1" dirty="0"/>
          </a:p>
        </p:txBody>
      </p:sp>
      <p:sp>
        <p:nvSpPr>
          <p:cNvPr id="3" name="Content Placeholder 2"/>
          <p:cNvSpPr>
            <a:spLocks noGrp="1"/>
          </p:cNvSpPr>
          <p:nvPr>
            <p:ph idx="1"/>
          </p:nvPr>
        </p:nvSpPr>
        <p:spPr>
          <a:xfrm>
            <a:off x="344214" y="1627215"/>
            <a:ext cx="6608380" cy="4947006"/>
          </a:xfrm>
        </p:spPr>
        <p:txBody>
          <a:bodyPr/>
          <a:lstStyle/>
          <a:p>
            <a:r>
              <a:rPr lang="en-AU" dirty="0" smtClean="0"/>
              <a:t>Proteins are made up of many amino acids. </a:t>
            </a:r>
          </a:p>
          <a:p>
            <a:endParaRPr lang="en-AU" dirty="0" smtClean="0"/>
          </a:p>
          <a:p>
            <a:r>
              <a:rPr lang="en-AU" dirty="0" smtClean="0"/>
              <a:t>With regard to metabolism, the most important proteins made are enzymes. Enzymes influence metabolism by controlling the chemical reactions that occur in the body. Proteins can also be used as a source of energy, but only if the supply of carbohydrates and lipids is inadequate.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6" name="Picture 2" descr="Cartoon - Phospholipase A2 Protein Enzyme - Silhouette - Chain Gene Free PNG"/>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5510086" y="787338"/>
            <a:ext cx="6944260" cy="57868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20465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Inorganic Compounds </a:t>
            </a:r>
            <a:endParaRPr lang="en-AU" sz="6000" b="1" dirty="0"/>
          </a:p>
        </p:txBody>
      </p:sp>
      <p:sp>
        <p:nvSpPr>
          <p:cNvPr id="3" name="Content Placeholder 2"/>
          <p:cNvSpPr>
            <a:spLocks noGrp="1"/>
          </p:cNvSpPr>
          <p:nvPr>
            <p:ph idx="1"/>
          </p:nvPr>
        </p:nvSpPr>
        <p:spPr>
          <a:xfrm>
            <a:off x="838200" y="1825624"/>
            <a:ext cx="10515600" cy="4967061"/>
          </a:xfrm>
        </p:spPr>
        <p:txBody>
          <a:bodyPr/>
          <a:lstStyle/>
          <a:p>
            <a:r>
              <a:rPr lang="en-AU" dirty="0" smtClean="0"/>
              <a:t>Not based on a carbon chain, most don’t contain carbon at all</a:t>
            </a:r>
          </a:p>
          <a:p>
            <a:endParaRPr lang="en-AU" dirty="0" smtClean="0"/>
          </a:p>
          <a:p>
            <a:r>
              <a:rPr lang="en-AU" dirty="0" smtClean="0"/>
              <a:t>Water is important because it dissolves substances and is involved in some chemical reactions </a:t>
            </a:r>
          </a:p>
          <a:p>
            <a:endParaRPr lang="en-AU" dirty="0" smtClean="0"/>
          </a:p>
          <a:p>
            <a:r>
              <a:rPr lang="en-AU" dirty="0" smtClean="0"/>
              <a:t>Minerals may be part of enzymes or substances involved in metabolism </a:t>
            </a:r>
          </a:p>
          <a:p>
            <a:endParaRPr lang="en-AU" dirty="0" smtClean="0"/>
          </a:p>
          <a:p>
            <a:r>
              <a:rPr lang="en-AU" dirty="0" smtClean="0"/>
              <a:t>Vitamins act as coenzymes for many of the chemical reactions of metabolism</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595921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Chemical reactions </a:t>
            </a:r>
            <a:endParaRPr lang="en-AU" sz="6000" b="1" dirty="0"/>
          </a:p>
        </p:txBody>
      </p:sp>
      <p:sp>
        <p:nvSpPr>
          <p:cNvPr id="3" name="Content Placeholder 2"/>
          <p:cNvSpPr>
            <a:spLocks noGrp="1"/>
          </p:cNvSpPr>
          <p:nvPr>
            <p:ph idx="1"/>
          </p:nvPr>
        </p:nvSpPr>
        <p:spPr/>
        <p:txBody>
          <a:bodyPr/>
          <a:lstStyle/>
          <a:p>
            <a:r>
              <a:rPr lang="en-AU" dirty="0" smtClean="0"/>
              <a:t>There are certain conditions that must be met for a chemical reaction to occur. The reacting particles need to collide with enough energy to break the bonds. This is the activation energy </a:t>
            </a:r>
          </a:p>
          <a:p>
            <a:endParaRPr lang="en-AU" dirty="0"/>
          </a:p>
          <a:p>
            <a:r>
              <a:rPr lang="en-AU" dirty="0" smtClean="0"/>
              <a:t>The particles must also collide with the correct atoms. </a:t>
            </a:r>
          </a:p>
          <a:p>
            <a:endParaRPr lang="en-AU" dirty="0"/>
          </a:p>
          <a:p>
            <a:r>
              <a:rPr lang="en-AU" dirty="0" smtClean="0"/>
              <a:t>Chemicals called catalysts are able to decrease the amount of energy needed to break the bonds. This means that the activation energy will be lower and more particles with enough energy to react.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750928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Catalysts </a:t>
            </a:r>
            <a:endParaRPr lang="en-AU" sz="6000" b="1" dirty="0"/>
          </a:p>
        </p:txBody>
      </p:sp>
      <p:sp>
        <p:nvSpPr>
          <p:cNvPr id="3" name="Content Placeholder 2"/>
          <p:cNvSpPr>
            <a:spLocks noGrp="1"/>
          </p:cNvSpPr>
          <p:nvPr>
            <p:ph idx="1"/>
          </p:nvPr>
        </p:nvSpPr>
        <p:spPr/>
        <p:txBody>
          <a:bodyPr/>
          <a:lstStyle/>
          <a:p>
            <a:r>
              <a:rPr lang="en-AU" dirty="0" smtClean="0"/>
              <a:t>Catalysts are particularly effective because they are not consumed durin</a:t>
            </a:r>
            <a:r>
              <a:rPr lang="en-AU" dirty="0" smtClean="0"/>
              <a:t>g the reaction, and therefore can influence many reacting particles. </a:t>
            </a:r>
          </a:p>
          <a:p>
            <a:endParaRPr lang="en-AU" dirty="0"/>
          </a:p>
          <a:p>
            <a:r>
              <a:rPr lang="en-AU" dirty="0" smtClean="0"/>
              <a:t>Catalysts are proteins called enzymes. Enzymes allow chemical reactions to occur at a fast enough rate at body temperature </a:t>
            </a:r>
            <a:r>
              <a:rPr lang="en-AU" dirty="0" err="1" smtClean="0"/>
              <a:t>fo</a:t>
            </a:r>
            <a:r>
              <a:rPr lang="en-AU" dirty="0" smtClean="0"/>
              <a:t> the body to function.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777566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Enzymes </a:t>
            </a:r>
            <a:endParaRPr lang="en-AU" sz="6000" b="1" dirty="0"/>
          </a:p>
        </p:txBody>
      </p:sp>
      <p:sp>
        <p:nvSpPr>
          <p:cNvPr id="3" name="Content Placeholder 2"/>
          <p:cNvSpPr>
            <a:spLocks noGrp="1"/>
          </p:cNvSpPr>
          <p:nvPr>
            <p:ph idx="1"/>
          </p:nvPr>
        </p:nvSpPr>
        <p:spPr>
          <a:xfrm>
            <a:off x="838200" y="1529255"/>
            <a:ext cx="10515600" cy="5029200"/>
          </a:xfrm>
        </p:spPr>
        <p:txBody>
          <a:bodyPr>
            <a:normAutofit/>
          </a:bodyPr>
          <a:lstStyle/>
          <a:p>
            <a:r>
              <a:rPr lang="en-AU" dirty="0" smtClean="0"/>
              <a:t>The shape of the protein means that enzymes are specific for a particular reaction. The molecule on which an enzyme acts is called the substrate. </a:t>
            </a:r>
          </a:p>
          <a:p>
            <a:endParaRPr lang="en-AU" dirty="0"/>
          </a:p>
          <a:p>
            <a:r>
              <a:rPr lang="en-AU" dirty="0" smtClean="0"/>
              <a:t>Each enzyme will combine with only one particular substrate and is therefore involved in only one specific reaction. This occurs because the enzyme and its substrate have characteristics that are complementary to one another. </a:t>
            </a:r>
          </a:p>
          <a:p>
            <a:endParaRPr lang="en-AU" dirty="0"/>
          </a:p>
          <a:p>
            <a:r>
              <a:rPr lang="en-AU" dirty="0" smtClean="0"/>
              <a:t>The part of the enzyme molecule that combines with the substrate is called the active site.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505242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Enzymes </a:t>
            </a:r>
            <a:endParaRPr lang="en-AU" sz="6000" b="1" dirty="0"/>
          </a:p>
        </p:txBody>
      </p:sp>
      <p:sp>
        <p:nvSpPr>
          <p:cNvPr id="3" name="Content Placeholder 2"/>
          <p:cNvSpPr>
            <a:spLocks noGrp="1"/>
          </p:cNvSpPr>
          <p:nvPr>
            <p:ph idx="1"/>
          </p:nvPr>
        </p:nvSpPr>
        <p:spPr/>
        <p:txBody>
          <a:bodyPr/>
          <a:lstStyle/>
          <a:p>
            <a:r>
              <a:rPr lang="en-AU" dirty="0" smtClean="0"/>
              <a:t>When the enzyme and substrate are combined, they are called an enzyme-substrate complex. </a:t>
            </a:r>
          </a:p>
          <a:p>
            <a:endParaRPr lang="en-AU" dirty="0"/>
          </a:p>
          <a:p>
            <a:r>
              <a:rPr lang="en-AU" dirty="0" smtClean="0"/>
              <a:t>Two models are used to describe how enzymes function. </a:t>
            </a:r>
          </a:p>
          <a:p>
            <a:pPr lvl="1"/>
            <a:r>
              <a:rPr lang="en-AU" sz="2800" b="1" dirty="0" smtClean="0"/>
              <a:t>The Lock and Key Model</a:t>
            </a:r>
            <a:r>
              <a:rPr lang="en-AU" sz="2800" dirty="0" smtClean="0"/>
              <a:t>: states that the shape of the enzyme is always complementary to the shape of the substrate. </a:t>
            </a:r>
          </a:p>
          <a:p>
            <a:pPr lvl="1"/>
            <a:r>
              <a:rPr lang="en-AU" sz="2800" b="1" dirty="0" smtClean="0"/>
              <a:t>The Induced Fit Model</a:t>
            </a:r>
            <a:r>
              <a:rPr lang="en-AU" sz="2800" dirty="0" smtClean="0"/>
              <a:t>: states when the enzyme and substrate join, they form weak bonds that cause the shape of the enzyme to change, creating complementary shapes. </a:t>
            </a:r>
          </a:p>
          <a:p>
            <a:pPr lvl="1"/>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439327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6283"/>
            <a:ext cx="10515600" cy="1325563"/>
          </a:xfrm>
        </p:spPr>
        <p:txBody>
          <a:bodyPr>
            <a:normAutofit/>
          </a:bodyPr>
          <a:lstStyle/>
          <a:p>
            <a:r>
              <a:rPr lang="en-AU" sz="6000" b="1" dirty="0" smtClean="0"/>
              <a:t>Lock and Key Model </a:t>
            </a:r>
            <a:endParaRPr lang="en-AU" sz="6000" b="1" dirty="0"/>
          </a:p>
        </p:txBody>
      </p:sp>
      <p:pic>
        <p:nvPicPr>
          <p:cNvPr id="5" name="Content Placeholder 4"/>
          <p:cNvPicPr>
            <a:picLocks noGrp="1" noChangeAspect="1"/>
          </p:cNvPicPr>
          <p:nvPr>
            <p:ph idx="1"/>
          </p:nvPr>
        </p:nvPicPr>
        <p:blipFill>
          <a:blip r:embed="rId2"/>
          <a:stretch>
            <a:fillRect/>
          </a:stretch>
        </p:blipFill>
        <p:spPr>
          <a:xfrm>
            <a:off x="1511424" y="1336893"/>
            <a:ext cx="9125608" cy="5262405"/>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269768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Induced Fit Model </a:t>
            </a:r>
            <a:endParaRPr lang="en-AU" sz="6000" b="1" dirty="0"/>
          </a:p>
        </p:txBody>
      </p:sp>
      <p:pic>
        <p:nvPicPr>
          <p:cNvPr id="5" name="Content Placeholder 4"/>
          <p:cNvPicPr>
            <a:picLocks noGrp="1" noChangeAspect="1"/>
          </p:cNvPicPr>
          <p:nvPr>
            <p:ph idx="1"/>
          </p:nvPr>
        </p:nvPicPr>
        <p:blipFill>
          <a:blip r:embed="rId2"/>
          <a:stretch>
            <a:fillRect/>
          </a:stretch>
        </p:blipFill>
        <p:spPr>
          <a:xfrm>
            <a:off x="1480709" y="1690688"/>
            <a:ext cx="8609221" cy="4943135"/>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39268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Factors affecting enzyme activity </a:t>
            </a:r>
            <a:endParaRPr lang="en-AU" sz="6000" b="1" dirty="0"/>
          </a:p>
        </p:txBody>
      </p:sp>
      <p:sp>
        <p:nvSpPr>
          <p:cNvPr id="3" name="Content Placeholder 2"/>
          <p:cNvSpPr>
            <a:spLocks noGrp="1"/>
          </p:cNvSpPr>
          <p:nvPr>
            <p:ph idx="1"/>
          </p:nvPr>
        </p:nvSpPr>
        <p:spPr>
          <a:xfrm>
            <a:off x="838200" y="1825625"/>
            <a:ext cx="4553607" cy="4351338"/>
          </a:xfrm>
        </p:spPr>
        <p:txBody>
          <a:bodyPr/>
          <a:lstStyle/>
          <a:p>
            <a:r>
              <a:rPr lang="en-AU" dirty="0" smtClean="0"/>
              <a:t>pH </a:t>
            </a:r>
          </a:p>
          <a:p>
            <a:pPr lvl="1"/>
            <a:r>
              <a:rPr lang="en-AU" sz="2800" dirty="0" smtClean="0"/>
              <a:t>Enzymes are very sensitive to the pH of the medium in which a reaction is taking place</a:t>
            </a:r>
          </a:p>
          <a:p>
            <a:pPr lvl="1"/>
            <a:endParaRPr lang="en-AU" sz="2800" dirty="0" smtClean="0"/>
          </a:p>
          <a:p>
            <a:pPr lvl="1"/>
            <a:r>
              <a:rPr lang="en-AU" sz="2800" dirty="0" smtClean="0"/>
              <a:t>Each enzyme has an optimum pH at which it will work most effectively. </a:t>
            </a:r>
            <a:endParaRPr lang="en-AU" sz="28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p:cNvPicPr>
            <a:picLocks noChangeAspect="1"/>
          </p:cNvPicPr>
          <p:nvPr/>
        </p:nvPicPr>
        <p:blipFill>
          <a:blip r:embed="rId2"/>
          <a:stretch>
            <a:fillRect/>
          </a:stretch>
        </p:blipFill>
        <p:spPr>
          <a:xfrm>
            <a:off x="6825093" y="1986144"/>
            <a:ext cx="4528707" cy="3875197"/>
          </a:xfrm>
          <a:prstGeom prst="rect">
            <a:avLst/>
          </a:prstGeom>
        </p:spPr>
      </p:pic>
    </p:spTree>
    <p:extLst>
      <p:ext uri="{BB962C8B-B14F-4D97-AF65-F5344CB8AC3E}">
        <p14:creationId xmlns:p14="http://schemas.microsoft.com/office/powerpoint/2010/main" val="24209555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Factors affecting enzyme activity </a:t>
            </a:r>
            <a:endParaRPr lang="en-AU" sz="6000" b="1" dirty="0"/>
          </a:p>
        </p:txBody>
      </p:sp>
      <p:sp>
        <p:nvSpPr>
          <p:cNvPr id="3" name="Content Placeholder 2"/>
          <p:cNvSpPr>
            <a:spLocks noGrp="1"/>
          </p:cNvSpPr>
          <p:nvPr>
            <p:ph idx="1"/>
          </p:nvPr>
        </p:nvSpPr>
        <p:spPr>
          <a:xfrm>
            <a:off x="428297" y="1615637"/>
            <a:ext cx="6398172" cy="4816693"/>
          </a:xfrm>
        </p:spPr>
        <p:txBody>
          <a:bodyPr/>
          <a:lstStyle/>
          <a:p>
            <a:r>
              <a:rPr lang="en-AU" dirty="0" smtClean="0"/>
              <a:t>Temperature</a:t>
            </a:r>
          </a:p>
          <a:p>
            <a:pPr lvl="1"/>
            <a:r>
              <a:rPr lang="en-AU" sz="2800" dirty="0" smtClean="0"/>
              <a:t>The rate of most chemical reactions increases as temperature increases. </a:t>
            </a:r>
          </a:p>
          <a:p>
            <a:pPr lvl="1"/>
            <a:r>
              <a:rPr lang="en-AU" sz="2800" dirty="0" smtClean="0"/>
              <a:t>This only occurs in a limited temperature range </a:t>
            </a:r>
          </a:p>
          <a:p>
            <a:pPr lvl="1"/>
            <a:r>
              <a:rPr lang="en-AU" sz="2800" dirty="0" smtClean="0"/>
              <a:t>If the temperature increases too much, the enzyme will denature (lose its shape) </a:t>
            </a:r>
          </a:p>
          <a:p>
            <a:pPr lvl="1"/>
            <a:r>
              <a:rPr lang="en-AU" sz="2800" dirty="0" smtClean="0"/>
              <a:t>If the temperature decreases too much, the enzyme will become inactive. </a:t>
            </a:r>
            <a:endParaRPr lang="en-AU" sz="28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p:cNvPicPr>
            <a:picLocks noChangeAspect="1"/>
          </p:cNvPicPr>
          <p:nvPr/>
        </p:nvPicPr>
        <p:blipFill>
          <a:blip r:embed="rId2"/>
          <a:stretch>
            <a:fillRect/>
          </a:stretch>
        </p:blipFill>
        <p:spPr>
          <a:xfrm>
            <a:off x="7020385" y="1845695"/>
            <a:ext cx="4677135" cy="4239793"/>
          </a:xfrm>
          <a:prstGeom prst="rect">
            <a:avLst/>
          </a:prstGeom>
        </p:spPr>
      </p:pic>
    </p:spTree>
    <p:extLst>
      <p:ext uri="{BB962C8B-B14F-4D97-AF65-F5344CB8AC3E}">
        <p14:creationId xmlns:p14="http://schemas.microsoft.com/office/powerpoint/2010/main" val="24463414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Factors affecting enzyme activity </a:t>
            </a:r>
            <a:endParaRPr lang="en-AU" sz="6000" b="1" dirty="0"/>
          </a:p>
        </p:txBody>
      </p:sp>
      <p:sp>
        <p:nvSpPr>
          <p:cNvPr id="3" name="Content Placeholder 2"/>
          <p:cNvSpPr>
            <a:spLocks noGrp="1"/>
          </p:cNvSpPr>
          <p:nvPr>
            <p:ph idx="1"/>
          </p:nvPr>
        </p:nvSpPr>
        <p:spPr/>
        <p:txBody>
          <a:bodyPr/>
          <a:lstStyle/>
          <a:p>
            <a:r>
              <a:rPr lang="en-AU" dirty="0" smtClean="0"/>
              <a:t>Presence of inhibitors </a:t>
            </a:r>
          </a:p>
          <a:p>
            <a:pPr lvl="1"/>
            <a:r>
              <a:rPr lang="en-AU" sz="2800" dirty="0" smtClean="0"/>
              <a:t>Are substances that slow or even stop the enzyme’s activity </a:t>
            </a:r>
          </a:p>
          <a:p>
            <a:pPr lvl="1"/>
            <a:endParaRPr lang="en-AU" sz="2800" dirty="0" smtClean="0"/>
          </a:p>
          <a:p>
            <a:pPr lvl="1"/>
            <a:r>
              <a:rPr lang="en-AU" sz="2800" dirty="0" smtClean="0"/>
              <a:t>Inhibitors may be used by cells to control reactions so that products are produced in specific amounts. </a:t>
            </a:r>
            <a:endParaRPr lang="en-AU" sz="28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162642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Factors affecting enzyme activity </a:t>
            </a:r>
            <a:endParaRPr lang="en-AU" sz="6000" b="1" dirty="0"/>
          </a:p>
        </p:txBody>
      </p:sp>
      <p:sp>
        <p:nvSpPr>
          <p:cNvPr id="3" name="Content Placeholder 2"/>
          <p:cNvSpPr>
            <a:spLocks noGrp="1"/>
          </p:cNvSpPr>
          <p:nvPr>
            <p:ph idx="1"/>
          </p:nvPr>
        </p:nvSpPr>
        <p:spPr>
          <a:xfrm>
            <a:off x="838200" y="1690688"/>
            <a:ext cx="10515600" cy="4725878"/>
          </a:xfrm>
        </p:spPr>
        <p:txBody>
          <a:bodyPr>
            <a:normAutofit/>
          </a:bodyPr>
          <a:lstStyle/>
          <a:p>
            <a:r>
              <a:rPr lang="en-AU" dirty="0" smtClean="0"/>
              <a:t>Co-enzymes and co-factors </a:t>
            </a:r>
          </a:p>
          <a:p>
            <a:pPr lvl="1"/>
            <a:r>
              <a:rPr lang="en-AU" sz="2800" dirty="0" smtClean="0"/>
              <a:t>Co-factors are ions or non-protein molecules that are required to catalyse a reaction</a:t>
            </a:r>
          </a:p>
          <a:p>
            <a:pPr lvl="1"/>
            <a:endParaRPr lang="en-AU" sz="2800" dirty="0" smtClean="0"/>
          </a:p>
          <a:p>
            <a:pPr lvl="1"/>
            <a:r>
              <a:rPr lang="en-AU" sz="2800" dirty="0" smtClean="0"/>
              <a:t>Co-factors change the shape of the active site so that the enzymes can combine with the substrate </a:t>
            </a:r>
          </a:p>
          <a:p>
            <a:pPr lvl="1"/>
            <a:endParaRPr lang="en-AU" sz="2800" dirty="0" smtClean="0"/>
          </a:p>
          <a:p>
            <a:pPr lvl="1"/>
            <a:r>
              <a:rPr lang="en-AU" sz="2800" dirty="0" smtClean="0"/>
              <a:t>Co-enzymes are non-protein organic molecules such as vitamins. They do the same job as co-factors </a:t>
            </a:r>
            <a:endParaRPr lang="en-AU" sz="28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636643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Factors affecting enzyme activity </a:t>
            </a:r>
            <a:endParaRPr lang="en-AU" sz="6000" b="1" dirty="0"/>
          </a:p>
        </p:txBody>
      </p:sp>
      <p:sp>
        <p:nvSpPr>
          <p:cNvPr id="3" name="Content Placeholder 2"/>
          <p:cNvSpPr>
            <a:spLocks noGrp="1"/>
          </p:cNvSpPr>
          <p:nvPr>
            <p:ph idx="1"/>
          </p:nvPr>
        </p:nvSpPr>
        <p:spPr/>
        <p:txBody>
          <a:bodyPr/>
          <a:lstStyle/>
          <a:p>
            <a:r>
              <a:rPr lang="en-AU" dirty="0" smtClean="0"/>
              <a:t>Concentration of reactants and products </a:t>
            </a:r>
          </a:p>
          <a:p>
            <a:pPr lvl="1"/>
            <a:r>
              <a:rPr lang="en-AU" sz="2800" dirty="0" smtClean="0"/>
              <a:t>The higher the concentration of the enzyme, the faster the rate of a chemical reaction. </a:t>
            </a:r>
          </a:p>
          <a:p>
            <a:pPr lvl="1"/>
            <a:endParaRPr lang="en-AU" sz="2800" dirty="0"/>
          </a:p>
          <a:p>
            <a:pPr lvl="1"/>
            <a:r>
              <a:rPr lang="en-AU" sz="2800" dirty="0" smtClean="0"/>
              <a:t>Increasing substrate concentration also increases the rate of a chemical reaction </a:t>
            </a:r>
          </a:p>
          <a:p>
            <a:pPr lvl="1"/>
            <a:endParaRPr lang="en-AU" sz="2800" dirty="0" smtClean="0"/>
          </a:p>
          <a:p>
            <a:pPr lvl="1"/>
            <a:r>
              <a:rPr lang="en-AU" sz="2800" dirty="0" smtClean="0"/>
              <a:t>The products of a chemical reaction must be continually </a:t>
            </a:r>
            <a:r>
              <a:rPr lang="en-AU" sz="2800" dirty="0" err="1" smtClean="0"/>
              <a:t>remoeved</a:t>
            </a:r>
            <a:r>
              <a:rPr lang="en-AU" sz="2800" dirty="0" smtClean="0"/>
              <a:t> otherwise the rate of reaction will slow. </a:t>
            </a:r>
          </a:p>
          <a:p>
            <a:pPr lvl="1"/>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417171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3899664" y="170606"/>
            <a:ext cx="3946757" cy="6521141"/>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209171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Recall Knowledge </a:t>
            </a:r>
            <a:endParaRPr lang="en-AU" sz="6000" b="1" dirty="0"/>
          </a:p>
        </p:txBody>
      </p:sp>
      <p:sp>
        <p:nvSpPr>
          <p:cNvPr id="3" name="Content Placeholder 2"/>
          <p:cNvSpPr>
            <a:spLocks noGrp="1"/>
          </p:cNvSpPr>
          <p:nvPr>
            <p:ph idx="1"/>
          </p:nvPr>
        </p:nvSpPr>
        <p:spPr/>
        <p:txBody>
          <a:bodyPr/>
          <a:lstStyle/>
          <a:p>
            <a:pPr marL="514350" indent="-514350">
              <a:buFont typeface="+mj-lt"/>
              <a:buAutoNum type="arabicPeriod"/>
            </a:pPr>
            <a:r>
              <a:rPr lang="en-AU" dirty="0" smtClean="0"/>
              <a:t>List the factors that affect the activity of enzymes </a:t>
            </a:r>
          </a:p>
          <a:p>
            <a:pPr marL="514350" indent="-514350">
              <a:buFont typeface="+mj-lt"/>
              <a:buAutoNum type="arabicPeriod"/>
            </a:pPr>
            <a:r>
              <a:rPr lang="en-AU" dirty="0" smtClean="0"/>
              <a:t>Use a diagram to demonstrate the lock and key model of enzyme activity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35105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Apply Knowledge </a:t>
            </a:r>
            <a:endParaRPr lang="en-AU" sz="6000" b="1" dirty="0"/>
          </a:p>
        </p:txBody>
      </p:sp>
      <p:sp>
        <p:nvSpPr>
          <p:cNvPr id="3" name="Content Placeholder 2"/>
          <p:cNvSpPr>
            <a:spLocks noGrp="1"/>
          </p:cNvSpPr>
          <p:nvPr>
            <p:ph idx="1"/>
          </p:nvPr>
        </p:nvSpPr>
        <p:spPr/>
        <p:txBody>
          <a:bodyPr/>
          <a:lstStyle/>
          <a:p>
            <a:pPr marL="514350" indent="-514350">
              <a:buFont typeface="+mj-lt"/>
              <a:buAutoNum type="arabicPeriod"/>
            </a:pPr>
            <a:r>
              <a:rPr lang="en-AU" dirty="0" smtClean="0"/>
              <a:t>Explain why an increased temperature can: </a:t>
            </a:r>
          </a:p>
          <a:p>
            <a:pPr lvl="1"/>
            <a:r>
              <a:rPr lang="en-AU" sz="2800" dirty="0" smtClean="0"/>
              <a:t>Increase the rate of reaction </a:t>
            </a:r>
          </a:p>
          <a:p>
            <a:pPr lvl="1"/>
            <a:r>
              <a:rPr lang="en-AU" sz="2800" dirty="0" smtClean="0"/>
              <a:t>Decrease the rate of reaction </a:t>
            </a:r>
            <a:endParaRPr lang="en-AU" sz="28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635796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Homewor</a:t>
            </a:r>
            <a:r>
              <a:rPr lang="en-AU" sz="6000" b="1" dirty="0"/>
              <a:t>k</a:t>
            </a:r>
          </a:p>
        </p:txBody>
      </p:sp>
      <p:sp>
        <p:nvSpPr>
          <p:cNvPr id="3" name="Content Placeholder 2"/>
          <p:cNvSpPr>
            <a:spLocks noGrp="1"/>
          </p:cNvSpPr>
          <p:nvPr>
            <p:ph idx="1"/>
          </p:nvPr>
        </p:nvSpPr>
        <p:spPr/>
        <p:txBody>
          <a:bodyPr/>
          <a:lstStyle/>
          <a:p>
            <a:pPr marL="514350" indent="-514350">
              <a:buFont typeface="+mj-lt"/>
              <a:buAutoNum type="arabicPeriod"/>
            </a:pPr>
            <a:r>
              <a:rPr lang="en-AU" dirty="0" smtClean="0"/>
              <a:t>Describe the structure of </a:t>
            </a:r>
          </a:p>
          <a:p>
            <a:pPr lvl="1"/>
            <a:r>
              <a:rPr lang="en-AU" sz="2800" dirty="0" smtClean="0"/>
              <a:t>Carbohydrates </a:t>
            </a:r>
          </a:p>
          <a:p>
            <a:pPr lvl="1"/>
            <a:r>
              <a:rPr lang="en-AU" sz="2800" dirty="0" smtClean="0"/>
              <a:t>Lipids </a:t>
            </a:r>
          </a:p>
          <a:p>
            <a:pPr lvl="1"/>
            <a:r>
              <a:rPr lang="en-AU" sz="2800" dirty="0" smtClean="0"/>
              <a:t>Proteins  </a:t>
            </a:r>
          </a:p>
          <a:p>
            <a:pPr lvl="1"/>
            <a:r>
              <a:rPr lang="en-AU" sz="2800" dirty="0" smtClean="0"/>
              <a:t>Nucleic Acids</a:t>
            </a:r>
            <a:endParaRPr lang="en-AU" sz="28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45526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z="6000" b="1" dirty="0" smtClean="0"/>
              <a:t>Reading</a:t>
            </a:r>
            <a:r>
              <a:rPr lang="en-AU" dirty="0" smtClean="0"/>
              <a:t> </a:t>
            </a:r>
            <a:endParaRPr lang="en-AU" dirty="0"/>
          </a:p>
        </p:txBody>
      </p:sp>
      <p:sp>
        <p:nvSpPr>
          <p:cNvPr id="3" name="Content Placeholder 2"/>
          <p:cNvSpPr>
            <a:spLocks noGrp="1"/>
          </p:cNvSpPr>
          <p:nvPr>
            <p:ph idx="1"/>
          </p:nvPr>
        </p:nvSpPr>
        <p:spPr/>
        <p:txBody>
          <a:bodyPr/>
          <a:lstStyle/>
          <a:p>
            <a:r>
              <a:rPr lang="en-AU" dirty="0" smtClean="0"/>
              <a:t>Pages 63 - 69 (top half): Metabolism </a:t>
            </a:r>
          </a:p>
          <a:p>
            <a:pPr marL="0" indent="0">
              <a:buNone/>
            </a:pPr>
            <a:r>
              <a:rPr lang="en-AU" dirty="0" smtClean="0"/>
              <a:t>				 Enzymes and Metabolism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650149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226</TotalTime>
  <Words>1352</Words>
  <Application>Microsoft Office PowerPoint</Application>
  <PresentationFormat>Widescreen</PresentationFormat>
  <Paragraphs>162</Paragraphs>
  <Slides>31</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31</vt:i4>
      </vt:variant>
    </vt:vector>
  </HeadingPairs>
  <TitlesOfParts>
    <vt:vector size="36" baseType="lpstr">
      <vt:lpstr>Arial</vt:lpstr>
      <vt:lpstr>Calibri</vt:lpstr>
      <vt:lpstr>Calibri Light</vt:lpstr>
      <vt:lpstr>Office Theme</vt:lpstr>
      <vt:lpstr>1_Office Theme</vt:lpstr>
      <vt:lpstr>Metabolism and Enzymes </vt:lpstr>
      <vt:lpstr>SCSA Syllabus Reference </vt:lpstr>
      <vt:lpstr>Lesson Intention </vt:lpstr>
      <vt:lpstr>Success Criteria </vt:lpstr>
      <vt:lpstr>Vocabulary </vt:lpstr>
      <vt:lpstr>Vocabulary </vt:lpstr>
      <vt:lpstr>Vocabulary </vt:lpstr>
      <vt:lpstr>Vocabulary </vt:lpstr>
      <vt:lpstr>Metabolism </vt:lpstr>
      <vt:lpstr>Nutrients </vt:lpstr>
      <vt:lpstr>Organic Compounds </vt:lpstr>
      <vt:lpstr>Carbohydrates </vt:lpstr>
      <vt:lpstr>Lipids </vt:lpstr>
      <vt:lpstr>Proteins</vt:lpstr>
      <vt:lpstr>Inorganic Compounds </vt:lpstr>
      <vt:lpstr>Chemical reactions </vt:lpstr>
      <vt:lpstr>Catalysts </vt:lpstr>
      <vt:lpstr>Enzymes </vt:lpstr>
      <vt:lpstr>Enzymes </vt:lpstr>
      <vt:lpstr>Lock and Key Model </vt:lpstr>
      <vt:lpstr>Induced Fit Model </vt:lpstr>
      <vt:lpstr>Factors affecting enzyme activity </vt:lpstr>
      <vt:lpstr>Factors affecting enzyme activity </vt:lpstr>
      <vt:lpstr>Factors affecting enzyme activity </vt:lpstr>
      <vt:lpstr>Factors affecting enzyme activity </vt:lpstr>
      <vt:lpstr>Factors affecting enzyme activity </vt:lpstr>
      <vt:lpstr>PowerPoint Presentation</vt:lpstr>
      <vt:lpstr>Recall Knowledge </vt:lpstr>
      <vt:lpstr>Apply Knowledge </vt:lpstr>
      <vt:lpstr>Homework</vt:lpstr>
      <vt:lpstr>Reading </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DOOMEN Lisa [Gilmore College]</dc:creator>
  <cp:lastModifiedBy>DOOMEN Lisa [Gilmore College]</cp:lastModifiedBy>
  <cp:revision>18</cp:revision>
  <dcterms:created xsi:type="dcterms:W3CDTF">2021-12-16T00:48:44Z</dcterms:created>
  <dcterms:modified xsi:type="dcterms:W3CDTF">2022-01-19T01:41:19Z</dcterms:modified>
</cp:coreProperties>
</file>
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75" r:id="rId7"/>
    <p:sldId id="260" r:id="rId8"/>
    <p:sldId id="267" r:id="rId9"/>
    <p:sldId id="268" r:id="rId10"/>
    <p:sldId id="269" r:id="rId11"/>
    <p:sldId id="270" r:id="rId12"/>
    <p:sldId id="276" r:id="rId13"/>
    <p:sldId id="277" r:id="rId14"/>
    <p:sldId id="261" r:id="rId15"/>
    <p:sldId id="262"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300" r:id="rId33"/>
    <p:sldId id="294" r:id="rId34"/>
    <p:sldId id="298" r:id="rId35"/>
    <p:sldId id="299" r:id="rId36"/>
    <p:sldId id="295" r:id="rId37"/>
    <p:sldId id="301" r:id="rId38"/>
    <p:sldId id="302" r:id="rId39"/>
    <p:sldId id="303" r:id="rId40"/>
    <p:sldId id="304" r:id="rId41"/>
    <p:sldId id="305" r:id="rId42"/>
    <p:sldId id="306" r:id="rId43"/>
    <p:sldId id="307" r:id="rId44"/>
    <p:sldId id="308" r:id="rId45"/>
    <p:sldId id="309" r:id="rId46"/>
    <p:sldId id="310" r:id="rId47"/>
    <p:sldId id="312" r:id="rId48"/>
    <p:sldId id="313" r:id="rId49"/>
    <p:sldId id="314" r:id="rId50"/>
    <p:sldId id="311" r:id="rId51"/>
    <p:sldId id="315" r:id="rId52"/>
    <p:sldId id="316" r:id="rId53"/>
    <p:sldId id="296" r:id="rId54"/>
    <p:sldId id="297" r:id="rId55"/>
    <p:sldId id="317" r:id="rId56"/>
    <p:sldId id="320" r:id="rId57"/>
    <p:sldId id="321" r:id="rId58"/>
    <p:sldId id="322" r:id="rId59"/>
    <p:sldId id="323" r:id="rId60"/>
    <p:sldId id="324" r:id="rId61"/>
    <p:sldId id="325" r:id="rId62"/>
    <p:sldId id="263" r:id="rId63"/>
    <p:sldId id="264" r:id="rId64"/>
    <p:sldId id="265" r:id="rId65"/>
    <p:sldId id="26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11/05/2022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11/05/2022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11/05/2022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11/05/2022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11/05/2022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11/05/2022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11/05/2022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11/05/2022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11/05/2022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11/05/2022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Excretory System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13</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normAutofit/>
          </a:bodyPr>
          <a:lstStyle/>
          <a:p>
            <a:r>
              <a:rPr lang="en-AU" dirty="0" smtClean="0"/>
              <a:t>the </a:t>
            </a:r>
            <a:r>
              <a:rPr lang="en-AU" dirty="0"/>
              <a:t>excretory system regulates the chemical composition of body fluids by removing metabolic wastes and retaining the proper amounts of water, salts, and nutrients; components of this system include the kidneys, liver, lungs, and skin functioning at the organ level</a:t>
            </a:r>
          </a:p>
          <a:p>
            <a:r>
              <a:rPr lang="en-AU" dirty="0" smtClean="0"/>
              <a:t>deamination </a:t>
            </a:r>
            <a:r>
              <a:rPr lang="en-AU" dirty="0"/>
              <a:t>of amino acids in the liver produces urea, which then is transported to the kidneys for removal</a:t>
            </a:r>
          </a:p>
          <a:p>
            <a:r>
              <a:rPr lang="en-AU" dirty="0" smtClean="0"/>
              <a:t>the </a:t>
            </a:r>
            <a:r>
              <a:rPr lang="en-AU" dirty="0"/>
              <a:t>nephrons in the kidney facilitate three basic processes: filtration, reabsorption and secretion during urine formation to maintain the composition of body fluids (hormone control is not required)</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explore the structure and function of the excretory system </a:t>
            </a:r>
            <a:endParaRPr lang="en-AU" dirty="0" smtClean="0"/>
          </a:p>
          <a:p>
            <a:r>
              <a:rPr lang="en-AU" dirty="0"/>
              <a:t>To explore the structure and function of the kidneys </a:t>
            </a:r>
            <a:endParaRPr lang="en-AU" dirty="0" smtClean="0"/>
          </a:p>
          <a:p>
            <a:r>
              <a:rPr lang="en-AU" dirty="0"/>
              <a:t>To explore the effects of lifestyle on excretion </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a:xfrm>
            <a:off x="838200" y="1420586"/>
            <a:ext cx="10515600" cy="5176157"/>
          </a:xfrm>
        </p:spPr>
        <p:txBody>
          <a:bodyPr>
            <a:normAutofit lnSpcReduction="10000"/>
          </a:bodyPr>
          <a:lstStyle/>
          <a:p>
            <a:r>
              <a:rPr lang="en-AU" dirty="0" smtClean="0"/>
              <a:t>define </a:t>
            </a:r>
            <a:r>
              <a:rPr lang="en-AU" dirty="0"/>
              <a:t>excretion </a:t>
            </a:r>
          </a:p>
          <a:p>
            <a:r>
              <a:rPr lang="en-AU" dirty="0" smtClean="0"/>
              <a:t>identify </a:t>
            </a:r>
            <a:r>
              <a:rPr lang="en-AU" dirty="0"/>
              <a:t>the components of the excretory system </a:t>
            </a:r>
          </a:p>
          <a:p>
            <a:r>
              <a:rPr lang="en-AU" dirty="0" smtClean="0"/>
              <a:t>describe </a:t>
            </a:r>
            <a:r>
              <a:rPr lang="en-AU" dirty="0"/>
              <a:t>the structure of the excretory system </a:t>
            </a:r>
          </a:p>
          <a:p>
            <a:r>
              <a:rPr lang="en-AU" dirty="0" smtClean="0"/>
              <a:t>describe </a:t>
            </a:r>
            <a:r>
              <a:rPr lang="en-AU" dirty="0"/>
              <a:t>the function of the excretory system </a:t>
            </a:r>
          </a:p>
          <a:p>
            <a:r>
              <a:rPr lang="en-AU" dirty="0" smtClean="0"/>
              <a:t>describe </a:t>
            </a:r>
            <a:r>
              <a:rPr lang="en-AU" dirty="0"/>
              <a:t>the process of deamination </a:t>
            </a:r>
            <a:endParaRPr lang="en-AU" dirty="0" smtClean="0"/>
          </a:p>
          <a:p>
            <a:r>
              <a:rPr lang="en-AU" dirty="0" smtClean="0"/>
              <a:t>describe </a:t>
            </a:r>
            <a:r>
              <a:rPr lang="en-AU" dirty="0"/>
              <a:t>the structure of the kidneys </a:t>
            </a:r>
          </a:p>
          <a:p>
            <a:r>
              <a:rPr lang="en-AU" dirty="0" smtClean="0"/>
              <a:t>describe </a:t>
            </a:r>
            <a:r>
              <a:rPr lang="en-AU" dirty="0"/>
              <a:t>the function of the kidneys </a:t>
            </a:r>
          </a:p>
          <a:p>
            <a:r>
              <a:rPr lang="en-AU" dirty="0" smtClean="0"/>
              <a:t>describe </a:t>
            </a:r>
            <a:r>
              <a:rPr lang="en-AU" dirty="0"/>
              <a:t>the structure of nephrons </a:t>
            </a:r>
            <a:endParaRPr lang="en-AU" dirty="0" smtClean="0"/>
          </a:p>
          <a:p>
            <a:r>
              <a:rPr lang="en-AU" dirty="0" smtClean="0"/>
              <a:t>explain </a:t>
            </a:r>
            <a:r>
              <a:rPr lang="en-AU" dirty="0"/>
              <a:t>the process of urine production (glomerular filtration, reabsorption, tubular secretion) </a:t>
            </a:r>
          </a:p>
          <a:p>
            <a:r>
              <a:rPr lang="en-AU" dirty="0" smtClean="0"/>
              <a:t>describe </a:t>
            </a:r>
            <a:r>
              <a:rPr lang="en-AU" dirty="0"/>
              <a:t>the composition of urine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describe </a:t>
            </a:r>
            <a:r>
              <a:rPr lang="en-AU" dirty="0"/>
              <a:t>the cause, effects and treatment of kidney stones </a:t>
            </a:r>
          </a:p>
          <a:p>
            <a:r>
              <a:rPr lang="en-AU" dirty="0" smtClean="0"/>
              <a:t>explain </a:t>
            </a:r>
            <a:r>
              <a:rPr lang="en-AU" dirty="0"/>
              <a:t>the process of dialysis </a:t>
            </a:r>
          </a:p>
          <a:p>
            <a:r>
              <a:rPr lang="en-AU" dirty="0" smtClean="0"/>
              <a:t>explain </a:t>
            </a:r>
            <a:r>
              <a:rPr lang="en-AU" dirty="0"/>
              <a:t>why dialysis is needed </a:t>
            </a:r>
          </a:p>
          <a:p>
            <a:r>
              <a:rPr lang="en-AU" dirty="0" smtClean="0"/>
              <a:t>describe </a:t>
            </a:r>
            <a:r>
              <a:rPr lang="en-AU" dirty="0"/>
              <a:t>the cause, effects and treatment of liver disease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1949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690688"/>
            <a:ext cx="10515600" cy="4486275"/>
          </a:xfrm>
        </p:spPr>
        <p:txBody>
          <a:bodyPr/>
          <a:lstStyle/>
          <a:p>
            <a:r>
              <a:rPr lang="en-AU" b="1" dirty="0"/>
              <a:t>Excretion</a:t>
            </a:r>
            <a:r>
              <a:rPr lang="en-AU" dirty="0"/>
              <a:t>: removal of wasters of metabolism from the body </a:t>
            </a:r>
            <a:endParaRPr lang="en-AU" dirty="0" smtClean="0"/>
          </a:p>
          <a:p>
            <a:endParaRPr lang="en-AU" dirty="0"/>
          </a:p>
          <a:p>
            <a:r>
              <a:rPr lang="en-AU" b="1" dirty="0" smtClean="0"/>
              <a:t>Lung</a:t>
            </a:r>
            <a:r>
              <a:rPr lang="en-AU" dirty="0" smtClean="0"/>
              <a:t>: </a:t>
            </a:r>
            <a:r>
              <a:rPr lang="en-AU" dirty="0"/>
              <a:t>one of a pair of organs for gas exchange, occupying the chest cavity </a:t>
            </a:r>
            <a:endParaRPr lang="en-AU" dirty="0" smtClean="0"/>
          </a:p>
          <a:p>
            <a:endParaRPr lang="en-AU" dirty="0"/>
          </a:p>
          <a:p>
            <a:r>
              <a:rPr lang="en-AU" b="1" dirty="0"/>
              <a:t>Liver</a:t>
            </a:r>
            <a:r>
              <a:rPr lang="en-AU" dirty="0"/>
              <a:t>: organ that is part of the excretory </a:t>
            </a:r>
            <a:r>
              <a:rPr lang="en-AU" dirty="0" smtClean="0"/>
              <a:t>system</a:t>
            </a:r>
          </a:p>
          <a:p>
            <a:endParaRPr lang="en-AU" dirty="0"/>
          </a:p>
          <a:p>
            <a:r>
              <a:rPr lang="en-AU" b="1" dirty="0"/>
              <a:t>Sweat glands</a:t>
            </a:r>
            <a:r>
              <a:rPr lang="en-AU" dirty="0"/>
              <a:t>: tubular structures in the skin that produce sweat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825625"/>
            <a:ext cx="10515600" cy="4705804"/>
          </a:xfrm>
        </p:spPr>
        <p:txBody>
          <a:bodyPr/>
          <a:lstStyle/>
          <a:p>
            <a:r>
              <a:rPr lang="en-AU" b="1" dirty="0"/>
              <a:t>Kidneys</a:t>
            </a:r>
            <a:r>
              <a:rPr lang="en-AU" dirty="0"/>
              <a:t>: the principal excretory organs of the human body; they filter waste from the blood and regulate the balance of water and salts in the blood plasma </a:t>
            </a:r>
            <a:endParaRPr lang="en-AU" dirty="0" smtClean="0"/>
          </a:p>
          <a:p>
            <a:endParaRPr lang="en-AU" dirty="0"/>
          </a:p>
          <a:p>
            <a:r>
              <a:rPr lang="en-AU" b="1" dirty="0"/>
              <a:t>Deamination</a:t>
            </a:r>
            <a:r>
              <a:rPr lang="en-AU" dirty="0"/>
              <a:t>: the removal of the amino group from an amino acid molecule </a:t>
            </a:r>
            <a:endParaRPr lang="en-AU" dirty="0" smtClean="0"/>
          </a:p>
          <a:p>
            <a:endParaRPr lang="en-AU" dirty="0"/>
          </a:p>
          <a:p>
            <a:r>
              <a:rPr lang="en-AU" b="1" dirty="0"/>
              <a:t>Renal capsule</a:t>
            </a:r>
            <a:r>
              <a:rPr lang="en-AU" dirty="0"/>
              <a:t>: a tough fibrous layer surrounding the kidney </a:t>
            </a:r>
            <a:endParaRPr lang="en-AU" dirty="0" smtClean="0"/>
          </a:p>
          <a:p>
            <a:endParaRPr lang="en-AU" dirty="0"/>
          </a:p>
          <a:p>
            <a:r>
              <a:rPr lang="en-AU" b="1" dirty="0"/>
              <a:t>Nephron</a:t>
            </a:r>
            <a:r>
              <a:rPr lang="en-AU" dirty="0"/>
              <a:t>: the functional unit of the kidney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9186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506185" y="1485900"/>
            <a:ext cx="11462657" cy="5306786"/>
          </a:xfrm>
        </p:spPr>
        <p:txBody>
          <a:bodyPr>
            <a:normAutofit/>
          </a:bodyPr>
          <a:lstStyle/>
          <a:p>
            <a:r>
              <a:rPr lang="en-AU" b="1" dirty="0"/>
              <a:t>Collecting duct</a:t>
            </a:r>
            <a:r>
              <a:rPr lang="en-AU" dirty="0"/>
              <a:t>: the tube in the kidney that collects filtrate from several nephrons </a:t>
            </a:r>
            <a:endParaRPr lang="en-AU" dirty="0" smtClean="0"/>
          </a:p>
          <a:p>
            <a:endParaRPr lang="en-AU" dirty="0"/>
          </a:p>
          <a:p>
            <a:r>
              <a:rPr lang="en-AU" b="1" dirty="0"/>
              <a:t>Glomerulus</a:t>
            </a:r>
            <a:r>
              <a:rPr lang="en-AU" dirty="0"/>
              <a:t>: the tightly coiled mass of capillaries that is surrounded by the expanded part of each kidney tubule. </a:t>
            </a:r>
            <a:endParaRPr lang="en-AU" dirty="0" smtClean="0"/>
          </a:p>
          <a:p>
            <a:endParaRPr lang="en-AU" dirty="0"/>
          </a:p>
          <a:p>
            <a:r>
              <a:rPr lang="en-AU" b="1" dirty="0"/>
              <a:t>Loop of Henle</a:t>
            </a:r>
            <a:r>
              <a:rPr lang="en-AU" dirty="0"/>
              <a:t>: The U-shaped section of the kidney tubule; it plays a major role in the reabsorption of water and salts from the filtrate </a:t>
            </a:r>
            <a:endParaRPr lang="en-AU" dirty="0" smtClean="0"/>
          </a:p>
          <a:p>
            <a:endParaRPr lang="en-AU" dirty="0"/>
          </a:p>
          <a:p>
            <a:r>
              <a:rPr lang="en-AU" b="1" dirty="0"/>
              <a:t>Ureter</a:t>
            </a:r>
            <a:r>
              <a:rPr lang="en-AU" dirty="0"/>
              <a:t>: the tube that leaves each kidney and drains into the urinary bladder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26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Afferent arterioles</a:t>
            </a:r>
            <a:r>
              <a:rPr lang="en-AU" dirty="0"/>
              <a:t>: the blood vessel that enters an organ </a:t>
            </a:r>
            <a:endParaRPr lang="en-AU" dirty="0" smtClean="0"/>
          </a:p>
          <a:p>
            <a:endParaRPr lang="en-AU" dirty="0"/>
          </a:p>
          <a:p>
            <a:r>
              <a:rPr lang="en-AU" b="1" dirty="0"/>
              <a:t>Efferent arterioles</a:t>
            </a:r>
            <a:r>
              <a:rPr lang="en-AU" dirty="0"/>
              <a:t>: the blood vessel that leaves a glomerulus in the kidney </a:t>
            </a:r>
            <a:endParaRPr lang="en-AU" dirty="0" smtClean="0"/>
          </a:p>
          <a:p>
            <a:endParaRPr lang="en-AU" dirty="0"/>
          </a:p>
          <a:p>
            <a:r>
              <a:rPr lang="en-AU" b="1" dirty="0"/>
              <a:t>Glomerular filtration</a:t>
            </a:r>
            <a:r>
              <a:rPr lang="en-AU" dirty="0"/>
              <a:t>: the filtration of blood in the kidney </a:t>
            </a:r>
            <a:endParaRPr lang="en-AU" dirty="0" smtClean="0"/>
          </a:p>
          <a:p>
            <a:endParaRPr lang="en-AU" dirty="0"/>
          </a:p>
          <a:p>
            <a:r>
              <a:rPr lang="en-AU" b="1" dirty="0"/>
              <a:t>Filtrate</a:t>
            </a:r>
            <a:r>
              <a:rPr lang="en-AU" dirty="0"/>
              <a:t>: the fluid remaining after filtration has taken place</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736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10243" y="1690688"/>
            <a:ext cx="11560628" cy="4906055"/>
          </a:xfrm>
        </p:spPr>
        <p:txBody>
          <a:bodyPr/>
          <a:lstStyle/>
          <a:p>
            <a:r>
              <a:rPr lang="en-AU" b="1" dirty="0"/>
              <a:t>Selective reabsorption</a:t>
            </a:r>
            <a:r>
              <a:rPr lang="en-AU" dirty="0"/>
              <a:t>: the reabsorption of some substances and not others in the renal tubules </a:t>
            </a:r>
            <a:endParaRPr lang="en-AU" dirty="0" smtClean="0"/>
          </a:p>
          <a:p>
            <a:endParaRPr lang="en-AU" dirty="0"/>
          </a:p>
          <a:p>
            <a:r>
              <a:rPr lang="en-AU" b="1" dirty="0"/>
              <a:t>Tubular secretion</a:t>
            </a:r>
            <a:r>
              <a:rPr lang="en-AU" dirty="0"/>
              <a:t>: the process whereby ions and drugs are secreted from the blood into the kidney tubule </a:t>
            </a:r>
            <a:endParaRPr lang="en-AU" dirty="0" smtClean="0"/>
          </a:p>
          <a:p>
            <a:endParaRPr lang="en-AU" dirty="0"/>
          </a:p>
          <a:p>
            <a:r>
              <a:rPr lang="en-AU" b="1" dirty="0"/>
              <a:t>Uric acid</a:t>
            </a:r>
            <a:r>
              <a:rPr lang="en-AU" dirty="0"/>
              <a:t>: a breakdown product of the metabolism of purines such as the bases adenine and guanine found in DNA and RNA </a:t>
            </a:r>
            <a:endParaRPr lang="en-AU" dirty="0" smtClean="0"/>
          </a:p>
          <a:p>
            <a:endParaRPr lang="en-AU" dirty="0"/>
          </a:p>
          <a:p>
            <a:r>
              <a:rPr lang="en-AU" b="1" dirty="0"/>
              <a:t>Creatinine</a:t>
            </a:r>
            <a:r>
              <a:rPr lang="en-AU" dirty="0"/>
              <a:t>: a waste product from the breakdown of muscles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310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b="1" dirty="0"/>
              <a:t>Kidney stones</a:t>
            </a:r>
            <a:r>
              <a:rPr lang="en-AU" dirty="0"/>
              <a:t>: solid masses of crystals that develop within the kidneys </a:t>
            </a:r>
            <a:endParaRPr lang="en-AU" dirty="0" smtClean="0"/>
          </a:p>
          <a:p>
            <a:endParaRPr lang="en-AU" dirty="0"/>
          </a:p>
          <a:p>
            <a:r>
              <a:rPr lang="en-AU" b="1" dirty="0"/>
              <a:t>Kidney failure</a:t>
            </a:r>
            <a:r>
              <a:rPr lang="en-AU" dirty="0"/>
              <a:t>: occurs when the kidneys lose their ability to excrete wastes and control the level of fluid in the body </a:t>
            </a:r>
            <a:endParaRPr lang="en-AU" dirty="0" smtClean="0"/>
          </a:p>
          <a:p>
            <a:endParaRPr lang="en-AU" dirty="0"/>
          </a:p>
          <a:p>
            <a:r>
              <a:rPr lang="en-AU" b="1" dirty="0"/>
              <a:t>Dialysis</a:t>
            </a:r>
            <a:r>
              <a:rPr lang="en-AU" dirty="0"/>
              <a:t>: a method of removing waste from the blood when kidney failure occurs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367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Peritoneum</a:t>
            </a:r>
            <a:r>
              <a:rPr lang="en-AU" dirty="0"/>
              <a:t>: the membrane that lines the inside of the abdominal cavity </a:t>
            </a:r>
            <a:endParaRPr lang="en-AU" dirty="0" smtClean="0"/>
          </a:p>
          <a:p>
            <a:endParaRPr lang="en-AU" dirty="0"/>
          </a:p>
          <a:p>
            <a:r>
              <a:rPr lang="en-AU" b="1" dirty="0"/>
              <a:t>Peritoneal dialysis</a:t>
            </a:r>
            <a:r>
              <a:rPr lang="en-AU" dirty="0"/>
              <a:t>: dialysis occurring inside the body, using the peritoneum as the membrane across which wastes can be removed </a:t>
            </a:r>
            <a:endParaRPr lang="en-AU" dirty="0" smtClean="0"/>
          </a:p>
          <a:p>
            <a:endParaRPr lang="en-AU" dirty="0"/>
          </a:p>
          <a:p>
            <a:r>
              <a:rPr lang="en-AU" b="1" dirty="0"/>
              <a:t>Haemodialysis</a:t>
            </a:r>
            <a:r>
              <a:rPr lang="en-AU" dirty="0"/>
              <a:t>: process in which blood is passed through an artificial kidney or dialysis machine</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4504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Waste Removal Organs </a:t>
            </a:r>
            <a:endParaRPr lang="en-AU" sz="6000" b="1" dirty="0"/>
          </a:p>
        </p:txBody>
      </p:sp>
      <p:sp>
        <p:nvSpPr>
          <p:cNvPr id="3" name="Content Placeholder 2"/>
          <p:cNvSpPr>
            <a:spLocks noGrp="1"/>
          </p:cNvSpPr>
          <p:nvPr>
            <p:ph idx="1"/>
          </p:nvPr>
        </p:nvSpPr>
        <p:spPr/>
        <p:txBody>
          <a:bodyPr/>
          <a:lstStyle/>
          <a:p>
            <a:r>
              <a:rPr lang="en-AU" dirty="0" smtClean="0"/>
              <a:t>Lungs- excrete carbon dioxide </a:t>
            </a:r>
          </a:p>
          <a:p>
            <a:r>
              <a:rPr lang="en-AU" dirty="0" smtClean="0"/>
              <a:t>Liver- processes substances for excretion </a:t>
            </a:r>
          </a:p>
          <a:p>
            <a:r>
              <a:rPr lang="en-AU" dirty="0" smtClean="0"/>
              <a:t>Sweat glands- secrete sweat containing by-products of metabolism such as salts, urea and lactic acid </a:t>
            </a:r>
          </a:p>
          <a:p>
            <a:r>
              <a:rPr lang="en-AU" dirty="0" smtClean="0"/>
              <a:t>Alimentary canal- bile pigments </a:t>
            </a:r>
          </a:p>
          <a:p>
            <a:r>
              <a:rPr lang="en-AU" dirty="0" smtClean="0"/>
              <a:t>Kidneys- primary excretory organs that remove nitrogenous wastes and maintain concentration levels of bodily fluids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Liver </a:t>
            </a:r>
            <a:endParaRPr lang="en-AU" sz="6000" b="1" dirty="0"/>
          </a:p>
        </p:txBody>
      </p:sp>
      <p:sp>
        <p:nvSpPr>
          <p:cNvPr id="3" name="Content Placeholder 2"/>
          <p:cNvSpPr>
            <a:spLocks noGrp="1"/>
          </p:cNvSpPr>
          <p:nvPr>
            <p:ph idx="1"/>
          </p:nvPr>
        </p:nvSpPr>
        <p:spPr/>
        <p:txBody>
          <a:bodyPr/>
          <a:lstStyle/>
          <a:p>
            <a:r>
              <a:rPr lang="en-AU" dirty="0" smtClean="0"/>
              <a:t>Proteins are primarily ‘body builders’, that is, they make up the structural materials of cells. As long as the body has a sufficient supply of carbohydrates and fats, then little protein is used in energy-releasing reactions. </a:t>
            </a:r>
          </a:p>
          <a:p>
            <a:endParaRPr lang="en-AU" dirty="0"/>
          </a:p>
          <a:p>
            <a:r>
              <a:rPr lang="en-AU" dirty="0" smtClean="0"/>
              <a:t>Excess proteins is unable to be stored and must be removed.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Liver continued. </a:t>
            </a:r>
            <a:endParaRPr lang="en-AU" sz="6000" b="1" dirty="0"/>
          </a:p>
        </p:txBody>
      </p:sp>
      <p:sp>
        <p:nvSpPr>
          <p:cNvPr id="3" name="Content Placeholder 2"/>
          <p:cNvSpPr>
            <a:spLocks noGrp="1"/>
          </p:cNvSpPr>
          <p:nvPr>
            <p:ph idx="1"/>
          </p:nvPr>
        </p:nvSpPr>
        <p:spPr>
          <a:xfrm>
            <a:off x="838200" y="1404258"/>
            <a:ext cx="10515600" cy="5159828"/>
          </a:xfrm>
        </p:spPr>
        <p:txBody>
          <a:bodyPr>
            <a:normAutofit/>
          </a:bodyPr>
          <a:lstStyle/>
          <a:p>
            <a:r>
              <a:rPr lang="en-AU" dirty="0" smtClean="0"/>
              <a:t>The proteins, which have been built up from amino acids, become the primary constituents of cell structures, enzymes, antibodies and many glandular secretions. </a:t>
            </a:r>
          </a:p>
          <a:p>
            <a:endParaRPr lang="en-AU" dirty="0"/>
          </a:p>
          <a:p>
            <a:r>
              <a:rPr lang="en-AU" dirty="0" smtClean="0"/>
              <a:t>To use proteins to produce energy, the amino group must first be removed from the amino acids. This process, called deamination, occurs in the liver with the aid of enzymes. Once the amino group is gone, it is converted by the liver to ammonia and then to urea. </a:t>
            </a:r>
          </a:p>
          <a:p>
            <a:endParaRPr lang="en-AU" dirty="0"/>
          </a:p>
          <a:p>
            <a:r>
              <a:rPr lang="en-AU" dirty="0" smtClean="0"/>
              <a:t>Urea is eliminated from the body in urine. With the remaining part of the amino acid converted into a carbohydrate for energy.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529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Deamination </a:t>
            </a:r>
            <a:endParaRPr lang="en-AU" sz="6000" b="1" dirty="0"/>
          </a:p>
        </p:txBody>
      </p:sp>
      <p:sp>
        <p:nvSpPr>
          <p:cNvPr id="3" name="Content Placeholder 2"/>
          <p:cNvSpPr>
            <a:spLocks noGrp="1"/>
          </p:cNvSpPr>
          <p:nvPr>
            <p:ph idx="1"/>
          </p:nvPr>
        </p:nvSpPr>
        <p:spPr/>
        <p:txBody>
          <a:bodyPr/>
          <a:lstStyle/>
          <a:p>
            <a:endParaRPr lang="en-AU" dirty="0" smtClean="0"/>
          </a:p>
          <a:p>
            <a:endParaRPr lang="en-AU" dirty="0"/>
          </a:p>
          <a:p>
            <a:pPr marL="0" indent="0">
              <a:buNone/>
            </a:pPr>
            <a:r>
              <a:rPr lang="en-AU" sz="3600" dirty="0" smtClean="0"/>
              <a:t>                                     </a:t>
            </a:r>
            <a:r>
              <a:rPr lang="en-AU" sz="2400" dirty="0" smtClean="0"/>
              <a:t>enzymes</a:t>
            </a:r>
            <a:r>
              <a:rPr lang="en-AU" sz="3600" dirty="0" smtClean="0"/>
              <a:t> </a:t>
            </a:r>
          </a:p>
          <a:p>
            <a:r>
              <a:rPr lang="en-AU" sz="3600" dirty="0" smtClean="0"/>
              <a:t>Amino acid + oxygen </a:t>
            </a:r>
            <a:r>
              <a:rPr lang="en-AU" sz="3600" dirty="0" smtClean="0">
                <a:sym typeface="Wingdings" panose="05000000000000000000" pitchFamily="2" charset="2"/>
              </a:rPr>
              <a:t> carbohydrate and ammonia </a:t>
            </a:r>
            <a:endParaRPr lang="en-AU" sz="36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6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Ammonia </a:t>
            </a:r>
            <a:endParaRPr lang="en-AU" sz="6000" b="1" dirty="0"/>
          </a:p>
        </p:txBody>
      </p:sp>
      <p:sp>
        <p:nvSpPr>
          <p:cNvPr id="3" name="Content Placeholder 2"/>
          <p:cNvSpPr>
            <a:spLocks noGrp="1"/>
          </p:cNvSpPr>
          <p:nvPr>
            <p:ph idx="1"/>
          </p:nvPr>
        </p:nvSpPr>
        <p:spPr/>
        <p:txBody>
          <a:bodyPr/>
          <a:lstStyle/>
          <a:p>
            <a:r>
              <a:rPr lang="en-AU" dirty="0" smtClean="0"/>
              <a:t>Extremely soluble in water </a:t>
            </a:r>
          </a:p>
          <a:p>
            <a:r>
              <a:rPr lang="en-AU" dirty="0" smtClean="0"/>
              <a:t>Highly toxic </a:t>
            </a:r>
          </a:p>
          <a:p>
            <a:endParaRPr lang="en-AU" dirty="0"/>
          </a:p>
          <a:p>
            <a:endParaRPr lang="en-AU" dirty="0" smtClean="0"/>
          </a:p>
          <a:p>
            <a:r>
              <a:rPr lang="en-AU" dirty="0" smtClean="0"/>
              <a:t>Liver cells rapidly convert ammonia to urea, which is easily excreted by the kidneys and as sweat from sweat glands. </a:t>
            </a:r>
          </a:p>
          <a:p>
            <a:endParaRPr lang="en-AU" dirty="0"/>
          </a:p>
          <a:p>
            <a:r>
              <a:rPr lang="en-AU" dirty="0" smtClean="0"/>
              <a:t>Energy + carbon dioxide + ammonia </a:t>
            </a:r>
            <a:r>
              <a:rPr lang="en-AU" dirty="0" smtClean="0">
                <a:sym typeface="Wingdings" panose="05000000000000000000" pitchFamily="2" charset="2"/>
              </a:rPr>
              <a:t> urea </a:t>
            </a:r>
            <a:r>
              <a:rPr lang="en-AU" smtClean="0">
                <a:sym typeface="Wingdings" panose="05000000000000000000" pitchFamily="2" charset="2"/>
              </a:rPr>
              <a:t>+ water </a:t>
            </a:r>
            <a:endParaRPr lang="en-AU"/>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325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82348" y="627403"/>
            <a:ext cx="11612955" cy="481001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1450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Liver continued </a:t>
            </a:r>
            <a:endParaRPr lang="en-AU" sz="6000" b="1" dirty="0"/>
          </a:p>
        </p:txBody>
      </p:sp>
      <p:sp>
        <p:nvSpPr>
          <p:cNvPr id="3" name="Content Placeholder 2"/>
          <p:cNvSpPr>
            <a:spLocks noGrp="1"/>
          </p:cNvSpPr>
          <p:nvPr>
            <p:ph idx="1"/>
          </p:nvPr>
        </p:nvSpPr>
        <p:spPr/>
        <p:txBody>
          <a:bodyPr/>
          <a:lstStyle/>
          <a:p>
            <a:r>
              <a:rPr lang="en-AU" dirty="0" smtClean="0"/>
              <a:t>Detoxifies alcohol and many other drugs e.g. antibiotics </a:t>
            </a:r>
          </a:p>
          <a:p>
            <a:endParaRPr lang="en-AU" dirty="0"/>
          </a:p>
          <a:p>
            <a:r>
              <a:rPr lang="en-AU" dirty="0" smtClean="0"/>
              <a:t>Deactivates many hormones and converts them into a form that can be excreted by the kidneys </a:t>
            </a:r>
          </a:p>
          <a:p>
            <a:endParaRPr lang="en-AU" dirty="0"/>
          </a:p>
          <a:p>
            <a:r>
              <a:rPr lang="en-AU" dirty="0" smtClean="0"/>
              <a:t>Breaks down haemoglobin from dead red blood cells to produce bile pigments, which are then passed out of the body with the faeces.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973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Skin </a:t>
            </a:r>
            <a:endParaRPr lang="en-AU" sz="6000" b="1" dirty="0"/>
          </a:p>
        </p:txBody>
      </p:sp>
      <p:sp>
        <p:nvSpPr>
          <p:cNvPr id="3" name="Content Placeholder 2"/>
          <p:cNvSpPr>
            <a:spLocks noGrp="1"/>
          </p:cNvSpPr>
          <p:nvPr>
            <p:ph idx="1"/>
          </p:nvPr>
        </p:nvSpPr>
        <p:spPr/>
        <p:txBody>
          <a:bodyPr/>
          <a:lstStyle/>
          <a:p>
            <a:r>
              <a:rPr lang="en-AU" dirty="0" smtClean="0"/>
              <a:t>Main function- protective covering over the surface of the body and to regulate body temperature. </a:t>
            </a:r>
          </a:p>
          <a:p>
            <a:endParaRPr lang="en-AU" dirty="0"/>
          </a:p>
          <a:p>
            <a:r>
              <a:rPr lang="en-AU" dirty="0" smtClean="0"/>
              <a:t>Even when there is no visible perspiration on the skin, the sweat glands secrete about 500 mL of water per day. Sweat glands are located in the lower layers of the skin, a duct carries the sweat to a hair follicle or skin surface where it opens at a pore. </a:t>
            </a:r>
          </a:p>
          <a:p>
            <a:endParaRPr lang="en-AU" dirty="0"/>
          </a:p>
          <a:p>
            <a:r>
              <a:rPr lang="en-AU" dirty="0" smtClean="0"/>
              <a:t>In that water is dissolved salt, lactic acid and urea.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750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Kidneys </a:t>
            </a:r>
            <a:endParaRPr lang="en-AU" sz="6000" b="1" dirty="0"/>
          </a:p>
        </p:txBody>
      </p:sp>
      <p:sp>
        <p:nvSpPr>
          <p:cNvPr id="3" name="Content Placeholder 2"/>
          <p:cNvSpPr>
            <a:spLocks noGrp="1"/>
          </p:cNvSpPr>
          <p:nvPr>
            <p:ph idx="1"/>
          </p:nvPr>
        </p:nvSpPr>
        <p:spPr/>
        <p:txBody>
          <a:bodyPr/>
          <a:lstStyle/>
          <a:p>
            <a:r>
              <a:rPr lang="en-AU" dirty="0" smtClean="0"/>
              <a:t>Pair of reddish brown organs located in the abdomen. </a:t>
            </a:r>
          </a:p>
          <a:p>
            <a:endParaRPr lang="en-AU" dirty="0"/>
          </a:p>
          <a:p>
            <a:r>
              <a:rPr lang="en-AU" dirty="0" smtClean="0"/>
              <a:t>The kidneys, bladder and their associated ducts are often referred to as the urinary system.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719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646980" y="216921"/>
            <a:ext cx="5739374" cy="6428511"/>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6487886" y="6139543"/>
            <a:ext cx="1898468" cy="4093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7364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434403" y="188414"/>
            <a:ext cx="9242305" cy="653577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p:cNvSpPr/>
          <p:nvPr/>
        </p:nvSpPr>
        <p:spPr>
          <a:xfrm>
            <a:off x="1428206" y="191588"/>
            <a:ext cx="2926080" cy="27954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1428206" y="2499360"/>
            <a:ext cx="1071154" cy="8490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598136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6348" y="1192841"/>
            <a:ext cx="11878410" cy="410197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918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Kidney continued </a:t>
            </a:r>
            <a:endParaRPr lang="en-AU" sz="6000" b="1" dirty="0"/>
          </a:p>
        </p:txBody>
      </p:sp>
      <p:sp>
        <p:nvSpPr>
          <p:cNvPr id="3" name="Content Placeholder 2"/>
          <p:cNvSpPr>
            <a:spLocks noGrp="1"/>
          </p:cNvSpPr>
          <p:nvPr>
            <p:ph idx="1"/>
          </p:nvPr>
        </p:nvSpPr>
        <p:spPr/>
        <p:txBody>
          <a:bodyPr>
            <a:normAutofit/>
          </a:bodyPr>
          <a:lstStyle/>
          <a:p>
            <a:r>
              <a:rPr lang="en-AU" dirty="0" smtClean="0"/>
              <a:t>The kidney is enclosed by the </a:t>
            </a:r>
            <a:r>
              <a:rPr lang="en-AU" b="1" dirty="0" smtClean="0"/>
              <a:t>renal capsule</a:t>
            </a:r>
            <a:r>
              <a:rPr lang="en-AU" dirty="0" smtClean="0"/>
              <a:t>. Under this is the outer </a:t>
            </a:r>
            <a:r>
              <a:rPr lang="en-AU" b="1" dirty="0" smtClean="0"/>
              <a:t>renal cortex</a:t>
            </a:r>
            <a:r>
              <a:rPr lang="en-AU" dirty="0" smtClean="0"/>
              <a:t>, the inner </a:t>
            </a:r>
            <a:r>
              <a:rPr lang="en-AU" b="1" dirty="0" smtClean="0"/>
              <a:t>renal medulla</a:t>
            </a:r>
            <a:r>
              <a:rPr lang="en-AU" dirty="0" smtClean="0"/>
              <a:t>, and then the </a:t>
            </a:r>
            <a:r>
              <a:rPr lang="en-AU" b="1" dirty="0" smtClean="0"/>
              <a:t>renal pelvis </a:t>
            </a:r>
            <a:r>
              <a:rPr lang="en-AU" dirty="0" smtClean="0"/>
              <a:t>sits in the concave side of the kidney. </a:t>
            </a:r>
          </a:p>
          <a:p>
            <a:endParaRPr lang="en-AU" dirty="0"/>
          </a:p>
          <a:p>
            <a:r>
              <a:rPr lang="en-AU" dirty="0" smtClean="0"/>
              <a:t>The </a:t>
            </a:r>
            <a:r>
              <a:rPr lang="en-AU" b="1" dirty="0" smtClean="0"/>
              <a:t>renal hilum </a:t>
            </a:r>
            <a:r>
              <a:rPr lang="en-AU" dirty="0" smtClean="0"/>
              <a:t>lies on the concave surface of the kidney, and is where the vessels enter and leave. The </a:t>
            </a:r>
            <a:r>
              <a:rPr lang="en-AU" b="1" dirty="0" smtClean="0"/>
              <a:t>medulla</a:t>
            </a:r>
            <a:r>
              <a:rPr lang="en-AU" dirty="0" smtClean="0"/>
              <a:t> consists of a number of </a:t>
            </a:r>
            <a:r>
              <a:rPr lang="en-AU" b="1" dirty="0" smtClean="0"/>
              <a:t>renal pyramids</a:t>
            </a:r>
            <a:r>
              <a:rPr lang="en-AU" dirty="0" smtClean="0"/>
              <a:t>, which are separated by </a:t>
            </a:r>
            <a:r>
              <a:rPr lang="en-AU" b="1" dirty="0" smtClean="0"/>
              <a:t>renal columns</a:t>
            </a:r>
            <a:r>
              <a:rPr lang="en-AU" dirty="0" smtClean="0"/>
              <a:t>, where the blood vessels lie. </a:t>
            </a:r>
          </a:p>
          <a:p>
            <a:endParaRPr lang="en-AU" dirty="0"/>
          </a:p>
          <a:p>
            <a:r>
              <a:rPr lang="en-AU" sz="1800" dirty="0" smtClean="0"/>
              <a:t>*so many renals (sigh) </a:t>
            </a:r>
            <a:endParaRPr lang="en-AU" sz="1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001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Nephrons </a:t>
            </a:r>
            <a:endParaRPr lang="en-AU" sz="6000" b="1" dirty="0"/>
          </a:p>
        </p:txBody>
      </p:sp>
      <p:sp>
        <p:nvSpPr>
          <p:cNvPr id="3" name="Content Placeholder 2"/>
          <p:cNvSpPr>
            <a:spLocks noGrp="1"/>
          </p:cNvSpPr>
          <p:nvPr>
            <p:ph idx="1"/>
          </p:nvPr>
        </p:nvSpPr>
        <p:spPr/>
        <p:txBody>
          <a:bodyPr/>
          <a:lstStyle/>
          <a:p>
            <a:r>
              <a:rPr lang="en-AU" dirty="0" smtClean="0"/>
              <a:t>The kidney is composed of a large number of structures called nephrons and collecting ducts. </a:t>
            </a:r>
          </a:p>
          <a:p>
            <a:endParaRPr lang="en-AU" dirty="0"/>
          </a:p>
          <a:p>
            <a:r>
              <a:rPr lang="en-AU" dirty="0" smtClean="0"/>
              <a:t>The nephron is the functional unit of the kidney, as it is where the urine is formed. There are about 1.2 million nephrons in each human kidney, and each is surrounded by a complex network of blood capillaries.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415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229826" y="193530"/>
            <a:ext cx="7688803" cy="647529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6081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 continued. </a:t>
            </a:r>
            <a:endParaRPr lang="en-AU" sz="6000" b="1" dirty="0"/>
          </a:p>
        </p:txBody>
      </p:sp>
      <p:sp>
        <p:nvSpPr>
          <p:cNvPr id="3" name="Content Placeholder 2"/>
          <p:cNvSpPr>
            <a:spLocks noGrp="1"/>
          </p:cNvSpPr>
          <p:nvPr>
            <p:ph idx="1"/>
          </p:nvPr>
        </p:nvSpPr>
        <p:spPr/>
        <p:txBody>
          <a:bodyPr/>
          <a:lstStyle/>
          <a:p>
            <a:r>
              <a:rPr lang="en-AU" dirty="0" smtClean="0"/>
              <a:t>Each nephron consists of a </a:t>
            </a:r>
            <a:r>
              <a:rPr lang="en-AU" b="1" dirty="0" smtClean="0"/>
              <a:t>renal corpuscle </a:t>
            </a:r>
            <a:r>
              <a:rPr lang="en-AU" dirty="0" smtClean="0"/>
              <a:t>and a </a:t>
            </a:r>
            <a:r>
              <a:rPr lang="en-AU" b="1" dirty="0" smtClean="0"/>
              <a:t>renal tubule</a:t>
            </a:r>
            <a:r>
              <a:rPr lang="en-AU" dirty="0" smtClean="0"/>
              <a:t>. </a:t>
            </a:r>
          </a:p>
          <a:p>
            <a:endParaRPr lang="en-AU" dirty="0"/>
          </a:p>
          <a:p>
            <a:r>
              <a:rPr lang="en-AU" dirty="0" smtClean="0"/>
              <a:t>The </a:t>
            </a:r>
            <a:r>
              <a:rPr lang="en-AU" b="1" dirty="0" smtClean="0"/>
              <a:t>renal corpuscle </a:t>
            </a:r>
            <a:r>
              <a:rPr lang="en-AU" dirty="0" smtClean="0"/>
              <a:t>consists of the </a:t>
            </a:r>
            <a:r>
              <a:rPr lang="en-AU" b="1" dirty="0" smtClean="0"/>
              <a:t>glomerulus</a:t>
            </a:r>
            <a:r>
              <a:rPr lang="en-AU" dirty="0" smtClean="0"/>
              <a:t> and the </a:t>
            </a:r>
            <a:r>
              <a:rPr lang="en-AU" b="1" dirty="0" smtClean="0"/>
              <a:t>glomerular capsule</a:t>
            </a:r>
            <a:r>
              <a:rPr lang="en-AU" dirty="0" smtClean="0"/>
              <a:t> (used to be called Bowman’s capsule) is the expanded end of the nephron. </a:t>
            </a:r>
          </a:p>
          <a:p>
            <a:endParaRPr lang="en-AU" dirty="0"/>
          </a:p>
          <a:p>
            <a:r>
              <a:rPr lang="en-AU" dirty="0" smtClean="0"/>
              <a:t>It looks like a double-walled cup that surrounds, and almost completely encloses, a knot of arterial capillaries called the </a:t>
            </a:r>
            <a:r>
              <a:rPr lang="en-AU" b="1" dirty="0" smtClean="0"/>
              <a:t>glomerulus</a:t>
            </a:r>
            <a:r>
              <a:rPr lang="en-AU" dirty="0" smtClean="0"/>
              <a: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326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 continued</a:t>
            </a:r>
            <a:endParaRPr lang="en-AU" sz="6000" b="1" dirty="0"/>
          </a:p>
        </p:txBody>
      </p:sp>
      <p:sp>
        <p:nvSpPr>
          <p:cNvPr id="3" name="Content Placeholder 2"/>
          <p:cNvSpPr>
            <a:spLocks noGrp="1"/>
          </p:cNvSpPr>
          <p:nvPr>
            <p:ph idx="1"/>
          </p:nvPr>
        </p:nvSpPr>
        <p:spPr/>
        <p:txBody>
          <a:bodyPr/>
          <a:lstStyle/>
          <a:p>
            <a:r>
              <a:rPr lang="en-AU" dirty="0" smtClean="0"/>
              <a:t>Leading away from the </a:t>
            </a:r>
            <a:r>
              <a:rPr lang="en-AU" b="1" dirty="0" smtClean="0"/>
              <a:t>glomerular capsule </a:t>
            </a:r>
            <a:r>
              <a:rPr lang="en-AU" dirty="0" smtClean="0"/>
              <a:t>is the </a:t>
            </a:r>
            <a:r>
              <a:rPr lang="en-AU" b="1" dirty="0" smtClean="0"/>
              <a:t>renal tubule</a:t>
            </a:r>
            <a:r>
              <a:rPr lang="en-AU" dirty="0" smtClean="0"/>
              <a:t>. It begins with a winding, or convoluted, section called the proximal convoluted, section called the </a:t>
            </a:r>
            <a:r>
              <a:rPr lang="en-AU" b="1" dirty="0" smtClean="0"/>
              <a:t>proximal convoluted tubule</a:t>
            </a:r>
            <a:r>
              <a:rPr lang="en-AU" dirty="0" smtClean="0"/>
              <a:t>. </a:t>
            </a:r>
          </a:p>
          <a:p>
            <a:endParaRPr lang="en-AU" dirty="0"/>
          </a:p>
          <a:p>
            <a:r>
              <a:rPr lang="en-AU" dirty="0" smtClean="0"/>
              <a:t>Beyond this, each tubule has a straight portion before it forms a loop, the </a:t>
            </a:r>
            <a:r>
              <a:rPr lang="en-AU" b="1" dirty="0" smtClean="0"/>
              <a:t>loop of Henle</a:t>
            </a:r>
            <a:r>
              <a:rPr lang="en-AU" dirty="0" smtClean="0"/>
              <a:t>. The loop of Henle is like a hairpin bend, with a straight section leading into the bend and another straight section leading away from the bend.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447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 continued </a:t>
            </a:r>
            <a:endParaRPr lang="en-AU" sz="6000" b="1" dirty="0"/>
          </a:p>
        </p:txBody>
      </p:sp>
      <p:sp>
        <p:nvSpPr>
          <p:cNvPr id="3" name="Content Placeholder 2"/>
          <p:cNvSpPr>
            <a:spLocks noGrp="1"/>
          </p:cNvSpPr>
          <p:nvPr>
            <p:ph idx="1"/>
          </p:nvPr>
        </p:nvSpPr>
        <p:spPr/>
        <p:txBody>
          <a:bodyPr/>
          <a:lstStyle/>
          <a:p>
            <a:r>
              <a:rPr lang="en-AU" dirty="0" smtClean="0"/>
              <a:t>The tubule then becomes convoluted and highly coiled again. This second coiled second is known as the </a:t>
            </a:r>
            <a:r>
              <a:rPr lang="en-AU" b="1" dirty="0" smtClean="0"/>
              <a:t>distal convoluted tubule</a:t>
            </a:r>
            <a:r>
              <a:rPr lang="en-AU" dirty="0" smtClean="0"/>
              <a:t>. This joins into a collecting duct that opens into a chamber in the kidney called the </a:t>
            </a:r>
            <a:r>
              <a:rPr lang="en-AU" b="1" dirty="0" smtClean="0"/>
              <a:t>renal pelvis</a:t>
            </a:r>
            <a:r>
              <a:rPr lang="en-AU" dirty="0" smtClean="0"/>
              <a:t>. </a:t>
            </a:r>
          </a:p>
          <a:p>
            <a:endParaRPr lang="en-AU" dirty="0"/>
          </a:p>
          <a:p>
            <a:r>
              <a:rPr lang="en-AU" dirty="0" smtClean="0"/>
              <a:t>The </a:t>
            </a:r>
            <a:r>
              <a:rPr lang="en-AU" b="1" dirty="0" smtClean="0"/>
              <a:t>renal pelvis </a:t>
            </a:r>
            <a:r>
              <a:rPr lang="en-AU" dirty="0" smtClean="0"/>
              <a:t>is shaped like a funnel and channels fluid from the collecting ducts into the </a:t>
            </a:r>
            <a:r>
              <a:rPr lang="en-AU" b="1" dirty="0" smtClean="0"/>
              <a:t>ureter</a:t>
            </a:r>
            <a:r>
              <a:rPr lang="en-AU" dirty="0" smtClean="0"/>
              <a: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4888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26758" y="136162"/>
            <a:ext cx="7190819" cy="656329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0905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65536" y="422627"/>
            <a:ext cx="11417384" cy="601710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9830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538446" y="163547"/>
            <a:ext cx="6736182" cy="653526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6073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Nephrons continued. </a:t>
            </a:r>
            <a:endParaRPr lang="en-AU" sz="6000" b="1" dirty="0"/>
          </a:p>
        </p:txBody>
      </p:sp>
      <p:sp>
        <p:nvSpPr>
          <p:cNvPr id="3" name="Content Placeholder 2"/>
          <p:cNvSpPr>
            <a:spLocks noGrp="1"/>
          </p:cNvSpPr>
          <p:nvPr>
            <p:ph idx="1"/>
          </p:nvPr>
        </p:nvSpPr>
        <p:spPr/>
        <p:txBody>
          <a:bodyPr/>
          <a:lstStyle/>
          <a:p>
            <a:r>
              <a:rPr lang="en-AU" dirty="0" smtClean="0"/>
              <a:t>The nephrons of the kidney are responsible for removing wastes from the blood and regulating blood composition. </a:t>
            </a:r>
          </a:p>
          <a:p>
            <a:endParaRPr lang="en-AU" dirty="0"/>
          </a:p>
          <a:p>
            <a:r>
              <a:rPr lang="en-AU" dirty="0" smtClean="0"/>
              <a:t>To be able to this, they are well supplied with blood vessels. Blood enters the kidney through the renal arteries. </a:t>
            </a:r>
          </a:p>
          <a:p>
            <a:endParaRPr lang="en-AU" dirty="0"/>
          </a:p>
          <a:p>
            <a:r>
              <a:rPr lang="en-AU" dirty="0" smtClean="0"/>
              <a:t>These arteries are quite large. They are able to pass 1.2 L of blood every minute.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0184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Nephrons continued. </a:t>
            </a:r>
            <a:endParaRPr lang="en-AU" sz="6000" b="1" dirty="0"/>
          </a:p>
        </p:txBody>
      </p:sp>
      <p:sp>
        <p:nvSpPr>
          <p:cNvPr id="3" name="Content Placeholder 2"/>
          <p:cNvSpPr>
            <a:spLocks noGrp="1"/>
          </p:cNvSpPr>
          <p:nvPr>
            <p:ph idx="1"/>
          </p:nvPr>
        </p:nvSpPr>
        <p:spPr/>
        <p:txBody>
          <a:bodyPr/>
          <a:lstStyle/>
          <a:p>
            <a:r>
              <a:rPr lang="en-AU" dirty="0" smtClean="0"/>
              <a:t>After entering the kidney, the renal artery divides into small arteries and arterioles. Each renal corpuscle is supplied by an afferent arteriole, which then forms a knot of capillaries called the glomerulus. </a:t>
            </a:r>
          </a:p>
          <a:p>
            <a:endParaRPr lang="en-AU" dirty="0"/>
          </a:p>
          <a:p>
            <a:r>
              <a:rPr lang="en-AU" dirty="0" smtClean="0"/>
              <a:t>The glomerulus is located within the glomerular capsule. The capillaries unite to form another arteriole called the efferent arteriole, which passes out of the renal corpuscle.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6277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Nephrons continued </a:t>
            </a:r>
            <a:endParaRPr lang="en-AU" sz="6000" b="1" dirty="0"/>
          </a:p>
        </p:txBody>
      </p:sp>
      <p:sp>
        <p:nvSpPr>
          <p:cNvPr id="3" name="Content Placeholder 2"/>
          <p:cNvSpPr>
            <a:spLocks noGrp="1"/>
          </p:cNvSpPr>
          <p:nvPr>
            <p:ph idx="1"/>
          </p:nvPr>
        </p:nvSpPr>
        <p:spPr/>
        <p:txBody>
          <a:bodyPr/>
          <a:lstStyle/>
          <a:p>
            <a:r>
              <a:rPr lang="en-AU" dirty="0" smtClean="0"/>
              <a:t>After leaving the renal corpuscle, the efferent arteriole breaks up into a second capillary network. These capillaries surround the proximal and distal convoluted tubules of the nephron, the ascending and descending limbs of the loop of Henle, and the collecting duct. </a:t>
            </a:r>
          </a:p>
          <a:p>
            <a:endParaRPr lang="en-AU" dirty="0"/>
          </a:p>
          <a:p>
            <a:r>
              <a:rPr lang="en-AU" dirty="0" smtClean="0"/>
              <a:t>They are known as peritubular capillaries. Venous blood drains away from this network of capillaries and eventually leaves the kidney in the renal vein.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5618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Key Concept </a:t>
            </a:r>
            <a:endParaRPr lang="en-AU" sz="6000" b="1" dirty="0"/>
          </a:p>
        </p:txBody>
      </p:sp>
      <p:sp>
        <p:nvSpPr>
          <p:cNvPr id="3" name="Content Placeholder 2"/>
          <p:cNvSpPr>
            <a:spLocks noGrp="1"/>
          </p:cNvSpPr>
          <p:nvPr>
            <p:ph idx="1"/>
          </p:nvPr>
        </p:nvSpPr>
        <p:spPr/>
        <p:txBody>
          <a:bodyPr/>
          <a:lstStyle/>
          <a:p>
            <a:r>
              <a:rPr lang="en-AU" dirty="0" smtClean="0"/>
              <a:t>Blood enters the nephron through the afferent arteriole. </a:t>
            </a:r>
          </a:p>
          <a:p>
            <a:endParaRPr lang="en-AU" dirty="0"/>
          </a:p>
          <a:p>
            <a:r>
              <a:rPr lang="en-AU" dirty="0" smtClean="0"/>
              <a:t>It is filtered in the glomerulus, a network of capillaries </a:t>
            </a:r>
          </a:p>
          <a:p>
            <a:endParaRPr lang="en-AU" dirty="0"/>
          </a:p>
          <a:p>
            <a:r>
              <a:rPr lang="en-AU" dirty="0" smtClean="0"/>
              <a:t>It then exits </a:t>
            </a:r>
            <a:r>
              <a:rPr lang="en-AU" dirty="0"/>
              <a:t>v</a:t>
            </a:r>
            <a:r>
              <a:rPr lang="en-AU" dirty="0" smtClean="0"/>
              <a:t>ia the efferent arteriole.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64448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Production of Urine </a:t>
            </a:r>
            <a:endParaRPr lang="en-AU" sz="6000" b="1" dirty="0"/>
          </a:p>
        </p:txBody>
      </p:sp>
      <p:sp>
        <p:nvSpPr>
          <p:cNvPr id="3" name="Content Placeholder 2"/>
          <p:cNvSpPr>
            <a:spLocks noGrp="1"/>
          </p:cNvSpPr>
          <p:nvPr>
            <p:ph idx="1"/>
          </p:nvPr>
        </p:nvSpPr>
        <p:spPr/>
        <p:txBody>
          <a:bodyPr>
            <a:normAutofit/>
          </a:bodyPr>
          <a:lstStyle/>
          <a:p>
            <a:r>
              <a:rPr lang="en-AU" dirty="0" smtClean="0"/>
              <a:t>Involves three major processes </a:t>
            </a:r>
          </a:p>
          <a:p>
            <a:pPr lvl="1"/>
            <a:r>
              <a:rPr lang="en-AU" sz="2800" dirty="0" smtClean="0"/>
              <a:t>Glomerular filtration </a:t>
            </a:r>
          </a:p>
          <a:p>
            <a:pPr lvl="1"/>
            <a:r>
              <a:rPr lang="en-AU" sz="2800" dirty="0" smtClean="0"/>
              <a:t>Selective reabsorption </a:t>
            </a:r>
          </a:p>
          <a:p>
            <a:pPr lvl="1"/>
            <a:r>
              <a:rPr lang="en-AU" sz="2800" dirty="0" smtClean="0"/>
              <a:t>Secretion by the tubules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3644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Glomerular Filtration </a:t>
            </a:r>
            <a:endParaRPr lang="en-AU" sz="6000" b="1" dirty="0"/>
          </a:p>
        </p:txBody>
      </p:sp>
      <p:sp>
        <p:nvSpPr>
          <p:cNvPr id="3" name="Content Placeholder 2"/>
          <p:cNvSpPr>
            <a:spLocks noGrp="1"/>
          </p:cNvSpPr>
          <p:nvPr>
            <p:ph idx="1"/>
          </p:nvPr>
        </p:nvSpPr>
        <p:spPr/>
        <p:txBody>
          <a:bodyPr/>
          <a:lstStyle/>
          <a:p>
            <a:r>
              <a:rPr lang="en-AU" dirty="0" smtClean="0"/>
              <a:t>Takes place in the renal corpuscle when fluid is forced out of the blood and collected by the glomerular capsule. </a:t>
            </a:r>
          </a:p>
          <a:p>
            <a:endParaRPr lang="en-AU" dirty="0"/>
          </a:p>
          <a:p>
            <a:r>
              <a:rPr lang="en-AU" dirty="0" smtClean="0"/>
              <a:t>The blood in the capillaries in the glomerulus is separated from the cavity of the capsule by only two single layers of thin, flat cells. One layer makes up the capillary wall and the other makes up the capsule wall.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92378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Glomerular Filtration </a:t>
            </a:r>
            <a:endParaRPr lang="en-AU" sz="6000" dirty="0"/>
          </a:p>
        </p:txBody>
      </p:sp>
      <p:sp>
        <p:nvSpPr>
          <p:cNvPr id="3" name="Content Placeholder 2"/>
          <p:cNvSpPr>
            <a:spLocks noGrp="1"/>
          </p:cNvSpPr>
          <p:nvPr>
            <p:ph idx="1"/>
          </p:nvPr>
        </p:nvSpPr>
        <p:spPr/>
        <p:txBody>
          <a:bodyPr/>
          <a:lstStyle/>
          <a:p>
            <a:r>
              <a:rPr lang="en-AU" dirty="0" smtClean="0"/>
              <a:t>When blood enters the glomerulus, the high pressure forces water and dissolved blood components through the differentially permeable cell membranes and into the capsule. The resultant fluid is termed the filtrate. </a:t>
            </a:r>
          </a:p>
          <a:p>
            <a:endParaRPr lang="en-AU" dirty="0"/>
          </a:p>
          <a:p>
            <a:r>
              <a:rPr lang="en-AU" dirty="0" smtClean="0"/>
              <a:t>Filtrate consists of all the materials (e.g. water, salts, amino acids, glucose, area, uric acids etc.) present in blood except red and white blood cells and plasma proteins (too big to pass through the membrane).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8844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Glomerular Filtration </a:t>
            </a:r>
            <a:endParaRPr lang="en-AU" sz="6000" dirty="0"/>
          </a:p>
        </p:txBody>
      </p:sp>
      <p:sp>
        <p:nvSpPr>
          <p:cNvPr id="3" name="Content Placeholder 2"/>
          <p:cNvSpPr>
            <a:spLocks noGrp="1"/>
          </p:cNvSpPr>
          <p:nvPr>
            <p:ph idx="1"/>
          </p:nvPr>
        </p:nvSpPr>
        <p:spPr/>
        <p:txBody>
          <a:bodyPr/>
          <a:lstStyle/>
          <a:p>
            <a:r>
              <a:rPr lang="en-AU" dirty="0" smtClean="0"/>
              <a:t>As blood flows through the glomerulus, 20% of the plasma is filtered through the capillary walls into the glomerular capsule. Complete filtration of all the plasma cannot take place as the blood is continually moving. </a:t>
            </a:r>
          </a:p>
          <a:p>
            <a:endParaRPr lang="en-AU" dirty="0"/>
          </a:p>
          <a:p>
            <a:r>
              <a:rPr lang="en-AU" dirty="0" smtClean="0"/>
              <a:t>Around 180 L of filtrate is passed every day, with only about 1% actually leaving the body as urine. Most is reabsorbed back into the blood.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0387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Reabsorption </a:t>
            </a:r>
            <a:endParaRPr lang="en-AU" sz="6000" b="1" dirty="0"/>
          </a:p>
        </p:txBody>
      </p:sp>
      <p:sp>
        <p:nvSpPr>
          <p:cNvPr id="3" name="Content Placeholder 2"/>
          <p:cNvSpPr>
            <a:spLocks noGrp="1"/>
          </p:cNvSpPr>
          <p:nvPr>
            <p:ph idx="1"/>
          </p:nvPr>
        </p:nvSpPr>
        <p:spPr/>
        <p:txBody>
          <a:bodyPr/>
          <a:lstStyle/>
          <a:p>
            <a:r>
              <a:rPr lang="en-AU" dirty="0" smtClean="0"/>
              <a:t>Many of the components of the plasma that are filtered from the capillaries of the glomerulus are of use to the body</a:t>
            </a:r>
          </a:p>
          <a:p>
            <a:endParaRPr lang="en-AU" dirty="0"/>
          </a:p>
          <a:p>
            <a:r>
              <a:rPr lang="en-AU" dirty="0" smtClean="0"/>
              <a:t>Some selective reabsorption of the filtrate must take place, returning them to the blood in the peritubular capillaries. Materials that are reabsorbed include water, glucose, amino acids, sodium ions, calcium ions etc.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1839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Reabsorption continued. </a:t>
            </a:r>
            <a:endParaRPr lang="en-AU" sz="6000" b="1" dirty="0"/>
          </a:p>
        </p:txBody>
      </p:sp>
      <p:sp>
        <p:nvSpPr>
          <p:cNvPr id="3" name="Content Placeholder 2"/>
          <p:cNvSpPr>
            <a:spLocks noGrp="1"/>
          </p:cNvSpPr>
          <p:nvPr>
            <p:ph idx="1"/>
          </p:nvPr>
        </p:nvSpPr>
        <p:spPr/>
        <p:txBody>
          <a:bodyPr/>
          <a:lstStyle/>
          <a:p>
            <a:r>
              <a:rPr lang="en-AU" dirty="0" smtClean="0"/>
              <a:t>Surface area is important here. </a:t>
            </a:r>
          </a:p>
          <a:p>
            <a:endParaRPr lang="en-AU" dirty="0"/>
          </a:p>
          <a:p>
            <a:r>
              <a:rPr lang="en-AU" dirty="0" smtClean="0"/>
              <a:t>Effective reabsorption of materials is achieved by the long length of the kidney tubule and by the huge numbers of nephrons in each kidney. </a:t>
            </a:r>
          </a:p>
          <a:p>
            <a:endParaRPr lang="en-AU" dirty="0"/>
          </a:p>
          <a:p>
            <a:r>
              <a:rPr lang="en-AU" dirty="0" smtClean="0"/>
              <a:t>Reabsorption of the water in the filtrate can be regulated. This is an active process, under hormonal control.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348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929030" y="196865"/>
            <a:ext cx="6290396" cy="646862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737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Tubular Secretion </a:t>
            </a:r>
            <a:endParaRPr lang="en-AU" sz="6000" b="1" dirty="0"/>
          </a:p>
        </p:txBody>
      </p:sp>
      <p:sp>
        <p:nvSpPr>
          <p:cNvPr id="3" name="Content Placeholder 2"/>
          <p:cNvSpPr>
            <a:spLocks noGrp="1"/>
          </p:cNvSpPr>
          <p:nvPr>
            <p:ph idx="1"/>
          </p:nvPr>
        </p:nvSpPr>
        <p:spPr/>
        <p:txBody>
          <a:bodyPr/>
          <a:lstStyle/>
          <a:p>
            <a:r>
              <a:rPr lang="en-AU" dirty="0" smtClean="0"/>
              <a:t>Whereas selective reabsorption removes substances from the filtrate into the blood tubular secretion adds materials to the filtrate from the blood. </a:t>
            </a:r>
          </a:p>
          <a:p>
            <a:endParaRPr lang="en-AU" dirty="0"/>
          </a:p>
          <a:p>
            <a:r>
              <a:rPr lang="en-AU" dirty="0" smtClean="0"/>
              <a:t>Materials secreted in this way include potassium and hydrogen ions, creatinine, and drugs such as penicillin.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59434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Tubular Secretion continued.  </a:t>
            </a:r>
            <a:endParaRPr lang="en-AU" sz="6000" b="1" dirty="0"/>
          </a:p>
        </p:txBody>
      </p:sp>
      <p:sp>
        <p:nvSpPr>
          <p:cNvPr id="3" name="Content Placeholder 2"/>
          <p:cNvSpPr>
            <a:spLocks noGrp="1"/>
          </p:cNvSpPr>
          <p:nvPr>
            <p:ph idx="1"/>
          </p:nvPr>
        </p:nvSpPr>
        <p:spPr/>
        <p:txBody>
          <a:bodyPr/>
          <a:lstStyle/>
          <a:p>
            <a:r>
              <a:rPr lang="en-AU" dirty="0" smtClean="0"/>
              <a:t>Tubular secretion can be either active or passive, and has two main effects </a:t>
            </a:r>
          </a:p>
          <a:p>
            <a:pPr lvl="1"/>
            <a:r>
              <a:rPr lang="en-AU" sz="2800" dirty="0" smtClean="0"/>
              <a:t>It maintains the blood pH. The body needs to maintain the blood within its normal pH range of 7.4-7.5. Our diet usually contains many acid-producing food that tend to lower pH; therefore, the kidneys must remove the excess hydrogen and ammonium ions. </a:t>
            </a:r>
          </a:p>
          <a:p>
            <a:pPr lvl="1"/>
            <a:r>
              <a:rPr lang="en-AU" sz="2800" dirty="0" smtClean="0"/>
              <a:t>It maintains the urine pH. The presence of hydrogen and ammonium ions in the urine makes the urine slightly acidic, with a normal pH of 6. </a:t>
            </a:r>
            <a:endParaRPr lang="en-AU" sz="28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3618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Tubular Secretion continued. </a:t>
            </a:r>
            <a:endParaRPr lang="en-AU" sz="6000" b="1" dirty="0"/>
          </a:p>
        </p:txBody>
      </p:sp>
      <p:sp>
        <p:nvSpPr>
          <p:cNvPr id="3" name="Content Placeholder 2"/>
          <p:cNvSpPr>
            <a:spLocks noGrp="1"/>
          </p:cNvSpPr>
          <p:nvPr>
            <p:ph idx="1"/>
          </p:nvPr>
        </p:nvSpPr>
        <p:spPr/>
        <p:txBody>
          <a:bodyPr/>
          <a:lstStyle/>
          <a:p>
            <a:r>
              <a:rPr lang="en-AU" dirty="0" smtClean="0"/>
              <a:t>Water and other substances not reabsorbed drain from the collecting ducts into the renal pelvis. </a:t>
            </a:r>
          </a:p>
          <a:p>
            <a:endParaRPr lang="en-AU" dirty="0"/>
          </a:p>
          <a:p>
            <a:r>
              <a:rPr lang="en-AU" dirty="0" smtClean="0"/>
              <a:t>From the pelvis, the urine, drains into the ureters and is pushed by waves of muscle contraction to the urinary bladder where it is stored. </a:t>
            </a:r>
          </a:p>
          <a:p>
            <a:endParaRPr lang="en-AU" dirty="0"/>
          </a:p>
          <a:p>
            <a:r>
              <a:rPr lang="en-AU" dirty="0" smtClean="0"/>
              <a:t>They extend 25-30cm to the urinary bladder. The bladder is a hollow muscular organ from which the urethra exits. The urethra carries urine from the bladder to the exterior of the body.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0456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581388" y="223675"/>
            <a:ext cx="8985679" cy="6415004"/>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89392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 y="69669"/>
            <a:ext cx="10515600" cy="1325563"/>
          </a:xfrm>
        </p:spPr>
        <p:txBody>
          <a:bodyPr>
            <a:normAutofit/>
          </a:bodyPr>
          <a:lstStyle/>
          <a:p>
            <a:r>
              <a:rPr lang="en-AU" sz="6000" b="1" dirty="0" smtClean="0"/>
              <a:t>Tubular Secretion continued. </a:t>
            </a:r>
            <a:endParaRPr lang="en-AU" sz="6000" b="1" dirty="0"/>
          </a:p>
        </p:txBody>
      </p:sp>
      <p:sp>
        <p:nvSpPr>
          <p:cNvPr id="3" name="Content Placeholder 2"/>
          <p:cNvSpPr>
            <a:spLocks noGrp="1"/>
          </p:cNvSpPr>
          <p:nvPr>
            <p:ph idx="1"/>
          </p:nvPr>
        </p:nvSpPr>
        <p:spPr>
          <a:xfrm>
            <a:off x="185057" y="1255508"/>
            <a:ext cx="11783786" cy="5422878"/>
          </a:xfrm>
        </p:spPr>
        <p:txBody>
          <a:bodyPr/>
          <a:lstStyle/>
          <a:p>
            <a:r>
              <a:rPr lang="en-AU" dirty="0" smtClean="0"/>
              <a:t>The formation if urine is maximised by the structure of the kidney, particularly the nephron, as follows </a:t>
            </a:r>
          </a:p>
          <a:p>
            <a:pPr lvl="1"/>
            <a:r>
              <a:rPr lang="en-AU" dirty="0" smtClean="0"/>
              <a:t>The glomerular capsule surrounds the glomerulus to collect the fluid filtered out of the blood capillaries </a:t>
            </a:r>
          </a:p>
          <a:p>
            <a:pPr lvl="1"/>
            <a:r>
              <a:rPr lang="en-AU" dirty="0" smtClean="0"/>
              <a:t>There are only two cells for the filtrate to pass through from the blood, one cell from the capillary wall and the other from the capsule wall </a:t>
            </a:r>
          </a:p>
          <a:p>
            <a:pPr lvl="1"/>
            <a:r>
              <a:rPr lang="en-AU" dirty="0" smtClean="0"/>
              <a:t>A large volume of blood passes through each kidney maintaining the concentration gradient </a:t>
            </a:r>
          </a:p>
          <a:p>
            <a:pPr lvl="1"/>
            <a:r>
              <a:rPr lang="en-AU" dirty="0" smtClean="0"/>
              <a:t>Efferent arteriole leading out of the glomerulus has a smaller diameter than the afferent arteriole leading in, raising the blood pressure so more fluid is filtered out of the blood </a:t>
            </a:r>
          </a:p>
          <a:p>
            <a:pPr lvl="1"/>
            <a:r>
              <a:rPr lang="en-AU" dirty="0" smtClean="0"/>
              <a:t>Each tubule has a large surface area for reabsorption and secretion due to each tubule having two sets of convolutions and a long loop </a:t>
            </a:r>
          </a:p>
          <a:p>
            <a:pPr lvl="1"/>
            <a:r>
              <a:rPr lang="en-AU" dirty="0" smtClean="0"/>
              <a:t>Each kidney has over a million nephrons, so the total surface are available for reabsorption and secretion is extremely large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662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641884380"/>
              </p:ext>
            </p:extLst>
          </p:nvPr>
        </p:nvGraphicFramePr>
        <p:xfrm>
          <a:off x="239485" y="354571"/>
          <a:ext cx="11669486" cy="6342333"/>
        </p:xfrm>
        <a:graphic>
          <a:graphicData uri="http://schemas.openxmlformats.org/drawingml/2006/table">
            <a:tbl>
              <a:tblPr firstRow="1" bandRow="1">
                <a:tableStyleId>{5C22544A-7EE6-4342-B048-85BDC9FD1C3A}</a:tableStyleId>
              </a:tblPr>
              <a:tblGrid>
                <a:gridCol w="4332515">
                  <a:extLst>
                    <a:ext uri="{9D8B030D-6E8A-4147-A177-3AD203B41FA5}">
                      <a16:colId xmlns:a16="http://schemas.microsoft.com/office/drawing/2014/main" val="4133308009"/>
                    </a:ext>
                  </a:extLst>
                </a:gridCol>
                <a:gridCol w="7336971">
                  <a:extLst>
                    <a:ext uri="{9D8B030D-6E8A-4147-A177-3AD203B41FA5}">
                      <a16:colId xmlns:a16="http://schemas.microsoft.com/office/drawing/2014/main" val="2446281941"/>
                    </a:ext>
                  </a:extLst>
                </a:gridCol>
              </a:tblGrid>
              <a:tr h="669858">
                <a:tc>
                  <a:txBody>
                    <a:bodyPr/>
                    <a:lstStyle/>
                    <a:p>
                      <a:pPr algn="ctr"/>
                      <a:r>
                        <a:rPr lang="en-AU" sz="2800" dirty="0" smtClean="0">
                          <a:solidFill>
                            <a:schemeClr val="tx1"/>
                          </a:solidFill>
                        </a:rPr>
                        <a:t>Region of</a:t>
                      </a:r>
                      <a:r>
                        <a:rPr lang="en-AU" sz="2800" baseline="0" dirty="0" smtClean="0">
                          <a:solidFill>
                            <a:schemeClr val="tx1"/>
                          </a:solidFill>
                        </a:rPr>
                        <a:t> Nephron </a:t>
                      </a:r>
                      <a:endParaRPr lang="en-AU" sz="28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AU" sz="2800" dirty="0" smtClean="0">
                          <a:solidFill>
                            <a:schemeClr val="tx1"/>
                          </a:solidFill>
                        </a:rPr>
                        <a:t>Activities taking place </a:t>
                      </a:r>
                      <a:endParaRPr lang="en-AU" sz="28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349015104"/>
                  </a:ext>
                </a:extLst>
              </a:tr>
              <a:tr h="1260889">
                <a:tc>
                  <a:txBody>
                    <a:bodyPr/>
                    <a:lstStyle/>
                    <a:p>
                      <a:pPr algn="ctr"/>
                      <a:r>
                        <a:rPr lang="en-AU" sz="2400" dirty="0" smtClean="0">
                          <a:solidFill>
                            <a:schemeClr val="tx1"/>
                          </a:solidFill>
                        </a:rPr>
                        <a:t>Renal corpuscle </a:t>
                      </a:r>
                      <a:endParaRPr lang="en-AU" sz="24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en-AU" sz="2400" dirty="0" smtClean="0">
                          <a:solidFill>
                            <a:schemeClr val="tx1"/>
                          </a:solidFill>
                        </a:rPr>
                        <a:t>Filtration of blood from capillaries of glomerulus </a:t>
                      </a:r>
                    </a:p>
                    <a:p>
                      <a:pPr algn="l"/>
                      <a:r>
                        <a:rPr lang="en-AU" sz="2400" dirty="0" smtClean="0">
                          <a:solidFill>
                            <a:schemeClr val="tx1"/>
                          </a:solidFill>
                        </a:rPr>
                        <a:t>Formation of filtrate in the glomerular capsule </a:t>
                      </a:r>
                      <a:endParaRPr lang="en-AU" sz="24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10672"/>
                  </a:ext>
                </a:extLst>
              </a:tr>
              <a:tr h="1596217">
                <a:tc>
                  <a:txBody>
                    <a:bodyPr/>
                    <a:lstStyle/>
                    <a:p>
                      <a:pPr algn="ctr"/>
                      <a:r>
                        <a:rPr lang="en-AU" sz="2400" dirty="0" smtClean="0">
                          <a:solidFill>
                            <a:schemeClr val="tx1"/>
                          </a:solidFill>
                        </a:rPr>
                        <a:t>Proximal convoluted tubule and loop</a:t>
                      </a:r>
                      <a:r>
                        <a:rPr lang="en-AU" sz="2400" baseline="0" dirty="0" smtClean="0">
                          <a:solidFill>
                            <a:schemeClr val="tx1"/>
                          </a:solidFill>
                        </a:rPr>
                        <a:t> of Henle </a:t>
                      </a:r>
                      <a:endParaRPr lang="en-AU" sz="24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en-AU" sz="2400" dirty="0" smtClean="0">
                          <a:solidFill>
                            <a:schemeClr val="tx1"/>
                          </a:solidFill>
                        </a:rPr>
                        <a:t>Passive reabsorption of potassium, chloride and bicarbonate ions</a:t>
                      </a:r>
                      <a:r>
                        <a:rPr lang="en-AU" sz="2400" baseline="0" dirty="0" smtClean="0">
                          <a:solidFill>
                            <a:schemeClr val="tx1"/>
                          </a:solidFill>
                        </a:rPr>
                        <a:t> </a:t>
                      </a:r>
                    </a:p>
                    <a:p>
                      <a:pPr algn="l"/>
                      <a:r>
                        <a:rPr lang="en-AU" sz="2400" baseline="0" dirty="0" smtClean="0">
                          <a:solidFill>
                            <a:schemeClr val="tx1"/>
                          </a:solidFill>
                        </a:rPr>
                        <a:t>Active reabsorption of glucose and sodium </a:t>
                      </a:r>
                    </a:p>
                    <a:p>
                      <a:pPr algn="l"/>
                      <a:r>
                        <a:rPr lang="en-AU" sz="2400" baseline="0" dirty="0" smtClean="0">
                          <a:solidFill>
                            <a:schemeClr val="tx1"/>
                          </a:solidFill>
                        </a:rPr>
                        <a:t>Passive reabsorption of water by osmosis </a:t>
                      </a:r>
                      <a:endParaRPr lang="en-AU" sz="24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2694625"/>
                  </a:ext>
                </a:extLst>
              </a:tr>
              <a:tr h="1362269">
                <a:tc>
                  <a:txBody>
                    <a:bodyPr/>
                    <a:lstStyle/>
                    <a:p>
                      <a:pPr algn="ctr"/>
                      <a:r>
                        <a:rPr lang="en-AU" sz="2400" dirty="0" smtClean="0">
                          <a:solidFill>
                            <a:schemeClr val="tx1"/>
                          </a:solidFill>
                        </a:rPr>
                        <a:t>Distal convoluted tubule </a:t>
                      </a:r>
                      <a:endParaRPr lang="en-AU" sz="24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en-AU" sz="2400" dirty="0" smtClean="0">
                          <a:solidFill>
                            <a:schemeClr val="tx1"/>
                          </a:solidFill>
                        </a:rPr>
                        <a:t>Active reabsorption of sodium ions</a:t>
                      </a:r>
                      <a:r>
                        <a:rPr lang="en-AU" sz="2400" baseline="0" dirty="0" smtClean="0">
                          <a:solidFill>
                            <a:schemeClr val="tx1"/>
                          </a:solidFill>
                        </a:rPr>
                        <a:t> </a:t>
                      </a:r>
                    </a:p>
                    <a:p>
                      <a:pPr algn="l"/>
                      <a:r>
                        <a:rPr lang="en-AU" sz="2400" baseline="0" dirty="0" smtClean="0">
                          <a:solidFill>
                            <a:schemeClr val="tx1"/>
                          </a:solidFill>
                        </a:rPr>
                        <a:t>Active reabsorption of water, depending on its needs </a:t>
                      </a:r>
                    </a:p>
                    <a:p>
                      <a:pPr algn="l"/>
                      <a:r>
                        <a:rPr lang="en-AU" sz="2400" baseline="0" dirty="0" smtClean="0">
                          <a:solidFill>
                            <a:schemeClr val="tx1"/>
                          </a:solidFill>
                        </a:rPr>
                        <a:t>Secretion of hydrogen and potassium ions, creatinine and certain drugs such as penicillin </a:t>
                      </a:r>
                      <a:endParaRPr lang="en-AU" sz="24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486948"/>
                  </a:ext>
                </a:extLst>
              </a:tr>
              <a:tr h="1260889">
                <a:tc>
                  <a:txBody>
                    <a:bodyPr/>
                    <a:lstStyle/>
                    <a:p>
                      <a:pPr algn="ctr"/>
                      <a:r>
                        <a:rPr lang="en-AU" sz="2400" dirty="0" smtClean="0">
                          <a:solidFill>
                            <a:schemeClr val="tx1"/>
                          </a:solidFill>
                        </a:rPr>
                        <a:t>Collecting duct </a:t>
                      </a:r>
                      <a:endParaRPr lang="en-AU" sz="24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l"/>
                      <a:r>
                        <a:rPr lang="en-AU" sz="2400" dirty="0" smtClean="0">
                          <a:solidFill>
                            <a:schemeClr val="tx1"/>
                          </a:solidFill>
                        </a:rPr>
                        <a:t>Active reabsorption of water, depending</a:t>
                      </a:r>
                      <a:r>
                        <a:rPr lang="en-AU" sz="2400" baseline="0" dirty="0" smtClean="0">
                          <a:solidFill>
                            <a:schemeClr val="tx1"/>
                          </a:solidFill>
                        </a:rPr>
                        <a:t> on the body’s water needs </a:t>
                      </a:r>
                      <a:endParaRPr lang="en-AU" sz="2400" dirty="0">
                        <a:solidFill>
                          <a:schemeClr val="tx1"/>
                        </a:solidFill>
                      </a:endParaRP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1725487"/>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5024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Composition of Urine </a:t>
            </a:r>
            <a:endParaRPr lang="en-AU" sz="6000"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05184474"/>
              </p:ext>
            </p:extLst>
          </p:nvPr>
        </p:nvGraphicFramePr>
        <p:xfrm>
          <a:off x="297023" y="1589898"/>
          <a:ext cx="11590176" cy="5053496"/>
        </p:xfrm>
        <a:graphic>
          <a:graphicData uri="http://schemas.openxmlformats.org/drawingml/2006/table">
            <a:tbl>
              <a:tblPr firstRow="1" bandRow="1">
                <a:tableStyleId>{5C22544A-7EE6-4342-B048-85BDC9FD1C3A}</a:tableStyleId>
              </a:tblPr>
              <a:tblGrid>
                <a:gridCol w="3595708">
                  <a:extLst>
                    <a:ext uri="{9D8B030D-6E8A-4147-A177-3AD203B41FA5}">
                      <a16:colId xmlns:a16="http://schemas.microsoft.com/office/drawing/2014/main" val="2829509996"/>
                    </a:ext>
                  </a:extLst>
                </a:gridCol>
                <a:gridCol w="2516778">
                  <a:extLst>
                    <a:ext uri="{9D8B030D-6E8A-4147-A177-3AD203B41FA5}">
                      <a16:colId xmlns:a16="http://schemas.microsoft.com/office/drawing/2014/main" val="1805787075"/>
                    </a:ext>
                  </a:extLst>
                </a:gridCol>
                <a:gridCol w="2987040">
                  <a:extLst>
                    <a:ext uri="{9D8B030D-6E8A-4147-A177-3AD203B41FA5}">
                      <a16:colId xmlns:a16="http://schemas.microsoft.com/office/drawing/2014/main" val="1230902075"/>
                    </a:ext>
                  </a:extLst>
                </a:gridCol>
                <a:gridCol w="2490650">
                  <a:extLst>
                    <a:ext uri="{9D8B030D-6E8A-4147-A177-3AD203B41FA5}">
                      <a16:colId xmlns:a16="http://schemas.microsoft.com/office/drawing/2014/main" val="1592579356"/>
                    </a:ext>
                  </a:extLst>
                </a:gridCol>
              </a:tblGrid>
              <a:tr h="631687">
                <a:tc>
                  <a:txBody>
                    <a:bodyPr/>
                    <a:lstStyle/>
                    <a:p>
                      <a:pPr algn="ctr"/>
                      <a:r>
                        <a:rPr lang="en-AU" sz="2000" dirty="0" smtClean="0">
                          <a:solidFill>
                            <a:schemeClr val="tx1"/>
                          </a:solidFill>
                        </a:rPr>
                        <a:t>Chemical Component</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AU" sz="2000" dirty="0" smtClean="0">
                          <a:solidFill>
                            <a:schemeClr val="tx1"/>
                          </a:solidFill>
                        </a:rPr>
                        <a:t>Filtrate</a:t>
                      </a:r>
                      <a:r>
                        <a:rPr lang="en-AU" sz="2000" baseline="0" dirty="0" smtClean="0">
                          <a:solidFill>
                            <a:schemeClr val="tx1"/>
                          </a:solidFill>
                        </a:rPr>
                        <a:t>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AU" sz="2000" dirty="0" smtClean="0">
                          <a:solidFill>
                            <a:schemeClr val="tx1"/>
                          </a:solidFill>
                        </a:rPr>
                        <a:t>Reabsorbed Substances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en-AU" sz="2000" dirty="0" smtClean="0">
                          <a:solidFill>
                            <a:schemeClr val="tx1"/>
                          </a:solidFill>
                        </a:rPr>
                        <a:t>Urine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09977029"/>
                  </a:ext>
                </a:extLst>
              </a:tr>
              <a:tr h="631687">
                <a:tc>
                  <a:txBody>
                    <a:bodyPr/>
                    <a:lstStyle/>
                    <a:p>
                      <a:pPr algn="ctr"/>
                      <a:r>
                        <a:rPr lang="en-AU" sz="2000" dirty="0" smtClean="0">
                          <a:solidFill>
                            <a:schemeClr val="tx1"/>
                          </a:solidFill>
                        </a:rPr>
                        <a:t>Water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180 L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178-9 L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1-2 L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469423"/>
                  </a:ext>
                </a:extLst>
              </a:tr>
              <a:tr h="631687">
                <a:tc>
                  <a:txBody>
                    <a:bodyPr/>
                    <a:lstStyle/>
                    <a:p>
                      <a:pPr algn="ctr"/>
                      <a:r>
                        <a:rPr lang="en-AU" sz="2000" dirty="0" smtClean="0">
                          <a:solidFill>
                            <a:schemeClr val="tx1"/>
                          </a:solidFill>
                        </a:rPr>
                        <a:t>Sodium, chloride and other ions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1500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1485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15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7882968"/>
                  </a:ext>
                </a:extLst>
              </a:tr>
              <a:tr h="631687">
                <a:tc>
                  <a:txBody>
                    <a:bodyPr/>
                    <a:lstStyle/>
                    <a:p>
                      <a:pPr algn="ctr"/>
                      <a:r>
                        <a:rPr lang="en-AU" sz="2000" dirty="0" smtClean="0">
                          <a:solidFill>
                            <a:schemeClr val="tx1"/>
                          </a:solidFill>
                        </a:rPr>
                        <a:t>Proteins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2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1.9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0.1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9628095"/>
                  </a:ext>
                </a:extLst>
              </a:tr>
              <a:tr h="631687">
                <a:tc>
                  <a:txBody>
                    <a:bodyPr/>
                    <a:lstStyle/>
                    <a:p>
                      <a:pPr algn="ctr"/>
                      <a:r>
                        <a:rPr lang="en-AU" sz="2000" dirty="0" smtClean="0">
                          <a:solidFill>
                            <a:schemeClr val="tx1"/>
                          </a:solidFill>
                        </a:rPr>
                        <a:t>Glucose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180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180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0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9166903"/>
                  </a:ext>
                </a:extLst>
              </a:tr>
              <a:tr h="631687">
                <a:tc>
                  <a:txBody>
                    <a:bodyPr/>
                    <a:lstStyle/>
                    <a:p>
                      <a:pPr algn="ctr"/>
                      <a:r>
                        <a:rPr lang="en-AU" sz="2000" dirty="0" smtClean="0">
                          <a:solidFill>
                            <a:schemeClr val="tx1"/>
                          </a:solidFill>
                        </a:rPr>
                        <a:t>Urea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53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28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25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94986716"/>
                  </a:ext>
                </a:extLst>
              </a:tr>
              <a:tr h="631687">
                <a:tc>
                  <a:txBody>
                    <a:bodyPr/>
                    <a:lstStyle/>
                    <a:p>
                      <a:pPr algn="ctr"/>
                      <a:r>
                        <a:rPr lang="en-AU" sz="2000" dirty="0" smtClean="0">
                          <a:solidFill>
                            <a:schemeClr val="tx1"/>
                          </a:solidFill>
                        </a:rPr>
                        <a:t>Uric</a:t>
                      </a:r>
                      <a:r>
                        <a:rPr lang="en-AU" sz="2000" baseline="0" dirty="0" smtClean="0">
                          <a:solidFill>
                            <a:schemeClr val="tx1"/>
                          </a:solidFill>
                        </a:rPr>
                        <a:t> Acid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8.5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7.5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8585776"/>
                  </a:ext>
                </a:extLst>
              </a:tr>
              <a:tr h="631687">
                <a:tc>
                  <a:txBody>
                    <a:bodyPr/>
                    <a:lstStyle/>
                    <a:p>
                      <a:pPr algn="ctr"/>
                      <a:r>
                        <a:rPr lang="en-AU" sz="2000" dirty="0" smtClean="0">
                          <a:solidFill>
                            <a:schemeClr val="tx1"/>
                          </a:solidFill>
                        </a:rPr>
                        <a:t>Creatinine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1.6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0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tc>
                  <a:txBody>
                    <a:bodyPr/>
                    <a:lstStyle/>
                    <a:p>
                      <a:pPr algn="ctr"/>
                      <a:r>
                        <a:rPr lang="en-AU" sz="2000" dirty="0" smtClean="0">
                          <a:solidFill>
                            <a:schemeClr val="tx1"/>
                          </a:solidFill>
                        </a:rPr>
                        <a:t>1.6 g </a:t>
                      </a:r>
                      <a:endParaRPr lang="en-AU" sz="2000" dirty="0">
                        <a:solidFill>
                          <a:schemeClr val="tx1"/>
                        </a:solidFill>
                      </a:endParaRPr>
                    </a:p>
                  </a:txBody>
                  <a:tcPr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3532398"/>
                  </a:ext>
                </a:extLst>
              </a:tr>
            </a:tbl>
          </a:graphicData>
        </a:graphic>
      </p:graphicFrame>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884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Composition of urine continued </a:t>
            </a:r>
            <a:endParaRPr lang="en-AU" sz="6000" b="1" dirty="0"/>
          </a:p>
        </p:txBody>
      </p:sp>
      <p:sp>
        <p:nvSpPr>
          <p:cNvPr id="3" name="Content Placeholder 2"/>
          <p:cNvSpPr>
            <a:spLocks noGrp="1"/>
          </p:cNvSpPr>
          <p:nvPr>
            <p:ph idx="1"/>
          </p:nvPr>
        </p:nvSpPr>
        <p:spPr/>
        <p:txBody>
          <a:bodyPr/>
          <a:lstStyle/>
          <a:p>
            <a:r>
              <a:rPr lang="en-AU" dirty="0" smtClean="0"/>
              <a:t>Uric acid is produced by the metabolism of substances called purines. Purines may come from the breakdown of nucleic acids, such as DNA, when cells die and also occur naturally in many foods. </a:t>
            </a:r>
          </a:p>
          <a:p>
            <a:endParaRPr lang="en-AU" dirty="0"/>
          </a:p>
          <a:p>
            <a:r>
              <a:rPr lang="en-AU" dirty="0" smtClean="0"/>
              <a:t>Creatinine is produced in muscle from the breakdown of creatine phosphate, an energy rich molecule.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18682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Composition of urine continued </a:t>
            </a:r>
            <a:endParaRPr lang="en-AU" sz="6000" dirty="0"/>
          </a:p>
        </p:txBody>
      </p:sp>
      <p:sp>
        <p:nvSpPr>
          <p:cNvPr id="3" name="Content Placeholder 2"/>
          <p:cNvSpPr>
            <a:spLocks noGrp="1"/>
          </p:cNvSpPr>
          <p:nvPr>
            <p:ph idx="1"/>
          </p:nvPr>
        </p:nvSpPr>
        <p:spPr/>
        <p:txBody>
          <a:bodyPr/>
          <a:lstStyle/>
          <a:p>
            <a:r>
              <a:rPr lang="en-AU" dirty="0" smtClean="0"/>
              <a:t>Under normal circumstances: </a:t>
            </a:r>
          </a:p>
          <a:p>
            <a:pPr lvl="1"/>
            <a:r>
              <a:rPr lang="en-AU" sz="2800" dirty="0" smtClean="0"/>
              <a:t>About 99% of the water that enters the nephron is reabsorbed </a:t>
            </a:r>
          </a:p>
          <a:p>
            <a:pPr lvl="1"/>
            <a:r>
              <a:rPr lang="en-AU" sz="2800" dirty="0" smtClean="0"/>
              <a:t>The urine does not normally contain significant amounts of protein </a:t>
            </a:r>
          </a:p>
          <a:p>
            <a:pPr lvl="1"/>
            <a:r>
              <a:rPr lang="en-AU" sz="2800" dirty="0" smtClean="0"/>
              <a:t>The urine does not normally contain any glucose </a:t>
            </a:r>
          </a:p>
          <a:p>
            <a:pPr lvl="1"/>
            <a:r>
              <a:rPr lang="en-AU" sz="2800" dirty="0" smtClean="0"/>
              <a:t>The main materials making up the urine, besides water, are urea, ions, uric acid and creatinine. </a:t>
            </a:r>
          </a:p>
          <a:p>
            <a:pPr lvl="1"/>
            <a:endParaRPr lang="en-AU" dirty="0"/>
          </a:p>
          <a:p>
            <a:r>
              <a:rPr lang="en-AU" dirty="0" smtClean="0"/>
              <a:t>A healthy adult produces around 1.5 L of urine a day.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7632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Kidney Stones</a:t>
            </a:r>
            <a:endParaRPr lang="en-AU" sz="6000" b="1" dirty="0"/>
          </a:p>
        </p:txBody>
      </p:sp>
      <p:sp>
        <p:nvSpPr>
          <p:cNvPr id="3" name="Content Placeholder 2"/>
          <p:cNvSpPr>
            <a:spLocks noGrp="1"/>
          </p:cNvSpPr>
          <p:nvPr>
            <p:ph idx="1"/>
          </p:nvPr>
        </p:nvSpPr>
        <p:spPr>
          <a:xfrm>
            <a:off x="466531" y="1825624"/>
            <a:ext cx="10887269" cy="4668481"/>
          </a:xfrm>
        </p:spPr>
        <p:txBody>
          <a:bodyPr>
            <a:normAutofit/>
          </a:bodyPr>
          <a:lstStyle/>
          <a:p>
            <a:r>
              <a:rPr lang="en-AU" dirty="0" smtClean="0"/>
              <a:t>Formed from solid crystals that buil</a:t>
            </a:r>
            <a:r>
              <a:rPr lang="en-AU" dirty="0" smtClean="0"/>
              <a:t>d up inside the kidneys. They usually form when urine becomes too concentrated or from insufficient fluids in the diet. </a:t>
            </a:r>
          </a:p>
          <a:p>
            <a:endParaRPr lang="en-AU" dirty="0"/>
          </a:p>
          <a:p>
            <a:r>
              <a:rPr lang="en-AU" dirty="0" smtClean="0"/>
              <a:t>If they are small enough, they may pass down the ureter and out of the body without notice. Crystals may combine to form stones, with larger ones getting stuck in the ureter, bladder, or urethra, causing intense pain. </a:t>
            </a:r>
          </a:p>
          <a:p>
            <a:endParaRPr lang="en-AU" dirty="0"/>
          </a:p>
          <a:p>
            <a:r>
              <a:rPr lang="en-AU" dirty="0" smtClean="0"/>
              <a:t>Extreme cases may need surgery.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069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Kidney Failure </a:t>
            </a:r>
            <a:endParaRPr lang="en-AU" sz="6000" b="1" dirty="0"/>
          </a:p>
        </p:txBody>
      </p:sp>
      <p:sp>
        <p:nvSpPr>
          <p:cNvPr id="3" name="Content Placeholder 2"/>
          <p:cNvSpPr>
            <a:spLocks noGrp="1"/>
          </p:cNvSpPr>
          <p:nvPr>
            <p:ph idx="1"/>
          </p:nvPr>
        </p:nvSpPr>
        <p:spPr/>
        <p:txBody>
          <a:bodyPr/>
          <a:lstStyle/>
          <a:p>
            <a:r>
              <a:rPr lang="en-AU" dirty="0" smtClean="0"/>
              <a:t>1 in 3 adult Australians is at risk of developing kidney disease. A person can lose up to 90% of their kidney function without realising. </a:t>
            </a:r>
          </a:p>
          <a:p>
            <a:endParaRPr lang="en-AU" dirty="0"/>
          </a:p>
          <a:p>
            <a:r>
              <a:rPr lang="en-AU" dirty="0" smtClean="0"/>
              <a:t>Most kidney diseases affect the glomeruli, reducing their ability to filter the blood. Protein and sometimes red blood cells may leave the blood at the glomerulus and will then be presen</a:t>
            </a:r>
            <a:r>
              <a:rPr lang="en-AU" dirty="0" smtClean="0"/>
              <a:t>t in the urine. This can result in swelling (hands, feet, face)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9741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Kidney failure continued. </a:t>
            </a:r>
            <a:endParaRPr lang="en-AU" sz="6000" b="1" dirty="0"/>
          </a:p>
        </p:txBody>
      </p:sp>
      <p:sp>
        <p:nvSpPr>
          <p:cNvPr id="3" name="Content Placeholder 2"/>
          <p:cNvSpPr>
            <a:spLocks noGrp="1"/>
          </p:cNvSpPr>
          <p:nvPr>
            <p:ph idx="1"/>
          </p:nvPr>
        </p:nvSpPr>
        <p:spPr>
          <a:xfrm>
            <a:off x="541176" y="1511559"/>
            <a:ext cx="10812624" cy="4665404"/>
          </a:xfrm>
        </p:spPr>
        <p:txBody>
          <a:bodyPr>
            <a:normAutofit lnSpcReduction="10000"/>
          </a:bodyPr>
          <a:lstStyle/>
          <a:p>
            <a:r>
              <a:rPr lang="en-AU" dirty="0" smtClean="0"/>
              <a:t>There are a number of lifestyle measures that you can take to maintain healthy kidneys </a:t>
            </a:r>
          </a:p>
          <a:p>
            <a:pPr lvl="1"/>
            <a:r>
              <a:rPr lang="en-AU" sz="2800" dirty="0" smtClean="0"/>
              <a:t>Maintain a healthy weight </a:t>
            </a:r>
          </a:p>
          <a:p>
            <a:pPr lvl="1"/>
            <a:r>
              <a:rPr lang="en-AU" sz="2800" dirty="0" smtClean="0"/>
              <a:t>Maintain a healthy blood pressure </a:t>
            </a:r>
          </a:p>
          <a:p>
            <a:pPr lvl="1"/>
            <a:r>
              <a:rPr lang="en-AU" sz="2800" dirty="0" smtClean="0"/>
              <a:t>Do not smoke </a:t>
            </a:r>
          </a:p>
          <a:p>
            <a:pPr lvl="1"/>
            <a:r>
              <a:rPr lang="en-AU" sz="2800" dirty="0" smtClean="0"/>
              <a:t>Drink water instead of sugary drinks </a:t>
            </a:r>
          </a:p>
          <a:p>
            <a:pPr lvl="1"/>
            <a:r>
              <a:rPr lang="en-AU" sz="2800" dirty="0" smtClean="0"/>
              <a:t>Drink alcohol in moderation </a:t>
            </a:r>
          </a:p>
          <a:p>
            <a:pPr lvl="1"/>
            <a:r>
              <a:rPr lang="en-AU" sz="2800" dirty="0" smtClean="0"/>
              <a:t>Do not use performance-enhancing drugs </a:t>
            </a:r>
          </a:p>
          <a:p>
            <a:pPr lvl="1"/>
            <a:endParaRPr lang="en-AU" dirty="0"/>
          </a:p>
          <a:p>
            <a:r>
              <a:rPr lang="en-AU" dirty="0" smtClean="0"/>
              <a:t>Eventually the only way to maintain life is by dialysis or a kidney transplant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27348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Dialysis </a:t>
            </a:r>
            <a:endParaRPr lang="en-AU" sz="6000" b="1" dirty="0"/>
          </a:p>
        </p:txBody>
      </p:sp>
      <p:sp>
        <p:nvSpPr>
          <p:cNvPr id="3" name="Content Placeholder 2"/>
          <p:cNvSpPr>
            <a:spLocks noGrp="1"/>
          </p:cNvSpPr>
          <p:nvPr>
            <p:ph idx="1"/>
          </p:nvPr>
        </p:nvSpPr>
        <p:spPr/>
        <p:txBody>
          <a:bodyPr/>
          <a:lstStyle/>
          <a:p>
            <a:r>
              <a:rPr lang="en-AU" dirty="0" smtClean="0"/>
              <a:t>Method of removing wastes from the blood when kidney failure occurs. There are two types of dialysis: peritoneal dialysis and haemodialysis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1320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Peritoneal Dialysis </a:t>
            </a:r>
            <a:endParaRPr lang="en-AU" sz="6000" b="1" dirty="0"/>
          </a:p>
        </p:txBody>
      </p:sp>
      <p:sp>
        <p:nvSpPr>
          <p:cNvPr id="3" name="Content Placeholder 2"/>
          <p:cNvSpPr>
            <a:spLocks noGrp="1"/>
          </p:cNvSpPr>
          <p:nvPr>
            <p:ph idx="1"/>
          </p:nvPr>
        </p:nvSpPr>
        <p:spPr/>
        <p:txBody>
          <a:bodyPr/>
          <a:lstStyle/>
          <a:p>
            <a:r>
              <a:rPr lang="en-AU" dirty="0" smtClean="0"/>
              <a:t>Peritoneum us a membrane that lines the insides of the abdominal cavity and covers abdominal organs such as the stomach, liver and intestines. </a:t>
            </a:r>
          </a:p>
          <a:p>
            <a:r>
              <a:rPr lang="en-AU" dirty="0" smtClean="0"/>
              <a:t>A catheter is placed through the wall of the abdomen into where the peritoneum is located and is where fluid is drained out, filtered and then returned. </a:t>
            </a:r>
          </a:p>
          <a:p>
            <a:endParaRPr lang="en-AU" dirty="0"/>
          </a:p>
          <a:p>
            <a:r>
              <a:rPr lang="en-AU" dirty="0" smtClean="0"/>
              <a:t>Once a day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230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Haemodialysis </a:t>
            </a:r>
            <a:endParaRPr lang="en-AU" sz="6000" b="1" dirty="0"/>
          </a:p>
        </p:txBody>
      </p:sp>
      <p:sp>
        <p:nvSpPr>
          <p:cNvPr id="3" name="Content Placeholder 2"/>
          <p:cNvSpPr>
            <a:spLocks noGrp="1"/>
          </p:cNvSpPr>
          <p:nvPr>
            <p:ph idx="1"/>
          </p:nvPr>
        </p:nvSpPr>
        <p:spPr/>
        <p:txBody>
          <a:bodyPr/>
          <a:lstStyle/>
          <a:p>
            <a:r>
              <a:rPr lang="en-AU" dirty="0" smtClean="0"/>
              <a:t>Involves passing the blood through an artificial kidney or dialysis machine. </a:t>
            </a:r>
          </a:p>
          <a:p>
            <a:r>
              <a:rPr lang="en-AU" dirty="0" smtClean="0"/>
              <a:t>The blood passes through thousands of fine tubes, made of a differentially permeable membrane, and immersed in a bath of fluid. </a:t>
            </a:r>
          </a:p>
          <a:p>
            <a:endParaRPr lang="en-AU" dirty="0"/>
          </a:p>
          <a:p>
            <a:r>
              <a:rPr lang="en-AU" dirty="0" smtClean="0"/>
              <a:t>Because of concentration differences, wastes diffuse from the blood into the fluid. </a:t>
            </a:r>
          </a:p>
          <a:p>
            <a:endParaRPr lang="en-AU" dirty="0"/>
          </a:p>
          <a:p>
            <a:r>
              <a:rPr lang="en-AU" dirty="0" smtClean="0"/>
              <a:t>4-5 hours around 3 times a week.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1552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Liver Disease </a:t>
            </a:r>
            <a:endParaRPr lang="en-AU" sz="6000" b="1" dirty="0"/>
          </a:p>
        </p:txBody>
      </p:sp>
      <p:sp>
        <p:nvSpPr>
          <p:cNvPr id="3" name="Content Placeholder 2"/>
          <p:cNvSpPr>
            <a:spLocks noGrp="1"/>
          </p:cNvSpPr>
          <p:nvPr>
            <p:ph idx="1"/>
          </p:nvPr>
        </p:nvSpPr>
        <p:spPr/>
        <p:txBody>
          <a:bodyPr/>
          <a:lstStyle/>
          <a:p>
            <a:r>
              <a:rPr lang="en-AU" dirty="0" smtClean="0"/>
              <a:t>When the liver is not functioning correctly, it is unable to process toxins for elimination. </a:t>
            </a:r>
          </a:p>
          <a:p>
            <a:endParaRPr lang="en-AU" dirty="0"/>
          </a:p>
          <a:p>
            <a:r>
              <a:rPr lang="en-AU" dirty="0" smtClean="0"/>
              <a:t>Liver disease can be caused by infection, autoimmune problems, genetic disorders, cancer and lifestyle factors. </a:t>
            </a:r>
          </a:p>
          <a:p>
            <a:endParaRPr lang="en-AU" dirty="0"/>
          </a:p>
          <a:p>
            <a:r>
              <a:rPr lang="en-AU" dirty="0" smtClean="0"/>
              <a:t>Symptoms can include a yellow tinge to the skin (jaundice), abdominal pain, swelling, vomiting, dark urine, and pale/dark coloured faeces.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3162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List the organs involved in excretion </a:t>
            </a:r>
          </a:p>
          <a:p>
            <a:pPr marL="514350" indent="-514350">
              <a:buFont typeface="+mj-lt"/>
              <a:buAutoNum type="arabicPeriod"/>
            </a:pPr>
            <a:r>
              <a:rPr lang="en-AU" dirty="0" smtClean="0"/>
              <a:t>Summarise how amino acids are broken down and removed from the body </a:t>
            </a:r>
          </a:p>
          <a:p>
            <a:pPr marL="514350" indent="-514350">
              <a:buFont typeface="+mj-lt"/>
              <a:buAutoNum type="arabicPeriod"/>
            </a:pPr>
            <a:r>
              <a:rPr lang="en-AU" dirty="0" smtClean="0"/>
              <a:t>List three substances that the liver processes for excretion. </a:t>
            </a:r>
            <a:endParaRPr lang="en-AU" dirty="0" smtClean="0"/>
          </a:p>
          <a:p>
            <a:pPr marL="514350" indent="-514350">
              <a:buFont typeface="+mj-lt"/>
              <a:buAutoNum type="arabicPeriod"/>
            </a:pPr>
            <a:r>
              <a:rPr lang="en-AU" dirty="0" smtClean="0"/>
              <a:t>What components of filtrate are reabsorbed and in what percentages?</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Explain th</a:t>
            </a:r>
            <a:r>
              <a:rPr lang="en-AU" dirty="0" smtClean="0"/>
              <a:t>e importance of reabsorbing glucose </a:t>
            </a:r>
          </a:p>
          <a:p>
            <a:pPr marL="514350" indent="-514350">
              <a:buFont typeface="+mj-lt"/>
              <a:buAutoNum type="arabicPeriod"/>
            </a:pPr>
            <a:r>
              <a:rPr lang="en-AU" dirty="0" smtClean="0"/>
              <a:t>Explain why the active reabsorption of water is vital in maintaining the correct fluid levels in the body </a:t>
            </a:r>
          </a:p>
          <a:p>
            <a:pPr marL="514350" indent="-514350">
              <a:buFont typeface="+mj-lt"/>
              <a:buAutoNum type="arabicPeriod"/>
            </a:pPr>
            <a:r>
              <a:rPr lang="en-AU" dirty="0" smtClean="0"/>
              <a:t>Describe how the kidney is able to have a large surface area for the processes involved in excretion.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The kidneys have a very important function in maintaining the composition of body fluids at a constant level. Describe the kidney’s role in maintaining a constant internal environment for the cells.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168- 182 :The Excretory System Removes Waste Products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3219</Words>
  <Application>Microsoft Office PowerPoint</Application>
  <PresentationFormat>Widescreen</PresentationFormat>
  <Paragraphs>331</Paragraphs>
  <Slides>64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64</vt:i4>
      </vt:variant>
    </vt:vector>
  </HeadingPairs>
  <TitlesOfParts>
    <vt:vector size="70" baseType="lpstr">
      <vt:lpstr>Arial</vt:lpstr>
      <vt:lpstr>Calibri</vt:lpstr>
      <vt:lpstr>Calibri Light</vt:lpstr>
      <vt:lpstr>Wingdings</vt:lpstr>
      <vt:lpstr>Office Theme</vt:lpstr>
      <vt:lpstr>1_Office Theme</vt:lpstr>
      <vt:lpstr>Excretory System </vt:lpstr>
      <vt:lpstr>SCSA Syllabus Reference </vt:lpstr>
      <vt:lpstr>Lesson Intention </vt:lpstr>
      <vt:lpstr>Success Criteria </vt:lpstr>
      <vt:lpstr>Success Criteria </vt:lpstr>
      <vt:lpstr>Vocabulary </vt:lpstr>
      <vt:lpstr>Vocabulary </vt:lpstr>
      <vt:lpstr>Vocabulary </vt:lpstr>
      <vt:lpstr>Vocabulary </vt:lpstr>
      <vt:lpstr>Vocabulary </vt:lpstr>
      <vt:lpstr>Vocabulary </vt:lpstr>
      <vt:lpstr>Vocabulary </vt:lpstr>
      <vt:lpstr>Waste Removal Organs </vt:lpstr>
      <vt:lpstr>Liver </vt:lpstr>
      <vt:lpstr>Liver continued. </vt:lpstr>
      <vt:lpstr>Deamination </vt:lpstr>
      <vt:lpstr>Ammonia </vt:lpstr>
      <vt:lpstr>PowerPoint Presentation</vt:lpstr>
      <vt:lpstr>Liver continued </vt:lpstr>
      <vt:lpstr>Skin </vt:lpstr>
      <vt:lpstr>The Kidneys </vt:lpstr>
      <vt:lpstr>PowerPoint Presentation</vt:lpstr>
      <vt:lpstr>PowerPoint Presentation</vt:lpstr>
      <vt:lpstr>PowerPoint Presentation</vt:lpstr>
      <vt:lpstr>Kidney continued </vt:lpstr>
      <vt:lpstr>Nephrons </vt:lpstr>
      <vt:lpstr>PowerPoint Presentation</vt:lpstr>
      <vt:lpstr>Nephron continued. </vt:lpstr>
      <vt:lpstr>Nephron continued</vt:lpstr>
      <vt:lpstr>Nephron continued </vt:lpstr>
      <vt:lpstr>PowerPoint Presentation</vt:lpstr>
      <vt:lpstr>PowerPoint Presentation</vt:lpstr>
      <vt:lpstr>PowerPoint Presentation</vt:lpstr>
      <vt:lpstr>Nephrons continued. </vt:lpstr>
      <vt:lpstr>Nephrons continued. </vt:lpstr>
      <vt:lpstr>Nephrons continued </vt:lpstr>
      <vt:lpstr>Key Concept </vt:lpstr>
      <vt:lpstr>Production of Urine </vt:lpstr>
      <vt:lpstr>Glomerular Filtration </vt:lpstr>
      <vt:lpstr>Glomerular Filtration </vt:lpstr>
      <vt:lpstr>Glomerular Filtration </vt:lpstr>
      <vt:lpstr>Reabsorption </vt:lpstr>
      <vt:lpstr>Reabsorption continued. </vt:lpstr>
      <vt:lpstr>PowerPoint Presentation</vt:lpstr>
      <vt:lpstr>Tubular Secretion </vt:lpstr>
      <vt:lpstr>Tubular Secretion continued.  </vt:lpstr>
      <vt:lpstr>Tubular Secretion continued. </vt:lpstr>
      <vt:lpstr>PowerPoint Presentation</vt:lpstr>
      <vt:lpstr>Tubular Secretion continued. </vt:lpstr>
      <vt:lpstr>PowerPoint Presentation</vt:lpstr>
      <vt:lpstr>Composition of Urine </vt:lpstr>
      <vt:lpstr>Composition of urine continued </vt:lpstr>
      <vt:lpstr>Composition of urine continued </vt:lpstr>
      <vt:lpstr>Kidney Stones</vt:lpstr>
      <vt:lpstr>Kidney Failure </vt:lpstr>
      <vt:lpstr>Kidney failure continued. </vt:lpstr>
      <vt:lpstr>Dialysis </vt:lpstr>
      <vt:lpstr>Peritoneal Dialysis </vt:lpstr>
      <vt:lpstr>Haemodialysis </vt:lpstr>
      <vt:lpstr>Liver Disease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27</cp:revision>
  <dcterms:created xsi:type="dcterms:W3CDTF">2021-12-16T00:48:44Z</dcterms:created>
  <dcterms:modified xsi:type="dcterms:W3CDTF">2022-05-10T23:52:55Z</dcterms:modified>
</cp:coreProperties>
</file>
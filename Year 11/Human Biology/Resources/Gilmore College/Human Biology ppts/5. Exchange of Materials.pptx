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9" r:id="rId9"/>
    <p:sldId id="267" r:id="rId10"/>
    <p:sldId id="268" r:id="rId11"/>
    <p:sldId id="270" r:id="rId12"/>
    <p:sldId id="271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408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98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49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930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28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15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661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650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578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99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0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187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0638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30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392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9351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8456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532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4883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108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05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100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F4103-AC13-4E81-8F4A-7126A09DB8C9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673CC-80CF-4E11-86F4-AB5A15E3C0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694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C541-E1E4-46F0-B6E0-A9FD71F2F171}" type="datetimeFigureOut">
              <a:rPr lang="en-AU" smtClean="0"/>
              <a:t>17/01/2022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464C-AF91-46F0-8BFB-6ED7673142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97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3370" y="1104946"/>
            <a:ext cx="9771017" cy="2387600"/>
          </a:xfrm>
        </p:spPr>
        <p:txBody>
          <a:bodyPr>
            <a:normAutofit/>
          </a:bodyPr>
          <a:lstStyle/>
          <a:p>
            <a:r>
              <a:rPr lang="en-AU" sz="8000" b="1" dirty="0" smtClean="0"/>
              <a:t>Exchange of Materials</a:t>
            </a:r>
            <a:endParaRPr lang="en-AU" sz="8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Year 11 Human Biology </a:t>
            </a:r>
          </a:p>
          <a:p>
            <a:r>
              <a:rPr lang="en-AU" dirty="0" smtClean="0"/>
              <a:t>ATAR </a:t>
            </a:r>
          </a:p>
          <a:p>
            <a:r>
              <a:rPr lang="en-AU" dirty="0" smtClean="0"/>
              <a:t>PowerPoint #5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9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Factors affecting the exchange of materials across the cell membrane include surface area to volume ratio, concentration gradients, and the physical and chemical nature of the materials being exchanged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13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Lesson Intention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describe how different factors affect the exchange of materials across the cell membrane </a:t>
            </a:r>
          </a:p>
          <a:p>
            <a:endParaRPr lang="en-AU" dirty="0"/>
          </a:p>
          <a:p>
            <a:r>
              <a:rPr lang="en-AU" dirty="0"/>
              <a:t>To explore how SA: Vol Ratio limits cell size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02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Success Criteria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identify </a:t>
            </a:r>
            <a:r>
              <a:rPr lang="en-AU" dirty="0"/>
              <a:t>the different factors affecting the exchange of materials</a:t>
            </a:r>
          </a:p>
          <a:p>
            <a:r>
              <a:rPr lang="en-AU" dirty="0" smtClean="0"/>
              <a:t>describe </a:t>
            </a:r>
            <a:r>
              <a:rPr lang="en-AU" dirty="0"/>
              <a:t>how the different factors each affect the exchange of materials  </a:t>
            </a:r>
          </a:p>
          <a:p>
            <a:r>
              <a:rPr lang="en-AU" dirty="0" smtClean="0"/>
              <a:t>explain </a:t>
            </a:r>
            <a:r>
              <a:rPr lang="en-AU" dirty="0"/>
              <a:t>how cells are so small </a:t>
            </a:r>
          </a:p>
          <a:p>
            <a:r>
              <a:rPr lang="en-AU" dirty="0" smtClean="0"/>
              <a:t>calculate </a:t>
            </a:r>
            <a:r>
              <a:rPr lang="en-AU" dirty="0"/>
              <a:t>the surface area of cells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48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Vocabulary </a:t>
            </a:r>
            <a:endParaRPr lang="en-AU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 smtClean="0"/>
              <a:t>Surface Area to Volume </a:t>
            </a:r>
            <a:r>
              <a:rPr lang="en-AU" b="1" dirty="0"/>
              <a:t>Ratio</a:t>
            </a:r>
            <a:r>
              <a:rPr lang="en-AU" dirty="0"/>
              <a:t>: the amount of surface area per unit volume of an object or collection of objects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9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Cell Size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Most cells are incredibly small, between 10 and 15 micrometres (µm) in diameter. </a:t>
            </a:r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A micrometre is one-thousandth of a millimetre. </a:t>
            </a:r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There is a limit to how big a cell can be. All the requirements and products of a cell must pass across the membrane that surrounds the cell.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50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601450" cy="1325563"/>
          </a:xfrm>
        </p:spPr>
        <p:txBody>
          <a:bodyPr>
            <a:normAutofit/>
          </a:bodyPr>
          <a:lstStyle/>
          <a:p>
            <a:r>
              <a:rPr lang="en-AU" sz="6000" b="1" dirty="0" smtClean="0"/>
              <a:t>Factors affecting material exchange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 smtClean="0"/>
              <a:t>Factors affecting the exchange of materials across the cell membrane include </a:t>
            </a:r>
          </a:p>
          <a:p>
            <a:pPr lvl="1">
              <a:lnSpc>
                <a:spcPct val="150000"/>
              </a:lnSpc>
            </a:pPr>
            <a:r>
              <a:rPr lang="en-AU" sz="2800" dirty="0" smtClean="0"/>
              <a:t>Surface area to volume ratio </a:t>
            </a:r>
          </a:p>
          <a:p>
            <a:pPr lvl="1">
              <a:lnSpc>
                <a:spcPct val="150000"/>
              </a:lnSpc>
            </a:pPr>
            <a:r>
              <a:rPr lang="en-AU" sz="2800" dirty="0" smtClean="0"/>
              <a:t>Concentration gradient </a:t>
            </a:r>
          </a:p>
          <a:p>
            <a:pPr lvl="1">
              <a:lnSpc>
                <a:spcPct val="150000"/>
              </a:lnSpc>
            </a:pPr>
            <a:r>
              <a:rPr lang="en-AU" sz="2800" dirty="0" smtClean="0"/>
              <a:t>Physical and chemical nature of materials being exchanged </a:t>
            </a:r>
            <a:endParaRPr lang="en-AU" sz="2800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43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Surface Area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relationship between the surface area of the cell and the volume is very important. </a:t>
            </a:r>
          </a:p>
          <a:p>
            <a:endParaRPr lang="en-AU" dirty="0" smtClean="0"/>
          </a:p>
          <a:p>
            <a:r>
              <a:rPr lang="en-AU" dirty="0" smtClean="0"/>
              <a:t>As the apple is cut in half the surface area increases. </a:t>
            </a:r>
          </a:p>
          <a:p>
            <a:endParaRPr lang="en-AU" dirty="0"/>
          </a:p>
          <a:p>
            <a:r>
              <a:rPr lang="en-AU" dirty="0" smtClean="0"/>
              <a:t>If you continue to cut the apple into small </a:t>
            </a:r>
          </a:p>
          <a:p>
            <a:pPr marL="0" indent="0">
              <a:buNone/>
            </a:pPr>
            <a:r>
              <a:rPr lang="en-AU" dirty="0" smtClean="0"/>
              <a:t>pieces, the surface are to volume ratio of </a:t>
            </a:r>
          </a:p>
          <a:p>
            <a:pPr marL="0" indent="0">
              <a:buNone/>
            </a:pPr>
            <a:r>
              <a:rPr lang="en-AU" dirty="0" smtClean="0"/>
              <a:t>the pieces </a:t>
            </a:r>
            <a:r>
              <a:rPr lang="en-AU" dirty="0"/>
              <a:t>g</a:t>
            </a:r>
            <a:r>
              <a:rPr lang="en-AU" dirty="0" smtClean="0"/>
              <a:t>ets bigger and bigger.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Why Nutrients Are Lost in Cut Fruits and Vegetabl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879" y="3692831"/>
            <a:ext cx="4403770" cy="293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6291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SA:Vol Ratio | BioNinj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94" y="189564"/>
            <a:ext cx="10249667" cy="648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5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Concentration gradients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 concentration gradient results from the unequal distribution of particles. </a:t>
            </a:r>
          </a:p>
          <a:p>
            <a:endParaRPr lang="en-AU" dirty="0"/>
          </a:p>
          <a:p>
            <a:r>
              <a:rPr lang="en-AU" dirty="0" smtClean="0"/>
              <a:t>Particles may move along or against their concentration gradient.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66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Physical and chemical nature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Physical: the size of the particle being exchanged e.g. glucose needs channels </a:t>
            </a:r>
          </a:p>
          <a:p>
            <a:endParaRPr lang="en-AU" dirty="0"/>
          </a:p>
          <a:p>
            <a:r>
              <a:rPr lang="en-AU" dirty="0" smtClean="0"/>
              <a:t>Chemical: refers to the polarity of ions and how they are unable to move freely.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769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Recall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Would you expect the cells of a large mammal, such as an elephant, to be larger than those of a small mammal, such as a mouse?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 smtClean="0"/>
              <a:t>Explain your answer. 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351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Apply Knowledge </a:t>
            </a:r>
            <a:endParaRPr lang="en-AU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 smtClean="0"/>
              <a:t>Why do cells need to be small?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57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 smtClean="0"/>
              <a:t>Homewor</a:t>
            </a:r>
            <a:r>
              <a:rPr lang="en-AU" sz="6000" b="1" dirty="0"/>
              <a:t>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mtClean="0"/>
              <a:t>None for today </a:t>
            </a:r>
            <a:r>
              <a:rPr lang="en-AU" smtClean="0">
                <a:sym typeface="Wingdings" panose="05000000000000000000" pitchFamily="2" charset="2"/>
              </a:rPr>
              <a:t> 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552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 smtClean="0"/>
              <a:t>Reading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Pages </a:t>
            </a:r>
            <a:r>
              <a:rPr lang="en-AU" dirty="0" smtClean="0"/>
              <a:t>40 (bottom half) - 41: Movement within the cell </a:t>
            </a:r>
          </a:p>
          <a:p>
            <a:pPr marL="0" indent="0">
              <a:buNone/>
            </a:pPr>
            <a:r>
              <a:rPr lang="en-AU" dirty="0" smtClean="0"/>
              <a:t>				        Why are cells so small?</a:t>
            </a:r>
            <a:endParaRPr lang="en-AU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014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404</Words>
  <Application>Microsoft Office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1_Office Theme</vt:lpstr>
      <vt:lpstr>Exchange of Materials</vt:lpstr>
      <vt:lpstr>SCSA Syllabus Reference </vt:lpstr>
      <vt:lpstr>Lesson Intention </vt:lpstr>
      <vt:lpstr>Success Criteria </vt:lpstr>
      <vt:lpstr>Vocabulary </vt:lpstr>
      <vt:lpstr>Cell Size </vt:lpstr>
      <vt:lpstr>Factors affecting material exchange </vt:lpstr>
      <vt:lpstr>Surface Area</vt:lpstr>
      <vt:lpstr>PowerPoint Presentation</vt:lpstr>
      <vt:lpstr>Concentration gradients </vt:lpstr>
      <vt:lpstr>Physical and chemical nature </vt:lpstr>
      <vt:lpstr>Recall Knowledge </vt:lpstr>
      <vt:lpstr>Apply Knowledge </vt:lpstr>
      <vt:lpstr>Homework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DOOMEN Lisa [Gilmore College]</dc:creator>
  <cp:lastModifiedBy>DOOMEN Lisa [Gilmore College]</cp:lastModifiedBy>
  <cp:revision>7</cp:revision>
  <dcterms:created xsi:type="dcterms:W3CDTF">2021-12-16T00:48:44Z</dcterms:created>
  <dcterms:modified xsi:type="dcterms:W3CDTF">2022-01-17T06:22:45Z</dcterms:modified>
</cp:coreProperties>
</file>
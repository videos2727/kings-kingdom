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70" r:id="rId6"/>
    <p:sldId id="260" r:id="rId7"/>
    <p:sldId id="267" r:id="rId8"/>
    <p:sldId id="271" r:id="rId9"/>
    <p:sldId id="272" r:id="rId10"/>
    <p:sldId id="273" r:id="rId11"/>
    <p:sldId id="268" r:id="rId12"/>
    <p:sldId id="269" r:id="rId13"/>
    <p:sldId id="261" r:id="rId14"/>
    <p:sldId id="274" r:id="rId15"/>
    <p:sldId id="275" r:id="rId16"/>
    <p:sldId id="276" r:id="rId17"/>
    <p:sldId id="277" r:id="rId18"/>
    <p:sldId id="278" r:id="rId19"/>
    <p:sldId id="283" r:id="rId20"/>
    <p:sldId id="285" r:id="rId21"/>
    <p:sldId id="279" r:id="rId22"/>
    <p:sldId id="286" r:id="rId23"/>
    <p:sldId id="287" r:id="rId24"/>
    <p:sldId id="284" r:id="rId25"/>
    <p:sldId id="288" r:id="rId26"/>
    <p:sldId id="289" r:id="rId27"/>
    <p:sldId id="263" r:id="rId28"/>
    <p:sldId id="264" r:id="rId29"/>
    <p:sldId id="265" r:id="rId30"/>
    <p:sldId id="26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10/07/2022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dirty="0"/>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10/07/2022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dirty="0"/>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10/07/2022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dirty="0"/>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10/07/2022</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dirty="0"/>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10/07/2022</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dirty="0"/>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10/07/2022</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dirty="0"/>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10/07/2022</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dirty="0"/>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10/07/2022</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dirty="0"/>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10/07/2022</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dirty="0"/>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10/07/2022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dirty="0"/>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10/07/2022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dirty="0"/>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10/07/2022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dirty="0"/>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10/07/2022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dirty="0"/>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10/07/2022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dirty="0"/>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10/07/2022</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dirty="0"/>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10/07/2022</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dirty="0"/>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10/07/2022</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dirty="0"/>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10/07/2022</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dirty="0"/>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10/07/2022</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dirty="0"/>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10/07/2022</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dirty="0"/>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10/07/2022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dirty="0"/>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10/07/2022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dirty="0"/>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10/07/2022</a:t>
            </a:fld>
            <a:endParaRPr lang="en-AU"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dirty="0"/>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10/07/2022</a:t>
            </a:fld>
            <a:endParaRPr lang="en-AU"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dirty="0"/>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8000" b="1" dirty="0" smtClean="0"/>
              <a:t>Meiosis </a:t>
            </a:r>
            <a:endParaRPr lang="en-AU" sz="8000" b="1"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#17</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p:txBody>
          <a:bodyPr/>
          <a:lstStyle/>
          <a:p>
            <a:r>
              <a:rPr lang="en-AU" dirty="0" smtClean="0"/>
              <a:t>meiosis </a:t>
            </a:r>
            <a:r>
              <a:rPr lang="en-AU" dirty="0"/>
              <a:t>produces gametes for reproduction and involves DNA replication, chromosome pairing, and two successive nuclear divisions distributing haploid sets of chromosomes to each gamete</a:t>
            </a:r>
          </a:p>
          <a:p>
            <a:endParaRPr lang="en-AU" dirty="0"/>
          </a:p>
          <a:p>
            <a:r>
              <a:rPr lang="en-AU" dirty="0"/>
              <a:t>crossing over, non-disjunction and random assortment of chromosomes during meiosis will produce gametes with different genetic content</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p:txBody>
          <a:bodyPr/>
          <a:lstStyle/>
          <a:p>
            <a:r>
              <a:rPr lang="en-AU" dirty="0" smtClean="0"/>
              <a:t>To explore the process of meiosis </a:t>
            </a:r>
          </a:p>
          <a:p>
            <a:endParaRPr lang="en-AU" dirty="0"/>
          </a:p>
          <a:p>
            <a:r>
              <a:rPr lang="en-AU" dirty="0" smtClean="0"/>
              <a:t>To </a:t>
            </a:r>
            <a:r>
              <a:rPr lang="en-AU" dirty="0"/>
              <a:t>compare and contrast the process of mitosis and meiosis </a:t>
            </a:r>
          </a:p>
          <a:p>
            <a:endParaRPr lang="en-AU" dirty="0"/>
          </a:p>
          <a:p>
            <a:r>
              <a:rPr lang="en-AU" dirty="0"/>
              <a:t>To explore the process of variation in the genotypes of offspring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smtClean="0"/>
              <a:t>explain </a:t>
            </a:r>
            <a:r>
              <a:rPr lang="en-AU" dirty="0"/>
              <a:t>the production of gametes </a:t>
            </a:r>
          </a:p>
          <a:p>
            <a:r>
              <a:rPr lang="en-AU" dirty="0" smtClean="0"/>
              <a:t>summarise </a:t>
            </a:r>
            <a:r>
              <a:rPr lang="en-AU" dirty="0"/>
              <a:t>the process of meiosis using a table or annotated diagram </a:t>
            </a:r>
          </a:p>
          <a:p>
            <a:r>
              <a:rPr lang="en-AU" dirty="0" smtClean="0"/>
              <a:t>explain </a:t>
            </a:r>
            <a:r>
              <a:rPr lang="en-AU" dirty="0"/>
              <a:t>the difference between the first and second meiotic divisions </a:t>
            </a:r>
            <a:endParaRPr lang="en-AU" dirty="0" smtClean="0"/>
          </a:p>
          <a:p>
            <a:r>
              <a:rPr lang="en-AU" dirty="0" smtClean="0"/>
              <a:t>compare </a:t>
            </a:r>
            <a:r>
              <a:rPr lang="en-AU" dirty="0"/>
              <a:t>and contrast the processes of mitosis and meiosis </a:t>
            </a:r>
          </a:p>
          <a:p>
            <a:r>
              <a:rPr lang="en-AU" dirty="0" smtClean="0"/>
              <a:t>explain </a:t>
            </a:r>
            <a:r>
              <a:rPr lang="en-AU" dirty="0"/>
              <a:t>the process of crossing over </a:t>
            </a:r>
          </a:p>
          <a:p>
            <a:r>
              <a:rPr lang="en-AU" dirty="0" smtClean="0"/>
              <a:t>explain </a:t>
            </a:r>
            <a:r>
              <a:rPr lang="en-AU" dirty="0"/>
              <a:t>the process of non-disjunction</a:t>
            </a:r>
          </a:p>
          <a:p>
            <a:r>
              <a:rPr lang="en-AU" dirty="0" smtClean="0"/>
              <a:t>explain </a:t>
            </a:r>
            <a:r>
              <a:rPr lang="en-AU" dirty="0"/>
              <a:t>the process of random (or independent) assortment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818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576942" y="1690688"/>
            <a:ext cx="11310258" cy="4927826"/>
          </a:xfrm>
        </p:spPr>
        <p:txBody>
          <a:bodyPr/>
          <a:lstStyle/>
          <a:p>
            <a:r>
              <a:rPr lang="en-AU" b="1" dirty="0"/>
              <a:t>Gamete</a:t>
            </a:r>
            <a:r>
              <a:rPr lang="en-AU" dirty="0"/>
              <a:t>: a sperm or egg cell </a:t>
            </a:r>
            <a:endParaRPr lang="en-AU" dirty="0" smtClean="0"/>
          </a:p>
          <a:p>
            <a:endParaRPr lang="en-AU" dirty="0"/>
          </a:p>
          <a:p>
            <a:r>
              <a:rPr lang="en-AU" b="1" dirty="0"/>
              <a:t>Meiosis</a:t>
            </a:r>
            <a:r>
              <a:rPr lang="en-AU" dirty="0"/>
              <a:t>: a type of cell division resulting in sperm or eggs; the sperm or eggs have half the chromosome number of the parent cell </a:t>
            </a:r>
            <a:endParaRPr lang="en-AU" dirty="0" smtClean="0"/>
          </a:p>
          <a:p>
            <a:endParaRPr lang="en-AU" dirty="0"/>
          </a:p>
          <a:p>
            <a:r>
              <a:rPr lang="en-AU" b="1" dirty="0"/>
              <a:t>Fertilisation</a:t>
            </a:r>
            <a:r>
              <a:rPr lang="en-AU" dirty="0"/>
              <a:t>: fusion of sperm and egg </a:t>
            </a:r>
            <a:endParaRPr lang="en-AU" dirty="0" smtClean="0"/>
          </a:p>
          <a:p>
            <a:endParaRPr lang="en-AU" dirty="0"/>
          </a:p>
          <a:p>
            <a:r>
              <a:rPr lang="en-AU" b="1" dirty="0"/>
              <a:t>Diploid</a:t>
            </a:r>
            <a:r>
              <a:rPr lang="en-AU" dirty="0"/>
              <a:t>: the number of chromosomes in a cell with both chromosomes from each homologous pair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76646" y="1546950"/>
            <a:ext cx="11597640" cy="5123815"/>
          </a:xfrm>
        </p:spPr>
        <p:txBody>
          <a:bodyPr/>
          <a:lstStyle/>
          <a:p>
            <a:r>
              <a:rPr lang="en-AU" b="1" dirty="0"/>
              <a:t>Haploid</a:t>
            </a:r>
            <a:r>
              <a:rPr lang="en-AU" dirty="0"/>
              <a:t>: the number of chromosomes in a cell with only one chromosome from each homologous pair; half the diploid number </a:t>
            </a:r>
            <a:endParaRPr lang="en-AU" dirty="0" smtClean="0"/>
          </a:p>
          <a:p>
            <a:endParaRPr lang="en-AU" dirty="0"/>
          </a:p>
          <a:p>
            <a:r>
              <a:rPr lang="en-AU" b="1" dirty="0"/>
              <a:t>Homologous Chromosomes</a:t>
            </a:r>
            <a:r>
              <a:rPr lang="en-AU" dirty="0"/>
              <a:t>: the pairs of chromosomes containing genes that control the same characteristics </a:t>
            </a:r>
            <a:endParaRPr lang="en-AU" dirty="0" smtClean="0"/>
          </a:p>
          <a:p>
            <a:endParaRPr lang="en-AU" dirty="0"/>
          </a:p>
          <a:p>
            <a:r>
              <a:rPr lang="en-AU" b="1" dirty="0"/>
              <a:t>Prophase I</a:t>
            </a:r>
            <a:r>
              <a:rPr lang="en-AU" dirty="0"/>
              <a:t>: the first phase of the first stage of meiosis, during which the chromosomes become visible, the nuclear membrane breaks down and the spindle forms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7583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Metaphase I</a:t>
            </a:r>
            <a:r>
              <a:rPr lang="en-AU" dirty="0"/>
              <a:t>: the second phase of the first stage of meiosis, during which the homologous chromosomes line up on the equator </a:t>
            </a:r>
            <a:endParaRPr lang="en-AU" dirty="0" smtClean="0"/>
          </a:p>
          <a:p>
            <a:endParaRPr lang="en-AU" dirty="0"/>
          </a:p>
          <a:p>
            <a:r>
              <a:rPr lang="en-AU" b="1" dirty="0"/>
              <a:t>Anaphase I</a:t>
            </a:r>
            <a:r>
              <a:rPr lang="en-AU" dirty="0"/>
              <a:t>: the third phase of the first stage of meiosis, during which the homologous chromosomes move to opposite ends of the cell </a:t>
            </a:r>
            <a:endParaRPr lang="en-AU" dirty="0" smtClean="0"/>
          </a:p>
          <a:p>
            <a:endParaRPr lang="en-AU" dirty="0"/>
          </a:p>
          <a:p>
            <a:r>
              <a:rPr lang="en-AU" b="1" dirty="0"/>
              <a:t>Telophase I</a:t>
            </a:r>
            <a:r>
              <a:rPr lang="en-AU" dirty="0"/>
              <a:t>: the fourth phase of the first stage of meiosis, during which the new nuclear membrane forms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2076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Prophase II</a:t>
            </a:r>
            <a:r>
              <a:rPr lang="en-AU" dirty="0"/>
              <a:t>: the first phase of the second stage of meiosis, during which the nuclear membrane disappears and the spindle forms </a:t>
            </a:r>
            <a:endParaRPr lang="en-AU" dirty="0" smtClean="0"/>
          </a:p>
          <a:p>
            <a:endParaRPr lang="en-AU" dirty="0" smtClean="0"/>
          </a:p>
          <a:p>
            <a:r>
              <a:rPr lang="en-AU" b="1" dirty="0"/>
              <a:t>Metaphase II</a:t>
            </a:r>
            <a:r>
              <a:rPr lang="en-AU" dirty="0"/>
              <a:t>: the second phase of the second stage of meiosis, during which the chromosomes line up on the equator </a:t>
            </a:r>
            <a:endParaRPr lang="en-AU" dirty="0" smtClean="0"/>
          </a:p>
          <a:p>
            <a:endParaRPr lang="en-AU" dirty="0"/>
          </a:p>
          <a:p>
            <a:r>
              <a:rPr lang="en-AU" b="1" dirty="0"/>
              <a:t>Anaphase II</a:t>
            </a:r>
            <a:r>
              <a:rPr lang="en-AU" dirty="0"/>
              <a:t>: the third phase of the second stage of meiosis, during which the daughter chromosomes move towards opposite ends of the cell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8058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Telophase II</a:t>
            </a:r>
            <a:r>
              <a:rPr lang="en-AU" dirty="0"/>
              <a:t>: the fourth phase of the second stage of meiosis, during which the new nuclear membrane forms </a:t>
            </a:r>
            <a:endParaRPr lang="en-AU" dirty="0" smtClean="0"/>
          </a:p>
          <a:p>
            <a:endParaRPr lang="en-AU" dirty="0" smtClean="0"/>
          </a:p>
          <a:p>
            <a:r>
              <a:rPr lang="en-AU" b="1" dirty="0"/>
              <a:t>Crossing over</a:t>
            </a:r>
            <a:r>
              <a:rPr lang="en-AU" dirty="0"/>
              <a:t>: the interchange of the parts of the chromatids of a homologous pair of chromosomes during the first stage of meiosis; it creates new combinations of alleles. </a:t>
            </a:r>
            <a:endParaRPr lang="en-AU" dirty="0" smtClean="0"/>
          </a:p>
          <a:p>
            <a:endParaRPr lang="en-AU" dirty="0"/>
          </a:p>
          <a:p>
            <a:r>
              <a:rPr lang="en-AU" b="1" dirty="0"/>
              <a:t>Chiasma</a:t>
            </a:r>
            <a:r>
              <a:rPr lang="en-AU" dirty="0"/>
              <a:t>: the point at which crossing over occurs between chromatids</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1621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81148" y="1573075"/>
            <a:ext cx="11284132" cy="4967061"/>
          </a:xfrm>
        </p:spPr>
        <p:txBody>
          <a:bodyPr/>
          <a:lstStyle/>
          <a:p>
            <a:r>
              <a:rPr lang="en-AU" b="1" dirty="0"/>
              <a:t>Recombination</a:t>
            </a:r>
            <a:r>
              <a:rPr lang="en-AU" dirty="0"/>
              <a:t>: a changing of the order of alleles along a chromosome </a:t>
            </a:r>
            <a:endParaRPr lang="en-AU" dirty="0" smtClean="0"/>
          </a:p>
          <a:p>
            <a:endParaRPr lang="en-AU" dirty="0"/>
          </a:p>
          <a:p>
            <a:r>
              <a:rPr lang="en-AU" b="1" dirty="0"/>
              <a:t>Non-disjunction</a:t>
            </a:r>
            <a:r>
              <a:rPr lang="en-AU" dirty="0"/>
              <a:t>: when one or more of the chromosome pairs fail to separate during meiosis </a:t>
            </a:r>
            <a:endParaRPr lang="en-AU" dirty="0" smtClean="0"/>
          </a:p>
          <a:p>
            <a:endParaRPr lang="en-AU" dirty="0"/>
          </a:p>
          <a:p>
            <a:r>
              <a:rPr lang="en-AU" b="1" dirty="0"/>
              <a:t>Trisomy</a:t>
            </a:r>
            <a:r>
              <a:rPr lang="en-AU" dirty="0"/>
              <a:t>: a condition in which an individual inherits an extra copy of a </a:t>
            </a:r>
            <a:r>
              <a:rPr lang="en-AU" dirty="0" smtClean="0"/>
              <a:t>chromosome</a:t>
            </a:r>
          </a:p>
          <a:p>
            <a:endParaRPr lang="en-AU" dirty="0"/>
          </a:p>
          <a:p>
            <a:r>
              <a:rPr lang="en-AU" b="1" dirty="0"/>
              <a:t>Down Syndrome</a:t>
            </a:r>
            <a:r>
              <a:rPr lang="en-AU" dirty="0"/>
              <a:t>: a genetic disorder resulting from an extra copy of chromosome 21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0220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505097" y="1825625"/>
            <a:ext cx="10848703" cy="4351338"/>
          </a:xfrm>
        </p:spPr>
        <p:txBody>
          <a:bodyPr/>
          <a:lstStyle/>
          <a:p>
            <a:r>
              <a:rPr lang="en-AU" b="1" dirty="0"/>
              <a:t>Monosomy</a:t>
            </a:r>
            <a:r>
              <a:rPr lang="en-AU" dirty="0"/>
              <a:t>: when an individual has only one copy of a chromosome instead of two </a:t>
            </a:r>
            <a:endParaRPr lang="en-AU" dirty="0" smtClean="0"/>
          </a:p>
          <a:p>
            <a:endParaRPr lang="en-AU" dirty="0"/>
          </a:p>
          <a:p>
            <a:r>
              <a:rPr lang="en-AU" b="1" dirty="0"/>
              <a:t>Partial monosomy</a:t>
            </a:r>
            <a:r>
              <a:rPr lang="en-AU" dirty="0"/>
              <a:t>: when a person has part of a chromosome missing </a:t>
            </a:r>
            <a:endParaRPr lang="en-AU" dirty="0" smtClean="0"/>
          </a:p>
          <a:p>
            <a:endParaRPr lang="en-AU" dirty="0"/>
          </a:p>
          <a:p>
            <a:r>
              <a:rPr lang="en-AU" b="1" dirty="0"/>
              <a:t>Partial trisomy: </a:t>
            </a:r>
            <a:r>
              <a:rPr lang="en-AU" dirty="0"/>
              <a:t>when a person has part of an extra chromosome </a:t>
            </a:r>
            <a:endParaRPr lang="en-AU" dirty="0" smtClean="0"/>
          </a:p>
          <a:p>
            <a:endParaRPr lang="en-AU" dirty="0"/>
          </a:p>
          <a:p>
            <a:r>
              <a:rPr lang="en-AU" b="1" dirty="0"/>
              <a:t>Independent assortment</a:t>
            </a:r>
            <a:r>
              <a:rPr lang="en-AU" dirty="0"/>
              <a:t>: the random combination of alleles due to allele pairs separating independently of one another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8797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Producing Gametes </a:t>
            </a:r>
            <a:endParaRPr lang="en-AU" sz="6000" b="1" dirty="0"/>
          </a:p>
        </p:txBody>
      </p:sp>
      <p:sp>
        <p:nvSpPr>
          <p:cNvPr id="3" name="Content Placeholder 2"/>
          <p:cNvSpPr>
            <a:spLocks noGrp="1"/>
          </p:cNvSpPr>
          <p:nvPr>
            <p:ph idx="1"/>
          </p:nvPr>
        </p:nvSpPr>
        <p:spPr/>
        <p:txBody>
          <a:bodyPr>
            <a:normAutofit/>
          </a:bodyPr>
          <a:lstStyle/>
          <a:p>
            <a:r>
              <a:rPr lang="en-AU" sz="3200" dirty="0" smtClean="0"/>
              <a:t>Gametes are produced in the reproductive organs. </a:t>
            </a:r>
            <a:endParaRPr lang="en-AU" sz="3200" dirty="0"/>
          </a:p>
          <a:p>
            <a:endParaRPr lang="en-AU" sz="3200" dirty="0" smtClean="0"/>
          </a:p>
          <a:p>
            <a:r>
              <a:rPr lang="en-AU" sz="3200" dirty="0" smtClean="0"/>
              <a:t>Meiosis results in gametes with HALF the amount of chromosomes (23- Haploid), so when they fuse together, they will have 46 chromosomes (Diploid). </a:t>
            </a:r>
          </a:p>
          <a:p>
            <a:endParaRPr lang="en-AU" sz="3200" dirty="0"/>
          </a:p>
          <a:p>
            <a:r>
              <a:rPr lang="en-AU" sz="3200" dirty="0" smtClean="0"/>
              <a:t>The chromosomes in diploid cells exist in pairs identical in shape and size and are called homologous chromosomes.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475589" y="295804"/>
            <a:ext cx="9401416" cy="6270745"/>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5969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Diploid and Haploid </a:t>
            </a:r>
            <a:endParaRPr lang="en-AU" sz="6000" b="1" dirty="0"/>
          </a:p>
        </p:txBody>
      </p:sp>
      <p:sp>
        <p:nvSpPr>
          <p:cNvPr id="3" name="Content Placeholder 2"/>
          <p:cNvSpPr>
            <a:spLocks noGrp="1"/>
          </p:cNvSpPr>
          <p:nvPr>
            <p:ph idx="1"/>
          </p:nvPr>
        </p:nvSpPr>
        <p:spPr/>
        <p:txBody>
          <a:bodyPr/>
          <a:lstStyle/>
          <a:p>
            <a:r>
              <a:rPr lang="en-AU" dirty="0" smtClean="0"/>
              <a:t>When a cell has two of each type of chromosome, it has the diploid chromosome number (2n). </a:t>
            </a:r>
          </a:p>
          <a:p>
            <a:endParaRPr lang="en-AU" dirty="0"/>
          </a:p>
          <a:p>
            <a:r>
              <a:rPr lang="en-AU" dirty="0" smtClean="0"/>
              <a:t>In gametes, only one of each type of chromosome is present, or n, and therefore it is a haploid cell (n).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3017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949376" y="193705"/>
            <a:ext cx="8249703" cy="6474944"/>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3539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First Meiotic Division </a:t>
            </a:r>
            <a:endParaRPr lang="en-AU" sz="6000" b="1" dirty="0"/>
          </a:p>
        </p:txBody>
      </p:sp>
      <p:sp>
        <p:nvSpPr>
          <p:cNvPr id="3" name="Content Placeholder 2"/>
          <p:cNvSpPr>
            <a:spLocks noGrp="1"/>
          </p:cNvSpPr>
          <p:nvPr>
            <p:ph idx="1"/>
          </p:nvPr>
        </p:nvSpPr>
        <p:spPr/>
        <p:txBody>
          <a:bodyPr/>
          <a:lstStyle/>
          <a:p>
            <a:r>
              <a:rPr lang="en-AU" dirty="0" smtClean="0"/>
              <a:t>The first stage of meiosis starts with the chromosomes pairing off during the prophase stage. </a:t>
            </a:r>
          </a:p>
          <a:p>
            <a:endParaRPr lang="en-AU" dirty="0"/>
          </a:p>
          <a:p>
            <a:r>
              <a:rPr lang="en-AU" dirty="0" smtClean="0"/>
              <a:t>During </a:t>
            </a:r>
            <a:r>
              <a:rPr lang="en-AU" b="1" dirty="0" smtClean="0"/>
              <a:t>Prophase I</a:t>
            </a:r>
            <a:r>
              <a:rPr lang="en-AU" dirty="0" smtClean="0"/>
              <a:t>, the chromosomes become visible as long threads. They move to lie alongside each other, then shrink and thicken as the DNA becomes more tightly coiled. As each chromosome consists of 2 chromatids, each chromosome pair appears as four strands which frequently twist together.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6017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First Meiotic Division </a:t>
            </a:r>
            <a:endParaRPr lang="en-AU" sz="6000" b="1" dirty="0"/>
          </a:p>
        </p:txBody>
      </p:sp>
      <p:sp>
        <p:nvSpPr>
          <p:cNvPr id="3" name="Content Placeholder 2"/>
          <p:cNvSpPr>
            <a:spLocks noGrp="1"/>
          </p:cNvSpPr>
          <p:nvPr>
            <p:ph idx="1"/>
          </p:nvPr>
        </p:nvSpPr>
        <p:spPr/>
        <p:txBody>
          <a:bodyPr/>
          <a:lstStyle/>
          <a:p>
            <a:r>
              <a:rPr lang="en-AU" dirty="0" smtClean="0"/>
              <a:t>A spindle then forms, stretching between the poles of the cell. The paired chromosomes move towards the spindle fibres until at </a:t>
            </a:r>
            <a:r>
              <a:rPr lang="en-AU" b="1" dirty="0" smtClean="0"/>
              <a:t>Metaphase I</a:t>
            </a:r>
            <a:r>
              <a:rPr lang="en-AU" dirty="0" smtClean="0"/>
              <a:t>, they are arranged on the spindle fibre across the equator of the cell. </a:t>
            </a:r>
          </a:p>
          <a:p>
            <a:endParaRPr lang="en-AU" dirty="0"/>
          </a:p>
          <a:p>
            <a:r>
              <a:rPr lang="en-AU" dirty="0" smtClean="0"/>
              <a:t>At </a:t>
            </a:r>
            <a:r>
              <a:rPr lang="en-AU" b="1" dirty="0" smtClean="0"/>
              <a:t>Anaphase I</a:t>
            </a:r>
            <a:r>
              <a:rPr lang="en-AU" dirty="0" smtClean="0"/>
              <a:t>, the pairs of homologous chromosomes move apart, with one member of each pair moving to each pole of the cell. During </a:t>
            </a:r>
            <a:r>
              <a:rPr lang="en-AU" b="1" dirty="0" smtClean="0"/>
              <a:t>Telophase I</a:t>
            </a:r>
            <a:r>
              <a:rPr lang="en-AU" dirty="0" smtClean="0"/>
              <a:t>, the chromosomes decondense and the nuclear membrane may reform. Cytokinesis also occurs, producing two cells.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2367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Second Meiotic Division </a:t>
            </a:r>
            <a:endParaRPr lang="en-AU" sz="6000" b="1" dirty="0"/>
          </a:p>
        </p:txBody>
      </p:sp>
      <p:sp>
        <p:nvSpPr>
          <p:cNvPr id="3" name="Content Placeholder 2"/>
          <p:cNvSpPr>
            <a:spLocks noGrp="1"/>
          </p:cNvSpPr>
          <p:nvPr>
            <p:ph idx="1"/>
          </p:nvPr>
        </p:nvSpPr>
        <p:spPr/>
        <p:txBody>
          <a:bodyPr/>
          <a:lstStyle/>
          <a:p>
            <a:r>
              <a:rPr lang="en-AU" dirty="0" smtClean="0"/>
              <a:t>During the second division, each daughter cell with it 23 chromosomes undergoes the same sequence of events resulting in four haploid cells being produced. </a:t>
            </a:r>
          </a:p>
          <a:p>
            <a:endParaRPr lang="en-AU" dirty="0"/>
          </a:p>
          <a:p>
            <a:r>
              <a:rPr lang="en-AU" dirty="0" smtClean="0"/>
              <a:t>During </a:t>
            </a:r>
            <a:r>
              <a:rPr lang="en-AU" b="1" dirty="0" smtClean="0"/>
              <a:t>Prophase II</a:t>
            </a:r>
            <a:r>
              <a:rPr lang="en-AU" dirty="0" smtClean="0"/>
              <a:t>, a new spindle forms at each end of the original spindle and usually at right angles to the original. The chromosomes in each cell gradually move towards the equator, so that at </a:t>
            </a:r>
            <a:r>
              <a:rPr lang="en-AU" b="1" dirty="0"/>
              <a:t>M</a:t>
            </a:r>
            <a:r>
              <a:rPr lang="en-AU" b="1" dirty="0" smtClean="0"/>
              <a:t>etaphase II</a:t>
            </a:r>
            <a:r>
              <a:rPr lang="en-AU" dirty="0" smtClean="0"/>
              <a:t>, they are arranged on the new spindle.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808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Second Meiotic Division </a:t>
            </a:r>
            <a:endParaRPr lang="en-AU" sz="6000" b="1" dirty="0"/>
          </a:p>
        </p:txBody>
      </p:sp>
      <p:sp>
        <p:nvSpPr>
          <p:cNvPr id="3" name="Content Placeholder 2"/>
          <p:cNvSpPr>
            <a:spLocks noGrp="1"/>
          </p:cNvSpPr>
          <p:nvPr>
            <p:ph idx="1"/>
          </p:nvPr>
        </p:nvSpPr>
        <p:spPr/>
        <p:txBody>
          <a:bodyPr/>
          <a:lstStyle/>
          <a:p>
            <a:r>
              <a:rPr lang="en-AU" dirty="0" smtClean="0"/>
              <a:t>The centromeres then divide, so that each chromatid is now a separate chromosome. These new chromosomes migrate to opposite poles of the cell (</a:t>
            </a:r>
            <a:r>
              <a:rPr lang="en-AU" b="1" dirty="0" smtClean="0"/>
              <a:t>Anaphase II</a:t>
            </a:r>
            <a:r>
              <a:rPr lang="en-AU" dirty="0" smtClean="0"/>
              <a:t>). Nuclear membranes begin to form and the cytoplasm starts to divide (</a:t>
            </a:r>
            <a:r>
              <a:rPr lang="en-AU" b="1" dirty="0" smtClean="0"/>
              <a:t>Telophase II </a:t>
            </a:r>
            <a:r>
              <a:rPr lang="en-AU" dirty="0" smtClean="0"/>
              <a:t>and Cytokinesis). </a:t>
            </a:r>
          </a:p>
          <a:p>
            <a:endParaRPr lang="en-AU" dirty="0"/>
          </a:p>
          <a:p>
            <a:r>
              <a:rPr lang="en-AU" dirty="0" smtClean="0"/>
              <a:t>By the end of the second division, four haploid cells have been formed.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865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57845" y="572985"/>
            <a:ext cx="11432766" cy="5716383"/>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5346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754" y="365125"/>
            <a:ext cx="11817532" cy="1325563"/>
          </a:xfrm>
        </p:spPr>
        <p:txBody>
          <a:bodyPr>
            <a:normAutofit fontScale="90000"/>
          </a:bodyPr>
          <a:lstStyle/>
          <a:p>
            <a:pPr algn="ctr"/>
            <a:r>
              <a:rPr lang="en-AU" sz="6000" b="1" dirty="0" smtClean="0"/>
              <a:t>Differences between mitosis and meiosis </a:t>
            </a:r>
            <a:endParaRPr lang="en-AU" sz="6000" b="1" dirty="0"/>
          </a:p>
        </p:txBody>
      </p:sp>
      <p:pic>
        <p:nvPicPr>
          <p:cNvPr id="5" name="Content Placeholder 4"/>
          <p:cNvPicPr>
            <a:picLocks noGrp="1" noChangeAspect="1"/>
          </p:cNvPicPr>
          <p:nvPr>
            <p:ph idx="1"/>
          </p:nvPr>
        </p:nvPicPr>
        <p:blipFill>
          <a:blip r:embed="rId2"/>
          <a:stretch>
            <a:fillRect/>
          </a:stretch>
        </p:blipFill>
        <p:spPr>
          <a:xfrm>
            <a:off x="649315" y="1599201"/>
            <a:ext cx="11133382" cy="5099487"/>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963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Variation in Daughter Cells</a:t>
            </a:r>
            <a:endParaRPr lang="en-AU" sz="6000" b="1" dirty="0"/>
          </a:p>
        </p:txBody>
      </p:sp>
      <p:sp>
        <p:nvSpPr>
          <p:cNvPr id="3" name="Content Placeholder 2"/>
          <p:cNvSpPr>
            <a:spLocks noGrp="1"/>
          </p:cNvSpPr>
          <p:nvPr>
            <p:ph idx="1"/>
          </p:nvPr>
        </p:nvSpPr>
        <p:spPr>
          <a:xfrm>
            <a:off x="254726" y="1425030"/>
            <a:ext cx="5789023" cy="5367655"/>
          </a:xfrm>
        </p:spPr>
        <p:txBody>
          <a:bodyPr/>
          <a:lstStyle/>
          <a:p>
            <a:r>
              <a:rPr lang="en-AU" dirty="0" smtClean="0"/>
              <a:t>Crossing Over: </a:t>
            </a:r>
          </a:p>
          <a:p>
            <a:pPr lvl="1"/>
            <a:r>
              <a:rPr lang="en-AU" dirty="0" smtClean="0"/>
              <a:t>Occurs during Prophase of the first meiotic division </a:t>
            </a:r>
          </a:p>
          <a:p>
            <a:pPr lvl="1"/>
            <a:r>
              <a:rPr lang="en-AU" dirty="0" smtClean="0"/>
              <a:t>When the homologous chromosomes are paired, chromatids may cross, break and exchange segments (crossing over)</a:t>
            </a:r>
          </a:p>
          <a:p>
            <a:pPr lvl="1"/>
            <a:r>
              <a:rPr lang="en-AU" dirty="0" smtClean="0"/>
              <a:t>The point where two chromatids cross is called a chiasma. </a:t>
            </a:r>
          </a:p>
          <a:p>
            <a:pPr lvl="1"/>
            <a:r>
              <a:rPr lang="en-AU" dirty="0" smtClean="0"/>
              <a:t>Crossing over can result in a new combination of genes, creating variation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6627223" y="1548765"/>
            <a:ext cx="4695825" cy="4857750"/>
          </a:xfrm>
          <a:prstGeom prst="rect">
            <a:avLst/>
          </a:prstGeom>
        </p:spPr>
      </p:pic>
    </p:spTree>
    <p:extLst>
      <p:ext uri="{BB962C8B-B14F-4D97-AF65-F5344CB8AC3E}">
        <p14:creationId xmlns:p14="http://schemas.microsoft.com/office/powerpoint/2010/main" val="2252210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Variation in Daughter Cells </a:t>
            </a:r>
            <a:endParaRPr lang="en-AU" sz="6000" b="1" dirty="0"/>
          </a:p>
        </p:txBody>
      </p:sp>
      <p:sp>
        <p:nvSpPr>
          <p:cNvPr id="3" name="Content Placeholder 2"/>
          <p:cNvSpPr>
            <a:spLocks noGrp="1"/>
          </p:cNvSpPr>
          <p:nvPr>
            <p:ph idx="1"/>
          </p:nvPr>
        </p:nvSpPr>
        <p:spPr/>
        <p:txBody>
          <a:bodyPr/>
          <a:lstStyle/>
          <a:p>
            <a:r>
              <a:rPr lang="en-AU" dirty="0" smtClean="0"/>
              <a:t>Non-disjunction</a:t>
            </a:r>
          </a:p>
          <a:p>
            <a:pPr lvl="1"/>
            <a:r>
              <a:rPr lang="en-AU" dirty="0" smtClean="0"/>
              <a:t>Occurs in two places (during the first or second meiotic division) </a:t>
            </a:r>
          </a:p>
          <a:p>
            <a:pPr lvl="1"/>
            <a:r>
              <a:rPr lang="en-AU" dirty="0" smtClean="0"/>
              <a:t>Result in one of the daughter cells receiving an extra chromosome and the other daughter cell lacking the chromosome. </a:t>
            </a:r>
          </a:p>
          <a:p>
            <a:pPr lvl="1"/>
            <a:r>
              <a:rPr lang="en-AU" dirty="0" smtClean="0"/>
              <a:t>This will produce unexpected characteristics in the offspring such as distinctive birth defects. Miscarriages are common. </a:t>
            </a:r>
          </a:p>
          <a:p>
            <a:pPr lvl="1"/>
            <a:r>
              <a:rPr lang="en-AU" dirty="0" smtClean="0"/>
              <a:t>E.g. Trisomy is when an individual inherits an extra copy of a chromosome. For people with Down Syndrome (Trisomy 21), an extra copy of chromosome 21 results in characteristic facial appearances, variable degrees of intellectual disability and physical abnormalities.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7285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Variation in Daughter Cells </a:t>
            </a:r>
            <a:endParaRPr lang="en-AU" sz="6000" b="1" dirty="0"/>
          </a:p>
        </p:txBody>
      </p:sp>
      <p:sp>
        <p:nvSpPr>
          <p:cNvPr id="3" name="Content Placeholder 2"/>
          <p:cNvSpPr>
            <a:spLocks noGrp="1"/>
          </p:cNvSpPr>
          <p:nvPr>
            <p:ph idx="1"/>
          </p:nvPr>
        </p:nvSpPr>
        <p:spPr>
          <a:xfrm>
            <a:off x="315686" y="1690688"/>
            <a:ext cx="5310051" cy="4351338"/>
          </a:xfrm>
        </p:spPr>
        <p:txBody>
          <a:bodyPr/>
          <a:lstStyle/>
          <a:p>
            <a:r>
              <a:rPr lang="en-AU" dirty="0" smtClean="0"/>
              <a:t>Non-disjunction (continued) </a:t>
            </a:r>
          </a:p>
          <a:p>
            <a:pPr lvl="1"/>
            <a:r>
              <a:rPr lang="en-AU" dirty="0" smtClean="0"/>
              <a:t>Monosomy is where an individual is missing a chromosome. It usually results in severe malformations and often miscarriage </a:t>
            </a:r>
          </a:p>
          <a:p>
            <a:pPr lvl="1"/>
            <a:r>
              <a:rPr lang="en-AU" dirty="0" smtClean="0"/>
              <a:t>Partial monosomy and partial trisomy can also occur.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5949043" y="1690688"/>
            <a:ext cx="5815148" cy="4238159"/>
          </a:xfrm>
          <a:prstGeom prst="rect">
            <a:avLst/>
          </a:prstGeom>
        </p:spPr>
      </p:pic>
      <p:sp>
        <p:nvSpPr>
          <p:cNvPr id="6" name="TextBox 5"/>
          <p:cNvSpPr txBox="1"/>
          <p:nvPr/>
        </p:nvSpPr>
        <p:spPr>
          <a:xfrm>
            <a:off x="6074228" y="6042026"/>
            <a:ext cx="5799909" cy="374469"/>
          </a:xfrm>
          <a:prstGeom prst="rect">
            <a:avLst/>
          </a:prstGeom>
          <a:noFill/>
        </p:spPr>
        <p:txBody>
          <a:bodyPr wrap="square" rtlCol="0">
            <a:spAutoFit/>
          </a:bodyPr>
          <a:lstStyle/>
          <a:p>
            <a:r>
              <a:rPr lang="en-AU" dirty="0" smtClean="0"/>
              <a:t>Down Syndrome Karyotype </a:t>
            </a:r>
            <a:endParaRPr lang="en-AU" dirty="0"/>
          </a:p>
        </p:txBody>
      </p:sp>
    </p:spTree>
    <p:extLst>
      <p:ext uri="{BB962C8B-B14F-4D97-AF65-F5344CB8AC3E}">
        <p14:creationId xmlns:p14="http://schemas.microsoft.com/office/powerpoint/2010/main" val="74581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Variation in Daughter Cells </a:t>
            </a:r>
            <a:endParaRPr lang="en-AU" sz="6000" b="1" dirty="0"/>
          </a:p>
        </p:txBody>
      </p:sp>
      <p:sp>
        <p:nvSpPr>
          <p:cNvPr id="3" name="Content Placeholder 2"/>
          <p:cNvSpPr>
            <a:spLocks noGrp="1"/>
          </p:cNvSpPr>
          <p:nvPr>
            <p:ph idx="1"/>
          </p:nvPr>
        </p:nvSpPr>
        <p:spPr/>
        <p:txBody>
          <a:bodyPr/>
          <a:lstStyle/>
          <a:p>
            <a:r>
              <a:rPr lang="en-AU" dirty="0" smtClean="0"/>
              <a:t>Random (or independent) assortment </a:t>
            </a:r>
          </a:p>
          <a:p>
            <a:pPr lvl="1"/>
            <a:r>
              <a:rPr lang="en-AU" dirty="0" smtClean="0"/>
              <a:t>During the first meiotic division, the homologous pairs of chromosomes separate. When they separate, they do so at random. </a:t>
            </a:r>
          </a:p>
          <a:p>
            <a:pPr lvl="1"/>
            <a:r>
              <a:rPr lang="en-AU" dirty="0" smtClean="0"/>
              <a:t>This random, independent assortment takes place for each of the 23 pairs of chromosomes, meaning any single human egg receives one of two possible chromosomes 23 times (total number of combinations is 8.4 million just for eggs) </a:t>
            </a:r>
          </a:p>
          <a:p>
            <a:pPr lvl="1"/>
            <a:r>
              <a:rPr lang="en-AU" dirty="0" smtClean="0"/>
              <a:t>The same random, independent assortment goes for sperm too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8401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Where does meiosis occur</a:t>
            </a:r>
            <a:r>
              <a:rPr lang="en-AU" dirty="0" smtClean="0"/>
              <a:t>?</a:t>
            </a:r>
          </a:p>
          <a:p>
            <a:pPr marL="514350" indent="-514350">
              <a:buFont typeface="+mj-lt"/>
              <a:buAutoNum type="arabicPeriod"/>
            </a:pPr>
            <a:r>
              <a:rPr lang="en-AU" dirty="0" smtClean="0"/>
              <a:t>List three processes that lead to variation between daughter cells. </a:t>
            </a:r>
          </a:p>
          <a:p>
            <a:pPr marL="514350" indent="-514350">
              <a:buFont typeface="+mj-lt"/>
              <a:buAutoNum type="arabicPeriod"/>
            </a:pPr>
            <a:r>
              <a:rPr lang="en-AU" dirty="0" smtClean="0"/>
              <a:t>Explain how non-disjunction can lead to Down Syndrome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Apply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The Tasmanian Devil has a diploid umber of 14. State its haploid number. </a:t>
            </a:r>
          </a:p>
          <a:p>
            <a:pPr marL="514350" indent="-514350">
              <a:buFont typeface="+mj-lt"/>
              <a:buAutoNum type="arabicPeriod"/>
            </a:pPr>
            <a:r>
              <a:rPr lang="en-AU" dirty="0" smtClean="0"/>
              <a:t>Explain why meiosis has two stages, whereas mitosis only has one. </a:t>
            </a:r>
            <a:endParaRPr lang="en-AU" dirty="0" smtClean="0"/>
          </a:p>
          <a:p>
            <a:pPr marL="514350" indent="-514350">
              <a:buFont typeface="+mj-lt"/>
              <a:buAutoNum type="arabicPeriod"/>
            </a:pPr>
            <a:r>
              <a:rPr lang="en-AU" dirty="0" smtClean="0"/>
              <a:t>Describe random assortment with reference to chromosomes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Explain how each of the following leads to variation in daughter cells: </a:t>
            </a:r>
          </a:p>
          <a:p>
            <a:pPr marL="971550" lvl="1" indent="-514350">
              <a:buFont typeface="+mj-lt"/>
              <a:buAutoNum type="alphaLcPeriod"/>
            </a:pPr>
            <a:r>
              <a:rPr lang="en-AU" dirty="0" smtClean="0"/>
              <a:t>Independent assortment </a:t>
            </a:r>
          </a:p>
          <a:p>
            <a:pPr marL="971550" lvl="1" indent="-514350">
              <a:buFont typeface="+mj-lt"/>
              <a:buAutoNum type="alphaLcPeriod"/>
            </a:pPr>
            <a:r>
              <a:rPr lang="en-AU" dirty="0" smtClean="0"/>
              <a:t>Non-disjunction </a:t>
            </a:r>
          </a:p>
          <a:p>
            <a:pPr marL="971550" lvl="1" indent="-514350">
              <a:buFont typeface="+mj-lt"/>
              <a:buAutoNum type="alphaLcPeriod"/>
            </a:pPr>
            <a:r>
              <a:rPr lang="en-AU" dirty="0" smtClean="0"/>
              <a:t>Crossing over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lstStyle/>
          <a:p>
            <a:r>
              <a:rPr lang="en-AU" dirty="0" smtClean="0"/>
              <a:t>Pages 254 - 261: Cells divide for growth, repair, replacement and reproduction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1378</Words>
  <Application>Microsoft Office PowerPoint</Application>
  <PresentationFormat>Widescreen</PresentationFormat>
  <Paragraphs>134</Paragraphs>
  <Slides>29</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29</vt:i4>
      </vt:variant>
    </vt:vector>
  </HeadingPairs>
  <TitlesOfParts>
    <vt:vector size="34" baseType="lpstr">
      <vt:lpstr>Arial</vt:lpstr>
      <vt:lpstr>Calibri</vt:lpstr>
      <vt:lpstr>Calibri Light</vt:lpstr>
      <vt:lpstr>Office Theme</vt:lpstr>
      <vt:lpstr>1_Office Theme</vt:lpstr>
      <vt:lpstr>Meiosis </vt:lpstr>
      <vt:lpstr>SCSA Syllabus Reference </vt:lpstr>
      <vt:lpstr>Lesson Intention </vt:lpstr>
      <vt:lpstr>Success Criteria </vt:lpstr>
      <vt:lpstr>Vocabulary </vt:lpstr>
      <vt:lpstr>Vocabulary </vt:lpstr>
      <vt:lpstr>Vocabulary </vt:lpstr>
      <vt:lpstr>Vocabulary </vt:lpstr>
      <vt:lpstr>Vocabulary </vt:lpstr>
      <vt:lpstr>Vocabulary </vt:lpstr>
      <vt:lpstr>Vocabulary </vt:lpstr>
      <vt:lpstr>Producing Gametes </vt:lpstr>
      <vt:lpstr>PowerPoint Presentation</vt:lpstr>
      <vt:lpstr>Diploid and Haploid </vt:lpstr>
      <vt:lpstr>PowerPoint Presentation</vt:lpstr>
      <vt:lpstr>First Meiotic Division </vt:lpstr>
      <vt:lpstr>First Meiotic Division </vt:lpstr>
      <vt:lpstr>Second Meiotic Division </vt:lpstr>
      <vt:lpstr>Second Meiotic Division </vt:lpstr>
      <vt:lpstr>PowerPoint Presentation</vt:lpstr>
      <vt:lpstr>Differences between mitosis and meiosis </vt:lpstr>
      <vt:lpstr>Variation in Daughter Cells</vt:lpstr>
      <vt:lpstr>Variation in Daughter Cells </vt:lpstr>
      <vt:lpstr>Variation in Daughter Cells </vt:lpstr>
      <vt:lpstr>Variation in Daughter Cells </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17</cp:revision>
  <dcterms:created xsi:type="dcterms:W3CDTF">2021-12-16T00:48:44Z</dcterms:created>
  <dcterms:modified xsi:type="dcterms:W3CDTF">2022-07-09T22:33:03Z</dcterms:modified>
</cp:coreProperties>
</file>
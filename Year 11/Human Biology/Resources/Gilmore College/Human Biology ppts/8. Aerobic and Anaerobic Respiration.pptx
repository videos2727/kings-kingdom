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0" r:id="rId7"/>
    <p:sldId id="261" r:id="rId8"/>
    <p:sldId id="267" r:id="rId9"/>
    <p:sldId id="268" r:id="rId10"/>
    <p:sldId id="270" r:id="rId11"/>
    <p:sldId id="271" r:id="rId12"/>
    <p:sldId id="272" r:id="rId13"/>
    <p:sldId id="275" r:id="rId14"/>
    <p:sldId id="281" r:id="rId15"/>
    <p:sldId id="276" r:id="rId16"/>
    <p:sldId id="279" r:id="rId17"/>
    <p:sldId id="280" r:id="rId18"/>
    <p:sldId id="277" r:id="rId19"/>
    <p:sldId id="278" r:id="rId20"/>
    <p:sldId id="273" r:id="rId21"/>
    <p:sldId id="274" r:id="rId22"/>
    <p:sldId id="282" r:id="rId23"/>
    <p:sldId id="283" r:id="rId24"/>
    <p:sldId id="263" r:id="rId25"/>
    <p:sldId id="264" r:id="rId26"/>
    <p:sldId id="265" r:id="rId27"/>
    <p:sldId id="26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24/02/2022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2766983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24/02/2022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802497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7DF4103-AC13-4E81-8F4A-7126A09DB8C9}" type="datetimeFigureOut">
              <a:rPr lang="en-AU" smtClean="0"/>
              <a:t>24/02/2022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970930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7DF4103-AC13-4E81-8F4A-7126A09DB8C9}" type="datetimeFigureOut">
              <a:rPr lang="en-AU" smtClean="0"/>
              <a:t>24/02/2022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507289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7DF4103-AC13-4E81-8F4A-7126A09DB8C9}" type="datetimeFigureOut">
              <a:rPr lang="en-AU" smtClean="0"/>
              <a:t>24/02/2022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962155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7DF4103-AC13-4E81-8F4A-7126A09DB8C9}" type="datetimeFigureOut">
              <a:rPr lang="en-AU" smtClean="0"/>
              <a:t>24/02/2022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4160661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DF4103-AC13-4E81-8F4A-7126A09DB8C9}" type="datetimeFigureOut">
              <a:rPr lang="en-AU" smtClean="0"/>
              <a:t>24/02/2022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377650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24/02/2022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145789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24/02/2022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053992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24/02/2022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93806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24/02/2022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515187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24/02/2022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90638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24/02/2022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430230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4EBC541-E1E4-46F0-B6E0-A9FD71F2F171}" type="datetimeFigureOut">
              <a:rPr lang="en-AU" smtClean="0"/>
              <a:t>24/02/2022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77392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4EBC541-E1E4-46F0-B6E0-A9FD71F2F171}" type="datetimeFigureOut">
              <a:rPr lang="en-AU" smtClean="0"/>
              <a:t>24/02/2022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589351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4EBC541-E1E4-46F0-B6E0-A9FD71F2F171}" type="datetimeFigureOut">
              <a:rPr lang="en-AU" smtClean="0"/>
              <a:t>24/02/2022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318456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4EBC541-E1E4-46F0-B6E0-A9FD71F2F171}" type="datetimeFigureOut">
              <a:rPr lang="en-AU" smtClean="0"/>
              <a:t>24/02/2022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4197532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EBC541-E1E4-46F0-B6E0-A9FD71F2F171}" type="datetimeFigureOut">
              <a:rPr lang="en-AU" smtClean="0"/>
              <a:t>24/02/2022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114883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24/02/2022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146108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24/02/2022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21566055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24/02/2022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141002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24/02/2022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52913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F4103-AC13-4E81-8F4A-7126A09DB8C9}" type="datetimeFigureOut">
              <a:rPr lang="en-AU" smtClean="0"/>
              <a:t>24/02/2022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F673CC-80CF-4E11-86F4-AB5A15E3C01E}" type="slidenum">
              <a:rPr lang="en-AU" smtClean="0"/>
              <a:t>‹#›</a:t>
            </a:fld>
            <a:endParaRPr lang="en-AU"/>
          </a:p>
        </p:txBody>
      </p:sp>
    </p:spTree>
    <p:extLst>
      <p:ext uri="{BB962C8B-B14F-4D97-AF65-F5344CB8AC3E}">
        <p14:creationId xmlns:p14="http://schemas.microsoft.com/office/powerpoint/2010/main" val="3618694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EBC541-E1E4-46F0-B6E0-A9FD71F2F171}" type="datetimeFigureOut">
              <a:rPr lang="en-AU" smtClean="0"/>
              <a:t>24/02/2022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24464C-AF91-46F0-8BFB-6ED76731428E}" type="slidenum">
              <a:rPr lang="en-AU" smtClean="0"/>
              <a:t>‹#›</a:t>
            </a:fld>
            <a:endParaRPr lang="en-AU"/>
          </a:p>
        </p:txBody>
      </p:sp>
    </p:spTree>
    <p:extLst>
      <p:ext uri="{BB962C8B-B14F-4D97-AF65-F5344CB8AC3E}">
        <p14:creationId xmlns:p14="http://schemas.microsoft.com/office/powerpoint/2010/main" val="1359971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AU" sz="8000" b="1" dirty="0" smtClean="0"/>
              <a:t>Aerobic and Anaerobic Respiration</a:t>
            </a:r>
            <a:endParaRPr lang="en-AU" sz="8000" b="1" dirty="0"/>
          </a:p>
        </p:txBody>
      </p:sp>
      <p:sp>
        <p:nvSpPr>
          <p:cNvPr id="3" name="Subtitle 2"/>
          <p:cNvSpPr>
            <a:spLocks noGrp="1"/>
          </p:cNvSpPr>
          <p:nvPr>
            <p:ph type="subTitle" idx="1"/>
          </p:nvPr>
        </p:nvSpPr>
        <p:spPr/>
        <p:txBody>
          <a:bodyPr/>
          <a:lstStyle/>
          <a:p>
            <a:r>
              <a:rPr lang="en-AU" dirty="0" smtClean="0"/>
              <a:t>Year 11 Human Biology </a:t>
            </a:r>
          </a:p>
          <a:p>
            <a:r>
              <a:rPr lang="en-AU" dirty="0" smtClean="0"/>
              <a:t>ATAR </a:t>
            </a:r>
          </a:p>
          <a:p>
            <a:r>
              <a:rPr lang="en-AU" dirty="0" smtClean="0"/>
              <a:t>PowerPoint 8</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492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SCSA Syllabus Reference </a:t>
            </a:r>
            <a:endParaRPr lang="en-AU" sz="6000" dirty="0"/>
          </a:p>
        </p:txBody>
      </p:sp>
      <p:sp>
        <p:nvSpPr>
          <p:cNvPr id="3" name="Content Placeholder 2"/>
          <p:cNvSpPr>
            <a:spLocks noGrp="1"/>
          </p:cNvSpPr>
          <p:nvPr>
            <p:ph idx="1"/>
          </p:nvPr>
        </p:nvSpPr>
        <p:spPr/>
        <p:txBody>
          <a:bodyPr/>
          <a:lstStyle/>
          <a:p>
            <a:r>
              <a:rPr lang="en-AU" dirty="0"/>
              <a:t>Cellular respiration occurs, in different locations in the cytosol and mitochondria, to catabolise organic compounds, aerobically or anaerobically, to release energy in the form of adenosine triphosphate (ATP)</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9133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Lesson Intention </a:t>
            </a:r>
            <a:endParaRPr lang="en-AU" sz="6000" b="1" dirty="0"/>
          </a:p>
        </p:txBody>
      </p:sp>
      <p:sp>
        <p:nvSpPr>
          <p:cNvPr id="3" name="Content Placeholder 2"/>
          <p:cNvSpPr>
            <a:spLocks noGrp="1"/>
          </p:cNvSpPr>
          <p:nvPr>
            <p:ph idx="1"/>
          </p:nvPr>
        </p:nvSpPr>
        <p:spPr/>
        <p:txBody>
          <a:bodyPr/>
          <a:lstStyle/>
          <a:p>
            <a:r>
              <a:rPr lang="en-AU" dirty="0"/>
              <a:t>To explore the process of cellular respiration </a:t>
            </a:r>
          </a:p>
          <a:p>
            <a:endParaRPr lang="en-AU" dirty="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3027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p:txBody>
          <a:bodyPr/>
          <a:lstStyle/>
          <a:p>
            <a:r>
              <a:rPr lang="en-AU" dirty="0" smtClean="0"/>
              <a:t>define </a:t>
            </a:r>
            <a:r>
              <a:rPr lang="en-AU" dirty="0"/>
              <a:t>cellular respiration</a:t>
            </a:r>
          </a:p>
          <a:p>
            <a:r>
              <a:rPr lang="en-AU" dirty="0" smtClean="0"/>
              <a:t>state </a:t>
            </a:r>
            <a:r>
              <a:rPr lang="en-AU" dirty="0"/>
              <a:t>the chemical and word equation for cellular respiration </a:t>
            </a:r>
          </a:p>
          <a:p>
            <a:r>
              <a:rPr lang="en-AU" dirty="0" smtClean="0"/>
              <a:t>distinguish </a:t>
            </a:r>
            <a:r>
              <a:rPr lang="en-AU" dirty="0"/>
              <a:t>between ATP and ADP </a:t>
            </a:r>
          </a:p>
          <a:p>
            <a:r>
              <a:rPr lang="en-AU" dirty="0" smtClean="0"/>
              <a:t>describe </a:t>
            </a:r>
            <a:r>
              <a:rPr lang="en-AU" dirty="0"/>
              <a:t>the process of glycolysis </a:t>
            </a:r>
          </a:p>
          <a:p>
            <a:r>
              <a:rPr lang="en-AU" dirty="0" smtClean="0"/>
              <a:t>describe </a:t>
            </a:r>
            <a:r>
              <a:rPr lang="en-AU" dirty="0"/>
              <a:t>the process of anaerobic respiration </a:t>
            </a:r>
            <a:endParaRPr lang="en-AU" dirty="0" smtClean="0"/>
          </a:p>
          <a:p>
            <a:r>
              <a:rPr lang="en-AU" dirty="0" smtClean="0"/>
              <a:t>to </a:t>
            </a:r>
            <a:r>
              <a:rPr lang="en-AU" dirty="0"/>
              <a:t>explain the steps in aerobic respiration. </a:t>
            </a:r>
          </a:p>
          <a:p>
            <a:r>
              <a:rPr lang="en-AU" dirty="0" smtClean="0"/>
              <a:t>to </a:t>
            </a:r>
            <a:r>
              <a:rPr lang="en-AU" dirty="0"/>
              <a:t>state the chemical and word equation for aerobic respiration </a:t>
            </a:r>
          </a:p>
          <a:p>
            <a:r>
              <a:rPr lang="en-AU" dirty="0" smtClean="0"/>
              <a:t>to </a:t>
            </a:r>
            <a:r>
              <a:rPr lang="en-AU" dirty="0"/>
              <a:t>summarise how energy is used by the cell.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3481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385354" y="1459864"/>
            <a:ext cx="11440886" cy="5184775"/>
          </a:xfrm>
        </p:spPr>
        <p:txBody>
          <a:bodyPr/>
          <a:lstStyle/>
          <a:p>
            <a:r>
              <a:rPr lang="en-AU" b="1" dirty="0"/>
              <a:t>Cellular Respiration</a:t>
            </a:r>
            <a:r>
              <a:rPr lang="en-AU" dirty="0"/>
              <a:t>: the chemical reactions that make energy available for the cell </a:t>
            </a:r>
            <a:endParaRPr lang="en-AU" dirty="0" smtClean="0"/>
          </a:p>
          <a:p>
            <a:endParaRPr lang="en-AU" dirty="0"/>
          </a:p>
          <a:p>
            <a:r>
              <a:rPr lang="en-AU" b="1" dirty="0"/>
              <a:t>Glycolysis</a:t>
            </a:r>
            <a:r>
              <a:rPr lang="en-AU" dirty="0"/>
              <a:t>: the breakdown of a glucose molecule to pyruvate; it releases energy to form two molecules of adenosine triphosphate (ATP) </a:t>
            </a:r>
            <a:endParaRPr lang="en-AU" dirty="0" smtClean="0"/>
          </a:p>
          <a:p>
            <a:endParaRPr lang="en-AU" dirty="0"/>
          </a:p>
          <a:p>
            <a:r>
              <a:rPr lang="en-AU" b="1" dirty="0"/>
              <a:t>Anaerobic Respiration</a:t>
            </a:r>
            <a:r>
              <a:rPr lang="en-AU" dirty="0"/>
              <a:t>: respiration that does not require </a:t>
            </a:r>
            <a:r>
              <a:rPr lang="en-AU" dirty="0" smtClean="0"/>
              <a:t>oxygen</a:t>
            </a:r>
          </a:p>
          <a:p>
            <a:endParaRPr lang="en-AU" dirty="0"/>
          </a:p>
          <a:p>
            <a:r>
              <a:rPr lang="en-AU" b="1" dirty="0"/>
              <a:t>Oxygen debt</a:t>
            </a:r>
            <a:r>
              <a:rPr lang="en-AU" dirty="0"/>
              <a:t>: extra oxygen required, in addition to the normal resting requirement, to remove the lactic acid produced during exercise.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196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Vocabulary </a:t>
            </a:r>
            <a:endParaRPr lang="en-AU" sz="6000" b="1" dirty="0"/>
          </a:p>
        </p:txBody>
      </p:sp>
      <p:sp>
        <p:nvSpPr>
          <p:cNvPr id="3" name="Content Placeholder 2"/>
          <p:cNvSpPr>
            <a:spLocks noGrp="1"/>
          </p:cNvSpPr>
          <p:nvPr>
            <p:ph idx="1"/>
          </p:nvPr>
        </p:nvSpPr>
        <p:spPr>
          <a:xfrm>
            <a:off x="707571" y="1564366"/>
            <a:ext cx="11075125" cy="4897393"/>
          </a:xfrm>
        </p:spPr>
        <p:txBody>
          <a:bodyPr/>
          <a:lstStyle/>
          <a:p>
            <a:r>
              <a:rPr lang="en-AU" b="1" dirty="0"/>
              <a:t>Aerobic Respiration</a:t>
            </a:r>
            <a:r>
              <a:rPr lang="en-AU" dirty="0"/>
              <a:t>: respiration requiring </a:t>
            </a:r>
            <a:r>
              <a:rPr lang="en-AU" dirty="0" smtClean="0"/>
              <a:t>oxygen</a:t>
            </a:r>
          </a:p>
          <a:p>
            <a:endParaRPr lang="en-AU" dirty="0"/>
          </a:p>
          <a:p>
            <a:r>
              <a:rPr lang="en-AU" b="1" dirty="0"/>
              <a:t>Citric Acid Cycle</a:t>
            </a:r>
            <a:r>
              <a:rPr lang="en-AU" dirty="0"/>
              <a:t>: the series of reactions that occur in the mitochondria during aerobic respiration where acetyl CoA enters and carbon dioxide id released. </a:t>
            </a:r>
            <a:endParaRPr lang="en-AU" dirty="0" smtClean="0"/>
          </a:p>
          <a:p>
            <a:endParaRPr lang="en-AU" dirty="0"/>
          </a:p>
          <a:p>
            <a:r>
              <a:rPr lang="en-AU" b="1" dirty="0"/>
              <a:t>Electron Transport System</a:t>
            </a:r>
            <a:r>
              <a:rPr lang="en-AU" dirty="0"/>
              <a:t>: a series of chemical reactions occurring in the mitochondria whereby energy from carrier molecules is transferred to ATP for storage.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503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Cellular Respiration </a:t>
            </a:r>
            <a:endParaRPr lang="en-AU" sz="6000" b="1" dirty="0"/>
          </a:p>
        </p:txBody>
      </p:sp>
      <p:sp>
        <p:nvSpPr>
          <p:cNvPr id="3" name="Content Placeholder 2"/>
          <p:cNvSpPr>
            <a:spLocks noGrp="1"/>
          </p:cNvSpPr>
          <p:nvPr>
            <p:ph idx="1"/>
          </p:nvPr>
        </p:nvSpPr>
        <p:spPr/>
        <p:txBody>
          <a:bodyPr/>
          <a:lstStyle/>
          <a:p>
            <a:r>
              <a:rPr lang="en-AU" dirty="0" smtClean="0"/>
              <a:t>One of the most important metabolic processes in any cell. </a:t>
            </a:r>
          </a:p>
          <a:p>
            <a:endParaRPr lang="en-AU" dirty="0"/>
          </a:p>
          <a:p>
            <a:r>
              <a:rPr lang="en-AU" dirty="0" smtClean="0"/>
              <a:t>Organic molecules (food) are broken down in the cells to release energy for the cell’s activities. </a:t>
            </a:r>
            <a:endParaRPr lang="en-AU" dirty="0"/>
          </a:p>
          <a:p>
            <a:endParaRPr lang="en-AU" dirty="0" smtClean="0"/>
          </a:p>
          <a:p>
            <a:r>
              <a:rPr lang="en-AU" dirty="0" smtClean="0"/>
              <a:t>Cellular respiration can release energy from glucose (main one), amino acids, fatty acids and glycerol.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0755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Cellular respiration equation </a:t>
            </a:r>
            <a:endParaRPr lang="en-AU" sz="6000" b="1" dirty="0"/>
          </a:p>
        </p:txBody>
      </p:sp>
      <p:sp>
        <p:nvSpPr>
          <p:cNvPr id="3" name="Content Placeholder 2"/>
          <p:cNvSpPr>
            <a:spLocks noGrp="1"/>
          </p:cNvSpPr>
          <p:nvPr>
            <p:ph idx="1"/>
          </p:nvPr>
        </p:nvSpPr>
        <p:spPr/>
        <p:txBody>
          <a:bodyPr>
            <a:normAutofit/>
          </a:bodyPr>
          <a:lstStyle/>
          <a:p>
            <a:r>
              <a:rPr lang="en-AU" sz="3000" dirty="0" smtClean="0"/>
              <a:t>Glucose   +   Oxygen  </a:t>
            </a:r>
            <a:r>
              <a:rPr lang="en-AU" sz="3000" dirty="0" smtClean="0">
                <a:sym typeface="Wingdings" panose="05000000000000000000" pitchFamily="2" charset="2"/>
              </a:rPr>
              <a:t>  Carbon Dioxide +  Water  +  Energy </a:t>
            </a:r>
          </a:p>
          <a:p>
            <a:r>
              <a:rPr lang="en-AU" sz="3000" dirty="0" smtClean="0">
                <a:sym typeface="Wingdings" panose="05000000000000000000" pitchFamily="2" charset="2"/>
              </a:rPr>
              <a:t>C</a:t>
            </a:r>
            <a:r>
              <a:rPr lang="en-AU" sz="3000" baseline="-25000" dirty="0" smtClean="0">
                <a:sym typeface="Wingdings" panose="05000000000000000000" pitchFamily="2" charset="2"/>
              </a:rPr>
              <a:t>6</a:t>
            </a:r>
            <a:r>
              <a:rPr lang="en-AU" sz="3000" dirty="0" smtClean="0">
                <a:sym typeface="Wingdings" panose="05000000000000000000" pitchFamily="2" charset="2"/>
              </a:rPr>
              <a:t>H</a:t>
            </a:r>
            <a:r>
              <a:rPr lang="en-AU" sz="3000" baseline="-25000" dirty="0" smtClean="0">
                <a:sym typeface="Wingdings" panose="05000000000000000000" pitchFamily="2" charset="2"/>
              </a:rPr>
              <a:t>12</a:t>
            </a:r>
            <a:r>
              <a:rPr lang="en-AU" sz="3000" dirty="0" smtClean="0">
                <a:sym typeface="Wingdings" panose="05000000000000000000" pitchFamily="2" charset="2"/>
              </a:rPr>
              <a:t>0</a:t>
            </a:r>
            <a:r>
              <a:rPr lang="en-AU" sz="3000" baseline="-25000" dirty="0" smtClean="0">
                <a:sym typeface="Wingdings" panose="05000000000000000000" pitchFamily="2" charset="2"/>
              </a:rPr>
              <a:t>6</a:t>
            </a:r>
            <a:r>
              <a:rPr lang="en-AU" sz="3000" dirty="0" smtClean="0">
                <a:sym typeface="Wingdings" panose="05000000000000000000" pitchFamily="2" charset="2"/>
              </a:rPr>
              <a:t>    +     6O</a:t>
            </a:r>
            <a:r>
              <a:rPr lang="en-AU" sz="3000" baseline="-25000" dirty="0" smtClean="0">
                <a:sym typeface="Wingdings" panose="05000000000000000000" pitchFamily="2" charset="2"/>
              </a:rPr>
              <a:t>2</a:t>
            </a:r>
            <a:r>
              <a:rPr lang="en-AU" sz="3000" dirty="0" smtClean="0">
                <a:sym typeface="Wingdings" panose="05000000000000000000" pitchFamily="2" charset="2"/>
              </a:rPr>
              <a:t>              6CO</a:t>
            </a:r>
            <a:r>
              <a:rPr lang="en-AU" sz="3000" baseline="-25000" dirty="0" smtClean="0">
                <a:sym typeface="Wingdings" panose="05000000000000000000" pitchFamily="2" charset="2"/>
              </a:rPr>
              <a:t>2</a:t>
            </a:r>
            <a:r>
              <a:rPr lang="en-AU" sz="3000" dirty="0" smtClean="0">
                <a:sym typeface="Wingdings" panose="05000000000000000000" pitchFamily="2" charset="2"/>
              </a:rPr>
              <a:t>              +  6H</a:t>
            </a:r>
            <a:r>
              <a:rPr lang="en-AU" sz="3000" baseline="-25000" dirty="0" smtClean="0">
                <a:sym typeface="Wingdings" panose="05000000000000000000" pitchFamily="2" charset="2"/>
              </a:rPr>
              <a:t>2</a:t>
            </a:r>
            <a:r>
              <a:rPr lang="en-AU" sz="3000" dirty="0" smtClean="0">
                <a:sym typeface="Wingdings" panose="05000000000000000000" pitchFamily="2" charset="2"/>
              </a:rPr>
              <a:t>O   +  ATP and heat</a:t>
            </a:r>
          </a:p>
          <a:p>
            <a:endParaRPr lang="en-AU" sz="3000" dirty="0">
              <a:sym typeface="Wingdings" panose="05000000000000000000" pitchFamily="2" charset="2"/>
            </a:endParaRPr>
          </a:p>
          <a:p>
            <a:endParaRPr lang="en-AU" sz="3000" dirty="0" smtClean="0">
              <a:sym typeface="Wingdings" panose="05000000000000000000" pitchFamily="2" charset="2"/>
            </a:endParaRPr>
          </a:p>
          <a:p>
            <a:r>
              <a:rPr lang="en-AU" sz="3000" dirty="0" smtClean="0">
                <a:sym typeface="Wingdings" panose="05000000000000000000" pitchFamily="2" charset="2"/>
              </a:rPr>
              <a:t>Cellular respiration is a multistep process that releases energy from glucose.  </a:t>
            </a:r>
            <a:endParaRPr lang="en-AU" sz="30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7278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Energy from Cellular Respiration </a:t>
            </a:r>
            <a:endParaRPr lang="en-AU" sz="6000" b="1" dirty="0"/>
          </a:p>
        </p:txBody>
      </p:sp>
      <p:sp>
        <p:nvSpPr>
          <p:cNvPr id="3" name="Content Placeholder 2"/>
          <p:cNvSpPr>
            <a:spLocks noGrp="1"/>
          </p:cNvSpPr>
          <p:nvPr>
            <p:ph idx="1"/>
          </p:nvPr>
        </p:nvSpPr>
        <p:spPr/>
        <p:txBody>
          <a:bodyPr/>
          <a:lstStyle/>
          <a:p>
            <a:r>
              <a:rPr lang="en-AU" dirty="0" smtClean="0"/>
              <a:t>During the breakdown of glucose, about 60% of the available energy is released as heat. Cells cannot utilise heat energy, but it is important in keeping body temperature constant. </a:t>
            </a:r>
          </a:p>
          <a:p>
            <a:endParaRPr lang="en-AU" dirty="0"/>
          </a:p>
          <a:p>
            <a:r>
              <a:rPr lang="en-AU" dirty="0" smtClean="0"/>
              <a:t>The remaining 40% is used to form a compound called adenosine triphosphate (ATP). </a:t>
            </a:r>
          </a:p>
          <a:p>
            <a:endParaRPr lang="en-AU" dirty="0"/>
          </a:p>
          <a:p>
            <a:r>
              <a:rPr lang="en-AU" dirty="0" smtClean="0"/>
              <a:t>ATP is composed of adenosine and three phosphate groups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0103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Energy from Cellular Respiration </a:t>
            </a:r>
            <a:endParaRPr lang="en-AU" sz="6000" b="1" dirty="0"/>
          </a:p>
        </p:txBody>
      </p:sp>
      <p:sp>
        <p:nvSpPr>
          <p:cNvPr id="3" name="Content Placeholder 2"/>
          <p:cNvSpPr>
            <a:spLocks noGrp="1"/>
          </p:cNvSpPr>
          <p:nvPr>
            <p:ph idx="1"/>
          </p:nvPr>
        </p:nvSpPr>
        <p:spPr/>
        <p:txBody>
          <a:bodyPr/>
          <a:lstStyle/>
          <a:p>
            <a:r>
              <a:rPr lang="en-AU" dirty="0" smtClean="0"/>
              <a:t>ATP is formed when an inorganic phosphate group is joined to a molecule of adenosine diphosphate (ADP). </a:t>
            </a:r>
          </a:p>
          <a:p>
            <a:endParaRPr lang="en-AU" dirty="0"/>
          </a:p>
          <a:p>
            <a:r>
              <a:rPr lang="en-AU" dirty="0" smtClean="0"/>
              <a:t>The phosphate groups in ATP are joined by high energy chemical bonds. </a:t>
            </a:r>
          </a:p>
          <a:p>
            <a:endParaRPr lang="en-AU" dirty="0"/>
          </a:p>
          <a:p>
            <a:r>
              <a:rPr lang="en-AU" dirty="0" smtClean="0"/>
              <a:t>ATP can be used to transfer energy between cellular respiration and processes in the cell requiring energy. ATP stores energy; the energy is released when ATP breaks down to ADP.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6444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Glycolysis </a:t>
            </a:r>
            <a:endParaRPr lang="en-AU" sz="6000" b="1" dirty="0"/>
          </a:p>
        </p:txBody>
      </p:sp>
      <p:sp>
        <p:nvSpPr>
          <p:cNvPr id="3" name="Content Placeholder 2"/>
          <p:cNvSpPr>
            <a:spLocks noGrp="1"/>
          </p:cNvSpPr>
          <p:nvPr>
            <p:ph idx="1"/>
          </p:nvPr>
        </p:nvSpPr>
        <p:spPr/>
        <p:txBody>
          <a:bodyPr/>
          <a:lstStyle/>
          <a:p>
            <a:r>
              <a:rPr lang="en-AU" dirty="0" smtClean="0"/>
              <a:t>The first phase in the breakdown of glucose does not require oxygen. </a:t>
            </a:r>
          </a:p>
          <a:p>
            <a:endParaRPr lang="en-AU" dirty="0"/>
          </a:p>
          <a:p>
            <a:r>
              <a:rPr lang="en-AU" dirty="0" smtClean="0"/>
              <a:t>A glucose molecule is broken down, in a series of 10 steps, to two molecules of pyruvate (pyruvic acid)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2513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Anaerobic Respiration </a:t>
            </a:r>
            <a:endParaRPr lang="en-AU" sz="6000" b="1" dirty="0"/>
          </a:p>
        </p:txBody>
      </p:sp>
      <p:sp>
        <p:nvSpPr>
          <p:cNvPr id="3" name="Content Placeholder 2"/>
          <p:cNvSpPr>
            <a:spLocks noGrp="1"/>
          </p:cNvSpPr>
          <p:nvPr>
            <p:ph idx="1"/>
          </p:nvPr>
        </p:nvSpPr>
        <p:spPr/>
        <p:txBody>
          <a:bodyPr/>
          <a:lstStyle/>
          <a:p>
            <a:r>
              <a:rPr lang="en-AU" dirty="0" smtClean="0"/>
              <a:t>If no oxygen is available, the pyruvate produced in glycolysis is then converted to lactic acid by fermentation. </a:t>
            </a:r>
          </a:p>
          <a:p>
            <a:endParaRPr lang="en-AU" dirty="0"/>
          </a:p>
          <a:p>
            <a:r>
              <a:rPr lang="en-AU" dirty="0" smtClean="0"/>
              <a:t>The production of lactic acid from glucose is called anaerobic respiration. </a:t>
            </a:r>
          </a:p>
          <a:p>
            <a:endParaRPr lang="en-AU" dirty="0"/>
          </a:p>
          <a:p>
            <a:r>
              <a:rPr lang="en-AU" dirty="0" smtClean="0"/>
              <a:t>The fermentation stage of anaerobic respiration does not produce any additional ATP; however, the glycolysis of one molecule of glucose releases enough energy to convert two molecules of ADP to ATP.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8488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146" name="Picture 2" descr="What is Anaerobic Respiration? The Definitive Guide - Biology Online"/>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6589"/>
          <a:stretch/>
        </p:blipFill>
        <p:spPr bwMode="auto">
          <a:xfrm>
            <a:off x="721561" y="887480"/>
            <a:ext cx="10842978" cy="50873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776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Anaerobic Respiration </a:t>
            </a:r>
            <a:endParaRPr lang="en-AU" sz="6000" b="1" dirty="0"/>
          </a:p>
        </p:txBody>
      </p:sp>
      <p:sp>
        <p:nvSpPr>
          <p:cNvPr id="3" name="Content Placeholder 2"/>
          <p:cNvSpPr>
            <a:spLocks noGrp="1"/>
          </p:cNvSpPr>
          <p:nvPr>
            <p:ph idx="1"/>
          </p:nvPr>
        </p:nvSpPr>
        <p:spPr/>
        <p:txBody>
          <a:bodyPr>
            <a:normAutofit lnSpcReduction="10000"/>
          </a:bodyPr>
          <a:lstStyle/>
          <a:p>
            <a:r>
              <a:rPr lang="en-AU" dirty="0" smtClean="0"/>
              <a:t>The enzymes required for anaerobic respiration are available in the cytosol of the cell; therefore glycolysis and the conversion of pyruvate to lactic acid occurs in the cytosol. </a:t>
            </a:r>
          </a:p>
          <a:p>
            <a:endParaRPr lang="en-AU" dirty="0"/>
          </a:p>
          <a:p>
            <a:r>
              <a:rPr lang="en-AU" dirty="0" smtClean="0"/>
              <a:t>Anaerobic respiration is very important during vigorous physical activity. Lactic acid can cause muscle pain and the body incurs an oxygen debt which has to be repaid after exercise. </a:t>
            </a:r>
          </a:p>
          <a:p>
            <a:endParaRPr lang="en-AU" dirty="0"/>
          </a:p>
          <a:p>
            <a:r>
              <a:rPr lang="en-AU" dirty="0" smtClean="0"/>
              <a:t>Anaerobic respiration uses glucose to produce lactic acid and two ATP molecules in the absence of oxygen.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75124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Aerobic Respiration </a:t>
            </a:r>
            <a:endParaRPr lang="en-AU" sz="6000" b="1" dirty="0"/>
          </a:p>
        </p:txBody>
      </p:sp>
      <p:sp>
        <p:nvSpPr>
          <p:cNvPr id="3" name="Content Placeholder 2"/>
          <p:cNvSpPr>
            <a:spLocks noGrp="1"/>
          </p:cNvSpPr>
          <p:nvPr>
            <p:ph idx="1"/>
          </p:nvPr>
        </p:nvSpPr>
        <p:spPr/>
        <p:txBody>
          <a:bodyPr/>
          <a:lstStyle/>
          <a:p>
            <a:r>
              <a:rPr lang="en-AU" dirty="0" smtClean="0"/>
              <a:t>The complete breakdown of glucose to carbon dioxide and water requires oxygen. The pyruvate produced from glycolysis is completely broken down to carbon dioxide and water. </a:t>
            </a:r>
          </a:p>
          <a:p>
            <a:endParaRPr lang="en-AU" dirty="0"/>
          </a:p>
          <a:p>
            <a:r>
              <a:rPr lang="en-AU" dirty="0" smtClean="0"/>
              <a:t>Occurs in the mitochondria of the cell. </a:t>
            </a:r>
          </a:p>
          <a:p>
            <a:endParaRPr lang="en-AU" dirty="0"/>
          </a:p>
          <a:p>
            <a:r>
              <a:rPr lang="en-AU" dirty="0" smtClean="0"/>
              <a:t>To complete the breakdown of glucose, the two pyruvate molecules produced in glycolysis must enter a mitochondrion, where enzymes are available to allow the next series of reactions to occur.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5145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Aerobic Respiration </a:t>
            </a:r>
            <a:endParaRPr lang="en-AU" sz="6000" b="1" dirty="0"/>
          </a:p>
        </p:txBody>
      </p:sp>
      <p:sp>
        <p:nvSpPr>
          <p:cNvPr id="3" name="Content Placeholder 2"/>
          <p:cNvSpPr>
            <a:spLocks noGrp="1"/>
          </p:cNvSpPr>
          <p:nvPr>
            <p:ph idx="1"/>
          </p:nvPr>
        </p:nvSpPr>
        <p:spPr>
          <a:xfrm>
            <a:off x="611777" y="1433738"/>
            <a:ext cx="11022874" cy="5088981"/>
          </a:xfrm>
        </p:spPr>
        <p:txBody>
          <a:bodyPr>
            <a:normAutofit/>
          </a:bodyPr>
          <a:lstStyle/>
          <a:p>
            <a:r>
              <a:rPr lang="en-AU" dirty="0" smtClean="0"/>
              <a:t>Step 1- </a:t>
            </a:r>
          </a:p>
          <a:p>
            <a:pPr lvl="1"/>
            <a:r>
              <a:rPr lang="en-AU" dirty="0" smtClean="0"/>
              <a:t>For the pyruvate to enter the next pathway it is first converted to acetyl coenzyme A (acetyl CoA). To do this, a carbon dioxide molecule is removed from the pyruvate and the remaining two-carbon structure joins to coenzyme A. No ATP is produced in this process. </a:t>
            </a:r>
          </a:p>
          <a:p>
            <a:pPr lvl="1"/>
            <a:endParaRPr lang="en-AU" dirty="0" smtClean="0"/>
          </a:p>
          <a:p>
            <a:r>
              <a:rPr lang="en-AU" dirty="0" smtClean="0"/>
              <a:t>Step 2- </a:t>
            </a:r>
          </a:p>
          <a:p>
            <a:pPr lvl="1"/>
            <a:r>
              <a:rPr lang="en-AU" dirty="0" smtClean="0"/>
              <a:t>The acetyl CoA then enters the citric acid cycle, also known as the Krebs cycle. Here the carbon atoms in the acetyl CoA are released in carbon dioxide. For every acetyl CoA that enters the citric acid cycle, one molecule of ATP is also produced. This means that two ATP molecules are produced per glucose molecule.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93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Aerobic Respiration </a:t>
            </a:r>
            <a:endParaRPr lang="en-AU" sz="6000" b="1" dirty="0"/>
          </a:p>
        </p:txBody>
      </p:sp>
      <p:sp>
        <p:nvSpPr>
          <p:cNvPr id="3" name="Content Placeholder 2"/>
          <p:cNvSpPr>
            <a:spLocks noGrp="1"/>
          </p:cNvSpPr>
          <p:nvPr>
            <p:ph idx="1"/>
          </p:nvPr>
        </p:nvSpPr>
        <p:spPr>
          <a:xfrm>
            <a:off x="637903" y="1494699"/>
            <a:ext cx="11075126" cy="4958351"/>
          </a:xfrm>
        </p:spPr>
        <p:txBody>
          <a:bodyPr>
            <a:normAutofit/>
          </a:bodyPr>
          <a:lstStyle/>
          <a:p>
            <a:r>
              <a:rPr lang="en-AU" dirty="0" smtClean="0"/>
              <a:t>Step 3- </a:t>
            </a:r>
          </a:p>
          <a:p>
            <a:pPr lvl="1"/>
            <a:r>
              <a:rPr lang="en-AU" dirty="0" smtClean="0"/>
              <a:t>The final stage of cellular respiration is the electron transport system; the only stage that uses oxygen. Here electrons are passed between molecules, finally resulting in oxygen molecules forming water. There is some debate regarding the exact number of ATP molecules that are produced during this process. Estimates range between 26 and 34 molecules. </a:t>
            </a:r>
          </a:p>
          <a:p>
            <a:endParaRPr lang="en-AU" dirty="0"/>
          </a:p>
          <a:p>
            <a:r>
              <a:rPr lang="en-AU" dirty="0" smtClean="0"/>
              <a:t>Thus, aerobic respiration of one molecule of glucose has the potential to generate up to 38 molecules of ATP. </a:t>
            </a:r>
            <a:endParaRPr lang="en-AU" dirty="0"/>
          </a:p>
          <a:p>
            <a:r>
              <a:rPr lang="en-AU" dirty="0" smtClean="0"/>
              <a:t>2 from glycolysis, 2 from the citric acid cycle and up to 34 from the electron transport mechanism.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7137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Aerobic Respiration </a:t>
            </a:r>
            <a:endParaRPr lang="en-AU" sz="6000" b="1" dirty="0"/>
          </a:p>
        </p:txBody>
      </p:sp>
      <p:sp>
        <p:nvSpPr>
          <p:cNvPr id="3" name="Content Placeholder 2"/>
          <p:cNvSpPr>
            <a:spLocks noGrp="1"/>
          </p:cNvSpPr>
          <p:nvPr>
            <p:ph idx="1"/>
          </p:nvPr>
        </p:nvSpPr>
        <p:spPr/>
        <p:txBody>
          <a:bodyPr/>
          <a:lstStyle/>
          <a:p>
            <a:r>
              <a:rPr lang="en-AU" dirty="0" smtClean="0">
                <a:sym typeface="Wingdings" panose="05000000000000000000" pitchFamily="2" charset="2"/>
              </a:rPr>
              <a:t>C</a:t>
            </a:r>
            <a:r>
              <a:rPr lang="en-AU" baseline="-25000" dirty="0" smtClean="0">
                <a:sym typeface="Wingdings" panose="05000000000000000000" pitchFamily="2" charset="2"/>
              </a:rPr>
              <a:t>6</a:t>
            </a:r>
            <a:r>
              <a:rPr lang="en-AU" dirty="0" smtClean="0">
                <a:sym typeface="Wingdings" panose="05000000000000000000" pitchFamily="2" charset="2"/>
              </a:rPr>
              <a:t>H</a:t>
            </a:r>
            <a:r>
              <a:rPr lang="en-AU" baseline="-25000" dirty="0" smtClean="0">
                <a:sym typeface="Wingdings" panose="05000000000000000000" pitchFamily="2" charset="2"/>
              </a:rPr>
              <a:t>12</a:t>
            </a:r>
            <a:r>
              <a:rPr lang="en-AU" dirty="0" smtClean="0">
                <a:sym typeface="Wingdings" panose="05000000000000000000" pitchFamily="2" charset="2"/>
              </a:rPr>
              <a:t>0</a:t>
            </a:r>
            <a:r>
              <a:rPr lang="en-AU" baseline="-25000" dirty="0" smtClean="0">
                <a:sym typeface="Wingdings" panose="05000000000000000000" pitchFamily="2" charset="2"/>
              </a:rPr>
              <a:t>6</a:t>
            </a:r>
            <a:r>
              <a:rPr lang="en-AU" dirty="0" smtClean="0">
                <a:sym typeface="Wingdings" panose="05000000000000000000" pitchFamily="2" charset="2"/>
              </a:rPr>
              <a:t>    </a:t>
            </a:r>
            <a:r>
              <a:rPr lang="en-AU" dirty="0">
                <a:sym typeface="Wingdings" panose="05000000000000000000" pitchFamily="2" charset="2"/>
              </a:rPr>
              <a:t>+     6O</a:t>
            </a:r>
            <a:r>
              <a:rPr lang="en-AU" baseline="-25000" dirty="0">
                <a:sym typeface="Wingdings" panose="05000000000000000000" pitchFamily="2" charset="2"/>
              </a:rPr>
              <a:t>2</a:t>
            </a:r>
            <a:r>
              <a:rPr lang="en-AU" dirty="0">
                <a:sym typeface="Wingdings" panose="05000000000000000000" pitchFamily="2" charset="2"/>
              </a:rPr>
              <a:t>              6CO</a:t>
            </a:r>
            <a:r>
              <a:rPr lang="en-AU" baseline="-25000" dirty="0">
                <a:sym typeface="Wingdings" panose="05000000000000000000" pitchFamily="2" charset="2"/>
              </a:rPr>
              <a:t>2</a:t>
            </a:r>
            <a:r>
              <a:rPr lang="en-AU" dirty="0">
                <a:sym typeface="Wingdings" panose="05000000000000000000" pitchFamily="2" charset="2"/>
              </a:rPr>
              <a:t>              +  </a:t>
            </a:r>
            <a:r>
              <a:rPr lang="en-AU" dirty="0" smtClean="0">
                <a:sym typeface="Wingdings" panose="05000000000000000000" pitchFamily="2" charset="2"/>
              </a:rPr>
              <a:t>6H</a:t>
            </a:r>
            <a:r>
              <a:rPr lang="en-AU" baseline="-25000" dirty="0" smtClean="0">
                <a:sym typeface="Wingdings" panose="05000000000000000000" pitchFamily="2" charset="2"/>
              </a:rPr>
              <a:t>2</a:t>
            </a:r>
            <a:r>
              <a:rPr lang="en-AU" dirty="0" smtClean="0">
                <a:sym typeface="Wingdings" panose="05000000000000000000" pitchFamily="2" charset="2"/>
              </a:rPr>
              <a:t>O</a:t>
            </a:r>
          </a:p>
          <a:p>
            <a:endParaRPr lang="en-AU" dirty="0" smtClean="0">
              <a:sym typeface="Wingdings" panose="05000000000000000000" pitchFamily="2" charset="2"/>
            </a:endParaRPr>
          </a:p>
          <a:p>
            <a:r>
              <a:rPr lang="en-AU" dirty="0" smtClean="0">
                <a:sym typeface="Wingdings" panose="05000000000000000000" pitchFamily="2" charset="2"/>
              </a:rPr>
              <a:t>38 ADP    +     38 P                  38 ATP</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80881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Aerobic Respiration summary </a:t>
            </a:r>
            <a:endParaRPr lang="en-AU" sz="6000" b="1" dirty="0"/>
          </a:p>
        </p:txBody>
      </p:sp>
      <p:sp>
        <p:nvSpPr>
          <p:cNvPr id="3" name="Content Placeholder 2"/>
          <p:cNvSpPr>
            <a:spLocks noGrp="1"/>
          </p:cNvSpPr>
          <p:nvPr>
            <p:ph idx="1"/>
          </p:nvPr>
        </p:nvSpPr>
        <p:spPr/>
        <p:txBody>
          <a:bodyPr/>
          <a:lstStyle/>
          <a:p>
            <a:r>
              <a:rPr lang="en-AU" dirty="0" smtClean="0"/>
              <a:t>Aerobic respiration uses oxygen to convert glucose into carbon dioxide and water, producing up to 38 molecules of ATP per glucose molecule. </a:t>
            </a:r>
          </a:p>
          <a:p>
            <a:endParaRPr lang="en-AU" dirty="0"/>
          </a:p>
          <a:p>
            <a:r>
              <a:rPr lang="en-AU" dirty="0" smtClean="0"/>
              <a:t>ATP is able to transfer energy from cellular respiration to other chemical reactions that require energy e.g. active transport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5360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Lst>
          </a:blip>
          <a:srcRect l="21631" t="6077" r="16114" b="9066"/>
          <a:stretch/>
        </p:blipFill>
        <p:spPr>
          <a:xfrm>
            <a:off x="1767839" y="129353"/>
            <a:ext cx="8612778" cy="6603648"/>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82677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Energy used by the cell </a:t>
            </a:r>
            <a:endParaRPr lang="en-AU" sz="6000" b="1" dirty="0"/>
          </a:p>
        </p:txBody>
      </p:sp>
      <p:sp>
        <p:nvSpPr>
          <p:cNvPr id="3" name="Content Placeholder 2"/>
          <p:cNvSpPr>
            <a:spLocks noGrp="1"/>
          </p:cNvSpPr>
          <p:nvPr>
            <p:ph idx="1"/>
          </p:nvPr>
        </p:nvSpPr>
        <p:spPr/>
        <p:txBody>
          <a:bodyPr/>
          <a:lstStyle/>
          <a:p>
            <a:r>
              <a:rPr lang="en-AU" dirty="0" smtClean="0"/>
              <a:t>Cells need the energy that is temporarily stored in the ATP molecules for a variety of purposes. </a:t>
            </a:r>
          </a:p>
          <a:p>
            <a:pPr lvl="1"/>
            <a:r>
              <a:rPr lang="en-AU" dirty="0" smtClean="0"/>
              <a:t>Building complex molecules </a:t>
            </a:r>
          </a:p>
          <a:p>
            <a:pPr lvl="1"/>
            <a:r>
              <a:rPr lang="en-AU" dirty="0" smtClean="0"/>
              <a:t>Cell division and growth </a:t>
            </a:r>
          </a:p>
          <a:p>
            <a:pPr lvl="1"/>
            <a:r>
              <a:rPr lang="en-AU" dirty="0" smtClean="0"/>
              <a:t>Movement of cell organelles </a:t>
            </a:r>
          </a:p>
          <a:p>
            <a:pPr lvl="1"/>
            <a:r>
              <a:rPr lang="en-AU" dirty="0" smtClean="0"/>
              <a:t>Movement of the whole cell </a:t>
            </a:r>
          </a:p>
          <a:p>
            <a:pPr lvl="1"/>
            <a:r>
              <a:rPr lang="en-AU" dirty="0" smtClean="0"/>
              <a:t>Maintaining cell organisation </a:t>
            </a:r>
          </a:p>
          <a:p>
            <a:pPr lvl="1"/>
            <a:r>
              <a:rPr lang="en-AU" dirty="0" smtClean="0"/>
              <a:t>Active transport </a:t>
            </a:r>
          </a:p>
          <a:p>
            <a:pPr lvl="1"/>
            <a:r>
              <a:rPr lang="en-AU" dirty="0" smtClean="0"/>
              <a:t>Transmission of nerve impulse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0662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02475" y="2149420"/>
            <a:ext cx="11742402" cy="3241186"/>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328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Recall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Define ‘catabolic reaction’ and ‘anabolic reaction’.</a:t>
            </a:r>
          </a:p>
          <a:p>
            <a:pPr marL="514350" indent="-514350">
              <a:buFont typeface="+mj-lt"/>
              <a:buAutoNum type="arabicPeriod"/>
            </a:pPr>
            <a:r>
              <a:rPr lang="en-AU" dirty="0" smtClean="0"/>
              <a:t>Explain why energy is released when ATP forms ADP.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35105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Apply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Explain why cells that require a large amount of energy contain a lot of mitochondria.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35796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Homewor</a:t>
            </a:r>
            <a:r>
              <a:rPr lang="en-AU" sz="6000" b="1" dirty="0"/>
              <a:t>k</a:t>
            </a:r>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Use a diagram to summarise the relationship between ATP and ADP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45526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6000" b="1" dirty="0" smtClean="0"/>
              <a:t>Reading</a:t>
            </a:r>
            <a:r>
              <a:rPr lang="en-AU" dirty="0" smtClean="0"/>
              <a:t> </a:t>
            </a:r>
            <a:endParaRPr lang="en-AU" dirty="0"/>
          </a:p>
        </p:txBody>
      </p:sp>
      <p:sp>
        <p:nvSpPr>
          <p:cNvPr id="3" name="Content Placeholder 2"/>
          <p:cNvSpPr>
            <a:spLocks noGrp="1"/>
          </p:cNvSpPr>
          <p:nvPr>
            <p:ph idx="1"/>
          </p:nvPr>
        </p:nvSpPr>
        <p:spPr/>
        <p:txBody>
          <a:bodyPr/>
          <a:lstStyle/>
          <a:p>
            <a:r>
              <a:rPr lang="en-AU" dirty="0" smtClean="0"/>
              <a:t>Pages 69 (bottom half)- </a:t>
            </a:r>
            <a:r>
              <a:rPr lang="en-AU" dirty="0" smtClean="0"/>
              <a:t>75: </a:t>
            </a:r>
            <a:r>
              <a:rPr lang="en-AU" dirty="0" smtClean="0"/>
              <a:t>Cellular Respiration to </a:t>
            </a:r>
            <a:endParaRPr lang="en-AU" dirty="0" smtClean="0"/>
          </a:p>
          <a:p>
            <a:pPr marL="0" indent="0">
              <a:buNone/>
            </a:pPr>
            <a:r>
              <a:rPr lang="en-AU" smtClean="0"/>
              <a:t>                                                    Energy </a:t>
            </a:r>
            <a:r>
              <a:rPr lang="en-AU" dirty="0" smtClean="0"/>
              <a:t>used by the cell </a:t>
            </a:r>
            <a:endParaRPr lang="en-AU" dirty="0" smtClean="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5014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TotalTime>
  <Words>1126</Words>
  <Application>Microsoft Office PowerPoint</Application>
  <PresentationFormat>Widescreen</PresentationFormat>
  <Paragraphs>116</Paragraphs>
  <Slides>26</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26</vt:i4>
      </vt:variant>
    </vt:vector>
  </HeadingPairs>
  <TitlesOfParts>
    <vt:vector size="32" baseType="lpstr">
      <vt:lpstr>Arial</vt:lpstr>
      <vt:lpstr>Calibri</vt:lpstr>
      <vt:lpstr>Calibri Light</vt:lpstr>
      <vt:lpstr>Wingdings</vt:lpstr>
      <vt:lpstr>Office Theme</vt:lpstr>
      <vt:lpstr>1_Office Theme</vt:lpstr>
      <vt:lpstr>Aerobic and Anaerobic Respiration</vt:lpstr>
      <vt:lpstr>SCSA Syllabus Reference </vt:lpstr>
      <vt:lpstr>Lesson Intention </vt:lpstr>
      <vt:lpstr>Success Criteria </vt:lpstr>
      <vt:lpstr>Vocabulary </vt:lpstr>
      <vt:lpstr>Vocabulary </vt:lpstr>
      <vt:lpstr>Cellular Respiration </vt:lpstr>
      <vt:lpstr>Cellular respiration equation </vt:lpstr>
      <vt:lpstr>Energy from Cellular Respiration </vt:lpstr>
      <vt:lpstr>Energy from Cellular Respiration </vt:lpstr>
      <vt:lpstr>Glycolysis </vt:lpstr>
      <vt:lpstr>Anaerobic Respiration </vt:lpstr>
      <vt:lpstr>PowerPoint Presentation</vt:lpstr>
      <vt:lpstr>Anaerobic Respiration </vt:lpstr>
      <vt:lpstr>Aerobic Respiration </vt:lpstr>
      <vt:lpstr>Aerobic Respiration </vt:lpstr>
      <vt:lpstr>Aerobic Respiration </vt:lpstr>
      <vt:lpstr>Aerobic Respiration </vt:lpstr>
      <vt:lpstr>Aerobic Respiration summary </vt:lpstr>
      <vt:lpstr>PowerPoint Presentation</vt:lpstr>
      <vt:lpstr>Energy used by the cell </vt:lpstr>
      <vt:lpstr>PowerPoint Presentation</vt:lpstr>
      <vt:lpstr>Recall Knowledge </vt:lpstr>
      <vt:lpstr>Apply Knowledge </vt:lpstr>
      <vt:lpstr>Homework</vt:lpstr>
      <vt:lpstr>Reading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DOOMEN Lisa [Gilmore College]</dc:creator>
  <cp:lastModifiedBy>DOOMEN Lisa [Gilmore College]</cp:lastModifiedBy>
  <cp:revision>14</cp:revision>
  <dcterms:created xsi:type="dcterms:W3CDTF">2021-12-16T00:48:44Z</dcterms:created>
  <dcterms:modified xsi:type="dcterms:W3CDTF">2022-02-24T00:23:31Z</dcterms:modified>
</cp:coreProperties>
</file>
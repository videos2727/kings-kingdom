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sldIdLst>
    <p:sldId id="256" r:id="rId3"/>
    <p:sldId id="257" r:id="rId4"/>
    <p:sldId id="258" r:id="rId5"/>
    <p:sldId id="259" r:id="rId6"/>
    <p:sldId id="267" r:id="rId7"/>
    <p:sldId id="270" r:id="rId8"/>
    <p:sldId id="260" r:id="rId9"/>
    <p:sldId id="268" r:id="rId10"/>
    <p:sldId id="269" r:id="rId11"/>
    <p:sldId id="271" r:id="rId12"/>
    <p:sldId id="273" r:id="rId13"/>
    <p:sldId id="272" r:id="rId14"/>
    <p:sldId id="261" r:id="rId15"/>
    <p:sldId id="274" r:id="rId16"/>
    <p:sldId id="283" r:id="rId17"/>
    <p:sldId id="275" r:id="rId18"/>
    <p:sldId id="276" r:id="rId19"/>
    <p:sldId id="277" r:id="rId20"/>
    <p:sldId id="278" r:id="rId21"/>
    <p:sldId id="279" r:id="rId22"/>
    <p:sldId id="284" r:id="rId23"/>
    <p:sldId id="280" r:id="rId24"/>
    <p:sldId id="282" r:id="rId25"/>
    <p:sldId id="286" r:id="rId26"/>
    <p:sldId id="281" r:id="rId27"/>
    <p:sldId id="262" r:id="rId28"/>
    <p:sldId id="288" r:id="rId29"/>
    <p:sldId id="289" r:id="rId30"/>
    <p:sldId id="287" r:id="rId31"/>
    <p:sldId id="263" r:id="rId32"/>
    <p:sldId id="264" r:id="rId33"/>
    <p:sldId id="265" r:id="rId34"/>
    <p:sldId id="266"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88" d="100"/>
          <a:sy n="88" d="100"/>
        </p:scale>
        <p:origin x="49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slide" Target="slides/slide32.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27669832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8024978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9709304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5072895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47DF4103-AC13-4E81-8F4A-7126A09DB8C9}" type="datetimeFigureOut">
              <a:rPr lang="en-AU" smtClean="0"/>
              <a:t>17/06/2022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962155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47DF4103-AC13-4E81-8F4A-7126A09DB8C9}" type="datetimeFigureOut">
              <a:rPr lang="en-AU" smtClean="0"/>
              <a:t>17/06/2022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41606615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DF4103-AC13-4E81-8F4A-7126A09DB8C9}" type="datetimeFigureOut">
              <a:rPr lang="en-AU" smtClean="0"/>
              <a:t>17/06/2022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3776508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1457894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47DF4103-AC13-4E81-8F4A-7126A09DB8C9}"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0539926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39380663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47DF4103-AC13-4E81-8F4A-7126A09DB8C9}"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32F673CC-80CF-4E11-86F4-AB5A15E3C01E}" type="slidenum">
              <a:rPr lang="en-AU" smtClean="0"/>
              <a:t>‹#›</a:t>
            </a:fld>
            <a:endParaRPr lang="en-AU"/>
          </a:p>
        </p:txBody>
      </p:sp>
    </p:spTree>
    <p:extLst>
      <p:ext uri="{BB962C8B-B14F-4D97-AF65-F5344CB8AC3E}">
        <p14:creationId xmlns:p14="http://schemas.microsoft.com/office/powerpoint/2010/main" val="1515187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90638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4302305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77392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5893515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04EBC541-E1E4-46F0-B6E0-A9FD71F2F171}" type="datetimeFigureOut">
              <a:rPr lang="en-AU" smtClean="0"/>
              <a:t>17/06/2022</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3184568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04EBC541-E1E4-46F0-B6E0-A9FD71F2F171}" type="datetimeFigureOut">
              <a:rPr lang="en-AU" smtClean="0"/>
              <a:t>17/06/2022</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419753297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4EBC541-E1E4-46F0-B6E0-A9FD71F2F171}" type="datetimeFigureOut">
              <a:rPr lang="en-AU" smtClean="0"/>
              <a:t>17/06/2022</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1148839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114610880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4EBC541-E1E4-46F0-B6E0-A9FD71F2F171}" type="datetimeFigureOut">
              <a:rPr lang="en-AU" smtClean="0"/>
              <a:t>17/06/2022</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215660551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34141002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04EBC541-E1E4-46F0-B6E0-A9FD71F2F171}" type="datetimeFigureOut">
              <a:rPr lang="en-AU" smtClean="0"/>
              <a:t>17/06/2022</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0224464C-AF91-46F0-8BFB-6ED76731428E}" type="slidenum">
              <a:rPr lang="en-AU" smtClean="0"/>
              <a:t>‹#›</a:t>
            </a:fld>
            <a:endParaRPr lang="en-AU"/>
          </a:p>
        </p:txBody>
      </p:sp>
    </p:spTree>
    <p:extLst>
      <p:ext uri="{BB962C8B-B14F-4D97-AF65-F5344CB8AC3E}">
        <p14:creationId xmlns:p14="http://schemas.microsoft.com/office/powerpoint/2010/main" val="5291357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7DF4103-AC13-4E81-8F4A-7126A09DB8C9}" type="datetimeFigureOut">
              <a:rPr lang="en-AU" smtClean="0"/>
              <a:t>17/06/2022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2F673CC-80CF-4E11-86F4-AB5A15E3C01E}" type="slidenum">
              <a:rPr lang="en-AU" smtClean="0"/>
              <a:t>‹#›</a:t>
            </a:fld>
            <a:endParaRPr lang="en-AU"/>
          </a:p>
        </p:txBody>
      </p:sp>
    </p:spTree>
    <p:extLst>
      <p:ext uri="{BB962C8B-B14F-4D97-AF65-F5344CB8AC3E}">
        <p14:creationId xmlns:p14="http://schemas.microsoft.com/office/powerpoint/2010/main" val="36186949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EBC541-E1E4-46F0-B6E0-A9FD71F2F171}" type="datetimeFigureOut">
              <a:rPr lang="en-AU" smtClean="0"/>
              <a:t>17/06/2022</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224464C-AF91-46F0-8BFB-6ED76731428E}" type="slidenum">
              <a:rPr lang="en-AU" smtClean="0"/>
              <a:t>‹#›</a:t>
            </a:fld>
            <a:endParaRPr lang="en-AU"/>
          </a:p>
        </p:txBody>
      </p:sp>
    </p:spTree>
    <p:extLst>
      <p:ext uri="{BB962C8B-B14F-4D97-AF65-F5344CB8AC3E}">
        <p14:creationId xmlns:p14="http://schemas.microsoft.com/office/powerpoint/2010/main" val="13599711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6">
            <a:lumMod val="60000"/>
            <a:lumOff val="40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92479" y="1122363"/>
            <a:ext cx="10441577" cy="2387600"/>
          </a:xfrm>
        </p:spPr>
        <p:txBody>
          <a:bodyPr>
            <a:normAutofit/>
          </a:bodyPr>
          <a:lstStyle/>
          <a:p>
            <a:r>
              <a:rPr lang="en-AU" sz="8000" b="1" dirty="0" smtClean="0"/>
              <a:t>Mitosis and Stem Cells</a:t>
            </a:r>
            <a:endParaRPr lang="en-AU" sz="8000" b="1" dirty="0"/>
          </a:p>
        </p:txBody>
      </p:sp>
      <p:sp>
        <p:nvSpPr>
          <p:cNvPr id="3" name="Subtitle 2"/>
          <p:cNvSpPr>
            <a:spLocks noGrp="1"/>
          </p:cNvSpPr>
          <p:nvPr>
            <p:ph type="subTitle" idx="1"/>
          </p:nvPr>
        </p:nvSpPr>
        <p:spPr/>
        <p:txBody>
          <a:bodyPr/>
          <a:lstStyle/>
          <a:p>
            <a:r>
              <a:rPr lang="en-AU" dirty="0" smtClean="0"/>
              <a:t>Year 11 Human Biology </a:t>
            </a:r>
          </a:p>
          <a:p>
            <a:r>
              <a:rPr lang="en-AU" dirty="0" smtClean="0"/>
              <a:t>ATAR </a:t>
            </a:r>
          </a:p>
          <a:p>
            <a:r>
              <a:rPr lang="en-AU" dirty="0" smtClean="0"/>
              <a:t>PowerPoint #15</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4923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SCSA Syllabus Reference </a:t>
            </a:r>
            <a:endParaRPr lang="en-AU" sz="6000" dirty="0"/>
          </a:p>
        </p:txBody>
      </p:sp>
      <p:sp>
        <p:nvSpPr>
          <p:cNvPr id="3" name="Content Placeholder 2"/>
          <p:cNvSpPr>
            <a:spLocks noGrp="1"/>
          </p:cNvSpPr>
          <p:nvPr>
            <p:ph idx="1"/>
          </p:nvPr>
        </p:nvSpPr>
        <p:spPr>
          <a:xfrm>
            <a:off x="838200" y="1532708"/>
            <a:ext cx="10515600" cy="5050971"/>
          </a:xfrm>
        </p:spPr>
        <p:txBody>
          <a:bodyPr/>
          <a:lstStyle/>
          <a:p>
            <a:r>
              <a:rPr lang="en-AU" dirty="0"/>
              <a:t>mitosis forms part of the cell cycle producing new cells with the same genetic content</a:t>
            </a:r>
          </a:p>
          <a:p>
            <a:endParaRPr lang="en-AU" dirty="0"/>
          </a:p>
          <a:p>
            <a:r>
              <a:rPr lang="en-AU" dirty="0"/>
              <a:t>the sequence of DNA replication, chromosome duplication and chromosome separation are important processes in the production of identical daughter cells by mitosis for growth, repair and replacement of tissues within the </a:t>
            </a:r>
            <a:r>
              <a:rPr lang="en-AU" dirty="0" smtClean="0"/>
              <a:t>body</a:t>
            </a:r>
          </a:p>
          <a:p>
            <a:endParaRPr lang="en-AU" dirty="0"/>
          </a:p>
          <a:p>
            <a:r>
              <a:rPr lang="en-AU" dirty="0"/>
              <a:t>stem cells have the ability to divide by mitosis and differentiate into many different tissues, depending on the level of cell potency</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91338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Lesson Intention </a:t>
            </a:r>
            <a:endParaRPr lang="en-AU" sz="6000" b="1" dirty="0"/>
          </a:p>
        </p:txBody>
      </p:sp>
      <p:sp>
        <p:nvSpPr>
          <p:cNvPr id="3" name="Content Placeholder 2"/>
          <p:cNvSpPr>
            <a:spLocks noGrp="1"/>
          </p:cNvSpPr>
          <p:nvPr>
            <p:ph idx="1"/>
          </p:nvPr>
        </p:nvSpPr>
        <p:spPr/>
        <p:txBody>
          <a:bodyPr/>
          <a:lstStyle/>
          <a:p>
            <a:r>
              <a:rPr lang="en-AU" dirty="0"/>
              <a:t>To explore the process of mitosis and its purpose for cells </a:t>
            </a:r>
            <a:endParaRPr lang="en-AU" dirty="0" smtClean="0"/>
          </a:p>
          <a:p>
            <a:endParaRPr lang="en-AU" dirty="0"/>
          </a:p>
          <a:p>
            <a:r>
              <a:rPr lang="en-AU" dirty="0"/>
              <a:t>To explore stem cells and the process of differentiation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30272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explain </a:t>
            </a:r>
            <a:r>
              <a:rPr lang="en-AU" dirty="0"/>
              <a:t>why cells need to reproduce </a:t>
            </a:r>
          </a:p>
          <a:p>
            <a:r>
              <a:rPr lang="en-AU" dirty="0" smtClean="0"/>
              <a:t>recall </a:t>
            </a:r>
            <a:r>
              <a:rPr lang="en-AU" dirty="0"/>
              <a:t>different life spans of human cells </a:t>
            </a:r>
          </a:p>
          <a:p>
            <a:r>
              <a:rPr lang="en-AU" dirty="0" smtClean="0"/>
              <a:t>explain </a:t>
            </a:r>
            <a:r>
              <a:rPr lang="en-AU" dirty="0"/>
              <a:t>the different steps in the cell cycle </a:t>
            </a:r>
          </a:p>
          <a:p>
            <a:r>
              <a:rPr lang="en-AU" dirty="0" smtClean="0"/>
              <a:t>explain </a:t>
            </a:r>
            <a:r>
              <a:rPr lang="en-AU" dirty="0"/>
              <a:t>the steps in mitosis </a:t>
            </a:r>
            <a:endParaRPr lang="en-AU" dirty="0" smtClean="0"/>
          </a:p>
          <a:p>
            <a:r>
              <a:rPr lang="en-AU" dirty="0" smtClean="0"/>
              <a:t>diagram </a:t>
            </a:r>
            <a:r>
              <a:rPr lang="en-AU" dirty="0"/>
              <a:t>the process of mitosis </a:t>
            </a:r>
          </a:p>
          <a:p>
            <a:r>
              <a:rPr lang="en-AU" dirty="0" smtClean="0"/>
              <a:t>annotate </a:t>
            </a:r>
            <a:r>
              <a:rPr lang="en-AU" dirty="0"/>
              <a:t>the diagram with relevant description of the steps of mitosis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34816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Success Criteria </a:t>
            </a:r>
            <a:endParaRPr lang="en-AU" sz="6000" b="1" dirty="0"/>
          </a:p>
        </p:txBody>
      </p:sp>
      <p:sp>
        <p:nvSpPr>
          <p:cNvPr id="3" name="Content Placeholder 2"/>
          <p:cNvSpPr>
            <a:spLocks noGrp="1"/>
          </p:cNvSpPr>
          <p:nvPr>
            <p:ph idx="1"/>
          </p:nvPr>
        </p:nvSpPr>
        <p:spPr/>
        <p:txBody>
          <a:bodyPr/>
          <a:lstStyle/>
          <a:p>
            <a:r>
              <a:rPr lang="en-AU" dirty="0" smtClean="0"/>
              <a:t>define </a:t>
            </a:r>
            <a:r>
              <a:rPr lang="en-AU" dirty="0"/>
              <a:t>stem cell </a:t>
            </a:r>
          </a:p>
          <a:p>
            <a:r>
              <a:rPr lang="en-AU" dirty="0" smtClean="0"/>
              <a:t>describe </a:t>
            </a:r>
            <a:r>
              <a:rPr lang="en-AU" dirty="0"/>
              <a:t>different types of stem cells </a:t>
            </a:r>
          </a:p>
          <a:p>
            <a:r>
              <a:rPr lang="en-AU" dirty="0" smtClean="0"/>
              <a:t>describe </a:t>
            </a:r>
            <a:r>
              <a:rPr lang="en-AU" dirty="0"/>
              <a:t>the process of stem cell differentiation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3441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644434" y="1825625"/>
            <a:ext cx="10709366" cy="4351338"/>
          </a:xfrm>
        </p:spPr>
        <p:txBody>
          <a:bodyPr/>
          <a:lstStyle/>
          <a:p>
            <a:r>
              <a:rPr lang="en-AU" b="1" dirty="0"/>
              <a:t>Cell Cycle</a:t>
            </a:r>
            <a:r>
              <a:rPr lang="en-AU" dirty="0"/>
              <a:t>: the events that take place from one cell division to the </a:t>
            </a:r>
            <a:r>
              <a:rPr lang="en-AU" dirty="0" smtClean="0"/>
              <a:t>next</a:t>
            </a:r>
          </a:p>
          <a:p>
            <a:pPr marL="0" indent="0">
              <a:buNone/>
            </a:pPr>
            <a:endParaRPr lang="en-AU" dirty="0"/>
          </a:p>
          <a:p>
            <a:r>
              <a:rPr lang="en-AU" b="1" dirty="0"/>
              <a:t>G0 phase</a:t>
            </a:r>
            <a:r>
              <a:rPr lang="en-AU" dirty="0"/>
              <a:t>: the phase of the cell cycle when the cell is functioning but not preparing for division </a:t>
            </a:r>
            <a:endParaRPr lang="en-AU" dirty="0" smtClean="0"/>
          </a:p>
          <a:p>
            <a:endParaRPr lang="en-AU" dirty="0"/>
          </a:p>
          <a:p>
            <a:r>
              <a:rPr lang="en-AU" b="1" dirty="0"/>
              <a:t>G1 phase</a:t>
            </a:r>
            <a:r>
              <a:rPr lang="en-AU" dirty="0"/>
              <a:t>: the first growth phase of the cell cycle    </a:t>
            </a:r>
            <a:endParaRPr lang="en-AU" dirty="0" smtClean="0"/>
          </a:p>
          <a:p>
            <a:pPr marL="0" indent="0">
              <a:buNone/>
            </a:pPr>
            <a:r>
              <a:rPr lang="en-AU" dirty="0" smtClean="0"/>
              <a:t>                                                                               </a:t>
            </a:r>
            <a:endParaRPr lang="en-AU" dirty="0"/>
          </a:p>
          <a:p>
            <a:r>
              <a:rPr lang="en-AU" b="1" dirty="0"/>
              <a:t>G2 phase</a:t>
            </a:r>
            <a:r>
              <a:rPr lang="en-AU" dirty="0"/>
              <a:t>: the second growth phase of the cell cycle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05938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3844" y="128769"/>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487679" y="1454332"/>
            <a:ext cx="11207931" cy="5164182"/>
          </a:xfrm>
        </p:spPr>
        <p:txBody>
          <a:bodyPr>
            <a:normAutofit/>
          </a:bodyPr>
          <a:lstStyle/>
          <a:p>
            <a:r>
              <a:rPr lang="en-AU" b="1" dirty="0"/>
              <a:t>S phase</a:t>
            </a:r>
            <a:r>
              <a:rPr lang="en-AU" dirty="0"/>
              <a:t>: the synthesis phase of the cell cycle, when DNA molecules duplicate </a:t>
            </a:r>
            <a:endParaRPr lang="en-AU" dirty="0" smtClean="0"/>
          </a:p>
          <a:p>
            <a:endParaRPr lang="en-AU" dirty="0"/>
          </a:p>
          <a:p>
            <a:r>
              <a:rPr lang="en-AU" b="1" dirty="0"/>
              <a:t>M phase</a:t>
            </a:r>
            <a:r>
              <a:rPr lang="en-AU" dirty="0"/>
              <a:t>: the phase of the cell cycle when the cell divides into daughter cells; also known as the mitotic phase </a:t>
            </a:r>
            <a:endParaRPr lang="en-AU" dirty="0" smtClean="0"/>
          </a:p>
          <a:p>
            <a:endParaRPr lang="en-AU" dirty="0"/>
          </a:p>
          <a:p>
            <a:r>
              <a:rPr lang="en-AU" b="1" dirty="0"/>
              <a:t>Mitosis</a:t>
            </a:r>
            <a:r>
              <a:rPr lang="en-AU" dirty="0"/>
              <a:t>: the process of division of the nucleus of a cell in which the two daughter nuclei have the same number and type of chromosomes as the parent </a:t>
            </a:r>
            <a:r>
              <a:rPr lang="en-AU" dirty="0" smtClean="0"/>
              <a:t>nucleus</a:t>
            </a:r>
          </a:p>
          <a:p>
            <a:endParaRPr lang="en-AU" dirty="0"/>
          </a:p>
          <a:p>
            <a:r>
              <a:rPr lang="en-AU" b="1" dirty="0" smtClean="0"/>
              <a:t>Interphase</a:t>
            </a:r>
            <a:r>
              <a:rPr lang="en-AU" dirty="0" smtClean="0"/>
              <a:t>: </a:t>
            </a:r>
            <a:r>
              <a:rPr lang="en-AU" dirty="0"/>
              <a:t>the stage in the life cycle of a cell when it is not dividing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1966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2074" y="295162"/>
            <a:ext cx="10515600" cy="1325563"/>
          </a:xfrm>
        </p:spPr>
        <p:txBody>
          <a:bodyPr>
            <a:normAutofit/>
          </a:bodyPr>
          <a:lstStyle/>
          <a:p>
            <a:r>
              <a:rPr lang="en-AU" sz="6000" b="1" dirty="0"/>
              <a:t>Vocabulary </a:t>
            </a:r>
            <a:endParaRPr lang="en-AU" sz="6000" dirty="0"/>
          </a:p>
        </p:txBody>
      </p:sp>
      <p:sp>
        <p:nvSpPr>
          <p:cNvPr id="3" name="Content Placeholder 2"/>
          <p:cNvSpPr>
            <a:spLocks noGrp="1"/>
          </p:cNvSpPr>
          <p:nvPr>
            <p:ph idx="1"/>
          </p:nvPr>
        </p:nvSpPr>
        <p:spPr>
          <a:xfrm>
            <a:off x="226423" y="1846217"/>
            <a:ext cx="11686903" cy="4833256"/>
          </a:xfrm>
        </p:spPr>
        <p:txBody>
          <a:bodyPr/>
          <a:lstStyle/>
          <a:p>
            <a:r>
              <a:rPr lang="en-AU" b="1" dirty="0"/>
              <a:t>Prophase</a:t>
            </a:r>
            <a:r>
              <a:rPr lang="en-AU" dirty="0"/>
              <a:t>: the first phase of mitosis, during which the chromosomes become visible, the nuclear membrane breaks down and the spindle forms </a:t>
            </a:r>
            <a:endParaRPr lang="en-AU" dirty="0" smtClean="0"/>
          </a:p>
          <a:p>
            <a:endParaRPr lang="en-AU" dirty="0"/>
          </a:p>
          <a:p>
            <a:r>
              <a:rPr lang="en-AU" b="1" dirty="0"/>
              <a:t>Metaphase</a:t>
            </a:r>
            <a:r>
              <a:rPr lang="en-AU" dirty="0"/>
              <a:t>: the second phase of mitosis, during which the chromosomes line up across the centre of the cell </a:t>
            </a:r>
            <a:endParaRPr lang="en-AU" dirty="0" smtClean="0"/>
          </a:p>
          <a:p>
            <a:endParaRPr lang="en-AU" dirty="0"/>
          </a:p>
          <a:p>
            <a:r>
              <a:rPr lang="en-AU" b="1" dirty="0"/>
              <a:t>Anaphase</a:t>
            </a:r>
            <a:r>
              <a:rPr lang="en-AU" dirty="0"/>
              <a:t>: the third phase of mitosis, during which the daughter chromosomes are drawn to opposite ends of the cell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01330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Telophase</a:t>
            </a:r>
            <a:r>
              <a:rPr lang="en-AU" dirty="0"/>
              <a:t>: the final phase of mitosis, during which the daughter chromosomes group at opposite ends of the cell and two daughter nuclei form </a:t>
            </a:r>
            <a:endParaRPr lang="en-AU" dirty="0" smtClean="0"/>
          </a:p>
          <a:p>
            <a:endParaRPr lang="en-AU" dirty="0"/>
          </a:p>
          <a:p>
            <a:r>
              <a:rPr lang="en-AU" b="1" dirty="0"/>
              <a:t>Cytokinesis</a:t>
            </a:r>
            <a:r>
              <a:rPr lang="en-AU" dirty="0"/>
              <a:t>: the division of the cytoplasm to form two daughter cells </a:t>
            </a:r>
            <a:endParaRPr lang="en-AU" dirty="0" smtClean="0"/>
          </a:p>
          <a:p>
            <a:endParaRPr lang="en-AU" dirty="0"/>
          </a:p>
          <a:p>
            <a:r>
              <a:rPr lang="en-AU" b="1" dirty="0"/>
              <a:t>Chromosomes</a:t>
            </a:r>
            <a:r>
              <a:rPr lang="en-AU" dirty="0"/>
              <a:t>: a long DNA molecule with part or all of the genetic material of an organism</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68060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normAutofit lnSpcReduction="10000"/>
          </a:bodyPr>
          <a:lstStyle/>
          <a:p>
            <a:r>
              <a:rPr lang="en-AU" b="1" dirty="0"/>
              <a:t>Chromatids</a:t>
            </a:r>
            <a:r>
              <a:rPr lang="en-AU" dirty="0"/>
              <a:t>:  one half of a duplicated chromosome. Before replication, one chromosome is composed of one DNA molecule. In replication, the DNA molecule is copied, and the two molecules are known as </a:t>
            </a:r>
            <a:r>
              <a:rPr lang="en-AU" dirty="0" smtClean="0"/>
              <a:t>chromatids</a:t>
            </a:r>
          </a:p>
          <a:p>
            <a:endParaRPr lang="en-AU" dirty="0"/>
          </a:p>
          <a:p>
            <a:r>
              <a:rPr lang="en-AU" b="1" dirty="0"/>
              <a:t>Centromere</a:t>
            </a:r>
            <a:r>
              <a:rPr lang="en-AU" dirty="0"/>
              <a:t>:  the region of a chromosome to which the microtubules of the spindle attach during cell </a:t>
            </a:r>
            <a:r>
              <a:rPr lang="en-AU" dirty="0" smtClean="0"/>
              <a:t>division</a:t>
            </a:r>
          </a:p>
          <a:p>
            <a:endParaRPr lang="en-AU" dirty="0"/>
          </a:p>
          <a:p>
            <a:r>
              <a:rPr lang="en-AU" b="1" dirty="0"/>
              <a:t>Stem cell</a:t>
            </a:r>
            <a:r>
              <a:rPr lang="en-AU" dirty="0"/>
              <a:t>: cell that has the ability to produce different types of body cells </a:t>
            </a:r>
            <a:endParaRPr lang="en-AU" dirty="0"/>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6069241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Differentiation</a:t>
            </a:r>
            <a:r>
              <a:rPr lang="en-AU" dirty="0"/>
              <a:t>: the process by which unspecialised cells develop special characteristics to suit particular functions </a:t>
            </a:r>
            <a:endParaRPr lang="en-AU" dirty="0" smtClean="0"/>
          </a:p>
          <a:p>
            <a:endParaRPr lang="en-AU" dirty="0"/>
          </a:p>
          <a:p>
            <a:r>
              <a:rPr lang="en-AU" b="1" dirty="0"/>
              <a:t>Totipotent stem cells</a:t>
            </a:r>
            <a:r>
              <a:rPr lang="en-AU" dirty="0"/>
              <a:t>: stem cells that are able to create any of the types of cell necessary for embryonic development  </a:t>
            </a:r>
            <a:endParaRPr lang="en-AU" dirty="0" smtClean="0"/>
          </a:p>
          <a:p>
            <a:endParaRPr lang="en-AU" dirty="0"/>
          </a:p>
          <a:p>
            <a:r>
              <a:rPr lang="en-AU" b="1" dirty="0"/>
              <a:t>Pluripotent stem cells</a:t>
            </a:r>
            <a:r>
              <a:rPr lang="en-AU" dirty="0"/>
              <a:t>: stem cells that are able to give rise to many, but not all, of the cell types necessary for foetal development</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458900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a:t>Vocabulary </a:t>
            </a:r>
            <a:endParaRPr lang="en-AU" sz="6000" dirty="0"/>
          </a:p>
        </p:txBody>
      </p:sp>
      <p:sp>
        <p:nvSpPr>
          <p:cNvPr id="3" name="Content Placeholder 2"/>
          <p:cNvSpPr>
            <a:spLocks noGrp="1"/>
          </p:cNvSpPr>
          <p:nvPr>
            <p:ph idx="1"/>
          </p:nvPr>
        </p:nvSpPr>
        <p:spPr/>
        <p:txBody>
          <a:bodyPr/>
          <a:lstStyle/>
          <a:p>
            <a:r>
              <a:rPr lang="en-AU" b="1" dirty="0"/>
              <a:t>Multipotent stem cells</a:t>
            </a:r>
            <a:r>
              <a:rPr lang="en-AU" dirty="0"/>
              <a:t>: stem cells that are able to give rise to a limited number of other cell types; for example, blood stem cells will give rise to red blood cells, white blood cells and platelets.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7808334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Cell Cycle </a:t>
            </a:r>
            <a:endParaRPr lang="en-AU" sz="6000" b="1" dirty="0"/>
          </a:p>
        </p:txBody>
      </p:sp>
      <p:sp>
        <p:nvSpPr>
          <p:cNvPr id="3" name="Content Placeholder 2"/>
          <p:cNvSpPr>
            <a:spLocks noGrp="1"/>
          </p:cNvSpPr>
          <p:nvPr>
            <p:ph idx="1"/>
          </p:nvPr>
        </p:nvSpPr>
        <p:spPr/>
        <p:txBody>
          <a:bodyPr/>
          <a:lstStyle/>
          <a:p>
            <a:r>
              <a:rPr lang="en-AU" dirty="0" smtClean="0"/>
              <a:t>Cells need to reproduce for a number of reasons e.g. replace old, dead or damaged cells. </a:t>
            </a:r>
          </a:p>
          <a:p>
            <a:endParaRPr lang="en-AU" dirty="0"/>
          </a:p>
          <a:p>
            <a:r>
              <a:rPr lang="en-AU" dirty="0" smtClean="0"/>
              <a:t>Generally the more wear and tear on a cell the shorter the life span.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5" name="Table 4"/>
          <p:cNvGraphicFramePr>
            <a:graphicFrameLocks noGrp="1"/>
          </p:cNvGraphicFramePr>
          <p:nvPr>
            <p:extLst>
              <p:ext uri="{D42A27DB-BD31-4B8C-83A1-F6EECF244321}">
                <p14:modId xmlns:p14="http://schemas.microsoft.com/office/powerpoint/2010/main" val="410881677"/>
              </p:ext>
            </p:extLst>
          </p:nvPr>
        </p:nvGraphicFramePr>
        <p:xfrm>
          <a:off x="1910080" y="3951923"/>
          <a:ext cx="8128000" cy="222504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892537742"/>
                    </a:ext>
                  </a:extLst>
                </a:gridCol>
                <a:gridCol w="4064000">
                  <a:extLst>
                    <a:ext uri="{9D8B030D-6E8A-4147-A177-3AD203B41FA5}">
                      <a16:colId xmlns:a16="http://schemas.microsoft.com/office/drawing/2014/main" val="2058154282"/>
                    </a:ext>
                  </a:extLst>
                </a:gridCol>
              </a:tblGrid>
              <a:tr h="370840">
                <a:tc>
                  <a:txBody>
                    <a:bodyPr/>
                    <a:lstStyle/>
                    <a:p>
                      <a:pPr algn="ctr"/>
                      <a:r>
                        <a:rPr lang="en-AU" dirty="0" smtClean="0">
                          <a:solidFill>
                            <a:schemeClr val="tx1"/>
                          </a:solidFill>
                        </a:rPr>
                        <a:t>Cell</a:t>
                      </a:r>
                      <a:r>
                        <a:rPr lang="en-AU" baseline="0" dirty="0" smtClean="0">
                          <a:solidFill>
                            <a:schemeClr val="tx1"/>
                          </a:solidFill>
                        </a:rPr>
                        <a:t> Type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tc>
                  <a:txBody>
                    <a:bodyPr/>
                    <a:lstStyle/>
                    <a:p>
                      <a:pPr algn="ctr"/>
                      <a:r>
                        <a:rPr lang="en-AU" dirty="0" smtClean="0">
                          <a:solidFill>
                            <a:schemeClr val="tx1"/>
                          </a:solidFill>
                        </a:rPr>
                        <a:t>Average Life Span (Days)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2">
                        <a:lumMod val="75000"/>
                      </a:schemeClr>
                    </a:solidFill>
                  </a:tcPr>
                </a:tc>
                <a:extLst>
                  <a:ext uri="{0D108BD9-81ED-4DB2-BD59-A6C34878D82A}">
                    <a16:rowId xmlns:a16="http://schemas.microsoft.com/office/drawing/2014/main" val="1419225281"/>
                  </a:ext>
                </a:extLst>
              </a:tr>
              <a:tr h="370840">
                <a:tc>
                  <a:txBody>
                    <a:bodyPr/>
                    <a:lstStyle/>
                    <a:p>
                      <a:r>
                        <a:rPr lang="en-AU" dirty="0" smtClean="0">
                          <a:solidFill>
                            <a:schemeClr val="tx1"/>
                          </a:solidFill>
                        </a:rPr>
                        <a:t>Intestinal lining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dirty="0" smtClean="0">
                          <a:solidFill>
                            <a:schemeClr val="tx1"/>
                          </a:solidFill>
                        </a:rPr>
                        <a:t>1.3</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157720595"/>
                  </a:ext>
                </a:extLst>
              </a:tr>
              <a:tr h="370840">
                <a:tc>
                  <a:txBody>
                    <a:bodyPr/>
                    <a:lstStyle/>
                    <a:p>
                      <a:r>
                        <a:rPr lang="en-AU" dirty="0" smtClean="0">
                          <a:solidFill>
                            <a:schemeClr val="tx1"/>
                          </a:solidFill>
                        </a:rPr>
                        <a:t>Tongue surface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dirty="0" smtClean="0">
                          <a:solidFill>
                            <a:schemeClr val="tx1"/>
                          </a:solidFill>
                        </a:rPr>
                        <a:t>3.5</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89898815"/>
                  </a:ext>
                </a:extLst>
              </a:tr>
              <a:tr h="370840">
                <a:tc>
                  <a:txBody>
                    <a:bodyPr/>
                    <a:lstStyle/>
                    <a:p>
                      <a:r>
                        <a:rPr lang="en-AU" dirty="0" smtClean="0">
                          <a:solidFill>
                            <a:schemeClr val="tx1"/>
                          </a:solidFill>
                        </a:rPr>
                        <a:t>Alveolus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dirty="0" smtClean="0">
                          <a:solidFill>
                            <a:schemeClr val="tx1"/>
                          </a:solidFill>
                        </a:rPr>
                        <a:t>21</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86078671"/>
                  </a:ext>
                </a:extLst>
              </a:tr>
              <a:tr h="370840">
                <a:tc>
                  <a:txBody>
                    <a:bodyPr/>
                    <a:lstStyle/>
                    <a:p>
                      <a:r>
                        <a:rPr lang="en-AU" dirty="0" smtClean="0">
                          <a:solidFill>
                            <a:schemeClr val="tx1"/>
                          </a:solidFill>
                        </a:rPr>
                        <a:t>Red Blood Cell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dirty="0" smtClean="0">
                          <a:solidFill>
                            <a:schemeClr val="tx1"/>
                          </a:solidFill>
                        </a:rPr>
                        <a:t>120</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48337162"/>
                  </a:ext>
                </a:extLst>
              </a:tr>
              <a:tr h="370840">
                <a:tc>
                  <a:txBody>
                    <a:bodyPr/>
                    <a:lstStyle/>
                    <a:p>
                      <a:r>
                        <a:rPr lang="en-AU" dirty="0" smtClean="0">
                          <a:solidFill>
                            <a:schemeClr val="tx1"/>
                          </a:solidFill>
                        </a:rPr>
                        <a:t>Nerve cell in brain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AU" dirty="0" smtClean="0">
                          <a:solidFill>
                            <a:schemeClr val="tx1"/>
                          </a:solidFill>
                        </a:rPr>
                        <a:t>29 200 (80+ years) </a:t>
                      </a:r>
                      <a:endParaRPr lang="en-AU" dirty="0">
                        <a:solidFill>
                          <a:schemeClr val="tx1"/>
                        </a:solidFill>
                      </a:endParaRPr>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972428771"/>
                  </a:ext>
                </a:extLst>
              </a:tr>
            </a:tbl>
          </a:graphicData>
        </a:graphic>
      </p:graphicFrame>
    </p:spTree>
    <p:extLst>
      <p:ext uri="{BB962C8B-B14F-4D97-AF65-F5344CB8AC3E}">
        <p14:creationId xmlns:p14="http://schemas.microsoft.com/office/powerpoint/2010/main" val="3075031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The Cell Cycle continued </a:t>
            </a:r>
            <a:endParaRPr lang="en-AU" sz="6000" b="1" dirty="0"/>
          </a:p>
        </p:txBody>
      </p:sp>
      <p:sp>
        <p:nvSpPr>
          <p:cNvPr id="3" name="Content Placeholder 2"/>
          <p:cNvSpPr>
            <a:spLocks noGrp="1"/>
          </p:cNvSpPr>
          <p:nvPr>
            <p:ph idx="1"/>
          </p:nvPr>
        </p:nvSpPr>
        <p:spPr/>
        <p:txBody>
          <a:bodyPr/>
          <a:lstStyle/>
          <a:p>
            <a:r>
              <a:rPr lang="en-AU" dirty="0" smtClean="0"/>
              <a:t>The events that take place from one cell division to the next are called the cell cycle. </a:t>
            </a:r>
          </a:p>
          <a:p>
            <a:endParaRPr lang="en-AU" dirty="0"/>
          </a:p>
          <a:p>
            <a:r>
              <a:rPr lang="en-AU" dirty="0" smtClean="0"/>
              <a:t>G</a:t>
            </a:r>
            <a:r>
              <a:rPr lang="en-AU" baseline="-25000" dirty="0" smtClean="0"/>
              <a:t>1</a:t>
            </a:r>
            <a:r>
              <a:rPr lang="en-AU" dirty="0" smtClean="0"/>
              <a:t> phase: the </a:t>
            </a:r>
            <a:r>
              <a:rPr lang="en-AU" dirty="0" smtClean="0"/>
              <a:t>first growth phase. The cell produces new proteins, grows and carries out its normal tasks for the body; this phase ends when the cell’s DNA begins to duplicate. </a:t>
            </a:r>
          </a:p>
          <a:p>
            <a:endParaRPr lang="en-AU" dirty="0"/>
          </a:p>
          <a:p>
            <a:r>
              <a:rPr lang="en-AU" dirty="0" smtClean="0"/>
              <a:t>S phase: synthesis phase. The DNA molecules in the cell nucleus form exact copies of themselves.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995293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5933313" y="333402"/>
            <a:ext cx="5919053" cy="6195549"/>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p:cNvSpPr txBox="1"/>
          <p:nvPr/>
        </p:nvSpPr>
        <p:spPr>
          <a:xfrm>
            <a:off x="505097" y="1015130"/>
            <a:ext cx="5268686" cy="4832092"/>
          </a:xfrm>
          <a:prstGeom prst="rect">
            <a:avLst/>
          </a:prstGeom>
          <a:noFill/>
        </p:spPr>
        <p:txBody>
          <a:bodyPr wrap="square" rtlCol="0">
            <a:spAutoFit/>
          </a:bodyPr>
          <a:lstStyle/>
          <a:p>
            <a:r>
              <a:rPr lang="en-AU" sz="2800" dirty="0" smtClean="0"/>
              <a:t>G</a:t>
            </a:r>
            <a:r>
              <a:rPr lang="en-AU" sz="2800" baseline="-25000" dirty="0" smtClean="0"/>
              <a:t>2</a:t>
            </a:r>
            <a:r>
              <a:rPr lang="en-AU" sz="2800" dirty="0" smtClean="0"/>
              <a:t> phase: second growth phase. This relatively short phase involves preparation for cell division. </a:t>
            </a:r>
          </a:p>
          <a:p>
            <a:endParaRPr lang="en-AU" sz="2800" dirty="0"/>
          </a:p>
          <a:p>
            <a:r>
              <a:rPr lang="en-AU" sz="2800" dirty="0" smtClean="0"/>
              <a:t>M phase: mitotic phase. The cell divides into two daughter cells. </a:t>
            </a:r>
          </a:p>
          <a:p>
            <a:endParaRPr lang="en-AU" sz="2800" dirty="0"/>
          </a:p>
          <a:p>
            <a:r>
              <a:rPr lang="en-AU" sz="2800" dirty="0" smtClean="0"/>
              <a:t>G</a:t>
            </a:r>
            <a:r>
              <a:rPr lang="en-AU" sz="2800" baseline="-25000" dirty="0" smtClean="0"/>
              <a:t>0</a:t>
            </a:r>
            <a:r>
              <a:rPr lang="en-AU" sz="2800" dirty="0" smtClean="0"/>
              <a:t> phase: after cell division, cells can leave the cycle and stop dividing for days, years or even for the rest of the person’s life. </a:t>
            </a:r>
            <a:endParaRPr lang="en-AU" sz="2800" dirty="0"/>
          </a:p>
        </p:txBody>
      </p:sp>
    </p:spTree>
    <p:extLst>
      <p:ext uri="{BB962C8B-B14F-4D97-AF65-F5344CB8AC3E}">
        <p14:creationId xmlns:p14="http://schemas.microsoft.com/office/powerpoint/2010/main" val="196612152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Mitosis </a:t>
            </a:r>
            <a:endParaRPr lang="en-AU" sz="6000" b="1" dirty="0"/>
          </a:p>
        </p:txBody>
      </p:sp>
      <p:sp>
        <p:nvSpPr>
          <p:cNvPr id="3" name="Content Placeholder 2"/>
          <p:cNvSpPr>
            <a:spLocks noGrp="1"/>
          </p:cNvSpPr>
          <p:nvPr>
            <p:ph idx="1"/>
          </p:nvPr>
        </p:nvSpPr>
        <p:spPr/>
        <p:txBody>
          <a:bodyPr/>
          <a:lstStyle/>
          <a:p>
            <a:r>
              <a:rPr lang="en-AU" dirty="0" smtClean="0"/>
              <a:t>It is vital that when a cell reproduces, each new cell gets exactly the same DNA as the parent cell. </a:t>
            </a:r>
          </a:p>
          <a:p>
            <a:endParaRPr lang="en-AU" dirty="0"/>
          </a:p>
          <a:p>
            <a:r>
              <a:rPr lang="en-AU" dirty="0" smtClean="0"/>
              <a:t>Interphase: period between nuclear divisions. During interphase the cell goes through the G</a:t>
            </a:r>
            <a:r>
              <a:rPr lang="en-AU" baseline="-25000" dirty="0" smtClean="0"/>
              <a:t>1</a:t>
            </a:r>
            <a:r>
              <a:rPr lang="en-AU" dirty="0" smtClean="0"/>
              <a:t>, S, and G</a:t>
            </a:r>
            <a:r>
              <a:rPr lang="en-AU" baseline="-25000" dirty="0" smtClean="0"/>
              <a:t>2</a:t>
            </a:r>
            <a:r>
              <a:rPr lang="en-AU" dirty="0" smtClean="0"/>
              <a:t> phases of the cell cycle. </a:t>
            </a:r>
            <a:r>
              <a:rPr lang="en-AU" dirty="0" smtClean="0"/>
              <a:t>The quantity of DNA in the nucleus doubles.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90917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75260" y="1649662"/>
            <a:ext cx="8751026" cy="5129349"/>
          </a:xfrm>
        </p:spPr>
        <p:txBody>
          <a:bodyPr>
            <a:normAutofit/>
          </a:bodyPr>
          <a:lstStyle/>
          <a:p>
            <a:r>
              <a:rPr lang="en-AU" dirty="0" smtClean="0"/>
              <a:t>Prophase: first phase of mitosis. </a:t>
            </a:r>
          </a:p>
          <a:p>
            <a:r>
              <a:rPr lang="en-AU" dirty="0" smtClean="0"/>
              <a:t>Two pairs of centrioles become </a:t>
            </a:r>
            <a:r>
              <a:rPr lang="en-AU" dirty="0" smtClean="0"/>
              <a:t>visible early in prophase. They move to opposite ends of the cell and microtubule begin to radiate from them. </a:t>
            </a:r>
          </a:p>
          <a:p>
            <a:r>
              <a:rPr lang="en-AU" dirty="0" smtClean="0"/>
              <a:t>At the same time, the nucleolus disappears and the nuclear membrane begins to break down. The chromatin threads of DNA become tightly coiled and can be seen as chromosomes. </a:t>
            </a:r>
          </a:p>
          <a:p>
            <a:r>
              <a:rPr lang="en-AU" dirty="0" smtClean="0"/>
              <a:t>Coiling the long, delicate DNA molecules makes it easier to distribute the DNA to the daughter cells. </a:t>
            </a:r>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itle 1"/>
          <p:cNvSpPr>
            <a:spLocks noGrp="1"/>
          </p:cNvSpPr>
          <p:nvPr>
            <p:ph type="title"/>
          </p:nvPr>
        </p:nvSpPr>
        <p:spPr>
          <a:xfrm>
            <a:off x="838200" y="365125"/>
            <a:ext cx="10515600" cy="1325563"/>
          </a:xfrm>
        </p:spPr>
        <p:txBody>
          <a:bodyPr>
            <a:normAutofit/>
          </a:bodyPr>
          <a:lstStyle/>
          <a:p>
            <a:r>
              <a:rPr lang="en-AU" sz="6000" b="1" dirty="0" smtClean="0"/>
              <a:t>Mitosis </a:t>
            </a:r>
            <a:endParaRPr lang="en-AU" sz="6000" b="1" dirty="0"/>
          </a:p>
        </p:txBody>
      </p:sp>
      <p:pic>
        <p:nvPicPr>
          <p:cNvPr id="7" name="Picture 6"/>
          <p:cNvPicPr>
            <a:picLocks noChangeAspect="1"/>
          </p:cNvPicPr>
          <p:nvPr/>
        </p:nvPicPr>
        <p:blipFill>
          <a:blip r:embed="rId2"/>
          <a:stretch>
            <a:fillRect/>
          </a:stretch>
        </p:blipFill>
        <p:spPr>
          <a:xfrm>
            <a:off x="9153462" y="1828165"/>
            <a:ext cx="2706859" cy="4352921"/>
          </a:xfrm>
          <a:prstGeom prst="rect">
            <a:avLst/>
          </a:prstGeom>
        </p:spPr>
      </p:pic>
    </p:spTree>
    <p:extLst>
      <p:ext uri="{BB962C8B-B14F-4D97-AF65-F5344CB8AC3E}">
        <p14:creationId xmlns:p14="http://schemas.microsoft.com/office/powerpoint/2010/main" val="29731948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Mitosis </a:t>
            </a:r>
            <a:endParaRPr lang="en-AU" sz="6000" b="1" dirty="0"/>
          </a:p>
        </p:txBody>
      </p:sp>
      <p:sp>
        <p:nvSpPr>
          <p:cNvPr id="3" name="Content Placeholder 2"/>
          <p:cNvSpPr>
            <a:spLocks noGrp="1"/>
          </p:cNvSpPr>
          <p:nvPr>
            <p:ph idx="1"/>
          </p:nvPr>
        </p:nvSpPr>
        <p:spPr>
          <a:xfrm>
            <a:off x="385354" y="1581784"/>
            <a:ext cx="11467011" cy="4975769"/>
          </a:xfrm>
        </p:spPr>
        <p:txBody>
          <a:bodyPr/>
          <a:lstStyle/>
          <a:p>
            <a:r>
              <a:rPr lang="en-AU" dirty="0" smtClean="0"/>
              <a:t>Prophase continued: </a:t>
            </a:r>
          </a:p>
          <a:p>
            <a:r>
              <a:rPr lang="en-AU" dirty="0" smtClean="0"/>
              <a:t>Each </a:t>
            </a:r>
            <a:r>
              <a:rPr lang="en-AU" dirty="0"/>
              <a:t>chromosome consists of two chromatids, which are joined at a point called the centromere. </a:t>
            </a:r>
            <a:endParaRPr lang="en-AU" dirty="0" smtClean="0"/>
          </a:p>
          <a:p>
            <a:r>
              <a:rPr lang="en-AU" dirty="0" smtClean="0"/>
              <a:t>The </a:t>
            </a:r>
            <a:r>
              <a:rPr lang="en-AU" dirty="0"/>
              <a:t>two chromatids are identical, tightly coiled DNA molecules produced from DNA replication during interphase. By the end of prophase, the centrioles have reached opposite poles of the cell and some of the microtubules radiating from them join to form a framework of fibres called a spindle. </a:t>
            </a:r>
            <a:endParaRPr lang="en-AU" dirty="0" smtClean="0"/>
          </a:p>
          <a:p>
            <a:r>
              <a:rPr lang="en-AU" dirty="0" smtClean="0"/>
              <a:t>The </a:t>
            </a:r>
            <a:r>
              <a:rPr lang="en-AU" dirty="0"/>
              <a:t>nuclear membrane has now completely disappeared, and the chromatid pairs migrate towards the centre (equator) of the cell. </a:t>
            </a:r>
          </a:p>
          <a:p>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543288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Mitosis </a:t>
            </a:r>
            <a:endParaRPr lang="en-AU" sz="6000" b="1" dirty="0"/>
          </a:p>
        </p:txBody>
      </p:sp>
      <p:sp>
        <p:nvSpPr>
          <p:cNvPr id="3" name="Content Placeholder 2"/>
          <p:cNvSpPr>
            <a:spLocks noGrp="1"/>
          </p:cNvSpPr>
          <p:nvPr>
            <p:ph idx="1"/>
          </p:nvPr>
        </p:nvSpPr>
        <p:spPr/>
        <p:txBody>
          <a:bodyPr/>
          <a:lstStyle/>
          <a:p>
            <a:r>
              <a:rPr lang="en-AU" dirty="0" smtClean="0"/>
              <a:t>Metaphase: chromatid pairs line up on the equator of the spindle. The centromere of each pair is attached to the spindle fibre. </a:t>
            </a:r>
          </a:p>
          <a:p>
            <a:endParaRPr lang="en-AU" dirty="0"/>
          </a:p>
          <a:p>
            <a:r>
              <a:rPr lang="en-AU" dirty="0" smtClean="0"/>
              <a:t>Anaphase: each pair of chromatids separates at the centromere. As the chromatids have become independent of each other, they are now each called chromosomes. The new chromosomes are then pulled away from one another towards opposite poles of the cell. The centromeres are still attached to the spindle fibres, and it seems that the spindle fibres pull the chromosomes apart in some ways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802505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Mitosis </a:t>
            </a:r>
            <a:endParaRPr lang="en-AU" sz="6000" b="1" dirty="0"/>
          </a:p>
        </p:txBody>
      </p:sp>
      <p:sp>
        <p:nvSpPr>
          <p:cNvPr id="3" name="Content Placeholder 2"/>
          <p:cNvSpPr>
            <a:spLocks noGrp="1"/>
          </p:cNvSpPr>
          <p:nvPr>
            <p:ph idx="1"/>
          </p:nvPr>
        </p:nvSpPr>
        <p:spPr>
          <a:xfrm>
            <a:off x="289561" y="1573077"/>
            <a:ext cx="5318760" cy="4897392"/>
          </a:xfrm>
        </p:spPr>
        <p:txBody>
          <a:bodyPr/>
          <a:lstStyle/>
          <a:p>
            <a:r>
              <a:rPr lang="en-AU" dirty="0" smtClean="0"/>
              <a:t>Telophase: the two sets of chromosomes form tight groups at each pole of the cell. A nuclear membrane forms around each group, and a nucleolus appears in each new nucleus. The spindle fibres disappear, and the chromosomes gradually uncoil to become chromatin threads once more.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p:cNvPicPr>
            <a:picLocks noChangeAspect="1"/>
          </p:cNvPicPr>
          <p:nvPr/>
        </p:nvPicPr>
        <p:blipFill>
          <a:blip r:embed="rId2"/>
          <a:stretch>
            <a:fillRect/>
          </a:stretch>
        </p:blipFill>
        <p:spPr>
          <a:xfrm>
            <a:off x="5851806" y="439382"/>
            <a:ext cx="6050633" cy="5983590"/>
          </a:xfrm>
          <a:prstGeom prst="rect">
            <a:avLst/>
          </a:prstGeom>
        </p:spPr>
      </p:pic>
    </p:spTree>
    <p:extLst>
      <p:ext uri="{BB962C8B-B14F-4D97-AF65-F5344CB8AC3E}">
        <p14:creationId xmlns:p14="http://schemas.microsoft.com/office/powerpoint/2010/main" val="70300623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Mitosis </a:t>
            </a:r>
            <a:endParaRPr lang="en-AU" sz="6000" b="1"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Content Placeholder 5"/>
          <p:cNvSpPr>
            <a:spLocks noGrp="1"/>
          </p:cNvSpPr>
          <p:nvPr>
            <p:ph idx="1"/>
          </p:nvPr>
        </p:nvSpPr>
        <p:spPr/>
        <p:txBody>
          <a:bodyPr/>
          <a:lstStyle/>
          <a:p>
            <a:r>
              <a:rPr lang="en-AU" dirty="0" smtClean="0"/>
              <a:t>Cytokinesis: division of the cytoplasm into two parts, each with its own nucleus, and the exact same number and type of chromosomes as the parent cell. The genetic information is therefore passed from parent cell to the daughter cells without change. </a:t>
            </a:r>
            <a:endParaRPr lang="en-AU" dirty="0"/>
          </a:p>
        </p:txBody>
      </p:sp>
    </p:spTree>
    <p:extLst>
      <p:ext uri="{BB962C8B-B14F-4D97-AF65-F5344CB8AC3E}">
        <p14:creationId xmlns:p14="http://schemas.microsoft.com/office/powerpoint/2010/main" val="22896541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Stem Cells </a:t>
            </a:r>
            <a:endParaRPr lang="en-AU" sz="6000" b="1" dirty="0"/>
          </a:p>
        </p:txBody>
      </p:sp>
      <p:sp>
        <p:nvSpPr>
          <p:cNvPr id="3" name="Content Placeholder 2"/>
          <p:cNvSpPr>
            <a:spLocks noGrp="1"/>
          </p:cNvSpPr>
          <p:nvPr>
            <p:ph idx="1"/>
          </p:nvPr>
        </p:nvSpPr>
        <p:spPr/>
        <p:txBody>
          <a:bodyPr/>
          <a:lstStyle/>
          <a:p>
            <a:r>
              <a:rPr lang="en-AU" dirty="0" smtClean="0"/>
              <a:t>Cells can be classified as either stem cells or specialised cells </a:t>
            </a:r>
          </a:p>
          <a:p>
            <a:endParaRPr lang="en-AU" dirty="0"/>
          </a:p>
          <a:p>
            <a:r>
              <a:rPr lang="en-AU" dirty="0" smtClean="0"/>
              <a:t>In general terms, specialised cells are unable to divide and hav</a:t>
            </a:r>
            <a:r>
              <a:rPr lang="en-AU" dirty="0" smtClean="0"/>
              <a:t>e to be replaced by other means. When stem cells undergo mitosis, the daughter cells may be new stem cells or cells that differentiate to form specialised cells.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76515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Differentiation </a:t>
            </a:r>
            <a:endParaRPr lang="en-AU" sz="6000" b="1" dirty="0"/>
          </a:p>
        </p:txBody>
      </p:sp>
      <p:sp>
        <p:nvSpPr>
          <p:cNvPr id="3" name="Content Placeholder 2"/>
          <p:cNvSpPr>
            <a:spLocks noGrp="1"/>
          </p:cNvSpPr>
          <p:nvPr>
            <p:ph idx="1"/>
          </p:nvPr>
        </p:nvSpPr>
        <p:spPr/>
        <p:txBody>
          <a:bodyPr/>
          <a:lstStyle/>
          <a:p>
            <a:r>
              <a:rPr lang="en-AU" dirty="0" smtClean="0"/>
              <a:t>Mitosis ensures that each daughter cell receives the same genes that were in the parent cell. Therefore, every cell in a person’s body has the same genetic information. </a:t>
            </a:r>
          </a:p>
          <a:p>
            <a:endParaRPr lang="en-AU" dirty="0"/>
          </a:p>
          <a:p>
            <a:r>
              <a:rPr lang="en-AU" dirty="0" smtClean="0"/>
              <a:t>The process by which cells become specialised is called differentiation. It seems that as the cells undergo division by mitosis, different genes become activated. This makes the cells differentiate into specialised cells that can perform particular functions.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6909300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2649771" y="181579"/>
            <a:ext cx="6337474" cy="6499196"/>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06905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Stem Cells </a:t>
            </a:r>
            <a:endParaRPr lang="en-AU" sz="6000" b="1" dirty="0"/>
          </a:p>
        </p:txBody>
      </p:sp>
      <p:sp>
        <p:nvSpPr>
          <p:cNvPr id="3" name="Content Placeholder 2"/>
          <p:cNvSpPr>
            <a:spLocks noGrp="1"/>
          </p:cNvSpPr>
          <p:nvPr>
            <p:ph idx="1"/>
          </p:nvPr>
        </p:nvSpPr>
        <p:spPr/>
        <p:txBody>
          <a:bodyPr/>
          <a:lstStyle/>
          <a:p>
            <a:r>
              <a:rPr lang="en-AU" dirty="0" smtClean="0"/>
              <a:t>Cells that can undergo differentiation are called stem cells. They are very different from other cells because they are not specialised and are capable of repeated division by mitosis. </a:t>
            </a:r>
          </a:p>
          <a:p>
            <a:endParaRPr lang="en-AU" dirty="0"/>
          </a:p>
          <a:p>
            <a:r>
              <a:rPr lang="en-AU" dirty="0" smtClean="0"/>
              <a:t>Stem cells have the potential to develop into any cell type. Stem cells can be classified based on where they originate (embryonic, adult or cord blood) or the type of cell that they can form.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75171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Totipotent Stem Cells </a:t>
            </a:r>
            <a:endParaRPr lang="en-AU" sz="6000" b="1" dirty="0"/>
          </a:p>
        </p:txBody>
      </p:sp>
      <p:sp>
        <p:nvSpPr>
          <p:cNvPr id="3" name="Content Placeholder 2"/>
          <p:cNvSpPr>
            <a:spLocks noGrp="1"/>
          </p:cNvSpPr>
          <p:nvPr>
            <p:ph idx="1"/>
          </p:nvPr>
        </p:nvSpPr>
        <p:spPr/>
        <p:txBody>
          <a:bodyPr/>
          <a:lstStyle/>
          <a:p>
            <a:r>
              <a:rPr lang="en-AU" dirty="0" smtClean="0"/>
              <a:t>Have the potential to create any type of cell necessary for embryonic development, including the embryo itself and all the membranes associated with embryonic development. </a:t>
            </a:r>
          </a:p>
          <a:p>
            <a:endParaRPr lang="en-AU" dirty="0"/>
          </a:p>
          <a:p>
            <a:r>
              <a:rPr lang="en-AU" dirty="0" smtClean="0"/>
              <a:t>The cells of the embryo within the first couple of mitotic divisions after fertilisation are the only totipotent cells.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39268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Pluripotent Stem Cells </a:t>
            </a:r>
            <a:endParaRPr lang="en-AU" sz="6000" b="1" dirty="0"/>
          </a:p>
        </p:txBody>
      </p:sp>
      <p:sp>
        <p:nvSpPr>
          <p:cNvPr id="3" name="Content Placeholder 2"/>
          <p:cNvSpPr>
            <a:spLocks noGrp="1"/>
          </p:cNvSpPr>
          <p:nvPr>
            <p:ph idx="1"/>
          </p:nvPr>
        </p:nvSpPr>
        <p:spPr/>
        <p:txBody>
          <a:bodyPr/>
          <a:lstStyle/>
          <a:p>
            <a:r>
              <a:rPr lang="en-AU" dirty="0" smtClean="0"/>
              <a:t>Can give rise to any of the cells in the body. </a:t>
            </a:r>
          </a:p>
          <a:p>
            <a:endParaRPr lang="en-AU" dirty="0"/>
          </a:p>
          <a:p>
            <a:r>
              <a:rPr lang="en-AU" dirty="0" smtClean="0"/>
              <a:t>Embryonic stem cells are pluripotent as they differentiate to form all cells of the individual.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758969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Multipotent Stem Cells </a:t>
            </a:r>
            <a:endParaRPr lang="en-AU" sz="6000" b="1" dirty="0"/>
          </a:p>
        </p:txBody>
      </p:sp>
      <p:sp>
        <p:nvSpPr>
          <p:cNvPr id="3" name="Content Placeholder 2"/>
          <p:cNvSpPr>
            <a:spLocks noGrp="1"/>
          </p:cNvSpPr>
          <p:nvPr>
            <p:ph idx="1"/>
          </p:nvPr>
        </p:nvSpPr>
        <p:spPr/>
        <p:txBody>
          <a:bodyPr/>
          <a:lstStyle/>
          <a:p>
            <a:r>
              <a:rPr lang="en-AU" dirty="0" smtClean="0"/>
              <a:t>Have the potential to form a number of different types of cells. </a:t>
            </a:r>
          </a:p>
          <a:p>
            <a:endParaRPr lang="en-AU" dirty="0"/>
          </a:p>
          <a:p>
            <a:r>
              <a:rPr lang="en-AU" dirty="0" smtClean="0"/>
              <a:t>For example, blood stem cells give rise to red blood cells, white blood cells and platelets, whereas skin stem cells give rise to the different types of skin cells. Embryonic stem cells, adult stem cells and cord blood stem cells are multipotent.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369525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a:blip r:embed="rId2"/>
          <a:stretch>
            <a:fillRect/>
          </a:stretch>
        </p:blipFill>
        <p:spPr>
          <a:xfrm>
            <a:off x="1386043" y="166639"/>
            <a:ext cx="8724608" cy="6529075"/>
          </a:xfrm>
          <a:prstGeom prst="rect">
            <a:avLst/>
          </a:prstGeom>
        </p:spPr>
      </p:pic>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984451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Recall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Why do cells need to divide?</a:t>
            </a:r>
          </a:p>
          <a:p>
            <a:pPr marL="514350" indent="-514350">
              <a:buFont typeface="+mj-lt"/>
              <a:buAutoNum type="arabicPeriod"/>
            </a:pPr>
            <a:r>
              <a:rPr lang="en-AU" dirty="0" smtClean="0"/>
              <a:t>List the types of stem cells. </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351052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Apply Knowledge </a:t>
            </a:r>
            <a:endParaRPr lang="en-AU" sz="6000" b="1" dirty="0"/>
          </a:p>
        </p:txBody>
      </p:sp>
      <p:sp>
        <p:nvSpPr>
          <p:cNvPr id="3" name="Content Placeholder 2"/>
          <p:cNvSpPr>
            <a:spLocks noGrp="1"/>
          </p:cNvSpPr>
          <p:nvPr>
            <p:ph idx="1"/>
          </p:nvPr>
        </p:nvSpPr>
        <p:spPr/>
        <p:txBody>
          <a:bodyPr/>
          <a:lstStyle/>
          <a:p>
            <a:pPr marL="514350" indent="-514350">
              <a:buFont typeface="+mj-lt"/>
              <a:buAutoNum type="arabicPeriod"/>
            </a:pPr>
            <a:r>
              <a:rPr lang="en-AU" dirty="0" smtClean="0"/>
              <a:t>Why would liver cells live for approximately 450 days, while cells lining the stomach live for only 2.9 days?</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635796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AU" sz="6000" b="1" dirty="0" smtClean="0"/>
              <a:t>Homewor</a:t>
            </a:r>
            <a:r>
              <a:rPr lang="en-AU" sz="6000" b="1" dirty="0"/>
              <a:t>k</a:t>
            </a:r>
          </a:p>
        </p:txBody>
      </p:sp>
      <p:sp>
        <p:nvSpPr>
          <p:cNvPr id="3" name="Content Placeholder 2"/>
          <p:cNvSpPr>
            <a:spLocks noGrp="1"/>
          </p:cNvSpPr>
          <p:nvPr>
            <p:ph idx="1"/>
          </p:nvPr>
        </p:nvSpPr>
        <p:spPr/>
        <p:txBody>
          <a:bodyPr/>
          <a:lstStyle/>
          <a:p>
            <a:r>
              <a:rPr lang="en-AU" dirty="0" smtClean="0"/>
              <a:t>What do you think would happen if the spindle fibres did not form in a cell that was undergoing mitosis?</a:t>
            </a:r>
            <a:endParaRPr lang="en-AU" dirty="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AU"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4552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sz="6000" b="1" dirty="0" smtClean="0"/>
              <a:t>Reading</a:t>
            </a:r>
            <a:r>
              <a:rPr lang="en-AU" dirty="0" smtClean="0"/>
              <a:t> </a:t>
            </a:r>
            <a:endParaRPr lang="en-AU" dirty="0"/>
          </a:p>
        </p:txBody>
      </p:sp>
      <p:sp>
        <p:nvSpPr>
          <p:cNvPr id="3" name="Content Placeholder 2"/>
          <p:cNvSpPr>
            <a:spLocks noGrp="1"/>
          </p:cNvSpPr>
          <p:nvPr>
            <p:ph idx="1"/>
          </p:nvPr>
        </p:nvSpPr>
        <p:spPr/>
        <p:txBody>
          <a:bodyPr/>
          <a:lstStyle/>
          <a:p>
            <a:r>
              <a:rPr lang="en-AU" dirty="0" smtClean="0"/>
              <a:t>Pages </a:t>
            </a:r>
            <a:r>
              <a:rPr lang="en-AU" dirty="0" smtClean="0"/>
              <a:t>249 - 254: Cells divide for growth, repair, replacement and reproduction </a:t>
            </a:r>
            <a:endParaRPr lang="en-AU" dirty="0" smtClean="0"/>
          </a:p>
        </p:txBody>
      </p:sp>
      <p:sp>
        <p:nvSpPr>
          <p:cNvPr id="4" name="Rectangle 3"/>
          <p:cNvSpPr/>
          <p:nvPr/>
        </p:nvSpPr>
        <p:spPr>
          <a:xfrm>
            <a:off x="60960" y="69669"/>
            <a:ext cx="12026537" cy="6723017"/>
          </a:xfrm>
          <a:prstGeom prst="rect">
            <a:avLst/>
          </a:prstGeom>
          <a:noFill/>
          <a:ln w="28575">
            <a:solidFill>
              <a:schemeClr val="tx1"/>
            </a:solidFill>
            <a:prstDash val="lgDash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1650149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122</TotalTime>
  <Words>1673</Words>
  <Application>Microsoft Office PowerPoint</Application>
  <PresentationFormat>Widescreen</PresentationFormat>
  <Paragraphs>149</Paragraphs>
  <Slides>33</Slides>
  <Notes>0</Notes>
  <HiddenSlides>0</HiddenSlides>
  <MMClips>0</MMClips>
  <ScaleCrop>false</ScaleCrop>
  <HeadingPairs>
    <vt:vector size="6" baseType="variant">
      <vt:variant>
        <vt:lpstr>Fonts Used</vt:lpstr>
      </vt:variant>
      <vt:variant>
        <vt:i4>3</vt:i4>
      </vt:variant>
      <vt:variant>
        <vt:lpstr>Theme</vt:lpstr>
      </vt:variant>
      <vt:variant>
        <vt:i4>2</vt:i4>
      </vt:variant>
      <vt:variant>
        <vt:lpstr>Slide Titles</vt:lpstr>
      </vt:variant>
      <vt:variant>
        <vt:i4>33</vt:i4>
      </vt:variant>
    </vt:vector>
  </HeadingPairs>
  <TitlesOfParts>
    <vt:vector size="38" baseType="lpstr">
      <vt:lpstr>Arial</vt:lpstr>
      <vt:lpstr>Calibri</vt:lpstr>
      <vt:lpstr>Calibri Light</vt:lpstr>
      <vt:lpstr>Office Theme</vt:lpstr>
      <vt:lpstr>1_Office Theme</vt:lpstr>
      <vt:lpstr>Mitosis and Stem Cells</vt:lpstr>
      <vt:lpstr>SCSA Syllabus Reference </vt:lpstr>
      <vt:lpstr>Lesson Intention </vt:lpstr>
      <vt:lpstr>Success Criteria </vt:lpstr>
      <vt:lpstr>Success Criteria </vt:lpstr>
      <vt:lpstr>Vocabulary </vt:lpstr>
      <vt:lpstr>Vocabulary </vt:lpstr>
      <vt:lpstr>Vocabulary </vt:lpstr>
      <vt:lpstr>Vocabulary </vt:lpstr>
      <vt:lpstr>Vocabulary </vt:lpstr>
      <vt:lpstr>Vocabulary </vt:lpstr>
      <vt:lpstr>Vocabulary </vt:lpstr>
      <vt:lpstr>The Cell Cycle </vt:lpstr>
      <vt:lpstr>The Cell Cycle continued </vt:lpstr>
      <vt:lpstr>PowerPoint Presentation</vt:lpstr>
      <vt:lpstr>Mitosis </vt:lpstr>
      <vt:lpstr>Mitosis </vt:lpstr>
      <vt:lpstr>Mitosis </vt:lpstr>
      <vt:lpstr>Mitosis </vt:lpstr>
      <vt:lpstr>Mitosis </vt:lpstr>
      <vt:lpstr>Mitosis </vt:lpstr>
      <vt:lpstr>Stem Cells </vt:lpstr>
      <vt:lpstr>Differentiation </vt:lpstr>
      <vt:lpstr>PowerPoint Presentation</vt:lpstr>
      <vt:lpstr>Stem Cells </vt:lpstr>
      <vt:lpstr>Totipotent Stem Cells </vt:lpstr>
      <vt:lpstr>Pluripotent Stem Cells </vt:lpstr>
      <vt:lpstr>Multipotent Stem Cells </vt:lpstr>
      <vt:lpstr>PowerPoint Presentation</vt:lpstr>
      <vt:lpstr>Recall Knowledge </vt:lpstr>
      <vt:lpstr>Apply Knowledge </vt:lpstr>
      <vt:lpstr>Homework</vt:lpstr>
      <vt:lpstr>Reading </vt:lpstr>
    </vt:vector>
  </TitlesOfParts>
  <Company>Department of Education Western Australia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DOOMEN Lisa [Gilmore College]</dc:creator>
  <cp:lastModifiedBy>DOOMEN Lisa [Gilmore College]</cp:lastModifiedBy>
  <cp:revision>15</cp:revision>
  <dcterms:created xsi:type="dcterms:W3CDTF">2021-12-16T00:48:44Z</dcterms:created>
  <dcterms:modified xsi:type="dcterms:W3CDTF">2022-06-17T00:14:24Z</dcterms:modified>
</cp:coreProperties>
</file>
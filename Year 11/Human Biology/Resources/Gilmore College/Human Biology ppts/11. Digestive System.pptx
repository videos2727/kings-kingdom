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1" r:id="rId7"/>
    <p:sldId id="267" r:id="rId8"/>
    <p:sldId id="260" r:id="rId9"/>
    <p:sldId id="274" r:id="rId10"/>
    <p:sldId id="275" r:id="rId11"/>
    <p:sldId id="276" r:id="rId12"/>
    <p:sldId id="277" r:id="rId13"/>
    <p:sldId id="268" r:id="rId14"/>
    <p:sldId id="269" r:id="rId15"/>
    <p:sldId id="270" r:id="rId16"/>
    <p:sldId id="271" r:id="rId17"/>
    <p:sldId id="272" r:id="rId18"/>
    <p:sldId id="278" r:id="rId19"/>
    <p:sldId id="279" r:id="rId20"/>
    <p:sldId id="280" r:id="rId21"/>
    <p:sldId id="273" r:id="rId22"/>
    <p:sldId id="262" r:id="rId23"/>
    <p:sldId id="281" r:id="rId24"/>
    <p:sldId id="282" r:id="rId25"/>
    <p:sldId id="283" r:id="rId26"/>
    <p:sldId id="284" r:id="rId27"/>
    <p:sldId id="285" r:id="rId28"/>
    <p:sldId id="286" r:id="rId29"/>
    <p:sldId id="287" r:id="rId30"/>
    <p:sldId id="288" r:id="rId31"/>
    <p:sldId id="289" r:id="rId32"/>
    <p:sldId id="290" r:id="rId33"/>
    <p:sldId id="291" r:id="rId34"/>
    <p:sldId id="293" r:id="rId35"/>
    <p:sldId id="292" r:id="rId36"/>
    <p:sldId id="294" r:id="rId37"/>
    <p:sldId id="295" r:id="rId38"/>
    <p:sldId id="296" r:id="rId39"/>
    <p:sldId id="297" r:id="rId40"/>
    <p:sldId id="298" r:id="rId41"/>
    <p:sldId id="299" r:id="rId42"/>
    <p:sldId id="300" r:id="rId43"/>
    <p:sldId id="301" r:id="rId44"/>
    <p:sldId id="302" r:id="rId45"/>
    <p:sldId id="263" r:id="rId46"/>
    <p:sldId id="264" r:id="rId47"/>
    <p:sldId id="265" r:id="rId48"/>
    <p:sldId id="266"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3" d="100"/>
          <a:sy n="43" d="100"/>
        </p:scale>
        <p:origin x="72" y="5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31/03/2022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31/03/2022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31/03/2022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31/03/2022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31/03/2022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31/03/2022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31/03/2022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31/03/2022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31/03/2022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31/03/2022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31/03/2022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31/03/2022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31/03/2022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31/03/2022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31/03/2022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Digestive System </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#11</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a:xfrm>
            <a:off x="286406" y="1431488"/>
            <a:ext cx="10954407" cy="5032374"/>
          </a:xfrm>
        </p:spPr>
        <p:txBody>
          <a:bodyPr>
            <a:normAutofit fontScale="92500" lnSpcReduction="20000"/>
          </a:bodyPr>
          <a:lstStyle/>
          <a:p>
            <a:pPr lvl="0"/>
            <a:r>
              <a:rPr lang="en-AU" dirty="0"/>
              <a:t>the supply of nutrients in a form that can be used in cells is facilitated by the structure and function of the digestive system at the cell, tissue and organ levels</a:t>
            </a:r>
          </a:p>
          <a:p>
            <a:pPr lvl="0"/>
            <a:r>
              <a:rPr lang="en-AU" dirty="0"/>
              <a:t>digestion involves the breakdown of large molecules to smaller ones by mechanical digestion (teeth, bile and peristalsis) and chemical digestion (by enzymes with distinctive operating conditions and functions that are located in different sections of the digestive system)</a:t>
            </a:r>
          </a:p>
          <a:p>
            <a:pPr lvl="0"/>
            <a:r>
              <a:rPr lang="en-AU" dirty="0"/>
              <a:t>the salivary glands, pancreas, liver and gall bladder produce or store secretions which aid the processes of digestion</a:t>
            </a:r>
          </a:p>
          <a:p>
            <a:pPr lvl="0"/>
            <a:r>
              <a:rPr lang="en-AU" dirty="0"/>
              <a:t>absorption requires nutrients to be in a form that can cross cell membranes into the blood or lymph and occurs at different locations, including the small intestine and large intestine</a:t>
            </a:r>
          </a:p>
          <a:p>
            <a:pPr lvl="0"/>
            <a:r>
              <a:rPr lang="en-AU" dirty="0"/>
              <a:t>elimination removes undigested materials and some metabolic wastes from the body</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a:t>To distinguish between mechanical and chemical digestion</a:t>
            </a:r>
          </a:p>
          <a:p>
            <a:r>
              <a:rPr lang="en-AU" dirty="0"/>
              <a:t>To explore the structure and function of the digestive system </a:t>
            </a:r>
          </a:p>
          <a:p>
            <a:r>
              <a:rPr lang="en-AU" dirty="0"/>
              <a:t>To explore the effect of diet on the alimentary canal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a:xfrm>
            <a:off x="838200" y="1450428"/>
            <a:ext cx="10515600" cy="5044965"/>
          </a:xfrm>
        </p:spPr>
        <p:txBody>
          <a:bodyPr>
            <a:normAutofit/>
          </a:bodyPr>
          <a:lstStyle/>
          <a:p>
            <a:r>
              <a:rPr lang="en-AU" dirty="0" smtClean="0"/>
              <a:t>identify </a:t>
            </a:r>
            <a:r>
              <a:rPr lang="en-AU" dirty="0"/>
              <a:t>the different types of digestion </a:t>
            </a:r>
          </a:p>
          <a:p>
            <a:r>
              <a:rPr lang="en-AU" dirty="0" smtClean="0"/>
              <a:t>describe </a:t>
            </a:r>
            <a:r>
              <a:rPr lang="en-AU" dirty="0"/>
              <a:t>the process of mechanical digestion and where it occurs in the body </a:t>
            </a:r>
          </a:p>
          <a:p>
            <a:r>
              <a:rPr lang="en-AU" dirty="0" smtClean="0"/>
              <a:t>describe </a:t>
            </a:r>
            <a:r>
              <a:rPr lang="en-AU" dirty="0"/>
              <a:t>the process of chemical digestion and where it occurs in the body </a:t>
            </a:r>
          </a:p>
          <a:p>
            <a:r>
              <a:rPr lang="en-AU" dirty="0" smtClean="0"/>
              <a:t>identify </a:t>
            </a:r>
            <a:r>
              <a:rPr lang="en-AU" dirty="0"/>
              <a:t>the different types of digestion </a:t>
            </a:r>
          </a:p>
          <a:p>
            <a:r>
              <a:rPr lang="en-AU" dirty="0" smtClean="0"/>
              <a:t>describe </a:t>
            </a:r>
            <a:r>
              <a:rPr lang="en-AU" dirty="0"/>
              <a:t>the process of mechanical digestion and where it occurs in the body </a:t>
            </a:r>
          </a:p>
          <a:p>
            <a:r>
              <a:rPr lang="en-AU" dirty="0" smtClean="0"/>
              <a:t>describe </a:t>
            </a:r>
            <a:r>
              <a:rPr lang="en-AU" dirty="0"/>
              <a:t>the process of chemical digestion and where it occurs in the body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identify </a:t>
            </a:r>
            <a:r>
              <a:rPr lang="en-AU" dirty="0"/>
              <a:t>the organs that make up the digestive system </a:t>
            </a:r>
          </a:p>
          <a:p>
            <a:r>
              <a:rPr lang="en-AU" dirty="0" smtClean="0"/>
              <a:t>recall </a:t>
            </a:r>
            <a:r>
              <a:rPr lang="en-AU" dirty="0"/>
              <a:t>the function of the digestive system organs </a:t>
            </a:r>
          </a:p>
          <a:p>
            <a:r>
              <a:rPr lang="en-AU" dirty="0" smtClean="0"/>
              <a:t>describe </a:t>
            </a:r>
            <a:r>
              <a:rPr lang="en-AU" dirty="0"/>
              <a:t>the structure of the digestive system organs </a:t>
            </a:r>
          </a:p>
          <a:p>
            <a:r>
              <a:rPr lang="en-AU" dirty="0" smtClean="0"/>
              <a:t>recognise </a:t>
            </a:r>
            <a:r>
              <a:rPr lang="en-AU" dirty="0"/>
              <a:t>that nutrient supply is needed at cell, tissue and organ levels </a:t>
            </a:r>
            <a:endParaRPr lang="en-AU" dirty="0" smtClean="0"/>
          </a:p>
          <a:p>
            <a:r>
              <a:rPr lang="en-AU" dirty="0" smtClean="0"/>
              <a:t>explain </a:t>
            </a:r>
            <a:r>
              <a:rPr lang="en-AU" dirty="0"/>
              <a:t>the process of nutrient absorption </a:t>
            </a:r>
          </a:p>
          <a:p>
            <a:r>
              <a:rPr lang="en-AU" dirty="0" smtClean="0"/>
              <a:t>construct </a:t>
            </a:r>
            <a:r>
              <a:rPr lang="en-AU" dirty="0"/>
              <a:t>a labelled diagram of a microvilli (fig 6.15 </a:t>
            </a:r>
            <a:r>
              <a:rPr lang="en-AU" dirty="0" err="1"/>
              <a:t>pg</a:t>
            </a:r>
            <a:r>
              <a:rPr lang="en-AU" dirty="0"/>
              <a:t> 151) </a:t>
            </a:r>
          </a:p>
          <a:p>
            <a:r>
              <a:rPr lang="en-AU" dirty="0" smtClean="0"/>
              <a:t>explain </a:t>
            </a:r>
            <a:r>
              <a:rPr lang="en-AU" dirty="0"/>
              <a:t>how the large intestine absorbs water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identify </a:t>
            </a:r>
            <a:r>
              <a:rPr lang="en-AU" dirty="0"/>
              <a:t>different digestive conditions caused by diet </a:t>
            </a:r>
          </a:p>
          <a:p>
            <a:r>
              <a:rPr lang="en-AU" dirty="0" smtClean="0"/>
              <a:t>describe </a:t>
            </a:r>
            <a:r>
              <a:rPr lang="en-AU" dirty="0"/>
              <a:t>the conditions and their effects on the digestive system </a:t>
            </a:r>
          </a:p>
          <a:p>
            <a:r>
              <a:rPr lang="en-AU" dirty="0" smtClean="0"/>
              <a:t>recognise </a:t>
            </a:r>
            <a:r>
              <a:rPr lang="en-AU" dirty="0"/>
              <a:t>that changes to diet can reverse/improve the health of the alimentary canal </a:t>
            </a:r>
          </a:p>
          <a:p>
            <a:r>
              <a:rPr lang="en-AU" dirty="0" smtClean="0"/>
              <a:t>explain </a:t>
            </a:r>
            <a:r>
              <a:rPr lang="en-AU" dirty="0"/>
              <a:t>the importance of soluble fibre in the diet of a human being</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5144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669"/>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59826" y="1395232"/>
            <a:ext cx="10780987" cy="4926740"/>
          </a:xfrm>
        </p:spPr>
        <p:txBody>
          <a:bodyPr/>
          <a:lstStyle/>
          <a:p>
            <a:r>
              <a:rPr lang="en-AU" b="1" dirty="0"/>
              <a:t>Mechanical digestion</a:t>
            </a:r>
            <a:r>
              <a:rPr lang="en-AU" dirty="0"/>
              <a:t>: the mechanical breakdown of food into small particles </a:t>
            </a:r>
            <a:endParaRPr lang="en-AU" dirty="0" smtClean="0"/>
          </a:p>
          <a:p>
            <a:endParaRPr lang="en-AU" dirty="0"/>
          </a:p>
          <a:p>
            <a:r>
              <a:rPr lang="en-AU" b="1" dirty="0"/>
              <a:t>Chemical digestion</a:t>
            </a:r>
            <a:r>
              <a:rPr lang="en-AU" dirty="0"/>
              <a:t>: the breakdown of food to small molecules by chemicals </a:t>
            </a:r>
            <a:endParaRPr lang="en-AU" dirty="0" smtClean="0"/>
          </a:p>
          <a:p>
            <a:endParaRPr lang="en-AU" dirty="0"/>
          </a:p>
          <a:p>
            <a:r>
              <a:rPr lang="en-AU" b="1" dirty="0"/>
              <a:t>Saliva</a:t>
            </a:r>
            <a:r>
              <a:rPr lang="en-AU" dirty="0"/>
              <a:t>: a fluid secreted into the mouth by salivary glands to begin digestion of </a:t>
            </a:r>
            <a:r>
              <a:rPr lang="en-AU" dirty="0" smtClean="0"/>
              <a:t>food</a:t>
            </a:r>
          </a:p>
          <a:p>
            <a:endParaRPr lang="en-AU" dirty="0"/>
          </a:p>
          <a:p>
            <a:r>
              <a:rPr lang="en-AU" b="1" dirty="0"/>
              <a:t>Oesophagus</a:t>
            </a:r>
            <a:r>
              <a:rPr lang="en-AU" dirty="0"/>
              <a:t>: the tube that carries food from the throat to the stomach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8" y="69669"/>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81000" y="1395231"/>
            <a:ext cx="10951028" cy="5397455"/>
          </a:xfrm>
        </p:spPr>
        <p:txBody>
          <a:bodyPr/>
          <a:lstStyle/>
          <a:p>
            <a:r>
              <a:rPr lang="en-AU" b="1" dirty="0"/>
              <a:t>Peristalsis</a:t>
            </a:r>
            <a:r>
              <a:rPr lang="en-AU" dirty="0"/>
              <a:t>: waves of muscular contraction that push food along the alimentary </a:t>
            </a:r>
            <a:r>
              <a:rPr lang="en-AU" dirty="0" smtClean="0"/>
              <a:t>canal</a:t>
            </a:r>
          </a:p>
          <a:p>
            <a:endParaRPr lang="en-AU" dirty="0"/>
          </a:p>
          <a:p>
            <a:r>
              <a:rPr lang="en-AU" b="1" dirty="0"/>
              <a:t>Stomach</a:t>
            </a:r>
            <a:r>
              <a:rPr lang="en-AU" dirty="0"/>
              <a:t>: a muscular organ that receives food from the oesophagus, and mixes it with acid and enzymes to form </a:t>
            </a:r>
            <a:r>
              <a:rPr lang="en-AU" dirty="0" smtClean="0"/>
              <a:t>chime</a:t>
            </a:r>
          </a:p>
          <a:p>
            <a:endParaRPr lang="en-AU" dirty="0"/>
          </a:p>
          <a:p>
            <a:r>
              <a:rPr lang="en-AU" b="1" dirty="0"/>
              <a:t>Pyloric sphincter</a:t>
            </a:r>
            <a:r>
              <a:rPr lang="en-AU" dirty="0"/>
              <a:t>: a ring of smooth muscle between the stomach and the duodenum </a:t>
            </a:r>
            <a:endParaRPr lang="en-AU" dirty="0" smtClean="0"/>
          </a:p>
          <a:p>
            <a:endParaRPr lang="en-AU" dirty="0"/>
          </a:p>
          <a:p>
            <a:r>
              <a:rPr lang="en-AU" b="1" dirty="0"/>
              <a:t>Small intestine</a:t>
            </a:r>
            <a:r>
              <a:rPr lang="en-AU" dirty="0"/>
              <a:t>: the longest part of the alimentary canal; receives material from the stomach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0323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59826" y="1510314"/>
            <a:ext cx="10780987" cy="5079671"/>
          </a:xfrm>
        </p:spPr>
        <p:txBody>
          <a:bodyPr/>
          <a:lstStyle/>
          <a:p>
            <a:r>
              <a:rPr lang="en-AU" b="1" dirty="0"/>
              <a:t>Bile</a:t>
            </a:r>
            <a:r>
              <a:rPr lang="en-AU" dirty="0"/>
              <a:t>: a secretion of the liver, stored in the gall bladder and released into the small intestine </a:t>
            </a:r>
            <a:endParaRPr lang="en-AU" dirty="0" smtClean="0"/>
          </a:p>
          <a:p>
            <a:endParaRPr lang="en-AU" dirty="0"/>
          </a:p>
          <a:p>
            <a:r>
              <a:rPr lang="en-AU" b="1" dirty="0"/>
              <a:t>Intestinal juice</a:t>
            </a:r>
            <a:r>
              <a:rPr lang="en-AU" dirty="0"/>
              <a:t>: the digestive juice secreted by the glands of the small intestine </a:t>
            </a:r>
            <a:endParaRPr lang="en-AU" dirty="0" smtClean="0"/>
          </a:p>
          <a:p>
            <a:endParaRPr lang="en-AU" dirty="0"/>
          </a:p>
          <a:p>
            <a:r>
              <a:rPr lang="en-AU" b="1" dirty="0"/>
              <a:t>Villi</a:t>
            </a:r>
            <a:r>
              <a:rPr lang="en-AU" dirty="0"/>
              <a:t>: projections from the internal lining of the small intestine </a:t>
            </a:r>
            <a:endParaRPr lang="en-AU" dirty="0" smtClean="0"/>
          </a:p>
          <a:p>
            <a:endParaRPr lang="en-AU" dirty="0"/>
          </a:p>
          <a:p>
            <a:r>
              <a:rPr lang="en-AU" b="1" dirty="0"/>
              <a:t>Microvilli</a:t>
            </a:r>
            <a:r>
              <a:rPr lang="en-AU" dirty="0"/>
              <a:t>: microscopic projections from the membranes of cells lining the small intestine. They increase the surface area for absorption.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5247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Lacteal</a:t>
            </a:r>
            <a:r>
              <a:rPr lang="en-AU" dirty="0"/>
              <a:t>: a lymph capillary in the small intestine. It absorbs fat from digested food. </a:t>
            </a:r>
            <a:endParaRPr lang="en-AU" dirty="0" smtClean="0"/>
          </a:p>
          <a:p>
            <a:endParaRPr lang="en-AU" dirty="0"/>
          </a:p>
          <a:p>
            <a:r>
              <a:rPr lang="en-AU" b="1" dirty="0"/>
              <a:t>Large Intestine</a:t>
            </a:r>
            <a:r>
              <a:rPr lang="en-AU" dirty="0"/>
              <a:t>: the part of the intestine between the small intestine and the anus.  </a:t>
            </a:r>
            <a:endParaRPr lang="en-AU" dirty="0" smtClean="0"/>
          </a:p>
          <a:p>
            <a:endParaRPr lang="en-AU" dirty="0"/>
          </a:p>
          <a:p>
            <a:r>
              <a:rPr lang="en-AU" b="1" dirty="0"/>
              <a:t>Elimination</a:t>
            </a:r>
            <a:r>
              <a:rPr lang="en-AU" dirty="0"/>
              <a:t>: removal of indigestible material, bacteria and bile pigments from the body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24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Constipation</a:t>
            </a:r>
            <a:r>
              <a:rPr lang="en-AU" dirty="0"/>
              <a:t>: a condition in which defecation is difficult, with faeces being hard and dry  </a:t>
            </a:r>
            <a:endParaRPr lang="en-AU" dirty="0" smtClean="0"/>
          </a:p>
          <a:p>
            <a:endParaRPr lang="en-AU" dirty="0"/>
          </a:p>
          <a:p>
            <a:r>
              <a:rPr lang="en-AU" b="1" dirty="0"/>
              <a:t>Diarrhoea</a:t>
            </a:r>
            <a:r>
              <a:rPr lang="en-AU" dirty="0"/>
              <a:t>: the frequent passing of watery faeces  </a:t>
            </a:r>
            <a:endParaRPr lang="en-AU" dirty="0" smtClean="0"/>
          </a:p>
          <a:p>
            <a:endParaRPr lang="en-AU" dirty="0"/>
          </a:p>
          <a:p>
            <a:r>
              <a:rPr lang="en-AU" b="1" dirty="0"/>
              <a:t>Coeliac disease</a:t>
            </a:r>
            <a:r>
              <a:rPr lang="en-AU" dirty="0"/>
              <a:t>: an autoimmune disease due to the immune system reacting to gluten.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8043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Types of Digestion- Mechanical </a:t>
            </a:r>
            <a:endParaRPr lang="en-AU" sz="6000" b="1" dirty="0"/>
          </a:p>
        </p:txBody>
      </p:sp>
      <p:sp>
        <p:nvSpPr>
          <p:cNvPr id="3" name="Content Placeholder 2"/>
          <p:cNvSpPr>
            <a:spLocks noGrp="1"/>
          </p:cNvSpPr>
          <p:nvPr>
            <p:ph idx="1"/>
          </p:nvPr>
        </p:nvSpPr>
        <p:spPr/>
        <p:txBody>
          <a:bodyPr/>
          <a:lstStyle/>
          <a:p>
            <a:r>
              <a:rPr lang="en-AU" dirty="0" smtClean="0"/>
              <a:t>Digestion is the process of breaking down food into particles small enough to be absorbed into the bloodstream. </a:t>
            </a:r>
          </a:p>
          <a:p>
            <a:endParaRPr lang="en-AU" dirty="0"/>
          </a:p>
          <a:p>
            <a:r>
              <a:rPr lang="en-AU" dirty="0" smtClean="0"/>
              <a:t>Mechanical digestion is the PHYSICAL breakdown of food. It involves: </a:t>
            </a:r>
          </a:p>
          <a:p>
            <a:pPr lvl="1"/>
            <a:r>
              <a:rPr lang="en-AU" dirty="0" smtClean="0"/>
              <a:t>The teeth cutting, tearing and grinding the food </a:t>
            </a:r>
          </a:p>
          <a:p>
            <a:pPr lvl="1"/>
            <a:r>
              <a:rPr lang="en-AU" dirty="0" smtClean="0"/>
              <a:t>Churning action in the stomach breaking the food down further </a:t>
            </a:r>
          </a:p>
          <a:p>
            <a:pPr lvl="1"/>
            <a:r>
              <a:rPr lang="en-AU" dirty="0" smtClean="0"/>
              <a:t>The gall bladder releasing bile into the small intestine. The bile salts act as emulsifying agents, breaking down fat into smaller droplets.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3422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Types of Digestion- Chemical </a:t>
            </a:r>
            <a:endParaRPr lang="en-AU" sz="6000" b="1" dirty="0"/>
          </a:p>
        </p:txBody>
      </p:sp>
      <p:sp>
        <p:nvSpPr>
          <p:cNvPr id="3" name="Content Placeholder 2"/>
          <p:cNvSpPr>
            <a:spLocks noGrp="1"/>
          </p:cNvSpPr>
          <p:nvPr>
            <p:ph idx="1"/>
          </p:nvPr>
        </p:nvSpPr>
        <p:spPr/>
        <p:txBody>
          <a:bodyPr/>
          <a:lstStyle/>
          <a:p>
            <a:r>
              <a:rPr lang="en-AU" dirty="0" smtClean="0"/>
              <a:t>Chemicals break down large, complex molecules into smaller, simpler molecules. </a:t>
            </a:r>
          </a:p>
          <a:p>
            <a:endParaRPr lang="en-AU" dirty="0" smtClean="0"/>
          </a:p>
          <a:p>
            <a:r>
              <a:rPr lang="en-AU" dirty="0" smtClean="0"/>
              <a:t>These smaller molecules are then small enough to be absorbed into the bloodstream. </a:t>
            </a:r>
          </a:p>
          <a:p>
            <a:endParaRPr lang="en-AU" dirty="0"/>
          </a:p>
          <a:p>
            <a:r>
              <a:rPr lang="en-AU" dirty="0" smtClean="0"/>
              <a:t>Chemical digestion is achieved by enzymes.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1879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Alimentary Canal </a:t>
            </a:r>
            <a:endParaRPr lang="en-AU" sz="6000" b="1" dirty="0"/>
          </a:p>
        </p:txBody>
      </p:sp>
      <p:sp>
        <p:nvSpPr>
          <p:cNvPr id="3" name="Content Placeholder 2"/>
          <p:cNvSpPr>
            <a:spLocks noGrp="1"/>
          </p:cNvSpPr>
          <p:nvPr>
            <p:ph idx="1"/>
          </p:nvPr>
        </p:nvSpPr>
        <p:spPr/>
        <p:txBody>
          <a:bodyPr/>
          <a:lstStyle/>
          <a:p>
            <a:r>
              <a:rPr lang="en-AU" dirty="0" smtClean="0"/>
              <a:t>Continuous tube that runs from the mouth to the anus. Makes up the digestive system. </a:t>
            </a:r>
          </a:p>
          <a:p>
            <a:endParaRPr lang="en-AU" dirty="0"/>
          </a:p>
          <a:p>
            <a:r>
              <a:rPr lang="en-AU" dirty="0" smtClean="0"/>
              <a:t>The lining of the alimentary canal is the surface through which nutrients are absorbed.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885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2437" y="319040"/>
            <a:ext cx="11943581" cy="581179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8900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p:cNvPicPr>
            <a:picLocks noGrp="1" noChangeAspect="1"/>
          </p:cNvPicPr>
          <p:nvPr>
            <p:ph idx="1"/>
          </p:nvPr>
        </p:nvPicPr>
        <p:blipFill>
          <a:blip r:embed="rId2"/>
          <a:stretch>
            <a:fillRect/>
          </a:stretch>
        </p:blipFill>
        <p:spPr>
          <a:xfrm>
            <a:off x="182508" y="406582"/>
            <a:ext cx="11783440" cy="5663292"/>
          </a:xfrm>
          <a:prstGeom prst="rect">
            <a:avLst/>
          </a:prstGeom>
        </p:spPr>
      </p:pic>
    </p:spTree>
    <p:extLst>
      <p:ext uri="{BB962C8B-B14F-4D97-AF65-F5344CB8AC3E}">
        <p14:creationId xmlns:p14="http://schemas.microsoft.com/office/powerpoint/2010/main" val="2724319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Mouth </a:t>
            </a:r>
            <a:endParaRPr lang="en-AU" sz="6000" b="1" dirty="0"/>
          </a:p>
        </p:txBody>
      </p:sp>
      <p:sp>
        <p:nvSpPr>
          <p:cNvPr id="3" name="Content Placeholder 2"/>
          <p:cNvSpPr>
            <a:spLocks noGrp="1"/>
          </p:cNvSpPr>
          <p:nvPr>
            <p:ph idx="1"/>
          </p:nvPr>
        </p:nvSpPr>
        <p:spPr/>
        <p:txBody>
          <a:bodyPr/>
          <a:lstStyle/>
          <a:p>
            <a:r>
              <a:rPr lang="en-AU" dirty="0" smtClean="0"/>
              <a:t>Saliva and chemical digestion </a:t>
            </a:r>
          </a:p>
          <a:p>
            <a:pPr lvl="1"/>
            <a:r>
              <a:rPr lang="en-AU" dirty="0" smtClean="0"/>
              <a:t>Saliva contains mucus to lubricate the food and a digestive enzyme called salivary amylase (for starch) </a:t>
            </a:r>
          </a:p>
          <a:p>
            <a:pPr lvl="1"/>
            <a:endParaRPr lang="en-AU" dirty="0" smtClean="0"/>
          </a:p>
          <a:p>
            <a:r>
              <a:rPr lang="en-AU" dirty="0" smtClean="0"/>
              <a:t>Teeth </a:t>
            </a:r>
          </a:p>
          <a:p>
            <a:pPr lvl="1"/>
            <a:r>
              <a:rPr lang="en-AU" dirty="0" smtClean="0"/>
              <a:t>Mechanical digestion. </a:t>
            </a:r>
          </a:p>
          <a:p>
            <a:pPr lvl="1"/>
            <a:r>
              <a:rPr lang="en-AU" dirty="0" smtClean="0"/>
              <a:t>Has incisors (for cutting), canines (for tearing), premolars and molars (crushing and grinding) </a:t>
            </a:r>
          </a:p>
          <a:p>
            <a:pPr lvl="1"/>
            <a:r>
              <a:rPr lang="en-AU" dirty="0" smtClean="0"/>
              <a:t>After chewing, food is known as a bolus.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237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oesophagus </a:t>
            </a:r>
            <a:endParaRPr lang="en-AU" sz="6000" b="1" dirty="0"/>
          </a:p>
        </p:txBody>
      </p:sp>
      <p:sp>
        <p:nvSpPr>
          <p:cNvPr id="3" name="Content Placeholder 2"/>
          <p:cNvSpPr>
            <a:spLocks noGrp="1"/>
          </p:cNvSpPr>
          <p:nvPr>
            <p:ph idx="1"/>
          </p:nvPr>
        </p:nvSpPr>
        <p:spPr>
          <a:xfrm>
            <a:off x="838200" y="1825624"/>
            <a:ext cx="10515600" cy="4826187"/>
          </a:xfrm>
        </p:spPr>
        <p:txBody>
          <a:bodyPr>
            <a:normAutofit/>
          </a:bodyPr>
          <a:lstStyle/>
          <a:p>
            <a:r>
              <a:rPr lang="en-AU" dirty="0" smtClean="0"/>
              <a:t>About 23-25 cm long that connects the pharynx to the stomach. </a:t>
            </a:r>
          </a:p>
          <a:p>
            <a:endParaRPr lang="en-AU" dirty="0"/>
          </a:p>
          <a:p>
            <a:r>
              <a:rPr lang="en-AU" dirty="0" smtClean="0"/>
              <a:t>Double layer of muscle. The circular muscle has muscle fibres arranged in a circle and the longitudinal fibres has fibres arranged along the length of the canal. </a:t>
            </a:r>
          </a:p>
          <a:p>
            <a:endParaRPr lang="en-AU" dirty="0"/>
          </a:p>
          <a:p>
            <a:r>
              <a:rPr lang="en-AU" dirty="0" smtClean="0"/>
              <a:t>As the lump of food enters the oesophagus, the circular muscle behind it contracts to narrow the tube. The contraction of successive bands of circular muscle causes the constriction to move in a wave called peristalsis. This movement pushes the food in front of it.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1588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562976" y="69669"/>
            <a:ext cx="11022503" cy="6723017"/>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7834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stomach </a:t>
            </a:r>
            <a:endParaRPr lang="en-AU" sz="6000" b="1" dirty="0"/>
          </a:p>
        </p:txBody>
      </p:sp>
      <p:sp>
        <p:nvSpPr>
          <p:cNvPr id="3" name="Content Placeholder 2"/>
          <p:cNvSpPr>
            <a:spLocks noGrp="1"/>
          </p:cNvSpPr>
          <p:nvPr>
            <p:ph idx="1"/>
          </p:nvPr>
        </p:nvSpPr>
        <p:spPr/>
        <p:txBody>
          <a:bodyPr/>
          <a:lstStyle/>
          <a:p>
            <a:r>
              <a:rPr lang="en-AU" dirty="0" smtClean="0"/>
              <a:t>Mechanical digestion in the stomach is achieved by waves of muscular contraction that move along the stomach wall. </a:t>
            </a:r>
          </a:p>
          <a:p>
            <a:endParaRPr lang="en-AU" dirty="0"/>
          </a:p>
          <a:p>
            <a:r>
              <a:rPr lang="en-AU" dirty="0" smtClean="0"/>
              <a:t>Unlike the rest of the alimentary canal, the stomach has an oblique muscle layer as well as a circular and longitudinal layer. This enables the stomach to contract in a variety of ways to churn the food and mix it with the stomach juices until the food is converted to a thick, soupy liquid called chyme.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3118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stomach continued. </a:t>
            </a:r>
            <a:endParaRPr lang="en-AU" sz="6000" b="1" dirty="0"/>
          </a:p>
        </p:txBody>
      </p:sp>
      <p:sp>
        <p:nvSpPr>
          <p:cNvPr id="3" name="Content Placeholder 2"/>
          <p:cNvSpPr>
            <a:spLocks noGrp="1"/>
          </p:cNvSpPr>
          <p:nvPr>
            <p:ph idx="1"/>
          </p:nvPr>
        </p:nvSpPr>
        <p:spPr/>
        <p:txBody>
          <a:bodyPr/>
          <a:lstStyle/>
          <a:p>
            <a:r>
              <a:rPr lang="en-AU" dirty="0" smtClean="0"/>
              <a:t>The lining of the stomach, the mucosa, is specialised for the secretion of gastric juice by gastric glands. </a:t>
            </a:r>
          </a:p>
          <a:p>
            <a:endParaRPr lang="en-AU" dirty="0"/>
          </a:p>
          <a:p>
            <a:r>
              <a:rPr lang="en-AU" dirty="0" smtClean="0"/>
              <a:t>Gastric juice is a digestive juice containing hydrochloric acid, mucus, and digestive enzymes. Each of these is secreted by a different type of cell. </a:t>
            </a:r>
          </a:p>
          <a:p>
            <a:endParaRPr lang="en-AU" dirty="0"/>
          </a:p>
          <a:p>
            <a:r>
              <a:rPr lang="en-AU" dirty="0" smtClean="0"/>
              <a:t>The pH of the stomach is approximately 2-3. The cells lining the stomach are protected from the acid by a layer of mucus.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stomach continued. </a:t>
            </a:r>
            <a:endParaRPr lang="en-AU" sz="6000" b="1" dirty="0"/>
          </a:p>
        </p:txBody>
      </p:sp>
      <p:sp>
        <p:nvSpPr>
          <p:cNvPr id="3" name="Content Placeholder 2"/>
          <p:cNvSpPr>
            <a:spLocks noGrp="1"/>
          </p:cNvSpPr>
          <p:nvPr>
            <p:ph idx="1"/>
          </p:nvPr>
        </p:nvSpPr>
        <p:spPr/>
        <p:txBody>
          <a:bodyPr/>
          <a:lstStyle/>
          <a:p>
            <a:r>
              <a:rPr lang="en-AU" dirty="0" smtClean="0"/>
              <a:t>Nutrients are not absorbed into the bloodstream through the stomach, because the internal surface is covered by a thick layer of mucus. However, some alcohol and a few other drugs such as aspirin are absorbed. </a:t>
            </a:r>
          </a:p>
          <a:p>
            <a:endParaRPr lang="en-AU" dirty="0"/>
          </a:p>
          <a:p>
            <a:r>
              <a:rPr lang="en-AU" dirty="0" smtClean="0"/>
              <a:t>At the lower end of the stomach there is a pyloric sphincter. This prevents the stomach contents from moving through unless pushed along by peristalsis. After 2 to 8 hours, the stomach contents are gradually pushed into the small intestine.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2768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small intestine</a:t>
            </a:r>
            <a:endParaRPr lang="en-AU" sz="6000" b="1" dirty="0"/>
          </a:p>
        </p:txBody>
      </p:sp>
      <p:sp>
        <p:nvSpPr>
          <p:cNvPr id="3" name="Content Placeholder 2"/>
          <p:cNvSpPr>
            <a:spLocks noGrp="1"/>
          </p:cNvSpPr>
          <p:nvPr>
            <p:ph idx="1"/>
          </p:nvPr>
        </p:nvSpPr>
        <p:spPr>
          <a:xfrm>
            <a:off x="838200" y="1524000"/>
            <a:ext cx="10515600" cy="5268686"/>
          </a:xfrm>
        </p:spPr>
        <p:txBody>
          <a:bodyPr>
            <a:normAutofit/>
          </a:bodyPr>
          <a:lstStyle/>
          <a:p>
            <a:r>
              <a:rPr lang="en-AU" dirty="0" smtClean="0"/>
              <a:t>Longest part of the alimentary canal, at approximately 6-7m in length. It receives material pushed through the pyloric sphincter from the stomach. </a:t>
            </a:r>
          </a:p>
          <a:p>
            <a:endParaRPr lang="en-AU" dirty="0"/>
          </a:p>
          <a:p>
            <a:r>
              <a:rPr lang="en-AU" dirty="0" smtClean="0"/>
              <a:t>It has three regions </a:t>
            </a:r>
          </a:p>
          <a:p>
            <a:pPr lvl="1"/>
            <a:r>
              <a:rPr lang="en-AU" dirty="0" smtClean="0"/>
              <a:t>Duodenum: short (25 cm), curves around pancreas, most of the chemical digestion occurs here. </a:t>
            </a:r>
          </a:p>
          <a:p>
            <a:pPr lvl="1"/>
            <a:r>
              <a:rPr lang="en-AU" dirty="0" smtClean="0"/>
              <a:t>Jejunum: middle section, allows for effective absorption of carbohydrates and proteins </a:t>
            </a:r>
          </a:p>
          <a:p>
            <a:pPr lvl="1"/>
            <a:r>
              <a:rPr lang="en-AU" dirty="0" smtClean="0"/>
              <a:t>Ileum: final part, vitamin B12, bile salts and any remaining products of digestion are absorbed.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0474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Small Intestine continued. </a:t>
            </a:r>
            <a:endParaRPr lang="en-AU" sz="6000" b="1" dirty="0"/>
          </a:p>
        </p:txBody>
      </p:sp>
      <p:sp>
        <p:nvSpPr>
          <p:cNvPr id="3" name="Content Placeholder 2"/>
          <p:cNvSpPr>
            <a:spLocks noGrp="1"/>
          </p:cNvSpPr>
          <p:nvPr>
            <p:ph idx="1"/>
          </p:nvPr>
        </p:nvSpPr>
        <p:spPr/>
        <p:txBody>
          <a:bodyPr/>
          <a:lstStyle/>
          <a:p>
            <a:r>
              <a:rPr lang="en-AU" dirty="0" smtClean="0"/>
              <a:t>Digestion continues in the small intestine under the influence of: </a:t>
            </a:r>
          </a:p>
          <a:p>
            <a:pPr lvl="1"/>
            <a:r>
              <a:rPr lang="en-AU" sz="2700" dirty="0" smtClean="0"/>
              <a:t>Pancreatic juice- secreted by the pancreas via the pancreatic dust </a:t>
            </a:r>
          </a:p>
          <a:p>
            <a:pPr lvl="1"/>
            <a:r>
              <a:rPr lang="en-AU" sz="2700" dirty="0" smtClean="0"/>
              <a:t>Bile- produced by the liver, but stored in the gall bladder and secreted into the small intestine via the bile duct </a:t>
            </a:r>
          </a:p>
          <a:p>
            <a:pPr lvl="1"/>
            <a:r>
              <a:rPr lang="en-AU" sz="2700" dirty="0" smtClean="0"/>
              <a:t>Intestinal juice- secreted by glands in the lining of the small intestine. </a:t>
            </a:r>
            <a:endParaRPr lang="en-AU" sz="27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9138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Pancreatic Juice </a:t>
            </a:r>
            <a:endParaRPr lang="en-AU" sz="6000" b="1" dirty="0"/>
          </a:p>
        </p:txBody>
      </p:sp>
      <p:sp>
        <p:nvSpPr>
          <p:cNvPr id="3" name="Content Placeholder 2"/>
          <p:cNvSpPr>
            <a:spLocks noGrp="1"/>
          </p:cNvSpPr>
          <p:nvPr>
            <p:ph idx="1"/>
          </p:nvPr>
        </p:nvSpPr>
        <p:spPr/>
        <p:txBody>
          <a:bodyPr/>
          <a:lstStyle/>
          <a:p>
            <a:r>
              <a:rPr lang="en-AU" dirty="0" smtClean="0"/>
              <a:t>Enters the duodenum through the common bile duct. It helps to neutralise the acid that comes through with the chyme and contains many of the enzymes involved in the digestion of food. The enzymes include: </a:t>
            </a:r>
          </a:p>
          <a:p>
            <a:pPr lvl="1"/>
            <a:r>
              <a:rPr lang="en-AU" dirty="0" smtClean="0"/>
              <a:t>Pancreatic amylase- starch into disaccharide maltose </a:t>
            </a:r>
          </a:p>
          <a:p>
            <a:pPr lvl="1"/>
            <a:r>
              <a:rPr lang="en-AU" dirty="0" smtClean="0"/>
              <a:t>Trypsin – proteins into peptides </a:t>
            </a:r>
          </a:p>
          <a:p>
            <a:pPr lvl="1"/>
            <a:r>
              <a:rPr lang="en-AU" dirty="0" smtClean="0"/>
              <a:t>Pancreatic lipases- fats into fatty acids and glycerol </a:t>
            </a:r>
          </a:p>
          <a:p>
            <a:pPr lvl="1"/>
            <a:r>
              <a:rPr lang="en-AU" dirty="0" smtClean="0"/>
              <a:t>Ribonuclease and </a:t>
            </a:r>
            <a:r>
              <a:rPr lang="en-AU" dirty="0" err="1" smtClean="0"/>
              <a:t>deoxyribonuclease</a:t>
            </a:r>
            <a:r>
              <a:rPr lang="en-AU" dirty="0" smtClean="0"/>
              <a:t>- enzymes that digest RNA and DNA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4791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Bile </a:t>
            </a:r>
            <a:endParaRPr lang="en-AU" sz="6000" b="1" dirty="0"/>
          </a:p>
        </p:txBody>
      </p:sp>
      <p:sp>
        <p:nvSpPr>
          <p:cNvPr id="3" name="Content Placeholder 2"/>
          <p:cNvSpPr>
            <a:spLocks noGrp="1"/>
          </p:cNvSpPr>
          <p:nvPr>
            <p:ph idx="1"/>
          </p:nvPr>
        </p:nvSpPr>
        <p:spPr/>
        <p:txBody>
          <a:bodyPr/>
          <a:lstStyle/>
          <a:p>
            <a:r>
              <a:rPr lang="en-AU" dirty="0" smtClean="0"/>
              <a:t>Secreted into the small intestine by the common bile duct </a:t>
            </a:r>
          </a:p>
          <a:p>
            <a:r>
              <a:rPr lang="en-AU" dirty="0" smtClean="0"/>
              <a:t>Doesn’t contain any digestive enzymes, bile salts are very important in the mechanical digestion of fats. </a:t>
            </a:r>
          </a:p>
          <a:p>
            <a:r>
              <a:rPr lang="en-AU" dirty="0" smtClean="0"/>
              <a:t>They act like a detergent and emulsify the fat, breaking into tiny droplets (form of mechanical digestion).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5997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Intestinal juice </a:t>
            </a:r>
            <a:endParaRPr lang="en-AU" sz="6000" b="1" dirty="0"/>
          </a:p>
        </p:txBody>
      </p:sp>
      <p:sp>
        <p:nvSpPr>
          <p:cNvPr id="3" name="Content Placeholder 2"/>
          <p:cNvSpPr>
            <a:spLocks noGrp="1"/>
          </p:cNvSpPr>
          <p:nvPr>
            <p:ph idx="1"/>
          </p:nvPr>
        </p:nvSpPr>
        <p:spPr>
          <a:xfrm>
            <a:off x="838200" y="1541928"/>
            <a:ext cx="10515600" cy="5038165"/>
          </a:xfrm>
        </p:spPr>
        <p:txBody>
          <a:bodyPr>
            <a:normAutofit/>
          </a:bodyPr>
          <a:lstStyle/>
          <a:p>
            <a:r>
              <a:rPr lang="en-AU" dirty="0" smtClean="0"/>
              <a:t>Contains many enzymes that complete the digestion of carbohydrates, proteins and lipids. These include: </a:t>
            </a:r>
          </a:p>
          <a:p>
            <a:pPr lvl="1"/>
            <a:r>
              <a:rPr lang="en-AU" dirty="0" smtClean="0"/>
              <a:t>Peptidase to break down peptides into amino acids </a:t>
            </a:r>
          </a:p>
          <a:p>
            <a:pPr lvl="1"/>
            <a:r>
              <a:rPr lang="en-AU" dirty="0" smtClean="0"/>
              <a:t>Sucrase, lactase and maltase to break down sucrose, lactose, and maltose into monosaccharides </a:t>
            </a:r>
          </a:p>
          <a:p>
            <a:pPr lvl="1"/>
            <a:r>
              <a:rPr lang="en-AU" dirty="0" smtClean="0"/>
              <a:t>Lipases to break down lipids into fatty acids and glycerol. </a:t>
            </a:r>
          </a:p>
          <a:p>
            <a:pPr marL="0" indent="0">
              <a:buNone/>
            </a:pPr>
            <a:endParaRPr lang="en-AU" dirty="0"/>
          </a:p>
          <a:p>
            <a:r>
              <a:rPr lang="en-AU" dirty="0" smtClean="0"/>
              <a:t>Mechanical digestion also continues in the small intestine through a process called segmentation. Contractions of the circular muscles narrow the intestine which helps break up the bolus and mix it with the juices and bile.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6004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142865" y="203576"/>
            <a:ext cx="7862726" cy="6455202"/>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1717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Absorption of nutrients </a:t>
            </a:r>
            <a:endParaRPr lang="en-AU" sz="6000" b="1" dirty="0"/>
          </a:p>
        </p:txBody>
      </p:sp>
      <p:sp>
        <p:nvSpPr>
          <p:cNvPr id="3" name="Content Placeholder 2"/>
          <p:cNvSpPr>
            <a:spLocks noGrp="1"/>
          </p:cNvSpPr>
          <p:nvPr>
            <p:ph idx="1"/>
          </p:nvPr>
        </p:nvSpPr>
        <p:spPr/>
        <p:txBody>
          <a:bodyPr/>
          <a:lstStyle/>
          <a:p>
            <a:r>
              <a:rPr lang="en-AU" dirty="0" smtClean="0"/>
              <a:t>When chemical digestion is complete, the complex carbohydrates will have been broken down into simple sugars, the proteins into amino acids, and the fats into fatty acids and glycerol. </a:t>
            </a:r>
          </a:p>
          <a:p>
            <a:endParaRPr lang="en-AU" dirty="0"/>
          </a:p>
          <a:p>
            <a:r>
              <a:rPr lang="en-AU" dirty="0" smtClean="0"/>
              <a:t>These are absorbed along with substances such as vitamins, minerals and water through the wall of the small intestine into the blood. </a:t>
            </a:r>
          </a:p>
          <a:p>
            <a:endParaRPr lang="en-AU" dirty="0"/>
          </a:p>
          <a:p>
            <a:r>
              <a:rPr lang="en-AU" dirty="0" smtClean="0"/>
              <a:t>Nutrients are absorbed through the internal wall of the small intestine, so efficient absorption needs a large surface area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6272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Surface area in Small Intestines </a:t>
            </a:r>
            <a:endParaRPr lang="en-AU" sz="6000" b="1" dirty="0"/>
          </a:p>
        </p:txBody>
      </p:sp>
      <p:sp>
        <p:nvSpPr>
          <p:cNvPr id="3" name="Content Placeholder 2"/>
          <p:cNvSpPr>
            <a:spLocks noGrp="1"/>
          </p:cNvSpPr>
          <p:nvPr>
            <p:ph idx="1"/>
          </p:nvPr>
        </p:nvSpPr>
        <p:spPr/>
        <p:txBody>
          <a:bodyPr/>
          <a:lstStyle/>
          <a:p>
            <a:r>
              <a:rPr lang="en-AU" dirty="0" smtClean="0"/>
              <a:t>This is achieved by </a:t>
            </a:r>
          </a:p>
          <a:p>
            <a:pPr lvl="1"/>
            <a:r>
              <a:rPr lang="en-AU" sz="2700" dirty="0" smtClean="0"/>
              <a:t>Length (about 6-7m long) </a:t>
            </a:r>
          </a:p>
          <a:p>
            <a:pPr lvl="1"/>
            <a:r>
              <a:rPr lang="en-AU" sz="2700" dirty="0" smtClean="0"/>
              <a:t>The inner lining (mucosa) has folds that extend into the interior of the small intestine</a:t>
            </a:r>
          </a:p>
          <a:p>
            <a:pPr lvl="1"/>
            <a:r>
              <a:rPr lang="en-AU" sz="2700" dirty="0" smtClean="0"/>
              <a:t>The mucosa has small, finger-like projections called villi that extend from the folded surface </a:t>
            </a:r>
          </a:p>
          <a:p>
            <a:pPr lvl="1"/>
            <a:r>
              <a:rPr lang="en-AU" sz="2700" dirty="0" smtClean="0"/>
              <a:t>The cells covering the outside of the villi have tiny microscopic projections from their external surfaces. These are the microvilli </a:t>
            </a:r>
            <a:endParaRPr lang="en-AU" sz="27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5567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28599" y="953354"/>
            <a:ext cx="11755857" cy="4730270"/>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4097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Villi </a:t>
            </a:r>
            <a:endParaRPr lang="en-AU" sz="6000" b="1" dirty="0"/>
          </a:p>
        </p:txBody>
      </p:sp>
      <p:sp>
        <p:nvSpPr>
          <p:cNvPr id="3" name="Content Placeholder 2"/>
          <p:cNvSpPr>
            <a:spLocks noGrp="1"/>
          </p:cNvSpPr>
          <p:nvPr>
            <p:ph idx="1"/>
          </p:nvPr>
        </p:nvSpPr>
        <p:spPr/>
        <p:txBody>
          <a:bodyPr/>
          <a:lstStyle/>
          <a:p>
            <a:r>
              <a:rPr lang="en-AU" dirty="0" smtClean="0"/>
              <a:t>The structure of a villus is ideally suited to its function of nutrient absorption </a:t>
            </a:r>
          </a:p>
          <a:p>
            <a:endParaRPr lang="en-AU" dirty="0" smtClean="0"/>
          </a:p>
          <a:p>
            <a:r>
              <a:rPr lang="en-AU" dirty="0" smtClean="0"/>
              <a:t>Each villus is about 1 mm long and covered by a single layer of cells. Inside the villus is a lymph capillary, called a lacteal, which is surrounded by a network of blood capillaries. </a:t>
            </a:r>
          </a:p>
          <a:p>
            <a:endParaRPr lang="en-AU" dirty="0"/>
          </a:p>
          <a:p>
            <a:r>
              <a:rPr lang="en-AU" dirty="0" smtClean="0"/>
              <a:t>Absorption is further enhanced by continual movement of the villi brought about by the muscular movements of the intestinal wall.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4814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721697" y="108859"/>
            <a:ext cx="4705061" cy="6683827"/>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5460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Absorption </a:t>
            </a:r>
            <a:endParaRPr lang="en-AU" sz="6000" b="1" dirty="0"/>
          </a:p>
        </p:txBody>
      </p:sp>
      <p:sp>
        <p:nvSpPr>
          <p:cNvPr id="3" name="Content Placeholder 2"/>
          <p:cNvSpPr>
            <a:spLocks noGrp="1"/>
          </p:cNvSpPr>
          <p:nvPr>
            <p:ph idx="1"/>
          </p:nvPr>
        </p:nvSpPr>
        <p:spPr/>
        <p:txBody>
          <a:bodyPr/>
          <a:lstStyle/>
          <a:p>
            <a:r>
              <a:rPr lang="en-AU" dirty="0" smtClean="0"/>
              <a:t>Some absorption occurs through simple diffusion, as there is a higher concentration of nutrient materials in the interior of the small intestine than in the cells lining the villi. </a:t>
            </a:r>
          </a:p>
          <a:p>
            <a:endParaRPr lang="en-AU" dirty="0"/>
          </a:p>
          <a:p>
            <a:r>
              <a:rPr lang="en-AU" dirty="0" smtClean="0"/>
              <a:t>Absorption also occurs through active transport</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7355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666325" y="219315"/>
            <a:ext cx="7943839" cy="6423723"/>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048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Absorption continued</a:t>
            </a:r>
            <a:endParaRPr lang="en-AU" sz="6000" b="1" dirty="0"/>
          </a:p>
        </p:txBody>
      </p:sp>
      <p:sp>
        <p:nvSpPr>
          <p:cNvPr id="3" name="Content Placeholder 2"/>
          <p:cNvSpPr>
            <a:spLocks noGrp="1"/>
          </p:cNvSpPr>
          <p:nvPr>
            <p:ph idx="1"/>
          </p:nvPr>
        </p:nvSpPr>
        <p:spPr/>
        <p:txBody>
          <a:bodyPr/>
          <a:lstStyle/>
          <a:p>
            <a:r>
              <a:rPr lang="en-AU" dirty="0" smtClean="0"/>
              <a:t>From the villi walls, substances are absorbed into the blood capillaries. </a:t>
            </a:r>
          </a:p>
          <a:p>
            <a:endParaRPr lang="en-AU" dirty="0"/>
          </a:p>
          <a:p>
            <a:r>
              <a:rPr lang="en-AU" dirty="0" smtClean="0"/>
              <a:t>Fatty acids and glycerol recombine in the villi cells to form fats and enter the lacteals. </a:t>
            </a:r>
          </a:p>
          <a:p>
            <a:endParaRPr lang="en-AU" dirty="0"/>
          </a:p>
          <a:p>
            <a:r>
              <a:rPr lang="en-AU" dirty="0" smtClean="0"/>
              <a:t>The substances that absorbed into the blood capillaries are carried by the hepatic portal vein to the liver for further processing.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5138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large intestine </a:t>
            </a:r>
            <a:endParaRPr lang="en-AU" sz="6000" b="1" dirty="0"/>
          </a:p>
        </p:txBody>
      </p:sp>
      <p:sp>
        <p:nvSpPr>
          <p:cNvPr id="3" name="Content Placeholder 2"/>
          <p:cNvSpPr>
            <a:spLocks noGrp="1"/>
          </p:cNvSpPr>
          <p:nvPr>
            <p:ph idx="1"/>
          </p:nvPr>
        </p:nvSpPr>
        <p:spPr/>
        <p:txBody>
          <a:bodyPr/>
          <a:lstStyle/>
          <a:p>
            <a:r>
              <a:rPr lang="en-AU" dirty="0" smtClean="0"/>
              <a:t>About 1.5 m long and larger in diameter than the small intestine. </a:t>
            </a:r>
          </a:p>
          <a:p>
            <a:endParaRPr lang="en-AU" dirty="0"/>
          </a:p>
          <a:p>
            <a:r>
              <a:rPr lang="en-AU" dirty="0" smtClean="0"/>
              <a:t>Made up of the caecum, appendix, colon, rectum and anus. </a:t>
            </a:r>
          </a:p>
          <a:p>
            <a:endParaRPr lang="en-AU" dirty="0"/>
          </a:p>
          <a:p>
            <a:r>
              <a:rPr lang="en-AU" dirty="0" smtClean="0"/>
              <a:t>Lining secretes a large amount of mucus and the movement of material through the large intestine is fairly slow (18-24 hours) to pass through. During this time, most of the remaining water is absorbed.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4221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large intestine continued. </a:t>
            </a:r>
            <a:endParaRPr lang="en-AU" sz="6000" b="1" dirty="0"/>
          </a:p>
        </p:txBody>
      </p:sp>
      <p:sp>
        <p:nvSpPr>
          <p:cNvPr id="3" name="Content Placeholder 2"/>
          <p:cNvSpPr>
            <a:spLocks noGrp="1"/>
          </p:cNvSpPr>
          <p:nvPr>
            <p:ph idx="1"/>
          </p:nvPr>
        </p:nvSpPr>
        <p:spPr>
          <a:xfrm>
            <a:off x="838200" y="1825625"/>
            <a:ext cx="10515600" cy="4736540"/>
          </a:xfrm>
        </p:spPr>
        <p:txBody>
          <a:bodyPr>
            <a:normAutofit/>
          </a:bodyPr>
          <a:lstStyle/>
          <a:p>
            <a:r>
              <a:rPr lang="en-AU" dirty="0" smtClean="0"/>
              <a:t>Bacteria in the large intestine breaks down much of the remaining organic compounds. Some bacteria produce vitamins, which are then absorbed. Mineral nutrients are also absorbed. </a:t>
            </a:r>
          </a:p>
          <a:p>
            <a:endParaRPr lang="en-AU" dirty="0"/>
          </a:p>
          <a:p>
            <a:r>
              <a:rPr lang="en-AU" dirty="0" smtClean="0"/>
              <a:t>The semi-solid material left makes up the faeces, which contain water, undigested food material, bacteria, bile pigments, and remains of cells. </a:t>
            </a:r>
          </a:p>
          <a:p>
            <a:endParaRPr lang="en-AU" dirty="0"/>
          </a:p>
          <a:p>
            <a:r>
              <a:rPr lang="en-AU" dirty="0" smtClean="0"/>
              <a:t>The faeces pass through the rectum and anus to the exterior of the body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3954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Constipation </a:t>
            </a:r>
            <a:endParaRPr lang="en-AU" sz="6000" b="1" dirty="0"/>
          </a:p>
        </p:txBody>
      </p:sp>
      <p:sp>
        <p:nvSpPr>
          <p:cNvPr id="3" name="Content Placeholder 2"/>
          <p:cNvSpPr>
            <a:spLocks noGrp="1"/>
          </p:cNvSpPr>
          <p:nvPr>
            <p:ph idx="1"/>
          </p:nvPr>
        </p:nvSpPr>
        <p:spPr/>
        <p:txBody>
          <a:bodyPr/>
          <a:lstStyle/>
          <a:p>
            <a:r>
              <a:rPr lang="en-AU" dirty="0" smtClean="0"/>
              <a:t>Occurs if the movement of the large intestine are reduced and the contents remain there for a long period of time. </a:t>
            </a:r>
          </a:p>
          <a:p>
            <a:endParaRPr lang="en-AU" dirty="0"/>
          </a:p>
          <a:p>
            <a:r>
              <a:rPr lang="en-AU" dirty="0" smtClean="0"/>
              <a:t>As water is absorbed, the faeces become drier, harder and more painful to pass. </a:t>
            </a:r>
          </a:p>
          <a:p>
            <a:endParaRPr lang="en-AU" dirty="0"/>
          </a:p>
          <a:p>
            <a:r>
              <a:rPr lang="en-AU" dirty="0" smtClean="0"/>
              <a:t>Constipation may be caused by lack of roughage (cellulose) in the diet or exercise or emotional problems.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06033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Diarrhoea 	</a:t>
            </a:r>
            <a:endParaRPr lang="en-AU" sz="6000" b="1" dirty="0"/>
          </a:p>
        </p:txBody>
      </p:sp>
      <p:sp>
        <p:nvSpPr>
          <p:cNvPr id="3" name="Content Placeholder 2"/>
          <p:cNvSpPr>
            <a:spLocks noGrp="1"/>
          </p:cNvSpPr>
          <p:nvPr>
            <p:ph idx="1"/>
          </p:nvPr>
        </p:nvSpPr>
        <p:spPr>
          <a:xfrm>
            <a:off x="838200" y="1825624"/>
            <a:ext cx="10515600" cy="4700681"/>
          </a:xfrm>
        </p:spPr>
        <p:txBody>
          <a:bodyPr/>
          <a:lstStyle/>
          <a:p>
            <a:r>
              <a:rPr lang="en-AU" dirty="0" smtClean="0"/>
              <a:t>Characterised by the frequent defecation of watery faeces. It is caused by irritation of the small or large intestine, which increases peristalsis so that the contents of the intestines move through before there is adequate absorption of water. </a:t>
            </a:r>
          </a:p>
          <a:p>
            <a:endParaRPr lang="en-AU" dirty="0"/>
          </a:p>
          <a:p>
            <a:r>
              <a:rPr lang="en-AU" dirty="0" smtClean="0"/>
              <a:t>This can be the result of a bacteria, virus, parasite, cancer (bowel cancer), coeliac disease, and lactose intolerance. </a:t>
            </a:r>
          </a:p>
          <a:p>
            <a:endParaRPr lang="en-AU" dirty="0"/>
          </a:p>
          <a:p>
            <a:r>
              <a:rPr lang="en-AU" dirty="0" smtClean="0"/>
              <a:t>If the diarrhoea is severe, it may lead to dehydration through loss of water from the intestines, and may even cause death.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29807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Soluble fibre in the diet </a:t>
            </a:r>
            <a:endParaRPr lang="en-AU" sz="6000" b="1" dirty="0"/>
          </a:p>
        </p:txBody>
      </p:sp>
      <p:sp>
        <p:nvSpPr>
          <p:cNvPr id="3" name="Content Placeholder 2"/>
          <p:cNvSpPr>
            <a:spLocks noGrp="1"/>
          </p:cNvSpPr>
          <p:nvPr>
            <p:ph idx="1"/>
          </p:nvPr>
        </p:nvSpPr>
        <p:spPr/>
        <p:txBody>
          <a:bodyPr/>
          <a:lstStyle/>
          <a:p>
            <a:r>
              <a:rPr lang="en-AU" dirty="0" smtClean="0"/>
              <a:t>Both soluble and insoluble fibre are only found in food that comes from plants. </a:t>
            </a:r>
          </a:p>
          <a:p>
            <a:endParaRPr lang="en-AU" dirty="0"/>
          </a:p>
          <a:p>
            <a:r>
              <a:rPr lang="en-AU" dirty="0" smtClean="0"/>
              <a:t>Good sources of soluble fibres are fruits, vegetables, oat, bran, barley and soy products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83196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671" y="307921"/>
            <a:ext cx="10515600" cy="1325563"/>
          </a:xfrm>
        </p:spPr>
        <p:txBody>
          <a:bodyPr>
            <a:normAutofit/>
          </a:bodyPr>
          <a:lstStyle/>
          <a:p>
            <a:r>
              <a:rPr lang="en-AU" sz="6000" b="1" dirty="0" smtClean="0"/>
              <a:t>Bowel Cancer </a:t>
            </a:r>
            <a:endParaRPr lang="en-AU" sz="6000" b="1" dirty="0"/>
          </a:p>
        </p:txBody>
      </p:sp>
      <p:sp>
        <p:nvSpPr>
          <p:cNvPr id="3" name="Content Placeholder 2"/>
          <p:cNvSpPr>
            <a:spLocks noGrp="1"/>
          </p:cNvSpPr>
          <p:nvPr>
            <p:ph idx="1"/>
          </p:nvPr>
        </p:nvSpPr>
        <p:spPr>
          <a:xfrm>
            <a:off x="838200" y="1825625"/>
            <a:ext cx="3052482" cy="4351338"/>
          </a:xfrm>
        </p:spPr>
        <p:txBody>
          <a:bodyPr/>
          <a:lstStyle/>
          <a:p>
            <a:r>
              <a:rPr lang="en-AU" dirty="0" smtClean="0"/>
              <a:t>Uncontrolled growth of cells in the wall of the large intestine. </a:t>
            </a:r>
          </a:p>
          <a:p>
            <a:endParaRPr lang="en-AU" dirty="0"/>
          </a:p>
          <a:p>
            <a:r>
              <a:rPr lang="en-AU" dirty="0" smtClean="0"/>
              <a:t>Research shows links to diet, alcohol consumption and smoking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4509105" y="767197"/>
            <a:ext cx="7376444" cy="5660778"/>
          </a:xfrm>
          <a:prstGeom prst="rect">
            <a:avLst/>
          </a:prstGeom>
        </p:spPr>
      </p:pic>
    </p:spTree>
    <p:extLst>
      <p:ext uri="{BB962C8B-B14F-4D97-AF65-F5344CB8AC3E}">
        <p14:creationId xmlns:p14="http://schemas.microsoft.com/office/powerpoint/2010/main" val="31728036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Coeliac Disease</a:t>
            </a:r>
            <a:endParaRPr lang="en-AU" sz="6000" b="1" dirty="0"/>
          </a:p>
        </p:txBody>
      </p:sp>
      <p:sp>
        <p:nvSpPr>
          <p:cNvPr id="3" name="Content Placeholder 2"/>
          <p:cNvSpPr>
            <a:spLocks noGrp="1"/>
          </p:cNvSpPr>
          <p:nvPr>
            <p:ph idx="1"/>
          </p:nvPr>
        </p:nvSpPr>
        <p:spPr/>
        <p:txBody>
          <a:bodyPr/>
          <a:lstStyle/>
          <a:p>
            <a:r>
              <a:rPr lang="en-AU" dirty="0" smtClean="0"/>
              <a:t>Unable to tolerate gluten. If they eat gluten, their immune system responds by damaging or destroying the villi in the small intestine. It is inherited, there is no cure. Management is via gluten free diet </a:t>
            </a:r>
          </a:p>
          <a:p>
            <a:endParaRPr lang="en-AU" dirty="0"/>
          </a:p>
          <a:p>
            <a:r>
              <a:rPr lang="en-AU" dirty="0" smtClean="0"/>
              <a:t>Without healthy villi, nutrients cannot be absorbed, and the person becomes malnourished no matter how much food they eat. </a:t>
            </a:r>
          </a:p>
          <a:p>
            <a:endParaRPr lang="en-AU" dirty="0"/>
          </a:p>
          <a:p>
            <a:r>
              <a:rPr lang="en-AU" dirty="0" smtClean="0"/>
              <a:t>Symptoms can include muscle cramps, joint pain or tingling in the legs.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07506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Describe the purpose of digestion.</a:t>
            </a:r>
          </a:p>
          <a:p>
            <a:pPr marL="514350" indent="-514350">
              <a:buFont typeface="+mj-lt"/>
              <a:buAutoNum type="arabicPeriod"/>
            </a:pPr>
            <a:r>
              <a:rPr lang="en-AU" dirty="0" smtClean="0"/>
              <a:t>List the structures of the alimentary canal in order, starting from the mouth. </a:t>
            </a:r>
          </a:p>
          <a:p>
            <a:pPr marL="514350" indent="-514350">
              <a:buFont typeface="+mj-lt"/>
              <a:buAutoNum type="arabicPeriod"/>
            </a:pPr>
            <a:r>
              <a:rPr lang="en-AU" dirty="0" smtClean="0"/>
              <a:t>List the enzymes present in pancreatic juice.  </a:t>
            </a:r>
          </a:p>
          <a:p>
            <a:pPr marL="514350" indent="-514350">
              <a:buFont typeface="+mj-lt"/>
              <a:buAutoNum type="arabicPeriod"/>
            </a:pP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Explain the role of hydrochloric acid in the stomach </a:t>
            </a:r>
            <a:endParaRPr lang="en-AU" dirty="0" smtClean="0"/>
          </a:p>
          <a:p>
            <a:pPr marL="514350" indent="-514350">
              <a:buFont typeface="+mj-lt"/>
              <a:buAutoNum type="arabicPeriod"/>
            </a:pPr>
            <a:r>
              <a:rPr lang="en-AU" dirty="0" smtClean="0"/>
              <a:t>Explain why it is important for people to eat fruit and vegetables. </a:t>
            </a:r>
            <a:endParaRPr lang="en-AU" dirty="0" smtClean="0"/>
          </a:p>
          <a:p>
            <a:pPr marL="514350" indent="-514350">
              <a:buFont typeface="+mj-lt"/>
              <a:buAutoNum type="arabicPeriod"/>
            </a:pP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r>
              <a:rPr lang="en-AU" dirty="0" smtClean="0"/>
              <a:t>Absorption of nutrients depends of the concentration differences so that the substances diffuse across the absorbing surface. Explain how the concentration difference is maintained in the parts of the alimentary canal where absorption occurs.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142- 155: The digestive system chapter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TotalTime>
  <Words>2381</Words>
  <Application>Microsoft Office PowerPoint</Application>
  <PresentationFormat>Widescreen</PresentationFormat>
  <Paragraphs>221</Paragraphs>
  <Slides>47</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47</vt:i4>
      </vt:variant>
    </vt:vector>
  </HeadingPairs>
  <TitlesOfParts>
    <vt:vector size="52" baseType="lpstr">
      <vt:lpstr>Arial</vt:lpstr>
      <vt:lpstr>Calibri</vt:lpstr>
      <vt:lpstr>Calibri Light</vt:lpstr>
      <vt:lpstr>Office Theme</vt:lpstr>
      <vt:lpstr>1_Office Theme</vt:lpstr>
      <vt:lpstr>Digestive System </vt:lpstr>
      <vt:lpstr>SCSA Syllabus Reference </vt:lpstr>
      <vt:lpstr>Lesson Intention </vt:lpstr>
      <vt:lpstr>Success Criteria </vt:lpstr>
      <vt:lpstr>Success Criteria </vt:lpstr>
      <vt:lpstr>Success Criteria </vt:lpstr>
      <vt:lpstr>Vocabulary </vt:lpstr>
      <vt:lpstr>Vocabulary </vt:lpstr>
      <vt:lpstr>Vocabulary </vt:lpstr>
      <vt:lpstr>Vocabulary </vt:lpstr>
      <vt:lpstr>Vocabulary </vt:lpstr>
      <vt:lpstr>Types of Digestion- Mechanical </vt:lpstr>
      <vt:lpstr>Types of Digestion- Chemical </vt:lpstr>
      <vt:lpstr>The Alimentary Canal </vt:lpstr>
      <vt:lpstr>PowerPoint Presentation</vt:lpstr>
      <vt:lpstr>PowerPoint Presentation</vt:lpstr>
      <vt:lpstr>The Mouth </vt:lpstr>
      <vt:lpstr>The oesophagus </vt:lpstr>
      <vt:lpstr>PowerPoint Presentation</vt:lpstr>
      <vt:lpstr>The stomach </vt:lpstr>
      <vt:lpstr>The stomach continued. </vt:lpstr>
      <vt:lpstr>The stomach continued. </vt:lpstr>
      <vt:lpstr>The small intestine</vt:lpstr>
      <vt:lpstr>Small Intestine continued. </vt:lpstr>
      <vt:lpstr>Pancreatic Juice </vt:lpstr>
      <vt:lpstr>Bile </vt:lpstr>
      <vt:lpstr>Intestinal juice </vt:lpstr>
      <vt:lpstr>PowerPoint Presentation</vt:lpstr>
      <vt:lpstr>Absorption of nutrients </vt:lpstr>
      <vt:lpstr>Surface area in Small Intestines </vt:lpstr>
      <vt:lpstr>PowerPoint Presentation</vt:lpstr>
      <vt:lpstr>Villi </vt:lpstr>
      <vt:lpstr>PowerPoint Presentation</vt:lpstr>
      <vt:lpstr>Absorption </vt:lpstr>
      <vt:lpstr>PowerPoint Presentation</vt:lpstr>
      <vt:lpstr>Absorption continued</vt:lpstr>
      <vt:lpstr>The large intestine </vt:lpstr>
      <vt:lpstr>The large intestine continued. </vt:lpstr>
      <vt:lpstr>Constipation </vt:lpstr>
      <vt:lpstr>Diarrhoea  </vt:lpstr>
      <vt:lpstr>Soluble fibre in the diet </vt:lpstr>
      <vt:lpstr>Bowel Cancer </vt:lpstr>
      <vt:lpstr>Coeliac Disease</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22</cp:revision>
  <dcterms:created xsi:type="dcterms:W3CDTF">2021-12-16T00:48:44Z</dcterms:created>
  <dcterms:modified xsi:type="dcterms:W3CDTF">2022-03-31T00:51:49Z</dcterms:modified>
</cp:coreProperties>
</file>
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7" r:id="rId7"/>
    <p:sldId id="260" r:id="rId8"/>
    <p:sldId id="261" r:id="rId9"/>
    <p:sldId id="268" r:id="rId10"/>
    <p:sldId id="269" r:id="rId11"/>
    <p:sldId id="270" r:id="rId12"/>
    <p:sldId id="271" r:id="rId13"/>
    <p:sldId id="273" r:id="rId14"/>
    <p:sldId id="272" r:id="rId15"/>
    <p:sldId id="274" r:id="rId16"/>
    <p:sldId id="262" r:id="rId17"/>
    <p:sldId id="275" r:id="rId18"/>
    <p:sldId id="277" r:id="rId19"/>
    <p:sldId id="276" r:id="rId20"/>
    <p:sldId id="263" r:id="rId21"/>
    <p:sldId id="264" r:id="rId22"/>
    <p:sldId id="265" r:id="rId23"/>
    <p:sldId id="2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82" y="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8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4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93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28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15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78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99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0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187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638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3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39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35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456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532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883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108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605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100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4103-AC13-4E81-8F4A-7126A09DB8C9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69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C541-E1E4-46F0-B6E0-A9FD71F2F171}" type="datetimeFigureOut">
              <a:rPr lang="en-AU" smtClean="0"/>
              <a:t>5/10/2022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9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dirty="0" smtClean="0"/>
              <a:t>Screening Techniques</a:t>
            </a:r>
            <a:endParaRPr lang="en-AU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11 Human Biology </a:t>
            </a:r>
          </a:p>
          <a:p>
            <a:r>
              <a:rPr lang="en-AU" dirty="0" smtClean="0"/>
              <a:t>ATAR </a:t>
            </a:r>
          </a:p>
          <a:p>
            <a:r>
              <a:rPr lang="en-AU" dirty="0" smtClean="0"/>
              <a:t>PowerPoint </a:t>
            </a:r>
            <a:r>
              <a:rPr lang="en-AU" dirty="0" smtClean="0"/>
              <a:t>#21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9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there are a range of techniques available to genetically screen embryos before implantation or during early development, including blood tests, amniocentesis and chorionic villi sampling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3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Lesson Intention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explore screening technologies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02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Success Criteria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identify </a:t>
            </a:r>
            <a:r>
              <a:rPr lang="en-AU" dirty="0"/>
              <a:t>different screening technologies </a:t>
            </a:r>
          </a:p>
          <a:p>
            <a:r>
              <a:rPr lang="en-AU" dirty="0" smtClean="0"/>
              <a:t>describe </a:t>
            </a:r>
            <a:r>
              <a:rPr lang="en-AU" dirty="0"/>
              <a:t>different screening technologies </a:t>
            </a:r>
          </a:p>
          <a:p>
            <a:r>
              <a:rPr lang="en-AU" dirty="0" smtClean="0"/>
              <a:t>discuss </a:t>
            </a:r>
            <a:r>
              <a:rPr lang="en-AU" dirty="0"/>
              <a:t>the benefits and risks of different screening technologies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48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b="1" dirty="0"/>
              <a:t>Ultrasound</a:t>
            </a:r>
            <a:r>
              <a:rPr lang="en-AU" sz="3200" dirty="0"/>
              <a:t>: a technique in which inaudible, high-frequency sound waves are used to produce an image, especially of the foetus during pregnancy. </a:t>
            </a:r>
            <a:endParaRPr lang="en-AU" sz="3200" dirty="0" smtClean="0"/>
          </a:p>
          <a:p>
            <a:endParaRPr lang="en-AU" sz="3200" dirty="0"/>
          </a:p>
          <a:p>
            <a:r>
              <a:rPr lang="en-AU" sz="3200" b="1" dirty="0"/>
              <a:t>Amniocentesis</a:t>
            </a:r>
            <a:r>
              <a:rPr lang="en-AU" sz="3200" dirty="0"/>
              <a:t>: a technique in which a small amount of the amniotic fluid surrounding a foetus is removed and examined for indications of possible defects in the foetus</a:t>
            </a:r>
          </a:p>
          <a:p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55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200" b="1" dirty="0"/>
              <a:t>Chorionic villus sampling</a:t>
            </a:r>
            <a:r>
              <a:rPr lang="en-AU" sz="3200" dirty="0"/>
              <a:t>: a technique in which foetal cells are removed from the chorion and examined for indications of possible defects in the foetus </a:t>
            </a:r>
            <a:endParaRPr lang="en-AU" sz="3200" dirty="0" smtClean="0"/>
          </a:p>
          <a:p>
            <a:endParaRPr lang="en-AU" sz="3200" dirty="0"/>
          </a:p>
          <a:p>
            <a:r>
              <a:rPr lang="en-AU" sz="3200" b="1" dirty="0"/>
              <a:t>Fetoscopy</a:t>
            </a:r>
            <a:r>
              <a:rPr lang="en-AU" sz="3200" dirty="0"/>
              <a:t>: the direct visual examination of a foetus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Diagnosing foetal health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Pregnant women need to ensure they undergo regular medical checks to monitor the health of the foetus. </a:t>
            </a:r>
          </a:p>
          <a:p>
            <a:endParaRPr lang="en-AU" sz="3200" dirty="0"/>
          </a:p>
          <a:p>
            <a:r>
              <a:rPr lang="en-AU" sz="3200" dirty="0" smtClean="0"/>
              <a:t>These checks become more regular as the pregnancy progresses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0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Ultrasound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General use began in 1957 </a:t>
            </a:r>
          </a:p>
          <a:p>
            <a:r>
              <a:rPr lang="en-AU" sz="3200" dirty="0" smtClean="0"/>
              <a:t>Uses high frequency sound waves to produce an image of the foetus. </a:t>
            </a:r>
          </a:p>
          <a:p>
            <a:endParaRPr lang="en-AU" sz="3200" dirty="0" smtClean="0"/>
          </a:p>
          <a:p>
            <a:r>
              <a:rPr lang="en-AU" sz="3200" dirty="0" smtClean="0"/>
              <a:t>Used to monitor the growth and development of the foetus as well as estimating the stage of pregnancy, detecting issues or abnormalities, determining gender ad the position of the foetus.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949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Ultrasound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It is a safe technique for mum and baby. </a:t>
            </a:r>
          </a:p>
          <a:p>
            <a:endParaRPr lang="en-AU" sz="3200" dirty="0"/>
          </a:p>
          <a:p>
            <a:r>
              <a:rPr lang="en-AU" sz="3200" dirty="0" smtClean="0"/>
              <a:t>It has limitations: it cannot diagnose all abnormalities, and if an abnormality is detected, further testing is usually required.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28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Amniocentesis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General use began in 1970</a:t>
            </a:r>
          </a:p>
          <a:p>
            <a:r>
              <a:rPr lang="en-AU" sz="3200" dirty="0" smtClean="0"/>
              <a:t>Usually conducted between the 16</a:t>
            </a:r>
            <a:r>
              <a:rPr lang="en-AU" sz="3200" baseline="30000" dirty="0" smtClean="0"/>
              <a:t>th</a:t>
            </a:r>
            <a:r>
              <a:rPr lang="en-AU" sz="3200" dirty="0" smtClean="0"/>
              <a:t> and 20</a:t>
            </a:r>
            <a:r>
              <a:rPr lang="en-AU" sz="3200" baseline="30000" dirty="0" smtClean="0"/>
              <a:t>th</a:t>
            </a:r>
            <a:r>
              <a:rPr lang="en-AU" sz="3200" dirty="0" smtClean="0"/>
              <a:t> weeks of pregnancy. It involves using an ultrasound to guide a needle to remove 10-20mL of amniotic fluid. </a:t>
            </a:r>
          </a:p>
          <a:p>
            <a:endParaRPr lang="en-AU" sz="3200" dirty="0"/>
          </a:p>
          <a:p>
            <a:r>
              <a:rPr lang="en-AU" sz="3200" dirty="0" smtClean="0"/>
              <a:t>Living cells from the foetus are found in amniotic fluid, which can then be examined for biochemical defects and abnormalities in chromosome number/structure. 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84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Amniocentesis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Involves a small risk of infection, miscarriage or damage to the baby. </a:t>
            </a:r>
          </a:p>
          <a:p>
            <a:endParaRPr lang="en-AU" sz="3200" dirty="0" smtClean="0"/>
          </a:p>
          <a:p>
            <a:r>
              <a:rPr lang="en-AU" sz="3200" dirty="0" smtClean="0"/>
              <a:t>It is only performed on women who are thought/known to be at a higher risk of delivering a child with birth defects e.g. Down syndrome, cystic fibrosis, spina bifida and others.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88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Chorionic villus sampling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General use began in 1983</a:t>
            </a:r>
          </a:p>
          <a:p>
            <a:r>
              <a:rPr lang="en-AU" sz="3200" dirty="0" smtClean="0"/>
              <a:t>Obtains a specimen of foetal cells from the chorion to be examined between 9-19 weeks of pregnancy. </a:t>
            </a:r>
          </a:p>
          <a:p>
            <a:endParaRPr lang="en-AU" sz="3200" dirty="0"/>
          </a:p>
          <a:p>
            <a:r>
              <a:rPr lang="en-AU" sz="3200" dirty="0" smtClean="0"/>
              <a:t>Used to detect birth defects, genetic disorders and biochemical abnormalities. </a:t>
            </a:r>
          </a:p>
          <a:p>
            <a:r>
              <a:rPr lang="en-AU" sz="3200" dirty="0" smtClean="0"/>
              <a:t>The risk of miscarriage following this procedure is 2%. 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624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Blood tests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A non-invasive prenatal test that is possible due to some of the baby’s DNA passing into the mother’s blood. This is a screening test to identify if there is an increased chance of the baby having certain disorders (e.g. Down syndrome). </a:t>
            </a:r>
          </a:p>
          <a:p>
            <a:endParaRPr lang="en-AU" sz="3200" dirty="0"/>
          </a:p>
          <a:p>
            <a:r>
              <a:rPr lang="en-AU" sz="3200" dirty="0" smtClean="0"/>
              <a:t>If they show an increased chance, then an amniocentesis or chorionic villus sampling test would be recommended.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17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Foetal monitoring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Regularly recording the baby’s heart rate in order to detect indicators of stress. This usually takes place during labour and birth using ultrasound and electrocardiography. </a:t>
            </a:r>
          </a:p>
          <a:p>
            <a:endParaRPr lang="en-AU" sz="3200" dirty="0"/>
          </a:p>
          <a:p>
            <a:r>
              <a:rPr lang="en-AU" sz="3200" dirty="0" smtClean="0"/>
              <a:t>The aim is </a:t>
            </a:r>
            <a:r>
              <a:rPr lang="en-AU" sz="3200" dirty="0" smtClean="0"/>
              <a:t>to identify any risk of injury to the foetus.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658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Fetoscopy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031" y="1825625"/>
            <a:ext cx="11430000" cy="4768606"/>
          </a:xfrm>
        </p:spPr>
        <p:txBody>
          <a:bodyPr>
            <a:normAutofit/>
          </a:bodyPr>
          <a:lstStyle/>
          <a:p>
            <a:r>
              <a:rPr lang="en-AU" sz="3200" dirty="0" smtClean="0"/>
              <a:t>General use began in 1974</a:t>
            </a:r>
          </a:p>
          <a:p>
            <a:r>
              <a:rPr lang="en-AU" sz="3200" dirty="0" smtClean="0"/>
              <a:t>Two types: a stethoscope that listens to the foetus’ heartbeat; and a fibre-optic scope that looks directly at the foetus through a small, telescope-like instrument with a diameter of a large needle. </a:t>
            </a:r>
          </a:p>
          <a:p>
            <a:endParaRPr lang="en-AU" sz="3200" dirty="0" smtClean="0"/>
          </a:p>
          <a:p>
            <a:r>
              <a:rPr lang="en-AU" sz="3200" dirty="0" smtClean="0"/>
              <a:t>Used to detect conditions such as cleft lip, missing ears, and spinal abnormalities. </a:t>
            </a:r>
          </a:p>
          <a:p>
            <a:r>
              <a:rPr lang="en-AU" sz="3200" dirty="0" smtClean="0"/>
              <a:t>It is a risky procedure that can only be performed by a specialist. </a:t>
            </a:r>
            <a:r>
              <a:rPr lang="en-AU" sz="3200" dirty="0" smtClean="0"/>
              <a:t>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3926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Foetal blood sampling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General use began in 1983</a:t>
            </a:r>
          </a:p>
          <a:p>
            <a:r>
              <a:rPr lang="en-AU" sz="3200" dirty="0" smtClean="0"/>
              <a:t>Foetal blood may be sampled to diagnose chromosomal abnormalities, foetal anaemia, oxygen levels, infections or to give medications. </a:t>
            </a:r>
          </a:p>
          <a:p>
            <a:r>
              <a:rPr lang="en-AU" sz="3200" dirty="0" smtClean="0"/>
              <a:t>Foetal blood may be taken from the umbilical cord or from the foetus via a fetoscope. </a:t>
            </a:r>
          </a:p>
          <a:p>
            <a:r>
              <a:rPr lang="en-AU" sz="3200" dirty="0" smtClean="0"/>
              <a:t>Risk of miscarriage is 1-2%, and there is also a risk of infection and amniotic sac rupture.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510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Biochemical analysis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The assessment of marker proteins to detect PKU (phenylketonuria), and AFP (alpha-fetoprotein) which is in high concentration when the foetus has a malformed spinal cord.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55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DNA probes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3437"/>
          </a:xfrm>
        </p:spPr>
        <p:txBody>
          <a:bodyPr>
            <a:normAutofit/>
          </a:bodyPr>
          <a:lstStyle/>
          <a:p>
            <a:r>
              <a:rPr lang="en-AU" sz="3200" dirty="0" smtClean="0"/>
              <a:t>Detects a range of genetic disorders such as Duchenne muscular dystrophy and thalassaemia. </a:t>
            </a:r>
          </a:p>
          <a:p>
            <a:r>
              <a:rPr lang="en-AU" sz="3200" dirty="0" smtClean="0"/>
              <a:t>A segment of DNA is used that is structurally identical to the gene being tested. Some of the units in the DNA are labelled with a dye or radioisotope. This DNA probe is then joined to the gene in question. </a:t>
            </a:r>
          </a:p>
          <a:p>
            <a:r>
              <a:rPr lang="en-AU" sz="3200" dirty="0" smtClean="0"/>
              <a:t>If it is normal, the probe will join with the segments and is identifiable. If it is abnormal, it does not show up.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258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Recall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 smtClean="0"/>
              <a:t>Describe how an ultrasound image is produced.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 smtClean="0"/>
              <a:t>State 3 reasons why an ultrasound may be performed. 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510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Apply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 smtClean="0"/>
              <a:t>Why is it important to monitor the foetus during pregnancy?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579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Homewor</a:t>
            </a:r>
            <a:r>
              <a:rPr lang="en-AU" sz="6000" b="1" dirty="0"/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 smtClean="0"/>
              <a:t>Construct a table to compare and contrast the uses, advantage and disadvantages of the different foetal monitoring techniques covered in this PPT. 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552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 smtClean="0"/>
              <a:t>Reading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Pages </a:t>
            </a:r>
            <a:r>
              <a:rPr lang="en-AU" sz="3200" dirty="0" smtClean="0"/>
              <a:t>374-378: Diagnosis of foetal health </a:t>
            </a:r>
            <a:endParaRPr lang="en-AU" sz="32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01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857</Words>
  <Application>Microsoft Office PowerPoint</Application>
  <PresentationFormat>Widescreen</PresentationFormat>
  <Paragraphs>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1_Office Theme</vt:lpstr>
      <vt:lpstr>Screening Techniques</vt:lpstr>
      <vt:lpstr>SCSA Syllabus Reference </vt:lpstr>
      <vt:lpstr>Lesson Intention </vt:lpstr>
      <vt:lpstr>Success Criteria </vt:lpstr>
      <vt:lpstr>Vocabulary </vt:lpstr>
      <vt:lpstr>Vocabulary </vt:lpstr>
      <vt:lpstr>Diagnosing foetal health </vt:lpstr>
      <vt:lpstr>Ultrasound </vt:lpstr>
      <vt:lpstr>Ultrasound </vt:lpstr>
      <vt:lpstr>Amniocentesis </vt:lpstr>
      <vt:lpstr>Amniocentesis </vt:lpstr>
      <vt:lpstr>Chorionic villus sampling </vt:lpstr>
      <vt:lpstr>Blood tests </vt:lpstr>
      <vt:lpstr>Foetal monitoring </vt:lpstr>
      <vt:lpstr>Fetoscopy</vt:lpstr>
      <vt:lpstr>Foetal blood sampling</vt:lpstr>
      <vt:lpstr>Biochemical analysis</vt:lpstr>
      <vt:lpstr>DNA probes </vt:lpstr>
      <vt:lpstr>Recall Knowledge </vt:lpstr>
      <vt:lpstr>Apply Knowledge </vt:lpstr>
      <vt:lpstr>Homework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DOOMEN Lisa [Gilmore College]</dc:creator>
  <cp:lastModifiedBy>DOOMEN Lisa [Gilmore College]</cp:lastModifiedBy>
  <cp:revision>9</cp:revision>
  <dcterms:created xsi:type="dcterms:W3CDTF">2021-12-16T00:48:44Z</dcterms:created>
  <dcterms:modified xsi:type="dcterms:W3CDTF">2022-10-05T01:00:11Z</dcterms:modified>
</cp:coreProperties>
</file>
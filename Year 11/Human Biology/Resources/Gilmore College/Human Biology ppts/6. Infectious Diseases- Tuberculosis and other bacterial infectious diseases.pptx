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8" r:id="rId4"/>
    <p:sldId id="258" r:id="rId5"/>
    <p:sldId id="261" r:id="rId6"/>
    <p:sldId id="267" r:id="rId7"/>
    <p:sldId id="263" r:id="rId8"/>
    <p:sldId id="262" r:id="rId9"/>
    <p:sldId id="264" r:id="rId10"/>
    <p:sldId id="265" r:id="rId11"/>
    <p:sldId id="266" r:id="rId12"/>
    <p:sldId id="268" r:id="rId13"/>
    <p:sldId id="269" r:id="rId14"/>
    <p:sldId id="270" r:id="rId15"/>
    <p:sldId id="271" r:id="rId16"/>
    <p:sldId id="272" r:id="rId17"/>
    <p:sldId id="289" r:id="rId18"/>
    <p:sldId id="273" r:id="rId19"/>
    <p:sldId id="280" r:id="rId20"/>
    <p:sldId id="290" r:id="rId21"/>
    <p:sldId id="274" r:id="rId22"/>
    <p:sldId id="291" r:id="rId23"/>
    <p:sldId id="275" r:id="rId24"/>
    <p:sldId id="276" r:id="rId25"/>
    <p:sldId id="292" r:id="rId26"/>
    <p:sldId id="277" r:id="rId27"/>
    <p:sldId id="278" r:id="rId28"/>
    <p:sldId id="279" r:id="rId29"/>
    <p:sldId id="293" r:id="rId30"/>
    <p:sldId id="281" r:id="rId31"/>
    <p:sldId id="282" r:id="rId32"/>
    <p:sldId id="283" r:id="rId33"/>
    <p:sldId id="294" r:id="rId34"/>
    <p:sldId id="284" r:id="rId35"/>
    <p:sldId id="286" r:id="rId36"/>
    <p:sldId id="295" r:id="rId37"/>
    <p:sldId id="285" r:id="rId38"/>
    <p:sldId id="287" r:id="rId39"/>
    <p:sldId id="296"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03F228FD-13BC-403C-994B-8C6DADBE966C}" type="datetimeFigureOut">
              <a:rPr lang="en-AU" smtClean="0"/>
              <a:t>26/05/2022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C90A8B5-AE65-4C5F-8F56-1C1491D0AED7}" type="slidenum">
              <a:rPr lang="en-AU" smtClean="0"/>
              <a:t>‹#›</a:t>
            </a:fld>
            <a:endParaRPr lang="en-AU"/>
          </a:p>
        </p:txBody>
      </p:sp>
    </p:spTree>
    <p:extLst>
      <p:ext uri="{BB962C8B-B14F-4D97-AF65-F5344CB8AC3E}">
        <p14:creationId xmlns:p14="http://schemas.microsoft.com/office/powerpoint/2010/main" val="909598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3F228FD-13BC-403C-994B-8C6DADBE966C}" type="datetimeFigureOut">
              <a:rPr lang="en-AU" smtClean="0"/>
              <a:t>26/05/2022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C90A8B5-AE65-4C5F-8F56-1C1491D0AED7}" type="slidenum">
              <a:rPr lang="en-AU" smtClean="0"/>
              <a:t>‹#›</a:t>
            </a:fld>
            <a:endParaRPr lang="en-AU"/>
          </a:p>
        </p:txBody>
      </p:sp>
    </p:spTree>
    <p:extLst>
      <p:ext uri="{BB962C8B-B14F-4D97-AF65-F5344CB8AC3E}">
        <p14:creationId xmlns:p14="http://schemas.microsoft.com/office/powerpoint/2010/main" val="2513403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3F228FD-13BC-403C-994B-8C6DADBE966C}" type="datetimeFigureOut">
              <a:rPr lang="en-AU" smtClean="0"/>
              <a:t>26/05/2022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C90A8B5-AE65-4C5F-8F56-1C1491D0AED7}" type="slidenum">
              <a:rPr lang="en-AU" smtClean="0"/>
              <a:t>‹#›</a:t>
            </a:fld>
            <a:endParaRPr lang="en-AU"/>
          </a:p>
        </p:txBody>
      </p:sp>
    </p:spTree>
    <p:extLst>
      <p:ext uri="{BB962C8B-B14F-4D97-AF65-F5344CB8AC3E}">
        <p14:creationId xmlns:p14="http://schemas.microsoft.com/office/powerpoint/2010/main" val="4125223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03F228FD-13BC-403C-994B-8C6DADBE966C}" type="datetimeFigureOut">
              <a:rPr lang="en-AU" smtClean="0"/>
              <a:t>26/05/2022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C90A8B5-AE65-4C5F-8F56-1C1491D0AED7}" type="slidenum">
              <a:rPr lang="en-AU" smtClean="0"/>
              <a:t>‹#›</a:t>
            </a:fld>
            <a:endParaRPr lang="en-AU"/>
          </a:p>
        </p:txBody>
      </p:sp>
    </p:spTree>
    <p:extLst>
      <p:ext uri="{BB962C8B-B14F-4D97-AF65-F5344CB8AC3E}">
        <p14:creationId xmlns:p14="http://schemas.microsoft.com/office/powerpoint/2010/main" val="1495360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03F228FD-13BC-403C-994B-8C6DADBE966C}" type="datetimeFigureOut">
              <a:rPr lang="en-AU" smtClean="0"/>
              <a:t>26/05/2022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7C90A8B5-AE65-4C5F-8F56-1C1491D0AED7}" type="slidenum">
              <a:rPr lang="en-AU" smtClean="0"/>
              <a:t>‹#›</a:t>
            </a:fld>
            <a:endParaRPr lang="en-AU"/>
          </a:p>
        </p:txBody>
      </p:sp>
    </p:spTree>
    <p:extLst>
      <p:ext uri="{BB962C8B-B14F-4D97-AF65-F5344CB8AC3E}">
        <p14:creationId xmlns:p14="http://schemas.microsoft.com/office/powerpoint/2010/main" val="3288766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03F228FD-13BC-403C-994B-8C6DADBE966C}" type="datetimeFigureOut">
              <a:rPr lang="en-AU" smtClean="0"/>
              <a:t>26/05/2022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7C90A8B5-AE65-4C5F-8F56-1C1491D0AED7}" type="slidenum">
              <a:rPr lang="en-AU" smtClean="0"/>
              <a:t>‹#›</a:t>
            </a:fld>
            <a:endParaRPr lang="en-AU"/>
          </a:p>
        </p:txBody>
      </p:sp>
    </p:spTree>
    <p:extLst>
      <p:ext uri="{BB962C8B-B14F-4D97-AF65-F5344CB8AC3E}">
        <p14:creationId xmlns:p14="http://schemas.microsoft.com/office/powerpoint/2010/main" val="34617593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F228FD-13BC-403C-994B-8C6DADBE966C}" type="datetimeFigureOut">
              <a:rPr lang="en-AU" smtClean="0"/>
              <a:t>26/05/2022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7C90A8B5-AE65-4C5F-8F56-1C1491D0AED7}" type="slidenum">
              <a:rPr lang="en-AU" smtClean="0"/>
              <a:t>‹#›</a:t>
            </a:fld>
            <a:endParaRPr lang="en-AU"/>
          </a:p>
        </p:txBody>
      </p:sp>
    </p:spTree>
    <p:extLst>
      <p:ext uri="{BB962C8B-B14F-4D97-AF65-F5344CB8AC3E}">
        <p14:creationId xmlns:p14="http://schemas.microsoft.com/office/powerpoint/2010/main" val="3518893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3F228FD-13BC-403C-994B-8C6DADBE966C}" type="datetimeFigureOut">
              <a:rPr lang="en-AU" smtClean="0"/>
              <a:t>26/05/2022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C90A8B5-AE65-4C5F-8F56-1C1491D0AED7}" type="slidenum">
              <a:rPr lang="en-AU" smtClean="0"/>
              <a:t>‹#›</a:t>
            </a:fld>
            <a:endParaRPr lang="en-AU"/>
          </a:p>
        </p:txBody>
      </p:sp>
    </p:spTree>
    <p:extLst>
      <p:ext uri="{BB962C8B-B14F-4D97-AF65-F5344CB8AC3E}">
        <p14:creationId xmlns:p14="http://schemas.microsoft.com/office/powerpoint/2010/main" val="2559087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3F228FD-13BC-403C-994B-8C6DADBE966C}" type="datetimeFigureOut">
              <a:rPr lang="en-AU" smtClean="0"/>
              <a:t>26/05/2022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C90A8B5-AE65-4C5F-8F56-1C1491D0AED7}" type="slidenum">
              <a:rPr lang="en-AU" smtClean="0"/>
              <a:t>‹#›</a:t>
            </a:fld>
            <a:endParaRPr lang="en-AU"/>
          </a:p>
        </p:txBody>
      </p:sp>
    </p:spTree>
    <p:extLst>
      <p:ext uri="{BB962C8B-B14F-4D97-AF65-F5344CB8AC3E}">
        <p14:creationId xmlns:p14="http://schemas.microsoft.com/office/powerpoint/2010/main" val="1331616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3F228FD-13BC-403C-994B-8C6DADBE966C}" type="datetimeFigureOut">
              <a:rPr lang="en-AU" smtClean="0"/>
              <a:t>26/05/2022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C90A8B5-AE65-4C5F-8F56-1C1491D0AED7}" type="slidenum">
              <a:rPr lang="en-AU" smtClean="0"/>
              <a:t>‹#›</a:t>
            </a:fld>
            <a:endParaRPr lang="en-AU"/>
          </a:p>
        </p:txBody>
      </p:sp>
    </p:spTree>
    <p:extLst>
      <p:ext uri="{BB962C8B-B14F-4D97-AF65-F5344CB8AC3E}">
        <p14:creationId xmlns:p14="http://schemas.microsoft.com/office/powerpoint/2010/main" val="1717984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3F228FD-13BC-403C-994B-8C6DADBE966C}" type="datetimeFigureOut">
              <a:rPr lang="en-AU" smtClean="0"/>
              <a:t>26/05/2022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C90A8B5-AE65-4C5F-8F56-1C1491D0AED7}" type="slidenum">
              <a:rPr lang="en-AU" smtClean="0"/>
              <a:t>‹#›</a:t>
            </a:fld>
            <a:endParaRPr lang="en-AU"/>
          </a:p>
        </p:txBody>
      </p:sp>
    </p:spTree>
    <p:extLst>
      <p:ext uri="{BB962C8B-B14F-4D97-AF65-F5344CB8AC3E}">
        <p14:creationId xmlns:p14="http://schemas.microsoft.com/office/powerpoint/2010/main" val="3453746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alpha val="68000"/>
                <a:lumMod val="72000"/>
                <a:lumOff val="28000"/>
              </a:schemeClr>
            </a:gs>
            <a:gs pos="48000">
              <a:schemeClr val="accent2">
                <a:lumMod val="97000"/>
                <a:lumOff val="3000"/>
              </a:schemeClr>
            </a:gs>
            <a:gs pos="100000">
              <a:schemeClr val="accent2">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F228FD-13BC-403C-994B-8C6DADBE966C}" type="datetimeFigureOut">
              <a:rPr lang="en-AU" smtClean="0"/>
              <a:t>26/05/2022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90A8B5-AE65-4C5F-8F56-1C1491D0AED7}" type="slidenum">
              <a:rPr lang="en-AU" smtClean="0"/>
              <a:t>‹#›</a:t>
            </a:fld>
            <a:endParaRPr lang="en-AU"/>
          </a:p>
        </p:txBody>
      </p:sp>
    </p:spTree>
    <p:extLst>
      <p:ext uri="{BB962C8B-B14F-4D97-AF65-F5344CB8AC3E}">
        <p14:creationId xmlns:p14="http://schemas.microsoft.com/office/powerpoint/2010/main" val="483081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13806" y="1122363"/>
            <a:ext cx="11094720" cy="2387600"/>
          </a:xfrm>
        </p:spPr>
        <p:txBody>
          <a:bodyPr>
            <a:normAutofit/>
          </a:bodyPr>
          <a:lstStyle/>
          <a:p>
            <a:r>
              <a:rPr lang="en-AU" sz="7200" dirty="0" smtClean="0">
                <a:latin typeface="Castellar" panose="020A0402060406010301" pitchFamily="18" charset="0"/>
              </a:rPr>
              <a:t>Infectious Diseases </a:t>
            </a:r>
            <a:endParaRPr lang="en-AU" sz="7200" dirty="0">
              <a:latin typeface="Castellar" panose="020A0402060406010301" pitchFamily="18" charset="0"/>
            </a:endParaRPr>
          </a:p>
        </p:txBody>
      </p:sp>
      <p:sp>
        <p:nvSpPr>
          <p:cNvPr id="3" name="Subtitle 2"/>
          <p:cNvSpPr>
            <a:spLocks noGrp="1"/>
          </p:cNvSpPr>
          <p:nvPr>
            <p:ph type="subTitle" idx="1"/>
          </p:nvPr>
        </p:nvSpPr>
        <p:spPr>
          <a:xfrm>
            <a:off x="914399" y="3962400"/>
            <a:ext cx="10415451" cy="1295400"/>
          </a:xfrm>
        </p:spPr>
        <p:txBody>
          <a:bodyPr>
            <a:normAutofit/>
          </a:bodyPr>
          <a:lstStyle/>
          <a:p>
            <a:r>
              <a:rPr lang="en-AU" sz="3200" dirty="0" smtClean="0"/>
              <a:t>TUBERCULOSIS AND OTHER BACTERIAL INFECTIOUS DISEASES </a:t>
            </a:r>
            <a:endParaRPr lang="en-AU" sz="3200" dirty="0"/>
          </a:p>
        </p:txBody>
      </p:sp>
    </p:spTree>
    <p:extLst>
      <p:ext uri="{BB962C8B-B14F-4D97-AF65-F5344CB8AC3E}">
        <p14:creationId xmlns:p14="http://schemas.microsoft.com/office/powerpoint/2010/main" val="609948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Tuberculosis </a:t>
            </a:r>
            <a:endParaRPr lang="en-AU" sz="6000" b="1" dirty="0"/>
          </a:p>
        </p:txBody>
      </p:sp>
      <p:sp>
        <p:nvSpPr>
          <p:cNvPr id="3" name="Content Placeholder 2"/>
          <p:cNvSpPr>
            <a:spLocks noGrp="1"/>
          </p:cNvSpPr>
          <p:nvPr>
            <p:ph idx="1"/>
          </p:nvPr>
        </p:nvSpPr>
        <p:spPr>
          <a:xfrm>
            <a:off x="487679" y="1825624"/>
            <a:ext cx="11355977" cy="4853849"/>
          </a:xfrm>
        </p:spPr>
        <p:txBody>
          <a:bodyPr>
            <a:normAutofit lnSpcReduction="10000"/>
          </a:bodyPr>
          <a:lstStyle/>
          <a:p>
            <a:r>
              <a:rPr lang="en-AU" sz="3200" dirty="0" smtClean="0"/>
              <a:t>Tuberculosis </a:t>
            </a:r>
            <a:r>
              <a:rPr lang="en-AU" sz="3200" dirty="0"/>
              <a:t>is caused by bacteria (</a:t>
            </a:r>
            <a:r>
              <a:rPr lang="en-AU" sz="3200" i="1" dirty="0"/>
              <a:t>Mycobacterium tuberculosis</a:t>
            </a:r>
            <a:r>
              <a:rPr lang="en-AU" sz="3200" dirty="0"/>
              <a:t>) that most often affect the lungs. Tuberculosis is curable and preventable</a:t>
            </a:r>
            <a:r>
              <a:rPr lang="en-AU" sz="3200" dirty="0" smtClean="0"/>
              <a:t>.</a:t>
            </a:r>
          </a:p>
          <a:p>
            <a:endParaRPr lang="en-AU" sz="3200" dirty="0"/>
          </a:p>
          <a:p>
            <a:r>
              <a:rPr lang="en-AU" sz="3200" dirty="0"/>
              <a:t>Tuberculosis has been known to mankind </a:t>
            </a:r>
            <a:r>
              <a:rPr lang="en-AU" sz="3200" dirty="0" smtClean="0"/>
              <a:t>for a long time. </a:t>
            </a:r>
          </a:p>
          <a:p>
            <a:endParaRPr lang="en-AU" sz="3200" dirty="0"/>
          </a:p>
          <a:p>
            <a:r>
              <a:rPr lang="en-AU" sz="3200" dirty="0" smtClean="0"/>
              <a:t>It </a:t>
            </a:r>
            <a:r>
              <a:rPr lang="en-AU" sz="3200" dirty="0"/>
              <a:t>is believed that the genus </a:t>
            </a:r>
            <a:r>
              <a:rPr lang="en-AU" sz="3200" i="1" dirty="0"/>
              <a:t>Mycobacterium</a:t>
            </a:r>
            <a:r>
              <a:rPr lang="en-AU" sz="3200" dirty="0"/>
              <a:t> was present in the environment about 150 million years ago, and an early variant of </a:t>
            </a:r>
            <a:r>
              <a:rPr lang="en-AU" sz="3200" i="1" dirty="0"/>
              <a:t>M. tuberculosis </a:t>
            </a:r>
            <a:r>
              <a:rPr lang="en-AU" sz="3200" dirty="0"/>
              <a:t>was originated in East Africa about 3 million years ago.</a:t>
            </a:r>
          </a:p>
        </p:txBody>
      </p:sp>
    </p:spTree>
    <p:extLst>
      <p:ext uri="{BB962C8B-B14F-4D97-AF65-F5344CB8AC3E}">
        <p14:creationId xmlns:p14="http://schemas.microsoft.com/office/powerpoint/2010/main" val="2267717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09600" y="0"/>
            <a:ext cx="10972800" cy="6858000"/>
          </a:xfrm>
          <a:prstGeom prst="rect">
            <a:avLst/>
          </a:prstGeom>
        </p:spPr>
      </p:pic>
    </p:spTree>
    <p:extLst>
      <p:ext uri="{BB962C8B-B14F-4D97-AF65-F5344CB8AC3E}">
        <p14:creationId xmlns:p14="http://schemas.microsoft.com/office/powerpoint/2010/main" val="2472620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Tuberculosis- Locations </a:t>
            </a:r>
            <a:endParaRPr lang="en-AU" sz="6000" b="1" dirty="0"/>
          </a:p>
        </p:txBody>
      </p:sp>
      <p:sp>
        <p:nvSpPr>
          <p:cNvPr id="3" name="Content Placeholder 2"/>
          <p:cNvSpPr>
            <a:spLocks noGrp="1"/>
          </p:cNvSpPr>
          <p:nvPr>
            <p:ph idx="1"/>
          </p:nvPr>
        </p:nvSpPr>
        <p:spPr/>
        <p:txBody>
          <a:bodyPr>
            <a:normAutofit/>
          </a:bodyPr>
          <a:lstStyle/>
          <a:p>
            <a:r>
              <a:rPr lang="en-AU" sz="3200" dirty="0" smtClean="0"/>
              <a:t>Tuberculosis has spread worldwide. </a:t>
            </a:r>
          </a:p>
          <a:p>
            <a:endParaRPr lang="en-AU" sz="3200" dirty="0"/>
          </a:p>
          <a:p>
            <a:r>
              <a:rPr lang="en-AU" sz="3200" dirty="0"/>
              <a:t>In 2020, the 30 </a:t>
            </a:r>
            <a:r>
              <a:rPr lang="en-AU" sz="3200" b="1" dirty="0"/>
              <a:t>high </a:t>
            </a:r>
            <a:r>
              <a:rPr lang="en-AU" sz="3200" b="1" dirty="0" smtClean="0"/>
              <a:t>Tuberculosis </a:t>
            </a:r>
            <a:r>
              <a:rPr lang="en-AU" sz="3200" b="1" dirty="0"/>
              <a:t>burden countries</a:t>
            </a:r>
            <a:r>
              <a:rPr lang="en-AU" sz="3200" dirty="0"/>
              <a:t> accounted for 86% of new TB cases. </a:t>
            </a:r>
            <a:endParaRPr lang="en-AU" sz="3200" dirty="0" smtClean="0"/>
          </a:p>
          <a:p>
            <a:endParaRPr lang="en-AU" sz="3200" dirty="0"/>
          </a:p>
          <a:p>
            <a:r>
              <a:rPr lang="en-AU" sz="3200" dirty="0" smtClean="0"/>
              <a:t>Eight </a:t>
            </a:r>
            <a:r>
              <a:rPr lang="en-AU" sz="3200" dirty="0"/>
              <a:t>countries account for two thirds of the total, with India leading the count, followed by China, Indonesia, the Philippines, Pakistan, Nigeria, Bangladesh and South Africa.</a:t>
            </a:r>
          </a:p>
        </p:txBody>
      </p:sp>
    </p:spTree>
    <p:extLst>
      <p:ext uri="{BB962C8B-B14F-4D97-AF65-F5344CB8AC3E}">
        <p14:creationId xmlns:p14="http://schemas.microsoft.com/office/powerpoint/2010/main" val="230025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463676" y="101327"/>
            <a:ext cx="9378496" cy="6620115"/>
          </a:xfrm>
        </p:spPr>
      </p:pic>
    </p:spTree>
    <p:extLst>
      <p:ext uri="{BB962C8B-B14F-4D97-AF65-F5344CB8AC3E}">
        <p14:creationId xmlns:p14="http://schemas.microsoft.com/office/powerpoint/2010/main" val="2894937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Tuberculosis- Outbreak </a:t>
            </a:r>
            <a:endParaRPr lang="en-AU" sz="6000" b="1" dirty="0"/>
          </a:p>
        </p:txBody>
      </p:sp>
      <p:sp>
        <p:nvSpPr>
          <p:cNvPr id="3" name="Content Placeholder 2"/>
          <p:cNvSpPr>
            <a:spLocks noGrp="1"/>
          </p:cNvSpPr>
          <p:nvPr>
            <p:ph idx="1"/>
          </p:nvPr>
        </p:nvSpPr>
        <p:spPr/>
        <p:txBody>
          <a:bodyPr>
            <a:normAutofit/>
          </a:bodyPr>
          <a:lstStyle/>
          <a:p>
            <a:r>
              <a:rPr lang="en-AU" sz="3200" dirty="0"/>
              <a:t>Once rare in developed countries, tuberculosis infections began increasing in 1985, partly because of the emergence of HIV, the virus that causes AIDS. </a:t>
            </a:r>
            <a:endParaRPr lang="en-AU" sz="3200" dirty="0" smtClean="0"/>
          </a:p>
          <a:p>
            <a:endParaRPr lang="en-AU" sz="3200" dirty="0"/>
          </a:p>
          <a:p>
            <a:r>
              <a:rPr lang="en-AU" sz="3200" dirty="0" smtClean="0"/>
              <a:t>HIV </a:t>
            </a:r>
            <a:r>
              <a:rPr lang="en-AU" sz="3200" dirty="0"/>
              <a:t>weakens a person's immune system, so it can't fight the </a:t>
            </a:r>
            <a:r>
              <a:rPr lang="en-AU" sz="3200" dirty="0" smtClean="0"/>
              <a:t>Tuberculosis virus.</a:t>
            </a:r>
            <a:endParaRPr lang="en-AU" sz="3200" dirty="0"/>
          </a:p>
        </p:txBody>
      </p:sp>
    </p:spTree>
    <p:extLst>
      <p:ext uri="{BB962C8B-B14F-4D97-AF65-F5344CB8AC3E}">
        <p14:creationId xmlns:p14="http://schemas.microsoft.com/office/powerpoint/2010/main" val="4079409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Tuberculosis- Fatality Rate </a:t>
            </a:r>
            <a:endParaRPr lang="en-AU" sz="6000" b="1" dirty="0"/>
          </a:p>
        </p:txBody>
      </p:sp>
      <p:sp>
        <p:nvSpPr>
          <p:cNvPr id="3" name="Content Placeholder 2"/>
          <p:cNvSpPr>
            <a:spLocks noGrp="1"/>
          </p:cNvSpPr>
          <p:nvPr>
            <p:ph idx="1"/>
          </p:nvPr>
        </p:nvSpPr>
        <p:spPr>
          <a:xfrm>
            <a:off x="350519" y="1503407"/>
            <a:ext cx="11484429" cy="5210901"/>
          </a:xfrm>
        </p:spPr>
        <p:txBody>
          <a:bodyPr>
            <a:normAutofit/>
          </a:bodyPr>
          <a:lstStyle/>
          <a:p>
            <a:r>
              <a:rPr lang="en-AU" sz="3200" dirty="0"/>
              <a:t>A total of 1.5 million people died from TB in 2020 (including 214 000 people with HIV). Worldwide, TB is the 13th leading cause of </a:t>
            </a:r>
            <a:r>
              <a:rPr lang="en-AU" sz="3200" dirty="0" smtClean="0"/>
              <a:t>death and the second leading infectious disease killer.</a:t>
            </a:r>
          </a:p>
          <a:p>
            <a:endParaRPr lang="en-AU" sz="3200" dirty="0"/>
          </a:p>
          <a:p>
            <a:r>
              <a:rPr lang="en-AU" sz="3200" dirty="0"/>
              <a:t>In 2020, an estimated 10 million people fell ill with tuberculosis (TB) worldwide. 5.6 million men, 3.3 million women and 1.1 million children. TB is present in all countries and age groups. But TB is curable and preventable</a:t>
            </a:r>
            <a:r>
              <a:rPr lang="en-AU" sz="3200" dirty="0" smtClean="0"/>
              <a:t>.</a:t>
            </a:r>
          </a:p>
          <a:p>
            <a:endParaRPr lang="en-AU" sz="3200" dirty="0"/>
          </a:p>
          <a:p>
            <a:r>
              <a:rPr lang="en-AU" sz="3200" dirty="0" smtClean="0"/>
              <a:t>In 2020, 15% of people with Tuberculosis DIED </a:t>
            </a:r>
            <a:endParaRPr lang="en-AU" sz="3200" dirty="0"/>
          </a:p>
        </p:txBody>
      </p:sp>
    </p:spTree>
    <p:extLst>
      <p:ext uri="{BB962C8B-B14F-4D97-AF65-F5344CB8AC3E}">
        <p14:creationId xmlns:p14="http://schemas.microsoft.com/office/powerpoint/2010/main" val="2571210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193710" y="110036"/>
            <a:ext cx="9317535" cy="6577084"/>
          </a:xfrm>
        </p:spPr>
      </p:pic>
    </p:spTree>
    <p:extLst>
      <p:ext uri="{BB962C8B-B14F-4D97-AF65-F5344CB8AC3E}">
        <p14:creationId xmlns:p14="http://schemas.microsoft.com/office/powerpoint/2010/main" val="497719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Tuberculosis- Spread </a:t>
            </a:r>
            <a:endParaRPr lang="en-AU" sz="6000" b="1" dirty="0"/>
          </a:p>
        </p:txBody>
      </p:sp>
      <p:sp>
        <p:nvSpPr>
          <p:cNvPr id="3" name="Content Placeholder 2"/>
          <p:cNvSpPr>
            <a:spLocks noGrp="1"/>
          </p:cNvSpPr>
          <p:nvPr>
            <p:ph idx="1"/>
          </p:nvPr>
        </p:nvSpPr>
        <p:spPr/>
        <p:txBody>
          <a:bodyPr/>
          <a:lstStyle/>
          <a:p>
            <a:r>
              <a:rPr lang="en-AU" dirty="0"/>
              <a:t>The bacteria that cause tuberculosis are spread from person to person through tiny droplets released into the air via coughs and sneezes.</a:t>
            </a:r>
          </a:p>
          <a:p>
            <a:endParaRPr lang="en-AU" dirty="0" smtClean="0"/>
          </a:p>
          <a:p>
            <a:r>
              <a:rPr lang="en-AU" dirty="0"/>
              <a:t>A person needs to inhale only a few of these germs to become infected</a:t>
            </a:r>
            <a:r>
              <a:rPr lang="en-AU" dirty="0" smtClean="0"/>
              <a:t>.</a:t>
            </a:r>
          </a:p>
          <a:p>
            <a:endParaRPr lang="en-AU" dirty="0"/>
          </a:p>
          <a:p>
            <a:endParaRPr lang="en-AU" dirty="0"/>
          </a:p>
        </p:txBody>
      </p:sp>
    </p:spTree>
    <p:extLst>
      <p:ext uri="{BB962C8B-B14F-4D97-AF65-F5344CB8AC3E}">
        <p14:creationId xmlns:p14="http://schemas.microsoft.com/office/powerpoint/2010/main" val="4277339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1114" y="77743"/>
            <a:ext cx="10515600" cy="1325563"/>
          </a:xfrm>
        </p:spPr>
        <p:txBody>
          <a:bodyPr>
            <a:normAutofit/>
          </a:bodyPr>
          <a:lstStyle/>
          <a:p>
            <a:r>
              <a:rPr lang="en-AU" sz="6000" b="1" dirty="0" smtClean="0"/>
              <a:t>Tuberculosis- Spread </a:t>
            </a:r>
            <a:endParaRPr lang="en-AU" sz="6000" b="1"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9229" y="1690687"/>
                <a:ext cx="11571514" cy="5032329"/>
              </a:xfrm>
            </p:spPr>
            <p:txBody>
              <a:bodyPr>
                <a:normAutofit lnSpcReduction="10000"/>
              </a:bodyPr>
              <a:lstStyle/>
              <a:p>
                <a:r>
                  <a:rPr lang="en-AU" dirty="0" smtClean="0"/>
                  <a:t>About </a:t>
                </a:r>
                <a14:m>
                  <m:oMath xmlns:m="http://schemas.openxmlformats.org/officeDocument/2006/math">
                    <m:f>
                      <m:fPr>
                        <m:type m:val="skw"/>
                        <m:ctrlPr>
                          <a:rPr lang="en-AU"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5</m:t>
                        </m:r>
                      </m:den>
                    </m:f>
                  </m:oMath>
                </a14:m>
                <a:r>
                  <a:rPr lang="en-AU" dirty="0" smtClean="0"/>
                  <a:t> of </a:t>
                </a:r>
                <a:r>
                  <a:rPr lang="en-AU" dirty="0"/>
                  <a:t>the world's population has a </a:t>
                </a:r>
                <a:r>
                  <a:rPr lang="en-AU" dirty="0" smtClean="0"/>
                  <a:t>Tuberculosis </a:t>
                </a:r>
                <a:r>
                  <a:rPr lang="en-AU" dirty="0"/>
                  <a:t>infection, which means people have been infected by </a:t>
                </a:r>
                <a:r>
                  <a:rPr lang="en-AU" dirty="0" smtClean="0"/>
                  <a:t>the </a:t>
                </a:r>
                <a:r>
                  <a:rPr lang="en-AU" dirty="0"/>
                  <a:t>bacteria but are not (yet) ill with the disease and cannot transmit it.</a:t>
                </a:r>
              </a:p>
              <a:p>
                <a:endParaRPr lang="en-AU" dirty="0"/>
              </a:p>
              <a:p>
                <a:r>
                  <a:rPr lang="en-AU" dirty="0"/>
                  <a:t>People infected </a:t>
                </a:r>
                <a:r>
                  <a:rPr lang="en-AU" dirty="0" smtClean="0"/>
                  <a:t>have </a:t>
                </a:r>
                <a:r>
                  <a:rPr lang="en-AU" dirty="0"/>
                  <a:t>a 5–10% lifetime risk of falling </a:t>
                </a:r>
                <a:r>
                  <a:rPr lang="en-AU" dirty="0" smtClean="0"/>
                  <a:t>ill. </a:t>
                </a:r>
                <a:r>
                  <a:rPr lang="en-AU" dirty="0"/>
                  <a:t>Those with compromised immune systems, such as people living with HIV, malnutrition or diabetes, or people who use tobacco, have a higher risk of falling ill.</a:t>
                </a:r>
              </a:p>
              <a:p>
                <a:endParaRPr lang="en-AU" dirty="0"/>
              </a:p>
              <a:p>
                <a:r>
                  <a:rPr lang="en-AU" dirty="0"/>
                  <a:t>When a person develops active </a:t>
                </a:r>
                <a:r>
                  <a:rPr lang="en-AU" dirty="0" smtClean="0"/>
                  <a:t>Tuberculosis, </a:t>
                </a:r>
                <a:r>
                  <a:rPr lang="en-AU" dirty="0"/>
                  <a:t>the symptoms </a:t>
                </a:r>
                <a:r>
                  <a:rPr lang="en-AU" dirty="0" smtClean="0"/>
                  <a:t>may </a:t>
                </a:r>
                <a:r>
                  <a:rPr lang="en-AU" dirty="0"/>
                  <a:t>be mild for many months. This can lead to delays in seeking care, and results in transmission of the bacteria to others. People with active TB can infect 5–15 other people through close contact over the course of a year.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9229" y="1690687"/>
                <a:ext cx="11571514" cy="5032329"/>
              </a:xfrm>
              <a:blipFill>
                <a:blip r:embed="rId2"/>
                <a:stretch>
                  <a:fillRect l="-948" t="-2663" r="-1739"/>
                </a:stretch>
              </a:blipFill>
            </p:spPr>
            <p:txBody>
              <a:bodyPr/>
              <a:lstStyle/>
              <a:p>
                <a:r>
                  <a:rPr lang="en-AU">
                    <a:noFill/>
                  </a:rPr>
                  <a:t> </a:t>
                </a:r>
              </a:p>
            </p:txBody>
          </p:sp>
        </mc:Fallback>
      </mc:AlternateContent>
    </p:spTree>
    <p:extLst>
      <p:ext uri="{BB962C8B-B14F-4D97-AF65-F5344CB8AC3E}">
        <p14:creationId xmlns:p14="http://schemas.microsoft.com/office/powerpoint/2010/main" val="2402982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Tuberculosis – Who is at risk?</a:t>
            </a:r>
            <a:endParaRPr lang="en-AU" sz="6000" b="1" dirty="0"/>
          </a:p>
        </p:txBody>
      </p:sp>
      <p:sp>
        <p:nvSpPr>
          <p:cNvPr id="3" name="Content Placeholder 2"/>
          <p:cNvSpPr>
            <a:spLocks noGrp="1"/>
          </p:cNvSpPr>
          <p:nvPr>
            <p:ph idx="1"/>
          </p:nvPr>
        </p:nvSpPr>
        <p:spPr>
          <a:xfrm>
            <a:off x="104504" y="1520824"/>
            <a:ext cx="11869782" cy="5184775"/>
          </a:xfrm>
        </p:spPr>
        <p:txBody>
          <a:bodyPr>
            <a:normAutofit fontScale="92500" lnSpcReduction="10000"/>
          </a:bodyPr>
          <a:lstStyle/>
          <a:p>
            <a:r>
              <a:rPr lang="en-AU" sz="3200" dirty="0"/>
              <a:t>Tuberculosis mostly affects </a:t>
            </a:r>
            <a:r>
              <a:rPr lang="en-AU" sz="3200" dirty="0" smtClean="0"/>
              <a:t>adults. </a:t>
            </a:r>
            <a:r>
              <a:rPr lang="en-AU" sz="3200" dirty="0"/>
              <a:t>However, all age groups are at risk. </a:t>
            </a:r>
            <a:endParaRPr lang="en-AU" sz="3200" dirty="0" smtClean="0"/>
          </a:p>
          <a:p>
            <a:endParaRPr lang="en-AU" sz="3200" dirty="0" smtClean="0"/>
          </a:p>
          <a:p>
            <a:r>
              <a:rPr lang="en-AU" sz="3200" dirty="0" smtClean="0"/>
              <a:t>Over </a:t>
            </a:r>
            <a:r>
              <a:rPr lang="en-AU" sz="3200" dirty="0"/>
              <a:t>95% of cases and deaths are in developing countries</a:t>
            </a:r>
            <a:r>
              <a:rPr lang="en-AU" sz="3200" dirty="0" smtClean="0"/>
              <a:t>.</a:t>
            </a:r>
          </a:p>
          <a:p>
            <a:endParaRPr lang="en-AU" sz="3200" dirty="0"/>
          </a:p>
          <a:p>
            <a:r>
              <a:rPr lang="en-AU" sz="3200" dirty="0"/>
              <a:t>People who are infected with HIV are 18 times more likely to develop active </a:t>
            </a:r>
            <a:r>
              <a:rPr lang="en-AU" sz="3200" dirty="0" smtClean="0"/>
              <a:t>Tuberculosis. The </a:t>
            </a:r>
            <a:r>
              <a:rPr lang="en-AU" sz="3200" dirty="0"/>
              <a:t>risk of active </a:t>
            </a:r>
            <a:r>
              <a:rPr lang="en-AU" sz="3200" dirty="0" smtClean="0"/>
              <a:t>Tuberculosis </a:t>
            </a:r>
            <a:r>
              <a:rPr lang="en-AU" sz="3200" dirty="0"/>
              <a:t>is also greater in </a:t>
            </a:r>
            <a:r>
              <a:rPr lang="en-AU" sz="3200" dirty="0" smtClean="0"/>
              <a:t>people </a:t>
            </a:r>
            <a:r>
              <a:rPr lang="en-AU" sz="3200" dirty="0"/>
              <a:t>suffering from other conditions that impair the immune system. People with undernutrition are 3 times more at risk. </a:t>
            </a:r>
            <a:endParaRPr lang="en-AU" sz="3200" dirty="0" smtClean="0"/>
          </a:p>
          <a:p>
            <a:endParaRPr lang="en-AU" sz="3200" dirty="0" smtClean="0"/>
          </a:p>
          <a:p>
            <a:r>
              <a:rPr lang="en-AU" sz="3200" dirty="0" smtClean="0"/>
              <a:t>Alcohol </a:t>
            </a:r>
            <a:r>
              <a:rPr lang="en-AU" sz="3200" dirty="0"/>
              <a:t>use disorder and tobacco smoking increase the risk of </a:t>
            </a:r>
            <a:r>
              <a:rPr lang="en-AU" sz="3200" dirty="0" smtClean="0"/>
              <a:t>Tuberculosis.</a:t>
            </a:r>
          </a:p>
          <a:p>
            <a:endParaRPr lang="en-AU" dirty="0"/>
          </a:p>
        </p:txBody>
      </p:sp>
    </p:spTree>
    <p:extLst>
      <p:ext uri="{BB962C8B-B14F-4D97-AF65-F5344CB8AC3E}">
        <p14:creationId xmlns:p14="http://schemas.microsoft.com/office/powerpoint/2010/main" val="1963437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Tuberculosis- Treatment </a:t>
            </a:r>
            <a:endParaRPr lang="en-AU" sz="6000" b="1" dirty="0"/>
          </a:p>
        </p:txBody>
      </p:sp>
      <p:sp>
        <p:nvSpPr>
          <p:cNvPr id="3" name="Content Placeholder 2"/>
          <p:cNvSpPr>
            <a:spLocks noGrp="1"/>
          </p:cNvSpPr>
          <p:nvPr>
            <p:ph idx="1"/>
          </p:nvPr>
        </p:nvSpPr>
        <p:spPr>
          <a:xfrm>
            <a:off x="185057" y="1477282"/>
            <a:ext cx="11719560" cy="5228318"/>
          </a:xfrm>
        </p:spPr>
        <p:txBody>
          <a:bodyPr>
            <a:normAutofit/>
          </a:bodyPr>
          <a:lstStyle/>
          <a:p>
            <a:r>
              <a:rPr lang="en-AU" dirty="0"/>
              <a:t>Common symptoms of active </a:t>
            </a:r>
            <a:r>
              <a:rPr lang="en-AU" dirty="0" smtClean="0"/>
              <a:t>Tuberculosis </a:t>
            </a:r>
            <a:r>
              <a:rPr lang="en-AU" dirty="0"/>
              <a:t>are cough with sputum and blood at times, chest pains, weakness, weight loss, fever and night sweats. </a:t>
            </a:r>
            <a:endParaRPr lang="en-AU" dirty="0" smtClean="0"/>
          </a:p>
          <a:p>
            <a:endParaRPr lang="en-AU" dirty="0"/>
          </a:p>
          <a:p>
            <a:r>
              <a:rPr lang="en-AU" dirty="0" smtClean="0"/>
              <a:t>Diagnosing </a:t>
            </a:r>
            <a:r>
              <a:rPr lang="en-AU" dirty="0"/>
              <a:t>multidrug-resistant and other resistant forms of </a:t>
            </a:r>
            <a:r>
              <a:rPr lang="en-AU" dirty="0" smtClean="0"/>
              <a:t>Tuberculosis as </a:t>
            </a:r>
            <a:r>
              <a:rPr lang="en-AU" dirty="0"/>
              <a:t>well as </a:t>
            </a:r>
            <a:r>
              <a:rPr lang="en-AU"/>
              <a:t>HIV-associated </a:t>
            </a:r>
            <a:r>
              <a:rPr lang="en-AU" smtClean="0"/>
              <a:t>Tuberculosis </a:t>
            </a:r>
            <a:r>
              <a:rPr lang="en-AU" dirty="0"/>
              <a:t>can be complex and </a:t>
            </a:r>
            <a:r>
              <a:rPr lang="en-AU"/>
              <a:t>expensive</a:t>
            </a:r>
            <a:r>
              <a:rPr lang="en-AU" smtClean="0"/>
              <a:t>.</a:t>
            </a:r>
          </a:p>
          <a:p>
            <a:endParaRPr lang="en-AU" dirty="0"/>
          </a:p>
          <a:p>
            <a:r>
              <a:rPr lang="en-AU" dirty="0"/>
              <a:t>Tuberculosis is particularly difficult to diagnose in children.</a:t>
            </a:r>
          </a:p>
          <a:p>
            <a:endParaRPr lang="en-AU" dirty="0"/>
          </a:p>
        </p:txBody>
      </p:sp>
    </p:spTree>
    <p:extLst>
      <p:ext uri="{BB962C8B-B14F-4D97-AF65-F5344CB8AC3E}">
        <p14:creationId xmlns:p14="http://schemas.microsoft.com/office/powerpoint/2010/main" val="955027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2542"/>
            <a:ext cx="10515600" cy="1325563"/>
          </a:xfrm>
        </p:spPr>
        <p:txBody>
          <a:bodyPr>
            <a:normAutofit/>
          </a:bodyPr>
          <a:lstStyle/>
          <a:p>
            <a:r>
              <a:rPr lang="en-AU" sz="6000" b="1" dirty="0" smtClean="0"/>
              <a:t>Resistant Tuberculosis </a:t>
            </a:r>
            <a:endParaRPr lang="en-AU" sz="6000" b="1" dirty="0"/>
          </a:p>
        </p:txBody>
      </p:sp>
      <p:sp>
        <p:nvSpPr>
          <p:cNvPr id="3" name="Content Placeholder 2"/>
          <p:cNvSpPr>
            <a:spLocks noGrp="1"/>
          </p:cNvSpPr>
          <p:nvPr>
            <p:ph idx="1"/>
          </p:nvPr>
        </p:nvSpPr>
        <p:spPr/>
        <p:txBody>
          <a:bodyPr>
            <a:normAutofit lnSpcReduction="10000"/>
          </a:bodyPr>
          <a:lstStyle/>
          <a:p>
            <a:r>
              <a:rPr lang="en-AU" dirty="0"/>
              <a:t>Many tuberculosis strains resist the drugs most used to treat the disease. </a:t>
            </a:r>
            <a:endParaRPr lang="en-AU" dirty="0" smtClean="0"/>
          </a:p>
          <a:p>
            <a:endParaRPr lang="en-AU" dirty="0"/>
          </a:p>
          <a:p>
            <a:r>
              <a:rPr lang="en-AU" dirty="0" smtClean="0"/>
              <a:t>People </a:t>
            </a:r>
            <a:r>
              <a:rPr lang="en-AU" dirty="0"/>
              <a:t>with active tuberculosis must take many types of medications for months to get rid of the infection and prevent antibiotic resistance</a:t>
            </a:r>
            <a:r>
              <a:rPr lang="en-AU" dirty="0" smtClean="0"/>
              <a:t>.</a:t>
            </a:r>
          </a:p>
          <a:p>
            <a:endParaRPr lang="en-AU" dirty="0"/>
          </a:p>
          <a:p>
            <a:r>
              <a:rPr lang="en-AU" dirty="0"/>
              <a:t>Multidrug-resistant </a:t>
            </a:r>
            <a:r>
              <a:rPr lang="en-AU" dirty="0" smtClean="0"/>
              <a:t>Tuberculosis remains </a:t>
            </a:r>
            <a:r>
              <a:rPr lang="en-AU" dirty="0"/>
              <a:t>a public health crisis and a health security threat. Only about one in three people with drug resistant </a:t>
            </a:r>
            <a:r>
              <a:rPr lang="en-AU" dirty="0" smtClean="0"/>
              <a:t>Tuberculosis </a:t>
            </a:r>
            <a:r>
              <a:rPr lang="en-AU" dirty="0"/>
              <a:t>accessed treatment in 2020.</a:t>
            </a:r>
          </a:p>
          <a:p>
            <a:endParaRPr lang="en-AU" dirty="0"/>
          </a:p>
        </p:txBody>
      </p:sp>
    </p:spTree>
    <p:extLst>
      <p:ext uri="{BB962C8B-B14F-4D97-AF65-F5344CB8AC3E}">
        <p14:creationId xmlns:p14="http://schemas.microsoft.com/office/powerpoint/2010/main" val="25990020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Tuberculosis going forward </a:t>
            </a:r>
            <a:endParaRPr lang="en-AU" sz="6000" b="1" dirty="0"/>
          </a:p>
        </p:txBody>
      </p:sp>
      <p:sp>
        <p:nvSpPr>
          <p:cNvPr id="3" name="Content Placeholder 2"/>
          <p:cNvSpPr>
            <a:spLocks noGrp="1"/>
          </p:cNvSpPr>
          <p:nvPr>
            <p:ph idx="1"/>
          </p:nvPr>
        </p:nvSpPr>
        <p:spPr/>
        <p:txBody>
          <a:bodyPr>
            <a:normAutofit/>
          </a:bodyPr>
          <a:lstStyle/>
          <a:p>
            <a:r>
              <a:rPr lang="en-AU" sz="3200" dirty="0"/>
              <a:t>Globally, </a:t>
            </a:r>
            <a:r>
              <a:rPr lang="en-AU" sz="3200" dirty="0" smtClean="0"/>
              <a:t>Tuberculosis </a:t>
            </a:r>
            <a:r>
              <a:rPr lang="en-AU" sz="3200" dirty="0"/>
              <a:t>incidence is falling at about 2% per year and between 2015 and 2020 the cumulative reduction was 11%. </a:t>
            </a:r>
            <a:endParaRPr lang="en-AU" sz="3200" dirty="0" smtClean="0"/>
          </a:p>
          <a:p>
            <a:endParaRPr lang="en-AU" sz="3200" dirty="0"/>
          </a:p>
          <a:p>
            <a:r>
              <a:rPr lang="en-AU" sz="3200" dirty="0" smtClean="0"/>
              <a:t>This </a:t>
            </a:r>
            <a:r>
              <a:rPr lang="en-AU" sz="3200" dirty="0"/>
              <a:t>was over half way to the End </a:t>
            </a:r>
            <a:r>
              <a:rPr lang="en-AU" sz="3200" dirty="0" smtClean="0"/>
              <a:t>Tuberculosis </a:t>
            </a:r>
            <a:r>
              <a:rPr lang="en-AU" sz="3200" dirty="0"/>
              <a:t>Strategy milestone of 20% reduction between 2015 and 2020.</a:t>
            </a:r>
          </a:p>
        </p:txBody>
      </p:sp>
    </p:spTree>
    <p:extLst>
      <p:ext uri="{BB962C8B-B14F-4D97-AF65-F5344CB8AC3E}">
        <p14:creationId xmlns:p14="http://schemas.microsoft.com/office/powerpoint/2010/main" val="33186179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Other bacterial diseases of note</a:t>
            </a:r>
            <a:endParaRPr lang="en-AU" sz="6000" b="1" dirty="0"/>
          </a:p>
        </p:txBody>
      </p:sp>
      <p:sp>
        <p:nvSpPr>
          <p:cNvPr id="3" name="Content Placeholder 2"/>
          <p:cNvSpPr>
            <a:spLocks noGrp="1"/>
          </p:cNvSpPr>
          <p:nvPr>
            <p:ph idx="1"/>
          </p:nvPr>
        </p:nvSpPr>
        <p:spPr/>
        <p:txBody>
          <a:bodyPr>
            <a:normAutofit/>
          </a:bodyPr>
          <a:lstStyle/>
          <a:p>
            <a:r>
              <a:rPr lang="en-AU" dirty="0" smtClean="0"/>
              <a:t>Anthrax</a:t>
            </a:r>
            <a:endParaRPr lang="en-AU" dirty="0"/>
          </a:p>
          <a:p>
            <a:r>
              <a:rPr lang="en-AU" dirty="0"/>
              <a:t>Tetanus</a:t>
            </a:r>
          </a:p>
          <a:p>
            <a:r>
              <a:rPr lang="en-AU" dirty="0" smtClean="0"/>
              <a:t>Pneumonia</a:t>
            </a:r>
            <a:endParaRPr lang="en-AU" dirty="0"/>
          </a:p>
          <a:p>
            <a:r>
              <a:rPr lang="en-AU" dirty="0"/>
              <a:t>Cholera</a:t>
            </a:r>
          </a:p>
          <a:p>
            <a:r>
              <a:rPr lang="en-AU" dirty="0"/>
              <a:t>Botulism</a:t>
            </a:r>
          </a:p>
          <a:p>
            <a:r>
              <a:rPr lang="en-AU" dirty="0"/>
              <a:t>Pseudomonas Infection</a:t>
            </a:r>
          </a:p>
          <a:p>
            <a:r>
              <a:rPr lang="en-AU" dirty="0" smtClean="0"/>
              <a:t>Meningitis</a:t>
            </a:r>
            <a:endParaRPr lang="en-AU" dirty="0"/>
          </a:p>
          <a:p>
            <a:r>
              <a:rPr lang="en-AU" dirty="0" smtClean="0"/>
              <a:t>Bubonic Plague</a:t>
            </a:r>
            <a:endParaRPr lang="en-AU" dirty="0"/>
          </a:p>
        </p:txBody>
      </p:sp>
    </p:spTree>
    <p:extLst>
      <p:ext uri="{BB962C8B-B14F-4D97-AF65-F5344CB8AC3E}">
        <p14:creationId xmlns:p14="http://schemas.microsoft.com/office/powerpoint/2010/main" val="4027938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Anthrax </a:t>
            </a:r>
            <a:endParaRPr lang="en-AU" sz="6000" b="1" dirty="0"/>
          </a:p>
        </p:txBody>
      </p:sp>
      <p:sp>
        <p:nvSpPr>
          <p:cNvPr id="3" name="Content Placeholder 2"/>
          <p:cNvSpPr>
            <a:spLocks noGrp="1"/>
          </p:cNvSpPr>
          <p:nvPr>
            <p:ph idx="1"/>
          </p:nvPr>
        </p:nvSpPr>
        <p:spPr/>
        <p:txBody>
          <a:bodyPr/>
          <a:lstStyle/>
          <a:p>
            <a:r>
              <a:rPr lang="en-AU" dirty="0"/>
              <a:t>Anthrax is a serious infectious disease caused by gram-positive, rod-shaped bacteria known </a:t>
            </a:r>
            <a:r>
              <a:rPr lang="en-AU" dirty="0" smtClean="0"/>
              <a:t>as </a:t>
            </a:r>
            <a:r>
              <a:rPr lang="en-AU" i="1" dirty="0" smtClean="0"/>
              <a:t>Bacillus </a:t>
            </a:r>
            <a:r>
              <a:rPr lang="en-AU" i="1" dirty="0" err="1" smtClean="0"/>
              <a:t>anthracis</a:t>
            </a:r>
            <a:r>
              <a:rPr lang="en-AU" dirty="0" smtClean="0"/>
              <a:t>. </a:t>
            </a:r>
            <a:r>
              <a:rPr lang="en-AU" dirty="0"/>
              <a:t>It occurs naturally in soil and commonly affects domestic and wild animals around the world. </a:t>
            </a:r>
            <a:endParaRPr lang="en-AU" dirty="0" smtClean="0"/>
          </a:p>
          <a:p>
            <a:endParaRPr lang="en-AU" dirty="0"/>
          </a:p>
          <a:p>
            <a:r>
              <a:rPr lang="en-AU" dirty="0" smtClean="0"/>
              <a:t>People </a:t>
            </a:r>
            <a:r>
              <a:rPr lang="en-AU" dirty="0"/>
              <a:t>can get sick with anthrax if they come in contact with infected animals or contaminated animal products</a:t>
            </a:r>
            <a:r>
              <a:rPr lang="en-AU" dirty="0" smtClean="0"/>
              <a:t>. It is not contagious. </a:t>
            </a:r>
          </a:p>
          <a:p>
            <a:endParaRPr lang="en-AU" dirty="0"/>
          </a:p>
          <a:p>
            <a:r>
              <a:rPr lang="en-AU" dirty="0" smtClean="0"/>
              <a:t>Thousands of animals get sick and die each year. Anthrax is very rare in people, with only a few dozen cases reported yearly (average) </a:t>
            </a:r>
            <a:endParaRPr lang="en-AU" dirty="0"/>
          </a:p>
        </p:txBody>
      </p:sp>
    </p:spTree>
    <p:extLst>
      <p:ext uri="{BB962C8B-B14F-4D97-AF65-F5344CB8AC3E}">
        <p14:creationId xmlns:p14="http://schemas.microsoft.com/office/powerpoint/2010/main" val="23152736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91058" y="677772"/>
            <a:ext cx="4156075" cy="3328171"/>
          </a:xfrm>
          <a:prstGeom prst="rect">
            <a:avLst/>
          </a:prstGeom>
        </p:spPr>
      </p:pic>
      <p:pic>
        <p:nvPicPr>
          <p:cNvPr id="3" name="Picture 2"/>
          <p:cNvPicPr>
            <a:picLocks noChangeAspect="1"/>
          </p:cNvPicPr>
          <p:nvPr/>
        </p:nvPicPr>
        <p:blipFill rotWithShape="1">
          <a:blip r:embed="rId3"/>
          <a:srcRect b="7469"/>
          <a:stretch/>
        </p:blipFill>
        <p:spPr>
          <a:xfrm>
            <a:off x="5625737" y="2717860"/>
            <a:ext cx="5526949" cy="3099466"/>
          </a:xfrm>
          <a:prstGeom prst="rect">
            <a:avLst/>
          </a:prstGeom>
        </p:spPr>
      </p:pic>
    </p:spTree>
    <p:extLst>
      <p:ext uri="{BB962C8B-B14F-4D97-AF65-F5344CB8AC3E}">
        <p14:creationId xmlns:p14="http://schemas.microsoft.com/office/powerpoint/2010/main" val="2119902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Tetanus </a:t>
            </a:r>
            <a:endParaRPr lang="en-AU" sz="6000" b="1" dirty="0"/>
          </a:p>
        </p:txBody>
      </p:sp>
      <p:sp>
        <p:nvSpPr>
          <p:cNvPr id="3" name="Content Placeholder 2"/>
          <p:cNvSpPr>
            <a:spLocks noGrp="1"/>
          </p:cNvSpPr>
          <p:nvPr>
            <p:ph idx="1"/>
          </p:nvPr>
        </p:nvSpPr>
        <p:spPr>
          <a:xfrm>
            <a:off x="272143" y="1407613"/>
            <a:ext cx="11719560" cy="5341529"/>
          </a:xfrm>
        </p:spPr>
        <p:txBody>
          <a:bodyPr>
            <a:normAutofit/>
          </a:bodyPr>
          <a:lstStyle/>
          <a:p>
            <a:r>
              <a:rPr lang="en-AU" sz="3200" dirty="0"/>
              <a:t>Tetanus is acquired through infection of a cut or wound with the spores of the bacterium </a:t>
            </a:r>
            <a:r>
              <a:rPr lang="en-AU" sz="3200" i="1" dirty="0"/>
              <a:t>Clostridium tetani</a:t>
            </a:r>
            <a:r>
              <a:rPr lang="en-AU" sz="3200" dirty="0"/>
              <a:t>, and most cases occur within 14 days of infection. Tetanus cannot be transmitted from person to person</a:t>
            </a:r>
            <a:r>
              <a:rPr lang="en-AU" sz="3200" dirty="0" smtClean="0"/>
              <a:t>.</a:t>
            </a:r>
          </a:p>
          <a:p>
            <a:endParaRPr lang="en-AU" sz="3200" dirty="0"/>
          </a:p>
          <a:p>
            <a:r>
              <a:rPr lang="en-AU" sz="3200" dirty="0"/>
              <a:t>Tetanus can be prevented through </a:t>
            </a:r>
            <a:r>
              <a:rPr lang="en-AU" sz="3200" dirty="0" smtClean="0"/>
              <a:t>immunisation</a:t>
            </a:r>
          </a:p>
          <a:p>
            <a:endParaRPr lang="en-AU" sz="3200" dirty="0"/>
          </a:p>
          <a:p>
            <a:r>
              <a:rPr lang="en-AU" sz="3200" dirty="0"/>
              <a:t>Anyone can get tetanus, but the disease is particularly common and serious in newborn babies and pregnant women who have not been sufficiently immunized with tetanus-toxoid-containing vaccines.</a:t>
            </a:r>
          </a:p>
        </p:txBody>
      </p:sp>
    </p:spTree>
    <p:extLst>
      <p:ext uri="{BB962C8B-B14F-4D97-AF65-F5344CB8AC3E}">
        <p14:creationId xmlns:p14="http://schemas.microsoft.com/office/powerpoint/2010/main" val="1886845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074" y="0"/>
            <a:ext cx="10515600" cy="1325563"/>
          </a:xfrm>
        </p:spPr>
        <p:txBody>
          <a:bodyPr>
            <a:normAutofit/>
          </a:bodyPr>
          <a:lstStyle/>
          <a:p>
            <a:r>
              <a:rPr lang="en-AU" sz="6000" b="1" dirty="0" smtClean="0"/>
              <a:t>Tetanus continued. </a:t>
            </a:r>
            <a:endParaRPr lang="en-AU" sz="6000" b="1" dirty="0"/>
          </a:p>
        </p:txBody>
      </p:sp>
      <p:sp>
        <p:nvSpPr>
          <p:cNvPr id="3" name="Content Placeholder 2"/>
          <p:cNvSpPr>
            <a:spLocks noGrp="1"/>
          </p:cNvSpPr>
          <p:nvPr>
            <p:ph idx="1"/>
          </p:nvPr>
        </p:nvSpPr>
        <p:spPr>
          <a:xfrm>
            <a:off x="315686" y="1325563"/>
            <a:ext cx="11876314" cy="5289278"/>
          </a:xfrm>
        </p:spPr>
        <p:txBody>
          <a:bodyPr>
            <a:noAutofit/>
          </a:bodyPr>
          <a:lstStyle/>
          <a:p>
            <a:pPr marL="0" indent="0">
              <a:buNone/>
            </a:pPr>
            <a:r>
              <a:rPr lang="en-AU" sz="3200" dirty="0"/>
              <a:t>Symptoms can include</a:t>
            </a:r>
            <a:r>
              <a:rPr lang="en-AU" sz="3200" dirty="0" smtClean="0"/>
              <a:t>:</a:t>
            </a:r>
            <a:endParaRPr lang="en-AU" sz="3200" dirty="0"/>
          </a:p>
          <a:p>
            <a:r>
              <a:rPr lang="en-AU" sz="3200" dirty="0"/>
              <a:t>jaw cramping or the inability to open the mouth</a:t>
            </a:r>
          </a:p>
          <a:p>
            <a:r>
              <a:rPr lang="en-AU" sz="3200" dirty="0"/>
              <a:t>muscle spasms often in the back, abdomen and extremities</a:t>
            </a:r>
          </a:p>
          <a:p>
            <a:r>
              <a:rPr lang="en-AU" sz="3200" dirty="0" smtClean="0"/>
              <a:t>Seizures and headache</a:t>
            </a:r>
            <a:endParaRPr lang="en-AU" sz="3200" dirty="0"/>
          </a:p>
          <a:p>
            <a:r>
              <a:rPr lang="en-AU" sz="3200" dirty="0"/>
              <a:t>fever and sweating</a:t>
            </a:r>
          </a:p>
          <a:p>
            <a:r>
              <a:rPr lang="en-AU" sz="3200" dirty="0"/>
              <a:t>changes in blood pressure or fast heart rate</a:t>
            </a:r>
            <a:r>
              <a:rPr lang="en-AU" sz="3200" dirty="0" smtClean="0"/>
              <a:t>.</a:t>
            </a:r>
          </a:p>
          <a:p>
            <a:endParaRPr lang="en-AU" sz="3200" dirty="0"/>
          </a:p>
          <a:p>
            <a:r>
              <a:rPr lang="en-AU" sz="3200" dirty="0"/>
              <a:t>Globally 38,000 people died from tetanus in 2017. Around half (49%) were younger than five years old.</a:t>
            </a:r>
          </a:p>
        </p:txBody>
      </p:sp>
    </p:spTree>
    <p:extLst>
      <p:ext uri="{BB962C8B-B14F-4D97-AF65-F5344CB8AC3E}">
        <p14:creationId xmlns:p14="http://schemas.microsoft.com/office/powerpoint/2010/main" val="14199731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3454"/>
          <a:stretch/>
        </p:blipFill>
        <p:spPr>
          <a:xfrm>
            <a:off x="1027612" y="815748"/>
            <a:ext cx="4929051" cy="3397426"/>
          </a:xfrm>
          <a:prstGeom prst="rect">
            <a:avLst/>
          </a:prstGeom>
        </p:spPr>
      </p:pic>
      <p:pic>
        <p:nvPicPr>
          <p:cNvPr id="3" name="Picture 2"/>
          <p:cNvPicPr>
            <a:picLocks noChangeAspect="1"/>
          </p:cNvPicPr>
          <p:nvPr/>
        </p:nvPicPr>
        <p:blipFill>
          <a:blip r:embed="rId3"/>
          <a:stretch>
            <a:fillRect/>
          </a:stretch>
        </p:blipFill>
        <p:spPr>
          <a:xfrm>
            <a:off x="6585155" y="2514461"/>
            <a:ext cx="4226946" cy="3223663"/>
          </a:xfrm>
          <a:prstGeom prst="rect">
            <a:avLst/>
          </a:prstGeom>
        </p:spPr>
      </p:pic>
    </p:spTree>
    <p:extLst>
      <p:ext uri="{BB962C8B-B14F-4D97-AF65-F5344CB8AC3E}">
        <p14:creationId xmlns:p14="http://schemas.microsoft.com/office/powerpoint/2010/main" val="671893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Pneumonia </a:t>
            </a:r>
            <a:endParaRPr lang="en-AU" sz="6000" b="1" dirty="0"/>
          </a:p>
        </p:txBody>
      </p:sp>
      <p:sp>
        <p:nvSpPr>
          <p:cNvPr id="3" name="Content Placeholder 2"/>
          <p:cNvSpPr>
            <a:spLocks noGrp="1"/>
          </p:cNvSpPr>
          <p:nvPr>
            <p:ph idx="1"/>
          </p:nvPr>
        </p:nvSpPr>
        <p:spPr>
          <a:xfrm>
            <a:off x="367936" y="1494698"/>
            <a:ext cx="11545389" cy="5123815"/>
          </a:xfrm>
        </p:spPr>
        <p:txBody>
          <a:bodyPr>
            <a:normAutofit/>
          </a:bodyPr>
          <a:lstStyle/>
          <a:p>
            <a:r>
              <a:rPr lang="en-AU" sz="3200" dirty="0" smtClean="0"/>
              <a:t>Pneumonia </a:t>
            </a:r>
            <a:r>
              <a:rPr lang="en-AU" sz="3200" dirty="0"/>
              <a:t>is a form of acute respiratory infection that affects the </a:t>
            </a:r>
            <a:r>
              <a:rPr lang="en-AU" sz="3200" dirty="0" smtClean="0"/>
              <a:t>lungs. Pneumonia </a:t>
            </a:r>
            <a:r>
              <a:rPr lang="en-AU" sz="3200" dirty="0"/>
              <a:t>can be caused by viruses, bacteria, or fungi</a:t>
            </a:r>
            <a:r>
              <a:rPr lang="en-AU" sz="3200" dirty="0" smtClean="0"/>
              <a:t>.</a:t>
            </a:r>
          </a:p>
          <a:p>
            <a:endParaRPr lang="en-AU" sz="3200" dirty="0"/>
          </a:p>
          <a:p>
            <a:r>
              <a:rPr lang="en-AU" sz="3200" dirty="0"/>
              <a:t>Pneumonia can be prevented by </a:t>
            </a:r>
            <a:r>
              <a:rPr lang="en-AU" sz="3200" dirty="0" smtClean="0"/>
              <a:t>immunisation</a:t>
            </a:r>
            <a:r>
              <a:rPr lang="en-AU" sz="3200" dirty="0"/>
              <a:t>, adequate nutrition, and by addressing environmental factors</a:t>
            </a:r>
            <a:r>
              <a:rPr lang="en-AU" sz="3200" dirty="0" smtClean="0"/>
              <a:t>.</a:t>
            </a:r>
          </a:p>
          <a:p>
            <a:endParaRPr lang="en-AU" sz="3200" dirty="0"/>
          </a:p>
          <a:p>
            <a:r>
              <a:rPr lang="en-AU" sz="3200" dirty="0" smtClean="0"/>
              <a:t>Pneumonia </a:t>
            </a:r>
            <a:r>
              <a:rPr lang="en-AU" sz="3200" dirty="0"/>
              <a:t>caused by bacteria can be treated with antibiotics, but only one third of children with pneumonia receive the antibiotics they need</a:t>
            </a:r>
            <a:r>
              <a:rPr lang="en-AU" sz="3200" dirty="0" smtClean="0"/>
              <a:t>. It </a:t>
            </a:r>
            <a:r>
              <a:rPr lang="en-AU" sz="3200" dirty="0"/>
              <a:t>accounts for 14% of all deaths of children under 5 years old, killing 740 180 children in 2019</a:t>
            </a:r>
          </a:p>
          <a:p>
            <a:endParaRPr lang="en-AU" dirty="0"/>
          </a:p>
        </p:txBody>
      </p:sp>
    </p:spTree>
    <p:extLst>
      <p:ext uri="{BB962C8B-B14F-4D97-AF65-F5344CB8AC3E}">
        <p14:creationId xmlns:p14="http://schemas.microsoft.com/office/powerpoint/2010/main" val="40866079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36752" y="293915"/>
            <a:ext cx="9312392" cy="6298474"/>
          </a:xfrm>
          <a:prstGeom prst="rect">
            <a:avLst/>
          </a:prstGeom>
        </p:spPr>
      </p:pic>
    </p:spTree>
    <p:extLst>
      <p:ext uri="{BB962C8B-B14F-4D97-AF65-F5344CB8AC3E}">
        <p14:creationId xmlns:p14="http://schemas.microsoft.com/office/powerpoint/2010/main" val="23409414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Cholera </a:t>
            </a:r>
            <a:endParaRPr lang="en-AU" sz="6000" b="1" dirty="0"/>
          </a:p>
        </p:txBody>
      </p:sp>
      <p:sp>
        <p:nvSpPr>
          <p:cNvPr id="3" name="Content Placeholder 2"/>
          <p:cNvSpPr>
            <a:spLocks noGrp="1"/>
          </p:cNvSpPr>
          <p:nvPr>
            <p:ph idx="1"/>
          </p:nvPr>
        </p:nvSpPr>
        <p:spPr>
          <a:xfrm>
            <a:off x="254724" y="1581784"/>
            <a:ext cx="11597641" cy="5028021"/>
          </a:xfrm>
        </p:spPr>
        <p:txBody>
          <a:bodyPr>
            <a:normAutofit/>
          </a:bodyPr>
          <a:lstStyle/>
          <a:p>
            <a:r>
              <a:rPr lang="en-AU" dirty="0"/>
              <a:t>Most of those infected will have no or mild symptoms and can be successfully treated with oral rehydration solution</a:t>
            </a:r>
            <a:r>
              <a:rPr lang="en-AU" dirty="0" smtClean="0"/>
              <a:t>.</a:t>
            </a:r>
          </a:p>
          <a:p>
            <a:endParaRPr lang="en-AU" dirty="0"/>
          </a:p>
          <a:p>
            <a:r>
              <a:rPr lang="en-AU" dirty="0" smtClean="0"/>
              <a:t>Cholera </a:t>
            </a:r>
            <a:r>
              <a:rPr lang="en-AU" dirty="0"/>
              <a:t>is an acute diarrhoeal </a:t>
            </a:r>
            <a:r>
              <a:rPr lang="en-AU" dirty="0" smtClean="0"/>
              <a:t>disease </a:t>
            </a:r>
            <a:r>
              <a:rPr lang="en-AU" dirty="0"/>
              <a:t>caused by ingestion of food or water contaminated with the bacterium </a:t>
            </a:r>
            <a:r>
              <a:rPr lang="en-AU" i="1" dirty="0"/>
              <a:t>Vibrio </a:t>
            </a:r>
            <a:r>
              <a:rPr lang="en-AU" i="1" dirty="0" smtClean="0"/>
              <a:t>cholera</a:t>
            </a:r>
            <a:r>
              <a:rPr lang="en-AU" dirty="0" smtClean="0"/>
              <a:t>. It </a:t>
            </a:r>
            <a:r>
              <a:rPr lang="en-AU" dirty="0"/>
              <a:t>can kill within hours if left untreated</a:t>
            </a:r>
            <a:r>
              <a:rPr lang="en-AU" dirty="0" smtClean="0"/>
              <a:t>.</a:t>
            </a:r>
            <a:r>
              <a:rPr lang="en-AU" dirty="0"/>
              <a:t> Severe cases will need rapid treatment with intravenous fluids and antibiotics.</a:t>
            </a:r>
          </a:p>
          <a:p>
            <a:endParaRPr lang="en-AU" dirty="0"/>
          </a:p>
          <a:p>
            <a:r>
              <a:rPr lang="en-AU" dirty="0"/>
              <a:t>Provision of safe water and sanitation is critical to prevent and control the transmission of </a:t>
            </a:r>
            <a:r>
              <a:rPr lang="en-AU" dirty="0" smtClean="0"/>
              <a:t>Cholera. </a:t>
            </a:r>
            <a:endParaRPr lang="en-AU" dirty="0"/>
          </a:p>
        </p:txBody>
      </p:sp>
    </p:spTree>
    <p:extLst>
      <p:ext uri="{BB962C8B-B14F-4D97-AF65-F5344CB8AC3E}">
        <p14:creationId xmlns:p14="http://schemas.microsoft.com/office/powerpoint/2010/main" val="740855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Cholera </a:t>
            </a:r>
            <a:endParaRPr lang="en-AU" sz="6000" b="1" dirty="0"/>
          </a:p>
        </p:txBody>
      </p:sp>
      <p:sp>
        <p:nvSpPr>
          <p:cNvPr id="3" name="Content Placeholder 2"/>
          <p:cNvSpPr>
            <a:spLocks noGrp="1"/>
          </p:cNvSpPr>
          <p:nvPr>
            <p:ph idx="1"/>
          </p:nvPr>
        </p:nvSpPr>
        <p:spPr>
          <a:xfrm>
            <a:off x="515983" y="1472973"/>
            <a:ext cx="11318966" cy="4997495"/>
          </a:xfrm>
        </p:spPr>
        <p:txBody>
          <a:bodyPr>
            <a:normAutofit lnSpcReduction="10000"/>
          </a:bodyPr>
          <a:lstStyle/>
          <a:p>
            <a:r>
              <a:rPr lang="en-AU" sz="3200" dirty="0" smtClean="0"/>
              <a:t>Researchers </a:t>
            </a:r>
            <a:r>
              <a:rPr lang="en-AU" sz="3200" dirty="0"/>
              <a:t>have estimated that each year </a:t>
            </a:r>
            <a:r>
              <a:rPr lang="en-AU" sz="3200" dirty="0" smtClean="0"/>
              <a:t>there </a:t>
            </a:r>
            <a:r>
              <a:rPr lang="en-AU" sz="3200" dirty="0"/>
              <a:t>are 1.3 to </a:t>
            </a:r>
            <a:r>
              <a:rPr lang="en-AU" sz="3200" dirty="0" smtClean="0"/>
              <a:t>4 </a:t>
            </a:r>
            <a:r>
              <a:rPr lang="en-AU" sz="3200" dirty="0"/>
              <a:t>million cases of </a:t>
            </a:r>
            <a:r>
              <a:rPr lang="en-AU" sz="3200" dirty="0" smtClean="0"/>
              <a:t>Cholera</a:t>
            </a:r>
            <a:r>
              <a:rPr lang="en-AU" sz="3200" dirty="0"/>
              <a:t>, and 21 000 to 143 000 deaths worldwide due to </a:t>
            </a:r>
            <a:r>
              <a:rPr lang="en-AU" sz="3200" dirty="0" smtClean="0"/>
              <a:t>Cholera (2010-2016) </a:t>
            </a:r>
          </a:p>
          <a:p>
            <a:endParaRPr lang="en-AU" sz="3200" dirty="0" smtClean="0"/>
          </a:p>
          <a:p>
            <a:r>
              <a:rPr lang="en-AU" sz="3200" dirty="0"/>
              <a:t>Oral </a:t>
            </a:r>
            <a:r>
              <a:rPr lang="en-AU" sz="3200" dirty="0" smtClean="0"/>
              <a:t>Cholera </a:t>
            </a:r>
            <a:r>
              <a:rPr lang="en-AU" sz="3200" dirty="0"/>
              <a:t>vaccines should be used in conjunction with improvements in water and sanitation to control </a:t>
            </a:r>
            <a:r>
              <a:rPr lang="en-AU" sz="3200" dirty="0" smtClean="0"/>
              <a:t>Cholera </a:t>
            </a:r>
            <a:r>
              <a:rPr lang="en-AU" sz="3200" dirty="0"/>
              <a:t>outbreaks and for prevention in areas known to be high risk for </a:t>
            </a:r>
            <a:r>
              <a:rPr lang="en-AU" sz="3200" dirty="0" smtClean="0"/>
              <a:t>Cholera.</a:t>
            </a:r>
          </a:p>
          <a:p>
            <a:endParaRPr lang="en-AU" sz="3200" dirty="0" smtClean="0"/>
          </a:p>
          <a:p>
            <a:r>
              <a:rPr lang="en-AU" sz="3200" dirty="0"/>
              <a:t>Cholera remains a global threat to public health and an indicator of inequity and lack of social development.</a:t>
            </a:r>
          </a:p>
          <a:p>
            <a:endParaRPr lang="en-AU" dirty="0"/>
          </a:p>
          <a:p>
            <a:endParaRPr lang="en-AU" dirty="0"/>
          </a:p>
          <a:p>
            <a:endParaRPr lang="en-AU" dirty="0"/>
          </a:p>
        </p:txBody>
      </p:sp>
    </p:spTree>
    <p:extLst>
      <p:ext uri="{BB962C8B-B14F-4D97-AF65-F5344CB8AC3E}">
        <p14:creationId xmlns:p14="http://schemas.microsoft.com/office/powerpoint/2010/main" val="15278331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22602" y="117974"/>
            <a:ext cx="9776324" cy="6643141"/>
          </a:xfrm>
          <a:prstGeom prst="rect">
            <a:avLst/>
          </a:prstGeom>
        </p:spPr>
      </p:pic>
    </p:spTree>
    <p:extLst>
      <p:ext uri="{BB962C8B-B14F-4D97-AF65-F5344CB8AC3E}">
        <p14:creationId xmlns:p14="http://schemas.microsoft.com/office/powerpoint/2010/main" val="39505231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Botulism</a:t>
            </a:r>
            <a:endParaRPr lang="en-AU" sz="6000" b="1" dirty="0"/>
          </a:p>
        </p:txBody>
      </p:sp>
      <p:sp>
        <p:nvSpPr>
          <p:cNvPr id="3" name="Content Placeholder 2"/>
          <p:cNvSpPr>
            <a:spLocks noGrp="1"/>
          </p:cNvSpPr>
          <p:nvPr>
            <p:ph idx="1"/>
          </p:nvPr>
        </p:nvSpPr>
        <p:spPr>
          <a:xfrm>
            <a:off x="385353" y="1581784"/>
            <a:ext cx="11510555" cy="5062855"/>
          </a:xfrm>
        </p:spPr>
        <p:txBody>
          <a:bodyPr anchor="ctr">
            <a:normAutofit/>
          </a:bodyPr>
          <a:lstStyle/>
          <a:p>
            <a:r>
              <a:rPr lang="en-AU" sz="3200" i="1" dirty="0"/>
              <a:t>Clostridium botulinum </a:t>
            </a:r>
            <a:r>
              <a:rPr lang="en-AU" sz="3200" dirty="0"/>
              <a:t>is a bacterium that produces dangerous toxins (botulinum toxins) under low-oxygen conditions</a:t>
            </a:r>
            <a:r>
              <a:rPr lang="en-AU" sz="3200" dirty="0" smtClean="0"/>
              <a:t>.</a:t>
            </a:r>
          </a:p>
          <a:p>
            <a:endParaRPr lang="en-AU" sz="3200" dirty="0"/>
          </a:p>
          <a:p>
            <a:r>
              <a:rPr lang="en-AU" sz="3200" dirty="0"/>
              <a:t>Botulinum toxins are one of the most lethal substances known</a:t>
            </a:r>
            <a:r>
              <a:rPr lang="en-AU" sz="3200" dirty="0" smtClean="0"/>
              <a:t>.</a:t>
            </a:r>
          </a:p>
          <a:p>
            <a:endParaRPr lang="en-AU" sz="3200" dirty="0"/>
          </a:p>
          <a:p>
            <a:r>
              <a:rPr lang="en-AU" sz="3200" dirty="0"/>
              <a:t>Botulinum toxins block nerve functions and can lead to respiratory and muscular paralysis</a:t>
            </a:r>
            <a:r>
              <a:rPr lang="en-AU" sz="3200" dirty="0" smtClean="0"/>
              <a:t>.</a:t>
            </a:r>
            <a:endParaRPr lang="en-AU" sz="3200" dirty="0"/>
          </a:p>
        </p:txBody>
      </p:sp>
    </p:spTree>
    <p:extLst>
      <p:ext uri="{BB962C8B-B14F-4D97-AF65-F5344CB8AC3E}">
        <p14:creationId xmlns:p14="http://schemas.microsoft.com/office/powerpoint/2010/main" val="2134142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Botulism </a:t>
            </a:r>
            <a:endParaRPr lang="en-AU" sz="6000" b="1" dirty="0"/>
          </a:p>
        </p:txBody>
      </p:sp>
      <p:sp>
        <p:nvSpPr>
          <p:cNvPr id="3" name="Content Placeholder 2"/>
          <p:cNvSpPr>
            <a:spLocks noGrp="1"/>
          </p:cNvSpPr>
          <p:nvPr>
            <p:ph idx="1"/>
          </p:nvPr>
        </p:nvSpPr>
        <p:spPr>
          <a:xfrm>
            <a:off x="838200" y="1690688"/>
            <a:ext cx="10515600" cy="4945243"/>
          </a:xfrm>
        </p:spPr>
        <p:txBody>
          <a:bodyPr>
            <a:normAutofit/>
          </a:bodyPr>
          <a:lstStyle/>
          <a:p>
            <a:r>
              <a:rPr lang="en-AU" dirty="0"/>
              <a:t>Foodborne botulism, caused by consumption of improperly processed food, is a rare but potentially fatal disease if not diagnosed rapidly and treated with antitoxin</a:t>
            </a:r>
            <a:r>
              <a:rPr lang="en-AU" dirty="0" smtClean="0"/>
              <a:t>.</a:t>
            </a:r>
          </a:p>
          <a:p>
            <a:endParaRPr lang="en-AU" dirty="0"/>
          </a:p>
          <a:p>
            <a:r>
              <a:rPr lang="en-AU" dirty="0"/>
              <a:t>Homemade canned, preserved or fermented foodstuffs are a common source of foodborne botulism and their preparation requires extra caution.</a:t>
            </a:r>
          </a:p>
          <a:p>
            <a:endParaRPr lang="en-AU" dirty="0" smtClean="0"/>
          </a:p>
          <a:p>
            <a:r>
              <a:rPr lang="en-AU" dirty="0"/>
              <a:t>The bacterium </a:t>
            </a:r>
            <a:r>
              <a:rPr lang="en-AU" i="1" dirty="0"/>
              <a:t>C. botulinum</a:t>
            </a:r>
            <a:r>
              <a:rPr lang="en-AU" dirty="0"/>
              <a:t> is the same bacterium that is used to produce Botox, a pharmaceutical product predominantly injected for clinical and cosmetic use. </a:t>
            </a:r>
          </a:p>
        </p:txBody>
      </p:sp>
    </p:spTree>
    <p:extLst>
      <p:ext uri="{BB962C8B-B14F-4D97-AF65-F5344CB8AC3E}">
        <p14:creationId xmlns:p14="http://schemas.microsoft.com/office/powerpoint/2010/main" val="7768831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Botulism </a:t>
            </a:r>
            <a:endParaRPr lang="en-AU" sz="6000" b="1" dirty="0"/>
          </a:p>
        </p:txBody>
      </p:sp>
      <p:sp>
        <p:nvSpPr>
          <p:cNvPr id="3" name="Content Placeholder 2"/>
          <p:cNvSpPr>
            <a:spLocks noGrp="1"/>
          </p:cNvSpPr>
          <p:nvPr>
            <p:ph idx="1"/>
          </p:nvPr>
        </p:nvSpPr>
        <p:spPr/>
        <p:txBody>
          <a:bodyPr>
            <a:normAutofit/>
          </a:bodyPr>
          <a:lstStyle/>
          <a:p>
            <a:r>
              <a:rPr lang="en-AU" sz="3200" dirty="0" smtClean="0"/>
              <a:t>In 2017, there was 182 confirmed cases of Botulism, with 4 deaths in USA </a:t>
            </a:r>
          </a:p>
          <a:p>
            <a:endParaRPr lang="en-AU" sz="3200" dirty="0"/>
          </a:p>
          <a:p>
            <a:r>
              <a:rPr lang="en-AU" sz="3200" dirty="0"/>
              <a:t>Botulinum toxins pose a major threat as biological weapons because they are extremely potent and lethal; some of the toxins are relatively easy to produce and transport; and people with botulism require prolonged intensive hospital care.</a:t>
            </a:r>
          </a:p>
        </p:txBody>
      </p:sp>
    </p:spTree>
    <p:extLst>
      <p:ext uri="{BB962C8B-B14F-4D97-AF65-F5344CB8AC3E}">
        <p14:creationId xmlns:p14="http://schemas.microsoft.com/office/powerpoint/2010/main" val="18520029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47875" y="85725"/>
            <a:ext cx="8096250" cy="6686550"/>
          </a:xfrm>
          <a:prstGeom prst="rect">
            <a:avLst/>
          </a:prstGeom>
        </p:spPr>
      </p:pic>
    </p:spTree>
    <p:extLst>
      <p:ext uri="{BB962C8B-B14F-4D97-AF65-F5344CB8AC3E}">
        <p14:creationId xmlns:p14="http://schemas.microsoft.com/office/powerpoint/2010/main" val="34203839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Pseudomonas </a:t>
            </a:r>
            <a:r>
              <a:rPr lang="en-AU" sz="6000" b="1" dirty="0" smtClean="0"/>
              <a:t>Infection</a:t>
            </a:r>
            <a:endParaRPr lang="en-AU" sz="6000" b="1" dirty="0"/>
          </a:p>
        </p:txBody>
      </p:sp>
      <p:sp>
        <p:nvSpPr>
          <p:cNvPr id="3" name="Content Placeholder 2"/>
          <p:cNvSpPr>
            <a:spLocks noGrp="1"/>
          </p:cNvSpPr>
          <p:nvPr>
            <p:ph idx="1"/>
          </p:nvPr>
        </p:nvSpPr>
        <p:spPr/>
        <p:txBody>
          <a:bodyPr>
            <a:normAutofit/>
          </a:bodyPr>
          <a:lstStyle/>
          <a:p>
            <a:r>
              <a:rPr lang="en-AU" dirty="0"/>
              <a:t>Pseudomonas infections are </a:t>
            </a:r>
            <a:r>
              <a:rPr lang="en-AU" dirty="0" smtClean="0"/>
              <a:t>caused </a:t>
            </a:r>
            <a:r>
              <a:rPr lang="en-AU" dirty="0"/>
              <a:t>by a kind of bacteria called </a:t>
            </a:r>
            <a:r>
              <a:rPr lang="en-AU" i="1" dirty="0"/>
              <a:t>Pseudomonas</a:t>
            </a:r>
            <a:r>
              <a:rPr lang="en-AU" dirty="0"/>
              <a:t> that’s commonly found in soil, water, and plants. </a:t>
            </a:r>
            <a:r>
              <a:rPr lang="en-AU" dirty="0" smtClean="0"/>
              <a:t>Some </a:t>
            </a:r>
            <a:r>
              <a:rPr lang="en-AU" dirty="0"/>
              <a:t>healthy people even have strains of it growing on their skin in moist parts of their body, like their armpits or genital area.</a:t>
            </a:r>
          </a:p>
          <a:p>
            <a:endParaRPr lang="en-AU" dirty="0"/>
          </a:p>
          <a:p>
            <a:r>
              <a:rPr lang="en-AU" dirty="0"/>
              <a:t>If you’re in good health, you could come into contact with pseudomonas and not get </a:t>
            </a:r>
            <a:r>
              <a:rPr lang="en-AU" dirty="0" smtClean="0"/>
              <a:t>sick or only </a:t>
            </a:r>
            <a:r>
              <a:rPr lang="en-AU" dirty="0"/>
              <a:t>get a mild skin </a:t>
            </a:r>
            <a:r>
              <a:rPr lang="en-AU" dirty="0" smtClean="0"/>
              <a:t>rash, </a:t>
            </a:r>
            <a:r>
              <a:rPr lang="en-AU" dirty="0"/>
              <a:t>ear or eye infection. But if you’re sick or your immune </a:t>
            </a:r>
            <a:r>
              <a:rPr lang="en-AU" dirty="0" smtClean="0"/>
              <a:t>compromised, </a:t>
            </a:r>
            <a:r>
              <a:rPr lang="en-AU" i="1" dirty="0" smtClean="0"/>
              <a:t>Pseudomonas</a:t>
            </a:r>
            <a:r>
              <a:rPr lang="en-AU" dirty="0" smtClean="0"/>
              <a:t> </a:t>
            </a:r>
            <a:r>
              <a:rPr lang="en-AU" dirty="0"/>
              <a:t>can cause a severe </a:t>
            </a:r>
            <a:r>
              <a:rPr lang="en-AU" dirty="0" smtClean="0"/>
              <a:t>infection that may be life threatening. </a:t>
            </a:r>
            <a:endParaRPr lang="en-AU" dirty="0"/>
          </a:p>
        </p:txBody>
      </p:sp>
    </p:spTree>
    <p:extLst>
      <p:ext uri="{BB962C8B-B14F-4D97-AF65-F5344CB8AC3E}">
        <p14:creationId xmlns:p14="http://schemas.microsoft.com/office/powerpoint/2010/main" val="6705276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Pseudomonas Infection</a:t>
            </a:r>
            <a:endParaRPr lang="en-AU" sz="6000" dirty="0"/>
          </a:p>
        </p:txBody>
      </p:sp>
      <p:sp>
        <p:nvSpPr>
          <p:cNvPr id="3" name="Content Placeholder 2"/>
          <p:cNvSpPr>
            <a:spLocks noGrp="1"/>
          </p:cNvSpPr>
          <p:nvPr>
            <p:ph idx="1"/>
          </p:nvPr>
        </p:nvSpPr>
        <p:spPr/>
        <p:txBody>
          <a:bodyPr>
            <a:normAutofit/>
          </a:bodyPr>
          <a:lstStyle/>
          <a:p>
            <a:r>
              <a:rPr lang="en-AU" sz="3200" dirty="0"/>
              <a:t>You can get </a:t>
            </a:r>
            <a:r>
              <a:rPr lang="en-AU" sz="3200" i="1" dirty="0" smtClean="0"/>
              <a:t>Pseudomonas</a:t>
            </a:r>
            <a:r>
              <a:rPr lang="en-AU" sz="3200" dirty="0" smtClean="0"/>
              <a:t> from contaminated fruits </a:t>
            </a:r>
            <a:r>
              <a:rPr lang="en-AU" sz="3200" dirty="0"/>
              <a:t>and vegetables, </a:t>
            </a:r>
            <a:r>
              <a:rPr lang="en-AU" sz="3200" dirty="0" smtClean="0"/>
              <a:t>and moist </a:t>
            </a:r>
            <a:r>
              <a:rPr lang="en-AU" sz="3200" dirty="0"/>
              <a:t>areas like pools, hot tubs, bathrooms, kitchens, and sinks.</a:t>
            </a:r>
          </a:p>
          <a:p>
            <a:endParaRPr lang="en-AU" sz="3200" dirty="0"/>
          </a:p>
          <a:p>
            <a:r>
              <a:rPr lang="en-AU" sz="3200" dirty="0"/>
              <a:t>The most severe infections occur in hospitals. </a:t>
            </a:r>
            <a:r>
              <a:rPr lang="en-AU" sz="3200" i="1" dirty="0"/>
              <a:t>Pseudomonas</a:t>
            </a:r>
            <a:r>
              <a:rPr lang="en-AU" sz="3200" dirty="0"/>
              <a:t> can easily grow in humidifiers and types of medical equipment -- catheters, for instance -- that aren’t properly cleaned. </a:t>
            </a:r>
          </a:p>
        </p:txBody>
      </p:sp>
    </p:spTree>
    <p:extLst>
      <p:ext uri="{BB962C8B-B14F-4D97-AF65-F5344CB8AC3E}">
        <p14:creationId xmlns:p14="http://schemas.microsoft.com/office/powerpoint/2010/main" val="25198398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Pseudomonas Infection </a:t>
            </a:r>
            <a:endParaRPr lang="en-AU" sz="6000" b="1" dirty="0"/>
          </a:p>
        </p:txBody>
      </p:sp>
      <p:sp>
        <p:nvSpPr>
          <p:cNvPr id="3" name="Content Placeholder 2"/>
          <p:cNvSpPr>
            <a:spLocks noGrp="1"/>
          </p:cNvSpPr>
          <p:nvPr>
            <p:ph idx="1"/>
          </p:nvPr>
        </p:nvSpPr>
        <p:spPr/>
        <p:txBody>
          <a:bodyPr anchor="ctr">
            <a:normAutofit/>
          </a:bodyPr>
          <a:lstStyle/>
          <a:p>
            <a:r>
              <a:rPr lang="en-AU" sz="3200" dirty="0"/>
              <a:t>In 2017, multidrug-resistant </a:t>
            </a:r>
            <a:r>
              <a:rPr lang="en-AU" sz="3200" i="1" dirty="0"/>
              <a:t>Pseudomonas aeruginosa </a:t>
            </a:r>
            <a:r>
              <a:rPr lang="en-AU" sz="3200" dirty="0"/>
              <a:t>caused an estimated 32,600 infections among </a:t>
            </a:r>
            <a:r>
              <a:rPr lang="en-AU" sz="3200" dirty="0" smtClean="0"/>
              <a:t>hospitalised </a:t>
            </a:r>
            <a:r>
              <a:rPr lang="en-AU" sz="3200" dirty="0"/>
              <a:t>patients and 2,700 estimated deaths in the United States</a:t>
            </a:r>
          </a:p>
        </p:txBody>
      </p:sp>
    </p:spTree>
    <p:extLst>
      <p:ext uri="{BB962C8B-B14F-4D97-AF65-F5344CB8AC3E}">
        <p14:creationId xmlns:p14="http://schemas.microsoft.com/office/powerpoint/2010/main" val="12570942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1018903" y="144404"/>
            <a:ext cx="9732626" cy="6613448"/>
          </a:xfrm>
          <a:prstGeom prst="rect">
            <a:avLst/>
          </a:prstGeom>
        </p:spPr>
      </p:pic>
    </p:spTree>
    <p:extLst>
      <p:ext uri="{BB962C8B-B14F-4D97-AF65-F5344CB8AC3E}">
        <p14:creationId xmlns:p14="http://schemas.microsoft.com/office/powerpoint/2010/main" val="37869382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Meningitis</a:t>
            </a:r>
            <a:endParaRPr lang="en-AU" sz="6000" b="1" dirty="0"/>
          </a:p>
        </p:txBody>
      </p:sp>
      <p:sp>
        <p:nvSpPr>
          <p:cNvPr id="3" name="Content Placeholder 2"/>
          <p:cNvSpPr>
            <a:spLocks noGrp="1"/>
          </p:cNvSpPr>
          <p:nvPr>
            <p:ph idx="1"/>
          </p:nvPr>
        </p:nvSpPr>
        <p:spPr>
          <a:xfrm>
            <a:off x="838200" y="1825624"/>
            <a:ext cx="10515600" cy="4940935"/>
          </a:xfrm>
        </p:spPr>
        <p:txBody>
          <a:bodyPr>
            <a:normAutofit/>
          </a:bodyPr>
          <a:lstStyle/>
          <a:p>
            <a:r>
              <a:rPr lang="en-AU" dirty="0"/>
              <a:t>Meningitis is a devastating </a:t>
            </a:r>
            <a:r>
              <a:rPr lang="en-AU" dirty="0" smtClean="0"/>
              <a:t>disease. </a:t>
            </a:r>
            <a:r>
              <a:rPr lang="en-AU" dirty="0"/>
              <a:t>Many organisms can cause meningitis including bacteria, viruses, fungi, and </a:t>
            </a:r>
            <a:r>
              <a:rPr lang="en-AU" dirty="0" smtClean="0"/>
              <a:t>parasites. Bacterial Meningitis </a:t>
            </a:r>
            <a:r>
              <a:rPr lang="en-AU" dirty="0"/>
              <a:t>is of particular concern. Around 1 in 10 people who get this type of </a:t>
            </a:r>
            <a:r>
              <a:rPr lang="en-AU" dirty="0" smtClean="0"/>
              <a:t>Meningitis </a:t>
            </a:r>
            <a:r>
              <a:rPr lang="en-AU" dirty="0"/>
              <a:t>die and 1 in 5 have severe complications.</a:t>
            </a:r>
          </a:p>
          <a:p>
            <a:pPr marL="0" indent="0">
              <a:buNone/>
            </a:pPr>
            <a:endParaRPr lang="en-AU" dirty="0" smtClean="0"/>
          </a:p>
          <a:p>
            <a:r>
              <a:rPr lang="en-AU" dirty="0" smtClean="0"/>
              <a:t>Meningitis </a:t>
            </a:r>
            <a:r>
              <a:rPr lang="en-AU" dirty="0"/>
              <a:t>remains a major global public-health </a:t>
            </a:r>
            <a:r>
              <a:rPr lang="en-AU" dirty="0" smtClean="0"/>
              <a:t>challenge. Epidemics </a:t>
            </a:r>
            <a:r>
              <a:rPr lang="en-AU" dirty="0"/>
              <a:t>of </a:t>
            </a:r>
            <a:r>
              <a:rPr lang="en-AU" dirty="0" smtClean="0"/>
              <a:t>Meningitis </a:t>
            </a:r>
            <a:r>
              <a:rPr lang="en-AU" dirty="0"/>
              <a:t>are seen across the world, particularly in sub-Saharan Africa</a:t>
            </a:r>
            <a:r>
              <a:rPr lang="en-AU" dirty="0" smtClean="0"/>
              <a:t>.</a:t>
            </a:r>
          </a:p>
          <a:p>
            <a:endParaRPr lang="en-AU" dirty="0"/>
          </a:p>
          <a:p>
            <a:r>
              <a:rPr lang="en-AU" dirty="0"/>
              <a:t>V</a:t>
            </a:r>
            <a:r>
              <a:rPr lang="en-AU" dirty="0" smtClean="0"/>
              <a:t>accines </a:t>
            </a:r>
            <a:r>
              <a:rPr lang="en-AU" dirty="0"/>
              <a:t>are the most effective way to deliver long-lasting protection.</a:t>
            </a:r>
          </a:p>
        </p:txBody>
      </p:sp>
    </p:spTree>
    <p:extLst>
      <p:ext uri="{BB962C8B-B14F-4D97-AF65-F5344CB8AC3E}">
        <p14:creationId xmlns:p14="http://schemas.microsoft.com/office/powerpoint/2010/main" val="8956310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Meningitis </a:t>
            </a:r>
            <a:endParaRPr lang="en-AU" sz="6000" b="1" dirty="0"/>
          </a:p>
        </p:txBody>
      </p:sp>
      <p:sp>
        <p:nvSpPr>
          <p:cNvPr id="3" name="Content Placeholder 2"/>
          <p:cNvSpPr>
            <a:spLocks noGrp="1"/>
          </p:cNvSpPr>
          <p:nvPr>
            <p:ph idx="1"/>
          </p:nvPr>
        </p:nvSpPr>
        <p:spPr>
          <a:xfrm>
            <a:off x="400593" y="1825625"/>
            <a:ext cx="11347269" cy="4749346"/>
          </a:xfrm>
        </p:spPr>
        <p:txBody>
          <a:bodyPr>
            <a:normAutofit/>
          </a:bodyPr>
          <a:lstStyle/>
          <a:p>
            <a:r>
              <a:rPr lang="en-AU" sz="3200" dirty="0"/>
              <a:t>Most bacteria that cause </a:t>
            </a:r>
            <a:r>
              <a:rPr lang="en-AU" sz="3200" dirty="0" smtClean="0"/>
              <a:t>Meningitis </a:t>
            </a:r>
            <a:r>
              <a:rPr lang="en-AU" sz="3200" dirty="0"/>
              <a:t>such as </a:t>
            </a:r>
            <a:r>
              <a:rPr lang="en-AU" sz="3200" i="1" dirty="0" err="1"/>
              <a:t>meningococcus</a:t>
            </a:r>
            <a:r>
              <a:rPr lang="en-AU" sz="3200" dirty="0"/>
              <a:t>, </a:t>
            </a:r>
            <a:r>
              <a:rPr lang="en-AU" sz="3200" i="1" dirty="0"/>
              <a:t>pneumococcus</a:t>
            </a:r>
            <a:r>
              <a:rPr lang="en-AU" sz="3200" dirty="0"/>
              <a:t> and </a:t>
            </a:r>
            <a:r>
              <a:rPr lang="en-AU" sz="3200" i="1" dirty="0"/>
              <a:t>Haemophilus </a:t>
            </a:r>
            <a:r>
              <a:rPr lang="en-AU" sz="3200" i="1" dirty="0" err="1"/>
              <a:t>influenzae</a:t>
            </a:r>
            <a:r>
              <a:rPr lang="en-AU" sz="3200" dirty="0"/>
              <a:t> are carried in the human nose and throat. They spread from person to person by respiratory droplets or throat secretions. </a:t>
            </a:r>
            <a:endParaRPr lang="en-AU" sz="3200" dirty="0" smtClean="0"/>
          </a:p>
          <a:p>
            <a:endParaRPr lang="en-AU" sz="3200" dirty="0"/>
          </a:p>
          <a:p>
            <a:r>
              <a:rPr lang="en-AU" sz="3200" dirty="0" smtClean="0"/>
              <a:t>112 205 children under the age of 5 died from Meningitis in 2019. </a:t>
            </a:r>
          </a:p>
          <a:p>
            <a:endParaRPr lang="en-AU" sz="3200" dirty="0"/>
          </a:p>
          <a:p>
            <a:r>
              <a:rPr lang="en-AU" sz="3200" dirty="0" smtClean="0"/>
              <a:t>In 2021 </a:t>
            </a:r>
            <a:r>
              <a:rPr lang="en-AU" sz="3200" dirty="0"/>
              <a:t>a</a:t>
            </a:r>
            <a:r>
              <a:rPr lang="en-AU" sz="3200" dirty="0" smtClean="0"/>
              <a:t>n </a:t>
            </a:r>
            <a:r>
              <a:rPr lang="en-AU" sz="3200" dirty="0"/>
              <a:t>estimated 2.5 million cases of </a:t>
            </a:r>
            <a:r>
              <a:rPr lang="en-AU" sz="3200" dirty="0" smtClean="0"/>
              <a:t>Meningitis occurred globally, </a:t>
            </a:r>
            <a:r>
              <a:rPr lang="en-AU" sz="3200" dirty="0"/>
              <a:t>with approximately 250,000 deaths.</a:t>
            </a:r>
          </a:p>
        </p:txBody>
      </p:sp>
    </p:spTree>
    <p:extLst>
      <p:ext uri="{BB962C8B-B14F-4D97-AF65-F5344CB8AC3E}">
        <p14:creationId xmlns:p14="http://schemas.microsoft.com/office/powerpoint/2010/main" val="35616303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acterial meningitis: Symptoms, causes, and treat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4730" y="94396"/>
            <a:ext cx="9999156" cy="6672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59901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Bubonic </a:t>
            </a:r>
            <a:r>
              <a:rPr lang="en-AU" sz="6000" b="1" dirty="0" smtClean="0"/>
              <a:t>Plague</a:t>
            </a:r>
            <a:endParaRPr lang="en-AU" sz="6000" b="1" dirty="0"/>
          </a:p>
        </p:txBody>
      </p:sp>
      <p:sp>
        <p:nvSpPr>
          <p:cNvPr id="3" name="Content Placeholder 2"/>
          <p:cNvSpPr>
            <a:spLocks noGrp="1"/>
          </p:cNvSpPr>
          <p:nvPr>
            <p:ph idx="1"/>
          </p:nvPr>
        </p:nvSpPr>
        <p:spPr/>
        <p:txBody>
          <a:bodyPr/>
          <a:lstStyle/>
          <a:p>
            <a:r>
              <a:rPr lang="en-AU" dirty="0"/>
              <a:t>Bubonic plague is an infection </a:t>
            </a:r>
            <a:r>
              <a:rPr lang="en-AU" dirty="0" smtClean="0"/>
              <a:t>caused by a specific </a:t>
            </a:r>
            <a:r>
              <a:rPr lang="en-AU" dirty="0"/>
              <a:t>type of bacterium called </a:t>
            </a:r>
            <a:r>
              <a:rPr lang="en-AU" i="1" dirty="0"/>
              <a:t>Yersinia </a:t>
            </a:r>
            <a:r>
              <a:rPr lang="en-AU" i="1" dirty="0" err="1"/>
              <a:t>pestis</a:t>
            </a:r>
            <a:r>
              <a:rPr lang="en-AU" i="1" dirty="0"/>
              <a:t>. </a:t>
            </a:r>
            <a:r>
              <a:rPr lang="en-AU" dirty="0" smtClean="0"/>
              <a:t>It can </a:t>
            </a:r>
            <a:r>
              <a:rPr lang="en-AU" dirty="0"/>
              <a:t>affect humans and animals and is spread mainly by fleas. </a:t>
            </a:r>
            <a:r>
              <a:rPr lang="en-AU" dirty="0" smtClean="0"/>
              <a:t>Called </a:t>
            </a:r>
            <a:r>
              <a:rPr lang="en-AU" dirty="0"/>
              <a:t>the Black Death, it killed millions of Europeans during the Middle Ages. </a:t>
            </a:r>
            <a:endParaRPr lang="en-AU" dirty="0" smtClean="0"/>
          </a:p>
          <a:p>
            <a:endParaRPr lang="en-AU" dirty="0"/>
          </a:p>
          <a:p>
            <a:r>
              <a:rPr lang="en-AU" dirty="0" smtClean="0"/>
              <a:t>Prevention </a:t>
            </a:r>
            <a:r>
              <a:rPr lang="en-AU" dirty="0"/>
              <a:t>doesn’t include a vaccine, but does involve reducing your exposure to mice, rats, squirrels and other animals that may be infected.</a:t>
            </a:r>
          </a:p>
        </p:txBody>
      </p:sp>
    </p:spTree>
    <p:extLst>
      <p:ext uri="{BB962C8B-B14F-4D97-AF65-F5344CB8AC3E}">
        <p14:creationId xmlns:p14="http://schemas.microsoft.com/office/powerpoint/2010/main" val="25960486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Bubonic Plague </a:t>
            </a:r>
            <a:endParaRPr lang="en-AU" sz="6000" b="1" dirty="0"/>
          </a:p>
        </p:txBody>
      </p:sp>
      <p:sp>
        <p:nvSpPr>
          <p:cNvPr id="3" name="Content Placeholder 2"/>
          <p:cNvSpPr>
            <a:spLocks noGrp="1"/>
          </p:cNvSpPr>
          <p:nvPr>
            <p:ph idx="1"/>
          </p:nvPr>
        </p:nvSpPr>
        <p:spPr/>
        <p:txBody>
          <a:bodyPr>
            <a:normAutofit/>
          </a:bodyPr>
          <a:lstStyle/>
          <a:p>
            <a:r>
              <a:rPr lang="en-AU" dirty="0"/>
              <a:t>Bubonic plague still occurs throughout the world and in the U.S., with cases in Africa, Asia, South America and the western areas of North America. </a:t>
            </a:r>
            <a:endParaRPr lang="en-AU" dirty="0" smtClean="0"/>
          </a:p>
          <a:p>
            <a:endParaRPr lang="en-AU" dirty="0"/>
          </a:p>
          <a:p>
            <a:r>
              <a:rPr lang="en-AU" dirty="0" smtClean="0"/>
              <a:t>About </a:t>
            </a:r>
            <a:r>
              <a:rPr lang="en-AU" dirty="0"/>
              <a:t>seven cases of plague happen in the U.S. every year on average. </a:t>
            </a:r>
            <a:endParaRPr lang="en-AU" dirty="0" smtClean="0"/>
          </a:p>
          <a:p>
            <a:endParaRPr lang="en-AU" dirty="0"/>
          </a:p>
          <a:p>
            <a:r>
              <a:rPr lang="en-AU" dirty="0" smtClean="0"/>
              <a:t>There </a:t>
            </a:r>
            <a:r>
              <a:rPr lang="en-AU" dirty="0"/>
              <a:t>was </a:t>
            </a:r>
            <a:r>
              <a:rPr lang="en-AU" dirty="0" smtClean="0"/>
              <a:t>a</a:t>
            </a:r>
            <a:r>
              <a:rPr lang="en-AU" dirty="0"/>
              <a:t> large outbreak in Madagascar in 2017, where there were 2,348 confirmed, probable and suspected cases and 202 deaths.</a:t>
            </a:r>
          </a:p>
        </p:txBody>
      </p:sp>
    </p:spTree>
    <p:extLst>
      <p:ext uri="{BB962C8B-B14F-4D97-AF65-F5344CB8AC3E}">
        <p14:creationId xmlns:p14="http://schemas.microsoft.com/office/powerpoint/2010/main" val="24880181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1961605" y="489720"/>
            <a:ext cx="7931331" cy="5928670"/>
          </a:xfrm>
          <a:prstGeom prst="rect">
            <a:avLst/>
          </a:prstGeom>
        </p:spPr>
      </p:pic>
    </p:spTree>
    <p:extLst>
      <p:ext uri="{BB962C8B-B14F-4D97-AF65-F5344CB8AC3E}">
        <p14:creationId xmlns:p14="http://schemas.microsoft.com/office/powerpoint/2010/main" val="5888686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TotalTime>
  <Words>1864</Words>
  <Application>Microsoft Office PowerPoint</Application>
  <PresentationFormat>Widescreen</PresentationFormat>
  <Paragraphs>155</Paragraphs>
  <Slides>39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Calibri</vt:lpstr>
      <vt:lpstr>Calibri Light</vt:lpstr>
      <vt:lpstr>Cambria Math</vt:lpstr>
      <vt:lpstr>Castellar</vt:lpstr>
      <vt:lpstr>Office Theme</vt:lpstr>
      <vt:lpstr>Infectious Diseases </vt:lpstr>
      <vt:lpstr>Tuberculosis </vt:lpstr>
      <vt:lpstr>PowerPoint Presentation</vt:lpstr>
      <vt:lpstr>Tuberculosis- Locations </vt:lpstr>
      <vt:lpstr>PowerPoint Presentation</vt:lpstr>
      <vt:lpstr>Tuberculosis- Outbreak </vt:lpstr>
      <vt:lpstr>Tuberculosis- Fatality Rate </vt:lpstr>
      <vt:lpstr>PowerPoint Presentation</vt:lpstr>
      <vt:lpstr>Tuberculosis- Spread </vt:lpstr>
      <vt:lpstr>Tuberculosis- Spread </vt:lpstr>
      <vt:lpstr>Tuberculosis – Who is at risk?</vt:lpstr>
      <vt:lpstr>Tuberculosis- Treatment </vt:lpstr>
      <vt:lpstr>Resistant Tuberculosis </vt:lpstr>
      <vt:lpstr>Tuberculosis going forward </vt:lpstr>
      <vt:lpstr>Other bacterial diseases of note</vt:lpstr>
      <vt:lpstr>Anthrax </vt:lpstr>
      <vt:lpstr>PowerPoint Presentation</vt:lpstr>
      <vt:lpstr>Tetanus </vt:lpstr>
      <vt:lpstr>Tetanus continued. </vt:lpstr>
      <vt:lpstr>PowerPoint Presentation</vt:lpstr>
      <vt:lpstr>Pneumonia </vt:lpstr>
      <vt:lpstr>PowerPoint Presentation</vt:lpstr>
      <vt:lpstr>Cholera </vt:lpstr>
      <vt:lpstr>Cholera </vt:lpstr>
      <vt:lpstr>PowerPoint Presentation</vt:lpstr>
      <vt:lpstr>Botulism</vt:lpstr>
      <vt:lpstr>Botulism </vt:lpstr>
      <vt:lpstr>Botulism </vt:lpstr>
      <vt:lpstr>PowerPoint Presentation</vt:lpstr>
      <vt:lpstr>Pseudomonas Infection</vt:lpstr>
      <vt:lpstr>Pseudomonas Infection</vt:lpstr>
      <vt:lpstr>Pseudomonas Infection </vt:lpstr>
      <vt:lpstr>PowerPoint Presentation</vt:lpstr>
      <vt:lpstr>Meningitis</vt:lpstr>
      <vt:lpstr>Meningitis </vt:lpstr>
      <vt:lpstr>PowerPoint Presentation</vt:lpstr>
      <vt:lpstr>Bubonic Plague</vt:lpstr>
      <vt:lpstr>Bubonic Plague </vt:lpstr>
      <vt:lpstr>PowerPoint Presentation</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Infectious Diseases </dc:title>
  <dc:creator>DOOMEN Lisa [Gilmore College]</dc:creator>
  <cp:lastModifiedBy>DOOMEN Lisa [Gilmore College]</cp:lastModifiedBy>
  <cp:revision>14</cp:revision>
  <dcterms:created xsi:type="dcterms:W3CDTF">2022-05-26T00:11:54Z</dcterms:created>
  <dcterms:modified xsi:type="dcterms:W3CDTF">2022-05-26T06:08:58Z</dcterms:modified>
</cp:coreProperties>
</file>
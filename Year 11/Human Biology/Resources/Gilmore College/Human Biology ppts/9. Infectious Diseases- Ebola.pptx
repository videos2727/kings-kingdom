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4" r:id="rId4"/>
    <p:sldId id="272" r:id="rId5"/>
    <p:sldId id="273" r:id="rId6"/>
    <p:sldId id="266" r:id="rId7"/>
    <p:sldId id="265" r:id="rId8"/>
    <p:sldId id="259" r:id="rId9"/>
    <p:sldId id="267" r:id="rId10"/>
    <p:sldId id="275" r:id="rId11"/>
    <p:sldId id="270" r:id="rId12"/>
    <p:sldId id="269" r:id="rId13"/>
    <p:sldId id="276" r:id="rId14"/>
    <p:sldId id="260" r:id="rId15"/>
    <p:sldId id="271" r:id="rId16"/>
    <p:sldId id="277" r:id="rId17"/>
    <p:sldId id="268" r:id="rId18"/>
    <p:sldId id="261" r:id="rId19"/>
    <p:sldId id="278" r:id="rId20"/>
    <p:sldId id="286" r:id="rId21"/>
    <p:sldId id="279" r:id="rId22"/>
    <p:sldId id="287" r:id="rId23"/>
    <p:sldId id="262" r:id="rId24"/>
    <p:sldId id="263" r:id="rId25"/>
    <p:sldId id="288" r:id="rId26"/>
    <p:sldId id="282" r:id="rId27"/>
    <p:sldId id="281" r:id="rId28"/>
    <p:sldId id="283" r:id="rId29"/>
    <p:sldId id="289" r:id="rId30"/>
    <p:sldId id="280" r:id="rId31"/>
    <p:sldId id="264" r:id="rId32"/>
    <p:sldId id="284" r:id="rId33"/>
    <p:sldId id="285" r:id="rId34"/>
    <p:sldId id="290" r:id="rId35"/>
    <p:sldId id="29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1B52"/>
    <a:srgbClr val="E54398"/>
    <a:srgbClr val="FB9B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11FC4A3C-CBF3-4C7B-A3C1-6AF6689A2A11}" type="datetimeFigureOut">
              <a:rPr lang="en-AU" smtClean="0"/>
              <a:t>20/07/2023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426402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11FC4A3C-CBF3-4C7B-A3C1-6AF6689A2A11}" type="datetimeFigureOut">
              <a:rPr lang="en-AU" smtClean="0"/>
              <a:t>20/07/2023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873401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FC4A3C-CBF3-4C7B-A3C1-6AF6689A2A11}" type="datetimeFigureOut">
              <a:rPr lang="en-AU" smtClean="0"/>
              <a:t>20/07/2023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2882530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11FC4A3C-CBF3-4C7B-A3C1-6AF6689A2A11}" type="datetimeFigureOut">
              <a:rPr lang="en-AU" smtClean="0"/>
              <a:t>20/07/2023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938606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11FC4A3C-CBF3-4C7B-A3C1-6AF6689A2A11}" type="datetimeFigureOut">
              <a:rPr lang="en-AU" smtClean="0"/>
              <a:t>20/07/2023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1791029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11FC4A3C-CBF3-4C7B-A3C1-6AF6689A2A11}" type="datetimeFigureOut">
              <a:rPr lang="en-AU" smtClean="0"/>
              <a:t>20/07/2023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214335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FC4A3C-CBF3-4C7B-A3C1-6AF6689A2A11}" type="datetimeFigureOut">
              <a:rPr lang="en-AU" smtClean="0"/>
              <a:t>20/07/2023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4006396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1FC4A3C-CBF3-4C7B-A3C1-6AF6689A2A11}" type="datetimeFigureOut">
              <a:rPr lang="en-AU" smtClean="0"/>
              <a:t>20/07/2023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33345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1FC4A3C-CBF3-4C7B-A3C1-6AF6689A2A11}" type="datetimeFigureOut">
              <a:rPr lang="en-AU" smtClean="0"/>
              <a:t>20/07/2023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326461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11FC4A3C-CBF3-4C7B-A3C1-6AF6689A2A11}" type="datetimeFigureOut">
              <a:rPr lang="en-AU" smtClean="0"/>
              <a:t>20/07/2023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896422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11FC4A3C-CBF3-4C7B-A3C1-6AF6689A2A11}" type="datetimeFigureOut">
              <a:rPr lang="en-AU" smtClean="0"/>
              <a:t>20/07/2023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64C319-43FB-4860-8849-9FE2726F678B}" type="slidenum">
              <a:rPr lang="en-AU" smtClean="0"/>
              <a:t>‹#›</a:t>
            </a:fld>
            <a:endParaRPr lang="en-AU"/>
          </a:p>
        </p:txBody>
      </p:sp>
    </p:spTree>
    <p:extLst>
      <p:ext uri="{BB962C8B-B14F-4D97-AF65-F5344CB8AC3E}">
        <p14:creationId xmlns:p14="http://schemas.microsoft.com/office/powerpoint/2010/main" val="2001535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78000">
              <a:srgbClr val="E54398"/>
            </a:gs>
            <a:gs pos="15000">
              <a:srgbClr val="FB9BDB"/>
            </a:gs>
            <a:gs pos="0">
              <a:schemeClr val="accent1">
                <a:lumMod val="5000"/>
                <a:lumOff val="95000"/>
              </a:schemeClr>
            </a:gs>
            <a:gs pos="95000">
              <a:srgbClr val="771B52"/>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FC4A3C-CBF3-4C7B-A3C1-6AF6689A2A11}" type="datetimeFigureOut">
              <a:rPr lang="en-AU" smtClean="0"/>
              <a:t>20/07/2023</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64C319-43FB-4860-8849-9FE2726F678B}" type="slidenum">
              <a:rPr lang="en-AU" smtClean="0"/>
              <a:t>‹#›</a:t>
            </a:fld>
            <a:endParaRPr lang="en-AU"/>
          </a:p>
        </p:txBody>
      </p:sp>
    </p:spTree>
    <p:extLst>
      <p:ext uri="{BB962C8B-B14F-4D97-AF65-F5344CB8AC3E}">
        <p14:creationId xmlns:p14="http://schemas.microsoft.com/office/powerpoint/2010/main" val="1406519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2217" y="1122363"/>
            <a:ext cx="11634652" cy="2387600"/>
          </a:xfrm>
        </p:spPr>
        <p:txBody>
          <a:bodyPr>
            <a:normAutofit/>
          </a:bodyPr>
          <a:lstStyle/>
          <a:p>
            <a:r>
              <a:rPr lang="en-AU" sz="7200" dirty="0">
                <a:latin typeface="Castellar" panose="020A0402060406010301" pitchFamily="18" charset="0"/>
              </a:rPr>
              <a:t>Infectious Diseases</a:t>
            </a:r>
          </a:p>
        </p:txBody>
      </p:sp>
      <p:sp>
        <p:nvSpPr>
          <p:cNvPr id="3" name="Subtitle 2"/>
          <p:cNvSpPr>
            <a:spLocks noGrp="1"/>
          </p:cNvSpPr>
          <p:nvPr>
            <p:ph type="subTitle" idx="1"/>
          </p:nvPr>
        </p:nvSpPr>
        <p:spPr/>
        <p:txBody>
          <a:bodyPr>
            <a:normAutofit/>
          </a:bodyPr>
          <a:lstStyle/>
          <a:p>
            <a:r>
              <a:rPr lang="en-AU" sz="3200" b="1" dirty="0"/>
              <a:t>Ebola</a:t>
            </a:r>
          </a:p>
        </p:txBody>
      </p:sp>
    </p:spTree>
    <p:extLst>
      <p:ext uri="{BB962C8B-B14F-4D97-AF65-F5344CB8AC3E}">
        <p14:creationId xmlns:p14="http://schemas.microsoft.com/office/powerpoint/2010/main" val="778093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Origins </a:t>
            </a:r>
          </a:p>
        </p:txBody>
      </p:sp>
      <p:sp>
        <p:nvSpPr>
          <p:cNvPr id="3" name="Content Placeholder 2"/>
          <p:cNvSpPr>
            <a:spLocks noGrp="1"/>
          </p:cNvSpPr>
          <p:nvPr>
            <p:ph idx="1"/>
          </p:nvPr>
        </p:nvSpPr>
        <p:spPr/>
        <p:txBody>
          <a:bodyPr>
            <a:normAutofit/>
          </a:bodyPr>
          <a:lstStyle/>
          <a:p>
            <a:endParaRPr lang="en-AU" dirty="0"/>
          </a:p>
          <a:p>
            <a:r>
              <a:rPr lang="en-AU" dirty="0"/>
              <a:t>Ebola virus was first discovered in 1976 near the Ebola River in what is now the Democratic Republic of Congo. </a:t>
            </a:r>
          </a:p>
          <a:p>
            <a:endParaRPr lang="en-AU" dirty="0"/>
          </a:p>
          <a:p>
            <a:r>
              <a:rPr lang="en-AU" dirty="0"/>
              <a:t>Since then, the virus has been infecting people from time to time, leading to outbreaks in several African countries. </a:t>
            </a:r>
          </a:p>
        </p:txBody>
      </p:sp>
    </p:spTree>
    <p:extLst>
      <p:ext uri="{BB962C8B-B14F-4D97-AF65-F5344CB8AC3E}">
        <p14:creationId xmlns:p14="http://schemas.microsoft.com/office/powerpoint/2010/main" val="949579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38124" y="219075"/>
            <a:ext cx="11649076" cy="1428750"/>
          </a:xfrm>
        </p:spPr>
        <p:txBody>
          <a:bodyPr>
            <a:normAutofit fontScale="32500" lnSpcReduction="20000"/>
          </a:bodyPr>
          <a:lstStyle/>
          <a:p>
            <a:r>
              <a:rPr lang="en-AU" sz="6200" dirty="0"/>
              <a:t>An interesting aspect of Ebola is that it was only discovered in 1976. It seems unlikely that cases or outbreaks never occurred before. </a:t>
            </a:r>
            <a:r>
              <a:rPr lang="en-AU" sz="6200" b="1" dirty="0"/>
              <a:t>A narrative from 1865 </a:t>
            </a:r>
            <a:r>
              <a:rPr lang="en-AU" sz="6200" dirty="0"/>
              <a:t>by explorer </a:t>
            </a:r>
            <a:r>
              <a:rPr lang="en-AU" sz="6200" b="1" dirty="0"/>
              <a:t>Samuel Baker </a:t>
            </a:r>
            <a:r>
              <a:rPr lang="en-AU" sz="6200" dirty="0"/>
              <a:t>from the south of Sudan, close to where the 1976 outbreak occurred, offers some insight. While Baker calls the disease “the plague”, it is evident that the symptoms describe a lethal form of haemorrhagic fever, perhaps Ebola, as the following excerpt narrates:</a:t>
            </a:r>
          </a:p>
          <a:p>
            <a:endParaRPr lang="en-AU" dirty="0"/>
          </a:p>
        </p:txBody>
      </p:sp>
      <p:sp>
        <p:nvSpPr>
          <p:cNvPr id="4" name="Content Placeholder 3"/>
          <p:cNvSpPr>
            <a:spLocks noGrp="1"/>
          </p:cNvSpPr>
          <p:nvPr>
            <p:ph sz="half" idx="2"/>
          </p:nvPr>
        </p:nvSpPr>
        <p:spPr>
          <a:xfrm>
            <a:off x="238124" y="1647825"/>
            <a:ext cx="11820526" cy="5038725"/>
          </a:xfrm>
        </p:spPr>
        <p:txBody>
          <a:bodyPr>
            <a:noAutofit/>
          </a:bodyPr>
          <a:lstStyle/>
          <a:p>
            <a:pPr marL="0" indent="0">
              <a:buNone/>
            </a:pPr>
            <a:r>
              <a:rPr lang="en-AU" sz="1800" i="1" dirty="0"/>
              <a:t>“For some days two or three of our men had been complaining of severe headache, giddiness, and violent pains in the spine and between the shoulders. One of the boatmen, who had been ailing for some days, suddenly went to the side of the vessel and hung his head over the river; his nose was bleeding!</a:t>
            </a:r>
          </a:p>
          <a:p>
            <a:pPr marL="0" indent="0">
              <a:buNone/>
            </a:pPr>
            <a:r>
              <a:rPr lang="en-AU" sz="1800" i="1" dirty="0"/>
              <a:t>Another of my men, </a:t>
            </a:r>
            <a:r>
              <a:rPr lang="en-AU" sz="1800" i="1" dirty="0" err="1"/>
              <a:t>Yaseen</a:t>
            </a:r>
            <a:r>
              <a:rPr lang="en-AU" sz="1800" i="1" dirty="0"/>
              <a:t>, was ill; his uncle, came to me with a report that "his nose was bleeding violently!’ Several other men fell ill; they lay helplessly about the deck in low muttering delirium, their eyes as yellow as orange-peel. In two or three days the vessel was so horribly offensive as to be unbearable. The plague has broken out! </a:t>
            </a:r>
            <a:r>
              <a:rPr lang="en-AU" sz="1800" i="1" dirty="0" err="1"/>
              <a:t>Yaseen</a:t>
            </a:r>
            <a:r>
              <a:rPr lang="en-AU" sz="1800" i="1" dirty="0"/>
              <a:t> died. We stopped to bury him. The funeral hastily arranged, we again set sail. </a:t>
            </a:r>
            <a:r>
              <a:rPr lang="en-AU" sz="1800" i="1" dirty="0" err="1"/>
              <a:t>Mahommed</a:t>
            </a:r>
            <a:r>
              <a:rPr lang="en-AU" sz="1800" i="1" dirty="0"/>
              <a:t> died; he had bled at the nose. Another burial. Once more we set sail and hurried down the Nile. Several men were ill, but the dreaded nose bleed had not appeared. </a:t>
            </a:r>
          </a:p>
          <a:p>
            <a:pPr marL="0" indent="0">
              <a:buNone/>
            </a:pPr>
            <a:r>
              <a:rPr lang="en-AU" sz="1800" i="1" dirty="0"/>
              <a:t>One morning the boy </a:t>
            </a:r>
            <a:r>
              <a:rPr lang="en-AU" sz="1800" i="1" dirty="0" err="1"/>
              <a:t>Saat</a:t>
            </a:r>
            <a:r>
              <a:rPr lang="en-AU" sz="1800" i="1" dirty="0"/>
              <a:t> came to me with his head bound up, and complained of severe pain in the back and limbs. In the afternoon I saw him leaning over the ship's side; his nose was bleeding violently! At night he was delirious. On the following morning he was raving, he threw himself into the river to cool the burning fever that consumed him. His eyes were suffused with blood, which, blended with a yellow as deep as the yolk of egg, gave a terrible appearance to his face. The faithful boy that we had adopted, was now a victim to this horrible disease. He was a fine strong lad of nearly fifteen, and he now lay helplessly on his mat, and cast wistful glances at the face of his mistress as she gave him a cup of cold water mixed with a few. An hour passed, and he slept. </a:t>
            </a:r>
            <a:r>
              <a:rPr lang="en-AU" sz="1800" i="1" dirty="0" err="1"/>
              <a:t>Karka</a:t>
            </a:r>
            <a:r>
              <a:rPr lang="en-AU" sz="1800" i="1" dirty="0"/>
              <a:t>, the slave woman, quietly went to his side; gently taking him by the ankles and knees, she stretched his legs into a straight position, and laid his arms parallel with his sides. She then covered his face with a cloth. ‘Does he sleep still?’ I asked. The tears ran down the cheeks of </a:t>
            </a:r>
            <a:r>
              <a:rPr lang="en-AU" sz="1800" i="1" dirty="0" err="1"/>
              <a:t>Karka</a:t>
            </a:r>
            <a:r>
              <a:rPr lang="en-AU" sz="1800" i="1" dirty="0"/>
              <a:t> as she sobbed, ‘He is dead’.”</a:t>
            </a:r>
          </a:p>
        </p:txBody>
      </p:sp>
    </p:spTree>
    <p:extLst>
      <p:ext uri="{BB962C8B-B14F-4D97-AF65-F5344CB8AC3E}">
        <p14:creationId xmlns:p14="http://schemas.microsoft.com/office/powerpoint/2010/main" val="622977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Different Strains </a:t>
            </a:r>
          </a:p>
        </p:txBody>
      </p:sp>
      <p:sp>
        <p:nvSpPr>
          <p:cNvPr id="3" name="Content Placeholder 2"/>
          <p:cNvSpPr>
            <a:spLocks noGrp="1"/>
          </p:cNvSpPr>
          <p:nvPr>
            <p:ph idx="1"/>
          </p:nvPr>
        </p:nvSpPr>
        <p:spPr/>
        <p:txBody>
          <a:bodyPr/>
          <a:lstStyle/>
          <a:p>
            <a:r>
              <a:rPr lang="en-AU" dirty="0"/>
              <a:t>Ebola virus (species </a:t>
            </a:r>
            <a:r>
              <a:rPr lang="en-AU" i="1" dirty="0"/>
              <a:t>Zaire ebolavirus</a:t>
            </a:r>
            <a:r>
              <a:rPr lang="en-AU" dirty="0"/>
              <a:t>)</a:t>
            </a:r>
          </a:p>
          <a:p>
            <a:r>
              <a:rPr lang="en-AU" dirty="0"/>
              <a:t>Sudan virus (species </a:t>
            </a:r>
            <a:r>
              <a:rPr lang="en-AU" i="1" dirty="0"/>
              <a:t>Sudan ebolavirus</a:t>
            </a:r>
            <a:r>
              <a:rPr lang="en-AU" dirty="0"/>
              <a:t>)</a:t>
            </a:r>
          </a:p>
          <a:p>
            <a:r>
              <a:rPr lang="en-AU" dirty="0"/>
              <a:t>Taï Forest virus (species </a:t>
            </a:r>
            <a:r>
              <a:rPr lang="en-AU" i="1" dirty="0"/>
              <a:t>Taï Forest ebolavirus</a:t>
            </a:r>
            <a:r>
              <a:rPr lang="en-AU" dirty="0"/>
              <a:t>)</a:t>
            </a:r>
          </a:p>
          <a:p>
            <a:r>
              <a:rPr lang="en-AU" dirty="0"/>
              <a:t>Bundibugyo virus (species </a:t>
            </a:r>
            <a:r>
              <a:rPr lang="en-AU" i="1" dirty="0"/>
              <a:t>Bundibugyo ebolavirus</a:t>
            </a:r>
            <a:r>
              <a:rPr lang="en-AU" dirty="0"/>
              <a:t>)</a:t>
            </a:r>
          </a:p>
          <a:p>
            <a:r>
              <a:rPr lang="en-AU" dirty="0"/>
              <a:t>Reston virus (species </a:t>
            </a:r>
            <a:r>
              <a:rPr lang="en-AU" i="1" dirty="0"/>
              <a:t>Reston ebolavirus</a:t>
            </a:r>
            <a:r>
              <a:rPr lang="en-AU" dirty="0"/>
              <a:t>)</a:t>
            </a:r>
          </a:p>
          <a:p>
            <a:r>
              <a:rPr lang="en-AU" dirty="0"/>
              <a:t>Bombali virus (species </a:t>
            </a:r>
            <a:r>
              <a:rPr lang="en-AU" i="1" dirty="0"/>
              <a:t>Bombali ebolavirus</a:t>
            </a:r>
            <a:r>
              <a:rPr lang="en-AU" dirty="0"/>
              <a:t>)</a:t>
            </a:r>
          </a:p>
        </p:txBody>
      </p:sp>
    </p:spTree>
    <p:extLst>
      <p:ext uri="{BB962C8B-B14F-4D97-AF65-F5344CB8AC3E}">
        <p14:creationId xmlns:p14="http://schemas.microsoft.com/office/powerpoint/2010/main" val="2870526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10196" y="1397861"/>
            <a:ext cx="7425690" cy="4331653"/>
          </a:xfrm>
          <a:prstGeom prst="rect">
            <a:avLst/>
          </a:prstGeom>
        </p:spPr>
      </p:pic>
      <p:cxnSp>
        <p:nvCxnSpPr>
          <p:cNvPr id="6" name="Straight Arrow Connector 5"/>
          <p:cNvCxnSpPr/>
          <p:nvPr/>
        </p:nvCxnSpPr>
        <p:spPr>
          <a:xfrm flipV="1">
            <a:off x="5448300" y="4171950"/>
            <a:ext cx="600075" cy="2133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6200775" y="3883933"/>
            <a:ext cx="614362" cy="22046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815137" y="6088618"/>
            <a:ext cx="2257425" cy="369332"/>
          </a:xfrm>
          <a:prstGeom prst="rect">
            <a:avLst/>
          </a:prstGeom>
          <a:noFill/>
        </p:spPr>
        <p:txBody>
          <a:bodyPr wrap="square" rtlCol="0">
            <a:spAutoFit/>
          </a:bodyPr>
          <a:lstStyle/>
          <a:p>
            <a:r>
              <a:rPr lang="en-AU" dirty="0"/>
              <a:t>Sudan Ebolavirus </a:t>
            </a:r>
          </a:p>
        </p:txBody>
      </p:sp>
      <p:sp>
        <p:nvSpPr>
          <p:cNvPr id="10" name="TextBox 9"/>
          <p:cNvSpPr txBox="1"/>
          <p:nvPr/>
        </p:nvSpPr>
        <p:spPr>
          <a:xfrm>
            <a:off x="4471987" y="6457950"/>
            <a:ext cx="2257425" cy="369332"/>
          </a:xfrm>
          <a:prstGeom prst="rect">
            <a:avLst/>
          </a:prstGeom>
          <a:noFill/>
        </p:spPr>
        <p:txBody>
          <a:bodyPr wrap="square" rtlCol="0">
            <a:spAutoFit/>
          </a:bodyPr>
          <a:lstStyle/>
          <a:p>
            <a:r>
              <a:rPr lang="en-AU" dirty="0"/>
              <a:t>Zaire Ebolavirus </a:t>
            </a:r>
          </a:p>
        </p:txBody>
      </p:sp>
      <p:cxnSp>
        <p:nvCxnSpPr>
          <p:cNvPr id="12" name="Straight Arrow Connector 11"/>
          <p:cNvCxnSpPr/>
          <p:nvPr/>
        </p:nvCxnSpPr>
        <p:spPr>
          <a:xfrm flipV="1">
            <a:off x="4471987" y="3986439"/>
            <a:ext cx="976313" cy="18954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386137" y="5881914"/>
            <a:ext cx="2257425" cy="369332"/>
          </a:xfrm>
          <a:prstGeom prst="rect">
            <a:avLst/>
          </a:prstGeom>
          <a:noFill/>
        </p:spPr>
        <p:txBody>
          <a:bodyPr wrap="square" rtlCol="0">
            <a:spAutoFit/>
          </a:bodyPr>
          <a:lstStyle/>
          <a:p>
            <a:r>
              <a:rPr lang="en-AU" dirty="0"/>
              <a:t>Tai Forest Ebolavirus </a:t>
            </a:r>
          </a:p>
        </p:txBody>
      </p:sp>
      <p:cxnSp>
        <p:nvCxnSpPr>
          <p:cNvPr id="16" name="Straight Arrow Connector 15"/>
          <p:cNvCxnSpPr/>
          <p:nvPr/>
        </p:nvCxnSpPr>
        <p:spPr>
          <a:xfrm flipH="1" flipV="1">
            <a:off x="6355556" y="4100866"/>
            <a:ext cx="1754982" cy="178104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9535886" y="3902859"/>
            <a:ext cx="2957512" cy="369332"/>
          </a:xfrm>
          <a:prstGeom prst="rect">
            <a:avLst/>
          </a:prstGeom>
          <a:noFill/>
        </p:spPr>
        <p:txBody>
          <a:bodyPr wrap="square" rtlCol="0">
            <a:spAutoFit/>
          </a:bodyPr>
          <a:lstStyle/>
          <a:p>
            <a:r>
              <a:rPr lang="en-AU" dirty="0"/>
              <a:t>Reston Ebolavirus </a:t>
            </a:r>
          </a:p>
        </p:txBody>
      </p:sp>
      <p:cxnSp>
        <p:nvCxnSpPr>
          <p:cNvPr id="19" name="Straight Arrow Connector 18"/>
          <p:cNvCxnSpPr/>
          <p:nvPr/>
        </p:nvCxnSpPr>
        <p:spPr>
          <a:xfrm flipH="1" flipV="1">
            <a:off x="7943849" y="3862038"/>
            <a:ext cx="1731170" cy="2189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6507956" y="4253266"/>
            <a:ext cx="1754982" cy="178104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8348663" y="5903952"/>
            <a:ext cx="2957512" cy="369332"/>
          </a:xfrm>
          <a:prstGeom prst="rect">
            <a:avLst/>
          </a:prstGeom>
          <a:noFill/>
        </p:spPr>
        <p:txBody>
          <a:bodyPr wrap="square" rtlCol="0">
            <a:spAutoFit/>
          </a:bodyPr>
          <a:lstStyle/>
          <a:p>
            <a:r>
              <a:rPr lang="en-AU" dirty="0"/>
              <a:t>Bundibugyo  Ebolavirus </a:t>
            </a:r>
          </a:p>
        </p:txBody>
      </p:sp>
      <p:cxnSp>
        <p:nvCxnSpPr>
          <p:cNvPr id="23" name="Straight Arrow Connector 22"/>
          <p:cNvCxnSpPr/>
          <p:nvPr/>
        </p:nvCxnSpPr>
        <p:spPr>
          <a:xfrm flipV="1">
            <a:off x="2133124" y="3885233"/>
            <a:ext cx="3252379" cy="14742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69272" y="5242965"/>
            <a:ext cx="2257425" cy="369332"/>
          </a:xfrm>
          <a:prstGeom prst="rect">
            <a:avLst/>
          </a:prstGeom>
          <a:noFill/>
        </p:spPr>
        <p:txBody>
          <a:bodyPr wrap="square" rtlCol="0">
            <a:spAutoFit/>
          </a:bodyPr>
          <a:lstStyle/>
          <a:p>
            <a:r>
              <a:rPr lang="en-AU" dirty="0"/>
              <a:t>Bombali Ebolavirus </a:t>
            </a:r>
          </a:p>
        </p:txBody>
      </p:sp>
    </p:spTree>
    <p:extLst>
      <p:ext uri="{BB962C8B-B14F-4D97-AF65-F5344CB8AC3E}">
        <p14:creationId xmlns:p14="http://schemas.microsoft.com/office/powerpoint/2010/main" val="2734440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807711" y="144869"/>
            <a:ext cx="5439306" cy="6642021"/>
          </a:xfrm>
          <a:prstGeom prst="rect">
            <a:avLst/>
          </a:prstGeom>
        </p:spPr>
      </p:pic>
    </p:spTree>
    <p:extLst>
      <p:ext uri="{BB962C8B-B14F-4D97-AF65-F5344CB8AC3E}">
        <p14:creationId xmlns:p14="http://schemas.microsoft.com/office/powerpoint/2010/main" val="1989411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Zoonotic Spillover </a:t>
            </a:r>
            <a:endParaRPr lang="en-AU" sz="6000" dirty="0"/>
          </a:p>
        </p:txBody>
      </p:sp>
      <p:sp>
        <p:nvSpPr>
          <p:cNvPr id="3" name="Content Placeholder 2"/>
          <p:cNvSpPr>
            <a:spLocks noGrp="1"/>
          </p:cNvSpPr>
          <p:nvPr>
            <p:ph idx="1"/>
          </p:nvPr>
        </p:nvSpPr>
        <p:spPr/>
        <p:txBody>
          <a:bodyPr/>
          <a:lstStyle/>
          <a:p>
            <a:r>
              <a:rPr lang="en-AU" dirty="0"/>
              <a:t>Scientists do not know where Ebola virus comes from. </a:t>
            </a:r>
          </a:p>
          <a:p>
            <a:endParaRPr lang="en-AU" dirty="0"/>
          </a:p>
          <a:p>
            <a:r>
              <a:rPr lang="en-AU" dirty="0"/>
              <a:t>Based on similar viruses, they believe Ebola is zoonotic, with bats or non-human primates being the most likely source. </a:t>
            </a:r>
          </a:p>
          <a:p>
            <a:endParaRPr lang="en-AU" dirty="0"/>
          </a:p>
          <a:p>
            <a:r>
              <a:rPr lang="en-AU" dirty="0"/>
              <a:t>Infected animals carrying the virus can transmit it to other animals, like apes, monkeys, antelope and humans.</a:t>
            </a:r>
          </a:p>
          <a:p>
            <a:endParaRPr lang="en-AU" dirty="0"/>
          </a:p>
        </p:txBody>
      </p:sp>
    </p:spTree>
    <p:extLst>
      <p:ext uri="{BB962C8B-B14F-4D97-AF65-F5344CB8AC3E}">
        <p14:creationId xmlns:p14="http://schemas.microsoft.com/office/powerpoint/2010/main" val="4175529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Risk Factors </a:t>
            </a:r>
            <a:endParaRPr lang="en-AU" sz="6000" dirty="0"/>
          </a:p>
        </p:txBody>
      </p:sp>
      <p:sp>
        <p:nvSpPr>
          <p:cNvPr id="3" name="Content Placeholder 2"/>
          <p:cNvSpPr>
            <a:spLocks noGrp="1"/>
          </p:cNvSpPr>
          <p:nvPr>
            <p:ph idx="1"/>
          </p:nvPr>
        </p:nvSpPr>
        <p:spPr>
          <a:xfrm>
            <a:off x="339635" y="2072639"/>
            <a:ext cx="11678194" cy="4040778"/>
          </a:xfrm>
        </p:spPr>
        <p:txBody>
          <a:bodyPr>
            <a:normAutofit/>
          </a:bodyPr>
          <a:lstStyle/>
          <a:p>
            <a:r>
              <a:rPr lang="en-AU" dirty="0"/>
              <a:t>Blood or body fluids (urine, saliva, sweat, faeces, vomit, breast milk, amniotic fluid, and semen) of a person who is sick with or has died from Ebola.</a:t>
            </a:r>
          </a:p>
          <a:p>
            <a:r>
              <a:rPr lang="en-AU" dirty="0"/>
              <a:t>Objects (e.g. clothes, bedding, needles, and medical equipment) contaminated with body fluids from a person with Ebola.</a:t>
            </a:r>
          </a:p>
          <a:p>
            <a:r>
              <a:rPr lang="en-AU" dirty="0"/>
              <a:t>Infected fruit bats or primates (e.g. apes and monkeys).</a:t>
            </a:r>
          </a:p>
          <a:p>
            <a:r>
              <a:rPr lang="en-AU" dirty="0"/>
              <a:t>Semen from a man who recovered from Ebola (no evidence that Ebola can be spread through sex or other contact with vaginal fluids from a woman who has had it). </a:t>
            </a:r>
          </a:p>
        </p:txBody>
      </p:sp>
    </p:spTree>
    <p:extLst>
      <p:ext uri="{BB962C8B-B14F-4D97-AF65-F5344CB8AC3E}">
        <p14:creationId xmlns:p14="http://schemas.microsoft.com/office/powerpoint/2010/main" val="3695308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Locations </a:t>
            </a:r>
            <a:endParaRPr lang="en-AU" sz="6000" dirty="0"/>
          </a:p>
        </p:txBody>
      </p:sp>
      <p:sp>
        <p:nvSpPr>
          <p:cNvPr id="5" name="Content Placeholder 4"/>
          <p:cNvSpPr>
            <a:spLocks noGrp="1"/>
          </p:cNvSpPr>
          <p:nvPr>
            <p:ph idx="1"/>
          </p:nvPr>
        </p:nvSpPr>
        <p:spPr/>
        <p:txBody>
          <a:bodyPr/>
          <a:lstStyle/>
          <a:p>
            <a:r>
              <a:rPr lang="en-AU" dirty="0"/>
              <a:t>Whilst the majority of cases are located throughout Africa, Ebola cases have been confirmed in Italy, Mali, Nigeria, Senegal, Philippines, Spain, the United Kingdom, and the United States. </a:t>
            </a:r>
          </a:p>
        </p:txBody>
      </p:sp>
    </p:spTree>
    <p:extLst>
      <p:ext uri="{BB962C8B-B14F-4D97-AF65-F5344CB8AC3E}">
        <p14:creationId xmlns:p14="http://schemas.microsoft.com/office/powerpoint/2010/main" val="1100648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p:cNvPicPr>
            <a:picLocks noChangeAspect="1"/>
          </p:cNvPicPr>
          <p:nvPr/>
        </p:nvPicPr>
        <p:blipFill>
          <a:blip r:embed="rId2"/>
          <a:stretch>
            <a:fillRect/>
          </a:stretch>
        </p:blipFill>
        <p:spPr>
          <a:xfrm>
            <a:off x="1799114" y="87090"/>
            <a:ext cx="8339579" cy="6647815"/>
          </a:xfrm>
          <a:prstGeom prst="rect">
            <a:avLst/>
          </a:prstGeom>
        </p:spPr>
      </p:pic>
    </p:spTree>
    <p:extLst>
      <p:ext uri="{BB962C8B-B14F-4D97-AF65-F5344CB8AC3E}">
        <p14:creationId xmlns:p14="http://schemas.microsoft.com/office/powerpoint/2010/main" val="1304038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Signs and Symptoms </a:t>
            </a:r>
            <a:endParaRPr lang="en-AU" sz="6000" dirty="0"/>
          </a:p>
        </p:txBody>
      </p:sp>
      <p:sp>
        <p:nvSpPr>
          <p:cNvPr id="3" name="Content Placeholder 2"/>
          <p:cNvSpPr>
            <a:spLocks noGrp="1"/>
          </p:cNvSpPr>
          <p:nvPr>
            <p:ph idx="1"/>
          </p:nvPr>
        </p:nvSpPr>
        <p:spPr>
          <a:xfrm>
            <a:off x="296091" y="1532708"/>
            <a:ext cx="11512732" cy="5146765"/>
          </a:xfrm>
        </p:spPr>
        <p:txBody>
          <a:bodyPr>
            <a:normAutofit fontScale="85000" lnSpcReduction="20000"/>
          </a:bodyPr>
          <a:lstStyle/>
          <a:p>
            <a:pPr marL="0" indent="0">
              <a:buNone/>
            </a:pPr>
            <a:r>
              <a:rPr lang="en-AU" dirty="0"/>
              <a:t>The incubation period (the time interval from infection with the virus to onset of symptoms) is from 2 to 21 days. A person infected with Ebola cannot spread the disease until they develop symptoms. Symptoms of Ebola include:</a:t>
            </a:r>
          </a:p>
          <a:p>
            <a:r>
              <a:rPr lang="en-AU" dirty="0"/>
              <a:t>Fever</a:t>
            </a:r>
          </a:p>
          <a:p>
            <a:r>
              <a:rPr lang="en-AU" dirty="0"/>
              <a:t>Fatigue and muscle pain </a:t>
            </a:r>
          </a:p>
          <a:p>
            <a:r>
              <a:rPr lang="en-AU" dirty="0"/>
              <a:t>Headache and sore throat </a:t>
            </a:r>
          </a:p>
          <a:p>
            <a:pPr marL="0" indent="0">
              <a:buNone/>
            </a:pPr>
            <a:endParaRPr lang="en-AU" dirty="0"/>
          </a:p>
          <a:p>
            <a:pPr marL="0" indent="0">
              <a:buNone/>
            </a:pPr>
            <a:r>
              <a:rPr lang="en-AU" dirty="0"/>
              <a:t>This is followed by:</a:t>
            </a:r>
          </a:p>
          <a:p>
            <a:endParaRPr lang="en-AU" dirty="0"/>
          </a:p>
          <a:p>
            <a:r>
              <a:rPr lang="en-AU" dirty="0"/>
              <a:t>Vomiting and diarrhoea</a:t>
            </a:r>
          </a:p>
          <a:p>
            <a:r>
              <a:rPr lang="en-AU" dirty="0"/>
              <a:t>Rash</a:t>
            </a:r>
          </a:p>
          <a:p>
            <a:r>
              <a:rPr lang="en-AU" dirty="0"/>
              <a:t>Symptoms of impaired kidney and liver function</a:t>
            </a:r>
          </a:p>
          <a:p>
            <a:r>
              <a:rPr lang="en-AU" dirty="0"/>
              <a:t>Both internal and external bleeding (not in all cases) </a:t>
            </a:r>
          </a:p>
        </p:txBody>
      </p:sp>
    </p:spTree>
    <p:extLst>
      <p:ext uri="{BB962C8B-B14F-4D97-AF65-F5344CB8AC3E}">
        <p14:creationId xmlns:p14="http://schemas.microsoft.com/office/powerpoint/2010/main" val="192262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2576"/>
            <a:ext cx="10515600" cy="1325563"/>
          </a:xfrm>
        </p:spPr>
        <p:txBody>
          <a:bodyPr>
            <a:normAutofit/>
          </a:bodyPr>
          <a:lstStyle/>
          <a:p>
            <a:r>
              <a:rPr lang="en-AU" sz="6000" b="1" dirty="0"/>
              <a:t>Ebola- Spread through the body </a:t>
            </a:r>
            <a:endParaRPr lang="en-AU" sz="6000" dirty="0"/>
          </a:p>
        </p:txBody>
      </p:sp>
      <p:sp>
        <p:nvSpPr>
          <p:cNvPr id="3" name="Content Placeholder 2"/>
          <p:cNvSpPr>
            <a:spLocks noGrp="1"/>
          </p:cNvSpPr>
          <p:nvPr>
            <p:ph idx="1"/>
          </p:nvPr>
        </p:nvSpPr>
        <p:spPr>
          <a:xfrm>
            <a:off x="193765" y="1515291"/>
            <a:ext cx="11806645" cy="5199017"/>
          </a:xfrm>
        </p:spPr>
        <p:txBody>
          <a:bodyPr>
            <a:normAutofit/>
          </a:bodyPr>
          <a:lstStyle/>
          <a:p>
            <a:r>
              <a:rPr lang="en-AU" dirty="0"/>
              <a:t>Once the virus enters the body, it targets several types of immune cells. With defective immune cells, other cells and antibodies don't respond to infection. The virus can start replicating immediately and very quickly.</a:t>
            </a:r>
          </a:p>
          <a:p>
            <a:endParaRPr lang="en-AU" dirty="0"/>
          </a:p>
          <a:p>
            <a:r>
              <a:rPr lang="en-AU" dirty="0"/>
              <a:t>As Ebola travels in the blood throughout the body, other immune cells are infected. They release proteins that trigger coagulation, forming small clots throughout the blood vessels and reducing blood supply to organs. They also produce other inflammatory signalling proteins and nitric oxide, which damage the lining of blood vessels, causing them to leak (bleeding from eyes and nose). </a:t>
            </a:r>
          </a:p>
          <a:p>
            <a:endParaRPr lang="en-AU" dirty="0"/>
          </a:p>
        </p:txBody>
      </p:sp>
    </p:spTree>
    <p:extLst>
      <p:ext uri="{BB962C8B-B14F-4D97-AF65-F5344CB8AC3E}">
        <p14:creationId xmlns:p14="http://schemas.microsoft.com/office/powerpoint/2010/main" val="258366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Spread through the body </a:t>
            </a:r>
          </a:p>
        </p:txBody>
      </p:sp>
      <p:sp>
        <p:nvSpPr>
          <p:cNvPr id="3" name="Content Placeholder 2"/>
          <p:cNvSpPr>
            <a:spLocks noGrp="1"/>
          </p:cNvSpPr>
          <p:nvPr>
            <p:ph idx="1"/>
          </p:nvPr>
        </p:nvSpPr>
        <p:spPr>
          <a:xfrm>
            <a:off x="219892" y="1616620"/>
            <a:ext cx="11824062" cy="4662260"/>
          </a:xfrm>
        </p:spPr>
        <p:txBody>
          <a:bodyPr/>
          <a:lstStyle/>
          <a:p>
            <a:r>
              <a:rPr lang="en-AU" dirty="0"/>
              <a:t>Ebola triggers a system-wide inflammation and fever damaging many types of tissues in the body. But the consequences are especially profound in the liver, where Ebola wipes out cells required to produce coagulation proteins and other important components of plasma (leading to diarrhoea). </a:t>
            </a:r>
          </a:p>
          <a:p>
            <a:endParaRPr lang="en-AU" dirty="0"/>
          </a:p>
          <a:p>
            <a:r>
              <a:rPr lang="en-AU" dirty="0"/>
              <a:t>In the adrenal gland, the virus cripples the cells that make steroids to regulate blood pressure and causes circulatory failure that can starve organs of oxygen.</a:t>
            </a:r>
          </a:p>
          <a:p>
            <a:endParaRPr lang="en-AU" dirty="0"/>
          </a:p>
          <a:p>
            <a:r>
              <a:rPr lang="en-AU" dirty="0"/>
              <a:t>Damage to blood vessels leads to a drop in blood pressure, and patients die from shock and multiple organ failure.</a:t>
            </a:r>
          </a:p>
          <a:p>
            <a:endParaRPr lang="en-AU" dirty="0"/>
          </a:p>
        </p:txBody>
      </p:sp>
    </p:spTree>
    <p:extLst>
      <p:ext uri="{BB962C8B-B14F-4D97-AF65-F5344CB8AC3E}">
        <p14:creationId xmlns:p14="http://schemas.microsoft.com/office/powerpoint/2010/main" val="3864566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Diagnosis </a:t>
            </a:r>
            <a:endParaRPr lang="en-AU" sz="6000" dirty="0"/>
          </a:p>
        </p:txBody>
      </p:sp>
      <p:sp>
        <p:nvSpPr>
          <p:cNvPr id="3" name="Content Placeholder 2"/>
          <p:cNvSpPr>
            <a:spLocks noGrp="1"/>
          </p:cNvSpPr>
          <p:nvPr>
            <p:ph idx="1"/>
          </p:nvPr>
        </p:nvSpPr>
        <p:spPr>
          <a:xfrm>
            <a:off x="838200" y="1584960"/>
            <a:ext cx="10515600" cy="5050971"/>
          </a:xfrm>
        </p:spPr>
        <p:txBody>
          <a:bodyPr>
            <a:normAutofit lnSpcReduction="10000"/>
          </a:bodyPr>
          <a:lstStyle/>
          <a:p>
            <a:r>
              <a:rPr lang="en-AU" dirty="0"/>
              <a:t>If a person shows signs of Ebola, they should be isolated and public health authorities notified. Blood samples from the patient should be collected and tested to confirm infection. Ebola can be detected in blood after onset of symptoms. It may take up to three days after symptoms start for the virus to reach detectable levels.</a:t>
            </a:r>
          </a:p>
          <a:p>
            <a:endParaRPr lang="en-AU" dirty="0"/>
          </a:p>
          <a:p>
            <a:r>
              <a:rPr lang="en-AU" dirty="0"/>
              <a:t>Polymerase chain reaction (PCR) is one of the most commonly used diagnostic methods because of its ability to detect low levels of Ebola virus. </a:t>
            </a:r>
          </a:p>
          <a:p>
            <a:endParaRPr lang="en-AU" dirty="0"/>
          </a:p>
          <a:p>
            <a:r>
              <a:rPr lang="en-AU" dirty="0"/>
              <a:t>The issue is access to health care facilities to diagnose Ebola before it spreads through villages and communities. </a:t>
            </a:r>
          </a:p>
        </p:txBody>
      </p:sp>
    </p:spTree>
    <p:extLst>
      <p:ext uri="{BB962C8B-B14F-4D97-AF65-F5344CB8AC3E}">
        <p14:creationId xmlns:p14="http://schemas.microsoft.com/office/powerpoint/2010/main" val="4241944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Treatment and Cost </a:t>
            </a:r>
            <a:endParaRPr lang="en-AU" sz="6000" dirty="0"/>
          </a:p>
        </p:txBody>
      </p:sp>
      <p:sp>
        <p:nvSpPr>
          <p:cNvPr id="3" name="Content Placeholder 2"/>
          <p:cNvSpPr>
            <a:spLocks noGrp="1"/>
          </p:cNvSpPr>
          <p:nvPr>
            <p:ph idx="1"/>
          </p:nvPr>
        </p:nvSpPr>
        <p:spPr>
          <a:xfrm>
            <a:off x="272142" y="1607911"/>
            <a:ext cx="11702143" cy="5045438"/>
          </a:xfrm>
        </p:spPr>
        <p:txBody>
          <a:bodyPr>
            <a:normAutofit/>
          </a:bodyPr>
          <a:lstStyle/>
          <a:p>
            <a:r>
              <a:rPr lang="en-AU" dirty="0"/>
              <a:t>Treatment has been in the research levels from 1997-2020. </a:t>
            </a:r>
          </a:p>
          <a:p>
            <a:r>
              <a:rPr lang="en-AU" dirty="0"/>
              <a:t>Currently two treatments approved to treat Ebola Zaire. The first was approved in October 2020, Inmazeb, with the second, Ebanga approved in December 2020. Both are combinations of antibodies designed to stop the virus from replicating once inside the body.  </a:t>
            </a:r>
          </a:p>
          <a:p>
            <a:r>
              <a:rPr lang="en-AU" dirty="0"/>
              <a:t>Both of these treatments, along with two others, were evaluated in a randomised controlled trial during the 2018-2020 Ebola outbreak in the Congo. </a:t>
            </a:r>
          </a:p>
          <a:p>
            <a:r>
              <a:rPr lang="en-AU" dirty="0"/>
              <a:t>Neither Inmazeb nor Ebanga have been evaluated for efficacy against species other than Zaire.</a:t>
            </a:r>
          </a:p>
        </p:txBody>
      </p:sp>
    </p:spTree>
    <p:extLst>
      <p:ext uri="{BB962C8B-B14F-4D97-AF65-F5344CB8AC3E}">
        <p14:creationId xmlns:p14="http://schemas.microsoft.com/office/powerpoint/2010/main" val="1788167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Treatment and Cost </a:t>
            </a:r>
          </a:p>
        </p:txBody>
      </p:sp>
      <p:sp>
        <p:nvSpPr>
          <p:cNvPr id="3" name="Content Placeholder 2"/>
          <p:cNvSpPr>
            <a:spLocks noGrp="1"/>
          </p:cNvSpPr>
          <p:nvPr>
            <p:ph idx="1"/>
          </p:nvPr>
        </p:nvSpPr>
        <p:spPr/>
        <p:txBody>
          <a:bodyPr/>
          <a:lstStyle/>
          <a:p>
            <a:r>
              <a:rPr lang="en-AU" dirty="0"/>
              <a:t>Regeneron expects to deliver an established number of treatment doses over the course of 6-years and receive compensation of approximately $10 million in 2021 and an average of $67 million per year for each of the next five years (2022-2026).</a:t>
            </a:r>
          </a:p>
          <a:p>
            <a:endParaRPr lang="en-AU" dirty="0"/>
          </a:p>
          <a:p>
            <a:r>
              <a:rPr lang="en-AU" dirty="0"/>
              <a:t>225, 000 people had been vaccinated by March of 2021. This approximately works out to be $44 a vaccine. At the moment, this is being covered by World Government Donations. </a:t>
            </a:r>
          </a:p>
          <a:p>
            <a:endParaRPr lang="en-AU" dirty="0"/>
          </a:p>
          <a:p>
            <a:endParaRPr lang="en-AU" dirty="0"/>
          </a:p>
        </p:txBody>
      </p:sp>
    </p:spTree>
    <p:extLst>
      <p:ext uri="{BB962C8B-B14F-4D97-AF65-F5344CB8AC3E}">
        <p14:creationId xmlns:p14="http://schemas.microsoft.com/office/powerpoint/2010/main" val="2928112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Fatality </a:t>
            </a:r>
            <a:endParaRPr lang="en-AU" sz="60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29235868"/>
              </p:ext>
            </p:extLst>
          </p:nvPr>
        </p:nvGraphicFramePr>
        <p:xfrm>
          <a:off x="318951" y="2086883"/>
          <a:ext cx="11554098" cy="3371088"/>
        </p:xfrm>
        <a:graphic>
          <a:graphicData uri="http://schemas.openxmlformats.org/drawingml/2006/table">
            <a:tbl>
              <a:tblPr firstRow="1" bandRow="1">
                <a:tableStyleId>{5940675A-B579-460E-94D1-54222C63F5DA}</a:tableStyleId>
              </a:tblPr>
              <a:tblGrid>
                <a:gridCol w="5777049">
                  <a:extLst>
                    <a:ext uri="{9D8B030D-6E8A-4147-A177-3AD203B41FA5}">
                      <a16:colId xmlns:a16="http://schemas.microsoft.com/office/drawing/2014/main" val="3902710962"/>
                    </a:ext>
                  </a:extLst>
                </a:gridCol>
                <a:gridCol w="5777049">
                  <a:extLst>
                    <a:ext uri="{9D8B030D-6E8A-4147-A177-3AD203B41FA5}">
                      <a16:colId xmlns:a16="http://schemas.microsoft.com/office/drawing/2014/main" val="3197628099"/>
                    </a:ext>
                  </a:extLst>
                </a:gridCol>
              </a:tblGrid>
              <a:tr h="370840">
                <a:tc>
                  <a:txBody>
                    <a:bodyPr/>
                    <a:lstStyle/>
                    <a:p>
                      <a:pPr algn="ctr"/>
                      <a:r>
                        <a:rPr lang="en-AU" sz="2800" b="1" dirty="0"/>
                        <a:t>Ebola species</a:t>
                      </a:r>
                      <a:r>
                        <a:rPr lang="en-AU" sz="2800" b="1" baseline="0" dirty="0"/>
                        <a:t> </a:t>
                      </a:r>
                      <a:endParaRPr lang="en-AU"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AU" sz="2800" b="1" dirty="0"/>
                        <a:t>Fatality Rate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983401335"/>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800" i="1" u="none" strike="noStrike" kern="1200" cap="none" spc="0" normalizeH="0" baseline="0" noProof="0" dirty="0">
                          <a:ln>
                            <a:noFill/>
                          </a:ln>
                          <a:effectLst/>
                          <a:uLnTx/>
                          <a:uFillTx/>
                        </a:rPr>
                        <a:t>Zaire ebolavirus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buFont typeface="Arial" panose="020B0604020202020204" pitchFamily="34" charset="0"/>
                        <a:buNone/>
                      </a:pPr>
                      <a:r>
                        <a:rPr lang="en-AU" dirty="0"/>
                        <a:t>60-90%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81836967"/>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800" i="1" u="none" strike="noStrike" kern="1200" cap="none" spc="0" normalizeH="0" baseline="0" noProof="0" dirty="0">
                          <a:ln>
                            <a:noFill/>
                          </a:ln>
                          <a:effectLst/>
                          <a:uLnTx/>
                          <a:uFillTx/>
                        </a:rPr>
                        <a:t>Sudan ebolavirus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buFont typeface="Arial" panose="020B0604020202020204" pitchFamily="34" charset="0"/>
                        <a:buNone/>
                      </a:pPr>
                      <a:r>
                        <a:rPr lang="en-AU" dirty="0"/>
                        <a:t>40-60%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22091640"/>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800" i="1" u="none" strike="noStrike" kern="1200" cap="none" spc="0" normalizeH="0" baseline="0" noProof="0" dirty="0">
                          <a:ln>
                            <a:noFill/>
                          </a:ln>
                          <a:effectLst/>
                          <a:uLnTx/>
                          <a:uFillTx/>
                        </a:rPr>
                        <a:t>Taï Forest ebolavirus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buFont typeface="Arial" panose="020B0604020202020204" pitchFamily="34" charset="0"/>
                        <a:buNone/>
                      </a:pPr>
                      <a:r>
                        <a:rPr lang="en-AU" dirty="0"/>
                        <a:t>50-90%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56468516"/>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800" i="1" u="none" strike="noStrike" kern="1200" cap="none" spc="0" normalizeH="0" baseline="0" noProof="0" dirty="0">
                          <a:ln>
                            <a:noFill/>
                          </a:ln>
                          <a:effectLst/>
                          <a:uLnTx/>
                          <a:uFillTx/>
                        </a:rPr>
                        <a:t>Bundibugyo ebolavirus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buFont typeface="Arial" panose="020B0604020202020204" pitchFamily="34" charset="0"/>
                        <a:buNone/>
                      </a:pPr>
                      <a:r>
                        <a:rPr lang="en-AU" dirty="0"/>
                        <a:t>25%</a:t>
                      </a:r>
                      <a:r>
                        <a:rPr lang="en-AU" baseline="0" dirty="0"/>
                        <a:t>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28729170"/>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800" i="1" u="none" strike="noStrike" kern="1200" cap="none" spc="0" normalizeH="0" baseline="0" noProof="0" dirty="0">
                          <a:ln>
                            <a:noFill/>
                          </a:ln>
                          <a:effectLst/>
                          <a:uLnTx/>
                          <a:uFillTx/>
                        </a:rPr>
                        <a:t>Reston ebolavirus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buFont typeface="Arial" panose="020B0604020202020204" pitchFamily="34" charset="0"/>
                        <a:buNone/>
                      </a:pPr>
                      <a:r>
                        <a:rPr lang="en-AU" dirty="0"/>
                        <a:t>0%  (has infected humans)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2259133"/>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800" i="1" u="none" strike="noStrike" kern="1200" cap="none" spc="0" normalizeH="0" baseline="0" noProof="0" dirty="0">
                          <a:ln>
                            <a:noFill/>
                          </a:ln>
                          <a:effectLst/>
                          <a:uLnTx/>
                          <a:uFillTx/>
                        </a:rPr>
                        <a:t>Bombali ebolavirus</a:t>
                      </a:r>
                      <a:endParaRPr kumimoji="0" lang="en-AU" sz="2800" b="0" i="1"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buFont typeface="Arial" panose="020B0604020202020204" pitchFamily="34" charset="0"/>
                        <a:buNone/>
                      </a:pPr>
                      <a:r>
                        <a:rPr lang="en-AU" dirty="0"/>
                        <a:t>0% (has</a:t>
                      </a:r>
                      <a:r>
                        <a:rPr lang="en-AU" baseline="0" dirty="0"/>
                        <a:t> not infected humans)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70647962"/>
                  </a:ext>
                </a:extLst>
              </a:tr>
            </a:tbl>
          </a:graphicData>
        </a:graphic>
      </p:graphicFrame>
    </p:spTree>
    <p:extLst>
      <p:ext uri="{BB962C8B-B14F-4D97-AF65-F5344CB8AC3E}">
        <p14:creationId xmlns:p14="http://schemas.microsoft.com/office/powerpoint/2010/main" val="88557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Ebola- 1976 </a:t>
            </a:r>
            <a:endParaRPr lang="en-AU" sz="6000" dirty="0"/>
          </a:p>
        </p:txBody>
      </p:sp>
      <p:sp>
        <p:nvSpPr>
          <p:cNvPr id="3" name="Content Placeholder 2"/>
          <p:cNvSpPr>
            <a:spLocks noGrp="1"/>
          </p:cNvSpPr>
          <p:nvPr>
            <p:ph idx="1"/>
          </p:nvPr>
        </p:nvSpPr>
        <p:spPr/>
        <p:txBody>
          <a:bodyPr>
            <a:normAutofit/>
          </a:bodyPr>
          <a:lstStyle/>
          <a:p>
            <a:r>
              <a:rPr lang="en-AU" dirty="0"/>
              <a:t>Three-quarters of Zaire’s population lived in forest villages in 1976. Estimates suggest that each of the forest villages had a population of less than 5,000 people; the smallest villages had less than 500 inhabitants. Many of these villages bordered the Zaire River. </a:t>
            </a:r>
          </a:p>
          <a:p>
            <a:pPr marL="0" indent="0">
              <a:buNone/>
            </a:pPr>
            <a:endParaRPr lang="en-AU" dirty="0"/>
          </a:p>
          <a:p>
            <a:r>
              <a:rPr lang="en-AU" dirty="0"/>
              <a:t>Most of Zaire’s people either hunted or had contact with hunters that were exposed to an array of wild animals. </a:t>
            </a:r>
          </a:p>
          <a:p>
            <a:endParaRPr lang="en-AU" dirty="0"/>
          </a:p>
        </p:txBody>
      </p:sp>
    </p:spTree>
    <p:extLst>
      <p:ext uri="{BB962C8B-B14F-4D97-AF65-F5344CB8AC3E}">
        <p14:creationId xmlns:p14="http://schemas.microsoft.com/office/powerpoint/2010/main" val="3703950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0954"/>
            <a:ext cx="10515600" cy="1325563"/>
          </a:xfrm>
        </p:spPr>
        <p:txBody>
          <a:bodyPr>
            <a:normAutofit/>
          </a:bodyPr>
          <a:lstStyle/>
          <a:p>
            <a:r>
              <a:rPr lang="en-AU" sz="6000" b="1" dirty="0"/>
              <a:t>Ebola- 1976 </a:t>
            </a:r>
            <a:endParaRPr lang="en-AU" sz="6000" dirty="0"/>
          </a:p>
        </p:txBody>
      </p:sp>
      <p:sp>
        <p:nvSpPr>
          <p:cNvPr id="3" name="Content Placeholder 2"/>
          <p:cNvSpPr>
            <a:spLocks noGrp="1"/>
          </p:cNvSpPr>
          <p:nvPr>
            <p:ph idx="1"/>
          </p:nvPr>
        </p:nvSpPr>
        <p:spPr>
          <a:xfrm>
            <a:off x="237307" y="1390196"/>
            <a:ext cx="11719561" cy="5315403"/>
          </a:xfrm>
        </p:spPr>
        <p:txBody>
          <a:bodyPr>
            <a:normAutofit/>
          </a:bodyPr>
          <a:lstStyle/>
          <a:p>
            <a:r>
              <a:rPr lang="en-AU" dirty="0" err="1"/>
              <a:t>Mabalo</a:t>
            </a:r>
            <a:r>
              <a:rPr lang="en-AU" dirty="0"/>
              <a:t> </a:t>
            </a:r>
            <a:r>
              <a:rPr lang="en-AU" dirty="0" err="1"/>
              <a:t>Lokela</a:t>
            </a:r>
            <a:r>
              <a:rPr lang="en-AU" dirty="0"/>
              <a:t>, the principal of a school, was the first case. Initially, </a:t>
            </a:r>
            <a:r>
              <a:rPr lang="en-AU" dirty="0" err="1"/>
              <a:t>Lokela</a:t>
            </a:r>
            <a:r>
              <a:rPr lang="en-AU" dirty="0"/>
              <a:t> was diagnosed with malaria at the Mission Hospital. </a:t>
            </a:r>
          </a:p>
          <a:p>
            <a:endParaRPr lang="en-AU" dirty="0"/>
          </a:p>
          <a:p>
            <a:r>
              <a:rPr lang="en-AU" dirty="0" err="1"/>
              <a:t>Lokela</a:t>
            </a:r>
            <a:r>
              <a:rPr lang="en-AU" dirty="0"/>
              <a:t> returned to the hospital on September 1</a:t>
            </a:r>
            <a:r>
              <a:rPr lang="en-AU" baseline="30000" dirty="0"/>
              <a:t>st</a:t>
            </a:r>
            <a:r>
              <a:rPr lang="en-AU" dirty="0"/>
              <a:t> with a high fever. Rest was recommended, and he returned home to his village, about 1 kilometre away.</a:t>
            </a:r>
          </a:p>
          <a:p>
            <a:endParaRPr lang="en-AU" dirty="0"/>
          </a:p>
          <a:p>
            <a:r>
              <a:rPr lang="en-AU" dirty="0"/>
              <a:t>By the 5</a:t>
            </a:r>
            <a:r>
              <a:rPr lang="en-AU" baseline="30000" dirty="0"/>
              <a:t>th</a:t>
            </a:r>
            <a:r>
              <a:rPr lang="en-AU" dirty="0"/>
              <a:t> of September, </a:t>
            </a:r>
            <a:r>
              <a:rPr lang="en-AU" dirty="0" err="1"/>
              <a:t>Lokela</a:t>
            </a:r>
            <a:r>
              <a:rPr lang="en-AU" dirty="0"/>
              <a:t> was worse with profuse bleeding, vomiting, diarrhoea, chest pains, headache, fever, agitation, and confusion. He died on the 8</a:t>
            </a:r>
            <a:r>
              <a:rPr lang="en-AU" baseline="30000" dirty="0"/>
              <a:t>th</a:t>
            </a:r>
            <a:r>
              <a:rPr lang="en-AU" dirty="0"/>
              <a:t> of September. </a:t>
            </a:r>
          </a:p>
          <a:p>
            <a:endParaRPr lang="en-AU" dirty="0"/>
          </a:p>
        </p:txBody>
      </p:sp>
    </p:spTree>
    <p:extLst>
      <p:ext uri="{BB962C8B-B14F-4D97-AF65-F5344CB8AC3E}">
        <p14:creationId xmlns:p14="http://schemas.microsoft.com/office/powerpoint/2010/main" val="1951279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Ebola- 1976 </a:t>
            </a:r>
          </a:p>
        </p:txBody>
      </p:sp>
      <p:sp>
        <p:nvSpPr>
          <p:cNvPr id="3" name="Content Placeholder 2"/>
          <p:cNvSpPr>
            <a:spLocks noGrp="1"/>
          </p:cNvSpPr>
          <p:nvPr>
            <p:ph idx="1"/>
          </p:nvPr>
        </p:nvSpPr>
        <p:spPr>
          <a:xfrm>
            <a:off x="838200" y="1515291"/>
            <a:ext cx="10515600" cy="4661672"/>
          </a:xfrm>
        </p:spPr>
        <p:txBody>
          <a:bodyPr>
            <a:normAutofit/>
          </a:bodyPr>
          <a:lstStyle/>
          <a:p>
            <a:r>
              <a:rPr lang="en-AU" dirty="0"/>
              <a:t>In August, a number of other cases were presented at the Mission Hospital. </a:t>
            </a:r>
          </a:p>
          <a:p>
            <a:endParaRPr lang="en-AU" dirty="0"/>
          </a:p>
          <a:p>
            <a:r>
              <a:rPr lang="en-AU" dirty="0"/>
              <a:t>A report from the World Health Organization noted that "almost all subsequent infections had either received injections at the hospital or had had close contact with another case." </a:t>
            </a:r>
          </a:p>
          <a:p>
            <a:endParaRPr lang="en-AU" dirty="0"/>
          </a:p>
          <a:p>
            <a:r>
              <a:rPr lang="en-AU" dirty="0"/>
              <a:t>Shortly after family members prepared his body for burial, in accordance with local customs, 21 of </a:t>
            </a:r>
            <a:r>
              <a:rPr lang="en-AU" dirty="0" err="1"/>
              <a:t>Lokela's</a:t>
            </a:r>
            <a:r>
              <a:rPr lang="en-AU" dirty="0"/>
              <a:t> friends and relatives fell seriously ill and 18 later died. </a:t>
            </a:r>
          </a:p>
          <a:p>
            <a:endParaRPr lang="en-AU" dirty="0"/>
          </a:p>
        </p:txBody>
      </p:sp>
    </p:spTree>
    <p:extLst>
      <p:ext uri="{BB962C8B-B14F-4D97-AF65-F5344CB8AC3E}">
        <p14:creationId xmlns:p14="http://schemas.microsoft.com/office/powerpoint/2010/main" val="2148309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Ebola- 1976 </a:t>
            </a:r>
            <a:endParaRPr lang="en-AU" sz="6000" dirty="0"/>
          </a:p>
        </p:txBody>
      </p:sp>
      <p:sp>
        <p:nvSpPr>
          <p:cNvPr id="3" name="Content Placeholder 2"/>
          <p:cNvSpPr>
            <a:spLocks noGrp="1"/>
          </p:cNvSpPr>
          <p:nvPr>
            <p:ph idx="1"/>
          </p:nvPr>
        </p:nvSpPr>
        <p:spPr>
          <a:xfrm>
            <a:off x="211182" y="1828800"/>
            <a:ext cx="11832771" cy="4859382"/>
          </a:xfrm>
        </p:spPr>
        <p:txBody>
          <a:bodyPr>
            <a:normAutofit/>
          </a:bodyPr>
          <a:lstStyle/>
          <a:p>
            <a:r>
              <a:rPr lang="en-AU" dirty="0"/>
              <a:t>The Mission Hospital was a remote Catholic hospital operated by nuns and had no trained doctors or laboratory facilities to aid in diagnosis. </a:t>
            </a:r>
          </a:p>
          <a:p>
            <a:endParaRPr lang="en-AU" dirty="0"/>
          </a:p>
          <a:p>
            <a:r>
              <a:rPr lang="en-AU" dirty="0"/>
              <a:t>Urgent pleas for assistance were sent out on the 12</a:t>
            </a:r>
            <a:r>
              <a:rPr lang="en-AU" baseline="30000" dirty="0"/>
              <a:t>th</a:t>
            </a:r>
            <a:r>
              <a:rPr lang="en-AU" dirty="0"/>
              <a:t> of September. On the 15</a:t>
            </a:r>
            <a:r>
              <a:rPr lang="en-AU" baseline="30000" dirty="0"/>
              <a:t>th</a:t>
            </a:r>
            <a:r>
              <a:rPr lang="en-AU" dirty="0"/>
              <a:t> of September, the first doctor </a:t>
            </a:r>
            <a:r>
              <a:rPr lang="en-AU" dirty="0" err="1"/>
              <a:t>Mgoi</a:t>
            </a:r>
            <a:r>
              <a:rPr lang="en-AU" dirty="0"/>
              <a:t> </a:t>
            </a:r>
            <a:r>
              <a:rPr lang="en-AU" dirty="0" err="1"/>
              <a:t>Mushola</a:t>
            </a:r>
            <a:r>
              <a:rPr lang="en-AU" dirty="0"/>
              <a:t>, arrived and prepared a report in which he noted that none of the treatments had any success. </a:t>
            </a:r>
          </a:p>
          <a:p>
            <a:endParaRPr lang="en-AU" dirty="0"/>
          </a:p>
          <a:p>
            <a:r>
              <a:rPr lang="en-AU" dirty="0"/>
              <a:t>The army assisted with enforcing quarantine zones. </a:t>
            </a:r>
          </a:p>
          <a:p>
            <a:endParaRPr lang="en-AU" dirty="0"/>
          </a:p>
        </p:txBody>
      </p:sp>
    </p:spTree>
    <p:extLst>
      <p:ext uri="{BB962C8B-B14F-4D97-AF65-F5344CB8AC3E}">
        <p14:creationId xmlns:p14="http://schemas.microsoft.com/office/powerpoint/2010/main" val="1498038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Ebola- 1976</a:t>
            </a:r>
          </a:p>
        </p:txBody>
      </p:sp>
      <p:sp>
        <p:nvSpPr>
          <p:cNvPr id="3" name="Content Placeholder 2"/>
          <p:cNvSpPr>
            <a:spLocks noGrp="1"/>
          </p:cNvSpPr>
          <p:nvPr>
            <p:ph idx="1"/>
          </p:nvPr>
        </p:nvSpPr>
        <p:spPr/>
        <p:txBody>
          <a:bodyPr/>
          <a:lstStyle/>
          <a:p>
            <a:r>
              <a:rPr lang="en-AU" dirty="0"/>
              <a:t>Peter Piot, a microbiologist who investigated the illness, concluded that it was caused by the Sisters of the Mission Hospital, who had given vitamin injections to pregnant women without sterilising the needles and syringes. </a:t>
            </a:r>
          </a:p>
          <a:p>
            <a:endParaRPr lang="en-AU" dirty="0"/>
          </a:p>
          <a:p>
            <a:r>
              <a:rPr lang="en-AU" dirty="0"/>
              <a:t>In all 318 cases of Ebola identified in Zaire, 280 resulted in death. An additional 284 cases and 151 deaths occurred in nearby South Sudan in an unrelated but simultaneous outbreak. </a:t>
            </a:r>
          </a:p>
          <a:p>
            <a:endParaRPr lang="en-AU" dirty="0"/>
          </a:p>
        </p:txBody>
      </p:sp>
    </p:spTree>
    <p:extLst>
      <p:ext uri="{BB962C8B-B14F-4D97-AF65-F5344CB8AC3E}">
        <p14:creationId xmlns:p14="http://schemas.microsoft.com/office/powerpoint/2010/main" val="4286543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Ebola- 1989 Reston </a:t>
            </a:r>
            <a:endParaRPr lang="en-AU" sz="6000" dirty="0"/>
          </a:p>
        </p:txBody>
      </p:sp>
      <p:sp>
        <p:nvSpPr>
          <p:cNvPr id="3" name="Content Placeholder 2"/>
          <p:cNvSpPr>
            <a:spLocks noGrp="1"/>
          </p:cNvSpPr>
          <p:nvPr>
            <p:ph idx="1"/>
          </p:nvPr>
        </p:nvSpPr>
        <p:spPr/>
        <p:txBody>
          <a:bodyPr>
            <a:normAutofit/>
          </a:bodyPr>
          <a:lstStyle/>
          <a:p>
            <a:r>
              <a:rPr lang="en-AU" dirty="0"/>
              <a:t>Reston Ebolavirus was discovered in research monkeys imported from the Philippines into the U.S. Scientists confirmed that the virus spread throughout the monkey population through droplets in the air. The discovery Ebola in these monkeys from the Philippines revealed that it was no longer confined to Africa.</a:t>
            </a:r>
          </a:p>
          <a:p>
            <a:endParaRPr lang="en-AU" dirty="0"/>
          </a:p>
          <a:p>
            <a:r>
              <a:rPr lang="en-AU" dirty="0"/>
              <a:t>The investigative team studied 186 people who had come into contact with these monkeys in the USA and the Philippines. 12 of the 186 people tested had were positive. No people died. </a:t>
            </a:r>
          </a:p>
        </p:txBody>
      </p:sp>
    </p:spTree>
    <p:extLst>
      <p:ext uri="{BB962C8B-B14F-4D97-AF65-F5344CB8AC3E}">
        <p14:creationId xmlns:p14="http://schemas.microsoft.com/office/powerpoint/2010/main" val="2189518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Ebola- 2013 to 2016 </a:t>
            </a:r>
            <a:endParaRPr lang="en-AU" sz="6000" dirty="0"/>
          </a:p>
        </p:txBody>
      </p:sp>
      <p:sp>
        <p:nvSpPr>
          <p:cNvPr id="3" name="Content Placeholder 2"/>
          <p:cNvSpPr>
            <a:spLocks noGrp="1"/>
          </p:cNvSpPr>
          <p:nvPr>
            <p:ph idx="1"/>
          </p:nvPr>
        </p:nvSpPr>
        <p:spPr/>
        <p:txBody>
          <a:bodyPr>
            <a:normAutofit/>
          </a:bodyPr>
          <a:lstStyle/>
          <a:p>
            <a:r>
              <a:rPr lang="en-AU" dirty="0"/>
              <a:t>The initial case was an 18 month old boy from Guinea was reported in December 2013. After five additional cases of fatal diarrhoea occurred in that area, an official medical alert was issued on January 24, 2014. </a:t>
            </a:r>
          </a:p>
          <a:p>
            <a:endParaRPr lang="en-AU" dirty="0"/>
          </a:p>
          <a:p>
            <a:r>
              <a:rPr lang="en-AU" dirty="0"/>
              <a:t>Ebola soon spread to Guinea’s capital city, and on March 13, 2014, the Ministry of Health in Guinea issued an alert. Shortly after researchers in France confirmed the illness as Zaire Ebolavirus. On March 23 2014, with 49 confirmed cases and 29 deaths, the WHO officially declared an outbreak of EVD.</a:t>
            </a:r>
          </a:p>
          <a:p>
            <a:endParaRPr lang="en-AU" dirty="0"/>
          </a:p>
          <a:p>
            <a:endParaRPr lang="en-AU" dirty="0"/>
          </a:p>
          <a:p>
            <a:endParaRPr lang="en-AU" dirty="0"/>
          </a:p>
        </p:txBody>
      </p:sp>
    </p:spTree>
    <p:extLst>
      <p:ext uri="{BB962C8B-B14F-4D97-AF65-F5344CB8AC3E}">
        <p14:creationId xmlns:p14="http://schemas.microsoft.com/office/powerpoint/2010/main" val="4273931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Ebola- 2013 to 2016 </a:t>
            </a:r>
          </a:p>
        </p:txBody>
      </p:sp>
      <p:sp>
        <p:nvSpPr>
          <p:cNvPr id="3" name="Content Placeholder 2"/>
          <p:cNvSpPr>
            <a:spLocks noGrp="1"/>
          </p:cNvSpPr>
          <p:nvPr>
            <p:ph idx="1"/>
          </p:nvPr>
        </p:nvSpPr>
        <p:spPr/>
        <p:txBody>
          <a:bodyPr/>
          <a:lstStyle/>
          <a:p>
            <a:r>
              <a:rPr lang="en-AU" dirty="0"/>
              <a:t>Weak surveillance systems and poor public health infrastructure contributed to the difficulty surrounding the containment of this outbreak and it quickly spread to Guinea’s bordering countries, Liberia and Sierra Leone by July 2014. This was the first time Ebola extended out from isolated, rural areas and into densely populated urban centres. </a:t>
            </a:r>
          </a:p>
          <a:p>
            <a:endParaRPr lang="en-AU" dirty="0"/>
          </a:p>
        </p:txBody>
      </p:sp>
    </p:spTree>
    <p:extLst>
      <p:ext uri="{BB962C8B-B14F-4D97-AF65-F5344CB8AC3E}">
        <p14:creationId xmlns:p14="http://schemas.microsoft.com/office/powerpoint/2010/main" val="475460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Ebola- 2013 to 2016 </a:t>
            </a:r>
            <a:endParaRPr lang="en-AU" sz="6000" dirty="0"/>
          </a:p>
        </p:txBody>
      </p:sp>
      <p:sp>
        <p:nvSpPr>
          <p:cNvPr id="3" name="Content Placeholder 2"/>
          <p:cNvSpPr>
            <a:spLocks noGrp="1"/>
          </p:cNvSpPr>
          <p:nvPr>
            <p:ph idx="1"/>
          </p:nvPr>
        </p:nvSpPr>
        <p:spPr/>
        <p:txBody>
          <a:bodyPr>
            <a:normAutofit/>
          </a:bodyPr>
          <a:lstStyle/>
          <a:p>
            <a:r>
              <a:rPr lang="en-AU" dirty="0"/>
              <a:t>On August 8, 2014, WHO declared the deteriorating situation in West Africa a Public Health Emergency of International Concern. Over the duration of the epidemic, Ebola spread to seven more countries: Italy, Mali, Nigeria, Senegal, Spain, the United Kingdom, and the United States. </a:t>
            </a:r>
          </a:p>
          <a:p>
            <a:r>
              <a:rPr lang="en-AU" dirty="0"/>
              <a:t>The scope of this outbreak, can be attributed to the unprecedented circulation of Ebola into crowded urban areas and increased mobilisation across borders. </a:t>
            </a:r>
          </a:p>
          <a:p>
            <a:r>
              <a:rPr lang="en-AU" dirty="0"/>
              <a:t>Liberia was declared Ebola-free on June 1st, 2016.</a:t>
            </a:r>
          </a:p>
          <a:p>
            <a:endParaRPr lang="en-AU" dirty="0"/>
          </a:p>
        </p:txBody>
      </p:sp>
    </p:spTree>
    <p:extLst>
      <p:ext uri="{BB962C8B-B14F-4D97-AF65-F5344CB8AC3E}">
        <p14:creationId xmlns:p14="http://schemas.microsoft.com/office/powerpoint/2010/main" val="1157290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Ebola- 2013 to 2016 </a:t>
            </a:r>
            <a:endParaRPr lang="en-AU" sz="6000" dirty="0"/>
          </a:p>
        </p:txBody>
      </p:sp>
      <p:sp>
        <p:nvSpPr>
          <p:cNvPr id="3" name="Content Placeholder 2"/>
          <p:cNvSpPr>
            <a:spLocks noGrp="1"/>
          </p:cNvSpPr>
          <p:nvPr>
            <p:ph idx="1"/>
          </p:nvPr>
        </p:nvSpPr>
        <p:spPr/>
        <p:txBody>
          <a:bodyPr>
            <a:normAutofit/>
          </a:bodyPr>
          <a:lstStyle/>
          <a:p>
            <a:r>
              <a:rPr lang="en-AU" dirty="0"/>
              <a:t>Sierra Leone and Guinea were finally declared Ebola-free in June 2016. Two and a half years after the first case was discovered, the outbreak ended with more than 28,600 cases and 11,325 deaths.</a:t>
            </a:r>
          </a:p>
          <a:p>
            <a:endParaRPr lang="en-AU" dirty="0"/>
          </a:p>
          <a:p>
            <a:r>
              <a:rPr lang="en-AU" dirty="0"/>
              <a:t>Overall, 11 people were treated for Ebola in the United States during this epidemic. On September 30 2014, CDC confirmed the first travel-associated case of Ebola in a man who travelled from West Africa to Dallas, Texas. The patient died. Two health care workers and 8 medical workers made up the other positive cases. One of them died. </a:t>
            </a:r>
          </a:p>
          <a:p>
            <a:endParaRPr lang="en-AU" dirty="0"/>
          </a:p>
          <a:p>
            <a:endParaRPr lang="en-AU" dirty="0"/>
          </a:p>
          <a:p>
            <a:endParaRPr lang="en-AU" dirty="0"/>
          </a:p>
        </p:txBody>
      </p:sp>
    </p:spTree>
    <p:extLst>
      <p:ext uri="{BB962C8B-B14F-4D97-AF65-F5344CB8AC3E}">
        <p14:creationId xmlns:p14="http://schemas.microsoft.com/office/powerpoint/2010/main" val="2924825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AU" sz="6000" b="1" dirty="0"/>
              <a:t>Ebola- 2013 to 2016 </a:t>
            </a:r>
          </a:p>
        </p:txBody>
      </p:sp>
      <p:sp>
        <p:nvSpPr>
          <p:cNvPr id="3" name="Content Placeholder 2"/>
          <p:cNvSpPr>
            <a:spLocks noGrp="1"/>
          </p:cNvSpPr>
          <p:nvPr>
            <p:ph idx="1"/>
          </p:nvPr>
        </p:nvSpPr>
        <p:spPr>
          <a:xfrm>
            <a:off x="350521" y="1619794"/>
            <a:ext cx="11632474" cy="4737462"/>
          </a:xfrm>
        </p:spPr>
        <p:txBody>
          <a:bodyPr>
            <a:normAutofit/>
          </a:bodyPr>
          <a:lstStyle/>
          <a:p>
            <a:r>
              <a:rPr lang="en-AU" dirty="0"/>
              <a:t>People leaving West Africa were screened at airports to identify those at risk for Ebola and prevent it spreading. The US routed travellers to designated airports better able to assess them before entering America.</a:t>
            </a:r>
          </a:p>
          <a:p>
            <a:endParaRPr lang="en-AU" dirty="0"/>
          </a:p>
          <a:p>
            <a:r>
              <a:rPr lang="en-AU" dirty="0"/>
              <a:t>The CDC trained 24,655 healthcare workers in West Africa on infection control practices. In the US, more than 6,500 people were trained. In addition, laboratory capacity was expanded in West Africa with 24 laboratories able to test for Ebola virus.</a:t>
            </a:r>
          </a:p>
          <a:p>
            <a:pPr marL="0" indent="0">
              <a:buNone/>
            </a:pPr>
            <a:endParaRPr lang="en-AU" dirty="0"/>
          </a:p>
        </p:txBody>
      </p:sp>
    </p:spTree>
    <p:extLst>
      <p:ext uri="{BB962C8B-B14F-4D97-AF65-F5344CB8AC3E}">
        <p14:creationId xmlns:p14="http://schemas.microsoft.com/office/powerpoint/2010/main" val="39316693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Ebola- 2013 to 2016</a:t>
            </a:r>
          </a:p>
        </p:txBody>
      </p:sp>
      <p:sp>
        <p:nvSpPr>
          <p:cNvPr id="3" name="Content Placeholder 2"/>
          <p:cNvSpPr>
            <a:spLocks noGrp="1"/>
          </p:cNvSpPr>
          <p:nvPr>
            <p:ph idx="1"/>
          </p:nvPr>
        </p:nvSpPr>
        <p:spPr/>
        <p:txBody>
          <a:bodyPr/>
          <a:lstStyle/>
          <a:p>
            <a:r>
              <a:rPr lang="en-AU" dirty="0"/>
              <a:t>The impact (declared over in March, 2016) was significant. A total of 28,616 cases of Ebola and 11,310 deaths were reported in West Africa. There were an additional 36 cases and 15 deaths that occurred when the outbreak went worldwide. </a:t>
            </a:r>
          </a:p>
          <a:p>
            <a:endParaRPr lang="en-AU" dirty="0"/>
          </a:p>
        </p:txBody>
      </p:sp>
    </p:spTree>
    <p:extLst>
      <p:ext uri="{BB962C8B-B14F-4D97-AF65-F5344CB8AC3E}">
        <p14:creationId xmlns:p14="http://schemas.microsoft.com/office/powerpoint/2010/main" val="1815222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80456" y="88051"/>
            <a:ext cx="8954453" cy="6670072"/>
          </a:xfrm>
          <a:prstGeom prst="rect">
            <a:avLst/>
          </a:prstGeom>
        </p:spPr>
      </p:pic>
    </p:spTree>
    <p:extLst>
      <p:ext uri="{BB962C8B-B14F-4D97-AF65-F5344CB8AC3E}">
        <p14:creationId xmlns:p14="http://schemas.microsoft.com/office/powerpoint/2010/main" val="1981359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Ebola- 2022</a:t>
            </a:r>
          </a:p>
        </p:txBody>
      </p:sp>
      <p:sp>
        <p:nvSpPr>
          <p:cNvPr id="3" name="Content Placeholder 2"/>
          <p:cNvSpPr>
            <a:spLocks noGrp="1"/>
          </p:cNvSpPr>
          <p:nvPr>
            <p:ph idx="1"/>
          </p:nvPr>
        </p:nvSpPr>
        <p:spPr/>
        <p:txBody>
          <a:bodyPr>
            <a:normAutofit/>
          </a:bodyPr>
          <a:lstStyle/>
          <a:p>
            <a:r>
              <a:rPr lang="en-AU" dirty="0"/>
              <a:t>On April 23, 2022, the Democratic Republic of the Congo declared an outbreak of Ebola. This is the 14th outbreak in the Congo and marks the third in a series of outbreaks since 2018 (1 in 2018, 1 in 2020). Sequencing data indicates that this is a new spillover event from an animal to a person and is not directly linked to previous outbreaks.</a:t>
            </a:r>
          </a:p>
          <a:p>
            <a:endParaRPr lang="en-AU" dirty="0"/>
          </a:p>
          <a:p>
            <a:r>
              <a:rPr lang="en-AU" dirty="0"/>
              <a:t>The first patient identified in this outbreak sought treatment at several healthcare facilities and was taken to am Ebola Treatment Centre after signs of bleeding began. A positive PCR test confirmed Ebola. </a:t>
            </a:r>
          </a:p>
          <a:p>
            <a:endParaRPr lang="en-AU" dirty="0"/>
          </a:p>
        </p:txBody>
      </p:sp>
    </p:spTree>
    <p:extLst>
      <p:ext uri="{BB962C8B-B14F-4D97-AF65-F5344CB8AC3E}">
        <p14:creationId xmlns:p14="http://schemas.microsoft.com/office/powerpoint/2010/main" val="10247396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77142" y="0"/>
            <a:ext cx="7874001" cy="6749143"/>
          </a:xfrm>
          <a:prstGeom prst="rect">
            <a:avLst/>
          </a:prstGeom>
        </p:spPr>
      </p:pic>
    </p:spTree>
    <p:extLst>
      <p:ext uri="{BB962C8B-B14F-4D97-AF65-F5344CB8AC3E}">
        <p14:creationId xmlns:p14="http://schemas.microsoft.com/office/powerpoint/2010/main" val="24996578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Ebola- 2022 </a:t>
            </a:r>
          </a:p>
        </p:txBody>
      </p:sp>
      <p:sp>
        <p:nvSpPr>
          <p:cNvPr id="3" name="Content Placeholder 2"/>
          <p:cNvSpPr>
            <a:spLocks noGrp="1"/>
          </p:cNvSpPr>
          <p:nvPr>
            <p:ph idx="1"/>
          </p:nvPr>
        </p:nvSpPr>
        <p:spPr/>
        <p:txBody>
          <a:bodyPr/>
          <a:lstStyle/>
          <a:p>
            <a:r>
              <a:rPr lang="en-AU" dirty="0"/>
              <a:t>999 people were tested after the initial positive case, with a total of 5 positive cases. </a:t>
            </a:r>
          </a:p>
          <a:p>
            <a:endParaRPr lang="en-AU" dirty="0"/>
          </a:p>
          <a:p>
            <a:r>
              <a:rPr lang="en-AU" dirty="0"/>
              <a:t>Of those 5 positive cases, none responded to treatment and all died. This outbreak of Ebola had a fatality rate of 100%. </a:t>
            </a:r>
          </a:p>
          <a:p>
            <a:endParaRPr lang="en-AU" dirty="0"/>
          </a:p>
          <a:p>
            <a:r>
              <a:rPr lang="en-AU" dirty="0"/>
              <a:t>It was eventually identified as </a:t>
            </a:r>
            <a:r>
              <a:rPr lang="en-AU" i="1" dirty="0"/>
              <a:t>Zaire ebolavirus</a:t>
            </a:r>
            <a:r>
              <a:rPr lang="en-AU" dirty="0"/>
              <a:t>. Mutations are suspected as the reason that no one responded to treatment. </a:t>
            </a:r>
          </a:p>
        </p:txBody>
      </p:sp>
    </p:spTree>
    <p:extLst>
      <p:ext uri="{BB962C8B-B14F-4D97-AF65-F5344CB8AC3E}">
        <p14:creationId xmlns:p14="http://schemas.microsoft.com/office/powerpoint/2010/main" val="23398079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57831-4EA3-4754-AABA-7BA4298EE5DF}"/>
              </a:ext>
            </a:extLst>
          </p:cNvPr>
          <p:cNvSpPr>
            <a:spLocks noGrp="1"/>
          </p:cNvSpPr>
          <p:nvPr>
            <p:ph type="title"/>
          </p:nvPr>
        </p:nvSpPr>
        <p:spPr/>
        <p:txBody>
          <a:bodyPr/>
          <a:lstStyle/>
          <a:p>
            <a:r>
              <a:rPr lang="en-AU" b="1" dirty="0"/>
              <a:t>Ebola- 2022</a:t>
            </a:r>
          </a:p>
        </p:txBody>
      </p:sp>
      <p:sp>
        <p:nvSpPr>
          <p:cNvPr id="3" name="Content Placeholder 2">
            <a:extLst>
              <a:ext uri="{FF2B5EF4-FFF2-40B4-BE49-F238E27FC236}">
                <a16:creationId xmlns:a16="http://schemas.microsoft.com/office/drawing/2014/main" id="{5B581A53-E33D-4D61-8173-258F7D581054}"/>
              </a:ext>
            </a:extLst>
          </p:cNvPr>
          <p:cNvSpPr>
            <a:spLocks noGrp="1"/>
          </p:cNvSpPr>
          <p:nvPr>
            <p:ph idx="1"/>
          </p:nvPr>
        </p:nvSpPr>
        <p:spPr>
          <a:xfrm>
            <a:off x="838200" y="1825625"/>
            <a:ext cx="4639322" cy="4351338"/>
          </a:xfrm>
        </p:spPr>
        <p:txBody>
          <a:bodyPr/>
          <a:lstStyle/>
          <a:p>
            <a:r>
              <a:rPr lang="en-AU" dirty="0"/>
              <a:t>Uganda had a mass outbreak of Ebola in November of 2022. 164 confirmed cases, with 55 people dying. 55% percent of cases were fatal. </a:t>
            </a:r>
          </a:p>
          <a:p>
            <a:endParaRPr lang="en-AU" dirty="0"/>
          </a:p>
          <a:p>
            <a:r>
              <a:rPr lang="en-AU" dirty="0"/>
              <a:t>This was </a:t>
            </a:r>
            <a:r>
              <a:rPr lang="en-AU" i="1" dirty="0"/>
              <a:t>Sudan ebolavirus </a:t>
            </a:r>
          </a:p>
        </p:txBody>
      </p:sp>
      <p:pic>
        <p:nvPicPr>
          <p:cNvPr id="4" name="Picture 3">
            <a:extLst>
              <a:ext uri="{FF2B5EF4-FFF2-40B4-BE49-F238E27FC236}">
                <a16:creationId xmlns:a16="http://schemas.microsoft.com/office/drawing/2014/main" id="{AD7176B1-FC2E-4CA9-A2B5-6D97FA36AAF1}"/>
              </a:ext>
            </a:extLst>
          </p:cNvPr>
          <p:cNvPicPr>
            <a:picLocks noChangeAspect="1"/>
          </p:cNvPicPr>
          <p:nvPr/>
        </p:nvPicPr>
        <p:blipFill>
          <a:blip r:embed="rId2"/>
          <a:stretch>
            <a:fillRect/>
          </a:stretch>
        </p:blipFill>
        <p:spPr>
          <a:xfrm>
            <a:off x="5702423" y="470655"/>
            <a:ext cx="6096000" cy="6200775"/>
          </a:xfrm>
          <a:prstGeom prst="rect">
            <a:avLst/>
          </a:prstGeom>
        </p:spPr>
      </p:pic>
    </p:spTree>
    <p:extLst>
      <p:ext uri="{BB962C8B-B14F-4D97-AF65-F5344CB8AC3E}">
        <p14:creationId xmlns:p14="http://schemas.microsoft.com/office/powerpoint/2010/main" val="1186918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9C5F1-721C-4942-B523-68CA234DE457}"/>
              </a:ext>
            </a:extLst>
          </p:cNvPr>
          <p:cNvSpPr>
            <a:spLocks noGrp="1"/>
          </p:cNvSpPr>
          <p:nvPr>
            <p:ph type="title"/>
          </p:nvPr>
        </p:nvSpPr>
        <p:spPr/>
        <p:txBody>
          <a:bodyPr/>
          <a:lstStyle/>
          <a:p>
            <a:r>
              <a:rPr lang="en-AU" b="1" dirty="0"/>
              <a:t>Ebola 2023 </a:t>
            </a:r>
          </a:p>
        </p:txBody>
      </p:sp>
      <p:sp>
        <p:nvSpPr>
          <p:cNvPr id="3" name="Content Placeholder 2">
            <a:extLst>
              <a:ext uri="{FF2B5EF4-FFF2-40B4-BE49-F238E27FC236}">
                <a16:creationId xmlns:a16="http://schemas.microsoft.com/office/drawing/2014/main" id="{60FBB4FF-D912-4796-BC51-355E8EE8424D}"/>
              </a:ext>
            </a:extLst>
          </p:cNvPr>
          <p:cNvSpPr>
            <a:spLocks noGrp="1"/>
          </p:cNvSpPr>
          <p:nvPr>
            <p:ph idx="1"/>
          </p:nvPr>
        </p:nvSpPr>
        <p:spPr/>
        <p:txBody>
          <a:bodyPr/>
          <a:lstStyle/>
          <a:p>
            <a:r>
              <a:rPr lang="en-AU" dirty="0"/>
              <a:t>On May 8</a:t>
            </a:r>
            <a:r>
              <a:rPr lang="en-AU" baseline="30000" dirty="0"/>
              <a:t>th</a:t>
            </a:r>
            <a:r>
              <a:rPr lang="en-AU" dirty="0"/>
              <a:t> 2023, the Democratic Republic of Congo reported a positive Ebola case. Testing is still undergoing, but it does not appear to be an outbreak, but instead an isolated case. </a:t>
            </a:r>
          </a:p>
        </p:txBody>
      </p:sp>
    </p:spTree>
    <p:extLst>
      <p:ext uri="{BB962C8B-B14F-4D97-AF65-F5344CB8AC3E}">
        <p14:creationId xmlns:p14="http://schemas.microsoft.com/office/powerpoint/2010/main" val="3298233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2694</Words>
  <Application>Microsoft Office PowerPoint</Application>
  <PresentationFormat>Widescreen</PresentationFormat>
  <Paragraphs>157</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Castellar</vt:lpstr>
      <vt:lpstr>Office Theme</vt:lpstr>
      <vt:lpstr>Infectious Diseases</vt:lpstr>
      <vt:lpstr>Ebola- Origins </vt:lpstr>
      <vt:lpstr>PowerPoint Presentation</vt:lpstr>
      <vt:lpstr>Ebola- Different Strains </vt:lpstr>
      <vt:lpstr>PowerPoint Presentation</vt:lpstr>
      <vt:lpstr>PowerPoint Presentation</vt:lpstr>
      <vt:lpstr>Ebola- Zoonotic Spillover </vt:lpstr>
      <vt:lpstr>Ebola- Risk Factors </vt:lpstr>
      <vt:lpstr>Ebola- Locations </vt:lpstr>
      <vt:lpstr>PowerPoint Presentation</vt:lpstr>
      <vt:lpstr>Ebola- Signs and Symptoms </vt:lpstr>
      <vt:lpstr>Ebola- Spread through the body </vt:lpstr>
      <vt:lpstr>Ebola- Spread through the body </vt:lpstr>
      <vt:lpstr>Ebola- Diagnosis </vt:lpstr>
      <vt:lpstr>Ebola- Treatment and Cost </vt:lpstr>
      <vt:lpstr>Ebola- Treatment and Cost </vt:lpstr>
      <vt:lpstr>Ebola- Fatality </vt:lpstr>
      <vt:lpstr>Ebola- 1976 </vt:lpstr>
      <vt:lpstr>Ebola- 1976 </vt:lpstr>
      <vt:lpstr>Ebola- 1976 </vt:lpstr>
      <vt:lpstr>Ebola- 1976 </vt:lpstr>
      <vt:lpstr>Ebola- 1976</vt:lpstr>
      <vt:lpstr>Ebola- 1989 Reston </vt:lpstr>
      <vt:lpstr>Ebola- 2013 to 2016 </vt:lpstr>
      <vt:lpstr>Ebola- 2013 to 2016 </vt:lpstr>
      <vt:lpstr>Ebola- 2013 to 2016 </vt:lpstr>
      <vt:lpstr>Ebola- 2013 to 2016 </vt:lpstr>
      <vt:lpstr>Ebola- 2013 to 2016 </vt:lpstr>
      <vt:lpstr>Ebola- 2013 to 2016</vt:lpstr>
      <vt:lpstr>PowerPoint Presentation</vt:lpstr>
      <vt:lpstr>Ebola- 2022</vt:lpstr>
      <vt:lpstr>PowerPoint Presentation</vt:lpstr>
      <vt:lpstr>Ebola- 2022 </vt:lpstr>
      <vt:lpstr>Ebola- 2022</vt:lpstr>
      <vt:lpstr>Ebola 2023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Infectious Diseases</dc:title>
  <dc:creator>DOOMEN Lisa [Gilmore College]</dc:creator>
  <cp:lastModifiedBy>DOOMEN Lisa [Gilmore College]</cp:lastModifiedBy>
  <cp:revision>28</cp:revision>
  <dcterms:created xsi:type="dcterms:W3CDTF">2022-07-09T22:43:18Z</dcterms:created>
  <dcterms:modified xsi:type="dcterms:W3CDTF">2023-07-20T02:11:47Z</dcterms:modified>
</cp:coreProperties>
</file>
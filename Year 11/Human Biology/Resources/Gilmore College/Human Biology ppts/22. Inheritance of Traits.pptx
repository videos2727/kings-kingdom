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8" r:id="rId7"/>
    <p:sldId id="269" r:id="rId8"/>
    <p:sldId id="270" r:id="rId9"/>
    <p:sldId id="260" r:id="rId10"/>
    <p:sldId id="267" r:id="rId11"/>
    <p:sldId id="261" r:id="rId12"/>
    <p:sldId id="271" r:id="rId13"/>
    <p:sldId id="272" r:id="rId14"/>
    <p:sldId id="273" r:id="rId15"/>
    <p:sldId id="274" r:id="rId16"/>
    <p:sldId id="275" r:id="rId17"/>
    <p:sldId id="276" r:id="rId18"/>
    <p:sldId id="277" r:id="rId19"/>
    <p:sldId id="278" r:id="rId20"/>
    <p:sldId id="279" r:id="rId21"/>
    <p:sldId id="280" r:id="rId22"/>
    <p:sldId id="285" r:id="rId23"/>
    <p:sldId id="283" r:id="rId24"/>
    <p:sldId id="284" r:id="rId25"/>
    <p:sldId id="281" r:id="rId26"/>
    <p:sldId id="282" r:id="rId27"/>
    <p:sldId id="286" r:id="rId28"/>
    <p:sldId id="287" r:id="rId29"/>
    <p:sldId id="288" r:id="rId30"/>
    <p:sldId id="289" r:id="rId31"/>
    <p:sldId id="290" r:id="rId32"/>
    <p:sldId id="291" r:id="rId33"/>
    <p:sldId id="292" r:id="rId34"/>
    <p:sldId id="262" r:id="rId35"/>
    <p:sldId id="293" r:id="rId36"/>
    <p:sldId id="294" r:id="rId37"/>
    <p:sldId id="295" r:id="rId38"/>
    <p:sldId id="296" r:id="rId39"/>
    <p:sldId id="297" r:id="rId40"/>
    <p:sldId id="300" r:id="rId41"/>
    <p:sldId id="301" r:id="rId42"/>
    <p:sldId id="263" r:id="rId43"/>
    <p:sldId id="264" r:id="rId44"/>
    <p:sldId id="265" r:id="rId45"/>
    <p:sldId id="266"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17/10/2023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17/10/2023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17/10/2023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17/10/2023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17/10/2023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17/10/2023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17/10/2023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17/10/2023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17/10/2023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17/10/2023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17/10/2023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17/10/2023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17/10/2023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17/10/2023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17/10/2023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17/10/2023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17/10/2023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17/10/2023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17/10/2023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17/10/2023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17/10/2023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17/10/2023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17/10/2023</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17/10/2023</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8000" b="1" dirty="0"/>
              <a:t>Inheritance of Traits </a:t>
            </a:r>
          </a:p>
        </p:txBody>
      </p:sp>
      <p:sp>
        <p:nvSpPr>
          <p:cNvPr id="3" name="Subtitle 2"/>
          <p:cNvSpPr>
            <a:spLocks noGrp="1"/>
          </p:cNvSpPr>
          <p:nvPr>
            <p:ph type="subTitle" idx="1"/>
          </p:nvPr>
        </p:nvSpPr>
        <p:spPr/>
        <p:txBody>
          <a:bodyPr/>
          <a:lstStyle/>
          <a:p>
            <a:r>
              <a:rPr lang="en-AU" dirty="0"/>
              <a:t>Year 11 Human Biology </a:t>
            </a:r>
          </a:p>
          <a:p>
            <a:r>
              <a:rPr lang="en-AU" dirty="0"/>
              <a:t>ATAR </a:t>
            </a:r>
          </a:p>
          <a:p>
            <a:r>
              <a:rPr lang="en-AU" dirty="0"/>
              <a:t>PowerPoint #22</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a:xfrm>
            <a:off x="223935" y="1825624"/>
            <a:ext cx="11863562" cy="4668481"/>
          </a:xfrm>
        </p:spPr>
        <p:txBody>
          <a:bodyPr>
            <a:normAutofit fontScale="92500" lnSpcReduction="10000"/>
          </a:bodyPr>
          <a:lstStyle/>
          <a:p>
            <a:r>
              <a:rPr lang="en-AU" dirty="0"/>
              <a:t>probable frequencies of genotype and phenotype of offspring can be predicted using Punnett squares and by taking into consideration patterns of inheritance, including the effects of dominance, co-dominance, autosomal or sex-linked alleles, and multiple alleles: Huntington's disease, phenylketonuria (PKU), ABO blood groups, red–green colour blindness/haemophilia show different inheritance patterns</a:t>
            </a:r>
          </a:p>
          <a:p>
            <a:endParaRPr lang="en-AU" dirty="0"/>
          </a:p>
          <a:p>
            <a:r>
              <a:rPr lang="en-AU" dirty="0"/>
              <a:t>pedigree charts can be constructed for families with a particular genetic disorder and can be used to reveal patterns of inheritance and assist in determining the probability of inheriting the condition in future generations</a:t>
            </a:r>
          </a:p>
          <a:p>
            <a:endParaRPr lang="en-AU" dirty="0"/>
          </a:p>
          <a:p>
            <a:r>
              <a:rPr lang="en-AU" dirty="0"/>
              <a:t>DNA profiling identifies the unique genetic make-up of individuals and can be used in determining parentage</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Lesson Intention </a:t>
            </a:r>
          </a:p>
        </p:txBody>
      </p:sp>
      <p:sp>
        <p:nvSpPr>
          <p:cNvPr id="3" name="Content Placeholder 2"/>
          <p:cNvSpPr>
            <a:spLocks noGrp="1"/>
          </p:cNvSpPr>
          <p:nvPr>
            <p:ph idx="1"/>
          </p:nvPr>
        </p:nvSpPr>
        <p:spPr/>
        <p:txBody>
          <a:bodyPr/>
          <a:lstStyle/>
          <a:p>
            <a:r>
              <a:rPr lang="en-AU" dirty="0"/>
              <a:t>To explore the inheritance of traits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Success Criteria </a:t>
            </a:r>
          </a:p>
        </p:txBody>
      </p:sp>
      <p:sp>
        <p:nvSpPr>
          <p:cNvPr id="3" name="Content Placeholder 2"/>
          <p:cNvSpPr>
            <a:spLocks noGrp="1"/>
          </p:cNvSpPr>
          <p:nvPr>
            <p:ph idx="1"/>
          </p:nvPr>
        </p:nvSpPr>
        <p:spPr>
          <a:xfrm>
            <a:off x="354563" y="1343608"/>
            <a:ext cx="11588621" cy="5318449"/>
          </a:xfrm>
        </p:spPr>
        <p:txBody>
          <a:bodyPr>
            <a:normAutofit fontScale="92500" lnSpcReduction="10000"/>
          </a:bodyPr>
          <a:lstStyle/>
          <a:p>
            <a:r>
              <a:rPr lang="en-AU" dirty="0"/>
              <a:t>recall the process of Mendelian Inheritance and Mendel’s experiments </a:t>
            </a:r>
          </a:p>
          <a:p>
            <a:r>
              <a:rPr lang="en-AU" dirty="0"/>
              <a:t>distinguish between genotypes and phenotypes of organisms</a:t>
            </a:r>
          </a:p>
          <a:p>
            <a:r>
              <a:rPr lang="en-AU" dirty="0"/>
              <a:t>use Punnett squares to predict the probability of genotypes and phenotypes of offspring </a:t>
            </a:r>
          </a:p>
          <a:p>
            <a:r>
              <a:rPr lang="en-AU" dirty="0"/>
              <a:t>use pedigrees to investigate patterns of inheritance </a:t>
            </a:r>
          </a:p>
          <a:p>
            <a:r>
              <a:rPr lang="en-AU" dirty="0"/>
              <a:t>describe dominant and recessive, autosomal inheritance of single-gene disorders  </a:t>
            </a:r>
          </a:p>
          <a:p>
            <a:r>
              <a:rPr lang="en-AU" dirty="0"/>
              <a:t>give examples of dominant and recessive, autosomal inheritance of single-gene disorders  </a:t>
            </a:r>
          </a:p>
          <a:p>
            <a:r>
              <a:rPr lang="en-AU" dirty="0"/>
              <a:t>explain how sex chromosomes determine gender at birth </a:t>
            </a:r>
          </a:p>
          <a:p>
            <a:r>
              <a:rPr lang="en-AU" dirty="0"/>
              <a:t>discuss different sex-linked characteristics and their patterns e.g. red-green colour-blindness </a:t>
            </a:r>
          </a:p>
          <a:p>
            <a:r>
              <a:rPr lang="en-AU" dirty="0"/>
              <a:t>describe other types of inheritance e.g. co-dominance and multiple alleles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91886" y="1690688"/>
            <a:ext cx="11439330" cy="4896723"/>
          </a:xfrm>
        </p:spPr>
        <p:txBody>
          <a:bodyPr>
            <a:normAutofit/>
          </a:bodyPr>
          <a:lstStyle/>
          <a:p>
            <a:r>
              <a:rPr lang="en-AU" sz="3200" b="1" dirty="0"/>
              <a:t>Trait</a:t>
            </a:r>
            <a:r>
              <a:rPr lang="en-AU" sz="3200" dirty="0"/>
              <a:t>: the characteristics due to the genetic constitution of an individual </a:t>
            </a:r>
          </a:p>
          <a:p>
            <a:endParaRPr lang="en-AU" sz="3200" dirty="0"/>
          </a:p>
          <a:p>
            <a:r>
              <a:rPr lang="en-AU" sz="3200" b="1" dirty="0"/>
              <a:t>Dominant trait</a:t>
            </a:r>
            <a:r>
              <a:rPr lang="en-AU" sz="3200" dirty="0"/>
              <a:t>: one of a pair of contrasting characteristics, which is controlled by an allele that is not masked by other alleles </a:t>
            </a:r>
          </a:p>
          <a:p>
            <a:endParaRPr lang="en-AU" sz="3200" dirty="0"/>
          </a:p>
          <a:p>
            <a:r>
              <a:rPr lang="en-AU" sz="3200" b="1" dirty="0"/>
              <a:t>Recessive trait</a:t>
            </a:r>
            <a:r>
              <a:rPr lang="en-AU" sz="3200" dirty="0"/>
              <a:t>: one of a pair of contrasting characteristics, which is controlled by an allele that is masked by dominant alleles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5451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sz="3200" b="1" dirty="0"/>
              <a:t>Alleles</a:t>
            </a:r>
            <a:r>
              <a:rPr lang="en-AU" sz="3200" dirty="0"/>
              <a:t>: the alternative form of a gene that occur at a given point in a chromosome </a:t>
            </a:r>
          </a:p>
          <a:p>
            <a:endParaRPr lang="en-AU" sz="3200" dirty="0"/>
          </a:p>
          <a:p>
            <a:r>
              <a:rPr lang="en-AU" sz="3200" b="1" dirty="0"/>
              <a:t>Genotype</a:t>
            </a:r>
            <a:r>
              <a:rPr lang="en-AU" sz="3200" dirty="0"/>
              <a:t>: the genetic constitution of an individual </a:t>
            </a:r>
          </a:p>
          <a:p>
            <a:endParaRPr lang="en-AU" sz="3200" dirty="0"/>
          </a:p>
          <a:p>
            <a:r>
              <a:rPr lang="en-AU" sz="3200" b="1" dirty="0"/>
              <a:t>Phenotype</a:t>
            </a:r>
            <a:r>
              <a:rPr lang="en-AU" sz="3200" dirty="0"/>
              <a:t>: the appearance of an individual as determined by their genetic constitution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9777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sz="3200" b="1" dirty="0"/>
              <a:t>Homozygous</a:t>
            </a:r>
            <a:r>
              <a:rPr lang="en-AU" sz="3200" dirty="0"/>
              <a:t>: possessing the same alleles for a given characteristic </a:t>
            </a:r>
          </a:p>
          <a:p>
            <a:endParaRPr lang="en-AU" sz="3200" dirty="0"/>
          </a:p>
          <a:p>
            <a:r>
              <a:rPr lang="en-AU" sz="3200" b="1" dirty="0"/>
              <a:t>Heterozygou</a:t>
            </a:r>
            <a:r>
              <a:rPr lang="en-AU" sz="3200" dirty="0"/>
              <a:t>s: possessing different alleles for a given characteristic </a:t>
            </a:r>
          </a:p>
          <a:p>
            <a:endParaRPr lang="en-AU" sz="3200" dirty="0"/>
          </a:p>
          <a:p>
            <a:r>
              <a:rPr lang="en-AU" sz="3200" b="1" dirty="0"/>
              <a:t>Punnett Square</a:t>
            </a:r>
            <a:r>
              <a:rPr lang="en-AU" sz="3200" dirty="0"/>
              <a:t>: a grid used to predict the possibility of genotypes of an offspring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1854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838200" y="1511559"/>
            <a:ext cx="10515600" cy="4982547"/>
          </a:xfrm>
        </p:spPr>
        <p:txBody>
          <a:bodyPr>
            <a:normAutofit/>
          </a:bodyPr>
          <a:lstStyle/>
          <a:p>
            <a:r>
              <a:rPr lang="en-AU" sz="3200" b="1" dirty="0"/>
              <a:t>Pedigree</a:t>
            </a:r>
            <a:r>
              <a:rPr lang="en-AU" sz="3200" dirty="0"/>
              <a:t>: a family tree </a:t>
            </a:r>
          </a:p>
          <a:p>
            <a:endParaRPr lang="en-AU" sz="3200" dirty="0"/>
          </a:p>
          <a:p>
            <a:r>
              <a:rPr lang="en-AU" sz="3200" b="1" dirty="0"/>
              <a:t>Single-gene disorders</a:t>
            </a:r>
            <a:r>
              <a:rPr lang="en-AU" sz="3200" dirty="0"/>
              <a:t>: a disorder caused by the inheritance of a single defective gene </a:t>
            </a:r>
          </a:p>
          <a:p>
            <a:endParaRPr lang="en-AU" sz="3200" dirty="0"/>
          </a:p>
          <a:p>
            <a:r>
              <a:rPr lang="en-AU" sz="3200" b="1" dirty="0"/>
              <a:t>Sex chromosomes</a:t>
            </a:r>
            <a:r>
              <a:rPr lang="en-AU" sz="3200" dirty="0"/>
              <a:t>: the pair of chromosomes that determine the sex of an individual </a:t>
            </a:r>
          </a:p>
          <a:p>
            <a:endParaRPr lang="en-AU" sz="3200" dirty="0"/>
          </a:p>
          <a:p>
            <a:r>
              <a:rPr lang="en-AU" sz="3200" b="1" dirty="0"/>
              <a:t>Autosomes</a:t>
            </a:r>
            <a:r>
              <a:rPr lang="en-AU" sz="3200" dirty="0"/>
              <a:t>: a non-sex chromosome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sz="3200" b="1" dirty="0"/>
              <a:t>X-linked characteristics</a:t>
            </a:r>
            <a:r>
              <a:rPr lang="en-AU" sz="3200" dirty="0"/>
              <a:t>: a characteristic determined by genes carries on the X chromosome </a:t>
            </a:r>
          </a:p>
          <a:p>
            <a:endParaRPr lang="en-AU" sz="3200" dirty="0"/>
          </a:p>
          <a:p>
            <a:r>
              <a:rPr lang="en-AU" sz="3200" b="1" dirty="0"/>
              <a:t>Co-dominance</a:t>
            </a:r>
            <a:r>
              <a:rPr lang="en-AU" sz="3200" dirty="0"/>
              <a:t>: when contrasting alleles both affect the appearance of an individual and neither is dominant over the other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7110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Mendelian Inheritance </a:t>
            </a:r>
          </a:p>
        </p:txBody>
      </p:sp>
      <p:sp>
        <p:nvSpPr>
          <p:cNvPr id="3" name="Content Placeholder 2"/>
          <p:cNvSpPr>
            <a:spLocks noGrp="1"/>
          </p:cNvSpPr>
          <p:nvPr>
            <p:ph idx="1"/>
          </p:nvPr>
        </p:nvSpPr>
        <p:spPr/>
        <p:txBody>
          <a:bodyPr>
            <a:normAutofit/>
          </a:bodyPr>
          <a:lstStyle/>
          <a:p>
            <a:r>
              <a:rPr lang="en-AU" sz="3200" dirty="0"/>
              <a:t>Gregor Mendel put forward two principles relating to inheritance: </a:t>
            </a:r>
          </a:p>
          <a:p>
            <a:pPr lvl="1"/>
            <a:r>
              <a:rPr lang="en-AU" sz="2800" dirty="0"/>
              <a:t>The various hereditary characteristics were controlled by factors (now called genes) that occurred in pairs. </a:t>
            </a:r>
          </a:p>
          <a:p>
            <a:pPr lvl="1"/>
            <a:r>
              <a:rPr lang="en-AU" sz="2800" dirty="0"/>
              <a:t>During the formation of the gametes, the pair of factors separate. Each gamete receives only one set of factors (genes), with the other set going to another gamete. Gametes unite at fertilisation, allowing different combinations of genes to come together.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041" y="260949"/>
            <a:ext cx="4051041" cy="3740344"/>
          </a:xfrm>
        </p:spPr>
        <p:txBody>
          <a:bodyPr>
            <a:normAutofit/>
          </a:bodyPr>
          <a:lstStyle/>
          <a:p>
            <a:r>
              <a:rPr lang="en-AU" sz="6000" b="1" dirty="0"/>
              <a:t>Mendel’s experiments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Content Placeholder 6"/>
          <p:cNvPicPr>
            <a:picLocks noGrp="1" noChangeAspect="1"/>
          </p:cNvPicPr>
          <p:nvPr>
            <p:ph idx="1"/>
          </p:nvPr>
        </p:nvPicPr>
        <p:blipFill>
          <a:blip r:embed="rId2"/>
          <a:stretch>
            <a:fillRect/>
          </a:stretch>
        </p:blipFill>
        <p:spPr>
          <a:xfrm>
            <a:off x="4292082" y="167644"/>
            <a:ext cx="6587412" cy="6535788"/>
          </a:xfrm>
          <a:prstGeom prst="rect">
            <a:avLst/>
          </a:prstGeom>
        </p:spPr>
      </p:pic>
    </p:spTree>
    <p:extLst>
      <p:ext uri="{BB962C8B-B14F-4D97-AF65-F5344CB8AC3E}">
        <p14:creationId xmlns:p14="http://schemas.microsoft.com/office/powerpoint/2010/main" val="1760723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Dominant and recessive </a:t>
            </a:r>
          </a:p>
        </p:txBody>
      </p:sp>
      <p:sp>
        <p:nvSpPr>
          <p:cNvPr id="3" name="Content Placeholder 2"/>
          <p:cNvSpPr>
            <a:spLocks noGrp="1"/>
          </p:cNvSpPr>
          <p:nvPr>
            <p:ph idx="1"/>
          </p:nvPr>
        </p:nvSpPr>
        <p:spPr/>
        <p:txBody>
          <a:bodyPr>
            <a:normAutofit/>
          </a:bodyPr>
          <a:lstStyle/>
          <a:p>
            <a:r>
              <a:rPr lang="en-AU" sz="3200" dirty="0"/>
              <a:t>A cross is the mating of two organisms. In a monohybrid cross, only one pair of contrasting characteristics is studied- for example, yellow and green pod colour in peas, or tongue rolling and non-rolling in humans.</a:t>
            </a:r>
          </a:p>
          <a:p>
            <a:endParaRPr lang="en-AU" sz="3200" dirty="0"/>
          </a:p>
          <a:p>
            <a:r>
              <a:rPr lang="en-AU" sz="3200" dirty="0"/>
              <a:t>We represent genes using letters. A capital letter represents a dominant gene, and a lower case letter represents a recessive gene.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4628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Example- Pea Plants </a:t>
            </a:r>
          </a:p>
        </p:txBody>
      </p:sp>
      <p:pic>
        <p:nvPicPr>
          <p:cNvPr id="5" name="Content Placeholder 4"/>
          <p:cNvPicPr>
            <a:picLocks noGrp="1" noChangeAspect="1"/>
          </p:cNvPicPr>
          <p:nvPr>
            <p:ph idx="1"/>
          </p:nvPr>
        </p:nvPicPr>
        <p:blipFill>
          <a:blip r:embed="rId2"/>
          <a:stretch>
            <a:fillRect/>
          </a:stretch>
        </p:blipFill>
        <p:spPr>
          <a:xfrm>
            <a:off x="8215099" y="1986144"/>
            <a:ext cx="3387206" cy="3131284"/>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p:cNvSpPr txBox="1"/>
          <p:nvPr/>
        </p:nvSpPr>
        <p:spPr>
          <a:xfrm>
            <a:off x="522514" y="1706835"/>
            <a:ext cx="7875037" cy="5016758"/>
          </a:xfrm>
          <a:prstGeom prst="rect">
            <a:avLst/>
          </a:prstGeom>
          <a:noFill/>
        </p:spPr>
        <p:txBody>
          <a:bodyPr wrap="square" rtlCol="0">
            <a:spAutoFit/>
          </a:bodyPr>
          <a:lstStyle/>
          <a:p>
            <a:r>
              <a:rPr lang="en-AU" sz="3200" dirty="0"/>
              <a:t>The yellow (Y) is the dominant gene. </a:t>
            </a:r>
          </a:p>
          <a:p>
            <a:r>
              <a:rPr lang="en-AU" sz="3200" dirty="0"/>
              <a:t>The green (y) is the recessive gene. </a:t>
            </a:r>
          </a:p>
          <a:p>
            <a:r>
              <a:rPr lang="en-AU" sz="3200" dirty="0"/>
              <a:t>The alternative forms of the gene for pea colour are called alleles. </a:t>
            </a:r>
          </a:p>
          <a:p>
            <a:endParaRPr lang="en-AU" sz="3200" dirty="0"/>
          </a:p>
          <a:p>
            <a:r>
              <a:rPr lang="en-AU" sz="3200" dirty="0"/>
              <a:t>The combinations show the possible outcomes after mating (Yy or yy). </a:t>
            </a:r>
          </a:p>
          <a:p>
            <a:endParaRPr lang="en-AU" sz="3200" dirty="0"/>
          </a:p>
          <a:p>
            <a:r>
              <a:rPr lang="en-AU" sz="3200" dirty="0"/>
              <a:t>yy is an example of homozygous alleles, Yy is an example of heterozygous alleles. </a:t>
            </a:r>
          </a:p>
        </p:txBody>
      </p:sp>
    </p:spTree>
    <p:extLst>
      <p:ext uri="{BB962C8B-B14F-4D97-AF65-F5344CB8AC3E}">
        <p14:creationId xmlns:p14="http://schemas.microsoft.com/office/powerpoint/2010/main" val="38097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Genotypes and Phenotypes </a:t>
            </a:r>
          </a:p>
        </p:txBody>
      </p:sp>
      <p:sp>
        <p:nvSpPr>
          <p:cNvPr id="3" name="Content Placeholder 2"/>
          <p:cNvSpPr>
            <a:spLocks noGrp="1"/>
          </p:cNvSpPr>
          <p:nvPr>
            <p:ph idx="1"/>
          </p:nvPr>
        </p:nvSpPr>
        <p:spPr/>
        <p:txBody>
          <a:bodyPr>
            <a:normAutofit/>
          </a:bodyPr>
          <a:lstStyle/>
          <a:p>
            <a:r>
              <a:rPr lang="en-AU" sz="3200" dirty="0"/>
              <a:t>The phenotype is the physical appearance of a trait as determined by the genotype, the combination of alleles. </a:t>
            </a:r>
          </a:p>
          <a:p>
            <a:endParaRPr lang="en-AU" sz="3200" dirty="0"/>
          </a:p>
          <a:p>
            <a:r>
              <a:rPr lang="en-AU" sz="3200" dirty="0"/>
              <a:t>Commit it to memory! </a:t>
            </a:r>
          </a:p>
          <a:p>
            <a:r>
              <a:rPr lang="en-AU" sz="3200" dirty="0"/>
              <a:t>Genotype is the combination of letters, phenotype is what those letters code for.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6204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Punnett Squares </a:t>
            </a:r>
          </a:p>
        </p:txBody>
      </p:sp>
      <p:sp>
        <p:nvSpPr>
          <p:cNvPr id="3" name="Content Placeholder 2"/>
          <p:cNvSpPr>
            <a:spLocks noGrp="1"/>
          </p:cNvSpPr>
          <p:nvPr>
            <p:ph idx="1"/>
          </p:nvPr>
        </p:nvSpPr>
        <p:spPr/>
        <p:txBody>
          <a:bodyPr>
            <a:normAutofit/>
          </a:bodyPr>
          <a:lstStyle/>
          <a:p>
            <a:r>
              <a:rPr lang="en-AU" sz="3200" dirty="0"/>
              <a:t>Can be used to model a cross and calculate the probability of genotypes and phenotypes of offspring. </a:t>
            </a:r>
          </a:p>
          <a:p>
            <a:endParaRPr lang="en-AU" sz="3200" dirty="0"/>
          </a:p>
          <a:p>
            <a:endParaRPr lang="en-AU" sz="3200" dirty="0"/>
          </a:p>
          <a:p>
            <a:r>
              <a:rPr lang="en-AU" sz="3200" dirty="0"/>
              <a:t>*Punnett Square worksheet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8724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482" y="365125"/>
            <a:ext cx="5206481" cy="4318842"/>
          </a:xfrm>
        </p:spPr>
        <p:txBody>
          <a:bodyPr>
            <a:normAutofit/>
          </a:bodyPr>
          <a:lstStyle/>
          <a:p>
            <a:r>
              <a:rPr lang="en-AU" sz="6000" b="1" dirty="0"/>
              <a:t>Some inherited traits in humans </a:t>
            </a:r>
          </a:p>
        </p:txBody>
      </p:sp>
      <p:pic>
        <p:nvPicPr>
          <p:cNvPr id="5" name="Content Placeholder 4"/>
          <p:cNvPicPr>
            <a:picLocks noGrp="1" noChangeAspect="1"/>
          </p:cNvPicPr>
          <p:nvPr>
            <p:ph idx="1"/>
          </p:nvPr>
        </p:nvPicPr>
        <p:blipFill>
          <a:blip r:embed="rId2"/>
          <a:stretch>
            <a:fillRect/>
          </a:stretch>
        </p:blipFill>
        <p:spPr>
          <a:xfrm>
            <a:off x="5654352" y="177648"/>
            <a:ext cx="6433146" cy="6503072"/>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7849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Pedigrees</a:t>
            </a:r>
          </a:p>
        </p:txBody>
      </p:sp>
      <p:sp>
        <p:nvSpPr>
          <p:cNvPr id="3" name="Content Placeholder 2"/>
          <p:cNvSpPr>
            <a:spLocks noGrp="1"/>
          </p:cNvSpPr>
          <p:nvPr>
            <p:ph idx="1"/>
          </p:nvPr>
        </p:nvSpPr>
        <p:spPr/>
        <p:txBody>
          <a:bodyPr>
            <a:normAutofit/>
          </a:bodyPr>
          <a:lstStyle/>
          <a:p>
            <a:r>
              <a:rPr lang="en-AU" sz="3200" dirty="0"/>
              <a:t>A pedigree, or family tree, is used to look at the phenotypes that have been produced in a family. </a:t>
            </a:r>
          </a:p>
          <a:p>
            <a:endParaRPr lang="en-AU" sz="3200" dirty="0"/>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01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719" y="421109"/>
            <a:ext cx="3155301" cy="2900589"/>
          </a:xfrm>
        </p:spPr>
        <p:txBody>
          <a:bodyPr>
            <a:normAutofit/>
          </a:bodyPr>
          <a:lstStyle/>
          <a:p>
            <a:r>
              <a:rPr lang="en-AU" sz="6000" b="1" dirty="0"/>
              <a:t>Rules of pedigrees </a:t>
            </a:r>
          </a:p>
        </p:txBody>
      </p:sp>
      <p:pic>
        <p:nvPicPr>
          <p:cNvPr id="5" name="Content Placeholder 4"/>
          <p:cNvPicPr>
            <a:picLocks noGrp="1" noChangeAspect="1"/>
          </p:cNvPicPr>
          <p:nvPr>
            <p:ph idx="1"/>
          </p:nvPr>
        </p:nvPicPr>
        <p:blipFill>
          <a:blip r:embed="rId2"/>
          <a:stretch>
            <a:fillRect/>
          </a:stretch>
        </p:blipFill>
        <p:spPr>
          <a:xfrm>
            <a:off x="3501779" y="287043"/>
            <a:ext cx="8483571" cy="6431095"/>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8841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94127" y="836580"/>
            <a:ext cx="11499767" cy="5430144"/>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3051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Example- Albinism</a:t>
            </a:r>
          </a:p>
        </p:txBody>
      </p:sp>
      <p:sp>
        <p:nvSpPr>
          <p:cNvPr id="3" name="Content Placeholder 2"/>
          <p:cNvSpPr>
            <a:spLocks noGrp="1"/>
          </p:cNvSpPr>
          <p:nvPr>
            <p:ph idx="1"/>
          </p:nvPr>
        </p:nvSpPr>
        <p:spPr/>
        <p:txBody>
          <a:bodyPr>
            <a:normAutofit/>
          </a:bodyPr>
          <a:lstStyle/>
          <a:p>
            <a:r>
              <a:rPr lang="en-AU" sz="3200" dirty="0"/>
              <a:t>In a small percentage of people, humans fail to synthesise one of the enzymes involved in the production of melanin and pigmentation does not occur. These individuals have white skin, white hair and pink eyes. </a:t>
            </a:r>
          </a:p>
          <a:p>
            <a:endParaRPr lang="en-AU" sz="3200" dirty="0"/>
          </a:p>
          <a:p>
            <a:r>
              <a:rPr lang="en-AU" sz="3200" dirty="0"/>
              <a:t>The dominant allele controls normal enzyme production and the recessive allele causes abnormal enzyme production, resulting in albinism.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4954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29459" y="527769"/>
            <a:ext cx="11689538" cy="5806816"/>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1823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AU" sz="6000" dirty="0"/>
          </a:p>
        </p:txBody>
      </p:sp>
      <p:sp>
        <p:nvSpPr>
          <p:cNvPr id="3" name="Content Placeholder 2"/>
          <p:cNvSpPr>
            <a:spLocks noGrp="1"/>
          </p:cNvSpPr>
          <p:nvPr>
            <p:ph idx="1"/>
          </p:nvPr>
        </p:nvSpPr>
        <p:spPr/>
        <p:txBody>
          <a:bodyPr>
            <a:normAutofit/>
          </a:bodyPr>
          <a:lstStyle/>
          <a:p>
            <a:r>
              <a:rPr lang="en-AU" sz="3200" dirty="0"/>
              <a:t>Without opening your textbook, see if you can identify the genotypes of the individuals in the family tree.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6011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dirty="0"/>
              <a:t>Answer</a:t>
            </a:r>
          </a:p>
        </p:txBody>
      </p:sp>
      <p:pic>
        <p:nvPicPr>
          <p:cNvPr id="5" name="Content Placeholder 4"/>
          <p:cNvPicPr>
            <a:picLocks noGrp="1" noChangeAspect="1"/>
          </p:cNvPicPr>
          <p:nvPr>
            <p:ph idx="1"/>
          </p:nvPr>
        </p:nvPicPr>
        <p:blipFill>
          <a:blip r:embed="rId2"/>
          <a:stretch>
            <a:fillRect/>
          </a:stretch>
        </p:blipFill>
        <p:spPr>
          <a:xfrm>
            <a:off x="1885950" y="1881981"/>
            <a:ext cx="8420100" cy="4238625"/>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4319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AU" sz="4000" dirty="0"/>
              <a:t>*Pedigrees worksheet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1396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 y="365125"/>
            <a:ext cx="12026537" cy="1325563"/>
          </a:xfrm>
        </p:spPr>
        <p:txBody>
          <a:bodyPr>
            <a:noAutofit/>
          </a:bodyPr>
          <a:lstStyle/>
          <a:p>
            <a:r>
              <a:rPr lang="en-AU" sz="4800" b="1" dirty="0"/>
              <a:t>Autosomal Inheritance of Single-Gene Disorders</a:t>
            </a:r>
          </a:p>
        </p:txBody>
      </p:sp>
      <p:sp>
        <p:nvSpPr>
          <p:cNvPr id="3" name="Content Placeholder 2"/>
          <p:cNvSpPr>
            <a:spLocks noGrp="1"/>
          </p:cNvSpPr>
          <p:nvPr>
            <p:ph idx="1"/>
          </p:nvPr>
        </p:nvSpPr>
        <p:spPr>
          <a:xfrm>
            <a:off x="335902" y="1474237"/>
            <a:ext cx="11513976" cy="5187820"/>
          </a:xfrm>
        </p:spPr>
        <p:txBody>
          <a:bodyPr>
            <a:normAutofit/>
          </a:bodyPr>
          <a:lstStyle/>
          <a:p>
            <a:r>
              <a:rPr lang="en-AU" sz="3200" dirty="0"/>
              <a:t>One of the most frequent reasons for constructing a family pedigree is to investigate the pattern of inheritance of a genetic disorder. </a:t>
            </a:r>
          </a:p>
          <a:p>
            <a:endParaRPr lang="en-AU" sz="3200" dirty="0"/>
          </a:p>
          <a:p>
            <a:r>
              <a:rPr lang="en-AU" sz="3200" dirty="0"/>
              <a:t>Single-gene disorders are caused by the inheritance of a single defective gene. The severity of the disorder is often variable and hard to predict. </a:t>
            </a:r>
          </a:p>
          <a:p>
            <a:endParaRPr lang="en-AU" sz="3200" dirty="0"/>
          </a:p>
          <a:p>
            <a:r>
              <a:rPr lang="en-AU" sz="3200" dirty="0"/>
              <a:t>Remember we have 46 chromosomes, 44 are autosomal and 2 are sex chromosomes.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0174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Dominant, autosomal inheritance</a:t>
            </a:r>
          </a:p>
        </p:txBody>
      </p:sp>
      <p:sp>
        <p:nvSpPr>
          <p:cNvPr id="3" name="Content Placeholder 2"/>
          <p:cNvSpPr>
            <a:spLocks noGrp="1"/>
          </p:cNvSpPr>
          <p:nvPr>
            <p:ph idx="1"/>
          </p:nvPr>
        </p:nvSpPr>
        <p:spPr>
          <a:xfrm>
            <a:off x="315686" y="1452400"/>
            <a:ext cx="11627498" cy="5097689"/>
          </a:xfrm>
        </p:spPr>
        <p:txBody>
          <a:bodyPr>
            <a:normAutofit/>
          </a:bodyPr>
          <a:lstStyle/>
          <a:p>
            <a:r>
              <a:rPr lang="en-AU" sz="3200" dirty="0"/>
              <a:t>Traits caused by dominant alleles are easily passed on, as only one allele is needed to activate/show the trait. </a:t>
            </a:r>
          </a:p>
          <a:p>
            <a:endParaRPr lang="en-AU" sz="3200" dirty="0"/>
          </a:p>
          <a:p>
            <a:r>
              <a:rPr lang="en-AU" sz="3200" dirty="0"/>
              <a:t>Dominant alleles that cause severe defects are rarely passed on, because people with them usually die before they can reproduce.</a:t>
            </a:r>
          </a:p>
          <a:p>
            <a:r>
              <a:rPr lang="en-AU" sz="3200" dirty="0"/>
              <a:t> </a:t>
            </a:r>
          </a:p>
          <a:p>
            <a:r>
              <a:rPr lang="en-AU" sz="3200" dirty="0"/>
              <a:t>E.g. Huntington’s disease which is an inherited disorder that results in the death of brain cells (changes to mood, mental ability and movement)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3168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Recessive, autosomal inheritance </a:t>
            </a:r>
          </a:p>
        </p:txBody>
      </p:sp>
      <p:sp>
        <p:nvSpPr>
          <p:cNvPr id="3" name="Content Placeholder 2"/>
          <p:cNvSpPr>
            <a:spLocks noGrp="1"/>
          </p:cNvSpPr>
          <p:nvPr>
            <p:ph idx="1"/>
          </p:nvPr>
        </p:nvSpPr>
        <p:spPr/>
        <p:txBody>
          <a:bodyPr>
            <a:normAutofit/>
          </a:bodyPr>
          <a:lstStyle/>
          <a:p>
            <a:r>
              <a:rPr lang="en-AU" sz="3200" dirty="0"/>
              <a:t>A person who has a heterozygous genotype has a recessive allele that is masked. They are called carriers. </a:t>
            </a:r>
          </a:p>
          <a:p>
            <a:endParaRPr lang="en-AU" sz="3200" dirty="0"/>
          </a:p>
          <a:p>
            <a:r>
              <a:rPr lang="en-AU" sz="3200" dirty="0"/>
              <a:t>The chance of a severe recessive disorder not linked to a sex chromosome is low. </a:t>
            </a:r>
          </a:p>
          <a:p>
            <a:endParaRPr lang="en-AU" sz="3200" dirty="0"/>
          </a:p>
          <a:p>
            <a:r>
              <a:rPr lang="en-AU" sz="3200" dirty="0"/>
              <a:t>E.g. Phenylketonuria (PKU) and cystic fibrosis </a:t>
            </a:r>
          </a:p>
          <a:p>
            <a:r>
              <a:rPr lang="en-AU" sz="3200" dirty="0"/>
              <a:t>https://www.youtube.com/watch?v=0sauoF4ppwA</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265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273" y="365125"/>
            <a:ext cx="11663266" cy="1325563"/>
          </a:xfrm>
        </p:spPr>
        <p:txBody>
          <a:bodyPr>
            <a:normAutofit fontScale="90000"/>
          </a:bodyPr>
          <a:lstStyle/>
          <a:p>
            <a:r>
              <a:rPr lang="en-AU" sz="6000" b="1" dirty="0"/>
              <a:t>Using pedigrees for single-gene disorders </a:t>
            </a:r>
          </a:p>
        </p:txBody>
      </p:sp>
      <p:pic>
        <p:nvPicPr>
          <p:cNvPr id="5" name="Content Placeholder 4"/>
          <p:cNvPicPr>
            <a:picLocks noGrp="1" noChangeAspect="1"/>
          </p:cNvPicPr>
          <p:nvPr>
            <p:ph idx="1"/>
          </p:nvPr>
        </p:nvPicPr>
        <p:blipFill>
          <a:blip r:embed="rId2"/>
          <a:stretch>
            <a:fillRect/>
          </a:stretch>
        </p:blipFill>
        <p:spPr>
          <a:xfrm>
            <a:off x="887380" y="1509483"/>
            <a:ext cx="10299051" cy="5173039"/>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1549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Sex determination </a:t>
            </a:r>
          </a:p>
        </p:txBody>
      </p:sp>
      <p:sp>
        <p:nvSpPr>
          <p:cNvPr id="3" name="Content Placeholder 2"/>
          <p:cNvSpPr>
            <a:spLocks noGrp="1"/>
          </p:cNvSpPr>
          <p:nvPr>
            <p:ph idx="1"/>
          </p:nvPr>
        </p:nvSpPr>
        <p:spPr/>
        <p:txBody>
          <a:bodyPr/>
          <a:lstStyle/>
          <a:p>
            <a:r>
              <a:rPr lang="en-AU" dirty="0"/>
              <a:t>The chances of having a girl or boy are 50/50. </a:t>
            </a:r>
          </a:p>
          <a:p>
            <a:endParaRPr lang="en-AU" dirty="0"/>
          </a:p>
          <a:p>
            <a:r>
              <a:rPr lang="en-AU" dirty="0"/>
              <a:t>The father’s sperm determines the sex of the child.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1798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Sex-linked characteristics </a:t>
            </a:r>
          </a:p>
        </p:txBody>
      </p:sp>
      <p:sp>
        <p:nvSpPr>
          <p:cNvPr id="3" name="Content Placeholder 2"/>
          <p:cNvSpPr>
            <a:spLocks noGrp="1"/>
          </p:cNvSpPr>
          <p:nvPr>
            <p:ph idx="1"/>
          </p:nvPr>
        </p:nvSpPr>
        <p:spPr/>
        <p:txBody>
          <a:bodyPr>
            <a:normAutofit/>
          </a:bodyPr>
          <a:lstStyle/>
          <a:p>
            <a:r>
              <a:rPr lang="en-AU" sz="3200" dirty="0"/>
              <a:t>We know the Y chromosome is very small in comparison to the X chromosome. This means that the Y chromosome cannot have the same number of genes in it as the X chromosome. </a:t>
            </a:r>
          </a:p>
          <a:p>
            <a:endParaRPr lang="en-AU" sz="3200" dirty="0"/>
          </a:p>
          <a:p>
            <a:r>
              <a:rPr lang="en-AU" sz="3200" dirty="0"/>
              <a:t>Most of the genes in the X chromosome will lack </a:t>
            </a:r>
            <a:r>
              <a:rPr lang="en-AU" sz="3200" dirty="0" err="1"/>
              <a:t>mataching</a:t>
            </a:r>
            <a:r>
              <a:rPr lang="en-AU" sz="3200" dirty="0"/>
              <a:t> alleles in males.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0089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Sex-linked characteristics </a:t>
            </a:r>
            <a:endParaRPr lang="en-AU" sz="6000" dirty="0"/>
          </a:p>
        </p:txBody>
      </p:sp>
      <p:sp>
        <p:nvSpPr>
          <p:cNvPr id="3" name="Content Placeholder 2"/>
          <p:cNvSpPr>
            <a:spLocks noGrp="1"/>
          </p:cNvSpPr>
          <p:nvPr>
            <p:ph idx="1"/>
          </p:nvPr>
        </p:nvSpPr>
        <p:spPr/>
        <p:txBody>
          <a:bodyPr>
            <a:normAutofit/>
          </a:bodyPr>
          <a:lstStyle/>
          <a:p>
            <a:r>
              <a:rPr lang="en-AU" sz="3200" dirty="0"/>
              <a:t>When characteristics on the X chromosomes are studied and patterns identified they are called sex-linked characteristics or x-linked characteristics.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8933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Red-Green Colour Blindness </a:t>
            </a:r>
          </a:p>
        </p:txBody>
      </p:sp>
      <p:pic>
        <p:nvPicPr>
          <p:cNvPr id="5" name="Content Placeholder 4"/>
          <p:cNvPicPr>
            <a:picLocks noGrp="1" noChangeAspect="1"/>
          </p:cNvPicPr>
          <p:nvPr>
            <p:ph idx="1"/>
          </p:nvPr>
        </p:nvPicPr>
        <p:blipFill>
          <a:blip r:embed="rId2"/>
          <a:stretch>
            <a:fillRect/>
          </a:stretch>
        </p:blipFill>
        <p:spPr>
          <a:xfrm>
            <a:off x="259702" y="1833283"/>
            <a:ext cx="11710642" cy="2999974"/>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53444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Hemizygous </a:t>
            </a:r>
          </a:p>
        </p:txBody>
      </p:sp>
      <p:sp>
        <p:nvSpPr>
          <p:cNvPr id="3" name="Content Placeholder 2"/>
          <p:cNvSpPr>
            <a:spLocks noGrp="1"/>
          </p:cNvSpPr>
          <p:nvPr>
            <p:ph idx="1"/>
          </p:nvPr>
        </p:nvSpPr>
        <p:spPr/>
        <p:txBody>
          <a:bodyPr>
            <a:normAutofit/>
          </a:bodyPr>
          <a:lstStyle/>
          <a:p>
            <a:r>
              <a:rPr lang="en-AU" sz="3200" dirty="0"/>
              <a:t>Describes an individual who has one only one member of a chromosome pair or chromosome segment rather than the usual two. </a:t>
            </a:r>
          </a:p>
          <a:p>
            <a:endParaRPr lang="en-AU" sz="3200" dirty="0"/>
          </a:p>
          <a:p>
            <a:r>
              <a:rPr lang="en-AU" sz="3200" dirty="0"/>
              <a:t>Often used to describe X-linked genes in males who have only one X chromosome.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9268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Red-Green Colour Blindness </a:t>
            </a:r>
            <a:endParaRPr lang="en-AU" sz="6000" dirty="0"/>
          </a:p>
        </p:txBody>
      </p:sp>
      <p:sp>
        <p:nvSpPr>
          <p:cNvPr id="3" name="Content Placeholder 2"/>
          <p:cNvSpPr>
            <a:spLocks noGrp="1"/>
          </p:cNvSpPr>
          <p:nvPr>
            <p:ph idx="1"/>
          </p:nvPr>
        </p:nvSpPr>
        <p:spPr/>
        <p:txBody>
          <a:bodyPr>
            <a:normAutofit/>
          </a:bodyPr>
          <a:lstStyle/>
          <a:p>
            <a:r>
              <a:rPr lang="en-AU" sz="3200" dirty="0"/>
              <a:t>A recessive allele is able to be masked by the presence of a dominant allele in females. This is not possible in males; therefore, the frequency of colour blindness is higher in males than in females. </a:t>
            </a:r>
          </a:p>
          <a:p>
            <a:endParaRPr lang="en-AU" sz="3200" dirty="0"/>
          </a:p>
          <a:p>
            <a:r>
              <a:rPr lang="en-AU" sz="3200" dirty="0"/>
              <a:t>Females can be carriers for colour blindness if they have the recessive allele.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20432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Haemophilia </a:t>
            </a:r>
          </a:p>
        </p:txBody>
      </p:sp>
      <p:sp>
        <p:nvSpPr>
          <p:cNvPr id="3" name="Content Placeholder 2"/>
          <p:cNvSpPr>
            <a:spLocks noGrp="1"/>
          </p:cNvSpPr>
          <p:nvPr>
            <p:ph idx="1"/>
          </p:nvPr>
        </p:nvSpPr>
        <p:spPr/>
        <p:txBody>
          <a:bodyPr>
            <a:normAutofit/>
          </a:bodyPr>
          <a:lstStyle/>
          <a:p>
            <a:r>
              <a:rPr lang="en-AU" sz="3200" dirty="0"/>
              <a:t>Another sex-linked characteristic. Rare disease in which the blood clots slowly or not at all. </a:t>
            </a:r>
          </a:p>
          <a:p>
            <a:endParaRPr lang="en-AU" sz="3200" dirty="0"/>
          </a:p>
          <a:p>
            <a:r>
              <a:rPr lang="en-AU" sz="3200" dirty="0"/>
              <a:t>The defective allele is carried on the X chromosome. Males can therefore be normal or haemophiliac. Females can be normal, carriers or haemophiliacs. </a:t>
            </a:r>
          </a:p>
          <a:p>
            <a:endParaRPr lang="en-AU" sz="3200" dirty="0"/>
          </a:p>
          <a:p>
            <a:r>
              <a:rPr lang="en-AU" sz="3200" dirty="0"/>
              <a:t>It is a recessive disease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002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400"/>
            <a:ext cx="10515600" cy="1325563"/>
          </a:xfrm>
        </p:spPr>
        <p:txBody>
          <a:bodyPr>
            <a:normAutofit fontScale="90000"/>
          </a:bodyPr>
          <a:lstStyle/>
          <a:p>
            <a:r>
              <a:rPr lang="en-AU" sz="6000" b="1" dirty="0"/>
              <a:t>Patterns with sex-linked inheritance </a:t>
            </a:r>
          </a:p>
        </p:txBody>
      </p:sp>
      <p:sp>
        <p:nvSpPr>
          <p:cNvPr id="3" name="Content Placeholder 2"/>
          <p:cNvSpPr>
            <a:spLocks noGrp="1"/>
          </p:cNvSpPr>
          <p:nvPr>
            <p:ph idx="1"/>
          </p:nvPr>
        </p:nvSpPr>
        <p:spPr>
          <a:xfrm>
            <a:off x="60960" y="899440"/>
            <a:ext cx="11877358" cy="985344"/>
          </a:xfrm>
        </p:spPr>
        <p:txBody>
          <a:bodyPr>
            <a:normAutofit/>
          </a:bodyPr>
          <a:lstStyle/>
          <a:p>
            <a:pPr algn="ctr"/>
            <a:r>
              <a:rPr lang="en-AU" sz="3200" dirty="0"/>
              <a:t>This is a pedigree for a recessive sex-linked trait. Fill in the genotypes. No cheating.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256010" y="2083876"/>
            <a:ext cx="11682308" cy="4037006"/>
          </a:xfrm>
          <a:prstGeom prst="rect">
            <a:avLst/>
          </a:prstGeom>
        </p:spPr>
      </p:pic>
    </p:spTree>
    <p:extLst>
      <p:ext uri="{BB962C8B-B14F-4D97-AF65-F5344CB8AC3E}">
        <p14:creationId xmlns:p14="http://schemas.microsoft.com/office/powerpoint/2010/main" val="1723453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08075" y="426032"/>
            <a:ext cx="11595889" cy="5582881"/>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67884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Co-dominance </a:t>
            </a:r>
          </a:p>
        </p:txBody>
      </p:sp>
      <p:sp>
        <p:nvSpPr>
          <p:cNvPr id="3" name="Content Placeholder 2"/>
          <p:cNvSpPr>
            <a:spLocks noGrp="1"/>
          </p:cNvSpPr>
          <p:nvPr>
            <p:ph idx="1"/>
          </p:nvPr>
        </p:nvSpPr>
        <p:spPr/>
        <p:txBody>
          <a:bodyPr>
            <a:normAutofit/>
          </a:bodyPr>
          <a:lstStyle/>
          <a:p>
            <a:r>
              <a:rPr lang="en-AU" sz="3200" dirty="0"/>
              <a:t>Is a situation where two or more alleles are equally dominant. This means that if both alleles are present, they will be both observed. </a:t>
            </a:r>
          </a:p>
          <a:p>
            <a:r>
              <a:rPr lang="en-AU" sz="3200" dirty="0"/>
              <a:t>E.g. The B</a:t>
            </a:r>
            <a:r>
              <a:rPr lang="en-AU" sz="3200" baseline="30000" dirty="0"/>
              <a:t>M</a:t>
            </a:r>
            <a:r>
              <a:rPr lang="en-AU" sz="3200" dirty="0"/>
              <a:t> and B</a:t>
            </a:r>
            <a:r>
              <a:rPr lang="en-AU" sz="3200" baseline="30000" dirty="0"/>
              <a:t>N</a:t>
            </a:r>
            <a:r>
              <a:rPr lang="en-AU" sz="3200" dirty="0"/>
              <a:t> alleles for the M and N antigens in human blood. Neither allele is dominant, and so three outcomes are possible: </a:t>
            </a:r>
          </a:p>
          <a:p>
            <a:pPr lvl="1"/>
            <a:r>
              <a:rPr lang="en-AU" sz="2800" dirty="0"/>
              <a:t>Type M blood- B</a:t>
            </a:r>
            <a:r>
              <a:rPr lang="en-AU" sz="2800" baseline="30000" dirty="0"/>
              <a:t>M</a:t>
            </a:r>
            <a:r>
              <a:rPr lang="en-AU" sz="2800" dirty="0"/>
              <a:t>B</a:t>
            </a:r>
            <a:r>
              <a:rPr lang="en-AU" sz="2800" baseline="30000" dirty="0"/>
              <a:t>M</a:t>
            </a:r>
          </a:p>
          <a:p>
            <a:pPr lvl="1"/>
            <a:r>
              <a:rPr lang="en-AU" sz="2800" dirty="0"/>
              <a:t>Type N blood- B</a:t>
            </a:r>
            <a:r>
              <a:rPr lang="en-AU" sz="2800" baseline="30000" dirty="0"/>
              <a:t>N</a:t>
            </a:r>
            <a:r>
              <a:rPr lang="en-AU" sz="2800" dirty="0"/>
              <a:t>B</a:t>
            </a:r>
            <a:r>
              <a:rPr lang="en-AU" sz="2800" baseline="30000" dirty="0"/>
              <a:t>N</a:t>
            </a:r>
          </a:p>
          <a:p>
            <a:pPr lvl="1"/>
            <a:r>
              <a:rPr lang="en-AU" sz="2800" dirty="0"/>
              <a:t>Type MN blood- B</a:t>
            </a:r>
            <a:r>
              <a:rPr lang="en-AU" sz="2800" baseline="30000" dirty="0"/>
              <a:t>M</a:t>
            </a:r>
            <a:r>
              <a:rPr lang="en-AU" sz="2800" dirty="0"/>
              <a:t>B</a:t>
            </a:r>
            <a:r>
              <a:rPr lang="en-AU" sz="2800" baseline="30000" dirty="0"/>
              <a:t>N</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39282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Multiple alleles</a:t>
            </a:r>
          </a:p>
        </p:txBody>
      </p:sp>
      <p:sp>
        <p:nvSpPr>
          <p:cNvPr id="3" name="Content Placeholder 2"/>
          <p:cNvSpPr>
            <a:spLocks noGrp="1"/>
          </p:cNvSpPr>
          <p:nvPr>
            <p:ph idx="1"/>
          </p:nvPr>
        </p:nvSpPr>
        <p:spPr/>
        <p:txBody>
          <a:bodyPr>
            <a:normAutofit/>
          </a:bodyPr>
          <a:lstStyle/>
          <a:p>
            <a:r>
              <a:rPr lang="en-AU" sz="3200" dirty="0"/>
              <a:t>Sometimes there are more than two alleles for a particular characteristic. They are called multiple alleles and their position on a chromosome is called multiple allelic. E.g. ABO blood groups. </a:t>
            </a:r>
          </a:p>
          <a:p>
            <a:endParaRPr lang="en-AU" sz="3200" dirty="0"/>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250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Blood groups </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351065064"/>
              </p:ext>
            </p:extLst>
          </p:nvPr>
        </p:nvGraphicFramePr>
        <p:xfrm>
          <a:off x="334346" y="1571235"/>
          <a:ext cx="11590176" cy="4947403"/>
        </p:xfrm>
        <a:graphic>
          <a:graphicData uri="http://schemas.openxmlformats.org/drawingml/2006/table">
            <a:tbl>
              <a:tblPr firstRow="1" bandRow="1">
                <a:tableStyleId>{5202B0CA-FC54-4496-8BCA-5EF66A818D29}</a:tableStyleId>
              </a:tblPr>
              <a:tblGrid>
                <a:gridCol w="2897544">
                  <a:extLst>
                    <a:ext uri="{9D8B030D-6E8A-4147-A177-3AD203B41FA5}">
                      <a16:colId xmlns:a16="http://schemas.microsoft.com/office/drawing/2014/main" val="1451720414"/>
                    </a:ext>
                  </a:extLst>
                </a:gridCol>
                <a:gridCol w="2897544">
                  <a:extLst>
                    <a:ext uri="{9D8B030D-6E8A-4147-A177-3AD203B41FA5}">
                      <a16:colId xmlns:a16="http://schemas.microsoft.com/office/drawing/2014/main" val="615193122"/>
                    </a:ext>
                  </a:extLst>
                </a:gridCol>
                <a:gridCol w="2897544">
                  <a:extLst>
                    <a:ext uri="{9D8B030D-6E8A-4147-A177-3AD203B41FA5}">
                      <a16:colId xmlns:a16="http://schemas.microsoft.com/office/drawing/2014/main" val="1128684366"/>
                    </a:ext>
                  </a:extLst>
                </a:gridCol>
                <a:gridCol w="2897544">
                  <a:extLst>
                    <a:ext uri="{9D8B030D-6E8A-4147-A177-3AD203B41FA5}">
                      <a16:colId xmlns:a16="http://schemas.microsoft.com/office/drawing/2014/main" val="233839224"/>
                    </a:ext>
                  </a:extLst>
                </a:gridCol>
              </a:tblGrid>
              <a:tr h="593467">
                <a:tc>
                  <a:txBody>
                    <a:bodyPr/>
                    <a:lstStyle/>
                    <a:p>
                      <a:pPr algn="ctr"/>
                      <a:r>
                        <a:rPr lang="en-AU" sz="2000" dirty="0"/>
                        <a:t>Genotype </a:t>
                      </a:r>
                    </a:p>
                  </a:txBody>
                  <a:tcPr/>
                </a:tc>
                <a:tc>
                  <a:txBody>
                    <a:bodyPr/>
                    <a:lstStyle/>
                    <a:p>
                      <a:pPr algn="ctr"/>
                      <a:r>
                        <a:rPr lang="en-AU" sz="2000" dirty="0"/>
                        <a:t>Phenotype </a:t>
                      </a:r>
                    </a:p>
                  </a:txBody>
                  <a:tcPr/>
                </a:tc>
                <a:tc>
                  <a:txBody>
                    <a:bodyPr/>
                    <a:lstStyle/>
                    <a:p>
                      <a:pPr algn="ctr"/>
                      <a:r>
                        <a:rPr lang="en-AU" sz="2000" dirty="0"/>
                        <a:t>Blood group </a:t>
                      </a:r>
                    </a:p>
                  </a:txBody>
                  <a:tcPr/>
                </a:tc>
                <a:tc>
                  <a:txBody>
                    <a:bodyPr/>
                    <a:lstStyle/>
                    <a:p>
                      <a:pPr algn="ctr"/>
                      <a:r>
                        <a:rPr lang="en-AU" sz="2000" dirty="0"/>
                        <a:t>Description </a:t>
                      </a:r>
                    </a:p>
                  </a:txBody>
                  <a:tcPr/>
                </a:tc>
                <a:extLst>
                  <a:ext uri="{0D108BD9-81ED-4DB2-BD59-A6C34878D82A}">
                    <a16:rowId xmlns:a16="http://schemas.microsoft.com/office/drawing/2014/main" val="3513039029"/>
                  </a:ext>
                </a:extLst>
              </a:tr>
              <a:tr h="1014432">
                <a:tc>
                  <a:txBody>
                    <a:bodyPr/>
                    <a:lstStyle/>
                    <a:p>
                      <a:pPr algn="ctr"/>
                      <a:r>
                        <a:rPr lang="en-AU" sz="2800" dirty="0"/>
                        <a:t>I</a:t>
                      </a:r>
                      <a:r>
                        <a:rPr lang="en-AU" sz="2800" baseline="30000" dirty="0"/>
                        <a:t>A</a:t>
                      </a:r>
                      <a:r>
                        <a:rPr lang="en-AU" sz="2800" dirty="0"/>
                        <a:t>I</a:t>
                      </a:r>
                      <a:r>
                        <a:rPr lang="en-AU" sz="2800" baseline="30000" dirty="0"/>
                        <a:t>A</a:t>
                      </a:r>
                    </a:p>
                    <a:p>
                      <a:pPr algn="ctr"/>
                      <a:r>
                        <a:rPr lang="en-AU" sz="2800" dirty="0" err="1"/>
                        <a:t>I</a:t>
                      </a:r>
                      <a:r>
                        <a:rPr lang="en-AU" sz="2800" baseline="30000" dirty="0" err="1"/>
                        <a:t>A</a:t>
                      </a:r>
                      <a:r>
                        <a:rPr lang="en-AU" sz="2800" dirty="0" err="1"/>
                        <a:t>i</a:t>
                      </a:r>
                      <a:endParaRPr lang="en-AU" sz="2800" dirty="0"/>
                    </a:p>
                  </a:txBody>
                  <a:tcPr anchor="ctr">
                    <a:solidFill>
                      <a:schemeClr val="bg1">
                        <a:lumMod val="85000"/>
                      </a:schemeClr>
                    </a:solidFill>
                  </a:tcPr>
                </a:tc>
                <a:tc>
                  <a:txBody>
                    <a:bodyPr/>
                    <a:lstStyle/>
                    <a:p>
                      <a:pPr algn="ctr"/>
                      <a:r>
                        <a:rPr lang="en-AU" sz="2800" dirty="0"/>
                        <a:t>Antigen A </a:t>
                      </a:r>
                    </a:p>
                  </a:txBody>
                  <a:tcPr anchor="ctr">
                    <a:solidFill>
                      <a:schemeClr val="bg1">
                        <a:lumMod val="85000"/>
                      </a:schemeClr>
                    </a:solidFill>
                  </a:tcPr>
                </a:tc>
                <a:tc>
                  <a:txBody>
                    <a:bodyPr/>
                    <a:lstStyle/>
                    <a:p>
                      <a:pPr algn="ctr"/>
                      <a:r>
                        <a:rPr lang="en-AU" sz="2800" dirty="0"/>
                        <a:t>A</a:t>
                      </a:r>
                    </a:p>
                  </a:txBody>
                  <a:tcPr anchor="ctr">
                    <a:solidFill>
                      <a:schemeClr val="bg1">
                        <a:lumMod val="85000"/>
                      </a:schemeClr>
                    </a:solidFill>
                  </a:tcPr>
                </a:tc>
                <a:tc>
                  <a:txBody>
                    <a:bodyPr/>
                    <a:lstStyle/>
                    <a:p>
                      <a:pPr algn="ctr"/>
                      <a:r>
                        <a:rPr lang="en-AU" sz="2000" dirty="0"/>
                        <a:t>Homozygous dominant </a:t>
                      </a:r>
                    </a:p>
                    <a:p>
                      <a:pPr algn="ctr"/>
                      <a:r>
                        <a:rPr lang="en-AU" sz="2000" dirty="0"/>
                        <a:t>Or</a:t>
                      </a:r>
                      <a:r>
                        <a:rPr lang="en-AU" sz="2000" baseline="0" dirty="0"/>
                        <a:t> </a:t>
                      </a:r>
                    </a:p>
                    <a:p>
                      <a:pPr algn="ctr"/>
                      <a:r>
                        <a:rPr lang="en-AU" sz="2000" baseline="0" dirty="0"/>
                        <a:t>Heterozygous </a:t>
                      </a:r>
                    </a:p>
                  </a:txBody>
                  <a:tcPr anchor="ctr">
                    <a:solidFill>
                      <a:schemeClr val="bg1">
                        <a:lumMod val="85000"/>
                      </a:schemeClr>
                    </a:solidFill>
                  </a:tcPr>
                </a:tc>
                <a:extLst>
                  <a:ext uri="{0D108BD9-81ED-4DB2-BD59-A6C34878D82A}">
                    <a16:rowId xmlns:a16="http://schemas.microsoft.com/office/drawing/2014/main" val="2446321752"/>
                  </a:ext>
                </a:extLst>
              </a:tr>
              <a:tr h="1014432">
                <a:tc>
                  <a:txBody>
                    <a:bodyPr/>
                    <a:lstStyle/>
                    <a:p>
                      <a:pPr algn="ctr"/>
                      <a:r>
                        <a:rPr lang="en-AU" sz="2800" dirty="0"/>
                        <a:t>I</a:t>
                      </a:r>
                      <a:r>
                        <a:rPr lang="en-AU" sz="2800" baseline="30000" dirty="0"/>
                        <a:t>A</a:t>
                      </a:r>
                      <a:r>
                        <a:rPr lang="en-AU" sz="2800" dirty="0"/>
                        <a:t>I</a:t>
                      </a:r>
                      <a:r>
                        <a:rPr lang="en-AU" sz="2800" baseline="30000" dirty="0"/>
                        <a:t>B</a:t>
                      </a:r>
                    </a:p>
                  </a:txBody>
                  <a:tcPr anchor="ctr">
                    <a:solidFill>
                      <a:schemeClr val="bg1">
                        <a:lumMod val="85000"/>
                      </a:schemeClr>
                    </a:solidFill>
                  </a:tcPr>
                </a:tc>
                <a:tc>
                  <a:txBody>
                    <a:bodyPr/>
                    <a:lstStyle/>
                    <a:p>
                      <a:pPr algn="ctr"/>
                      <a:r>
                        <a:rPr lang="en-AU" sz="2800" dirty="0"/>
                        <a:t>Antigen A</a:t>
                      </a:r>
                      <a:r>
                        <a:rPr lang="en-AU" sz="2800" baseline="0" dirty="0"/>
                        <a:t> and Antigen B</a:t>
                      </a:r>
                      <a:endParaRPr lang="en-AU" sz="2800" dirty="0"/>
                    </a:p>
                  </a:txBody>
                  <a:tcPr anchor="ctr">
                    <a:solidFill>
                      <a:schemeClr val="bg1">
                        <a:lumMod val="85000"/>
                      </a:schemeClr>
                    </a:solidFill>
                  </a:tcPr>
                </a:tc>
                <a:tc>
                  <a:txBody>
                    <a:bodyPr/>
                    <a:lstStyle/>
                    <a:p>
                      <a:pPr algn="ctr"/>
                      <a:r>
                        <a:rPr lang="en-AU" sz="2800" dirty="0"/>
                        <a:t>AB</a:t>
                      </a:r>
                    </a:p>
                  </a:txBody>
                  <a:tcPr anchor="ctr">
                    <a:solidFill>
                      <a:schemeClr val="bg1">
                        <a:lumMod val="85000"/>
                      </a:schemeClr>
                    </a:solidFill>
                  </a:tcPr>
                </a:tc>
                <a:tc>
                  <a:txBody>
                    <a:bodyPr/>
                    <a:lstStyle/>
                    <a:p>
                      <a:pPr algn="ctr"/>
                      <a:r>
                        <a:rPr lang="en-AU" sz="2000" dirty="0"/>
                        <a:t>Co-dominant </a:t>
                      </a:r>
                    </a:p>
                  </a:txBody>
                  <a:tcPr anchor="ctr">
                    <a:solidFill>
                      <a:schemeClr val="bg1">
                        <a:lumMod val="85000"/>
                      </a:schemeClr>
                    </a:solidFill>
                  </a:tcPr>
                </a:tc>
                <a:extLst>
                  <a:ext uri="{0D108BD9-81ED-4DB2-BD59-A6C34878D82A}">
                    <a16:rowId xmlns:a16="http://schemas.microsoft.com/office/drawing/2014/main" val="103385138"/>
                  </a:ext>
                </a:extLst>
              </a:tr>
              <a:tr h="1014432">
                <a:tc>
                  <a:txBody>
                    <a:bodyPr/>
                    <a:lstStyle/>
                    <a:p>
                      <a:pPr algn="ctr"/>
                      <a:r>
                        <a:rPr lang="en-AU" sz="2800" dirty="0"/>
                        <a:t>I</a:t>
                      </a:r>
                      <a:r>
                        <a:rPr lang="en-AU" sz="2800" baseline="30000" dirty="0"/>
                        <a:t>B</a:t>
                      </a:r>
                      <a:r>
                        <a:rPr lang="en-AU" sz="2800" dirty="0"/>
                        <a:t>I</a:t>
                      </a:r>
                      <a:r>
                        <a:rPr lang="en-AU" sz="2800" baseline="30000" dirty="0"/>
                        <a:t>B</a:t>
                      </a:r>
                    </a:p>
                    <a:p>
                      <a:pPr algn="ctr"/>
                      <a:r>
                        <a:rPr lang="en-AU" sz="2800" dirty="0" err="1"/>
                        <a:t>I</a:t>
                      </a:r>
                      <a:r>
                        <a:rPr lang="en-AU" sz="2800" baseline="30000" dirty="0" err="1"/>
                        <a:t>B</a:t>
                      </a:r>
                      <a:r>
                        <a:rPr lang="en-AU" sz="2800" dirty="0" err="1"/>
                        <a:t>i</a:t>
                      </a:r>
                      <a:endParaRPr lang="en-AU" sz="2800" dirty="0"/>
                    </a:p>
                  </a:txBody>
                  <a:tcPr anchor="ctr">
                    <a:solidFill>
                      <a:schemeClr val="bg1">
                        <a:lumMod val="85000"/>
                      </a:schemeClr>
                    </a:solidFill>
                  </a:tcPr>
                </a:tc>
                <a:tc>
                  <a:txBody>
                    <a:bodyPr/>
                    <a:lstStyle/>
                    <a:p>
                      <a:pPr algn="ctr"/>
                      <a:r>
                        <a:rPr lang="en-AU" sz="2800" dirty="0"/>
                        <a:t>Antigen B </a:t>
                      </a:r>
                    </a:p>
                  </a:txBody>
                  <a:tcPr anchor="ctr">
                    <a:solidFill>
                      <a:schemeClr val="bg1">
                        <a:lumMod val="85000"/>
                      </a:schemeClr>
                    </a:solidFill>
                  </a:tcPr>
                </a:tc>
                <a:tc>
                  <a:txBody>
                    <a:bodyPr/>
                    <a:lstStyle/>
                    <a:p>
                      <a:pPr algn="ctr"/>
                      <a:r>
                        <a:rPr lang="en-AU" sz="2800" dirty="0"/>
                        <a:t>B</a:t>
                      </a:r>
                    </a:p>
                  </a:txBody>
                  <a:tcPr anchor="ctr">
                    <a:solidFill>
                      <a:schemeClr val="bg1">
                        <a:lumMod val="85000"/>
                      </a:schemeClr>
                    </a:solidFill>
                  </a:tcPr>
                </a:tc>
                <a:tc>
                  <a:txBody>
                    <a:bodyPr/>
                    <a:lstStyle/>
                    <a:p>
                      <a:pPr algn="ctr"/>
                      <a:r>
                        <a:rPr lang="en-AU" sz="2000" dirty="0"/>
                        <a:t>Homozygous dominant </a:t>
                      </a:r>
                    </a:p>
                    <a:p>
                      <a:pPr algn="ctr"/>
                      <a:r>
                        <a:rPr lang="en-AU" sz="2000" dirty="0"/>
                        <a:t>Or</a:t>
                      </a:r>
                      <a:r>
                        <a:rPr lang="en-AU" sz="2000" baseline="0" dirty="0"/>
                        <a:t> </a:t>
                      </a:r>
                    </a:p>
                    <a:p>
                      <a:pPr algn="ctr"/>
                      <a:r>
                        <a:rPr lang="en-AU" sz="2000" baseline="0" dirty="0"/>
                        <a:t>Heterozygous </a:t>
                      </a:r>
                    </a:p>
                    <a:p>
                      <a:pPr algn="ctr"/>
                      <a:endParaRPr lang="en-AU" sz="2000" dirty="0"/>
                    </a:p>
                  </a:txBody>
                  <a:tcPr anchor="ctr">
                    <a:solidFill>
                      <a:schemeClr val="bg1">
                        <a:lumMod val="85000"/>
                      </a:schemeClr>
                    </a:solidFill>
                  </a:tcPr>
                </a:tc>
                <a:extLst>
                  <a:ext uri="{0D108BD9-81ED-4DB2-BD59-A6C34878D82A}">
                    <a16:rowId xmlns:a16="http://schemas.microsoft.com/office/drawing/2014/main" val="3354480647"/>
                  </a:ext>
                </a:extLst>
              </a:tr>
              <a:tr h="1014432">
                <a:tc>
                  <a:txBody>
                    <a:bodyPr/>
                    <a:lstStyle/>
                    <a:p>
                      <a:pPr algn="ctr"/>
                      <a:r>
                        <a:rPr lang="en-AU" sz="2800" dirty="0"/>
                        <a:t>ii</a:t>
                      </a:r>
                    </a:p>
                  </a:txBody>
                  <a:tcPr anchor="ctr">
                    <a:solidFill>
                      <a:schemeClr val="bg1">
                        <a:lumMod val="85000"/>
                      </a:schemeClr>
                    </a:solidFill>
                  </a:tcPr>
                </a:tc>
                <a:tc>
                  <a:txBody>
                    <a:bodyPr/>
                    <a:lstStyle/>
                    <a:p>
                      <a:pPr algn="ctr"/>
                      <a:r>
                        <a:rPr lang="en-AU" sz="2800" dirty="0"/>
                        <a:t>Neither Antigen A</a:t>
                      </a:r>
                      <a:r>
                        <a:rPr lang="en-AU" sz="2800" baseline="0" dirty="0"/>
                        <a:t> nor Antigen B </a:t>
                      </a:r>
                      <a:endParaRPr lang="en-AU" sz="2800" dirty="0"/>
                    </a:p>
                  </a:txBody>
                  <a:tcPr anchor="ctr">
                    <a:solidFill>
                      <a:schemeClr val="bg1">
                        <a:lumMod val="85000"/>
                      </a:schemeClr>
                    </a:solidFill>
                  </a:tcPr>
                </a:tc>
                <a:tc>
                  <a:txBody>
                    <a:bodyPr/>
                    <a:lstStyle/>
                    <a:p>
                      <a:pPr algn="ctr"/>
                      <a:r>
                        <a:rPr lang="en-AU" sz="2800" dirty="0"/>
                        <a:t>O</a:t>
                      </a:r>
                    </a:p>
                  </a:txBody>
                  <a:tcPr anchor="ctr">
                    <a:solidFill>
                      <a:schemeClr val="bg1">
                        <a:lumMod val="85000"/>
                      </a:schemeClr>
                    </a:solidFill>
                  </a:tcPr>
                </a:tc>
                <a:tc>
                  <a:txBody>
                    <a:bodyPr/>
                    <a:lstStyle/>
                    <a:p>
                      <a:pPr algn="ctr"/>
                      <a:r>
                        <a:rPr lang="en-AU" sz="2000" dirty="0"/>
                        <a:t>Homozygous Recessive</a:t>
                      </a:r>
                      <a:r>
                        <a:rPr lang="en-AU" sz="2000" baseline="0" dirty="0"/>
                        <a:t> </a:t>
                      </a:r>
                      <a:endParaRPr lang="en-AU" sz="2000" dirty="0"/>
                    </a:p>
                  </a:txBody>
                  <a:tcPr anchor="ctr">
                    <a:solidFill>
                      <a:schemeClr val="bg1">
                        <a:lumMod val="85000"/>
                      </a:schemeClr>
                    </a:solidFill>
                  </a:tcPr>
                </a:tc>
                <a:extLst>
                  <a:ext uri="{0D108BD9-81ED-4DB2-BD59-A6C34878D82A}">
                    <a16:rowId xmlns:a16="http://schemas.microsoft.com/office/drawing/2014/main" val="3119308443"/>
                  </a:ext>
                </a:extLst>
              </a:tr>
            </a:tbl>
          </a:graphicData>
        </a:graphic>
      </p:graphicFrame>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36830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Recall Knowledge </a:t>
            </a:r>
          </a:p>
        </p:txBody>
      </p:sp>
      <p:sp>
        <p:nvSpPr>
          <p:cNvPr id="3" name="Content Placeholder 2"/>
          <p:cNvSpPr>
            <a:spLocks noGrp="1"/>
          </p:cNvSpPr>
          <p:nvPr>
            <p:ph idx="1"/>
          </p:nvPr>
        </p:nvSpPr>
        <p:spPr/>
        <p:txBody>
          <a:bodyPr/>
          <a:lstStyle/>
          <a:p>
            <a:pPr marL="514350" indent="-514350">
              <a:buFont typeface="+mj-lt"/>
              <a:buAutoNum type="arabicPeriod"/>
            </a:pPr>
            <a:r>
              <a:rPr lang="en-AU" sz="3200" dirty="0"/>
              <a:t>How can someone be a carrier of a genetic disorder?</a:t>
            </a:r>
          </a:p>
          <a:p>
            <a:pPr marL="514350" indent="-514350">
              <a:buFont typeface="+mj-lt"/>
              <a:buAutoNum type="arabicPeriod"/>
            </a:pPr>
            <a:r>
              <a:rPr lang="en-AU" sz="3200" dirty="0"/>
              <a:t>Prove that the chance of having a boy is 50%. </a:t>
            </a:r>
          </a:p>
          <a:p>
            <a:pPr marL="514350" indent="-514350">
              <a:buFont typeface="+mj-lt"/>
              <a:buAutoNum type="arabicPeriod"/>
            </a:pPr>
            <a:r>
              <a:rPr lang="en-AU" sz="3200" dirty="0"/>
              <a:t>A child’s blood type is AB. List all the possible genotypes of the parents. Use Punnett squares to support your answer. </a:t>
            </a:r>
          </a:p>
          <a:p>
            <a:pPr marL="514350" indent="-514350">
              <a:buFont typeface="+mj-lt"/>
              <a:buAutoNum type="arabicPeriod"/>
            </a:pP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Apply Knowledge </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AU" sz="3200" dirty="0"/>
              <a:t>Explain why males are referred to as ‘hemizygous’ when referring to sex-linked characteristics. </a:t>
            </a:r>
          </a:p>
          <a:p>
            <a:pPr marL="514350" indent="-514350">
              <a:buFont typeface="+mj-lt"/>
              <a:buAutoNum type="arabicPeriod"/>
            </a:pPr>
            <a:r>
              <a:rPr lang="en-AU" sz="3200" dirty="0"/>
              <a:t>Explain why a parent with type O blood can have a child with type A blood, but not type AB</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Homework</a:t>
            </a:r>
          </a:p>
        </p:txBody>
      </p:sp>
      <p:sp>
        <p:nvSpPr>
          <p:cNvPr id="3" name="Content Placeholder 2"/>
          <p:cNvSpPr>
            <a:spLocks noGrp="1"/>
          </p:cNvSpPr>
          <p:nvPr>
            <p:ph idx="1"/>
          </p:nvPr>
        </p:nvSpPr>
        <p:spPr/>
        <p:txBody>
          <a:bodyPr>
            <a:normAutofit/>
          </a:bodyPr>
          <a:lstStyle/>
          <a:p>
            <a:pPr marL="0" indent="0">
              <a:buNone/>
            </a:pPr>
            <a:r>
              <a:rPr lang="en-AU" sz="3200" dirty="0"/>
              <a:t>In humans, free earlobe are dominant over attached earlobes. A woman heterozygous for free earlobes marries a man with attached earlobes. Use a Punnett Square to determine their chance of producing offspring with attached earlobes.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a:t>Reading</a:t>
            </a:r>
            <a:r>
              <a:rPr lang="en-AU" dirty="0"/>
              <a:t> </a:t>
            </a:r>
          </a:p>
        </p:txBody>
      </p:sp>
      <p:sp>
        <p:nvSpPr>
          <p:cNvPr id="3" name="Content Placeholder 2"/>
          <p:cNvSpPr>
            <a:spLocks noGrp="1"/>
          </p:cNvSpPr>
          <p:nvPr>
            <p:ph idx="1"/>
          </p:nvPr>
        </p:nvSpPr>
        <p:spPr/>
        <p:txBody>
          <a:bodyPr>
            <a:normAutofit/>
          </a:bodyPr>
          <a:lstStyle/>
          <a:p>
            <a:r>
              <a:rPr lang="en-AU" sz="3200" dirty="0"/>
              <a:t>Pages 385 - 405: Genetics can be used to understand the traits of individuals and families.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724</TotalTime>
  <Words>1611</Words>
  <Application>Microsoft Office PowerPoint</Application>
  <PresentationFormat>Widescreen</PresentationFormat>
  <Paragraphs>183</Paragraphs>
  <Slides>44</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44</vt:i4>
      </vt:variant>
    </vt:vector>
  </HeadingPairs>
  <TitlesOfParts>
    <vt:vector size="49" baseType="lpstr">
      <vt:lpstr>Arial</vt:lpstr>
      <vt:lpstr>Calibri</vt:lpstr>
      <vt:lpstr>Calibri Light</vt:lpstr>
      <vt:lpstr>Office Theme</vt:lpstr>
      <vt:lpstr>1_Office Theme</vt:lpstr>
      <vt:lpstr>Inheritance of Traits </vt:lpstr>
      <vt:lpstr>SCSA Syllabus Reference </vt:lpstr>
      <vt:lpstr>Lesson Intention </vt:lpstr>
      <vt:lpstr>Success Criteria </vt:lpstr>
      <vt:lpstr>Vocabulary </vt:lpstr>
      <vt:lpstr>Vocabulary </vt:lpstr>
      <vt:lpstr>Vocabulary </vt:lpstr>
      <vt:lpstr>Vocabulary </vt:lpstr>
      <vt:lpstr>Vocabulary </vt:lpstr>
      <vt:lpstr>Mendelian Inheritance </vt:lpstr>
      <vt:lpstr>Mendel’s experiments </vt:lpstr>
      <vt:lpstr>Dominant and recessive </vt:lpstr>
      <vt:lpstr>Example- Pea Plants </vt:lpstr>
      <vt:lpstr>Genotypes and Phenotypes </vt:lpstr>
      <vt:lpstr>Punnett Squares </vt:lpstr>
      <vt:lpstr>Some inherited traits in humans </vt:lpstr>
      <vt:lpstr>Pedigrees</vt:lpstr>
      <vt:lpstr>Rules of pedigrees </vt:lpstr>
      <vt:lpstr>PowerPoint Presentation</vt:lpstr>
      <vt:lpstr>Example- Albinism</vt:lpstr>
      <vt:lpstr>PowerPoint Presentation</vt:lpstr>
      <vt:lpstr>PowerPoint Presentation</vt:lpstr>
      <vt:lpstr>Answer</vt:lpstr>
      <vt:lpstr>PowerPoint Presentation</vt:lpstr>
      <vt:lpstr>Autosomal Inheritance of Single-Gene Disorders</vt:lpstr>
      <vt:lpstr>Dominant, autosomal inheritance</vt:lpstr>
      <vt:lpstr>Recessive, autosomal inheritance </vt:lpstr>
      <vt:lpstr>Using pedigrees for single-gene disorders </vt:lpstr>
      <vt:lpstr>Sex determination </vt:lpstr>
      <vt:lpstr>Sex-linked characteristics </vt:lpstr>
      <vt:lpstr>Sex-linked characteristics </vt:lpstr>
      <vt:lpstr>Red-Green Colour Blindness </vt:lpstr>
      <vt:lpstr>Hemizygous </vt:lpstr>
      <vt:lpstr>Red-Green Colour Blindness </vt:lpstr>
      <vt:lpstr>Haemophilia </vt:lpstr>
      <vt:lpstr>Patterns with sex-linked inheritance </vt:lpstr>
      <vt:lpstr>PowerPoint Presentation</vt:lpstr>
      <vt:lpstr>Co-dominance </vt:lpstr>
      <vt:lpstr>Multiple alleles</vt:lpstr>
      <vt:lpstr>Blood groups </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27</cp:revision>
  <dcterms:created xsi:type="dcterms:W3CDTF">2021-12-16T00:48:44Z</dcterms:created>
  <dcterms:modified xsi:type="dcterms:W3CDTF">2023-10-17T03:28:16Z</dcterms:modified>
</cp:coreProperties>
</file>
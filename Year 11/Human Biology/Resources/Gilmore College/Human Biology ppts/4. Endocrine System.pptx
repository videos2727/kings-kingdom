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57" r:id="rId4"/>
    <p:sldId id="259" r:id="rId5"/>
    <p:sldId id="261" r:id="rId6"/>
    <p:sldId id="263" r:id="rId7"/>
    <p:sldId id="264" r:id="rId8"/>
    <p:sldId id="268" r:id="rId9"/>
    <p:sldId id="276" r:id="rId10"/>
    <p:sldId id="269" r:id="rId11"/>
    <p:sldId id="277" r:id="rId12"/>
    <p:sldId id="270" r:id="rId13"/>
    <p:sldId id="275" r:id="rId14"/>
    <p:sldId id="291" r:id="rId15"/>
    <p:sldId id="292" r:id="rId16"/>
    <p:sldId id="293" r:id="rId17"/>
    <p:sldId id="294" r:id="rId18"/>
    <p:sldId id="295" r:id="rId19"/>
    <p:sldId id="308" r:id="rId20"/>
    <p:sldId id="301" r:id="rId21"/>
    <p:sldId id="296" r:id="rId22"/>
    <p:sldId id="309" r:id="rId23"/>
    <p:sldId id="302" r:id="rId24"/>
    <p:sldId id="297" r:id="rId25"/>
    <p:sldId id="310" r:id="rId26"/>
    <p:sldId id="298" r:id="rId27"/>
    <p:sldId id="311" r:id="rId28"/>
    <p:sldId id="299" r:id="rId29"/>
    <p:sldId id="312" r:id="rId30"/>
    <p:sldId id="300" r:id="rId31"/>
    <p:sldId id="271" r:id="rId32"/>
    <p:sldId id="283" r:id="rId33"/>
    <p:sldId id="272" r:id="rId34"/>
    <p:sldId id="273" r:id="rId35"/>
    <p:sldId id="278" r:id="rId36"/>
    <p:sldId id="284" r:id="rId37"/>
    <p:sldId id="279" r:id="rId38"/>
    <p:sldId id="280" r:id="rId39"/>
    <p:sldId id="281" r:id="rId40"/>
    <p:sldId id="282" r:id="rId41"/>
    <p:sldId id="285" r:id="rId42"/>
    <p:sldId id="290" r:id="rId43"/>
    <p:sldId id="286" r:id="rId44"/>
    <p:sldId id="287" r:id="rId45"/>
    <p:sldId id="288" r:id="rId46"/>
    <p:sldId id="303" r:id="rId47"/>
    <p:sldId id="304" r:id="rId48"/>
    <p:sldId id="305" r:id="rId49"/>
    <p:sldId id="306" r:id="rId50"/>
    <p:sldId id="307" r:id="rId51"/>
    <p:sldId id="267"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BDFF7E-BFAA-E940-A842-2C5B394ECE29}" type="doc">
      <dgm:prSet loTypeId="urn:microsoft.com/office/officeart/2005/8/layout/cycle5" loCatId="" qsTypeId="urn:microsoft.com/office/officeart/2005/8/quickstyle/simple1" qsCatId="simple" csTypeId="urn:microsoft.com/office/officeart/2005/8/colors/accent1_2" csCatId="accent1" phldr="1"/>
      <dgm:spPr/>
      <dgm:t>
        <a:bodyPr/>
        <a:lstStyle/>
        <a:p>
          <a:endParaRPr lang="en-GB"/>
        </a:p>
      </dgm:t>
    </dgm:pt>
    <dgm:pt modelId="{E9A7D38C-716C-414A-8245-2F436740F575}">
      <dgm:prSet phldrT="[Text]"/>
      <dgm:spPr>
        <a:solidFill>
          <a:schemeClr val="bg1"/>
        </a:solidFill>
        <a:ln w="38100">
          <a:solidFill>
            <a:schemeClr val="tx1"/>
          </a:solidFill>
        </a:ln>
      </dgm:spPr>
      <dgm:t>
        <a:bodyPr/>
        <a:lstStyle/>
        <a:p>
          <a:r>
            <a:rPr lang="en-GB" dirty="0">
              <a:solidFill>
                <a:schemeClr val="tx1"/>
              </a:solidFill>
            </a:rPr>
            <a:t>Stimulus: A change in environment occurs </a:t>
          </a:r>
        </a:p>
      </dgm:t>
    </dgm:pt>
    <dgm:pt modelId="{63AB9C2A-E591-5A43-9BFD-2F38263DE986}" type="parTrans" cxnId="{00D06B10-9536-024B-A3D0-3BDE2F1AAB0D}">
      <dgm:prSet/>
      <dgm:spPr/>
      <dgm:t>
        <a:bodyPr/>
        <a:lstStyle/>
        <a:p>
          <a:endParaRPr lang="en-GB">
            <a:solidFill>
              <a:schemeClr val="tx1"/>
            </a:solidFill>
          </a:endParaRPr>
        </a:p>
      </dgm:t>
    </dgm:pt>
    <dgm:pt modelId="{8CA755A9-0684-2244-B28B-6545B10BC59B}" type="sibTrans" cxnId="{00D06B10-9536-024B-A3D0-3BDE2F1AAB0D}">
      <dgm:prSet/>
      <dgm:spPr/>
      <dgm:t>
        <a:bodyPr/>
        <a:lstStyle/>
        <a:p>
          <a:endParaRPr lang="en-GB">
            <a:solidFill>
              <a:schemeClr val="tx1"/>
            </a:solidFill>
          </a:endParaRPr>
        </a:p>
      </dgm:t>
    </dgm:pt>
    <dgm:pt modelId="{8044CF68-779E-FA41-8962-CF93DA6657F9}">
      <dgm:prSet phldrT="[Text]"/>
      <dgm:spPr>
        <a:solidFill>
          <a:schemeClr val="bg1"/>
        </a:solidFill>
        <a:ln w="38100">
          <a:solidFill>
            <a:schemeClr val="tx1"/>
          </a:solidFill>
        </a:ln>
      </dgm:spPr>
      <dgm:t>
        <a:bodyPr/>
        <a:lstStyle/>
        <a:p>
          <a:r>
            <a:rPr lang="en-GB" dirty="0">
              <a:solidFill>
                <a:schemeClr val="tx1"/>
              </a:solidFill>
            </a:rPr>
            <a:t>Receptor: stimulus is detected by sensory cells </a:t>
          </a:r>
        </a:p>
      </dgm:t>
    </dgm:pt>
    <dgm:pt modelId="{9157C699-DAA8-FA49-8DC0-440C15CAE5A5}" type="parTrans" cxnId="{95F80421-87DA-0E48-90F0-94D4D614DB69}">
      <dgm:prSet/>
      <dgm:spPr/>
      <dgm:t>
        <a:bodyPr/>
        <a:lstStyle/>
        <a:p>
          <a:endParaRPr lang="en-GB">
            <a:solidFill>
              <a:schemeClr val="tx1"/>
            </a:solidFill>
          </a:endParaRPr>
        </a:p>
      </dgm:t>
    </dgm:pt>
    <dgm:pt modelId="{6438684F-D269-164E-A8CE-7CB06B547B82}" type="sibTrans" cxnId="{95F80421-87DA-0E48-90F0-94D4D614DB69}">
      <dgm:prSet/>
      <dgm:spPr/>
      <dgm:t>
        <a:bodyPr/>
        <a:lstStyle/>
        <a:p>
          <a:endParaRPr lang="en-GB">
            <a:solidFill>
              <a:schemeClr val="tx1"/>
            </a:solidFill>
          </a:endParaRPr>
        </a:p>
      </dgm:t>
    </dgm:pt>
    <dgm:pt modelId="{867C8066-D3F0-2449-ADAF-38AE2F4F8E27}">
      <dgm:prSet phldrT="[Text]"/>
      <dgm:spPr>
        <a:solidFill>
          <a:schemeClr val="bg1"/>
        </a:solidFill>
        <a:ln w="38100">
          <a:solidFill>
            <a:schemeClr val="tx1"/>
          </a:solidFill>
        </a:ln>
      </dgm:spPr>
      <dgm:t>
        <a:bodyPr/>
        <a:lstStyle/>
        <a:p>
          <a:r>
            <a:rPr lang="en-GB" dirty="0">
              <a:solidFill>
                <a:schemeClr val="tx1"/>
              </a:solidFill>
            </a:rPr>
            <a:t>Message: sensory cells generate a message in the form of a nerve impulse or hormone</a:t>
          </a:r>
        </a:p>
      </dgm:t>
    </dgm:pt>
    <dgm:pt modelId="{BE212387-8313-0240-89B0-36F04139177B}" type="parTrans" cxnId="{2220A41D-7737-0745-9B9C-20BD589824EE}">
      <dgm:prSet/>
      <dgm:spPr/>
      <dgm:t>
        <a:bodyPr/>
        <a:lstStyle/>
        <a:p>
          <a:endParaRPr lang="en-GB">
            <a:solidFill>
              <a:schemeClr val="tx1"/>
            </a:solidFill>
          </a:endParaRPr>
        </a:p>
      </dgm:t>
    </dgm:pt>
    <dgm:pt modelId="{74C4866E-90AF-E24F-9C52-1F881618CB3C}" type="sibTrans" cxnId="{2220A41D-7737-0745-9B9C-20BD589824EE}">
      <dgm:prSet/>
      <dgm:spPr/>
      <dgm:t>
        <a:bodyPr/>
        <a:lstStyle/>
        <a:p>
          <a:endParaRPr lang="en-GB">
            <a:solidFill>
              <a:schemeClr val="tx1"/>
            </a:solidFill>
          </a:endParaRPr>
        </a:p>
      </dgm:t>
    </dgm:pt>
    <dgm:pt modelId="{45B51EE4-DAA5-5046-A3D7-419A05DA8BD7}">
      <dgm:prSet phldrT="[Text]"/>
      <dgm:spPr>
        <a:solidFill>
          <a:schemeClr val="bg1"/>
        </a:solidFill>
        <a:ln w="38100">
          <a:solidFill>
            <a:schemeClr val="tx1"/>
          </a:solidFill>
        </a:ln>
      </dgm:spPr>
      <dgm:t>
        <a:bodyPr/>
        <a:lstStyle/>
        <a:p>
          <a:r>
            <a:rPr lang="en-GB" dirty="0">
              <a:solidFill>
                <a:schemeClr val="tx1"/>
              </a:solidFill>
            </a:rPr>
            <a:t>Modulator: a new message is sent out by the modulator</a:t>
          </a:r>
        </a:p>
      </dgm:t>
    </dgm:pt>
    <dgm:pt modelId="{87463C71-4E1A-794E-A507-6F4D7307B6C7}" type="parTrans" cxnId="{DCC341FB-AF1D-634B-BF2B-AC579014BC36}">
      <dgm:prSet/>
      <dgm:spPr/>
      <dgm:t>
        <a:bodyPr/>
        <a:lstStyle/>
        <a:p>
          <a:endParaRPr lang="en-GB">
            <a:solidFill>
              <a:schemeClr val="tx1"/>
            </a:solidFill>
          </a:endParaRPr>
        </a:p>
      </dgm:t>
    </dgm:pt>
    <dgm:pt modelId="{9C46C7C6-EBDF-4D4D-9CE3-78F213BF27DE}" type="sibTrans" cxnId="{DCC341FB-AF1D-634B-BF2B-AC579014BC36}">
      <dgm:prSet/>
      <dgm:spPr/>
      <dgm:t>
        <a:bodyPr/>
        <a:lstStyle/>
        <a:p>
          <a:endParaRPr lang="en-GB">
            <a:solidFill>
              <a:schemeClr val="tx1"/>
            </a:solidFill>
          </a:endParaRPr>
        </a:p>
      </dgm:t>
    </dgm:pt>
    <dgm:pt modelId="{A1147F82-3B0D-E645-B585-ED66108666B7}">
      <dgm:prSet phldrT="[Text]"/>
      <dgm:spPr>
        <a:solidFill>
          <a:schemeClr val="bg1"/>
        </a:solidFill>
        <a:ln w="38100">
          <a:solidFill>
            <a:schemeClr val="tx1"/>
          </a:solidFill>
        </a:ln>
      </dgm:spPr>
      <dgm:t>
        <a:bodyPr/>
        <a:lstStyle/>
        <a:p>
          <a:r>
            <a:rPr lang="en-GB" dirty="0">
              <a:solidFill>
                <a:schemeClr val="tx1"/>
              </a:solidFill>
            </a:rPr>
            <a:t>Effector: muscles or glands receive the message from the modulator </a:t>
          </a:r>
        </a:p>
      </dgm:t>
    </dgm:pt>
    <dgm:pt modelId="{29204394-AC9C-2F4F-9C32-DE6AE82AB801}" type="parTrans" cxnId="{B2C3D020-083A-F04D-903F-EFF139467389}">
      <dgm:prSet/>
      <dgm:spPr/>
      <dgm:t>
        <a:bodyPr/>
        <a:lstStyle/>
        <a:p>
          <a:endParaRPr lang="en-GB">
            <a:solidFill>
              <a:schemeClr val="tx1"/>
            </a:solidFill>
          </a:endParaRPr>
        </a:p>
      </dgm:t>
    </dgm:pt>
    <dgm:pt modelId="{36ECD0DA-9072-664E-9E90-AD3F199E2E3D}" type="sibTrans" cxnId="{B2C3D020-083A-F04D-903F-EFF139467389}">
      <dgm:prSet/>
      <dgm:spPr/>
      <dgm:t>
        <a:bodyPr/>
        <a:lstStyle/>
        <a:p>
          <a:endParaRPr lang="en-GB">
            <a:solidFill>
              <a:schemeClr val="tx1"/>
            </a:solidFill>
          </a:endParaRPr>
        </a:p>
      </dgm:t>
    </dgm:pt>
    <dgm:pt modelId="{3DB46C90-9FE1-8744-881B-B8CEF77F0EFC}">
      <dgm:prSet/>
      <dgm:spPr>
        <a:solidFill>
          <a:schemeClr val="bg1"/>
        </a:solidFill>
        <a:ln w="38100">
          <a:solidFill>
            <a:schemeClr val="tx1"/>
          </a:solidFill>
        </a:ln>
      </dgm:spPr>
      <dgm:t>
        <a:bodyPr/>
        <a:lstStyle/>
        <a:p>
          <a:r>
            <a:rPr lang="en-GB" dirty="0">
              <a:solidFill>
                <a:schemeClr val="tx1"/>
              </a:solidFill>
            </a:rPr>
            <a:t>Response: effector organs bring about an appropriate reaction </a:t>
          </a:r>
        </a:p>
      </dgm:t>
    </dgm:pt>
    <dgm:pt modelId="{A3AD1A8E-8EE7-DC45-BDD9-3D2E7DDC1AF7}" type="parTrans" cxnId="{66873D4A-EB89-064B-9DFC-A59CB67DB32A}">
      <dgm:prSet/>
      <dgm:spPr/>
      <dgm:t>
        <a:bodyPr/>
        <a:lstStyle/>
        <a:p>
          <a:endParaRPr lang="en-GB"/>
        </a:p>
      </dgm:t>
    </dgm:pt>
    <dgm:pt modelId="{E0E46E64-3BD4-EA48-BC9C-968D8E4915C9}" type="sibTrans" cxnId="{66873D4A-EB89-064B-9DFC-A59CB67DB32A}">
      <dgm:prSet/>
      <dgm:spPr/>
      <dgm:t>
        <a:bodyPr/>
        <a:lstStyle/>
        <a:p>
          <a:endParaRPr lang="en-GB"/>
        </a:p>
      </dgm:t>
    </dgm:pt>
    <dgm:pt modelId="{BF430CB1-8544-3A4C-9F8F-2730B5C52B18}">
      <dgm:prSet/>
      <dgm:spPr>
        <a:solidFill>
          <a:schemeClr val="bg1"/>
        </a:solidFill>
        <a:ln w="38100">
          <a:solidFill>
            <a:schemeClr val="tx1"/>
          </a:solidFill>
        </a:ln>
      </dgm:spPr>
      <dgm:t>
        <a:bodyPr/>
        <a:lstStyle/>
        <a:p>
          <a:r>
            <a:rPr lang="en-GB" dirty="0">
              <a:solidFill>
                <a:schemeClr val="tx1"/>
              </a:solidFill>
            </a:rPr>
            <a:t>Feedback: response changes the original stimulus </a:t>
          </a:r>
        </a:p>
      </dgm:t>
    </dgm:pt>
    <dgm:pt modelId="{A7F0FA38-931D-0246-A8BE-519B1D1C3E2B}" type="parTrans" cxnId="{9512ACC1-54B5-5E49-8BBF-20D64698E8E8}">
      <dgm:prSet/>
      <dgm:spPr/>
      <dgm:t>
        <a:bodyPr/>
        <a:lstStyle/>
        <a:p>
          <a:endParaRPr lang="en-GB"/>
        </a:p>
      </dgm:t>
    </dgm:pt>
    <dgm:pt modelId="{0784E49E-4AA5-4243-A10D-6E5A6F80BA1A}" type="sibTrans" cxnId="{9512ACC1-54B5-5E49-8BBF-20D64698E8E8}">
      <dgm:prSet/>
      <dgm:spPr/>
      <dgm:t>
        <a:bodyPr/>
        <a:lstStyle/>
        <a:p>
          <a:endParaRPr lang="en-GB"/>
        </a:p>
      </dgm:t>
    </dgm:pt>
    <dgm:pt modelId="{C3B01ACE-211D-B348-AC3F-4444B3C72689}" type="pres">
      <dgm:prSet presAssocID="{6DBDFF7E-BFAA-E940-A842-2C5B394ECE29}" presName="cycle" presStyleCnt="0">
        <dgm:presLayoutVars>
          <dgm:dir/>
          <dgm:resizeHandles val="exact"/>
        </dgm:presLayoutVars>
      </dgm:prSet>
      <dgm:spPr/>
      <dgm:t>
        <a:bodyPr/>
        <a:lstStyle/>
        <a:p>
          <a:endParaRPr lang="en-US"/>
        </a:p>
      </dgm:t>
    </dgm:pt>
    <dgm:pt modelId="{4E41D3A8-A6AA-064C-9EDD-972AF291F4B7}" type="pres">
      <dgm:prSet presAssocID="{E9A7D38C-716C-414A-8245-2F436740F575}" presName="node" presStyleLbl="node1" presStyleIdx="0" presStyleCnt="7">
        <dgm:presLayoutVars>
          <dgm:bulletEnabled val="1"/>
        </dgm:presLayoutVars>
      </dgm:prSet>
      <dgm:spPr/>
      <dgm:t>
        <a:bodyPr/>
        <a:lstStyle/>
        <a:p>
          <a:endParaRPr lang="en-US"/>
        </a:p>
      </dgm:t>
    </dgm:pt>
    <dgm:pt modelId="{48BB39F0-AFF0-C440-B568-DC98CA669788}" type="pres">
      <dgm:prSet presAssocID="{E9A7D38C-716C-414A-8245-2F436740F575}" presName="spNode" presStyleCnt="0"/>
      <dgm:spPr/>
    </dgm:pt>
    <dgm:pt modelId="{D6B9A658-F6CD-514E-A643-60E22220914F}" type="pres">
      <dgm:prSet presAssocID="{8CA755A9-0684-2244-B28B-6545B10BC59B}" presName="sibTrans" presStyleLbl="sibTrans1D1" presStyleIdx="0" presStyleCnt="7"/>
      <dgm:spPr/>
      <dgm:t>
        <a:bodyPr/>
        <a:lstStyle/>
        <a:p>
          <a:endParaRPr lang="en-US"/>
        </a:p>
      </dgm:t>
    </dgm:pt>
    <dgm:pt modelId="{1A41E46C-9FD1-FA4F-B7C5-6E159F3B9647}" type="pres">
      <dgm:prSet presAssocID="{8044CF68-779E-FA41-8962-CF93DA6657F9}" presName="node" presStyleLbl="node1" presStyleIdx="1" presStyleCnt="7">
        <dgm:presLayoutVars>
          <dgm:bulletEnabled val="1"/>
        </dgm:presLayoutVars>
      </dgm:prSet>
      <dgm:spPr/>
      <dgm:t>
        <a:bodyPr/>
        <a:lstStyle/>
        <a:p>
          <a:endParaRPr lang="en-US"/>
        </a:p>
      </dgm:t>
    </dgm:pt>
    <dgm:pt modelId="{73FB60C0-D855-8E47-A53D-93A9E7606A81}" type="pres">
      <dgm:prSet presAssocID="{8044CF68-779E-FA41-8962-CF93DA6657F9}" presName="spNode" presStyleCnt="0"/>
      <dgm:spPr/>
    </dgm:pt>
    <dgm:pt modelId="{1128C699-A407-7C44-B675-8D982E8DCDF5}" type="pres">
      <dgm:prSet presAssocID="{6438684F-D269-164E-A8CE-7CB06B547B82}" presName="sibTrans" presStyleLbl="sibTrans1D1" presStyleIdx="1" presStyleCnt="7"/>
      <dgm:spPr/>
      <dgm:t>
        <a:bodyPr/>
        <a:lstStyle/>
        <a:p>
          <a:endParaRPr lang="en-US"/>
        </a:p>
      </dgm:t>
    </dgm:pt>
    <dgm:pt modelId="{CC01C53E-FF45-194D-B5E2-1BC12A31FF23}" type="pres">
      <dgm:prSet presAssocID="{867C8066-D3F0-2449-ADAF-38AE2F4F8E27}" presName="node" presStyleLbl="node1" presStyleIdx="2" presStyleCnt="7">
        <dgm:presLayoutVars>
          <dgm:bulletEnabled val="1"/>
        </dgm:presLayoutVars>
      </dgm:prSet>
      <dgm:spPr/>
      <dgm:t>
        <a:bodyPr/>
        <a:lstStyle/>
        <a:p>
          <a:endParaRPr lang="en-US"/>
        </a:p>
      </dgm:t>
    </dgm:pt>
    <dgm:pt modelId="{6B808622-5418-CF40-878D-1E49D1C32215}" type="pres">
      <dgm:prSet presAssocID="{867C8066-D3F0-2449-ADAF-38AE2F4F8E27}" presName="spNode" presStyleCnt="0"/>
      <dgm:spPr/>
    </dgm:pt>
    <dgm:pt modelId="{2D3A4D59-6A1C-694C-9079-3E6F12744273}" type="pres">
      <dgm:prSet presAssocID="{74C4866E-90AF-E24F-9C52-1F881618CB3C}" presName="sibTrans" presStyleLbl="sibTrans1D1" presStyleIdx="2" presStyleCnt="7"/>
      <dgm:spPr/>
      <dgm:t>
        <a:bodyPr/>
        <a:lstStyle/>
        <a:p>
          <a:endParaRPr lang="en-US"/>
        </a:p>
      </dgm:t>
    </dgm:pt>
    <dgm:pt modelId="{79367AF0-929E-FD4A-841D-6BC6C2F97DF9}" type="pres">
      <dgm:prSet presAssocID="{45B51EE4-DAA5-5046-A3D7-419A05DA8BD7}" presName="node" presStyleLbl="node1" presStyleIdx="3" presStyleCnt="7">
        <dgm:presLayoutVars>
          <dgm:bulletEnabled val="1"/>
        </dgm:presLayoutVars>
      </dgm:prSet>
      <dgm:spPr/>
      <dgm:t>
        <a:bodyPr/>
        <a:lstStyle/>
        <a:p>
          <a:endParaRPr lang="en-US"/>
        </a:p>
      </dgm:t>
    </dgm:pt>
    <dgm:pt modelId="{8585C418-C51D-1943-8F0F-0333CC45CD84}" type="pres">
      <dgm:prSet presAssocID="{45B51EE4-DAA5-5046-A3D7-419A05DA8BD7}" presName="spNode" presStyleCnt="0"/>
      <dgm:spPr/>
    </dgm:pt>
    <dgm:pt modelId="{CE1E2EE2-1ED3-3942-8C15-B6EA90226803}" type="pres">
      <dgm:prSet presAssocID="{9C46C7C6-EBDF-4D4D-9CE3-78F213BF27DE}" presName="sibTrans" presStyleLbl="sibTrans1D1" presStyleIdx="3" presStyleCnt="7"/>
      <dgm:spPr/>
      <dgm:t>
        <a:bodyPr/>
        <a:lstStyle/>
        <a:p>
          <a:endParaRPr lang="en-US"/>
        </a:p>
      </dgm:t>
    </dgm:pt>
    <dgm:pt modelId="{F8F9EE41-A0C3-E040-B56A-4991913C580F}" type="pres">
      <dgm:prSet presAssocID="{A1147F82-3B0D-E645-B585-ED66108666B7}" presName="node" presStyleLbl="node1" presStyleIdx="4" presStyleCnt="7">
        <dgm:presLayoutVars>
          <dgm:bulletEnabled val="1"/>
        </dgm:presLayoutVars>
      </dgm:prSet>
      <dgm:spPr/>
      <dgm:t>
        <a:bodyPr/>
        <a:lstStyle/>
        <a:p>
          <a:endParaRPr lang="en-US"/>
        </a:p>
      </dgm:t>
    </dgm:pt>
    <dgm:pt modelId="{7995B3B5-D828-5E4E-935E-53393A4F563E}" type="pres">
      <dgm:prSet presAssocID="{A1147F82-3B0D-E645-B585-ED66108666B7}" presName="spNode" presStyleCnt="0"/>
      <dgm:spPr/>
    </dgm:pt>
    <dgm:pt modelId="{44865C01-0C58-6D48-A754-5F0C789BAFC5}" type="pres">
      <dgm:prSet presAssocID="{36ECD0DA-9072-664E-9E90-AD3F199E2E3D}" presName="sibTrans" presStyleLbl="sibTrans1D1" presStyleIdx="4" presStyleCnt="7"/>
      <dgm:spPr/>
      <dgm:t>
        <a:bodyPr/>
        <a:lstStyle/>
        <a:p>
          <a:endParaRPr lang="en-US"/>
        </a:p>
      </dgm:t>
    </dgm:pt>
    <dgm:pt modelId="{AC4260AC-7BF1-E54C-8725-98C5C3DB487E}" type="pres">
      <dgm:prSet presAssocID="{3DB46C90-9FE1-8744-881B-B8CEF77F0EFC}" presName="node" presStyleLbl="node1" presStyleIdx="5" presStyleCnt="7">
        <dgm:presLayoutVars>
          <dgm:bulletEnabled val="1"/>
        </dgm:presLayoutVars>
      </dgm:prSet>
      <dgm:spPr/>
      <dgm:t>
        <a:bodyPr/>
        <a:lstStyle/>
        <a:p>
          <a:endParaRPr lang="en-US"/>
        </a:p>
      </dgm:t>
    </dgm:pt>
    <dgm:pt modelId="{B371E1FD-0276-5C4F-B4C3-26CA90D8B987}" type="pres">
      <dgm:prSet presAssocID="{3DB46C90-9FE1-8744-881B-B8CEF77F0EFC}" presName="spNode" presStyleCnt="0"/>
      <dgm:spPr/>
    </dgm:pt>
    <dgm:pt modelId="{05BB08A8-7F3A-3144-845F-8AAEFA0A46AB}" type="pres">
      <dgm:prSet presAssocID="{E0E46E64-3BD4-EA48-BC9C-968D8E4915C9}" presName="sibTrans" presStyleLbl="sibTrans1D1" presStyleIdx="5" presStyleCnt="7"/>
      <dgm:spPr/>
      <dgm:t>
        <a:bodyPr/>
        <a:lstStyle/>
        <a:p>
          <a:endParaRPr lang="en-US"/>
        </a:p>
      </dgm:t>
    </dgm:pt>
    <dgm:pt modelId="{CD2964A6-0B02-424A-A48A-4229307F71A3}" type="pres">
      <dgm:prSet presAssocID="{BF430CB1-8544-3A4C-9F8F-2730B5C52B18}" presName="node" presStyleLbl="node1" presStyleIdx="6" presStyleCnt="7">
        <dgm:presLayoutVars>
          <dgm:bulletEnabled val="1"/>
        </dgm:presLayoutVars>
      </dgm:prSet>
      <dgm:spPr/>
      <dgm:t>
        <a:bodyPr/>
        <a:lstStyle/>
        <a:p>
          <a:endParaRPr lang="en-US"/>
        </a:p>
      </dgm:t>
    </dgm:pt>
    <dgm:pt modelId="{3602BCFE-6621-FA4F-9BB3-071271BC2C67}" type="pres">
      <dgm:prSet presAssocID="{BF430CB1-8544-3A4C-9F8F-2730B5C52B18}" presName="spNode" presStyleCnt="0"/>
      <dgm:spPr/>
    </dgm:pt>
    <dgm:pt modelId="{15C6F4A2-8FBD-294C-AF26-1F4659091397}" type="pres">
      <dgm:prSet presAssocID="{0784E49E-4AA5-4243-A10D-6E5A6F80BA1A}" presName="sibTrans" presStyleLbl="sibTrans1D1" presStyleIdx="6" presStyleCnt="7"/>
      <dgm:spPr/>
      <dgm:t>
        <a:bodyPr/>
        <a:lstStyle/>
        <a:p>
          <a:endParaRPr lang="en-US"/>
        </a:p>
      </dgm:t>
    </dgm:pt>
  </dgm:ptLst>
  <dgm:cxnLst>
    <dgm:cxn modelId="{A822DF13-8A29-F647-893D-1F398A00BCF2}" type="presOf" srcId="{0784E49E-4AA5-4243-A10D-6E5A6F80BA1A}" destId="{15C6F4A2-8FBD-294C-AF26-1F4659091397}" srcOrd="0" destOrd="0" presId="urn:microsoft.com/office/officeart/2005/8/layout/cycle5"/>
    <dgm:cxn modelId="{66873D4A-EB89-064B-9DFC-A59CB67DB32A}" srcId="{6DBDFF7E-BFAA-E940-A842-2C5B394ECE29}" destId="{3DB46C90-9FE1-8744-881B-B8CEF77F0EFC}" srcOrd="5" destOrd="0" parTransId="{A3AD1A8E-8EE7-DC45-BDD9-3D2E7DDC1AF7}" sibTransId="{E0E46E64-3BD4-EA48-BC9C-968D8E4915C9}"/>
    <dgm:cxn modelId="{B0D35087-B9EB-224D-91BB-FC3BC43B43FA}" type="presOf" srcId="{45B51EE4-DAA5-5046-A3D7-419A05DA8BD7}" destId="{79367AF0-929E-FD4A-841D-6BC6C2F97DF9}" srcOrd="0" destOrd="0" presId="urn:microsoft.com/office/officeart/2005/8/layout/cycle5"/>
    <dgm:cxn modelId="{CAB57996-4B4D-774F-9578-58B6D4D4DAB5}" type="presOf" srcId="{3DB46C90-9FE1-8744-881B-B8CEF77F0EFC}" destId="{AC4260AC-7BF1-E54C-8725-98C5C3DB487E}" srcOrd="0" destOrd="0" presId="urn:microsoft.com/office/officeart/2005/8/layout/cycle5"/>
    <dgm:cxn modelId="{B2C3D020-083A-F04D-903F-EFF139467389}" srcId="{6DBDFF7E-BFAA-E940-A842-2C5B394ECE29}" destId="{A1147F82-3B0D-E645-B585-ED66108666B7}" srcOrd="4" destOrd="0" parTransId="{29204394-AC9C-2F4F-9C32-DE6AE82AB801}" sibTransId="{36ECD0DA-9072-664E-9E90-AD3F199E2E3D}"/>
    <dgm:cxn modelId="{95F80421-87DA-0E48-90F0-94D4D614DB69}" srcId="{6DBDFF7E-BFAA-E940-A842-2C5B394ECE29}" destId="{8044CF68-779E-FA41-8962-CF93DA6657F9}" srcOrd="1" destOrd="0" parTransId="{9157C699-DAA8-FA49-8DC0-440C15CAE5A5}" sibTransId="{6438684F-D269-164E-A8CE-7CB06B547B82}"/>
    <dgm:cxn modelId="{93E28EB7-E38C-8A42-BD12-917269898D4F}" type="presOf" srcId="{BF430CB1-8544-3A4C-9F8F-2730B5C52B18}" destId="{CD2964A6-0B02-424A-A48A-4229307F71A3}" srcOrd="0" destOrd="0" presId="urn:microsoft.com/office/officeart/2005/8/layout/cycle5"/>
    <dgm:cxn modelId="{9512ACC1-54B5-5E49-8BBF-20D64698E8E8}" srcId="{6DBDFF7E-BFAA-E940-A842-2C5B394ECE29}" destId="{BF430CB1-8544-3A4C-9F8F-2730B5C52B18}" srcOrd="6" destOrd="0" parTransId="{A7F0FA38-931D-0246-A8BE-519B1D1C3E2B}" sibTransId="{0784E49E-4AA5-4243-A10D-6E5A6F80BA1A}"/>
    <dgm:cxn modelId="{5F965F88-D516-3041-A59F-8435BCF13227}" type="presOf" srcId="{9C46C7C6-EBDF-4D4D-9CE3-78F213BF27DE}" destId="{CE1E2EE2-1ED3-3942-8C15-B6EA90226803}" srcOrd="0" destOrd="0" presId="urn:microsoft.com/office/officeart/2005/8/layout/cycle5"/>
    <dgm:cxn modelId="{46010935-1204-354D-86A2-7F719F59026D}" type="presOf" srcId="{6438684F-D269-164E-A8CE-7CB06B547B82}" destId="{1128C699-A407-7C44-B675-8D982E8DCDF5}" srcOrd="0" destOrd="0" presId="urn:microsoft.com/office/officeart/2005/8/layout/cycle5"/>
    <dgm:cxn modelId="{21AC89EE-F3C9-9B4B-9693-237F72515EC1}" type="presOf" srcId="{A1147F82-3B0D-E645-B585-ED66108666B7}" destId="{F8F9EE41-A0C3-E040-B56A-4991913C580F}" srcOrd="0" destOrd="0" presId="urn:microsoft.com/office/officeart/2005/8/layout/cycle5"/>
    <dgm:cxn modelId="{C5324037-16C7-B84E-9F9C-7844E36C6919}" type="presOf" srcId="{867C8066-D3F0-2449-ADAF-38AE2F4F8E27}" destId="{CC01C53E-FF45-194D-B5E2-1BC12A31FF23}" srcOrd="0" destOrd="0" presId="urn:microsoft.com/office/officeart/2005/8/layout/cycle5"/>
    <dgm:cxn modelId="{EF9AD043-B232-2148-95C7-F5D32B408ED9}" type="presOf" srcId="{74C4866E-90AF-E24F-9C52-1F881618CB3C}" destId="{2D3A4D59-6A1C-694C-9079-3E6F12744273}" srcOrd="0" destOrd="0" presId="urn:microsoft.com/office/officeart/2005/8/layout/cycle5"/>
    <dgm:cxn modelId="{BF6F4247-258E-4640-87C9-D3116918E805}" type="presOf" srcId="{E9A7D38C-716C-414A-8245-2F436740F575}" destId="{4E41D3A8-A6AA-064C-9EDD-972AF291F4B7}" srcOrd="0" destOrd="0" presId="urn:microsoft.com/office/officeart/2005/8/layout/cycle5"/>
    <dgm:cxn modelId="{AE77C202-29B2-5749-AB0B-514467F5AA5F}" type="presOf" srcId="{E0E46E64-3BD4-EA48-BC9C-968D8E4915C9}" destId="{05BB08A8-7F3A-3144-845F-8AAEFA0A46AB}" srcOrd="0" destOrd="0" presId="urn:microsoft.com/office/officeart/2005/8/layout/cycle5"/>
    <dgm:cxn modelId="{869CFE3B-8940-E449-A08D-5346369AD740}" type="presOf" srcId="{6DBDFF7E-BFAA-E940-A842-2C5B394ECE29}" destId="{C3B01ACE-211D-B348-AC3F-4444B3C72689}" srcOrd="0" destOrd="0" presId="urn:microsoft.com/office/officeart/2005/8/layout/cycle5"/>
    <dgm:cxn modelId="{92D4141E-C0E7-8E43-B3DE-4C9D0720EC59}" type="presOf" srcId="{8044CF68-779E-FA41-8962-CF93DA6657F9}" destId="{1A41E46C-9FD1-FA4F-B7C5-6E159F3B9647}" srcOrd="0" destOrd="0" presId="urn:microsoft.com/office/officeart/2005/8/layout/cycle5"/>
    <dgm:cxn modelId="{851735D8-9169-E64A-ACC8-D193932351B4}" type="presOf" srcId="{8CA755A9-0684-2244-B28B-6545B10BC59B}" destId="{D6B9A658-F6CD-514E-A643-60E22220914F}" srcOrd="0" destOrd="0" presId="urn:microsoft.com/office/officeart/2005/8/layout/cycle5"/>
    <dgm:cxn modelId="{340C1593-E103-8849-8173-9144D62F687A}" type="presOf" srcId="{36ECD0DA-9072-664E-9E90-AD3F199E2E3D}" destId="{44865C01-0C58-6D48-A754-5F0C789BAFC5}" srcOrd="0" destOrd="0" presId="urn:microsoft.com/office/officeart/2005/8/layout/cycle5"/>
    <dgm:cxn modelId="{00D06B10-9536-024B-A3D0-3BDE2F1AAB0D}" srcId="{6DBDFF7E-BFAA-E940-A842-2C5B394ECE29}" destId="{E9A7D38C-716C-414A-8245-2F436740F575}" srcOrd="0" destOrd="0" parTransId="{63AB9C2A-E591-5A43-9BFD-2F38263DE986}" sibTransId="{8CA755A9-0684-2244-B28B-6545B10BC59B}"/>
    <dgm:cxn modelId="{DCC341FB-AF1D-634B-BF2B-AC579014BC36}" srcId="{6DBDFF7E-BFAA-E940-A842-2C5B394ECE29}" destId="{45B51EE4-DAA5-5046-A3D7-419A05DA8BD7}" srcOrd="3" destOrd="0" parTransId="{87463C71-4E1A-794E-A507-6F4D7307B6C7}" sibTransId="{9C46C7C6-EBDF-4D4D-9CE3-78F213BF27DE}"/>
    <dgm:cxn modelId="{2220A41D-7737-0745-9B9C-20BD589824EE}" srcId="{6DBDFF7E-BFAA-E940-A842-2C5B394ECE29}" destId="{867C8066-D3F0-2449-ADAF-38AE2F4F8E27}" srcOrd="2" destOrd="0" parTransId="{BE212387-8313-0240-89B0-36F04139177B}" sibTransId="{74C4866E-90AF-E24F-9C52-1F881618CB3C}"/>
    <dgm:cxn modelId="{3AF044F8-CAA8-524E-A0C5-B70CF6507937}" type="presParOf" srcId="{C3B01ACE-211D-B348-AC3F-4444B3C72689}" destId="{4E41D3A8-A6AA-064C-9EDD-972AF291F4B7}" srcOrd="0" destOrd="0" presId="urn:microsoft.com/office/officeart/2005/8/layout/cycle5"/>
    <dgm:cxn modelId="{CBBE7111-E320-884E-B3F7-5E2318D5DFFC}" type="presParOf" srcId="{C3B01ACE-211D-B348-AC3F-4444B3C72689}" destId="{48BB39F0-AFF0-C440-B568-DC98CA669788}" srcOrd="1" destOrd="0" presId="urn:microsoft.com/office/officeart/2005/8/layout/cycle5"/>
    <dgm:cxn modelId="{C1AC0684-9E12-E046-A1C7-8AEE7F349489}" type="presParOf" srcId="{C3B01ACE-211D-B348-AC3F-4444B3C72689}" destId="{D6B9A658-F6CD-514E-A643-60E22220914F}" srcOrd="2" destOrd="0" presId="urn:microsoft.com/office/officeart/2005/8/layout/cycle5"/>
    <dgm:cxn modelId="{25D1D4A6-B35A-C546-9F2C-F09201EC9EAD}" type="presParOf" srcId="{C3B01ACE-211D-B348-AC3F-4444B3C72689}" destId="{1A41E46C-9FD1-FA4F-B7C5-6E159F3B9647}" srcOrd="3" destOrd="0" presId="urn:microsoft.com/office/officeart/2005/8/layout/cycle5"/>
    <dgm:cxn modelId="{FF8C6BB2-136B-0943-B390-C924F6B1A556}" type="presParOf" srcId="{C3B01ACE-211D-B348-AC3F-4444B3C72689}" destId="{73FB60C0-D855-8E47-A53D-93A9E7606A81}" srcOrd="4" destOrd="0" presId="urn:microsoft.com/office/officeart/2005/8/layout/cycle5"/>
    <dgm:cxn modelId="{A5A44CA4-46AA-564E-A80F-CFF46B539BA6}" type="presParOf" srcId="{C3B01ACE-211D-B348-AC3F-4444B3C72689}" destId="{1128C699-A407-7C44-B675-8D982E8DCDF5}" srcOrd="5" destOrd="0" presId="urn:microsoft.com/office/officeart/2005/8/layout/cycle5"/>
    <dgm:cxn modelId="{48E74659-2361-EF49-9253-A14CA166B42E}" type="presParOf" srcId="{C3B01ACE-211D-B348-AC3F-4444B3C72689}" destId="{CC01C53E-FF45-194D-B5E2-1BC12A31FF23}" srcOrd="6" destOrd="0" presId="urn:microsoft.com/office/officeart/2005/8/layout/cycle5"/>
    <dgm:cxn modelId="{D96BA984-0EF7-8D44-A51E-C6AAB3C08F32}" type="presParOf" srcId="{C3B01ACE-211D-B348-AC3F-4444B3C72689}" destId="{6B808622-5418-CF40-878D-1E49D1C32215}" srcOrd="7" destOrd="0" presId="urn:microsoft.com/office/officeart/2005/8/layout/cycle5"/>
    <dgm:cxn modelId="{DE04BA7C-657A-CF47-8A2F-D49A8EA6F1BA}" type="presParOf" srcId="{C3B01ACE-211D-B348-AC3F-4444B3C72689}" destId="{2D3A4D59-6A1C-694C-9079-3E6F12744273}" srcOrd="8" destOrd="0" presId="urn:microsoft.com/office/officeart/2005/8/layout/cycle5"/>
    <dgm:cxn modelId="{89D75EE3-E5E1-6445-AB41-B25CBE6717E0}" type="presParOf" srcId="{C3B01ACE-211D-B348-AC3F-4444B3C72689}" destId="{79367AF0-929E-FD4A-841D-6BC6C2F97DF9}" srcOrd="9" destOrd="0" presId="urn:microsoft.com/office/officeart/2005/8/layout/cycle5"/>
    <dgm:cxn modelId="{DF905A2D-A061-9140-A919-DCD5EFD2AD46}" type="presParOf" srcId="{C3B01ACE-211D-B348-AC3F-4444B3C72689}" destId="{8585C418-C51D-1943-8F0F-0333CC45CD84}" srcOrd="10" destOrd="0" presId="urn:microsoft.com/office/officeart/2005/8/layout/cycle5"/>
    <dgm:cxn modelId="{AF202F2C-2802-394A-A4A1-AADF1D5D6D67}" type="presParOf" srcId="{C3B01ACE-211D-B348-AC3F-4444B3C72689}" destId="{CE1E2EE2-1ED3-3942-8C15-B6EA90226803}" srcOrd="11" destOrd="0" presId="urn:microsoft.com/office/officeart/2005/8/layout/cycle5"/>
    <dgm:cxn modelId="{44EB205D-41BA-CD4E-9AAF-B34864765555}" type="presParOf" srcId="{C3B01ACE-211D-B348-AC3F-4444B3C72689}" destId="{F8F9EE41-A0C3-E040-B56A-4991913C580F}" srcOrd="12" destOrd="0" presId="urn:microsoft.com/office/officeart/2005/8/layout/cycle5"/>
    <dgm:cxn modelId="{70D81AE2-0A1D-394A-B47C-496A8DA1DB31}" type="presParOf" srcId="{C3B01ACE-211D-B348-AC3F-4444B3C72689}" destId="{7995B3B5-D828-5E4E-935E-53393A4F563E}" srcOrd="13" destOrd="0" presId="urn:microsoft.com/office/officeart/2005/8/layout/cycle5"/>
    <dgm:cxn modelId="{749ED685-8549-6F4E-9838-76831AF1ECF6}" type="presParOf" srcId="{C3B01ACE-211D-B348-AC3F-4444B3C72689}" destId="{44865C01-0C58-6D48-A754-5F0C789BAFC5}" srcOrd="14" destOrd="0" presId="urn:microsoft.com/office/officeart/2005/8/layout/cycle5"/>
    <dgm:cxn modelId="{93BAB652-FC51-A945-A888-515DD2C995F2}" type="presParOf" srcId="{C3B01ACE-211D-B348-AC3F-4444B3C72689}" destId="{AC4260AC-7BF1-E54C-8725-98C5C3DB487E}" srcOrd="15" destOrd="0" presId="urn:microsoft.com/office/officeart/2005/8/layout/cycle5"/>
    <dgm:cxn modelId="{D371B110-2AF9-1749-ADAA-99B629D9F45D}" type="presParOf" srcId="{C3B01ACE-211D-B348-AC3F-4444B3C72689}" destId="{B371E1FD-0276-5C4F-B4C3-26CA90D8B987}" srcOrd="16" destOrd="0" presId="urn:microsoft.com/office/officeart/2005/8/layout/cycle5"/>
    <dgm:cxn modelId="{B7248ED1-55F3-5E4F-9DE4-A6B29E40E840}" type="presParOf" srcId="{C3B01ACE-211D-B348-AC3F-4444B3C72689}" destId="{05BB08A8-7F3A-3144-845F-8AAEFA0A46AB}" srcOrd="17" destOrd="0" presId="urn:microsoft.com/office/officeart/2005/8/layout/cycle5"/>
    <dgm:cxn modelId="{511E6AAB-B590-ED46-82A1-EA24705996B3}" type="presParOf" srcId="{C3B01ACE-211D-B348-AC3F-4444B3C72689}" destId="{CD2964A6-0B02-424A-A48A-4229307F71A3}" srcOrd="18" destOrd="0" presId="urn:microsoft.com/office/officeart/2005/8/layout/cycle5"/>
    <dgm:cxn modelId="{5A899A11-C773-EC4A-AEB7-05A031617738}" type="presParOf" srcId="{C3B01ACE-211D-B348-AC3F-4444B3C72689}" destId="{3602BCFE-6621-FA4F-9BB3-071271BC2C67}" srcOrd="19" destOrd="0" presId="urn:microsoft.com/office/officeart/2005/8/layout/cycle5"/>
    <dgm:cxn modelId="{605329D6-451A-DD48-92BC-05834F4E825D}" type="presParOf" srcId="{C3B01ACE-211D-B348-AC3F-4444B3C72689}" destId="{15C6F4A2-8FBD-294C-AF26-1F4659091397}" srcOrd="20" destOrd="0" presId="urn:microsoft.com/office/officeart/2005/8/layout/cycle5"/>
  </dgm:cxnLst>
  <dgm:bg>
    <a:solidFill>
      <a:schemeClr val="bg1"/>
    </a:solidFill>
  </dgm:bg>
  <dgm:whole>
    <a:ln>
      <a:solidFill>
        <a:schemeClr val="tx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41D3A8-A6AA-064C-9EDD-972AF291F4B7}">
      <dsp:nvSpPr>
        <dsp:cNvPr id="0" name=""/>
        <dsp:cNvSpPr/>
      </dsp:nvSpPr>
      <dsp:spPr>
        <a:xfrm>
          <a:off x="5292328" y="2678"/>
          <a:ext cx="1607343" cy="1044773"/>
        </a:xfrm>
        <a:prstGeom prst="roundRect">
          <a:avLst/>
        </a:prstGeom>
        <a:solidFill>
          <a:schemeClr val="bg1"/>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Stimulus: A change in environment occurs </a:t>
          </a:r>
        </a:p>
      </dsp:txBody>
      <dsp:txXfrm>
        <a:off x="5343330" y="53680"/>
        <a:ext cx="1505339" cy="942769"/>
      </dsp:txXfrm>
    </dsp:sp>
    <dsp:sp modelId="{D6B9A658-F6CD-514E-A643-60E22220914F}">
      <dsp:nvSpPr>
        <dsp:cNvPr id="0" name=""/>
        <dsp:cNvSpPr/>
      </dsp:nvSpPr>
      <dsp:spPr>
        <a:xfrm>
          <a:off x="3111844" y="525065"/>
          <a:ext cx="5968311" cy="5968311"/>
        </a:xfrm>
        <a:custGeom>
          <a:avLst/>
          <a:gdLst/>
          <a:ahLst/>
          <a:cxnLst/>
          <a:rect l="0" t="0" r="0" b="0"/>
          <a:pathLst>
            <a:path>
              <a:moveTo>
                <a:pt x="3998710" y="177758"/>
              </a:moveTo>
              <a:arcTo wR="2984155" hR="2984155" stAng="17392541" swAng="772848"/>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1A41E46C-9FD1-FA4F-B7C5-6E159F3B9647}">
      <dsp:nvSpPr>
        <dsp:cNvPr id="0" name=""/>
        <dsp:cNvSpPr/>
      </dsp:nvSpPr>
      <dsp:spPr>
        <a:xfrm>
          <a:off x="7625435" y="1126243"/>
          <a:ext cx="1607343" cy="1044773"/>
        </a:xfrm>
        <a:prstGeom prst="roundRect">
          <a:avLst/>
        </a:prstGeom>
        <a:solidFill>
          <a:schemeClr val="bg1"/>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Receptor: stimulus is detected by sensory cells </a:t>
          </a:r>
        </a:p>
      </dsp:txBody>
      <dsp:txXfrm>
        <a:off x="7676437" y="1177245"/>
        <a:ext cx="1505339" cy="942769"/>
      </dsp:txXfrm>
    </dsp:sp>
    <dsp:sp modelId="{1128C699-A407-7C44-B675-8D982E8DCDF5}">
      <dsp:nvSpPr>
        <dsp:cNvPr id="0" name=""/>
        <dsp:cNvSpPr/>
      </dsp:nvSpPr>
      <dsp:spPr>
        <a:xfrm>
          <a:off x="3111844" y="525065"/>
          <a:ext cx="5968311" cy="5968311"/>
        </a:xfrm>
        <a:custGeom>
          <a:avLst/>
          <a:gdLst/>
          <a:ahLst/>
          <a:cxnLst/>
          <a:rect l="0" t="0" r="0" b="0"/>
          <a:pathLst>
            <a:path>
              <a:moveTo>
                <a:pt x="5773180" y="1922774"/>
              </a:moveTo>
              <a:arcTo wR="2984155" hR="2984155" stAng="20349921" swAng="1064796"/>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CC01C53E-FF45-194D-B5E2-1BC12A31FF23}">
      <dsp:nvSpPr>
        <dsp:cNvPr id="0" name=""/>
        <dsp:cNvSpPr/>
      </dsp:nvSpPr>
      <dsp:spPr>
        <a:xfrm>
          <a:off x="8201664" y="3650871"/>
          <a:ext cx="1607343" cy="1044773"/>
        </a:xfrm>
        <a:prstGeom prst="roundRect">
          <a:avLst/>
        </a:prstGeom>
        <a:solidFill>
          <a:schemeClr val="bg1"/>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Message: sensory cells generate a message in the form of a nerve impulse or hormone</a:t>
          </a:r>
        </a:p>
      </dsp:txBody>
      <dsp:txXfrm>
        <a:off x="8252666" y="3701873"/>
        <a:ext cx="1505339" cy="942769"/>
      </dsp:txXfrm>
    </dsp:sp>
    <dsp:sp modelId="{2D3A4D59-6A1C-694C-9079-3E6F12744273}">
      <dsp:nvSpPr>
        <dsp:cNvPr id="0" name=""/>
        <dsp:cNvSpPr/>
      </dsp:nvSpPr>
      <dsp:spPr>
        <a:xfrm>
          <a:off x="3111844" y="525065"/>
          <a:ext cx="5968311" cy="5968311"/>
        </a:xfrm>
        <a:custGeom>
          <a:avLst/>
          <a:gdLst/>
          <a:ahLst/>
          <a:cxnLst/>
          <a:rect l="0" t="0" r="0" b="0"/>
          <a:pathLst>
            <a:path>
              <a:moveTo>
                <a:pt x="5618543" y="4386006"/>
              </a:moveTo>
              <a:arcTo wR="2984155" hR="2984155" stAng="1681141" swAng="836020"/>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79367AF0-929E-FD4A-841D-6BC6C2F97DF9}">
      <dsp:nvSpPr>
        <dsp:cNvPr id="0" name=""/>
        <dsp:cNvSpPr/>
      </dsp:nvSpPr>
      <dsp:spPr>
        <a:xfrm>
          <a:off x="6587104" y="5675465"/>
          <a:ext cx="1607343" cy="1044773"/>
        </a:xfrm>
        <a:prstGeom prst="roundRect">
          <a:avLst/>
        </a:prstGeom>
        <a:solidFill>
          <a:schemeClr val="bg1"/>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Modulator: a new message is sent out by the modulator</a:t>
          </a:r>
        </a:p>
      </dsp:txBody>
      <dsp:txXfrm>
        <a:off x="6638106" y="5726467"/>
        <a:ext cx="1505339" cy="942769"/>
      </dsp:txXfrm>
    </dsp:sp>
    <dsp:sp modelId="{CE1E2EE2-1ED3-3942-8C15-B6EA90226803}">
      <dsp:nvSpPr>
        <dsp:cNvPr id="0" name=""/>
        <dsp:cNvSpPr/>
      </dsp:nvSpPr>
      <dsp:spPr>
        <a:xfrm>
          <a:off x="3111844" y="525065"/>
          <a:ext cx="5968311" cy="5968311"/>
        </a:xfrm>
        <a:custGeom>
          <a:avLst/>
          <a:gdLst/>
          <a:ahLst/>
          <a:cxnLst/>
          <a:rect l="0" t="0" r="0" b="0"/>
          <a:pathLst>
            <a:path>
              <a:moveTo>
                <a:pt x="3280573" y="5953553"/>
              </a:moveTo>
              <a:arcTo wR="2984155" hR="2984155" stAng="5057963" swAng="684074"/>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F8F9EE41-A0C3-E040-B56A-4991913C580F}">
      <dsp:nvSpPr>
        <dsp:cNvPr id="0" name=""/>
        <dsp:cNvSpPr/>
      </dsp:nvSpPr>
      <dsp:spPr>
        <a:xfrm>
          <a:off x="3997551" y="5675465"/>
          <a:ext cx="1607343" cy="1044773"/>
        </a:xfrm>
        <a:prstGeom prst="roundRect">
          <a:avLst/>
        </a:prstGeom>
        <a:solidFill>
          <a:schemeClr val="bg1"/>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Effector: muscles or glands receive the message from the modulator </a:t>
          </a:r>
        </a:p>
      </dsp:txBody>
      <dsp:txXfrm>
        <a:off x="4048553" y="5726467"/>
        <a:ext cx="1505339" cy="942769"/>
      </dsp:txXfrm>
    </dsp:sp>
    <dsp:sp modelId="{44865C01-0C58-6D48-A754-5F0C789BAFC5}">
      <dsp:nvSpPr>
        <dsp:cNvPr id="0" name=""/>
        <dsp:cNvSpPr/>
      </dsp:nvSpPr>
      <dsp:spPr>
        <a:xfrm>
          <a:off x="3111844" y="525065"/>
          <a:ext cx="5968311" cy="5968311"/>
        </a:xfrm>
        <a:custGeom>
          <a:avLst/>
          <a:gdLst/>
          <a:ahLst/>
          <a:cxnLst/>
          <a:rect l="0" t="0" r="0" b="0"/>
          <a:pathLst>
            <a:path>
              <a:moveTo>
                <a:pt x="764847" y="4979113"/>
              </a:moveTo>
              <a:arcTo wR="2984155" hR="2984155" stAng="8282840" swAng="836020"/>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AC4260AC-7BF1-E54C-8725-98C5C3DB487E}">
      <dsp:nvSpPr>
        <dsp:cNvPr id="0" name=""/>
        <dsp:cNvSpPr/>
      </dsp:nvSpPr>
      <dsp:spPr>
        <a:xfrm>
          <a:off x="2382991" y="3650871"/>
          <a:ext cx="1607343" cy="1044773"/>
        </a:xfrm>
        <a:prstGeom prst="roundRect">
          <a:avLst/>
        </a:prstGeom>
        <a:solidFill>
          <a:schemeClr val="bg1"/>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Response: effector organs bring about an appropriate reaction </a:t>
          </a:r>
        </a:p>
      </dsp:txBody>
      <dsp:txXfrm>
        <a:off x="2433993" y="3701873"/>
        <a:ext cx="1505339" cy="942769"/>
      </dsp:txXfrm>
    </dsp:sp>
    <dsp:sp modelId="{05BB08A8-7F3A-3144-845F-8AAEFA0A46AB}">
      <dsp:nvSpPr>
        <dsp:cNvPr id="0" name=""/>
        <dsp:cNvSpPr/>
      </dsp:nvSpPr>
      <dsp:spPr>
        <a:xfrm>
          <a:off x="3111844" y="525065"/>
          <a:ext cx="5968311" cy="5968311"/>
        </a:xfrm>
        <a:custGeom>
          <a:avLst/>
          <a:gdLst/>
          <a:ahLst/>
          <a:cxnLst/>
          <a:rect l="0" t="0" r="0" b="0"/>
          <a:pathLst>
            <a:path>
              <a:moveTo>
                <a:pt x="4333" y="2823397"/>
              </a:moveTo>
              <a:arcTo wR="2984155" hR="2984155" stAng="10985283" swAng="1064796"/>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CD2964A6-0B02-424A-A48A-4229307F71A3}">
      <dsp:nvSpPr>
        <dsp:cNvPr id="0" name=""/>
        <dsp:cNvSpPr/>
      </dsp:nvSpPr>
      <dsp:spPr>
        <a:xfrm>
          <a:off x="2959221" y="1126243"/>
          <a:ext cx="1607343" cy="1044773"/>
        </a:xfrm>
        <a:prstGeom prst="roundRect">
          <a:avLst/>
        </a:prstGeom>
        <a:solidFill>
          <a:schemeClr val="bg1"/>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GB" sz="1200" kern="1200" dirty="0">
              <a:solidFill>
                <a:schemeClr val="tx1"/>
              </a:solidFill>
            </a:rPr>
            <a:t>Feedback: response changes the original stimulus </a:t>
          </a:r>
        </a:p>
      </dsp:txBody>
      <dsp:txXfrm>
        <a:off x="3010223" y="1177245"/>
        <a:ext cx="1505339" cy="942769"/>
      </dsp:txXfrm>
    </dsp:sp>
    <dsp:sp modelId="{15C6F4A2-8FBD-294C-AF26-1F4659091397}">
      <dsp:nvSpPr>
        <dsp:cNvPr id="0" name=""/>
        <dsp:cNvSpPr/>
      </dsp:nvSpPr>
      <dsp:spPr>
        <a:xfrm>
          <a:off x="3111844" y="525065"/>
          <a:ext cx="5968311" cy="5968311"/>
        </a:xfrm>
        <a:custGeom>
          <a:avLst/>
          <a:gdLst/>
          <a:ahLst/>
          <a:cxnLst/>
          <a:rect l="0" t="0" r="0" b="0"/>
          <a:pathLst>
            <a:path>
              <a:moveTo>
                <a:pt x="1369519" y="474547"/>
              </a:moveTo>
              <a:arcTo wR="2984155" hR="2984155" stAng="14234611" swAng="772848"/>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7BD8493-CE86-4F23-BB0E-E15F49F350FF}" type="datetimeFigureOut">
              <a:rPr lang="en-AU" smtClean="0"/>
              <a:t>2/03/2022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C9589F5-0615-4376-AB80-30094F570DC7}"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134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7BD8493-CE86-4F23-BB0E-E15F49F350FF}" type="datetimeFigureOut">
              <a:rPr lang="en-AU" smtClean="0"/>
              <a:t>2/03/2022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C9589F5-0615-4376-AB80-30094F570DC7}" type="slidenum">
              <a:rPr lang="en-AU" smtClean="0"/>
              <a:t>‹#›</a:t>
            </a:fld>
            <a:endParaRPr lang="en-AU"/>
          </a:p>
        </p:txBody>
      </p:sp>
    </p:spTree>
    <p:extLst>
      <p:ext uri="{BB962C8B-B14F-4D97-AF65-F5344CB8AC3E}">
        <p14:creationId xmlns:p14="http://schemas.microsoft.com/office/powerpoint/2010/main" val="1263670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7BD8493-CE86-4F23-BB0E-E15F49F350FF}" type="datetimeFigureOut">
              <a:rPr lang="en-AU" smtClean="0"/>
              <a:t>2/03/2022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C9589F5-0615-4376-AB80-30094F570DC7}"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4848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7BD8493-CE86-4F23-BB0E-E15F49F350FF}" type="datetimeFigureOut">
              <a:rPr lang="en-AU" smtClean="0"/>
              <a:t>2/03/2022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C9589F5-0615-4376-AB80-30094F570DC7}" type="slidenum">
              <a:rPr lang="en-AU" smtClean="0"/>
              <a:t>‹#›</a:t>
            </a:fld>
            <a:endParaRPr lang="en-AU"/>
          </a:p>
        </p:txBody>
      </p:sp>
    </p:spTree>
    <p:extLst>
      <p:ext uri="{BB962C8B-B14F-4D97-AF65-F5344CB8AC3E}">
        <p14:creationId xmlns:p14="http://schemas.microsoft.com/office/powerpoint/2010/main" val="2881046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7BD8493-CE86-4F23-BB0E-E15F49F350FF}" type="datetimeFigureOut">
              <a:rPr lang="en-AU" smtClean="0"/>
              <a:t>2/03/2022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C9589F5-0615-4376-AB80-30094F570DC7}" type="slidenum">
              <a:rPr lang="en-AU" smtClean="0"/>
              <a:t>‹#›</a:t>
            </a:fld>
            <a:endParaRPr lang="en-AU"/>
          </a:p>
        </p:txBody>
      </p:sp>
    </p:spTree>
    <p:extLst>
      <p:ext uri="{BB962C8B-B14F-4D97-AF65-F5344CB8AC3E}">
        <p14:creationId xmlns:p14="http://schemas.microsoft.com/office/powerpoint/2010/main" val="1242967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7BD8493-CE86-4F23-BB0E-E15F49F350FF}" type="datetimeFigureOut">
              <a:rPr lang="en-AU" smtClean="0"/>
              <a:t>2/03/2022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C9589F5-0615-4376-AB80-30094F570DC7}" type="slidenum">
              <a:rPr lang="en-AU" smtClean="0"/>
              <a:t>‹#›</a:t>
            </a:fld>
            <a:endParaRPr lang="en-AU"/>
          </a:p>
        </p:txBody>
      </p:sp>
    </p:spTree>
    <p:extLst>
      <p:ext uri="{BB962C8B-B14F-4D97-AF65-F5344CB8AC3E}">
        <p14:creationId xmlns:p14="http://schemas.microsoft.com/office/powerpoint/2010/main" val="1850372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7BD8493-CE86-4F23-BB0E-E15F49F350FF}" type="datetimeFigureOut">
              <a:rPr lang="en-AU" smtClean="0"/>
              <a:t>2/03/2022</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7C9589F5-0615-4376-AB80-30094F570DC7}" type="slidenum">
              <a:rPr lang="en-AU" smtClean="0"/>
              <a:t>‹#›</a:t>
            </a:fld>
            <a:endParaRPr lang="en-AU"/>
          </a:p>
        </p:txBody>
      </p:sp>
    </p:spTree>
    <p:extLst>
      <p:ext uri="{BB962C8B-B14F-4D97-AF65-F5344CB8AC3E}">
        <p14:creationId xmlns:p14="http://schemas.microsoft.com/office/powerpoint/2010/main" val="3994389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7BD8493-CE86-4F23-BB0E-E15F49F350FF}" type="datetimeFigureOut">
              <a:rPr lang="en-AU" smtClean="0"/>
              <a:t>2/03/2022</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C9589F5-0615-4376-AB80-30094F570DC7}" type="slidenum">
              <a:rPr lang="en-AU" smtClean="0"/>
              <a:t>‹#›</a:t>
            </a:fld>
            <a:endParaRPr lang="en-AU"/>
          </a:p>
        </p:txBody>
      </p:sp>
    </p:spTree>
    <p:extLst>
      <p:ext uri="{BB962C8B-B14F-4D97-AF65-F5344CB8AC3E}">
        <p14:creationId xmlns:p14="http://schemas.microsoft.com/office/powerpoint/2010/main" val="79207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7BD8493-CE86-4F23-BB0E-E15F49F350FF}" type="datetimeFigureOut">
              <a:rPr lang="en-AU" smtClean="0"/>
              <a:t>2/03/2022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C9589F5-0615-4376-AB80-30094F570DC7}" type="slidenum">
              <a:rPr lang="en-AU" smtClean="0"/>
              <a:t>‹#›</a:t>
            </a:fld>
            <a:endParaRPr lang="en-AU"/>
          </a:p>
        </p:txBody>
      </p:sp>
    </p:spTree>
    <p:extLst>
      <p:ext uri="{BB962C8B-B14F-4D97-AF65-F5344CB8AC3E}">
        <p14:creationId xmlns:p14="http://schemas.microsoft.com/office/powerpoint/2010/main" val="1965502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7BD8493-CE86-4F23-BB0E-E15F49F350FF}" type="datetimeFigureOut">
              <a:rPr lang="en-AU" smtClean="0"/>
              <a:t>2/03/2022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C9589F5-0615-4376-AB80-30094F570DC7}" type="slidenum">
              <a:rPr lang="en-AU" smtClean="0"/>
              <a:t>‹#›</a:t>
            </a:fld>
            <a:endParaRPr lang="en-AU"/>
          </a:p>
        </p:txBody>
      </p:sp>
    </p:spTree>
    <p:extLst>
      <p:ext uri="{BB962C8B-B14F-4D97-AF65-F5344CB8AC3E}">
        <p14:creationId xmlns:p14="http://schemas.microsoft.com/office/powerpoint/2010/main" val="2068466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7BD8493-CE86-4F23-BB0E-E15F49F350FF}" type="datetimeFigureOut">
              <a:rPr lang="en-AU" smtClean="0"/>
              <a:t>2/03/2022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C9589F5-0615-4376-AB80-30094F570DC7}" type="slidenum">
              <a:rPr lang="en-AU" smtClean="0"/>
              <a:t>‹#›</a:t>
            </a:fld>
            <a:endParaRPr lang="en-AU"/>
          </a:p>
        </p:txBody>
      </p:sp>
    </p:spTree>
    <p:extLst>
      <p:ext uri="{BB962C8B-B14F-4D97-AF65-F5344CB8AC3E}">
        <p14:creationId xmlns:p14="http://schemas.microsoft.com/office/powerpoint/2010/main" val="2865604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7BD8493-CE86-4F23-BB0E-E15F49F350FF}" type="datetimeFigureOut">
              <a:rPr lang="en-AU" smtClean="0"/>
              <a:t>2/03/2022</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C9589F5-0615-4376-AB80-30094F570DC7}"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817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7200" b="1" dirty="0" smtClean="0">
                <a:effectLst>
                  <a:outerShdw blurRad="38100" dist="38100" dir="2700000" algn="tl">
                    <a:srgbClr val="000000">
                      <a:alpha val="43137"/>
                    </a:srgbClr>
                  </a:outerShdw>
                </a:effectLst>
                <a:latin typeface="Bradley Hand ITC" panose="03070402050302030203" pitchFamily="66" charset="0"/>
              </a:rPr>
              <a:t>Endocrine System</a:t>
            </a:r>
            <a:endParaRPr lang="en-AU" sz="7200" b="1" dirty="0">
              <a:effectLst>
                <a:outerShdw blurRad="38100" dist="38100" dir="2700000" algn="tl">
                  <a:srgbClr val="000000">
                    <a:alpha val="43137"/>
                  </a:srgbClr>
                </a:outerShdw>
              </a:effectLst>
              <a:latin typeface="Bradley Hand ITC" panose="03070402050302030203" pitchFamily="66" charset="0"/>
            </a:endParaRPr>
          </a:p>
        </p:txBody>
      </p:sp>
    </p:spTree>
    <p:extLst>
      <p:ext uri="{BB962C8B-B14F-4D97-AF65-F5344CB8AC3E}">
        <p14:creationId xmlns:p14="http://schemas.microsoft.com/office/powerpoint/2010/main" val="36517766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imgur.com/gallery/ko4Ek | Awkward yeti, Funny comics, Heart and brain  com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5004" y="-330926"/>
            <a:ext cx="7543800" cy="754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37304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From the curriculum </a:t>
            </a:r>
            <a:endParaRPr lang="en-AU" dirty="0"/>
          </a:p>
        </p:txBody>
      </p:sp>
      <p:sp>
        <p:nvSpPr>
          <p:cNvPr id="3" name="Content Placeholder 2"/>
          <p:cNvSpPr>
            <a:spLocks noGrp="1"/>
          </p:cNvSpPr>
          <p:nvPr>
            <p:ph idx="1"/>
          </p:nvPr>
        </p:nvSpPr>
        <p:spPr>
          <a:xfrm>
            <a:off x="391886" y="1845734"/>
            <a:ext cx="10763794" cy="4023360"/>
          </a:xfrm>
        </p:spPr>
        <p:txBody>
          <a:bodyPr>
            <a:normAutofit/>
          </a:bodyPr>
          <a:lstStyle/>
          <a:p>
            <a:pPr>
              <a:buFont typeface="Arial" panose="020B0604020202020204" pitchFamily="34" charset="0"/>
              <a:buChar char="•"/>
            </a:pPr>
            <a:r>
              <a:rPr lang="en-AU" sz="2400" dirty="0" smtClean="0"/>
              <a:t>many </a:t>
            </a:r>
            <a:r>
              <a:rPr lang="en-AU" sz="2400" dirty="0"/>
              <a:t>processes within the body are coordinated by hormones, which are secreted by glands and are transported to their target organs in the blood</a:t>
            </a:r>
          </a:p>
          <a:p>
            <a:pPr>
              <a:buFont typeface="Arial" panose="020B0604020202020204" pitchFamily="34" charset="0"/>
              <a:buChar char="•"/>
            </a:pPr>
            <a:r>
              <a:rPr lang="en-AU" sz="2400" dirty="0"/>
              <a:t>hormone action can be via negative feedback to maintain internal conditions within tolerance limits; stimulus receptor, modulator, effector, response and feedback, are components of a feedback loop</a:t>
            </a:r>
          </a:p>
          <a:p>
            <a:pPr>
              <a:buFont typeface="Arial" panose="020B0604020202020204" pitchFamily="34" charset="0"/>
              <a:buChar char="•"/>
            </a:pPr>
            <a:r>
              <a:rPr lang="en-AU" sz="2400" dirty="0"/>
              <a:t>the endocrine glands of the body include hypothalamus, pituitary, adrenal gland, pancreas, thyroid, pineal and parathyroid glands, testes, ovaries and placenta</a:t>
            </a:r>
          </a:p>
          <a:p>
            <a:pPr>
              <a:buFont typeface="Arial" panose="020B0604020202020204" pitchFamily="34" charset="0"/>
              <a:buChar char="•"/>
            </a:pPr>
            <a:r>
              <a:rPr lang="en-AU" sz="2400" dirty="0"/>
              <a:t>thyroxine, cortisol, growth hormone and, to a lesser extent, adrenaline, all play a role in the regulation of metabolism</a:t>
            </a:r>
          </a:p>
        </p:txBody>
      </p:sp>
    </p:spTree>
    <p:extLst>
      <p:ext uri="{BB962C8B-B14F-4D97-AF65-F5344CB8AC3E}">
        <p14:creationId xmlns:p14="http://schemas.microsoft.com/office/powerpoint/2010/main" val="42513494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What is the Endocrine System?</a:t>
            </a:r>
            <a:endParaRPr lang="en-AU" b="1" dirty="0"/>
          </a:p>
        </p:txBody>
      </p:sp>
      <p:sp>
        <p:nvSpPr>
          <p:cNvPr id="3" name="Content Placeholder 2"/>
          <p:cNvSpPr>
            <a:spLocks noGrp="1"/>
          </p:cNvSpPr>
          <p:nvPr>
            <p:ph idx="1"/>
          </p:nvPr>
        </p:nvSpPr>
        <p:spPr/>
        <p:txBody>
          <a:bodyPr>
            <a:noAutofit/>
          </a:bodyPr>
          <a:lstStyle/>
          <a:p>
            <a:r>
              <a:rPr lang="en-AU" sz="3200" b="1" u="sng" dirty="0">
                <a:solidFill>
                  <a:schemeClr val="tx1"/>
                </a:solidFill>
              </a:rPr>
              <a:t>The endocrine system is a system of organs that releases chemical messenger molecules, called </a:t>
            </a:r>
            <a:r>
              <a:rPr lang="en-AU" sz="3200" b="1" i="1" u="sng" dirty="0">
                <a:solidFill>
                  <a:schemeClr val="tx1"/>
                </a:solidFill>
              </a:rPr>
              <a:t>hormones</a:t>
            </a:r>
            <a:r>
              <a:rPr lang="en-AU" sz="3200" b="1" u="sng" dirty="0">
                <a:solidFill>
                  <a:schemeClr val="tx1"/>
                </a:solidFill>
              </a:rPr>
              <a:t>, into the blood. </a:t>
            </a:r>
            <a:endParaRPr lang="en-AU" sz="3200" b="1" u="sng" dirty="0" smtClean="0">
              <a:solidFill>
                <a:schemeClr val="tx1"/>
              </a:solidFill>
            </a:endParaRPr>
          </a:p>
          <a:p>
            <a:endParaRPr lang="en-AU" sz="3200" b="1" u="sng" dirty="0" smtClean="0">
              <a:solidFill>
                <a:schemeClr val="tx1"/>
              </a:solidFill>
            </a:endParaRPr>
          </a:p>
          <a:p>
            <a:r>
              <a:rPr lang="en-AU" sz="3200" b="1" u="sng" dirty="0" smtClean="0">
                <a:solidFill>
                  <a:schemeClr val="tx1"/>
                </a:solidFill>
              </a:rPr>
              <a:t>Unlike </a:t>
            </a:r>
            <a:r>
              <a:rPr lang="en-AU" sz="3200" b="1" u="sng" dirty="0">
                <a:solidFill>
                  <a:schemeClr val="tx1"/>
                </a:solidFill>
              </a:rPr>
              <a:t>the nervous system, whose actions help the body react immediately to change, the endocrine system controls changes that happen to the body over long periods of time, which can be minutes, hours, or even years. </a:t>
            </a:r>
          </a:p>
        </p:txBody>
      </p:sp>
    </p:spTree>
    <p:extLst>
      <p:ext uri="{BB962C8B-B14F-4D97-AF65-F5344CB8AC3E}">
        <p14:creationId xmlns:p14="http://schemas.microsoft.com/office/powerpoint/2010/main" val="3294387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0"/>
            <a:ext cx="10058400" cy="1450757"/>
          </a:xfrm>
        </p:spPr>
        <p:txBody>
          <a:bodyPr/>
          <a:lstStyle/>
          <a:p>
            <a:r>
              <a:rPr lang="en-AU" b="1" dirty="0" smtClean="0"/>
              <a:t>Continued. </a:t>
            </a:r>
            <a:endParaRPr lang="en-AU" b="1" dirty="0"/>
          </a:p>
        </p:txBody>
      </p:sp>
      <p:sp>
        <p:nvSpPr>
          <p:cNvPr id="3" name="Content Placeholder 2"/>
          <p:cNvSpPr>
            <a:spLocks noGrp="1"/>
          </p:cNvSpPr>
          <p:nvPr>
            <p:ph idx="1"/>
          </p:nvPr>
        </p:nvSpPr>
        <p:spPr>
          <a:xfrm>
            <a:off x="1097280" y="1845733"/>
            <a:ext cx="10607040" cy="4354769"/>
          </a:xfrm>
        </p:spPr>
        <p:txBody>
          <a:bodyPr>
            <a:normAutofit/>
          </a:bodyPr>
          <a:lstStyle/>
          <a:p>
            <a:r>
              <a:rPr lang="en-AU" sz="3200" b="1" u="sng" dirty="0"/>
              <a:t>The two systems work closely together to help us respond to our </a:t>
            </a:r>
            <a:r>
              <a:rPr lang="en-AU" sz="3200" b="1" u="sng" dirty="0" smtClean="0"/>
              <a:t>environment.</a:t>
            </a:r>
          </a:p>
          <a:p>
            <a:endParaRPr lang="en-AU" sz="3200" b="1" u="sng" dirty="0"/>
          </a:p>
          <a:p>
            <a:r>
              <a:rPr lang="en-AU" sz="3200" b="1" u="sng" dirty="0"/>
              <a:t>The endocrine system is important in controlling metabolism, growth and development, reproduction, and salt, water, and nutrient balance in blood and other tissues (osmoregulation).</a:t>
            </a:r>
          </a:p>
          <a:p>
            <a:r>
              <a:rPr lang="en-AU" dirty="0"/>
              <a:t/>
            </a:r>
            <a:br>
              <a:rPr lang="en-AU" dirty="0"/>
            </a:br>
            <a:endParaRPr lang="en-AU" dirty="0"/>
          </a:p>
        </p:txBody>
      </p:sp>
    </p:spTree>
    <p:extLst>
      <p:ext uri="{BB962C8B-B14F-4D97-AF65-F5344CB8AC3E}">
        <p14:creationId xmlns:p14="http://schemas.microsoft.com/office/powerpoint/2010/main" val="3770220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Continued. </a:t>
            </a:r>
            <a:endParaRPr lang="en-AU" b="1" dirty="0"/>
          </a:p>
        </p:txBody>
      </p:sp>
      <p:sp>
        <p:nvSpPr>
          <p:cNvPr id="3" name="Content Placeholder 2"/>
          <p:cNvSpPr>
            <a:spLocks noGrp="1"/>
          </p:cNvSpPr>
          <p:nvPr>
            <p:ph idx="1"/>
          </p:nvPr>
        </p:nvSpPr>
        <p:spPr>
          <a:xfrm>
            <a:off x="1097280" y="1845733"/>
            <a:ext cx="10058400" cy="4485397"/>
          </a:xfrm>
        </p:spPr>
        <p:txBody>
          <a:bodyPr>
            <a:normAutofit/>
          </a:bodyPr>
          <a:lstStyle/>
          <a:p>
            <a:r>
              <a:rPr lang="en-AU" sz="3200" b="1" u="sng" dirty="0"/>
              <a:t>The nervous system uses nerves to conduct electrical and chemical information around the body, while the endocrine system uses blood vessels to carry chemical information</a:t>
            </a:r>
            <a:r>
              <a:rPr lang="en-AU" sz="3200" b="1" u="sng" dirty="0" smtClean="0"/>
              <a:t>.</a:t>
            </a:r>
          </a:p>
          <a:p>
            <a:endParaRPr lang="en-AU" sz="3200" b="1" u="sng" dirty="0"/>
          </a:p>
          <a:p>
            <a:r>
              <a:rPr lang="en-AU" sz="3200" b="1" u="sng" dirty="0" smtClean="0"/>
              <a:t>Coordination is achieved through the activities of the nervous and endocrine systems working together. </a:t>
            </a:r>
            <a:endParaRPr lang="en-AU" sz="3200" b="1" u="sng" dirty="0"/>
          </a:p>
        </p:txBody>
      </p:sp>
    </p:spTree>
    <p:extLst>
      <p:ext uri="{BB962C8B-B14F-4D97-AF65-F5344CB8AC3E}">
        <p14:creationId xmlns:p14="http://schemas.microsoft.com/office/powerpoint/2010/main" val="1409166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What does it do?</a:t>
            </a:r>
            <a:endParaRPr lang="en-AU" b="1" dirty="0"/>
          </a:p>
        </p:txBody>
      </p:sp>
      <p:sp>
        <p:nvSpPr>
          <p:cNvPr id="3" name="Content Placeholder 2"/>
          <p:cNvSpPr>
            <a:spLocks noGrp="1"/>
          </p:cNvSpPr>
          <p:nvPr>
            <p:ph idx="1"/>
          </p:nvPr>
        </p:nvSpPr>
        <p:spPr>
          <a:xfrm>
            <a:off x="1097280" y="1845734"/>
            <a:ext cx="10058400" cy="4885992"/>
          </a:xfrm>
        </p:spPr>
        <p:txBody>
          <a:bodyPr>
            <a:normAutofit/>
          </a:bodyPr>
          <a:lstStyle/>
          <a:p>
            <a:r>
              <a:rPr lang="en-AU" sz="3200" b="1" u="sng" dirty="0" smtClean="0"/>
              <a:t>Much of the work of the endocrine system is concerning keeping the environment inside the body fairly constant (homeostasis). </a:t>
            </a:r>
          </a:p>
          <a:p>
            <a:endParaRPr lang="en-AU" sz="3200" b="1" u="sng" dirty="0"/>
          </a:p>
          <a:p>
            <a:r>
              <a:rPr lang="en-AU" sz="3200" b="1" u="sng" dirty="0" smtClean="0"/>
              <a:t>Feedback is very important in regulating the secretion of hormones from endocrine glands. When the body responds to a change, or stimulus, by secreting more or less of a hormone, that response changes the original stimulus. </a:t>
            </a:r>
            <a:r>
              <a:rPr lang="en-AU" sz="3200" b="1" dirty="0" smtClean="0"/>
              <a:t>This is known as feedback. </a:t>
            </a:r>
          </a:p>
        </p:txBody>
      </p:sp>
    </p:spTree>
    <p:extLst>
      <p:ext uri="{BB962C8B-B14F-4D97-AF65-F5344CB8AC3E}">
        <p14:creationId xmlns:p14="http://schemas.microsoft.com/office/powerpoint/2010/main" val="3251907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b="1" dirty="0" smtClean="0"/>
              <a:t>Endocrine glands </a:t>
            </a:r>
            <a:endParaRPr lang="en-AU" b="1" dirty="0"/>
          </a:p>
        </p:txBody>
      </p:sp>
      <p:sp>
        <p:nvSpPr>
          <p:cNvPr id="5" name="Content Placeholder 4"/>
          <p:cNvSpPr>
            <a:spLocks noGrp="1"/>
          </p:cNvSpPr>
          <p:nvPr>
            <p:ph idx="1"/>
          </p:nvPr>
        </p:nvSpPr>
        <p:spPr/>
        <p:txBody>
          <a:bodyPr>
            <a:normAutofit/>
          </a:bodyPr>
          <a:lstStyle/>
          <a:p>
            <a:r>
              <a:rPr lang="en-AU" sz="3200" b="1" dirty="0" smtClean="0"/>
              <a:t>There are two endocrine gland in the human body: </a:t>
            </a:r>
          </a:p>
          <a:p>
            <a:r>
              <a:rPr lang="en-AU" sz="3200" b="1" dirty="0" smtClean="0"/>
              <a:t>- exocrine glands </a:t>
            </a:r>
          </a:p>
          <a:p>
            <a:r>
              <a:rPr lang="en-AU" sz="3200" b="1" dirty="0" smtClean="0"/>
              <a:t>- endocrine glands </a:t>
            </a:r>
            <a:endParaRPr lang="en-AU" sz="3200" b="1" dirty="0"/>
          </a:p>
        </p:txBody>
      </p:sp>
    </p:spTree>
    <p:extLst>
      <p:ext uri="{BB962C8B-B14F-4D97-AF65-F5344CB8AC3E}">
        <p14:creationId xmlns:p14="http://schemas.microsoft.com/office/powerpoint/2010/main" val="2032873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ypes of gland. Anatomy of an Endocrine and exocrine glands. different of  glands secretion. cross-section. Vector diagram for ed… | Exocrine gland,  Endocrine, Gland"/>
          <p:cNvPicPr>
            <a:picLocks noChangeAspect="1" noChangeArrowheads="1"/>
          </p:cNvPicPr>
          <p:nvPr/>
        </p:nvPicPr>
        <p:blipFill rotWithShape="1">
          <a:blip r:embed="rId2">
            <a:extLst>
              <a:ext uri="{28A0092B-C50C-407E-A947-70E740481C1C}">
                <a14:useLocalDpi xmlns:a14="http://schemas.microsoft.com/office/drawing/2010/main" val="0"/>
              </a:ext>
            </a:extLst>
          </a:blip>
          <a:srcRect t="25577" b="12116"/>
          <a:stretch/>
        </p:blipFill>
        <p:spPr bwMode="auto">
          <a:xfrm>
            <a:off x="1047749" y="228599"/>
            <a:ext cx="9734551" cy="6469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797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b="1" dirty="0" smtClean="0"/>
              <a:t>Exocrine glands 	</a:t>
            </a:r>
            <a:endParaRPr lang="en-AU" b="1" dirty="0"/>
          </a:p>
        </p:txBody>
      </p:sp>
      <p:sp>
        <p:nvSpPr>
          <p:cNvPr id="5" name="Content Placeholder 4"/>
          <p:cNvSpPr>
            <a:spLocks noGrp="1"/>
          </p:cNvSpPr>
          <p:nvPr>
            <p:ph idx="1"/>
          </p:nvPr>
        </p:nvSpPr>
        <p:spPr>
          <a:xfrm>
            <a:off x="1097280" y="1845733"/>
            <a:ext cx="10058400" cy="4572483"/>
          </a:xfrm>
        </p:spPr>
        <p:txBody>
          <a:bodyPr>
            <a:normAutofit/>
          </a:bodyPr>
          <a:lstStyle/>
          <a:p>
            <a:r>
              <a:rPr lang="en-AU" sz="3200" b="1" u="sng" dirty="0" smtClean="0"/>
              <a:t>Exocrine glands secrete into a duct that carries the secretion to the body surface or to one of the body cavities. </a:t>
            </a:r>
          </a:p>
          <a:p>
            <a:endParaRPr lang="en-AU" sz="3200" b="1" u="sng" dirty="0"/>
          </a:p>
          <a:p>
            <a:r>
              <a:rPr lang="en-AU" sz="3200" b="1" u="sng" dirty="0" smtClean="0"/>
              <a:t>Sweat glands, mucous glands, salivary glands and the glands of the alimentary canal (digestive system) are all examples of exocrine glands. </a:t>
            </a:r>
            <a:endParaRPr lang="en-AU" sz="3200" b="1" u="sng" dirty="0"/>
          </a:p>
        </p:txBody>
      </p:sp>
    </p:spTree>
    <p:extLst>
      <p:ext uri="{BB962C8B-B14F-4D97-AF65-F5344CB8AC3E}">
        <p14:creationId xmlns:p14="http://schemas.microsoft.com/office/powerpoint/2010/main" val="156815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xocrine vs Endocrine Glands- Definition, 8 Differences, Examples"/>
          <p:cNvPicPr>
            <a:picLocks noChangeAspect="1" noChangeArrowheads="1"/>
          </p:cNvPicPr>
          <p:nvPr/>
        </p:nvPicPr>
        <p:blipFill rotWithShape="1">
          <a:blip r:embed="rId2">
            <a:extLst>
              <a:ext uri="{28A0092B-C50C-407E-A947-70E740481C1C}">
                <a14:useLocalDpi xmlns:a14="http://schemas.microsoft.com/office/drawing/2010/main" val="0"/>
              </a:ext>
            </a:extLst>
          </a:blip>
          <a:srcRect t="15886" r="51519"/>
          <a:stretch/>
        </p:blipFill>
        <p:spPr bwMode="auto">
          <a:xfrm>
            <a:off x="5413375" y="952499"/>
            <a:ext cx="5292725" cy="482888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p:cNvSpPr txBox="1">
            <a:spLocks/>
          </p:cNvSpPr>
          <p:nvPr/>
        </p:nvSpPr>
        <p:spPr>
          <a:xfrm>
            <a:off x="476249" y="681039"/>
            <a:ext cx="3571875" cy="2824162"/>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AU" sz="4300" b="1" dirty="0" smtClean="0"/>
              <a:t>Organs of the Endocrine System- Exocrine glands  </a:t>
            </a:r>
            <a:endParaRPr lang="en-AU" sz="4300" b="1" dirty="0"/>
          </a:p>
        </p:txBody>
      </p:sp>
    </p:spTree>
    <p:extLst>
      <p:ext uri="{BB962C8B-B14F-4D97-AF65-F5344CB8AC3E}">
        <p14:creationId xmlns:p14="http://schemas.microsoft.com/office/powerpoint/2010/main" val="3661237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97280" y="286604"/>
            <a:ext cx="10058400" cy="941306"/>
          </a:xfrm>
        </p:spPr>
        <p:txBody>
          <a:bodyPr/>
          <a:lstStyle/>
          <a:p>
            <a:r>
              <a:rPr lang="en-AU" b="1" dirty="0" smtClean="0"/>
              <a:t>Endocrine glands </a:t>
            </a:r>
            <a:endParaRPr lang="en-AU" b="1" dirty="0"/>
          </a:p>
        </p:txBody>
      </p:sp>
      <p:sp>
        <p:nvSpPr>
          <p:cNvPr id="5" name="Content Placeholder 4"/>
          <p:cNvSpPr>
            <a:spLocks noGrp="1"/>
          </p:cNvSpPr>
          <p:nvPr>
            <p:ph idx="1"/>
          </p:nvPr>
        </p:nvSpPr>
        <p:spPr>
          <a:xfrm>
            <a:off x="60959" y="1776065"/>
            <a:ext cx="11721737" cy="4372186"/>
          </a:xfrm>
        </p:spPr>
        <p:txBody>
          <a:bodyPr>
            <a:normAutofit/>
          </a:bodyPr>
          <a:lstStyle/>
          <a:p>
            <a:r>
              <a:rPr lang="en-AU" sz="3000" b="1" u="sng" dirty="0" smtClean="0"/>
              <a:t>Endocrine glands secrete hormones into the extracellular (outside) fluid that surrounds the cells that make up the gland. </a:t>
            </a:r>
          </a:p>
          <a:p>
            <a:r>
              <a:rPr lang="en-AU" sz="3000" b="1" u="sng" dirty="0" smtClean="0"/>
              <a:t>The secretion then usually passes into the capillaries to be transported by the blood. </a:t>
            </a:r>
          </a:p>
          <a:p>
            <a:r>
              <a:rPr lang="en-AU" sz="3000" b="1" u="sng" dirty="0" smtClean="0"/>
              <a:t>Endocrine glands are sometimes called ductless glands. </a:t>
            </a:r>
          </a:p>
          <a:p>
            <a:r>
              <a:rPr lang="en-AU" sz="3000" b="1" u="sng" dirty="0" smtClean="0"/>
              <a:t>E.g. hypothalamus, pineal gland, thyroid gland, parathyroid gland, pancreas, testes, ovaries, adrenal glands, and thymus. </a:t>
            </a:r>
            <a:endParaRPr lang="en-AU" sz="3000" b="1" u="sng" dirty="0"/>
          </a:p>
        </p:txBody>
      </p:sp>
    </p:spTree>
    <p:extLst>
      <p:ext uri="{BB962C8B-B14F-4D97-AF65-F5344CB8AC3E}">
        <p14:creationId xmlns:p14="http://schemas.microsoft.com/office/powerpoint/2010/main" val="2154976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52413"/>
            <a:ext cx="4057650" cy="2917507"/>
          </a:xfrm>
        </p:spPr>
        <p:txBody>
          <a:bodyPr>
            <a:normAutofit fontScale="90000"/>
          </a:bodyPr>
          <a:lstStyle/>
          <a:p>
            <a:r>
              <a:rPr lang="en-AU" b="1" dirty="0" smtClean="0"/>
              <a:t>Organs of the Endocrine System- Endocrine glands  </a:t>
            </a:r>
            <a:endParaRPr lang="en-AU" b="1" dirty="0"/>
          </a:p>
        </p:txBody>
      </p:sp>
      <p:pic>
        <p:nvPicPr>
          <p:cNvPr id="4" name="Picture 3"/>
          <p:cNvPicPr>
            <a:picLocks noChangeAspect="1"/>
          </p:cNvPicPr>
          <p:nvPr/>
        </p:nvPicPr>
        <p:blipFill>
          <a:blip r:embed="rId2"/>
          <a:stretch>
            <a:fillRect/>
          </a:stretch>
        </p:blipFill>
        <p:spPr>
          <a:xfrm>
            <a:off x="3937634" y="0"/>
            <a:ext cx="6296217" cy="6858000"/>
          </a:xfrm>
          <a:prstGeom prst="rect">
            <a:avLst/>
          </a:prstGeom>
        </p:spPr>
      </p:pic>
    </p:spTree>
    <p:extLst>
      <p:ext uri="{BB962C8B-B14F-4D97-AF65-F5344CB8AC3E}">
        <p14:creationId xmlns:p14="http://schemas.microsoft.com/office/powerpoint/2010/main" val="809697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Hypothalamus and Pituitary Gland </a:t>
            </a:r>
            <a:endParaRPr lang="en-AU" b="1" dirty="0"/>
          </a:p>
        </p:txBody>
      </p:sp>
      <p:sp>
        <p:nvSpPr>
          <p:cNvPr id="3" name="Content Placeholder 2"/>
          <p:cNvSpPr>
            <a:spLocks noGrp="1"/>
          </p:cNvSpPr>
          <p:nvPr>
            <p:ph idx="1"/>
          </p:nvPr>
        </p:nvSpPr>
        <p:spPr>
          <a:xfrm>
            <a:off x="174170" y="1828317"/>
            <a:ext cx="11713029" cy="4372186"/>
          </a:xfrm>
        </p:spPr>
        <p:txBody>
          <a:bodyPr>
            <a:normAutofit/>
          </a:bodyPr>
          <a:lstStyle/>
          <a:p>
            <a:r>
              <a:rPr lang="en-AU" sz="3200" b="1" u="sng" dirty="0" smtClean="0"/>
              <a:t>The hypothalamus is located at the base of the brain </a:t>
            </a:r>
          </a:p>
          <a:p>
            <a:endParaRPr lang="en-AU" sz="3200" b="1" dirty="0"/>
          </a:p>
          <a:p>
            <a:r>
              <a:rPr lang="en-AU" sz="3200" b="1" u="sng" dirty="0" smtClean="0"/>
              <a:t>This organ regulates many of the basic functions of the body</a:t>
            </a:r>
            <a:r>
              <a:rPr lang="en-AU" sz="3200" b="1" dirty="0" smtClean="0"/>
              <a:t>, such as body temperature, water balance and heart rate. </a:t>
            </a:r>
          </a:p>
          <a:p>
            <a:endParaRPr lang="en-AU" sz="3200" b="1" dirty="0"/>
          </a:p>
          <a:p>
            <a:r>
              <a:rPr lang="en-AU" sz="3200" b="1" u="sng" dirty="0" smtClean="0"/>
              <a:t>Many of the functions of the hypothalamus are carried out through the pituitary gland </a:t>
            </a:r>
            <a:endParaRPr lang="en-AU" sz="3200" b="1" u="sng" dirty="0"/>
          </a:p>
        </p:txBody>
      </p:sp>
    </p:spTree>
    <p:extLst>
      <p:ext uri="{BB962C8B-B14F-4D97-AF65-F5344CB8AC3E}">
        <p14:creationId xmlns:p14="http://schemas.microsoft.com/office/powerpoint/2010/main" val="1381304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Continued</a:t>
            </a:r>
            <a:endParaRPr lang="en-AU" b="1" dirty="0"/>
          </a:p>
        </p:txBody>
      </p:sp>
      <p:sp>
        <p:nvSpPr>
          <p:cNvPr id="3" name="Content Placeholder 2"/>
          <p:cNvSpPr>
            <a:spLocks noGrp="1"/>
          </p:cNvSpPr>
          <p:nvPr>
            <p:ph idx="1"/>
          </p:nvPr>
        </p:nvSpPr>
        <p:spPr>
          <a:xfrm>
            <a:off x="514985" y="1828318"/>
            <a:ext cx="10058400" cy="4023360"/>
          </a:xfrm>
        </p:spPr>
        <p:txBody>
          <a:bodyPr>
            <a:normAutofit/>
          </a:bodyPr>
          <a:lstStyle/>
          <a:p>
            <a:r>
              <a:rPr lang="en-AU" sz="3200" b="1" u="sng" dirty="0" smtClean="0"/>
              <a:t>The pituitary gland lies just under the hypothalamus and is joined to the hypothalamus </a:t>
            </a:r>
            <a:r>
              <a:rPr lang="en-AU" sz="3200" b="1" dirty="0" smtClean="0"/>
              <a:t>by a stalk called the infundibulum. </a:t>
            </a:r>
            <a:endParaRPr lang="en-AU" sz="3200" b="1" dirty="0"/>
          </a:p>
        </p:txBody>
      </p:sp>
      <p:pic>
        <p:nvPicPr>
          <p:cNvPr id="2054" name="Picture 6" descr="Chapter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8865" y="2894440"/>
            <a:ext cx="6698177" cy="3048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313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Continued. </a:t>
            </a:r>
            <a:endParaRPr lang="en-AU" b="1" dirty="0"/>
          </a:p>
        </p:txBody>
      </p:sp>
      <p:sp>
        <p:nvSpPr>
          <p:cNvPr id="3" name="Content Placeholder 2"/>
          <p:cNvSpPr>
            <a:spLocks noGrp="1"/>
          </p:cNvSpPr>
          <p:nvPr>
            <p:ph idx="1"/>
          </p:nvPr>
        </p:nvSpPr>
        <p:spPr/>
        <p:txBody>
          <a:bodyPr>
            <a:normAutofit/>
          </a:bodyPr>
          <a:lstStyle/>
          <a:p>
            <a:r>
              <a:rPr lang="en-AU" sz="3200" b="1" u="sng" dirty="0" smtClean="0"/>
              <a:t>The hypothalamus produces many different hormones. </a:t>
            </a:r>
          </a:p>
          <a:p>
            <a:endParaRPr lang="en-AU" sz="3200" b="1" u="sng" dirty="0"/>
          </a:p>
          <a:p>
            <a:r>
              <a:rPr lang="en-AU" sz="3200" b="1" u="sng" dirty="0" smtClean="0"/>
              <a:t>Many pituitary hormones regulate the activity of other endocrine glands. </a:t>
            </a:r>
          </a:p>
          <a:p>
            <a:endParaRPr lang="en-AU" sz="3200" b="1" dirty="0"/>
          </a:p>
          <a:p>
            <a:r>
              <a:rPr lang="en-AU" sz="3200" b="1" dirty="0" smtClean="0"/>
              <a:t>Sometimes the pituitary gland is referred to as the master gland. </a:t>
            </a:r>
            <a:endParaRPr lang="en-AU" sz="3200" b="1" dirty="0"/>
          </a:p>
        </p:txBody>
      </p:sp>
    </p:spTree>
    <p:extLst>
      <p:ext uri="{BB962C8B-B14F-4D97-AF65-F5344CB8AC3E}">
        <p14:creationId xmlns:p14="http://schemas.microsoft.com/office/powerpoint/2010/main" val="1850642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55954637"/>
              </p:ext>
            </p:extLst>
          </p:nvPr>
        </p:nvGraphicFramePr>
        <p:xfrm>
          <a:off x="568960" y="74017"/>
          <a:ext cx="10856685" cy="6279388"/>
        </p:xfrm>
        <a:graphic>
          <a:graphicData uri="http://schemas.openxmlformats.org/drawingml/2006/table">
            <a:tbl>
              <a:tblPr firstRow="1" bandRow="1">
                <a:tableStyleId>{5C22544A-7EE6-4342-B048-85BDC9FD1C3A}</a:tableStyleId>
              </a:tblPr>
              <a:tblGrid>
                <a:gridCol w="3618895">
                  <a:extLst>
                    <a:ext uri="{9D8B030D-6E8A-4147-A177-3AD203B41FA5}">
                      <a16:colId xmlns:a16="http://schemas.microsoft.com/office/drawing/2014/main" val="1820866331"/>
                    </a:ext>
                  </a:extLst>
                </a:gridCol>
                <a:gridCol w="3618895">
                  <a:extLst>
                    <a:ext uri="{9D8B030D-6E8A-4147-A177-3AD203B41FA5}">
                      <a16:colId xmlns:a16="http://schemas.microsoft.com/office/drawing/2014/main" val="756325526"/>
                    </a:ext>
                  </a:extLst>
                </a:gridCol>
                <a:gridCol w="3618895">
                  <a:extLst>
                    <a:ext uri="{9D8B030D-6E8A-4147-A177-3AD203B41FA5}">
                      <a16:colId xmlns:a16="http://schemas.microsoft.com/office/drawing/2014/main" val="371187837"/>
                    </a:ext>
                  </a:extLst>
                </a:gridCol>
              </a:tblGrid>
              <a:tr h="1329828">
                <a:tc>
                  <a:txBody>
                    <a:bodyPr/>
                    <a:lstStyle/>
                    <a:p>
                      <a:r>
                        <a:rPr lang="en-AU" sz="2200" b="1" dirty="0" smtClean="0">
                          <a:solidFill>
                            <a:schemeClr val="tx1"/>
                          </a:solidFill>
                        </a:rPr>
                        <a:t>Name</a:t>
                      </a:r>
                      <a:r>
                        <a:rPr lang="en-AU" sz="2200" b="1" baseline="0" dirty="0" smtClean="0">
                          <a:solidFill>
                            <a:schemeClr val="tx1"/>
                          </a:solidFill>
                        </a:rPr>
                        <a:t> of hormone released by pituitary gland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Location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Function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4741521"/>
                  </a:ext>
                </a:extLst>
              </a:tr>
              <a:tr h="770456">
                <a:tc>
                  <a:txBody>
                    <a:bodyPr/>
                    <a:lstStyle/>
                    <a:p>
                      <a:r>
                        <a:rPr lang="en-AU" sz="2200" b="1" dirty="0" smtClean="0">
                          <a:solidFill>
                            <a:schemeClr val="tx1"/>
                          </a:solidFill>
                        </a:rPr>
                        <a:t>Gonadotropin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Gonads: ovaries/testes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Affect gonad</a:t>
                      </a:r>
                      <a:r>
                        <a:rPr lang="en-AU" sz="2200" b="1" baseline="0" dirty="0" smtClean="0">
                          <a:solidFill>
                            <a:schemeClr val="tx1"/>
                          </a:solidFill>
                        </a:rPr>
                        <a:t> production</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0491032"/>
                  </a:ext>
                </a:extLst>
              </a:tr>
              <a:tr h="770456">
                <a:tc>
                  <a:txBody>
                    <a:bodyPr/>
                    <a:lstStyle/>
                    <a:p>
                      <a:r>
                        <a:rPr lang="en-AU" sz="2200" b="1" dirty="0" smtClean="0">
                          <a:solidFill>
                            <a:schemeClr val="tx1"/>
                          </a:solidFill>
                        </a:rPr>
                        <a:t>Follicle-stimulating hormone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Ovary </a:t>
                      </a:r>
                    </a:p>
                    <a:p>
                      <a:r>
                        <a:rPr lang="en-AU" sz="2200" b="1" dirty="0" smtClean="0">
                          <a:solidFill>
                            <a:schemeClr val="tx1"/>
                          </a:solidFill>
                        </a:rPr>
                        <a:t>Testes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Stimulates</a:t>
                      </a:r>
                      <a:r>
                        <a:rPr lang="en-AU" sz="2200" b="1" baseline="0" dirty="0" smtClean="0">
                          <a:solidFill>
                            <a:schemeClr val="tx1"/>
                          </a:solidFill>
                        </a:rPr>
                        <a:t> egg development</a:t>
                      </a:r>
                    </a:p>
                    <a:p>
                      <a:r>
                        <a:rPr lang="en-AU" sz="2200" b="1" baseline="0" dirty="0" smtClean="0">
                          <a:solidFill>
                            <a:schemeClr val="tx1"/>
                          </a:solidFill>
                        </a:rPr>
                        <a:t>Stimulates production and maturation of sperm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6536973"/>
                  </a:ext>
                </a:extLst>
              </a:tr>
              <a:tr h="770456">
                <a:tc>
                  <a:txBody>
                    <a:bodyPr/>
                    <a:lstStyle/>
                    <a:p>
                      <a:r>
                        <a:rPr lang="en-AU" sz="2200" b="1" dirty="0" smtClean="0">
                          <a:solidFill>
                            <a:schemeClr val="tx1"/>
                          </a:solidFill>
                        </a:rPr>
                        <a:t>Luteinising hormone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Ovary </a:t>
                      </a:r>
                    </a:p>
                    <a:p>
                      <a:r>
                        <a:rPr lang="en-AU" sz="2200" b="1" dirty="0" smtClean="0">
                          <a:solidFill>
                            <a:schemeClr val="tx1"/>
                          </a:solidFill>
                        </a:rPr>
                        <a:t>Testes</a:t>
                      </a:r>
                      <a:r>
                        <a:rPr lang="en-AU" sz="2200" b="1" baseline="0" dirty="0" smtClean="0">
                          <a:solidFill>
                            <a:schemeClr val="tx1"/>
                          </a:solidFill>
                        </a:rPr>
                        <a:t>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Brings about ovulation </a:t>
                      </a:r>
                    </a:p>
                    <a:p>
                      <a:r>
                        <a:rPr lang="en-AU" sz="2200" b="1" dirty="0" smtClean="0">
                          <a:solidFill>
                            <a:schemeClr val="tx1"/>
                          </a:solidFill>
                        </a:rPr>
                        <a:t>Secrete</a:t>
                      </a:r>
                      <a:r>
                        <a:rPr lang="en-AU" sz="2200" b="1" baseline="0" dirty="0" smtClean="0">
                          <a:solidFill>
                            <a:schemeClr val="tx1"/>
                          </a:solidFill>
                        </a:rPr>
                        <a:t> male sex hormones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4950835"/>
                  </a:ext>
                </a:extLst>
              </a:tr>
              <a:tr h="770456">
                <a:tc>
                  <a:txBody>
                    <a:bodyPr/>
                    <a:lstStyle/>
                    <a:p>
                      <a:r>
                        <a:rPr lang="en-AU" sz="2200" b="1" dirty="0" smtClean="0">
                          <a:solidFill>
                            <a:schemeClr val="tx1"/>
                          </a:solidFill>
                        </a:rPr>
                        <a:t>Growth</a:t>
                      </a:r>
                      <a:r>
                        <a:rPr lang="en-AU" sz="2200" b="1" baseline="0" dirty="0" smtClean="0">
                          <a:solidFill>
                            <a:schemeClr val="tx1"/>
                          </a:solidFill>
                        </a:rPr>
                        <a:t> hormone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All cells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Growth and protein synthesis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1555943"/>
                  </a:ext>
                </a:extLst>
              </a:tr>
              <a:tr h="770456">
                <a:tc>
                  <a:txBody>
                    <a:bodyPr/>
                    <a:lstStyle/>
                    <a:p>
                      <a:r>
                        <a:rPr lang="en-AU" sz="2200" b="1" dirty="0" smtClean="0">
                          <a:solidFill>
                            <a:schemeClr val="tx1"/>
                          </a:solidFill>
                        </a:rPr>
                        <a:t>Thyroid-stimulating</a:t>
                      </a:r>
                      <a:r>
                        <a:rPr lang="en-AU" sz="2200" b="1" baseline="0" dirty="0" smtClean="0">
                          <a:solidFill>
                            <a:schemeClr val="tx1"/>
                          </a:solidFill>
                        </a:rPr>
                        <a:t> hormone (TSH)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Thyroid gland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Secretion of hormones from the thyroid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544789"/>
                  </a:ext>
                </a:extLst>
              </a:tr>
              <a:tr h="770456">
                <a:tc>
                  <a:txBody>
                    <a:bodyPr/>
                    <a:lstStyle/>
                    <a:p>
                      <a:r>
                        <a:rPr lang="en-AU" sz="2200" b="1" dirty="0" smtClean="0">
                          <a:solidFill>
                            <a:schemeClr val="tx1"/>
                          </a:solidFill>
                        </a:rPr>
                        <a:t>Adrenocorticotropic hormone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Adrenal cortex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AU" sz="2200" b="1" dirty="0" smtClean="0">
                          <a:solidFill>
                            <a:schemeClr val="tx1"/>
                          </a:solidFill>
                        </a:rPr>
                        <a:t>Secretion of hormones from adrenal cortex </a:t>
                      </a:r>
                      <a:endParaRPr lang="en-AU" sz="22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9112690"/>
                  </a:ext>
                </a:extLst>
              </a:tr>
            </a:tbl>
          </a:graphicData>
        </a:graphic>
      </p:graphicFrame>
    </p:spTree>
    <p:extLst>
      <p:ext uri="{BB962C8B-B14F-4D97-AF65-F5344CB8AC3E}">
        <p14:creationId xmlns:p14="http://schemas.microsoft.com/office/powerpoint/2010/main" val="3873680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Adrenal glands </a:t>
            </a:r>
            <a:endParaRPr lang="en-AU" b="1" dirty="0"/>
          </a:p>
        </p:txBody>
      </p:sp>
      <p:sp>
        <p:nvSpPr>
          <p:cNvPr id="3" name="Content Placeholder 2"/>
          <p:cNvSpPr>
            <a:spLocks noGrp="1"/>
          </p:cNvSpPr>
          <p:nvPr>
            <p:ph idx="1"/>
          </p:nvPr>
        </p:nvSpPr>
        <p:spPr/>
        <p:txBody>
          <a:bodyPr>
            <a:noAutofit/>
          </a:bodyPr>
          <a:lstStyle/>
          <a:p>
            <a:r>
              <a:rPr lang="en-AU" sz="3200" b="1" u="sng" dirty="0" smtClean="0"/>
              <a:t>There are two adrenal glands. One immediately above each kidney. </a:t>
            </a:r>
          </a:p>
          <a:p>
            <a:endParaRPr lang="en-AU" sz="3200" b="1" u="sng" dirty="0"/>
          </a:p>
          <a:p>
            <a:r>
              <a:rPr lang="en-AU" sz="3200" b="1" u="sng" dirty="0" smtClean="0"/>
              <a:t>Each adrenal gland has an inner adrenal medulla and an outer adrenal cortex. </a:t>
            </a:r>
          </a:p>
          <a:p>
            <a:endParaRPr lang="en-AU" sz="3200" b="1" dirty="0"/>
          </a:p>
          <a:p>
            <a:r>
              <a:rPr lang="en-AU" sz="3200" b="1" dirty="0" smtClean="0"/>
              <a:t>These two parts are quite different in their structure and function. </a:t>
            </a:r>
            <a:endParaRPr lang="en-AU" sz="3200" b="1" dirty="0"/>
          </a:p>
        </p:txBody>
      </p:sp>
    </p:spTree>
    <p:extLst>
      <p:ext uri="{BB962C8B-B14F-4D97-AF65-F5344CB8AC3E}">
        <p14:creationId xmlns:p14="http://schemas.microsoft.com/office/powerpoint/2010/main" val="947351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drenal Insufficiency &amp; Addison's Disease | NIDD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673" y="139337"/>
            <a:ext cx="6609806" cy="6609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470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Continued. </a:t>
            </a:r>
            <a:endParaRPr lang="en-AU" b="1" dirty="0"/>
          </a:p>
        </p:txBody>
      </p:sp>
      <p:sp>
        <p:nvSpPr>
          <p:cNvPr id="3" name="Content Placeholder 2"/>
          <p:cNvSpPr>
            <a:spLocks noGrp="1"/>
          </p:cNvSpPr>
          <p:nvPr>
            <p:ph idx="1"/>
          </p:nvPr>
        </p:nvSpPr>
        <p:spPr>
          <a:xfrm>
            <a:off x="148044" y="1737360"/>
            <a:ext cx="12043955" cy="4663440"/>
          </a:xfrm>
        </p:spPr>
        <p:txBody>
          <a:bodyPr>
            <a:normAutofit/>
          </a:bodyPr>
          <a:lstStyle/>
          <a:p>
            <a:r>
              <a:rPr lang="en-AU" sz="2800" b="1" u="sng" dirty="0" smtClean="0"/>
              <a:t>Adrenal medulla: </a:t>
            </a:r>
          </a:p>
          <a:p>
            <a:r>
              <a:rPr lang="en-AU" sz="2800" b="1" u="sng" dirty="0" smtClean="0"/>
              <a:t>- hormones produced by the adrenal medulla are adrenaline (helps to prepare the body for a reaction to threatening situations) and noradrenaline (increases the rate and force of the heartbeat). </a:t>
            </a:r>
          </a:p>
          <a:p>
            <a:endParaRPr lang="en-AU" sz="2800" b="1" u="sng" dirty="0"/>
          </a:p>
          <a:p>
            <a:r>
              <a:rPr lang="en-AU" sz="2800" b="1" u="sng" dirty="0" smtClean="0"/>
              <a:t>Adrenal cortex: </a:t>
            </a:r>
          </a:p>
          <a:p>
            <a:r>
              <a:rPr lang="en-AU" sz="2800" b="1" u="sng" dirty="0" smtClean="0"/>
              <a:t>- more than 20 different hormones are produced and are collectively known as corticosteroids. </a:t>
            </a:r>
          </a:p>
          <a:p>
            <a:r>
              <a:rPr lang="en-AU" sz="2800" b="1" u="sng" dirty="0" smtClean="0"/>
              <a:t>- two main ones are aldosterone and cortisol. </a:t>
            </a:r>
            <a:endParaRPr lang="en-AU" sz="2800" b="1" u="sng" dirty="0"/>
          </a:p>
        </p:txBody>
      </p:sp>
    </p:spTree>
    <p:extLst>
      <p:ext uri="{BB962C8B-B14F-4D97-AF65-F5344CB8AC3E}">
        <p14:creationId xmlns:p14="http://schemas.microsoft.com/office/powerpoint/2010/main" val="2460135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Pancreas</a:t>
            </a:r>
            <a:r>
              <a:rPr lang="en-AU" dirty="0" smtClean="0"/>
              <a:t> </a:t>
            </a:r>
            <a:endParaRPr lang="en-AU" dirty="0"/>
          </a:p>
        </p:txBody>
      </p:sp>
      <p:sp>
        <p:nvSpPr>
          <p:cNvPr id="3" name="Content Placeholder 2"/>
          <p:cNvSpPr>
            <a:spLocks noGrp="1"/>
          </p:cNvSpPr>
          <p:nvPr>
            <p:ph idx="1"/>
          </p:nvPr>
        </p:nvSpPr>
        <p:spPr>
          <a:xfrm>
            <a:off x="104502" y="1828317"/>
            <a:ext cx="11817532" cy="4433146"/>
          </a:xfrm>
        </p:spPr>
        <p:txBody>
          <a:bodyPr>
            <a:normAutofit/>
          </a:bodyPr>
          <a:lstStyle/>
          <a:p>
            <a:r>
              <a:rPr lang="en-AU" sz="3200" b="1" u="sng" dirty="0" smtClean="0"/>
              <a:t>Lies just below the stomach and alongside the duodenum </a:t>
            </a:r>
          </a:p>
          <a:p>
            <a:endParaRPr lang="en-AU" sz="3200" b="1" u="sng" dirty="0" smtClean="0"/>
          </a:p>
          <a:p>
            <a:r>
              <a:rPr lang="en-AU" sz="3200" b="1" u="sng" dirty="0" smtClean="0"/>
              <a:t>It is both an exocrine and endocrine gland </a:t>
            </a:r>
          </a:p>
          <a:p>
            <a:endParaRPr lang="en-AU" sz="3200" b="1" u="sng" dirty="0"/>
          </a:p>
          <a:p>
            <a:r>
              <a:rPr lang="en-AU" sz="3200" b="1" u="sng" dirty="0" smtClean="0"/>
              <a:t>The exocrine part secretes digestive enzymes into the small intestine through the pancreatic duct. </a:t>
            </a:r>
            <a:endParaRPr lang="en-AU" sz="3200" b="1" u="sng" dirty="0"/>
          </a:p>
          <a:p>
            <a:endParaRPr lang="en-AU" sz="2800" b="1" dirty="0"/>
          </a:p>
        </p:txBody>
      </p:sp>
    </p:spTree>
    <p:extLst>
      <p:ext uri="{BB962C8B-B14F-4D97-AF65-F5344CB8AC3E}">
        <p14:creationId xmlns:p14="http://schemas.microsoft.com/office/powerpoint/2010/main" val="780002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ancreas: Functions and disord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6583" y="65391"/>
            <a:ext cx="9086088" cy="66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1268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Pancreas </a:t>
            </a:r>
            <a:endParaRPr lang="en-AU" b="1" dirty="0"/>
          </a:p>
        </p:txBody>
      </p:sp>
      <p:sp>
        <p:nvSpPr>
          <p:cNvPr id="3" name="Content Placeholder 2"/>
          <p:cNvSpPr>
            <a:spLocks noGrp="1"/>
          </p:cNvSpPr>
          <p:nvPr>
            <p:ph idx="1"/>
          </p:nvPr>
        </p:nvSpPr>
        <p:spPr>
          <a:xfrm>
            <a:off x="217714" y="1845734"/>
            <a:ext cx="11582400" cy="4433146"/>
          </a:xfrm>
        </p:spPr>
        <p:txBody>
          <a:bodyPr>
            <a:normAutofit/>
          </a:bodyPr>
          <a:lstStyle/>
          <a:p>
            <a:r>
              <a:rPr lang="en-AU" sz="3200" b="1" u="sng" dirty="0" smtClean="0"/>
              <a:t>The exocrine part secretes two important hormones: </a:t>
            </a:r>
          </a:p>
          <a:p>
            <a:r>
              <a:rPr lang="en-AU" sz="3200" b="1" u="sng" dirty="0" smtClean="0"/>
              <a:t>- insulin </a:t>
            </a:r>
          </a:p>
          <a:p>
            <a:r>
              <a:rPr lang="en-AU" sz="3200" b="1" u="sng" dirty="0" smtClean="0"/>
              <a:t>- glucagon </a:t>
            </a:r>
          </a:p>
          <a:p>
            <a:endParaRPr lang="en-AU" sz="3200" b="1" u="sng" dirty="0"/>
          </a:p>
          <a:p>
            <a:r>
              <a:rPr lang="en-AU" sz="3200" b="1" u="sng" dirty="0" smtClean="0"/>
              <a:t>The roles of insulin and glucagon is in maintaining a constant level of glucose in the blood. </a:t>
            </a:r>
            <a:endParaRPr lang="en-AU" sz="3200" b="1" u="sng" dirty="0"/>
          </a:p>
        </p:txBody>
      </p:sp>
    </p:spTree>
    <p:extLst>
      <p:ext uri="{BB962C8B-B14F-4D97-AF65-F5344CB8AC3E}">
        <p14:creationId xmlns:p14="http://schemas.microsoft.com/office/powerpoint/2010/main" val="1057659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Thyroid gland  </a:t>
            </a:r>
            <a:endParaRPr lang="en-AU" b="1" dirty="0"/>
          </a:p>
        </p:txBody>
      </p:sp>
      <p:sp>
        <p:nvSpPr>
          <p:cNvPr id="3" name="Content Placeholder 2"/>
          <p:cNvSpPr>
            <a:spLocks noGrp="1"/>
          </p:cNvSpPr>
          <p:nvPr>
            <p:ph idx="1"/>
          </p:nvPr>
        </p:nvSpPr>
        <p:spPr/>
        <p:txBody>
          <a:bodyPr>
            <a:normAutofit/>
          </a:bodyPr>
          <a:lstStyle/>
          <a:p>
            <a:r>
              <a:rPr lang="en-AU" sz="3200" b="1" u="sng" dirty="0" smtClean="0"/>
              <a:t>Located in the neck </a:t>
            </a:r>
          </a:p>
          <a:p>
            <a:endParaRPr lang="en-AU" sz="3200" b="1" u="sng" dirty="0"/>
          </a:p>
          <a:p>
            <a:r>
              <a:rPr lang="en-AU" sz="3200" b="1" u="sng" dirty="0" smtClean="0"/>
              <a:t>Secretes thyroxine, which controls body metabolism </a:t>
            </a:r>
          </a:p>
          <a:p>
            <a:endParaRPr lang="en-AU" sz="3200" b="1" u="sng" dirty="0"/>
          </a:p>
          <a:p>
            <a:r>
              <a:rPr lang="en-AU" sz="3200" b="1" u="sng" dirty="0" smtClean="0"/>
              <a:t>Overall effect of thyroxine is to bring about the release of energy </a:t>
            </a:r>
            <a:endParaRPr lang="en-AU" sz="3200" b="1" u="sng" dirty="0"/>
          </a:p>
        </p:txBody>
      </p:sp>
    </p:spTree>
    <p:extLst>
      <p:ext uri="{BB962C8B-B14F-4D97-AF65-F5344CB8AC3E}">
        <p14:creationId xmlns:p14="http://schemas.microsoft.com/office/powerpoint/2010/main" val="1304169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yroid cancer rates in PA rising faster than rest of country as a whole -  Penn State Health New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873" y="917983"/>
            <a:ext cx="8338732" cy="4568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271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b="1" dirty="0" smtClean="0"/>
              <a:t>Pineal gland </a:t>
            </a:r>
            <a:endParaRPr lang="en-AU" b="1" dirty="0"/>
          </a:p>
        </p:txBody>
      </p:sp>
      <p:sp>
        <p:nvSpPr>
          <p:cNvPr id="3" name="Content Placeholder 2"/>
          <p:cNvSpPr>
            <a:spLocks noGrp="1"/>
          </p:cNvSpPr>
          <p:nvPr>
            <p:ph idx="1"/>
          </p:nvPr>
        </p:nvSpPr>
        <p:spPr/>
        <p:txBody>
          <a:bodyPr>
            <a:normAutofit/>
          </a:bodyPr>
          <a:lstStyle/>
          <a:p>
            <a:r>
              <a:rPr lang="en-AU" sz="3200" b="1" u="sng" dirty="0" smtClean="0"/>
              <a:t>Found inside the brain. </a:t>
            </a:r>
          </a:p>
          <a:p>
            <a:endParaRPr lang="en-AU" sz="3200" b="1" u="sng" dirty="0"/>
          </a:p>
          <a:p>
            <a:r>
              <a:rPr lang="en-AU" sz="3200" b="1" u="sng" dirty="0" smtClean="0"/>
              <a:t>Secretes melatonin, which is involved in the regulation of sleep patterns. </a:t>
            </a:r>
            <a:endParaRPr lang="en-AU" sz="3200" b="1" u="sng" dirty="0"/>
          </a:p>
        </p:txBody>
      </p:sp>
    </p:spTree>
    <p:extLst>
      <p:ext uri="{BB962C8B-B14F-4D97-AF65-F5344CB8AC3E}">
        <p14:creationId xmlns:p14="http://schemas.microsoft.com/office/powerpoint/2010/main" val="18750237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Pineal Gland Activation: Awakening the Master Within » Sacred Soul Soun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7551" y="461553"/>
            <a:ext cx="6889659" cy="5467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1018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Parathyroid gland </a:t>
            </a:r>
            <a:endParaRPr lang="en-AU" b="1" dirty="0"/>
          </a:p>
        </p:txBody>
      </p:sp>
      <p:sp>
        <p:nvSpPr>
          <p:cNvPr id="3" name="Content Placeholder 2"/>
          <p:cNvSpPr>
            <a:spLocks noGrp="1"/>
          </p:cNvSpPr>
          <p:nvPr>
            <p:ph idx="1"/>
          </p:nvPr>
        </p:nvSpPr>
        <p:spPr/>
        <p:txBody>
          <a:bodyPr>
            <a:normAutofit/>
          </a:bodyPr>
          <a:lstStyle/>
          <a:p>
            <a:r>
              <a:rPr lang="en-AU" sz="3200" b="1" u="sng" dirty="0" smtClean="0"/>
              <a:t>Target the cells in bones and the kidneys </a:t>
            </a:r>
          </a:p>
          <a:p>
            <a:endParaRPr lang="en-AU" sz="3200" b="1" u="sng" dirty="0"/>
          </a:p>
          <a:p>
            <a:r>
              <a:rPr lang="en-AU" sz="3200" b="1" u="sng" dirty="0" smtClean="0"/>
              <a:t>Increases level of calcium in the blood </a:t>
            </a:r>
            <a:endParaRPr lang="en-AU" sz="3200" b="1" u="sng" dirty="0"/>
          </a:p>
        </p:txBody>
      </p:sp>
    </p:spTree>
    <p:extLst>
      <p:ext uri="{BB962C8B-B14F-4D97-AF65-F5344CB8AC3E}">
        <p14:creationId xmlns:p14="http://schemas.microsoft.com/office/powerpoint/2010/main" val="2208608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738846" y="1297577"/>
            <a:ext cx="6595926" cy="3297963"/>
          </a:xfrm>
          <a:prstGeom prst="rect">
            <a:avLst/>
          </a:prstGeom>
        </p:spPr>
      </p:pic>
    </p:spTree>
    <p:extLst>
      <p:ext uri="{BB962C8B-B14F-4D97-AF65-F5344CB8AC3E}">
        <p14:creationId xmlns:p14="http://schemas.microsoft.com/office/powerpoint/2010/main" val="3645133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Placenta</a:t>
            </a:r>
            <a:r>
              <a:rPr lang="en-AU" dirty="0" smtClean="0"/>
              <a:t> </a:t>
            </a:r>
            <a:endParaRPr lang="en-AU" dirty="0"/>
          </a:p>
        </p:txBody>
      </p:sp>
      <p:sp>
        <p:nvSpPr>
          <p:cNvPr id="3" name="Content Placeholder 2"/>
          <p:cNvSpPr>
            <a:spLocks noGrp="1"/>
          </p:cNvSpPr>
          <p:nvPr>
            <p:ph idx="1"/>
          </p:nvPr>
        </p:nvSpPr>
        <p:spPr/>
        <p:txBody>
          <a:bodyPr>
            <a:normAutofit/>
          </a:bodyPr>
          <a:lstStyle/>
          <a:p>
            <a:r>
              <a:rPr lang="en-AU" sz="3200" b="1" u="sng" dirty="0" smtClean="0"/>
              <a:t>Secretes a number of hormones during pregnancy that help to maintain the pregnancy, stimulate development of the foetus and stimulate the mother’s mammary glands </a:t>
            </a:r>
            <a:endParaRPr lang="en-AU" sz="3200" b="1" u="sng" dirty="0"/>
          </a:p>
        </p:txBody>
      </p:sp>
    </p:spTree>
    <p:extLst>
      <p:ext uri="{BB962C8B-B14F-4D97-AF65-F5344CB8AC3E}">
        <p14:creationId xmlns:p14="http://schemas.microsoft.com/office/powerpoint/2010/main" val="5915557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b="1" dirty="0" smtClean="0"/>
              <a:t>Hormones </a:t>
            </a:r>
            <a:endParaRPr lang="en-AU" b="1" dirty="0"/>
          </a:p>
        </p:txBody>
      </p:sp>
      <p:sp>
        <p:nvSpPr>
          <p:cNvPr id="5" name="Content Placeholder 4"/>
          <p:cNvSpPr>
            <a:spLocks noGrp="1"/>
          </p:cNvSpPr>
          <p:nvPr>
            <p:ph idx="1"/>
          </p:nvPr>
        </p:nvSpPr>
        <p:spPr/>
        <p:txBody>
          <a:bodyPr>
            <a:normAutofit/>
          </a:bodyPr>
          <a:lstStyle/>
          <a:p>
            <a:r>
              <a:rPr lang="en-AU" sz="3200" b="1" u="sng" dirty="0" smtClean="0"/>
              <a:t>The secretion of an endocrine gland is called a hormone. </a:t>
            </a:r>
          </a:p>
          <a:p>
            <a:endParaRPr lang="en-AU" sz="3200" b="1" u="sng" dirty="0"/>
          </a:p>
          <a:p>
            <a:r>
              <a:rPr lang="en-AU" sz="3200" b="1" u="sng" dirty="0" smtClean="0"/>
              <a:t>Hormones may be proteins, steroid, or amines. </a:t>
            </a:r>
          </a:p>
          <a:p>
            <a:endParaRPr lang="en-AU" sz="3200" b="1" u="sng" dirty="0"/>
          </a:p>
          <a:p>
            <a:r>
              <a:rPr lang="en-AU" sz="3200" b="1" u="sng" dirty="0" smtClean="0"/>
              <a:t>They are transported throughout the body in the blood. </a:t>
            </a:r>
            <a:endParaRPr lang="en-AU" sz="3200" b="1" u="sng" dirty="0"/>
          </a:p>
        </p:txBody>
      </p:sp>
    </p:spTree>
    <p:extLst>
      <p:ext uri="{BB962C8B-B14F-4D97-AF65-F5344CB8AC3E}">
        <p14:creationId xmlns:p14="http://schemas.microsoft.com/office/powerpoint/2010/main" val="3220253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Continued. </a:t>
            </a:r>
            <a:endParaRPr lang="en-AU" b="1" dirty="0"/>
          </a:p>
        </p:txBody>
      </p:sp>
      <p:sp>
        <p:nvSpPr>
          <p:cNvPr id="3" name="Content Placeholder 2"/>
          <p:cNvSpPr>
            <a:spLocks noGrp="1"/>
          </p:cNvSpPr>
          <p:nvPr>
            <p:ph idx="1"/>
          </p:nvPr>
        </p:nvSpPr>
        <p:spPr/>
        <p:txBody>
          <a:bodyPr>
            <a:normAutofit/>
          </a:bodyPr>
          <a:lstStyle/>
          <a:p>
            <a:pPr algn="ctr"/>
            <a:endParaRPr lang="en-AU" sz="3200" b="1" dirty="0" smtClean="0"/>
          </a:p>
          <a:p>
            <a:pPr algn="ctr"/>
            <a:r>
              <a:rPr lang="en-AU" sz="3200" b="1" u="sng" dirty="0" smtClean="0"/>
              <a:t>A hormone may affect all the cells of the body </a:t>
            </a:r>
          </a:p>
          <a:p>
            <a:pPr algn="ctr"/>
            <a:r>
              <a:rPr lang="en-AU" sz="3200" b="1" u="sng" dirty="0" smtClean="0"/>
              <a:t>OR </a:t>
            </a:r>
          </a:p>
          <a:p>
            <a:pPr algn="ctr"/>
            <a:r>
              <a:rPr lang="en-AU" sz="3200" b="1" u="sng" dirty="0"/>
              <a:t>o</a:t>
            </a:r>
            <a:r>
              <a:rPr lang="en-AU" sz="3200" b="1" u="sng" dirty="0" smtClean="0"/>
              <a:t>nly particular groups of cells (target cells) </a:t>
            </a:r>
          </a:p>
          <a:p>
            <a:pPr algn="ctr"/>
            <a:r>
              <a:rPr lang="en-AU" sz="3200" b="1" u="sng" dirty="0" smtClean="0"/>
              <a:t>OR </a:t>
            </a:r>
          </a:p>
          <a:p>
            <a:pPr algn="ctr"/>
            <a:r>
              <a:rPr lang="en-AU" sz="3200" b="1" u="sng" dirty="0"/>
              <a:t>p</a:t>
            </a:r>
            <a:r>
              <a:rPr lang="en-AU" sz="3200" b="1" u="sng" dirty="0" smtClean="0"/>
              <a:t>articular organs (target organs) </a:t>
            </a:r>
            <a:endParaRPr lang="en-AU" sz="3200" b="1" u="sng" dirty="0"/>
          </a:p>
        </p:txBody>
      </p:sp>
    </p:spTree>
    <p:extLst>
      <p:ext uri="{BB962C8B-B14F-4D97-AF65-F5344CB8AC3E}">
        <p14:creationId xmlns:p14="http://schemas.microsoft.com/office/powerpoint/2010/main" val="4151227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b="1" dirty="0" smtClean="0"/>
              <a:t>Continued. </a:t>
            </a:r>
            <a:endParaRPr lang="en-AU" b="1" dirty="0"/>
          </a:p>
        </p:txBody>
      </p:sp>
      <p:sp>
        <p:nvSpPr>
          <p:cNvPr id="5" name="Content Placeholder 4"/>
          <p:cNvSpPr>
            <a:spLocks noGrp="1"/>
          </p:cNvSpPr>
          <p:nvPr>
            <p:ph idx="1"/>
          </p:nvPr>
        </p:nvSpPr>
        <p:spPr/>
        <p:txBody>
          <a:bodyPr>
            <a:normAutofit/>
          </a:bodyPr>
          <a:lstStyle/>
          <a:p>
            <a:r>
              <a:rPr lang="en-AU" sz="3200" b="1" u="sng" dirty="0" smtClean="0"/>
              <a:t>A hormone may affect all the cells in the same tissue by secreting chemicals that diffuse to adjacent cells. </a:t>
            </a:r>
          </a:p>
          <a:p>
            <a:endParaRPr lang="en-AU" sz="3200" b="1" u="sng" dirty="0"/>
          </a:p>
          <a:p>
            <a:r>
              <a:rPr lang="en-AU" sz="3200" b="1" u="sng" dirty="0" smtClean="0"/>
              <a:t>These substances are called paracrines (local hormones).  </a:t>
            </a:r>
          </a:p>
          <a:p>
            <a:endParaRPr lang="en-AU" sz="3200" b="1" u="sng" dirty="0"/>
          </a:p>
          <a:p>
            <a:r>
              <a:rPr lang="en-AU" sz="3200" b="1" u="sng" dirty="0" smtClean="0"/>
              <a:t>Paracrines are secreted by all cells in a particular tissue and move through the extracellular fluid. </a:t>
            </a:r>
            <a:endParaRPr lang="en-AU" sz="3200" b="1" u="sng" dirty="0"/>
          </a:p>
        </p:txBody>
      </p:sp>
    </p:spTree>
    <p:extLst>
      <p:ext uri="{BB962C8B-B14F-4D97-AF65-F5344CB8AC3E}">
        <p14:creationId xmlns:p14="http://schemas.microsoft.com/office/powerpoint/2010/main" val="17571950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b="1" dirty="0" smtClean="0"/>
              <a:t>Continued. </a:t>
            </a:r>
            <a:endParaRPr lang="en-AU" b="1" dirty="0"/>
          </a:p>
        </p:txBody>
      </p:sp>
      <p:sp>
        <p:nvSpPr>
          <p:cNvPr id="5" name="Content Placeholder 4"/>
          <p:cNvSpPr>
            <a:spLocks noGrp="1"/>
          </p:cNvSpPr>
          <p:nvPr>
            <p:ph idx="1"/>
          </p:nvPr>
        </p:nvSpPr>
        <p:spPr/>
        <p:txBody>
          <a:bodyPr>
            <a:noAutofit/>
          </a:bodyPr>
          <a:lstStyle/>
          <a:p>
            <a:r>
              <a:rPr lang="en-AU" sz="3200" b="1" u="sng" dirty="0" smtClean="0"/>
              <a:t>Hormones, however, are secreted only by specialised cells and are transported by the bloodstream. </a:t>
            </a:r>
          </a:p>
          <a:p>
            <a:endParaRPr lang="en-AU" sz="3200" b="1" u="sng" dirty="0"/>
          </a:p>
          <a:p>
            <a:r>
              <a:rPr lang="en-AU" sz="3200" b="1" u="sng" dirty="0" smtClean="0"/>
              <a:t>Hormones are only able to influence cells that have the correct receptor for the hormone. </a:t>
            </a:r>
          </a:p>
          <a:p>
            <a:endParaRPr lang="en-AU" sz="3200" b="1" u="sng" dirty="0"/>
          </a:p>
          <a:p>
            <a:r>
              <a:rPr lang="en-AU" sz="3200" b="1" u="sng" dirty="0" smtClean="0"/>
              <a:t>That is, hormone receptors are </a:t>
            </a:r>
            <a:r>
              <a:rPr lang="en-AU" sz="4400" b="1" u="sng" dirty="0" smtClean="0"/>
              <a:t>specific</a:t>
            </a:r>
            <a:r>
              <a:rPr lang="en-AU" sz="3200" b="1" u="sng" dirty="0" smtClean="0"/>
              <a:t>. </a:t>
            </a:r>
            <a:endParaRPr lang="en-AU" sz="3200" b="1" u="sng" dirty="0"/>
          </a:p>
        </p:txBody>
      </p:sp>
    </p:spTree>
    <p:extLst>
      <p:ext uri="{BB962C8B-B14F-4D97-AF65-F5344CB8AC3E}">
        <p14:creationId xmlns:p14="http://schemas.microsoft.com/office/powerpoint/2010/main" val="1820945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b="1" dirty="0" smtClean="0"/>
              <a:t>Continued. </a:t>
            </a:r>
            <a:endParaRPr lang="en-AU" b="1" dirty="0"/>
          </a:p>
        </p:txBody>
      </p:sp>
      <p:sp>
        <p:nvSpPr>
          <p:cNvPr id="5" name="Content Placeholder 4"/>
          <p:cNvSpPr>
            <a:spLocks noGrp="1"/>
          </p:cNvSpPr>
          <p:nvPr>
            <p:ph idx="1"/>
          </p:nvPr>
        </p:nvSpPr>
        <p:spPr/>
        <p:txBody>
          <a:bodyPr>
            <a:normAutofit/>
          </a:bodyPr>
          <a:lstStyle/>
          <a:p>
            <a:r>
              <a:rPr lang="en-AU" sz="3200" b="1" u="sng" dirty="0" smtClean="0"/>
              <a:t>Saturation can also occur. </a:t>
            </a:r>
          </a:p>
          <a:p>
            <a:endParaRPr lang="en-AU" sz="3200" b="1" u="sng" dirty="0"/>
          </a:p>
          <a:p>
            <a:r>
              <a:rPr lang="en-AU" sz="3200" b="1" u="sng" dirty="0" smtClean="0"/>
              <a:t>Once all the receptor molecules are occupied by hormone molecules, the addition of more hormones does not produce any greater effect. </a:t>
            </a:r>
            <a:endParaRPr lang="en-AU" sz="3200" b="1" u="sng" dirty="0"/>
          </a:p>
        </p:txBody>
      </p:sp>
    </p:spTree>
    <p:extLst>
      <p:ext uri="{BB962C8B-B14F-4D97-AF65-F5344CB8AC3E}">
        <p14:creationId xmlns:p14="http://schemas.microsoft.com/office/powerpoint/2010/main" val="32656557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rmone receptor - Wikipedia"/>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544388" y="1099583"/>
            <a:ext cx="4458787" cy="4215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999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b="1" dirty="0" smtClean="0"/>
              <a:t>Continued. </a:t>
            </a:r>
            <a:endParaRPr lang="en-AU" b="1" dirty="0"/>
          </a:p>
        </p:txBody>
      </p:sp>
      <p:sp>
        <p:nvSpPr>
          <p:cNvPr id="5" name="Content Placeholder 4"/>
          <p:cNvSpPr>
            <a:spLocks noGrp="1"/>
          </p:cNvSpPr>
          <p:nvPr>
            <p:ph idx="1"/>
          </p:nvPr>
        </p:nvSpPr>
        <p:spPr/>
        <p:txBody>
          <a:bodyPr>
            <a:normAutofit/>
          </a:bodyPr>
          <a:lstStyle/>
          <a:p>
            <a:r>
              <a:rPr lang="en-AU" sz="3200" b="1" u="sng" dirty="0" smtClean="0"/>
              <a:t>Protein and amine hormones work by attaching to receptor proteins in the membrane of the target cell. </a:t>
            </a:r>
          </a:p>
          <a:p>
            <a:endParaRPr lang="en-AU" sz="3200" b="1" u="sng" dirty="0"/>
          </a:p>
          <a:p>
            <a:r>
              <a:rPr lang="en-AU" sz="3200" b="1" u="sng" dirty="0" smtClean="0"/>
              <a:t>The combination of the hormone with the receptor causes a secondary messenger substance to diffuse through the cell and activate particular enzymes. </a:t>
            </a:r>
            <a:endParaRPr lang="en-AU" sz="3200" b="1" u="sng" dirty="0"/>
          </a:p>
        </p:txBody>
      </p:sp>
    </p:spTree>
    <p:extLst>
      <p:ext uri="{BB962C8B-B14F-4D97-AF65-F5344CB8AC3E}">
        <p14:creationId xmlns:p14="http://schemas.microsoft.com/office/powerpoint/2010/main" val="41002950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b="1" dirty="0" smtClean="0"/>
              <a:t>Continued. </a:t>
            </a:r>
            <a:endParaRPr lang="en-AU" b="1" dirty="0"/>
          </a:p>
        </p:txBody>
      </p:sp>
      <p:sp>
        <p:nvSpPr>
          <p:cNvPr id="5" name="Content Placeholder 4"/>
          <p:cNvSpPr>
            <a:spLocks noGrp="1"/>
          </p:cNvSpPr>
          <p:nvPr>
            <p:ph idx="1"/>
          </p:nvPr>
        </p:nvSpPr>
        <p:spPr/>
        <p:txBody>
          <a:bodyPr>
            <a:noAutofit/>
          </a:bodyPr>
          <a:lstStyle/>
          <a:p>
            <a:r>
              <a:rPr lang="en-AU" sz="3200" b="1" dirty="0" smtClean="0"/>
              <a:t>For example, the hormone insulin binds to a receptor protein and this leads to an increase in glucose absorption by the cell. </a:t>
            </a:r>
          </a:p>
          <a:p>
            <a:endParaRPr lang="en-AU" sz="3200" b="1" dirty="0"/>
          </a:p>
          <a:p>
            <a:r>
              <a:rPr lang="en-AU" sz="3200" b="1" u="sng" dirty="0" smtClean="0"/>
              <a:t>Receptor proteins are specific. </a:t>
            </a:r>
          </a:p>
          <a:p>
            <a:endParaRPr lang="en-AU" sz="3200" b="1" u="sng" dirty="0"/>
          </a:p>
          <a:p>
            <a:r>
              <a:rPr lang="en-AU" sz="3200" b="1" u="sng" dirty="0" smtClean="0"/>
              <a:t>Each type of receptor will bind with only one specific molecule (remember lock and key). </a:t>
            </a:r>
            <a:endParaRPr lang="en-AU" sz="3200" b="1" u="sng" dirty="0"/>
          </a:p>
        </p:txBody>
      </p:sp>
    </p:spTree>
    <p:extLst>
      <p:ext uri="{BB962C8B-B14F-4D97-AF65-F5344CB8AC3E}">
        <p14:creationId xmlns:p14="http://schemas.microsoft.com/office/powerpoint/2010/main" val="1791787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b="1" dirty="0" smtClean="0"/>
              <a:t>Continued. </a:t>
            </a:r>
            <a:endParaRPr lang="en-AU" b="1" dirty="0"/>
          </a:p>
        </p:txBody>
      </p:sp>
      <p:sp>
        <p:nvSpPr>
          <p:cNvPr id="5" name="Content Placeholder 4"/>
          <p:cNvSpPr>
            <a:spLocks noGrp="1"/>
          </p:cNvSpPr>
          <p:nvPr>
            <p:ph idx="1"/>
          </p:nvPr>
        </p:nvSpPr>
        <p:spPr/>
        <p:txBody>
          <a:bodyPr>
            <a:normAutofit/>
          </a:bodyPr>
          <a:lstStyle/>
          <a:p>
            <a:r>
              <a:rPr lang="en-AU" sz="2800" b="1" u="sng" dirty="0" smtClean="0"/>
              <a:t>There are also limited number of receptor proteins in the membrane of each cell, so when each receptor is bound to a molecule there can be no further increase in the rate of the cell’s activity. </a:t>
            </a:r>
          </a:p>
          <a:p>
            <a:endParaRPr lang="en-AU" sz="2800" b="1" dirty="0"/>
          </a:p>
          <a:p>
            <a:r>
              <a:rPr lang="en-AU" sz="2800" b="1" dirty="0" smtClean="0"/>
              <a:t>For example, when each insulin receptor in the cell membrane is bound to insulin, the cell’s rate of glucose uptake cannot increase any further, even if the amount of insulin increases. </a:t>
            </a:r>
            <a:endParaRPr lang="en-AU" sz="2800" b="1" dirty="0"/>
          </a:p>
        </p:txBody>
      </p:sp>
    </p:spTree>
    <p:extLst>
      <p:ext uri="{BB962C8B-B14F-4D97-AF65-F5344CB8AC3E}">
        <p14:creationId xmlns:p14="http://schemas.microsoft.com/office/powerpoint/2010/main" val="18965015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b="1" dirty="0" smtClean="0"/>
              <a:t>Continued. </a:t>
            </a:r>
            <a:endParaRPr lang="en-AU" b="1" dirty="0"/>
          </a:p>
        </p:txBody>
      </p:sp>
      <p:sp>
        <p:nvSpPr>
          <p:cNvPr id="5" name="Content Placeholder 4"/>
          <p:cNvSpPr>
            <a:spLocks noGrp="1"/>
          </p:cNvSpPr>
          <p:nvPr>
            <p:ph idx="1"/>
          </p:nvPr>
        </p:nvSpPr>
        <p:spPr/>
        <p:txBody>
          <a:bodyPr>
            <a:normAutofit/>
          </a:bodyPr>
          <a:lstStyle/>
          <a:p>
            <a:r>
              <a:rPr lang="en-AU" sz="3200" b="1" u="sng" dirty="0" smtClean="0"/>
              <a:t>Different cells have different types and numbers of receptor proteins. </a:t>
            </a:r>
          </a:p>
          <a:p>
            <a:endParaRPr lang="en-AU" sz="3200" b="1" dirty="0"/>
          </a:p>
          <a:p>
            <a:r>
              <a:rPr lang="en-AU" sz="3200" b="1" dirty="0" smtClean="0"/>
              <a:t>This is why there is variation in the sensitivities of cells to hormones </a:t>
            </a:r>
            <a:endParaRPr lang="en-AU" sz="3200" b="1" dirty="0"/>
          </a:p>
        </p:txBody>
      </p:sp>
    </p:spTree>
    <p:extLst>
      <p:ext uri="{BB962C8B-B14F-4D97-AF65-F5344CB8AC3E}">
        <p14:creationId xmlns:p14="http://schemas.microsoft.com/office/powerpoint/2010/main" val="26132887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Continued. </a:t>
            </a:r>
            <a:endParaRPr lang="en-AU" b="1" dirty="0"/>
          </a:p>
        </p:txBody>
      </p:sp>
      <p:sp>
        <p:nvSpPr>
          <p:cNvPr id="3" name="Content Placeholder 2"/>
          <p:cNvSpPr>
            <a:spLocks noGrp="1"/>
          </p:cNvSpPr>
          <p:nvPr>
            <p:ph idx="1"/>
          </p:nvPr>
        </p:nvSpPr>
        <p:spPr/>
        <p:txBody>
          <a:bodyPr>
            <a:noAutofit/>
          </a:bodyPr>
          <a:lstStyle/>
          <a:p>
            <a:r>
              <a:rPr lang="en-AU" sz="3200" b="1" u="sng" dirty="0" smtClean="0"/>
              <a:t>Steroid hormones work by entering target cells and combining with a receptor protein inside the cell. </a:t>
            </a:r>
          </a:p>
          <a:p>
            <a:endParaRPr lang="en-AU" sz="3200" b="1" dirty="0"/>
          </a:p>
          <a:p>
            <a:r>
              <a:rPr lang="en-AU" sz="3200" b="1" dirty="0" smtClean="0"/>
              <a:t>The receptor may be on the mitochondria, on other organelles or in the nucleus. </a:t>
            </a:r>
          </a:p>
          <a:p>
            <a:endParaRPr lang="en-AU" sz="3200" b="1" dirty="0"/>
          </a:p>
          <a:p>
            <a:r>
              <a:rPr lang="en-AU" sz="3200" b="1" u="sng" dirty="0" smtClean="0"/>
              <a:t>The hormone-receptor complex activates the genes controlling the formation of particular proteins.  </a:t>
            </a:r>
            <a:endParaRPr lang="en-AU" sz="3200" b="1" u="sng" dirty="0"/>
          </a:p>
        </p:txBody>
      </p:sp>
    </p:spTree>
    <p:extLst>
      <p:ext uri="{BB962C8B-B14F-4D97-AF65-F5344CB8AC3E}">
        <p14:creationId xmlns:p14="http://schemas.microsoft.com/office/powerpoint/2010/main" val="29038884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eroid Hormones | SBI4U 2013 Resource Gui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0136" y="0"/>
            <a:ext cx="6828699" cy="6733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1300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Continued. </a:t>
            </a:r>
            <a:endParaRPr lang="en-AU" b="1" dirty="0"/>
          </a:p>
        </p:txBody>
      </p:sp>
      <p:sp>
        <p:nvSpPr>
          <p:cNvPr id="3" name="Content Placeholder 2"/>
          <p:cNvSpPr>
            <a:spLocks noGrp="1"/>
          </p:cNvSpPr>
          <p:nvPr>
            <p:ph idx="1"/>
          </p:nvPr>
        </p:nvSpPr>
        <p:spPr/>
        <p:txBody>
          <a:bodyPr>
            <a:normAutofit/>
          </a:bodyPr>
          <a:lstStyle/>
          <a:p>
            <a:r>
              <a:rPr lang="en-AU" sz="3200" b="1" u="sng" dirty="0" smtClean="0"/>
              <a:t>Hormones change the functioning of cells by changing the type, activities or quantities of proteins produced. </a:t>
            </a:r>
          </a:p>
          <a:p>
            <a:endParaRPr lang="en-AU" sz="3200" b="1" dirty="0"/>
          </a:p>
          <a:p>
            <a:r>
              <a:rPr lang="en-AU" sz="3200" b="1" dirty="0" smtClean="0"/>
              <a:t>They are not enzymes, but in many cases hormones exert their influence by changing the activity of enzymes or by changing the concentration of enzymes. </a:t>
            </a:r>
            <a:endParaRPr lang="en-AU" sz="3200" b="1" dirty="0"/>
          </a:p>
        </p:txBody>
      </p:sp>
    </p:spTree>
    <p:extLst>
      <p:ext uri="{BB962C8B-B14F-4D97-AF65-F5344CB8AC3E}">
        <p14:creationId xmlns:p14="http://schemas.microsoft.com/office/powerpoint/2010/main" val="25364469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Continued. </a:t>
            </a:r>
            <a:endParaRPr lang="en-AU" b="1" dirty="0"/>
          </a:p>
        </p:txBody>
      </p:sp>
      <p:sp>
        <p:nvSpPr>
          <p:cNvPr id="3" name="Content Placeholder 2"/>
          <p:cNvSpPr>
            <a:spLocks noGrp="1"/>
          </p:cNvSpPr>
          <p:nvPr>
            <p:ph idx="1"/>
          </p:nvPr>
        </p:nvSpPr>
        <p:spPr/>
        <p:txBody>
          <a:bodyPr>
            <a:normAutofit/>
          </a:bodyPr>
          <a:lstStyle/>
          <a:p>
            <a:r>
              <a:rPr lang="en-AU" sz="3200" b="1" u="sng" dirty="0" smtClean="0"/>
              <a:t>Hormones may: </a:t>
            </a:r>
          </a:p>
          <a:p>
            <a:pPr lvl="1"/>
            <a:r>
              <a:rPr lang="en-AU" sz="2800" b="1" u="sng" dirty="0" smtClean="0"/>
              <a:t>Activate certain genes in the nucleus so that a particular enzyme or structural protein is produced. </a:t>
            </a:r>
          </a:p>
          <a:p>
            <a:pPr lvl="1"/>
            <a:r>
              <a:rPr lang="en-AU" sz="2800" b="1" u="sng" dirty="0" smtClean="0"/>
              <a:t>Change the shape or structure of an enzyme so that it is turned ‘on’ or ‘off’ </a:t>
            </a:r>
          </a:p>
          <a:p>
            <a:pPr lvl="1"/>
            <a:r>
              <a:rPr lang="en-AU" sz="2800" b="1" u="sng" dirty="0" smtClean="0"/>
              <a:t>Change the rate of production of an enzyme or structural protein by changing the rate of transcription or translation during protein production </a:t>
            </a:r>
            <a:endParaRPr lang="en-AU" sz="2800" b="1" u="sng" dirty="0"/>
          </a:p>
        </p:txBody>
      </p:sp>
    </p:spTree>
    <p:extLst>
      <p:ext uri="{BB962C8B-B14F-4D97-AF65-F5344CB8AC3E}">
        <p14:creationId xmlns:p14="http://schemas.microsoft.com/office/powerpoint/2010/main" val="3185003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Hormone secretions </a:t>
            </a:r>
            <a:endParaRPr lang="en-AU" b="1" dirty="0"/>
          </a:p>
        </p:txBody>
      </p:sp>
      <p:sp>
        <p:nvSpPr>
          <p:cNvPr id="3" name="Content Placeholder 2"/>
          <p:cNvSpPr>
            <a:spLocks noGrp="1"/>
          </p:cNvSpPr>
          <p:nvPr>
            <p:ph idx="1"/>
          </p:nvPr>
        </p:nvSpPr>
        <p:spPr/>
        <p:txBody>
          <a:bodyPr>
            <a:normAutofit/>
          </a:bodyPr>
          <a:lstStyle/>
          <a:p>
            <a:endParaRPr lang="en-AU" sz="3200" b="1" u="sng" dirty="0" smtClean="0"/>
          </a:p>
          <a:p>
            <a:endParaRPr lang="en-AU" sz="3200" b="1" u="sng" dirty="0"/>
          </a:p>
          <a:p>
            <a:r>
              <a:rPr lang="en-AU" sz="3200" b="1" u="sng" dirty="0" smtClean="0"/>
              <a:t>Hormone secretions are generally regulated by negative feedback systems </a:t>
            </a:r>
            <a:endParaRPr lang="en-AU" sz="3200" b="1" u="sng" dirty="0"/>
          </a:p>
        </p:txBody>
      </p:sp>
    </p:spTree>
    <p:extLst>
      <p:ext uri="{BB962C8B-B14F-4D97-AF65-F5344CB8AC3E}">
        <p14:creationId xmlns:p14="http://schemas.microsoft.com/office/powerpoint/2010/main" val="18541475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b="1" dirty="0" smtClean="0"/>
              <a:t>Negative feedback </a:t>
            </a:r>
            <a:endParaRPr lang="en-AU" b="1"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40487959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B6FEE20-F381-E747-8097-345EBC102A08}"/>
              </a:ext>
            </a:extLst>
          </p:cNvPr>
          <p:cNvGraphicFramePr>
            <a:graphicFrameLocks noGrp="1"/>
          </p:cNvGraphicFramePr>
          <p:nvPr>
            <p:ph idx="1"/>
            <p:extLst/>
          </p:nvPr>
        </p:nvGraphicFramePr>
        <p:xfrm>
          <a:off x="0" y="135082"/>
          <a:ext cx="12192000" cy="67229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62912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548BC-C079-F84D-AC49-7C2D4401DDA1}"/>
              </a:ext>
            </a:extLst>
          </p:cNvPr>
          <p:cNvSpPr>
            <a:spLocks noGrp="1"/>
          </p:cNvSpPr>
          <p:nvPr>
            <p:ph type="title"/>
          </p:nvPr>
        </p:nvSpPr>
        <p:spPr/>
        <p:txBody>
          <a:bodyPr>
            <a:normAutofit/>
          </a:bodyPr>
          <a:lstStyle/>
          <a:p>
            <a:r>
              <a:rPr lang="en-US" sz="6000" b="1" dirty="0"/>
              <a:t>Negative Feedback Loops </a:t>
            </a:r>
          </a:p>
        </p:txBody>
      </p:sp>
      <p:sp>
        <p:nvSpPr>
          <p:cNvPr id="3" name="Content Placeholder 2">
            <a:extLst>
              <a:ext uri="{FF2B5EF4-FFF2-40B4-BE49-F238E27FC236}">
                <a16:creationId xmlns:a16="http://schemas.microsoft.com/office/drawing/2014/main" id="{DDACC46E-C25F-0D40-BDFA-3300643F5895}"/>
              </a:ext>
            </a:extLst>
          </p:cNvPr>
          <p:cNvSpPr>
            <a:spLocks noGrp="1"/>
          </p:cNvSpPr>
          <p:nvPr>
            <p:ph idx="1"/>
          </p:nvPr>
        </p:nvSpPr>
        <p:spPr/>
        <p:txBody>
          <a:bodyPr>
            <a:normAutofit/>
          </a:bodyPr>
          <a:lstStyle/>
          <a:p>
            <a:r>
              <a:rPr lang="en-US" sz="3200" b="1" u="sng" dirty="0"/>
              <a:t>In homeostatic mechanisms the response has the effect of reducing or eliminating the stimulus that caused it </a:t>
            </a:r>
          </a:p>
          <a:p>
            <a:endParaRPr lang="en-US" sz="3200" b="1" dirty="0"/>
          </a:p>
          <a:p>
            <a:r>
              <a:rPr lang="en-US" sz="3200" b="1" dirty="0"/>
              <a:t>E.g. Let’s suppose you feel cold. In response to the stimulus of feeling cold you put on a jumper and no longer feel cold. Your response has reduced or eliminated the original stimulus of feeling cold. </a:t>
            </a:r>
          </a:p>
        </p:txBody>
      </p:sp>
    </p:spTree>
    <p:extLst>
      <p:ext uri="{BB962C8B-B14F-4D97-AF65-F5344CB8AC3E}">
        <p14:creationId xmlns:p14="http://schemas.microsoft.com/office/powerpoint/2010/main" val="3198959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meostasis - SJC Year 12 Biology">
            <a:extLst>
              <a:ext uri="{FF2B5EF4-FFF2-40B4-BE49-F238E27FC236}">
                <a16:creationId xmlns:a16="http://schemas.microsoft.com/office/drawing/2014/main" id="{C2669BA7-A69A-CD46-81B1-E8D9FCC0C32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7200" y="933831"/>
            <a:ext cx="11277600" cy="4990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0086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egative Feedback Loop Homeostasis | Human body systems, Endocrine system,  Anatomy and physiology"/>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088571" y="0"/>
            <a:ext cx="8813075" cy="6609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47184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Review Questions </a:t>
            </a:r>
            <a:endParaRPr lang="en-AU" b="1" dirty="0"/>
          </a:p>
        </p:txBody>
      </p:sp>
      <p:sp>
        <p:nvSpPr>
          <p:cNvPr id="3" name="Content Placeholder 2"/>
          <p:cNvSpPr>
            <a:spLocks noGrp="1"/>
          </p:cNvSpPr>
          <p:nvPr>
            <p:ph idx="1"/>
          </p:nvPr>
        </p:nvSpPr>
        <p:spPr/>
        <p:txBody>
          <a:bodyPr/>
          <a:lstStyle/>
          <a:p>
            <a:r>
              <a:rPr lang="en-AU" sz="2800" b="1" dirty="0"/>
              <a:t>How are the endocrine and nervous systems similar? </a:t>
            </a:r>
            <a:endParaRPr lang="en-AU" sz="2800" b="1" dirty="0" smtClean="0"/>
          </a:p>
          <a:p>
            <a:r>
              <a:rPr lang="en-AU" sz="2800" b="1" dirty="0" smtClean="0"/>
              <a:t>How </a:t>
            </a:r>
            <a:r>
              <a:rPr lang="en-AU" sz="2800" b="1" dirty="0"/>
              <a:t>are </a:t>
            </a:r>
            <a:r>
              <a:rPr lang="en-AU" sz="2800" b="1" dirty="0" smtClean="0"/>
              <a:t>the endocrine and nervous systems </a:t>
            </a:r>
            <a:r>
              <a:rPr lang="en-AU" sz="2800" b="1" dirty="0"/>
              <a:t>different?</a:t>
            </a:r>
          </a:p>
          <a:p>
            <a:r>
              <a:rPr lang="en-AU" sz="2800" b="1" dirty="0"/>
              <a:t>What are hormones</a:t>
            </a:r>
            <a:r>
              <a:rPr lang="en-AU" sz="2800" b="1" dirty="0" smtClean="0"/>
              <a:t>? Use an example in your response. </a:t>
            </a:r>
            <a:endParaRPr lang="en-AU" sz="2800" b="1" dirty="0"/>
          </a:p>
          <a:p>
            <a:r>
              <a:rPr lang="en-AU" sz="2800" b="1" dirty="0"/>
              <a:t>What are the organs of the endocrine system?</a:t>
            </a:r>
          </a:p>
          <a:p>
            <a:endParaRPr lang="en-AU" dirty="0"/>
          </a:p>
        </p:txBody>
      </p:sp>
    </p:spTree>
    <p:extLst>
      <p:ext uri="{BB962C8B-B14F-4D97-AF65-F5344CB8AC3E}">
        <p14:creationId xmlns:p14="http://schemas.microsoft.com/office/powerpoint/2010/main" val="170290382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183</TotalTime>
  <Words>1660</Words>
  <Application>Microsoft Office PowerPoint</Application>
  <PresentationFormat>Widescreen</PresentationFormat>
  <Paragraphs>201</Paragraphs>
  <Slides>51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Bradley Hand ITC</vt:lpstr>
      <vt:lpstr>Calibri</vt:lpstr>
      <vt:lpstr>Calibri Light</vt:lpstr>
      <vt:lpstr>Retrospect</vt:lpstr>
      <vt:lpstr>Endocrine System</vt:lpstr>
      <vt:lpstr>PowerPoint Presentation</vt:lpstr>
      <vt:lpstr>From the curriculum </vt:lpstr>
      <vt:lpstr>What is the Endocrine System?</vt:lpstr>
      <vt:lpstr>Continued. </vt:lpstr>
      <vt:lpstr>Continued. </vt:lpstr>
      <vt:lpstr>What does it do?</vt:lpstr>
      <vt:lpstr>Endocrine glands </vt:lpstr>
      <vt:lpstr>PowerPoint Presentation</vt:lpstr>
      <vt:lpstr>Exocrine glands  </vt:lpstr>
      <vt:lpstr>PowerPoint Presentation</vt:lpstr>
      <vt:lpstr>Endocrine glands </vt:lpstr>
      <vt:lpstr>Organs of the Endocrine System- Endocrine glands  </vt:lpstr>
      <vt:lpstr>Hypothalamus and Pituitary Gland </vt:lpstr>
      <vt:lpstr>Continued</vt:lpstr>
      <vt:lpstr>Continued. </vt:lpstr>
      <vt:lpstr>PowerPoint Presentation</vt:lpstr>
      <vt:lpstr>Adrenal glands </vt:lpstr>
      <vt:lpstr>PowerPoint Presentation</vt:lpstr>
      <vt:lpstr>Continued. </vt:lpstr>
      <vt:lpstr>Pancreas </vt:lpstr>
      <vt:lpstr>PowerPoint Presentation</vt:lpstr>
      <vt:lpstr>Pancreas </vt:lpstr>
      <vt:lpstr>Thyroid gland  </vt:lpstr>
      <vt:lpstr>PowerPoint Presentation</vt:lpstr>
      <vt:lpstr>Pineal gland </vt:lpstr>
      <vt:lpstr>PowerPoint Presentation</vt:lpstr>
      <vt:lpstr>Parathyroid gland </vt:lpstr>
      <vt:lpstr>PowerPoint Presentation</vt:lpstr>
      <vt:lpstr>Placenta </vt:lpstr>
      <vt:lpstr>Hormones </vt:lpstr>
      <vt:lpstr>Continued. </vt:lpstr>
      <vt:lpstr>Continued. </vt:lpstr>
      <vt:lpstr>Continued. </vt:lpstr>
      <vt:lpstr>Continued. </vt:lpstr>
      <vt:lpstr>PowerPoint Presentation</vt:lpstr>
      <vt:lpstr>Continued. </vt:lpstr>
      <vt:lpstr>Continued. </vt:lpstr>
      <vt:lpstr>Continued. </vt:lpstr>
      <vt:lpstr>Continued. </vt:lpstr>
      <vt:lpstr>Continued. </vt:lpstr>
      <vt:lpstr>PowerPoint Presentation</vt:lpstr>
      <vt:lpstr>Continued. </vt:lpstr>
      <vt:lpstr>Continued. </vt:lpstr>
      <vt:lpstr>Hormone secretions </vt:lpstr>
      <vt:lpstr>Negative feedback </vt:lpstr>
      <vt:lpstr>PowerPoint Presentation</vt:lpstr>
      <vt:lpstr>Negative Feedback Loops </vt:lpstr>
      <vt:lpstr>PowerPoint Presentation</vt:lpstr>
      <vt:lpstr>PowerPoint Presentation</vt:lpstr>
      <vt:lpstr>Review Questions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Endocrine System</dc:title>
  <dc:creator>DOOMEN Lisa [Gilmore College]</dc:creator>
  <cp:lastModifiedBy>DOOMEN Lisa [Gilmore College]</cp:lastModifiedBy>
  <cp:revision>23</cp:revision>
  <dcterms:created xsi:type="dcterms:W3CDTF">2021-05-19T23:16:29Z</dcterms:created>
  <dcterms:modified xsi:type="dcterms:W3CDTF">2022-03-02T03:51:57Z</dcterms:modified>
</cp:coreProperties>
</file>
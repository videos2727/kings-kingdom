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95" r:id="rId23"/>
    <p:sldId id="277" r:id="rId24"/>
    <p:sldId id="296" r:id="rId25"/>
    <p:sldId id="278" r:id="rId26"/>
    <p:sldId id="279" r:id="rId27"/>
    <p:sldId id="297" r:id="rId28"/>
    <p:sldId id="280" r:id="rId29"/>
    <p:sldId id="281" r:id="rId30"/>
    <p:sldId id="282" r:id="rId31"/>
    <p:sldId id="283" r:id="rId32"/>
    <p:sldId id="284" r:id="rId33"/>
    <p:sldId id="285" r:id="rId34"/>
    <p:sldId id="298" r:id="rId35"/>
    <p:sldId id="287" r:id="rId36"/>
    <p:sldId id="288" r:id="rId37"/>
    <p:sldId id="289" r:id="rId38"/>
    <p:sldId id="290" r:id="rId3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1/22/2023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1/22/2023</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50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50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50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4pPr>
      <a:lvl5pPr marL="21145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50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microsoft.com/office/2007/relationships/hdphoto" Target="../media/hdphoto8.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07/relationships/hdphoto" Target="../media/hdphoto9.wdp"/><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The Skeletal System </a:t>
            </a:r>
          </a:p>
        </p:txBody>
      </p:sp>
      <p:sp>
        <p:nvSpPr>
          <p:cNvPr id="3" name="Subtitle 2"/>
          <p:cNvSpPr>
            <a:spLocks noGrp="1"/>
          </p:cNvSpPr>
          <p:nvPr>
            <p:ph type="subTitle" idx="1"/>
          </p:nvPr>
        </p:nvSpPr>
        <p:spPr/>
        <p:txBody>
          <a:bodyPr/>
          <a:lstStyle/>
          <a:p>
            <a:r>
              <a:rPr lang="en-AU" dirty="0"/>
              <a:t>Unit 3- Coordination </a:t>
            </a:r>
          </a:p>
        </p:txBody>
      </p:sp>
    </p:spTree>
    <p:extLst>
      <p:ext uri="{BB962C8B-B14F-4D97-AF65-F5344CB8AC3E}">
        <p14:creationId xmlns:p14="http://schemas.microsoft.com/office/powerpoint/2010/main" val="31135109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800" b="1" dirty="0"/>
              <a:t>Welcome back! </a:t>
            </a:r>
          </a:p>
        </p:txBody>
      </p:sp>
      <p:sp>
        <p:nvSpPr>
          <p:cNvPr id="4" name="Content Placeholder 2"/>
          <p:cNvSpPr>
            <a:spLocks noGrp="1"/>
          </p:cNvSpPr>
          <p:nvPr>
            <p:ph idx="1"/>
          </p:nvPr>
        </p:nvSpPr>
        <p:spPr>
          <a:xfrm>
            <a:off x="806132" y="1489167"/>
            <a:ext cx="9678988" cy="4562324"/>
          </a:xfrm>
        </p:spPr>
        <p:txBody>
          <a:bodyPr>
            <a:noAutofit/>
          </a:bodyPr>
          <a:lstStyle/>
          <a:p>
            <a:pPr>
              <a:lnSpc>
                <a:spcPct val="150000"/>
              </a:lnSpc>
            </a:pPr>
            <a:r>
              <a:rPr lang="en-AU" sz="2400" b="1" dirty="0">
                <a:solidFill>
                  <a:schemeClr val="bg1"/>
                </a:solidFill>
              </a:rPr>
              <a:t>Hope you had a great holidays </a:t>
            </a:r>
          </a:p>
          <a:p>
            <a:pPr>
              <a:lnSpc>
                <a:spcPct val="150000"/>
              </a:lnSpc>
            </a:pPr>
            <a:r>
              <a:rPr lang="en-AU" sz="2400" b="1" dirty="0">
                <a:solidFill>
                  <a:schemeClr val="bg1"/>
                </a:solidFill>
              </a:rPr>
              <a:t>Everything will be put on Connect as we go</a:t>
            </a:r>
          </a:p>
          <a:p>
            <a:pPr>
              <a:lnSpc>
                <a:spcPct val="150000"/>
              </a:lnSpc>
            </a:pPr>
            <a:r>
              <a:rPr lang="en-AU" sz="2400" b="1" dirty="0">
                <a:solidFill>
                  <a:schemeClr val="bg1"/>
                </a:solidFill>
              </a:rPr>
              <a:t>EST this year </a:t>
            </a:r>
          </a:p>
          <a:p>
            <a:pPr>
              <a:lnSpc>
                <a:spcPct val="150000"/>
              </a:lnSpc>
            </a:pPr>
            <a:r>
              <a:rPr lang="en-AU" sz="2400" b="1" dirty="0">
                <a:solidFill>
                  <a:schemeClr val="bg1"/>
                </a:solidFill>
              </a:rPr>
              <a:t>Only 8 assessments including the EST though? </a:t>
            </a:r>
          </a:p>
        </p:txBody>
      </p:sp>
    </p:spTree>
    <p:extLst>
      <p:ext uri="{BB962C8B-B14F-4D97-AF65-F5344CB8AC3E}">
        <p14:creationId xmlns:p14="http://schemas.microsoft.com/office/powerpoint/2010/main" val="1529715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400" b="1" dirty="0"/>
              <a:t>From the curriculum </a:t>
            </a:r>
          </a:p>
        </p:txBody>
      </p:sp>
      <p:graphicFrame>
        <p:nvGraphicFramePr>
          <p:cNvPr id="4" name="Table 3"/>
          <p:cNvGraphicFramePr>
            <a:graphicFrameLocks noGrp="1"/>
          </p:cNvGraphicFramePr>
          <p:nvPr>
            <p:extLst>
              <p:ext uri="{D42A27DB-BD31-4B8C-83A1-F6EECF244321}">
                <p14:modId xmlns:p14="http://schemas.microsoft.com/office/powerpoint/2010/main" val="3642780633"/>
              </p:ext>
            </p:extLst>
          </p:nvPr>
        </p:nvGraphicFramePr>
        <p:xfrm>
          <a:off x="684212" y="1770742"/>
          <a:ext cx="10697892" cy="4926149"/>
        </p:xfrm>
        <a:graphic>
          <a:graphicData uri="http://schemas.openxmlformats.org/drawingml/2006/table">
            <a:tbl>
              <a:tblPr firstRow="1" firstCol="1" bandRow="1">
                <a:tableStyleId>{5C22544A-7EE6-4342-B048-85BDC9FD1C3A}</a:tableStyleId>
              </a:tblPr>
              <a:tblGrid>
                <a:gridCol w="2906832">
                  <a:extLst>
                    <a:ext uri="{9D8B030D-6E8A-4147-A177-3AD203B41FA5}">
                      <a16:colId xmlns:a16="http://schemas.microsoft.com/office/drawing/2014/main" val="3696456535"/>
                    </a:ext>
                  </a:extLst>
                </a:gridCol>
                <a:gridCol w="2975972">
                  <a:extLst>
                    <a:ext uri="{9D8B030D-6E8A-4147-A177-3AD203B41FA5}">
                      <a16:colId xmlns:a16="http://schemas.microsoft.com/office/drawing/2014/main" val="3300931991"/>
                    </a:ext>
                  </a:extLst>
                </a:gridCol>
                <a:gridCol w="2975972">
                  <a:extLst>
                    <a:ext uri="{9D8B030D-6E8A-4147-A177-3AD203B41FA5}">
                      <a16:colId xmlns:a16="http://schemas.microsoft.com/office/drawing/2014/main" val="2802846773"/>
                    </a:ext>
                  </a:extLst>
                </a:gridCol>
                <a:gridCol w="1839116">
                  <a:extLst>
                    <a:ext uri="{9D8B030D-6E8A-4147-A177-3AD203B41FA5}">
                      <a16:colId xmlns:a16="http://schemas.microsoft.com/office/drawing/2014/main" val="2717533569"/>
                    </a:ext>
                  </a:extLst>
                </a:gridCol>
              </a:tblGrid>
              <a:tr h="1743930">
                <a:tc rowSpan="2">
                  <a:txBody>
                    <a:bodyPr/>
                    <a:lstStyle/>
                    <a:p>
                      <a:pPr marL="228600" indent="-228600">
                        <a:lnSpc>
                          <a:spcPct val="115000"/>
                        </a:lnSpc>
                        <a:spcBef>
                          <a:spcPts val="600"/>
                        </a:spcBef>
                        <a:spcAft>
                          <a:spcPts val="600"/>
                        </a:spcAft>
                      </a:pPr>
                      <a:r>
                        <a:rPr lang="en-AU" sz="1400" b="1" dirty="0">
                          <a:solidFill>
                            <a:sysClr val="windowText" lastClr="000000"/>
                          </a:solidFill>
                          <a:effectLst/>
                        </a:rPr>
                        <a:t>Skeletal system</a:t>
                      </a:r>
                    </a:p>
                    <a:p>
                      <a:pPr marL="342900" lvl="0" indent="-342900">
                        <a:lnSpc>
                          <a:spcPct val="115000"/>
                        </a:lnSpc>
                        <a:spcBef>
                          <a:spcPts val="600"/>
                        </a:spcBef>
                        <a:spcAft>
                          <a:spcPts val="600"/>
                        </a:spcAft>
                        <a:buFont typeface="Calibri" panose="020F0502020204030204" pitchFamily="34" charset="0"/>
                        <a:buChar char="-"/>
                      </a:pPr>
                      <a:r>
                        <a:rPr lang="en-AU" sz="1400" b="1" dirty="0">
                          <a:solidFill>
                            <a:sysClr val="windowText" lastClr="000000"/>
                          </a:solidFill>
                          <a:effectLst/>
                        </a:rPr>
                        <a:t>the support and movement of the body is facilitated by the structure and function of the bones and joints in the skeletal system</a:t>
                      </a:r>
                    </a:p>
                    <a:p>
                      <a:pPr marL="342900" lvl="0" indent="-342900">
                        <a:lnSpc>
                          <a:spcPct val="115000"/>
                        </a:lnSpc>
                        <a:spcBef>
                          <a:spcPts val="600"/>
                        </a:spcBef>
                        <a:spcAft>
                          <a:spcPts val="600"/>
                        </a:spcAft>
                        <a:buFont typeface="Calibri" panose="020F0502020204030204" pitchFamily="34" charset="0"/>
                        <a:buChar char="-"/>
                      </a:pPr>
                      <a:r>
                        <a:rPr lang="en-AU" sz="1400" b="1" dirty="0">
                          <a:solidFill>
                            <a:sysClr val="windowText" lastClr="000000"/>
                          </a:solidFill>
                          <a:effectLst/>
                        </a:rPr>
                        <a:t>the location and structure of joints in the skeleton allow for a range of movement</a:t>
                      </a:r>
                    </a:p>
                    <a:p>
                      <a:pPr marL="342900" lvl="0" indent="-342900">
                        <a:lnSpc>
                          <a:spcPct val="115000"/>
                        </a:lnSpc>
                        <a:spcBef>
                          <a:spcPts val="600"/>
                        </a:spcBef>
                        <a:spcAft>
                          <a:spcPts val="600"/>
                        </a:spcAft>
                        <a:buFont typeface="Calibri" panose="020F0502020204030204" pitchFamily="34" charset="0"/>
                        <a:buChar char="-"/>
                      </a:pPr>
                      <a:r>
                        <a:rPr lang="en-AU" sz="1400" b="1" dirty="0">
                          <a:solidFill>
                            <a:sysClr val="windowText" lastClr="000000"/>
                          </a:solidFill>
                          <a:effectLst/>
                        </a:rPr>
                        <a:t>the structure and development of long bones provide for strength, growth and repair    </a:t>
                      </a:r>
                    </a:p>
                    <a:p>
                      <a:pPr marL="270510" indent="-228600">
                        <a:lnSpc>
                          <a:spcPct val="115000"/>
                        </a:lnSpc>
                        <a:spcBef>
                          <a:spcPts val="600"/>
                        </a:spcBef>
                        <a:spcAft>
                          <a:spcPts val="600"/>
                        </a:spcAft>
                      </a:pPr>
                      <a:r>
                        <a:rPr lang="en-AU" sz="1400" b="1" dirty="0">
                          <a:solidFill>
                            <a:sysClr val="windowText" lastClr="000000"/>
                          </a:solidFill>
                          <a:effectLst/>
                        </a:rPr>
                        <a:t> </a:t>
                      </a:r>
                      <a:endParaRPr lang="en-AU" sz="1400" b="1" dirty="0">
                        <a:solidFill>
                          <a:sysClr val="windowText" lastClr="000000"/>
                        </a:solidFill>
                        <a:effectLst/>
                        <a:latin typeface="Calibri" panose="020F0502020204030204" pitchFamily="34" charset="0"/>
                        <a:ea typeface="Calibri" panose="020F0502020204030204" pitchFamily="34" charset="0"/>
                        <a:cs typeface="Arial" panose="020B0604020202020204" pitchFamily="34" charset="0"/>
                      </a:endParaRPr>
                    </a:p>
                  </a:txBody>
                  <a:tcPr marL="63777" marR="63777"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nSpc>
                          <a:spcPct val="115000"/>
                        </a:lnSpc>
                        <a:spcAft>
                          <a:spcPts val="0"/>
                        </a:spcAft>
                      </a:pPr>
                      <a:r>
                        <a:rPr lang="en-AU" sz="1400" b="1">
                          <a:solidFill>
                            <a:sysClr val="windowText" lastClr="000000"/>
                          </a:solidFill>
                          <a:effectLst/>
                        </a:rPr>
                        <a:t>1</a:t>
                      </a:r>
                      <a:endParaRPr lang="en-AU" sz="1400" b="1">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777" marR="63777"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function of the skeleton </a:t>
                      </a:r>
                    </a:p>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structure of the bone </a:t>
                      </a:r>
                    </a:p>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bones and joints in the skeletal system </a:t>
                      </a:r>
                    </a:p>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structure and types of joints </a:t>
                      </a:r>
                    </a:p>
                    <a:p>
                      <a:pPr marL="205105">
                        <a:lnSpc>
                          <a:spcPct val="115000"/>
                        </a:lnSpc>
                        <a:spcAft>
                          <a:spcPts val="0"/>
                        </a:spcAft>
                      </a:pPr>
                      <a:r>
                        <a:rPr lang="en-AU" sz="1400" b="1">
                          <a:solidFill>
                            <a:sysClr val="windowText" lastClr="000000"/>
                          </a:solidFill>
                          <a:effectLst/>
                        </a:rPr>
                        <a:t> </a:t>
                      </a:r>
                      <a:endParaRPr lang="en-AU" sz="1400" b="1">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777" marR="63777"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nSpc>
                          <a:spcPct val="115000"/>
                        </a:lnSpc>
                        <a:spcAft>
                          <a:spcPts val="0"/>
                        </a:spcAft>
                      </a:pPr>
                      <a:r>
                        <a:rPr lang="en-AU" sz="1400" b="1">
                          <a:solidFill>
                            <a:sysClr val="windowText" lastClr="000000"/>
                          </a:solidFill>
                          <a:effectLst/>
                        </a:rPr>
                        <a:t> </a:t>
                      </a:r>
                      <a:endParaRPr lang="en-AU" sz="1400" b="1">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777" marR="63777"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2953863229"/>
                  </a:ext>
                </a:extLst>
              </a:tr>
              <a:tr h="3182219">
                <a:tc vMerge="1">
                  <a:txBody>
                    <a:bodyPr/>
                    <a:lstStyle/>
                    <a:p>
                      <a:endParaRPr lang="en-AU"/>
                    </a:p>
                  </a:txBody>
                  <a:tcPr/>
                </a:tc>
                <a:tc>
                  <a:txBody>
                    <a:bodyPr/>
                    <a:lstStyle/>
                    <a:p>
                      <a:pPr>
                        <a:lnSpc>
                          <a:spcPct val="115000"/>
                        </a:lnSpc>
                        <a:spcAft>
                          <a:spcPts val="0"/>
                        </a:spcAft>
                      </a:pPr>
                      <a:r>
                        <a:rPr lang="en-AU" sz="1400" b="1" dirty="0">
                          <a:solidFill>
                            <a:sysClr val="windowText" lastClr="000000"/>
                          </a:solidFill>
                          <a:effectLst/>
                        </a:rPr>
                        <a:t>2</a:t>
                      </a:r>
                      <a:endParaRPr lang="en-AU" sz="1400" b="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777" marR="63777"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movement at a joint </a:t>
                      </a:r>
                    </a:p>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structure of long bones </a:t>
                      </a:r>
                    </a:p>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development of long bones </a:t>
                      </a:r>
                    </a:p>
                    <a:p>
                      <a:pPr marL="342900" lvl="0" indent="-342900">
                        <a:lnSpc>
                          <a:spcPct val="115000"/>
                        </a:lnSpc>
                        <a:spcAft>
                          <a:spcPts val="0"/>
                        </a:spcAft>
                        <a:buFont typeface="Calibri" panose="020F0502020204030204" pitchFamily="34" charset="0"/>
                        <a:buChar char="-"/>
                      </a:pPr>
                      <a:r>
                        <a:rPr lang="en-AU" sz="1400" b="1">
                          <a:solidFill>
                            <a:sysClr val="windowText" lastClr="000000"/>
                          </a:solidFill>
                          <a:effectLst/>
                        </a:rPr>
                        <a:t>how long bones provide for strength, growth and repair </a:t>
                      </a:r>
                      <a:endParaRPr lang="en-AU" sz="1400" b="1">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777" marR="63777"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pPr>
                        <a:lnSpc>
                          <a:spcPct val="115000"/>
                        </a:lnSpc>
                        <a:spcAft>
                          <a:spcPts val="0"/>
                        </a:spcAft>
                      </a:pPr>
                      <a:r>
                        <a:rPr lang="en-AU" sz="1400" b="1" dirty="0">
                          <a:solidFill>
                            <a:sysClr val="windowText" lastClr="000000"/>
                          </a:solidFill>
                          <a:effectLst/>
                        </a:rPr>
                        <a:t> </a:t>
                      </a:r>
                      <a:endParaRPr lang="en-AU" sz="1400" b="1" dirty="0">
                        <a:solidFill>
                          <a:sysClr val="windowText" lastClr="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3777" marR="63777" marT="0" marB="0">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3649011665"/>
                  </a:ext>
                </a:extLst>
              </a:tr>
            </a:tbl>
          </a:graphicData>
        </a:graphic>
      </p:graphicFrame>
    </p:spTree>
    <p:extLst>
      <p:ext uri="{BB962C8B-B14F-4D97-AF65-F5344CB8AC3E}">
        <p14:creationId xmlns:p14="http://schemas.microsoft.com/office/powerpoint/2010/main" val="2645079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400" b="1" dirty="0"/>
              <a:t>Overview of the skeleton </a:t>
            </a:r>
          </a:p>
        </p:txBody>
      </p:sp>
      <p:sp>
        <p:nvSpPr>
          <p:cNvPr id="4" name="Content Placeholder 2"/>
          <p:cNvSpPr>
            <a:spLocks noGrp="1"/>
          </p:cNvSpPr>
          <p:nvPr>
            <p:ph idx="1"/>
          </p:nvPr>
        </p:nvSpPr>
        <p:spPr>
          <a:xfrm>
            <a:off x="518749" y="2009503"/>
            <a:ext cx="8534400" cy="3615267"/>
          </a:xfrm>
        </p:spPr>
        <p:txBody>
          <a:bodyPr>
            <a:normAutofit/>
          </a:bodyPr>
          <a:lstStyle/>
          <a:p>
            <a:r>
              <a:rPr lang="en-AU" sz="2800" b="1" u="sng" dirty="0">
                <a:solidFill>
                  <a:schemeClr val="bg1"/>
                </a:solidFill>
              </a:rPr>
              <a:t>Skeleton gives shape and form to the body and prevents the soft tissues from collapsing in a heap</a:t>
            </a:r>
            <a:r>
              <a:rPr lang="en-AU" sz="2800" b="1" dirty="0">
                <a:solidFill>
                  <a:schemeClr val="bg1"/>
                </a:solidFill>
              </a:rPr>
              <a:t>. </a:t>
            </a:r>
          </a:p>
          <a:p>
            <a:r>
              <a:rPr lang="en-AU" sz="2800" b="1" u="sng" dirty="0">
                <a:solidFill>
                  <a:schemeClr val="bg1"/>
                </a:solidFill>
              </a:rPr>
              <a:t>Muscles attached to the bones are able to move them or hold them steady </a:t>
            </a:r>
            <a:r>
              <a:rPr lang="en-AU" sz="2800" b="1" dirty="0">
                <a:solidFill>
                  <a:schemeClr val="bg1"/>
                </a:solidFill>
              </a:rPr>
              <a:t>enabling us to stand erect, walk, run, jump and perform complicated movements. </a:t>
            </a:r>
          </a:p>
        </p:txBody>
      </p:sp>
      <p:pic>
        <p:nvPicPr>
          <p:cNvPr id="2050" name="Picture 2" descr="Skeleton,anatomy,female,endoskeleton,skelet - free image from needpix.co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3149" y="1324338"/>
            <a:ext cx="2919733" cy="5154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813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8418" y="0"/>
            <a:ext cx="8534400" cy="1112279"/>
          </a:xfrm>
        </p:spPr>
        <p:txBody>
          <a:bodyPr>
            <a:normAutofit/>
          </a:bodyPr>
          <a:lstStyle/>
          <a:p>
            <a:r>
              <a:rPr lang="en-AU" sz="4400" b="1" dirty="0"/>
              <a:t>Functions of the skeleton </a:t>
            </a:r>
          </a:p>
        </p:txBody>
      </p:sp>
      <p:sp>
        <p:nvSpPr>
          <p:cNvPr id="4" name="Content Placeholder 2"/>
          <p:cNvSpPr>
            <a:spLocks noGrp="1"/>
          </p:cNvSpPr>
          <p:nvPr>
            <p:ph idx="1"/>
          </p:nvPr>
        </p:nvSpPr>
        <p:spPr>
          <a:xfrm>
            <a:off x="113211" y="992776"/>
            <a:ext cx="9501052" cy="5556069"/>
          </a:xfrm>
        </p:spPr>
        <p:txBody>
          <a:bodyPr>
            <a:normAutofit lnSpcReduction="10000"/>
          </a:bodyPr>
          <a:lstStyle/>
          <a:p>
            <a:r>
              <a:rPr lang="en-AU" sz="2800" b="1" dirty="0">
                <a:solidFill>
                  <a:schemeClr val="bg1"/>
                </a:solidFill>
              </a:rPr>
              <a:t>The skeleton provides a firm framework that gives shape to the body and supports its parts. </a:t>
            </a:r>
          </a:p>
          <a:p>
            <a:r>
              <a:rPr lang="en-AU" sz="2800" b="1" u="sng" dirty="0">
                <a:solidFill>
                  <a:schemeClr val="bg1"/>
                </a:solidFill>
              </a:rPr>
              <a:t>The bones that makeup the skeletal system also provide points of attachment for most of the muscles of the body</a:t>
            </a:r>
            <a:r>
              <a:rPr lang="en-AU" sz="2800" b="1" dirty="0">
                <a:solidFill>
                  <a:schemeClr val="bg1"/>
                </a:solidFill>
              </a:rPr>
              <a:t>. </a:t>
            </a:r>
          </a:p>
          <a:p>
            <a:r>
              <a:rPr lang="en-AU" sz="2800" b="1" u="sng" dirty="0">
                <a:solidFill>
                  <a:schemeClr val="bg1"/>
                </a:solidFill>
              </a:rPr>
              <a:t>When muscles contract, they allow movement to take place</a:t>
            </a:r>
            <a:r>
              <a:rPr lang="en-AU" sz="2800" b="1" dirty="0">
                <a:solidFill>
                  <a:schemeClr val="bg1"/>
                </a:solidFill>
              </a:rPr>
              <a:t>. </a:t>
            </a:r>
            <a:r>
              <a:rPr lang="en-AU" sz="2800" b="1" u="sng" dirty="0">
                <a:solidFill>
                  <a:schemeClr val="bg1"/>
                </a:solidFill>
              </a:rPr>
              <a:t>Where bones meet in such a way that they are able to move relative to one another, they are said to articulate</a:t>
            </a:r>
            <a:r>
              <a:rPr lang="en-AU" sz="2800" b="1" dirty="0">
                <a:solidFill>
                  <a:schemeClr val="bg1"/>
                </a:solidFill>
              </a:rPr>
              <a:t>. Articulation allows varying degrees of movement depending on the bones involved, so the skeleton determines the extent of movement of body parts. </a:t>
            </a:r>
          </a:p>
          <a:p>
            <a:endParaRPr lang="en-AU" dirty="0">
              <a:solidFill>
                <a:schemeClr val="bg1"/>
              </a:solidFill>
            </a:endParaRPr>
          </a:p>
        </p:txBody>
      </p:sp>
      <p:pic>
        <p:nvPicPr>
          <p:cNvPr id="3076" name="Picture 4" descr="Running Skeleton transparent PNG - StickPNG | Human skeleton, Skeleton  anatomy, Skelet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02527" y="1463040"/>
            <a:ext cx="2442165" cy="43224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13583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266200" y="1506584"/>
            <a:ext cx="8534400" cy="5085804"/>
          </a:xfrm>
        </p:spPr>
        <p:txBody>
          <a:bodyPr>
            <a:normAutofit/>
          </a:bodyPr>
          <a:lstStyle/>
          <a:p>
            <a:r>
              <a:rPr lang="en-AU" sz="2800" b="1" u="sng" dirty="0">
                <a:solidFill>
                  <a:schemeClr val="bg1"/>
                </a:solidFill>
              </a:rPr>
              <a:t>Another important function of the skeletal system is the protection of vital organs. </a:t>
            </a:r>
          </a:p>
          <a:p>
            <a:r>
              <a:rPr lang="en-AU" sz="2800" b="1" u="sng" dirty="0">
                <a:solidFill>
                  <a:schemeClr val="bg1"/>
                </a:solidFill>
              </a:rPr>
              <a:t>For example, brain the is encased within the skull</a:t>
            </a:r>
            <a:r>
              <a:rPr lang="en-AU" sz="2800" b="1" dirty="0">
                <a:solidFill>
                  <a:schemeClr val="bg1"/>
                </a:solidFill>
              </a:rPr>
              <a:t>, the spinal cord is contained within the spinal canal formed by the vertebrae, the heart and lungs are protected by the rib cage, and the pelvis protects the internal reproductive organs and bladder. </a:t>
            </a:r>
          </a:p>
        </p:txBody>
      </p:sp>
      <p:pic>
        <p:nvPicPr>
          <p:cNvPr id="4100" name="Picture 4" descr="Free Rib Cage Transparent, Download Free Clip Art, Free Clip Art on Clipart  Library"/>
          <p:cNvPicPr>
            <a:picLocks noChangeAspect="1" noChangeArrowheads="1"/>
          </p:cNvPicPr>
          <p:nvPr/>
        </p:nvPicPr>
        <p:blipFill rotWithShape="1">
          <a:blip r:embed="rId2">
            <a:extLst>
              <a:ext uri="{BEBA8EAE-BF5A-486C-A8C5-ECC9F3942E4B}">
                <a14:imgProps xmlns:a14="http://schemas.microsoft.com/office/drawing/2010/main">
                  <a14:imgLayer r:embed="rId3">
                    <a14:imgEffect>
                      <a14:backgroundRemoval t="9799" b="98995" l="5078" r="89844"/>
                    </a14:imgEffect>
                  </a14:imgLayer>
                </a14:imgProps>
              </a:ext>
              <a:ext uri="{28A0092B-C50C-407E-A947-70E740481C1C}">
                <a14:useLocalDpi xmlns:a14="http://schemas.microsoft.com/office/drawing/2010/main" val="0"/>
              </a:ext>
            </a:extLst>
          </a:blip>
          <a:srcRect l="30197" r="27857" b="37462"/>
          <a:stretch/>
        </p:blipFill>
        <p:spPr bwMode="auto">
          <a:xfrm>
            <a:off x="8917576" y="1234923"/>
            <a:ext cx="3179900" cy="36854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4571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a:t>
            </a:r>
            <a:r>
              <a:rPr lang="en-AU" sz="4000" dirty="0"/>
              <a:t> </a:t>
            </a:r>
          </a:p>
        </p:txBody>
      </p:sp>
      <p:sp>
        <p:nvSpPr>
          <p:cNvPr id="4" name="Content Placeholder 2"/>
          <p:cNvSpPr>
            <a:spLocks noGrp="1"/>
          </p:cNvSpPr>
          <p:nvPr>
            <p:ph idx="1"/>
          </p:nvPr>
        </p:nvSpPr>
        <p:spPr>
          <a:xfrm>
            <a:off x="318452" y="1515291"/>
            <a:ext cx="8534400" cy="5085805"/>
          </a:xfrm>
        </p:spPr>
        <p:txBody>
          <a:bodyPr>
            <a:normAutofit/>
          </a:bodyPr>
          <a:lstStyle/>
          <a:p>
            <a:r>
              <a:rPr lang="en-AU" sz="2800" b="1" u="sng" dirty="0">
                <a:solidFill>
                  <a:schemeClr val="bg1"/>
                </a:solidFill>
              </a:rPr>
              <a:t>The bones of the skeleton act as storage organs for mineral salts and fat. </a:t>
            </a:r>
          </a:p>
          <a:p>
            <a:r>
              <a:rPr lang="en-AU" sz="2800" b="1" u="sng" dirty="0">
                <a:solidFill>
                  <a:schemeClr val="bg1"/>
                </a:solidFill>
              </a:rPr>
              <a:t>Calcium, phosphorus, sodium and potassium are the main minerals stored within bone.</a:t>
            </a:r>
          </a:p>
          <a:p>
            <a:r>
              <a:rPr lang="en-AU" sz="2800" b="1" u="sng" dirty="0">
                <a:solidFill>
                  <a:schemeClr val="bg1"/>
                </a:solidFill>
              </a:rPr>
              <a:t>These can be distributed to other regions of the body by the circulatory system when required. </a:t>
            </a:r>
          </a:p>
          <a:p>
            <a:r>
              <a:rPr lang="en-AU" sz="2800" b="1" dirty="0">
                <a:solidFill>
                  <a:schemeClr val="bg1"/>
                </a:solidFill>
              </a:rPr>
              <a:t>For example, if a pregnant woman’s diet does not contain enough calcium, it can be removed from her skeleton and used for the growth of bones in the developing foetus. </a:t>
            </a:r>
          </a:p>
        </p:txBody>
      </p:sp>
      <p:pic>
        <p:nvPicPr>
          <p:cNvPr id="5124" name="Picture 4" descr="Human Embryo Fetus PNG Images &amp; PSDs for Download | PixelSquid - S112630860"/>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rot="1040099">
            <a:off x="7841005" y="1693326"/>
            <a:ext cx="5354607" cy="53546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9499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a:t>
            </a:r>
          </a:p>
        </p:txBody>
      </p:sp>
      <p:sp>
        <p:nvSpPr>
          <p:cNvPr id="4" name="Content Placeholder 2"/>
          <p:cNvSpPr>
            <a:spLocks noGrp="1"/>
          </p:cNvSpPr>
          <p:nvPr>
            <p:ph idx="1"/>
          </p:nvPr>
        </p:nvSpPr>
        <p:spPr>
          <a:xfrm>
            <a:off x="187567" y="1335741"/>
            <a:ext cx="8534400" cy="5289176"/>
          </a:xfrm>
        </p:spPr>
        <p:txBody>
          <a:bodyPr>
            <a:normAutofit/>
          </a:bodyPr>
          <a:lstStyle/>
          <a:p>
            <a:r>
              <a:rPr lang="en-AU" sz="2800" b="1" dirty="0">
                <a:solidFill>
                  <a:schemeClr val="bg1"/>
                </a:solidFill>
              </a:rPr>
              <a:t>Finally, </a:t>
            </a:r>
            <a:r>
              <a:rPr lang="en-AU" sz="2800" b="1" u="sng" dirty="0">
                <a:solidFill>
                  <a:schemeClr val="bg1"/>
                </a:solidFill>
              </a:rPr>
              <a:t>the skeleton has a role in blood cell production. </a:t>
            </a:r>
          </a:p>
          <a:p>
            <a:r>
              <a:rPr lang="en-AU" sz="2800" b="1" dirty="0">
                <a:solidFill>
                  <a:schemeClr val="bg1"/>
                </a:solidFill>
              </a:rPr>
              <a:t>The red marrow contains certain bones contains stem cells that can differentiate into blood cells. </a:t>
            </a:r>
          </a:p>
          <a:p>
            <a:r>
              <a:rPr lang="en-AU" sz="2800" b="1" dirty="0">
                <a:solidFill>
                  <a:schemeClr val="bg1"/>
                </a:solidFill>
              </a:rPr>
              <a:t>Factors in cells’ environment determines whether they become red cells, white cells or platelets. </a:t>
            </a:r>
          </a:p>
        </p:txBody>
      </p:sp>
      <p:pic>
        <p:nvPicPr>
          <p:cNvPr id="6148" name="Picture 4" descr="Love Background Heart png download - 1251*1928 - Free Transparent Red Blood  Cell png Download. - CleanPNG / KissPNG"/>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2714" b="90000" l="10000" r="95222"/>
                    </a14:imgEffect>
                  </a14:imgLayer>
                </a14:imgProps>
              </a:ext>
              <a:ext uri="{28A0092B-C50C-407E-A947-70E740481C1C}">
                <a14:useLocalDpi xmlns:a14="http://schemas.microsoft.com/office/drawing/2010/main" val="0"/>
              </a:ext>
            </a:extLst>
          </a:blip>
          <a:srcRect/>
          <a:stretch>
            <a:fillRect/>
          </a:stretch>
        </p:blipFill>
        <p:spPr bwMode="auto">
          <a:xfrm>
            <a:off x="8721967" y="1439091"/>
            <a:ext cx="3267306" cy="5082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7978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Structure Of bone </a:t>
            </a:r>
          </a:p>
        </p:txBody>
      </p:sp>
      <p:sp>
        <p:nvSpPr>
          <p:cNvPr id="4" name="Content Placeholder 2"/>
          <p:cNvSpPr>
            <a:spLocks noGrp="1"/>
          </p:cNvSpPr>
          <p:nvPr>
            <p:ph idx="1"/>
          </p:nvPr>
        </p:nvSpPr>
        <p:spPr>
          <a:xfrm>
            <a:off x="318452" y="1976845"/>
            <a:ext cx="7188337" cy="4328160"/>
          </a:xfrm>
        </p:spPr>
        <p:txBody>
          <a:bodyPr anchor="t">
            <a:normAutofit/>
          </a:bodyPr>
          <a:lstStyle/>
          <a:p>
            <a:r>
              <a:rPr lang="en-AU" sz="2800" b="1" u="sng" dirty="0">
                <a:solidFill>
                  <a:schemeClr val="bg1"/>
                </a:solidFill>
              </a:rPr>
              <a:t>Bones are actually living organs containing living cells and are capable of growth and repair. </a:t>
            </a:r>
          </a:p>
          <a:p>
            <a:endParaRPr lang="en-AU" sz="2800" b="1" dirty="0"/>
          </a:p>
        </p:txBody>
      </p:sp>
      <p:pic>
        <p:nvPicPr>
          <p:cNvPr id="7176" name="Picture 8" descr="Bone Png Pic Background - Real Human Humerus Bone - free transparent png  images - pngaaa.com"/>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568" b="95068" l="5000" r="96778"/>
                    </a14:imgEffect>
                  </a14:imgLayer>
                </a14:imgProps>
              </a:ext>
              <a:ext uri="{28A0092B-C50C-407E-A947-70E740481C1C}">
                <a14:useLocalDpi xmlns:a14="http://schemas.microsoft.com/office/drawing/2010/main" val="0"/>
              </a:ext>
            </a:extLst>
          </a:blip>
          <a:srcRect/>
          <a:stretch>
            <a:fillRect/>
          </a:stretch>
        </p:blipFill>
        <p:spPr bwMode="auto">
          <a:xfrm rot="20325095">
            <a:off x="6704423" y="991777"/>
            <a:ext cx="5014011" cy="53092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48252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28288" t="17688" r="25671" b="24667"/>
          <a:stretch/>
        </p:blipFill>
        <p:spPr>
          <a:xfrm>
            <a:off x="4367814" y="962047"/>
            <a:ext cx="7745808" cy="5454973"/>
          </a:xfrm>
          <a:prstGeom prst="rect">
            <a:avLst/>
          </a:prstGeom>
        </p:spPr>
      </p:pic>
      <p:sp>
        <p:nvSpPr>
          <p:cNvPr id="6" name="TextBox 5"/>
          <p:cNvSpPr txBox="1"/>
          <p:nvPr/>
        </p:nvSpPr>
        <p:spPr>
          <a:xfrm>
            <a:off x="209005" y="239743"/>
            <a:ext cx="4087787" cy="6109365"/>
          </a:xfrm>
          <a:prstGeom prst="rect">
            <a:avLst/>
          </a:prstGeom>
          <a:noFill/>
        </p:spPr>
        <p:txBody>
          <a:bodyPr wrap="square" rtlCol="0">
            <a:spAutoFit/>
          </a:bodyPr>
          <a:lstStyle/>
          <a:p>
            <a:r>
              <a:rPr lang="en-AU" sz="2300" b="1" dirty="0">
                <a:solidFill>
                  <a:schemeClr val="bg1"/>
                </a:solidFill>
              </a:rPr>
              <a:t>Shows a typical long bone, such as the upper arm bone. </a:t>
            </a:r>
          </a:p>
          <a:p>
            <a:endParaRPr lang="en-AU" sz="2300" b="1" dirty="0">
              <a:solidFill>
                <a:schemeClr val="bg1"/>
              </a:solidFill>
            </a:endParaRPr>
          </a:p>
          <a:p>
            <a:r>
              <a:rPr lang="en-AU" sz="2300" b="1" u="sng" dirty="0">
                <a:solidFill>
                  <a:schemeClr val="bg1"/>
                </a:solidFill>
              </a:rPr>
              <a:t>A long bone consists of:</a:t>
            </a:r>
          </a:p>
          <a:p>
            <a:r>
              <a:rPr lang="en-AU" sz="2300" b="1" u="sng" dirty="0">
                <a:solidFill>
                  <a:schemeClr val="bg1"/>
                </a:solidFill>
              </a:rPr>
              <a:t> </a:t>
            </a:r>
          </a:p>
          <a:p>
            <a:pPr marL="342900" indent="-342900">
              <a:buFontTx/>
              <a:buChar char="-"/>
            </a:pPr>
            <a:r>
              <a:rPr lang="en-AU" sz="2300" b="1" u="sng" dirty="0">
                <a:solidFill>
                  <a:schemeClr val="bg1"/>
                </a:solidFill>
              </a:rPr>
              <a:t>A shaft, called the diaphysis, making up the main portion of the bone </a:t>
            </a:r>
          </a:p>
          <a:p>
            <a:endParaRPr lang="en-AU" sz="2300" b="1" dirty="0">
              <a:solidFill>
                <a:schemeClr val="bg1"/>
              </a:solidFill>
            </a:endParaRPr>
          </a:p>
          <a:p>
            <a:pPr marL="342900" indent="-342900">
              <a:buFontTx/>
              <a:buChar char="-"/>
            </a:pPr>
            <a:r>
              <a:rPr lang="en-AU" sz="2300" b="1" u="sng" dirty="0">
                <a:solidFill>
                  <a:schemeClr val="bg1"/>
                </a:solidFill>
              </a:rPr>
              <a:t>the ends, or epiphyses (singular, epiphysis), which are the enlarged ends of the bone; a thin layer of cartilage, the articular cartilage, covers each epiphysis. </a:t>
            </a:r>
          </a:p>
        </p:txBody>
      </p:sp>
    </p:spTree>
    <p:extLst>
      <p:ext uri="{BB962C8B-B14F-4D97-AF65-F5344CB8AC3E}">
        <p14:creationId xmlns:p14="http://schemas.microsoft.com/office/powerpoint/2010/main" val="42904413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4143" y="124338"/>
            <a:ext cx="8534400" cy="1260325"/>
          </a:xfrm>
        </p:spPr>
        <p:txBody>
          <a:bodyPr>
            <a:normAutofit/>
          </a:bodyPr>
          <a:lstStyle/>
          <a:p>
            <a:r>
              <a:rPr lang="en-AU" sz="4000" b="1" dirty="0"/>
              <a:t>Continued </a:t>
            </a:r>
          </a:p>
        </p:txBody>
      </p:sp>
      <p:sp>
        <p:nvSpPr>
          <p:cNvPr id="4" name="Content Placeholder 2"/>
          <p:cNvSpPr>
            <a:spLocks noGrp="1"/>
          </p:cNvSpPr>
          <p:nvPr>
            <p:ph idx="1"/>
          </p:nvPr>
        </p:nvSpPr>
        <p:spPr>
          <a:xfrm>
            <a:off x="301034" y="2203269"/>
            <a:ext cx="6613571" cy="2159725"/>
          </a:xfrm>
        </p:spPr>
        <p:txBody>
          <a:bodyPr anchor="t">
            <a:noAutofit/>
          </a:bodyPr>
          <a:lstStyle/>
          <a:p>
            <a:r>
              <a:rPr lang="en-AU" sz="2800" b="1" dirty="0">
                <a:solidFill>
                  <a:schemeClr val="bg1"/>
                </a:solidFill>
              </a:rPr>
              <a:t>When the bone is cut lengthwise, the </a:t>
            </a:r>
            <a:r>
              <a:rPr lang="en-AU" sz="2800" b="1" u="sng" dirty="0">
                <a:solidFill>
                  <a:schemeClr val="bg1"/>
                </a:solidFill>
              </a:rPr>
              <a:t>diaphysis</a:t>
            </a:r>
            <a:r>
              <a:rPr lang="en-AU" sz="2800" b="1" dirty="0">
                <a:solidFill>
                  <a:schemeClr val="bg1"/>
                </a:solidFill>
              </a:rPr>
              <a:t> is seen to be a hollow cylinder of compact surrounding a cavity. </a:t>
            </a:r>
          </a:p>
          <a:p>
            <a:r>
              <a:rPr lang="en-AU" sz="2800" b="1" u="sng" dirty="0">
                <a:solidFill>
                  <a:schemeClr val="bg1"/>
                </a:solidFill>
              </a:rPr>
              <a:t>This cavity is used as a fat storage site </a:t>
            </a:r>
            <a:r>
              <a:rPr lang="en-AU" sz="2800" b="1" dirty="0">
                <a:solidFill>
                  <a:schemeClr val="bg1"/>
                </a:solidFill>
              </a:rPr>
              <a:t>and is often called the yellow bone marrow cavity.</a:t>
            </a:r>
          </a:p>
        </p:txBody>
      </p:sp>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28288" t="17688" r="25671" b="24667"/>
          <a:stretch/>
        </p:blipFill>
        <p:spPr>
          <a:xfrm>
            <a:off x="7027817" y="1700589"/>
            <a:ext cx="5024845" cy="3538739"/>
          </a:xfrm>
          <a:prstGeom prst="rect">
            <a:avLst/>
          </a:prstGeom>
        </p:spPr>
      </p:pic>
    </p:spTree>
    <p:extLst>
      <p:ext uri="{BB962C8B-B14F-4D97-AF65-F5344CB8AC3E}">
        <p14:creationId xmlns:p14="http://schemas.microsoft.com/office/powerpoint/2010/main" val="5853394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875" y="0"/>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144281" y="1312817"/>
            <a:ext cx="7284130" cy="5323114"/>
          </a:xfrm>
        </p:spPr>
        <p:txBody>
          <a:bodyPr>
            <a:normAutofit lnSpcReduction="10000"/>
          </a:bodyPr>
          <a:lstStyle/>
          <a:p>
            <a:r>
              <a:rPr lang="en-AU" sz="2400" b="1" u="sng" dirty="0">
                <a:solidFill>
                  <a:schemeClr val="bg1"/>
                </a:solidFill>
              </a:rPr>
              <a:t>The epiphyses have compact bone on the outside but their central regions contain spongy or cancellous bone</a:t>
            </a:r>
            <a:r>
              <a:rPr lang="en-AU" sz="2400" b="1" dirty="0">
                <a:solidFill>
                  <a:schemeClr val="bg1"/>
                </a:solidFill>
              </a:rPr>
              <a:t>. </a:t>
            </a:r>
          </a:p>
          <a:p>
            <a:r>
              <a:rPr lang="en-AU" sz="2400" b="1" dirty="0">
                <a:solidFill>
                  <a:schemeClr val="bg1"/>
                </a:solidFill>
              </a:rPr>
              <a:t>Cancellous bone is more porous than compact bone, and contains many large spaces filled with marrow. </a:t>
            </a:r>
          </a:p>
          <a:p>
            <a:r>
              <a:rPr lang="en-AU" sz="2400" b="1" dirty="0">
                <a:solidFill>
                  <a:schemeClr val="bg1"/>
                </a:solidFill>
              </a:rPr>
              <a:t>In certain bones this may be red bone marrow, where blood cell production takes place. </a:t>
            </a:r>
          </a:p>
          <a:p>
            <a:r>
              <a:rPr lang="en-AU" sz="2400" b="1" u="sng" dirty="0">
                <a:solidFill>
                  <a:schemeClr val="bg1"/>
                </a:solidFill>
              </a:rPr>
              <a:t>On the outer surface of the bone is a dense, white, fibrous covering, the periosteum. There is no periosteum at the joints where the bone is covered with an articular cartilage</a:t>
            </a:r>
            <a:r>
              <a:rPr lang="en-AU" sz="2400" b="1" dirty="0">
                <a:solidFill>
                  <a:schemeClr val="bg1"/>
                </a:solidFill>
              </a:rPr>
              <a:t>. </a:t>
            </a:r>
          </a:p>
          <a:p>
            <a:endParaRPr lang="en-AU" dirty="0"/>
          </a:p>
        </p:txBody>
      </p:sp>
      <p:pic>
        <p:nvPicPr>
          <p:cNvPr id="5" name="Picture 4"/>
          <p:cNvPicPr>
            <a:picLocks noChangeAspect="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Lst>
          </a:blip>
          <a:srcRect l="28288" t="17688" r="25671" b="24667"/>
          <a:stretch/>
        </p:blipFill>
        <p:spPr>
          <a:xfrm>
            <a:off x="6967446" y="435635"/>
            <a:ext cx="5024845" cy="3538739"/>
          </a:xfrm>
          <a:prstGeom prst="rect">
            <a:avLst/>
          </a:prstGeom>
        </p:spPr>
      </p:pic>
    </p:spTree>
    <p:extLst>
      <p:ext uri="{BB962C8B-B14F-4D97-AF65-F5344CB8AC3E}">
        <p14:creationId xmlns:p14="http://schemas.microsoft.com/office/powerpoint/2010/main" val="1104502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1886" y="263675"/>
            <a:ext cx="8948646" cy="1507067"/>
          </a:xfrm>
        </p:spPr>
        <p:txBody>
          <a:bodyPr>
            <a:normAutofit/>
          </a:bodyPr>
          <a:lstStyle/>
          <a:p>
            <a:r>
              <a:rPr lang="en-AU" sz="4000" b="1" dirty="0"/>
              <a:t>Microscopic structure of bone </a:t>
            </a:r>
          </a:p>
        </p:txBody>
      </p:sp>
      <p:sp>
        <p:nvSpPr>
          <p:cNvPr id="4" name="Content Placeholder 2"/>
          <p:cNvSpPr>
            <a:spLocks noGrp="1"/>
          </p:cNvSpPr>
          <p:nvPr>
            <p:ph idx="1"/>
          </p:nvPr>
        </p:nvSpPr>
        <p:spPr>
          <a:xfrm>
            <a:off x="121921" y="1965961"/>
            <a:ext cx="8534400" cy="3615267"/>
          </a:xfrm>
        </p:spPr>
        <p:txBody>
          <a:bodyPr>
            <a:noAutofit/>
          </a:bodyPr>
          <a:lstStyle/>
          <a:p>
            <a:r>
              <a:rPr lang="en-AU" sz="2800" b="1" u="sng" dirty="0">
                <a:solidFill>
                  <a:schemeClr val="bg1"/>
                </a:solidFill>
              </a:rPr>
              <a:t>Bone is classified as a connective tissue. </a:t>
            </a:r>
          </a:p>
          <a:p>
            <a:r>
              <a:rPr lang="en-AU" sz="2800" b="1" u="sng" dirty="0">
                <a:solidFill>
                  <a:schemeClr val="bg1"/>
                </a:solidFill>
              </a:rPr>
              <a:t>Connective tissues consist of cells separated from each other by large amounts of non-cellular material called matrix. </a:t>
            </a:r>
          </a:p>
          <a:p>
            <a:r>
              <a:rPr lang="en-AU" sz="2800" b="1" dirty="0">
                <a:solidFill>
                  <a:schemeClr val="bg1"/>
                </a:solidFill>
              </a:rPr>
              <a:t>In bone, </a:t>
            </a:r>
            <a:r>
              <a:rPr lang="en-AU" sz="2800" b="1" u="sng" dirty="0">
                <a:solidFill>
                  <a:schemeClr val="bg1"/>
                </a:solidFill>
              </a:rPr>
              <a:t>inorganic salts are deposited in the matrix. </a:t>
            </a:r>
          </a:p>
          <a:p>
            <a:r>
              <a:rPr lang="en-AU" sz="2800" b="1" dirty="0">
                <a:solidFill>
                  <a:schemeClr val="bg1"/>
                </a:solidFill>
              </a:rPr>
              <a:t>These </a:t>
            </a:r>
            <a:r>
              <a:rPr lang="en-AU" sz="2800" b="1" u="sng" dirty="0">
                <a:solidFill>
                  <a:schemeClr val="bg1"/>
                </a:solidFill>
              </a:rPr>
              <a:t>increase its rigidity and strength and make it the hardest of the connective tissues. </a:t>
            </a:r>
          </a:p>
        </p:txBody>
      </p:sp>
      <p:pic>
        <p:nvPicPr>
          <p:cNvPr id="1026" name="Picture 2" descr="Connective Tissue Png &amp; Free Connective Tissue.png Transparent Images  #76682 - PNGio"/>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9881" b="89921" l="4808" r="89973"/>
                    </a14:imgEffect>
                  </a14:imgLayer>
                </a14:imgProps>
              </a:ext>
              <a:ext uri="{28A0092B-C50C-407E-A947-70E740481C1C}">
                <a14:useLocalDpi xmlns:a14="http://schemas.microsoft.com/office/drawing/2010/main" val="0"/>
              </a:ext>
            </a:extLst>
          </a:blip>
          <a:srcRect/>
          <a:stretch>
            <a:fillRect/>
          </a:stretch>
        </p:blipFill>
        <p:spPr bwMode="auto">
          <a:xfrm>
            <a:off x="7698560" y="2577736"/>
            <a:ext cx="4987152" cy="3466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58932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327161" y="1367246"/>
            <a:ext cx="7371216" cy="5181600"/>
          </a:xfrm>
        </p:spPr>
        <p:txBody>
          <a:bodyPr>
            <a:noAutofit/>
          </a:bodyPr>
          <a:lstStyle/>
          <a:p>
            <a:r>
              <a:rPr lang="en-AU" sz="2800" b="1" dirty="0">
                <a:solidFill>
                  <a:schemeClr val="bg1"/>
                </a:solidFill>
              </a:rPr>
              <a:t>When thin slices of bone are examined under a microscope, it can be seen to have a very complex structure. </a:t>
            </a:r>
          </a:p>
          <a:p>
            <a:r>
              <a:rPr lang="en-AU" sz="2800" b="1" u="sng" dirty="0">
                <a:solidFill>
                  <a:schemeClr val="bg1"/>
                </a:solidFill>
              </a:rPr>
              <a:t>Compact bone consists of many similar units called osteons or Haversian systems. </a:t>
            </a:r>
          </a:p>
          <a:p>
            <a:r>
              <a:rPr lang="en-AU" sz="2800" b="1" dirty="0">
                <a:solidFill>
                  <a:schemeClr val="bg1"/>
                </a:solidFill>
              </a:rPr>
              <a:t>At the </a:t>
            </a:r>
            <a:r>
              <a:rPr lang="en-AU" sz="2800" b="1" u="sng" dirty="0">
                <a:solidFill>
                  <a:schemeClr val="bg1"/>
                </a:solidFill>
              </a:rPr>
              <a:t>centre of each osteon is a central canal</a:t>
            </a:r>
            <a:r>
              <a:rPr lang="en-AU" sz="2800" b="1" dirty="0">
                <a:solidFill>
                  <a:schemeClr val="bg1"/>
                </a:solidFill>
              </a:rPr>
              <a:t> (or Haversian canal), around which are </a:t>
            </a:r>
            <a:r>
              <a:rPr lang="en-AU" sz="2800" b="1" u="sng" dirty="0">
                <a:solidFill>
                  <a:schemeClr val="bg1"/>
                </a:solidFill>
              </a:rPr>
              <a:t>concentric layers of bony matrix called lamellae. </a:t>
            </a:r>
          </a:p>
        </p:txBody>
      </p:sp>
      <p:pic>
        <p:nvPicPr>
          <p:cNvPr id="2050" name="Picture 2" descr="Structure of Bones | Biology for Majors II"/>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62067" y="2778034"/>
            <a:ext cx="4467225" cy="3952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0791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6498" y="0"/>
            <a:ext cx="8534400" cy="1114697"/>
          </a:xfrm>
        </p:spPr>
        <p:txBody>
          <a:bodyPr/>
          <a:lstStyle/>
          <a:p>
            <a:r>
              <a:rPr lang="en-AU" sz="4000" b="1" dirty="0"/>
              <a:t>Continued</a:t>
            </a:r>
            <a:r>
              <a:rPr lang="en-AU" dirty="0"/>
              <a:t> </a:t>
            </a:r>
          </a:p>
        </p:txBody>
      </p:sp>
      <p:sp>
        <p:nvSpPr>
          <p:cNvPr id="4" name="Content Placeholder 2"/>
          <p:cNvSpPr>
            <a:spLocks noGrp="1"/>
          </p:cNvSpPr>
          <p:nvPr>
            <p:ph idx="1"/>
          </p:nvPr>
        </p:nvSpPr>
        <p:spPr>
          <a:xfrm>
            <a:off x="187823" y="2070463"/>
            <a:ext cx="8534400" cy="3615267"/>
          </a:xfrm>
        </p:spPr>
        <p:txBody>
          <a:bodyPr>
            <a:noAutofit/>
          </a:bodyPr>
          <a:lstStyle/>
          <a:p>
            <a:r>
              <a:rPr lang="en-AU" sz="2800" b="1" dirty="0">
                <a:solidFill>
                  <a:schemeClr val="bg1"/>
                </a:solidFill>
              </a:rPr>
              <a:t>Between the lamellae are small spaces in the matrix, the lacunae. </a:t>
            </a:r>
          </a:p>
          <a:p>
            <a:r>
              <a:rPr lang="en-AU" sz="2800" b="1" dirty="0">
                <a:solidFill>
                  <a:schemeClr val="bg1"/>
                </a:solidFill>
              </a:rPr>
              <a:t>A bone cell occupies each lacuna. </a:t>
            </a:r>
          </a:p>
          <a:p>
            <a:r>
              <a:rPr lang="en-AU" sz="2800" b="1" dirty="0">
                <a:solidFill>
                  <a:schemeClr val="bg1"/>
                </a:solidFill>
              </a:rPr>
              <a:t>Tiny canals, known as canaliculi, run between the lacunae. </a:t>
            </a:r>
          </a:p>
          <a:p>
            <a:r>
              <a:rPr lang="en-AU" sz="2800" b="1" u="sng" dirty="0">
                <a:solidFill>
                  <a:schemeClr val="bg1"/>
                </a:solidFill>
              </a:rPr>
              <a:t>Projections from the bone cells enter the canaliculi (tiny canals) and make contact with adjacent bone cells. </a:t>
            </a:r>
          </a:p>
          <a:p>
            <a:r>
              <a:rPr lang="en-AU" sz="2800" b="1" u="sng" dirty="0">
                <a:solidFill>
                  <a:schemeClr val="bg1"/>
                </a:solidFill>
              </a:rPr>
              <a:t>In this way, materials can be passed from cell to cell. </a:t>
            </a:r>
          </a:p>
        </p:txBody>
      </p:sp>
      <p:pic>
        <p:nvPicPr>
          <p:cNvPr id="1026" name="Picture 2" descr="Best A&amp;P Bone Unit 4 Flashcards | Quizlet"/>
          <p:cNvPicPr>
            <a:picLocks noChangeAspect="1" noChangeArrowheads="1"/>
          </p:cNvPicPr>
          <p:nvPr/>
        </p:nvPicPr>
        <p:blipFill rotWithShape="1">
          <a:blip r:embed="rId2">
            <a:extLst>
              <a:ext uri="{28A0092B-C50C-407E-A947-70E740481C1C}">
                <a14:useLocalDpi xmlns:a14="http://schemas.microsoft.com/office/drawing/2010/main" val="0"/>
              </a:ext>
            </a:extLst>
          </a:blip>
          <a:srcRect t="20777"/>
          <a:stretch/>
        </p:blipFill>
        <p:spPr bwMode="auto">
          <a:xfrm>
            <a:off x="8413321" y="52095"/>
            <a:ext cx="3715451" cy="21252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833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What is the difference between canaliculi and lamellae in anatomy? - Quor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512" y="148817"/>
            <a:ext cx="9702528" cy="6495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05182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335869" y="1905000"/>
            <a:ext cx="8534400" cy="3615267"/>
          </a:xfrm>
        </p:spPr>
        <p:txBody>
          <a:bodyPr>
            <a:normAutofit/>
          </a:bodyPr>
          <a:lstStyle/>
          <a:p>
            <a:r>
              <a:rPr lang="en-AU" sz="2800" b="1" u="sng" dirty="0">
                <a:solidFill>
                  <a:schemeClr val="bg1"/>
                </a:solidFill>
              </a:rPr>
              <a:t>Bone grows as an individual passes through infancy and adolescence to adulthood. </a:t>
            </a:r>
          </a:p>
          <a:p>
            <a:r>
              <a:rPr lang="en-AU" sz="2800" b="1" u="sng" dirty="0">
                <a:solidFill>
                  <a:schemeClr val="bg1"/>
                </a:solidFill>
              </a:rPr>
              <a:t>In an adult, the bones of the skeletal system are capable of repair and continue their functions of blood cell formation an storage. </a:t>
            </a:r>
          </a:p>
        </p:txBody>
      </p:sp>
      <p:pic>
        <p:nvPicPr>
          <p:cNvPr id="1028" name="Picture 4" descr="Human Bone Png - Human Bones Background Png , Free Transparent Clipart -  ClipartKey"/>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313" b="98750" l="9766" r="94141"/>
                    </a14:imgEffect>
                  </a14:imgLayer>
                </a14:imgProps>
              </a:ext>
              <a:ext uri="{28A0092B-C50C-407E-A947-70E740481C1C}">
                <a14:useLocalDpi xmlns:a14="http://schemas.microsoft.com/office/drawing/2010/main" val="0"/>
              </a:ext>
            </a:extLst>
          </a:blip>
          <a:srcRect/>
          <a:stretch>
            <a:fillRect/>
          </a:stretch>
        </p:blipFill>
        <p:spPr bwMode="auto">
          <a:xfrm>
            <a:off x="8870269" y="263675"/>
            <a:ext cx="2799914" cy="34998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71968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Cartilage</a:t>
            </a:r>
          </a:p>
        </p:txBody>
      </p:sp>
      <p:sp>
        <p:nvSpPr>
          <p:cNvPr id="4" name="Content Placeholder 2"/>
          <p:cNvSpPr>
            <a:spLocks noGrp="1"/>
          </p:cNvSpPr>
          <p:nvPr>
            <p:ph idx="1"/>
          </p:nvPr>
        </p:nvSpPr>
        <p:spPr>
          <a:xfrm>
            <a:off x="118155" y="1565366"/>
            <a:ext cx="7954691" cy="4643845"/>
          </a:xfrm>
        </p:spPr>
        <p:txBody>
          <a:bodyPr>
            <a:normAutofit/>
          </a:bodyPr>
          <a:lstStyle/>
          <a:p>
            <a:r>
              <a:rPr lang="en-AU" sz="2800" b="1" u="sng" dirty="0">
                <a:solidFill>
                  <a:schemeClr val="bg1"/>
                </a:solidFill>
              </a:rPr>
              <a:t>Cartilage is a connective tissue. </a:t>
            </a:r>
          </a:p>
          <a:p>
            <a:r>
              <a:rPr lang="en-AU" sz="2800" b="1" u="sng" dirty="0">
                <a:solidFill>
                  <a:schemeClr val="bg1"/>
                </a:solidFill>
              </a:rPr>
              <a:t>Contains fibres made up of a protein called collagen. </a:t>
            </a:r>
          </a:p>
          <a:p>
            <a:r>
              <a:rPr lang="en-AU" sz="2800" b="1" u="sng" dirty="0">
                <a:solidFill>
                  <a:schemeClr val="bg1"/>
                </a:solidFill>
              </a:rPr>
              <a:t>The protein fibres are embedded in a matrix for structural support. </a:t>
            </a:r>
          </a:p>
          <a:p>
            <a:r>
              <a:rPr lang="en-AU" sz="2800" b="1" u="sng" dirty="0">
                <a:solidFill>
                  <a:schemeClr val="bg1"/>
                </a:solidFill>
              </a:rPr>
              <a:t>It is found on the surface of bones at the joints and in the trachea, bronchi, and forms the nose, larynx and outer ear. </a:t>
            </a:r>
          </a:p>
        </p:txBody>
      </p:sp>
      <p:pic>
        <p:nvPicPr>
          <p:cNvPr id="2050" name="Picture 2" descr="Cartilage png images | Klipartz"/>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imgEffect>
                  </a14:imgLayer>
                </a14:imgProps>
              </a:ext>
              <a:ext uri="{28A0092B-C50C-407E-A947-70E740481C1C}">
                <a14:useLocalDpi xmlns:a14="http://schemas.microsoft.com/office/drawing/2010/main" val="0"/>
              </a:ext>
            </a:extLst>
          </a:blip>
          <a:srcRect/>
          <a:stretch>
            <a:fillRect/>
          </a:stretch>
        </p:blipFill>
        <p:spPr bwMode="auto">
          <a:xfrm>
            <a:off x="7130461" y="825454"/>
            <a:ext cx="4930911" cy="49309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4689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171" y="263675"/>
            <a:ext cx="11129555" cy="1507067"/>
          </a:xfrm>
        </p:spPr>
        <p:txBody>
          <a:bodyPr>
            <a:normAutofit/>
          </a:bodyPr>
          <a:lstStyle/>
          <a:p>
            <a:r>
              <a:rPr lang="en-AU" sz="4000" b="1" dirty="0"/>
              <a:t>Microscopic structure of cartilage </a:t>
            </a:r>
          </a:p>
        </p:txBody>
      </p:sp>
      <p:sp>
        <p:nvSpPr>
          <p:cNvPr id="4" name="Content Placeholder 2"/>
          <p:cNvSpPr>
            <a:spLocks noGrp="1"/>
          </p:cNvSpPr>
          <p:nvPr>
            <p:ph idx="1"/>
          </p:nvPr>
        </p:nvSpPr>
        <p:spPr>
          <a:xfrm>
            <a:off x="301034" y="2070463"/>
            <a:ext cx="7919857" cy="4600303"/>
          </a:xfrm>
        </p:spPr>
        <p:txBody>
          <a:bodyPr>
            <a:normAutofit/>
          </a:bodyPr>
          <a:lstStyle/>
          <a:p>
            <a:r>
              <a:rPr lang="en-AU" sz="2800" b="1" u="sng" dirty="0">
                <a:solidFill>
                  <a:schemeClr val="bg1"/>
                </a:solidFill>
              </a:rPr>
              <a:t>Within the matrix are spaces that contain cartilage cells. </a:t>
            </a:r>
          </a:p>
          <a:p>
            <a:r>
              <a:rPr lang="en-AU" sz="2800" b="1" u="sng" dirty="0">
                <a:solidFill>
                  <a:schemeClr val="bg1"/>
                </a:solidFill>
              </a:rPr>
              <a:t>They produce the matrix until they become surrounded by it and trapped. </a:t>
            </a:r>
          </a:p>
          <a:p>
            <a:r>
              <a:rPr lang="en-AU" sz="2800" b="1" dirty="0">
                <a:solidFill>
                  <a:schemeClr val="bg1"/>
                </a:solidFill>
              </a:rPr>
              <a:t>When this happens the cells are considered to be mature. </a:t>
            </a:r>
          </a:p>
          <a:p>
            <a:endParaRPr lang="en-AU" sz="2800" b="1" dirty="0">
              <a:solidFill>
                <a:schemeClr val="bg1"/>
              </a:solidFill>
            </a:endParaRPr>
          </a:p>
        </p:txBody>
      </p:sp>
    </p:spTree>
    <p:extLst>
      <p:ext uri="{BB962C8B-B14F-4D97-AF65-F5344CB8AC3E}">
        <p14:creationId xmlns:p14="http://schemas.microsoft.com/office/powerpoint/2010/main" val="15206518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Types of Cartilage </a:t>
            </a:r>
          </a:p>
        </p:txBody>
      </p:sp>
      <p:sp>
        <p:nvSpPr>
          <p:cNvPr id="4" name="Content Placeholder 2"/>
          <p:cNvSpPr>
            <a:spLocks noGrp="1"/>
          </p:cNvSpPr>
          <p:nvPr>
            <p:ph idx="1"/>
          </p:nvPr>
        </p:nvSpPr>
        <p:spPr>
          <a:xfrm>
            <a:off x="527457" y="1524001"/>
            <a:ext cx="8534400" cy="4153988"/>
          </a:xfrm>
        </p:spPr>
        <p:txBody>
          <a:bodyPr>
            <a:normAutofit/>
          </a:bodyPr>
          <a:lstStyle/>
          <a:p>
            <a:r>
              <a:rPr lang="en-AU" sz="2800" b="1" dirty="0">
                <a:solidFill>
                  <a:schemeClr val="bg1"/>
                </a:solidFill>
              </a:rPr>
              <a:t>Hyaline: </a:t>
            </a:r>
            <a:r>
              <a:rPr lang="en-AU" sz="2800" b="1" u="sng" dirty="0">
                <a:solidFill>
                  <a:schemeClr val="bg1"/>
                </a:solidFill>
              </a:rPr>
              <a:t>many closely packed fine fibres throughout the matrix. Give cartilage strength along with flexibility. </a:t>
            </a:r>
          </a:p>
          <a:p>
            <a:r>
              <a:rPr lang="en-AU" sz="2800" b="1" dirty="0">
                <a:solidFill>
                  <a:schemeClr val="bg1"/>
                </a:solidFill>
              </a:rPr>
              <a:t>Makes up rings of the trachea. </a:t>
            </a:r>
          </a:p>
        </p:txBody>
      </p:sp>
    </p:spTree>
    <p:extLst>
      <p:ext uri="{BB962C8B-B14F-4D97-AF65-F5344CB8AC3E}">
        <p14:creationId xmlns:p14="http://schemas.microsoft.com/office/powerpoint/2010/main" val="19476685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Types of cartilage </a:t>
            </a:r>
          </a:p>
        </p:txBody>
      </p:sp>
      <p:sp>
        <p:nvSpPr>
          <p:cNvPr id="4" name="Content Placeholder 2"/>
          <p:cNvSpPr>
            <a:spLocks noGrp="1"/>
          </p:cNvSpPr>
          <p:nvPr>
            <p:ph idx="1"/>
          </p:nvPr>
        </p:nvSpPr>
        <p:spPr>
          <a:xfrm>
            <a:off x="745172" y="1770742"/>
            <a:ext cx="8534400" cy="3615267"/>
          </a:xfrm>
        </p:spPr>
        <p:txBody>
          <a:bodyPr>
            <a:normAutofit/>
          </a:bodyPr>
          <a:lstStyle/>
          <a:p>
            <a:r>
              <a:rPr lang="en-AU" sz="2800" b="1" u="sng" dirty="0">
                <a:solidFill>
                  <a:schemeClr val="bg1"/>
                </a:solidFill>
              </a:rPr>
              <a:t>Elastic: has elastic fibres. Provides flexible elastic support. </a:t>
            </a:r>
          </a:p>
          <a:p>
            <a:r>
              <a:rPr lang="en-AU" sz="2800" b="1" dirty="0">
                <a:solidFill>
                  <a:schemeClr val="bg1"/>
                </a:solidFill>
              </a:rPr>
              <a:t>Makes up the external ear. Folding down your ear and letting it go shows how springy this cartilage is.  </a:t>
            </a:r>
          </a:p>
        </p:txBody>
      </p:sp>
    </p:spTree>
    <p:extLst>
      <p:ext uri="{BB962C8B-B14F-4D97-AF65-F5344CB8AC3E}">
        <p14:creationId xmlns:p14="http://schemas.microsoft.com/office/powerpoint/2010/main" val="27790193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lstStyle/>
          <a:p>
            <a:r>
              <a:rPr lang="en-AU" b="1" dirty="0"/>
              <a:t>Types of cartilage </a:t>
            </a:r>
            <a:endParaRPr lang="en-AU" dirty="0"/>
          </a:p>
        </p:txBody>
      </p:sp>
      <p:sp>
        <p:nvSpPr>
          <p:cNvPr id="4" name="Content Placeholder 2"/>
          <p:cNvSpPr>
            <a:spLocks noGrp="1"/>
          </p:cNvSpPr>
          <p:nvPr>
            <p:ph idx="1"/>
          </p:nvPr>
        </p:nvSpPr>
        <p:spPr>
          <a:xfrm>
            <a:off x="640669" y="1626326"/>
            <a:ext cx="8534400" cy="3615267"/>
          </a:xfrm>
        </p:spPr>
        <p:txBody>
          <a:bodyPr>
            <a:normAutofit/>
          </a:bodyPr>
          <a:lstStyle/>
          <a:p>
            <a:r>
              <a:rPr lang="en-AU" sz="2800" b="1" u="sng" dirty="0">
                <a:solidFill>
                  <a:schemeClr val="bg1"/>
                </a:solidFill>
              </a:rPr>
              <a:t>Fibrocartilage: coarse appearance from bundles of thick fibres. </a:t>
            </a:r>
          </a:p>
          <a:p>
            <a:r>
              <a:rPr lang="en-AU" sz="2800" b="1" u="sng" dirty="0">
                <a:solidFill>
                  <a:schemeClr val="bg1"/>
                </a:solidFill>
              </a:rPr>
              <a:t>Fibres are not compacted and are good at withstanding heavy pressure. </a:t>
            </a:r>
          </a:p>
          <a:p>
            <a:r>
              <a:rPr lang="en-AU" sz="2800" b="1" dirty="0">
                <a:solidFill>
                  <a:schemeClr val="bg1"/>
                </a:solidFill>
              </a:rPr>
              <a:t>Found in the discs of the spinal column.  </a:t>
            </a:r>
          </a:p>
        </p:txBody>
      </p:sp>
    </p:spTree>
    <p:extLst>
      <p:ext uri="{BB962C8B-B14F-4D97-AF65-F5344CB8AC3E}">
        <p14:creationId xmlns:p14="http://schemas.microsoft.com/office/powerpoint/2010/main" val="1775763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83458" y="740228"/>
            <a:ext cx="11907520" cy="5103223"/>
          </a:xfrm>
          <a:prstGeom prst="rect">
            <a:avLst/>
          </a:prstGeom>
        </p:spPr>
      </p:pic>
    </p:spTree>
    <p:extLst>
      <p:ext uri="{BB962C8B-B14F-4D97-AF65-F5344CB8AC3E}">
        <p14:creationId xmlns:p14="http://schemas.microsoft.com/office/powerpoint/2010/main" val="13152882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Cartilage continued </a:t>
            </a:r>
          </a:p>
        </p:txBody>
      </p:sp>
      <p:sp>
        <p:nvSpPr>
          <p:cNvPr id="4" name="Content Placeholder 2"/>
          <p:cNvSpPr>
            <a:spLocks noGrp="1"/>
          </p:cNvSpPr>
          <p:nvPr>
            <p:ph idx="1"/>
          </p:nvPr>
        </p:nvSpPr>
        <p:spPr>
          <a:xfrm>
            <a:off x="806132" y="2436223"/>
            <a:ext cx="8534400" cy="3615267"/>
          </a:xfrm>
        </p:spPr>
        <p:txBody>
          <a:bodyPr>
            <a:normAutofit/>
          </a:bodyPr>
          <a:lstStyle/>
          <a:p>
            <a:r>
              <a:rPr lang="en-AU" sz="2800" b="1" u="sng" dirty="0">
                <a:solidFill>
                  <a:schemeClr val="bg1"/>
                </a:solidFill>
              </a:rPr>
              <a:t>Cartilage does not contain blood vessels, so all nutrition and waste removal for the cells depends on diffusion through the matrix. </a:t>
            </a:r>
          </a:p>
          <a:p>
            <a:r>
              <a:rPr lang="en-AU" sz="2800" b="1" u="sng" dirty="0">
                <a:solidFill>
                  <a:schemeClr val="bg1"/>
                </a:solidFill>
              </a:rPr>
              <a:t>Slow process and that’s why it takes so long to heal. </a:t>
            </a:r>
          </a:p>
        </p:txBody>
      </p:sp>
    </p:spTree>
    <p:extLst>
      <p:ext uri="{BB962C8B-B14F-4D97-AF65-F5344CB8AC3E}">
        <p14:creationId xmlns:p14="http://schemas.microsoft.com/office/powerpoint/2010/main" val="580466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1" y="263675"/>
            <a:ext cx="9234851" cy="1507067"/>
          </a:xfrm>
        </p:spPr>
        <p:txBody>
          <a:bodyPr>
            <a:normAutofit/>
          </a:bodyPr>
          <a:lstStyle/>
          <a:p>
            <a:r>
              <a:rPr lang="en-AU" sz="4000" b="1" dirty="0"/>
              <a:t>Bones and Joints of the skeleton </a:t>
            </a:r>
          </a:p>
        </p:txBody>
      </p:sp>
      <p:sp>
        <p:nvSpPr>
          <p:cNvPr id="4" name="Content Placeholder 2"/>
          <p:cNvSpPr>
            <a:spLocks noGrp="1"/>
          </p:cNvSpPr>
          <p:nvPr>
            <p:ph idx="1"/>
          </p:nvPr>
        </p:nvSpPr>
        <p:spPr>
          <a:xfrm>
            <a:off x="806131" y="2386149"/>
            <a:ext cx="8534400" cy="2019421"/>
          </a:xfrm>
        </p:spPr>
        <p:txBody>
          <a:bodyPr>
            <a:normAutofit/>
          </a:bodyPr>
          <a:lstStyle/>
          <a:p>
            <a:r>
              <a:rPr lang="en-AU" sz="2800" b="1">
                <a:solidFill>
                  <a:schemeClr val="bg1"/>
                </a:solidFill>
              </a:rPr>
              <a:t>SEE HANDOUT  </a:t>
            </a:r>
            <a:endParaRPr lang="en-AU" sz="2800" b="1" dirty="0">
              <a:solidFill>
                <a:schemeClr val="bg1"/>
              </a:solidFill>
            </a:endParaRPr>
          </a:p>
        </p:txBody>
      </p:sp>
    </p:spTree>
    <p:extLst>
      <p:ext uri="{BB962C8B-B14F-4D97-AF65-F5344CB8AC3E}">
        <p14:creationId xmlns:p14="http://schemas.microsoft.com/office/powerpoint/2010/main" val="27485749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Structure of a Synovial Joint </a:t>
            </a:r>
          </a:p>
        </p:txBody>
      </p:sp>
      <p:sp>
        <p:nvSpPr>
          <p:cNvPr id="4" name="Content Placeholder 2"/>
          <p:cNvSpPr>
            <a:spLocks noGrp="1"/>
          </p:cNvSpPr>
          <p:nvPr>
            <p:ph idx="1"/>
          </p:nvPr>
        </p:nvSpPr>
        <p:spPr>
          <a:xfrm>
            <a:off x="222657" y="1645921"/>
            <a:ext cx="8534400" cy="4649410"/>
          </a:xfrm>
        </p:spPr>
        <p:txBody>
          <a:bodyPr>
            <a:normAutofit fontScale="92500"/>
          </a:bodyPr>
          <a:lstStyle/>
          <a:p>
            <a:r>
              <a:rPr lang="en-AU" sz="2800" b="1" u="sng" dirty="0">
                <a:solidFill>
                  <a:schemeClr val="bg1"/>
                </a:solidFill>
              </a:rPr>
              <a:t>Freely movable joints are also called synovial joints because there is a space, or synovial cavity, between the articulating surfaces of the bones. </a:t>
            </a:r>
          </a:p>
          <a:p>
            <a:r>
              <a:rPr lang="en-AU" sz="2800" b="1" u="sng" dirty="0">
                <a:solidFill>
                  <a:schemeClr val="bg1"/>
                </a:solidFill>
              </a:rPr>
              <a:t>A synovial membrane surrounds the synovial cavity, there is articular cartilage on the bone surfaces. </a:t>
            </a:r>
          </a:p>
          <a:p>
            <a:r>
              <a:rPr lang="en-AU" sz="2800" b="1" dirty="0">
                <a:solidFill>
                  <a:schemeClr val="bg1"/>
                </a:solidFill>
              </a:rPr>
              <a:t>The knee joint, where the femur meets the tibia, is a typical synovial joint.</a:t>
            </a:r>
          </a:p>
          <a:p>
            <a:r>
              <a:rPr lang="en-AU" sz="2800" b="1" dirty="0">
                <a:solidFill>
                  <a:schemeClr val="bg1"/>
                </a:solidFill>
              </a:rPr>
              <a:t>The patella, or kneecap, is also part of the structure of this joint. </a:t>
            </a:r>
          </a:p>
        </p:txBody>
      </p:sp>
    </p:spTree>
    <p:extLst>
      <p:ext uri="{BB962C8B-B14F-4D97-AF65-F5344CB8AC3E}">
        <p14:creationId xmlns:p14="http://schemas.microsoft.com/office/powerpoint/2010/main" val="10106636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natomy of the knee (Bones Muscles Arteries Veins Nerves) | Anatomy of the  knee, Joints anatomy, Muscle anatomy"/>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533015" y="107768"/>
            <a:ext cx="6619694" cy="660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537169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6"/>
            <a:ext cx="8534400" cy="842314"/>
          </a:xfrm>
        </p:spPr>
        <p:txBody>
          <a:bodyPr>
            <a:normAutofit/>
          </a:bodyPr>
          <a:lstStyle/>
          <a:p>
            <a:r>
              <a:rPr lang="en-AU" sz="4000" b="1" dirty="0"/>
              <a:t>Continued </a:t>
            </a:r>
          </a:p>
        </p:txBody>
      </p:sp>
      <p:sp>
        <p:nvSpPr>
          <p:cNvPr id="4" name="Content Placeholder 2"/>
          <p:cNvSpPr>
            <a:spLocks noGrp="1"/>
          </p:cNvSpPr>
          <p:nvPr>
            <p:ph idx="1"/>
          </p:nvPr>
        </p:nvSpPr>
        <p:spPr>
          <a:xfrm>
            <a:off x="187823" y="1587137"/>
            <a:ext cx="11734211" cy="5270863"/>
          </a:xfrm>
        </p:spPr>
        <p:txBody>
          <a:bodyPr>
            <a:normAutofit lnSpcReduction="10000"/>
          </a:bodyPr>
          <a:lstStyle/>
          <a:p>
            <a:r>
              <a:rPr lang="en-AU" sz="2800" b="1" u="sng" dirty="0">
                <a:solidFill>
                  <a:schemeClr val="bg1"/>
                </a:solidFill>
              </a:rPr>
              <a:t>An </a:t>
            </a:r>
            <a:r>
              <a:rPr lang="en-AU" sz="2800" b="1" i="1" u="sng" dirty="0">
                <a:solidFill>
                  <a:schemeClr val="bg1"/>
                </a:solidFill>
              </a:rPr>
              <a:t>articular capsule </a:t>
            </a:r>
            <a:r>
              <a:rPr lang="en-AU" sz="2800" b="1" u="sng" dirty="0">
                <a:solidFill>
                  <a:schemeClr val="bg1"/>
                </a:solidFill>
              </a:rPr>
              <a:t>surrounds and encloses the joint. The capsule comprises two layers. </a:t>
            </a:r>
          </a:p>
          <a:p>
            <a:r>
              <a:rPr lang="en-AU" sz="2800" b="1" u="sng" dirty="0">
                <a:solidFill>
                  <a:schemeClr val="bg1"/>
                </a:solidFill>
              </a:rPr>
              <a:t>1. The outer layer, </a:t>
            </a:r>
            <a:r>
              <a:rPr lang="en-AU" sz="2800" b="1" i="1" u="sng" dirty="0">
                <a:solidFill>
                  <a:schemeClr val="bg1"/>
                </a:solidFill>
              </a:rPr>
              <a:t>the fibrous capsule</a:t>
            </a:r>
            <a:r>
              <a:rPr lang="en-AU" sz="2800" b="1" u="sng" dirty="0">
                <a:solidFill>
                  <a:schemeClr val="bg1"/>
                </a:solidFill>
              </a:rPr>
              <a:t>, consists of dense, fibrous connective tissue attached the periosteum of the articulating bones. Its flexibility permits movement at the joint, whereas its strength resists dislocation. The fibrous capsule is one of the principal structures that hold the bones together. </a:t>
            </a:r>
          </a:p>
          <a:p>
            <a:r>
              <a:rPr lang="en-AU" sz="2800" b="1" u="sng" dirty="0">
                <a:solidFill>
                  <a:schemeClr val="bg1"/>
                </a:solidFill>
              </a:rPr>
              <a:t>2. The synovial membrane makes up the inner layer of the capsule. It consists of loose connective tissue, the inner surface of which is well supplied with blood capillaries. The synovial membrane lines the entire joint cavity, except the articular cartilages and a structure called the articular disc. </a:t>
            </a:r>
          </a:p>
          <a:p>
            <a:endParaRPr lang="en-AU" sz="2800" b="1" dirty="0">
              <a:solidFill>
                <a:schemeClr val="bg1"/>
              </a:solidFill>
            </a:endParaRPr>
          </a:p>
          <a:p>
            <a:endParaRPr lang="en-AU" sz="2800" b="1" dirty="0"/>
          </a:p>
        </p:txBody>
      </p:sp>
    </p:spTree>
    <p:extLst>
      <p:ext uri="{BB962C8B-B14F-4D97-AF65-F5344CB8AC3E}">
        <p14:creationId xmlns:p14="http://schemas.microsoft.com/office/powerpoint/2010/main" val="33753815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8750" y="0"/>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518750" y="1408612"/>
            <a:ext cx="10366964" cy="5314405"/>
          </a:xfrm>
        </p:spPr>
        <p:txBody>
          <a:bodyPr>
            <a:normAutofit/>
          </a:bodyPr>
          <a:lstStyle/>
          <a:p>
            <a:r>
              <a:rPr lang="en-AU" sz="2800" b="1" u="sng" dirty="0">
                <a:solidFill>
                  <a:schemeClr val="bg1"/>
                </a:solidFill>
              </a:rPr>
              <a:t>Synovial fluid, secreted by the synovial membrane, fills the synovial cavity. It lubricates the joint and provides nourishment for the cells of the articular cartilage. </a:t>
            </a:r>
          </a:p>
          <a:p>
            <a:r>
              <a:rPr lang="en-AU" sz="2800" b="1" u="sng" dirty="0">
                <a:solidFill>
                  <a:schemeClr val="bg1"/>
                </a:solidFill>
              </a:rPr>
              <a:t>Articular cartilage covers the articulating surfaces of the bones forming the joint. This tissue provides a smooth surface for movement. </a:t>
            </a:r>
          </a:p>
          <a:p>
            <a:endParaRPr lang="en-AU" sz="2800" b="1" dirty="0">
              <a:solidFill>
                <a:schemeClr val="bg1"/>
              </a:solidFill>
            </a:endParaRPr>
          </a:p>
        </p:txBody>
      </p:sp>
    </p:spTree>
    <p:extLst>
      <p:ext uri="{BB962C8B-B14F-4D97-AF65-F5344CB8AC3E}">
        <p14:creationId xmlns:p14="http://schemas.microsoft.com/office/powerpoint/2010/main" val="37931412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348343" y="2229395"/>
            <a:ext cx="10189028" cy="3822096"/>
          </a:xfrm>
        </p:spPr>
        <p:txBody>
          <a:bodyPr>
            <a:noAutofit/>
          </a:bodyPr>
          <a:lstStyle/>
          <a:p>
            <a:r>
              <a:rPr lang="en-AU" sz="2800" b="1" u="sng" dirty="0">
                <a:solidFill>
                  <a:schemeClr val="bg1"/>
                </a:solidFill>
              </a:rPr>
              <a:t>Articular discs occur in some synovial joints. They divide the synovial cavity into two. Flow of synovial fluid can then be directed to areas of greatest friction.</a:t>
            </a:r>
          </a:p>
          <a:p>
            <a:r>
              <a:rPr lang="en-AU" sz="2800" b="1" u="sng" dirty="0">
                <a:solidFill>
                  <a:schemeClr val="bg1"/>
                </a:solidFill>
              </a:rPr>
              <a:t>Bursae, or little sacs of synovial fluid, are another feature of some joints. These are positioned in such a way as to prevent friction between a bone and a ligament or tendon, or between a bone and the skin</a:t>
            </a:r>
            <a:r>
              <a:rPr lang="en-AU" sz="2800" b="1" dirty="0">
                <a:solidFill>
                  <a:schemeClr val="bg1"/>
                </a:solidFill>
              </a:rPr>
              <a:t>, in cases where a bone inside a joint capsule is near the body surface. </a:t>
            </a:r>
          </a:p>
          <a:p>
            <a:endParaRPr lang="en-AU" sz="3600" dirty="0"/>
          </a:p>
        </p:txBody>
      </p:sp>
    </p:spTree>
    <p:extLst>
      <p:ext uri="{BB962C8B-B14F-4D97-AF65-F5344CB8AC3E}">
        <p14:creationId xmlns:p14="http://schemas.microsoft.com/office/powerpoint/2010/main" val="13945422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806132" y="1452154"/>
            <a:ext cx="8534400" cy="3615267"/>
          </a:xfrm>
        </p:spPr>
        <p:txBody>
          <a:bodyPr>
            <a:normAutofit/>
          </a:bodyPr>
          <a:lstStyle/>
          <a:p>
            <a:r>
              <a:rPr lang="en-AU" sz="2800" b="1" u="sng" dirty="0">
                <a:solidFill>
                  <a:schemeClr val="bg1"/>
                </a:solidFill>
              </a:rPr>
              <a:t>Accessory ligaments hold the bones together in many joints (for example, the ligaments of the knee joint). </a:t>
            </a:r>
          </a:p>
        </p:txBody>
      </p:sp>
    </p:spTree>
    <p:extLst>
      <p:ext uri="{BB962C8B-B14F-4D97-AF65-F5344CB8AC3E}">
        <p14:creationId xmlns:p14="http://schemas.microsoft.com/office/powerpoint/2010/main" val="3041795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9047" y="0"/>
            <a:ext cx="8534400" cy="1507067"/>
          </a:xfrm>
        </p:spPr>
        <p:txBody>
          <a:bodyPr>
            <a:normAutofit/>
          </a:bodyPr>
          <a:lstStyle/>
          <a:p>
            <a:r>
              <a:rPr lang="en-AU" sz="4000" b="1" dirty="0"/>
              <a:t>Movement at a joint </a:t>
            </a:r>
          </a:p>
        </p:txBody>
      </p:sp>
      <p:sp>
        <p:nvSpPr>
          <p:cNvPr id="4" name="Content Placeholder 2"/>
          <p:cNvSpPr>
            <a:spLocks noGrp="1"/>
          </p:cNvSpPr>
          <p:nvPr>
            <p:ph idx="1"/>
          </p:nvPr>
        </p:nvSpPr>
        <p:spPr>
          <a:xfrm>
            <a:off x="379411" y="1332412"/>
            <a:ext cx="11002691" cy="5172890"/>
          </a:xfrm>
        </p:spPr>
        <p:txBody>
          <a:bodyPr anchor="t">
            <a:normAutofit/>
          </a:bodyPr>
          <a:lstStyle/>
          <a:p>
            <a:r>
              <a:rPr lang="en-AU" sz="2800" b="1" dirty="0">
                <a:solidFill>
                  <a:schemeClr val="bg1"/>
                </a:solidFill>
              </a:rPr>
              <a:t>A number of terms are used to describe the types of movement that may occur at a joint. </a:t>
            </a:r>
          </a:p>
          <a:p>
            <a:r>
              <a:rPr lang="en-AU" sz="2800" b="1" dirty="0">
                <a:solidFill>
                  <a:schemeClr val="bg1"/>
                </a:solidFill>
              </a:rPr>
              <a:t>- </a:t>
            </a:r>
            <a:r>
              <a:rPr lang="en-AU" sz="2800" b="1" u="sng" dirty="0">
                <a:solidFill>
                  <a:schemeClr val="bg1"/>
                </a:solidFill>
              </a:rPr>
              <a:t>flexion </a:t>
            </a:r>
            <a:r>
              <a:rPr lang="en-AU" sz="2800" b="1" dirty="0">
                <a:solidFill>
                  <a:schemeClr val="bg1"/>
                </a:solidFill>
              </a:rPr>
              <a:t>or bending, </a:t>
            </a:r>
            <a:r>
              <a:rPr lang="en-AU" sz="2800" b="1" u="sng" dirty="0">
                <a:solidFill>
                  <a:schemeClr val="bg1"/>
                </a:solidFill>
              </a:rPr>
              <a:t>which usually decreases the angle between the articulating bones </a:t>
            </a:r>
            <a:r>
              <a:rPr lang="en-AU" sz="2800" b="1" dirty="0">
                <a:solidFill>
                  <a:schemeClr val="bg1"/>
                </a:solidFill>
              </a:rPr>
              <a:t>(for example, bending the knee or bending the elbow). </a:t>
            </a:r>
          </a:p>
          <a:p>
            <a:r>
              <a:rPr lang="en-AU" sz="2800" b="1" dirty="0">
                <a:solidFill>
                  <a:schemeClr val="bg1"/>
                </a:solidFill>
              </a:rPr>
              <a:t>- </a:t>
            </a:r>
            <a:r>
              <a:rPr lang="en-AU" sz="2800" b="1" u="sng" dirty="0">
                <a:solidFill>
                  <a:schemeClr val="bg1"/>
                </a:solidFill>
              </a:rPr>
              <a:t>extension</a:t>
            </a:r>
            <a:r>
              <a:rPr lang="en-AU" sz="2800" b="1" dirty="0">
                <a:solidFill>
                  <a:schemeClr val="bg1"/>
                </a:solidFill>
              </a:rPr>
              <a:t> or straightening, </a:t>
            </a:r>
            <a:r>
              <a:rPr lang="en-AU" sz="2800" b="1" u="sng" dirty="0">
                <a:solidFill>
                  <a:schemeClr val="bg1"/>
                </a:solidFill>
              </a:rPr>
              <a:t>which usually increases the angle between the articulating bones </a:t>
            </a:r>
            <a:r>
              <a:rPr lang="en-AU" sz="2800" b="1" dirty="0">
                <a:solidFill>
                  <a:schemeClr val="bg1"/>
                </a:solidFill>
              </a:rPr>
              <a:t>(for example, straightening of the arm or leg after flexion).</a:t>
            </a:r>
          </a:p>
          <a:p>
            <a:endParaRPr lang="en-AU" sz="2800" b="1" dirty="0">
              <a:solidFill>
                <a:schemeClr val="bg1"/>
              </a:solidFill>
            </a:endParaRPr>
          </a:p>
          <a:p>
            <a:endParaRPr lang="en-AU" sz="2800" b="1" dirty="0">
              <a:solidFill>
                <a:schemeClr val="bg1"/>
              </a:solidFill>
            </a:endParaRPr>
          </a:p>
          <a:p>
            <a:endParaRPr lang="en-AU" sz="2800" b="1" dirty="0">
              <a:solidFill>
                <a:schemeClr val="bg1"/>
              </a:solidFill>
            </a:endParaRPr>
          </a:p>
          <a:p>
            <a:endParaRPr lang="en-AU" sz="2800" b="1" dirty="0">
              <a:solidFill>
                <a:schemeClr val="bg1"/>
              </a:solidFill>
            </a:endParaRPr>
          </a:p>
        </p:txBody>
      </p:sp>
    </p:spTree>
    <p:extLst>
      <p:ext uri="{BB962C8B-B14F-4D97-AF65-F5344CB8AC3E}">
        <p14:creationId xmlns:p14="http://schemas.microsoft.com/office/powerpoint/2010/main" val="4454191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296091" y="1297577"/>
            <a:ext cx="10998925" cy="5560423"/>
          </a:xfrm>
        </p:spPr>
        <p:txBody>
          <a:bodyPr>
            <a:normAutofit/>
          </a:bodyPr>
          <a:lstStyle/>
          <a:p>
            <a:r>
              <a:rPr lang="en-AU" sz="2800" b="1" dirty="0">
                <a:solidFill>
                  <a:schemeClr val="bg1"/>
                </a:solidFill>
              </a:rPr>
              <a:t>- </a:t>
            </a:r>
            <a:r>
              <a:rPr lang="en-AU" sz="2800" b="1" u="sng" dirty="0">
                <a:solidFill>
                  <a:schemeClr val="bg1"/>
                </a:solidFill>
              </a:rPr>
              <a:t>Abduction, which is movement away from the midline of the body </a:t>
            </a:r>
            <a:r>
              <a:rPr lang="en-AU" sz="2800" b="1" dirty="0">
                <a:solidFill>
                  <a:schemeClr val="bg1"/>
                </a:solidFill>
              </a:rPr>
              <a:t>(for example, lifting the arms upwards and away from the body)</a:t>
            </a:r>
          </a:p>
          <a:p>
            <a:r>
              <a:rPr lang="en-AU" sz="2800" b="1" dirty="0">
                <a:solidFill>
                  <a:schemeClr val="bg1"/>
                </a:solidFill>
              </a:rPr>
              <a:t>- </a:t>
            </a:r>
            <a:r>
              <a:rPr lang="en-AU" sz="2800" b="1" u="sng" dirty="0">
                <a:solidFill>
                  <a:schemeClr val="bg1"/>
                </a:solidFill>
              </a:rPr>
              <a:t>Adduction, which is movement towards the midline of the body </a:t>
            </a:r>
            <a:r>
              <a:rPr lang="en-AU" sz="2800" b="1" dirty="0">
                <a:solidFill>
                  <a:schemeClr val="bg1"/>
                </a:solidFill>
              </a:rPr>
              <a:t>(for example, returning the arms to the sides after abduction). </a:t>
            </a:r>
          </a:p>
          <a:p>
            <a:r>
              <a:rPr lang="en-AU" sz="2800" b="1" dirty="0">
                <a:solidFill>
                  <a:schemeClr val="bg1"/>
                </a:solidFill>
              </a:rPr>
              <a:t>- </a:t>
            </a:r>
            <a:r>
              <a:rPr lang="en-AU" sz="2800" b="1" u="sng" dirty="0">
                <a:solidFill>
                  <a:schemeClr val="bg1"/>
                </a:solidFill>
              </a:rPr>
              <a:t>Rotation, which is the movement of a bone around its long axis </a:t>
            </a:r>
            <a:r>
              <a:rPr lang="en-AU" sz="2800" b="1" dirty="0">
                <a:solidFill>
                  <a:schemeClr val="bg1"/>
                </a:solidFill>
              </a:rPr>
              <a:t>(for example, rotation of the humerus occurs when the palm is turned upwards by twisting the forearm from the shoulder). </a:t>
            </a:r>
          </a:p>
          <a:p>
            <a:r>
              <a:rPr lang="en-AU" sz="2800" b="1" dirty="0">
                <a:solidFill>
                  <a:schemeClr val="bg1"/>
                </a:solidFill>
              </a:rPr>
              <a:t> </a:t>
            </a:r>
          </a:p>
        </p:txBody>
      </p:sp>
    </p:spTree>
    <p:extLst>
      <p:ext uri="{BB962C8B-B14F-4D97-AF65-F5344CB8AC3E}">
        <p14:creationId xmlns:p14="http://schemas.microsoft.com/office/powerpoint/2010/main" val="20997344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How Does a Hip Joint Move? - Brainlab.or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958" y="496071"/>
            <a:ext cx="7051361" cy="259426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File:Body Movements II.jpg - Wikimedia Commons"/>
          <p:cNvPicPr>
            <a:picLocks noChangeAspect="1" noChangeArrowheads="1"/>
          </p:cNvPicPr>
          <p:nvPr/>
        </p:nvPicPr>
        <p:blipFill rotWithShape="1">
          <a:blip r:embed="rId3">
            <a:extLst>
              <a:ext uri="{28A0092B-C50C-407E-A947-70E740481C1C}">
                <a14:useLocalDpi xmlns:a14="http://schemas.microsoft.com/office/drawing/2010/main" val="0"/>
              </a:ext>
            </a:extLst>
          </a:blip>
          <a:srcRect r="68549" b="54265"/>
          <a:stretch/>
        </p:blipFill>
        <p:spPr bwMode="auto">
          <a:xfrm>
            <a:off x="8330141" y="496071"/>
            <a:ext cx="2718857" cy="426879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8246534" y="4995333"/>
            <a:ext cx="3208867" cy="1015663"/>
          </a:xfrm>
          <a:prstGeom prst="rect">
            <a:avLst/>
          </a:prstGeom>
          <a:noFill/>
        </p:spPr>
        <p:txBody>
          <a:bodyPr wrap="square" rtlCol="0">
            <a:spAutoFit/>
          </a:bodyPr>
          <a:lstStyle/>
          <a:p>
            <a:r>
              <a:rPr lang="en-AU" sz="2000" b="1" dirty="0">
                <a:solidFill>
                  <a:schemeClr val="bg1"/>
                </a:solidFill>
              </a:rPr>
              <a:t>Rotation of the humerus: </a:t>
            </a:r>
          </a:p>
          <a:p>
            <a:r>
              <a:rPr lang="en-AU" sz="2000" b="1" dirty="0">
                <a:solidFill>
                  <a:schemeClr val="bg1"/>
                </a:solidFill>
              </a:rPr>
              <a:t>1- Palm posterior </a:t>
            </a:r>
          </a:p>
          <a:p>
            <a:r>
              <a:rPr lang="en-AU" sz="2000" b="1" dirty="0">
                <a:solidFill>
                  <a:schemeClr val="bg1"/>
                </a:solidFill>
              </a:rPr>
              <a:t>2- Palm anterior </a:t>
            </a:r>
          </a:p>
        </p:txBody>
      </p:sp>
    </p:spTree>
    <p:extLst>
      <p:ext uri="{BB962C8B-B14F-4D97-AF65-F5344CB8AC3E}">
        <p14:creationId xmlns:p14="http://schemas.microsoft.com/office/powerpoint/2010/main" val="29166755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Development of long bones </a:t>
            </a:r>
          </a:p>
        </p:txBody>
      </p:sp>
      <p:sp>
        <p:nvSpPr>
          <p:cNvPr id="4" name="Content Placeholder 2"/>
          <p:cNvSpPr>
            <a:spLocks noGrp="1"/>
          </p:cNvSpPr>
          <p:nvPr>
            <p:ph idx="1"/>
          </p:nvPr>
        </p:nvSpPr>
        <p:spPr>
          <a:xfrm>
            <a:off x="441434" y="1371601"/>
            <a:ext cx="11004332" cy="5312978"/>
          </a:xfrm>
        </p:spPr>
        <p:txBody>
          <a:bodyPr>
            <a:normAutofit/>
          </a:bodyPr>
          <a:lstStyle/>
          <a:p>
            <a:r>
              <a:rPr lang="en-AU" sz="2800" b="1" u="sng" dirty="0">
                <a:solidFill>
                  <a:schemeClr val="bg1"/>
                </a:solidFill>
              </a:rPr>
              <a:t>Long bones grow on a template of cartilage</a:t>
            </a:r>
            <a:r>
              <a:rPr lang="en-AU" sz="2800" b="1" dirty="0">
                <a:solidFill>
                  <a:schemeClr val="bg1"/>
                </a:solidFill>
              </a:rPr>
              <a:t>, in a process called endochondral ossification. </a:t>
            </a:r>
          </a:p>
          <a:p>
            <a:r>
              <a:rPr lang="en-AU" sz="2800" b="1" dirty="0">
                <a:solidFill>
                  <a:schemeClr val="bg1"/>
                </a:solidFill>
              </a:rPr>
              <a:t>Initially, </a:t>
            </a:r>
            <a:r>
              <a:rPr lang="en-AU" sz="2800" b="1" u="sng" dirty="0">
                <a:solidFill>
                  <a:schemeClr val="bg1"/>
                </a:solidFill>
              </a:rPr>
              <a:t>the adult stem cells </a:t>
            </a:r>
            <a:r>
              <a:rPr lang="en-AU" sz="2800" b="1" dirty="0">
                <a:solidFill>
                  <a:schemeClr val="bg1"/>
                </a:solidFill>
              </a:rPr>
              <a:t>(mesenchymal condensations) </a:t>
            </a:r>
            <a:r>
              <a:rPr lang="en-AU" sz="2800" b="1" u="sng" dirty="0">
                <a:solidFill>
                  <a:schemeClr val="bg1"/>
                </a:solidFill>
              </a:rPr>
              <a:t>differentiate into cartilage</a:t>
            </a:r>
            <a:r>
              <a:rPr lang="en-AU" sz="2800" b="1" dirty="0">
                <a:solidFill>
                  <a:schemeClr val="bg1"/>
                </a:solidFill>
              </a:rPr>
              <a:t>, populated by cells called the chondrocytes. </a:t>
            </a:r>
          </a:p>
          <a:p>
            <a:r>
              <a:rPr lang="en-AU" sz="2800" b="1" u="sng" dirty="0">
                <a:solidFill>
                  <a:schemeClr val="bg1"/>
                </a:solidFill>
              </a:rPr>
              <a:t>The template then condenses and becomes hypoxic (lack of oxygen) in the middle. </a:t>
            </a:r>
            <a:r>
              <a:rPr lang="en-AU" sz="2800" b="1" dirty="0">
                <a:solidFill>
                  <a:schemeClr val="bg1"/>
                </a:solidFill>
              </a:rPr>
              <a:t>This further stimulates the differentiation of the cells and induces secretion of certain molecules which </a:t>
            </a:r>
            <a:r>
              <a:rPr lang="en-AU" sz="2800" b="1" u="sng" dirty="0">
                <a:solidFill>
                  <a:schemeClr val="bg1"/>
                </a:solidFill>
              </a:rPr>
              <a:t>attract blood vessels, and with them, blood forming cells</a:t>
            </a:r>
            <a:r>
              <a:rPr lang="en-AU" sz="2800" b="1" dirty="0">
                <a:solidFill>
                  <a:schemeClr val="bg1"/>
                </a:solidFill>
              </a:rPr>
              <a:t>. </a:t>
            </a:r>
            <a:endParaRPr lang="en-AU" sz="3600" b="1" dirty="0">
              <a:solidFill>
                <a:schemeClr val="bg1"/>
              </a:solidFill>
            </a:endParaRPr>
          </a:p>
        </p:txBody>
      </p:sp>
    </p:spTree>
    <p:extLst>
      <p:ext uri="{BB962C8B-B14F-4D97-AF65-F5344CB8AC3E}">
        <p14:creationId xmlns:p14="http://schemas.microsoft.com/office/powerpoint/2010/main" val="29209202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Continued </a:t>
            </a:r>
          </a:p>
        </p:txBody>
      </p:sp>
      <p:sp>
        <p:nvSpPr>
          <p:cNvPr id="4" name="Content Placeholder 2"/>
          <p:cNvSpPr>
            <a:spLocks noGrp="1"/>
          </p:cNvSpPr>
          <p:nvPr>
            <p:ph idx="1"/>
          </p:nvPr>
        </p:nvSpPr>
        <p:spPr>
          <a:xfrm>
            <a:off x="411993" y="1770742"/>
            <a:ext cx="11380613" cy="4771948"/>
          </a:xfrm>
        </p:spPr>
        <p:txBody>
          <a:bodyPr/>
          <a:lstStyle/>
          <a:p>
            <a:r>
              <a:rPr lang="en-AU" sz="2800" b="1" dirty="0">
                <a:solidFill>
                  <a:schemeClr val="bg1"/>
                </a:solidFill>
              </a:rPr>
              <a:t>The bone is then laid down on the template of cartilage. </a:t>
            </a:r>
            <a:r>
              <a:rPr lang="en-AU" sz="2800" b="1" u="sng" dirty="0">
                <a:solidFill>
                  <a:schemeClr val="bg1"/>
                </a:solidFill>
              </a:rPr>
              <a:t>The remaining cartilage continues to expand and die, driving the long bone formation. </a:t>
            </a:r>
          </a:p>
          <a:p>
            <a:r>
              <a:rPr lang="en-AU" sz="2800" b="1" u="sng" dirty="0">
                <a:solidFill>
                  <a:schemeClr val="bg1"/>
                </a:solidFill>
              </a:rPr>
              <a:t>Later on in development</a:t>
            </a:r>
            <a:r>
              <a:rPr lang="en-AU" sz="2800" b="1" dirty="0">
                <a:solidFill>
                  <a:schemeClr val="bg1"/>
                </a:solidFill>
              </a:rPr>
              <a:t>, another event of blood invasion occurs at the end of the bones and a </a:t>
            </a:r>
            <a:r>
              <a:rPr lang="en-AU" sz="2800" b="1" u="sng" dirty="0">
                <a:solidFill>
                  <a:schemeClr val="bg1"/>
                </a:solidFill>
              </a:rPr>
              <a:t>secondary centre of ossification forms</a:t>
            </a:r>
            <a:r>
              <a:rPr lang="en-AU" sz="2800" b="1" dirty="0">
                <a:solidFill>
                  <a:schemeClr val="bg1"/>
                </a:solidFill>
              </a:rPr>
              <a:t>. </a:t>
            </a:r>
          </a:p>
          <a:p>
            <a:r>
              <a:rPr lang="en-AU" sz="2800" b="1" u="sng" dirty="0">
                <a:solidFill>
                  <a:schemeClr val="bg1"/>
                </a:solidFill>
              </a:rPr>
              <a:t>The cartilage between the two centres of ossification continues to drive the long bone formation until puberty, when its activity seizes and the bone elements fuse together</a:t>
            </a:r>
            <a:r>
              <a:rPr lang="en-AU" sz="2800" b="1" dirty="0">
                <a:solidFill>
                  <a:schemeClr val="bg1"/>
                </a:solidFill>
              </a:rPr>
              <a:t>.</a:t>
            </a:r>
          </a:p>
          <a:p>
            <a:endParaRPr lang="en-AU" dirty="0"/>
          </a:p>
        </p:txBody>
      </p:sp>
    </p:spTree>
    <p:extLst>
      <p:ext uri="{BB962C8B-B14F-4D97-AF65-F5344CB8AC3E}">
        <p14:creationId xmlns:p14="http://schemas.microsoft.com/office/powerpoint/2010/main" val="24911101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1" y="263675"/>
            <a:ext cx="10056309" cy="1896201"/>
          </a:xfrm>
        </p:spPr>
        <p:txBody>
          <a:bodyPr>
            <a:normAutofit/>
          </a:bodyPr>
          <a:lstStyle/>
          <a:p>
            <a:r>
              <a:rPr lang="en-AU" sz="4000" b="1" dirty="0"/>
              <a:t>How bones provide for strength, growth and repair </a:t>
            </a:r>
          </a:p>
        </p:txBody>
      </p:sp>
      <p:sp>
        <p:nvSpPr>
          <p:cNvPr id="4" name="Content Placeholder 2"/>
          <p:cNvSpPr>
            <a:spLocks noGrp="1"/>
          </p:cNvSpPr>
          <p:nvPr>
            <p:ph idx="1"/>
          </p:nvPr>
        </p:nvSpPr>
        <p:spPr>
          <a:xfrm>
            <a:off x="806132" y="2436223"/>
            <a:ext cx="8534400" cy="3615267"/>
          </a:xfrm>
        </p:spPr>
        <p:txBody>
          <a:bodyPr/>
          <a:lstStyle/>
          <a:p>
            <a:r>
              <a:rPr lang="en-AU" sz="2800" b="1" u="sng" dirty="0">
                <a:solidFill>
                  <a:schemeClr val="bg1"/>
                </a:solidFill>
              </a:rPr>
              <a:t>Bones provide a firm framework that gives shape to the body and supports its parts.</a:t>
            </a:r>
          </a:p>
          <a:p>
            <a:r>
              <a:rPr lang="en-AU" sz="2800" b="1" u="sng" dirty="0">
                <a:solidFill>
                  <a:schemeClr val="bg1"/>
                </a:solidFill>
              </a:rPr>
              <a:t>Bones grow during childhood through to adulthood. </a:t>
            </a:r>
          </a:p>
          <a:p>
            <a:r>
              <a:rPr lang="en-AU" sz="2800" b="1" u="sng" dirty="0">
                <a:solidFill>
                  <a:schemeClr val="bg1"/>
                </a:solidFill>
              </a:rPr>
              <a:t>Bones repair themselves when damaged. </a:t>
            </a:r>
            <a:r>
              <a:rPr lang="en-AU" sz="2800" b="1" dirty="0">
                <a:solidFill>
                  <a:schemeClr val="bg1"/>
                </a:solidFill>
              </a:rPr>
              <a:t>(Last topic to cover)  </a:t>
            </a:r>
          </a:p>
          <a:p>
            <a:endParaRPr lang="en-AU" dirty="0"/>
          </a:p>
        </p:txBody>
      </p:sp>
    </p:spTree>
    <p:extLst>
      <p:ext uri="{BB962C8B-B14F-4D97-AF65-F5344CB8AC3E}">
        <p14:creationId xmlns:p14="http://schemas.microsoft.com/office/powerpoint/2010/main" val="502026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6132" y="263675"/>
            <a:ext cx="8534400" cy="1507067"/>
          </a:xfrm>
        </p:spPr>
        <p:txBody>
          <a:bodyPr>
            <a:normAutofit/>
          </a:bodyPr>
          <a:lstStyle/>
          <a:p>
            <a:r>
              <a:rPr lang="en-AU" sz="4000" b="1" dirty="0"/>
              <a:t>Broken bones (repair 101) </a:t>
            </a:r>
          </a:p>
        </p:txBody>
      </p:sp>
      <p:sp>
        <p:nvSpPr>
          <p:cNvPr id="4" name="Content Placeholder 2"/>
          <p:cNvSpPr>
            <a:spLocks noGrp="1"/>
          </p:cNvSpPr>
          <p:nvPr>
            <p:ph idx="1"/>
          </p:nvPr>
        </p:nvSpPr>
        <p:spPr>
          <a:xfrm>
            <a:off x="270104" y="1569120"/>
            <a:ext cx="11758985" cy="5068163"/>
          </a:xfrm>
        </p:spPr>
        <p:txBody>
          <a:bodyPr>
            <a:normAutofit lnSpcReduction="10000"/>
          </a:bodyPr>
          <a:lstStyle/>
          <a:p>
            <a:r>
              <a:rPr lang="en-AU" sz="2800" b="1" dirty="0">
                <a:solidFill>
                  <a:schemeClr val="bg1"/>
                </a:solidFill>
              </a:rPr>
              <a:t>Four steps</a:t>
            </a:r>
          </a:p>
          <a:p>
            <a:r>
              <a:rPr lang="en-AU" sz="2800" b="1" u="sng" dirty="0">
                <a:solidFill>
                  <a:schemeClr val="bg1"/>
                </a:solidFill>
              </a:rPr>
              <a:t>1) The body forms a blood clot around the broken bone to protect it and deliver the cells needed for healing. </a:t>
            </a:r>
          </a:p>
          <a:p>
            <a:r>
              <a:rPr lang="en-AU" sz="2800" b="1" u="sng" dirty="0">
                <a:solidFill>
                  <a:schemeClr val="bg1"/>
                </a:solidFill>
              </a:rPr>
              <a:t>2) Bone generation through collagen fibres that connect the ends of the broken bone and start to form spongy bone. </a:t>
            </a:r>
          </a:p>
          <a:p>
            <a:r>
              <a:rPr lang="en-AU" sz="2800" b="1" u="sng" dirty="0">
                <a:solidFill>
                  <a:schemeClr val="bg1"/>
                </a:solidFill>
              </a:rPr>
              <a:t>3) Bony callous formation is when fibrocartilaginous callus is converted to spongy callus. The break is now joined together by new bone. </a:t>
            </a:r>
          </a:p>
          <a:p>
            <a:r>
              <a:rPr lang="en-AU" sz="2800" b="1" u="sng" dirty="0">
                <a:solidFill>
                  <a:schemeClr val="bg1"/>
                </a:solidFill>
              </a:rPr>
              <a:t>4) Bone is remodelled by osteoclasts and osteoblasts. Can take months to years. </a:t>
            </a:r>
          </a:p>
          <a:p>
            <a:endParaRPr lang="en-AU" sz="2800" b="1" dirty="0">
              <a:solidFill>
                <a:schemeClr val="bg1"/>
              </a:solidFill>
            </a:endParaRPr>
          </a:p>
        </p:txBody>
      </p:sp>
    </p:spTree>
    <p:extLst>
      <p:ext uri="{BB962C8B-B14F-4D97-AF65-F5344CB8AC3E}">
        <p14:creationId xmlns:p14="http://schemas.microsoft.com/office/powerpoint/2010/main" val="624315469"/>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D06F1E"/>
      </a:dk2>
      <a:lt2>
        <a:srgbClr val="F0BE21"/>
      </a:lt2>
      <a:accent1>
        <a:srgbClr val="760603"/>
      </a:accent1>
      <a:accent2>
        <a:srgbClr val="9F761A"/>
      </a:accent2>
      <a:accent3>
        <a:srgbClr val="92A200"/>
      </a:accent3>
      <a:accent4>
        <a:srgbClr val="4AA157"/>
      </a:accent4>
      <a:accent5>
        <a:srgbClr val="46788D"/>
      </a:accent5>
      <a:accent6>
        <a:srgbClr val="A848A8"/>
      </a:accent6>
      <a:hlink>
        <a:srgbClr val="460402"/>
      </a:hlink>
      <a:folHlink>
        <a:srgbClr val="991111"/>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62000"/>
                <a:satMod val="200000"/>
                <a:lumMod val="124000"/>
              </a:schemeClr>
            </a:gs>
            <a:gs pos="100000">
              <a:schemeClr val="phClr">
                <a:shade val="96000"/>
                <a:hueMod val="88000"/>
                <a:satMod val="220000"/>
                <a:lumMod val="8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82EB108-EDE6-4B8E-957B-D4A69BF580EA}"/>
    </a:ext>
  </a:extLst>
</a:theme>
</file>

<file path=docProps/app.xml><?xml version="1.0" encoding="utf-8"?>
<Properties xmlns="http://schemas.openxmlformats.org/officeDocument/2006/extended-properties" xmlns:vt="http://schemas.openxmlformats.org/officeDocument/2006/docPropsVTypes">
  <Template>Slice</Template>
  <TotalTime>548</TotalTime>
  <Words>2014</Words>
  <Application>Microsoft Office PowerPoint</Application>
  <PresentationFormat>Widescreen</PresentationFormat>
  <Paragraphs>153</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Calibri</vt:lpstr>
      <vt:lpstr>Century Gothic</vt:lpstr>
      <vt:lpstr>Wingdings 3</vt:lpstr>
      <vt:lpstr>Slice</vt:lpstr>
      <vt:lpstr>The Skeletal System </vt:lpstr>
      <vt:lpstr>Welcome back! </vt:lpstr>
      <vt:lpstr>From the curriculum </vt:lpstr>
      <vt:lpstr>Overview of the skeleton </vt:lpstr>
      <vt:lpstr>Functions of the skeleton </vt:lpstr>
      <vt:lpstr>Continued </vt:lpstr>
      <vt:lpstr>Continued </vt:lpstr>
      <vt:lpstr>Continued</vt:lpstr>
      <vt:lpstr>Structure Of bone </vt:lpstr>
      <vt:lpstr>PowerPoint Presentation</vt:lpstr>
      <vt:lpstr>Continued </vt:lpstr>
      <vt:lpstr>Continued </vt:lpstr>
      <vt:lpstr>Microscopic structure of bone </vt:lpstr>
      <vt:lpstr>Continued </vt:lpstr>
      <vt:lpstr>Continued </vt:lpstr>
      <vt:lpstr>PowerPoint Presentation</vt:lpstr>
      <vt:lpstr>CONTINUED </vt:lpstr>
      <vt:lpstr>Cartilage</vt:lpstr>
      <vt:lpstr>Microscopic structure of cartilage </vt:lpstr>
      <vt:lpstr>Types of Cartilage </vt:lpstr>
      <vt:lpstr>Types of cartilage </vt:lpstr>
      <vt:lpstr>Types of cartilage </vt:lpstr>
      <vt:lpstr>PowerPoint Presentation</vt:lpstr>
      <vt:lpstr>Cartilage continued </vt:lpstr>
      <vt:lpstr>Bones and Joints of the skeleton </vt:lpstr>
      <vt:lpstr>Structure of a Synovial Joint </vt:lpstr>
      <vt:lpstr>PowerPoint Presentation</vt:lpstr>
      <vt:lpstr>Continued </vt:lpstr>
      <vt:lpstr>Continued </vt:lpstr>
      <vt:lpstr>Continued </vt:lpstr>
      <vt:lpstr>Continued </vt:lpstr>
      <vt:lpstr>Movement at a joint </vt:lpstr>
      <vt:lpstr>Continued </vt:lpstr>
      <vt:lpstr>PowerPoint Presentation</vt:lpstr>
      <vt:lpstr>Development of long bones </vt:lpstr>
      <vt:lpstr>Continued </vt:lpstr>
      <vt:lpstr>How bones provide for strength, growth and repair </vt:lpstr>
      <vt:lpstr>Broken bones (repair 101)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Skeletal System</dc:title>
  <dc:creator>DOOMEN Lisa [Gilmore College]</dc:creator>
  <cp:lastModifiedBy>DOOMEN Lisa [Gilmore College]</cp:lastModifiedBy>
  <cp:revision>29</cp:revision>
  <dcterms:created xsi:type="dcterms:W3CDTF">2020-11-18T23:14:21Z</dcterms:created>
  <dcterms:modified xsi:type="dcterms:W3CDTF">2023-01-22T01:44:19Z</dcterms:modified>
</cp:coreProperties>
</file>
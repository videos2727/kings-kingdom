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57" r:id="rId4"/>
    <p:sldId id="258" r:id="rId5"/>
    <p:sldId id="259" r:id="rId6"/>
    <p:sldId id="260" r:id="rId7"/>
    <p:sldId id="268" r:id="rId8"/>
    <p:sldId id="269" r:id="rId9"/>
    <p:sldId id="270" r:id="rId10"/>
    <p:sldId id="271" r:id="rId11"/>
    <p:sldId id="261" r:id="rId12"/>
    <p:sldId id="272" r:id="rId13"/>
    <p:sldId id="262" r:id="rId14"/>
    <p:sldId id="273" r:id="rId15"/>
    <p:sldId id="263" r:id="rId16"/>
    <p:sldId id="274" r:id="rId17"/>
    <p:sldId id="264" r:id="rId18"/>
    <p:sldId id="265" r:id="rId19"/>
    <p:sldId id="281" r:id="rId20"/>
    <p:sldId id="266" r:id="rId21"/>
    <p:sldId id="282" r:id="rId22"/>
    <p:sldId id="275" r:id="rId23"/>
    <p:sldId id="276" r:id="rId24"/>
    <p:sldId id="277" r:id="rId25"/>
    <p:sldId id="283" r:id="rId26"/>
    <p:sldId id="278" r:id="rId27"/>
    <p:sldId id="279" r:id="rId28"/>
    <p:sldId id="280" r:id="rId29"/>
    <p:sldId id="284" r:id="rId30"/>
    <p:sldId id="285" r:id="rId31"/>
    <p:sldId id="286" r:id="rId32"/>
    <p:sldId id="287" r:id="rId33"/>
    <p:sldId id="288" r:id="rId34"/>
    <p:sldId id="289" r:id="rId35"/>
    <p:sldId id="290" r:id="rId36"/>
    <p:sldId id="294" r:id="rId37"/>
    <p:sldId id="291" r:id="rId38"/>
    <p:sldId id="29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C613FC5-0A98-4711-8ECE-1FC29BD7BF7B}" type="datetimeFigureOut">
              <a:rPr lang="en-AU" smtClean="0"/>
              <a:t>11/08/2022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3051506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613FC5-0A98-4711-8ECE-1FC29BD7BF7B}" type="datetimeFigureOut">
              <a:rPr lang="en-AU" smtClean="0"/>
              <a:t>11/08/2022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3695776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613FC5-0A98-4711-8ECE-1FC29BD7BF7B}" type="datetimeFigureOut">
              <a:rPr lang="en-AU" smtClean="0"/>
              <a:t>11/08/2022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2504223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C613FC5-0A98-4711-8ECE-1FC29BD7BF7B}" type="datetimeFigureOut">
              <a:rPr lang="en-AU" smtClean="0"/>
              <a:t>11/08/2022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68701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C613FC5-0A98-4711-8ECE-1FC29BD7BF7B}" type="datetimeFigureOut">
              <a:rPr lang="en-AU" smtClean="0"/>
              <a:t>11/08/2022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538741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C613FC5-0A98-4711-8ECE-1FC29BD7BF7B}" type="datetimeFigureOut">
              <a:rPr lang="en-AU" smtClean="0"/>
              <a:t>11/08/2022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114671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613FC5-0A98-4711-8ECE-1FC29BD7BF7B}" type="datetimeFigureOut">
              <a:rPr lang="en-AU" smtClean="0"/>
              <a:t>11/08/2022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189420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613FC5-0A98-4711-8ECE-1FC29BD7BF7B}" type="datetimeFigureOut">
              <a:rPr lang="en-AU" smtClean="0"/>
              <a:t>11/08/2022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3148987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613FC5-0A98-4711-8ECE-1FC29BD7BF7B}" type="datetimeFigureOut">
              <a:rPr lang="en-AU" smtClean="0"/>
              <a:t>11/08/2022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28333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613FC5-0A98-4711-8ECE-1FC29BD7BF7B}" type="datetimeFigureOut">
              <a:rPr lang="en-AU" smtClean="0"/>
              <a:t>11/08/2022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839249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613FC5-0A98-4711-8ECE-1FC29BD7BF7B}" type="datetimeFigureOut">
              <a:rPr lang="en-AU" smtClean="0"/>
              <a:t>11/08/2022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834FDF-16D4-4984-B75D-E1C72B3C6BA3}" type="slidenum">
              <a:rPr lang="en-AU" smtClean="0"/>
              <a:t>‹#›</a:t>
            </a:fld>
            <a:endParaRPr lang="en-AU"/>
          </a:p>
        </p:txBody>
      </p:sp>
    </p:spTree>
    <p:extLst>
      <p:ext uri="{BB962C8B-B14F-4D97-AF65-F5344CB8AC3E}">
        <p14:creationId xmlns:p14="http://schemas.microsoft.com/office/powerpoint/2010/main" val="1048780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60000"/>
                <a:lumOff val="40000"/>
              </a:schemeClr>
            </a:gs>
            <a:gs pos="34000">
              <a:schemeClr val="accent2">
                <a:lumMod val="7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613FC5-0A98-4711-8ECE-1FC29BD7BF7B}" type="datetimeFigureOut">
              <a:rPr lang="en-AU" smtClean="0"/>
              <a:t>11/08/2022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34FDF-16D4-4984-B75D-E1C72B3C6BA3}" type="slidenum">
              <a:rPr lang="en-AU" smtClean="0"/>
              <a:t>‹#›</a:t>
            </a:fld>
            <a:endParaRPr lang="en-AU"/>
          </a:p>
        </p:txBody>
      </p:sp>
    </p:spTree>
    <p:extLst>
      <p:ext uri="{BB962C8B-B14F-4D97-AF65-F5344CB8AC3E}">
        <p14:creationId xmlns:p14="http://schemas.microsoft.com/office/powerpoint/2010/main" val="19403654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122363"/>
            <a:ext cx="11430000" cy="2387600"/>
          </a:xfrm>
          <a:gradFill>
            <a:gsLst>
              <a:gs pos="0">
                <a:schemeClr val="accent2">
                  <a:lumMod val="60000"/>
                  <a:lumOff val="40000"/>
                </a:schemeClr>
              </a:gs>
              <a:gs pos="34000">
                <a:schemeClr val="accent2">
                  <a:lumMod val="75000"/>
                </a:schemeClr>
              </a:gs>
            </a:gsLst>
            <a:lin ang="5400000" scaled="1"/>
          </a:gradFill>
        </p:spPr>
        <p:txBody>
          <a:bodyPr>
            <a:normAutofit/>
          </a:bodyPr>
          <a:lstStyle/>
          <a:p>
            <a:r>
              <a:rPr lang="en-AU" sz="8000" b="1" dirty="0" smtClean="0"/>
              <a:t>Vaccines and Immunology </a:t>
            </a:r>
            <a:endParaRPr lang="en-AU" sz="8000" b="1" dirty="0"/>
          </a:p>
        </p:txBody>
      </p:sp>
    </p:spTree>
    <p:extLst>
      <p:ext uri="{BB962C8B-B14F-4D97-AF65-F5344CB8AC3E}">
        <p14:creationId xmlns:p14="http://schemas.microsoft.com/office/powerpoint/2010/main" val="3036920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e Awkward Yeti (Nick Seluk) on Twitter: &amp;quot;#macrophage  https://t.co/RGiEqhoNud… &amp;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167" y="67841"/>
            <a:ext cx="7294920" cy="6723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564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Inflammatory Response </a:t>
            </a:r>
            <a:endParaRPr lang="en-AU" sz="6000" b="1" dirty="0"/>
          </a:p>
        </p:txBody>
      </p:sp>
      <p:sp>
        <p:nvSpPr>
          <p:cNvPr id="3" name="Content Placeholder 2"/>
          <p:cNvSpPr>
            <a:spLocks noGrp="1"/>
          </p:cNvSpPr>
          <p:nvPr>
            <p:ph idx="1"/>
          </p:nvPr>
        </p:nvSpPr>
        <p:spPr/>
        <p:txBody>
          <a:bodyPr/>
          <a:lstStyle/>
          <a:p>
            <a:r>
              <a:rPr lang="en-AU" sz="3400" dirty="0"/>
              <a:t>Inflammation is a response to any damage to the tissues. </a:t>
            </a:r>
            <a:endParaRPr lang="en-AU" sz="3400" dirty="0" smtClean="0"/>
          </a:p>
          <a:p>
            <a:endParaRPr lang="en-AU" sz="3400" dirty="0"/>
          </a:p>
          <a:p>
            <a:r>
              <a:rPr lang="en-AU" sz="3400" dirty="0"/>
              <a:t>The purposes of inflammation are to: </a:t>
            </a:r>
          </a:p>
          <a:p>
            <a:pPr lvl="1"/>
            <a:r>
              <a:rPr lang="en-AU" sz="3400" dirty="0"/>
              <a:t>reduce the spread of any pathogens, to destroy them and to prevent the entry of additional pathogens. </a:t>
            </a:r>
          </a:p>
          <a:p>
            <a:pPr lvl="1"/>
            <a:r>
              <a:rPr lang="en-AU" sz="3400" dirty="0"/>
              <a:t>remove damaged tissue and cell debris </a:t>
            </a:r>
          </a:p>
          <a:p>
            <a:pPr lvl="1"/>
            <a:r>
              <a:rPr lang="en-AU" sz="3400" dirty="0"/>
              <a:t>begin repair of the damaged tissue </a:t>
            </a:r>
          </a:p>
          <a:p>
            <a:endParaRPr lang="en-AU" dirty="0"/>
          </a:p>
        </p:txBody>
      </p:sp>
    </p:spTree>
    <p:extLst>
      <p:ext uri="{BB962C8B-B14F-4D97-AF65-F5344CB8AC3E}">
        <p14:creationId xmlns:p14="http://schemas.microsoft.com/office/powerpoint/2010/main" val="244716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Inflammatory Response </a:t>
            </a:r>
            <a:endParaRPr lang="en-AU" sz="6000" b="1" dirty="0"/>
          </a:p>
        </p:txBody>
      </p:sp>
      <p:sp>
        <p:nvSpPr>
          <p:cNvPr id="3" name="Content Placeholder 2"/>
          <p:cNvSpPr>
            <a:spLocks noGrp="1"/>
          </p:cNvSpPr>
          <p:nvPr>
            <p:ph idx="1"/>
          </p:nvPr>
        </p:nvSpPr>
        <p:spPr/>
        <p:txBody>
          <a:bodyPr>
            <a:normAutofit/>
          </a:bodyPr>
          <a:lstStyle/>
          <a:p>
            <a:r>
              <a:rPr lang="en-AU" sz="3400" dirty="0"/>
              <a:t>Words ending in </a:t>
            </a:r>
            <a:r>
              <a:rPr lang="en-AU" sz="3400" i="1" dirty="0"/>
              <a:t>–itis </a:t>
            </a:r>
            <a:r>
              <a:rPr lang="en-AU" sz="3400" dirty="0"/>
              <a:t>indicate inflammation of specific organs or tissues. </a:t>
            </a:r>
            <a:endParaRPr lang="en-AU" sz="3400" dirty="0" smtClean="0"/>
          </a:p>
          <a:p>
            <a:endParaRPr lang="en-AU" sz="3400" dirty="0"/>
          </a:p>
          <a:p>
            <a:r>
              <a:rPr lang="en-AU" sz="3400" dirty="0"/>
              <a:t>There are four signs of inflammation</a:t>
            </a:r>
          </a:p>
          <a:p>
            <a:pPr lvl="1"/>
            <a:r>
              <a:rPr lang="en-AU" sz="3400" dirty="0"/>
              <a:t>Redness </a:t>
            </a:r>
          </a:p>
          <a:p>
            <a:pPr lvl="1"/>
            <a:r>
              <a:rPr lang="en-AU" sz="3400" dirty="0"/>
              <a:t>Swelling </a:t>
            </a:r>
          </a:p>
          <a:p>
            <a:pPr lvl="1"/>
            <a:r>
              <a:rPr lang="en-AU" sz="3400" dirty="0"/>
              <a:t>Heat </a:t>
            </a:r>
          </a:p>
          <a:p>
            <a:pPr lvl="1"/>
            <a:r>
              <a:rPr lang="en-AU" sz="3400" dirty="0"/>
              <a:t>Pain </a:t>
            </a:r>
          </a:p>
          <a:p>
            <a:endParaRPr lang="en-AU" sz="3400" dirty="0"/>
          </a:p>
        </p:txBody>
      </p:sp>
    </p:spTree>
    <p:extLst>
      <p:ext uri="{BB962C8B-B14F-4D97-AF65-F5344CB8AC3E}">
        <p14:creationId xmlns:p14="http://schemas.microsoft.com/office/powerpoint/2010/main" val="3799954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Why is it triggered?</a:t>
            </a:r>
            <a:endParaRPr lang="en-AU" sz="6000" b="1" dirty="0"/>
          </a:p>
        </p:txBody>
      </p:sp>
      <p:sp>
        <p:nvSpPr>
          <p:cNvPr id="3" name="Content Placeholder 2"/>
          <p:cNvSpPr>
            <a:spLocks noGrp="1"/>
          </p:cNvSpPr>
          <p:nvPr>
            <p:ph idx="1"/>
          </p:nvPr>
        </p:nvSpPr>
        <p:spPr/>
        <p:txBody>
          <a:bodyPr>
            <a:normAutofit/>
          </a:bodyPr>
          <a:lstStyle/>
          <a:p>
            <a:r>
              <a:rPr lang="en-AU" sz="3400" dirty="0"/>
              <a:t>Damage to tissues stimulates an integrated series of steps in the inflammatory response</a:t>
            </a:r>
          </a:p>
          <a:p>
            <a:endParaRPr lang="en-AU" sz="3400" dirty="0"/>
          </a:p>
        </p:txBody>
      </p:sp>
    </p:spTree>
    <p:extLst>
      <p:ext uri="{BB962C8B-B14F-4D97-AF65-F5344CB8AC3E}">
        <p14:creationId xmlns:p14="http://schemas.microsoft.com/office/powerpoint/2010/main" val="3722315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2" y="365125"/>
            <a:ext cx="11104418" cy="1325563"/>
          </a:xfrm>
        </p:spPr>
        <p:txBody>
          <a:bodyPr>
            <a:noAutofit/>
          </a:bodyPr>
          <a:lstStyle/>
          <a:p>
            <a:r>
              <a:rPr lang="en-AU" sz="6000" b="1" dirty="0" smtClean="0"/>
              <a:t>Steps in the Inflammatory Response </a:t>
            </a:r>
            <a:endParaRPr lang="en-AU" sz="6000" b="1" dirty="0"/>
          </a:p>
        </p:txBody>
      </p:sp>
      <p:sp>
        <p:nvSpPr>
          <p:cNvPr id="3" name="Content Placeholder 2"/>
          <p:cNvSpPr>
            <a:spLocks noGrp="1"/>
          </p:cNvSpPr>
          <p:nvPr>
            <p:ph idx="1"/>
          </p:nvPr>
        </p:nvSpPr>
        <p:spPr/>
        <p:txBody>
          <a:bodyPr>
            <a:normAutofit/>
          </a:bodyPr>
          <a:lstStyle/>
          <a:p>
            <a:pPr marL="0" indent="0" fontAlgn="t">
              <a:spcBef>
                <a:spcPts val="0"/>
              </a:spcBef>
              <a:buNone/>
            </a:pPr>
            <a:r>
              <a:rPr lang="en-AU" sz="3400" dirty="0" smtClean="0">
                <a:solidFill>
                  <a:srgbClr val="000000"/>
                </a:solidFill>
              </a:rPr>
              <a:t>Step 1: When </a:t>
            </a:r>
            <a:r>
              <a:rPr lang="en-AU" sz="3400" dirty="0">
                <a:solidFill>
                  <a:srgbClr val="000000"/>
                </a:solidFill>
              </a:rPr>
              <a:t>stimulated by damage mast cells (special cells present in most tissues) stimulate and coordinate inflammation by releasing chemicals </a:t>
            </a:r>
            <a:endParaRPr lang="en-AU" sz="3400" dirty="0" smtClean="0"/>
          </a:p>
          <a:p>
            <a:pPr marL="0" indent="0" fontAlgn="t">
              <a:spcBef>
                <a:spcPts val="0"/>
              </a:spcBef>
              <a:buNone/>
            </a:pPr>
            <a:endParaRPr lang="en-AU" sz="3400" dirty="0">
              <a:solidFill>
                <a:srgbClr val="000000"/>
              </a:solidFill>
            </a:endParaRPr>
          </a:p>
          <a:p>
            <a:pPr marL="0" indent="0" fontAlgn="t">
              <a:spcBef>
                <a:spcPts val="0"/>
              </a:spcBef>
              <a:buNone/>
            </a:pPr>
            <a:r>
              <a:rPr lang="en-AU" sz="3400" dirty="0" smtClean="0">
                <a:solidFill>
                  <a:srgbClr val="000000"/>
                </a:solidFill>
              </a:rPr>
              <a:t>Step 2: Histamine </a:t>
            </a:r>
            <a:r>
              <a:rPr lang="en-AU" sz="3400" dirty="0">
                <a:solidFill>
                  <a:srgbClr val="000000"/>
                </a:solidFill>
              </a:rPr>
              <a:t>increases blood flow (causes heat and redness) through the area causing blood capillaries to become more permeable so fluid is filtered from blood (causes swelling). </a:t>
            </a:r>
            <a:endParaRPr lang="en-AU" sz="3400" dirty="0"/>
          </a:p>
          <a:p>
            <a:endParaRPr lang="en-AU" sz="3400" dirty="0"/>
          </a:p>
        </p:txBody>
      </p:sp>
    </p:spTree>
    <p:extLst>
      <p:ext uri="{BB962C8B-B14F-4D97-AF65-F5344CB8AC3E}">
        <p14:creationId xmlns:p14="http://schemas.microsoft.com/office/powerpoint/2010/main" val="2610445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2" y="365125"/>
            <a:ext cx="11104418" cy="1325563"/>
          </a:xfrm>
        </p:spPr>
        <p:txBody>
          <a:bodyPr>
            <a:noAutofit/>
          </a:bodyPr>
          <a:lstStyle/>
          <a:p>
            <a:r>
              <a:rPr lang="en-AU" sz="6000" b="1" dirty="0" smtClean="0"/>
              <a:t>Steps in the Inflammatory Response </a:t>
            </a:r>
            <a:endParaRPr lang="en-AU" sz="6000" b="1" dirty="0"/>
          </a:p>
        </p:txBody>
      </p:sp>
      <p:sp>
        <p:nvSpPr>
          <p:cNvPr id="3" name="Content Placeholder 2"/>
          <p:cNvSpPr>
            <a:spLocks noGrp="1"/>
          </p:cNvSpPr>
          <p:nvPr>
            <p:ph idx="1"/>
          </p:nvPr>
        </p:nvSpPr>
        <p:spPr/>
        <p:txBody>
          <a:bodyPr>
            <a:normAutofit/>
          </a:bodyPr>
          <a:lstStyle/>
          <a:p>
            <a:pPr marL="0" indent="0" fontAlgn="t">
              <a:spcBef>
                <a:spcPts val="0"/>
              </a:spcBef>
              <a:buNone/>
            </a:pPr>
            <a:r>
              <a:rPr lang="en-AU" sz="3400" dirty="0" smtClean="0">
                <a:solidFill>
                  <a:srgbClr val="000000"/>
                </a:solidFill>
              </a:rPr>
              <a:t>Step 3: Heparin </a:t>
            </a:r>
            <a:r>
              <a:rPr lang="en-AU" sz="3400" dirty="0">
                <a:solidFill>
                  <a:srgbClr val="000000"/>
                </a:solidFill>
              </a:rPr>
              <a:t>released from the mast cells prevents clotting in the immediate are of the injury. A clot of the fluid around the damaged area does form and this slows the spread of the pathogen. </a:t>
            </a:r>
            <a:endParaRPr lang="en-AU" sz="3400" dirty="0"/>
          </a:p>
          <a:p>
            <a:pPr marL="0" indent="0" fontAlgn="t">
              <a:spcBef>
                <a:spcPts val="0"/>
              </a:spcBef>
              <a:buNone/>
            </a:pPr>
            <a:endParaRPr lang="en-AU" sz="3400" dirty="0">
              <a:solidFill>
                <a:srgbClr val="000000"/>
              </a:solidFill>
            </a:endParaRPr>
          </a:p>
          <a:p>
            <a:pPr marL="0" indent="0" fontAlgn="t">
              <a:spcBef>
                <a:spcPts val="0"/>
              </a:spcBef>
              <a:buNone/>
            </a:pPr>
            <a:r>
              <a:rPr lang="en-AU" sz="3400" dirty="0" smtClean="0">
                <a:solidFill>
                  <a:srgbClr val="000000"/>
                </a:solidFill>
              </a:rPr>
              <a:t>Step 4: The </a:t>
            </a:r>
            <a:r>
              <a:rPr lang="en-AU" sz="3400" dirty="0">
                <a:solidFill>
                  <a:srgbClr val="000000"/>
                </a:solidFill>
              </a:rPr>
              <a:t>chemicals released by the mast cells attract phagocytes. Macrophages and leucocytes actively consume micro-organisms and debris by phagocytes. </a:t>
            </a:r>
            <a:endParaRPr lang="en-AU" sz="3400" dirty="0"/>
          </a:p>
          <a:p>
            <a:endParaRPr lang="en-AU" sz="3400" dirty="0"/>
          </a:p>
        </p:txBody>
      </p:sp>
    </p:spTree>
    <p:extLst>
      <p:ext uri="{BB962C8B-B14F-4D97-AF65-F5344CB8AC3E}">
        <p14:creationId xmlns:p14="http://schemas.microsoft.com/office/powerpoint/2010/main" val="1864086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2" y="365125"/>
            <a:ext cx="11104418" cy="1325563"/>
          </a:xfrm>
        </p:spPr>
        <p:txBody>
          <a:bodyPr>
            <a:noAutofit/>
          </a:bodyPr>
          <a:lstStyle/>
          <a:p>
            <a:r>
              <a:rPr lang="en-AU" sz="6000" b="1" dirty="0" smtClean="0"/>
              <a:t>Steps in the Inflammatory Response </a:t>
            </a:r>
            <a:endParaRPr lang="en-AU" sz="6000" b="1" dirty="0"/>
          </a:p>
        </p:txBody>
      </p:sp>
      <p:sp>
        <p:nvSpPr>
          <p:cNvPr id="3" name="Content Placeholder 2"/>
          <p:cNvSpPr>
            <a:spLocks noGrp="1"/>
          </p:cNvSpPr>
          <p:nvPr>
            <p:ph idx="1"/>
          </p:nvPr>
        </p:nvSpPr>
        <p:spPr/>
        <p:txBody>
          <a:bodyPr/>
          <a:lstStyle/>
          <a:p>
            <a:pPr marL="0" indent="0" fontAlgn="t">
              <a:spcBef>
                <a:spcPts val="0"/>
              </a:spcBef>
              <a:buNone/>
            </a:pPr>
            <a:endParaRPr lang="en-AU" sz="3400" dirty="0"/>
          </a:p>
          <a:p>
            <a:pPr marL="0" indent="0" fontAlgn="t">
              <a:spcBef>
                <a:spcPts val="0"/>
              </a:spcBef>
              <a:buNone/>
            </a:pPr>
            <a:r>
              <a:rPr lang="en-AU" sz="3400" dirty="0" smtClean="0">
                <a:solidFill>
                  <a:srgbClr val="000000"/>
                </a:solidFill>
              </a:rPr>
              <a:t>Step 5: The </a:t>
            </a:r>
            <a:r>
              <a:rPr lang="en-AU" sz="3400" dirty="0">
                <a:solidFill>
                  <a:srgbClr val="000000"/>
                </a:solidFill>
              </a:rPr>
              <a:t>abnormal conditions in the tissue stimulate pain receptors, and so the person feels pain in the inflamed area. </a:t>
            </a:r>
            <a:endParaRPr lang="en-AU" sz="3400" dirty="0" smtClean="0"/>
          </a:p>
          <a:p>
            <a:pPr marL="0" indent="0" fontAlgn="t">
              <a:spcBef>
                <a:spcPts val="0"/>
              </a:spcBef>
              <a:buNone/>
            </a:pPr>
            <a:endParaRPr lang="en-AU" sz="3400" dirty="0">
              <a:solidFill>
                <a:srgbClr val="000000"/>
              </a:solidFill>
            </a:endParaRPr>
          </a:p>
          <a:p>
            <a:pPr marL="0" indent="0" fontAlgn="t">
              <a:spcBef>
                <a:spcPts val="0"/>
              </a:spcBef>
              <a:buNone/>
            </a:pPr>
            <a:r>
              <a:rPr lang="en-AU" sz="3400" dirty="0" smtClean="0">
                <a:solidFill>
                  <a:srgbClr val="000000"/>
                </a:solidFill>
              </a:rPr>
              <a:t>Step 6: The </a:t>
            </a:r>
            <a:r>
              <a:rPr lang="en-AU" sz="3400" dirty="0">
                <a:solidFill>
                  <a:srgbClr val="000000"/>
                </a:solidFill>
              </a:rPr>
              <a:t>phagocytes, filled with bacteria, debris and dead cells, begin to die. The dead phagocytes and tissue fluid form a yellow liquid called pus. </a:t>
            </a:r>
            <a:endParaRPr lang="en-AU" sz="3400" dirty="0"/>
          </a:p>
          <a:p>
            <a:endParaRPr lang="en-AU" dirty="0"/>
          </a:p>
        </p:txBody>
      </p:sp>
    </p:spTree>
    <p:extLst>
      <p:ext uri="{BB962C8B-B14F-4D97-AF65-F5344CB8AC3E}">
        <p14:creationId xmlns:p14="http://schemas.microsoft.com/office/powerpoint/2010/main" val="1063200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2" y="365125"/>
            <a:ext cx="11104418" cy="1325563"/>
          </a:xfrm>
        </p:spPr>
        <p:txBody>
          <a:bodyPr>
            <a:noAutofit/>
          </a:bodyPr>
          <a:lstStyle/>
          <a:p>
            <a:r>
              <a:rPr lang="en-AU" sz="6000" b="1" dirty="0" smtClean="0"/>
              <a:t>Steps in the Inflammatory Response </a:t>
            </a:r>
            <a:endParaRPr lang="en-AU" sz="6000" b="1" dirty="0"/>
          </a:p>
        </p:txBody>
      </p:sp>
      <p:sp>
        <p:nvSpPr>
          <p:cNvPr id="3" name="Content Placeholder 2"/>
          <p:cNvSpPr>
            <a:spLocks noGrp="1"/>
          </p:cNvSpPr>
          <p:nvPr>
            <p:ph idx="1"/>
          </p:nvPr>
        </p:nvSpPr>
        <p:spPr/>
        <p:txBody>
          <a:bodyPr>
            <a:normAutofit/>
          </a:bodyPr>
          <a:lstStyle/>
          <a:p>
            <a:pPr marL="0" indent="0" fontAlgn="t">
              <a:spcBef>
                <a:spcPts val="0"/>
              </a:spcBef>
              <a:buNone/>
            </a:pPr>
            <a:r>
              <a:rPr lang="en-AU" sz="3400" dirty="0" smtClean="0"/>
              <a:t>Step 7: </a:t>
            </a:r>
            <a:r>
              <a:rPr lang="en-AU" sz="3400" dirty="0"/>
              <a:t>New cells are produced by mitosis and repair of the damaged tissue takes place</a:t>
            </a:r>
          </a:p>
          <a:p>
            <a:pPr marL="0" indent="0" fontAlgn="t">
              <a:spcBef>
                <a:spcPts val="0"/>
              </a:spcBef>
              <a:buNone/>
            </a:pPr>
            <a:endParaRPr lang="en-AU" sz="3400" dirty="0"/>
          </a:p>
          <a:p>
            <a:endParaRPr lang="en-AU" sz="3400" dirty="0"/>
          </a:p>
        </p:txBody>
      </p:sp>
    </p:spTree>
    <p:extLst>
      <p:ext uri="{BB962C8B-B14F-4D97-AF65-F5344CB8AC3E}">
        <p14:creationId xmlns:p14="http://schemas.microsoft.com/office/powerpoint/2010/main" val="711992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e Inflammatory Response - Chromo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8028" y="50132"/>
            <a:ext cx="6192688" cy="6814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11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What is a Phagocyte?</a:t>
            </a:r>
            <a:endParaRPr lang="en-AU" sz="6000" b="1" dirty="0"/>
          </a:p>
        </p:txBody>
      </p:sp>
      <p:sp>
        <p:nvSpPr>
          <p:cNvPr id="3" name="Content Placeholder 2"/>
          <p:cNvSpPr>
            <a:spLocks noGrp="1"/>
          </p:cNvSpPr>
          <p:nvPr>
            <p:ph idx="1"/>
          </p:nvPr>
        </p:nvSpPr>
        <p:spPr/>
        <p:txBody>
          <a:bodyPr>
            <a:normAutofit/>
          </a:bodyPr>
          <a:lstStyle/>
          <a:p>
            <a:r>
              <a:rPr lang="en-AU" sz="3400" dirty="0" smtClean="0"/>
              <a:t>Phagocytes are cells that engulf and digest micro-organisms and cell debris. </a:t>
            </a:r>
          </a:p>
          <a:p>
            <a:endParaRPr lang="en-AU" sz="3400" dirty="0"/>
          </a:p>
          <a:p>
            <a:r>
              <a:rPr lang="en-AU" sz="3400" dirty="0" smtClean="0"/>
              <a:t>They are important in the defence against disease. </a:t>
            </a:r>
            <a:endParaRPr lang="en-AU" sz="3400" dirty="0"/>
          </a:p>
        </p:txBody>
      </p:sp>
    </p:spTree>
    <p:extLst>
      <p:ext uri="{BB962C8B-B14F-4D97-AF65-F5344CB8AC3E}">
        <p14:creationId xmlns:p14="http://schemas.microsoft.com/office/powerpoint/2010/main" val="3730968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16691" y="1047404"/>
            <a:ext cx="7752522" cy="4754880"/>
          </a:xfrm>
          <a:prstGeom prst="rect">
            <a:avLst/>
          </a:prstGeom>
        </p:spPr>
      </p:pic>
    </p:spTree>
    <p:extLst>
      <p:ext uri="{BB962C8B-B14F-4D97-AF65-F5344CB8AC3E}">
        <p14:creationId xmlns:p14="http://schemas.microsoft.com/office/powerpoint/2010/main" val="292862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What is a Leucocyte?</a:t>
            </a:r>
            <a:endParaRPr lang="en-AU" sz="6000" b="1" dirty="0"/>
          </a:p>
        </p:txBody>
      </p:sp>
      <p:sp>
        <p:nvSpPr>
          <p:cNvPr id="3" name="Content Placeholder 2"/>
          <p:cNvSpPr>
            <a:spLocks noGrp="1"/>
          </p:cNvSpPr>
          <p:nvPr>
            <p:ph idx="1"/>
          </p:nvPr>
        </p:nvSpPr>
        <p:spPr/>
        <p:txBody>
          <a:bodyPr>
            <a:normAutofit/>
          </a:bodyPr>
          <a:lstStyle/>
          <a:p>
            <a:r>
              <a:rPr lang="en-AU" sz="3400" dirty="0" smtClean="0"/>
              <a:t>They are white blood cells </a:t>
            </a:r>
          </a:p>
          <a:p>
            <a:endParaRPr lang="en-AU" sz="3400" dirty="0"/>
          </a:p>
          <a:p>
            <a:r>
              <a:rPr lang="en-AU" sz="3400" dirty="0" smtClean="0"/>
              <a:t>They are able to leave the blood capillaries and migrate through the tissues to places of infection or injury </a:t>
            </a:r>
          </a:p>
          <a:p>
            <a:endParaRPr lang="en-AU" sz="3400" dirty="0"/>
          </a:p>
          <a:p>
            <a:r>
              <a:rPr lang="en-AU" sz="3400" dirty="0" smtClean="0"/>
              <a:t>Some leucocytes secrete substances that destroy bacteria, whilst some engulf bacteria. </a:t>
            </a:r>
            <a:endParaRPr lang="en-AU" sz="3400" dirty="0"/>
          </a:p>
        </p:txBody>
      </p:sp>
    </p:spTree>
    <p:extLst>
      <p:ext uri="{BB962C8B-B14F-4D97-AF65-F5344CB8AC3E}">
        <p14:creationId xmlns:p14="http://schemas.microsoft.com/office/powerpoint/2010/main" val="3204347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4903" y="1525818"/>
            <a:ext cx="8079497" cy="4542473"/>
          </a:xfrm>
          <a:prstGeom prst="rect">
            <a:avLst/>
          </a:prstGeom>
        </p:spPr>
      </p:pic>
      <p:sp>
        <p:nvSpPr>
          <p:cNvPr id="3" name="TextBox 2"/>
          <p:cNvSpPr txBox="1"/>
          <p:nvPr/>
        </p:nvSpPr>
        <p:spPr>
          <a:xfrm>
            <a:off x="9277004" y="1330036"/>
            <a:ext cx="2576945" cy="3231654"/>
          </a:xfrm>
          <a:prstGeom prst="rect">
            <a:avLst/>
          </a:prstGeom>
          <a:noFill/>
        </p:spPr>
        <p:txBody>
          <a:bodyPr wrap="square" rtlCol="0">
            <a:spAutoFit/>
          </a:bodyPr>
          <a:lstStyle/>
          <a:p>
            <a:pPr algn="ctr"/>
            <a:r>
              <a:rPr lang="en-AU" sz="3400" dirty="0" smtClean="0"/>
              <a:t>Cancer cell (Purple) being attacked by Leucocytes (Blue) </a:t>
            </a:r>
            <a:endParaRPr lang="en-AU" sz="3400" dirty="0"/>
          </a:p>
        </p:txBody>
      </p:sp>
    </p:spTree>
    <p:extLst>
      <p:ext uri="{BB962C8B-B14F-4D97-AF65-F5344CB8AC3E}">
        <p14:creationId xmlns:p14="http://schemas.microsoft.com/office/powerpoint/2010/main" val="3173534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What is a Macrophage?</a:t>
            </a:r>
            <a:endParaRPr lang="en-AU" sz="6000" b="1" dirty="0"/>
          </a:p>
        </p:txBody>
      </p:sp>
      <p:sp>
        <p:nvSpPr>
          <p:cNvPr id="3" name="Content Placeholder 2"/>
          <p:cNvSpPr>
            <a:spLocks noGrp="1"/>
          </p:cNvSpPr>
          <p:nvPr>
            <p:ph idx="1"/>
          </p:nvPr>
        </p:nvSpPr>
        <p:spPr>
          <a:xfrm>
            <a:off x="838200" y="1825625"/>
            <a:ext cx="10982498" cy="4774680"/>
          </a:xfrm>
        </p:spPr>
        <p:txBody>
          <a:bodyPr/>
          <a:lstStyle/>
          <a:p>
            <a:r>
              <a:rPr lang="en-AU" sz="3400" dirty="0"/>
              <a:t>Large phagocytic cells that develop from some leucocytes </a:t>
            </a:r>
            <a:endParaRPr lang="en-AU" sz="3400" dirty="0" smtClean="0"/>
          </a:p>
          <a:p>
            <a:endParaRPr lang="en-AU" sz="3400" dirty="0"/>
          </a:p>
          <a:p>
            <a:r>
              <a:rPr lang="en-AU" sz="3400" dirty="0"/>
              <a:t>Some wander looking for pathogens to </a:t>
            </a:r>
            <a:r>
              <a:rPr lang="en-AU" sz="3400" dirty="0" smtClean="0"/>
              <a:t>destroy, whilst others </a:t>
            </a:r>
            <a:r>
              <a:rPr lang="en-AU" sz="3400" dirty="0"/>
              <a:t>are fixed in one place and only deal with pathogens that approach them </a:t>
            </a:r>
            <a:endParaRPr lang="en-AU" sz="3400" dirty="0" smtClean="0"/>
          </a:p>
          <a:p>
            <a:endParaRPr lang="en-AU" sz="3400" dirty="0"/>
          </a:p>
          <a:p>
            <a:r>
              <a:rPr lang="en-AU" sz="3400" dirty="0" smtClean="0"/>
              <a:t>They either </a:t>
            </a:r>
            <a:r>
              <a:rPr lang="en-AU" sz="3400" dirty="0"/>
              <a:t>engulf and digest the micro-organism or secrete substances to destroy them </a:t>
            </a:r>
          </a:p>
          <a:p>
            <a:endParaRPr lang="en-AU" dirty="0"/>
          </a:p>
        </p:txBody>
      </p:sp>
    </p:spTree>
    <p:extLst>
      <p:ext uri="{BB962C8B-B14F-4D97-AF65-F5344CB8AC3E}">
        <p14:creationId xmlns:p14="http://schemas.microsoft.com/office/powerpoint/2010/main" val="400819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acrophages fighting microfilariae | Microscopic photography, Microscopic,  Electron microsco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812" y="692696"/>
            <a:ext cx="5760638" cy="57606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174532" y="1484784"/>
            <a:ext cx="4104456" cy="3754874"/>
          </a:xfrm>
          <a:prstGeom prst="rect">
            <a:avLst/>
          </a:prstGeom>
          <a:noFill/>
        </p:spPr>
        <p:txBody>
          <a:bodyPr wrap="square" rtlCol="0">
            <a:spAutoFit/>
          </a:bodyPr>
          <a:lstStyle/>
          <a:p>
            <a:pPr algn="ctr"/>
            <a:r>
              <a:rPr lang="en-AU" sz="3400" dirty="0" smtClean="0"/>
              <a:t>Scanning electromicrograph showing macrophages (yellow) attacking the larva of a parasitic worm transmitted via a mosquito bite </a:t>
            </a:r>
            <a:endParaRPr lang="en-AU" sz="3400" dirty="0"/>
          </a:p>
        </p:txBody>
      </p:sp>
    </p:spTree>
    <p:extLst>
      <p:ext uri="{BB962C8B-B14F-4D97-AF65-F5344CB8AC3E}">
        <p14:creationId xmlns:p14="http://schemas.microsoft.com/office/powerpoint/2010/main" val="2348591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Immune Response continued </a:t>
            </a:r>
            <a:endParaRPr lang="en-AU" sz="6000" b="1" dirty="0"/>
          </a:p>
        </p:txBody>
      </p:sp>
      <p:sp>
        <p:nvSpPr>
          <p:cNvPr id="3" name="Content Placeholder 2"/>
          <p:cNvSpPr>
            <a:spLocks noGrp="1"/>
          </p:cNvSpPr>
          <p:nvPr>
            <p:ph idx="1"/>
          </p:nvPr>
        </p:nvSpPr>
        <p:spPr/>
        <p:txBody>
          <a:bodyPr/>
          <a:lstStyle/>
          <a:p>
            <a:r>
              <a:rPr lang="en-AU" sz="3400" dirty="0" smtClean="0"/>
              <a:t>The Immune Response is a homeostatic mechanism </a:t>
            </a:r>
          </a:p>
          <a:p>
            <a:endParaRPr lang="en-AU" sz="3400" dirty="0"/>
          </a:p>
          <a:p>
            <a:r>
              <a:rPr lang="en-AU" sz="3400" dirty="0"/>
              <a:t>When micro-organisms or foreign substances enter the body, the immune response helps to deal with the invasion and restore the internal environment to its normal condition. </a:t>
            </a:r>
          </a:p>
          <a:p>
            <a:endParaRPr lang="en-AU" dirty="0"/>
          </a:p>
        </p:txBody>
      </p:sp>
    </p:spTree>
    <p:extLst>
      <p:ext uri="{BB962C8B-B14F-4D97-AF65-F5344CB8AC3E}">
        <p14:creationId xmlns:p14="http://schemas.microsoft.com/office/powerpoint/2010/main" val="3139645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Parts of the Immune Response </a:t>
            </a:r>
            <a:endParaRPr lang="en-AU" sz="6000" b="1" dirty="0"/>
          </a:p>
        </p:txBody>
      </p:sp>
      <p:sp>
        <p:nvSpPr>
          <p:cNvPr id="3" name="Content Placeholder 2"/>
          <p:cNvSpPr>
            <a:spLocks noGrp="1"/>
          </p:cNvSpPr>
          <p:nvPr>
            <p:ph idx="1"/>
          </p:nvPr>
        </p:nvSpPr>
        <p:spPr>
          <a:xfrm>
            <a:off x="249381" y="1825625"/>
            <a:ext cx="11671069" cy="4741430"/>
          </a:xfrm>
        </p:spPr>
        <p:txBody>
          <a:bodyPr>
            <a:normAutofit/>
          </a:bodyPr>
          <a:lstStyle/>
          <a:p>
            <a:r>
              <a:rPr lang="en-AU" sz="3400" dirty="0" smtClean="0"/>
              <a:t>There are two parts to the </a:t>
            </a:r>
            <a:r>
              <a:rPr lang="en-AU" sz="3400" dirty="0" smtClean="0"/>
              <a:t>Immune Response: </a:t>
            </a:r>
          </a:p>
          <a:p>
            <a:pPr marL="914400" lvl="1" indent="-457200">
              <a:buFont typeface="+mj-lt"/>
              <a:buAutoNum type="arabicPeriod"/>
            </a:pPr>
            <a:r>
              <a:rPr lang="en-AU" sz="3400" dirty="0" smtClean="0"/>
              <a:t>Anti-body </a:t>
            </a:r>
            <a:r>
              <a:rPr lang="en-AU" sz="3400" dirty="0"/>
              <a:t>mediated immunity: involves the production of special proteins called antibodies, which circulate around the body and attack invading </a:t>
            </a:r>
            <a:r>
              <a:rPr lang="en-AU" sz="3400" dirty="0" smtClean="0"/>
              <a:t>agents</a:t>
            </a:r>
          </a:p>
          <a:p>
            <a:pPr marL="914400" lvl="1" indent="-457200">
              <a:buFont typeface="+mj-lt"/>
              <a:buAutoNum type="arabicPeriod"/>
            </a:pPr>
            <a:r>
              <a:rPr lang="en-AU" sz="3400" dirty="0" smtClean="0"/>
              <a:t>Cell-mediated </a:t>
            </a:r>
            <a:r>
              <a:rPr lang="en-AU" sz="3400" dirty="0"/>
              <a:t>response: involves formation of special lymphocytes that destroy invading agents. </a:t>
            </a:r>
            <a:endParaRPr lang="en-AU" sz="3400" dirty="0"/>
          </a:p>
          <a:p>
            <a:r>
              <a:rPr lang="en-AU" sz="3400" dirty="0" smtClean="0"/>
              <a:t>Both involve lymphoid tissue which is mainly composed of two types of lymphocytes (B-cells and T-cells) </a:t>
            </a:r>
            <a:endParaRPr lang="en-AU" sz="3400" dirty="0"/>
          </a:p>
        </p:txBody>
      </p:sp>
    </p:spTree>
    <p:extLst>
      <p:ext uri="{BB962C8B-B14F-4D97-AF65-F5344CB8AC3E}">
        <p14:creationId xmlns:p14="http://schemas.microsoft.com/office/powerpoint/2010/main" val="3497979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Warriors of the human body- The Immune System"/>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621910" y="925452"/>
            <a:ext cx="10976104"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171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B-Cells and T-Cells </a:t>
            </a:r>
            <a:endParaRPr lang="en-AU" sz="6000" b="1" dirty="0"/>
          </a:p>
        </p:txBody>
      </p:sp>
      <p:sp>
        <p:nvSpPr>
          <p:cNvPr id="3" name="Content Placeholder 2"/>
          <p:cNvSpPr>
            <a:spLocks noGrp="1"/>
          </p:cNvSpPr>
          <p:nvPr>
            <p:ph idx="1"/>
          </p:nvPr>
        </p:nvSpPr>
        <p:spPr/>
        <p:txBody>
          <a:bodyPr/>
          <a:lstStyle/>
          <a:p>
            <a:r>
              <a:rPr lang="en-AU" sz="3400" dirty="0"/>
              <a:t>B- cells provide antibody-mediated immunity (antibodies) and T-cells provide cell-mediated immunity (no antibodies). </a:t>
            </a:r>
          </a:p>
          <a:p>
            <a:endParaRPr lang="en-AU" dirty="0"/>
          </a:p>
        </p:txBody>
      </p:sp>
    </p:spTree>
    <p:extLst>
      <p:ext uri="{BB962C8B-B14F-4D97-AF65-F5344CB8AC3E}">
        <p14:creationId xmlns:p14="http://schemas.microsoft.com/office/powerpoint/2010/main" val="1714070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e Awkward Yeti (Nick Seluk) on Twitter: &amp;quot;new comic about stuff… &amp;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036" y="188640"/>
            <a:ext cx="6725334" cy="6092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58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Antigens </a:t>
            </a:r>
            <a:endParaRPr lang="en-AU" sz="6000" b="1" dirty="0"/>
          </a:p>
        </p:txBody>
      </p:sp>
      <p:sp>
        <p:nvSpPr>
          <p:cNvPr id="3" name="Content Placeholder 2"/>
          <p:cNvSpPr>
            <a:spLocks noGrp="1"/>
          </p:cNvSpPr>
          <p:nvPr>
            <p:ph idx="1"/>
          </p:nvPr>
        </p:nvSpPr>
        <p:spPr/>
        <p:txBody>
          <a:bodyPr/>
          <a:lstStyle/>
          <a:p>
            <a:r>
              <a:rPr lang="en-AU" sz="3400" dirty="0"/>
              <a:t>Antibody-mediated and cell-mediated immunity are triggered by antigens. </a:t>
            </a:r>
            <a:endParaRPr lang="en-AU" sz="3400" dirty="0" smtClean="0"/>
          </a:p>
          <a:p>
            <a:endParaRPr lang="en-AU" sz="3400" dirty="0"/>
          </a:p>
          <a:p>
            <a:r>
              <a:rPr lang="en-AU" sz="3400" dirty="0"/>
              <a:t>An antigen is any substance capable of causing a specific immune response. Such a substance, introduced to the body, causes the body to produce specific antibodies. </a:t>
            </a:r>
          </a:p>
          <a:p>
            <a:endParaRPr lang="en-AU" dirty="0"/>
          </a:p>
        </p:txBody>
      </p:sp>
    </p:spTree>
    <p:extLst>
      <p:ext uri="{BB962C8B-B14F-4D97-AF65-F5344CB8AC3E}">
        <p14:creationId xmlns:p14="http://schemas.microsoft.com/office/powerpoint/2010/main" val="548827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Antigens continued </a:t>
            </a:r>
            <a:endParaRPr lang="en-AU" sz="6000" b="1" dirty="0"/>
          </a:p>
        </p:txBody>
      </p:sp>
      <p:sp>
        <p:nvSpPr>
          <p:cNvPr id="3" name="Content Placeholder 2"/>
          <p:cNvSpPr>
            <a:spLocks noGrp="1"/>
          </p:cNvSpPr>
          <p:nvPr>
            <p:ph idx="1"/>
          </p:nvPr>
        </p:nvSpPr>
        <p:spPr>
          <a:xfrm>
            <a:off x="365759" y="1825624"/>
            <a:ext cx="11504815" cy="4575175"/>
          </a:xfrm>
        </p:spPr>
        <p:txBody>
          <a:bodyPr/>
          <a:lstStyle/>
          <a:p>
            <a:r>
              <a:rPr lang="en-AU" sz="3400" dirty="0"/>
              <a:t>Antigens are large molecules. </a:t>
            </a:r>
            <a:endParaRPr lang="en-AU" sz="3400" dirty="0" smtClean="0"/>
          </a:p>
          <a:p>
            <a:r>
              <a:rPr lang="en-AU" sz="3400" dirty="0" smtClean="0"/>
              <a:t>Antigens </a:t>
            </a:r>
            <a:r>
              <a:rPr lang="en-AU" sz="3400" dirty="0"/>
              <a:t>are not necessarily micro-organisms. </a:t>
            </a:r>
            <a:endParaRPr lang="en-AU" sz="3400" dirty="0" smtClean="0"/>
          </a:p>
          <a:p>
            <a:endParaRPr lang="en-AU" sz="3400" dirty="0"/>
          </a:p>
          <a:p>
            <a:r>
              <a:rPr lang="en-AU" sz="3400" dirty="0"/>
              <a:t>Large molecules produced in a person’s own body do not cause an immune response. These are called self-antigens. </a:t>
            </a:r>
          </a:p>
          <a:p>
            <a:r>
              <a:rPr lang="en-AU" sz="3400" dirty="0"/>
              <a:t>Foreign compounds that do trigger an immune response are non-self antigens. These will be attacked. </a:t>
            </a:r>
          </a:p>
          <a:p>
            <a:endParaRPr lang="en-AU" dirty="0"/>
          </a:p>
        </p:txBody>
      </p:sp>
    </p:spTree>
    <p:extLst>
      <p:ext uri="{BB962C8B-B14F-4D97-AF65-F5344CB8AC3E}">
        <p14:creationId xmlns:p14="http://schemas.microsoft.com/office/powerpoint/2010/main" val="3106900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Antibodies </a:t>
            </a:r>
            <a:endParaRPr lang="en-AU" sz="6000" b="1" dirty="0"/>
          </a:p>
        </p:txBody>
      </p:sp>
      <p:sp>
        <p:nvSpPr>
          <p:cNvPr id="3" name="Content Placeholder 2"/>
          <p:cNvSpPr>
            <a:spLocks noGrp="1"/>
          </p:cNvSpPr>
          <p:nvPr>
            <p:ph idx="1"/>
          </p:nvPr>
        </p:nvSpPr>
        <p:spPr>
          <a:xfrm>
            <a:off x="838200" y="1825624"/>
            <a:ext cx="10515600" cy="4625051"/>
          </a:xfrm>
        </p:spPr>
        <p:txBody>
          <a:bodyPr/>
          <a:lstStyle/>
          <a:p>
            <a:r>
              <a:rPr lang="en-AU" sz="3400" dirty="0"/>
              <a:t>An antibody is a specialised protein that is produced in response to a non-self </a:t>
            </a:r>
            <a:r>
              <a:rPr lang="en-AU" sz="3400" dirty="0" smtClean="0"/>
              <a:t>antigen. Antibodies </a:t>
            </a:r>
            <a:r>
              <a:rPr lang="en-AU" sz="3400" dirty="0"/>
              <a:t>belong to a group of proteins known as immunoglobulins</a:t>
            </a:r>
            <a:r>
              <a:rPr lang="en-AU" sz="3400" dirty="0" smtClean="0"/>
              <a:t>.</a:t>
            </a:r>
          </a:p>
          <a:p>
            <a:endParaRPr lang="en-AU" sz="3400" dirty="0"/>
          </a:p>
          <a:p>
            <a:r>
              <a:rPr lang="en-AU" sz="3400" dirty="0"/>
              <a:t>The antibody produced in response to an antigen can combine with that antigen to form an antigen-antibody </a:t>
            </a:r>
            <a:r>
              <a:rPr lang="en-AU" sz="3400" dirty="0" smtClean="0"/>
              <a:t>complex (like </a:t>
            </a:r>
            <a:r>
              <a:rPr lang="en-AU" sz="3400" dirty="0"/>
              <a:t>the Lock and Key model). </a:t>
            </a:r>
          </a:p>
          <a:p>
            <a:endParaRPr lang="en-AU" dirty="0"/>
          </a:p>
        </p:txBody>
      </p:sp>
    </p:spTree>
    <p:extLst>
      <p:ext uri="{BB962C8B-B14F-4D97-AF65-F5344CB8AC3E}">
        <p14:creationId xmlns:p14="http://schemas.microsoft.com/office/powerpoint/2010/main" val="3492418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ntigen-antibody reaction. Each antibody is able to bind its specific...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96" y="1124744"/>
            <a:ext cx="10902458"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958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Antibody-mediated immunity </a:t>
            </a:r>
            <a:endParaRPr lang="en-AU" sz="6000" b="1" dirty="0"/>
          </a:p>
        </p:txBody>
      </p:sp>
      <p:sp>
        <p:nvSpPr>
          <p:cNvPr id="3" name="Content Placeholder 2"/>
          <p:cNvSpPr>
            <a:spLocks noGrp="1"/>
          </p:cNvSpPr>
          <p:nvPr>
            <p:ph idx="1"/>
          </p:nvPr>
        </p:nvSpPr>
        <p:spPr/>
        <p:txBody>
          <a:bodyPr>
            <a:normAutofit/>
          </a:bodyPr>
          <a:lstStyle/>
          <a:p>
            <a:r>
              <a:rPr lang="en-AU" sz="3400" dirty="0"/>
              <a:t>Humoral immunity is an antibody-mediated response that occurs when foreign material (antigens) are detected in the body. </a:t>
            </a:r>
          </a:p>
          <a:p>
            <a:r>
              <a:rPr lang="en-AU" sz="3400" dirty="0"/>
              <a:t>This foreign material typically includes extracellular invaders such as bacteria.</a:t>
            </a:r>
          </a:p>
          <a:p>
            <a:r>
              <a:rPr lang="en-AU" sz="3400" dirty="0"/>
              <a:t>This mechanism is primarily driven by </a:t>
            </a:r>
            <a:r>
              <a:rPr lang="en-AU" sz="3400" dirty="0" smtClean="0"/>
              <a:t>B-cells (a </a:t>
            </a:r>
            <a:r>
              <a:rPr lang="en-AU" sz="3400" dirty="0"/>
              <a:t>type of immune cell that produces antibodies after the detection of a specific </a:t>
            </a:r>
            <a:r>
              <a:rPr lang="en-AU" sz="3400" dirty="0" smtClean="0"/>
              <a:t>antigen).</a:t>
            </a:r>
            <a:endParaRPr lang="en-AU" sz="3400" dirty="0"/>
          </a:p>
          <a:p>
            <a:endParaRPr lang="en-AU" sz="3400" dirty="0"/>
          </a:p>
        </p:txBody>
      </p:sp>
    </p:spTree>
    <p:extLst>
      <p:ext uri="{BB962C8B-B14F-4D97-AF65-F5344CB8AC3E}">
        <p14:creationId xmlns:p14="http://schemas.microsoft.com/office/powerpoint/2010/main" val="1627435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Cell- mediated immunity </a:t>
            </a:r>
            <a:endParaRPr lang="en-AU" sz="6000" b="1" dirty="0"/>
          </a:p>
        </p:txBody>
      </p:sp>
      <p:sp>
        <p:nvSpPr>
          <p:cNvPr id="3" name="Content Placeholder 2"/>
          <p:cNvSpPr>
            <a:spLocks noGrp="1"/>
          </p:cNvSpPr>
          <p:nvPr>
            <p:ph idx="1"/>
          </p:nvPr>
        </p:nvSpPr>
        <p:spPr/>
        <p:txBody>
          <a:bodyPr>
            <a:normAutofit/>
          </a:bodyPr>
          <a:lstStyle/>
          <a:p>
            <a:r>
              <a:rPr lang="en-AU" sz="3400" dirty="0"/>
              <a:t>Cell-mediated immunity does not depend on antibodies for its immune functions. </a:t>
            </a:r>
            <a:endParaRPr lang="en-AU" sz="3400" dirty="0" smtClean="0"/>
          </a:p>
          <a:p>
            <a:r>
              <a:rPr lang="en-AU" sz="3400" dirty="0" smtClean="0"/>
              <a:t>Cell-mediated </a:t>
            </a:r>
            <a:r>
              <a:rPr lang="en-AU" sz="3400" dirty="0"/>
              <a:t>immunity is primarily driven by mature T cells, and macrophages.</a:t>
            </a:r>
          </a:p>
          <a:p>
            <a:r>
              <a:rPr lang="en-AU" sz="3400" dirty="0"/>
              <a:t>T cells involved in cell-mediated immunity rely on antigen-presenting cells that contain proteins in order to recognize intracellular target antigens. </a:t>
            </a:r>
          </a:p>
          <a:p>
            <a:endParaRPr lang="en-AU" sz="3400" dirty="0"/>
          </a:p>
        </p:txBody>
      </p:sp>
    </p:spTree>
    <p:extLst>
      <p:ext uri="{BB962C8B-B14F-4D97-AF65-F5344CB8AC3E}">
        <p14:creationId xmlns:p14="http://schemas.microsoft.com/office/powerpoint/2010/main" val="1222705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633" y="365125"/>
            <a:ext cx="11637818" cy="1325563"/>
          </a:xfrm>
        </p:spPr>
        <p:txBody>
          <a:bodyPr>
            <a:normAutofit/>
          </a:bodyPr>
          <a:lstStyle/>
          <a:p>
            <a:r>
              <a:rPr lang="en-AU" sz="6000" b="1" dirty="0" smtClean="0"/>
              <a:t>Cell-mediated immunity continued </a:t>
            </a:r>
            <a:endParaRPr lang="en-AU" sz="6000" b="1" dirty="0"/>
          </a:p>
        </p:txBody>
      </p:sp>
      <p:sp>
        <p:nvSpPr>
          <p:cNvPr id="3" name="Content Placeholder 2"/>
          <p:cNvSpPr>
            <a:spLocks noGrp="1"/>
          </p:cNvSpPr>
          <p:nvPr>
            <p:ph idx="1"/>
          </p:nvPr>
        </p:nvSpPr>
        <p:spPr/>
        <p:txBody>
          <a:bodyPr>
            <a:normAutofit/>
          </a:bodyPr>
          <a:lstStyle/>
          <a:p>
            <a:r>
              <a:rPr lang="en-AU" sz="3400" dirty="0"/>
              <a:t>Cell-mediated immunity typically comes into play at body sites where cells are infected by a virus, bacteria, or fungi (intracellular invaders).</a:t>
            </a:r>
          </a:p>
          <a:p>
            <a:endParaRPr lang="en-AU" sz="3400" dirty="0"/>
          </a:p>
        </p:txBody>
      </p:sp>
    </p:spTree>
    <p:extLst>
      <p:ext uri="{BB962C8B-B14F-4D97-AF65-F5344CB8AC3E}">
        <p14:creationId xmlns:p14="http://schemas.microsoft.com/office/powerpoint/2010/main" val="2038735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Immunity </a:t>
            </a:r>
            <a:endParaRPr lang="en-AU" sz="6000" b="1" dirty="0"/>
          </a:p>
        </p:txBody>
      </p:sp>
      <p:sp>
        <p:nvSpPr>
          <p:cNvPr id="3" name="Content Placeholder 2"/>
          <p:cNvSpPr>
            <a:spLocks noGrp="1"/>
          </p:cNvSpPr>
          <p:nvPr>
            <p:ph idx="1"/>
          </p:nvPr>
        </p:nvSpPr>
        <p:spPr/>
        <p:txBody>
          <a:bodyPr>
            <a:normAutofit/>
          </a:bodyPr>
          <a:lstStyle/>
          <a:p>
            <a:r>
              <a:rPr lang="en-AU" sz="3400" dirty="0"/>
              <a:t>Immunity is resistance to infection by invading micro-organisms. </a:t>
            </a:r>
            <a:endParaRPr lang="en-AU" sz="3400" dirty="0" smtClean="0"/>
          </a:p>
          <a:p>
            <a:endParaRPr lang="en-AU" sz="3400" dirty="0"/>
          </a:p>
          <a:p>
            <a:r>
              <a:rPr lang="en-AU" sz="3400" dirty="0"/>
              <a:t>The body is able to response quickly enough to deal with any invasion by pathogenic micro-organisms. </a:t>
            </a:r>
          </a:p>
          <a:p>
            <a:endParaRPr lang="en-AU" sz="3400" dirty="0"/>
          </a:p>
        </p:txBody>
      </p:sp>
    </p:spTree>
    <p:extLst>
      <p:ext uri="{BB962C8B-B14F-4D97-AF65-F5344CB8AC3E}">
        <p14:creationId xmlns:p14="http://schemas.microsoft.com/office/powerpoint/2010/main" val="1564535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Natural and Artificial Immunity </a:t>
            </a:r>
            <a:endParaRPr lang="en-AU" sz="6000" b="1" dirty="0"/>
          </a:p>
        </p:txBody>
      </p:sp>
      <p:sp>
        <p:nvSpPr>
          <p:cNvPr id="3" name="Content Placeholder 2"/>
          <p:cNvSpPr>
            <a:spLocks noGrp="1"/>
          </p:cNvSpPr>
          <p:nvPr>
            <p:ph idx="1"/>
          </p:nvPr>
        </p:nvSpPr>
        <p:spPr/>
        <p:txBody>
          <a:bodyPr>
            <a:normAutofit/>
          </a:bodyPr>
          <a:lstStyle/>
          <a:p>
            <a:r>
              <a:rPr lang="en-AU" sz="3400" dirty="0"/>
              <a:t>Natural: occurs without any human intervention</a:t>
            </a:r>
            <a:r>
              <a:rPr lang="en-AU" sz="3400" dirty="0" smtClean="0"/>
              <a:t>.</a:t>
            </a:r>
          </a:p>
          <a:p>
            <a:endParaRPr lang="en-AU" sz="3400" dirty="0"/>
          </a:p>
          <a:p>
            <a:r>
              <a:rPr lang="en-AU" sz="3400" dirty="0"/>
              <a:t>Artificial: results from giving people an antibody or antigen. </a:t>
            </a:r>
          </a:p>
        </p:txBody>
      </p:sp>
    </p:spTree>
    <p:extLst>
      <p:ext uri="{BB962C8B-B14F-4D97-AF65-F5344CB8AC3E}">
        <p14:creationId xmlns:p14="http://schemas.microsoft.com/office/powerpoint/2010/main" val="3393510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Passive and Active Immunity </a:t>
            </a:r>
            <a:endParaRPr lang="en-AU" sz="6000" b="1" dirty="0"/>
          </a:p>
        </p:txBody>
      </p:sp>
      <p:sp>
        <p:nvSpPr>
          <p:cNvPr id="3" name="Content Placeholder 2"/>
          <p:cNvSpPr>
            <a:spLocks noGrp="1"/>
          </p:cNvSpPr>
          <p:nvPr>
            <p:ph idx="1"/>
          </p:nvPr>
        </p:nvSpPr>
        <p:spPr/>
        <p:txBody>
          <a:bodyPr>
            <a:normAutofit/>
          </a:bodyPr>
          <a:lstStyle/>
          <a:p>
            <a:r>
              <a:rPr lang="en-AU" sz="3400" dirty="0"/>
              <a:t>Natural and artificial immunity can be passive or active. </a:t>
            </a:r>
          </a:p>
          <a:p>
            <a:r>
              <a:rPr lang="en-AU" sz="3400" dirty="0"/>
              <a:t>Passive: person is given antibodies produced by someone else. E.g. Mother’s antibodies are passed to child via breastmilk. </a:t>
            </a:r>
          </a:p>
          <a:p>
            <a:r>
              <a:rPr lang="en-AU" sz="3400" dirty="0"/>
              <a:t>Active: results when the body is exposed to a foreign antigen and manufactures antibodies in response to that antigen. </a:t>
            </a:r>
          </a:p>
          <a:p>
            <a:endParaRPr lang="en-AU" sz="3400" dirty="0"/>
          </a:p>
        </p:txBody>
      </p:sp>
    </p:spTree>
    <p:extLst>
      <p:ext uri="{BB962C8B-B14F-4D97-AF65-F5344CB8AC3E}">
        <p14:creationId xmlns:p14="http://schemas.microsoft.com/office/powerpoint/2010/main" val="1645713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Antibiotics </a:t>
            </a:r>
            <a:endParaRPr lang="en-AU" sz="6000" b="1" dirty="0"/>
          </a:p>
        </p:txBody>
      </p:sp>
      <p:sp>
        <p:nvSpPr>
          <p:cNvPr id="3" name="Content Placeholder 2"/>
          <p:cNvSpPr>
            <a:spLocks noGrp="1"/>
          </p:cNvSpPr>
          <p:nvPr>
            <p:ph idx="1"/>
          </p:nvPr>
        </p:nvSpPr>
        <p:spPr>
          <a:xfrm>
            <a:off x="315883" y="1825624"/>
            <a:ext cx="11604567" cy="4575175"/>
          </a:xfrm>
        </p:spPr>
        <p:txBody>
          <a:bodyPr/>
          <a:lstStyle/>
          <a:p>
            <a:r>
              <a:rPr lang="en-AU" sz="3400" dirty="0"/>
              <a:t>Used to fight infections of micro-organisms, particularly bacteria. </a:t>
            </a:r>
          </a:p>
          <a:p>
            <a:r>
              <a:rPr lang="en-AU" sz="3400" dirty="0"/>
              <a:t>Each antibiotic is effective for only certain types of bacterial infection and cannot be used to treat viral infections. </a:t>
            </a:r>
          </a:p>
          <a:p>
            <a:r>
              <a:rPr lang="en-AU" sz="3400" dirty="0"/>
              <a:t>There are two types of antibiotic: </a:t>
            </a:r>
          </a:p>
          <a:p>
            <a:pPr lvl="1"/>
            <a:r>
              <a:rPr lang="en-AU" sz="3400" dirty="0"/>
              <a:t>Bactericidal: kill bacteria by changing the structure of the cell wall or membrane </a:t>
            </a:r>
          </a:p>
          <a:p>
            <a:pPr lvl="1"/>
            <a:r>
              <a:rPr lang="en-AU" sz="3400" dirty="0"/>
              <a:t>Bacteriostatic: stop bacteria from reproducing </a:t>
            </a:r>
          </a:p>
          <a:p>
            <a:endParaRPr lang="en-AU" dirty="0"/>
          </a:p>
        </p:txBody>
      </p:sp>
    </p:spTree>
    <p:extLst>
      <p:ext uri="{BB962C8B-B14F-4D97-AF65-F5344CB8AC3E}">
        <p14:creationId xmlns:p14="http://schemas.microsoft.com/office/powerpoint/2010/main" val="2023142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Antivirals </a:t>
            </a:r>
            <a:endParaRPr lang="en-AU" sz="6000" b="1" dirty="0"/>
          </a:p>
        </p:txBody>
      </p:sp>
      <p:sp>
        <p:nvSpPr>
          <p:cNvPr id="3" name="Content Placeholder 2"/>
          <p:cNvSpPr>
            <a:spLocks noGrp="1"/>
          </p:cNvSpPr>
          <p:nvPr>
            <p:ph idx="1"/>
          </p:nvPr>
        </p:nvSpPr>
        <p:spPr/>
        <p:txBody>
          <a:bodyPr>
            <a:normAutofit/>
          </a:bodyPr>
          <a:lstStyle/>
          <a:p>
            <a:r>
              <a:rPr lang="en-AU" sz="3400" dirty="0"/>
              <a:t>Specifically used for treating viral infections</a:t>
            </a:r>
          </a:p>
          <a:p>
            <a:r>
              <a:rPr lang="en-AU" sz="3400" dirty="0"/>
              <a:t>Antivirals inhibit the development of the virus </a:t>
            </a:r>
          </a:p>
          <a:p>
            <a:r>
              <a:rPr lang="en-AU" sz="3400" dirty="0"/>
              <a:t>Target viruses such as HIV, herpes, hepatitis B and C </a:t>
            </a:r>
          </a:p>
          <a:p>
            <a:endParaRPr lang="en-AU" sz="3400" dirty="0"/>
          </a:p>
        </p:txBody>
      </p:sp>
    </p:spTree>
    <p:extLst>
      <p:ext uri="{BB962C8B-B14F-4D97-AF65-F5344CB8AC3E}">
        <p14:creationId xmlns:p14="http://schemas.microsoft.com/office/powerpoint/2010/main" val="1392458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Antiseptics </a:t>
            </a:r>
            <a:endParaRPr lang="en-AU" sz="6000" b="1" dirty="0"/>
          </a:p>
        </p:txBody>
      </p:sp>
      <p:sp>
        <p:nvSpPr>
          <p:cNvPr id="3" name="Content Placeholder 2"/>
          <p:cNvSpPr>
            <a:spLocks noGrp="1"/>
          </p:cNvSpPr>
          <p:nvPr>
            <p:ph idx="1"/>
          </p:nvPr>
        </p:nvSpPr>
        <p:spPr/>
        <p:txBody>
          <a:bodyPr>
            <a:normAutofit/>
          </a:bodyPr>
          <a:lstStyle/>
          <a:p>
            <a:r>
              <a:rPr lang="en-AU" sz="3400" dirty="0"/>
              <a:t>Widely used in health care to kill or stop the growth of microbes on the skin and mucous membranes. Also used before medical procedures, in treating minor wounds and cleaning hands. </a:t>
            </a:r>
            <a:endParaRPr lang="en-AU" sz="3400" dirty="0" smtClean="0"/>
          </a:p>
          <a:p>
            <a:endParaRPr lang="en-AU" sz="3400" dirty="0"/>
          </a:p>
          <a:p>
            <a:r>
              <a:rPr lang="en-AU" sz="3400" dirty="0"/>
              <a:t>E.g. Isopropyl alcohol, peroxide </a:t>
            </a:r>
          </a:p>
          <a:p>
            <a:endParaRPr lang="en-AU" sz="3400" dirty="0"/>
          </a:p>
        </p:txBody>
      </p:sp>
    </p:spTree>
    <p:extLst>
      <p:ext uri="{BB962C8B-B14F-4D97-AF65-F5344CB8AC3E}">
        <p14:creationId xmlns:p14="http://schemas.microsoft.com/office/powerpoint/2010/main" val="3850135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Immunisation </a:t>
            </a:r>
            <a:endParaRPr lang="en-AU" sz="6000" b="1" dirty="0"/>
          </a:p>
        </p:txBody>
      </p:sp>
      <p:sp>
        <p:nvSpPr>
          <p:cNvPr id="3" name="Content Placeholder 2"/>
          <p:cNvSpPr>
            <a:spLocks noGrp="1"/>
          </p:cNvSpPr>
          <p:nvPr>
            <p:ph idx="1"/>
          </p:nvPr>
        </p:nvSpPr>
        <p:spPr/>
        <p:txBody>
          <a:bodyPr>
            <a:normAutofit/>
          </a:bodyPr>
          <a:lstStyle/>
          <a:p>
            <a:r>
              <a:rPr lang="en-AU" sz="3400" dirty="0"/>
              <a:t>Immunisation means programming the immune system so that the body can respond rapidly to infecting micro-organisms. </a:t>
            </a:r>
            <a:endParaRPr lang="en-AU" sz="3400" dirty="0" smtClean="0"/>
          </a:p>
          <a:p>
            <a:endParaRPr lang="en-AU" sz="3400" dirty="0"/>
          </a:p>
          <a:p>
            <a:endParaRPr lang="en-AU" sz="3400" dirty="0"/>
          </a:p>
          <a:p>
            <a:r>
              <a:rPr lang="en-AU" sz="3400" dirty="0"/>
              <a:t>It can occur naturally (e.g. chickenpox) or artificially</a:t>
            </a:r>
          </a:p>
          <a:p>
            <a:endParaRPr lang="en-AU" sz="3400" dirty="0"/>
          </a:p>
        </p:txBody>
      </p:sp>
    </p:spTree>
    <p:extLst>
      <p:ext uri="{BB962C8B-B14F-4D97-AF65-F5344CB8AC3E}">
        <p14:creationId xmlns:p14="http://schemas.microsoft.com/office/powerpoint/2010/main" val="147385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e Amoeba Sisters | Biology humor, Biology jokes, Funny science jok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880" y="354360"/>
            <a:ext cx="9303999" cy="6229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793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Immunisation continued. </a:t>
            </a:r>
            <a:endParaRPr lang="en-AU" sz="6000" b="1" dirty="0"/>
          </a:p>
        </p:txBody>
      </p:sp>
      <p:sp>
        <p:nvSpPr>
          <p:cNvPr id="3" name="Content Placeholder 2"/>
          <p:cNvSpPr>
            <a:spLocks noGrp="1"/>
          </p:cNvSpPr>
          <p:nvPr>
            <p:ph idx="1"/>
          </p:nvPr>
        </p:nvSpPr>
        <p:spPr/>
        <p:txBody>
          <a:bodyPr>
            <a:normAutofit/>
          </a:bodyPr>
          <a:lstStyle/>
          <a:p>
            <a:r>
              <a:rPr lang="en-AU" sz="3400" dirty="0"/>
              <a:t>Vaccination is the artificial introduction of antigens of pathogenic organisms so that the ability to produce the appropriate antibodies is acquired without the person having to suffer the disease. </a:t>
            </a:r>
            <a:endParaRPr lang="en-AU" sz="3400" dirty="0" smtClean="0"/>
          </a:p>
          <a:p>
            <a:endParaRPr lang="en-AU" sz="3400" dirty="0"/>
          </a:p>
          <a:p>
            <a:r>
              <a:rPr lang="en-AU" sz="3400" dirty="0"/>
              <a:t>A vaccine is the antigen preparation used in artificial immunisation. </a:t>
            </a:r>
            <a:r>
              <a:rPr lang="en-AU" sz="3400" dirty="0" smtClean="0"/>
              <a:t>There </a:t>
            </a:r>
            <a:r>
              <a:rPr lang="en-AU" sz="3400" dirty="0"/>
              <a:t>are four </a:t>
            </a:r>
            <a:r>
              <a:rPr lang="en-AU" sz="3400" dirty="0" smtClean="0"/>
              <a:t>types. </a:t>
            </a:r>
            <a:endParaRPr lang="en-AU" sz="3400" dirty="0"/>
          </a:p>
          <a:p>
            <a:endParaRPr lang="en-AU" sz="3400" dirty="0"/>
          </a:p>
        </p:txBody>
      </p:sp>
    </p:spTree>
    <p:extLst>
      <p:ext uri="{BB962C8B-B14F-4D97-AF65-F5344CB8AC3E}">
        <p14:creationId xmlns:p14="http://schemas.microsoft.com/office/powerpoint/2010/main" val="2727844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21775876"/>
              </p:ext>
            </p:extLst>
          </p:nvPr>
        </p:nvGraphicFramePr>
        <p:xfrm>
          <a:off x="3174" y="0"/>
          <a:ext cx="12188826" cy="6884187"/>
        </p:xfrm>
        <a:graphic>
          <a:graphicData uri="http://schemas.openxmlformats.org/drawingml/2006/table">
            <a:tbl>
              <a:tblPr firstRow="1" bandRow="1">
                <a:tableStyleId>{5940675A-B579-460E-94D1-54222C63F5DA}</a:tableStyleId>
              </a:tblPr>
              <a:tblGrid>
                <a:gridCol w="3458097">
                  <a:extLst>
                    <a:ext uri="{9D8B030D-6E8A-4147-A177-3AD203B41FA5}">
                      <a16:colId xmlns:a16="http://schemas.microsoft.com/office/drawing/2014/main" val="1908248999"/>
                    </a:ext>
                  </a:extLst>
                </a:gridCol>
                <a:gridCol w="4667787">
                  <a:extLst>
                    <a:ext uri="{9D8B030D-6E8A-4147-A177-3AD203B41FA5}">
                      <a16:colId xmlns:a16="http://schemas.microsoft.com/office/drawing/2014/main" val="2114559838"/>
                    </a:ext>
                  </a:extLst>
                </a:gridCol>
                <a:gridCol w="4062942">
                  <a:extLst>
                    <a:ext uri="{9D8B030D-6E8A-4147-A177-3AD203B41FA5}">
                      <a16:colId xmlns:a16="http://schemas.microsoft.com/office/drawing/2014/main" val="1556704751"/>
                    </a:ext>
                  </a:extLst>
                </a:gridCol>
              </a:tblGrid>
              <a:tr h="743422">
                <a:tc>
                  <a:txBody>
                    <a:bodyPr/>
                    <a:lstStyle/>
                    <a:p>
                      <a:r>
                        <a:rPr lang="en-AU" sz="2350" b="1" dirty="0" smtClean="0"/>
                        <a:t>Type of Vaccine </a:t>
                      </a:r>
                      <a:endParaRPr lang="en-AU" sz="23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AU" sz="2350" b="1" dirty="0" smtClean="0"/>
                        <a:t>Description</a:t>
                      </a:r>
                      <a:endParaRPr lang="en-AU" sz="23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AU" sz="2350" b="1" dirty="0" smtClean="0"/>
                        <a:t>Vaccine used to protect against: </a:t>
                      </a:r>
                      <a:endParaRPr lang="en-AU" sz="23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405120572"/>
                  </a:ext>
                </a:extLst>
              </a:tr>
              <a:tr h="1517489">
                <a:tc>
                  <a:txBody>
                    <a:bodyPr/>
                    <a:lstStyle/>
                    <a:p>
                      <a:r>
                        <a:rPr lang="en-AU" sz="2350" b="0" dirty="0" smtClean="0"/>
                        <a:t>Living attenuated micro-organisms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Reduced virulence so you do not contract the disease but you manufacture antibodies</a:t>
                      </a:r>
                      <a:r>
                        <a:rPr lang="en-AU" sz="2350" b="0" baseline="0" dirty="0" smtClean="0"/>
                        <a:t> against the antigen.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Measles, mumps, rubella</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07607565"/>
                  </a:ext>
                </a:extLst>
              </a:tr>
              <a:tr h="1517489">
                <a:tc>
                  <a:txBody>
                    <a:bodyPr/>
                    <a:lstStyle/>
                    <a:p>
                      <a:r>
                        <a:rPr lang="en-AU" sz="2350" b="0" dirty="0" smtClean="0"/>
                        <a:t>Dead micro-organisms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Produce antibodies against antigen but not as long lasting as using live</a:t>
                      </a:r>
                      <a:r>
                        <a:rPr lang="en-AU" sz="2350" b="0" baseline="0" dirty="0" smtClean="0"/>
                        <a:t> attenuated micro-organisms.</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Cholera, bubonic plague,</a:t>
                      </a:r>
                      <a:r>
                        <a:rPr lang="en-AU" sz="2350" b="0" baseline="0" dirty="0" smtClean="0"/>
                        <a:t> influenza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204153613"/>
                  </a:ext>
                </a:extLst>
              </a:tr>
              <a:tr h="1517489">
                <a:tc>
                  <a:txBody>
                    <a:bodyPr/>
                    <a:lstStyle/>
                    <a:p>
                      <a:r>
                        <a:rPr lang="en-AU" sz="2350" b="0" dirty="0" smtClean="0"/>
                        <a:t>Toxoids</a:t>
                      </a:r>
                      <a:r>
                        <a:rPr lang="en-AU" sz="2350" b="0" baseline="0" dirty="0" smtClean="0"/>
                        <a:t>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Made from filtrates of bacterial cultures</a:t>
                      </a:r>
                      <a:r>
                        <a:rPr lang="en-AU" sz="2350" b="0" baseline="0" dirty="0" smtClean="0"/>
                        <a:t> that are inactivated.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Diphtheria,</a:t>
                      </a:r>
                      <a:r>
                        <a:rPr lang="en-AU" sz="2350" b="0" baseline="0" dirty="0" smtClean="0"/>
                        <a:t> tetanus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02856625"/>
                  </a:ext>
                </a:extLst>
              </a:tr>
              <a:tr h="1517489">
                <a:tc>
                  <a:txBody>
                    <a:bodyPr/>
                    <a:lstStyle/>
                    <a:p>
                      <a:r>
                        <a:rPr lang="en-AU" sz="2350" b="0" dirty="0" smtClean="0"/>
                        <a:t>Sub-unit</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A fragment of the organism is used to provoke an immune response.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AU" sz="2350" b="0" dirty="0" smtClean="0"/>
                        <a:t>HPV</a:t>
                      </a:r>
                      <a:r>
                        <a:rPr lang="en-AU" sz="2350" b="0" baseline="0" dirty="0" smtClean="0"/>
                        <a:t> (human papilloma virus), hepatitis B </a:t>
                      </a:r>
                      <a:endParaRPr lang="en-AU" sz="23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017973"/>
                  </a:ext>
                </a:extLst>
              </a:tr>
            </a:tbl>
          </a:graphicData>
        </a:graphic>
      </p:graphicFrame>
    </p:spTree>
    <p:extLst>
      <p:ext uri="{BB962C8B-B14F-4D97-AF65-F5344CB8AC3E}">
        <p14:creationId xmlns:p14="http://schemas.microsoft.com/office/powerpoint/2010/main" val="8305988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46</TotalTime>
  <Words>1268</Words>
  <Application>Microsoft Office PowerPoint</Application>
  <PresentationFormat>Widescreen</PresentationFormat>
  <Paragraphs>136</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Vaccines and Immunology </vt:lpstr>
      <vt:lpstr>PowerPoint Presentation</vt:lpstr>
      <vt:lpstr>The Inflammatory Response </vt:lpstr>
      <vt:lpstr>The Inflammatory Response </vt:lpstr>
      <vt:lpstr>Why is it triggered?</vt:lpstr>
      <vt:lpstr>Steps in the Inflammatory Response </vt:lpstr>
      <vt:lpstr>Steps in the Inflammatory Response </vt:lpstr>
      <vt:lpstr>Steps in the Inflammatory Response </vt:lpstr>
      <vt:lpstr>Steps in the Inflammatory Response </vt:lpstr>
      <vt:lpstr>PowerPoint Presentation</vt:lpstr>
      <vt:lpstr>What is a Phagocyte?</vt:lpstr>
      <vt:lpstr>PowerPoint Presentation</vt:lpstr>
      <vt:lpstr>What is a Leucocyte?</vt:lpstr>
      <vt:lpstr>PowerPoint Presentation</vt:lpstr>
      <vt:lpstr>What is a Macrophage?</vt:lpstr>
      <vt:lpstr>PowerPoint Presentation</vt:lpstr>
      <vt:lpstr>The Immune Response continued </vt:lpstr>
      <vt:lpstr>Parts of the Immune Response </vt:lpstr>
      <vt:lpstr>PowerPoint Presentation</vt:lpstr>
      <vt:lpstr>B-Cells and T-Cells </vt:lpstr>
      <vt:lpstr>PowerPoint Presentation</vt:lpstr>
      <vt:lpstr>Antigens </vt:lpstr>
      <vt:lpstr>Antigens continued </vt:lpstr>
      <vt:lpstr>Antibodies </vt:lpstr>
      <vt:lpstr>PowerPoint Presentation</vt:lpstr>
      <vt:lpstr>Antibody-mediated immunity </vt:lpstr>
      <vt:lpstr>Cell- mediated immunity </vt:lpstr>
      <vt:lpstr>Cell-mediated immunity continued </vt:lpstr>
      <vt:lpstr>Immunity </vt:lpstr>
      <vt:lpstr>Natural and Artificial Immunity </vt:lpstr>
      <vt:lpstr>Passive and Active Immunity </vt:lpstr>
      <vt:lpstr>Antibiotics </vt:lpstr>
      <vt:lpstr>Antivirals </vt:lpstr>
      <vt:lpstr>Antiseptics </vt:lpstr>
      <vt:lpstr>Immunisation </vt:lpstr>
      <vt:lpstr>PowerPoint Presentation</vt:lpstr>
      <vt:lpstr>Immunisation continued. </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Vaccines and Immunology</dc:title>
  <dc:creator>DOOMEN Lisa [Gilmore College]</dc:creator>
  <cp:lastModifiedBy>DOOMEN Lisa [Gilmore College]</cp:lastModifiedBy>
  <cp:revision>6</cp:revision>
  <dcterms:created xsi:type="dcterms:W3CDTF">2022-08-10T03:27:52Z</dcterms:created>
  <dcterms:modified xsi:type="dcterms:W3CDTF">2022-08-10T23:01:43Z</dcterms:modified>
</cp:coreProperties>
</file>
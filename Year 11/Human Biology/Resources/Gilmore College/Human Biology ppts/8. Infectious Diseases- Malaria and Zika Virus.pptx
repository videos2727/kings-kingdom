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88" r:id="rId4"/>
    <p:sldId id="265" r:id="rId5"/>
    <p:sldId id="259" r:id="rId6"/>
    <p:sldId id="266" r:id="rId7"/>
    <p:sldId id="268" r:id="rId8"/>
    <p:sldId id="291" r:id="rId9"/>
    <p:sldId id="270" r:id="rId10"/>
    <p:sldId id="267" r:id="rId11"/>
    <p:sldId id="287" r:id="rId12"/>
    <p:sldId id="269" r:id="rId13"/>
    <p:sldId id="262" r:id="rId14"/>
    <p:sldId id="292" r:id="rId15"/>
    <p:sldId id="271" r:id="rId16"/>
    <p:sldId id="272" r:id="rId17"/>
    <p:sldId id="278" r:id="rId18"/>
    <p:sldId id="289" r:id="rId19"/>
    <p:sldId id="279" r:id="rId20"/>
    <p:sldId id="280" r:id="rId21"/>
    <p:sldId id="281" r:id="rId22"/>
    <p:sldId id="282" r:id="rId23"/>
    <p:sldId id="293" r:id="rId24"/>
    <p:sldId id="283" r:id="rId25"/>
    <p:sldId id="284" r:id="rId26"/>
    <p:sldId id="285" r:id="rId27"/>
    <p:sldId id="286" r:id="rId28"/>
    <p:sldId id="29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7B968031-BEEE-4B52-8541-3B08DC3FD829}" type="datetimeFigureOut">
              <a:rPr lang="en-AU" smtClean="0"/>
              <a:t>29/06/2022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701673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7B968031-BEEE-4B52-8541-3B08DC3FD829}" type="datetimeFigureOut">
              <a:rPr lang="en-AU" smtClean="0"/>
              <a:t>29/06/2022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104340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968031-BEEE-4B52-8541-3B08DC3FD829}" type="datetimeFigureOut">
              <a:rPr lang="en-AU" smtClean="0"/>
              <a:t>29/06/2022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682976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7B968031-BEEE-4B52-8541-3B08DC3FD829}" type="datetimeFigureOut">
              <a:rPr lang="en-AU" smtClean="0"/>
              <a:t>29/06/2022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1310078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7B968031-BEEE-4B52-8541-3B08DC3FD829}" type="datetimeFigureOut">
              <a:rPr lang="en-AU" smtClean="0"/>
              <a:t>29/06/2022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2554826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7B968031-BEEE-4B52-8541-3B08DC3FD829}" type="datetimeFigureOut">
              <a:rPr lang="en-AU" smtClean="0"/>
              <a:t>29/06/2022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2637431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968031-BEEE-4B52-8541-3B08DC3FD829}" type="datetimeFigureOut">
              <a:rPr lang="en-AU" smtClean="0"/>
              <a:t>29/06/2022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756197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968031-BEEE-4B52-8541-3B08DC3FD829}" type="datetimeFigureOut">
              <a:rPr lang="en-AU" smtClean="0"/>
              <a:t>29/06/2022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133091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968031-BEEE-4B52-8541-3B08DC3FD829}" type="datetimeFigureOut">
              <a:rPr lang="en-AU" smtClean="0"/>
              <a:t>29/06/2022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68859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7B968031-BEEE-4B52-8541-3B08DC3FD829}" type="datetimeFigureOut">
              <a:rPr lang="en-AU" smtClean="0"/>
              <a:t>29/06/2022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150987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7B968031-BEEE-4B52-8541-3B08DC3FD829}" type="datetimeFigureOut">
              <a:rPr lang="en-AU" smtClean="0"/>
              <a:t>29/06/2022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B668D3E-C1C6-4631-8950-71001C7F3AE4}" type="slidenum">
              <a:rPr lang="en-AU" smtClean="0"/>
              <a:t>‹#›</a:t>
            </a:fld>
            <a:endParaRPr lang="en-AU"/>
          </a:p>
        </p:txBody>
      </p:sp>
    </p:spTree>
    <p:extLst>
      <p:ext uri="{BB962C8B-B14F-4D97-AF65-F5344CB8AC3E}">
        <p14:creationId xmlns:p14="http://schemas.microsoft.com/office/powerpoint/2010/main" val="146072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alpha val="70000"/>
                <a:lumMod val="21000"/>
                <a:lumOff val="79000"/>
              </a:schemeClr>
            </a:gs>
            <a:gs pos="70000">
              <a:schemeClr val="accent3">
                <a:lumMod val="95000"/>
                <a:lumOff val="5000"/>
              </a:schemeClr>
            </a:gs>
            <a:gs pos="100000">
              <a:schemeClr val="accent3">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68031-BEEE-4B52-8541-3B08DC3FD829}" type="datetimeFigureOut">
              <a:rPr lang="en-AU" smtClean="0"/>
              <a:t>29/06/2022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668D3E-C1C6-4631-8950-71001C7F3AE4}" type="slidenum">
              <a:rPr lang="en-AU" smtClean="0"/>
              <a:t>‹#›</a:t>
            </a:fld>
            <a:endParaRPr lang="en-AU"/>
          </a:p>
        </p:txBody>
      </p:sp>
    </p:spTree>
    <p:extLst>
      <p:ext uri="{BB962C8B-B14F-4D97-AF65-F5344CB8AC3E}">
        <p14:creationId xmlns:p14="http://schemas.microsoft.com/office/powerpoint/2010/main" val="2550725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 y="1104945"/>
            <a:ext cx="12131039" cy="2387600"/>
          </a:xfrm>
        </p:spPr>
        <p:txBody>
          <a:bodyPr>
            <a:normAutofit/>
          </a:bodyPr>
          <a:lstStyle/>
          <a:p>
            <a:r>
              <a:rPr lang="en-AU" sz="7200" dirty="0" smtClean="0">
                <a:latin typeface="Castellar" panose="020A0402060406010301" pitchFamily="18" charset="0"/>
              </a:rPr>
              <a:t>Infectious Diseases</a:t>
            </a:r>
            <a:endParaRPr lang="en-AU" sz="7200" dirty="0">
              <a:latin typeface="Castellar" panose="020A0402060406010301" pitchFamily="18" charset="0"/>
            </a:endParaRPr>
          </a:p>
        </p:txBody>
      </p:sp>
      <p:sp>
        <p:nvSpPr>
          <p:cNvPr id="3" name="Subtitle 2"/>
          <p:cNvSpPr>
            <a:spLocks noGrp="1"/>
          </p:cNvSpPr>
          <p:nvPr>
            <p:ph type="subTitle" idx="1"/>
          </p:nvPr>
        </p:nvSpPr>
        <p:spPr/>
        <p:txBody>
          <a:bodyPr>
            <a:normAutofit/>
          </a:bodyPr>
          <a:lstStyle/>
          <a:p>
            <a:r>
              <a:rPr lang="en-AU" sz="3200" b="1" dirty="0" smtClean="0"/>
              <a:t>Malaria </a:t>
            </a:r>
            <a:r>
              <a:rPr lang="en-AU" sz="3200" b="1" dirty="0"/>
              <a:t>and Zika Virus</a:t>
            </a:r>
          </a:p>
        </p:txBody>
      </p:sp>
    </p:spTree>
    <p:extLst>
      <p:ext uri="{BB962C8B-B14F-4D97-AF65-F5344CB8AC3E}">
        <p14:creationId xmlns:p14="http://schemas.microsoft.com/office/powerpoint/2010/main" val="2284182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Origins </a:t>
            </a:r>
            <a:endParaRPr lang="en-AU" sz="6000" b="1" dirty="0"/>
          </a:p>
        </p:txBody>
      </p:sp>
      <p:sp>
        <p:nvSpPr>
          <p:cNvPr id="3" name="Content Placeholder 2"/>
          <p:cNvSpPr>
            <a:spLocks noGrp="1"/>
          </p:cNvSpPr>
          <p:nvPr>
            <p:ph idx="1"/>
          </p:nvPr>
        </p:nvSpPr>
        <p:spPr/>
        <p:txBody>
          <a:bodyPr>
            <a:normAutofit/>
          </a:bodyPr>
          <a:lstStyle/>
          <a:p>
            <a:r>
              <a:rPr lang="en-AU" sz="3200" dirty="0" smtClean="0"/>
              <a:t>Malaria </a:t>
            </a:r>
            <a:r>
              <a:rPr lang="en-AU" sz="3200" dirty="0"/>
              <a:t>is more complex than the other diseases we have discussed so far. It is caused by a protozoan, a single-celled organism whose genetic material is confined within a nucleus (unlike in bacteria). Its genome comprises about twenty-three million base pairs of DNA, thousands of times larger than the genomes of HIV and influenza. </a:t>
            </a:r>
            <a:endParaRPr lang="en-AU" sz="3200" dirty="0" smtClean="0"/>
          </a:p>
          <a:p>
            <a:endParaRPr lang="en-AU" sz="3200" dirty="0"/>
          </a:p>
          <a:p>
            <a:r>
              <a:rPr lang="en-AU" sz="3200" dirty="0" smtClean="0"/>
              <a:t>First references to Malaria </a:t>
            </a:r>
            <a:r>
              <a:rPr lang="en-AU" sz="3200" dirty="0"/>
              <a:t>date back to first millennium BC in Greece and China</a:t>
            </a:r>
          </a:p>
          <a:p>
            <a:endParaRPr lang="en-AU" sz="3200" dirty="0"/>
          </a:p>
        </p:txBody>
      </p:sp>
    </p:spTree>
    <p:extLst>
      <p:ext uri="{BB962C8B-B14F-4D97-AF65-F5344CB8AC3E}">
        <p14:creationId xmlns:p14="http://schemas.microsoft.com/office/powerpoint/2010/main" val="2529139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1" y="887926"/>
            <a:ext cx="6050280" cy="5157864"/>
          </a:xfrm>
          <a:prstGeom prst="rect">
            <a:avLst/>
          </a:prstGeom>
        </p:spPr>
      </p:pic>
    </p:spTree>
    <p:extLst>
      <p:ext uri="{BB962C8B-B14F-4D97-AF65-F5344CB8AC3E}">
        <p14:creationId xmlns:p14="http://schemas.microsoft.com/office/powerpoint/2010/main" val="3714864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Zoonotic Spillover </a:t>
            </a:r>
            <a:endParaRPr lang="en-AU" sz="6000" b="1" dirty="0"/>
          </a:p>
        </p:txBody>
      </p:sp>
      <p:sp>
        <p:nvSpPr>
          <p:cNvPr id="3" name="Content Placeholder 2"/>
          <p:cNvSpPr>
            <a:spLocks noGrp="1"/>
          </p:cNvSpPr>
          <p:nvPr>
            <p:ph idx="1"/>
          </p:nvPr>
        </p:nvSpPr>
        <p:spPr>
          <a:xfrm>
            <a:off x="322217" y="1825624"/>
            <a:ext cx="11031583" cy="4879975"/>
          </a:xfrm>
        </p:spPr>
        <p:txBody>
          <a:bodyPr>
            <a:normAutofit lnSpcReduction="10000"/>
          </a:bodyPr>
          <a:lstStyle/>
          <a:p>
            <a:r>
              <a:rPr lang="en-AU" sz="3200" dirty="0" smtClean="0"/>
              <a:t>Malaria </a:t>
            </a:r>
            <a:r>
              <a:rPr lang="en-AU" sz="3200" dirty="0"/>
              <a:t>is transmitted from one human to another via various species of </a:t>
            </a:r>
            <a:r>
              <a:rPr lang="en-AU" sz="3200" i="1" dirty="0"/>
              <a:t>Anopheles</a:t>
            </a:r>
            <a:r>
              <a:rPr lang="en-AU" sz="3200" dirty="0"/>
              <a:t> mosquitoes </a:t>
            </a:r>
            <a:endParaRPr lang="en-AU" sz="3200" dirty="0" smtClean="0"/>
          </a:p>
          <a:p>
            <a:endParaRPr lang="en-AU" sz="3200" dirty="0"/>
          </a:p>
          <a:p>
            <a:r>
              <a:rPr lang="en-AU" sz="3200" dirty="0"/>
              <a:t>There are five species of </a:t>
            </a:r>
            <a:endParaRPr lang="en-AU" sz="3200" dirty="0" smtClean="0"/>
          </a:p>
          <a:p>
            <a:pPr marL="0" indent="0">
              <a:buNone/>
            </a:pPr>
            <a:r>
              <a:rPr lang="en-AU" sz="3200" dirty="0"/>
              <a:t> </a:t>
            </a:r>
            <a:r>
              <a:rPr lang="en-AU" sz="3200" dirty="0" smtClean="0"/>
              <a:t> Malaria. </a:t>
            </a:r>
            <a:r>
              <a:rPr lang="en-AU" sz="3200" dirty="0"/>
              <a:t>Four commonly </a:t>
            </a:r>
            <a:endParaRPr lang="en-AU" sz="3200" dirty="0" smtClean="0"/>
          </a:p>
          <a:p>
            <a:pPr marL="0" indent="0">
              <a:buNone/>
            </a:pPr>
            <a:r>
              <a:rPr lang="en-AU" sz="3200" dirty="0"/>
              <a:t> </a:t>
            </a:r>
            <a:r>
              <a:rPr lang="en-AU" sz="3200" dirty="0" smtClean="0"/>
              <a:t> infect </a:t>
            </a:r>
            <a:r>
              <a:rPr lang="en-AU" sz="3200" dirty="0"/>
              <a:t>humans, with one </a:t>
            </a:r>
            <a:endParaRPr lang="en-AU" sz="3200" dirty="0" smtClean="0"/>
          </a:p>
          <a:p>
            <a:pPr marL="0" indent="0">
              <a:buNone/>
            </a:pPr>
            <a:r>
              <a:rPr lang="en-AU" sz="3200" dirty="0"/>
              <a:t> </a:t>
            </a:r>
            <a:r>
              <a:rPr lang="en-AU" sz="3200" dirty="0" smtClean="0"/>
              <a:t> found </a:t>
            </a:r>
            <a:r>
              <a:rPr lang="en-AU" sz="3200" dirty="0"/>
              <a:t>in macaques, though </a:t>
            </a:r>
            <a:endParaRPr lang="en-AU" sz="3200" dirty="0" smtClean="0"/>
          </a:p>
          <a:p>
            <a:pPr marL="0" indent="0">
              <a:buNone/>
            </a:pPr>
            <a:r>
              <a:rPr lang="en-AU" sz="3200" dirty="0"/>
              <a:t> </a:t>
            </a:r>
            <a:r>
              <a:rPr lang="en-AU" sz="3200" dirty="0" smtClean="0"/>
              <a:t> monkey-to-human </a:t>
            </a:r>
            <a:r>
              <a:rPr lang="en-AU" sz="3200" dirty="0"/>
              <a:t>contact </a:t>
            </a:r>
            <a:endParaRPr lang="en-AU" sz="3200" dirty="0" smtClean="0"/>
          </a:p>
          <a:p>
            <a:pPr marL="0" indent="0">
              <a:buNone/>
            </a:pPr>
            <a:r>
              <a:rPr lang="en-AU" sz="3200" dirty="0"/>
              <a:t> </a:t>
            </a:r>
            <a:r>
              <a:rPr lang="en-AU" sz="3200" dirty="0" smtClean="0"/>
              <a:t> has </a:t>
            </a:r>
            <a:r>
              <a:rPr lang="en-AU" sz="3200" dirty="0"/>
              <a:t>been observed. </a:t>
            </a:r>
          </a:p>
          <a:p>
            <a:endParaRPr lang="en-AU" sz="3200" dirty="0"/>
          </a:p>
          <a:p>
            <a:endParaRPr lang="en-AU" sz="3200" dirty="0"/>
          </a:p>
        </p:txBody>
      </p:sp>
      <p:pic>
        <p:nvPicPr>
          <p:cNvPr id="4" name="Picture 3"/>
          <p:cNvPicPr>
            <a:picLocks noChangeAspect="1"/>
          </p:cNvPicPr>
          <p:nvPr/>
        </p:nvPicPr>
        <p:blipFill>
          <a:blip r:embed="rId2"/>
          <a:stretch>
            <a:fillRect/>
          </a:stretch>
        </p:blipFill>
        <p:spPr>
          <a:xfrm>
            <a:off x="5808616" y="3130113"/>
            <a:ext cx="5293723" cy="3499151"/>
          </a:xfrm>
          <a:prstGeom prst="rect">
            <a:avLst/>
          </a:prstGeom>
        </p:spPr>
      </p:pic>
    </p:spTree>
    <p:extLst>
      <p:ext uri="{BB962C8B-B14F-4D97-AF65-F5344CB8AC3E}">
        <p14:creationId xmlns:p14="http://schemas.microsoft.com/office/powerpoint/2010/main" val="2107492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Lifecycle of Malaria </a:t>
            </a:r>
            <a:endParaRPr lang="en-AU" sz="6000" b="1" dirty="0"/>
          </a:p>
        </p:txBody>
      </p:sp>
      <p:sp>
        <p:nvSpPr>
          <p:cNvPr id="3" name="Content Placeholder 2"/>
          <p:cNvSpPr>
            <a:spLocks noGrp="1"/>
          </p:cNvSpPr>
          <p:nvPr>
            <p:ph idx="1"/>
          </p:nvPr>
        </p:nvSpPr>
        <p:spPr/>
        <p:txBody>
          <a:bodyPr/>
          <a:lstStyle/>
          <a:p>
            <a:r>
              <a:rPr lang="en-AU" sz="3200" dirty="0" smtClean="0"/>
              <a:t>All Malaria species have essentially the same lifecycle. </a:t>
            </a:r>
          </a:p>
          <a:p>
            <a:endParaRPr lang="en-AU" sz="3200" dirty="0"/>
          </a:p>
          <a:p>
            <a:r>
              <a:rPr lang="en-AU" sz="3200" dirty="0" smtClean="0"/>
              <a:t>It starts with sexual reproduction in the gut of the mosquito host, after which it migrates to the salivary glands. It is injected into the human host when the mosquito bites. Once inside the human, it travels through the blood to the liver where it continues to reproduce, divide, and multiply, destroying red blood cells as the population grows. </a:t>
            </a:r>
            <a:r>
              <a:rPr lang="en-AU" dirty="0" smtClean="0"/>
              <a:t> </a:t>
            </a:r>
            <a:endParaRPr lang="en-AU" dirty="0"/>
          </a:p>
        </p:txBody>
      </p:sp>
    </p:spTree>
    <p:extLst>
      <p:ext uri="{BB962C8B-B14F-4D97-AF65-F5344CB8AC3E}">
        <p14:creationId xmlns:p14="http://schemas.microsoft.com/office/powerpoint/2010/main" val="2789284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Locations </a:t>
            </a:r>
            <a:endParaRPr lang="en-AU" sz="6000" b="1" dirty="0"/>
          </a:p>
        </p:txBody>
      </p:sp>
      <p:sp>
        <p:nvSpPr>
          <p:cNvPr id="3" name="Content Placeholder 2"/>
          <p:cNvSpPr>
            <a:spLocks noGrp="1"/>
          </p:cNvSpPr>
          <p:nvPr>
            <p:ph idx="1"/>
          </p:nvPr>
        </p:nvSpPr>
        <p:spPr>
          <a:xfrm>
            <a:off x="394063" y="2116182"/>
            <a:ext cx="11684726" cy="4676503"/>
          </a:xfrm>
        </p:spPr>
        <p:txBody>
          <a:bodyPr>
            <a:normAutofit/>
          </a:bodyPr>
          <a:lstStyle/>
          <a:p>
            <a:r>
              <a:rPr lang="en-AU" sz="3200" dirty="0" smtClean="0"/>
              <a:t>Malaria </a:t>
            </a:r>
            <a:r>
              <a:rPr lang="en-AU" sz="3200" dirty="0"/>
              <a:t>typically is found in warmer regions of the </a:t>
            </a:r>
            <a:r>
              <a:rPr lang="en-AU" sz="3200" dirty="0" smtClean="0"/>
              <a:t>world. Malaria parasites need </a:t>
            </a:r>
            <a:r>
              <a:rPr lang="en-AU" sz="3200" dirty="0"/>
              <a:t>warmth to complete their growth before they are mature enough to be transmitted to humans.</a:t>
            </a:r>
          </a:p>
          <a:p>
            <a:endParaRPr lang="en-AU" sz="3200" dirty="0"/>
          </a:p>
          <a:p>
            <a:r>
              <a:rPr lang="en-AU" sz="3200" dirty="0" smtClean="0"/>
              <a:t>Malaria </a:t>
            </a:r>
            <a:r>
              <a:rPr lang="en-AU" sz="3200" dirty="0"/>
              <a:t>occurs in more than 100 countries and territories. About half of the world’s population is at risk. A</a:t>
            </a:r>
            <a:r>
              <a:rPr lang="en-AU" sz="3200" dirty="0" smtClean="0"/>
              <a:t>reas </a:t>
            </a:r>
            <a:r>
              <a:rPr lang="en-AU" sz="3200" dirty="0"/>
              <a:t>of </a:t>
            </a:r>
            <a:r>
              <a:rPr lang="en-AU" sz="3200" dirty="0" smtClean="0"/>
              <a:t>Africa, South Asia, South </a:t>
            </a:r>
            <a:r>
              <a:rPr lang="en-AU" sz="3200" dirty="0"/>
              <a:t>America, the Caribbean</a:t>
            </a:r>
            <a:r>
              <a:rPr lang="en-AU" sz="3200" dirty="0" smtClean="0"/>
              <a:t>, </a:t>
            </a:r>
            <a:r>
              <a:rPr lang="en-AU" sz="3200" dirty="0"/>
              <a:t>the Middle East, and Oceania are considered areas where </a:t>
            </a:r>
            <a:r>
              <a:rPr lang="en-AU" sz="3200" dirty="0" smtClean="0"/>
              <a:t>Malaria </a:t>
            </a:r>
            <a:r>
              <a:rPr lang="en-AU" sz="3200" dirty="0"/>
              <a:t>transmission occurs.</a:t>
            </a:r>
          </a:p>
        </p:txBody>
      </p:sp>
    </p:spTree>
    <p:extLst>
      <p:ext uri="{BB962C8B-B14F-4D97-AF65-F5344CB8AC3E}">
        <p14:creationId xmlns:p14="http://schemas.microsoft.com/office/powerpoint/2010/main" val="508011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Fatality Rate </a:t>
            </a:r>
            <a:endParaRPr lang="en-AU" sz="6000" b="1" dirty="0"/>
          </a:p>
        </p:txBody>
      </p:sp>
      <p:sp>
        <p:nvSpPr>
          <p:cNvPr id="3" name="Content Placeholder 2"/>
          <p:cNvSpPr>
            <a:spLocks noGrp="1"/>
          </p:cNvSpPr>
          <p:nvPr>
            <p:ph idx="1"/>
          </p:nvPr>
        </p:nvSpPr>
        <p:spPr/>
        <p:txBody>
          <a:bodyPr>
            <a:normAutofit/>
          </a:bodyPr>
          <a:lstStyle/>
          <a:p>
            <a:r>
              <a:rPr lang="en-AU" sz="3200" dirty="0" smtClean="0"/>
              <a:t>There </a:t>
            </a:r>
            <a:r>
              <a:rPr lang="en-AU" sz="3200" dirty="0"/>
              <a:t>were 241 million cases of </a:t>
            </a:r>
            <a:r>
              <a:rPr lang="en-AU" sz="3200" dirty="0" smtClean="0"/>
              <a:t>Malaria </a:t>
            </a:r>
            <a:r>
              <a:rPr lang="en-AU" sz="3200" dirty="0"/>
              <a:t>in 2020 </a:t>
            </a:r>
            <a:endParaRPr lang="en-AU" sz="3200" dirty="0" smtClean="0"/>
          </a:p>
          <a:p>
            <a:endParaRPr lang="en-AU" sz="3200" dirty="0"/>
          </a:p>
          <a:p>
            <a:r>
              <a:rPr lang="en-AU" sz="3200" dirty="0" smtClean="0"/>
              <a:t>The </a:t>
            </a:r>
            <a:r>
              <a:rPr lang="en-AU" sz="3200" dirty="0"/>
              <a:t>estimated number of </a:t>
            </a:r>
            <a:r>
              <a:rPr lang="en-AU" sz="3200" dirty="0" smtClean="0"/>
              <a:t>Malaria </a:t>
            </a:r>
            <a:r>
              <a:rPr lang="en-AU" sz="3200" dirty="0"/>
              <a:t>deaths stood at 627 000 in 2020</a:t>
            </a:r>
          </a:p>
        </p:txBody>
      </p:sp>
    </p:spTree>
    <p:extLst>
      <p:ext uri="{BB962C8B-B14F-4D97-AF65-F5344CB8AC3E}">
        <p14:creationId xmlns:p14="http://schemas.microsoft.com/office/powerpoint/2010/main" val="2564058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1060031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Spread in the body  </a:t>
            </a:r>
            <a:endParaRPr lang="en-AU" sz="6000" b="1" dirty="0"/>
          </a:p>
        </p:txBody>
      </p:sp>
      <p:sp>
        <p:nvSpPr>
          <p:cNvPr id="3" name="Content Placeholder 2"/>
          <p:cNvSpPr>
            <a:spLocks noGrp="1"/>
          </p:cNvSpPr>
          <p:nvPr>
            <p:ph idx="1"/>
          </p:nvPr>
        </p:nvSpPr>
        <p:spPr/>
        <p:txBody>
          <a:bodyPr>
            <a:normAutofit/>
          </a:bodyPr>
          <a:lstStyle/>
          <a:p>
            <a:r>
              <a:rPr lang="en-AU" sz="3200" dirty="0" smtClean="0"/>
              <a:t>Incubation</a:t>
            </a:r>
            <a:r>
              <a:rPr lang="en-AU" sz="3200" dirty="0"/>
              <a:t>: 7-30 days. </a:t>
            </a:r>
            <a:endParaRPr lang="en-AU" sz="3200" dirty="0" smtClean="0"/>
          </a:p>
          <a:p>
            <a:endParaRPr lang="en-AU" sz="3200" dirty="0"/>
          </a:p>
          <a:p>
            <a:r>
              <a:rPr lang="en-AU" sz="3200" dirty="0" smtClean="0"/>
              <a:t>Malaria </a:t>
            </a:r>
            <a:r>
              <a:rPr lang="en-AU" sz="3200" dirty="0"/>
              <a:t>adjusts itself to multiple organs within each host e.g. blood, liver, salivary glands, gut. </a:t>
            </a:r>
          </a:p>
          <a:p>
            <a:endParaRPr lang="en-AU" sz="3200" dirty="0"/>
          </a:p>
          <a:p>
            <a:endParaRPr lang="en-AU" sz="3200" dirty="0"/>
          </a:p>
        </p:txBody>
      </p:sp>
    </p:spTree>
    <p:extLst>
      <p:ext uri="{BB962C8B-B14F-4D97-AF65-F5344CB8AC3E}">
        <p14:creationId xmlns:p14="http://schemas.microsoft.com/office/powerpoint/2010/main" val="2366362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Signs and Symptoms </a:t>
            </a:r>
            <a:endParaRPr lang="en-AU" sz="6000" b="1" dirty="0"/>
          </a:p>
        </p:txBody>
      </p:sp>
      <p:sp>
        <p:nvSpPr>
          <p:cNvPr id="3" name="Content Placeholder 2"/>
          <p:cNvSpPr>
            <a:spLocks noGrp="1"/>
          </p:cNvSpPr>
          <p:nvPr>
            <p:ph idx="1"/>
          </p:nvPr>
        </p:nvSpPr>
        <p:spPr/>
        <p:txBody>
          <a:bodyPr>
            <a:normAutofit/>
          </a:bodyPr>
          <a:lstStyle/>
          <a:p>
            <a:r>
              <a:rPr lang="en-AU" sz="3200" dirty="0" smtClean="0"/>
              <a:t>Malaria </a:t>
            </a:r>
            <a:r>
              <a:rPr lang="en-AU" sz="3200" dirty="0"/>
              <a:t>causes anaemia by destroying red blood cells. However, the worst symptoms occur when </a:t>
            </a:r>
            <a:r>
              <a:rPr lang="en-AU" sz="3200" dirty="0" smtClean="0"/>
              <a:t>Malaria </a:t>
            </a:r>
            <a:r>
              <a:rPr lang="en-AU" sz="3200" dirty="0"/>
              <a:t>get into the brain, causing </a:t>
            </a:r>
            <a:r>
              <a:rPr lang="en-AU" sz="3200" dirty="0" smtClean="0"/>
              <a:t>Cerebral Malaria. </a:t>
            </a:r>
            <a:endParaRPr lang="en-AU" sz="3200" dirty="0"/>
          </a:p>
          <a:p>
            <a:endParaRPr lang="en-AU" sz="3200" dirty="0"/>
          </a:p>
          <a:p>
            <a:r>
              <a:rPr lang="en-AU" sz="3200" dirty="0"/>
              <a:t>In </a:t>
            </a:r>
            <a:r>
              <a:rPr lang="en-AU" sz="3200" dirty="0" smtClean="0"/>
              <a:t>Cerebral Malaria, </a:t>
            </a:r>
            <a:r>
              <a:rPr lang="en-AU" sz="3200" dirty="0"/>
              <a:t>parasites block blood flow and trigger inflammation, killing untreated patients or causing brain damage in patients that are treated and recover. </a:t>
            </a:r>
          </a:p>
          <a:p>
            <a:endParaRPr lang="en-AU" sz="3200" dirty="0"/>
          </a:p>
        </p:txBody>
      </p:sp>
    </p:spTree>
    <p:extLst>
      <p:ext uri="{BB962C8B-B14F-4D97-AF65-F5344CB8AC3E}">
        <p14:creationId xmlns:p14="http://schemas.microsoft.com/office/powerpoint/2010/main" val="303274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Signs and Symptoms </a:t>
            </a:r>
            <a:endParaRPr lang="en-AU" sz="6000" b="1" dirty="0"/>
          </a:p>
        </p:txBody>
      </p:sp>
      <p:sp>
        <p:nvSpPr>
          <p:cNvPr id="3" name="Content Placeholder 2"/>
          <p:cNvSpPr>
            <a:spLocks noGrp="1"/>
          </p:cNvSpPr>
          <p:nvPr>
            <p:ph idx="1"/>
          </p:nvPr>
        </p:nvSpPr>
        <p:spPr/>
        <p:txBody>
          <a:bodyPr>
            <a:normAutofit/>
          </a:bodyPr>
          <a:lstStyle/>
          <a:p>
            <a:r>
              <a:rPr lang="en-AU" sz="3200" dirty="0" smtClean="0"/>
              <a:t>Malaria’s </a:t>
            </a:r>
            <a:r>
              <a:rPr lang="en-AU" sz="3200" dirty="0"/>
              <a:t>most obvious symptom is fever. </a:t>
            </a:r>
          </a:p>
          <a:p>
            <a:endParaRPr lang="en-AU" sz="3200" dirty="0"/>
          </a:p>
          <a:p>
            <a:r>
              <a:rPr lang="en-AU" sz="3200" dirty="0"/>
              <a:t>In many </a:t>
            </a:r>
            <a:r>
              <a:rPr lang="en-AU" sz="3200" dirty="0" smtClean="0"/>
              <a:t>Malarial </a:t>
            </a:r>
            <a:r>
              <a:rPr lang="en-AU" sz="3200" dirty="0"/>
              <a:t>regions, patients who come to the hospital with fever and headache are automatically treated for </a:t>
            </a:r>
            <a:r>
              <a:rPr lang="en-AU" sz="3200" dirty="0" smtClean="0"/>
              <a:t>Malaria </a:t>
            </a:r>
            <a:r>
              <a:rPr lang="en-AU" sz="3200" dirty="0"/>
              <a:t>since testing is expensive and requires expertise. </a:t>
            </a:r>
          </a:p>
          <a:p>
            <a:endParaRPr lang="en-AU" sz="3200" dirty="0"/>
          </a:p>
        </p:txBody>
      </p:sp>
    </p:spTree>
    <p:extLst>
      <p:ext uri="{BB962C8B-B14F-4D97-AF65-F5344CB8AC3E}">
        <p14:creationId xmlns:p14="http://schemas.microsoft.com/office/powerpoint/2010/main" val="418067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treatment and cost </a:t>
            </a:r>
            <a:endParaRPr lang="en-AU" sz="6000" b="1" dirty="0"/>
          </a:p>
        </p:txBody>
      </p:sp>
      <p:sp>
        <p:nvSpPr>
          <p:cNvPr id="3" name="Content Placeholder 2"/>
          <p:cNvSpPr>
            <a:spLocks noGrp="1"/>
          </p:cNvSpPr>
          <p:nvPr>
            <p:ph idx="1"/>
          </p:nvPr>
        </p:nvSpPr>
        <p:spPr>
          <a:xfrm>
            <a:off x="289560" y="1546951"/>
            <a:ext cx="11684726" cy="5167358"/>
          </a:xfrm>
        </p:spPr>
        <p:txBody>
          <a:bodyPr>
            <a:normAutofit/>
          </a:bodyPr>
          <a:lstStyle/>
          <a:p>
            <a:r>
              <a:rPr lang="en-AU" sz="3200" dirty="0"/>
              <a:t>The most common </a:t>
            </a:r>
            <a:r>
              <a:rPr lang="en-AU" sz="3200" dirty="0" smtClean="0"/>
              <a:t>antimalarial </a:t>
            </a:r>
            <a:r>
              <a:rPr lang="en-AU" sz="3200" dirty="0"/>
              <a:t>drugs include</a:t>
            </a:r>
            <a:r>
              <a:rPr lang="en-AU" sz="3200" dirty="0" smtClean="0"/>
              <a:t>:</a:t>
            </a:r>
            <a:endParaRPr lang="en-AU" sz="3200" dirty="0"/>
          </a:p>
          <a:p>
            <a:pPr lvl="1"/>
            <a:r>
              <a:rPr lang="en-AU" sz="2800" dirty="0"/>
              <a:t>Chloroquine </a:t>
            </a:r>
            <a:r>
              <a:rPr lang="en-AU" sz="2800" dirty="0" smtClean="0"/>
              <a:t>phosphate: preferred </a:t>
            </a:r>
            <a:r>
              <a:rPr lang="en-AU" sz="2800" dirty="0"/>
              <a:t>treatment for any parasite that is sensitive to the drug. But in many parts of the world, parasites are resistant to </a:t>
            </a:r>
            <a:r>
              <a:rPr lang="en-AU" sz="2800" dirty="0" smtClean="0"/>
              <a:t>chloroquine.</a:t>
            </a:r>
          </a:p>
          <a:p>
            <a:pPr lvl="1"/>
            <a:r>
              <a:rPr lang="en-AU" sz="2800" dirty="0" smtClean="0"/>
              <a:t>Artemisinin-based </a:t>
            </a:r>
            <a:r>
              <a:rPr lang="en-AU" sz="2800" dirty="0"/>
              <a:t>combination </a:t>
            </a:r>
            <a:r>
              <a:rPr lang="en-AU" sz="2800" dirty="0" smtClean="0"/>
              <a:t>therapies: a </a:t>
            </a:r>
            <a:r>
              <a:rPr lang="en-AU" sz="2800" dirty="0"/>
              <a:t>combination of two or more drugs that work against the </a:t>
            </a:r>
            <a:r>
              <a:rPr lang="en-AU" sz="2800" dirty="0" smtClean="0"/>
              <a:t>Malaria parasite. </a:t>
            </a:r>
            <a:r>
              <a:rPr lang="en-AU" sz="2800" dirty="0"/>
              <a:t>This is usually the preferred treatment for chloroquine-resistant </a:t>
            </a:r>
            <a:r>
              <a:rPr lang="en-AU" sz="2800" dirty="0" smtClean="0"/>
              <a:t>Malaria. </a:t>
            </a:r>
          </a:p>
          <a:p>
            <a:pPr lvl="1"/>
            <a:endParaRPr lang="en-AU" sz="2800" dirty="0" smtClean="0"/>
          </a:p>
          <a:p>
            <a:r>
              <a:rPr lang="en-AU" sz="3200" dirty="0"/>
              <a:t>The </a:t>
            </a:r>
            <a:r>
              <a:rPr lang="en-AU" sz="3200" dirty="0" smtClean="0"/>
              <a:t>cost </a:t>
            </a:r>
            <a:r>
              <a:rPr lang="en-AU" sz="3200" dirty="0"/>
              <a:t>of treating </a:t>
            </a:r>
            <a:r>
              <a:rPr lang="en-AU" sz="3200" dirty="0" smtClean="0"/>
              <a:t>uncomplicated Malaria </a:t>
            </a:r>
            <a:r>
              <a:rPr lang="en-AU" sz="3200" dirty="0"/>
              <a:t>was $5.84 </a:t>
            </a:r>
            <a:r>
              <a:rPr lang="en-AU" sz="3200" dirty="0" smtClean="0"/>
              <a:t>and </a:t>
            </a:r>
            <a:r>
              <a:rPr lang="en-AU" sz="3200" dirty="0"/>
              <a:t>the </a:t>
            </a:r>
            <a:r>
              <a:rPr lang="en-AU" sz="3200" dirty="0" smtClean="0"/>
              <a:t>cost </a:t>
            </a:r>
            <a:r>
              <a:rPr lang="en-AU" sz="3200" dirty="0"/>
              <a:t>of treating </a:t>
            </a:r>
            <a:r>
              <a:rPr lang="en-AU" sz="3200" dirty="0" smtClean="0"/>
              <a:t>severe Malaria </a:t>
            </a:r>
            <a:r>
              <a:rPr lang="en-AU" sz="3200" dirty="0"/>
              <a:t>was $30.26</a:t>
            </a:r>
          </a:p>
        </p:txBody>
      </p:sp>
    </p:spTree>
    <p:extLst>
      <p:ext uri="{BB962C8B-B14F-4D97-AF65-F5344CB8AC3E}">
        <p14:creationId xmlns:p14="http://schemas.microsoft.com/office/powerpoint/2010/main" val="1465584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1" y="365125"/>
            <a:ext cx="11913326" cy="1325563"/>
          </a:xfrm>
        </p:spPr>
        <p:txBody>
          <a:bodyPr>
            <a:noAutofit/>
          </a:bodyPr>
          <a:lstStyle/>
          <a:p>
            <a:r>
              <a:rPr lang="en-AU" sz="6000" b="1" dirty="0" smtClean="0"/>
              <a:t>Global Malaria Eradication Program </a:t>
            </a:r>
            <a:endParaRPr lang="en-AU" sz="6000" b="1" dirty="0"/>
          </a:p>
        </p:txBody>
      </p:sp>
      <p:sp>
        <p:nvSpPr>
          <p:cNvPr id="3" name="Content Placeholder 2"/>
          <p:cNvSpPr>
            <a:spLocks noGrp="1"/>
          </p:cNvSpPr>
          <p:nvPr>
            <p:ph idx="1"/>
          </p:nvPr>
        </p:nvSpPr>
        <p:spPr/>
        <p:txBody>
          <a:bodyPr>
            <a:normAutofit/>
          </a:bodyPr>
          <a:lstStyle/>
          <a:p>
            <a:r>
              <a:rPr lang="en-AU" sz="3200" dirty="0" smtClean="0"/>
              <a:t>The Global Malaria Eradication Program, which began in 1955 and aimed to eradicate Malaria by 1963, encountered many problems. The biggest was the campaign push for the use of DDT and the devastating effects on wildlife (especially birds). </a:t>
            </a:r>
          </a:p>
          <a:p>
            <a:endParaRPr lang="en-AU" sz="3200" dirty="0"/>
          </a:p>
          <a:p>
            <a:r>
              <a:rPr lang="en-AU" sz="3200" dirty="0" smtClean="0"/>
              <a:t>Once the link was made between wildlife deaths and DDT usage by Rachel Carson’s Silent Spring (1962) a push for the banning of DDT started, and was successful. </a:t>
            </a:r>
          </a:p>
        </p:txBody>
      </p:sp>
    </p:spTree>
    <p:extLst>
      <p:ext uri="{BB962C8B-B14F-4D97-AF65-F5344CB8AC3E}">
        <p14:creationId xmlns:p14="http://schemas.microsoft.com/office/powerpoint/2010/main" val="1297441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vaccination </a:t>
            </a:r>
            <a:endParaRPr lang="en-AU" sz="6000" b="1" dirty="0"/>
          </a:p>
        </p:txBody>
      </p:sp>
      <p:sp>
        <p:nvSpPr>
          <p:cNvPr id="3" name="Content Placeholder 2"/>
          <p:cNvSpPr>
            <a:spLocks noGrp="1"/>
          </p:cNvSpPr>
          <p:nvPr>
            <p:ph idx="1"/>
          </p:nvPr>
        </p:nvSpPr>
        <p:spPr/>
        <p:txBody>
          <a:bodyPr>
            <a:normAutofit/>
          </a:bodyPr>
          <a:lstStyle/>
          <a:p>
            <a:r>
              <a:rPr lang="en-AU" sz="3200" dirty="0" smtClean="0"/>
              <a:t>The </a:t>
            </a:r>
            <a:r>
              <a:rPr lang="en-AU" sz="3200" dirty="0"/>
              <a:t>only approved vaccine, as of 2021, is </a:t>
            </a:r>
            <a:r>
              <a:rPr lang="en-AU" sz="3200" dirty="0" err="1" smtClean="0"/>
              <a:t>Mosquirix</a:t>
            </a:r>
            <a:r>
              <a:rPr lang="en-AU" sz="3200" dirty="0"/>
              <a:t>. </a:t>
            </a:r>
            <a:endParaRPr lang="en-AU" sz="3200" dirty="0" smtClean="0"/>
          </a:p>
          <a:p>
            <a:endParaRPr lang="en-AU" sz="3200" dirty="0"/>
          </a:p>
          <a:p>
            <a:r>
              <a:rPr lang="en-AU" sz="3200" dirty="0" smtClean="0"/>
              <a:t>In </a:t>
            </a:r>
            <a:r>
              <a:rPr lang="en-AU" sz="3200" dirty="0"/>
              <a:t>October 2021, the WHO for the first time recommended the large-scale use of a </a:t>
            </a:r>
            <a:r>
              <a:rPr lang="en-AU" sz="3200" dirty="0" smtClean="0"/>
              <a:t>Malaria </a:t>
            </a:r>
            <a:r>
              <a:rPr lang="en-AU" sz="3200" dirty="0"/>
              <a:t>vaccine for children living in areas with moderate-to-high </a:t>
            </a:r>
            <a:r>
              <a:rPr lang="en-AU" sz="3200" dirty="0" smtClean="0"/>
              <a:t>Malaria </a:t>
            </a:r>
            <a:r>
              <a:rPr lang="en-AU" sz="3200" dirty="0"/>
              <a:t>transmission</a:t>
            </a:r>
            <a:r>
              <a:rPr lang="en-AU" sz="3200" dirty="0" smtClean="0"/>
              <a:t>.</a:t>
            </a:r>
            <a:endParaRPr lang="en-AU" sz="3200" dirty="0"/>
          </a:p>
          <a:p>
            <a:endParaRPr lang="en-AU" sz="3200" dirty="0" smtClean="0"/>
          </a:p>
          <a:p>
            <a:r>
              <a:rPr lang="en-AU" sz="3200" dirty="0" smtClean="0"/>
              <a:t>No data on how many people have been vaccinated against Malaria. </a:t>
            </a:r>
            <a:endParaRPr lang="en-AU" sz="3200" dirty="0"/>
          </a:p>
        </p:txBody>
      </p:sp>
    </p:spTree>
    <p:extLst>
      <p:ext uri="{BB962C8B-B14F-4D97-AF65-F5344CB8AC3E}">
        <p14:creationId xmlns:p14="http://schemas.microsoft.com/office/powerpoint/2010/main" val="2574376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Risk Factors </a:t>
            </a:r>
            <a:endParaRPr lang="en-AU" sz="6000" b="1" dirty="0"/>
          </a:p>
        </p:txBody>
      </p:sp>
      <p:sp>
        <p:nvSpPr>
          <p:cNvPr id="3" name="Content Placeholder 2"/>
          <p:cNvSpPr>
            <a:spLocks noGrp="1"/>
          </p:cNvSpPr>
          <p:nvPr>
            <p:ph idx="1"/>
          </p:nvPr>
        </p:nvSpPr>
        <p:spPr>
          <a:xfrm>
            <a:off x="550817" y="1755956"/>
            <a:ext cx="11205754" cy="4766763"/>
          </a:xfrm>
        </p:spPr>
        <p:txBody>
          <a:bodyPr>
            <a:normAutofit lnSpcReduction="10000"/>
          </a:bodyPr>
          <a:lstStyle/>
          <a:p>
            <a:r>
              <a:rPr lang="en-AU" sz="3200" dirty="0" smtClean="0"/>
              <a:t>The </a:t>
            </a:r>
            <a:r>
              <a:rPr lang="en-AU" sz="3200" dirty="0"/>
              <a:t>greatest risk factor for developing malaria is to live in or to visit areas where the disease is common. </a:t>
            </a:r>
            <a:r>
              <a:rPr lang="en-AU" sz="3200" dirty="0" smtClean="0"/>
              <a:t>The </a:t>
            </a:r>
            <a:r>
              <a:rPr lang="en-AU" sz="3200" dirty="0"/>
              <a:t>degree of risk depends on local malaria control, seasonal changes in malaria rates and the precautions you take to prevent mosquito bites.</a:t>
            </a:r>
          </a:p>
          <a:p>
            <a:endParaRPr lang="en-AU" sz="3200" dirty="0"/>
          </a:p>
          <a:p>
            <a:r>
              <a:rPr lang="en-AU" sz="3200" dirty="0" smtClean="0"/>
              <a:t>People </a:t>
            </a:r>
            <a:r>
              <a:rPr lang="en-AU" sz="3200" dirty="0"/>
              <a:t>at increased risk of serious disease include</a:t>
            </a:r>
            <a:r>
              <a:rPr lang="en-AU" sz="3200" dirty="0" smtClean="0"/>
              <a:t>:</a:t>
            </a:r>
            <a:endParaRPr lang="en-AU" sz="3200" dirty="0"/>
          </a:p>
          <a:p>
            <a:pPr lvl="1"/>
            <a:r>
              <a:rPr lang="en-AU" sz="2800" dirty="0"/>
              <a:t>Young children and infants</a:t>
            </a:r>
          </a:p>
          <a:p>
            <a:pPr lvl="1"/>
            <a:r>
              <a:rPr lang="en-AU" sz="2800" dirty="0"/>
              <a:t>Older adults</a:t>
            </a:r>
          </a:p>
          <a:p>
            <a:pPr lvl="1"/>
            <a:r>
              <a:rPr lang="en-AU" sz="2800" dirty="0"/>
              <a:t>Travelers coming from areas with no malaria</a:t>
            </a:r>
          </a:p>
          <a:p>
            <a:pPr lvl="1"/>
            <a:r>
              <a:rPr lang="en-AU" sz="2800" dirty="0"/>
              <a:t>Pregnant women and their unborn children</a:t>
            </a:r>
          </a:p>
        </p:txBody>
      </p:sp>
    </p:spTree>
    <p:extLst>
      <p:ext uri="{BB962C8B-B14F-4D97-AF65-F5344CB8AC3E}">
        <p14:creationId xmlns:p14="http://schemas.microsoft.com/office/powerpoint/2010/main" val="2952361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Malaria- Diagnosis </a:t>
            </a:r>
            <a:endParaRPr lang="en-AU" sz="6000" b="1" dirty="0"/>
          </a:p>
        </p:txBody>
      </p:sp>
      <p:sp>
        <p:nvSpPr>
          <p:cNvPr id="3" name="Content Placeholder 2"/>
          <p:cNvSpPr>
            <a:spLocks noGrp="1"/>
          </p:cNvSpPr>
          <p:nvPr>
            <p:ph idx="1"/>
          </p:nvPr>
        </p:nvSpPr>
        <p:spPr/>
        <p:txBody>
          <a:bodyPr>
            <a:normAutofit/>
          </a:bodyPr>
          <a:lstStyle/>
          <a:p>
            <a:r>
              <a:rPr lang="en-AU" sz="3200" dirty="0"/>
              <a:t>Malaria parasites can be identified by examining under the microscope a drop of the patient's blood, spread out as a “blood smear” on a microscope slide. </a:t>
            </a:r>
            <a:endParaRPr lang="en-AU" sz="3200" dirty="0" smtClean="0"/>
          </a:p>
          <a:p>
            <a:endParaRPr lang="en-AU" sz="3200" dirty="0" smtClean="0"/>
          </a:p>
          <a:p>
            <a:r>
              <a:rPr lang="en-AU" sz="3200" dirty="0" smtClean="0"/>
              <a:t>Prior </a:t>
            </a:r>
            <a:r>
              <a:rPr lang="en-AU" sz="3200" dirty="0"/>
              <a:t>to examination, the specimen is stained </a:t>
            </a:r>
            <a:r>
              <a:rPr lang="en-AU" sz="3200" dirty="0" smtClean="0"/>
              <a:t>to </a:t>
            </a:r>
            <a:r>
              <a:rPr lang="en-AU" sz="3200" dirty="0"/>
              <a:t>give the parasites a distinctive appearance.</a:t>
            </a:r>
          </a:p>
        </p:txBody>
      </p:sp>
    </p:spTree>
    <p:extLst>
      <p:ext uri="{BB962C8B-B14F-4D97-AF65-F5344CB8AC3E}">
        <p14:creationId xmlns:p14="http://schemas.microsoft.com/office/powerpoint/2010/main" val="171941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Zika- Origins </a:t>
            </a:r>
            <a:endParaRPr lang="en-AU" sz="6000" b="1" dirty="0"/>
          </a:p>
        </p:txBody>
      </p:sp>
      <p:sp>
        <p:nvSpPr>
          <p:cNvPr id="3" name="Content Placeholder 2"/>
          <p:cNvSpPr>
            <a:spLocks noGrp="1"/>
          </p:cNvSpPr>
          <p:nvPr>
            <p:ph idx="1"/>
          </p:nvPr>
        </p:nvSpPr>
        <p:spPr/>
        <p:txBody>
          <a:bodyPr>
            <a:normAutofit/>
          </a:bodyPr>
          <a:lstStyle/>
          <a:p>
            <a:r>
              <a:rPr lang="en-AU" sz="3200" dirty="0"/>
              <a:t>Zika virus was first discovered in 1947 and is named after the Zika Forest in </a:t>
            </a:r>
            <a:r>
              <a:rPr lang="en-AU" sz="3200" dirty="0" smtClean="0"/>
              <a:t>Uganda</a:t>
            </a:r>
          </a:p>
          <a:p>
            <a:endParaRPr lang="en-AU" sz="3200" dirty="0"/>
          </a:p>
          <a:p>
            <a:r>
              <a:rPr lang="en-AU" sz="3200" dirty="0" smtClean="0"/>
              <a:t>Due to its more mild nature, not much effort has gone into back-tracing Zika to find its Spillover origins, and therefore the first case is still listed as 1947. </a:t>
            </a:r>
            <a:endParaRPr lang="en-AU" sz="3200" dirty="0"/>
          </a:p>
        </p:txBody>
      </p:sp>
    </p:spTree>
    <p:extLst>
      <p:ext uri="{BB962C8B-B14F-4D97-AF65-F5344CB8AC3E}">
        <p14:creationId xmlns:p14="http://schemas.microsoft.com/office/powerpoint/2010/main" val="2361311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11530" y="153487"/>
            <a:ext cx="8631647" cy="6473735"/>
          </a:xfrm>
          <a:prstGeom prst="rect">
            <a:avLst/>
          </a:prstGeom>
        </p:spPr>
      </p:pic>
    </p:spTree>
    <p:extLst>
      <p:ext uri="{BB962C8B-B14F-4D97-AF65-F5344CB8AC3E}">
        <p14:creationId xmlns:p14="http://schemas.microsoft.com/office/powerpoint/2010/main" val="4072960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Zika- Zoonotic Spillover </a:t>
            </a:r>
            <a:endParaRPr lang="en-AU" sz="6000" b="1" dirty="0"/>
          </a:p>
        </p:txBody>
      </p:sp>
      <p:sp>
        <p:nvSpPr>
          <p:cNvPr id="3" name="Content Placeholder 2"/>
          <p:cNvSpPr>
            <a:spLocks noGrp="1"/>
          </p:cNvSpPr>
          <p:nvPr>
            <p:ph idx="1"/>
          </p:nvPr>
        </p:nvSpPr>
        <p:spPr/>
        <p:txBody>
          <a:bodyPr>
            <a:normAutofit/>
          </a:bodyPr>
          <a:lstStyle/>
          <a:p>
            <a:r>
              <a:rPr lang="en-AU" sz="3200" i="1" dirty="0" err="1" smtClean="0"/>
              <a:t>Aedes</a:t>
            </a:r>
            <a:r>
              <a:rPr lang="en-AU" sz="3200" i="1" dirty="0" smtClean="0"/>
              <a:t> </a:t>
            </a:r>
            <a:r>
              <a:rPr lang="en-AU" sz="3200" i="1" dirty="0" err="1" smtClean="0"/>
              <a:t>aegypti</a:t>
            </a:r>
            <a:r>
              <a:rPr lang="en-AU" sz="3200" i="1" dirty="0" smtClean="0"/>
              <a:t>                  </a:t>
            </a:r>
            <a:r>
              <a:rPr lang="en-AU" sz="3200" dirty="0" smtClean="0"/>
              <a:t>and                  </a:t>
            </a:r>
            <a:r>
              <a:rPr lang="en-AU" sz="3200" i="1" dirty="0" err="1" smtClean="0"/>
              <a:t>Aedes</a:t>
            </a:r>
            <a:r>
              <a:rPr lang="en-AU" sz="3200" i="1" dirty="0" smtClean="0"/>
              <a:t> </a:t>
            </a:r>
            <a:r>
              <a:rPr lang="en-AU" sz="3200" i="1" dirty="0" err="1" smtClean="0"/>
              <a:t>albopictus</a:t>
            </a:r>
            <a:r>
              <a:rPr lang="en-AU" sz="3200" i="1" dirty="0" smtClean="0"/>
              <a:t> </a:t>
            </a:r>
            <a:endParaRPr lang="en-AU" sz="3200" i="1" dirty="0"/>
          </a:p>
        </p:txBody>
      </p:sp>
      <p:pic>
        <p:nvPicPr>
          <p:cNvPr id="4" name="Picture 3"/>
          <p:cNvPicPr>
            <a:picLocks noChangeAspect="1"/>
          </p:cNvPicPr>
          <p:nvPr/>
        </p:nvPicPr>
        <p:blipFill>
          <a:blip r:embed="rId2"/>
          <a:stretch>
            <a:fillRect/>
          </a:stretch>
        </p:blipFill>
        <p:spPr>
          <a:xfrm>
            <a:off x="320150" y="2968911"/>
            <a:ext cx="4265424" cy="2865832"/>
          </a:xfrm>
          <a:prstGeom prst="rect">
            <a:avLst/>
          </a:prstGeom>
        </p:spPr>
      </p:pic>
      <p:pic>
        <p:nvPicPr>
          <p:cNvPr id="5" name="Picture 4"/>
          <p:cNvPicPr>
            <a:picLocks noChangeAspect="1"/>
          </p:cNvPicPr>
          <p:nvPr/>
        </p:nvPicPr>
        <p:blipFill>
          <a:blip r:embed="rId3"/>
          <a:stretch>
            <a:fillRect/>
          </a:stretch>
        </p:blipFill>
        <p:spPr>
          <a:xfrm>
            <a:off x="6653348" y="2889275"/>
            <a:ext cx="4464231" cy="3025104"/>
          </a:xfrm>
          <a:prstGeom prst="rect">
            <a:avLst/>
          </a:prstGeom>
        </p:spPr>
      </p:pic>
    </p:spTree>
    <p:extLst>
      <p:ext uri="{BB962C8B-B14F-4D97-AF65-F5344CB8AC3E}">
        <p14:creationId xmlns:p14="http://schemas.microsoft.com/office/powerpoint/2010/main" val="2566033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Zika</a:t>
            </a:r>
            <a:r>
              <a:rPr lang="en-AU" sz="6000" b="1" dirty="0" smtClean="0"/>
              <a:t>- Locations </a:t>
            </a:r>
            <a:endParaRPr lang="en-AU" sz="6000" b="1" dirty="0"/>
          </a:p>
        </p:txBody>
      </p:sp>
      <p:sp>
        <p:nvSpPr>
          <p:cNvPr id="3" name="Content Placeholder 2"/>
          <p:cNvSpPr>
            <a:spLocks noGrp="1"/>
          </p:cNvSpPr>
          <p:nvPr>
            <p:ph idx="1"/>
          </p:nvPr>
        </p:nvSpPr>
        <p:spPr/>
        <p:txBody>
          <a:bodyPr>
            <a:normAutofit/>
          </a:bodyPr>
          <a:lstStyle/>
          <a:p>
            <a:r>
              <a:rPr lang="en-AU" sz="3200" dirty="0"/>
              <a:t>Zika virus occurs in tropical areas with large mosquito populations and is known to occur in Africa, the Americas, Asia and the Western Pacific. </a:t>
            </a:r>
          </a:p>
        </p:txBody>
      </p:sp>
    </p:spTree>
    <p:extLst>
      <p:ext uri="{BB962C8B-B14F-4D97-AF65-F5344CB8AC3E}">
        <p14:creationId xmlns:p14="http://schemas.microsoft.com/office/powerpoint/2010/main" val="2912761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Zika</a:t>
            </a:r>
            <a:r>
              <a:rPr lang="en-AU" sz="6000" b="1" dirty="0" smtClean="0"/>
              <a:t>- Signs and Symptoms </a:t>
            </a:r>
            <a:endParaRPr lang="en-AU" sz="6000" b="1" dirty="0"/>
          </a:p>
        </p:txBody>
      </p:sp>
      <p:sp>
        <p:nvSpPr>
          <p:cNvPr id="3" name="Content Placeholder 2"/>
          <p:cNvSpPr>
            <a:spLocks noGrp="1"/>
          </p:cNvSpPr>
          <p:nvPr>
            <p:ph idx="1"/>
          </p:nvPr>
        </p:nvSpPr>
        <p:spPr/>
        <p:txBody>
          <a:bodyPr>
            <a:normAutofit/>
          </a:bodyPr>
          <a:lstStyle/>
          <a:p>
            <a:r>
              <a:rPr lang="en-AU" sz="3200" dirty="0"/>
              <a:t>Incubation: 3-12 days </a:t>
            </a:r>
          </a:p>
          <a:p>
            <a:r>
              <a:rPr lang="en-AU" sz="3200" dirty="0" smtClean="0"/>
              <a:t>Infection </a:t>
            </a:r>
            <a:r>
              <a:rPr lang="en-AU" sz="3200" dirty="0"/>
              <a:t>is characterised by fever, joint stiffness, headache, conjunctivitis, and a rash that spreads from the face to the rest of the body. </a:t>
            </a:r>
          </a:p>
          <a:p>
            <a:r>
              <a:rPr lang="en-AU" sz="3200" dirty="0"/>
              <a:t>Zika can be transmitted sexually, via blood transfusion, and passed from mother to child during pregnancy.  </a:t>
            </a:r>
          </a:p>
          <a:p>
            <a:endParaRPr lang="en-AU" sz="3200" dirty="0"/>
          </a:p>
        </p:txBody>
      </p:sp>
    </p:spTree>
    <p:extLst>
      <p:ext uri="{BB962C8B-B14F-4D97-AF65-F5344CB8AC3E}">
        <p14:creationId xmlns:p14="http://schemas.microsoft.com/office/powerpoint/2010/main" val="1791535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Zika</a:t>
            </a:r>
            <a:r>
              <a:rPr lang="en-AU" sz="6000" b="1" dirty="0" smtClean="0"/>
              <a:t>- Fatality Rate </a:t>
            </a:r>
            <a:endParaRPr lang="en-AU" sz="6000" b="1" dirty="0"/>
          </a:p>
        </p:txBody>
      </p:sp>
      <p:sp>
        <p:nvSpPr>
          <p:cNvPr id="3" name="Content Placeholder 2"/>
          <p:cNvSpPr>
            <a:spLocks noGrp="1"/>
          </p:cNvSpPr>
          <p:nvPr>
            <p:ph idx="1"/>
          </p:nvPr>
        </p:nvSpPr>
        <p:spPr/>
        <p:txBody>
          <a:bodyPr>
            <a:normAutofit/>
          </a:bodyPr>
          <a:lstStyle/>
          <a:p>
            <a:r>
              <a:rPr lang="en-AU" sz="3200" dirty="0"/>
              <a:t>Zika is milder than Dengue </a:t>
            </a:r>
            <a:r>
              <a:rPr lang="en-AU" sz="3200" dirty="0" smtClean="0"/>
              <a:t>and Malaria</a:t>
            </a:r>
          </a:p>
          <a:p>
            <a:endParaRPr lang="en-AU" sz="3200" dirty="0"/>
          </a:p>
          <a:p>
            <a:r>
              <a:rPr lang="en-AU" sz="3200" dirty="0" smtClean="0"/>
              <a:t>Death rate is 0.05%  </a:t>
            </a:r>
            <a:endParaRPr lang="en-AU" sz="3200" dirty="0"/>
          </a:p>
          <a:p>
            <a:endParaRPr lang="en-AU" sz="3200" dirty="0"/>
          </a:p>
        </p:txBody>
      </p:sp>
    </p:spTree>
    <p:extLst>
      <p:ext uri="{BB962C8B-B14F-4D97-AF65-F5344CB8AC3E}">
        <p14:creationId xmlns:p14="http://schemas.microsoft.com/office/powerpoint/2010/main" val="403016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Congenital </a:t>
            </a:r>
            <a:r>
              <a:rPr lang="en-AU" sz="6000" b="1" dirty="0"/>
              <a:t>Zika syndrome</a:t>
            </a:r>
          </a:p>
        </p:txBody>
      </p:sp>
      <p:sp>
        <p:nvSpPr>
          <p:cNvPr id="3" name="Content Placeholder 2"/>
          <p:cNvSpPr>
            <a:spLocks noGrp="1"/>
          </p:cNvSpPr>
          <p:nvPr>
            <p:ph idx="1"/>
          </p:nvPr>
        </p:nvSpPr>
        <p:spPr/>
        <p:txBody>
          <a:bodyPr>
            <a:normAutofit/>
          </a:bodyPr>
          <a:lstStyle/>
          <a:p>
            <a:r>
              <a:rPr lang="en-AU" sz="3200" dirty="0"/>
              <a:t>Zika virus can be transmitted from mother to </a:t>
            </a:r>
            <a:r>
              <a:rPr lang="en-AU" sz="3200" dirty="0" smtClean="0"/>
              <a:t>foetus </a:t>
            </a:r>
            <a:r>
              <a:rPr lang="en-AU" sz="3200" dirty="0"/>
              <a:t>during pregnancy, resulting in microcephaly (smaller than normal head size) and other congenital malformations in the infant, collectively referred to as congenital Zika syndrome. </a:t>
            </a:r>
            <a:endParaRPr lang="en-AU" sz="3200" dirty="0" smtClean="0"/>
          </a:p>
          <a:p>
            <a:endParaRPr lang="en-AU" sz="3200" dirty="0"/>
          </a:p>
          <a:p>
            <a:r>
              <a:rPr lang="en-AU" sz="3200" dirty="0" smtClean="0"/>
              <a:t>Microcephaly </a:t>
            </a:r>
            <a:r>
              <a:rPr lang="en-AU" sz="3200" dirty="0"/>
              <a:t>is caused by underlying abnormal brain development or loss of brain tissue.</a:t>
            </a:r>
          </a:p>
        </p:txBody>
      </p:sp>
    </p:spTree>
    <p:extLst>
      <p:ext uri="{BB962C8B-B14F-4D97-AF65-F5344CB8AC3E}">
        <p14:creationId xmlns:p14="http://schemas.microsoft.com/office/powerpoint/2010/main" val="3753990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Zika</a:t>
            </a:r>
            <a:r>
              <a:rPr lang="en-AU" sz="6000" b="1" dirty="0" smtClean="0"/>
              <a:t>- treatment</a:t>
            </a:r>
            <a:endParaRPr lang="en-AU" sz="6000" b="1" dirty="0"/>
          </a:p>
        </p:txBody>
      </p:sp>
      <p:sp>
        <p:nvSpPr>
          <p:cNvPr id="3" name="Content Placeholder 2"/>
          <p:cNvSpPr>
            <a:spLocks noGrp="1"/>
          </p:cNvSpPr>
          <p:nvPr>
            <p:ph idx="1"/>
          </p:nvPr>
        </p:nvSpPr>
        <p:spPr/>
        <p:txBody>
          <a:bodyPr>
            <a:normAutofit/>
          </a:bodyPr>
          <a:lstStyle/>
          <a:p>
            <a:r>
              <a:rPr lang="en-AU" sz="3200" dirty="0"/>
              <a:t>There is no specific treatment for infection with the Zika virus. To help relieve symptoms, get plenty of rest and drink plenty of fluids to prevent dehydration. The over-the-counter (OTC) medication acetaminophen (Tylenol, others) may help relieve joint pain and fever.</a:t>
            </a:r>
          </a:p>
        </p:txBody>
      </p:sp>
    </p:spTree>
    <p:extLst>
      <p:ext uri="{BB962C8B-B14F-4D97-AF65-F5344CB8AC3E}">
        <p14:creationId xmlns:p14="http://schemas.microsoft.com/office/powerpoint/2010/main" val="2966018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Zika</a:t>
            </a:r>
            <a:r>
              <a:rPr lang="en-AU" sz="6000" b="1" dirty="0" smtClean="0"/>
              <a:t>- Spread  </a:t>
            </a:r>
            <a:endParaRPr lang="en-AU" sz="6000" b="1" dirty="0"/>
          </a:p>
        </p:txBody>
      </p:sp>
      <p:sp>
        <p:nvSpPr>
          <p:cNvPr id="3" name="Content Placeholder 2"/>
          <p:cNvSpPr>
            <a:spLocks noGrp="1"/>
          </p:cNvSpPr>
          <p:nvPr>
            <p:ph idx="1"/>
          </p:nvPr>
        </p:nvSpPr>
        <p:spPr/>
        <p:txBody>
          <a:bodyPr>
            <a:normAutofit/>
          </a:bodyPr>
          <a:lstStyle/>
          <a:p>
            <a:r>
              <a:rPr lang="en-AU" sz="3200" dirty="0"/>
              <a:t>Tropical and subtropical regions are at risk, as well as any regions that </a:t>
            </a:r>
            <a:r>
              <a:rPr lang="en-AU" sz="3200" dirty="0" smtClean="0"/>
              <a:t>support </a:t>
            </a:r>
            <a:r>
              <a:rPr lang="en-AU" sz="3200" dirty="0"/>
              <a:t>the mosquito. </a:t>
            </a:r>
          </a:p>
          <a:p>
            <a:endParaRPr lang="en-AU" sz="3200" dirty="0"/>
          </a:p>
        </p:txBody>
      </p:sp>
    </p:spTree>
    <p:extLst>
      <p:ext uri="{BB962C8B-B14F-4D97-AF65-F5344CB8AC3E}">
        <p14:creationId xmlns:p14="http://schemas.microsoft.com/office/powerpoint/2010/main" val="2381940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Zika</a:t>
            </a:r>
            <a:r>
              <a:rPr lang="en-AU" sz="6000" b="1" dirty="0" smtClean="0"/>
              <a:t>- Risk Factors </a:t>
            </a:r>
            <a:endParaRPr lang="en-AU" sz="6000" b="1" dirty="0"/>
          </a:p>
        </p:txBody>
      </p:sp>
      <p:sp>
        <p:nvSpPr>
          <p:cNvPr id="3" name="Content Placeholder 2"/>
          <p:cNvSpPr>
            <a:spLocks noGrp="1"/>
          </p:cNvSpPr>
          <p:nvPr>
            <p:ph idx="1"/>
          </p:nvPr>
        </p:nvSpPr>
        <p:spPr>
          <a:xfrm>
            <a:off x="202475" y="1494699"/>
            <a:ext cx="11858896" cy="5254443"/>
          </a:xfrm>
        </p:spPr>
        <p:txBody>
          <a:bodyPr>
            <a:normAutofit/>
          </a:bodyPr>
          <a:lstStyle/>
          <a:p>
            <a:r>
              <a:rPr lang="en-AU" sz="3200" dirty="0"/>
              <a:t>Living or traveling in countries where there have been </a:t>
            </a:r>
            <a:r>
              <a:rPr lang="en-AU" sz="3200" dirty="0" smtClean="0"/>
              <a:t>outbreaks: being </a:t>
            </a:r>
            <a:r>
              <a:rPr lang="en-AU" sz="3200" dirty="0"/>
              <a:t>in tropical and subtropical areas increases your risk of exposure to the Zika virus. </a:t>
            </a:r>
          </a:p>
          <a:p>
            <a:endParaRPr lang="en-AU" sz="3200" dirty="0"/>
          </a:p>
          <a:p>
            <a:r>
              <a:rPr lang="en-AU" sz="3200" dirty="0"/>
              <a:t>Having unprotected </a:t>
            </a:r>
            <a:r>
              <a:rPr lang="en-AU" sz="3200" dirty="0" smtClean="0"/>
              <a:t>sex: the </a:t>
            </a:r>
            <a:r>
              <a:rPr lang="en-AU" sz="3200" dirty="0"/>
              <a:t>Zika virus can spread </a:t>
            </a:r>
            <a:r>
              <a:rPr lang="en-AU" sz="3200" dirty="0" smtClean="0"/>
              <a:t>through </a:t>
            </a:r>
            <a:r>
              <a:rPr lang="en-AU" sz="3200" dirty="0"/>
              <a:t>sex. P</a:t>
            </a:r>
            <a:r>
              <a:rPr lang="en-AU" sz="3200" dirty="0" smtClean="0"/>
              <a:t>regnant </a:t>
            </a:r>
            <a:r>
              <a:rPr lang="en-AU" sz="3200" dirty="0"/>
              <a:t>women whose sex partners recently lived in or </a:t>
            </a:r>
            <a:r>
              <a:rPr lang="en-AU" sz="3200" dirty="0" smtClean="0"/>
              <a:t>travelled where </a:t>
            </a:r>
            <a:r>
              <a:rPr lang="en-AU" sz="3200" dirty="0"/>
              <a:t>Zika virus is common should use a condom during sexual activity or abstain </a:t>
            </a:r>
            <a:r>
              <a:rPr lang="en-AU" sz="3200" dirty="0" smtClean="0"/>
              <a:t>until </a:t>
            </a:r>
            <a:r>
              <a:rPr lang="en-AU" sz="3200" dirty="0"/>
              <a:t>the baby is born. All other couples can also reduce the risk of </a:t>
            </a:r>
            <a:r>
              <a:rPr lang="en-AU" sz="3200" dirty="0" smtClean="0"/>
              <a:t>transmission </a:t>
            </a:r>
            <a:r>
              <a:rPr lang="en-AU" sz="3200" dirty="0"/>
              <a:t>by using a condom or abstaining </a:t>
            </a:r>
            <a:r>
              <a:rPr lang="en-AU" sz="3200" dirty="0" smtClean="0"/>
              <a:t>for </a:t>
            </a:r>
            <a:r>
              <a:rPr lang="en-AU" sz="3200" dirty="0"/>
              <a:t>up to three months after travel.</a:t>
            </a:r>
          </a:p>
        </p:txBody>
      </p:sp>
    </p:spTree>
    <p:extLst>
      <p:ext uri="{BB962C8B-B14F-4D97-AF65-F5344CB8AC3E}">
        <p14:creationId xmlns:p14="http://schemas.microsoft.com/office/powerpoint/2010/main" val="1926622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Zika</a:t>
            </a:r>
            <a:r>
              <a:rPr lang="en-AU" sz="6000" b="1" dirty="0" smtClean="0"/>
              <a:t>- Diagnosis </a:t>
            </a:r>
            <a:endParaRPr lang="en-AU" sz="6000" b="1" dirty="0"/>
          </a:p>
        </p:txBody>
      </p:sp>
      <p:sp>
        <p:nvSpPr>
          <p:cNvPr id="3" name="Content Placeholder 2"/>
          <p:cNvSpPr>
            <a:spLocks noGrp="1"/>
          </p:cNvSpPr>
          <p:nvPr>
            <p:ph idx="1"/>
          </p:nvPr>
        </p:nvSpPr>
        <p:spPr/>
        <p:txBody>
          <a:bodyPr>
            <a:normAutofit/>
          </a:bodyPr>
          <a:lstStyle/>
          <a:p>
            <a:r>
              <a:rPr lang="en-AU" sz="3200" dirty="0"/>
              <a:t>Detection of Zika virus genetic material (PCR testing): This test looks for evidence of the genetic material (RNA) of Zika virus. </a:t>
            </a:r>
            <a:endParaRPr lang="en-AU" sz="3200" dirty="0" smtClean="0"/>
          </a:p>
          <a:p>
            <a:endParaRPr lang="en-AU" sz="3200" dirty="0"/>
          </a:p>
          <a:p>
            <a:r>
              <a:rPr lang="en-AU" sz="3200" dirty="0" smtClean="0"/>
              <a:t>The </a:t>
            </a:r>
            <a:r>
              <a:rPr lang="en-AU" sz="3200" dirty="0"/>
              <a:t>test is most sensitive in the first 7 days after symptoms start when performed on blood, and in the first 14 days when performed on urine.</a:t>
            </a:r>
            <a:endParaRPr lang="en-AU" sz="3200" dirty="0"/>
          </a:p>
        </p:txBody>
      </p:sp>
    </p:spTree>
    <p:extLst>
      <p:ext uri="{BB962C8B-B14F-4D97-AF65-F5344CB8AC3E}">
        <p14:creationId xmlns:p14="http://schemas.microsoft.com/office/powerpoint/2010/main" val="380864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Spillover- Zika, Ebola and Beyond </a:t>
            </a:r>
            <a:endParaRPr lang="en-AU" sz="6000" b="1" dirty="0"/>
          </a:p>
        </p:txBody>
      </p:sp>
      <p:sp>
        <p:nvSpPr>
          <p:cNvPr id="3" name="Content Placeholder 2"/>
          <p:cNvSpPr>
            <a:spLocks noGrp="1"/>
          </p:cNvSpPr>
          <p:nvPr>
            <p:ph idx="1"/>
          </p:nvPr>
        </p:nvSpPr>
        <p:spPr/>
        <p:txBody>
          <a:bodyPr>
            <a:normAutofit/>
          </a:bodyPr>
          <a:lstStyle/>
          <a:p>
            <a:r>
              <a:rPr lang="en-AU" sz="3200" dirty="0"/>
              <a:t>https://www.youtube.com/watch?v=0dA-Ls9Iw24</a:t>
            </a:r>
          </a:p>
        </p:txBody>
      </p:sp>
    </p:spTree>
    <p:extLst>
      <p:ext uri="{BB962C8B-B14F-4D97-AF65-F5344CB8AC3E}">
        <p14:creationId xmlns:p14="http://schemas.microsoft.com/office/powerpoint/2010/main" val="1119806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1228</Words>
  <Application>Microsoft Office PowerPoint</Application>
  <PresentationFormat>Widescreen</PresentationFormat>
  <Paragraphs>101</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Castellar</vt:lpstr>
      <vt:lpstr>Office Theme</vt:lpstr>
      <vt:lpstr>Infectious Diseases</vt:lpstr>
      <vt:lpstr>Malaria- Origins </vt:lpstr>
      <vt:lpstr>PowerPoint Presentation</vt:lpstr>
      <vt:lpstr>Malaria- Zoonotic Spillover </vt:lpstr>
      <vt:lpstr>Lifecycle of Malaria </vt:lpstr>
      <vt:lpstr>Malaria- Locations </vt:lpstr>
      <vt:lpstr>Malaria- Fatality Rate </vt:lpstr>
      <vt:lpstr>PowerPoint Presentation</vt:lpstr>
      <vt:lpstr>Malaria- Spread in the body  </vt:lpstr>
      <vt:lpstr>Malaria- Signs and Symptoms </vt:lpstr>
      <vt:lpstr>Malaria- Signs and Symptoms </vt:lpstr>
      <vt:lpstr>Malaria- treatment and cost </vt:lpstr>
      <vt:lpstr>Global Malaria Eradication Program </vt:lpstr>
      <vt:lpstr>Malaria- vaccination </vt:lpstr>
      <vt:lpstr>Malaria- Risk Factors </vt:lpstr>
      <vt:lpstr>Malaria- Diagnosis </vt:lpstr>
      <vt:lpstr>Zika- Origins </vt:lpstr>
      <vt:lpstr>PowerPoint Presentation</vt:lpstr>
      <vt:lpstr>Zika- Zoonotic Spillover </vt:lpstr>
      <vt:lpstr>Zika- Locations </vt:lpstr>
      <vt:lpstr>Zika- Signs and Symptoms </vt:lpstr>
      <vt:lpstr>Zika- Fatality Rate </vt:lpstr>
      <vt:lpstr>Congenital Zika syndrome</vt:lpstr>
      <vt:lpstr>Zika- treatment</vt:lpstr>
      <vt:lpstr>Zika- Spread  </vt:lpstr>
      <vt:lpstr>Zika- Risk Factors </vt:lpstr>
      <vt:lpstr>Zika- Diagnosis </vt:lpstr>
      <vt:lpstr>Spillover- Zika, Ebola and Beyond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21</cp:revision>
  <dcterms:created xsi:type="dcterms:W3CDTF">2022-06-08T03:17:55Z</dcterms:created>
  <dcterms:modified xsi:type="dcterms:W3CDTF">2022-06-28T23:10:00Z</dcterms:modified>
</cp:coreProperties>
</file>
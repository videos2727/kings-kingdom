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40" r:id="rId4"/>
  </p:sldMasterIdLst>
  <p:notesMasterIdLst>
    <p:notesMasterId r:id="rId44"/>
  </p:notesMasterIdLst>
  <p:sldIdLst>
    <p:sldId id="260" r:id="rId5"/>
    <p:sldId id="262" r:id="rId6"/>
    <p:sldId id="263" r:id="rId7"/>
    <p:sldId id="265" r:id="rId8"/>
    <p:sldId id="270" r:id="rId9"/>
    <p:sldId id="266" r:id="rId10"/>
    <p:sldId id="264" r:id="rId11"/>
    <p:sldId id="267" r:id="rId12"/>
    <p:sldId id="268" r:id="rId13"/>
    <p:sldId id="269" r:id="rId14"/>
    <p:sldId id="271" r:id="rId15"/>
    <p:sldId id="272" r:id="rId16"/>
    <p:sldId id="275" r:id="rId17"/>
    <p:sldId id="276" r:id="rId18"/>
    <p:sldId id="277" r:id="rId19"/>
    <p:sldId id="274" r:id="rId20"/>
    <p:sldId id="278" r:id="rId21"/>
    <p:sldId id="273" r:id="rId22"/>
    <p:sldId id="280" r:id="rId23"/>
    <p:sldId id="279" r:id="rId24"/>
    <p:sldId id="281" r:id="rId25"/>
    <p:sldId id="282" r:id="rId26"/>
    <p:sldId id="283" r:id="rId27"/>
    <p:sldId id="286" r:id="rId28"/>
    <p:sldId id="284" r:id="rId29"/>
    <p:sldId id="287" r:id="rId30"/>
    <p:sldId id="285" r:id="rId31"/>
    <p:sldId id="288" r:id="rId32"/>
    <p:sldId id="295" r:id="rId33"/>
    <p:sldId id="296" r:id="rId34"/>
    <p:sldId id="289" r:id="rId35"/>
    <p:sldId id="290" r:id="rId36"/>
    <p:sldId id="291" r:id="rId37"/>
    <p:sldId id="292" r:id="rId38"/>
    <p:sldId id="293" r:id="rId39"/>
    <p:sldId id="294" r:id="rId40"/>
    <p:sldId id="297" r:id="rId41"/>
    <p:sldId id="298" r:id="rId42"/>
    <p:sldId id="29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7444A-D1A1-4853-B881-F8F8A2B672AA}" type="datetimeFigureOut">
              <a:rPr lang="en-US" smtClean="0"/>
              <a:t>1/22/2022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CB90E-A225-4324-8C33-43B9106088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8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FCA80-3149-4E77-8A10-61897EDA3B46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C9D3-68C8-4C7B-8900-91931799374E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228F-8597-4214-9AEE-4076FD5CA715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7F8CC-B120-4B42-BEE7-63A5350889A2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258E9-5596-48C3-B804-C76A65717270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7C53-E53C-41B3-812A-684A050FC715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1511-E534-4630-A1C6-AD2AF8D54CE5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9630-DBCB-471E-ABE0-D32F6A692637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631A-C749-4F96-9D50-34B67FA138ED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3711-36CD-49B6-9950-F52DFEABB444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F87-2F65-4022-A223-5773581A346C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328A6-DFEA-4DEB-902A-5CD45AEC92CE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1E4CA-5AE3-4870-BD9C-5EEB663715AB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11FB8-B5F3-49D0-BC3B-869D3A8CDBA7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ADFF6-C930-49C8-94FB-8F6FD2363FAD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E9CD1-1044-4815-9F42-749864AB9AF7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21573-514C-4F42-BCAD-23F0FC3E15F0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2B52B98-6AEB-475D-82BB-A785B0B1CD52}" type="datetime1">
              <a:rPr lang="en-US" smtClean="0"/>
              <a:t>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4E20B4-B38C-431D-97FB-559753C4CD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5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2769538" y="445383"/>
            <a:ext cx="1995577" cy="7534653"/>
          </a:xfrm>
          <a:prstGeom prst="round2SameRect">
            <a:avLst>
              <a:gd name="adj1" fmla="val 9679"/>
              <a:gd name="adj2" fmla="val 400"/>
            </a:avLst>
          </a:pr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6074B-C45A-40AF-9F6D-1348D176F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35" y="3496574"/>
            <a:ext cx="6436104" cy="1138686"/>
          </a:xfrm>
        </p:spPr>
        <p:txBody>
          <a:bodyPr>
            <a:normAutofit/>
          </a:bodyPr>
          <a:lstStyle/>
          <a:p>
            <a:pPr algn="l"/>
            <a:r>
              <a:rPr lang="en-US" sz="4400" dirty="0" smtClean="0"/>
              <a:t>The Muscular System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187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44" y="304800"/>
            <a:ext cx="10353762" cy="970450"/>
          </a:xfrm>
        </p:spPr>
        <p:txBody>
          <a:bodyPr>
            <a:normAutofit/>
          </a:bodyPr>
          <a:lstStyle/>
          <a:p>
            <a:r>
              <a:rPr lang="en-AU" b="1" dirty="0" smtClean="0"/>
              <a:t>From the Curriculum </a:t>
            </a:r>
            <a:endParaRPr lang="en-AU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8496334"/>
              </p:ext>
            </p:extLst>
          </p:nvPr>
        </p:nvGraphicFramePr>
        <p:xfrm>
          <a:off x="338664" y="1275250"/>
          <a:ext cx="11399521" cy="5306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7480">
                  <a:extLst>
                    <a:ext uri="{9D8B030D-6E8A-4147-A177-3AD203B41FA5}">
                      <a16:colId xmlns:a16="http://schemas.microsoft.com/office/drawing/2014/main" val="2296310814"/>
                    </a:ext>
                  </a:extLst>
                </a:gridCol>
                <a:gridCol w="3171152">
                  <a:extLst>
                    <a:ext uri="{9D8B030D-6E8A-4147-A177-3AD203B41FA5}">
                      <a16:colId xmlns:a16="http://schemas.microsoft.com/office/drawing/2014/main" val="3966034633"/>
                    </a:ext>
                  </a:extLst>
                </a:gridCol>
                <a:gridCol w="3171152">
                  <a:extLst>
                    <a:ext uri="{9D8B030D-6E8A-4147-A177-3AD203B41FA5}">
                      <a16:colId xmlns:a16="http://schemas.microsoft.com/office/drawing/2014/main" val="1271745730"/>
                    </a:ext>
                  </a:extLst>
                </a:gridCol>
                <a:gridCol w="1959737">
                  <a:extLst>
                    <a:ext uri="{9D8B030D-6E8A-4147-A177-3AD203B41FA5}">
                      <a16:colId xmlns:a16="http://schemas.microsoft.com/office/drawing/2014/main" val="2195324871"/>
                    </a:ext>
                  </a:extLst>
                </a:gridCol>
              </a:tblGrid>
              <a:tr h="2147198">
                <a:tc rowSpan="3">
                  <a:txBody>
                    <a:bodyPr/>
                    <a:lstStyle/>
                    <a:p>
                      <a:pPr marL="228600" indent="-22860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Muscular system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locomotion and balance is facilitated by the structure and actions of the skeletal muscles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skeletal muscles work in groups around joints to bring about the desired action, while maintaining stability of the joint and providing strength to the action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the structure of muscles allow for small movements at cellular level to combine to produce large, strong movements used in walking, balance and arm movements</a:t>
                      </a:r>
                      <a:endParaRPr lang="en-AU" sz="1400" b="1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AU" sz="1400" b="1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structure of skeletal muscles and 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action of the skeletal muscles and how they 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facilitate locomotion and balance 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how skeletal muscles work in groups to bring about an action </a:t>
                      </a:r>
                    </a:p>
                    <a:p>
                      <a:pPr marL="20510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AU" sz="1400" b="1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AU" sz="1400" b="1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568735"/>
                  </a:ext>
                </a:extLst>
              </a:tr>
              <a:tr h="1073598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AU" sz="1400" b="1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how muscles maintain the stability of the joint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how muscles provide strength to an action</a:t>
                      </a:r>
                    </a:p>
                    <a:p>
                      <a:pPr marL="20510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AU" sz="1400" b="1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AU" sz="1400" b="1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271318"/>
                  </a:ext>
                </a:extLst>
              </a:tr>
              <a:tr h="1932478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5</a:t>
                      </a:r>
                      <a:endParaRPr lang="en-AU" sz="1400" b="1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how the structure of muscles allows for movements at a cellular level to 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libri" panose="020F0502020204030204" pitchFamily="34" charset="0"/>
                        <a:buChar char="-"/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combine to produce large, strong movements used in walking, balance and arm movements </a:t>
                      </a:r>
                    </a:p>
                    <a:p>
                      <a:pPr marL="20510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AU" sz="1400" b="1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Task One: Muscular and Skeletal Systems</a:t>
                      </a:r>
                      <a:r>
                        <a:rPr lang="en-AU" sz="1400" b="1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endParaRPr lang="en-AU" sz="1400" b="1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7" marR="60167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21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08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 smtClean="0"/>
              <a:t>Assessments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AU" sz="2800" b="1" dirty="0">
                <a:solidFill>
                  <a:sysClr val="windowText" lastClr="000000"/>
                </a:solidFill>
                <a:effectLst/>
                <a:highlight>
                  <a:srgbClr val="FFFF00"/>
                </a:highlight>
              </a:rPr>
              <a:t>Task One: Muscular and Skeletal Systems</a:t>
            </a:r>
            <a:r>
              <a:rPr lang="en-AU" sz="2800" b="1" dirty="0">
                <a:solidFill>
                  <a:sysClr val="windowText" lastClr="000000"/>
                </a:solidFill>
                <a:effectLst/>
              </a:rPr>
              <a:t> </a:t>
            </a:r>
            <a:endParaRPr lang="en-AU" sz="2800" b="1" dirty="0">
              <a:solidFill>
                <a:sysClr val="windowText" lastClr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42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An introduction to muscles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 smtClean="0"/>
              <a:t>Muscle cells are in the form of long, thin fibres that have the ability to contract</a:t>
            </a:r>
            <a:r>
              <a:rPr lang="en-AU" sz="2800" b="1" dirty="0" smtClean="0"/>
              <a:t>. </a:t>
            </a:r>
          </a:p>
          <a:p>
            <a:r>
              <a:rPr lang="en-AU" sz="2800" b="1" dirty="0" smtClean="0"/>
              <a:t>The </a:t>
            </a:r>
            <a:r>
              <a:rPr lang="en-AU" sz="2800" b="1" u="sng" dirty="0" smtClean="0"/>
              <a:t>muscles that move bones</a:t>
            </a:r>
            <a:r>
              <a:rPr lang="en-AU" sz="2800" b="1" dirty="0" smtClean="0"/>
              <a:t> and enable us to walk, and carryout a wide range of voluntary physical activities </a:t>
            </a:r>
            <a:r>
              <a:rPr lang="en-AU" sz="2800" b="1" u="sng" dirty="0" smtClean="0"/>
              <a:t>are the </a:t>
            </a:r>
            <a:r>
              <a:rPr lang="en-AU" sz="2800" b="1" i="1" u="sng" dirty="0" smtClean="0"/>
              <a:t>skeletal muscles </a:t>
            </a:r>
            <a:r>
              <a:rPr lang="en-AU" sz="2800" b="1" dirty="0" smtClean="0"/>
              <a:t>(a type of muscle). </a:t>
            </a:r>
          </a:p>
          <a:p>
            <a:r>
              <a:rPr lang="en-AU" sz="2800" b="1" dirty="0" smtClean="0"/>
              <a:t> These muscles are under conscious control and attached to the bones of the skeleton.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70954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uscular tissue: skeletal, smooth and cardiac muscle - Online Biology Not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221"/>
          <a:stretch/>
        </p:blipFill>
        <p:spPr bwMode="auto">
          <a:xfrm>
            <a:off x="207826" y="539931"/>
            <a:ext cx="11625590" cy="593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934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Types of muscle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dirty="0" smtClean="0"/>
              <a:t>Two other types </a:t>
            </a:r>
          </a:p>
          <a:p>
            <a:r>
              <a:rPr lang="en-AU" sz="2800" b="1" dirty="0" smtClean="0"/>
              <a:t>Many of the internal organs, such as the stomach and intestines, have muscles for movement. These are known as </a:t>
            </a:r>
            <a:r>
              <a:rPr lang="en-AU" sz="2800" b="1" i="1" u="sng" dirty="0" smtClean="0"/>
              <a:t>smooth muscles </a:t>
            </a:r>
            <a:r>
              <a:rPr lang="en-AU" sz="2800" b="1" u="sng" dirty="0" smtClean="0"/>
              <a:t>or, because they are not under conscious control, involuntary muscles</a:t>
            </a:r>
            <a:r>
              <a:rPr lang="en-AU" sz="2800" b="1" dirty="0" smtClean="0"/>
              <a:t>. </a:t>
            </a:r>
          </a:p>
          <a:p>
            <a:r>
              <a:rPr lang="en-AU" sz="2800" b="1" dirty="0" smtClean="0"/>
              <a:t>A third type of muscle heart muscle. This is known as </a:t>
            </a:r>
            <a:r>
              <a:rPr lang="en-AU" sz="2800" b="1" i="1" u="sng" dirty="0" smtClean="0"/>
              <a:t>cardiac muscle</a:t>
            </a:r>
            <a:r>
              <a:rPr lang="en-AU" sz="2800" b="1" dirty="0" smtClean="0"/>
              <a:t>’ </a:t>
            </a:r>
          </a:p>
          <a:p>
            <a:endParaRPr lang="en-AU" sz="2800" b="1" dirty="0" smtClean="0"/>
          </a:p>
          <a:p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49223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21920"/>
            <a:ext cx="10353762" cy="970450"/>
          </a:xfrm>
        </p:spPr>
        <p:txBody>
          <a:bodyPr/>
          <a:lstStyle/>
          <a:p>
            <a:r>
              <a:rPr lang="en-AU" b="1" dirty="0" smtClean="0"/>
              <a:t>Structure of skeletal muscles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537" y="1371045"/>
            <a:ext cx="6741040" cy="5282304"/>
          </a:xfrm>
        </p:spPr>
        <p:txBody>
          <a:bodyPr>
            <a:normAutofit/>
          </a:bodyPr>
          <a:lstStyle/>
          <a:p>
            <a:r>
              <a:rPr lang="en-AU" sz="2800" b="1" u="sng" dirty="0" smtClean="0"/>
              <a:t>Muscle cells are held together in bundle. </a:t>
            </a:r>
          </a:p>
          <a:p>
            <a:r>
              <a:rPr lang="en-AU" sz="2800" b="1" dirty="0" smtClean="0"/>
              <a:t>Red meat is muscle and it is these bundles of muscle cells that give meat its ‘stringy’ appearance when cut lengthwise. </a:t>
            </a:r>
          </a:p>
          <a:p>
            <a:r>
              <a:rPr lang="en-AU" sz="2800" b="1" dirty="0" smtClean="0"/>
              <a:t>A </a:t>
            </a:r>
            <a:r>
              <a:rPr lang="en-AU" sz="2800" b="1" u="sng" dirty="0" smtClean="0"/>
              <a:t>sheath of connective tissue surrounds each bundle so that it can function as an individual unit. </a:t>
            </a:r>
            <a:endParaRPr lang="en-AU" sz="2800" b="1" u="sng" dirty="0"/>
          </a:p>
        </p:txBody>
      </p:sp>
      <p:pic>
        <p:nvPicPr>
          <p:cNvPr id="2050" name="Picture 2" descr="Muscle Cells Png - Skeletal Muscle Png , Free Transparent Clipart -  ClipartKey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94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174" y="1443166"/>
            <a:ext cx="47625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84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Continued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67" y="1706324"/>
            <a:ext cx="7315804" cy="4529013"/>
          </a:xfrm>
        </p:spPr>
        <p:txBody>
          <a:bodyPr/>
          <a:lstStyle/>
          <a:p>
            <a:r>
              <a:rPr lang="en-AU" sz="2800" b="1" u="sng" dirty="0"/>
              <a:t>The connective tissue allows adjacent bundles to slide easily over one another as they </a:t>
            </a:r>
            <a:r>
              <a:rPr lang="en-AU" sz="2800" b="1" u="sng" dirty="0" smtClean="0"/>
              <a:t>contract</a:t>
            </a:r>
            <a:r>
              <a:rPr lang="en-AU" sz="2800" b="1" dirty="0" smtClean="0"/>
              <a:t>.</a:t>
            </a:r>
          </a:p>
          <a:p>
            <a:r>
              <a:rPr lang="en-AU" sz="2800" b="1" u="sng" dirty="0" smtClean="0"/>
              <a:t>The sheaths </a:t>
            </a:r>
            <a:r>
              <a:rPr lang="en-AU" sz="2800" b="1" u="sng" dirty="0"/>
              <a:t>of connective tissue around each bundle join </a:t>
            </a:r>
            <a:r>
              <a:rPr lang="en-AU" sz="2800" b="1" dirty="0"/>
              <a:t>each other, and towards the </a:t>
            </a:r>
            <a:r>
              <a:rPr lang="en-AU" sz="2800" b="1" u="sng" dirty="0"/>
              <a:t>end of the muscle they taper and blend to form the tendon</a:t>
            </a:r>
            <a:r>
              <a:rPr lang="en-AU" sz="2800" b="1" dirty="0"/>
              <a:t>. </a:t>
            </a:r>
          </a:p>
          <a:p>
            <a:endParaRPr lang="en-AU" dirty="0"/>
          </a:p>
        </p:txBody>
      </p:sp>
      <p:pic>
        <p:nvPicPr>
          <p:cNvPr id="3074" name="Picture 2" descr="File:Diagram of muscle cells CRUK 035.svg - Wikimedia Common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0"/>
          <a:stretch/>
        </p:blipFill>
        <p:spPr bwMode="auto">
          <a:xfrm>
            <a:off x="6301260" y="4659087"/>
            <a:ext cx="5722340" cy="219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0 Facts About Tendons - Telma Grant, P.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577" y="218862"/>
            <a:ext cx="4362023" cy="221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342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Continued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 smtClean="0"/>
              <a:t>The amount of connective tissue increases with advancing age</a:t>
            </a:r>
            <a:r>
              <a:rPr lang="en-AU" sz="2800" b="1" dirty="0" smtClean="0"/>
              <a:t>, which is probably the reason why meat is less tender when it conies from an older animal. </a:t>
            </a:r>
          </a:p>
          <a:p>
            <a:r>
              <a:rPr lang="en-AU" sz="2800" b="1" u="sng" dirty="0" smtClean="0"/>
              <a:t>Increased amounts of connective tissue are also thought to contribute to the decrease in muscular strength </a:t>
            </a:r>
            <a:r>
              <a:rPr lang="en-AU" sz="2800" b="1" dirty="0" smtClean="0"/>
              <a:t>that gradually occurs as a person gets older.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469304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nfographic: How Muscles Age | The Scientist Magazine®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170" y="0"/>
            <a:ext cx="930938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10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21920"/>
            <a:ext cx="10353762" cy="970450"/>
          </a:xfrm>
        </p:spPr>
        <p:txBody>
          <a:bodyPr/>
          <a:lstStyle/>
          <a:p>
            <a:r>
              <a:rPr lang="en-AU" b="1" dirty="0" smtClean="0"/>
              <a:t>Continued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092370"/>
            <a:ext cx="10353762" cy="5604521"/>
          </a:xfrm>
        </p:spPr>
        <p:txBody>
          <a:bodyPr>
            <a:normAutofit/>
          </a:bodyPr>
          <a:lstStyle/>
          <a:p>
            <a:r>
              <a:rPr lang="en-AU" sz="2800" b="1" u="sng" dirty="0" smtClean="0"/>
              <a:t>Each muscle cell is an elongated cylinder with many nuclei. Around the cell is a thin, transparent plasma membrane, the </a:t>
            </a:r>
            <a:r>
              <a:rPr lang="en-AU" sz="2800" b="1" i="1" u="sng" dirty="0" smtClean="0"/>
              <a:t>sarcolemma</a:t>
            </a:r>
            <a:r>
              <a:rPr lang="en-AU" sz="2800" b="1" u="sng" dirty="0" smtClean="0"/>
              <a:t>, containing cytoplasm, called the </a:t>
            </a:r>
            <a:r>
              <a:rPr lang="en-AU" sz="2800" b="1" i="1" u="sng" dirty="0" smtClean="0"/>
              <a:t>sarcoplasm</a:t>
            </a:r>
            <a:r>
              <a:rPr lang="en-AU" sz="2800" b="1" dirty="0" smtClean="0"/>
              <a:t>.</a:t>
            </a:r>
          </a:p>
          <a:p>
            <a:r>
              <a:rPr lang="en-AU" sz="2800" b="1" u="sng" dirty="0" smtClean="0"/>
              <a:t>These cylindrical cells are the </a:t>
            </a:r>
            <a:r>
              <a:rPr lang="en-AU" sz="2800" b="1" i="1" u="sng" dirty="0" smtClean="0"/>
              <a:t>muscle fibres</a:t>
            </a:r>
            <a:r>
              <a:rPr lang="en-AU" sz="2800" b="1" dirty="0" smtClean="0"/>
              <a:t>. They are between 10 and 100 micrometres in diameter and vary in length from a few millimetres to several centimetres. </a:t>
            </a:r>
          </a:p>
          <a:p>
            <a:r>
              <a:rPr lang="en-AU" sz="2800" b="1" u="sng" dirty="0" smtClean="0"/>
              <a:t>Within the sarcoplasm of each fibre there are thread-like </a:t>
            </a:r>
            <a:r>
              <a:rPr lang="en-AU" sz="2800" b="1" i="1" u="sng" dirty="0" smtClean="0"/>
              <a:t>myofibrils</a:t>
            </a:r>
            <a:r>
              <a:rPr lang="en-AU" sz="2800" b="1" u="sng" dirty="0" smtClean="0"/>
              <a:t>, lying parallel to each other and running the length of the fibre</a:t>
            </a:r>
            <a:r>
              <a:rPr lang="en-AU" sz="2800" b="1" dirty="0" smtClean="0"/>
              <a:t>. There may be from hundreds to several thousands of these myofibrils in each fibre.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671895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Structure of myofibrils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 smtClean="0"/>
              <a:t>The </a:t>
            </a:r>
            <a:r>
              <a:rPr lang="en-AU" sz="2800" b="1" i="1" u="sng" dirty="0" smtClean="0"/>
              <a:t>myofibrils</a:t>
            </a:r>
            <a:r>
              <a:rPr lang="en-AU" sz="2800" b="1" u="sng" dirty="0" smtClean="0"/>
              <a:t> are composed of many smaller </a:t>
            </a:r>
            <a:r>
              <a:rPr lang="en-AU" sz="2800" b="1" i="1" u="sng" dirty="0" smtClean="0"/>
              <a:t>myofilaments</a:t>
            </a:r>
            <a:r>
              <a:rPr lang="en-AU" sz="2800" b="1" u="sng" dirty="0" smtClean="0"/>
              <a:t>, made of protein, which are the actual units involved in contraction of the muscle. </a:t>
            </a:r>
          </a:p>
          <a:p>
            <a:r>
              <a:rPr lang="en-AU" sz="2800" b="1" u="sng" dirty="0" smtClean="0"/>
              <a:t>There are two types of myofilaments: </a:t>
            </a:r>
          </a:p>
          <a:p>
            <a:pPr lvl="1"/>
            <a:r>
              <a:rPr lang="en-AU" sz="2600" b="1" u="sng" dirty="0" smtClean="0"/>
              <a:t>thick myofilaments, composed mainly of the protein </a:t>
            </a:r>
            <a:r>
              <a:rPr lang="en-AU" sz="2600" b="1" i="1" u="sng" dirty="0" smtClean="0"/>
              <a:t>myosin</a:t>
            </a:r>
            <a:r>
              <a:rPr lang="en-AU" sz="2600" b="1" u="sng" dirty="0" smtClean="0"/>
              <a:t>; and </a:t>
            </a:r>
          </a:p>
          <a:p>
            <a:pPr lvl="1"/>
            <a:r>
              <a:rPr lang="en-AU" sz="2600" b="1" u="sng" dirty="0" smtClean="0"/>
              <a:t>thin myofilaments, composed mainly of the protein </a:t>
            </a:r>
            <a:r>
              <a:rPr lang="en-AU" sz="2600" b="1" i="1" u="sng" dirty="0" smtClean="0"/>
              <a:t>actin</a:t>
            </a:r>
            <a:r>
              <a:rPr lang="en-AU" sz="2600" b="1" u="sng" dirty="0" smtClean="0"/>
              <a:t>. </a:t>
            </a:r>
            <a:endParaRPr lang="en-AU" sz="2600" b="1" u="sng" dirty="0"/>
          </a:p>
        </p:txBody>
      </p:sp>
    </p:spTree>
    <p:extLst>
      <p:ext uri="{BB962C8B-B14F-4D97-AF65-F5344CB8AC3E}">
        <p14:creationId xmlns:p14="http://schemas.microsoft.com/office/powerpoint/2010/main" val="1343559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Continued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/>
              <a:t>W</a:t>
            </a:r>
            <a:r>
              <a:rPr lang="en-AU" sz="2800" b="1" u="sng" dirty="0" smtClean="0"/>
              <a:t>hen a muscle fibre is supplied with sufficient energy and is activated by a nerve impulse, these thick and thin protein filaments slide past each other in a manner that shortens the myofibril. </a:t>
            </a:r>
            <a:endParaRPr lang="en-AU" sz="2800" b="1" u="sng" dirty="0"/>
          </a:p>
          <a:p>
            <a:r>
              <a:rPr lang="en-AU" sz="2800" b="1" u="sng" dirty="0" smtClean="0"/>
              <a:t>Arrangement of thick and thin filaments within a myofibril gives a banded effect to the muscle. </a:t>
            </a:r>
            <a:r>
              <a:rPr lang="en-AU" sz="2800" b="1" dirty="0" smtClean="0"/>
              <a:t>It is these bands that give skeletal and cardiac muscle fibres their striated appearance when viewed under a microscope.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467646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Continued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 smtClean="0"/>
              <a:t>Myofibrils can be divided into units called </a:t>
            </a:r>
            <a:r>
              <a:rPr lang="en-AU" sz="2800" b="1" i="1" u="sng" dirty="0" smtClean="0"/>
              <a:t>sarcomeres</a:t>
            </a:r>
            <a:r>
              <a:rPr lang="en-AU" sz="2800" b="1" dirty="0" smtClean="0"/>
              <a:t>. </a:t>
            </a:r>
          </a:p>
          <a:p>
            <a:r>
              <a:rPr lang="en-AU" sz="2800" b="1" u="sng" dirty="0" smtClean="0"/>
              <a:t>The striated appearance of skeletal muscle is due to variations in the actin and myosin content in different parts of the sarcomere. </a:t>
            </a:r>
            <a:endParaRPr lang="en-AU" sz="2800" b="1" u="sng" dirty="0"/>
          </a:p>
        </p:txBody>
      </p:sp>
    </p:spTree>
    <p:extLst>
      <p:ext uri="{BB962C8B-B14F-4D97-AF65-F5344CB8AC3E}">
        <p14:creationId xmlns:p14="http://schemas.microsoft.com/office/powerpoint/2010/main" val="690029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75" y="483189"/>
            <a:ext cx="9270547" cy="62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5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3021" t="26852" r="24895" b="40000"/>
          <a:stretch/>
        </p:blipFill>
        <p:spPr>
          <a:xfrm>
            <a:off x="685800" y="495300"/>
            <a:ext cx="7408002" cy="4305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799" y="4996543"/>
            <a:ext cx="108421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 smtClean="0"/>
              <a:t>The structure of sarcomeres</a:t>
            </a:r>
            <a:r>
              <a:rPr lang="en-AU" sz="2400" b="1" dirty="0" smtClean="0"/>
              <a:t>: the I band consists only of thin filaments and is crossed by the Z line; the A band is made up of thick filaments that overlap at either end with thin filaments. A single sarcomere extends from one Z line to the next.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51884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SUMMARY 	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900" indent="0" algn="ctr">
              <a:lnSpc>
                <a:spcPct val="150000"/>
              </a:lnSpc>
              <a:buNone/>
            </a:pPr>
            <a:r>
              <a:rPr lang="en-AU" sz="4800" b="1" u="sng" dirty="0" smtClean="0">
                <a:solidFill>
                  <a:srgbClr val="FFFF00"/>
                </a:solidFill>
              </a:rPr>
              <a:t>Skeletal muscle </a:t>
            </a:r>
            <a:r>
              <a:rPr lang="en-AU" sz="4800" b="1" u="sng" dirty="0" smtClean="0"/>
              <a:t>is made up of </a:t>
            </a:r>
            <a:r>
              <a:rPr lang="en-AU" sz="4800" b="1" u="sng" dirty="0" smtClean="0">
                <a:solidFill>
                  <a:srgbClr val="FFFF00"/>
                </a:solidFill>
              </a:rPr>
              <a:t>bundles of muscle fibres </a:t>
            </a:r>
            <a:r>
              <a:rPr lang="en-AU" sz="4800" b="1" u="sng" dirty="0" smtClean="0"/>
              <a:t>each of which contains </a:t>
            </a:r>
            <a:r>
              <a:rPr lang="en-AU" sz="4800" b="1" u="sng" dirty="0" smtClean="0">
                <a:solidFill>
                  <a:srgbClr val="FFFF00"/>
                </a:solidFill>
              </a:rPr>
              <a:t>myofibrils</a:t>
            </a:r>
            <a:r>
              <a:rPr lang="en-AU" sz="4800" b="1" u="sng" dirty="0" smtClean="0"/>
              <a:t> which contain </a:t>
            </a:r>
            <a:r>
              <a:rPr lang="en-AU" sz="4800" b="1" u="sng" dirty="0" smtClean="0">
                <a:solidFill>
                  <a:srgbClr val="FFFF00"/>
                </a:solidFill>
              </a:rPr>
              <a:t>myofilaments</a:t>
            </a:r>
            <a:r>
              <a:rPr lang="en-AU" sz="4800" b="1" u="sng" dirty="0" smtClean="0"/>
              <a:t> of two types: </a:t>
            </a:r>
            <a:r>
              <a:rPr lang="en-AU" sz="4800" b="1" u="sng" dirty="0" smtClean="0">
                <a:solidFill>
                  <a:srgbClr val="FFFF00"/>
                </a:solidFill>
              </a:rPr>
              <a:t>actin and myosin</a:t>
            </a:r>
            <a:r>
              <a:rPr lang="en-AU" sz="4800" b="1" u="sng" dirty="0" smtClean="0"/>
              <a:t>. </a:t>
            </a:r>
            <a:endParaRPr lang="en-AU" sz="4800" b="1" u="sng" dirty="0"/>
          </a:p>
        </p:txBody>
      </p:sp>
    </p:spTree>
    <p:extLst>
      <p:ext uri="{BB962C8B-B14F-4D97-AF65-F5344CB8AC3E}">
        <p14:creationId xmlns:p14="http://schemas.microsoft.com/office/powerpoint/2010/main" val="546361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Sliding filament model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 smtClean="0"/>
              <a:t>Muscles are the only tissues that have the ability to contract</a:t>
            </a:r>
            <a:r>
              <a:rPr lang="en-AU" sz="2800" b="1" dirty="0" smtClean="0"/>
              <a:t>. To explain how muscle contraction occurs, </a:t>
            </a:r>
            <a:r>
              <a:rPr lang="en-AU" sz="2800" b="1" u="sng" dirty="0" smtClean="0"/>
              <a:t>a sliding filament model </a:t>
            </a:r>
            <a:r>
              <a:rPr lang="en-AU" sz="2800" b="1" dirty="0" smtClean="0"/>
              <a:t>has been proposed. </a:t>
            </a:r>
          </a:p>
          <a:p>
            <a:r>
              <a:rPr lang="en-AU" sz="2800" b="1" u="sng" dirty="0" smtClean="0"/>
              <a:t>When muscles contract, the sarcomeres shorten. The model suggests that this occurs because the actin and myosin filaments slide over one another.  </a:t>
            </a:r>
            <a:endParaRPr lang="en-AU" sz="2800" b="1" u="sng" dirty="0"/>
          </a:p>
        </p:txBody>
      </p:sp>
    </p:spTree>
    <p:extLst>
      <p:ext uri="{BB962C8B-B14F-4D97-AF65-F5344CB8AC3E}">
        <p14:creationId xmlns:p14="http://schemas.microsoft.com/office/powerpoint/2010/main" val="678734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Continued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 smtClean="0"/>
              <a:t>As the thin actin filaments slide over the thick myosin filaments, the Z lines are drawn closer together and the sarcomere is shortened.</a:t>
            </a:r>
          </a:p>
          <a:p>
            <a:r>
              <a:rPr lang="en-AU" sz="2800" b="1" u="sng" dirty="0" smtClean="0"/>
              <a:t>This results in a shortening of the muscle fibres and hence a shortening of the whole muscle (the myofilaments are the same length in the contracted position as they were before contraction). The fibril has shortened because the myofilaments overlap more.  </a:t>
            </a:r>
            <a:endParaRPr lang="en-AU" sz="2800" b="1" u="sng" dirty="0"/>
          </a:p>
        </p:txBody>
      </p:sp>
    </p:spTree>
    <p:extLst>
      <p:ext uri="{BB962C8B-B14F-4D97-AF65-F5344CB8AC3E}">
        <p14:creationId xmlns:p14="http://schemas.microsoft.com/office/powerpoint/2010/main" val="220556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4271" t="26296" r="5312" b="15000"/>
          <a:stretch/>
        </p:blipFill>
        <p:spPr>
          <a:xfrm>
            <a:off x="-12620" y="677628"/>
            <a:ext cx="12204620" cy="572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59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Continued.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2800" b="1" dirty="0" smtClean="0"/>
          </a:p>
          <a:p>
            <a:r>
              <a:rPr lang="en-AU" sz="2800" b="1" u="sng" dirty="0" smtClean="0"/>
              <a:t>When the muscle relaxes, the actin and myosin filaments can be pulled past one another in the opposite direction and the muscle fibre returns to its original, uncontracted state</a:t>
            </a:r>
            <a:r>
              <a:rPr lang="en-AU" sz="2800" b="1" dirty="0" smtClean="0"/>
              <a:t>. </a:t>
            </a:r>
          </a:p>
          <a:p>
            <a:r>
              <a:rPr lang="en-AU" sz="2800" b="1" dirty="0" smtClean="0"/>
              <a:t>At any given time, some muscle fibres can be contracted while others are relaxed.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487016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39337"/>
            <a:ext cx="10353762" cy="970450"/>
          </a:xfrm>
        </p:spPr>
        <p:txBody>
          <a:bodyPr/>
          <a:lstStyle/>
          <a:p>
            <a:r>
              <a:rPr lang="en-AU" b="1" dirty="0" smtClean="0"/>
              <a:t>Continued.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109787"/>
            <a:ext cx="10353762" cy="5534853"/>
          </a:xfrm>
        </p:spPr>
        <p:txBody>
          <a:bodyPr>
            <a:normAutofit/>
          </a:bodyPr>
          <a:lstStyle/>
          <a:p>
            <a:r>
              <a:rPr lang="en-AU" sz="2800" b="1" u="sng" dirty="0" smtClean="0"/>
              <a:t>Energy is required for shortening of the muscle fibres. </a:t>
            </a:r>
          </a:p>
          <a:p>
            <a:r>
              <a:rPr lang="en-AU" sz="2800" b="1" u="sng" dirty="0" smtClean="0"/>
              <a:t>The energy comes from the breakdown of adenosine triphosphate (ATP) in the muscle cells</a:t>
            </a:r>
            <a:r>
              <a:rPr lang="en-AU" sz="2800" b="1" dirty="0" smtClean="0"/>
              <a:t>. </a:t>
            </a:r>
          </a:p>
          <a:p>
            <a:r>
              <a:rPr lang="en-AU" sz="2800" b="1" dirty="0" smtClean="0"/>
              <a:t>Energy is released when breaks down to adenosine diphosphate (ADP) and a phosphate group. </a:t>
            </a:r>
          </a:p>
          <a:p>
            <a:r>
              <a:rPr lang="en-AU" sz="2800" b="1" dirty="0" smtClean="0"/>
              <a:t>When energy is again available from cellular respiration, ATP is re-formed. </a:t>
            </a:r>
          </a:p>
          <a:p>
            <a:r>
              <a:rPr lang="en-AU" sz="2800" b="1" u="sng" dirty="0" smtClean="0"/>
              <a:t>ATP is the molecule that transfers energy from cellular respiration to processes such as muscle contraction</a:t>
            </a:r>
            <a:r>
              <a:rPr lang="en-AU" sz="2800" b="1" dirty="0" smtClean="0"/>
              <a:t>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065640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Skeletal muscles working together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 smtClean="0"/>
              <a:t>Muscles are attached to the bones of the skeleton by fibrous, inelastic connective tissue called </a:t>
            </a:r>
            <a:r>
              <a:rPr lang="en-AU" sz="2800" b="1" i="1" u="sng" dirty="0" smtClean="0"/>
              <a:t>tendons</a:t>
            </a:r>
            <a:r>
              <a:rPr lang="en-AU" sz="2800" b="1" dirty="0" smtClean="0"/>
              <a:t>.</a:t>
            </a:r>
          </a:p>
          <a:p>
            <a:pPr marL="36900" indent="0">
              <a:buNone/>
            </a:pPr>
            <a:endParaRPr lang="en-AU" sz="2800" b="1" dirty="0" smtClean="0"/>
          </a:p>
          <a:p>
            <a:r>
              <a:rPr lang="en-AU" sz="2800" b="1" u="sng" dirty="0" smtClean="0"/>
              <a:t>They are attached to the bones in such a way that they bridge the joints, so when contraction occurs the bones move. Muscles can only contract</a:t>
            </a:r>
            <a:r>
              <a:rPr lang="en-AU" sz="2800" b="1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307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Continued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dirty="0"/>
              <a:t>They can pull bones together but they cannot push them apart</a:t>
            </a:r>
            <a:r>
              <a:rPr lang="en-AU" sz="2800" b="1" dirty="0" smtClean="0"/>
              <a:t>.</a:t>
            </a:r>
          </a:p>
          <a:p>
            <a:r>
              <a:rPr lang="en-AU" sz="2800" b="1" dirty="0" smtClean="0"/>
              <a:t> </a:t>
            </a:r>
            <a:r>
              <a:rPr lang="en-AU" sz="2800" b="1" u="sng" dirty="0"/>
              <a:t>If muscles contract, pulling a bone in one direction, another set of muscles must contract to pull the bone in the opposite direction</a:t>
            </a:r>
            <a:r>
              <a:rPr lang="en-AU" sz="2800" b="1" dirty="0"/>
              <a:t>. </a:t>
            </a:r>
            <a:endParaRPr lang="en-AU" sz="2800" b="1" dirty="0" smtClean="0"/>
          </a:p>
          <a:p>
            <a:r>
              <a:rPr lang="en-AU" sz="2800" b="1" dirty="0" smtClean="0"/>
              <a:t>Thus</a:t>
            </a:r>
            <a:r>
              <a:rPr lang="en-AU" sz="2800" b="1" dirty="0"/>
              <a:t>, the </a:t>
            </a:r>
            <a:r>
              <a:rPr lang="en-AU" sz="2800" b="1" u="sng" dirty="0"/>
              <a:t>muscles</a:t>
            </a:r>
            <a:r>
              <a:rPr lang="en-AU" sz="2800" b="1" dirty="0"/>
              <a:t> that move the parts of the skeleton </a:t>
            </a:r>
            <a:r>
              <a:rPr lang="en-AU" sz="2800" b="1" u="sng" dirty="0"/>
              <a:t>are always grouped in pairs</a:t>
            </a:r>
            <a:r>
              <a:rPr lang="en-AU" sz="2800" b="1" dirty="0"/>
              <a:t>. </a:t>
            </a:r>
          </a:p>
          <a:p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355405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7917" t="25185" r="36562" b="12778"/>
          <a:stretch/>
        </p:blipFill>
        <p:spPr>
          <a:xfrm>
            <a:off x="3522132" y="205317"/>
            <a:ext cx="8092017" cy="6381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1" y="1718733"/>
            <a:ext cx="259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 smtClean="0"/>
              <a:t>DRAW THIS DIAGRAM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66895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Continued.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b="1" u="sng" dirty="0" smtClean="0"/>
              <a:t>Antagonists aka opposite actions. </a:t>
            </a:r>
          </a:p>
          <a:p>
            <a:pPr lvl="1"/>
            <a:r>
              <a:rPr lang="en-AU" sz="2800" b="1" u="sng" dirty="0" smtClean="0"/>
              <a:t>Coordination of the paired muscles provides body movement, with one of the pair producing movement of bones in one direction and the other producing movement in the opposite direction. </a:t>
            </a:r>
          </a:p>
          <a:p>
            <a:pPr lvl="1"/>
            <a:r>
              <a:rPr lang="en-AU" sz="2800" b="1" u="sng" dirty="0" smtClean="0"/>
              <a:t>E.g. muscles of the upper arms </a:t>
            </a:r>
            <a:endParaRPr lang="en-AU" sz="2800" b="1" u="sng" dirty="0"/>
          </a:p>
        </p:txBody>
      </p:sp>
    </p:spTree>
    <p:extLst>
      <p:ext uri="{BB962C8B-B14F-4D97-AF65-F5344CB8AC3E}">
        <p14:creationId xmlns:p14="http://schemas.microsoft.com/office/powerpoint/2010/main" val="2090240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31250" t="17222" r="32709" b="6481"/>
          <a:stretch/>
        </p:blipFill>
        <p:spPr>
          <a:xfrm>
            <a:off x="3162300" y="133350"/>
            <a:ext cx="5551410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SCENARIO EXAMPLE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486916"/>
            <a:ext cx="10353762" cy="4736084"/>
          </a:xfrm>
        </p:spPr>
        <p:txBody>
          <a:bodyPr>
            <a:normAutofit/>
          </a:bodyPr>
          <a:lstStyle/>
          <a:p>
            <a:r>
              <a:rPr lang="en-AU" sz="2800" b="1" dirty="0" smtClean="0"/>
              <a:t>YOU NEED TO WRITE THE WHOLE SCENARIO- EST </a:t>
            </a:r>
          </a:p>
          <a:p>
            <a:pPr marL="36900" indent="0">
              <a:buNone/>
            </a:pPr>
            <a:endParaRPr lang="en-AU" sz="2800" b="1" dirty="0" smtClean="0"/>
          </a:p>
          <a:p>
            <a:r>
              <a:rPr lang="en-AU" sz="2800" b="1" u="sng" dirty="0" smtClean="0"/>
              <a:t>The muscles of the upper arm are good examples of antagonists. </a:t>
            </a:r>
          </a:p>
          <a:p>
            <a:r>
              <a:rPr lang="en-AU" sz="2800" b="1" u="sng" dirty="0" smtClean="0"/>
              <a:t>One end of the muscle on the front part of the upper arm, the biceps, is fixed to the scapula </a:t>
            </a:r>
          </a:p>
          <a:p>
            <a:r>
              <a:rPr lang="en-AU" sz="2800" b="1" u="sng" dirty="0" smtClean="0"/>
              <a:t>The other end of the biceps muscle is attached to the radius. </a:t>
            </a:r>
          </a:p>
        </p:txBody>
      </p:sp>
    </p:spTree>
    <p:extLst>
      <p:ext uri="{BB962C8B-B14F-4D97-AF65-F5344CB8AC3E}">
        <p14:creationId xmlns:p14="http://schemas.microsoft.com/office/powerpoint/2010/main" val="2258144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muscles of upper arm agonist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056" y="864326"/>
            <a:ext cx="6878918" cy="4656908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542862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6144" t="40370" r="19688" b="14259"/>
          <a:stretch/>
        </p:blipFill>
        <p:spPr>
          <a:xfrm>
            <a:off x="2514600" y="495358"/>
            <a:ext cx="7829550" cy="58482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14600" y="685800"/>
            <a:ext cx="590550" cy="11620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289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Scenario continued.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b="1" u="sng" dirty="0"/>
              <a:t>The muscle at the back of the upper arm, the triceps, is fixed to the scapula and to the humerus at one end, and to the ulna at the other</a:t>
            </a:r>
            <a:r>
              <a:rPr lang="en-AU" sz="2800" b="1" u="sng" dirty="0" smtClean="0"/>
              <a:t>. </a:t>
            </a:r>
          </a:p>
          <a:p>
            <a:r>
              <a:rPr lang="en-AU" sz="2800" b="1" u="sng" dirty="0" smtClean="0"/>
              <a:t>To </a:t>
            </a:r>
            <a:r>
              <a:rPr lang="en-AU" sz="2800" b="1" u="sng" dirty="0"/>
              <a:t>move the forearm about the elbow joint, these two muscles must cooperate. </a:t>
            </a:r>
            <a:endParaRPr lang="en-AU" sz="2800" b="1" u="sng" dirty="0" smtClean="0"/>
          </a:p>
          <a:p>
            <a:r>
              <a:rPr lang="en-AU" sz="2800" b="1" u="sng" dirty="0" smtClean="0"/>
              <a:t>When </a:t>
            </a:r>
            <a:r>
              <a:rPr lang="en-AU" sz="2800" b="1" u="sng" dirty="0"/>
              <a:t>the biceps contracts to bend the arm, the triceps must relax; the opposite occurs when the arm is straightened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8852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Scenario continued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495382"/>
            <a:ext cx="10353762" cy="4922351"/>
          </a:xfrm>
        </p:spPr>
        <p:txBody>
          <a:bodyPr>
            <a:normAutofit/>
          </a:bodyPr>
          <a:lstStyle/>
          <a:p>
            <a:r>
              <a:rPr lang="en-AU" sz="2800" b="1" u="sng" dirty="0" smtClean="0"/>
              <a:t>When the biceps muscle contracts, the shoulder end remains stationary but the other end moves and bends the forearm.</a:t>
            </a:r>
          </a:p>
          <a:p>
            <a:r>
              <a:rPr lang="en-AU" sz="2800" b="1" u="sng" dirty="0" smtClean="0"/>
              <a:t>The end of the muscle fixed to the stationary bone is called the </a:t>
            </a:r>
            <a:r>
              <a:rPr lang="en-AU" sz="2800" b="1" i="1" u="sng" dirty="0" smtClean="0"/>
              <a:t>origin</a:t>
            </a:r>
            <a:r>
              <a:rPr lang="en-AU" sz="2800" b="1" u="sng" dirty="0" smtClean="0"/>
              <a:t>. </a:t>
            </a:r>
          </a:p>
          <a:p>
            <a:r>
              <a:rPr lang="en-AU" sz="2800" b="1" u="sng" dirty="0" smtClean="0"/>
              <a:t>The attachment of the other end of the muscle, to the movable bone, is the </a:t>
            </a:r>
            <a:r>
              <a:rPr lang="en-AU" sz="2800" b="1" i="1" u="sng" dirty="0" smtClean="0"/>
              <a:t>insertion</a:t>
            </a:r>
            <a:r>
              <a:rPr lang="en-AU" sz="2800" b="1" u="sng" dirty="0" smtClean="0"/>
              <a:t>. </a:t>
            </a:r>
          </a:p>
          <a:p>
            <a:r>
              <a:rPr lang="en-AU" sz="2800" b="1" u="sng" dirty="0" smtClean="0"/>
              <a:t>The fleshy portion of the muscle between the tendons of the origin and the insertion is called the</a:t>
            </a:r>
            <a:r>
              <a:rPr lang="en-AU" sz="2800" b="1" i="1" u="sng" dirty="0" smtClean="0"/>
              <a:t> belly</a:t>
            </a:r>
            <a:r>
              <a:rPr lang="en-AU" sz="2800" b="1" u="sng" dirty="0" smtClean="0"/>
              <a:t>. A muscle that causes a desired action is called the</a:t>
            </a:r>
            <a:r>
              <a:rPr lang="en-AU" sz="2800" b="1" i="1" u="sng" dirty="0" smtClean="0"/>
              <a:t> agonist</a:t>
            </a:r>
            <a:r>
              <a:rPr lang="en-AU" sz="2800" b="1" u="sng" dirty="0" smtClean="0"/>
              <a:t>, or prime mover. </a:t>
            </a:r>
            <a:endParaRPr lang="en-AU" sz="2800" b="1" u="sng" dirty="0"/>
          </a:p>
        </p:txBody>
      </p:sp>
    </p:spTree>
    <p:extLst>
      <p:ext uri="{BB962C8B-B14F-4D97-AF65-F5344CB8AC3E}">
        <p14:creationId xmlns:p14="http://schemas.microsoft.com/office/powerpoint/2010/main" val="996387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Scenario continued.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736084"/>
          </a:xfrm>
        </p:spPr>
        <p:txBody>
          <a:bodyPr>
            <a:normAutofit/>
          </a:bodyPr>
          <a:lstStyle/>
          <a:p>
            <a:r>
              <a:rPr lang="en-AU" sz="2800" b="1" u="sng" dirty="0"/>
              <a:t>As mentioned, </a:t>
            </a:r>
            <a:r>
              <a:rPr lang="en-AU" sz="2800" b="1" u="sng" dirty="0" smtClean="0"/>
              <a:t>mentioned</a:t>
            </a:r>
            <a:r>
              <a:rPr lang="en-AU" sz="2800" b="1" u="sng" dirty="0"/>
              <a:t>, while the </a:t>
            </a:r>
            <a:r>
              <a:rPr lang="en-AU" sz="2800" b="1" u="sng" dirty="0" smtClean="0"/>
              <a:t>biceps is contracting</a:t>
            </a:r>
            <a:r>
              <a:rPr lang="en-AU" sz="2800" b="1" u="sng" dirty="0"/>
              <a:t>, the </a:t>
            </a:r>
            <a:r>
              <a:rPr lang="en-AU" sz="2800" b="1" u="sng" dirty="0" smtClean="0"/>
              <a:t>triceps is relaxing</a:t>
            </a:r>
            <a:r>
              <a:rPr lang="en-AU" sz="2800" b="1" u="sng" dirty="0"/>
              <a:t>. </a:t>
            </a:r>
            <a:endParaRPr lang="en-AU" sz="2800" b="1" u="sng" dirty="0" smtClean="0"/>
          </a:p>
          <a:p>
            <a:r>
              <a:rPr lang="en-AU" sz="2800" b="1" u="sng" dirty="0" smtClean="0"/>
              <a:t>In </a:t>
            </a:r>
            <a:r>
              <a:rPr lang="en-AU" sz="2800" b="1" u="sng" dirty="0"/>
              <a:t>this situation </a:t>
            </a:r>
            <a:r>
              <a:rPr lang="en-AU" sz="2800" b="1" u="sng" dirty="0" smtClean="0"/>
              <a:t>the biceps is the </a:t>
            </a:r>
            <a:r>
              <a:rPr lang="en-AU" sz="2800" b="1" u="sng" dirty="0"/>
              <a:t>agonist, because it moves the forearm; the triceps is the antagonist, because it has an effect that is opposite </a:t>
            </a:r>
            <a:r>
              <a:rPr lang="en-AU" sz="2800" b="1" u="sng" dirty="0" smtClean="0"/>
              <a:t>to that of the agonist- that is, it yields to the movement of the agonist. </a:t>
            </a:r>
            <a:endParaRPr lang="en-AU" b="1" u="sng" dirty="0" smtClean="0"/>
          </a:p>
          <a:p>
            <a:r>
              <a:rPr lang="en-AU" sz="2800" b="1" u="sng" dirty="0" smtClean="0"/>
              <a:t>However, when the triceps is contracting to straighten the forearm, the biceps is relaxing and their roles are reversed. </a:t>
            </a:r>
          </a:p>
          <a:p>
            <a:r>
              <a:rPr lang="en-AU" sz="2800" b="1" u="sng" dirty="0" smtClean="0"/>
              <a:t>Now the triceps is the agonist and the biceps the antagonist. </a:t>
            </a:r>
            <a:endParaRPr lang="en-AU" sz="2800" b="1" u="sng" dirty="0"/>
          </a:p>
        </p:txBody>
      </p:sp>
    </p:spTree>
    <p:extLst>
      <p:ext uri="{BB962C8B-B14F-4D97-AF65-F5344CB8AC3E}">
        <p14:creationId xmlns:p14="http://schemas.microsoft.com/office/powerpoint/2010/main" val="3178560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Synergists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dirty="0" smtClean="0"/>
              <a:t>In addition to agonists and antagonists, most joint movements involve muscles that act as synergists. </a:t>
            </a:r>
            <a:r>
              <a:rPr lang="en-AU" sz="2800" b="1" u="sng" dirty="0" smtClean="0"/>
              <a:t>Synergists are muscles that help the prime mover (largest agonist). </a:t>
            </a:r>
          </a:p>
          <a:p>
            <a:r>
              <a:rPr lang="en-AU" sz="2800" b="1" u="sng" dirty="0" smtClean="0"/>
              <a:t>They may produce the same movement as the prime mover or they may steady a joint during a particular movement</a:t>
            </a:r>
            <a:r>
              <a:rPr lang="en-AU" sz="2800" b="1" dirty="0" smtClean="0"/>
              <a:t>, so that unwanted movement is prevented and the prime mover (agonist) can function more efficiently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4193756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Synergists continued.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dirty="0" smtClean="0"/>
              <a:t>Example </a:t>
            </a:r>
          </a:p>
          <a:p>
            <a:r>
              <a:rPr lang="en-AU" sz="2800" b="1" dirty="0" smtClean="0"/>
              <a:t>The wrist would flex every time the fist was clenched if it were not for the synergistic muscles immobilising the wrist. </a:t>
            </a:r>
            <a:endParaRPr lang="en-AU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5083" t="22445" r="16917" b="13852"/>
          <a:stretch/>
        </p:blipFill>
        <p:spPr>
          <a:xfrm>
            <a:off x="7299960" y="3383492"/>
            <a:ext cx="4450080" cy="332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97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Synergists continued.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dirty="0" smtClean="0"/>
              <a:t>When a synergist immobilises a joint (e.g. like the wrist) it is called a fixator. </a:t>
            </a:r>
          </a:p>
          <a:p>
            <a:r>
              <a:rPr lang="en-AU" sz="2800" b="1" u="sng" dirty="0" smtClean="0"/>
              <a:t>A fixator is a synergist muscle that assists by preventing movement at another joint. </a:t>
            </a:r>
          </a:p>
          <a:p>
            <a:endParaRPr lang="en-AU" sz="2800" b="1" u="sng" dirty="0"/>
          </a:p>
          <a:p>
            <a:r>
              <a:rPr lang="en-AU" sz="2800" b="1" u="sng" dirty="0" smtClean="0"/>
              <a:t>A muscle may assume different roles depending on the body movement occurring. The same muscle may at different times be an agonist, an antagonist or a synergist. </a:t>
            </a:r>
            <a:endParaRPr lang="en-AU" sz="2800" b="1" u="sng" dirty="0"/>
          </a:p>
        </p:txBody>
      </p:sp>
    </p:spTree>
    <p:extLst>
      <p:ext uri="{BB962C8B-B14F-4D97-AF65-F5344CB8AC3E}">
        <p14:creationId xmlns:p14="http://schemas.microsoft.com/office/powerpoint/2010/main" val="353758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Muscle tone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u="sng" dirty="0" smtClean="0"/>
              <a:t>Muscle tone is maintaining partial contraction of skeletal muscles. </a:t>
            </a:r>
          </a:p>
          <a:p>
            <a:r>
              <a:rPr lang="en-AU" sz="2800" b="1" u="sng" dirty="0" smtClean="0"/>
              <a:t>At any one time, some muscle fibres are contracted while others relax. </a:t>
            </a:r>
          </a:p>
          <a:p>
            <a:r>
              <a:rPr lang="en-AU" sz="2800" b="1" dirty="0" smtClean="0"/>
              <a:t>E.g. the head is held up by the partial contraction of the neck muscles. When a person falls asleep sitting up, their head droops forwards. This is due to the loss of tone in the neck muscles.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966360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Review Questions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dirty="0" smtClean="0"/>
              <a:t>1) What are the characteristics of muscles?</a:t>
            </a:r>
          </a:p>
          <a:p>
            <a:r>
              <a:rPr lang="en-AU" sz="2800" b="1" dirty="0" smtClean="0"/>
              <a:t>2) Using diagrams to illustrate your answer, describe: </a:t>
            </a:r>
          </a:p>
          <a:p>
            <a:pPr lvl="1"/>
            <a:r>
              <a:rPr lang="en-AU" sz="2800" b="1" dirty="0" smtClean="0"/>
              <a:t>The overall structure of a muscle</a:t>
            </a:r>
          </a:p>
          <a:p>
            <a:pPr lvl="1"/>
            <a:r>
              <a:rPr lang="en-AU" sz="2800" b="1" dirty="0" smtClean="0"/>
              <a:t>The microscopic structure of muscle tissue </a:t>
            </a:r>
          </a:p>
          <a:p>
            <a:r>
              <a:rPr lang="en-AU" sz="2800" b="1" dirty="0" smtClean="0"/>
              <a:t>3) Describe the sliding filament model and how muscle contraction occurs. </a:t>
            </a:r>
          </a:p>
        </p:txBody>
      </p:sp>
    </p:spTree>
    <p:extLst>
      <p:ext uri="{BB962C8B-B14F-4D97-AF65-F5344CB8AC3E}">
        <p14:creationId xmlns:p14="http://schemas.microsoft.com/office/powerpoint/2010/main" val="17453060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Review Questions 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b="1" dirty="0" smtClean="0"/>
              <a:t>4) Explain how muscles produce movement about a joint. </a:t>
            </a:r>
          </a:p>
          <a:p>
            <a:r>
              <a:rPr lang="en-AU" sz="2800" b="1" dirty="0" smtClean="0"/>
              <a:t>5) What is the difference between agonists and antagonists?</a:t>
            </a:r>
          </a:p>
          <a:p>
            <a:r>
              <a:rPr lang="en-AU" sz="2800" b="1" dirty="0" smtClean="0"/>
              <a:t>6) What sort of muscle is the: </a:t>
            </a:r>
          </a:p>
          <a:p>
            <a:pPr lvl="1"/>
            <a:r>
              <a:rPr lang="en-AU" sz="2600" b="1" dirty="0" smtClean="0"/>
              <a:t>The biceps </a:t>
            </a:r>
          </a:p>
          <a:p>
            <a:pPr lvl="1"/>
            <a:r>
              <a:rPr lang="en-AU" sz="2600" b="1" dirty="0" smtClean="0"/>
              <a:t>The triceps </a:t>
            </a:r>
          </a:p>
          <a:p>
            <a:r>
              <a:rPr lang="en-AU" sz="2800" b="1" dirty="0" smtClean="0"/>
              <a:t>7) Describe the role of synergists.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511000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Custom 18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1C015E-2B6B-4186-AA19-D3C2878D41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5BE4635-D1B4-4307-892D-6B7970BB73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214C86-EE31-4BD9-A8DA-4E7809549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Slate design</Template>
  <TotalTime>0</TotalTime>
  <Words>1841</Words>
  <Application>Microsoft Office PowerPoint</Application>
  <PresentationFormat>Widescreen</PresentationFormat>
  <Paragraphs>138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Calisto MT</vt:lpstr>
      <vt:lpstr>Times New Roman</vt:lpstr>
      <vt:lpstr>Trebuchet MS</vt:lpstr>
      <vt:lpstr>Wingdings 2</vt:lpstr>
      <vt:lpstr>Slate</vt:lpstr>
      <vt:lpstr>The Muscular System </vt:lpstr>
      <vt:lpstr>From the Curriculum </vt:lpstr>
      <vt:lpstr>Assessments </vt:lpstr>
      <vt:lpstr>An introduction to muscles </vt:lpstr>
      <vt:lpstr>PowerPoint Presentation</vt:lpstr>
      <vt:lpstr>Types of muscle</vt:lpstr>
      <vt:lpstr>Structure of skeletal muscles </vt:lpstr>
      <vt:lpstr>Continued </vt:lpstr>
      <vt:lpstr>Continued </vt:lpstr>
      <vt:lpstr>PowerPoint Presentation</vt:lpstr>
      <vt:lpstr>Continued </vt:lpstr>
      <vt:lpstr>Structure of myofibrils </vt:lpstr>
      <vt:lpstr>Continued </vt:lpstr>
      <vt:lpstr>Continued </vt:lpstr>
      <vt:lpstr>PowerPoint Presentation</vt:lpstr>
      <vt:lpstr>PowerPoint Presentation</vt:lpstr>
      <vt:lpstr>SUMMARY  </vt:lpstr>
      <vt:lpstr>Sliding filament model </vt:lpstr>
      <vt:lpstr>Continued </vt:lpstr>
      <vt:lpstr>PowerPoint Presentation</vt:lpstr>
      <vt:lpstr>Continued. </vt:lpstr>
      <vt:lpstr>Continued. </vt:lpstr>
      <vt:lpstr>Skeletal muscles working together </vt:lpstr>
      <vt:lpstr>Continued</vt:lpstr>
      <vt:lpstr>PowerPoint Presentation</vt:lpstr>
      <vt:lpstr>Continued. </vt:lpstr>
      <vt:lpstr>PowerPoint Presentation</vt:lpstr>
      <vt:lpstr>SCENARIO EXAMPLE </vt:lpstr>
      <vt:lpstr>PowerPoint Presentation</vt:lpstr>
      <vt:lpstr>PowerPoint Presentation</vt:lpstr>
      <vt:lpstr>Scenario continued. </vt:lpstr>
      <vt:lpstr>Scenario continued</vt:lpstr>
      <vt:lpstr>Scenario continued. </vt:lpstr>
      <vt:lpstr>Synergists </vt:lpstr>
      <vt:lpstr>Synergists continued. </vt:lpstr>
      <vt:lpstr>Synergists continued. </vt:lpstr>
      <vt:lpstr>Muscle tone </vt:lpstr>
      <vt:lpstr>Review Questions </vt:lpstr>
      <vt:lpstr>Review Questions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2020-11-26T03:46:54Z</dcterms:created>
  <dcterms:modified xsi:type="dcterms:W3CDTF">2022-01-22T04:18:25Z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
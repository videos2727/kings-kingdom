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 id="280" r:id="rId27"/>
    <p:sldId id="281" r:id="rId28"/>
    <p:sldId id="282" r:id="rId29"/>
    <p:sldId id="287" r:id="rId30"/>
    <p:sldId id="284" r:id="rId31"/>
    <p:sldId id="285" r:id="rId32"/>
    <p:sldId id="286" r:id="rId33"/>
    <p:sldId id="288" r:id="rId34"/>
    <p:sldId id="289" r:id="rId35"/>
    <p:sldId id="290" r:id="rId36"/>
    <p:sldId id="291" r:id="rId37"/>
    <p:sldId id="293" r:id="rId38"/>
    <p:sldId id="292" r:id="rId39"/>
    <p:sldId id="29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8" d="100"/>
          <a:sy n="88" d="100"/>
        </p:scale>
        <p:origin x="26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5C607A72-BDC4-4430-B891-BFACED6EE18E}" type="datetimeFigureOut">
              <a:rPr lang="en-AU" smtClean="0"/>
              <a:t>23/08/2022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3604157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607A72-BDC4-4430-B891-BFACED6EE18E}" type="datetimeFigureOut">
              <a:rPr lang="en-AU" smtClean="0"/>
              <a:t>23/08/2022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189391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607A72-BDC4-4430-B891-BFACED6EE18E}" type="datetimeFigureOut">
              <a:rPr lang="en-AU" smtClean="0"/>
              <a:t>23/08/2022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1352652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5C607A72-BDC4-4430-B891-BFACED6EE18E}" type="datetimeFigureOut">
              <a:rPr lang="en-AU" smtClean="0"/>
              <a:t>23/08/2022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2038721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5C607A72-BDC4-4430-B891-BFACED6EE18E}" type="datetimeFigureOut">
              <a:rPr lang="en-AU" smtClean="0"/>
              <a:t>23/08/2022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3082969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5C607A72-BDC4-4430-B891-BFACED6EE18E}" type="datetimeFigureOut">
              <a:rPr lang="en-AU" smtClean="0"/>
              <a:t>23/08/2022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303415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607A72-BDC4-4430-B891-BFACED6EE18E}" type="datetimeFigureOut">
              <a:rPr lang="en-AU" smtClean="0"/>
              <a:t>23/08/2022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977251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607A72-BDC4-4430-B891-BFACED6EE18E}" type="datetimeFigureOut">
              <a:rPr lang="en-AU" smtClean="0"/>
              <a:t>23/08/2022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4274002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607A72-BDC4-4430-B891-BFACED6EE18E}" type="datetimeFigureOut">
              <a:rPr lang="en-AU" smtClean="0"/>
              <a:t>23/08/2022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45561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607A72-BDC4-4430-B891-BFACED6EE18E}" type="datetimeFigureOut">
              <a:rPr lang="en-AU" smtClean="0"/>
              <a:t>23/08/2022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3872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607A72-BDC4-4430-B891-BFACED6EE18E}" type="datetimeFigureOut">
              <a:rPr lang="en-AU" smtClean="0"/>
              <a:t>23/08/2022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846BD5-1FEA-475B-8881-F3FA310A5052}" type="slidenum">
              <a:rPr lang="en-AU" smtClean="0"/>
              <a:t>‹#›</a:t>
            </a:fld>
            <a:endParaRPr lang="en-AU"/>
          </a:p>
        </p:txBody>
      </p:sp>
    </p:spTree>
    <p:extLst>
      <p:ext uri="{BB962C8B-B14F-4D97-AF65-F5344CB8AC3E}">
        <p14:creationId xmlns:p14="http://schemas.microsoft.com/office/powerpoint/2010/main" val="234824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6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607A72-BDC4-4430-B891-BFACED6EE18E}" type="datetimeFigureOut">
              <a:rPr lang="en-AU" smtClean="0"/>
              <a:t>23/08/2022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846BD5-1FEA-475B-8881-F3FA310A5052}" type="slidenum">
              <a:rPr lang="en-AU" smtClean="0"/>
              <a:t>‹#›</a:t>
            </a:fld>
            <a:endParaRPr lang="en-AU"/>
          </a:p>
        </p:txBody>
      </p:sp>
    </p:spTree>
    <p:extLst>
      <p:ext uri="{BB962C8B-B14F-4D97-AF65-F5344CB8AC3E}">
        <p14:creationId xmlns:p14="http://schemas.microsoft.com/office/powerpoint/2010/main" val="1786327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AU" sz="8800" b="1" dirty="0" smtClean="0"/>
              <a:t>Community and Global Health </a:t>
            </a:r>
            <a:endParaRPr lang="en-AU" sz="8800" b="1" dirty="0"/>
          </a:p>
        </p:txBody>
      </p:sp>
    </p:spTree>
    <p:extLst>
      <p:ext uri="{BB962C8B-B14F-4D97-AF65-F5344CB8AC3E}">
        <p14:creationId xmlns:p14="http://schemas.microsoft.com/office/powerpoint/2010/main" val="3611862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lvl="0"/>
            <a:r>
              <a:rPr lang="en-AU" dirty="0" smtClean="0"/>
              <a:t>standards </a:t>
            </a:r>
            <a:r>
              <a:rPr lang="en-AU" dirty="0"/>
              <a:t>of hygiene, including sanitation of water, waste treatment and the presence of pathogens and disease vectors, varies between global communities; travel warnings provide information to help reduce risk of infection</a:t>
            </a:r>
          </a:p>
          <a:p>
            <a:pPr lvl="0"/>
            <a:r>
              <a:rPr lang="en-AU" dirty="0"/>
              <a:t>population density and movement patterns influence the transmission of disease</a:t>
            </a:r>
          </a:p>
          <a:p>
            <a:r>
              <a:rPr lang="en-AU" dirty="0"/>
              <a:t>social behaviour is an important factor in the transmission, spread and persistence of sexually transmitted infections</a:t>
            </a:r>
          </a:p>
        </p:txBody>
      </p:sp>
    </p:spTree>
    <p:extLst>
      <p:ext uri="{BB962C8B-B14F-4D97-AF65-F5344CB8AC3E}">
        <p14:creationId xmlns:p14="http://schemas.microsoft.com/office/powerpoint/2010/main" val="2156935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Standards of Hygiene </a:t>
            </a:r>
            <a:endParaRPr lang="en-AU" sz="6000" b="1" dirty="0"/>
          </a:p>
        </p:txBody>
      </p:sp>
      <p:sp>
        <p:nvSpPr>
          <p:cNvPr id="3" name="Content Placeholder 2"/>
          <p:cNvSpPr>
            <a:spLocks noGrp="1"/>
          </p:cNvSpPr>
          <p:nvPr>
            <p:ph idx="1"/>
          </p:nvPr>
        </p:nvSpPr>
        <p:spPr/>
        <p:txBody>
          <a:bodyPr>
            <a:normAutofit/>
          </a:bodyPr>
          <a:lstStyle/>
          <a:p>
            <a:r>
              <a:rPr lang="en-AU" sz="3200" dirty="0" smtClean="0"/>
              <a:t>Many things can be done to reduce the risk of infection with pathogens </a:t>
            </a:r>
          </a:p>
          <a:p>
            <a:endParaRPr lang="en-AU" sz="3200" dirty="0"/>
          </a:p>
          <a:p>
            <a:r>
              <a:rPr lang="en-AU" sz="3200" dirty="0" smtClean="0"/>
              <a:t>Hygiene reduces the risk of infection, and if infected, it reduces the risk of spreading it to others. </a:t>
            </a:r>
            <a:endParaRPr lang="en-AU" sz="3200" dirty="0"/>
          </a:p>
        </p:txBody>
      </p:sp>
    </p:spTree>
    <p:extLst>
      <p:ext uri="{BB962C8B-B14F-4D97-AF65-F5344CB8AC3E}">
        <p14:creationId xmlns:p14="http://schemas.microsoft.com/office/powerpoint/2010/main" val="2137119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Hygienic Practices </a:t>
            </a:r>
            <a:endParaRPr lang="en-AU" sz="6000" b="1" dirty="0"/>
          </a:p>
        </p:txBody>
      </p:sp>
      <p:sp>
        <p:nvSpPr>
          <p:cNvPr id="3" name="Content Placeholder 2"/>
          <p:cNvSpPr>
            <a:spLocks noGrp="1"/>
          </p:cNvSpPr>
          <p:nvPr>
            <p:ph idx="1"/>
          </p:nvPr>
        </p:nvSpPr>
        <p:spPr/>
        <p:txBody>
          <a:bodyPr/>
          <a:lstStyle/>
          <a:p>
            <a:r>
              <a:rPr lang="en-AU" sz="3000" dirty="0" smtClean="0"/>
              <a:t>Hygienic practices include: </a:t>
            </a:r>
          </a:p>
          <a:p>
            <a:pPr lvl="1"/>
            <a:r>
              <a:rPr lang="en-AU" sz="3000" dirty="0" smtClean="0"/>
              <a:t>Washing your hands with soap and warm water</a:t>
            </a:r>
          </a:p>
          <a:p>
            <a:pPr lvl="1"/>
            <a:r>
              <a:rPr lang="en-AU" sz="3000" dirty="0" smtClean="0"/>
              <a:t>Covering your mouth when you cough and sneeze</a:t>
            </a:r>
          </a:p>
          <a:p>
            <a:pPr lvl="1"/>
            <a:r>
              <a:rPr lang="en-AU" sz="3000" dirty="0" smtClean="0"/>
              <a:t>Wear gloves when cleaning up blood or other body fluids. </a:t>
            </a:r>
          </a:p>
          <a:p>
            <a:pPr lvl="1"/>
            <a:r>
              <a:rPr lang="en-AU" sz="3000" dirty="0" smtClean="0"/>
              <a:t>Wipe surfaces with disinfectant to clean them </a:t>
            </a:r>
          </a:p>
          <a:p>
            <a:pPr lvl="1"/>
            <a:r>
              <a:rPr lang="en-AU" sz="3000" dirty="0" smtClean="0"/>
              <a:t>Use tongs, pliers or tweezers when handling food items or medical items or items with bodily fluids in/on them. </a:t>
            </a:r>
          </a:p>
          <a:p>
            <a:pPr lvl="1"/>
            <a:r>
              <a:rPr lang="en-AU" sz="3000" dirty="0" smtClean="0"/>
              <a:t>Never share personal items e.g. toothbrush, towels </a:t>
            </a:r>
          </a:p>
          <a:p>
            <a:endParaRPr lang="en-AU" dirty="0"/>
          </a:p>
        </p:txBody>
      </p:sp>
    </p:spTree>
    <p:extLst>
      <p:ext uri="{BB962C8B-B14F-4D97-AF65-F5344CB8AC3E}">
        <p14:creationId xmlns:p14="http://schemas.microsoft.com/office/powerpoint/2010/main" val="3362507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Mask wearing </a:t>
            </a:r>
            <a:endParaRPr lang="en-AU" sz="6000" b="1" dirty="0"/>
          </a:p>
        </p:txBody>
      </p:sp>
      <p:sp>
        <p:nvSpPr>
          <p:cNvPr id="3" name="Content Placeholder 2"/>
          <p:cNvSpPr>
            <a:spLocks noGrp="1"/>
          </p:cNvSpPr>
          <p:nvPr>
            <p:ph idx="1"/>
          </p:nvPr>
        </p:nvSpPr>
        <p:spPr/>
        <p:txBody>
          <a:bodyPr/>
          <a:lstStyle/>
          <a:p>
            <a:r>
              <a:rPr lang="en-AU" sz="3200" dirty="0" smtClean="0"/>
              <a:t>Provide an obstacle/barrier to invading airborne pathogens and therefore reduce the risk of getting a disease. </a:t>
            </a:r>
          </a:p>
          <a:p>
            <a:endParaRPr lang="en-AU" sz="3200" dirty="0" smtClean="0"/>
          </a:p>
          <a:p>
            <a:r>
              <a:rPr lang="en-AU" sz="3200" dirty="0" smtClean="0"/>
              <a:t>Wearing a mask also diminishes the chance that the wearer will breathe out pathogenic organisms </a:t>
            </a:r>
          </a:p>
          <a:p>
            <a:endParaRPr lang="en-AU" sz="3200" dirty="0" smtClean="0"/>
          </a:p>
          <a:p>
            <a:r>
              <a:rPr lang="en-AU" sz="3200" dirty="0" smtClean="0"/>
              <a:t>This reduces the spread of the disease. </a:t>
            </a:r>
          </a:p>
          <a:p>
            <a:endParaRPr lang="en-AU" dirty="0"/>
          </a:p>
        </p:txBody>
      </p:sp>
    </p:spTree>
    <p:extLst>
      <p:ext uri="{BB962C8B-B14F-4D97-AF65-F5344CB8AC3E}">
        <p14:creationId xmlns:p14="http://schemas.microsoft.com/office/powerpoint/2010/main" val="295805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Protective Clothing </a:t>
            </a:r>
            <a:endParaRPr lang="en-AU" sz="6000" b="1" dirty="0"/>
          </a:p>
        </p:txBody>
      </p:sp>
      <p:sp>
        <p:nvSpPr>
          <p:cNvPr id="3" name="Content Placeholder 2"/>
          <p:cNvSpPr>
            <a:spLocks noGrp="1"/>
          </p:cNvSpPr>
          <p:nvPr>
            <p:ph idx="1"/>
          </p:nvPr>
        </p:nvSpPr>
        <p:spPr/>
        <p:txBody>
          <a:bodyPr>
            <a:normAutofit/>
          </a:bodyPr>
          <a:lstStyle/>
          <a:p>
            <a:r>
              <a:rPr lang="en-AU" sz="3200" dirty="0" smtClean="0"/>
              <a:t>Protective clothing, gloves and safety glasses are important for health workers and community workers to protect against the spread of bodily fluids or against vectors like mosquitoes. </a:t>
            </a:r>
          </a:p>
          <a:p>
            <a:endParaRPr lang="en-AU" sz="3200" dirty="0"/>
          </a:p>
        </p:txBody>
      </p:sp>
    </p:spTree>
    <p:extLst>
      <p:ext uri="{BB962C8B-B14F-4D97-AF65-F5344CB8AC3E}">
        <p14:creationId xmlns:p14="http://schemas.microsoft.com/office/powerpoint/2010/main" val="321105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Mechanical Barriers </a:t>
            </a:r>
            <a:endParaRPr lang="en-AU" sz="6000" b="1" dirty="0"/>
          </a:p>
        </p:txBody>
      </p:sp>
      <p:sp>
        <p:nvSpPr>
          <p:cNvPr id="3" name="Content Placeholder 2"/>
          <p:cNvSpPr>
            <a:spLocks noGrp="1"/>
          </p:cNvSpPr>
          <p:nvPr>
            <p:ph idx="1"/>
          </p:nvPr>
        </p:nvSpPr>
        <p:spPr/>
        <p:txBody>
          <a:bodyPr>
            <a:normAutofit/>
          </a:bodyPr>
          <a:lstStyle/>
          <a:p>
            <a:r>
              <a:rPr lang="en-AU" sz="3200" dirty="0" smtClean="0"/>
              <a:t>The spread of STI’s can be controlled through safe sex practices such as wearing a condom and dental dams (oral sex). </a:t>
            </a:r>
          </a:p>
          <a:p>
            <a:endParaRPr lang="en-AU" sz="3200" dirty="0"/>
          </a:p>
          <a:p>
            <a:endParaRPr lang="en-AU" sz="3200" dirty="0" smtClean="0"/>
          </a:p>
          <a:p>
            <a:r>
              <a:rPr lang="en-AU" sz="3200" dirty="0" smtClean="0"/>
              <a:t>Conducting regular testing if you change sexual partners is important to ensure STI’s are not spread unknowingly. </a:t>
            </a:r>
          </a:p>
          <a:p>
            <a:endParaRPr lang="en-AU" sz="3200" dirty="0"/>
          </a:p>
        </p:txBody>
      </p:sp>
    </p:spTree>
    <p:extLst>
      <p:ext uri="{BB962C8B-B14F-4D97-AF65-F5344CB8AC3E}">
        <p14:creationId xmlns:p14="http://schemas.microsoft.com/office/powerpoint/2010/main" val="191538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Sanitation of Water </a:t>
            </a:r>
            <a:endParaRPr lang="en-AU" sz="6000" b="1" dirty="0"/>
          </a:p>
        </p:txBody>
      </p:sp>
      <p:sp>
        <p:nvSpPr>
          <p:cNvPr id="3" name="Content Placeholder 2"/>
          <p:cNvSpPr>
            <a:spLocks noGrp="1"/>
          </p:cNvSpPr>
          <p:nvPr>
            <p:ph idx="1"/>
          </p:nvPr>
        </p:nvSpPr>
        <p:spPr>
          <a:xfrm>
            <a:off x="304800" y="1825624"/>
            <a:ext cx="11510682" cy="4808257"/>
          </a:xfrm>
        </p:spPr>
        <p:txBody>
          <a:bodyPr/>
          <a:lstStyle/>
          <a:p>
            <a:r>
              <a:rPr lang="en-AU" sz="3200" dirty="0" smtClean="0"/>
              <a:t>Today, 2 billion people lack access to safely managed drinking water services and 3.6 billion people lack safely managed sanitation services. </a:t>
            </a:r>
          </a:p>
          <a:p>
            <a:r>
              <a:rPr lang="en-AU" sz="3200" dirty="0" smtClean="0"/>
              <a:t>Unsafe hygiene practices are widespread, compounding the effects on people’s health. </a:t>
            </a:r>
          </a:p>
          <a:p>
            <a:r>
              <a:rPr lang="en-AU" sz="3200" dirty="0" smtClean="0"/>
              <a:t>The impact on child mortality rates is devastating with more than 297 000 children under five who die annually from diarrhoeal diseases due to poor sanitation, poor hygiene, or unsafe drinking water.</a:t>
            </a:r>
          </a:p>
          <a:p>
            <a:endParaRPr lang="en-AU" dirty="0"/>
          </a:p>
        </p:txBody>
      </p:sp>
    </p:spTree>
    <p:extLst>
      <p:ext uri="{BB962C8B-B14F-4D97-AF65-F5344CB8AC3E}">
        <p14:creationId xmlns:p14="http://schemas.microsoft.com/office/powerpoint/2010/main" val="1757994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Sanitation of Water- Continued </a:t>
            </a:r>
            <a:endParaRPr lang="en-AU" sz="6000" b="1" dirty="0"/>
          </a:p>
        </p:txBody>
      </p:sp>
      <p:sp>
        <p:nvSpPr>
          <p:cNvPr id="3" name="Content Placeholder 2"/>
          <p:cNvSpPr>
            <a:spLocks noGrp="1"/>
          </p:cNvSpPr>
          <p:nvPr>
            <p:ph idx="1"/>
          </p:nvPr>
        </p:nvSpPr>
        <p:spPr/>
        <p:txBody>
          <a:bodyPr/>
          <a:lstStyle/>
          <a:p>
            <a:r>
              <a:rPr lang="en-AU" sz="3200" dirty="0" smtClean="0"/>
              <a:t>A person without access to improved drinking water – for example from a protected borehole well or municipal piped supply for instance – is forced to rely on sources such as surface water, unprotected and possibly contaminated wells, or vendors selling water of unverifiable quality.</a:t>
            </a:r>
          </a:p>
          <a:p>
            <a:endParaRPr lang="en-AU" dirty="0"/>
          </a:p>
        </p:txBody>
      </p:sp>
    </p:spTree>
    <p:extLst>
      <p:ext uri="{BB962C8B-B14F-4D97-AF65-F5344CB8AC3E}">
        <p14:creationId xmlns:p14="http://schemas.microsoft.com/office/powerpoint/2010/main" val="2106643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Sanitation of Water- Continued </a:t>
            </a:r>
            <a:endParaRPr lang="en-AU" sz="6000" dirty="0"/>
          </a:p>
        </p:txBody>
      </p:sp>
      <p:sp>
        <p:nvSpPr>
          <p:cNvPr id="3" name="Content Placeholder 2"/>
          <p:cNvSpPr>
            <a:spLocks noGrp="1"/>
          </p:cNvSpPr>
          <p:nvPr>
            <p:ph idx="1"/>
          </p:nvPr>
        </p:nvSpPr>
        <p:spPr/>
        <p:txBody>
          <a:bodyPr>
            <a:normAutofit/>
          </a:bodyPr>
          <a:lstStyle/>
          <a:p>
            <a:r>
              <a:rPr lang="en-AU" sz="3200" dirty="0"/>
              <a:t>For many communities, water sources are usually far from their homes, and it typically falls to women and girls to spend much of their time and energy fetching water, a task which often exposes them to attack from men and even wild </a:t>
            </a:r>
            <a:r>
              <a:rPr lang="en-AU" sz="3200" dirty="0" smtClean="0"/>
              <a:t>animals.</a:t>
            </a:r>
          </a:p>
          <a:p>
            <a:r>
              <a:rPr lang="en-AU" sz="3200" dirty="0" smtClean="0"/>
              <a:t>Without improved sanitation – a facility that safely separates human waste from human contact – people have no choice but to use communal latrines or to practise open defecation. </a:t>
            </a:r>
          </a:p>
          <a:p>
            <a:endParaRPr lang="en-AU" sz="3200" dirty="0"/>
          </a:p>
        </p:txBody>
      </p:sp>
    </p:spTree>
    <p:extLst>
      <p:ext uri="{BB962C8B-B14F-4D97-AF65-F5344CB8AC3E}">
        <p14:creationId xmlns:p14="http://schemas.microsoft.com/office/powerpoint/2010/main" val="817486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Sanitation of Water- Continued </a:t>
            </a:r>
            <a:endParaRPr lang="en-AU" sz="6000" dirty="0"/>
          </a:p>
        </p:txBody>
      </p:sp>
      <p:sp>
        <p:nvSpPr>
          <p:cNvPr id="3" name="Content Placeholder 2"/>
          <p:cNvSpPr>
            <a:spLocks noGrp="1"/>
          </p:cNvSpPr>
          <p:nvPr>
            <p:ph idx="1"/>
          </p:nvPr>
        </p:nvSpPr>
        <p:spPr>
          <a:xfrm>
            <a:off x="205273" y="1825624"/>
            <a:ext cx="11793894" cy="4817771"/>
          </a:xfrm>
        </p:spPr>
        <p:txBody>
          <a:bodyPr>
            <a:normAutofit/>
          </a:bodyPr>
          <a:lstStyle/>
          <a:p>
            <a:r>
              <a:rPr lang="en-AU" sz="3200" dirty="0"/>
              <a:t>For women and girls, finding a place to go to the toilet outside, often having to wait until the cover of darkness, can leave them vulnerable to abuse and sexual assault.</a:t>
            </a:r>
          </a:p>
          <a:p>
            <a:r>
              <a:rPr lang="en-AU" sz="3200" dirty="0"/>
              <a:t>In the immediate environment, exposed faecal matter will be transferred back into people’s food and water resources, helping to spread serious diseases such as cholera. </a:t>
            </a:r>
          </a:p>
          <a:p>
            <a:r>
              <a:rPr lang="en-AU" sz="3200" dirty="0"/>
              <a:t>Beyond the community, the lack of effective waste disposal or sewerage systems can contaminate ecosystems and contribute to disease pandemics.</a:t>
            </a:r>
          </a:p>
          <a:p>
            <a:endParaRPr lang="en-AU" sz="3200" dirty="0"/>
          </a:p>
        </p:txBody>
      </p:sp>
    </p:spTree>
    <p:extLst>
      <p:ext uri="{BB962C8B-B14F-4D97-AF65-F5344CB8AC3E}">
        <p14:creationId xmlns:p14="http://schemas.microsoft.com/office/powerpoint/2010/main" val="3555020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Ongoing Problem </a:t>
            </a:r>
            <a:endParaRPr lang="en-AU" sz="6000" b="1" dirty="0"/>
          </a:p>
        </p:txBody>
      </p:sp>
      <p:sp>
        <p:nvSpPr>
          <p:cNvPr id="3" name="Content Placeholder 2"/>
          <p:cNvSpPr>
            <a:spLocks noGrp="1"/>
          </p:cNvSpPr>
          <p:nvPr>
            <p:ph idx="1"/>
          </p:nvPr>
        </p:nvSpPr>
        <p:spPr/>
        <p:txBody>
          <a:bodyPr>
            <a:normAutofit/>
          </a:bodyPr>
          <a:lstStyle/>
          <a:p>
            <a:r>
              <a:rPr lang="en-AU" sz="3200" dirty="0"/>
              <a:t>However, it is often the case that even when people do have knowledge of good hygiene behaviour, they lack the soap, safe water and washing facilities they need to make positive changes to protect themselves and their community.</a:t>
            </a:r>
          </a:p>
          <a:p>
            <a:endParaRPr lang="en-AU" sz="3200" dirty="0"/>
          </a:p>
        </p:txBody>
      </p:sp>
    </p:spTree>
    <p:extLst>
      <p:ext uri="{BB962C8B-B14F-4D97-AF65-F5344CB8AC3E}">
        <p14:creationId xmlns:p14="http://schemas.microsoft.com/office/powerpoint/2010/main" val="336446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Waste Treatment </a:t>
            </a:r>
            <a:endParaRPr lang="en-AU" sz="6000" b="1" dirty="0"/>
          </a:p>
        </p:txBody>
      </p:sp>
      <p:sp>
        <p:nvSpPr>
          <p:cNvPr id="3" name="Content Placeholder 2"/>
          <p:cNvSpPr>
            <a:spLocks noGrp="1"/>
          </p:cNvSpPr>
          <p:nvPr>
            <p:ph idx="1"/>
          </p:nvPr>
        </p:nvSpPr>
        <p:spPr/>
        <p:txBody>
          <a:bodyPr/>
          <a:lstStyle/>
          <a:p>
            <a:r>
              <a:rPr lang="en-AU" sz="3200" dirty="0"/>
              <a:t>Of the total amount of waste generated by health-care activities, about 85% is general, non-hazardous waste.</a:t>
            </a:r>
          </a:p>
          <a:p>
            <a:r>
              <a:rPr lang="en-AU" sz="3200" dirty="0"/>
              <a:t>The remaining 15% is considered hazardous material that may be infectious, toxic or radioactive.</a:t>
            </a:r>
          </a:p>
          <a:p>
            <a:r>
              <a:rPr lang="en-AU" sz="3200" dirty="0"/>
              <a:t>Every year an estimated 16 billion injections are administered worldwide, but not all of the needles and syringes are properly disposed of afterwards.</a:t>
            </a:r>
          </a:p>
          <a:p>
            <a:endParaRPr lang="en-AU" dirty="0"/>
          </a:p>
        </p:txBody>
      </p:sp>
    </p:spTree>
    <p:extLst>
      <p:ext uri="{BB962C8B-B14F-4D97-AF65-F5344CB8AC3E}">
        <p14:creationId xmlns:p14="http://schemas.microsoft.com/office/powerpoint/2010/main" val="3416404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Waste Treatment- Continued </a:t>
            </a:r>
            <a:endParaRPr lang="en-AU" sz="6000" b="1" dirty="0"/>
          </a:p>
        </p:txBody>
      </p:sp>
      <p:sp>
        <p:nvSpPr>
          <p:cNvPr id="3" name="Content Placeholder 2"/>
          <p:cNvSpPr>
            <a:spLocks noGrp="1"/>
          </p:cNvSpPr>
          <p:nvPr>
            <p:ph idx="1"/>
          </p:nvPr>
        </p:nvSpPr>
        <p:spPr/>
        <p:txBody>
          <a:bodyPr>
            <a:normAutofit/>
          </a:bodyPr>
          <a:lstStyle/>
          <a:p>
            <a:r>
              <a:rPr lang="en-AU" sz="3200" dirty="0"/>
              <a:t>Open burning and incineration of health care wastes can, under some circumstances, result in the emission of dioxins, furans, and particulate matter.</a:t>
            </a:r>
          </a:p>
          <a:p>
            <a:r>
              <a:rPr lang="en-AU" sz="3200" dirty="0"/>
              <a:t>Measures to ensure the safe management of health care wastes can prevent adverse health and environmental impacts from such waste including the release of chemical or biological hazards (including drug-resistant microorganisms) into the environment thus protecting the health of everyone.</a:t>
            </a:r>
          </a:p>
          <a:p>
            <a:endParaRPr lang="en-AU" sz="3200" dirty="0"/>
          </a:p>
        </p:txBody>
      </p:sp>
    </p:spTree>
    <p:extLst>
      <p:ext uri="{BB962C8B-B14F-4D97-AF65-F5344CB8AC3E}">
        <p14:creationId xmlns:p14="http://schemas.microsoft.com/office/powerpoint/2010/main" val="417507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Different Types of Waste </a:t>
            </a:r>
            <a:endParaRPr lang="en-AU" sz="6000" b="1" dirty="0"/>
          </a:p>
        </p:txBody>
      </p:sp>
      <p:sp>
        <p:nvSpPr>
          <p:cNvPr id="3" name="Content Placeholder 2"/>
          <p:cNvSpPr>
            <a:spLocks noGrp="1"/>
          </p:cNvSpPr>
          <p:nvPr>
            <p:ph idx="1"/>
          </p:nvPr>
        </p:nvSpPr>
        <p:spPr>
          <a:xfrm>
            <a:off x="149289" y="1825625"/>
            <a:ext cx="11849877" cy="4892416"/>
          </a:xfrm>
        </p:spPr>
        <p:txBody>
          <a:bodyPr/>
          <a:lstStyle/>
          <a:p>
            <a:r>
              <a:rPr lang="en-AU" sz="3200" b="1" u="sng" dirty="0"/>
              <a:t>Infectious waste</a:t>
            </a:r>
            <a:r>
              <a:rPr lang="en-AU" sz="3200" dirty="0"/>
              <a:t>: waste contaminated with blood and other bodily fluids cultures and stocks of infectious agents from laboratory work, or waste from patients with infections (e.g. swabs, bandages);</a:t>
            </a:r>
          </a:p>
          <a:p>
            <a:r>
              <a:rPr lang="en-AU" sz="3200" b="1" u="sng" dirty="0"/>
              <a:t>Pathological waste</a:t>
            </a:r>
            <a:r>
              <a:rPr lang="en-AU" sz="3200" dirty="0"/>
              <a:t>: human tissues, organs or fluids, body parts and contaminated animal carcasses;</a:t>
            </a:r>
          </a:p>
          <a:p>
            <a:r>
              <a:rPr lang="en-AU" sz="3200" b="1" u="sng" dirty="0"/>
              <a:t>Sharps waste</a:t>
            </a:r>
            <a:r>
              <a:rPr lang="en-AU" sz="3200" dirty="0"/>
              <a:t>: syringes, needles, disposable scalpels and blades, etc.;</a:t>
            </a:r>
          </a:p>
          <a:p>
            <a:r>
              <a:rPr lang="en-AU" sz="3200" b="1" u="sng" dirty="0"/>
              <a:t>Chemical waste</a:t>
            </a:r>
            <a:r>
              <a:rPr lang="en-AU" sz="3200" dirty="0"/>
              <a:t>: for example solvents and reagents used for laboratory preparations, disinfectants, sterilants and heavy metals contained in medical devices and batteries;</a:t>
            </a:r>
          </a:p>
          <a:p>
            <a:endParaRPr lang="en-AU" dirty="0"/>
          </a:p>
        </p:txBody>
      </p:sp>
    </p:spTree>
    <p:extLst>
      <p:ext uri="{BB962C8B-B14F-4D97-AF65-F5344CB8AC3E}">
        <p14:creationId xmlns:p14="http://schemas.microsoft.com/office/powerpoint/2010/main" val="335166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241" y="365125"/>
            <a:ext cx="11663265" cy="1325563"/>
          </a:xfrm>
        </p:spPr>
        <p:txBody>
          <a:bodyPr>
            <a:noAutofit/>
          </a:bodyPr>
          <a:lstStyle/>
          <a:p>
            <a:r>
              <a:rPr lang="en-AU" sz="6000" b="1" dirty="0" smtClean="0"/>
              <a:t>Different Types of Waste- Continued </a:t>
            </a:r>
            <a:endParaRPr lang="en-AU" sz="6000" b="1" dirty="0"/>
          </a:p>
        </p:txBody>
      </p:sp>
      <p:sp>
        <p:nvSpPr>
          <p:cNvPr id="3" name="Content Placeholder 2"/>
          <p:cNvSpPr>
            <a:spLocks noGrp="1"/>
          </p:cNvSpPr>
          <p:nvPr>
            <p:ph idx="1"/>
          </p:nvPr>
        </p:nvSpPr>
        <p:spPr>
          <a:xfrm>
            <a:off x="167951" y="1825624"/>
            <a:ext cx="11812555" cy="5032375"/>
          </a:xfrm>
        </p:spPr>
        <p:txBody>
          <a:bodyPr>
            <a:normAutofit/>
          </a:bodyPr>
          <a:lstStyle/>
          <a:p>
            <a:r>
              <a:rPr lang="en-AU" sz="3200" b="1" u="sng" dirty="0"/>
              <a:t>Pharmaceutical waste</a:t>
            </a:r>
            <a:r>
              <a:rPr lang="en-AU" sz="3200" dirty="0"/>
              <a:t>: expired, unused and contaminated drugs and vaccines;</a:t>
            </a:r>
          </a:p>
          <a:p>
            <a:r>
              <a:rPr lang="en-AU" sz="3200" b="1" u="sng" dirty="0"/>
              <a:t>Cytotoxic waste</a:t>
            </a:r>
            <a:r>
              <a:rPr lang="en-AU" sz="3200" dirty="0"/>
              <a:t>: waste containing substances with genotoxic properties such as cytotoxic drugs used in cancer treatment and their metabolites;</a:t>
            </a:r>
          </a:p>
          <a:p>
            <a:r>
              <a:rPr lang="en-AU" sz="3200" b="1" u="sng" dirty="0"/>
              <a:t>Radioactive waste</a:t>
            </a:r>
            <a:r>
              <a:rPr lang="en-AU" sz="3200" dirty="0"/>
              <a:t>: such as products contaminated by radionuclides including radioactive diagnostic material or radio therapeutic materials; and</a:t>
            </a:r>
          </a:p>
          <a:p>
            <a:r>
              <a:rPr lang="en-AU" sz="3200" b="1" u="sng" dirty="0"/>
              <a:t>Non-hazardous or general waste</a:t>
            </a:r>
            <a:r>
              <a:rPr lang="en-AU" sz="3200" dirty="0"/>
              <a:t>: waste that does not pose any particular biological, chemical, radioactive or physical hazard.</a:t>
            </a:r>
          </a:p>
          <a:p>
            <a:endParaRPr lang="en-AU" sz="3200" dirty="0"/>
          </a:p>
        </p:txBody>
      </p:sp>
    </p:spTree>
    <p:extLst>
      <p:ext uri="{BB962C8B-B14F-4D97-AF65-F5344CB8AC3E}">
        <p14:creationId xmlns:p14="http://schemas.microsoft.com/office/powerpoint/2010/main" val="2179982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Vector-borne diseases </a:t>
            </a:r>
            <a:endParaRPr lang="en-AU" sz="6000" b="1" dirty="0"/>
          </a:p>
        </p:txBody>
      </p:sp>
      <p:sp>
        <p:nvSpPr>
          <p:cNvPr id="3" name="Content Placeholder 2"/>
          <p:cNvSpPr>
            <a:spLocks noGrp="1"/>
          </p:cNvSpPr>
          <p:nvPr>
            <p:ph idx="1"/>
          </p:nvPr>
        </p:nvSpPr>
        <p:spPr>
          <a:xfrm>
            <a:off x="242595" y="1825624"/>
            <a:ext cx="11719249" cy="5032375"/>
          </a:xfrm>
        </p:spPr>
        <p:txBody>
          <a:bodyPr/>
          <a:lstStyle/>
          <a:p>
            <a:r>
              <a:rPr lang="en-AU" sz="3200" dirty="0"/>
              <a:t>There are two ways that vector-borne diseases are transmitted</a:t>
            </a:r>
            <a:r>
              <a:rPr lang="en-AU" sz="3200" dirty="0" smtClean="0"/>
              <a:t>:</a:t>
            </a:r>
          </a:p>
          <a:p>
            <a:endParaRPr lang="en-AU" sz="3200" dirty="0"/>
          </a:p>
          <a:p>
            <a:r>
              <a:rPr lang="en-AU" sz="3200" b="1" dirty="0"/>
              <a:t>Mechanical transmission</a:t>
            </a:r>
            <a:r>
              <a:rPr lang="en-AU" sz="3200" dirty="0"/>
              <a:t> takes place when a vector simply carries pathogenic micro-organisms on their body and transfers them to food, which we then consume. Flies and cockroaches are in this category. Flies like to rest on faecal matter and then may move on to fresh food. They can carry infectious agents through their mouth and on their legs and other body parts. They deposit these agents on ready-to-eat foods and the recipient gets infected if they consume the contaminated food.</a:t>
            </a:r>
          </a:p>
          <a:p>
            <a:endParaRPr lang="en-AU" dirty="0"/>
          </a:p>
        </p:txBody>
      </p:sp>
    </p:spTree>
    <p:extLst>
      <p:ext uri="{BB962C8B-B14F-4D97-AF65-F5344CB8AC3E}">
        <p14:creationId xmlns:p14="http://schemas.microsoft.com/office/powerpoint/2010/main" val="1978896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Vector-borne diseases continued. </a:t>
            </a:r>
            <a:endParaRPr lang="en-AU" sz="6000" b="1" dirty="0"/>
          </a:p>
        </p:txBody>
      </p:sp>
      <p:sp>
        <p:nvSpPr>
          <p:cNvPr id="3" name="Content Placeholder 2"/>
          <p:cNvSpPr>
            <a:spLocks noGrp="1"/>
          </p:cNvSpPr>
          <p:nvPr>
            <p:ph idx="1"/>
          </p:nvPr>
        </p:nvSpPr>
        <p:spPr/>
        <p:txBody>
          <a:bodyPr>
            <a:normAutofit/>
          </a:bodyPr>
          <a:lstStyle/>
          <a:p>
            <a:r>
              <a:rPr lang="en-AU" sz="3200" b="1" dirty="0"/>
              <a:t>Biological transmission</a:t>
            </a:r>
            <a:r>
              <a:rPr lang="en-AU" sz="3200" dirty="0"/>
              <a:t> involves the multiplication and growth of a disease-causing agent inside the vector’s body.</a:t>
            </a:r>
          </a:p>
          <a:p>
            <a:endParaRPr lang="en-AU" sz="3200" dirty="0"/>
          </a:p>
        </p:txBody>
      </p:sp>
    </p:spTree>
    <p:extLst>
      <p:ext uri="{BB962C8B-B14F-4D97-AF65-F5344CB8AC3E}">
        <p14:creationId xmlns:p14="http://schemas.microsoft.com/office/powerpoint/2010/main" val="3014231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5983" y="734038"/>
            <a:ext cx="12010359" cy="5237553"/>
          </a:xfrm>
          <a:prstGeom prst="rect">
            <a:avLst/>
          </a:prstGeom>
        </p:spPr>
      </p:pic>
    </p:spTree>
    <p:extLst>
      <p:ext uri="{BB962C8B-B14F-4D97-AF65-F5344CB8AC3E}">
        <p14:creationId xmlns:p14="http://schemas.microsoft.com/office/powerpoint/2010/main" val="196605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How to control vectors </a:t>
            </a:r>
            <a:endParaRPr lang="en-AU" sz="6000" b="1" dirty="0"/>
          </a:p>
        </p:txBody>
      </p:sp>
      <p:sp>
        <p:nvSpPr>
          <p:cNvPr id="3" name="Content Placeholder 2"/>
          <p:cNvSpPr>
            <a:spLocks noGrp="1"/>
          </p:cNvSpPr>
          <p:nvPr>
            <p:ph idx="1"/>
          </p:nvPr>
        </p:nvSpPr>
        <p:spPr/>
        <p:txBody>
          <a:bodyPr>
            <a:normAutofit lnSpcReduction="10000"/>
          </a:bodyPr>
          <a:lstStyle/>
          <a:p>
            <a:r>
              <a:rPr lang="en-AU" sz="3200" dirty="0"/>
              <a:t>Basic sanitation:</a:t>
            </a:r>
          </a:p>
          <a:p>
            <a:pPr lvl="1"/>
            <a:r>
              <a:rPr lang="en-AU" sz="3200" dirty="0"/>
              <a:t>This approach targets the elimination or reduction of that part of the environment that facilitates breeding and harbourage (places where vectors find refuge or shelter). </a:t>
            </a:r>
          </a:p>
          <a:p>
            <a:pPr lvl="1"/>
            <a:r>
              <a:rPr lang="en-AU" sz="3200" dirty="0"/>
              <a:t>It includes the elimination of all possible breeding places for insects, the prevention of stagnation of water to limit the breeding of mosquitoes, and proper solid waste management and use of a latrine to control the breeding of houseflies. </a:t>
            </a:r>
          </a:p>
          <a:p>
            <a:endParaRPr lang="en-AU" dirty="0"/>
          </a:p>
        </p:txBody>
      </p:sp>
    </p:spTree>
    <p:extLst>
      <p:ext uri="{BB962C8B-B14F-4D97-AF65-F5344CB8AC3E}">
        <p14:creationId xmlns:p14="http://schemas.microsoft.com/office/powerpoint/2010/main" val="608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296" y="365125"/>
            <a:ext cx="11589026" cy="1325563"/>
          </a:xfrm>
        </p:spPr>
        <p:txBody>
          <a:bodyPr>
            <a:noAutofit/>
          </a:bodyPr>
          <a:lstStyle/>
          <a:p>
            <a:r>
              <a:rPr lang="en-AU" sz="6000" b="1" dirty="0" smtClean="0"/>
              <a:t>Basic Sanitation continued. </a:t>
            </a:r>
            <a:endParaRPr lang="en-AU" sz="6000" b="1" dirty="0"/>
          </a:p>
        </p:txBody>
      </p:sp>
      <p:sp>
        <p:nvSpPr>
          <p:cNvPr id="3" name="Content Placeholder 2"/>
          <p:cNvSpPr>
            <a:spLocks noGrp="1"/>
          </p:cNvSpPr>
          <p:nvPr>
            <p:ph idx="1"/>
          </p:nvPr>
        </p:nvSpPr>
        <p:spPr>
          <a:xfrm>
            <a:off x="278295" y="1825625"/>
            <a:ext cx="11410121" cy="4634810"/>
          </a:xfrm>
        </p:spPr>
        <p:txBody>
          <a:bodyPr>
            <a:normAutofit/>
          </a:bodyPr>
          <a:lstStyle/>
          <a:p>
            <a:r>
              <a:rPr lang="en-AU" sz="3200" dirty="0"/>
              <a:t>The use of clean water from protected sources for drinking prevents the transmission of parasites. Rats are controlled by starving them and eliminating their breeding places. Personal hygiene contributes to the control of lice</a:t>
            </a:r>
            <a:r>
              <a:rPr lang="en-AU" sz="3200" dirty="0" smtClean="0"/>
              <a:t>.</a:t>
            </a:r>
          </a:p>
          <a:p>
            <a:endParaRPr lang="en-AU" sz="3200" dirty="0"/>
          </a:p>
          <a:p>
            <a:r>
              <a:rPr lang="en-AU" sz="3200" dirty="0"/>
              <a:t>Generally, a clean home and environment will prevent the breeding of insects. The use of ventilation, latrines and adequate water supply play a significant role in the control of insects.</a:t>
            </a:r>
          </a:p>
          <a:p>
            <a:endParaRPr lang="en-AU" sz="3200" dirty="0"/>
          </a:p>
        </p:txBody>
      </p:sp>
    </p:spTree>
    <p:extLst>
      <p:ext uri="{BB962C8B-B14F-4D97-AF65-F5344CB8AC3E}">
        <p14:creationId xmlns:p14="http://schemas.microsoft.com/office/powerpoint/2010/main" val="4072039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Control- Physical Measures </a:t>
            </a:r>
            <a:endParaRPr lang="en-AU" sz="6000" b="1" dirty="0"/>
          </a:p>
        </p:txBody>
      </p:sp>
      <p:sp>
        <p:nvSpPr>
          <p:cNvPr id="3" name="Content Placeholder 2"/>
          <p:cNvSpPr>
            <a:spLocks noGrp="1"/>
          </p:cNvSpPr>
          <p:nvPr>
            <p:ph idx="1"/>
          </p:nvPr>
        </p:nvSpPr>
        <p:spPr>
          <a:xfrm>
            <a:off x="178903" y="1825624"/>
            <a:ext cx="11767931" cy="4853471"/>
          </a:xfrm>
        </p:spPr>
        <p:txBody>
          <a:bodyPr>
            <a:normAutofit/>
          </a:bodyPr>
          <a:lstStyle/>
          <a:p>
            <a:r>
              <a:rPr lang="en-AU" sz="3200" dirty="0"/>
              <a:t>These include methods that stop vectors from getting into close contact with humans, and methods that are used to kill vectors. </a:t>
            </a:r>
          </a:p>
          <a:p>
            <a:r>
              <a:rPr lang="en-AU" sz="3200" dirty="0"/>
              <a:t>They include bed nets for mosquitoes and wire mesh for flies and mosquitoes mosquito larvae can be controlled in some water containers by putting a thin layer of used oil on the surface of the water. </a:t>
            </a:r>
          </a:p>
          <a:p>
            <a:r>
              <a:rPr lang="en-AU" sz="3200" dirty="0"/>
              <a:t>Physical methods also include traps for rats and mice. Delousing by boiling or steaming infested clothes are physical methods for controlling lice.</a:t>
            </a:r>
          </a:p>
          <a:p>
            <a:endParaRPr lang="en-AU" sz="3200" dirty="0"/>
          </a:p>
        </p:txBody>
      </p:sp>
    </p:spTree>
    <p:extLst>
      <p:ext uri="{BB962C8B-B14F-4D97-AF65-F5344CB8AC3E}">
        <p14:creationId xmlns:p14="http://schemas.microsoft.com/office/powerpoint/2010/main" val="4242093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Control- Chemical methods </a:t>
            </a:r>
            <a:endParaRPr lang="en-AU" sz="6000" b="1" dirty="0"/>
          </a:p>
        </p:txBody>
      </p:sp>
      <p:sp>
        <p:nvSpPr>
          <p:cNvPr id="3" name="Content Placeholder 2"/>
          <p:cNvSpPr>
            <a:spLocks noGrp="1"/>
          </p:cNvSpPr>
          <p:nvPr>
            <p:ph idx="1"/>
          </p:nvPr>
        </p:nvSpPr>
        <p:spPr>
          <a:xfrm>
            <a:off x="198782" y="1825625"/>
            <a:ext cx="11748053" cy="4614932"/>
          </a:xfrm>
        </p:spPr>
        <p:txBody>
          <a:bodyPr>
            <a:normAutofit/>
          </a:bodyPr>
          <a:lstStyle/>
          <a:p>
            <a:r>
              <a:rPr lang="en-AU" sz="3200" dirty="0"/>
              <a:t>Chemical insecticides can be used for the destruction of adults and larvae of insects. Commonly used chemicals are DDT, malathion and pyrethrums. Pyrethrum-containing aerosols are used for the destruction of cockroaches and flies in our homes</a:t>
            </a:r>
            <a:r>
              <a:rPr lang="en-AU" sz="3200" dirty="0" smtClean="0"/>
              <a:t>.</a:t>
            </a:r>
          </a:p>
          <a:p>
            <a:endParaRPr lang="en-AU" sz="3200" dirty="0"/>
          </a:p>
          <a:p>
            <a:r>
              <a:rPr lang="en-AU" sz="3200" dirty="0"/>
              <a:t>Rodenticides can be used to kill rats and mice. The indiscriminate use of these chemicals, however, could have undesired health effects on users and domestic animals. </a:t>
            </a:r>
          </a:p>
          <a:p>
            <a:endParaRPr lang="en-AU" sz="3200" dirty="0"/>
          </a:p>
        </p:txBody>
      </p:sp>
    </p:spTree>
    <p:extLst>
      <p:ext uri="{BB962C8B-B14F-4D97-AF65-F5344CB8AC3E}">
        <p14:creationId xmlns:p14="http://schemas.microsoft.com/office/powerpoint/2010/main" val="4064148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Control- Biological Methods </a:t>
            </a:r>
            <a:endParaRPr lang="en-AU" sz="6000" b="1" dirty="0"/>
          </a:p>
        </p:txBody>
      </p:sp>
      <p:sp>
        <p:nvSpPr>
          <p:cNvPr id="3" name="Content Placeholder 2"/>
          <p:cNvSpPr>
            <a:spLocks noGrp="1"/>
          </p:cNvSpPr>
          <p:nvPr>
            <p:ph idx="1"/>
          </p:nvPr>
        </p:nvSpPr>
        <p:spPr>
          <a:xfrm>
            <a:off x="218661" y="1825625"/>
            <a:ext cx="11827565" cy="4813714"/>
          </a:xfrm>
        </p:spPr>
        <p:txBody>
          <a:bodyPr>
            <a:normAutofit/>
          </a:bodyPr>
          <a:lstStyle/>
          <a:p>
            <a:r>
              <a:rPr lang="en-AU" sz="3200" dirty="0"/>
              <a:t>These include several very advanced methods that prevent the successful reproduction of pest species. They include the sterilisation of males (tsetse fly, mosquito), sex distortion or replacement of genes. </a:t>
            </a:r>
          </a:p>
          <a:p>
            <a:r>
              <a:rPr lang="en-AU" sz="3200" dirty="0"/>
              <a:t>All of these methods are expensive and often complex to monitor. </a:t>
            </a:r>
            <a:endParaRPr lang="en-AU" sz="3200" dirty="0" smtClean="0"/>
          </a:p>
          <a:p>
            <a:r>
              <a:rPr lang="en-AU" sz="3200" dirty="0" smtClean="0"/>
              <a:t>Other </a:t>
            </a:r>
            <a:r>
              <a:rPr lang="en-AU" sz="3200" dirty="0"/>
              <a:t>biological methods involve introducing or encouraging predators of the vector species. For example, small fish can be used to feed on larvae of mosquitoes. Reptiles, birds and frogs feed on adult insects and cats will prey on rats.</a:t>
            </a:r>
          </a:p>
          <a:p>
            <a:endParaRPr lang="en-AU" sz="3200" dirty="0"/>
          </a:p>
        </p:txBody>
      </p:sp>
    </p:spTree>
    <p:extLst>
      <p:ext uri="{BB962C8B-B14F-4D97-AF65-F5344CB8AC3E}">
        <p14:creationId xmlns:p14="http://schemas.microsoft.com/office/powerpoint/2010/main" val="2055197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https://www.youtube.com/watch?v=2JWku3Kjpq0</a:t>
            </a:r>
          </a:p>
        </p:txBody>
      </p:sp>
    </p:spTree>
    <p:extLst>
      <p:ext uri="{BB962C8B-B14F-4D97-AF65-F5344CB8AC3E}">
        <p14:creationId xmlns:p14="http://schemas.microsoft.com/office/powerpoint/2010/main" val="2069567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Travel Warnings </a:t>
            </a:r>
            <a:endParaRPr lang="en-AU" sz="6000" b="1" dirty="0"/>
          </a:p>
        </p:txBody>
      </p:sp>
      <p:sp>
        <p:nvSpPr>
          <p:cNvPr id="3" name="Content Placeholder 2"/>
          <p:cNvSpPr>
            <a:spLocks noGrp="1"/>
          </p:cNvSpPr>
          <p:nvPr>
            <p:ph idx="1"/>
          </p:nvPr>
        </p:nvSpPr>
        <p:spPr/>
        <p:txBody>
          <a:bodyPr>
            <a:normAutofit/>
          </a:bodyPr>
          <a:lstStyle/>
          <a:p>
            <a:r>
              <a:rPr lang="en-AU" sz="3200" dirty="0"/>
              <a:t>You can have a higher risk of contracting infectious diseases in some destinations. </a:t>
            </a:r>
            <a:endParaRPr lang="en-AU" sz="3200" dirty="0" smtClean="0"/>
          </a:p>
          <a:p>
            <a:endParaRPr lang="en-AU" sz="3200" dirty="0"/>
          </a:p>
          <a:p>
            <a:endParaRPr lang="en-AU" sz="3200" dirty="0"/>
          </a:p>
          <a:p>
            <a:r>
              <a:rPr lang="en-AU" sz="3200" dirty="0"/>
              <a:t>This can be due to water and sanitation issues, insects that carry diseases or low vaccination rates. Infectious diseases exist in developed as well as developing countries.</a:t>
            </a:r>
          </a:p>
          <a:p>
            <a:endParaRPr lang="en-AU" sz="3200" dirty="0"/>
          </a:p>
        </p:txBody>
      </p:sp>
    </p:spTree>
    <p:extLst>
      <p:ext uri="{BB962C8B-B14F-4D97-AF65-F5344CB8AC3E}">
        <p14:creationId xmlns:p14="http://schemas.microsoft.com/office/powerpoint/2010/main" val="469773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Travel Warnings- Continued </a:t>
            </a:r>
            <a:endParaRPr lang="en-AU" sz="6000" b="1" dirty="0"/>
          </a:p>
        </p:txBody>
      </p:sp>
      <p:sp>
        <p:nvSpPr>
          <p:cNvPr id="3" name="Content Placeholder 2"/>
          <p:cNvSpPr>
            <a:spLocks noGrp="1"/>
          </p:cNvSpPr>
          <p:nvPr>
            <p:ph idx="1"/>
          </p:nvPr>
        </p:nvSpPr>
        <p:spPr/>
        <p:txBody>
          <a:bodyPr>
            <a:normAutofit/>
          </a:bodyPr>
          <a:lstStyle/>
          <a:p>
            <a:r>
              <a:rPr lang="en-AU" sz="3200" dirty="0"/>
              <a:t>Insects can carry some diseases and transmit them between people. Insects can also transmit some diseases between animals and people</a:t>
            </a:r>
            <a:r>
              <a:rPr lang="en-AU" sz="3200" dirty="0" smtClean="0"/>
              <a:t>.</a:t>
            </a:r>
          </a:p>
          <a:p>
            <a:endParaRPr lang="en-AU" sz="3200" dirty="0"/>
          </a:p>
          <a:p>
            <a:r>
              <a:rPr lang="en-AU" sz="3200" dirty="0"/>
              <a:t>Australians are more likely to get an insect-borne disease when travelling in tropical climates. This includes parts of Asia, Africa, Central America and the Pacific. Australians are also at risk in parts of Europe and the United States. </a:t>
            </a:r>
          </a:p>
        </p:txBody>
      </p:sp>
    </p:spTree>
    <p:extLst>
      <p:ext uri="{BB962C8B-B14F-4D97-AF65-F5344CB8AC3E}">
        <p14:creationId xmlns:p14="http://schemas.microsoft.com/office/powerpoint/2010/main" val="1749967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Travel Warnings- Continued </a:t>
            </a:r>
            <a:endParaRPr lang="en-AU" sz="6000" b="1" dirty="0"/>
          </a:p>
        </p:txBody>
      </p:sp>
      <p:sp>
        <p:nvSpPr>
          <p:cNvPr id="3" name="Content Placeholder 2"/>
          <p:cNvSpPr>
            <a:spLocks noGrp="1"/>
          </p:cNvSpPr>
          <p:nvPr>
            <p:ph idx="1"/>
          </p:nvPr>
        </p:nvSpPr>
        <p:spPr/>
        <p:txBody>
          <a:bodyPr>
            <a:normAutofit/>
          </a:bodyPr>
          <a:lstStyle/>
          <a:p>
            <a:r>
              <a:rPr lang="en-AU" sz="3200" dirty="0"/>
              <a:t>For instance, if you're visiting countries where yellow fever is present, you'll have to show a valid yellow fever vaccination certificate to re-enter </a:t>
            </a:r>
            <a:r>
              <a:rPr lang="en-AU" sz="3200" dirty="0" smtClean="0"/>
              <a:t>Australia</a:t>
            </a:r>
            <a:r>
              <a:rPr lang="en-AU" sz="3200" dirty="0"/>
              <a:t>.</a:t>
            </a:r>
          </a:p>
          <a:p>
            <a:endParaRPr lang="en-AU" sz="3200" dirty="0"/>
          </a:p>
        </p:txBody>
      </p:sp>
    </p:spTree>
    <p:extLst>
      <p:ext uri="{BB962C8B-B14F-4D97-AF65-F5344CB8AC3E}">
        <p14:creationId xmlns:p14="http://schemas.microsoft.com/office/powerpoint/2010/main" val="914355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Water or foodborne diseases </a:t>
            </a:r>
            <a:endParaRPr lang="en-AU" sz="6000" b="1" dirty="0"/>
          </a:p>
        </p:txBody>
      </p:sp>
      <p:sp>
        <p:nvSpPr>
          <p:cNvPr id="3" name="Content Placeholder 2"/>
          <p:cNvSpPr>
            <a:spLocks noGrp="1"/>
          </p:cNvSpPr>
          <p:nvPr>
            <p:ph idx="1"/>
          </p:nvPr>
        </p:nvSpPr>
        <p:spPr>
          <a:xfrm>
            <a:off x="218661" y="1825625"/>
            <a:ext cx="11728174" cy="4793836"/>
          </a:xfrm>
        </p:spPr>
        <p:txBody>
          <a:bodyPr/>
          <a:lstStyle/>
          <a:p>
            <a:pPr marL="0" indent="0">
              <a:buNone/>
            </a:pPr>
            <a:r>
              <a:rPr lang="en-AU" sz="3000" dirty="0" smtClean="0"/>
              <a:t>These are </a:t>
            </a:r>
            <a:r>
              <a:rPr lang="en-AU" sz="3000" dirty="0"/>
              <a:t>common in many countries. You can catch them from:</a:t>
            </a:r>
          </a:p>
          <a:p>
            <a:r>
              <a:rPr lang="en-AU" sz="3000" dirty="0"/>
              <a:t>Drinking or using contaminated water</a:t>
            </a:r>
          </a:p>
          <a:p>
            <a:r>
              <a:rPr lang="en-AU" sz="3000" dirty="0"/>
              <a:t>Drinking any drink with ice cubes made with tap water</a:t>
            </a:r>
          </a:p>
          <a:p>
            <a:r>
              <a:rPr lang="en-AU" sz="3000" dirty="0"/>
              <a:t>Eating food washed with tap water</a:t>
            </a:r>
          </a:p>
          <a:p>
            <a:r>
              <a:rPr lang="en-AU" sz="3000" dirty="0"/>
              <a:t>Brushing your teeth or washing your face with tap water</a:t>
            </a:r>
          </a:p>
          <a:p>
            <a:r>
              <a:rPr lang="en-AU" sz="3000" dirty="0"/>
              <a:t>Eating contaminated food</a:t>
            </a:r>
          </a:p>
          <a:p>
            <a:r>
              <a:rPr lang="en-AU" sz="3000" dirty="0"/>
              <a:t>Taking part in activities in contaminated water, such as swimming or water sports</a:t>
            </a:r>
          </a:p>
          <a:p>
            <a:endParaRPr lang="en-AU" dirty="0"/>
          </a:p>
        </p:txBody>
      </p:sp>
    </p:spTree>
    <p:extLst>
      <p:ext uri="{BB962C8B-B14F-4D97-AF65-F5344CB8AC3E}">
        <p14:creationId xmlns:p14="http://schemas.microsoft.com/office/powerpoint/2010/main" val="1325837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1999" cy="1325563"/>
          </a:xfrm>
        </p:spPr>
        <p:txBody>
          <a:bodyPr>
            <a:noAutofit/>
          </a:bodyPr>
          <a:lstStyle/>
          <a:p>
            <a:r>
              <a:rPr lang="en-AU" sz="5500" b="1" dirty="0" smtClean="0"/>
              <a:t>Examples of water and foodborne diseases </a:t>
            </a:r>
            <a:endParaRPr lang="en-AU" sz="5500" b="1" dirty="0"/>
          </a:p>
        </p:txBody>
      </p:sp>
      <p:sp>
        <p:nvSpPr>
          <p:cNvPr id="3" name="Content Placeholder 2"/>
          <p:cNvSpPr>
            <a:spLocks noGrp="1"/>
          </p:cNvSpPr>
          <p:nvPr>
            <p:ph idx="1"/>
          </p:nvPr>
        </p:nvSpPr>
        <p:spPr/>
        <p:txBody>
          <a:bodyPr>
            <a:normAutofit/>
          </a:bodyPr>
          <a:lstStyle/>
          <a:p>
            <a:pPr marL="0" indent="0">
              <a:buNone/>
            </a:pPr>
            <a:r>
              <a:rPr lang="en-AU" sz="3200" dirty="0"/>
              <a:t>Some water and foodborne diseases include</a:t>
            </a:r>
            <a:r>
              <a:rPr lang="en-AU" sz="3200" dirty="0" smtClean="0"/>
              <a:t>:</a:t>
            </a:r>
          </a:p>
          <a:p>
            <a:pPr marL="0" indent="0">
              <a:buNone/>
            </a:pPr>
            <a:endParaRPr lang="en-AU" sz="3200" dirty="0"/>
          </a:p>
          <a:p>
            <a:r>
              <a:rPr lang="en-AU" sz="3200" dirty="0"/>
              <a:t>Infections causing gastroenteritis (vomiting and diarrhoea)</a:t>
            </a:r>
          </a:p>
          <a:p>
            <a:r>
              <a:rPr lang="en-AU" sz="3200" dirty="0" smtClean="0"/>
              <a:t>Salmonellosis </a:t>
            </a:r>
            <a:r>
              <a:rPr lang="en-AU" sz="3200" dirty="0"/>
              <a:t>(including typhoid and paratyphoid)</a:t>
            </a:r>
          </a:p>
          <a:p>
            <a:r>
              <a:rPr lang="en-AU" sz="3200" dirty="0"/>
              <a:t>Hepatitis A</a:t>
            </a:r>
          </a:p>
          <a:p>
            <a:r>
              <a:rPr lang="en-AU" sz="3200" dirty="0"/>
              <a:t>Polio (poliomyelitis)</a:t>
            </a:r>
          </a:p>
          <a:p>
            <a:endParaRPr lang="en-AU" sz="3200" dirty="0"/>
          </a:p>
        </p:txBody>
      </p:sp>
    </p:spTree>
    <p:extLst>
      <p:ext uri="{BB962C8B-B14F-4D97-AF65-F5344CB8AC3E}">
        <p14:creationId xmlns:p14="http://schemas.microsoft.com/office/powerpoint/2010/main" val="2428309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661" y="365125"/>
            <a:ext cx="11529391" cy="1325563"/>
          </a:xfrm>
        </p:spPr>
        <p:txBody>
          <a:bodyPr>
            <a:noAutofit/>
          </a:bodyPr>
          <a:lstStyle/>
          <a:p>
            <a:r>
              <a:rPr lang="en-AU" sz="6000" b="1" dirty="0" smtClean="0"/>
              <a:t>Transmission of disease movement </a:t>
            </a:r>
            <a:endParaRPr lang="en-AU" sz="6000" b="1" dirty="0"/>
          </a:p>
        </p:txBody>
      </p:sp>
      <p:sp>
        <p:nvSpPr>
          <p:cNvPr id="3" name="Content Placeholder 2"/>
          <p:cNvSpPr>
            <a:spLocks noGrp="1"/>
          </p:cNvSpPr>
          <p:nvPr>
            <p:ph idx="1"/>
          </p:nvPr>
        </p:nvSpPr>
        <p:spPr/>
        <p:txBody>
          <a:bodyPr>
            <a:normAutofit/>
          </a:bodyPr>
          <a:lstStyle/>
          <a:p>
            <a:r>
              <a:rPr lang="en-AU" sz="3200" dirty="0" smtClean="0"/>
              <a:t>Population density and movement of people influence how far the disease spreads and how fast it spreads. </a:t>
            </a:r>
            <a:endParaRPr lang="en-AU" sz="3200" dirty="0"/>
          </a:p>
        </p:txBody>
      </p:sp>
    </p:spTree>
    <p:extLst>
      <p:ext uri="{BB962C8B-B14F-4D97-AF65-F5344CB8AC3E}">
        <p14:creationId xmlns:p14="http://schemas.microsoft.com/office/powerpoint/2010/main" val="1634710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Population density </a:t>
            </a:r>
            <a:endParaRPr lang="en-AU" sz="6000" b="1" dirty="0"/>
          </a:p>
        </p:txBody>
      </p:sp>
      <p:sp>
        <p:nvSpPr>
          <p:cNvPr id="3" name="Content Placeholder 2"/>
          <p:cNvSpPr>
            <a:spLocks noGrp="1"/>
          </p:cNvSpPr>
          <p:nvPr>
            <p:ph idx="1"/>
          </p:nvPr>
        </p:nvSpPr>
        <p:spPr>
          <a:xfrm>
            <a:off x="241851" y="1527450"/>
            <a:ext cx="11704983" cy="4873349"/>
          </a:xfrm>
        </p:spPr>
        <p:txBody>
          <a:bodyPr/>
          <a:lstStyle/>
          <a:p>
            <a:r>
              <a:rPr lang="en-AU" sz="3200" dirty="0"/>
              <a:t>Density of population does not of itself determine the ease with which infection spreads through a population. Problems tend to arise primarily when populations become so dense as to cause overcrowding. </a:t>
            </a:r>
            <a:endParaRPr lang="en-AU" sz="3200" dirty="0" smtClean="0"/>
          </a:p>
          <a:p>
            <a:endParaRPr lang="en-AU" sz="3200" dirty="0"/>
          </a:p>
          <a:p>
            <a:r>
              <a:rPr lang="en-AU" sz="3200" dirty="0"/>
              <a:t>Overcrowding is often associated with decreases in quality of living conditions and sanitation, and hence the rate of agent transmission is typically very high in such areas. </a:t>
            </a:r>
          </a:p>
          <a:p>
            <a:endParaRPr lang="en-AU" dirty="0"/>
          </a:p>
        </p:txBody>
      </p:sp>
    </p:spTree>
    <p:extLst>
      <p:ext uri="{BB962C8B-B14F-4D97-AF65-F5344CB8AC3E}">
        <p14:creationId xmlns:p14="http://schemas.microsoft.com/office/powerpoint/2010/main" val="2117053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Population density continued. </a:t>
            </a:r>
            <a:endParaRPr lang="en-AU" sz="6000" b="1" dirty="0"/>
          </a:p>
        </p:txBody>
      </p:sp>
      <p:sp>
        <p:nvSpPr>
          <p:cNvPr id="3" name="Content Placeholder 2"/>
          <p:cNvSpPr>
            <a:spLocks noGrp="1"/>
          </p:cNvSpPr>
          <p:nvPr>
            <p:ph idx="1"/>
          </p:nvPr>
        </p:nvSpPr>
        <p:spPr>
          <a:xfrm>
            <a:off x="278295" y="1825625"/>
            <a:ext cx="11688417" cy="4793836"/>
          </a:xfrm>
        </p:spPr>
        <p:txBody>
          <a:bodyPr/>
          <a:lstStyle/>
          <a:p>
            <a:r>
              <a:rPr lang="en-AU" sz="3200" dirty="0"/>
              <a:t>Thus, overcrowded cities or densely populated areas of cities can potentially serve as breeding grounds for infectious agents, which may facilitate their evolution, particularly in the case of viruses and bacteria. </a:t>
            </a:r>
            <a:endParaRPr lang="en-AU" sz="3200" dirty="0" smtClean="0"/>
          </a:p>
          <a:p>
            <a:endParaRPr lang="en-AU" sz="3200" dirty="0"/>
          </a:p>
          <a:p>
            <a:r>
              <a:rPr lang="en-AU" sz="3200" dirty="0"/>
              <a:t>Rapid cycling between humans and other hosts, such as rats or mice, can result in the emergence of new strains capable of causing serious disease.</a:t>
            </a:r>
          </a:p>
          <a:p>
            <a:endParaRPr lang="en-AU" dirty="0"/>
          </a:p>
        </p:txBody>
      </p:sp>
    </p:spTree>
    <p:extLst>
      <p:ext uri="{BB962C8B-B14F-4D97-AF65-F5344CB8AC3E}">
        <p14:creationId xmlns:p14="http://schemas.microsoft.com/office/powerpoint/2010/main" val="2259999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Population movement </a:t>
            </a:r>
            <a:endParaRPr lang="en-AU" sz="6000" b="1" dirty="0"/>
          </a:p>
        </p:txBody>
      </p:sp>
      <p:sp>
        <p:nvSpPr>
          <p:cNvPr id="3" name="Content Placeholder 2"/>
          <p:cNvSpPr>
            <a:spLocks noGrp="1"/>
          </p:cNvSpPr>
          <p:nvPr>
            <p:ph idx="1"/>
          </p:nvPr>
        </p:nvSpPr>
        <p:spPr>
          <a:xfrm>
            <a:off x="238539" y="1825624"/>
            <a:ext cx="11668539" cy="4754079"/>
          </a:xfrm>
        </p:spPr>
        <p:txBody>
          <a:bodyPr/>
          <a:lstStyle/>
          <a:p>
            <a:r>
              <a:rPr lang="en-AU" sz="3200" dirty="0"/>
              <a:t>Movement into a new environment often is followed by an outbreak of infectious disease. </a:t>
            </a:r>
            <a:endParaRPr lang="en-AU" sz="3200" dirty="0" smtClean="0"/>
          </a:p>
          <a:p>
            <a:endParaRPr lang="en-AU" sz="3200" dirty="0"/>
          </a:p>
          <a:p>
            <a:r>
              <a:rPr lang="en-AU" sz="3200" dirty="0"/>
              <a:t>On pilgrimages and in wars, improvised feeding and sanitation lead to outbreaks of such intestinal infections as dysentery, cholera, and typhoid fever, and sometimes more have died in war from these diseases than have been killed in the fighting.</a:t>
            </a:r>
          </a:p>
          <a:p>
            <a:endParaRPr lang="en-AU" dirty="0"/>
          </a:p>
        </p:txBody>
      </p:sp>
    </p:spTree>
    <p:extLst>
      <p:ext uri="{BB962C8B-B14F-4D97-AF65-F5344CB8AC3E}">
        <p14:creationId xmlns:p14="http://schemas.microsoft.com/office/powerpoint/2010/main" val="3852627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Social Behaviour </a:t>
            </a:r>
            <a:endParaRPr lang="en-AU" sz="6000" b="1" dirty="0"/>
          </a:p>
        </p:txBody>
      </p:sp>
      <p:sp>
        <p:nvSpPr>
          <p:cNvPr id="3" name="Content Placeholder 2"/>
          <p:cNvSpPr>
            <a:spLocks noGrp="1"/>
          </p:cNvSpPr>
          <p:nvPr>
            <p:ph idx="1"/>
          </p:nvPr>
        </p:nvSpPr>
        <p:spPr/>
        <p:txBody>
          <a:bodyPr>
            <a:normAutofit/>
          </a:bodyPr>
          <a:lstStyle/>
          <a:p>
            <a:r>
              <a:rPr lang="en-AU" sz="3200" dirty="0"/>
              <a:t>Human behaviours determine outbreak trajectories of infectious diseases</a:t>
            </a:r>
            <a:r>
              <a:rPr lang="en-AU" sz="3200" dirty="0" smtClean="0"/>
              <a:t>.</a:t>
            </a:r>
          </a:p>
          <a:p>
            <a:endParaRPr lang="en-AU" sz="3200" dirty="0"/>
          </a:p>
          <a:p>
            <a:endParaRPr lang="en-AU" sz="3200" dirty="0"/>
          </a:p>
          <a:p>
            <a:r>
              <a:rPr lang="en-AU" sz="3200" dirty="0"/>
              <a:t>Mobile-phone data have been a central data source for measuring human behaviour and more specifically, movement. </a:t>
            </a:r>
          </a:p>
          <a:p>
            <a:endParaRPr lang="en-AU" sz="3200" dirty="0"/>
          </a:p>
        </p:txBody>
      </p:sp>
    </p:spTree>
    <p:extLst>
      <p:ext uri="{BB962C8B-B14F-4D97-AF65-F5344CB8AC3E}">
        <p14:creationId xmlns:p14="http://schemas.microsoft.com/office/powerpoint/2010/main" val="3981478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Social Behaviour- continued </a:t>
            </a:r>
            <a:endParaRPr lang="en-AU" sz="6000" b="1" dirty="0"/>
          </a:p>
        </p:txBody>
      </p:sp>
      <p:sp>
        <p:nvSpPr>
          <p:cNvPr id="3" name="Content Placeholder 2"/>
          <p:cNvSpPr>
            <a:spLocks noGrp="1"/>
          </p:cNvSpPr>
          <p:nvPr>
            <p:ph idx="1"/>
          </p:nvPr>
        </p:nvSpPr>
        <p:spPr/>
        <p:txBody>
          <a:bodyPr/>
          <a:lstStyle/>
          <a:p>
            <a:r>
              <a:rPr lang="en-AU" sz="3200" dirty="0"/>
              <a:t>They link phone usage and health records and compare geographically paired, clinically confirmed diagnoses with people who did not receive a diagnosis. </a:t>
            </a:r>
            <a:endParaRPr lang="en-AU" sz="3200" dirty="0" smtClean="0"/>
          </a:p>
          <a:p>
            <a:endParaRPr lang="en-AU" sz="3200" dirty="0"/>
          </a:p>
          <a:p>
            <a:r>
              <a:rPr lang="en-AU" sz="3200" dirty="0" smtClean="0"/>
              <a:t>Their </a:t>
            </a:r>
            <a:r>
              <a:rPr lang="en-AU" sz="3200" dirty="0"/>
              <a:t>approach does not require app download, opt in, symptom reporting, or factors that can impose additional biases on participants.</a:t>
            </a:r>
          </a:p>
          <a:p>
            <a:endParaRPr lang="en-AU" dirty="0"/>
          </a:p>
        </p:txBody>
      </p:sp>
    </p:spTree>
    <p:extLst>
      <p:ext uri="{BB962C8B-B14F-4D97-AF65-F5344CB8AC3E}">
        <p14:creationId xmlns:p14="http://schemas.microsoft.com/office/powerpoint/2010/main" val="2619912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https://www.youtube.com/watch?v=D28I2mwUOyQ</a:t>
            </a:r>
          </a:p>
        </p:txBody>
      </p:sp>
    </p:spTree>
    <p:extLst>
      <p:ext uri="{BB962C8B-B14F-4D97-AF65-F5344CB8AC3E}">
        <p14:creationId xmlns:p14="http://schemas.microsoft.com/office/powerpoint/2010/main" val="32447674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957" y="365125"/>
            <a:ext cx="10856843" cy="1325563"/>
          </a:xfrm>
        </p:spPr>
        <p:txBody>
          <a:bodyPr>
            <a:noAutofit/>
          </a:bodyPr>
          <a:lstStyle/>
          <a:p>
            <a:r>
              <a:rPr lang="en-AU" sz="6000" b="1" dirty="0" smtClean="0"/>
              <a:t>The Spread and Persistence of STIs</a:t>
            </a:r>
            <a:endParaRPr lang="en-AU" sz="6000" b="1" dirty="0"/>
          </a:p>
        </p:txBody>
      </p:sp>
      <p:sp>
        <p:nvSpPr>
          <p:cNvPr id="3" name="Content Placeholder 2"/>
          <p:cNvSpPr>
            <a:spLocks noGrp="1"/>
          </p:cNvSpPr>
          <p:nvPr>
            <p:ph idx="1"/>
          </p:nvPr>
        </p:nvSpPr>
        <p:spPr>
          <a:xfrm>
            <a:off x="496957" y="1825625"/>
            <a:ext cx="10856843" cy="4351338"/>
          </a:xfrm>
        </p:spPr>
        <p:txBody>
          <a:bodyPr/>
          <a:lstStyle/>
          <a:p>
            <a:r>
              <a:rPr lang="en-AU" sz="3200" dirty="0"/>
              <a:t>More than 30 different bacteria, viruses and parasites are known to be transmitted through sexual contact.</a:t>
            </a:r>
          </a:p>
          <a:p>
            <a:r>
              <a:rPr lang="en-AU" sz="3200" dirty="0"/>
              <a:t>STIs are spread predominantly by sexual contact, including vaginal, anal and oral sex. Some STIs can also be spread through non-sexual means such as via blood or blood products. </a:t>
            </a:r>
            <a:endParaRPr lang="en-AU" sz="3200" dirty="0" smtClean="0"/>
          </a:p>
          <a:p>
            <a:r>
              <a:rPr lang="en-AU" sz="3200" dirty="0" smtClean="0"/>
              <a:t>Many </a:t>
            </a:r>
            <a:r>
              <a:rPr lang="en-AU" sz="3200" dirty="0"/>
              <a:t>STIs (including Syphilis, Hepatitis B, HIV, Chlamydia, Gonorrhoea, Herpes, and HPV) can also be transmitted from mother to child during pregnancy and childbirth.</a:t>
            </a:r>
          </a:p>
          <a:p>
            <a:endParaRPr lang="en-AU" dirty="0"/>
          </a:p>
        </p:txBody>
      </p:sp>
    </p:spTree>
    <p:extLst>
      <p:ext uri="{BB962C8B-B14F-4D97-AF65-F5344CB8AC3E}">
        <p14:creationId xmlns:p14="http://schemas.microsoft.com/office/powerpoint/2010/main" val="2716975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Prevention of STIs</a:t>
            </a:r>
            <a:endParaRPr lang="en-AU" sz="6000" b="1" dirty="0"/>
          </a:p>
        </p:txBody>
      </p:sp>
      <p:sp>
        <p:nvSpPr>
          <p:cNvPr id="3" name="Content Placeholder 2"/>
          <p:cNvSpPr>
            <a:spLocks noGrp="1"/>
          </p:cNvSpPr>
          <p:nvPr>
            <p:ph idx="1"/>
          </p:nvPr>
        </p:nvSpPr>
        <p:spPr/>
        <p:txBody>
          <a:bodyPr>
            <a:normAutofit/>
          </a:bodyPr>
          <a:lstStyle/>
          <a:p>
            <a:pPr marL="0" indent="0">
              <a:buNone/>
            </a:pPr>
            <a:r>
              <a:rPr lang="en-AU" sz="3200" dirty="0"/>
              <a:t>Prevention of STIs comes with a two tiered approach: </a:t>
            </a:r>
          </a:p>
          <a:p>
            <a:r>
              <a:rPr lang="en-AU" sz="3200" dirty="0"/>
              <a:t>Change behaviour and education </a:t>
            </a:r>
          </a:p>
          <a:p>
            <a:r>
              <a:rPr lang="en-AU" sz="3200" dirty="0"/>
              <a:t>Increase use of barrier methods (e.g. Condoms) </a:t>
            </a:r>
          </a:p>
          <a:p>
            <a:endParaRPr lang="en-AU" sz="3200" dirty="0"/>
          </a:p>
        </p:txBody>
      </p:sp>
    </p:spTree>
    <p:extLst>
      <p:ext uri="{BB962C8B-B14F-4D97-AF65-F5344CB8AC3E}">
        <p14:creationId xmlns:p14="http://schemas.microsoft.com/office/powerpoint/2010/main" val="2946618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2148</Words>
  <Application>Microsoft Office PowerPoint</Application>
  <PresentationFormat>Widescreen</PresentationFormat>
  <Paragraphs>146</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Calibri Light</vt:lpstr>
      <vt:lpstr>Office Theme</vt:lpstr>
      <vt:lpstr>Community and Global Health </vt:lpstr>
      <vt:lpstr>PowerPoint Presentation</vt:lpstr>
      <vt:lpstr>Standards of Hygiene </vt:lpstr>
      <vt:lpstr>Hygienic Practices </vt:lpstr>
      <vt:lpstr>Mask wearing </vt:lpstr>
      <vt:lpstr>Protective Clothing </vt:lpstr>
      <vt:lpstr>Mechanical Barriers </vt:lpstr>
      <vt:lpstr>Sanitation of Water </vt:lpstr>
      <vt:lpstr>Sanitation of Water- Continued </vt:lpstr>
      <vt:lpstr>Sanitation of Water- Continued </vt:lpstr>
      <vt:lpstr>Sanitation of Water- Continued </vt:lpstr>
      <vt:lpstr>The Ongoing Problem </vt:lpstr>
      <vt:lpstr>Waste Treatment </vt:lpstr>
      <vt:lpstr>Waste Treatment- Continued </vt:lpstr>
      <vt:lpstr>Different Types of Waste </vt:lpstr>
      <vt:lpstr>Different Types of Waste- Continued </vt:lpstr>
      <vt:lpstr>Vector-borne diseases </vt:lpstr>
      <vt:lpstr>Vector-borne diseases continued. </vt:lpstr>
      <vt:lpstr>PowerPoint Presentation</vt:lpstr>
      <vt:lpstr>How to control vectors </vt:lpstr>
      <vt:lpstr>Basic Sanitation continued. </vt:lpstr>
      <vt:lpstr>Control- Physical Measures </vt:lpstr>
      <vt:lpstr>Control- Chemical methods </vt:lpstr>
      <vt:lpstr>Control- Biological Methods </vt:lpstr>
      <vt:lpstr>https://www.youtube.com/watch?v=2JWku3Kjpq0</vt:lpstr>
      <vt:lpstr>Travel Warnings </vt:lpstr>
      <vt:lpstr>Travel Warnings- Continued </vt:lpstr>
      <vt:lpstr>Travel Warnings- Continued </vt:lpstr>
      <vt:lpstr>Water or foodborne diseases </vt:lpstr>
      <vt:lpstr>Examples of water and foodborne diseases </vt:lpstr>
      <vt:lpstr>Transmission of disease movement </vt:lpstr>
      <vt:lpstr>Population density </vt:lpstr>
      <vt:lpstr>Population density continued. </vt:lpstr>
      <vt:lpstr>Population movement </vt:lpstr>
      <vt:lpstr>Social Behaviour </vt:lpstr>
      <vt:lpstr>Social Behaviour- continued </vt:lpstr>
      <vt:lpstr>https://www.youtube.com/watch?v=D28I2mwUOyQ</vt:lpstr>
      <vt:lpstr>The Spread and Persistence of STIs</vt:lpstr>
      <vt:lpstr>Prevention of STIs</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and Global Health</dc:title>
  <dc:creator>DOOMEN Lisa [Gilmore College]</dc:creator>
  <cp:lastModifiedBy>DOOMEN Lisa [Gilmore College]</cp:lastModifiedBy>
  <cp:revision>10</cp:revision>
  <dcterms:created xsi:type="dcterms:W3CDTF">2022-08-18T04:30:46Z</dcterms:created>
  <dcterms:modified xsi:type="dcterms:W3CDTF">2022-08-23T05:55:54Z</dcterms:modified>
</cp:coreProperties>
</file>
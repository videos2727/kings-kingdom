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9" r:id="rId4"/>
    <p:sldId id="271" r:id="rId5"/>
    <p:sldId id="258" r:id="rId6"/>
    <p:sldId id="259" r:id="rId7"/>
    <p:sldId id="272" r:id="rId8"/>
    <p:sldId id="273" r:id="rId9"/>
    <p:sldId id="260"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61" r:id="rId23"/>
    <p:sldId id="286" r:id="rId24"/>
    <p:sldId id="287" r:id="rId25"/>
    <p:sldId id="288" r:id="rId26"/>
    <p:sldId id="289" r:id="rId27"/>
    <p:sldId id="290" r:id="rId28"/>
    <p:sldId id="291" r:id="rId29"/>
    <p:sldId id="292" r:id="rId30"/>
    <p:sldId id="293" r:id="rId31"/>
    <p:sldId id="294" r:id="rId32"/>
    <p:sldId id="295" r:id="rId33"/>
    <p:sldId id="296" r:id="rId34"/>
    <p:sldId id="297" r:id="rId35"/>
    <p:sldId id="298" r:id="rId36"/>
    <p:sldId id="299" r:id="rId37"/>
    <p:sldId id="300" r:id="rId38"/>
    <p:sldId id="301" r:id="rId39"/>
    <p:sldId id="302" r:id="rId40"/>
    <p:sldId id="304" r:id="rId41"/>
    <p:sldId id="305" r:id="rId42"/>
    <p:sldId id="306" r:id="rId43"/>
    <p:sldId id="307" r:id="rId44"/>
    <p:sldId id="308" r:id="rId45"/>
    <p:sldId id="309" r:id="rId46"/>
    <p:sldId id="310" r:id="rId47"/>
    <p:sldId id="311" r:id="rId48"/>
    <p:sldId id="314" r:id="rId49"/>
    <p:sldId id="315" r:id="rId50"/>
    <p:sldId id="316" r:id="rId51"/>
    <p:sldId id="317" r:id="rId52"/>
    <p:sldId id="318" r:id="rId53"/>
    <p:sldId id="319" r:id="rId54"/>
    <p:sldId id="320" r:id="rId55"/>
    <p:sldId id="312" r:id="rId56"/>
    <p:sldId id="321" r:id="rId57"/>
    <p:sldId id="313" r:id="rId58"/>
    <p:sldId id="303" r:id="rId59"/>
    <p:sldId id="262" r:id="rId60"/>
    <p:sldId id="322" r:id="rId61"/>
    <p:sldId id="323" r:id="rId62"/>
    <p:sldId id="324" r:id="rId63"/>
    <p:sldId id="325" r:id="rId64"/>
    <p:sldId id="326" r:id="rId65"/>
    <p:sldId id="327" r:id="rId66"/>
    <p:sldId id="328" r:id="rId67"/>
    <p:sldId id="329" r:id="rId68"/>
    <p:sldId id="330" r:id="rId69"/>
    <p:sldId id="331" r:id="rId70"/>
    <p:sldId id="332" r:id="rId71"/>
    <p:sldId id="333" r:id="rId72"/>
    <p:sldId id="334" r:id="rId73"/>
    <p:sldId id="335" r:id="rId74"/>
    <p:sldId id="263" r:id="rId75"/>
    <p:sldId id="264" r:id="rId76"/>
    <p:sldId id="265" r:id="rId77"/>
    <p:sldId id="26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41" d="100"/>
          <a:sy n="41" d="100"/>
        </p:scale>
        <p:origin x="67" y="9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26/10/2022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26/10/2022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26/10/2022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26/10/2022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26/10/2022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26/10/2022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26/10/2022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26/10/2022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26/10/2022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26/10/2022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AU" sz="8000" b="1" dirty="0" smtClean="0"/>
              <a:t>Sexual Intercourse and Birth </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#19</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p:txBody>
          <a:bodyPr/>
          <a:lstStyle/>
          <a:p>
            <a:r>
              <a:rPr lang="en-AU" dirty="0" smtClean="0"/>
              <a:t>for </a:t>
            </a:r>
            <a:r>
              <a:rPr lang="en-AU" dirty="0"/>
              <a:t>the establishment of a pregnancy, conception requires the union of viable sperm and ovum at the optimal time in the ovarian </a:t>
            </a:r>
            <a:r>
              <a:rPr lang="en-AU" dirty="0" smtClean="0"/>
              <a:t>cycle</a:t>
            </a:r>
          </a:p>
          <a:p>
            <a:r>
              <a:rPr lang="en-AU" dirty="0"/>
              <a:t>the development of the embryo after implantation involves the differentiation of cells into three different germ layers that will eventually produce specific systems in the body and the </a:t>
            </a:r>
            <a:r>
              <a:rPr lang="en-AU" dirty="0" smtClean="0"/>
              <a:t>placenta</a:t>
            </a:r>
          </a:p>
          <a:p>
            <a:r>
              <a:rPr lang="en-AU" dirty="0"/>
              <a:t>the stages of labour include birth, during which there are circulatory system changes in the child</a:t>
            </a:r>
          </a:p>
          <a:p>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9185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describe the events that occur during sexual intercourse </a:t>
            </a:r>
          </a:p>
          <a:p>
            <a:r>
              <a:rPr lang="en-AU" dirty="0"/>
              <a:t>To describe the events that occur during fertilisation </a:t>
            </a:r>
          </a:p>
          <a:p>
            <a:r>
              <a:rPr lang="en-AU" dirty="0"/>
              <a:t>To explore the early embryonic development and implantation in the human body </a:t>
            </a:r>
            <a:endParaRPr lang="en-AU" dirty="0" smtClean="0"/>
          </a:p>
          <a:p>
            <a:r>
              <a:rPr lang="en-AU" dirty="0"/>
              <a:t>To distinguish between the primary germ layers in regards to their structure and function </a:t>
            </a:r>
          </a:p>
          <a:p>
            <a:r>
              <a:rPr lang="en-AU" dirty="0"/>
              <a:t>To describe the development of the placenta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997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explore the stages and developments that occur during pregnancy </a:t>
            </a:r>
            <a:endParaRPr lang="en-AU" dirty="0" smtClean="0"/>
          </a:p>
          <a:p>
            <a:r>
              <a:rPr lang="en-AU" dirty="0"/>
              <a:t>To explain the events that occur during the stages of labour </a:t>
            </a:r>
            <a:endParaRPr lang="en-AU" dirty="0" smtClean="0"/>
          </a:p>
          <a:p>
            <a:r>
              <a:rPr lang="en-AU" dirty="0"/>
              <a:t>To discuss the health and changes of baby and mother during and after pregnancy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a:t>describe the events that occur during sexual intercourse </a:t>
            </a:r>
          </a:p>
          <a:p>
            <a:r>
              <a:rPr lang="en-AU" dirty="0"/>
              <a:t>describe the pathway taken by sperm during sexual intercourse </a:t>
            </a:r>
          </a:p>
          <a:p>
            <a:r>
              <a:rPr lang="en-AU" dirty="0"/>
              <a:t>describe the structure of a secondary oocyte </a:t>
            </a:r>
          </a:p>
          <a:p>
            <a:r>
              <a:rPr lang="en-AU" dirty="0"/>
              <a:t>describe the events that occur during fertilisation </a:t>
            </a:r>
          </a:p>
          <a:p>
            <a:r>
              <a:rPr lang="en-AU" dirty="0"/>
              <a:t>describe the process of blastocyst formation </a:t>
            </a:r>
          </a:p>
          <a:p>
            <a:r>
              <a:rPr lang="en-AU" dirty="0"/>
              <a:t>describe the process of implantation </a:t>
            </a:r>
          </a:p>
          <a:p>
            <a:r>
              <a:rPr lang="en-AU" dirty="0"/>
              <a:t>describe the process of hormone production </a:t>
            </a:r>
          </a:p>
          <a:p>
            <a:r>
              <a:rPr lang="en-AU" dirty="0"/>
              <a:t>describe the process of cell differentiation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a:t>recall the structures formed by the three primary germ layers </a:t>
            </a:r>
          </a:p>
          <a:p>
            <a:r>
              <a:rPr lang="en-AU" dirty="0"/>
              <a:t>differentiate between the primary germ layers </a:t>
            </a:r>
          </a:p>
          <a:p>
            <a:r>
              <a:rPr lang="en-AU" dirty="0"/>
              <a:t>describe the development of the placenta </a:t>
            </a:r>
          </a:p>
          <a:p>
            <a:r>
              <a:rPr lang="en-AU" dirty="0"/>
              <a:t>describe the changes from embryo to foetus </a:t>
            </a:r>
          </a:p>
          <a:p>
            <a:r>
              <a:rPr lang="en-AU" dirty="0"/>
              <a:t>describe the changes during foetal development </a:t>
            </a:r>
          </a:p>
          <a:p>
            <a:r>
              <a:rPr lang="en-AU" dirty="0"/>
              <a:t>summarise the main stages of foetal development </a:t>
            </a:r>
          </a:p>
          <a:p>
            <a:r>
              <a:rPr lang="en-AU" dirty="0"/>
              <a:t>summarise the changes the pregnant mothers body undergoes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09905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a:t>describe the events prior to labour </a:t>
            </a:r>
          </a:p>
          <a:p>
            <a:r>
              <a:rPr lang="en-AU" dirty="0"/>
              <a:t>describe the events that occur during the three stages of labour </a:t>
            </a:r>
          </a:p>
          <a:p>
            <a:r>
              <a:rPr lang="en-AU" dirty="0"/>
              <a:t>describe the changes in the baby at birth </a:t>
            </a:r>
          </a:p>
          <a:p>
            <a:r>
              <a:rPr lang="en-AU" dirty="0"/>
              <a:t>describe the changes to the mother after birth </a:t>
            </a:r>
          </a:p>
          <a:p>
            <a:r>
              <a:rPr lang="en-AU" dirty="0"/>
              <a:t>explain actions that help to maintain a healthy pregnancy </a:t>
            </a:r>
          </a:p>
          <a:p>
            <a:r>
              <a:rPr lang="en-AU" dirty="0"/>
              <a:t>explain actions that can harm a pregnancy and foetal development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5367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09303" y="1611086"/>
            <a:ext cx="11486606" cy="4946467"/>
          </a:xfrm>
        </p:spPr>
        <p:txBody>
          <a:bodyPr>
            <a:normAutofit/>
          </a:bodyPr>
          <a:lstStyle/>
          <a:p>
            <a:r>
              <a:rPr lang="en-AU" sz="3200" b="1" dirty="0"/>
              <a:t>Sexual intercourse</a:t>
            </a:r>
            <a:r>
              <a:rPr lang="en-AU" sz="3200" dirty="0"/>
              <a:t>: the sex act during which gametes are passed from the male to the </a:t>
            </a:r>
            <a:r>
              <a:rPr lang="en-AU" sz="3200" dirty="0" smtClean="0"/>
              <a:t>female</a:t>
            </a:r>
          </a:p>
          <a:p>
            <a:endParaRPr lang="en-AU" sz="2000" dirty="0"/>
          </a:p>
          <a:p>
            <a:r>
              <a:rPr lang="en-AU" sz="3200" b="1" dirty="0"/>
              <a:t>Erection</a:t>
            </a:r>
            <a:r>
              <a:rPr lang="en-AU" sz="3200" dirty="0"/>
              <a:t>: the penis in a state of sexual excitation </a:t>
            </a:r>
            <a:endParaRPr lang="en-AU" sz="3200" dirty="0" smtClean="0"/>
          </a:p>
          <a:p>
            <a:endParaRPr lang="en-AU" sz="2000" dirty="0"/>
          </a:p>
          <a:p>
            <a:r>
              <a:rPr lang="en-AU" sz="3200" b="1" dirty="0"/>
              <a:t>Ejaculation</a:t>
            </a:r>
            <a:r>
              <a:rPr lang="en-AU" sz="3200" dirty="0"/>
              <a:t>: muscular contractions that propel semen from the penis </a:t>
            </a:r>
            <a:endParaRPr lang="en-AU" sz="3200" dirty="0" smtClean="0"/>
          </a:p>
          <a:p>
            <a:endParaRPr lang="en-AU" sz="2000" dirty="0"/>
          </a:p>
          <a:p>
            <a:r>
              <a:rPr lang="en-AU" sz="3200" b="1" dirty="0"/>
              <a:t>Semen</a:t>
            </a:r>
            <a:r>
              <a:rPr lang="en-AU" sz="3200" dirty="0"/>
              <a:t>: the liquid that nourishes and aids the transport of sperm; also called seminal fluid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619794"/>
            <a:ext cx="10515600" cy="4557169"/>
          </a:xfrm>
        </p:spPr>
        <p:txBody>
          <a:bodyPr>
            <a:normAutofit/>
          </a:bodyPr>
          <a:lstStyle/>
          <a:p>
            <a:r>
              <a:rPr lang="en-AU" sz="3200" b="1" dirty="0"/>
              <a:t>Orgasm</a:t>
            </a:r>
            <a:r>
              <a:rPr lang="en-AU" sz="3200" dirty="0"/>
              <a:t>: the climax of sexual intercourse </a:t>
            </a:r>
            <a:endParaRPr lang="en-AU" sz="3200" dirty="0" smtClean="0"/>
          </a:p>
          <a:p>
            <a:endParaRPr lang="en-AU" sz="3200" dirty="0"/>
          </a:p>
          <a:p>
            <a:r>
              <a:rPr lang="en-AU" sz="3200" b="1" dirty="0"/>
              <a:t>Insemination</a:t>
            </a:r>
            <a:r>
              <a:rPr lang="en-AU" sz="3200" dirty="0"/>
              <a:t>: the deposition of sperm within the vagina </a:t>
            </a:r>
            <a:endParaRPr lang="en-AU" sz="3200" dirty="0" smtClean="0"/>
          </a:p>
          <a:p>
            <a:endParaRPr lang="en-AU" sz="3200" dirty="0"/>
          </a:p>
          <a:p>
            <a:r>
              <a:rPr lang="en-AU" sz="3200" b="1" dirty="0"/>
              <a:t>Sperm mortality</a:t>
            </a:r>
            <a:r>
              <a:rPr lang="en-AU" sz="3200" dirty="0"/>
              <a:t>: the death rate of sperm </a:t>
            </a:r>
            <a:endParaRPr lang="en-AU" sz="3200" dirty="0" smtClean="0"/>
          </a:p>
          <a:p>
            <a:endParaRPr lang="en-AU" sz="3200" dirty="0"/>
          </a:p>
          <a:p>
            <a:r>
              <a:rPr lang="en-AU" sz="3200" b="1" dirty="0"/>
              <a:t>Corona radiata</a:t>
            </a:r>
            <a:r>
              <a:rPr lang="en-AU" sz="3200" dirty="0"/>
              <a:t>: the innermost layer of cells surrounding the egg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2266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30926" y="1825625"/>
            <a:ext cx="11408228" cy="4618718"/>
          </a:xfrm>
        </p:spPr>
        <p:txBody>
          <a:bodyPr>
            <a:normAutofit/>
          </a:bodyPr>
          <a:lstStyle/>
          <a:p>
            <a:r>
              <a:rPr lang="en-AU" sz="3200" b="1" dirty="0"/>
              <a:t>Zona pellucida</a:t>
            </a:r>
            <a:r>
              <a:rPr lang="en-AU" sz="3200" dirty="0"/>
              <a:t>: the thick glycoprotein membrane surrounding the plasma membrane of the ovum </a:t>
            </a:r>
            <a:endParaRPr lang="en-AU" sz="3200" dirty="0" smtClean="0"/>
          </a:p>
          <a:p>
            <a:endParaRPr lang="en-AU" sz="3200" dirty="0"/>
          </a:p>
          <a:p>
            <a:r>
              <a:rPr lang="en-AU" sz="3200" b="1" dirty="0"/>
              <a:t>Acrosomal reaction</a:t>
            </a:r>
            <a:r>
              <a:rPr lang="en-AU" sz="3200" dirty="0"/>
              <a:t>: the release of enzymes from the acrosome when the spermatozoa fuse with the ovum </a:t>
            </a:r>
            <a:endParaRPr lang="en-AU" sz="3200" dirty="0" smtClean="0"/>
          </a:p>
          <a:p>
            <a:endParaRPr lang="en-AU" sz="3200" dirty="0"/>
          </a:p>
          <a:p>
            <a:r>
              <a:rPr lang="en-AU" sz="3200" b="1" dirty="0"/>
              <a:t>Pronucleus</a:t>
            </a:r>
            <a:r>
              <a:rPr lang="en-AU" sz="3200" dirty="0"/>
              <a:t>: the nucleus of the ovum (female pronucleus) and of the sperm (male pronucleus) that fuse at fertilisation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9944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a:bodyPr>
          <a:lstStyle/>
          <a:p>
            <a:r>
              <a:rPr lang="en-AU" sz="3200" b="1" dirty="0"/>
              <a:t>Zygote</a:t>
            </a:r>
            <a:r>
              <a:rPr lang="en-AU" sz="3200" dirty="0"/>
              <a:t>: the fertilised ovum from which a new individual develops </a:t>
            </a:r>
            <a:endParaRPr lang="en-AU" sz="3200" dirty="0" smtClean="0"/>
          </a:p>
          <a:p>
            <a:endParaRPr lang="en-AU" sz="3200" dirty="0"/>
          </a:p>
          <a:p>
            <a:r>
              <a:rPr lang="en-AU" sz="3200" b="1" dirty="0"/>
              <a:t>Blastocyst</a:t>
            </a:r>
            <a:r>
              <a:rPr lang="en-AU" sz="3200" dirty="0"/>
              <a:t>: a hollow ball of cells formed during early embryonic development </a:t>
            </a:r>
            <a:endParaRPr lang="en-AU" sz="3200" dirty="0" smtClean="0"/>
          </a:p>
          <a:p>
            <a:endParaRPr lang="en-AU" sz="3200" dirty="0"/>
          </a:p>
          <a:p>
            <a:r>
              <a:rPr lang="en-AU" sz="3200" b="1" dirty="0"/>
              <a:t>Embryoblast</a:t>
            </a:r>
            <a:r>
              <a:rPr lang="en-AU" sz="3200" dirty="0"/>
              <a:t>: the group of cells in the blastocyst that develop into the embryo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9213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87383" y="1524000"/>
            <a:ext cx="11643360" cy="5068389"/>
          </a:xfrm>
        </p:spPr>
        <p:txBody>
          <a:bodyPr>
            <a:normAutofit/>
          </a:bodyPr>
          <a:lstStyle/>
          <a:p>
            <a:r>
              <a:rPr lang="en-AU" sz="3200" b="1" dirty="0"/>
              <a:t>Embryo</a:t>
            </a:r>
            <a:r>
              <a:rPr lang="en-AU" sz="3200" dirty="0"/>
              <a:t>: the early stage of development of an organism; in humans, from fertilisation to the end of the eighth week of pregnancy </a:t>
            </a:r>
            <a:endParaRPr lang="en-AU" sz="3200" dirty="0" smtClean="0"/>
          </a:p>
          <a:p>
            <a:endParaRPr lang="en-AU" sz="2000" dirty="0"/>
          </a:p>
          <a:p>
            <a:r>
              <a:rPr lang="en-AU" sz="3200" b="1" dirty="0"/>
              <a:t>Implantation</a:t>
            </a:r>
            <a:r>
              <a:rPr lang="en-AU" sz="3200" dirty="0"/>
              <a:t>: the process whereby an embryo sinks into the lining of the uterus </a:t>
            </a:r>
            <a:endParaRPr lang="en-AU" sz="3200" dirty="0" smtClean="0"/>
          </a:p>
          <a:p>
            <a:endParaRPr lang="en-AU" sz="2000" dirty="0"/>
          </a:p>
          <a:p>
            <a:r>
              <a:rPr lang="en-AU" sz="3200" b="1" dirty="0"/>
              <a:t>Foetus: </a:t>
            </a:r>
            <a:r>
              <a:rPr lang="en-AU" sz="3200" dirty="0"/>
              <a:t>the developing individual after the second month of pregnancy </a:t>
            </a:r>
            <a:endParaRPr lang="en-AU" sz="3200" dirty="0" smtClean="0"/>
          </a:p>
          <a:p>
            <a:endParaRPr lang="en-AU" sz="2000" dirty="0"/>
          </a:p>
          <a:p>
            <a:r>
              <a:rPr lang="en-AU" sz="3200" b="1" dirty="0"/>
              <a:t>Proliferation</a:t>
            </a:r>
            <a:r>
              <a:rPr lang="en-AU" sz="3200" dirty="0"/>
              <a:t>: the process by which cells replicate themselves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0919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38200" y="1825625"/>
            <a:ext cx="10515600" cy="4644844"/>
          </a:xfrm>
        </p:spPr>
        <p:txBody>
          <a:bodyPr>
            <a:normAutofit/>
          </a:bodyPr>
          <a:lstStyle/>
          <a:p>
            <a:r>
              <a:rPr lang="en-AU" sz="3200" b="1" dirty="0"/>
              <a:t>Gene</a:t>
            </a:r>
            <a:r>
              <a:rPr lang="en-AU" sz="3200" dirty="0"/>
              <a:t>: the factor that determines a hereditary characteristic; part of a chromosome </a:t>
            </a:r>
            <a:endParaRPr lang="en-AU" sz="3200" dirty="0" smtClean="0"/>
          </a:p>
          <a:p>
            <a:endParaRPr lang="en-AU" sz="3200" dirty="0" smtClean="0"/>
          </a:p>
          <a:p>
            <a:r>
              <a:rPr lang="en-AU" sz="3200" b="1" dirty="0"/>
              <a:t>Ectoderm</a:t>
            </a:r>
            <a:r>
              <a:rPr lang="en-AU" sz="3200" dirty="0"/>
              <a:t>: the outer tissue layer of the embryo; it gives rise to the outer covering of the body </a:t>
            </a:r>
            <a:endParaRPr lang="en-AU" sz="3200" dirty="0" smtClean="0"/>
          </a:p>
          <a:p>
            <a:endParaRPr lang="en-AU" sz="3200" dirty="0"/>
          </a:p>
          <a:p>
            <a:r>
              <a:rPr lang="en-AU" sz="3200" b="1" dirty="0"/>
              <a:t>Mesoderm</a:t>
            </a:r>
            <a:r>
              <a:rPr lang="en-AU" sz="3200" dirty="0"/>
              <a:t>: the middle tissue layer of an embryo; it gives rise to the muscles, connective tissues and the alimentary canal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4825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22217" y="1915885"/>
            <a:ext cx="11530149" cy="4746171"/>
          </a:xfrm>
        </p:spPr>
        <p:txBody>
          <a:bodyPr>
            <a:normAutofit/>
          </a:bodyPr>
          <a:lstStyle/>
          <a:p>
            <a:r>
              <a:rPr lang="en-AU" sz="3200" b="1" dirty="0"/>
              <a:t>Endoderm</a:t>
            </a:r>
            <a:r>
              <a:rPr lang="en-AU" sz="3200" dirty="0"/>
              <a:t>: the inner tissue layer of the embryo; it gives rise to the lining of the digestive tract and the glands associated with it, as well as to the respiratory tract and parts of the excretory and reproductive systems. </a:t>
            </a:r>
            <a:endParaRPr lang="en-AU" sz="3200" dirty="0" smtClean="0"/>
          </a:p>
          <a:p>
            <a:endParaRPr lang="en-AU" sz="3200" dirty="0"/>
          </a:p>
          <a:p>
            <a:r>
              <a:rPr lang="en-AU" sz="3200" b="1" dirty="0"/>
              <a:t>Amniotic fluid</a:t>
            </a:r>
            <a:r>
              <a:rPr lang="en-AU" sz="3200" dirty="0"/>
              <a:t>: the fluid contained within the amnion; it protects the embryo against injury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0047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339634" y="1825625"/>
            <a:ext cx="11573692" cy="4775472"/>
          </a:xfrm>
        </p:spPr>
        <p:txBody>
          <a:bodyPr>
            <a:normAutofit/>
          </a:bodyPr>
          <a:lstStyle/>
          <a:p>
            <a:r>
              <a:rPr lang="en-AU" sz="3200" b="1" dirty="0"/>
              <a:t>Amnion</a:t>
            </a:r>
            <a:r>
              <a:rPr lang="en-AU" sz="3200" dirty="0"/>
              <a:t>: the membrane that forms a cavity around the embryo; it secretes a fluid (amniotic fluid) into the cavity to protect the </a:t>
            </a:r>
            <a:r>
              <a:rPr lang="en-AU" sz="3200" dirty="0" smtClean="0"/>
              <a:t>embryo</a:t>
            </a:r>
          </a:p>
          <a:p>
            <a:endParaRPr lang="en-AU" sz="2000" dirty="0" smtClean="0"/>
          </a:p>
          <a:p>
            <a:r>
              <a:rPr lang="en-AU" sz="3200" b="1" dirty="0" smtClean="0"/>
              <a:t>Chorion</a:t>
            </a:r>
            <a:r>
              <a:rPr lang="en-AU" sz="3200" dirty="0"/>
              <a:t>: one of the embryonic membranes that eventually forms part of the placenta </a:t>
            </a:r>
            <a:endParaRPr lang="en-AU" sz="3200" dirty="0" smtClean="0"/>
          </a:p>
          <a:p>
            <a:endParaRPr lang="en-AU" sz="2000" dirty="0"/>
          </a:p>
          <a:p>
            <a:r>
              <a:rPr lang="en-AU" sz="3200" b="1" dirty="0"/>
              <a:t>Placenta</a:t>
            </a:r>
            <a:r>
              <a:rPr lang="en-AU" sz="3200" dirty="0"/>
              <a:t>: the organ that supplies nutrients to, and removes wastes from, the foetus; it also produces a number of hormones, including oestrogen and progesterone </a:t>
            </a:r>
          </a:p>
          <a:p>
            <a:endParaRPr lang="en-AU" sz="3200" dirty="0"/>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867430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78674" y="1628503"/>
            <a:ext cx="11460480" cy="4972594"/>
          </a:xfrm>
        </p:spPr>
        <p:txBody>
          <a:bodyPr/>
          <a:lstStyle/>
          <a:p>
            <a:r>
              <a:rPr lang="en-AU" sz="3200" b="1" dirty="0"/>
              <a:t>Chorionic villi</a:t>
            </a:r>
            <a:r>
              <a:rPr lang="en-AU" sz="3200" dirty="0"/>
              <a:t>: finger-like projections that develop from the outer layer of cells of the early embryo, they grow to form part of the placenta </a:t>
            </a:r>
            <a:endParaRPr lang="en-AU" sz="3200" dirty="0" smtClean="0"/>
          </a:p>
          <a:p>
            <a:endParaRPr lang="en-AU" sz="3200" dirty="0"/>
          </a:p>
          <a:p>
            <a:r>
              <a:rPr lang="en-AU" sz="3200" b="1" dirty="0"/>
              <a:t>Umbilical cord</a:t>
            </a:r>
            <a:r>
              <a:rPr lang="en-AU" sz="3200" dirty="0"/>
              <a:t>: the cord that attaches the foetus to the </a:t>
            </a:r>
            <a:r>
              <a:rPr lang="en-AU" sz="3200" dirty="0" smtClean="0"/>
              <a:t>placenta</a:t>
            </a:r>
          </a:p>
          <a:p>
            <a:endParaRPr lang="en-AU" sz="3200" dirty="0"/>
          </a:p>
          <a:p>
            <a:r>
              <a:rPr lang="en-AU" sz="3200" b="1" dirty="0"/>
              <a:t>Umbilical vein</a:t>
            </a:r>
            <a:r>
              <a:rPr lang="en-AU" sz="3200" dirty="0"/>
              <a:t>: a single vein within the umbilical cord that carries blood from the placenta to the foetus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30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35429" y="1825624"/>
            <a:ext cx="11338560" cy="4731929"/>
          </a:xfrm>
        </p:spPr>
        <p:txBody>
          <a:bodyPr>
            <a:normAutofit/>
          </a:bodyPr>
          <a:lstStyle/>
          <a:p>
            <a:r>
              <a:rPr lang="en-AU" sz="3200" b="1" dirty="0"/>
              <a:t>Umbilical arteries</a:t>
            </a:r>
            <a:r>
              <a:rPr lang="en-AU" sz="3200" dirty="0"/>
              <a:t>: two arteries within the umbilical cord </a:t>
            </a:r>
            <a:endParaRPr lang="en-AU" sz="3200" dirty="0" smtClean="0"/>
          </a:p>
          <a:p>
            <a:endParaRPr lang="en-AU" sz="2000" dirty="0" smtClean="0"/>
          </a:p>
          <a:p>
            <a:r>
              <a:rPr lang="en-AU" sz="3200" b="1" dirty="0"/>
              <a:t>Gestation</a:t>
            </a:r>
            <a:r>
              <a:rPr lang="en-AU" sz="3200" dirty="0"/>
              <a:t>: the period of development of an organism in the uterus; the time between conception and birth </a:t>
            </a:r>
            <a:endParaRPr lang="en-AU" sz="3200" dirty="0" smtClean="0"/>
          </a:p>
          <a:p>
            <a:endParaRPr lang="en-AU" sz="2000" dirty="0" smtClean="0"/>
          </a:p>
          <a:p>
            <a:r>
              <a:rPr lang="en-AU" sz="3200" b="1" dirty="0"/>
              <a:t>Parturition</a:t>
            </a:r>
            <a:r>
              <a:rPr lang="en-AU" sz="3200" dirty="0"/>
              <a:t>: the process of birth </a:t>
            </a:r>
            <a:endParaRPr lang="en-AU" sz="3200" dirty="0" smtClean="0"/>
          </a:p>
          <a:p>
            <a:endParaRPr lang="en-AU" sz="2000" dirty="0"/>
          </a:p>
          <a:p>
            <a:r>
              <a:rPr lang="en-AU" sz="3200" b="1" dirty="0"/>
              <a:t>Labour</a:t>
            </a:r>
            <a:r>
              <a:rPr lang="en-AU" sz="3200" dirty="0"/>
              <a:t>: the sequence of events that precede birth and result in the expulsion of the foetus through the vagina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361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816428" y="1616618"/>
            <a:ext cx="10515600" cy="4853849"/>
          </a:xfrm>
        </p:spPr>
        <p:txBody>
          <a:bodyPr>
            <a:noAutofit/>
          </a:bodyPr>
          <a:lstStyle/>
          <a:p>
            <a:r>
              <a:rPr lang="en-AU" sz="3200" b="1" dirty="0"/>
              <a:t>Birth canal</a:t>
            </a:r>
            <a:r>
              <a:rPr lang="en-AU" sz="3200" dirty="0"/>
              <a:t>: the passage formed by the uterus, he dilated cervix and the vagina, through which the foetus travels at </a:t>
            </a:r>
            <a:r>
              <a:rPr lang="en-AU" sz="3200" dirty="0" smtClean="0"/>
              <a:t>birth</a:t>
            </a:r>
          </a:p>
          <a:p>
            <a:endParaRPr lang="en-AU" sz="3200" dirty="0"/>
          </a:p>
          <a:p>
            <a:r>
              <a:rPr lang="en-AU" sz="3200" b="1" dirty="0"/>
              <a:t>Stage of expulsion</a:t>
            </a:r>
            <a:r>
              <a:rPr lang="en-AU" sz="3200" dirty="0"/>
              <a:t>: the second stage of labour, from full dilation of the cervix to birth </a:t>
            </a:r>
            <a:endParaRPr lang="en-AU" sz="3200" dirty="0" smtClean="0"/>
          </a:p>
          <a:p>
            <a:endParaRPr lang="en-AU" sz="3200" dirty="0"/>
          </a:p>
          <a:p>
            <a:r>
              <a:rPr lang="en-AU" sz="3200" b="1" dirty="0"/>
              <a:t>Umbilicus</a:t>
            </a:r>
            <a:r>
              <a:rPr lang="en-AU" sz="3200" dirty="0"/>
              <a:t>: the small scar on the abdomen that makes the former attachment of the umbilical cord to the foetus; commonly called the navel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49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61257" y="1825625"/>
            <a:ext cx="11634652" cy="4775472"/>
          </a:xfrm>
        </p:spPr>
        <p:txBody>
          <a:bodyPr>
            <a:normAutofit/>
          </a:bodyPr>
          <a:lstStyle/>
          <a:p>
            <a:r>
              <a:rPr lang="en-AU" sz="3200" b="1" dirty="0"/>
              <a:t>Afterbirth</a:t>
            </a:r>
            <a:r>
              <a:rPr lang="en-AU" sz="3200" dirty="0"/>
              <a:t>: the placenta, and the remains of the umbilical cord, amnion and chorion; it is expelled shortly after the birth of a </a:t>
            </a:r>
            <a:r>
              <a:rPr lang="en-AU" sz="3200" dirty="0" smtClean="0"/>
              <a:t>baby</a:t>
            </a:r>
          </a:p>
          <a:p>
            <a:pPr marL="0" indent="0">
              <a:buNone/>
            </a:pPr>
            <a:r>
              <a:rPr lang="en-AU" sz="3200" dirty="0" smtClean="0"/>
              <a:t> </a:t>
            </a:r>
          </a:p>
          <a:p>
            <a:r>
              <a:rPr lang="en-AU" sz="3200" b="1" dirty="0"/>
              <a:t>Ductus venosus</a:t>
            </a:r>
            <a:r>
              <a:rPr lang="en-AU" sz="3200" dirty="0"/>
              <a:t>: the foetal blood vessel that enables blood to bypass the liver. </a:t>
            </a:r>
            <a:endParaRPr lang="en-AU" sz="3200" dirty="0" smtClean="0"/>
          </a:p>
          <a:p>
            <a:endParaRPr lang="en-AU" sz="3200" dirty="0"/>
          </a:p>
          <a:p>
            <a:r>
              <a:rPr lang="en-AU" sz="3200" b="1" dirty="0"/>
              <a:t>Ductus arteriosus</a:t>
            </a:r>
            <a:r>
              <a:rPr lang="en-AU" sz="3200" dirty="0"/>
              <a:t>: the foetal blood vessel that enables blood in the pulmonary artery to bypass the lungs and flow directly into the aorta</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82278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sz="3200" b="1" dirty="0"/>
              <a:t>Foramen ovale</a:t>
            </a:r>
            <a:r>
              <a:rPr lang="en-AU" sz="3200" dirty="0"/>
              <a:t>: an opening between the atria of the foetal heart; it allows blood to flow directly from the right atrium into the left atrium </a:t>
            </a:r>
            <a:endParaRPr lang="en-AU" sz="3200" dirty="0" smtClean="0"/>
          </a:p>
          <a:p>
            <a:endParaRPr lang="en-AU" sz="3200" dirty="0"/>
          </a:p>
          <a:p>
            <a:r>
              <a:rPr lang="en-AU" sz="3200" b="1" dirty="0"/>
              <a:t>Teratogen</a:t>
            </a:r>
            <a:r>
              <a:rPr lang="en-AU" sz="3200" dirty="0"/>
              <a:t>: an agent that causes physical defects in a developing foetus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1969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Sexual Intercourse </a:t>
            </a:r>
            <a:endParaRPr lang="en-AU" sz="6000" b="1" dirty="0"/>
          </a:p>
        </p:txBody>
      </p:sp>
      <p:sp>
        <p:nvSpPr>
          <p:cNvPr id="3" name="Content Placeholder 2"/>
          <p:cNvSpPr>
            <a:spLocks noGrp="1"/>
          </p:cNvSpPr>
          <p:nvPr>
            <p:ph idx="1"/>
          </p:nvPr>
        </p:nvSpPr>
        <p:spPr/>
        <p:txBody>
          <a:bodyPr>
            <a:normAutofit/>
          </a:bodyPr>
          <a:lstStyle/>
          <a:p>
            <a:r>
              <a:rPr lang="en-AU" sz="3200" dirty="0" smtClean="0"/>
              <a:t>Sperm is deposited into the vagina by an erect penis. </a:t>
            </a:r>
          </a:p>
          <a:p>
            <a:endParaRPr lang="en-AU" sz="3200" dirty="0"/>
          </a:p>
          <a:p>
            <a:r>
              <a:rPr lang="en-AU" sz="3200" dirty="0" smtClean="0"/>
              <a:t>Ejaculation propels semen containing sperm into the vagina during an orgasm. Usually the ejaculation contains 250-300 million sperm. </a:t>
            </a:r>
          </a:p>
          <a:p>
            <a:endParaRPr lang="en-AU" sz="3200" dirty="0"/>
          </a:p>
          <a:p>
            <a:r>
              <a:rPr lang="en-AU" sz="3200" dirty="0" smtClean="0"/>
              <a:t>A female climax increases the secretion of cervical mucus and muscle contractions.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75031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Fertilisation </a:t>
            </a:r>
            <a:endParaRPr lang="en-AU" sz="6000" b="1" dirty="0"/>
          </a:p>
        </p:txBody>
      </p:sp>
      <p:sp>
        <p:nvSpPr>
          <p:cNvPr id="3" name="Content Placeholder 2"/>
          <p:cNvSpPr>
            <a:spLocks noGrp="1"/>
          </p:cNvSpPr>
          <p:nvPr>
            <p:ph idx="1"/>
          </p:nvPr>
        </p:nvSpPr>
        <p:spPr/>
        <p:txBody>
          <a:bodyPr>
            <a:normAutofit/>
          </a:bodyPr>
          <a:lstStyle/>
          <a:p>
            <a:r>
              <a:rPr lang="en-AU" sz="3200" dirty="0" smtClean="0"/>
              <a:t>When the male ejaculates, the sperm are released in the vagina in a process called insemination. </a:t>
            </a:r>
          </a:p>
          <a:p>
            <a:endParaRPr lang="en-AU" sz="3200" dirty="0"/>
          </a:p>
          <a:p>
            <a:r>
              <a:rPr lang="en-AU" sz="3200" dirty="0" smtClean="0"/>
              <a:t>The sperm reach the upper portions of the uterine tube in minutes, due to help from muscular contractions from the female.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82976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Sperm Death </a:t>
            </a:r>
            <a:endParaRPr lang="en-AU" sz="6000" b="1" dirty="0"/>
          </a:p>
        </p:txBody>
      </p:sp>
      <p:sp>
        <p:nvSpPr>
          <p:cNvPr id="3" name="Content Placeholder 2"/>
          <p:cNvSpPr>
            <a:spLocks noGrp="1"/>
          </p:cNvSpPr>
          <p:nvPr>
            <p:ph idx="1"/>
          </p:nvPr>
        </p:nvSpPr>
        <p:spPr/>
        <p:txBody>
          <a:bodyPr>
            <a:normAutofit/>
          </a:bodyPr>
          <a:lstStyle/>
          <a:p>
            <a:r>
              <a:rPr lang="en-AU" sz="3200" dirty="0" smtClean="0"/>
              <a:t>Of the hundreds of millions of sperm deposited into the vagina, only a few thousand will reach the uterine tube. </a:t>
            </a:r>
          </a:p>
          <a:p>
            <a:endParaRPr lang="en-AU" sz="3200" dirty="0"/>
          </a:p>
          <a:p>
            <a:r>
              <a:rPr lang="en-AU" sz="3200" dirty="0" smtClean="0"/>
              <a:t>The death of sperm is called sperm mortality and is usually very high. </a:t>
            </a:r>
          </a:p>
          <a:p>
            <a:pPr marL="0" indent="0">
              <a:buNone/>
            </a:pPr>
            <a:endParaRPr lang="en-AU" sz="3200" dirty="0" smtClean="0"/>
          </a:p>
          <a:p>
            <a:r>
              <a:rPr lang="en-AU" sz="3200" dirty="0" smtClean="0"/>
              <a:t>THE GREAT SPERM RACE!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7273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Fertilisation </a:t>
            </a:r>
            <a:endParaRPr lang="en-AU" sz="6000" b="1" dirty="0"/>
          </a:p>
        </p:txBody>
      </p:sp>
      <p:sp>
        <p:nvSpPr>
          <p:cNvPr id="3" name="Content Placeholder 2"/>
          <p:cNvSpPr>
            <a:spLocks noGrp="1"/>
          </p:cNvSpPr>
          <p:nvPr>
            <p:ph idx="1"/>
          </p:nvPr>
        </p:nvSpPr>
        <p:spPr/>
        <p:txBody>
          <a:bodyPr>
            <a:normAutofit/>
          </a:bodyPr>
          <a:lstStyle/>
          <a:p>
            <a:r>
              <a:rPr lang="en-AU" sz="3200" dirty="0" smtClean="0"/>
              <a:t>Fertilisation occurs in the uterine tube. </a:t>
            </a:r>
          </a:p>
          <a:p>
            <a:endParaRPr lang="en-AU" sz="3200" dirty="0"/>
          </a:p>
          <a:p>
            <a:r>
              <a:rPr lang="en-AU" sz="3200" dirty="0" smtClean="0"/>
              <a:t>The secondary oocyte that is released at ovulation is at metaphase II. It is surrounded by the outer corona radiata (consists of follicle cells held together by cementing materials that contain acid) and the inner zona pellucida (a glycoprotein matrix surrounding the plasma membrane of the oocyte)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6373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Fertilisation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Once the sperm is through the corona radiata, it encounters the zona pellucida. This causes digestive enzymes to be released, breaking down the glycoprotein matrix, giving the sperm access to the plasma membrane. </a:t>
            </a:r>
          </a:p>
          <a:p>
            <a:endParaRPr lang="en-AU" sz="3200" dirty="0"/>
          </a:p>
          <a:p>
            <a:r>
              <a:rPr lang="en-AU" sz="3200" dirty="0" smtClean="0"/>
              <a:t>When the plasma membranes of the oocyte and spermatozoa fuse, the nucleus of the sperm enters the ovum.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48786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Fertilisation continued. </a:t>
            </a:r>
            <a:endParaRPr lang="en-AU" sz="6000" b="1" dirty="0"/>
          </a:p>
        </p:txBody>
      </p:sp>
      <p:sp>
        <p:nvSpPr>
          <p:cNvPr id="3" name="Content Placeholder 2"/>
          <p:cNvSpPr>
            <a:spLocks noGrp="1"/>
          </p:cNvSpPr>
          <p:nvPr>
            <p:ph idx="1"/>
          </p:nvPr>
        </p:nvSpPr>
        <p:spPr/>
        <p:txBody>
          <a:bodyPr/>
          <a:lstStyle/>
          <a:p>
            <a:r>
              <a:rPr lang="en-AU" dirty="0" smtClean="0"/>
              <a:t>The entrance of one sperm into the secondary oocyte stimulates the formation of a fertilisation membrane around the oocyte, which prevents the entrance of any more sperm. This ensures that only one haploid set of chromosomes joins the chromosomes of the oocyte. </a:t>
            </a:r>
          </a:p>
          <a:p>
            <a:endParaRPr lang="en-AU" dirty="0"/>
          </a:p>
          <a:p>
            <a:r>
              <a:rPr lang="en-AU" dirty="0" smtClean="0"/>
              <a:t>Once the sperm has entered the oocyte the tail is absorbed, and the head begins to move through the cytoplasm in the form of a male pronucleus- the haploid nucleus of the sperm.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151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Fertilisation continued. </a:t>
            </a:r>
            <a:endParaRPr lang="en-AU" sz="6000" b="1" dirty="0"/>
          </a:p>
        </p:txBody>
      </p:sp>
      <p:sp>
        <p:nvSpPr>
          <p:cNvPr id="3" name="Content Placeholder 2"/>
          <p:cNvSpPr>
            <a:spLocks noGrp="1"/>
          </p:cNvSpPr>
          <p:nvPr>
            <p:ph idx="1"/>
          </p:nvPr>
        </p:nvSpPr>
        <p:spPr/>
        <p:txBody>
          <a:bodyPr/>
          <a:lstStyle/>
          <a:p>
            <a:r>
              <a:rPr lang="en-AU" dirty="0" smtClean="0"/>
              <a:t>The entrance of the sperm stimulates the secondary oocyte to complete the second meiotic division. The nucleus of the oocyte develops into a female pronucleus, which fuses with the male pronucleus to form a single nucleus that how has the diploid number of chromosomes. </a:t>
            </a:r>
          </a:p>
          <a:p>
            <a:endParaRPr lang="en-AU" dirty="0"/>
          </a:p>
          <a:p>
            <a:r>
              <a:rPr lang="en-AU" dirty="0" smtClean="0"/>
              <a:t>Fertilisation is complete, and the fertilised oocyte is now called a zygote.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0780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Blastocyst Formation </a:t>
            </a:r>
            <a:endParaRPr lang="en-AU" sz="6000" b="1" dirty="0"/>
          </a:p>
        </p:txBody>
      </p:sp>
      <p:sp>
        <p:nvSpPr>
          <p:cNvPr id="3" name="Content Placeholder 2"/>
          <p:cNvSpPr>
            <a:spLocks noGrp="1"/>
          </p:cNvSpPr>
          <p:nvPr>
            <p:ph idx="1"/>
          </p:nvPr>
        </p:nvSpPr>
        <p:spPr/>
        <p:txBody>
          <a:bodyPr>
            <a:normAutofit/>
          </a:bodyPr>
          <a:lstStyle/>
          <a:p>
            <a:r>
              <a:rPr lang="en-AU" sz="3200" dirty="0" smtClean="0"/>
              <a:t>The zygote travels down the uterine tube and begins to divide by mitosis. </a:t>
            </a:r>
          </a:p>
          <a:p>
            <a:endParaRPr lang="en-AU" sz="3200" dirty="0"/>
          </a:p>
          <a:p>
            <a:r>
              <a:rPr lang="en-AU" sz="3200" dirty="0" smtClean="0"/>
              <a:t>By the end of approximately 6 days following fertilisation, the original zygote has reached the uterus and developed into a blastocyst (hollow ball of cells that surround a fluid filled cavity).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7720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8" y="391251"/>
            <a:ext cx="11477897" cy="1325563"/>
          </a:xfrm>
        </p:spPr>
        <p:txBody>
          <a:bodyPr>
            <a:normAutofit/>
          </a:bodyPr>
          <a:lstStyle/>
          <a:p>
            <a:r>
              <a:rPr lang="en-AU" sz="6000" b="1" dirty="0" smtClean="0"/>
              <a:t>Blastocyst Formation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At one side of the cavity is a group of 30 cells called the inner cell mass (composed of stem cells that will differentiate into the different body cells to form the embryo).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25545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Implantation </a:t>
            </a:r>
            <a:endParaRPr lang="en-AU" sz="6000" b="1" dirty="0"/>
          </a:p>
        </p:txBody>
      </p:sp>
      <p:sp>
        <p:nvSpPr>
          <p:cNvPr id="3" name="Content Placeholder 2"/>
          <p:cNvSpPr>
            <a:spLocks noGrp="1"/>
          </p:cNvSpPr>
          <p:nvPr>
            <p:ph idx="1"/>
          </p:nvPr>
        </p:nvSpPr>
        <p:spPr/>
        <p:txBody>
          <a:bodyPr>
            <a:normAutofit/>
          </a:bodyPr>
          <a:lstStyle/>
          <a:p>
            <a:r>
              <a:rPr lang="en-AU" sz="3200" dirty="0" smtClean="0"/>
              <a:t>The blastocyst remains free within the cavity of the uterus for 2-3 days. </a:t>
            </a:r>
          </a:p>
          <a:p>
            <a:endParaRPr lang="en-AU" sz="3200" dirty="0"/>
          </a:p>
          <a:p>
            <a:r>
              <a:rPr lang="en-AU" sz="3200" dirty="0" smtClean="0"/>
              <a:t>It then sinks into the endometrium to become firmly attached to the wall of the uterus (implantation), enabling the blastocyst to gain nourishment.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4061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Hormone Production </a:t>
            </a:r>
            <a:endParaRPr lang="en-AU" sz="6000" b="1" dirty="0"/>
          </a:p>
        </p:txBody>
      </p:sp>
      <p:sp>
        <p:nvSpPr>
          <p:cNvPr id="3" name="Content Placeholder 2"/>
          <p:cNvSpPr>
            <a:spLocks noGrp="1"/>
          </p:cNvSpPr>
          <p:nvPr>
            <p:ph idx="1"/>
          </p:nvPr>
        </p:nvSpPr>
        <p:spPr/>
        <p:txBody>
          <a:bodyPr>
            <a:normAutofit/>
          </a:bodyPr>
          <a:lstStyle/>
          <a:p>
            <a:r>
              <a:rPr lang="en-AU" sz="3200" dirty="0" smtClean="0"/>
              <a:t>The continued development of the blastocyst depends on the endometrium being maintained. High levels of oestrogen and progesterone in the blood prevent the endometrium breaking down and the menstrual cycle ceases. </a:t>
            </a:r>
          </a:p>
          <a:p>
            <a:endParaRPr lang="en-AU" sz="3200" dirty="0"/>
          </a:p>
          <a:p>
            <a:r>
              <a:rPr lang="en-AU" sz="3200" dirty="0" smtClean="0"/>
              <a:t>During the early stages of pregnancy, the corpus luteum produces needed hormones. The placenta takes over at 8-12 weeks.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4540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Embryonic Period </a:t>
            </a:r>
            <a:endParaRPr lang="en-AU" sz="6000" b="1" dirty="0"/>
          </a:p>
        </p:txBody>
      </p:sp>
      <p:sp>
        <p:nvSpPr>
          <p:cNvPr id="3" name="Content Placeholder 2"/>
          <p:cNvSpPr>
            <a:spLocks noGrp="1"/>
          </p:cNvSpPr>
          <p:nvPr>
            <p:ph idx="1"/>
          </p:nvPr>
        </p:nvSpPr>
        <p:spPr/>
        <p:txBody>
          <a:bodyPr>
            <a:normAutofit/>
          </a:bodyPr>
          <a:lstStyle/>
          <a:p>
            <a:r>
              <a:rPr lang="en-AU" sz="3200" dirty="0" smtClean="0"/>
              <a:t>The first two months of pregnancy are referred to as the embryonic period. </a:t>
            </a:r>
          </a:p>
          <a:p>
            <a:endParaRPr lang="en-AU" sz="3200" dirty="0"/>
          </a:p>
          <a:p>
            <a:r>
              <a:rPr lang="en-AU" sz="3200" dirty="0" smtClean="0"/>
              <a:t>After the second month, the developing individual is called a foetus.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6445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Cell Differentiation</a:t>
            </a:r>
            <a:endParaRPr lang="en-AU" sz="6000" b="1" dirty="0"/>
          </a:p>
        </p:txBody>
      </p:sp>
      <p:sp>
        <p:nvSpPr>
          <p:cNvPr id="3" name="Content Placeholder 2"/>
          <p:cNvSpPr>
            <a:spLocks noGrp="1"/>
          </p:cNvSpPr>
          <p:nvPr>
            <p:ph idx="1"/>
          </p:nvPr>
        </p:nvSpPr>
        <p:spPr>
          <a:xfrm>
            <a:off x="212680" y="1425029"/>
            <a:ext cx="4050843" cy="5230631"/>
          </a:xfrm>
        </p:spPr>
        <p:txBody>
          <a:bodyPr>
            <a:normAutofit/>
          </a:bodyPr>
          <a:lstStyle/>
          <a:p>
            <a:r>
              <a:rPr lang="en-AU" sz="3200" dirty="0" smtClean="0"/>
              <a:t>The cells that make up the inner cell mass of the blastocyst are stem cells.</a:t>
            </a:r>
          </a:p>
          <a:p>
            <a:r>
              <a:rPr lang="en-AU" sz="3200" dirty="0" smtClean="0"/>
              <a:t>A zygote develops from an unspecialised totipotent cell to a blastocyst, and then to an embryo and its membranes.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4371702" y="1531488"/>
            <a:ext cx="7607617" cy="5124173"/>
          </a:xfrm>
          <a:prstGeom prst="rect">
            <a:avLst/>
          </a:prstGeom>
        </p:spPr>
      </p:pic>
    </p:spTree>
    <p:extLst>
      <p:ext uri="{BB962C8B-B14F-4D97-AF65-F5344CB8AC3E}">
        <p14:creationId xmlns:p14="http://schemas.microsoft.com/office/powerpoint/2010/main" val="4640707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Primary Germ Layers </a:t>
            </a:r>
            <a:endParaRPr lang="en-AU" sz="6000" b="1" dirty="0"/>
          </a:p>
        </p:txBody>
      </p:sp>
      <p:sp>
        <p:nvSpPr>
          <p:cNvPr id="3" name="Content Placeholder 2"/>
          <p:cNvSpPr>
            <a:spLocks noGrp="1"/>
          </p:cNvSpPr>
          <p:nvPr>
            <p:ph idx="1"/>
          </p:nvPr>
        </p:nvSpPr>
        <p:spPr/>
        <p:txBody>
          <a:bodyPr>
            <a:normAutofit/>
          </a:bodyPr>
          <a:lstStyle/>
          <a:p>
            <a:r>
              <a:rPr lang="en-AU" sz="3200" dirty="0" smtClean="0"/>
              <a:t>While the blastocyst is implanting in the lining of the uterus, the inner cell mass undergoes changes as the cells change to multipotent. This process results in the formation of three layers of cells (primary germ layers).</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8361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Ectoderm </a:t>
            </a:r>
            <a:endParaRPr lang="en-AU" sz="6000" b="1" dirty="0"/>
          </a:p>
        </p:txBody>
      </p:sp>
      <p:sp>
        <p:nvSpPr>
          <p:cNvPr id="3" name="Content Placeholder 2"/>
          <p:cNvSpPr>
            <a:spLocks noGrp="1"/>
          </p:cNvSpPr>
          <p:nvPr>
            <p:ph idx="1"/>
          </p:nvPr>
        </p:nvSpPr>
        <p:spPr/>
        <p:txBody>
          <a:bodyPr>
            <a:normAutofit/>
          </a:bodyPr>
          <a:lstStyle/>
          <a:p>
            <a:r>
              <a:rPr lang="en-AU" sz="3200" dirty="0" smtClean="0"/>
              <a:t>The ectoderm is the outermost germ layer. </a:t>
            </a:r>
          </a:p>
          <a:p>
            <a:endParaRPr lang="en-AU" sz="3200" dirty="0"/>
          </a:p>
          <a:p>
            <a:r>
              <a:rPr lang="en-AU" sz="3200" dirty="0" smtClean="0"/>
              <a:t>This will form the outer layers of the body such as the skin, hair and mammary glands, as well as the nervous tissue.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32453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Mesoderm </a:t>
            </a:r>
            <a:endParaRPr lang="en-AU" sz="6000" b="1" dirty="0"/>
          </a:p>
        </p:txBody>
      </p:sp>
      <p:sp>
        <p:nvSpPr>
          <p:cNvPr id="3" name="Content Placeholder 2"/>
          <p:cNvSpPr>
            <a:spLocks noGrp="1"/>
          </p:cNvSpPr>
          <p:nvPr>
            <p:ph idx="1"/>
          </p:nvPr>
        </p:nvSpPr>
        <p:spPr/>
        <p:txBody>
          <a:bodyPr>
            <a:normAutofit/>
          </a:bodyPr>
          <a:lstStyle/>
          <a:p>
            <a:r>
              <a:rPr lang="en-AU" sz="3200" dirty="0" smtClean="0"/>
              <a:t>The mesoderm is the middle germ layer. </a:t>
            </a:r>
          </a:p>
          <a:p>
            <a:endParaRPr lang="en-AU" sz="3200" dirty="0"/>
          </a:p>
          <a:p>
            <a:r>
              <a:rPr lang="en-AU" sz="3200" dirty="0" smtClean="0"/>
              <a:t>The skeleton, muscles, connective tissue, heart, blood, and urogenital tract form from the mesoderm. </a:t>
            </a:r>
          </a:p>
          <a:p>
            <a:endParaRPr lang="en-AU" sz="3200" dirty="0"/>
          </a:p>
          <a:p>
            <a:r>
              <a:rPr lang="en-AU" sz="3200" dirty="0" smtClean="0"/>
              <a:t>The mesoderm also allows the formation of the stomach and intestines.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49631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Endoderm </a:t>
            </a:r>
            <a:endParaRPr lang="en-AU" sz="6000" b="1" dirty="0"/>
          </a:p>
        </p:txBody>
      </p:sp>
      <p:sp>
        <p:nvSpPr>
          <p:cNvPr id="3" name="Content Placeholder 2"/>
          <p:cNvSpPr>
            <a:spLocks noGrp="1"/>
          </p:cNvSpPr>
          <p:nvPr>
            <p:ph idx="1"/>
          </p:nvPr>
        </p:nvSpPr>
        <p:spPr/>
        <p:txBody>
          <a:bodyPr>
            <a:normAutofit/>
          </a:bodyPr>
          <a:lstStyle/>
          <a:p>
            <a:r>
              <a:rPr lang="en-AU" sz="3200" dirty="0" smtClean="0"/>
              <a:t>The endoderm is the innermost germ layer </a:t>
            </a:r>
          </a:p>
          <a:p>
            <a:endParaRPr lang="en-AU" sz="3200" dirty="0"/>
          </a:p>
          <a:p>
            <a:r>
              <a:rPr lang="en-AU" sz="3200" dirty="0" smtClean="0"/>
              <a:t>It forms the lining of the digestive </a:t>
            </a:r>
            <a:r>
              <a:rPr lang="en-AU" sz="3200" dirty="0" err="1" smtClean="0"/>
              <a:t>syste</a:t>
            </a:r>
            <a:r>
              <a:rPr lang="en-AU" sz="3200" dirty="0" smtClean="0"/>
              <a:t>, as well as the lungs and thyroid.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808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Embryonic Membranes </a:t>
            </a:r>
            <a:endParaRPr lang="en-AU" sz="6000" b="1" dirty="0"/>
          </a:p>
        </p:txBody>
      </p:sp>
      <p:sp>
        <p:nvSpPr>
          <p:cNvPr id="3" name="Content Placeholder 2"/>
          <p:cNvSpPr>
            <a:spLocks noGrp="1"/>
          </p:cNvSpPr>
          <p:nvPr>
            <p:ph idx="1"/>
          </p:nvPr>
        </p:nvSpPr>
        <p:spPr/>
        <p:txBody>
          <a:bodyPr>
            <a:normAutofit/>
          </a:bodyPr>
          <a:lstStyle/>
          <a:p>
            <a:r>
              <a:rPr lang="en-AU" sz="3200" dirty="0" smtClean="0"/>
              <a:t>Early in the embryonic period, four embryonic membranes form. These lie outside the embryo and serve to protect and nourish it as it develops. </a:t>
            </a:r>
          </a:p>
          <a:p>
            <a:endParaRPr lang="en-AU" sz="3200" dirty="0"/>
          </a:p>
          <a:p>
            <a:r>
              <a:rPr lang="en-AU" sz="3200" dirty="0" smtClean="0"/>
              <a:t>The amnion is the first membrane to develop. By the 8</a:t>
            </a:r>
            <a:r>
              <a:rPr lang="en-AU" sz="3200" baseline="30000" dirty="0" smtClean="0"/>
              <a:t>th</a:t>
            </a:r>
            <a:r>
              <a:rPr lang="en-AU" sz="3200" dirty="0" smtClean="0"/>
              <a:t> day after fertilisation, it surrounds the embryo, enclosing it in a cavity that produces amniotic fluid. The fluid protects the embryo, maintains temperature and assists in embryo movement.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75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011" y="365125"/>
            <a:ext cx="11556275" cy="1325563"/>
          </a:xfrm>
        </p:spPr>
        <p:txBody>
          <a:bodyPr>
            <a:normAutofit/>
          </a:bodyPr>
          <a:lstStyle/>
          <a:p>
            <a:r>
              <a:rPr lang="en-AU" sz="6000" b="1" dirty="0" smtClean="0"/>
              <a:t>Embryonic Membranes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Another embryonic membrane is the chorion. It is formed from the outer cells of the blastocyst together with a layer of mesodermal cells. </a:t>
            </a:r>
          </a:p>
          <a:p>
            <a:endParaRPr lang="en-AU" sz="3200" dirty="0"/>
          </a:p>
          <a:p>
            <a:r>
              <a:rPr lang="en-AU" sz="3200" dirty="0" smtClean="0"/>
              <a:t>The chorion surrounds the embryo and the other embryonic membranes. As the amnion enlarges, it fuses with the inner layer of the chorion, with the chorion eventually becoming a main part of the foetal portion of the placenta.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4057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103" y="365125"/>
            <a:ext cx="10789919" cy="1325563"/>
          </a:xfrm>
        </p:spPr>
        <p:txBody>
          <a:bodyPr>
            <a:normAutofit/>
          </a:bodyPr>
          <a:lstStyle/>
          <a:p>
            <a:r>
              <a:rPr lang="en-AU" sz="6000" b="1" dirty="0"/>
              <a:t>Embryonic Membranes continued. </a:t>
            </a:r>
            <a:endParaRPr lang="en-AU" sz="6000" dirty="0"/>
          </a:p>
        </p:txBody>
      </p:sp>
      <p:sp>
        <p:nvSpPr>
          <p:cNvPr id="3" name="Content Placeholder 2"/>
          <p:cNvSpPr>
            <a:spLocks noGrp="1"/>
          </p:cNvSpPr>
          <p:nvPr>
            <p:ph idx="1"/>
          </p:nvPr>
        </p:nvSpPr>
        <p:spPr/>
        <p:txBody>
          <a:bodyPr>
            <a:normAutofit/>
          </a:bodyPr>
          <a:lstStyle/>
          <a:p>
            <a:r>
              <a:rPr lang="en-AU" sz="3200" dirty="0" smtClean="0"/>
              <a:t>The other two embryonic membranes are the yolk sac and allantois.</a:t>
            </a:r>
          </a:p>
          <a:p>
            <a:endParaRPr lang="en-AU" sz="3200" dirty="0"/>
          </a:p>
          <a:p>
            <a:r>
              <a:rPr lang="en-AU" sz="3200" dirty="0" smtClean="0"/>
              <a:t>These are not as important in humans; however, they do form the outer structure of the umbilical cord.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4879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665614" y="426720"/>
            <a:ext cx="8817227" cy="5767660"/>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63917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Development of the Placenta </a:t>
            </a:r>
            <a:endParaRPr lang="en-AU" sz="6000" b="1" dirty="0"/>
          </a:p>
        </p:txBody>
      </p:sp>
      <p:sp>
        <p:nvSpPr>
          <p:cNvPr id="3" name="Content Placeholder 2"/>
          <p:cNvSpPr>
            <a:spLocks noGrp="1"/>
          </p:cNvSpPr>
          <p:nvPr>
            <p:ph idx="1"/>
          </p:nvPr>
        </p:nvSpPr>
        <p:spPr/>
        <p:txBody>
          <a:bodyPr>
            <a:normAutofit/>
          </a:bodyPr>
          <a:lstStyle/>
          <a:p>
            <a:r>
              <a:rPr lang="en-AU" sz="3200" dirty="0" smtClean="0"/>
              <a:t>The placenta is an organ that forms from both foetal and maternal tissues during the first three months of gestation, with the foetal portion developing from part of the chorion. </a:t>
            </a:r>
          </a:p>
          <a:p>
            <a:endParaRPr lang="en-AU" sz="3200" dirty="0"/>
          </a:p>
          <a:p>
            <a:r>
              <a:rPr lang="en-AU" sz="3200" dirty="0" smtClean="0"/>
              <a:t>The placenta supplies nutrients to, and removes wastes from, the foetus. It also serves as an endocrine organ, producing a number of the hormones necessary to maintain pregnancy.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5324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Function of the Placenta </a:t>
            </a:r>
            <a:endParaRPr lang="en-AU" sz="6000" b="1" dirty="0"/>
          </a:p>
        </p:txBody>
      </p:sp>
      <p:pic>
        <p:nvPicPr>
          <p:cNvPr id="5" name="Content Placeholder 4"/>
          <p:cNvPicPr>
            <a:picLocks noGrp="1" noChangeAspect="1"/>
          </p:cNvPicPr>
          <p:nvPr>
            <p:ph idx="1"/>
          </p:nvPr>
        </p:nvPicPr>
        <p:blipFill>
          <a:blip r:embed="rId2"/>
          <a:stretch>
            <a:fillRect/>
          </a:stretch>
        </p:blipFill>
        <p:spPr>
          <a:xfrm>
            <a:off x="176348" y="1690688"/>
            <a:ext cx="11783426" cy="4308708"/>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16215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629" y="365125"/>
            <a:ext cx="11887200" cy="1325563"/>
          </a:xfrm>
        </p:spPr>
        <p:txBody>
          <a:bodyPr>
            <a:normAutofit fontScale="90000"/>
          </a:bodyPr>
          <a:lstStyle/>
          <a:p>
            <a:r>
              <a:rPr lang="en-AU" sz="6000" b="1" dirty="0" smtClean="0"/>
              <a:t>Development of the Placenta continued. </a:t>
            </a:r>
            <a:endParaRPr lang="en-AU" sz="6000" b="1" dirty="0"/>
          </a:p>
        </p:txBody>
      </p:sp>
      <p:sp>
        <p:nvSpPr>
          <p:cNvPr id="3" name="Content Placeholder 2"/>
          <p:cNvSpPr>
            <a:spLocks noGrp="1"/>
          </p:cNvSpPr>
          <p:nvPr>
            <p:ph idx="1"/>
          </p:nvPr>
        </p:nvSpPr>
        <p:spPr>
          <a:xfrm>
            <a:off x="838200" y="1825625"/>
            <a:ext cx="10515600" cy="4740638"/>
          </a:xfrm>
        </p:spPr>
        <p:txBody>
          <a:bodyPr>
            <a:normAutofit/>
          </a:bodyPr>
          <a:lstStyle/>
          <a:p>
            <a:r>
              <a:rPr lang="en-AU" sz="3200" dirty="0" smtClean="0"/>
              <a:t>The foetal part of the placenta begins to develop as the blastocyst is implanted in the endometrium. Small branching, finger-like projections called chorionic villi, develop from the chorion and contain numerous blood vessels. </a:t>
            </a:r>
          </a:p>
          <a:p>
            <a:endParaRPr lang="en-AU" sz="3200" dirty="0"/>
          </a:p>
          <a:p>
            <a:r>
              <a:rPr lang="en-AU" sz="3200" dirty="0" smtClean="0"/>
              <a:t>They grow into the endometrium and become surrounded by pools of the mother’s blood (doesn’t mix because of cell layers, but does allow for an exchange of materials via diffusion and active transport).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246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9965" y="365125"/>
            <a:ext cx="11512731" cy="1325563"/>
          </a:xfrm>
        </p:spPr>
        <p:txBody>
          <a:bodyPr>
            <a:normAutofit fontScale="90000"/>
          </a:bodyPr>
          <a:lstStyle/>
          <a:p>
            <a:r>
              <a:rPr lang="en-AU" sz="6000" b="1" dirty="0"/>
              <a:t>Development of the Placenta continued. </a:t>
            </a:r>
            <a:endParaRPr lang="en-AU" sz="6000" dirty="0"/>
          </a:p>
        </p:txBody>
      </p:sp>
      <p:sp>
        <p:nvSpPr>
          <p:cNvPr id="3" name="Content Placeholder 2"/>
          <p:cNvSpPr>
            <a:spLocks noGrp="1"/>
          </p:cNvSpPr>
          <p:nvPr>
            <p:ph idx="1"/>
          </p:nvPr>
        </p:nvSpPr>
        <p:spPr>
          <a:xfrm>
            <a:off x="391886" y="1825625"/>
            <a:ext cx="11390810" cy="4644844"/>
          </a:xfrm>
        </p:spPr>
        <p:txBody>
          <a:bodyPr>
            <a:normAutofit/>
          </a:bodyPr>
          <a:lstStyle/>
          <a:p>
            <a:r>
              <a:rPr lang="en-AU" sz="3200" dirty="0" smtClean="0"/>
              <a:t>The placenta is attached to the foetus by the umbilical cord. Inside the umbilical cord are two umbilical arteries that carry blood to the capillaries of the chorionic villi. </a:t>
            </a:r>
          </a:p>
          <a:p>
            <a:endParaRPr lang="en-AU" sz="3200" dirty="0"/>
          </a:p>
          <a:p>
            <a:r>
              <a:rPr lang="en-AU" sz="3200" dirty="0" smtClean="0"/>
              <a:t>A single umbilical vein carries blood from the placenta, through the umbilical cord, back to the foetus. On the maternal side, blood from the mother enters the placenta through the uterine arteries, flows through the blood spaces where the exchange of substances occurs, and leaves again through the uterine veins.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5088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Pregnancy </a:t>
            </a:r>
            <a:endParaRPr lang="en-AU" sz="6000" b="1" dirty="0"/>
          </a:p>
        </p:txBody>
      </p:sp>
      <p:sp>
        <p:nvSpPr>
          <p:cNvPr id="3" name="Content Placeholder 2"/>
          <p:cNvSpPr>
            <a:spLocks noGrp="1"/>
          </p:cNvSpPr>
          <p:nvPr>
            <p:ph idx="1"/>
          </p:nvPr>
        </p:nvSpPr>
        <p:spPr/>
        <p:txBody>
          <a:bodyPr>
            <a:normAutofit/>
          </a:bodyPr>
          <a:lstStyle/>
          <a:p>
            <a:r>
              <a:rPr lang="en-AU" sz="3200" dirty="0" smtClean="0"/>
              <a:t>The period of pregnancy, the time that the embryo or foetus is carried in the uterus, is called gestation. </a:t>
            </a:r>
          </a:p>
          <a:p>
            <a:endParaRPr lang="en-AU" sz="3200" dirty="0"/>
          </a:p>
          <a:p>
            <a:r>
              <a:rPr lang="en-AU" sz="3200" dirty="0" smtClean="0"/>
              <a:t>During this time the child grows to a length of about 50 cm and an average weight of 3400 grams.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16166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From embryo to foetus </a:t>
            </a:r>
            <a:endParaRPr lang="en-AU" sz="6000" b="1" dirty="0"/>
          </a:p>
        </p:txBody>
      </p:sp>
      <p:sp>
        <p:nvSpPr>
          <p:cNvPr id="3" name="Content Placeholder 2"/>
          <p:cNvSpPr>
            <a:spLocks noGrp="1"/>
          </p:cNvSpPr>
          <p:nvPr>
            <p:ph idx="1"/>
          </p:nvPr>
        </p:nvSpPr>
        <p:spPr>
          <a:xfrm>
            <a:off x="426721" y="1449432"/>
            <a:ext cx="10424160" cy="4351338"/>
          </a:xfrm>
        </p:spPr>
        <p:txBody>
          <a:bodyPr>
            <a:normAutofit/>
          </a:bodyPr>
          <a:lstStyle/>
          <a:p>
            <a:r>
              <a:rPr lang="en-AU" sz="3200" dirty="0" smtClean="0"/>
              <a:t>After one month of growth, the embryo is just under 4mm long. The most obvious feature at this stage is the development of muscle segments on either side that will become the brain and spinal cord.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3484336" y="3431177"/>
            <a:ext cx="6417310" cy="2969623"/>
          </a:xfrm>
          <a:prstGeom prst="rect">
            <a:avLst/>
          </a:prstGeom>
        </p:spPr>
      </p:pic>
    </p:spTree>
    <p:extLst>
      <p:ext uri="{BB962C8B-B14F-4D97-AF65-F5344CB8AC3E}">
        <p14:creationId xmlns:p14="http://schemas.microsoft.com/office/powerpoint/2010/main" val="24620675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Stages of Foetal Development </a:t>
            </a:r>
            <a:endParaRPr lang="en-AU" sz="6000" b="1"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p:cNvPicPr>
            <a:picLocks noChangeAspect="1"/>
          </p:cNvPicPr>
          <p:nvPr/>
        </p:nvPicPr>
        <p:blipFill>
          <a:blip r:embed="rId2"/>
          <a:stretch>
            <a:fillRect/>
          </a:stretch>
        </p:blipFill>
        <p:spPr>
          <a:xfrm>
            <a:off x="228599" y="5042262"/>
            <a:ext cx="11566711" cy="1375954"/>
          </a:xfrm>
          <a:prstGeom prst="rect">
            <a:avLst/>
          </a:prstGeom>
        </p:spPr>
      </p:pic>
      <p:pic>
        <p:nvPicPr>
          <p:cNvPr id="5" name="Content Placeholder 4"/>
          <p:cNvPicPr>
            <a:picLocks noGrp="1" noChangeAspect="1"/>
          </p:cNvPicPr>
          <p:nvPr>
            <p:ph idx="1"/>
          </p:nvPr>
        </p:nvPicPr>
        <p:blipFill>
          <a:blip r:embed="rId3"/>
          <a:stretch>
            <a:fillRect/>
          </a:stretch>
        </p:blipFill>
        <p:spPr>
          <a:xfrm>
            <a:off x="228599" y="1834685"/>
            <a:ext cx="11566711" cy="3233704"/>
          </a:xfrm>
          <a:prstGeom prst="rect">
            <a:avLst/>
          </a:prstGeom>
        </p:spPr>
      </p:pic>
    </p:spTree>
    <p:extLst>
      <p:ext uri="{BB962C8B-B14F-4D97-AF65-F5344CB8AC3E}">
        <p14:creationId xmlns:p14="http://schemas.microsoft.com/office/powerpoint/2010/main" val="35980693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466725" y="466725"/>
            <a:ext cx="11258550" cy="5924550"/>
          </a:xfrm>
          <a:prstGeom prst="rect">
            <a:avLst/>
          </a:prstGeom>
        </p:spPr>
      </p:pic>
    </p:spTree>
    <p:extLst>
      <p:ext uri="{BB962C8B-B14F-4D97-AF65-F5344CB8AC3E}">
        <p14:creationId xmlns:p14="http://schemas.microsoft.com/office/powerpoint/2010/main" val="2328882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200025" y="533400"/>
            <a:ext cx="11791950" cy="5791200"/>
          </a:xfrm>
          <a:prstGeom prst="rect">
            <a:avLst/>
          </a:prstGeom>
        </p:spPr>
      </p:pic>
    </p:spTree>
    <p:extLst>
      <p:ext uri="{BB962C8B-B14F-4D97-AF65-F5344CB8AC3E}">
        <p14:creationId xmlns:p14="http://schemas.microsoft.com/office/powerpoint/2010/main" val="24413191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Pregnant Mother </a:t>
            </a:r>
            <a:endParaRPr lang="en-AU" sz="6000" b="1" dirty="0"/>
          </a:p>
        </p:txBody>
      </p:sp>
      <p:sp>
        <p:nvSpPr>
          <p:cNvPr id="3" name="Content Placeholder 2"/>
          <p:cNvSpPr>
            <a:spLocks noGrp="1"/>
          </p:cNvSpPr>
          <p:nvPr>
            <p:ph idx="1"/>
          </p:nvPr>
        </p:nvSpPr>
        <p:spPr>
          <a:xfrm>
            <a:off x="280852" y="1512116"/>
            <a:ext cx="7043057" cy="5097689"/>
          </a:xfrm>
        </p:spPr>
        <p:txBody>
          <a:bodyPr/>
          <a:lstStyle/>
          <a:p>
            <a:r>
              <a:rPr lang="en-AU" dirty="0" smtClean="0"/>
              <a:t>The most obvious changes to the pregnant women are associated with her growing abdomen. </a:t>
            </a:r>
          </a:p>
          <a:p>
            <a:r>
              <a:rPr lang="en-AU" dirty="0" smtClean="0"/>
              <a:t>There is an increase in the size of the heart and in blood volume. This is to cater for the extra blood that is flowing through the placenta. </a:t>
            </a:r>
          </a:p>
          <a:p>
            <a:r>
              <a:rPr lang="en-AU" dirty="0" smtClean="0"/>
              <a:t>The greater blood volume results in an increased blood flow to the kidneys and, therefore, increased urine production. </a:t>
            </a:r>
          </a:p>
          <a:p>
            <a:r>
              <a:rPr lang="en-AU" dirty="0" smtClean="0"/>
              <a:t>Emotional state may be affected due to hormones.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947344" y="1986144"/>
            <a:ext cx="5040129" cy="3744096"/>
          </a:xfrm>
          <a:prstGeom prst="rect">
            <a:avLst/>
          </a:prstGeom>
        </p:spPr>
      </p:pic>
    </p:spTree>
    <p:extLst>
      <p:ext uri="{BB962C8B-B14F-4D97-AF65-F5344CB8AC3E}">
        <p14:creationId xmlns:p14="http://schemas.microsoft.com/office/powerpoint/2010/main" val="40124465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during birth </a:t>
            </a:r>
            <a:endParaRPr lang="en-AU" sz="6000" b="1" dirty="0"/>
          </a:p>
        </p:txBody>
      </p:sp>
      <p:sp>
        <p:nvSpPr>
          <p:cNvPr id="3" name="Content Placeholder 2"/>
          <p:cNvSpPr>
            <a:spLocks noGrp="1"/>
          </p:cNvSpPr>
          <p:nvPr>
            <p:ph idx="1"/>
          </p:nvPr>
        </p:nvSpPr>
        <p:spPr/>
        <p:txBody>
          <a:bodyPr>
            <a:noAutofit/>
          </a:bodyPr>
          <a:lstStyle/>
          <a:p>
            <a:r>
              <a:rPr lang="en-AU" sz="3200" dirty="0" smtClean="0"/>
              <a:t>The process by which the foetus is expelled from the mother’s body at the end of gestation is called birth, or parturition. </a:t>
            </a:r>
          </a:p>
          <a:p>
            <a:endParaRPr lang="en-AU" sz="3200" dirty="0"/>
          </a:p>
          <a:p>
            <a:r>
              <a:rPr lang="en-AU" sz="3200" b="1" dirty="0" smtClean="0"/>
              <a:t>Prior to labour</a:t>
            </a:r>
            <a:r>
              <a:rPr lang="en-AU" sz="3200" dirty="0" smtClean="0"/>
              <a:t>: hormonal changes cause the ligaments of the pelvis to soften, and increase the response of the uterus to stimuli and strengthen the contraction of its muscles. The head of the foetus will rest against the mother’s pelvis. The cervix has softened, shortened in length and is likely to have begun to open a little.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4577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Changes during birth </a:t>
            </a:r>
            <a:r>
              <a:rPr lang="en-AU" sz="6000" b="1" dirty="0" smtClean="0"/>
              <a:t>continued </a:t>
            </a:r>
            <a:endParaRPr lang="en-AU" sz="6000" dirty="0"/>
          </a:p>
        </p:txBody>
      </p:sp>
      <p:sp>
        <p:nvSpPr>
          <p:cNvPr id="3" name="Content Placeholder 2"/>
          <p:cNvSpPr>
            <a:spLocks noGrp="1"/>
          </p:cNvSpPr>
          <p:nvPr>
            <p:ph idx="1"/>
          </p:nvPr>
        </p:nvSpPr>
        <p:spPr/>
        <p:txBody>
          <a:bodyPr>
            <a:normAutofit/>
          </a:bodyPr>
          <a:lstStyle/>
          <a:p>
            <a:r>
              <a:rPr lang="en-AU" sz="3200" b="1" dirty="0" smtClean="0"/>
              <a:t>First stage of labour</a:t>
            </a:r>
            <a:r>
              <a:rPr lang="en-AU" sz="3200" dirty="0" smtClean="0"/>
              <a:t>: Labour pains (frequent contractions) signal the beginning of the birth process. The dilation of the cervix is the time from the onset of labour to the complete dilation of the cervix (8-9 hours). </a:t>
            </a:r>
          </a:p>
          <a:p>
            <a:r>
              <a:rPr lang="en-AU" sz="3200" dirty="0" smtClean="0"/>
              <a:t>As the contractions become stronger and more frequent, the head of the foetus is pushed more forcefully against the slowly dilating cervix. Eventually the cervix will be fully dilated (10 cm) and the uterus, cervix and vagina form a single passage called the birth canal.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76794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993143" y="602807"/>
            <a:ext cx="8007428" cy="565673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23511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Changes during birth </a:t>
            </a:r>
            <a:endParaRPr lang="en-AU" sz="6000" dirty="0"/>
          </a:p>
        </p:txBody>
      </p:sp>
      <p:sp>
        <p:nvSpPr>
          <p:cNvPr id="3" name="Content Placeholder 2"/>
          <p:cNvSpPr>
            <a:spLocks noGrp="1"/>
          </p:cNvSpPr>
          <p:nvPr>
            <p:ph idx="1"/>
          </p:nvPr>
        </p:nvSpPr>
        <p:spPr/>
        <p:txBody>
          <a:bodyPr>
            <a:normAutofit/>
          </a:bodyPr>
          <a:lstStyle/>
          <a:p>
            <a:r>
              <a:rPr lang="en-AU" sz="3200" b="1" dirty="0" smtClean="0"/>
              <a:t>Second stage of labour</a:t>
            </a:r>
            <a:r>
              <a:rPr lang="en-AU" sz="3200" dirty="0" smtClean="0"/>
              <a:t>: involves the delivery of the foetus and is often called the stage of expulsion. It frequently begins with the bursting of the membrane surrounding the foetus. </a:t>
            </a:r>
          </a:p>
          <a:p>
            <a:r>
              <a:rPr lang="en-AU" sz="3200" dirty="0" smtClean="0"/>
              <a:t>Lasts about 20 minutes-2 hours.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58882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743360" y="304799"/>
            <a:ext cx="8410834" cy="6398283"/>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657823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Changes during birth </a:t>
            </a:r>
            <a:endParaRPr lang="en-AU" sz="6000" dirty="0"/>
          </a:p>
        </p:txBody>
      </p:sp>
      <p:sp>
        <p:nvSpPr>
          <p:cNvPr id="3" name="Content Placeholder 2"/>
          <p:cNvSpPr>
            <a:spLocks noGrp="1"/>
          </p:cNvSpPr>
          <p:nvPr>
            <p:ph idx="1"/>
          </p:nvPr>
        </p:nvSpPr>
        <p:spPr/>
        <p:txBody>
          <a:bodyPr>
            <a:normAutofit/>
          </a:bodyPr>
          <a:lstStyle/>
          <a:p>
            <a:r>
              <a:rPr lang="en-AU" sz="3200" b="1" dirty="0" smtClean="0"/>
              <a:t>Third stage of labour</a:t>
            </a:r>
            <a:r>
              <a:rPr lang="en-AU" sz="3200" dirty="0" smtClean="0"/>
              <a:t>: Once born, the baby begins to breath with its own lungs, even when still connected to the placenta via the umbilical cord. </a:t>
            </a:r>
          </a:p>
          <a:p>
            <a:r>
              <a:rPr lang="en-AU" sz="3200" dirty="0" smtClean="0"/>
              <a:t>The umbilical cord is clamped and cut. After a few days the stump of the cord dries up and falls away, leaving the navel. </a:t>
            </a:r>
          </a:p>
          <a:p>
            <a:r>
              <a:rPr lang="en-AU" sz="3200" dirty="0" smtClean="0"/>
              <a:t>About 5 minutes after birth the placenta, membranes and the remains of the umbilical cord are expelled as afterbirth.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1892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in the baby at birth </a:t>
            </a:r>
            <a:endParaRPr lang="en-AU" sz="6000" b="1" dirty="0"/>
          </a:p>
        </p:txBody>
      </p:sp>
      <p:sp>
        <p:nvSpPr>
          <p:cNvPr id="3" name="Content Placeholder 2"/>
          <p:cNvSpPr>
            <a:spLocks noGrp="1"/>
          </p:cNvSpPr>
          <p:nvPr>
            <p:ph idx="1"/>
          </p:nvPr>
        </p:nvSpPr>
        <p:spPr>
          <a:xfrm>
            <a:off x="296091" y="1611086"/>
            <a:ext cx="11599818" cy="4920343"/>
          </a:xfrm>
        </p:spPr>
        <p:txBody>
          <a:bodyPr>
            <a:normAutofit/>
          </a:bodyPr>
          <a:lstStyle/>
          <a:p>
            <a:r>
              <a:rPr lang="en-AU" sz="3200" dirty="0" smtClean="0"/>
              <a:t>Before birth, the lungs of the foetus do not function. It obtains oxygen from the placenta. After birth, the circulation must change.</a:t>
            </a:r>
          </a:p>
          <a:p>
            <a:pPr marL="0" indent="0">
              <a:buNone/>
            </a:pPr>
            <a:r>
              <a:rPr lang="en-AU" sz="3200" dirty="0" smtClean="0"/>
              <a:t> </a:t>
            </a:r>
          </a:p>
          <a:p>
            <a:r>
              <a:rPr lang="en-AU" sz="3200" dirty="0" smtClean="0"/>
              <a:t>During birth, foetal blood is carried to and from the placenta by blood vessels in the umbilical cord. It circulates through the placenta, with about 30% bypassing the liver through a vessel called the ductus venosus, and then into the inferior vena cava. The mother’s liver is serving the needs of the foetus at this time, so it presents no problems.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Changes in the baby at birth </a:t>
            </a:r>
            <a:endParaRPr lang="en-AU" sz="6000" dirty="0"/>
          </a:p>
        </p:txBody>
      </p:sp>
      <p:sp>
        <p:nvSpPr>
          <p:cNvPr id="3" name="Content Placeholder 2"/>
          <p:cNvSpPr>
            <a:spLocks noGrp="1"/>
          </p:cNvSpPr>
          <p:nvPr>
            <p:ph idx="1"/>
          </p:nvPr>
        </p:nvSpPr>
        <p:spPr/>
        <p:txBody>
          <a:bodyPr>
            <a:normAutofit/>
          </a:bodyPr>
          <a:lstStyle/>
          <a:p>
            <a:r>
              <a:rPr lang="en-AU" sz="3200" dirty="0" smtClean="0"/>
              <a:t>Blood returning to the foetal heart enters the right atrium. From there it can follow several pathways: </a:t>
            </a:r>
          </a:p>
          <a:p>
            <a:pPr lvl="1"/>
            <a:r>
              <a:rPr lang="en-AU" sz="3200" dirty="0" smtClean="0"/>
              <a:t>Blood may flow into the right ventricle and then to the lungs in the usual way. However, the lungs are collapsed and not functioning at this stage, so they offer considerable resistance to blood flow. </a:t>
            </a:r>
          </a:p>
          <a:p>
            <a:pPr lvl="1"/>
            <a:r>
              <a:rPr lang="en-AU" sz="3200" dirty="0" smtClean="0"/>
              <a:t>Most of the blood from the right ventricle flows through the ductus arteriosus (vessel that bypasses the lung) to the aorta.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90514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Previous list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Blood in the right atrium of the heart may flow directly into the left atrium through an oval opening (foramen ovale) between the two chambers. The foramen ovale is located so that most of the blood entering the right atrium goes through it. </a:t>
            </a:r>
          </a:p>
          <a:p>
            <a:endParaRPr lang="en-AU" sz="3200" dirty="0"/>
          </a:p>
          <a:p>
            <a:r>
              <a:rPr lang="en-AU" sz="3200" dirty="0" smtClean="0"/>
              <a:t>This is beneficial, as the blood coming from the placenta is highly oxygenated and can flow to the developing foetal tissues via the aorta very quickly.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99944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at birth </a:t>
            </a:r>
            <a:endParaRPr lang="en-AU" sz="6000" b="1" dirty="0"/>
          </a:p>
        </p:txBody>
      </p:sp>
      <p:sp>
        <p:nvSpPr>
          <p:cNvPr id="3" name="Content Placeholder 2"/>
          <p:cNvSpPr>
            <a:spLocks noGrp="1"/>
          </p:cNvSpPr>
          <p:nvPr>
            <p:ph idx="1"/>
          </p:nvPr>
        </p:nvSpPr>
        <p:spPr/>
        <p:txBody>
          <a:bodyPr>
            <a:normAutofit/>
          </a:bodyPr>
          <a:lstStyle/>
          <a:p>
            <a:r>
              <a:rPr lang="en-AU" sz="3200" dirty="0" smtClean="0"/>
              <a:t>At birth, the newborn needs to be independently functional. </a:t>
            </a:r>
          </a:p>
          <a:p>
            <a:endParaRPr lang="en-AU" sz="3200" dirty="0"/>
          </a:p>
          <a:p>
            <a:r>
              <a:rPr lang="en-AU" sz="3200" dirty="0" smtClean="0"/>
              <a:t>Therefore, it is important that the ductus venosus, ductus arteriosus and foramen ovale close. </a:t>
            </a:r>
          </a:p>
          <a:p>
            <a:endParaRPr lang="en-AU" sz="3200" dirty="0"/>
          </a:p>
          <a:p>
            <a:r>
              <a:rPr lang="en-AU" sz="3200" dirty="0" smtClean="0"/>
              <a:t>The first breath of life is usually triggered by the shock of birth. If not, a slap to the bottom usually works.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27430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at birth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As the lungs expand, they no longer offer the same resistance, so blood flow through the ductus arteriosus begins decrease, eventually only leaving some fibrous tissue in remanent. </a:t>
            </a:r>
          </a:p>
          <a:p>
            <a:endParaRPr lang="en-AU" sz="3200" dirty="0"/>
          </a:p>
          <a:p>
            <a:r>
              <a:rPr lang="en-AU" sz="3200" dirty="0" smtClean="0"/>
              <a:t>As larger amounts of blood return to the heart from the lungs, the pressure in the left atrium increases, forcing the foramen ovale against the wall of the atrium, closing the flap.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40648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at birth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With the cutting of the umbilical cord, blood no longer flows through the umbilical vessels (ductus venosus). It will gradually constrict until it is permanently closed off. </a:t>
            </a:r>
          </a:p>
          <a:p>
            <a:endParaRPr lang="en-AU" sz="3200" dirty="0"/>
          </a:p>
          <a:p>
            <a:r>
              <a:rPr lang="en-AU" sz="3200" dirty="0" smtClean="0"/>
              <a:t>If the foramen ovale fails to close, the baby is born with a ‘hole in the heart’. Surgery can be performed to fix the issue. </a:t>
            </a:r>
          </a:p>
          <a:p>
            <a:endParaRPr lang="en-AU" sz="3200" dirty="0"/>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31615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Changes at birth continued. </a:t>
            </a:r>
            <a:endParaRPr lang="en-AU" sz="6000" b="1" dirty="0"/>
          </a:p>
        </p:txBody>
      </p:sp>
      <p:sp>
        <p:nvSpPr>
          <p:cNvPr id="3" name="Content Placeholder 2"/>
          <p:cNvSpPr>
            <a:spLocks noGrp="1"/>
          </p:cNvSpPr>
          <p:nvPr>
            <p:ph idx="1"/>
          </p:nvPr>
        </p:nvSpPr>
        <p:spPr/>
        <p:txBody>
          <a:bodyPr>
            <a:normAutofit/>
          </a:bodyPr>
          <a:lstStyle/>
          <a:p>
            <a:r>
              <a:rPr lang="en-AU" sz="3200" dirty="0" smtClean="0"/>
              <a:t>Following its birth, the baby breathes rapidly, at about 45 breaths per minute, for the first two weeks, which then gradually slows. </a:t>
            </a:r>
          </a:p>
          <a:p>
            <a:endParaRPr lang="en-AU" sz="3200" dirty="0"/>
          </a:p>
          <a:p>
            <a:r>
              <a:rPr lang="en-AU" sz="3200" dirty="0" smtClean="0"/>
              <a:t>Likewise, the heart rate is high (125-130 beats per minute), which then gradually slows.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0089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554" y="365125"/>
            <a:ext cx="11207932" cy="1325563"/>
          </a:xfrm>
        </p:spPr>
        <p:txBody>
          <a:bodyPr>
            <a:normAutofit/>
          </a:bodyPr>
          <a:lstStyle/>
          <a:p>
            <a:r>
              <a:rPr lang="en-AU" sz="6000" b="1" dirty="0" smtClean="0"/>
              <a:t>Maintaining a healthy pregnancy </a:t>
            </a:r>
            <a:endParaRPr lang="en-AU" sz="6000" b="1" dirty="0"/>
          </a:p>
        </p:txBody>
      </p:sp>
      <p:sp>
        <p:nvSpPr>
          <p:cNvPr id="3" name="Content Placeholder 2"/>
          <p:cNvSpPr>
            <a:spLocks noGrp="1"/>
          </p:cNvSpPr>
          <p:nvPr>
            <p:ph idx="1"/>
          </p:nvPr>
        </p:nvSpPr>
        <p:spPr/>
        <p:txBody>
          <a:bodyPr>
            <a:normAutofit/>
          </a:bodyPr>
          <a:lstStyle/>
          <a:p>
            <a:r>
              <a:rPr lang="en-AU" sz="3200" dirty="0" smtClean="0"/>
              <a:t>Women can make choices to maintain a healthy pregnancy. </a:t>
            </a:r>
          </a:p>
          <a:p>
            <a:endParaRPr lang="en-AU" sz="3200" dirty="0" smtClean="0"/>
          </a:p>
          <a:p>
            <a:r>
              <a:rPr lang="en-AU" sz="3200" dirty="0" smtClean="0"/>
              <a:t>A diet with folic acid (normal cell division and manufacturing of proteins), adequate amounts of calcium (normal bone growth), fluoride in water or tablets (strong teeth), vitamin A (normal growth of cells)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87269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931" y="365125"/>
            <a:ext cx="10813869" cy="1325563"/>
          </a:xfrm>
        </p:spPr>
        <p:txBody>
          <a:bodyPr>
            <a:normAutofit/>
          </a:bodyPr>
          <a:lstStyle/>
          <a:p>
            <a:r>
              <a:rPr lang="en-AU" sz="6000" b="1" dirty="0"/>
              <a:t>Maintaining a healthy pregnancy </a:t>
            </a:r>
            <a:endParaRPr lang="en-AU" sz="6000" dirty="0"/>
          </a:p>
        </p:txBody>
      </p:sp>
      <p:sp>
        <p:nvSpPr>
          <p:cNvPr id="3" name="Content Placeholder 2"/>
          <p:cNvSpPr>
            <a:spLocks noGrp="1"/>
          </p:cNvSpPr>
          <p:nvPr>
            <p:ph idx="1"/>
          </p:nvPr>
        </p:nvSpPr>
        <p:spPr/>
        <p:txBody>
          <a:bodyPr>
            <a:normAutofit/>
          </a:bodyPr>
          <a:lstStyle/>
          <a:p>
            <a:r>
              <a:rPr lang="en-AU" sz="3200" dirty="0" smtClean="0"/>
              <a:t>Weight gain is normal during pregnancy. </a:t>
            </a:r>
          </a:p>
          <a:p>
            <a:endParaRPr lang="en-AU" sz="3200" dirty="0" smtClean="0"/>
          </a:p>
          <a:p>
            <a:r>
              <a:rPr lang="en-AU" sz="3200" dirty="0" smtClean="0"/>
              <a:t>The average is 0.5kg per week during the second half of the pregnancy. Excessive weight gain is hard to lose after the child is born. </a:t>
            </a:r>
          </a:p>
          <a:p>
            <a:endParaRPr lang="en-AU" sz="3200" dirty="0"/>
          </a:p>
          <a:p>
            <a:r>
              <a:rPr lang="en-AU" sz="3200" dirty="0"/>
              <a:t>A pregnant woman should exercise regularly. Walking regularly is recommended. </a:t>
            </a:r>
          </a:p>
          <a:p>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27033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Exposure to teratogens </a:t>
            </a:r>
            <a:endParaRPr lang="en-AU" sz="6000" dirty="0"/>
          </a:p>
        </p:txBody>
      </p:sp>
      <p:sp>
        <p:nvSpPr>
          <p:cNvPr id="3" name="Content Placeholder 2"/>
          <p:cNvSpPr>
            <a:spLocks noGrp="1"/>
          </p:cNvSpPr>
          <p:nvPr>
            <p:ph idx="1"/>
          </p:nvPr>
        </p:nvSpPr>
        <p:spPr/>
        <p:txBody>
          <a:bodyPr>
            <a:normAutofit/>
          </a:bodyPr>
          <a:lstStyle/>
          <a:p>
            <a:r>
              <a:rPr lang="en-AU" sz="3200" dirty="0" smtClean="0"/>
              <a:t>A teratogen is something that causes physical defects in the developing embryo. </a:t>
            </a:r>
          </a:p>
          <a:p>
            <a:endParaRPr lang="en-AU" sz="3200" dirty="0" smtClean="0"/>
          </a:p>
          <a:p>
            <a:r>
              <a:rPr lang="en-AU" sz="3200" dirty="0" smtClean="0"/>
              <a:t>They can include hormones, antibiotics, oral anticoagulants, anticonvulsants, anti-tumour drugs, thyroid drugs, thalidomide, LSD, and marijuana.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83403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Alcohol </a:t>
            </a:r>
            <a:endParaRPr lang="en-AU" sz="6000" b="1" dirty="0"/>
          </a:p>
        </p:txBody>
      </p:sp>
      <p:sp>
        <p:nvSpPr>
          <p:cNvPr id="3" name="Content Placeholder 2"/>
          <p:cNvSpPr>
            <a:spLocks noGrp="1"/>
          </p:cNvSpPr>
          <p:nvPr>
            <p:ph idx="1"/>
          </p:nvPr>
        </p:nvSpPr>
        <p:spPr>
          <a:xfrm>
            <a:off x="104503" y="1416322"/>
            <a:ext cx="6773092" cy="5106398"/>
          </a:xfrm>
        </p:spPr>
        <p:txBody>
          <a:bodyPr>
            <a:normAutofit/>
          </a:bodyPr>
          <a:lstStyle/>
          <a:p>
            <a:r>
              <a:rPr lang="en-AU" sz="3200" dirty="0" smtClean="0"/>
              <a:t>Foetal alcohol syndrome is the term used to describe the effects of foetal exposure to alcohol. </a:t>
            </a:r>
          </a:p>
          <a:p>
            <a:endParaRPr lang="en-AU" sz="3200" dirty="0"/>
          </a:p>
          <a:p>
            <a:r>
              <a:rPr lang="en-AU" sz="3200" dirty="0" smtClean="0"/>
              <a:t>Obvious effects are a lower than normal birth weight, slow growth, a small head, narrow eye slits, sunken nasal bridge, defects of the heart, intellectual disabilities, and behavioural problems.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r="18152" b="6870"/>
          <a:stretch/>
        </p:blipFill>
        <p:spPr>
          <a:xfrm>
            <a:off x="6597832" y="1775958"/>
            <a:ext cx="5559335" cy="3310437"/>
          </a:xfrm>
          <a:prstGeom prst="rect">
            <a:avLst/>
          </a:prstGeom>
        </p:spPr>
      </p:pic>
    </p:spTree>
    <p:extLst>
      <p:ext uri="{BB962C8B-B14F-4D97-AF65-F5344CB8AC3E}">
        <p14:creationId xmlns:p14="http://schemas.microsoft.com/office/powerpoint/2010/main" val="35841831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Smoking </a:t>
            </a:r>
            <a:endParaRPr lang="en-AU" sz="6000" b="1" dirty="0"/>
          </a:p>
        </p:txBody>
      </p:sp>
      <p:sp>
        <p:nvSpPr>
          <p:cNvPr id="3" name="Content Placeholder 2"/>
          <p:cNvSpPr>
            <a:spLocks noGrp="1"/>
          </p:cNvSpPr>
          <p:nvPr>
            <p:ph idx="1"/>
          </p:nvPr>
        </p:nvSpPr>
        <p:spPr/>
        <p:txBody>
          <a:bodyPr>
            <a:normAutofit/>
          </a:bodyPr>
          <a:lstStyle/>
          <a:p>
            <a:r>
              <a:rPr lang="en-AU" sz="3200" dirty="0" smtClean="0"/>
              <a:t>Has adverse effects on the developing foetus. </a:t>
            </a:r>
          </a:p>
          <a:p>
            <a:endParaRPr lang="en-AU" sz="3200" dirty="0"/>
          </a:p>
          <a:p>
            <a:r>
              <a:rPr lang="en-AU" sz="3200" dirty="0" smtClean="0"/>
              <a:t>Birth weight is lower, increased risk of miscarriage, gastrointestinal problems, respiratory problems, increase in sudden infant death syndrome.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83978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Chemicals </a:t>
            </a:r>
            <a:endParaRPr lang="en-AU" sz="6000" b="1" dirty="0"/>
          </a:p>
        </p:txBody>
      </p:sp>
      <p:sp>
        <p:nvSpPr>
          <p:cNvPr id="3" name="Content Placeholder 2"/>
          <p:cNvSpPr>
            <a:spLocks noGrp="1"/>
          </p:cNvSpPr>
          <p:nvPr>
            <p:ph idx="1"/>
          </p:nvPr>
        </p:nvSpPr>
        <p:spPr>
          <a:xfrm>
            <a:off x="298268" y="1390197"/>
            <a:ext cx="6738258" cy="5184774"/>
          </a:xfrm>
        </p:spPr>
        <p:txBody>
          <a:bodyPr>
            <a:normAutofit/>
          </a:bodyPr>
          <a:lstStyle/>
          <a:p>
            <a:r>
              <a:rPr lang="en-AU" sz="3200" dirty="0" smtClean="0"/>
              <a:t>Many chemicals are teratogenic agents. </a:t>
            </a:r>
          </a:p>
          <a:p>
            <a:r>
              <a:rPr lang="en-AU" sz="3200" dirty="0" smtClean="0"/>
              <a:t>E.g. thalidomide was an ingredient used in sleeping pills as well in morning sick medication. </a:t>
            </a:r>
          </a:p>
          <a:p>
            <a:r>
              <a:rPr lang="en-AU" sz="3200" dirty="0" smtClean="0"/>
              <a:t>Two years after it went on sale in 1958, a sharp rise in the incidence of limb malformations. It was taken off the market in 1961, but at least 7000 babies had been affected.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416039" y="365125"/>
            <a:ext cx="1852749" cy="2929659"/>
          </a:xfrm>
          <a:prstGeom prst="rect">
            <a:avLst/>
          </a:prstGeom>
        </p:spPr>
      </p:pic>
      <p:pic>
        <p:nvPicPr>
          <p:cNvPr id="6" name="Picture 5"/>
          <p:cNvPicPr>
            <a:picLocks noChangeAspect="1"/>
          </p:cNvPicPr>
          <p:nvPr/>
        </p:nvPicPr>
        <p:blipFill>
          <a:blip r:embed="rId3"/>
          <a:stretch>
            <a:fillRect/>
          </a:stretch>
        </p:blipFill>
        <p:spPr>
          <a:xfrm>
            <a:off x="8437392" y="2238103"/>
            <a:ext cx="3461741" cy="4235742"/>
          </a:xfrm>
          <a:prstGeom prst="rect">
            <a:avLst/>
          </a:prstGeom>
        </p:spPr>
      </p:pic>
    </p:spTree>
    <p:extLst>
      <p:ext uri="{BB962C8B-B14F-4D97-AF65-F5344CB8AC3E}">
        <p14:creationId xmlns:p14="http://schemas.microsoft.com/office/powerpoint/2010/main" val="16291854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Other Drugs </a:t>
            </a:r>
            <a:endParaRPr lang="en-AU" sz="6000" b="1" dirty="0"/>
          </a:p>
        </p:txBody>
      </p:sp>
      <p:sp>
        <p:nvSpPr>
          <p:cNvPr id="3" name="Content Placeholder 2"/>
          <p:cNvSpPr>
            <a:spLocks noGrp="1"/>
          </p:cNvSpPr>
          <p:nvPr>
            <p:ph idx="1"/>
          </p:nvPr>
        </p:nvSpPr>
        <p:spPr/>
        <p:txBody>
          <a:bodyPr>
            <a:normAutofit/>
          </a:bodyPr>
          <a:lstStyle/>
          <a:p>
            <a:r>
              <a:rPr lang="en-AU" sz="3200" dirty="0" smtClean="0"/>
              <a:t>Illegal drugs such as heroin and LSD, as well as many other drugs, can cause foetal damage. </a:t>
            </a:r>
          </a:p>
          <a:p>
            <a:endParaRPr lang="en-AU" sz="3200" dirty="0"/>
          </a:p>
          <a:p>
            <a:r>
              <a:rPr lang="en-AU" sz="3200" dirty="0" smtClean="0"/>
              <a:t>The likelihood of birth defects increases as well as miscarriage. </a:t>
            </a:r>
          </a:p>
          <a:p>
            <a:endParaRPr lang="en-AU" sz="3200" dirty="0"/>
          </a:p>
          <a:p>
            <a:r>
              <a:rPr lang="en-AU" sz="3200" dirty="0" smtClean="0"/>
              <a:t>Babies can be born addicted to drugs like heroin.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14130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Rubella </a:t>
            </a:r>
            <a:endParaRPr lang="en-AU" sz="6000" b="1" dirty="0"/>
          </a:p>
        </p:txBody>
      </p:sp>
      <p:sp>
        <p:nvSpPr>
          <p:cNvPr id="3" name="Content Placeholder 2"/>
          <p:cNvSpPr>
            <a:spLocks noGrp="1"/>
          </p:cNvSpPr>
          <p:nvPr>
            <p:ph idx="1"/>
          </p:nvPr>
        </p:nvSpPr>
        <p:spPr/>
        <p:txBody>
          <a:bodyPr>
            <a:normAutofit/>
          </a:bodyPr>
          <a:lstStyle/>
          <a:p>
            <a:r>
              <a:rPr lang="en-AU" sz="3200" dirty="0" smtClean="0"/>
              <a:t>Viral infection that has a higher incidence in school-aged children. If contracted by a pregnant woman it can led to the baby being born deaf, blind, or with heart malformations. </a:t>
            </a:r>
          </a:p>
          <a:p>
            <a:endParaRPr lang="en-AU" sz="3200" dirty="0" smtClean="0"/>
          </a:p>
          <a:p>
            <a:r>
              <a:rPr lang="en-AU" sz="3200" dirty="0" smtClean="0"/>
              <a:t>90% of babies will suffer from deafness, blindness, heart defects or brain damage if they are infected in the first 10 weeks of pregnancy. </a:t>
            </a:r>
            <a:endParaRPr lang="en-AU" sz="3200"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3194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How does sperm move through the female reproductive tract?</a:t>
            </a:r>
          </a:p>
          <a:p>
            <a:pPr marL="514350" indent="-514350">
              <a:buFont typeface="+mj-lt"/>
              <a:buAutoNum type="arabicPeriod"/>
            </a:pPr>
            <a:r>
              <a:rPr lang="en-AU" dirty="0" smtClean="0"/>
              <a:t>List the functions of the amniotic fluid</a:t>
            </a:r>
          </a:p>
          <a:p>
            <a:pPr marL="514350" indent="-514350">
              <a:buFont typeface="+mj-lt"/>
              <a:buAutoNum type="arabicPeriod"/>
            </a:pPr>
            <a:r>
              <a:rPr lang="en-AU" dirty="0" smtClean="0"/>
              <a:t>List the reasons for increased urination during pregnancy </a:t>
            </a:r>
          </a:p>
          <a:p>
            <a:pPr marL="514350" indent="-514350">
              <a:buFont typeface="+mj-lt"/>
              <a:buAutoNum type="arabicPeriod"/>
            </a:pPr>
            <a:r>
              <a:rPr lang="en-AU" dirty="0" smtClean="0"/>
              <a:t>Define teratogen and foetal alcohol syndrome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Why are a large number of sperm needed for fertilisation?</a:t>
            </a:r>
          </a:p>
          <a:p>
            <a:pPr marL="514350" indent="-514350">
              <a:buFont typeface="+mj-lt"/>
              <a:buAutoNum type="arabicPeriod"/>
            </a:pPr>
            <a:r>
              <a:rPr lang="en-AU" dirty="0" smtClean="0"/>
              <a:t>Use a flow chart to summarise the birth process. </a:t>
            </a:r>
          </a:p>
          <a:p>
            <a:pPr marL="514350" indent="-514350">
              <a:buFont typeface="+mj-lt"/>
              <a:buAutoNum type="arabicPeriod"/>
            </a:pPr>
            <a:r>
              <a:rPr lang="en-AU" dirty="0" smtClean="0"/>
              <a:t>Why should pregnant woman have to make lifestyle choices?</a:t>
            </a:r>
          </a:p>
          <a:p>
            <a:pPr marL="514350" indent="-514350">
              <a:buFont typeface="+mj-lt"/>
              <a:buAutoNum type="arabicPeriod"/>
            </a:pP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Create a summary/timeline of events from conception to birth.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303- 327: Reproduction produces offspring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383</TotalTime>
  <Words>3763</Words>
  <Application>Microsoft Office PowerPoint</Application>
  <PresentationFormat>Widescreen</PresentationFormat>
  <Paragraphs>323</Paragraphs>
  <Slides>76</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76</vt:i4>
      </vt:variant>
    </vt:vector>
  </HeadingPairs>
  <TitlesOfParts>
    <vt:vector size="81" baseType="lpstr">
      <vt:lpstr>Arial</vt:lpstr>
      <vt:lpstr>Calibri</vt:lpstr>
      <vt:lpstr>Calibri Light</vt:lpstr>
      <vt:lpstr>Office Theme</vt:lpstr>
      <vt:lpstr>1_Office Theme</vt:lpstr>
      <vt:lpstr>Sexual Intercourse and Birth </vt:lpstr>
      <vt:lpstr>SCSA Syllabus Reference </vt:lpstr>
      <vt:lpstr>Lesson Intention </vt:lpstr>
      <vt:lpstr>Lesson Intention </vt:lpstr>
      <vt:lpstr>Success Criteria </vt:lpstr>
      <vt:lpstr>Success Criteria </vt:lpstr>
      <vt:lpstr>Success Criteria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Vocabulary </vt:lpstr>
      <vt:lpstr>Sexual Intercourse </vt:lpstr>
      <vt:lpstr>Fertilisation </vt:lpstr>
      <vt:lpstr>Sperm Death </vt:lpstr>
      <vt:lpstr>Fertilisation </vt:lpstr>
      <vt:lpstr>Fertilisation continued </vt:lpstr>
      <vt:lpstr>Fertilisation continued. </vt:lpstr>
      <vt:lpstr>Fertilisation continued. </vt:lpstr>
      <vt:lpstr>Blastocyst Formation </vt:lpstr>
      <vt:lpstr>Blastocyst Formation continued. </vt:lpstr>
      <vt:lpstr>Implantation </vt:lpstr>
      <vt:lpstr>Hormone Production </vt:lpstr>
      <vt:lpstr>Embryonic Period </vt:lpstr>
      <vt:lpstr>Cell Differentiation</vt:lpstr>
      <vt:lpstr>Primary Germ Layers </vt:lpstr>
      <vt:lpstr>Ectoderm </vt:lpstr>
      <vt:lpstr>Mesoderm </vt:lpstr>
      <vt:lpstr>Endoderm </vt:lpstr>
      <vt:lpstr>Embryonic Membranes </vt:lpstr>
      <vt:lpstr>Embryonic Membranes continued. </vt:lpstr>
      <vt:lpstr>Embryonic Membranes continued. </vt:lpstr>
      <vt:lpstr>PowerPoint Presentation</vt:lpstr>
      <vt:lpstr>Development of the Placenta </vt:lpstr>
      <vt:lpstr>Function of the Placenta </vt:lpstr>
      <vt:lpstr>Development of the Placenta continued. </vt:lpstr>
      <vt:lpstr>Development of the Placenta continued. </vt:lpstr>
      <vt:lpstr>Pregnancy </vt:lpstr>
      <vt:lpstr>From embryo to foetus </vt:lpstr>
      <vt:lpstr>Stages of Foetal Development </vt:lpstr>
      <vt:lpstr>PowerPoint Presentation</vt:lpstr>
      <vt:lpstr>PowerPoint Presentation</vt:lpstr>
      <vt:lpstr>The Pregnant Mother </vt:lpstr>
      <vt:lpstr>Changes during birth </vt:lpstr>
      <vt:lpstr>Changes during birth continued </vt:lpstr>
      <vt:lpstr>PowerPoint Presentation</vt:lpstr>
      <vt:lpstr>Changes during birth </vt:lpstr>
      <vt:lpstr>PowerPoint Presentation</vt:lpstr>
      <vt:lpstr>Changes during birth </vt:lpstr>
      <vt:lpstr>Changes in the baby at birth </vt:lpstr>
      <vt:lpstr>Changes in the baby at birth </vt:lpstr>
      <vt:lpstr>Previous list Continued. </vt:lpstr>
      <vt:lpstr>Changes at birth </vt:lpstr>
      <vt:lpstr>Changes at birth continued. </vt:lpstr>
      <vt:lpstr>Changes at birth continued. </vt:lpstr>
      <vt:lpstr>Changes at birth continued. </vt:lpstr>
      <vt:lpstr>Maintaining a healthy pregnancy </vt:lpstr>
      <vt:lpstr>Maintaining a healthy pregnancy </vt:lpstr>
      <vt:lpstr>Exposure to teratogens </vt:lpstr>
      <vt:lpstr>Alcohol </vt:lpstr>
      <vt:lpstr>Smoking </vt:lpstr>
      <vt:lpstr>Chemicals </vt:lpstr>
      <vt:lpstr>Other Drugs </vt:lpstr>
      <vt:lpstr>Rubella </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42</cp:revision>
  <dcterms:created xsi:type="dcterms:W3CDTF">2021-12-16T00:48:44Z</dcterms:created>
  <dcterms:modified xsi:type="dcterms:W3CDTF">2022-10-25T23:47:42Z</dcterms:modified>
</cp:coreProperties>
</file>
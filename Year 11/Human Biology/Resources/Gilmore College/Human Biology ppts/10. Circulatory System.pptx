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74" r:id="rId7"/>
    <p:sldId id="275" r:id="rId8"/>
    <p:sldId id="260" r:id="rId9"/>
    <p:sldId id="276" r:id="rId10"/>
    <p:sldId id="277" r:id="rId11"/>
    <p:sldId id="278" r:id="rId12"/>
    <p:sldId id="279" r:id="rId13"/>
    <p:sldId id="280" r:id="rId14"/>
    <p:sldId id="281" r:id="rId15"/>
    <p:sldId id="283" r:id="rId16"/>
    <p:sldId id="282" r:id="rId17"/>
    <p:sldId id="261" r:id="rId18"/>
    <p:sldId id="284" r:id="rId19"/>
    <p:sldId id="285" r:id="rId20"/>
    <p:sldId id="286" r:id="rId21"/>
    <p:sldId id="287" r:id="rId22"/>
    <p:sldId id="288" r:id="rId23"/>
    <p:sldId id="289" r:id="rId24"/>
    <p:sldId id="290" r:id="rId25"/>
    <p:sldId id="291" r:id="rId26"/>
    <p:sldId id="292" r:id="rId27"/>
    <p:sldId id="293" r:id="rId28"/>
    <p:sldId id="294" r:id="rId29"/>
    <p:sldId id="295" r:id="rId30"/>
    <p:sldId id="296" r:id="rId31"/>
    <p:sldId id="298" r:id="rId32"/>
    <p:sldId id="297" r:id="rId33"/>
    <p:sldId id="267" r:id="rId34"/>
    <p:sldId id="299" r:id="rId35"/>
    <p:sldId id="300" r:id="rId36"/>
    <p:sldId id="301" r:id="rId37"/>
    <p:sldId id="302" r:id="rId38"/>
    <p:sldId id="303" r:id="rId39"/>
    <p:sldId id="304" r:id="rId40"/>
    <p:sldId id="268" r:id="rId41"/>
    <p:sldId id="269" r:id="rId42"/>
    <p:sldId id="270" r:id="rId43"/>
    <p:sldId id="271" r:id="rId44"/>
    <p:sldId id="272" r:id="rId45"/>
    <p:sldId id="273" r:id="rId46"/>
    <p:sldId id="262"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263" r:id="rId66"/>
    <p:sldId id="264" r:id="rId67"/>
    <p:sldId id="265" r:id="rId68"/>
    <p:sldId id="266"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 Type="http://schemas.openxmlformats.org/officeDocument/2006/relationships/slide" Target="slides/slide5.xml"/><Relationship Id="rId71"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24/03/2022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2766983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24/03/2022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802497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7DF4103-AC13-4E81-8F4A-7126A09DB8C9}" type="datetimeFigureOut">
              <a:rPr lang="en-AU" smtClean="0"/>
              <a:t>24/03/2022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970930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7DF4103-AC13-4E81-8F4A-7126A09DB8C9}" type="datetimeFigureOut">
              <a:rPr lang="en-AU" smtClean="0"/>
              <a:t>24/03/2022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507289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7DF4103-AC13-4E81-8F4A-7126A09DB8C9}" type="datetimeFigureOut">
              <a:rPr lang="en-AU" smtClean="0"/>
              <a:t>24/03/2022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962155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7DF4103-AC13-4E81-8F4A-7126A09DB8C9}" type="datetimeFigureOut">
              <a:rPr lang="en-AU" smtClean="0"/>
              <a:t>24/03/2022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4160661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DF4103-AC13-4E81-8F4A-7126A09DB8C9}" type="datetimeFigureOut">
              <a:rPr lang="en-AU" smtClean="0"/>
              <a:t>24/03/2022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377650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24/03/2022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145789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24/03/2022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053992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24/03/2022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93806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24/03/2022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515187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24/03/2022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90638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24/03/2022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430230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4EBC541-E1E4-46F0-B6E0-A9FD71F2F171}" type="datetimeFigureOut">
              <a:rPr lang="en-AU" smtClean="0"/>
              <a:t>24/03/2022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77392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04EBC541-E1E4-46F0-B6E0-A9FD71F2F171}" type="datetimeFigureOut">
              <a:rPr lang="en-AU" smtClean="0"/>
              <a:t>24/03/2022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589351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04EBC541-E1E4-46F0-B6E0-A9FD71F2F171}" type="datetimeFigureOut">
              <a:rPr lang="en-AU" smtClean="0"/>
              <a:t>24/03/2022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318456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04EBC541-E1E4-46F0-B6E0-A9FD71F2F171}" type="datetimeFigureOut">
              <a:rPr lang="en-AU" smtClean="0"/>
              <a:t>24/03/2022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4197532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EBC541-E1E4-46F0-B6E0-A9FD71F2F171}" type="datetimeFigureOut">
              <a:rPr lang="en-AU" smtClean="0"/>
              <a:t>24/03/2022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114883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24/03/2022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146108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24/03/2022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21566055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24/03/2022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141002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24/03/2022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52913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F4103-AC13-4E81-8F4A-7126A09DB8C9}" type="datetimeFigureOut">
              <a:rPr lang="en-AU" smtClean="0"/>
              <a:t>24/03/2022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F673CC-80CF-4E11-86F4-AB5A15E3C01E}" type="slidenum">
              <a:rPr lang="en-AU" smtClean="0"/>
              <a:t>‹#›</a:t>
            </a:fld>
            <a:endParaRPr lang="en-AU"/>
          </a:p>
        </p:txBody>
      </p:sp>
    </p:spTree>
    <p:extLst>
      <p:ext uri="{BB962C8B-B14F-4D97-AF65-F5344CB8AC3E}">
        <p14:creationId xmlns:p14="http://schemas.microsoft.com/office/powerpoint/2010/main" val="36186949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EBC541-E1E4-46F0-B6E0-A9FD71F2F171}" type="datetimeFigureOut">
              <a:rPr lang="en-AU" smtClean="0"/>
              <a:t>24/03/2022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24464C-AF91-46F0-8BFB-6ED76731428E}" type="slidenum">
              <a:rPr lang="en-AU" smtClean="0"/>
              <a:t>‹#›</a:t>
            </a:fld>
            <a:endParaRPr lang="en-AU"/>
          </a:p>
        </p:txBody>
      </p:sp>
    </p:spTree>
    <p:extLst>
      <p:ext uri="{BB962C8B-B14F-4D97-AF65-F5344CB8AC3E}">
        <p14:creationId xmlns:p14="http://schemas.microsoft.com/office/powerpoint/2010/main" val="1359971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AU" sz="8000" b="1" dirty="0" smtClean="0"/>
              <a:t>Circulatory System</a:t>
            </a:r>
            <a:endParaRPr lang="en-AU" sz="8000" b="1" dirty="0"/>
          </a:p>
        </p:txBody>
      </p:sp>
      <p:sp>
        <p:nvSpPr>
          <p:cNvPr id="3" name="Subtitle 2"/>
          <p:cNvSpPr>
            <a:spLocks noGrp="1"/>
          </p:cNvSpPr>
          <p:nvPr>
            <p:ph type="subTitle" idx="1"/>
          </p:nvPr>
        </p:nvSpPr>
        <p:spPr/>
        <p:txBody>
          <a:bodyPr/>
          <a:lstStyle/>
          <a:p>
            <a:r>
              <a:rPr lang="en-AU" dirty="0" smtClean="0"/>
              <a:t>Year 11 Human Biology </a:t>
            </a:r>
          </a:p>
          <a:p>
            <a:r>
              <a:rPr lang="en-AU" dirty="0" smtClean="0"/>
              <a:t>ATAR </a:t>
            </a:r>
          </a:p>
          <a:p>
            <a:r>
              <a:rPr lang="en-AU" dirty="0" smtClean="0"/>
              <a:t>PowerPoint 10</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492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4828"/>
            <a:ext cx="10515600" cy="1325563"/>
          </a:xfrm>
        </p:spPr>
        <p:txBody>
          <a:bodyPr>
            <a:normAutofit/>
          </a:bodyPr>
          <a:lstStyle/>
          <a:p>
            <a:r>
              <a:rPr lang="en-AU" sz="6000" b="1" dirty="0"/>
              <a:t>SCSA Syllabus Reference </a:t>
            </a:r>
            <a:endParaRPr lang="en-AU" sz="6000" dirty="0"/>
          </a:p>
        </p:txBody>
      </p:sp>
      <p:sp>
        <p:nvSpPr>
          <p:cNvPr id="3" name="Content Placeholder 2"/>
          <p:cNvSpPr>
            <a:spLocks noGrp="1"/>
          </p:cNvSpPr>
          <p:nvPr>
            <p:ph idx="1"/>
          </p:nvPr>
        </p:nvSpPr>
        <p:spPr>
          <a:xfrm>
            <a:off x="306977" y="1255508"/>
            <a:ext cx="11623766" cy="5415258"/>
          </a:xfrm>
        </p:spPr>
        <p:txBody>
          <a:bodyPr>
            <a:normAutofit fontScale="92500" lnSpcReduction="20000"/>
          </a:bodyPr>
          <a:lstStyle/>
          <a:p>
            <a:r>
              <a:rPr lang="en-AU" dirty="0"/>
              <a:t>the transport of materials within the internal environment for exchange with cells is facilitated by the structure and function of the circulatory system at the cell, tissue and organ </a:t>
            </a:r>
            <a:r>
              <a:rPr lang="en-AU" dirty="0" smtClean="0"/>
              <a:t>levels</a:t>
            </a:r>
            <a:endParaRPr lang="en-AU" dirty="0"/>
          </a:p>
          <a:p>
            <a:r>
              <a:rPr lang="en-AU" dirty="0"/>
              <a:t>the components of blood facilitate the transport of different materials around the body (plasma and erythrocytes), play a role in the clotting of blood (platelets) and the protection of the body (leucocytes)</a:t>
            </a:r>
          </a:p>
          <a:p>
            <a:r>
              <a:rPr lang="en-AU" dirty="0" smtClean="0"/>
              <a:t>blood </a:t>
            </a:r>
            <a:r>
              <a:rPr lang="en-AU" dirty="0"/>
              <a:t>transfusions rely on determining blood groups and can be used to treat many different diseases and </a:t>
            </a:r>
            <a:r>
              <a:rPr lang="en-AU" dirty="0" smtClean="0"/>
              <a:t>conditions</a:t>
            </a:r>
          </a:p>
          <a:p>
            <a:r>
              <a:rPr lang="en-AU" dirty="0"/>
              <a:t>the lymphatic system functions to return tissue fluid to the circulatory system and to assist in protecting the body from </a:t>
            </a:r>
            <a:r>
              <a:rPr lang="en-AU" dirty="0" smtClean="0"/>
              <a:t>disease</a:t>
            </a:r>
          </a:p>
          <a:p>
            <a:r>
              <a:rPr lang="en-AU" dirty="0"/>
              <a:t>lifestyle choices, including being active or sedentary, the use of drugs and type of diet, can compromise body functioning in the short term and may have long-term </a:t>
            </a:r>
            <a:r>
              <a:rPr lang="en-AU" dirty="0" smtClean="0"/>
              <a:t>consequences</a:t>
            </a:r>
            <a:endParaRPr lang="en-AU" dirty="0"/>
          </a:p>
          <a:p>
            <a:r>
              <a:rPr lang="en-AU" dirty="0"/>
              <a:t>treatment of conditions due to system or organ dysfunction has changed through improvements in early diagnosis and appropriate use of drugs, physical therapy, radiation therapy, and removal and/or replacement of affected parts</a:t>
            </a:r>
          </a:p>
          <a:p>
            <a:endParaRPr lang="en-AU" dirty="0"/>
          </a:p>
          <a:p>
            <a:endParaRPr lang="en-AU" dirty="0"/>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9133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Lesson Intention </a:t>
            </a:r>
            <a:endParaRPr lang="en-AU" sz="6000" b="1" dirty="0"/>
          </a:p>
        </p:txBody>
      </p:sp>
      <p:sp>
        <p:nvSpPr>
          <p:cNvPr id="3" name="Content Placeholder 2"/>
          <p:cNvSpPr>
            <a:spLocks noGrp="1"/>
          </p:cNvSpPr>
          <p:nvPr>
            <p:ph idx="1"/>
          </p:nvPr>
        </p:nvSpPr>
        <p:spPr/>
        <p:txBody>
          <a:bodyPr>
            <a:normAutofit fontScale="92500"/>
          </a:bodyPr>
          <a:lstStyle/>
          <a:p>
            <a:r>
              <a:rPr lang="en-AU" dirty="0"/>
              <a:t>To explore the structure and function of the circulatory system </a:t>
            </a:r>
            <a:endParaRPr lang="en-AU" dirty="0" smtClean="0"/>
          </a:p>
          <a:p>
            <a:r>
              <a:rPr lang="en-AU" dirty="0"/>
              <a:t>To explain the process of blood clotting </a:t>
            </a:r>
          </a:p>
          <a:p>
            <a:r>
              <a:rPr lang="en-AU" dirty="0"/>
              <a:t>To describe how blood moves through the </a:t>
            </a:r>
            <a:r>
              <a:rPr lang="en-AU" dirty="0" smtClean="0"/>
              <a:t>body</a:t>
            </a:r>
          </a:p>
          <a:p>
            <a:r>
              <a:rPr lang="en-AU" dirty="0"/>
              <a:t>To describe the different features of the valves of the heart </a:t>
            </a:r>
          </a:p>
          <a:p>
            <a:r>
              <a:rPr lang="en-AU" dirty="0"/>
              <a:t>To describe the different structure and function of the three blood vessels </a:t>
            </a:r>
          </a:p>
          <a:p>
            <a:r>
              <a:rPr lang="en-AU" dirty="0"/>
              <a:t> To describe the movement of blood through the circulatory system</a:t>
            </a:r>
          </a:p>
          <a:p>
            <a:r>
              <a:rPr lang="en-AU" dirty="0"/>
              <a:t>To explore blood group systems. </a:t>
            </a:r>
            <a:endParaRPr lang="en-AU" dirty="0" smtClean="0"/>
          </a:p>
          <a:p>
            <a:r>
              <a:rPr lang="en-AU" dirty="0"/>
              <a:t>To explore the function and structure of the lymphatic system </a:t>
            </a:r>
            <a:endParaRPr lang="en-AU" dirty="0" smtClean="0"/>
          </a:p>
          <a:p>
            <a:r>
              <a:rPr lang="en-AU" dirty="0"/>
              <a:t>To research the effect of lifestyle choices on the circulatory system. </a:t>
            </a:r>
          </a:p>
          <a:p>
            <a:endParaRPr lang="en-AU" dirty="0"/>
          </a:p>
          <a:p>
            <a:endParaRPr lang="en-AU" dirty="0"/>
          </a:p>
          <a:p>
            <a:endParaRPr lang="en-AU" dirty="0"/>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3027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p:txBody>
          <a:bodyPr>
            <a:normAutofit fontScale="92500" lnSpcReduction="20000"/>
          </a:bodyPr>
          <a:lstStyle/>
          <a:p>
            <a:r>
              <a:rPr lang="en-AU" dirty="0" smtClean="0"/>
              <a:t>identify </a:t>
            </a:r>
            <a:r>
              <a:rPr lang="en-AU" dirty="0"/>
              <a:t>and describe the structure of blood</a:t>
            </a:r>
          </a:p>
          <a:p>
            <a:r>
              <a:rPr lang="en-AU" dirty="0" smtClean="0"/>
              <a:t>describe </a:t>
            </a:r>
            <a:r>
              <a:rPr lang="en-AU" dirty="0"/>
              <a:t>how oxygen and carbon dioxide are transported through blood </a:t>
            </a:r>
          </a:p>
          <a:p>
            <a:r>
              <a:rPr lang="en-AU" dirty="0" smtClean="0"/>
              <a:t>describe </a:t>
            </a:r>
            <a:r>
              <a:rPr lang="en-AU" dirty="0"/>
              <a:t>how nutrients and waste are transported </a:t>
            </a:r>
          </a:p>
          <a:p>
            <a:r>
              <a:rPr lang="en-AU" dirty="0" smtClean="0"/>
              <a:t>explain </a:t>
            </a:r>
            <a:r>
              <a:rPr lang="en-AU" dirty="0"/>
              <a:t>the process of blood clotting</a:t>
            </a:r>
          </a:p>
          <a:p>
            <a:r>
              <a:rPr lang="en-AU" dirty="0" smtClean="0"/>
              <a:t>describe </a:t>
            </a:r>
            <a:r>
              <a:rPr lang="en-AU" dirty="0"/>
              <a:t>how blood moves through the body (overall process, from body </a:t>
            </a:r>
            <a:r>
              <a:rPr lang="en-AU" sz="1700" dirty="0" smtClean="0">
                <a:sym typeface="Wingdings" panose="05000000000000000000" pitchFamily="2" charset="2"/>
              </a:rPr>
              <a:t></a:t>
            </a:r>
            <a:r>
              <a:rPr lang="en-AU" dirty="0" smtClean="0"/>
              <a:t> heart</a:t>
            </a:r>
            <a:r>
              <a:rPr lang="en-AU" sz="1700" dirty="0" smtClean="0">
                <a:sym typeface="Wingdings" panose="05000000000000000000" pitchFamily="2" charset="2"/>
              </a:rPr>
              <a:t></a:t>
            </a:r>
            <a:r>
              <a:rPr lang="en-AU" dirty="0" smtClean="0"/>
              <a:t> </a:t>
            </a:r>
            <a:r>
              <a:rPr lang="en-AU" dirty="0"/>
              <a:t>lungs and then back to heart) </a:t>
            </a:r>
            <a:endParaRPr lang="en-AU" dirty="0" smtClean="0"/>
          </a:p>
          <a:p>
            <a:r>
              <a:rPr lang="en-AU" dirty="0" smtClean="0"/>
              <a:t>summarise </a:t>
            </a:r>
            <a:r>
              <a:rPr lang="en-AU" dirty="0"/>
              <a:t>the features of the valves of the heart (Pg. 111 Table 5.2) </a:t>
            </a:r>
          </a:p>
          <a:p>
            <a:r>
              <a:rPr lang="en-AU" dirty="0" smtClean="0"/>
              <a:t>describe </a:t>
            </a:r>
            <a:r>
              <a:rPr lang="en-AU" dirty="0"/>
              <a:t>the structure and function of blood vessels (arteries, capillaries and veins) </a:t>
            </a:r>
          </a:p>
          <a:p>
            <a:r>
              <a:rPr lang="en-AU" dirty="0" smtClean="0"/>
              <a:t>distinguish </a:t>
            </a:r>
            <a:r>
              <a:rPr lang="en-AU" dirty="0"/>
              <a:t>between arteries, capillaries and veins </a:t>
            </a:r>
          </a:p>
          <a:p>
            <a:r>
              <a:rPr lang="en-AU" dirty="0" smtClean="0"/>
              <a:t>distinguish </a:t>
            </a:r>
            <a:r>
              <a:rPr lang="en-AU" dirty="0"/>
              <a:t>between vasodilation and vasoconstriction </a:t>
            </a:r>
          </a:p>
          <a:p>
            <a:endParaRPr lang="en-AU" dirty="0"/>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3481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p:txBody>
          <a:bodyPr>
            <a:normAutofit fontScale="92500" lnSpcReduction="10000"/>
          </a:bodyPr>
          <a:lstStyle/>
          <a:p>
            <a:r>
              <a:rPr lang="en-AU" dirty="0" smtClean="0"/>
              <a:t>describe </a:t>
            </a:r>
            <a:r>
              <a:rPr lang="en-AU" dirty="0"/>
              <a:t>the sequence of events of the cardiac cycle </a:t>
            </a:r>
          </a:p>
          <a:p>
            <a:r>
              <a:rPr lang="en-AU" dirty="0" smtClean="0"/>
              <a:t>describe </a:t>
            </a:r>
            <a:r>
              <a:rPr lang="en-AU" dirty="0"/>
              <a:t>the structure of the heart and the circulation of blood </a:t>
            </a:r>
          </a:p>
          <a:p>
            <a:r>
              <a:rPr lang="en-AU" dirty="0" smtClean="0"/>
              <a:t>calculate </a:t>
            </a:r>
            <a:r>
              <a:rPr lang="en-AU" dirty="0"/>
              <a:t>cardiac output </a:t>
            </a:r>
          </a:p>
          <a:p>
            <a:r>
              <a:rPr lang="en-AU" dirty="0" smtClean="0"/>
              <a:t>distinguish </a:t>
            </a:r>
            <a:r>
              <a:rPr lang="en-AU" dirty="0"/>
              <a:t>between the ABO blood group system and the Rh blood group system. </a:t>
            </a:r>
          </a:p>
          <a:p>
            <a:r>
              <a:rPr lang="en-AU" dirty="0" smtClean="0"/>
              <a:t>distinguish </a:t>
            </a:r>
            <a:r>
              <a:rPr lang="en-AU" dirty="0"/>
              <a:t>between antigens and antibodies </a:t>
            </a:r>
          </a:p>
          <a:p>
            <a:r>
              <a:rPr lang="en-AU" dirty="0" smtClean="0"/>
              <a:t>recognise </a:t>
            </a:r>
            <a:r>
              <a:rPr lang="en-AU" dirty="0"/>
              <a:t>that is blood mixing is incompatible then the erythrocytes clump together (agglutinate). </a:t>
            </a:r>
          </a:p>
          <a:p>
            <a:r>
              <a:rPr lang="en-AU" dirty="0"/>
              <a:t>s</a:t>
            </a:r>
            <a:r>
              <a:rPr lang="en-AU" dirty="0" smtClean="0"/>
              <a:t>ummarise </a:t>
            </a:r>
            <a:r>
              <a:rPr lang="en-AU" dirty="0"/>
              <a:t>the different types of transfusions (whole blood, red cell concentrates, platelets concentrates, cryoprecipitate, immunoglobulins, autologous transfusion)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1787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p:txBody>
          <a:bodyPr/>
          <a:lstStyle/>
          <a:p>
            <a:r>
              <a:rPr lang="en-AU" dirty="0" smtClean="0"/>
              <a:t>describe </a:t>
            </a:r>
            <a:r>
              <a:rPr lang="en-AU" dirty="0"/>
              <a:t>the function of the lymphatic system </a:t>
            </a:r>
          </a:p>
          <a:p>
            <a:r>
              <a:rPr lang="en-AU" dirty="0" smtClean="0"/>
              <a:t>recall </a:t>
            </a:r>
            <a:r>
              <a:rPr lang="en-AU" dirty="0"/>
              <a:t>the structure of the lymphatic system </a:t>
            </a:r>
          </a:p>
          <a:p>
            <a:r>
              <a:rPr lang="en-AU" dirty="0" smtClean="0"/>
              <a:t>explain </a:t>
            </a:r>
            <a:r>
              <a:rPr lang="en-AU" dirty="0"/>
              <a:t>the role of the lymphatic system in defence against disease </a:t>
            </a:r>
            <a:endParaRPr lang="en-AU" dirty="0" smtClean="0"/>
          </a:p>
          <a:p>
            <a:r>
              <a:rPr lang="en-AU" dirty="0" smtClean="0"/>
              <a:t>independently </a:t>
            </a:r>
            <a:r>
              <a:rPr lang="en-AU" dirty="0"/>
              <a:t>research using devices provided </a:t>
            </a:r>
          </a:p>
          <a:p>
            <a:r>
              <a:rPr lang="en-AU" dirty="0" smtClean="0"/>
              <a:t>take </a:t>
            </a:r>
            <a:r>
              <a:rPr lang="en-AU" dirty="0"/>
              <a:t>concise notes </a:t>
            </a:r>
          </a:p>
          <a:p>
            <a:r>
              <a:rPr lang="en-AU" dirty="0" smtClean="0"/>
              <a:t>summarise </a:t>
            </a:r>
            <a:r>
              <a:rPr lang="en-AU" dirty="0"/>
              <a:t>their information in a short presentation to the class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9617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Formed elements</a:t>
            </a:r>
            <a:r>
              <a:rPr lang="en-AU" dirty="0"/>
              <a:t>: any cell or cell-like structure in the blood. </a:t>
            </a:r>
            <a:endParaRPr lang="en-AU" dirty="0" smtClean="0"/>
          </a:p>
          <a:p>
            <a:endParaRPr lang="en-AU" dirty="0"/>
          </a:p>
          <a:p>
            <a:r>
              <a:rPr lang="en-AU" b="1" dirty="0"/>
              <a:t>Plasma</a:t>
            </a:r>
            <a:r>
              <a:rPr lang="en-AU" dirty="0"/>
              <a:t>: the fluid part of the blood in which cells are suspended. </a:t>
            </a:r>
            <a:endParaRPr lang="en-AU" dirty="0" smtClean="0"/>
          </a:p>
          <a:p>
            <a:endParaRPr lang="en-AU" dirty="0"/>
          </a:p>
          <a:p>
            <a:r>
              <a:rPr lang="en-AU" b="1" dirty="0"/>
              <a:t>Erythrocytes</a:t>
            </a:r>
            <a:r>
              <a:rPr lang="en-AU" dirty="0"/>
              <a:t>: one of the formed elements of the blood; contains </a:t>
            </a:r>
            <a:r>
              <a:rPr lang="en-AU" dirty="0" smtClean="0"/>
              <a:t>haemoglobin</a:t>
            </a:r>
          </a:p>
          <a:p>
            <a:endParaRPr lang="en-AU" dirty="0"/>
          </a:p>
          <a:p>
            <a:r>
              <a:rPr lang="en-AU" b="1" dirty="0"/>
              <a:t>Leucocytes</a:t>
            </a:r>
            <a:r>
              <a:rPr lang="en-AU" dirty="0"/>
              <a:t>: one of the blood cells; it contains a nucleus, but no haemoglobin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196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8702"/>
            <a:ext cx="10515600" cy="1325563"/>
          </a:xfrm>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585652" y="1398904"/>
            <a:ext cx="11388634" cy="5306695"/>
          </a:xfrm>
        </p:spPr>
        <p:txBody>
          <a:bodyPr/>
          <a:lstStyle/>
          <a:p>
            <a:r>
              <a:rPr lang="en-AU" b="1" dirty="0"/>
              <a:t>Thrombocytes</a:t>
            </a:r>
            <a:r>
              <a:rPr lang="en-AU" dirty="0"/>
              <a:t>: one of the formed elements of blood; a fragment of cytoplasm enclosed in a membrane but lacking a nucleus </a:t>
            </a:r>
            <a:endParaRPr lang="en-AU" dirty="0" smtClean="0"/>
          </a:p>
          <a:p>
            <a:endParaRPr lang="en-AU" dirty="0"/>
          </a:p>
          <a:p>
            <a:r>
              <a:rPr lang="en-AU" b="1" dirty="0"/>
              <a:t>Haemoglobin</a:t>
            </a:r>
            <a:r>
              <a:rPr lang="en-AU" dirty="0"/>
              <a:t>: the pigment in red blood cell; it is involved in the transport of oxygen and some carbon dioxide through the body </a:t>
            </a:r>
            <a:endParaRPr lang="en-AU" dirty="0" smtClean="0"/>
          </a:p>
          <a:p>
            <a:endParaRPr lang="en-AU" dirty="0"/>
          </a:p>
          <a:p>
            <a:r>
              <a:rPr lang="en-AU" b="1" dirty="0"/>
              <a:t>Oxyhaemoglobin</a:t>
            </a:r>
            <a:r>
              <a:rPr lang="en-AU" dirty="0"/>
              <a:t>: oxygen combined with haemoglobin </a:t>
            </a:r>
            <a:endParaRPr lang="en-AU" dirty="0" smtClean="0"/>
          </a:p>
          <a:p>
            <a:endParaRPr lang="en-AU" dirty="0"/>
          </a:p>
          <a:p>
            <a:r>
              <a:rPr lang="en-AU" b="1" dirty="0"/>
              <a:t>Carbaminohaemoglobin</a:t>
            </a:r>
            <a:r>
              <a:rPr lang="en-AU" dirty="0"/>
              <a:t>: a molecule resulting from a combination of carbon dioxide and haemoglobin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2718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655320" y="1512116"/>
            <a:ext cx="11205754" cy="5106398"/>
          </a:xfrm>
        </p:spPr>
        <p:txBody>
          <a:bodyPr/>
          <a:lstStyle/>
          <a:p>
            <a:r>
              <a:rPr lang="en-AU" b="1" dirty="0"/>
              <a:t>Metabolic waste</a:t>
            </a:r>
            <a:r>
              <a:rPr lang="en-AU" dirty="0"/>
              <a:t>: substances produced by cells that cannot be used and that would be harmful if allowed to accumulate </a:t>
            </a:r>
            <a:endParaRPr lang="en-AU" dirty="0" smtClean="0"/>
          </a:p>
          <a:p>
            <a:endParaRPr lang="en-AU" dirty="0"/>
          </a:p>
          <a:p>
            <a:r>
              <a:rPr lang="en-AU" b="1" dirty="0"/>
              <a:t>Coagulation</a:t>
            </a:r>
            <a:r>
              <a:rPr lang="en-AU" dirty="0"/>
              <a:t>: the process of blood becoming gel-like; also called clotting </a:t>
            </a:r>
            <a:endParaRPr lang="en-AU" dirty="0" smtClean="0"/>
          </a:p>
          <a:p>
            <a:endParaRPr lang="en-AU" dirty="0"/>
          </a:p>
          <a:p>
            <a:r>
              <a:rPr lang="en-AU" b="1" dirty="0"/>
              <a:t>Thrombus</a:t>
            </a:r>
            <a:r>
              <a:rPr lang="en-AU" dirty="0"/>
              <a:t>: blood cells, platelets and plasma trapped together in a mesh of </a:t>
            </a:r>
            <a:r>
              <a:rPr lang="en-AU" dirty="0" smtClean="0"/>
              <a:t>fibrin</a:t>
            </a:r>
          </a:p>
          <a:p>
            <a:endParaRPr lang="en-AU" dirty="0"/>
          </a:p>
          <a:p>
            <a:r>
              <a:rPr lang="en-AU" b="1" dirty="0"/>
              <a:t>Clot retraction</a:t>
            </a:r>
            <a:r>
              <a:rPr lang="en-AU" dirty="0"/>
              <a:t>: contraction of the fibrous threads of a blood clot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8514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194" y="147411"/>
            <a:ext cx="10515600" cy="1325563"/>
          </a:xfrm>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420188" y="1355362"/>
            <a:ext cx="11223171" cy="5141232"/>
          </a:xfrm>
        </p:spPr>
        <p:txBody>
          <a:bodyPr/>
          <a:lstStyle/>
          <a:p>
            <a:r>
              <a:rPr lang="en-AU" b="1" dirty="0"/>
              <a:t>Heart</a:t>
            </a:r>
            <a:r>
              <a:rPr lang="en-AU" dirty="0"/>
              <a:t>: a hollow, muscular organ that pumps blood </a:t>
            </a:r>
            <a:endParaRPr lang="en-AU" dirty="0" smtClean="0"/>
          </a:p>
          <a:p>
            <a:endParaRPr lang="en-AU" dirty="0"/>
          </a:p>
          <a:p>
            <a:r>
              <a:rPr lang="en-AU" b="1" dirty="0"/>
              <a:t>Sternum</a:t>
            </a:r>
            <a:r>
              <a:rPr lang="en-AU" dirty="0"/>
              <a:t>: the breast bone </a:t>
            </a:r>
            <a:endParaRPr lang="en-AU" dirty="0" smtClean="0"/>
          </a:p>
          <a:p>
            <a:endParaRPr lang="en-AU" dirty="0"/>
          </a:p>
          <a:p>
            <a:r>
              <a:rPr lang="en-AU" b="1" dirty="0"/>
              <a:t>Pericardium</a:t>
            </a:r>
            <a:r>
              <a:rPr lang="en-AU" dirty="0"/>
              <a:t>: membrane enclosing the heart </a:t>
            </a:r>
            <a:endParaRPr lang="en-AU" dirty="0" smtClean="0"/>
          </a:p>
          <a:p>
            <a:endParaRPr lang="en-AU" dirty="0"/>
          </a:p>
          <a:p>
            <a:r>
              <a:rPr lang="en-AU" b="1" dirty="0"/>
              <a:t>Septum</a:t>
            </a:r>
            <a:r>
              <a:rPr lang="en-AU" dirty="0"/>
              <a:t>: the partition between the left and right sides of the heart </a:t>
            </a:r>
            <a:endParaRPr lang="en-AU" dirty="0" smtClean="0"/>
          </a:p>
          <a:p>
            <a:endParaRPr lang="en-AU" dirty="0"/>
          </a:p>
          <a:p>
            <a:r>
              <a:rPr lang="en-AU" b="1" dirty="0"/>
              <a:t>Cardiac muscle</a:t>
            </a:r>
            <a:r>
              <a:rPr lang="en-AU" dirty="0"/>
              <a:t>: the muscle that forms the wall of the heart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5978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515983" y="1520825"/>
            <a:ext cx="11414760" cy="5176066"/>
          </a:xfrm>
        </p:spPr>
        <p:txBody>
          <a:bodyPr/>
          <a:lstStyle/>
          <a:p>
            <a:r>
              <a:rPr lang="en-AU" b="1" dirty="0"/>
              <a:t>Atrioventricular valve</a:t>
            </a:r>
            <a:r>
              <a:rPr lang="en-AU" dirty="0"/>
              <a:t>: valves within the heart that ensure the blood flows through it in one direction only. </a:t>
            </a:r>
            <a:endParaRPr lang="en-AU" dirty="0" smtClean="0"/>
          </a:p>
          <a:p>
            <a:endParaRPr lang="en-AU" dirty="0" smtClean="0"/>
          </a:p>
          <a:p>
            <a:r>
              <a:rPr lang="en-AU" b="1" dirty="0" smtClean="0"/>
              <a:t>Semilunar </a:t>
            </a:r>
            <a:r>
              <a:rPr lang="en-AU" b="1" dirty="0"/>
              <a:t>valve</a:t>
            </a:r>
            <a:r>
              <a:rPr lang="en-AU" dirty="0"/>
              <a:t>: valve preventing blood from flowing back into the ventricles; located at the start of the aorta and pulmonary artery</a:t>
            </a:r>
            <a:r>
              <a:rPr lang="en-AU" dirty="0" smtClean="0"/>
              <a:t>.</a:t>
            </a:r>
          </a:p>
          <a:p>
            <a:endParaRPr lang="en-AU" dirty="0"/>
          </a:p>
          <a:p>
            <a:r>
              <a:rPr lang="en-AU" b="1" dirty="0"/>
              <a:t>Arteries</a:t>
            </a:r>
            <a:r>
              <a:rPr lang="en-AU" dirty="0"/>
              <a:t>: a blood vessel that carries blood away from the heart </a:t>
            </a:r>
            <a:endParaRPr lang="en-AU" dirty="0" smtClean="0"/>
          </a:p>
          <a:p>
            <a:endParaRPr lang="en-AU" dirty="0"/>
          </a:p>
          <a:p>
            <a:r>
              <a:rPr lang="en-AU" b="1" dirty="0"/>
              <a:t>Vasoconstriction</a:t>
            </a:r>
            <a:r>
              <a:rPr lang="en-AU" dirty="0"/>
              <a:t>: decrease in the diameter of blood vessels, restricting the flow of blood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2067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611776" y="1407613"/>
            <a:ext cx="11118669" cy="5167358"/>
          </a:xfrm>
        </p:spPr>
        <p:txBody>
          <a:bodyPr/>
          <a:lstStyle/>
          <a:p>
            <a:r>
              <a:rPr lang="en-AU" b="1" dirty="0"/>
              <a:t>Vasodilation</a:t>
            </a:r>
            <a:r>
              <a:rPr lang="en-AU" dirty="0"/>
              <a:t>: increase in the diameter of blood vessels, increasing the flow of </a:t>
            </a:r>
            <a:r>
              <a:rPr lang="en-AU" dirty="0" smtClean="0"/>
              <a:t>blood</a:t>
            </a:r>
          </a:p>
          <a:p>
            <a:pPr marL="0" indent="0">
              <a:buNone/>
            </a:pPr>
            <a:endParaRPr lang="en-AU" dirty="0"/>
          </a:p>
          <a:p>
            <a:r>
              <a:rPr lang="en-AU" b="1" dirty="0"/>
              <a:t>Capillaries</a:t>
            </a:r>
            <a:r>
              <a:rPr lang="en-AU" dirty="0"/>
              <a:t>: a microscopic blood vessel that links arterioles and venules </a:t>
            </a:r>
            <a:endParaRPr lang="en-AU" dirty="0" smtClean="0"/>
          </a:p>
          <a:p>
            <a:endParaRPr lang="en-AU" dirty="0"/>
          </a:p>
          <a:p>
            <a:r>
              <a:rPr lang="en-AU" b="1" dirty="0"/>
              <a:t>Veins: </a:t>
            </a:r>
            <a:r>
              <a:rPr lang="en-AU" dirty="0"/>
              <a:t>a blood vessel that carries blood towards the heart </a:t>
            </a:r>
            <a:endParaRPr lang="en-AU" dirty="0" smtClean="0"/>
          </a:p>
          <a:p>
            <a:endParaRPr lang="en-AU" dirty="0"/>
          </a:p>
          <a:p>
            <a:r>
              <a:rPr lang="en-AU" b="1" dirty="0"/>
              <a:t>Cardiac Cycle</a:t>
            </a:r>
            <a:r>
              <a:rPr lang="en-AU" dirty="0"/>
              <a:t>: the cycle of events that occurs in one complete heartbeat </a:t>
            </a:r>
            <a:endParaRPr lang="en-AU" dirty="0" smtClean="0"/>
          </a:p>
          <a:p>
            <a:endParaRPr lang="en-AU" dirty="0"/>
          </a:p>
          <a:p>
            <a:r>
              <a:rPr lang="en-AU" b="1" dirty="0"/>
              <a:t>Systole</a:t>
            </a:r>
            <a:r>
              <a:rPr lang="en-AU" dirty="0"/>
              <a:t>: the period when the heart muscle contracts </a:t>
            </a:r>
          </a:p>
          <a:p>
            <a:endParaRPr lang="en-AU" dirty="0"/>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688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455022" y="1459864"/>
            <a:ext cx="11406051" cy="5210901"/>
          </a:xfrm>
        </p:spPr>
        <p:txBody>
          <a:bodyPr/>
          <a:lstStyle/>
          <a:p>
            <a:r>
              <a:rPr lang="en-AU" b="1" dirty="0"/>
              <a:t>Diastole</a:t>
            </a:r>
            <a:r>
              <a:rPr lang="en-AU" dirty="0"/>
              <a:t>: the period of relaxation of the heart (between contractions), during which it fills with blood. </a:t>
            </a:r>
            <a:endParaRPr lang="en-AU" dirty="0" smtClean="0"/>
          </a:p>
          <a:p>
            <a:endParaRPr lang="en-AU" dirty="0" smtClean="0"/>
          </a:p>
          <a:p>
            <a:r>
              <a:rPr lang="en-AU" b="1" dirty="0"/>
              <a:t>Blood transfusion</a:t>
            </a:r>
            <a:r>
              <a:rPr lang="en-AU" dirty="0"/>
              <a:t>: the transfer of blood, or of some of the components of blood, into the circulation of a person. </a:t>
            </a:r>
            <a:endParaRPr lang="en-AU" dirty="0" smtClean="0"/>
          </a:p>
          <a:p>
            <a:endParaRPr lang="en-AU" dirty="0"/>
          </a:p>
          <a:p>
            <a:r>
              <a:rPr lang="en-AU" b="1" dirty="0"/>
              <a:t>Antigen</a:t>
            </a:r>
            <a:r>
              <a:rPr lang="en-AU" dirty="0"/>
              <a:t>: any substance capable of causing the formation of antibodies when introduced into the tissue. </a:t>
            </a:r>
            <a:endParaRPr lang="en-AU" dirty="0" smtClean="0"/>
          </a:p>
          <a:p>
            <a:endParaRPr lang="en-AU" dirty="0"/>
          </a:p>
          <a:p>
            <a:r>
              <a:rPr lang="en-AU" b="1" dirty="0"/>
              <a:t>Antibody</a:t>
            </a:r>
            <a:r>
              <a:rPr lang="en-AU" dirty="0"/>
              <a:t>: a substance produced in response to a specific antigen; it combines with the antigen to neutralise or destroy it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1240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079"/>
            <a:ext cx="10515600" cy="1325563"/>
          </a:xfrm>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350520" y="1398905"/>
            <a:ext cx="11562806" cy="5237026"/>
          </a:xfrm>
        </p:spPr>
        <p:txBody>
          <a:bodyPr/>
          <a:lstStyle/>
          <a:p>
            <a:r>
              <a:rPr lang="en-AU" b="1" dirty="0"/>
              <a:t>Agglutination</a:t>
            </a:r>
            <a:r>
              <a:rPr lang="en-AU" dirty="0"/>
              <a:t>: the clumping together of micro-organisms or of blood cells. </a:t>
            </a:r>
            <a:endParaRPr lang="en-AU" dirty="0" smtClean="0"/>
          </a:p>
          <a:p>
            <a:endParaRPr lang="en-AU" dirty="0" smtClean="0"/>
          </a:p>
          <a:p>
            <a:r>
              <a:rPr lang="en-AU" b="1" dirty="0"/>
              <a:t>Lymph</a:t>
            </a:r>
            <a:r>
              <a:rPr lang="en-AU" dirty="0"/>
              <a:t>: colourless fluid that circulates through the lymphatic vessels before returning to the blood. </a:t>
            </a:r>
            <a:endParaRPr lang="en-AU" dirty="0" smtClean="0"/>
          </a:p>
          <a:p>
            <a:endParaRPr lang="en-AU" dirty="0"/>
          </a:p>
          <a:p>
            <a:r>
              <a:rPr lang="en-AU" b="1" dirty="0"/>
              <a:t>Lymphatic system</a:t>
            </a:r>
            <a:r>
              <a:rPr lang="en-AU" dirty="0"/>
              <a:t>: a system of vessels that drains excess fluid from the tissues. </a:t>
            </a:r>
            <a:endParaRPr lang="en-AU" dirty="0" smtClean="0"/>
          </a:p>
          <a:p>
            <a:endParaRPr lang="en-AU" dirty="0"/>
          </a:p>
          <a:p>
            <a:r>
              <a:rPr lang="en-AU" b="1" dirty="0"/>
              <a:t>Lymph vessels</a:t>
            </a:r>
            <a:r>
              <a:rPr lang="en-AU" dirty="0"/>
              <a:t>: a large vessel that collects lymph from the lymph capillaries. Lymphatic vessels join up and eventually return lymph to the blood.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33112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Lymph nodes</a:t>
            </a:r>
            <a:r>
              <a:rPr lang="en-AU" dirty="0"/>
              <a:t>: an oval or bean-shaped structure found on the lymphatic vessels; it is involved in protection against infection. Also called a lymph gland. </a:t>
            </a:r>
            <a:endParaRPr lang="en-AU" dirty="0" smtClean="0"/>
          </a:p>
          <a:p>
            <a:endParaRPr lang="en-AU" dirty="0"/>
          </a:p>
          <a:p>
            <a:r>
              <a:rPr lang="en-AU" b="1" dirty="0"/>
              <a:t>Lymphocytes</a:t>
            </a:r>
            <a:r>
              <a:rPr lang="en-AU" dirty="0"/>
              <a:t>: a type of white blood cell; also found in lymph nodes and in lymph. </a:t>
            </a:r>
            <a:endParaRPr lang="en-AU" dirty="0" smtClean="0"/>
          </a:p>
          <a:p>
            <a:endParaRPr lang="en-AU" dirty="0"/>
          </a:p>
          <a:p>
            <a:r>
              <a:rPr lang="en-AU" b="1" dirty="0"/>
              <a:t>Phagocytic cells</a:t>
            </a:r>
            <a:r>
              <a:rPr lang="en-AU" dirty="0"/>
              <a:t>: cells that can engulf and digest micro-organisms and cell debris.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5871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functions of blood</a:t>
            </a:r>
            <a:endParaRPr lang="en-AU" sz="6000" b="1" dirty="0"/>
          </a:p>
        </p:txBody>
      </p:sp>
      <p:sp>
        <p:nvSpPr>
          <p:cNvPr id="3" name="Content Placeholder 2"/>
          <p:cNvSpPr>
            <a:spLocks noGrp="1"/>
          </p:cNvSpPr>
          <p:nvPr>
            <p:ph idx="1"/>
          </p:nvPr>
        </p:nvSpPr>
        <p:spPr/>
        <p:txBody>
          <a:bodyPr/>
          <a:lstStyle/>
          <a:p>
            <a:r>
              <a:rPr lang="en-AU" dirty="0" smtClean="0"/>
              <a:t>Functions include </a:t>
            </a:r>
          </a:p>
          <a:p>
            <a:pPr lvl="1"/>
            <a:r>
              <a:rPr lang="en-AU" dirty="0" smtClean="0"/>
              <a:t>transporting oxygen and nutrients to the cells of the body </a:t>
            </a:r>
          </a:p>
          <a:p>
            <a:pPr lvl="1"/>
            <a:r>
              <a:rPr lang="en-AU" dirty="0" smtClean="0"/>
              <a:t>transporting carbon dioxide and other waste products away from the cells </a:t>
            </a:r>
          </a:p>
          <a:p>
            <a:pPr lvl="1"/>
            <a:r>
              <a:rPr lang="en-AU" dirty="0" smtClean="0"/>
              <a:t>transporting chemical messengers called hormones to the cells </a:t>
            </a:r>
          </a:p>
          <a:p>
            <a:pPr lvl="1"/>
            <a:r>
              <a:rPr lang="en-AU" dirty="0" smtClean="0"/>
              <a:t>maintaining the pH of body fluids </a:t>
            </a:r>
          </a:p>
          <a:p>
            <a:pPr lvl="1"/>
            <a:r>
              <a:rPr lang="en-AU" dirty="0" smtClean="0"/>
              <a:t>distributing heat and maintaining body temperature </a:t>
            </a:r>
          </a:p>
          <a:p>
            <a:pPr lvl="1"/>
            <a:r>
              <a:rPr lang="en-AU" dirty="0" smtClean="0"/>
              <a:t>maintaining water content and ion concentration of body fluids </a:t>
            </a:r>
          </a:p>
          <a:p>
            <a:pPr lvl="1"/>
            <a:r>
              <a:rPr lang="en-AU" dirty="0" smtClean="0"/>
              <a:t>protecting against disease-causing micro-organisms </a:t>
            </a:r>
          </a:p>
          <a:p>
            <a:pPr lvl="1"/>
            <a:r>
              <a:rPr lang="en-AU" dirty="0" smtClean="0"/>
              <a:t>clotting when vessels are damaged, thus preventing blood loss. </a:t>
            </a:r>
          </a:p>
          <a:p>
            <a:pPr lvl="1"/>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503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Structure of blood </a:t>
            </a:r>
            <a:endParaRPr lang="en-AU" sz="6000" b="1" dirty="0"/>
          </a:p>
        </p:txBody>
      </p:sp>
      <p:sp>
        <p:nvSpPr>
          <p:cNvPr id="3" name="Content Placeholder 2"/>
          <p:cNvSpPr>
            <a:spLocks noGrp="1"/>
          </p:cNvSpPr>
          <p:nvPr>
            <p:ph idx="1"/>
          </p:nvPr>
        </p:nvSpPr>
        <p:spPr>
          <a:xfrm>
            <a:off x="838200" y="1825625"/>
            <a:ext cx="6851469" cy="4351338"/>
          </a:xfrm>
        </p:spPr>
        <p:txBody>
          <a:bodyPr/>
          <a:lstStyle/>
          <a:p>
            <a:r>
              <a:rPr lang="en-AU" dirty="0" smtClean="0"/>
              <a:t>Blood is composed of plasma and formed elements. </a:t>
            </a:r>
          </a:p>
          <a:p>
            <a:endParaRPr lang="en-AU" dirty="0"/>
          </a:p>
          <a:p>
            <a:r>
              <a:rPr lang="en-AU" dirty="0" smtClean="0"/>
              <a:t>Plasma makes up ~ 55% of blood volume </a:t>
            </a:r>
          </a:p>
          <a:p>
            <a:endParaRPr lang="en-AU" dirty="0"/>
          </a:p>
          <a:p>
            <a:r>
              <a:rPr lang="en-AU" dirty="0" smtClean="0"/>
              <a:t>Formed elements make up ~ 45% of blood volume and consist of red blood cells, white blood cells and platelets.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7689669" y="995363"/>
            <a:ext cx="4152900" cy="5181600"/>
          </a:xfrm>
          <a:prstGeom prst="rect">
            <a:avLst/>
          </a:prstGeom>
        </p:spPr>
      </p:pic>
    </p:spTree>
    <p:extLst>
      <p:ext uri="{BB962C8B-B14F-4D97-AF65-F5344CB8AC3E}">
        <p14:creationId xmlns:p14="http://schemas.microsoft.com/office/powerpoint/2010/main" val="26878724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Plasma</a:t>
            </a:r>
            <a:r>
              <a:rPr lang="en-AU" sz="6000" dirty="0" smtClean="0"/>
              <a:t> </a:t>
            </a:r>
            <a:endParaRPr lang="en-AU" sz="6000" dirty="0"/>
          </a:p>
        </p:txBody>
      </p:sp>
      <p:sp>
        <p:nvSpPr>
          <p:cNvPr id="3" name="Content Placeholder 2"/>
          <p:cNvSpPr>
            <a:spLocks noGrp="1"/>
          </p:cNvSpPr>
          <p:nvPr>
            <p:ph idx="1"/>
          </p:nvPr>
        </p:nvSpPr>
        <p:spPr/>
        <p:txBody>
          <a:bodyPr/>
          <a:lstStyle/>
          <a:p>
            <a:r>
              <a:rPr lang="en-AU" dirty="0" smtClean="0"/>
              <a:t>Mixture of water with dissolved substances such as sugar and salts </a:t>
            </a:r>
          </a:p>
          <a:p>
            <a:endParaRPr lang="en-AU" dirty="0"/>
          </a:p>
          <a:p>
            <a:r>
              <a:rPr lang="en-AU" dirty="0" smtClean="0"/>
              <a:t>The function of plasma is to transport the components of blood, including cells, nutrients, wastes, hormones, proteins and antibodies, throughout the body.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7537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Erythrocytes </a:t>
            </a:r>
            <a:endParaRPr lang="en-AU" sz="6000" b="1" dirty="0"/>
          </a:p>
        </p:txBody>
      </p:sp>
      <p:sp>
        <p:nvSpPr>
          <p:cNvPr id="3" name="Content Placeholder 2"/>
          <p:cNvSpPr>
            <a:spLocks noGrp="1"/>
          </p:cNvSpPr>
          <p:nvPr>
            <p:ph idx="1"/>
          </p:nvPr>
        </p:nvSpPr>
        <p:spPr/>
        <p:txBody>
          <a:bodyPr/>
          <a:lstStyle/>
          <a:p>
            <a:r>
              <a:rPr lang="en-AU" dirty="0" smtClean="0"/>
              <a:t>AKA- Red blood cells </a:t>
            </a:r>
          </a:p>
          <a:p>
            <a:endParaRPr lang="en-AU" dirty="0"/>
          </a:p>
          <a:p>
            <a:r>
              <a:rPr lang="en-AU" dirty="0" smtClean="0"/>
              <a:t>Account for 40-45% of bloods volume </a:t>
            </a:r>
          </a:p>
          <a:p>
            <a:endParaRPr lang="en-AU" dirty="0"/>
          </a:p>
          <a:p>
            <a:r>
              <a:rPr lang="en-AU" dirty="0" smtClean="0"/>
              <a:t>Cells are a biconcave shape- flattened in the middle on both sides. Red blood cells do not contain a nucleus. </a:t>
            </a:r>
          </a:p>
          <a:p>
            <a:endParaRPr lang="en-AU" dirty="0"/>
          </a:p>
          <a:p>
            <a:r>
              <a:rPr lang="en-AU" dirty="0" smtClean="0"/>
              <a:t>Their function is to transport oxygen from the lungs to the cells throughout the body.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31461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Leucocytes</a:t>
            </a:r>
            <a:r>
              <a:rPr lang="en-AU" sz="6000" dirty="0" smtClean="0"/>
              <a:t> </a:t>
            </a:r>
            <a:endParaRPr lang="en-AU" sz="6000" dirty="0"/>
          </a:p>
        </p:txBody>
      </p:sp>
      <p:sp>
        <p:nvSpPr>
          <p:cNvPr id="3" name="Content Placeholder 2"/>
          <p:cNvSpPr>
            <a:spLocks noGrp="1"/>
          </p:cNvSpPr>
          <p:nvPr>
            <p:ph idx="1"/>
          </p:nvPr>
        </p:nvSpPr>
        <p:spPr/>
        <p:txBody>
          <a:bodyPr/>
          <a:lstStyle/>
          <a:p>
            <a:r>
              <a:rPr lang="en-AU" dirty="0" smtClean="0"/>
              <a:t>AKA white blood cells </a:t>
            </a:r>
          </a:p>
          <a:p>
            <a:endParaRPr lang="en-AU" dirty="0"/>
          </a:p>
          <a:p>
            <a:r>
              <a:rPr lang="en-AU" dirty="0" smtClean="0"/>
              <a:t>Play an important role in protecting the body from infection. </a:t>
            </a:r>
          </a:p>
          <a:p>
            <a:endParaRPr lang="en-AU" dirty="0"/>
          </a:p>
          <a:p>
            <a:r>
              <a:rPr lang="en-AU" dirty="0" smtClean="0"/>
              <a:t>Larger than red blood cells, but only make up ~1% of blood.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43826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Different types of Leucocytes </a:t>
            </a:r>
            <a:endParaRPr lang="en-AU" sz="6000" b="1"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710983499"/>
              </p:ext>
            </p:extLst>
          </p:nvPr>
        </p:nvGraphicFramePr>
        <p:xfrm>
          <a:off x="315684" y="2065155"/>
          <a:ext cx="11545390" cy="3108960"/>
        </p:xfrm>
        <a:graphic>
          <a:graphicData uri="http://schemas.openxmlformats.org/drawingml/2006/table">
            <a:tbl>
              <a:tblPr firstRow="1" bandRow="1">
                <a:tableStyleId>{073A0DAA-6AF3-43AB-8588-CEC1D06C72B9}</a:tableStyleId>
              </a:tblPr>
              <a:tblGrid>
                <a:gridCol w="3115493">
                  <a:extLst>
                    <a:ext uri="{9D8B030D-6E8A-4147-A177-3AD203B41FA5}">
                      <a16:colId xmlns:a16="http://schemas.microsoft.com/office/drawing/2014/main" val="647441779"/>
                    </a:ext>
                  </a:extLst>
                </a:gridCol>
                <a:gridCol w="8429897">
                  <a:extLst>
                    <a:ext uri="{9D8B030D-6E8A-4147-A177-3AD203B41FA5}">
                      <a16:colId xmlns:a16="http://schemas.microsoft.com/office/drawing/2014/main" val="3719279203"/>
                    </a:ext>
                  </a:extLst>
                </a:gridCol>
              </a:tblGrid>
              <a:tr h="0">
                <a:tc>
                  <a:txBody>
                    <a:bodyPr/>
                    <a:lstStyle/>
                    <a:p>
                      <a:pPr algn="ctr"/>
                      <a:r>
                        <a:rPr lang="en-AU" sz="2800" dirty="0" smtClean="0"/>
                        <a:t>Name</a:t>
                      </a:r>
                      <a:endParaRPr lang="en-AU" sz="2800" dirty="0"/>
                    </a:p>
                  </a:txBody>
                  <a:tcPr/>
                </a:tc>
                <a:tc>
                  <a:txBody>
                    <a:bodyPr/>
                    <a:lstStyle/>
                    <a:p>
                      <a:pPr algn="ctr"/>
                      <a:r>
                        <a:rPr lang="en-AU" sz="2800" dirty="0" smtClean="0"/>
                        <a:t>Description</a:t>
                      </a:r>
                      <a:r>
                        <a:rPr lang="en-AU" sz="2800" baseline="0" dirty="0" smtClean="0"/>
                        <a:t> </a:t>
                      </a:r>
                      <a:endParaRPr lang="en-AU" sz="2800" dirty="0"/>
                    </a:p>
                  </a:txBody>
                  <a:tcPr/>
                </a:tc>
                <a:extLst>
                  <a:ext uri="{0D108BD9-81ED-4DB2-BD59-A6C34878D82A}">
                    <a16:rowId xmlns:a16="http://schemas.microsoft.com/office/drawing/2014/main" val="564214645"/>
                  </a:ext>
                </a:extLst>
              </a:tr>
              <a:tr h="0">
                <a:tc>
                  <a:txBody>
                    <a:bodyPr/>
                    <a:lstStyle/>
                    <a:p>
                      <a:pPr algn="ctr"/>
                      <a:r>
                        <a:rPr lang="en-AU" sz="2800" dirty="0" smtClean="0"/>
                        <a:t>Neutrophils</a:t>
                      </a:r>
                      <a:endParaRPr lang="en-AU" sz="2800" dirty="0"/>
                    </a:p>
                  </a:txBody>
                  <a:tcPr/>
                </a:tc>
                <a:tc>
                  <a:txBody>
                    <a:bodyPr/>
                    <a:lstStyle/>
                    <a:p>
                      <a:pPr algn="ctr"/>
                      <a:r>
                        <a:rPr lang="en-AU" sz="2800" dirty="0" smtClean="0"/>
                        <a:t>Most common, contain enzymes</a:t>
                      </a:r>
                      <a:r>
                        <a:rPr lang="en-AU" sz="2800" baseline="0" dirty="0" smtClean="0"/>
                        <a:t> to digest pathogens </a:t>
                      </a:r>
                      <a:endParaRPr lang="en-AU" sz="2800" dirty="0"/>
                    </a:p>
                  </a:txBody>
                  <a:tcPr/>
                </a:tc>
                <a:extLst>
                  <a:ext uri="{0D108BD9-81ED-4DB2-BD59-A6C34878D82A}">
                    <a16:rowId xmlns:a16="http://schemas.microsoft.com/office/drawing/2014/main" val="4069787611"/>
                  </a:ext>
                </a:extLst>
              </a:tr>
              <a:tr h="0">
                <a:tc>
                  <a:txBody>
                    <a:bodyPr/>
                    <a:lstStyle/>
                    <a:p>
                      <a:pPr algn="ctr"/>
                      <a:r>
                        <a:rPr lang="en-AU" sz="2800" dirty="0" smtClean="0"/>
                        <a:t>Monocytes </a:t>
                      </a:r>
                      <a:endParaRPr lang="en-AU" sz="2800" dirty="0"/>
                    </a:p>
                  </a:txBody>
                  <a:tcPr/>
                </a:tc>
                <a:tc>
                  <a:txBody>
                    <a:bodyPr/>
                    <a:lstStyle/>
                    <a:p>
                      <a:pPr algn="ctr"/>
                      <a:r>
                        <a:rPr lang="en-AU" sz="2800" dirty="0" smtClean="0"/>
                        <a:t>Form other cells e.g. macrophages (immune system) </a:t>
                      </a:r>
                      <a:endParaRPr lang="en-AU" sz="2800" dirty="0"/>
                    </a:p>
                  </a:txBody>
                  <a:tcPr/>
                </a:tc>
                <a:extLst>
                  <a:ext uri="{0D108BD9-81ED-4DB2-BD59-A6C34878D82A}">
                    <a16:rowId xmlns:a16="http://schemas.microsoft.com/office/drawing/2014/main" val="411685380"/>
                  </a:ext>
                </a:extLst>
              </a:tr>
              <a:tr h="0">
                <a:tc>
                  <a:txBody>
                    <a:bodyPr/>
                    <a:lstStyle/>
                    <a:p>
                      <a:pPr algn="ctr"/>
                      <a:r>
                        <a:rPr lang="en-AU" sz="2800" dirty="0" smtClean="0"/>
                        <a:t>Lymphocytes </a:t>
                      </a:r>
                      <a:endParaRPr lang="en-AU" sz="2800" dirty="0"/>
                    </a:p>
                  </a:txBody>
                  <a:tcPr/>
                </a:tc>
                <a:tc>
                  <a:txBody>
                    <a:bodyPr/>
                    <a:lstStyle/>
                    <a:p>
                      <a:pPr algn="ctr"/>
                      <a:r>
                        <a:rPr lang="en-AU" sz="2800" dirty="0" smtClean="0"/>
                        <a:t>Involved</a:t>
                      </a:r>
                      <a:r>
                        <a:rPr lang="en-AU" sz="2800" baseline="0" dirty="0" smtClean="0"/>
                        <a:t> in immune response </a:t>
                      </a:r>
                      <a:endParaRPr lang="en-AU" sz="2800" dirty="0"/>
                    </a:p>
                  </a:txBody>
                  <a:tcPr/>
                </a:tc>
                <a:extLst>
                  <a:ext uri="{0D108BD9-81ED-4DB2-BD59-A6C34878D82A}">
                    <a16:rowId xmlns:a16="http://schemas.microsoft.com/office/drawing/2014/main" val="444138128"/>
                  </a:ext>
                </a:extLst>
              </a:tr>
              <a:tr h="0">
                <a:tc>
                  <a:txBody>
                    <a:bodyPr/>
                    <a:lstStyle/>
                    <a:p>
                      <a:pPr algn="ctr"/>
                      <a:r>
                        <a:rPr lang="en-AU" sz="2800" dirty="0" smtClean="0"/>
                        <a:t>Basophils</a:t>
                      </a:r>
                      <a:endParaRPr lang="en-AU" sz="2800" dirty="0"/>
                    </a:p>
                  </a:txBody>
                  <a:tcPr/>
                </a:tc>
                <a:tc>
                  <a:txBody>
                    <a:bodyPr/>
                    <a:lstStyle/>
                    <a:p>
                      <a:pPr algn="ctr"/>
                      <a:r>
                        <a:rPr lang="en-AU" sz="2800" dirty="0" smtClean="0"/>
                        <a:t>Responsible for allergic reactions </a:t>
                      </a:r>
                      <a:endParaRPr lang="en-AU" sz="2800" dirty="0"/>
                    </a:p>
                  </a:txBody>
                  <a:tcPr/>
                </a:tc>
                <a:extLst>
                  <a:ext uri="{0D108BD9-81ED-4DB2-BD59-A6C34878D82A}">
                    <a16:rowId xmlns:a16="http://schemas.microsoft.com/office/drawing/2014/main" val="1053850721"/>
                  </a:ext>
                </a:extLst>
              </a:tr>
              <a:tr h="0">
                <a:tc>
                  <a:txBody>
                    <a:bodyPr/>
                    <a:lstStyle/>
                    <a:p>
                      <a:pPr algn="ctr"/>
                      <a:r>
                        <a:rPr lang="en-AU" sz="2800" kern="1200" dirty="0" smtClean="0">
                          <a:solidFill>
                            <a:schemeClr val="dk1"/>
                          </a:solidFill>
                          <a:latin typeface="+mn-lt"/>
                          <a:ea typeface="+mn-ea"/>
                          <a:cs typeface="+mn-cs"/>
                        </a:rPr>
                        <a:t>Eosinophils</a:t>
                      </a:r>
                      <a:endParaRPr lang="en-AU" sz="2800" kern="1200" dirty="0">
                        <a:solidFill>
                          <a:schemeClr val="dk1"/>
                        </a:solidFill>
                        <a:latin typeface="+mn-lt"/>
                        <a:ea typeface="+mn-ea"/>
                        <a:cs typeface="+mn-cs"/>
                      </a:endParaRPr>
                    </a:p>
                  </a:txBody>
                  <a:tcPr/>
                </a:tc>
                <a:tc>
                  <a:txBody>
                    <a:bodyPr/>
                    <a:lstStyle/>
                    <a:p>
                      <a:pPr algn="ctr"/>
                      <a:r>
                        <a:rPr lang="en-AU" sz="2800" kern="1200" dirty="0" smtClean="0">
                          <a:solidFill>
                            <a:schemeClr val="dk1"/>
                          </a:solidFill>
                          <a:latin typeface="+mn-lt"/>
                          <a:ea typeface="+mn-ea"/>
                          <a:cs typeface="+mn-cs"/>
                        </a:rPr>
                        <a:t>Lead to inflammatory response </a:t>
                      </a:r>
                      <a:endParaRPr lang="en-AU" sz="2800" kern="1200" dirty="0">
                        <a:solidFill>
                          <a:schemeClr val="dk1"/>
                        </a:solidFill>
                        <a:latin typeface="+mn-lt"/>
                        <a:ea typeface="+mn-ea"/>
                        <a:cs typeface="+mn-cs"/>
                      </a:endParaRPr>
                    </a:p>
                  </a:txBody>
                  <a:tcPr/>
                </a:tc>
                <a:extLst>
                  <a:ext uri="{0D108BD9-81ED-4DB2-BD59-A6C34878D82A}">
                    <a16:rowId xmlns:a16="http://schemas.microsoft.com/office/drawing/2014/main" val="3609962255"/>
                  </a:ext>
                </a:extLst>
              </a:tr>
            </a:tbl>
          </a:graphicData>
        </a:graphic>
      </p:graphicFrame>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04149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Thrombocytes </a:t>
            </a:r>
            <a:endParaRPr lang="en-AU" sz="6000" b="1" dirty="0"/>
          </a:p>
        </p:txBody>
      </p:sp>
      <p:sp>
        <p:nvSpPr>
          <p:cNvPr id="3" name="Content Placeholder 2"/>
          <p:cNvSpPr>
            <a:spLocks noGrp="1"/>
          </p:cNvSpPr>
          <p:nvPr>
            <p:ph idx="1"/>
          </p:nvPr>
        </p:nvSpPr>
        <p:spPr/>
        <p:txBody>
          <a:bodyPr/>
          <a:lstStyle/>
          <a:p>
            <a:r>
              <a:rPr lang="en-AU" dirty="0" smtClean="0"/>
              <a:t>AKA Platelets 	</a:t>
            </a:r>
          </a:p>
          <a:p>
            <a:endParaRPr lang="en-AU" dirty="0"/>
          </a:p>
          <a:p>
            <a:r>
              <a:rPr lang="en-AU" dirty="0" smtClean="0"/>
              <a:t>Small fragments of cells. </a:t>
            </a:r>
          </a:p>
          <a:p>
            <a:endParaRPr lang="en-AU" dirty="0"/>
          </a:p>
          <a:p>
            <a:r>
              <a:rPr lang="en-AU" dirty="0" smtClean="0"/>
              <a:t>When a blood vessel is injured, the platelets adhere to the lining and form a scaffold for the coagulation of the blood to form a clot.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00018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Transport of Oxygen </a:t>
            </a:r>
            <a:endParaRPr lang="en-AU" sz="6000" b="1" dirty="0"/>
          </a:p>
        </p:txBody>
      </p:sp>
      <p:sp>
        <p:nvSpPr>
          <p:cNvPr id="3" name="Content Placeholder 2"/>
          <p:cNvSpPr>
            <a:spLocks noGrp="1"/>
          </p:cNvSpPr>
          <p:nvPr>
            <p:ph idx="1"/>
          </p:nvPr>
        </p:nvSpPr>
        <p:spPr/>
        <p:txBody>
          <a:bodyPr/>
          <a:lstStyle/>
          <a:p>
            <a:r>
              <a:rPr lang="en-AU" dirty="0" smtClean="0"/>
              <a:t>Oxygen is not very soluble in water, so only ~3% of oxygen is carried in solution in the blood plasma. The other ~97% is carried in combination with haemoglobin molecules, which are found only in red blood cells. </a:t>
            </a:r>
          </a:p>
          <a:p>
            <a:endParaRPr lang="en-AU" dirty="0"/>
          </a:p>
          <a:p>
            <a:r>
              <a:rPr lang="en-AU" dirty="0" smtClean="0"/>
              <a:t>Haemoglobin is able to combine with oxygen to form a compound called oxyhaemoglobin. Oxygen combines with haemoglobin when the oxygen concentration is relatively high. This occurs in the capillaries in the lungs.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65952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Transport of Oxygen </a:t>
            </a:r>
            <a:endParaRPr lang="en-AU" sz="6000" b="1" dirty="0"/>
          </a:p>
        </p:txBody>
      </p:sp>
      <p:sp>
        <p:nvSpPr>
          <p:cNvPr id="3" name="Content Placeholder 2"/>
          <p:cNvSpPr>
            <a:spLocks noGrp="1"/>
          </p:cNvSpPr>
          <p:nvPr>
            <p:ph idx="1"/>
          </p:nvPr>
        </p:nvSpPr>
        <p:spPr>
          <a:xfrm>
            <a:off x="816428" y="1616619"/>
            <a:ext cx="10515600" cy="4351338"/>
          </a:xfrm>
        </p:spPr>
        <p:txBody>
          <a:bodyPr>
            <a:normAutofit lnSpcReduction="10000"/>
          </a:bodyPr>
          <a:lstStyle/>
          <a:p>
            <a:r>
              <a:rPr lang="en-AU" dirty="0" smtClean="0"/>
              <a:t>Oxyhaemoglobin breaks down to haemoglobin and oxygen when the concentration of oxygen is relatively low. Oxyhaemoglobin is bright red in colour. Haemoglobin is a dark red/purplish colour. </a:t>
            </a:r>
          </a:p>
          <a:p>
            <a:endParaRPr lang="en-AU" dirty="0"/>
          </a:p>
          <a:p>
            <a:r>
              <a:rPr lang="en-AU" dirty="0" smtClean="0"/>
              <a:t>Red blood cells are well suited to their function of oxygen transport because they contain haemoglobin, have no nucleus, are shaped like biconcave discs (SA). </a:t>
            </a:r>
          </a:p>
          <a:p>
            <a:endParaRPr lang="en-AU" dirty="0"/>
          </a:p>
          <a:p>
            <a:r>
              <a:rPr lang="en-AU" dirty="0" smtClean="0"/>
              <a:t>The majority of oxygen is transported on erythrocytes as oxyhaemoglobin.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6499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Transport of Carbon Dioxide </a:t>
            </a:r>
            <a:endParaRPr lang="en-AU" sz="6000" b="1" dirty="0"/>
          </a:p>
        </p:txBody>
      </p:sp>
      <p:sp>
        <p:nvSpPr>
          <p:cNvPr id="3" name="Content Placeholder 2"/>
          <p:cNvSpPr>
            <a:spLocks noGrp="1"/>
          </p:cNvSpPr>
          <p:nvPr>
            <p:ph idx="1"/>
          </p:nvPr>
        </p:nvSpPr>
        <p:spPr/>
        <p:txBody>
          <a:bodyPr/>
          <a:lstStyle/>
          <a:p>
            <a:r>
              <a:rPr lang="en-AU" dirty="0" smtClean="0"/>
              <a:t>~7-8% is dissolved in the plasma and carried in solution. </a:t>
            </a:r>
          </a:p>
          <a:p>
            <a:r>
              <a:rPr lang="en-AU" dirty="0" smtClean="0"/>
              <a:t>~22% combines with the globin part of the haemoglobin molecule to form a compound called carbaminohaemoglobin. </a:t>
            </a:r>
          </a:p>
          <a:p>
            <a:r>
              <a:rPr lang="en-AU" dirty="0" smtClean="0"/>
              <a:t>~70% is carried in the plasma as bicarbonate ions (HCO</a:t>
            </a:r>
            <a:r>
              <a:rPr lang="en-AU" baseline="-25000" dirty="0" smtClean="0"/>
              <a:t>3</a:t>
            </a:r>
            <a:r>
              <a:rPr lang="en-AU" baseline="30000" dirty="0" smtClean="0"/>
              <a:t>-</a:t>
            </a:r>
            <a:r>
              <a:rPr lang="en-AU" dirty="0" smtClean="0"/>
              <a:t>) </a:t>
            </a:r>
          </a:p>
          <a:p>
            <a:endParaRPr lang="en-AU" dirty="0"/>
          </a:p>
          <a:p>
            <a:r>
              <a:rPr lang="en-AU" dirty="0" smtClean="0"/>
              <a:t>As blood flows through the capillaries between body cells, carbon dioxide diffuses into the plasma due to the difference in carbon dioxide concentration.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796116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2089316" y="195822"/>
            <a:ext cx="7176604" cy="6470709"/>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76669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Transport of Carbon Dioxide </a:t>
            </a:r>
            <a:endParaRPr lang="en-AU" sz="6000" b="1" dirty="0"/>
          </a:p>
        </p:txBody>
      </p:sp>
      <p:sp>
        <p:nvSpPr>
          <p:cNvPr id="3" name="Content Placeholder 2"/>
          <p:cNvSpPr>
            <a:spLocks noGrp="1"/>
          </p:cNvSpPr>
          <p:nvPr>
            <p:ph idx="1"/>
          </p:nvPr>
        </p:nvSpPr>
        <p:spPr/>
        <p:txBody>
          <a:bodyPr/>
          <a:lstStyle/>
          <a:p>
            <a:r>
              <a:rPr lang="en-AU" dirty="0" smtClean="0"/>
              <a:t>Some carbon dioxide dissolves in the plasma, some combines with haemoglobin, but most reacts with the water to form carbonic acid (H</a:t>
            </a:r>
            <a:r>
              <a:rPr lang="en-AU" baseline="-25000" dirty="0" smtClean="0"/>
              <a:t>2</a:t>
            </a:r>
            <a:r>
              <a:rPr lang="en-AU" dirty="0" smtClean="0"/>
              <a:t>CO</a:t>
            </a:r>
            <a:r>
              <a:rPr lang="en-AU" baseline="-25000" dirty="0" smtClean="0"/>
              <a:t>3</a:t>
            </a:r>
            <a:r>
              <a:rPr lang="en-AU" dirty="0" smtClean="0"/>
              <a:t>). </a:t>
            </a:r>
          </a:p>
          <a:p>
            <a:endParaRPr lang="en-AU" dirty="0"/>
          </a:p>
          <a:p>
            <a:r>
              <a:rPr lang="en-AU" dirty="0" smtClean="0"/>
              <a:t>Carbonic acid then ionises into hydrogen ions and bicarbonate ions.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94951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Transport of nutrients and waste</a:t>
            </a:r>
            <a:endParaRPr lang="en-AU" sz="6000" b="1" dirty="0"/>
          </a:p>
        </p:txBody>
      </p:sp>
      <p:sp>
        <p:nvSpPr>
          <p:cNvPr id="3" name="Content Placeholder 2"/>
          <p:cNvSpPr>
            <a:spLocks noGrp="1"/>
          </p:cNvSpPr>
          <p:nvPr>
            <p:ph idx="1"/>
          </p:nvPr>
        </p:nvSpPr>
        <p:spPr/>
        <p:txBody>
          <a:bodyPr>
            <a:normAutofit lnSpcReduction="10000"/>
          </a:bodyPr>
          <a:lstStyle/>
          <a:p>
            <a:r>
              <a:rPr lang="en-AU" dirty="0" smtClean="0"/>
              <a:t>Nutrients and other waste products are dissolved and transported in the blood plasma. </a:t>
            </a:r>
          </a:p>
          <a:p>
            <a:endParaRPr lang="en-AU" dirty="0"/>
          </a:p>
          <a:p>
            <a:r>
              <a:rPr lang="en-AU" dirty="0" smtClean="0"/>
              <a:t>Some of the important ions dissolved in the blood plasma are sodium ions, calcium ions, potassium ions, chloride ions and iodide ions. Organic nutrients dissolved in the blood plasma include glucose, vitamins, amino acids, fatty acids and glycerol. </a:t>
            </a:r>
          </a:p>
          <a:p>
            <a:endParaRPr lang="en-AU" dirty="0"/>
          </a:p>
          <a:p>
            <a:r>
              <a:rPr lang="en-AU" dirty="0" smtClean="0"/>
              <a:t>Metabolic wastes such as urea and uric acid are harmful if they accumulate and are therefore removed.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85459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Blood clotting process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Vasoconstriction: the muscles in the walls of the small arteries that have been injured or broken constrict immediately to reduce blood flow and, therefore, blood loss. </a:t>
            </a:r>
          </a:p>
          <a:p>
            <a:pPr marL="514350" indent="-514350">
              <a:buFont typeface="+mj-lt"/>
              <a:buAutoNum type="arabicPeriod"/>
            </a:pPr>
            <a:r>
              <a:rPr lang="en-AU" dirty="0" smtClean="0"/>
              <a:t>Platelet plug: the internal walls of blood vessels are normally very smooth, but damage can cause platelets to stick. They will build up at the injury site, forming a plug. This reduces bleeding. </a:t>
            </a:r>
          </a:p>
          <a:p>
            <a:pPr marL="514350" indent="-514350">
              <a:buFont typeface="+mj-lt"/>
              <a:buAutoNum type="arabicPeriod"/>
            </a:pPr>
            <a:r>
              <a:rPr lang="en-AU" dirty="0" smtClean="0"/>
              <a:t>Coagulation: for more serious injuries. Clotting factors (present in plasma) and fibrin (protein) form a mesh that traps blood cells, platelets and plasma.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40759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795132" y="219560"/>
            <a:ext cx="7941051" cy="6423233"/>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47891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Blood clotting process</a:t>
            </a:r>
            <a:endParaRPr lang="en-AU" sz="6000" b="1" dirty="0"/>
          </a:p>
        </p:txBody>
      </p:sp>
      <p:sp>
        <p:nvSpPr>
          <p:cNvPr id="3" name="Content Placeholder 2"/>
          <p:cNvSpPr>
            <a:spLocks noGrp="1"/>
          </p:cNvSpPr>
          <p:nvPr>
            <p:ph idx="1"/>
          </p:nvPr>
        </p:nvSpPr>
        <p:spPr/>
        <p:txBody>
          <a:bodyPr/>
          <a:lstStyle/>
          <a:p>
            <a:pPr marL="0" indent="0">
              <a:buNone/>
            </a:pPr>
            <a:r>
              <a:rPr lang="en-AU" dirty="0" smtClean="0"/>
              <a:t>4. Clot retraction: the network of threads contractions removing fluid (serum) from the area. The clot then dries, forming a scab over the wound that prevents entry of infecting micro-organisms.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5589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heart </a:t>
            </a:r>
            <a:endParaRPr lang="en-AU" sz="6000" b="1" dirty="0"/>
          </a:p>
        </p:txBody>
      </p:sp>
      <p:sp>
        <p:nvSpPr>
          <p:cNvPr id="3" name="Content Placeholder 2"/>
          <p:cNvSpPr>
            <a:spLocks noGrp="1"/>
          </p:cNvSpPr>
          <p:nvPr>
            <p:ph idx="1"/>
          </p:nvPr>
        </p:nvSpPr>
        <p:spPr/>
        <p:txBody>
          <a:bodyPr/>
          <a:lstStyle/>
          <a:p>
            <a:r>
              <a:rPr lang="en-AU" dirty="0" smtClean="0"/>
              <a:t>The pump that pushes blood around the body. Made up of cardiac muscle.  </a:t>
            </a:r>
          </a:p>
          <a:p>
            <a:endParaRPr lang="en-AU" dirty="0"/>
          </a:p>
          <a:p>
            <a:r>
              <a:rPr lang="en-AU" dirty="0" smtClean="0"/>
              <a:t>It is enclosed in a membrane called the pericardium. The left and the right sides of the heart are separated by a wall called the septum.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47741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90481" y="686389"/>
            <a:ext cx="11767494" cy="5489575"/>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0789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heart </a:t>
            </a:r>
            <a:endParaRPr lang="en-AU" sz="6000" b="1" dirty="0"/>
          </a:p>
        </p:txBody>
      </p:sp>
      <p:sp>
        <p:nvSpPr>
          <p:cNvPr id="3" name="Content Placeholder 2"/>
          <p:cNvSpPr>
            <a:spLocks noGrp="1"/>
          </p:cNvSpPr>
          <p:nvPr>
            <p:ph idx="1"/>
          </p:nvPr>
        </p:nvSpPr>
        <p:spPr>
          <a:xfrm>
            <a:off x="289559" y="1538241"/>
            <a:ext cx="6285411" cy="5001895"/>
          </a:xfrm>
        </p:spPr>
        <p:txBody>
          <a:bodyPr/>
          <a:lstStyle/>
          <a:p>
            <a:r>
              <a:rPr lang="en-AU" dirty="0" smtClean="0"/>
              <a:t>The heart is divided into four chambers</a:t>
            </a:r>
          </a:p>
          <a:p>
            <a:r>
              <a:rPr lang="en-AU" dirty="0" smtClean="0"/>
              <a:t>The </a:t>
            </a:r>
            <a:r>
              <a:rPr lang="en-AU" b="1" dirty="0" smtClean="0"/>
              <a:t>right atrium </a:t>
            </a:r>
            <a:r>
              <a:rPr lang="en-AU" dirty="0" smtClean="0"/>
              <a:t>receives blood from the body and passes it to the right ventricle</a:t>
            </a:r>
          </a:p>
          <a:p>
            <a:r>
              <a:rPr lang="en-AU" dirty="0" smtClean="0"/>
              <a:t>The </a:t>
            </a:r>
            <a:r>
              <a:rPr lang="en-AU" b="1" dirty="0" smtClean="0"/>
              <a:t>right ventricle </a:t>
            </a:r>
            <a:r>
              <a:rPr lang="en-AU" dirty="0" smtClean="0"/>
              <a:t>pumps blood to the lungs  </a:t>
            </a:r>
          </a:p>
          <a:p>
            <a:r>
              <a:rPr lang="en-AU" dirty="0" smtClean="0"/>
              <a:t>The </a:t>
            </a:r>
            <a:r>
              <a:rPr lang="en-AU" b="1" dirty="0" smtClean="0"/>
              <a:t>left atrium </a:t>
            </a:r>
            <a:r>
              <a:rPr lang="en-AU" dirty="0" smtClean="0"/>
              <a:t>receives blood from the lungs and passes it to the left ventricle </a:t>
            </a:r>
          </a:p>
          <a:p>
            <a:r>
              <a:rPr lang="en-AU" dirty="0" smtClean="0"/>
              <a:t>The </a:t>
            </a:r>
            <a:r>
              <a:rPr lang="en-AU" b="1" dirty="0" smtClean="0"/>
              <a:t>left ventricle </a:t>
            </a:r>
            <a:r>
              <a:rPr lang="en-AU" dirty="0" smtClean="0"/>
              <a:t>pumps blood to the body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rotWithShape="1">
          <a:blip r:embed="rId2"/>
          <a:srcRect l="6299" r="2272" b="6119"/>
          <a:stretch/>
        </p:blipFill>
        <p:spPr>
          <a:xfrm>
            <a:off x="6574970" y="1619251"/>
            <a:ext cx="5477371" cy="4633504"/>
          </a:xfrm>
          <a:prstGeom prst="rect">
            <a:avLst/>
          </a:prstGeom>
        </p:spPr>
      </p:pic>
    </p:spTree>
    <p:extLst>
      <p:ext uri="{BB962C8B-B14F-4D97-AF65-F5344CB8AC3E}">
        <p14:creationId xmlns:p14="http://schemas.microsoft.com/office/powerpoint/2010/main" val="40221192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Blood vessels- Arteries  </a:t>
            </a:r>
            <a:endParaRPr lang="en-AU" sz="6000" b="1" dirty="0"/>
          </a:p>
        </p:txBody>
      </p:sp>
      <p:sp>
        <p:nvSpPr>
          <p:cNvPr id="3" name="Content Placeholder 2"/>
          <p:cNvSpPr>
            <a:spLocks noGrp="1"/>
          </p:cNvSpPr>
          <p:nvPr>
            <p:ph idx="1"/>
          </p:nvPr>
        </p:nvSpPr>
        <p:spPr/>
        <p:txBody>
          <a:bodyPr/>
          <a:lstStyle/>
          <a:p>
            <a:r>
              <a:rPr lang="en-AU" dirty="0" smtClean="0"/>
              <a:t>Are blood vessels that carry blood away from the heart </a:t>
            </a:r>
          </a:p>
          <a:p>
            <a:endParaRPr lang="en-AU" dirty="0" smtClean="0"/>
          </a:p>
          <a:p>
            <a:r>
              <a:rPr lang="en-AU" dirty="0" smtClean="0"/>
              <a:t>The largest artery is the aorta, which takes blood from the left ventricle to the body. </a:t>
            </a:r>
          </a:p>
          <a:p>
            <a:endParaRPr lang="en-AU" dirty="0"/>
          </a:p>
          <a:p>
            <a:r>
              <a:rPr lang="en-AU" dirty="0" smtClean="0"/>
              <a:t>Another important artery is the pulmonary artery, which takes blood from the right ventricle to the lungs. </a:t>
            </a:r>
          </a:p>
          <a:p>
            <a:endParaRPr lang="en-AU" dirty="0"/>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97439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Blood vessels- Arteries </a:t>
            </a:r>
            <a:endParaRPr lang="en-AU" sz="6000" b="1" dirty="0"/>
          </a:p>
        </p:txBody>
      </p:sp>
      <p:sp>
        <p:nvSpPr>
          <p:cNvPr id="3" name="Content Placeholder 2"/>
          <p:cNvSpPr>
            <a:spLocks noGrp="1"/>
          </p:cNvSpPr>
          <p:nvPr>
            <p:ph idx="1"/>
          </p:nvPr>
        </p:nvSpPr>
        <p:spPr/>
        <p:txBody>
          <a:bodyPr/>
          <a:lstStyle/>
          <a:p>
            <a:r>
              <a:rPr lang="en-AU" dirty="0" smtClean="0"/>
              <a:t>The walls of an artery contain smooth muscle and elastic fibres. When the ventricles contract and push blood into the arteries, the walls of the arteries stretch to accommodate the extra blood. </a:t>
            </a:r>
          </a:p>
          <a:p>
            <a:endParaRPr lang="en-AU" dirty="0"/>
          </a:p>
          <a:p>
            <a:r>
              <a:rPr lang="en-AU" dirty="0" smtClean="0"/>
              <a:t>When the ventricles relax, the elastic artery walls recoil. The elastic recoil keeps the blood moving and maintains the pressure. </a:t>
            </a:r>
          </a:p>
          <a:p>
            <a:endParaRPr lang="en-AU" dirty="0"/>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47038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Blood vessels- Arteries </a:t>
            </a:r>
            <a:endParaRPr lang="en-AU" sz="6000" b="1" dirty="0"/>
          </a:p>
        </p:txBody>
      </p:sp>
      <p:sp>
        <p:nvSpPr>
          <p:cNvPr id="3" name="Content Placeholder 2"/>
          <p:cNvSpPr>
            <a:spLocks noGrp="1"/>
          </p:cNvSpPr>
          <p:nvPr>
            <p:ph idx="1"/>
          </p:nvPr>
        </p:nvSpPr>
        <p:spPr/>
        <p:txBody>
          <a:bodyPr/>
          <a:lstStyle/>
          <a:p>
            <a:r>
              <a:rPr lang="en-AU" dirty="0" smtClean="0"/>
              <a:t>Vasoconstriction: contraction of a blood vessel. </a:t>
            </a:r>
          </a:p>
          <a:p>
            <a:r>
              <a:rPr lang="en-AU" dirty="0" smtClean="0"/>
              <a:t>Vasodilation: the muscle relaxes to increase blood flow to an organ.</a:t>
            </a:r>
          </a:p>
          <a:p>
            <a:endParaRPr lang="en-AU" dirty="0"/>
          </a:p>
          <a:p>
            <a:r>
              <a:rPr lang="en-AU" dirty="0" smtClean="0"/>
              <a:t>The very large arteries that receive blood pumped by the ventricles divide into smaller arteries. These in turn divide into very small arteries, known as arterioles. It is the arterioles that supply blood to the capillaries.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92330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Blood vessels- Arteries </a:t>
            </a:r>
            <a:endParaRPr lang="en-AU" sz="6000" b="1" dirty="0"/>
          </a:p>
        </p:txBody>
      </p:sp>
      <p:sp>
        <p:nvSpPr>
          <p:cNvPr id="3" name="Content Placeholder 2"/>
          <p:cNvSpPr>
            <a:spLocks noGrp="1"/>
          </p:cNvSpPr>
          <p:nvPr>
            <p:ph idx="1"/>
          </p:nvPr>
        </p:nvSpPr>
        <p:spPr/>
        <p:txBody>
          <a:bodyPr/>
          <a:lstStyle/>
          <a:p>
            <a:r>
              <a:rPr lang="en-AU" dirty="0" smtClean="0"/>
              <a:t>Like the larger arteries, the arterioles have smooth muscle in their walls. Contraction or relaxation of this muscle is very important in regulating blood flow through the capillaries. </a:t>
            </a:r>
          </a:p>
          <a:p>
            <a:endParaRPr lang="en-AU" dirty="0"/>
          </a:p>
          <a:p>
            <a:r>
              <a:rPr lang="en-AU" dirty="0" smtClean="0"/>
              <a:t>Waste products (carbon dioxide) act as vasodilators, substances that produce a local widening, or dilation, of arterioles. This results in increased blood flow through the muscle tissues, ensuring that the cells are adequately supplied with oxygen and nutrients for continued functioning.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34064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108372" y="360089"/>
            <a:ext cx="10163973" cy="6142175"/>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67509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Blood vessels- Capillaries </a:t>
            </a:r>
            <a:endParaRPr lang="en-AU" sz="6000" b="1" dirty="0"/>
          </a:p>
        </p:txBody>
      </p:sp>
      <p:sp>
        <p:nvSpPr>
          <p:cNvPr id="3" name="Content Placeholder 2"/>
          <p:cNvSpPr>
            <a:spLocks noGrp="1"/>
          </p:cNvSpPr>
          <p:nvPr>
            <p:ph idx="1"/>
          </p:nvPr>
        </p:nvSpPr>
        <p:spPr/>
        <p:txBody>
          <a:bodyPr/>
          <a:lstStyle/>
          <a:p>
            <a:r>
              <a:rPr lang="en-AU" dirty="0" smtClean="0"/>
              <a:t>Link between arteries and veins </a:t>
            </a:r>
          </a:p>
          <a:p>
            <a:endParaRPr lang="en-AU" dirty="0"/>
          </a:p>
          <a:p>
            <a:r>
              <a:rPr lang="en-AU" dirty="0" smtClean="0"/>
              <a:t>Microscopic blood vessels that form a network to carry blood close to nearly every cell in the body </a:t>
            </a:r>
          </a:p>
          <a:p>
            <a:endParaRPr lang="en-AU" dirty="0"/>
          </a:p>
          <a:p>
            <a:r>
              <a:rPr lang="en-AU" dirty="0" smtClean="0"/>
              <a:t>Enables the cells to get their requirements from the blood and to pass their waste into the blood. </a:t>
            </a:r>
          </a:p>
          <a:p>
            <a:endParaRPr lang="en-AU" dirty="0"/>
          </a:p>
          <a:p>
            <a:r>
              <a:rPr lang="en-AU" dirty="0" smtClean="0"/>
              <a:t>Only one layer of cells thick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18604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Blood vessels- Veins </a:t>
            </a:r>
            <a:endParaRPr lang="en-AU" sz="6000" b="1" dirty="0"/>
          </a:p>
        </p:txBody>
      </p:sp>
      <p:sp>
        <p:nvSpPr>
          <p:cNvPr id="3" name="Content Placeholder 2"/>
          <p:cNvSpPr>
            <a:spLocks noGrp="1"/>
          </p:cNvSpPr>
          <p:nvPr>
            <p:ph idx="1"/>
          </p:nvPr>
        </p:nvSpPr>
        <p:spPr/>
        <p:txBody>
          <a:bodyPr/>
          <a:lstStyle/>
          <a:p>
            <a:r>
              <a:rPr lang="en-AU" dirty="0" smtClean="0"/>
              <a:t>Carry blood towards the heart </a:t>
            </a:r>
          </a:p>
          <a:p>
            <a:endParaRPr lang="en-AU" dirty="0"/>
          </a:p>
          <a:p>
            <a:r>
              <a:rPr lang="en-AU" dirty="0" smtClean="0"/>
              <a:t>Capillaries join into small veins (venules), which then join up to make larger veins. These culminate in the: </a:t>
            </a:r>
          </a:p>
          <a:p>
            <a:pPr lvl="1"/>
            <a:r>
              <a:rPr lang="en-AU" dirty="0" smtClean="0"/>
              <a:t>Inferior vena cava and superior vena cava- bring blood from the body to the right atrium. Superior vena cava brings blood from above the heart, while inferior vena cava brings blood from below the heart </a:t>
            </a:r>
          </a:p>
          <a:p>
            <a:pPr lvl="1"/>
            <a:r>
              <a:rPr lang="en-AU" dirty="0" smtClean="0"/>
              <a:t>Pulmonary veins- bring blood from the lungs to the left atrium. There are four pulmonary veins- two from each lung.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34146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Blood vessels- Veins </a:t>
            </a:r>
            <a:endParaRPr lang="en-AU" sz="6000" b="1" dirty="0"/>
          </a:p>
        </p:txBody>
      </p:sp>
      <p:sp>
        <p:nvSpPr>
          <p:cNvPr id="3" name="Content Placeholder 2"/>
          <p:cNvSpPr>
            <a:spLocks noGrp="1"/>
          </p:cNvSpPr>
          <p:nvPr>
            <p:ph idx="1"/>
          </p:nvPr>
        </p:nvSpPr>
        <p:spPr/>
        <p:txBody>
          <a:bodyPr/>
          <a:lstStyle/>
          <a:p>
            <a:r>
              <a:rPr lang="en-AU" dirty="0" smtClean="0"/>
              <a:t>Veins and venules do not have muscular walls and are not able to change their diameter in the ways arteries do. </a:t>
            </a:r>
          </a:p>
          <a:p>
            <a:endParaRPr lang="en-AU" dirty="0"/>
          </a:p>
          <a:p>
            <a:r>
              <a:rPr lang="en-AU" dirty="0" smtClean="0"/>
              <a:t>Blood pressure in the veins is relatively low because the blood loses most of its pressure as it flows through the tiny capillaries. The walls of veins are therefore much thinner than those of arteries. </a:t>
            </a:r>
          </a:p>
          <a:p>
            <a:endParaRPr lang="en-AU" dirty="0"/>
          </a:p>
          <a:p>
            <a:r>
              <a:rPr lang="en-AU" dirty="0" smtClean="0"/>
              <a:t>Walls are not elastic, but have valves to prevent backwards flow.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72868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Cardiac Cycle </a:t>
            </a:r>
            <a:endParaRPr lang="en-AU" sz="6000" b="1" dirty="0"/>
          </a:p>
        </p:txBody>
      </p:sp>
      <p:sp>
        <p:nvSpPr>
          <p:cNvPr id="3" name="Content Placeholder 2"/>
          <p:cNvSpPr>
            <a:spLocks noGrp="1"/>
          </p:cNvSpPr>
          <p:nvPr>
            <p:ph idx="1"/>
          </p:nvPr>
        </p:nvSpPr>
        <p:spPr/>
        <p:txBody>
          <a:bodyPr/>
          <a:lstStyle/>
          <a:p>
            <a:r>
              <a:rPr lang="en-AU" dirty="0" smtClean="0"/>
              <a:t>Sequence of events that occurs in one complete beat of the heart. </a:t>
            </a:r>
          </a:p>
          <a:p>
            <a:endParaRPr lang="en-AU" dirty="0" smtClean="0"/>
          </a:p>
          <a:p>
            <a:r>
              <a:rPr lang="en-AU" dirty="0" smtClean="0"/>
              <a:t>Systole- the pumping phase of the cardiac cycle, where the muscle contracts</a:t>
            </a:r>
          </a:p>
          <a:p>
            <a:endParaRPr lang="en-AU" dirty="0"/>
          </a:p>
          <a:p>
            <a:r>
              <a:rPr lang="en-AU" dirty="0" smtClean="0"/>
              <a:t>Diastole- the filling phase where the heart muscle relaxes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57752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dirty="0" smtClean="0"/>
              <a:t>In your own time… </a:t>
            </a:r>
            <a:endParaRPr lang="en-AU" sz="6000" dirty="0"/>
          </a:p>
        </p:txBody>
      </p:sp>
      <p:sp>
        <p:nvSpPr>
          <p:cNvPr id="3" name="Content Placeholder 2"/>
          <p:cNvSpPr>
            <a:spLocks noGrp="1"/>
          </p:cNvSpPr>
          <p:nvPr>
            <p:ph idx="1"/>
          </p:nvPr>
        </p:nvSpPr>
        <p:spPr/>
        <p:txBody>
          <a:bodyPr/>
          <a:lstStyle/>
          <a:p>
            <a:r>
              <a:rPr lang="en-AU" dirty="0" smtClean="0"/>
              <a:t>Page 117 </a:t>
            </a:r>
          </a:p>
          <a:p>
            <a:endParaRPr lang="en-AU" dirty="0"/>
          </a:p>
          <a:p>
            <a:r>
              <a:rPr lang="en-AU" dirty="0" smtClean="0"/>
              <a:t>Really good diagram of the heart </a:t>
            </a:r>
          </a:p>
          <a:p>
            <a:endParaRPr lang="en-AU" dirty="0"/>
          </a:p>
          <a:p>
            <a:r>
              <a:rPr lang="en-AU" dirty="0" smtClean="0"/>
              <a:t>You need to learn it, so learn it in your own time, in your own way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63243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Cardiac Output </a:t>
            </a:r>
            <a:endParaRPr lang="en-AU" sz="6000" b="1" dirty="0"/>
          </a:p>
        </p:txBody>
      </p:sp>
      <p:sp>
        <p:nvSpPr>
          <p:cNvPr id="3" name="Content Placeholder 2"/>
          <p:cNvSpPr>
            <a:spLocks noGrp="1"/>
          </p:cNvSpPr>
          <p:nvPr>
            <p:ph idx="1"/>
          </p:nvPr>
        </p:nvSpPr>
        <p:spPr/>
        <p:txBody>
          <a:bodyPr/>
          <a:lstStyle/>
          <a:p>
            <a:r>
              <a:rPr lang="en-AU" dirty="0" smtClean="0"/>
              <a:t>How quickly the blood flows around the body depends on how fast the heart is beating and how much blood the heart pumps with each beat. </a:t>
            </a:r>
          </a:p>
          <a:p>
            <a:endParaRPr lang="en-AU" dirty="0"/>
          </a:p>
          <a:p>
            <a:r>
              <a:rPr lang="en-AU" dirty="0" smtClean="0"/>
              <a:t>Cardiac output </a:t>
            </a:r>
            <a:r>
              <a:rPr lang="en-AU" sz="2000" dirty="0" smtClean="0"/>
              <a:t>(mL/minute) </a:t>
            </a:r>
            <a:r>
              <a:rPr lang="en-AU" dirty="0" smtClean="0"/>
              <a:t>= stroke volume </a:t>
            </a:r>
            <a:r>
              <a:rPr lang="en-AU" sz="2000" dirty="0" smtClean="0"/>
              <a:t>(mL) </a:t>
            </a:r>
            <a:r>
              <a:rPr lang="en-AU" dirty="0" smtClean="0"/>
              <a:t>x heart rate </a:t>
            </a:r>
            <a:r>
              <a:rPr lang="en-AU" sz="2000" dirty="0" smtClean="0"/>
              <a:t>(beats/minute)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39268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Blood groups- Introduction </a:t>
            </a:r>
            <a:endParaRPr lang="en-AU" sz="6000" b="1" dirty="0"/>
          </a:p>
        </p:txBody>
      </p:sp>
      <p:sp>
        <p:nvSpPr>
          <p:cNvPr id="3" name="Content Placeholder 2"/>
          <p:cNvSpPr>
            <a:spLocks noGrp="1"/>
          </p:cNvSpPr>
          <p:nvPr>
            <p:ph idx="1"/>
          </p:nvPr>
        </p:nvSpPr>
        <p:spPr/>
        <p:txBody>
          <a:bodyPr/>
          <a:lstStyle/>
          <a:p>
            <a:r>
              <a:rPr lang="en-AU" dirty="0" smtClean="0"/>
              <a:t>Two systems- ABO blood group system and Rh blood group system </a:t>
            </a:r>
          </a:p>
          <a:p>
            <a:endParaRPr lang="en-AU" dirty="0"/>
          </a:p>
          <a:p>
            <a:r>
              <a:rPr lang="en-AU" dirty="0" smtClean="0"/>
              <a:t>There are more. Don’t worry about them this year </a:t>
            </a:r>
          </a:p>
          <a:p>
            <a:endParaRPr lang="en-AU" dirty="0"/>
          </a:p>
          <a:p>
            <a:r>
              <a:rPr lang="en-AU" dirty="0" smtClean="0"/>
              <a:t>Surface of red blood cells is coated with sugar and protein molecules that are able to stimulate the immune system. These molecules are called antigens and the proteins produced by the immune system is called an antibody. The antigen and its antibody combine to form a complex and cause a reaction.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34727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ABO Blood groups </a:t>
            </a:r>
            <a:endParaRPr lang="en-AU" sz="6000" b="1" dirty="0"/>
          </a:p>
        </p:txBody>
      </p:sp>
      <p:sp>
        <p:nvSpPr>
          <p:cNvPr id="3" name="Content Placeholder 2"/>
          <p:cNvSpPr>
            <a:spLocks noGrp="1"/>
          </p:cNvSpPr>
          <p:nvPr>
            <p:ph idx="1"/>
          </p:nvPr>
        </p:nvSpPr>
        <p:spPr/>
        <p:txBody>
          <a:bodyPr/>
          <a:lstStyle/>
          <a:p>
            <a:r>
              <a:rPr lang="en-AU" dirty="0" smtClean="0"/>
              <a:t>There are two sugar antigens involved in the ABO classification of blood groups: antigen A and antigen B. </a:t>
            </a:r>
          </a:p>
          <a:p>
            <a:endParaRPr lang="en-AU" dirty="0"/>
          </a:p>
          <a:p>
            <a:r>
              <a:rPr lang="en-AU" dirty="0" smtClean="0"/>
              <a:t>On the surface of the red blood cells, a person may have either antigen A, antigen B, both antigens or neither. The four possibilities correspond to the four groups of the ABO system; group A (antigen A), group B (antigen B), group AB (both antigens) and group O (neither antigen).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05217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Antibodies </a:t>
            </a:r>
            <a:endParaRPr lang="en-AU" sz="6000" b="1" dirty="0"/>
          </a:p>
        </p:txBody>
      </p:sp>
      <p:sp>
        <p:nvSpPr>
          <p:cNvPr id="3" name="Content Placeholder 2"/>
          <p:cNvSpPr>
            <a:spLocks noGrp="1"/>
          </p:cNvSpPr>
          <p:nvPr>
            <p:ph idx="1"/>
          </p:nvPr>
        </p:nvSpPr>
        <p:spPr/>
        <p:txBody>
          <a:bodyPr/>
          <a:lstStyle/>
          <a:p>
            <a:r>
              <a:rPr lang="en-AU" dirty="0" smtClean="0"/>
              <a:t>The antibody that reacts against antigen A is called anti-A, while anti-B reacts against antigen B. </a:t>
            </a:r>
          </a:p>
          <a:p>
            <a:endParaRPr lang="en-AU" dirty="0"/>
          </a:p>
          <a:p>
            <a:r>
              <a:rPr lang="en-AU" dirty="0" smtClean="0"/>
              <a:t>A person’s immune system is able to recognise their own antigens and will not produce antibodies for them. However, they will produce antibodies for antigens that are non-self.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11392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Rh blood groups </a:t>
            </a:r>
            <a:endParaRPr lang="en-AU" sz="6000" b="1" dirty="0"/>
          </a:p>
        </p:txBody>
      </p:sp>
      <p:sp>
        <p:nvSpPr>
          <p:cNvPr id="3" name="Content Placeholder 2"/>
          <p:cNvSpPr>
            <a:spLocks noGrp="1"/>
          </p:cNvSpPr>
          <p:nvPr>
            <p:ph idx="1"/>
          </p:nvPr>
        </p:nvSpPr>
        <p:spPr/>
        <p:txBody>
          <a:bodyPr/>
          <a:lstStyle/>
          <a:p>
            <a:r>
              <a:rPr lang="en-AU" dirty="0" smtClean="0"/>
              <a:t>Like the ABO blood system, it is based on antigens that occur on the surface of the red blood cells. Unlike the ABO antigens, which are sugars, the Rh antigens are proteins. </a:t>
            </a:r>
          </a:p>
          <a:p>
            <a:endParaRPr lang="en-AU" dirty="0"/>
          </a:p>
          <a:p>
            <a:r>
              <a:rPr lang="en-AU" dirty="0" smtClean="0"/>
              <a:t>A person with Rh antigens is said to be Rh positive. A person without these antigens is Rh negative. An individual without the Rh antigens is able to produce an anti-Rh antibody that reacts against those antigens. Rh-positive </a:t>
            </a:r>
            <a:r>
              <a:rPr lang="en-AU" dirty="0" smtClean="0"/>
              <a:t>individuals </a:t>
            </a:r>
            <a:r>
              <a:rPr lang="en-AU" dirty="0" smtClean="0"/>
              <a:t>cannot produce an anti-Rh antibody.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20597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Transfusions </a:t>
            </a:r>
            <a:endParaRPr lang="en-AU" sz="6000" b="1" dirty="0"/>
          </a:p>
        </p:txBody>
      </p:sp>
      <p:sp>
        <p:nvSpPr>
          <p:cNvPr id="3" name="Content Placeholder 2"/>
          <p:cNvSpPr>
            <a:spLocks noGrp="1"/>
          </p:cNvSpPr>
          <p:nvPr>
            <p:ph idx="1"/>
          </p:nvPr>
        </p:nvSpPr>
        <p:spPr>
          <a:xfrm>
            <a:off x="838200" y="1481959"/>
            <a:ext cx="10515600" cy="4695004"/>
          </a:xfrm>
        </p:spPr>
        <p:txBody>
          <a:bodyPr>
            <a:normAutofit/>
          </a:bodyPr>
          <a:lstStyle/>
          <a:p>
            <a:r>
              <a:rPr lang="en-AU" dirty="0" smtClean="0"/>
              <a:t>A transfusion transfers blood, or one of the components of blood, from one person to another. The blood groups of the donor and the recipient need to match</a:t>
            </a:r>
          </a:p>
          <a:p>
            <a:endParaRPr lang="en-AU" dirty="0"/>
          </a:p>
          <a:p>
            <a:r>
              <a:rPr lang="en-AU" dirty="0" smtClean="0"/>
              <a:t>The mixing of blood types that are incompatible can cause the erythrocytes to clump together, or agglutinate. </a:t>
            </a:r>
          </a:p>
          <a:p>
            <a:endParaRPr lang="en-AU" dirty="0"/>
          </a:p>
          <a:p>
            <a:r>
              <a:rPr lang="en-AU" dirty="0" smtClean="0"/>
              <a:t>If the receiver’s blood contains, or is able to make, antibodies against the antigens on the donor’s red cells, the foreign cells will clump together and </a:t>
            </a:r>
            <a:r>
              <a:rPr lang="en-AU" dirty="0" smtClean="0"/>
              <a:t>disintegrate.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73632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Transfusions </a:t>
            </a:r>
            <a:endParaRPr lang="en-AU" sz="6000" b="1" dirty="0"/>
          </a:p>
        </p:txBody>
      </p:sp>
      <p:sp>
        <p:nvSpPr>
          <p:cNvPr id="3" name="Content Placeholder 2"/>
          <p:cNvSpPr>
            <a:spLocks noGrp="1"/>
          </p:cNvSpPr>
          <p:nvPr>
            <p:ph idx="1"/>
          </p:nvPr>
        </p:nvSpPr>
        <p:spPr/>
        <p:txBody>
          <a:bodyPr/>
          <a:lstStyle/>
          <a:p>
            <a:r>
              <a:rPr lang="en-AU" dirty="0" smtClean="0"/>
              <a:t>Rh blood groups are also matched for transfusion purposes. The anti-Rh antibody is not normally present in the plasma of Rh-negative people, but it is produced on exposure to the Rh antigen. </a:t>
            </a:r>
          </a:p>
          <a:p>
            <a:endParaRPr lang="en-AU" dirty="0"/>
          </a:p>
          <a:p>
            <a:r>
              <a:rPr lang="en-AU" dirty="0" smtClean="0"/>
              <a:t>The first transfusion of Rh- positive blood to an Rh-negative patient does not usually cause problems because the antibodies are produced slowly the first time. Subsequent exposures result in rapid production of antibodies.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0298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Types of transfusions </a:t>
            </a:r>
            <a:endParaRPr lang="en-AU" sz="6000" b="1" dirty="0"/>
          </a:p>
        </p:txBody>
      </p:sp>
      <p:sp>
        <p:nvSpPr>
          <p:cNvPr id="3" name="Content Placeholder 2"/>
          <p:cNvSpPr>
            <a:spLocks noGrp="1"/>
          </p:cNvSpPr>
          <p:nvPr>
            <p:ph idx="1"/>
          </p:nvPr>
        </p:nvSpPr>
        <p:spPr/>
        <p:txBody>
          <a:bodyPr/>
          <a:lstStyle/>
          <a:p>
            <a:r>
              <a:rPr lang="en-AU" dirty="0" smtClean="0"/>
              <a:t>Whole blood- is blood take from the donor but with a chemical added to prevent clotting. E.g. used in cases of severe blood loss. </a:t>
            </a:r>
          </a:p>
          <a:p>
            <a:endParaRPr lang="en-AU" dirty="0"/>
          </a:p>
          <a:p>
            <a:r>
              <a:rPr lang="en-AU" dirty="0" smtClean="0"/>
              <a:t>Red cell concentrates- most widely used component of blood. They are produced by spinning blood at very high speeds in a centrifuge. Plasma goes to the top. Transfusions of red cell concentrates are used for patients suffering from heart disease or severe anaemia.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739520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9669"/>
            <a:ext cx="10515600" cy="1325563"/>
          </a:xfrm>
        </p:spPr>
        <p:txBody>
          <a:bodyPr>
            <a:normAutofit/>
          </a:bodyPr>
          <a:lstStyle/>
          <a:p>
            <a:r>
              <a:rPr lang="en-AU" sz="6000" b="1" dirty="0" smtClean="0"/>
              <a:t>Types of transfusions </a:t>
            </a:r>
            <a:endParaRPr lang="en-AU" sz="6000" b="1" dirty="0"/>
          </a:p>
        </p:txBody>
      </p:sp>
      <p:sp>
        <p:nvSpPr>
          <p:cNvPr id="3" name="Content Placeholder 2"/>
          <p:cNvSpPr>
            <a:spLocks noGrp="1"/>
          </p:cNvSpPr>
          <p:nvPr>
            <p:ph idx="1"/>
          </p:nvPr>
        </p:nvSpPr>
        <p:spPr>
          <a:xfrm>
            <a:off x="816428" y="1255508"/>
            <a:ext cx="10537372" cy="5334478"/>
          </a:xfrm>
        </p:spPr>
        <p:txBody>
          <a:bodyPr/>
          <a:lstStyle/>
          <a:p>
            <a:r>
              <a:rPr lang="en-AU" dirty="0" smtClean="0"/>
              <a:t>Platelet concentrates are given to patients with abnormal platelets or a reduced number of platelets. </a:t>
            </a:r>
          </a:p>
          <a:p>
            <a:endParaRPr lang="en-AU" dirty="0"/>
          </a:p>
          <a:p>
            <a:r>
              <a:rPr lang="en-AU" dirty="0" smtClean="0"/>
              <a:t>Cryoprecipitate is obtained by freezing the plasma and thawing it slowly. Used to treat some forms of haemophilia, but it is most often used for severe bleeding. </a:t>
            </a:r>
          </a:p>
          <a:p>
            <a:endParaRPr lang="en-AU" dirty="0"/>
          </a:p>
          <a:p>
            <a:r>
              <a:rPr lang="en-AU" dirty="0" smtClean="0"/>
              <a:t>Immunoglobulin are a group of proteins that act as antibodies. They are extracted from the blood and used for patients who are deficient in antibodies.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6893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Types of transfusions </a:t>
            </a:r>
            <a:endParaRPr lang="en-AU" sz="6000" b="1" dirty="0"/>
          </a:p>
        </p:txBody>
      </p:sp>
      <p:sp>
        <p:nvSpPr>
          <p:cNvPr id="3" name="Content Placeholder 2"/>
          <p:cNvSpPr>
            <a:spLocks noGrp="1"/>
          </p:cNvSpPr>
          <p:nvPr>
            <p:ph idx="1"/>
          </p:nvPr>
        </p:nvSpPr>
        <p:spPr/>
        <p:txBody>
          <a:bodyPr/>
          <a:lstStyle/>
          <a:p>
            <a:r>
              <a:rPr lang="en-AU" dirty="0" smtClean="0"/>
              <a:t>Autologous transfusion is when the patient’s own blood is used. The blood is collected from the patient prior to an operation. </a:t>
            </a:r>
          </a:p>
          <a:p>
            <a:endParaRPr lang="en-AU" dirty="0"/>
          </a:p>
          <a:p>
            <a:r>
              <a:rPr lang="en-AU" dirty="0" smtClean="0"/>
              <a:t>Used for mostly elective surgery </a:t>
            </a:r>
          </a:p>
          <a:p>
            <a:endParaRPr lang="en-AU" dirty="0"/>
          </a:p>
          <a:p>
            <a:r>
              <a:rPr lang="en-AU" dirty="0" smtClean="0"/>
              <a:t>Eliminate the risk for transmission of disease and possible side effects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97950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z="6000" b="1" dirty="0" smtClean="0"/>
              <a:t>Summary of the ABO blood groups </a:t>
            </a:r>
            <a:endParaRPr lang="en-AU" sz="6000" b="1"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18692383"/>
              </p:ext>
            </p:extLst>
          </p:nvPr>
        </p:nvGraphicFramePr>
        <p:xfrm>
          <a:off x="223345" y="1431486"/>
          <a:ext cx="11711150" cy="5324566"/>
        </p:xfrm>
        <a:graphic>
          <a:graphicData uri="http://schemas.openxmlformats.org/drawingml/2006/table">
            <a:tbl>
              <a:tblPr firstRow="1" bandRow="1">
                <a:tableStyleId>{5C22544A-7EE6-4342-B048-85BDC9FD1C3A}</a:tableStyleId>
              </a:tblPr>
              <a:tblGrid>
                <a:gridCol w="2342230">
                  <a:extLst>
                    <a:ext uri="{9D8B030D-6E8A-4147-A177-3AD203B41FA5}">
                      <a16:colId xmlns:a16="http://schemas.microsoft.com/office/drawing/2014/main" val="2297200853"/>
                    </a:ext>
                  </a:extLst>
                </a:gridCol>
                <a:gridCol w="2342230">
                  <a:extLst>
                    <a:ext uri="{9D8B030D-6E8A-4147-A177-3AD203B41FA5}">
                      <a16:colId xmlns:a16="http://schemas.microsoft.com/office/drawing/2014/main" val="4042032350"/>
                    </a:ext>
                  </a:extLst>
                </a:gridCol>
                <a:gridCol w="2342230">
                  <a:extLst>
                    <a:ext uri="{9D8B030D-6E8A-4147-A177-3AD203B41FA5}">
                      <a16:colId xmlns:a16="http://schemas.microsoft.com/office/drawing/2014/main" val="4080162637"/>
                    </a:ext>
                  </a:extLst>
                </a:gridCol>
                <a:gridCol w="2342230">
                  <a:extLst>
                    <a:ext uri="{9D8B030D-6E8A-4147-A177-3AD203B41FA5}">
                      <a16:colId xmlns:a16="http://schemas.microsoft.com/office/drawing/2014/main" val="1393749821"/>
                    </a:ext>
                  </a:extLst>
                </a:gridCol>
                <a:gridCol w="2342230">
                  <a:extLst>
                    <a:ext uri="{9D8B030D-6E8A-4147-A177-3AD203B41FA5}">
                      <a16:colId xmlns:a16="http://schemas.microsoft.com/office/drawing/2014/main" val="1290560221"/>
                    </a:ext>
                  </a:extLst>
                </a:gridCol>
              </a:tblGrid>
              <a:tr h="2198761">
                <a:tc>
                  <a:txBody>
                    <a:bodyPr/>
                    <a:lstStyle/>
                    <a:p>
                      <a:pPr algn="ctr"/>
                      <a:r>
                        <a:rPr lang="en-AU" sz="2400" dirty="0" smtClean="0"/>
                        <a:t>Blood Group </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dirty="0" smtClean="0"/>
                        <a:t>Antigens</a:t>
                      </a:r>
                      <a:r>
                        <a:rPr lang="en-AU" sz="2400" baseline="0" dirty="0" smtClean="0"/>
                        <a:t> on red blood cells </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dirty="0" smtClean="0"/>
                        <a:t>Antibodies</a:t>
                      </a:r>
                      <a:r>
                        <a:rPr lang="en-AU" sz="2400" baseline="0" dirty="0" smtClean="0"/>
                        <a:t> in plasma </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dirty="0" smtClean="0"/>
                        <a:t>Able to donate</a:t>
                      </a:r>
                      <a:r>
                        <a:rPr lang="en-AU" sz="2400" baseline="0" dirty="0" smtClean="0"/>
                        <a:t> to people with blood group … </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dirty="0" smtClean="0"/>
                        <a:t>Able to receive blood (red cell concentrate) from people with blood group… </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1125746"/>
                  </a:ext>
                </a:extLst>
              </a:tr>
              <a:tr h="557325">
                <a:tc>
                  <a:txBody>
                    <a:bodyPr/>
                    <a:lstStyle/>
                    <a:p>
                      <a:pPr algn="ctr"/>
                      <a:r>
                        <a:rPr lang="en-AU" sz="2400" dirty="0" smtClean="0"/>
                        <a:t>A</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dirty="0" smtClean="0"/>
                        <a:t>Antigen A </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dirty="0" smtClean="0"/>
                        <a:t>Anti-B </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dirty="0" smtClean="0"/>
                        <a:t>A, AB</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dirty="0" smtClean="0"/>
                        <a:t>A, O </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6805372"/>
                  </a:ext>
                </a:extLst>
              </a:tr>
              <a:tr h="557325">
                <a:tc>
                  <a:txBody>
                    <a:bodyPr/>
                    <a:lstStyle/>
                    <a:p>
                      <a:pPr algn="ctr"/>
                      <a:r>
                        <a:rPr lang="en-AU" sz="2400" dirty="0" smtClean="0"/>
                        <a:t>B</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dirty="0" smtClean="0"/>
                        <a:t>Antigen B </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dirty="0" smtClean="0"/>
                        <a:t>Anti-A</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dirty="0" smtClean="0"/>
                        <a:t>B, AB</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dirty="0" smtClean="0"/>
                        <a:t>B,O </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8459172"/>
                  </a:ext>
                </a:extLst>
              </a:tr>
              <a:tr h="961958">
                <a:tc>
                  <a:txBody>
                    <a:bodyPr/>
                    <a:lstStyle/>
                    <a:p>
                      <a:pPr algn="ctr"/>
                      <a:r>
                        <a:rPr lang="en-AU" sz="2400" dirty="0" smtClean="0"/>
                        <a:t>AB</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dirty="0" smtClean="0"/>
                        <a:t>Antigen A and Antigen B </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dirty="0" smtClean="0"/>
                        <a:t>Neither</a:t>
                      </a:r>
                      <a:r>
                        <a:rPr lang="en-AU" sz="2400" baseline="0" dirty="0" smtClean="0"/>
                        <a:t> anti-A nor anti-B</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dirty="0" smtClean="0"/>
                        <a:t>AB</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dirty="0" smtClean="0"/>
                        <a:t>A,</a:t>
                      </a:r>
                      <a:r>
                        <a:rPr lang="en-AU" sz="2400" baseline="0" dirty="0" smtClean="0"/>
                        <a:t> B, AB, O </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7021461"/>
                  </a:ext>
                </a:extLst>
              </a:tr>
              <a:tr h="961958">
                <a:tc>
                  <a:txBody>
                    <a:bodyPr/>
                    <a:lstStyle/>
                    <a:p>
                      <a:pPr algn="ctr"/>
                      <a:r>
                        <a:rPr lang="en-AU" sz="2400" dirty="0" smtClean="0"/>
                        <a:t>O</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dirty="0" smtClean="0"/>
                        <a:t>Neither antigen</a:t>
                      </a:r>
                      <a:r>
                        <a:rPr lang="en-AU" sz="2400" baseline="0" dirty="0" smtClean="0"/>
                        <a:t> A nor antigen B </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dirty="0" smtClean="0"/>
                        <a:t>Both anti-A and anti-B</a:t>
                      </a:r>
                      <a:r>
                        <a:rPr lang="en-AU" sz="2400" baseline="0" dirty="0" smtClean="0"/>
                        <a:t> </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dirty="0" smtClean="0"/>
                        <a:t>A, B,</a:t>
                      </a:r>
                      <a:r>
                        <a:rPr lang="en-AU" sz="2400" baseline="0" dirty="0" smtClean="0"/>
                        <a:t> AB, O </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dirty="0" smtClean="0"/>
                        <a:t>O </a:t>
                      </a:r>
                      <a:endParaRPr lang="en-A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3105593"/>
                  </a:ext>
                </a:extLst>
              </a:tr>
            </a:tbl>
          </a:graphicData>
        </a:graphic>
      </p:graphicFrame>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88111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Lymphatic System 	</a:t>
            </a:r>
            <a:endParaRPr lang="en-AU" sz="6000" b="1" dirty="0"/>
          </a:p>
        </p:txBody>
      </p:sp>
      <p:sp>
        <p:nvSpPr>
          <p:cNvPr id="3" name="Content Placeholder 2"/>
          <p:cNvSpPr>
            <a:spLocks noGrp="1"/>
          </p:cNvSpPr>
          <p:nvPr>
            <p:ph idx="1"/>
          </p:nvPr>
        </p:nvSpPr>
        <p:spPr/>
        <p:txBody>
          <a:bodyPr/>
          <a:lstStyle/>
          <a:p>
            <a:r>
              <a:rPr lang="en-AU" dirty="0" smtClean="0"/>
              <a:t>As blood enters the capillaries, the relatively high pressure forces some of the fluid in the blood through the capillary walls into the tissues. </a:t>
            </a:r>
          </a:p>
          <a:p>
            <a:endParaRPr lang="en-AU" dirty="0"/>
          </a:p>
          <a:p>
            <a:r>
              <a:rPr lang="en-AU" dirty="0" smtClean="0"/>
              <a:t>The main function of the lymphatic system is to collect some of the fluid that escapes from the blood capillaries and return it to the circulatory system. The lymphatic system is also an important part of the body’s internal defence against disease-causing organisms.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99607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Structure of the lymphatic system </a:t>
            </a:r>
            <a:endParaRPr lang="en-AU" sz="6000" b="1" dirty="0"/>
          </a:p>
        </p:txBody>
      </p:sp>
      <p:sp>
        <p:nvSpPr>
          <p:cNvPr id="3" name="Content Placeholder 2"/>
          <p:cNvSpPr>
            <a:spLocks noGrp="1"/>
          </p:cNvSpPr>
          <p:nvPr>
            <p:ph idx="1"/>
          </p:nvPr>
        </p:nvSpPr>
        <p:spPr/>
        <p:txBody>
          <a:bodyPr/>
          <a:lstStyle/>
          <a:p>
            <a:r>
              <a:rPr lang="en-AU" dirty="0" smtClean="0"/>
              <a:t>Consists of</a:t>
            </a:r>
          </a:p>
          <a:p>
            <a:pPr lvl="1"/>
            <a:r>
              <a:rPr lang="en-AU" dirty="0" smtClean="0"/>
              <a:t>a network of lymph capillaries joined to larger lymph vessels </a:t>
            </a:r>
          </a:p>
          <a:p>
            <a:pPr lvl="1"/>
            <a:r>
              <a:rPr lang="en-AU" dirty="0" smtClean="0"/>
              <a:t>lymph nodes, which are located along the length of some lymph vessels.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63780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Lymph vessels </a:t>
            </a:r>
            <a:endParaRPr lang="en-AU" sz="6000" b="1" dirty="0"/>
          </a:p>
        </p:txBody>
      </p:sp>
      <p:sp>
        <p:nvSpPr>
          <p:cNvPr id="3" name="Content Placeholder 2"/>
          <p:cNvSpPr>
            <a:spLocks noGrp="1"/>
          </p:cNvSpPr>
          <p:nvPr>
            <p:ph idx="1"/>
          </p:nvPr>
        </p:nvSpPr>
        <p:spPr/>
        <p:txBody>
          <a:bodyPr/>
          <a:lstStyle/>
          <a:p>
            <a:r>
              <a:rPr lang="en-AU" dirty="0" smtClean="0"/>
              <a:t>Fluid tends to leak out at the atrial end of a blood capillary due to the high pressure in the vessel. </a:t>
            </a:r>
          </a:p>
          <a:p>
            <a:endParaRPr lang="en-AU" dirty="0"/>
          </a:p>
          <a:p>
            <a:r>
              <a:rPr lang="en-AU" dirty="0" smtClean="0"/>
              <a:t>Some fluid returns to the capillary at the venous end. The excess fluid in the tissues is returned to the blood by the lymphatic system and is called lymph. </a:t>
            </a:r>
          </a:p>
          <a:p>
            <a:endParaRPr lang="en-AU" dirty="0"/>
          </a:p>
          <a:p>
            <a:r>
              <a:rPr lang="en-AU" dirty="0" smtClean="0"/>
              <a:t>Lymph does not circulate. It is a one-way system carrying fluid away from the tissues.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48177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Lymph vessels </a:t>
            </a:r>
            <a:endParaRPr lang="en-AU" sz="6000" b="1" dirty="0"/>
          </a:p>
        </p:txBody>
      </p:sp>
      <p:sp>
        <p:nvSpPr>
          <p:cNvPr id="3" name="Content Placeholder 2"/>
          <p:cNvSpPr>
            <a:spLocks noGrp="1"/>
          </p:cNvSpPr>
          <p:nvPr>
            <p:ph idx="1"/>
          </p:nvPr>
        </p:nvSpPr>
        <p:spPr>
          <a:xfrm>
            <a:off x="838200" y="1481959"/>
            <a:ext cx="10515600" cy="4871544"/>
          </a:xfrm>
        </p:spPr>
        <p:txBody>
          <a:bodyPr>
            <a:normAutofit/>
          </a:bodyPr>
          <a:lstStyle/>
          <a:p>
            <a:r>
              <a:rPr lang="en-AU" dirty="0" smtClean="0"/>
              <a:t>The lymph vessels originate as blind-ended tubes in the spaces between the cells of most tissues. </a:t>
            </a:r>
          </a:p>
          <a:p>
            <a:endParaRPr lang="en-AU" dirty="0"/>
          </a:p>
          <a:p>
            <a:r>
              <a:rPr lang="en-AU" dirty="0" smtClean="0"/>
              <a:t>Lymph capillaries are usually slightly larger than blood capillaries. They are also more permeable than most blood capillaries. Proteins and disease-causing organisms in the intercellular fluid can easily pass through the wall of the lymph capillaries into the lymph. </a:t>
            </a:r>
          </a:p>
          <a:p>
            <a:endParaRPr lang="en-AU" dirty="0"/>
          </a:p>
          <a:p>
            <a:r>
              <a:rPr lang="en-AU" dirty="0" smtClean="0"/>
              <a:t>The network of lymph vessels joins to form two lymphatic ducts that empty the lymph into large veins in the upper chest.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70154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Lymph </a:t>
            </a:r>
            <a:endParaRPr lang="en-AU" sz="6000" b="1" dirty="0"/>
          </a:p>
        </p:txBody>
      </p:sp>
      <p:sp>
        <p:nvSpPr>
          <p:cNvPr id="3" name="Content Placeholder 2"/>
          <p:cNvSpPr>
            <a:spLocks noGrp="1"/>
          </p:cNvSpPr>
          <p:nvPr>
            <p:ph idx="1"/>
          </p:nvPr>
        </p:nvSpPr>
        <p:spPr>
          <a:xfrm>
            <a:off x="838200" y="1497724"/>
            <a:ext cx="10515600" cy="4679239"/>
          </a:xfrm>
        </p:spPr>
        <p:txBody>
          <a:bodyPr>
            <a:normAutofit/>
          </a:bodyPr>
          <a:lstStyle/>
          <a:p>
            <a:r>
              <a:rPr lang="en-AU" dirty="0" smtClean="0"/>
              <a:t>Lymph is moved through the lymphatic vessels as a result of smooth muscle, skeletal muscle and valves. </a:t>
            </a:r>
          </a:p>
          <a:p>
            <a:endParaRPr lang="en-AU" dirty="0"/>
          </a:p>
          <a:p>
            <a:r>
              <a:rPr lang="en-AU" dirty="0" smtClean="0"/>
              <a:t>The smooth muscle layer of the vessels is able to contact to push the lymph along the vessel. The skeletal muscles surrounding the vessels are also able to contact, providing additional force. </a:t>
            </a:r>
          </a:p>
          <a:p>
            <a:endParaRPr lang="en-AU" dirty="0"/>
          </a:p>
          <a:p>
            <a:r>
              <a:rPr lang="en-AU" dirty="0" smtClean="0"/>
              <a:t>As there is no central pump, there is no force driving the direction of the flow of lymph. Therefore, larger lymph vessels have valves that close when the pressure drops.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11283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Lymph nodes </a:t>
            </a:r>
            <a:endParaRPr lang="en-AU" sz="6000" b="1" dirty="0"/>
          </a:p>
        </p:txBody>
      </p:sp>
      <p:sp>
        <p:nvSpPr>
          <p:cNvPr id="3" name="Content Placeholder 2"/>
          <p:cNvSpPr>
            <a:spLocks noGrp="1"/>
          </p:cNvSpPr>
          <p:nvPr>
            <p:ph idx="1"/>
          </p:nvPr>
        </p:nvSpPr>
        <p:spPr/>
        <p:txBody>
          <a:bodyPr/>
          <a:lstStyle/>
          <a:p>
            <a:r>
              <a:rPr lang="en-AU" dirty="0" smtClean="0"/>
              <a:t>Occur at intervals along the lymphatic vessels. They are most numerous around the neck, armpits, groin and around the alimentary canal. </a:t>
            </a:r>
          </a:p>
          <a:p>
            <a:endParaRPr lang="en-AU" dirty="0"/>
          </a:p>
          <a:p>
            <a:r>
              <a:rPr lang="en-AU" dirty="0" smtClean="0"/>
              <a:t>Each node is surrounded by a capsule of connective tissue that extends into the node, forming a framework. Within the framework are masses of lymphoid tissue, containing cells known as lymphocytes, macrophages and plasma cells. The lymph passes through several nodes before entering the circulatory system.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81288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Lymphatic system and disease</a:t>
            </a:r>
            <a:endParaRPr lang="en-AU" sz="6000" b="1" dirty="0"/>
          </a:p>
        </p:txBody>
      </p:sp>
      <p:sp>
        <p:nvSpPr>
          <p:cNvPr id="3" name="Content Placeholder 2"/>
          <p:cNvSpPr>
            <a:spLocks noGrp="1"/>
          </p:cNvSpPr>
          <p:nvPr>
            <p:ph idx="1"/>
          </p:nvPr>
        </p:nvSpPr>
        <p:spPr/>
        <p:txBody>
          <a:bodyPr/>
          <a:lstStyle/>
          <a:p>
            <a:r>
              <a:rPr lang="en-AU" dirty="0" smtClean="0"/>
              <a:t>Lymph entering the lymph nodes contains cell debris, foreign particles and micro-organisms that have penetrated the body’s external defence. Some are able to cause disease, and therefore must be destroyed. </a:t>
            </a:r>
          </a:p>
          <a:p>
            <a:endParaRPr lang="en-AU" dirty="0"/>
          </a:p>
          <a:p>
            <a:r>
              <a:rPr lang="en-AU" dirty="0" smtClean="0"/>
              <a:t>Large particles, such as bacteria, are trapped in the meshwork of fibres as the lymph flows through the spaces in the nodes. Macrophages destroy these particles via phagocytosis.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43866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Lymphatic system and disease</a:t>
            </a:r>
          </a:p>
        </p:txBody>
      </p:sp>
      <p:sp>
        <p:nvSpPr>
          <p:cNvPr id="3" name="Content Placeholder 2"/>
          <p:cNvSpPr>
            <a:spLocks noGrp="1"/>
          </p:cNvSpPr>
          <p:nvPr>
            <p:ph idx="1"/>
          </p:nvPr>
        </p:nvSpPr>
        <p:spPr/>
        <p:txBody>
          <a:bodyPr/>
          <a:lstStyle/>
          <a:p>
            <a:r>
              <a:rPr lang="en-AU" dirty="0" smtClean="0"/>
              <a:t>When infection occurs, the formation of lymphocytes increases, causing the lymph nodes to become swollen and sore. E.g. an infected finger may result in swelling and tenderness in the armpit, where there are a large number of lymph nodes.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21008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Recall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Explain how oxygen is transported from the alveoli to the body cells </a:t>
            </a:r>
          </a:p>
          <a:p>
            <a:pPr marL="514350" indent="-514350">
              <a:buFont typeface="+mj-lt"/>
              <a:buAutoNum type="arabicPeriod"/>
            </a:pPr>
            <a:r>
              <a:rPr lang="en-AU" dirty="0" smtClean="0"/>
              <a:t>Draw a flow chart to show the steps involved in blood clotting </a:t>
            </a:r>
          </a:p>
          <a:p>
            <a:pPr marL="514350" indent="-514350">
              <a:buFont typeface="+mj-lt"/>
              <a:buAutoNum type="arabicPeriod"/>
            </a:pPr>
            <a:r>
              <a:rPr lang="en-AU" dirty="0" smtClean="0"/>
              <a:t>List the functions of the lymphatic system </a:t>
            </a:r>
          </a:p>
          <a:p>
            <a:pPr marL="514350" indent="-514350">
              <a:buFont typeface="+mj-lt"/>
              <a:buAutoNum type="arabicPeriod"/>
            </a:pP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35105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Apply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Doctors will check the size of lymph nodes in sick patients. Explain why this is an important part of the physical examination. </a:t>
            </a:r>
          </a:p>
          <a:p>
            <a:pPr marL="514350" indent="-514350">
              <a:buFont typeface="+mj-lt"/>
              <a:buAutoNum type="arabicPeriod"/>
            </a:pPr>
            <a:r>
              <a:rPr lang="en-AU" dirty="0" smtClean="0"/>
              <a:t>Compare and contrast lymph vessels and blood vessels.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357962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Homewor</a:t>
            </a:r>
            <a:r>
              <a:rPr lang="en-AU" sz="6000" b="1" dirty="0"/>
              <a:t>k</a:t>
            </a:r>
          </a:p>
        </p:txBody>
      </p:sp>
      <p:sp>
        <p:nvSpPr>
          <p:cNvPr id="3" name="Content Placeholder 2"/>
          <p:cNvSpPr>
            <a:spLocks noGrp="1"/>
          </p:cNvSpPr>
          <p:nvPr>
            <p:ph idx="1"/>
          </p:nvPr>
        </p:nvSpPr>
        <p:spPr/>
        <p:txBody>
          <a:bodyPr/>
          <a:lstStyle/>
          <a:p>
            <a:r>
              <a:rPr lang="en-AU" dirty="0" smtClean="0"/>
              <a:t>Write a summary regarding the different valves in the heart (pg. 111 in your textbook) </a:t>
            </a:r>
          </a:p>
          <a:p>
            <a:endParaRPr lang="en-AU" dirty="0" smtClean="0"/>
          </a:p>
          <a:p>
            <a:endParaRPr lang="en-AU" dirty="0"/>
          </a:p>
          <a:p>
            <a:r>
              <a:rPr lang="en-AU" dirty="0" smtClean="0"/>
              <a:t>When blood plasma is given in a transfusion, would the donor of the plasma have to be the same ABO blood group as the receiver? Explain your answer. </a:t>
            </a:r>
            <a:endParaRPr lang="en-AU" dirty="0"/>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45526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6000" b="1" dirty="0" smtClean="0"/>
              <a:t>Reading</a:t>
            </a:r>
            <a:r>
              <a:rPr lang="en-AU" dirty="0" smtClean="0"/>
              <a:t> </a:t>
            </a:r>
            <a:endParaRPr lang="en-AU" dirty="0"/>
          </a:p>
        </p:txBody>
      </p:sp>
      <p:sp>
        <p:nvSpPr>
          <p:cNvPr id="3" name="Content Placeholder 2"/>
          <p:cNvSpPr>
            <a:spLocks noGrp="1"/>
          </p:cNvSpPr>
          <p:nvPr>
            <p:ph idx="1"/>
          </p:nvPr>
        </p:nvSpPr>
        <p:spPr/>
        <p:txBody>
          <a:bodyPr/>
          <a:lstStyle/>
          <a:p>
            <a:r>
              <a:rPr lang="en-AU" dirty="0" smtClean="0"/>
              <a:t>Pages 102 - 126: Circulatory System Chapter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5014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551</TotalTime>
  <Words>3999</Words>
  <Application>Microsoft Office PowerPoint</Application>
  <PresentationFormat>Widescreen</PresentationFormat>
  <Paragraphs>393</Paragraphs>
  <Slides>67</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67</vt:i4>
      </vt:variant>
    </vt:vector>
  </HeadingPairs>
  <TitlesOfParts>
    <vt:vector size="73" baseType="lpstr">
      <vt:lpstr>Arial</vt:lpstr>
      <vt:lpstr>Calibri</vt:lpstr>
      <vt:lpstr>Calibri Light</vt:lpstr>
      <vt:lpstr>Wingdings</vt:lpstr>
      <vt:lpstr>Office Theme</vt:lpstr>
      <vt:lpstr>1_Office Theme</vt:lpstr>
      <vt:lpstr>Circulatory System</vt:lpstr>
      <vt:lpstr>SCSA Syllabus Reference </vt:lpstr>
      <vt:lpstr>Lesson Intention </vt:lpstr>
      <vt:lpstr>Success Criteria </vt:lpstr>
      <vt:lpstr>Success Criteria </vt:lpstr>
      <vt:lpstr>Success Criteria </vt:lpstr>
      <vt:lpstr>Vocabulary </vt:lpstr>
      <vt:lpstr>Vocabulary </vt:lpstr>
      <vt:lpstr>Vocabulary </vt:lpstr>
      <vt:lpstr>Vocabulary </vt:lpstr>
      <vt:lpstr>Vocabulary </vt:lpstr>
      <vt:lpstr>Vocabulary </vt:lpstr>
      <vt:lpstr>Vocabulary </vt:lpstr>
      <vt:lpstr>Vocabulary </vt:lpstr>
      <vt:lpstr>Vocabulary </vt:lpstr>
      <vt:lpstr>The functions of blood</vt:lpstr>
      <vt:lpstr>Structure of blood </vt:lpstr>
      <vt:lpstr>Plasma </vt:lpstr>
      <vt:lpstr>Erythrocytes </vt:lpstr>
      <vt:lpstr>Leucocytes </vt:lpstr>
      <vt:lpstr>Different types of Leucocytes </vt:lpstr>
      <vt:lpstr>Thrombocytes </vt:lpstr>
      <vt:lpstr>Transport of Oxygen </vt:lpstr>
      <vt:lpstr>Transport of Oxygen </vt:lpstr>
      <vt:lpstr>Transport of Carbon Dioxide </vt:lpstr>
      <vt:lpstr>PowerPoint Presentation</vt:lpstr>
      <vt:lpstr>Transport of Carbon Dioxide </vt:lpstr>
      <vt:lpstr>Transport of nutrients and waste</vt:lpstr>
      <vt:lpstr>Blood clotting process </vt:lpstr>
      <vt:lpstr>PowerPoint Presentation</vt:lpstr>
      <vt:lpstr>Blood clotting process</vt:lpstr>
      <vt:lpstr>The heart </vt:lpstr>
      <vt:lpstr>PowerPoint Presentation</vt:lpstr>
      <vt:lpstr>The heart </vt:lpstr>
      <vt:lpstr>Blood vessels- Arteries  </vt:lpstr>
      <vt:lpstr>Blood vessels- Arteries </vt:lpstr>
      <vt:lpstr>Blood vessels- Arteries </vt:lpstr>
      <vt:lpstr>Blood vessels- Arteries </vt:lpstr>
      <vt:lpstr>PowerPoint Presentation</vt:lpstr>
      <vt:lpstr>Blood vessels- Capillaries </vt:lpstr>
      <vt:lpstr>Blood vessels- Veins </vt:lpstr>
      <vt:lpstr>Blood vessels- Veins </vt:lpstr>
      <vt:lpstr>Cardiac Cycle </vt:lpstr>
      <vt:lpstr>In your own time… </vt:lpstr>
      <vt:lpstr>Cardiac Output </vt:lpstr>
      <vt:lpstr>Blood groups- Introduction </vt:lpstr>
      <vt:lpstr>ABO Blood groups </vt:lpstr>
      <vt:lpstr>Antibodies </vt:lpstr>
      <vt:lpstr>Rh blood groups </vt:lpstr>
      <vt:lpstr>Transfusions </vt:lpstr>
      <vt:lpstr>Transfusions </vt:lpstr>
      <vt:lpstr>Types of transfusions </vt:lpstr>
      <vt:lpstr>Types of transfusions </vt:lpstr>
      <vt:lpstr>Types of transfusions </vt:lpstr>
      <vt:lpstr>Summary of the ABO blood groups </vt:lpstr>
      <vt:lpstr>The Lymphatic System  </vt:lpstr>
      <vt:lpstr>Structure of the lymphatic system </vt:lpstr>
      <vt:lpstr>Lymph vessels </vt:lpstr>
      <vt:lpstr>Lymph vessels </vt:lpstr>
      <vt:lpstr>Lymph </vt:lpstr>
      <vt:lpstr>Lymph nodes </vt:lpstr>
      <vt:lpstr>Lymphatic system and disease</vt:lpstr>
      <vt:lpstr>Lymphatic system and disease</vt:lpstr>
      <vt:lpstr>Recall Knowledge </vt:lpstr>
      <vt:lpstr>Apply Knowledge </vt:lpstr>
      <vt:lpstr>Homework</vt:lpstr>
      <vt:lpstr>Reading </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DOOMEN Lisa [Gilmore College]</dc:creator>
  <cp:lastModifiedBy>DOOMEN Lisa [Gilmore College]</cp:lastModifiedBy>
  <cp:revision>39</cp:revision>
  <dcterms:created xsi:type="dcterms:W3CDTF">2021-12-16T00:48:44Z</dcterms:created>
  <dcterms:modified xsi:type="dcterms:W3CDTF">2022-03-23T22:38:41Z</dcterms:modified>
</cp:coreProperties>
</file>
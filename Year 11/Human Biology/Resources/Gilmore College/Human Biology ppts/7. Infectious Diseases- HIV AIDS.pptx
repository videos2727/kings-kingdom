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5" r:id="rId4"/>
    <p:sldId id="267" r:id="rId5"/>
    <p:sldId id="286" r:id="rId6"/>
    <p:sldId id="268" r:id="rId7"/>
    <p:sldId id="269" r:id="rId8"/>
    <p:sldId id="274" r:id="rId9"/>
    <p:sldId id="276" r:id="rId10"/>
    <p:sldId id="270" r:id="rId11"/>
    <p:sldId id="277" r:id="rId12"/>
    <p:sldId id="271" r:id="rId13"/>
    <p:sldId id="275" r:id="rId14"/>
    <p:sldId id="272" r:id="rId15"/>
    <p:sldId id="273" r:id="rId16"/>
    <p:sldId id="258" r:id="rId17"/>
    <p:sldId id="285" r:id="rId18"/>
    <p:sldId id="266" r:id="rId19"/>
    <p:sldId id="279" r:id="rId20"/>
    <p:sldId id="281" r:id="rId21"/>
    <p:sldId id="282" r:id="rId22"/>
    <p:sldId id="280" r:id="rId23"/>
    <p:sldId id="283" r:id="rId24"/>
    <p:sldId id="284" r:id="rId25"/>
    <p:sldId id="259" r:id="rId26"/>
    <p:sldId id="292" r:id="rId27"/>
    <p:sldId id="260" r:id="rId28"/>
    <p:sldId id="278" r:id="rId29"/>
    <p:sldId id="261" r:id="rId30"/>
    <p:sldId id="262" r:id="rId31"/>
    <p:sldId id="291" r:id="rId32"/>
    <p:sldId id="263" r:id="rId33"/>
    <p:sldId id="287" r:id="rId34"/>
    <p:sldId id="288" r:id="rId35"/>
    <p:sldId id="290" r:id="rId36"/>
    <p:sldId id="289" r:id="rId37"/>
    <p:sldId id="264"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D585D"/>
    <a:srgbClr val="575D5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8" d="100"/>
          <a:sy n="88" d="100"/>
        </p:scale>
        <p:origin x="494"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BA8C0FE1-3F10-45C4-98C7-D68F9D9AC593}" type="datetimeFigureOut">
              <a:rPr lang="en-AU" smtClean="0"/>
              <a:t>9/06/2022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17B56F7-EA80-438E-8781-81A61576A88E}" type="slidenum">
              <a:rPr lang="en-AU" smtClean="0"/>
              <a:t>‹#›</a:t>
            </a:fld>
            <a:endParaRPr lang="en-AU"/>
          </a:p>
        </p:txBody>
      </p:sp>
    </p:spTree>
    <p:extLst>
      <p:ext uri="{BB962C8B-B14F-4D97-AF65-F5344CB8AC3E}">
        <p14:creationId xmlns:p14="http://schemas.microsoft.com/office/powerpoint/2010/main" val="3563785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BA8C0FE1-3F10-45C4-98C7-D68F9D9AC593}" type="datetimeFigureOut">
              <a:rPr lang="en-AU" smtClean="0"/>
              <a:t>9/06/2022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17B56F7-EA80-438E-8781-81A61576A88E}" type="slidenum">
              <a:rPr lang="en-AU" smtClean="0"/>
              <a:t>‹#›</a:t>
            </a:fld>
            <a:endParaRPr lang="en-AU"/>
          </a:p>
        </p:txBody>
      </p:sp>
    </p:spTree>
    <p:extLst>
      <p:ext uri="{BB962C8B-B14F-4D97-AF65-F5344CB8AC3E}">
        <p14:creationId xmlns:p14="http://schemas.microsoft.com/office/powerpoint/2010/main" val="40373883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A8C0FE1-3F10-45C4-98C7-D68F9D9AC593}" type="datetimeFigureOut">
              <a:rPr lang="en-AU" smtClean="0"/>
              <a:t>9/06/2022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17B56F7-EA80-438E-8781-81A61576A88E}" type="slidenum">
              <a:rPr lang="en-AU" smtClean="0"/>
              <a:t>‹#›</a:t>
            </a:fld>
            <a:endParaRPr lang="en-AU"/>
          </a:p>
        </p:txBody>
      </p:sp>
    </p:spTree>
    <p:extLst>
      <p:ext uri="{BB962C8B-B14F-4D97-AF65-F5344CB8AC3E}">
        <p14:creationId xmlns:p14="http://schemas.microsoft.com/office/powerpoint/2010/main" val="5111271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BA8C0FE1-3F10-45C4-98C7-D68F9D9AC593}" type="datetimeFigureOut">
              <a:rPr lang="en-AU" smtClean="0"/>
              <a:t>9/06/2022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C17B56F7-EA80-438E-8781-81A61576A88E}" type="slidenum">
              <a:rPr lang="en-AU" smtClean="0"/>
              <a:t>‹#›</a:t>
            </a:fld>
            <a:endParaRPr lang="en-AU"/>
          </a:p>
        </p:txBody>
      </p:sp>
    </p:spTree>
    <p:extLst>
      <p:ext uri="{BB962C8B-B14F-4D97-AF65-F5344CB8AC3E}">
        <p14:creationId xmlns:p14="http://schemas.microsoft.com/office/powerpoint/2010/main" val="29715487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BA8C0FE1-3F10-45C4-98C7-D68F9D9AC593}" type="datetimeFigureOut">
              <a:rPr lang="en-AU" smtClean="0"/>
              <a:t>9/06/2022</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C17B56F7-EA80-438E-8781-81A61576A88E}" type="slidenum">
              <a:rPr lang="en-AU" smtClean="0"/>
              <a:t>‹#›</a:t>
            </a:fld>
            <a:endParaRPr lang="en-AU"/>
          </a:p>
        </p:txBody>
      </p:sp>
    </p:spTree>
    <p:extLst>
      <p:ext uri="{BB962C8B-B14F-4D97-AF65-F5344CB8AC3E}">
        <p14:creationId xmlns:p14="http://schemas.microsoft.com/office/powerpoint/2010/main" val="7660533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BA8C0FE1-3F10-45C4-98C7-D68F9D9AC593}" type="datetimeFigureOut">
              <a:rPr lang="en-AU" smtClean="0"/>
              <a:t>9/06/2022</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C17B56F7-EA80-438E-8781-81A61576A88E}" type="slidenum">
              <a:rPr lang="en-AU" smtClean="0"/>
              <a:t>‹#›</a:t>
            </a:fld>
            <a:endParaRPr lang="en-AU"/>
          </a:p>
        </p:txBody>
      </p:sp>
    </p:spTree>
    <p:extLst>
      <p:ext uri="{BB962C8B-B14F-4D97-AF65-F5344CB8AC3E}">
        <p14:creationId xmlns:p14="http://schemas.microsoft.com/office/powerpoint/2010/main" val="895149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A8C0FE1-3F10-45C4-98C7-D68F9D9AC593}" type="datetimeFigureOut">
              <a:rPr lang="en-AU" smtClean="0"/>
              <a:t>9/06/2022</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C17B56F7-EA80-438E-8781-81A61576A88E}" type="slidenum">
              <a:rPr lang="en-AU" smtClean="0"/>
              <a:t>‹#›</a:t>
            </a:fld>
            <a:endParaRPr lang="en-AU"/>
          </a:p>
        </p:txBody>
      </p:sp>
    </p:spTree>
    <p:extLst>
      <p:ext uri="{BB962C8B-B14F-4D97-AF65-F5344CB8AC3E}">
        <p14:creationId xmlns:p14="http://schemas.microsoft.com/office/powerpoint/2010/main" val="439737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A8C0FE1-3F10-45C4-98C7-D68F9D9AC593}" type="datetimeFigureOut">
              <a:rPr lang="en-AU" smtClean="0"/>
              <a:t>9/06/2022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C17B56F7-EA80-438E-8781-81A61576A88E}" type="slidenum">
              <a:rPr lang="en-AU" smtClean="0"/>
              <a:t>‹#›</a:t>
            </a:fld>
            <a:endParaRPr lang="en-AU"/>
          </a:p>
        </p:txBody>
      </p:sp>
    </p:spTree>
    <p:extLst>
      <p:ext uri="{BB962C8B-B14F-4D97-AF65-F5344CB8AC3E}">
        <p14:creationId xmlns:p14="http://schemas.microsoft.com/office/powerpoint/2010/main" val="33826522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A8C0FE1-3F10-45C4-98C7-D68F9D9AC593}" type="datetimeFigureOut">
              <a:rPr lang="en-AU" smtClean="0"/>
              <a:t>9/06/2022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C17B56F7-EA80-438E-8781-81A61576A88E}" type="slidenum">
              <a:rPr lang="en-AU" smtClean="0"/>
              <a:t>‹#›</a:t>
            </a:fld>
            <a:endParaRPr lang="en-AU"/>
          </a:p>
        </p:txBody>
      </p:sp>
    </p:spTree>
    <p:extLst>
      <p:ext uri="{BB962C8B-B14F-4D97-AF65-F5344CB8AC3E}">
        <p14:creationId xmlns:p14="http://schemas.microsoft.com/office/powerpoint/2010/main" val="39278440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BA8C0FE1-3F10-45C4-98C7-D68F9D9AC593}" type="datetimeFigureOut">
              <a:rPr lang="en-AU" smtClean="0"/>
              <a:t>9/06/2022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17B56F7-EA80-438E-8781-81A61576A88E}" type="slidenum">
              <a:rPr lang="en-AU" smtClean="0"/>
              <a:t>‹#›</a:t>
            </a:fld>
            <a:endParaRPr lang="en-AU"/>
          </a:p>
        </p:txBody>
      </p:sp>
    </p:spTree>
    <p:extLst>
      <p:ext uri="{BB962C8B-B14F-4D97-AF65-F5344CB8AC3E}">
        <p14:creationId xmlns:p14="http://schemas.microsoft.com/office/powerpoint/2010/main" val="14602982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BA8C0FE1-3F10-45C4-98C7-D68F9D9AC593}" type="datetimeFigureOut">
              <a:rPr lang="en-AU" smtClean="0"/>
              <a:t>9/06/2022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17B56F7-EA80-438E-8781-81A61576A88E}" type="slidenum">
              <a:rPr lang="en-AU" smtClean="0"/>
              <a:t>‹#›</a:t>
            </a:fld>
            <a:endParaRPr lang="en-AU"/>
          </a:p>
        </p:txBody>
      </p:sp>
    </p:spTree>
    <p:extLst>
      <p:ext uri="{BB962C8B-B14F-4D97-AF65-F5344CB8AC3E}">
        <p14:creationId xmlns:p14="http://schemas.microsoft.com/office/powerpoint/2010/main" val="3607203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4">
                <a:lumMod val="0"/>
                <a:lumOff val="100000"/>
                <a:alpha val="41000"/>
              </a:schemeClr>
            </a:gs>
            <a:gs pos="35000">
              <a:schemeClr val="accent4">
                <a:lumMod val="0"/>
                <a:lumOff val="100000"/>
              </a:schemeClr>
            </a:gs>
            <a:gs pos="100000">
              <a:schemeClr val="accent4">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8C0FE1-3F10-45C4-98C7-D68F9D9AC593}" type="datetimeFigureOut">
              <a:rPr lang="en-AU" smtClean="0"/>
              <a:t>9/06/2022</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7B56F7-EA80-438E-8781-81A61576A88E}" type="slidenum">
              <a:rPr lang="en-AU" smtClean="0"/>
              <a:t>‹#›</a:t>
            </a:fld>
            <a:endParaRPr lang="en-AU"/>
          </a:p>
        </p:txBody>
      </p:sp>
    </p:spTree>
    <p:extLst>
      <p:ext uri="{BB962C8B-B14F-4D97-AF65-F5344CB8AC3E}">
        <p14:creationId xmlns:p14="http://schemas.microsoft.com/office/powerpoint/2010/main" val="2995027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s://www.youtube.com/watch?v=R5eEQJZm7ZM"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s://www.youtube.com/watch?v=ANQspcmfhJU"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hyperlink" Target="https://www.youtube.com/watch?v=LRIm5ufzMd4"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5249" y="1122363"/>
            <a:ext cx="12011025" cy="2387600"/>
          </a:xfrm>
        </p:spPr>
        <p:txBody>
          <a:bodyPr>
            <a:normAutofit/>
          </a:bodyPr>
          <a:lstStyle/>
          <a:p>
            <a:r>
              <a:rPr lang="en-AU" sz="7200" b="1" dirty="0" smtClean="0">
                <a:latin typeface="Castellar" panose="020A0402060406010301" pitchFamily="18" charset="0"/>
              </a:rPr>
              <a:t>INFECTIOUS DISEASES </a:t>
            </a:r>
            <a:endParaRPr lang="en-AU" sz="7200" b="1" dirty="0">
              <a:latin typeface="Castellar" panose="020A0402060406010301" pitchFamily="18" charset="0"/>
            </a:endParaRPr>
          </a:p>
        </p:txBody>
      </p:sp>
      <p:sp>
        <p:nvSpPr>
          <p:cNvPr id="3" name="Subtitle 2"/>
          <p:cNvSpPr>
            <a:spLocks noGrp="1"/>
          </p:cNvSpPr>
          <p:nvPr>
            <p:ph type="subTitle" idx="1"/>
          </p:nvPr>
        </p:nvSpPr>
        <p:spPr/>
        <p:txBody>
          <a:bodyPr>
            <a:normAutofit/>
          </a:bodyPr>
          <a:lstStyle/>
          <a:p>
            <a:r>
              <a:rPr lang="en-AU" sz="3200" b="1" dirty="0" smtClean="0"/>
              <a:t>HIV/AIDS</a:t>
            </a:r>
            <a:r>
              <a:rPr lang="en-AU" sz="5400" dirty="0" smtClean="0"/>
              <a:t> </a:t>
            </a:r>
            <a:endParaRPr lang="en-AU" sz="5400" dirty="0"/>
          </a:p>
        </p:txBody>
      </p:sp>
    </p:spTree>
    <p:extLst>
      <p:ext uri="{BB962C8B-B14F-4D97-AF65-F5344CB8AC3E}">
        <p14:creationId xmlns:p14="http://schemas.microsoft.com/office/powerpoint/2010/main" val="400909883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HIV/AIDS</a:t>
            </a:r>
            <a:endParaRPr lang="en-AU" sz="6000" b="1" dirty="0"/>
          </a:p>
        </p:txBody>
      </p:sp>
      <p:sp>
        <p:nvSpPr>
          <p:cNvPr id="3" name="Content Placeholder 2"/>
          <p:cNvSpPr>
            <a:spLocks noGrp="1"/>
          </p:cNvSpPr>
          <p:nvPr>
            <p:ph idx="1"/>
          </p:nvPr>
        </p:nvSpPr>
        <p:spPr>
          <a:xfrm>
            <a:off x="149290" y="1571236"/>
            <a:ext cx="12042709" cy="5286763"/>
          </a:xfrm>
        </p:spPr>
        <p:txBody>
          <a:bodyPr>
            <a:normAutofit/>
          </a:bodyPr>
          <a:lstStyle/>
          <a:p>
            <a:r>
              <a:rPr lang="en-AU" sz="3200" dirty="0" smtClean="0"/>
              <a:t>HIV stands for Human Immunodeficiency Virus </a:t>
            </a:r>
          </a:p>
          <a:p>
            <a:r>
              <a:rPr lang="en-AU" sz="3200" dirty="0" smtClean="0"/>
              <a:t>AIDS stands for Acquired Immunodeficiency Syndrome </a:t>
            </a:r>
          </a:p>
          <a:p>
            <a:endParaRPr lang="en-AU" sz="3200" dirty="0"/>
          </a:p>
          <a:p>
            <a:r>
              <a:rPr lang="en-AU" sz="3200" dirty="0" smtClean="0"/>
              <a:t>HIV/AIDS makes up the deadliest pandemic that humankind has ever experienced. By the end of 2016 it had spread worldwide and killed more than 36 million people. </a:t>
            </a:r>
          </a:p>
          <a:p>
            <a:endParaRPr lang="en-AU" sz="3200" dirty="0"/>
          </a:p>
          <a:p>
            <a:r>
              <a:rPr lang="en-AU" sz="3200" dirty="0" smtClean="0"/>
              <a:t>HIV/AIDS has created terror across continents and brought with it a stigma that has still not been overcome. </a:t>
            </a:r>
            <a:endParaRPr lang="en-AU" sz="3200" dirty="0"/>
          </a:p>
        </p:txBody>
      </p:sp>
    </p:spTree>
    <p:extLst>
      <p:ext uri="{BB962C8B-B14F-4D97-AF65-F5344CB8AC3E}">
        <p14:creationId xmlns:p14="http://schemas.microsoft.com/office/powerpoint/2010/main" val="265953079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740228" y="-21010"/>
            <a:ext cx="10842172" cy="6879010"/>
          </a:xfrm>
          <a:prstGeom prst="rect">
            <a:avLst/>
          </a:prstGeom>
        </p:spPr>
      </p:pic>
    </p:spTree>
    <p:extLst>
      <p:ext uri="{BB962C8B-B14F-4D97-AF65-F5344CB8AC3E}">
        <p14:creationId xmlns:p14="http://schemas.microsoft.com/office/powerpoint/2010/main" val="35612033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HIV/AIDS- </a:t>
            </a:r>
            <a:r>
              <a:rPr lang="en-AU" sz="6000" b="1" dirty="0" smtClean="0"/>
              <a:t>Origins </a:t>
            </a:r>
            <a:endParaRPr lang="en-AU" sz="6000" dirty="0"/>
          </a:p>
        </p:txBody>
      </p:sp>
      <p:sp>
        <p:nvSpPr>
          <p:cNvPr id="3" name="Content Placeholder 2"/>
          <p:cNvSpPr>
            <a:spLocks noGrp="1"/>
          </p:cNvSpPr>
          <p:nvPr>
            <p:ph idx="1"/>
          </p:nvPr>
        </p:nvSpPr>
        <p:spPr/>
        <p:txBody>
          <a:bodyPr>
            <a:normAutofit/>
          </a:bodyPr>
          <a:lstStyle/>
          <a:p>
            <a:r>
              <a:rPr lang="en-AU" sz="3200" dirty="0" smtClean="0"/>
              <a:t>It is thought to have its origins in West Africa, where the pathogen spilled over from primates to humans in the early 20</a:t>
            </a:r>
            <a:r>
              <a:rPr lang="en-AU" sz="3200" baseline="30000" dirty="0" smtClean="0"/>
              <a:t>th</a:t>
            </a:r>
            <a:r>
              <a:rPr lang="en-AU" sz="3200" dirty="0" smtClean="0"/>
              <a:t> century. </a:t>
            </a:r>
          </a:p>
          <a:p>
            <a:endParaRPr lang="en-AU" sz="3200" dirty="0"/>
          </a:p>
          <a:p>
            <a:r>
              <a:rPr lang="en-AU" sz="3200" dirty="0" smtClean="0"/>
              <a:t>By the 1960s, about 2000 people in Africa may have been infected. The earliest know case in a human being was found in a blood sample taken in 1959 from a man in the Congo. By 1980 it had spread throughout Africa and to North America, South America, Europe, and Australia </a:t>
            </a:r>
            <a:endParaRPr lang="en-AU" sz="3200" dirty="0"/>
          </a:p>
        </p:txBody>
      </p:sp>
    </p:spTree>
    <p:extLst>
      <p:ext uri="{BB962C8B-B14F-4D97-AF65-F5344CB8AC3E}">
        <p14:creationId xmlns:p14="http://schemas.microsoft.com/office/powerpoint/2010/main" val="11796044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Zoonotic Spillover </a:t>
            </a:r>
            <a:endParaRPr lang="en-AU" sz="6000" b="1" dirty="0"/>
          </a:p>
        </p:txBody>
      </p:sp>
      <p:sp>
        <p:nvSpPr>
          <p:cNvPr id="3" name="Content Placeholder 2"/>
          <p:cNvSpPr>
            <a:spLocks noGrp="1"/>
          </p:cNvSpPr>
          <p:nvPr>
            <p:ph idx="1"/>
          </p:nvPr>
        </p:nvSpPr>
        <p:spPr>
          <a:xfrm>
            <a:off x="838200" y="1825625"/>
            <a:ext cx="4536233" cy="4351338"/>
          </a:xfrm>
        </p:spPr>
        <p:txBody>
          <a:bodyPr/>
          <a:lstStyle/>
          <a:p>
            <a:r>
              <a:rPr lang="en-AU" dirty="0" smtClean="0"/>
              <a:t>HIV-1 spilled over from chimpanzees (</a:t>
            </a:r>
            <a:r>
              <a:rPr lang="en-AU" i="1" dirty="0" err="1" smtClean="0"/>
              <a:t>Pantroglodytes</a:t>
            </a:r>
            <a:r>
              <a:rPr lang="en-AU" i="1" dirty="0" smtClean="0"/>
              <a:t> troglodytes</a:t>
            </a:r>
            <a:r>
              <a:rPr lang="en-AU" dirty="0" smtClean="0"/>
              <a:t>) </a:t>
            </a:r>
          </a:p>
          <a:p>
            <a:endParaRPr lang="en-AU" dirty="0"/>
          </a:p>
        </p:txBody>
      </p:sp>
      <p:sp>
        <p:nvSpPr>
          <p:cNvPr id="4" name="Content Placeholder 2"/>
          <p:cNvSpPr txBox="1">
            <a:spLocks/>
          </p:cNvSpPr>
          <p:nvPr/>
        </p:nvSpPr>
        <p:spPr>
          <a:xfrm>
            <a:off x="6682274" y="1724835"/>
            <a:ext cx="4536233"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smtClean="0"/>
              <a:t>HIV-2 spilled over from sooty mangabeys (</a:t>
            </a:r>
            <a:r>
              <a:rPr lang="en-AU" i="1" dirty="0" err="1" smtClean="0"/>
              <a:t>Cercocebus</a:t>
            </a:r>
            <a:r>
              <a:rPr lang="en-AU" i="1" dirty="0" smtClean="0"/>
              <a:t> </a:t>
            </a:r>
            <a:r>
              <a:rPr lang="en-AU" i="1" dirty="0" err="1" smtClean="0"/>
              <a:t>atys</a:t>
            </a:r>
            <a:r>
              <a:rPr lang="en-AU" dirty="0" smtClean="0"/>
              <a:t>) </a:t>
            </a:r>
          </a:p>
          <a:p>
            <a:endParaRPr lang="en-AU" dirty="0"/>
          </a:p>
        </p:txBody>
      </p:sp>
      <p:pic>
        <p:nvPicPr>
          <p:cNvPr id="2050" name="Picture 2" descr="Central chimpanzee - Wikipedi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4532" y="3150172"/>
            <a:ext cx="5323568" cy="354904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6682274" y="3150172"/>
            <a:ext cx="4820816" cy="3615612"/>
          </a:xfrm>
          <a:prstGeom prst="rect">
            <a:avLst/>
          </a:prstGeom>
        </p:spPr>
      </p:pic>
    </p:spTree>
    <p:extLst>
      <p:ext uri="{BB962C8B-B14F-4D97-AF65-F5344CB8AC3E}">
        <p14:creationId xmlns:p14="http://schemas.microsoft.com/office/powerpoint/2010/main" val="212643446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HIV/AIDS- </a:t>
            </a:r>
            <a:r>
              <a:rPr lang="en-AU" sz="6000" b="1" dirty="0" smtClean="0"/>
              <a:t>America </a:t>
            </a:r>
            <a:endParaRPr lang="en-AU" sz="6000" dirty="0"/>
          </a:p>
        </p:txBody>
      </p:sp>
      <p:sp>
        <p:nvSpPr>
          <p:cNvPr id="3" name="Content Placeholder 2"/>
          <p:cNvSpPr>
            <a:spLocks noGrp="1"/>
          </p:cNvSpPr>
          <p:nvPr>
            <p:ph idx="1"/>
          </p:nvPr>
        </p:nvSpPr>
        <p:spPr/>
        <p:txBody>
          <a:bodyPr>
            <a:normAutofit lnSpcReduction="10000"/>
          </a:bodyPr>
          <a:lstStyle/>
          <a:p>
            <a:r>
              <a:rPr lang="en-AU" sz="3200" dirty="0" smtClean="0"/>
              <a:t>The first recorded case of AIDS was on the 5</a:t>
            </a:r>
            <a:r>
              <a:rPr lang="en-AU" sz="3200" baseline="30000" dirty="0" smtClean="0"/>
              <a:t>th</a:t>
            </a:r>
            <a:r>
              <a:rPr lang="en-AU" sz="3200" dirty="0" smtClean="0"/>
              <a:t> June 1981. </a:t>
            </a:r>
          </a:p>
          <a:p>
            <a:endParaRPr lang="en-AU" sz="3200" dirty="0"/>
          </a:p>
          <a:p>
            <a:r>
              <a:rPr lang="en-AU" sz="3200" dirty="0" smtClean="0"/>
              <a:t>HIV was discovered as the cause of AIDS in 1983. </a:t>
            </a:r>
          </a:p>
          <a:p>
            <a:endParaRPr lang="en-AU" sz="3200" dirty="0"/>
          </a:p>
          <a:p>
            <a:r>
              <a:rPr lang="en-AU" sz="3200" dirty="0" smtClean="0"/>
              <a:t>The CDC reported of an unusual infection affecting the immune system in five young, previously healthy, gay men in Los Angeles. Within days other doctors were reporting similar cases, with the only common link being that they were all gay men. </a:t>
            </a:r>
            <a:endParaRPr lang="en-AU" sz="3200" dirty="0"/>
          </a:p>
        </p:txBody>
      </p:sp>
    </p:spTree>
    <p:extLst>
      <p:ext uri="{BB962C8B-B14F-4D97-AF65-F5344CB8AC3E}">
        <p14:creationId xmlns:p14="http://schemas.microsoft.com/office/powerpoint/2010/main" val="233354348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HIV/AIDS- America </a:t>
            </a:r>
            <a:endParaRPr lang="en-AU" sz="6000" dirty="0"/>
          </a:p>
        </p:txBody>
      </p:sp>
      <p:sp>
        <p:nvSpPr>
          <p:cNvPr id="3" name="Content Placeholder 2"/>
          <p:cNvSpPr>
            <a:spLocks noGrp="1"/>
          </p:cNvSpPr>
          <p:nvPr>
            <p:ph idx="1"/>
          </p:nvPr>
        </p:nvSpPr>
        <p:spPr>
          <a:xfrm>
            <a:off x="278363" y="1690688"/>
            <a:ext cx="11720804" cy="4952708"/>
          </a:xfrm>
        </p:spPr>
        <p:txBody>
          <a:bodyPr>
            <a:normAutofit/>
          </a:bodyPr>
          <a:lstStyle/>
          <a:p>
            <a:r>
              <a:rPr lang="en-AU" sz="3200" dirty="0" smtClean="0"/>
              <a:t>By the end of 1981, 270 cases of the severe immune deficiency had been reported, with 121 of them already dead. </a:t>
            </a:r>
          </a:p>
          <a:p>
            <a:endParaRPr lang="en-AU" sz="3200" dirty="0"/>
          </a:p>
          <a:p>
            <a:r>
              <a:rPr lang="en-AU" sz="3200" dirty="0" smtClean="0"/>
              <a:t>In 1982, the CDC coined the term AIDS. </a:t>
            </a:r>
          </a:p>
          <a:p>
            <a:endParaRPr lang="en-AU" sz="3200" dirty="0"/>
          </a:p>
          <a:p>
            <a:r>
              <a:rPr lang="en-AU" sz="3200" dirty="0" smtClean="0"/>
              <a:t>Cases continued emerging amongst the homeless, marginalised, partners of those affected, drug users, haemophiliacs, Haitians, though the majority reported were homosexual men</a:t>
            </a:r>
            <a:endParaRPr lang="en-AU" sz="3200" dirty="0"/>
          </a:p>
        </p:txBody>
      </p:sp>
    </p:spTree>
    <p:extLst>
      <p:ext uri="{BB962C8B-B14F-4D97-AF65-F5344CB8AC3E}">
        <p14:creationId xmlns:p14="http://schemas.microsoft.com/office/powerpoint/2010/main" val="12846825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b="4482"/>
          <a:stretch/>
        </p:blipFill>
        <p:spPr>
          <a:xfrm>
            <a:off x="546132" y="0"/>
            <a:ext cx="5148040" cy="6858000"/>
          </a:xfrm>
          <a:prstGeom prst="rect">
            <a:avLst/>
          </a:prstGeom>
        </p:spPr>
      </p:pic>
      <p:sp>
        <p:nvSpPr>
          <p:cNvPr id="3" name="TextBox 2"/>
          <p:cNvSpPr txBox="1"/>
          <p:nvPr/>
        </p:nvSpPr>
        <p:spPr>
          <a:xfrm>
            <a:off x="7280366" y="1663337"/>
            <a:ext cx="3927565" cy="2062103"/>
          </a:xfrm>
          <a:prstGeom prst="rect">
            <a:avLst/>
          </a:prstGeom>
          <a:noFill/>
        </p:spPr>
        <p:txBody>
          <a:bodyPr wrap="square" rtlCol="0">
            <a:spAutoFit/>
          </a:bodyPr>
          <a:lstStyle/>
          <a:p>
            <a:r>
              <a:rPr lang="en-AU" sz="3200" dirty="0" smtClean="0"/>
              <a:t>America </a:t>
            </a:r>
            <a:r>
              <a:rPr lang="en-AU" sz="3200" dirty="0"/>
              <a:t>Responds to AIDS advertising campaign, </a:t>
            </a:r>
            <a:endParaRPr lang="en-AU" sz="3200" dirty="0" smtClean="0"/>
          </a:p>
          <a:p>
            <a:r>
              <a:rPr lang="en-AU" sz="3200" dirty="0" smtClean="0"/>
              <a:t>1980</a:t>
            </a:r>
            <a:endParaRPr lang="en-AU" sz="3200" dirty="0"/>
          </a:p>
        </p:txBody>
      </p:sp>
    </p:spTree>
    <p:extLst>
      <p:ext uri="{BB962C8B-B14F-4D97-AF65-F5344CB8AC3E}">
        <p14:creationId xmlns:p14="http://schemas.microsoft.com/office/powerpoint/2010/main" val="353326289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551622" y="-1"/>
            <a:ext cx="4918847" cy="6832333"/>
          </a:xfrm>
          <a:prstGeom prst="rect">
            <a:avLst/>
          </a:prstGeom>
        </p:spPr>
      </p:pic>
      <p:sp>
        <p:nvSpPr>
          <p:cNvPr id="3" name="TextBox 2"/>
          <p:cNvSpPr txBox="1"/>
          <p:nvPr/>
        </p:nvSpPr>
        <p:spPr>
          <a:xfrm>
            <a:off x="7280366" y="1663337"/>
            <a:ext cx="3927565" cy="2062103"/>
          </a:xfrm>
          <a:prstGeom prst="rect">
            <a:avLst/>
          </a:prstGeom>
          <a:noFill/>
        </p:spPr>
        <p:txBody>
          <a:bodyPr wrap="square" rtlCol="0">
            <a:spAutoFit/>
          </a:bodyPr>
          <a:lstStyle/>
          <a:p>
            <a:r>
              <a:rPr lang="en-AU" sz="3200" dirty="0" smtClean="0"/>
              <a:t>America </a:t>
            </a:r>
            <a:r>
              <a:rPr lang="en-AU" sz="3200" dirty="0"/>
              <a:t>Responds to AIDS advertising campaign, </a:t>
            </a:r>
            <a:endParaRPr lang="en-AU" sz="3200" dirty="0" smtClean="0"/>
          </a:p>
          <a:p>
            <a:r>
              <a:rPr lang="en-AU" sz="3200" dirty="0" smtClean="0"/>
              <a:t>1980</a:t>
            </a:r>
            <a:endParaRPr lang="en-AU" sz="3200" dirty="0"/>
          </a:p>
        </p:txBody>
      </p:sp>
    </p:spTree>
    <p:extLst>
      <p:ext uri="{BB962C8B-B14F-4D97-AF65-F5344CB8AC3E}">
        <p14:creationId xmlns:p14="http://schemas.microsoft.com/office/powerpoint/2010/main" val="92838396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HIV/AIDS- America </a:t>
            </a:r>
            <a:endParaRPr lang="en-AU" sz="6000" dirty="0"/>
          </a:p>
        </p:txBody>
      </p:sp>
      <p:sp>
        <p:nvSpPr>
          <p:cNvPr id="3" name="Content Placeholder 2"/>
          <p:cNvSpPr>
            <a:spLocks noGrp="1"/>
          </p:cNvSpPr>
          <p:nvPr>
            <p:ph idx="1"/>
          </p:nvPr>
        </p:nvSpPr>
        <p:spPr/>
        <p:txBody>
          <a:bodyPr>
            <a:normAutofit/>
          </a:bodyPr>
          <a:lstStyle/>
          <a:p>
            <a:r>
              <a:rPr lang="en-AU" sz="3200" dirty="0" smtClean="0"/>
              <a:t>Haitians living in the US and people living in Haiti diagnosed with AIDS in 1982 didn’t fall into one of the at-risk groups, so they were singled out as a distinct group of their own. </a:t>
            </a:r>
          </a:p>
          <a:p>
            <a:endParaRPr lang="en-AU" sz="3200" dirty="0"/>
          </a:p>
          <a:p>
            <a:r>
              <a:rPr lang="en-AU" sz="3200" dirty="0" smtClean="0"/>
              <a:t>It was later confirmed that Haitians were no more at risk than any one else. But the damage had been done by that point. Discrimination and damage to the economy was terrible and continued to be for a long time. </a:t>
            </a:r>
            <a:endParaRPr lang="en-AU" sz="3200" dirty="0"/>
          </a:p>
        </p:txBody>
      </p:sp>
    </p:spTree>
    <p:extLst>
      <p:ext uri="{BB962C8B-B14F-4D97-AF65-F5344CB8AC3E}">
        <p14:creationId xmlns:p14="http://schemas.microsoft.com/office/powerpoint/2010/main" val="21760280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b="21052"/>
          <a:stretch/>
        </p:blipFill>
        <p:spPr>
          <a:xfrm>
            <a:off x="698182" y="200704"/>
            <a:ext cx="6094504" cy="6587997"/>
          </a:xfrm>
          <a:prstGeom prst="rect">
            <a:avLst/>
          </a:prstGeom>
        </p:spPr>
      </p:pic>
      <p:sp>
        <p:nvSpPr>
          <p:cNvPr id="4" name="TextBox 3"/>
          <p:cNvSpPr txBox="1"/>
          <p:nvPr/>
        </p:nvSpPr>
        <p:spPr>
          <a:xfrm>
            <a:off x="7280366" y="1663337"/>
            <a:ext cx="3927565" cy="2062103"/>
          </a:xfrm>
          <a:prstGeom prst="rect">
            <a:avLst/>
          </a:prstGeom>
          <a:noFill/>
        </p:spPr>
        <p:txBody>
          <a:bodyPr wrap="square" rtlCol="0">
            <a:spAutoFit/>
          </a:bodyPr>
          <a:lstStyle/>
          <a:p>
            <a:r>
              <a:rPr lang="en-AU" sz="3200" dirty="0" smtClean="0"/>
              <a:t>America </a:t>
            </a:r>
            <a:r>
              <a:rPr lang="en-AU" sz="3200" dirty="0"/>
              <a:t>Responds to AIDS advertising campaign, </a:t>
            </a:r>
            <a:endParaRPr lang="en-AU" sz="3200" dirty="0" smtClean="0"/>
          </a:p>
          <a:p>
            <a:r>
              <a:rPr lang="en-AU" sz="3200" dirty="0" smtClean="0"/>
              <a:t>1980</a:t>
            </a:r>
            <a:endParaRPr lang="en-AU" sz="3200" dirty="0"/>
          </a:p>
        </p:txBody>
      </p:sp>
    </p:spTree>
    <p:extLst>
      <p:ext uri="{BB962C8B-B14F-4D97-AF65-F5344CB8AC3E}">
        <p14:creationId xmlns:p14="http://schemas.microsoft.com/office/powerpoint/2010/main" val="331233085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The Gay Plague </a:t>
            </a:r>
            <a:endParaRPr lang="en-AU" sz="6000" b="1" dirty="0"/>
          </a:p>
        </p:txBody>
      </p:sp>
      <p:sp>
        <p:nvSpPr>
          <p:cNvPr id="3" name="Content Placeholder 2"/>
          <p:cNvSpPr>
            <a:spLocks noGrp="1"/>
          </p:cNvSpPr>
          <p:nvPr>
            <p:ph idx="1"/>
          </p:nvPr>
        </p:nvSpPr>
        <p:spPr>
          <a:xfrm>
            <a:off x="838200" y="1571237"/>
            <a:ext cx="10515600" cy="5032375"/>
          </a:xfrm>
        </p:spPr>
        <p:txBody>
          <a:bodyPr>
            <a:normAutofit/>
          </a:bodyPr>
          <a:lstStyle/>
          <a:p>
            <a:r>
              <a:rPr lang="en-AU" sz="3200" dirty="0" smtClean="0"/>
              <a:t>The apparent link between AIDS and homosexual men led it being dubbed by the media as ‘the gay plague’. </a:t>
            </a:r>
          </a:p>
          <a:p>
            <a:endParaRPr lang="en-AU" sz="3200" dirty="0"/>
          </a:p>
          <a:p>
            <a:r>
              <a:rPr lang="en-AU" sz="3200" dirty="0" smtClean="0"/>
              <a:t>This re-ignited outdated ideas about sexuality and morality with many people claiming AIDS was God’s punishment. Patients were seen as shameful and ‘untouchable’. </a:t>
            </a:r>
          </a:p>
          <a:p>
            <a:endParaRPr lang="en-AU" sz="3200" dirty="0"/>
          </a:p>
          <a:p>
            <a:r>
              <a:rPr lang="en-AU" sz="3200" dirty="0" smtClean="0"/>
              <a:t>People lost their jobs and Doctors warned this would reduce the amount of people coming forward to be tested, increasing the risk of spread </a:t>
            </a:r>
            <a:endParaRPr lang="en-AU" sz="3200" dirty="0"/>
          </a:p>
        </p:txBody>
      </p:sp>
    </p:spTree>
    <p:extLst>
      <p:ext uri="{BB962C8B-B14F-4D97-AF65-F5344CB8AC3E}">
        <p14:creationId xmlns:p14="http://schemas.microsoft.com/office/powerpoint/2010/main" val="184347634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31420" y="0"/>
            <a:ext cx="5160373" cy="6854322"/>
          </a:xfrm>
          <a:prstGeom prst="rect">
            <a:avLst/>
          </a:prstGeom>
        </p:spPr>
      </p:pic>
      <p:sp>
        <p:nvSpPr>
          <p:cNvPr id="3" name="TextBox 2"/>
          <p:cNvSpPr txBox="1"/>
          <p:nvPr/>
        </p:nvSpPr>
        <p:spPr>
          <a:xfrm>
            <a:off x="7280366" y="1663337"/>
            <a:ext cx="3927565" cy="2062103"/>
          </a:xfrm>
          <a:prstGeom prst="rect">
            <a:avLst/>
          </a:prstGeom>
          <a:noFill/>
        </p:spPr>
        <p:txBody>
          <a:bodyPr wrap="square" rtlCol="0">
            <a:spAutoFit/>
          </a:bodyPr>
          <a:lstStyle/>
          <a:p>
            <a:r>
              <a:rPr lang="en-AU" sz="3200" dirty="0" smtClean="0"/>
              <a:t>America </a:t>
            </a:r>
            <a:r>
              <a:rPr lang="en-AU" sz="3200" dirty="0"/>
              <a:t>Responds to AIDS advertising campaign, </a:t>
            </a:r>
            <a:endParaRPr lang="en-AU" sz="3200" dirty="0" smtClean="0"/>
          </a:p>
          <a:p>
            <a:r>
              <a:rPr lang="en-AU" sz="3200" dirty="0" smtClean="0"/>
              <a:t>1980</a:t>
            </a:r>
            <a:endParaRPr lang="en-AU" sz="3200" dirty="0"/>
          </a:p>
        </p:txBody>
      </p:sp>
    </p:spTree>
    <p:extLst>
      <p:ext uri="{BB962C8B-B14F-4D97-AF65-F5344CB8AC3E}">
        <p14:creationId xmlns:p14="http://schemas.microsoft.com/office/powerpoint/2010/main" val="70567225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HIV/AIDS- America </a:t>
            </a:r>
            <a:endParaRPr lang="en-AU" sz="6000" dirty="0"/>
          </a:p>
        </p:txBody>
      </p:sp>
      <p:sp>
        <p:nvSpPr>
          <p:cNvPr id="3" name="Content Placeholder 2"/>
          <p:cNvSpPr>
            <a:spLocks noGrp="1"/>
          </p:cNvSpPr>
          <p:nvPr>
            <p:ph idx="1"/>
          </p:nvPr>
        </p:nvSpPr>
        <p:spPr/>
        <p:txBody>
          <a:bodyPr>
            <a:normAutofit/>
          </a:bodyPr>
          <a:lstStyle/>
          <a:p>
            <a:r>
              <a:rPr lang="en-AU" sz="3200" dirty="0" smtClean="0"/>
              <a:t>In 1987 the USA began testing everyone who applied for a VISA and those who were found positive for the disease were banned from entering the country. </a:t>
            </a:r>
          </a:p>
          <a:p>
            <a:endParaRPr lang="en-AU" sz="3200" dirty="0"/>
          </a:p>
          <a:p>
            <a:r>
              <a:rPr lang="en-AU" sz="3200" dirty="0" smtClean="0"/>
              <a:t>In 1983, the CDC announced that AIDS was not spread by casual contact, food, water, air nor by contact with surfaces in the environment. </a:t>
            </a:r>
          </a:p>
          <a:p>
            <a:endParaRPr lang="en-AU" sz="3200" dirty="0"/>
          </a:p>
          <a:p>
            <a:endParaRPr lang="en-AU" sz="3200" dirty="0"/>
          </a:p>
        </p:txBody>
      </p:sp>
    </p:spTree>
    <p:extLst>
      <p:ext uri="{BB962C8B-B14F-4D97-AF65-F5344CB8AC3E}">
        <p14:creationId xmlns:p14="http://schemas.microsoft.com/office/powerpoint/2010/main" val="261181122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381999" y="-171450"/>
            <a:ext cx="6143625" cy="7029450"/>
          </a:xfrm>
          <a:prstGeom prst="rect">
            <a:avLst/>
          </a:prstGeom>
        </p:spPr>
      </p:pic>
      <p:sp>
        <p:nvSpPr>
          <p:cNvPr id="3" name="TextBox 2"/>
          <p:cNvSpPr txBox="1"/>
          <p:nvPr/>
        </p:nvSpPr>
        <p:spPr>
          <a:xfrm>
            <a:off x="8397551" y="1399592"/>
            <a:ext cx="3284376" cy="1569660"/>
          </a:xfrm>
          <a:prstGeom prst="rect">
            <a:avLst/>
          </a:prstGeom>
          <a:noFill/>
        </p:spPr>
        <p:txBody>
          <a:bodyPr wrap="square" rtlCol="0">
            <a:spAutoFit/>
          </a:bodyPr>
          <a:lstStyle/>
          <a:p>
            <a:pPr algn="ctr"/>
            <a:r>
              <a:rPr lang="en-AU" sz="3200" b="1" dirty="0" smtClean="0"/>
              <a:t>Red Cross poster </a:t>
            </a:r>
          </a:p>
          <a:p>
            <a:pPr algn="ctr"/>
            <a:endParaRPr lang="en-AU" sz="3200" b="1" dirty="0" smtClean="0"/>
          </a:p>
          <a:p>
            <a:pPr algn="ctr"/>
            <a:r>
              <a:rPr lang="en-AU" sz="3200" b="1" dirty="0" smtClean="0"/>
              <a:t>1992 </a:t>
            </a:r>
            <a:endParaRPr lang="en-AU" sz="3200" b="1" dirty="0"/>
          </a:p>
        </p:txBody>
      </p:sp>
    </p:spTree>
    <p:extLst>
      <p:ext uri="{BB962C8B-B14F-4D97-AF65-F5344CB8AC3E}">
        <p14:creationId xmlns:p14="http://schemas.microsoft.com/office/powerpoint/2010/main" val="20532124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HIV/AIDS- Locations</a:t>
            </a:r>
            <a:endParaRPr lang="en-AU" sz="6000" b="1" dirty="0"/>
          </a:p>
        </p:txBody>
      </p:sp>
      <p:sp>
        <p:nvSpPr>
          <p:cNvPr id="3" name="Content Placeholder 2"/>
          <p:cNvSpPr>
            <a:spLocks noGrp="1"/>
          </p:cNvSpPr>
          <p:nvPr>
            <p:ph idx="1"/>
          </p:nvPr>
        </p:nvSpPr>
        <p:spPr/>
        <p:txBody>
          <a:bodyPr>
            <a:normAutofit/>
          </a:bodyPr>
          <a:lstStyle/>
          <a:p>
            <a:r>
              <a:rPr lang="en-AU" sz="3200" dirty="0" smtClean="0"/>
              <a:t>Starting in Africa, it spread worldwide within years </a:t>
            </a:r>
          </a:p>
          <a:p>
            <a:endParaRPr lang="en-AU" sz="3200" dirty="0"/>
          </a:p>
          <a:p>
            <a:r>
              <a:rPr lang="en-AU" sz="3200" dirty="0" smtClean="0"/>
              <a:t>It is now found everywhere in the world </a:t>
            </a:r>
          </a:p>
          <a:p>
            <a:endParaRPr lang="en-AU" sz="3200" dirty="0"/>
          </a:p>
          <a:p>
            <a:r>
              <a:rPr lang="en-AU" sz="3200" dirty="0" smtClean="0"/>
              <a:t>Africa still represents roughly 2/3 of all cases. </a:t>
            </a:r>
            <a:endParaRPr lang="en-AU" sz="3200" dirty="0"/>
          </a:p>
        </p:txBody>
      </p:sp>
    </p:spTree>
    <p:extLst>
      <p:ext uri="{BB962C8B-B14F-4D97-AF65-F5344CB8AC3E}">
        <p14:creationId xmlns:p14="http://schemas.microsoft.com/office/powerpoint/2010/main" val="1991222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IV and AIDS: An Origin Story - PublicHealth.org"/>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Effect>
                      <a14:brightnessContrast contrast="-50000"/>
                    </a14:imgEffect>
                  </a14:imgLayer>
                </a14:imgProps>
              </a:ext>
              <a:ext uri="{28A0092B-C50C-407E-A947-70E740481C1C}">
                <a14:useLocalDpi xmlns:a14="http://schemas.microsoft.com/office/drawing/2010/main" val="0"/>
              </a:ext>
            </a:extLst>
          </a:blip>
          <a:srcRect/>
          <a:stretch>
            <a:fillRect/>
          </a:stretch>
        </p:blipFill>
        <p:spPr bwMode="auto">
          <a:xfrm>
            <a:off x="286204" y="439783"/>
            <a:ext cx="11666657" cy="56910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60058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331694"/>
            <a:ext cx="12192000" cy="6024282"/>
          </a:xfrm>
          <a:prstGeom prst="rect">
            <a:avLst/>
          </a:prstGeom>
        </p:spPr>
      </p:pic>
      <p:sp>
        <p:nvSpPr>
          <p:cNvPr id="3" name="Rectangle 2"/>
          <p:cNvSpPr/>
          <p:nvPr/>
        </p:nvSpPr>
        <p:spPr>
          <a:xfrm>
            <a:off x="8776447" y="4114800"/>
            <a:ext cx="1129553" cy="1434353"/>
          </a:xfrm>
          <a:prstGeom prst="rect">
            <a:avLst/>
          </a:prstGeom>
          <a:solidFill>
            <a:srgbClr val="4D58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88527801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38250" y="0"/>
            <a:ext cx="9715500" cy="6858000"/>
          </a:xfrm>
          <a:prstGeom prst="rect">
            <a:avLst/>
          </a:prstGeom>
        </p:spPr>
      </p:pic>
    </p:spTree>
    <p:extLst>
      <p:ext uri="{BB962C8B-B14F-4D97-AF65-F5344CB8AC3E}">
        <p14:creationId xmlns:p14="http://schemas.microsoft.com/office/powerpoint/2010/main" val="279468649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38250" y="0"/>
            <a:ext cx="9715500" cy="6858000"/>
          </a:xfrm>
          <a:prstGeom prst="rect">
            <a:avLst/>
          </a:prstGeom>
        </p:spPr>
      </p:pic>
    </p:spTree>
    <p:extLst>
      <p:ext uri="{BB962C8B-B14F-4D97-AF65-F5344CB8AC3E}">
        <p14:creationId xmlns:p14="http://schemas.microsoft.com/office/powerpoint/2010/main" val="126975616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38250" y="0"/>
            <a:ext cx="9715500" cy="6858000"/>
          </a:xfrm>
          <a:prstGeom prst="rect">
            <a:avLst/>
          </a:prstGeom>
        </p:spPr>
      </p:pic>
    </p:spTree>
    <p:extLst>
      <p:ext uri="{BB962C8B-B14F-4D97-AF65-F5344CB8AC3E}">
        <p14:creationId xmlns:p14="http://schemas.microsoft.com/office/powerpoint/2010/main" val="303431682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38250" y="0"/>
            <a:ext cx="9715500" cy="6858000"/>
          </a:xfrm>
          <a:prstGeom prst="rect">
            <a:avLst/>
          </a:prstGeom>
        </p:spPr>
      </p:pic>
    </p:spTree>
    <p:extLst>
      <p:ext uri="{BB962C8B-B14F-4D97-AF65-F5344CB8AC3E}">
        <p14:creationId xmlns:p14="http://schemas.microsoft.com/office/powerpoint/2010/main" val="87715020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38250" y="0"/>
            <a:ext cx="9715500" cy="6858000"/>
          </a:xfrm>
          <a:prstGeom prst="rect">
            <a:avLst/>
          </a:prstGeom>
        </p:spPr>
      </p:pic>
    </p:spTree>
    <p:extLst>
      <p:ext uri="{BB962C8B-B14F-4D97-AF65-F5344CB8AC3E}">
        <p14:creationId xmlns:p14="http://schemas.microsoft.com/office/powerpoint/2010/main" val="174345771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38250" y="0"/>
            <a:ext cx="9715500" cy="6858000"/>
          </a:xfrm>
          <a:prstGeom prst="rect">
            <a:avLst/>
          </a:prstGeom>
        </p:spPr>
      </p:pic>
    </p:spTree>
    <p:extLst>
      <p:ext uri="{BB962C8B-B14F-4D97-AF65-F5344CB8AC3E}">
        <p14:creationId xmlns:p14="http://schemas.microsoft.com/office/powerpoint/2010/main" val="159272809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HIV/AIDS- Signs and Symptoms </a:t>
            </a:r>
            <a:endParaRPr lang="en-AU" sz="6000" b="1" dirty="0"/>
          </a:p>
        </p:txBody>
      </p:sp>
      <p:sp>
        <p:nvSpPr>
          <p:cNvPr id="3" name="Content Placeholder 2"/>
          <p:cNvSpPr>
            <a:spLocks noGrp="1"/>
          </p:cNvSpPr>
          <p:nvPr>
            <p:ph idx="1"/>
          </p:nvPr>
        </p:nvSpPr>
        <p:spPr/>
        <p:txBody>
          <a:bodyPr>
            <a:normAutofit/>
          </a:bodyPr>
          <a:lstStyle/>
          <a:p>
            <a:r>
              <a:rPr lang="en-AU" sz="3200" dirty="0"/>
              <a:t>The symptoms of HIV vary depending on the stage of infection. Though people living with HIV tend to be most infectious in the first few months after being infected, many are unaware of their status until the later stages. </a:t>
            </a:r>
          </a:p>
          <a:p>
            <a:endParaRPr lang="en-AU" sz="3200" dirty="0" smtClean="0"/>
          </a:p>
          <a:p>
            <a:r>
              <a:rPr lang="en-AU" sz="3200" dirty="0" smtClean="0"/>
              <a:t>In </a:t>
            </a:r>
            <a:r>
              <a:rPr lang="en-AU" sz="3200" dirty="0"/>
              <a:t>the first few weeks after initial infection people may experience no symptoms or an influenza-like illness including fever, headache, rash or sore throat.</a:t>
            </a:r>
          </a:p>
          <a:p>
            <a:endParaRPr lang="en-AU" dirty="0"/>
          </a:p>
        </p:txBody>
      </p:sp>
    </p:spTree>
    <p:extLst>
      <p:ext uri="{BB962C8B-B14F-4D97-AF65-F5344CB8AC3E}">
        <p14:creationId xmlns:p14="http://schemas.microsoft.com/office/powerpoint/2010/main" val="350677067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HIV/AIDS- Signs and Symptoms </a:t>
            </a:r>
            <a:endParaRPr lang="en-AU" sz="6000" dirty="0"/>
          </a:p>
        </p:txBody>
      </p:sp>
      <p:sp>
        <p:nvSpPr>
          <p:cNvPr id="3" name="Content Placeholder 2"/>
          <p:cNvSpPr>
            <a:spLocks noGrp="1"/>
          </p:cNvSpPr>
          <p:nvPr>
            <p:ph idx="1"/>
          </p:nvPr>
        </p:nvSpPr>
        <p:spPr/>
        <p:txBody>
          <a:bodyPr/>
          <a:lstStyle/>
          <a:p>
            <a:r>
              <a:rPr lang="en-AU" sz="3200" dirty="0"/>
              <a:t>As the infection progressively weakens the immune system, they can develop other signs and symptoms, such as swollen lymph nodes, weight loss, fever, diarrhoea and cough. </a:t>
            </a:r>
            <a:endParaRPr lang="en-AU" sz="3200" dirty="0" smtClean="0"/>
          </a:p>
          <a:p>
            <a:endParaRPr lang="en-AU" sz="3200" dirty="0"/>
          </a:p>
          <a:p>
            <a:r>
              <a:rPr lang="en-AU" sz="3200" dirty="0" smtClean="0"/>
              <a:t>Without </a:t>
            </a:r>
            <a:r>
              <a:rPr lang="en-AU" sz="3200" dirty="0"/>
              <a:t>treatment, they could also develop severe illnesses such as tuberculosis (TB), </a:t>
            </a:r>
            <a:r>
              <a:rPr lang="en-AU" sz="3200" dirty="0" err="1"/>
              <a:t>cryptococcal</a:t>
            </a:r>
            <a:r>
              <a:rPr lang="en-AU" sz="3200" dirty="0"/>
              <a:t> meningitis, severe bacterial infections, and cancers such as lymphomas and Kaposi's sarcoma.</a:t>
            </a:r>
          </a:p>
          <a:p>
            <a:endParaRPr lang="en-AU" dirty="0"/>
          </a:p>
        </p:txBody>
      </p:sp>
    </p:spTree>
    <p:extLst>
      <p:ext uri="{BB962C8B-B14F-4D97-AF65-F5344CB8AC3E}">
        <p14:creationId xmlns:p14="http://schemas.microsoft.com/office/powerpoint/2010/main" val="2375369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HIV/AIDS- Fatality Rate </a:t>
            </a:r>
            <a:endParaRPr lang="en-AU" sz="6000" b="1" dirty="0"/>
          </a:p>
        </p:txBody>
      </p:sp>
      <p:sp>
        <p:nvSpPr>
          <p:cNvPr id="3" name="Content Placeholder 2"/>
          <p:cNvSpPr>
            <a:spLocks noGrp="1"/>
          </p:cNvSpPr>
          <p:nvPr>
            <p:ph idx="1"/>
          </p:nvPr>
        </p:nvSpPr>
        <p:spPr/>
        <p:txBody>
          <a:bodyPr>
            <a:normAutofit/>
          </a:bodyPr>
          <a:lstStyle/>
          <a:p>
            <a:r>
              <a:rPr lang="en-AU" sz="3200" dirty="0" smtClean="0"/>
              <a:t>AIDS was a death sentence in the 1980s and 1990s </a:t>
            </a:r>
          </a:p>
          <a:p>
            <a:endParaRPr lang="en-AU" sz="3200" dirty="0"/>
          </a:p>
          <a:p>
            <a:endParaRPr lang="en-AU" sz="3200" dirty="0" smtClean="0"/>
          </a:p>
          <a:p>
            <a:pPr marL="0" indent="0">
              <a:buNone/>
            </a:pPr>
            <a:endParaRPr lang="en-AU" sz="3200" dirty="0"/>
          </a:p>
          <a:p>
            <a:r>
              <a:rPr lang="en-AU" sz="3200" dirty="0" smtClean="0"/>
              <a:t>In 2020 the fatality rate was approximately 1.8% </a:t>
            </a:r>
            <a:endParaRPr lang="en-AU" sz="3200" dirty="0"/>
          </a:p>
        </p:txBody>
      </p:sp>
    </p:spTree>
    <p:extLst>
      <p:ext uri="{BB962C8B-B14F-4D97-AF65-F5344CB8AC3E}">
        <p14:creationId xmlns:p14="http://schemas.microsoft.com/office/powerpoint/2010/main" val="99621986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The cost of treatment </a:t>
            </a:r>
            <a:endParaRPr lang="en-AU" sz="6000" b="1" dirty="0"/>
          </a:p>
        </p:txBody>
      </p:sp>
      <p:sp>
        <p:nvSpPr>
          <p:cNvPr id="3" name="Content Placeholder 2"/>
          <p:cNvSpPr>
            <a:spLocks noGrp="1"/>
          </p:cNvSpPr>
          <p:nvPr>
            <p:ph idx="1"/>
          </p:nvPr>
        </p:nvSpPr>
        <p:spPr/>
        <p:txBody>
          <a:bodyPr>
            <a:normAutofit/>
          </a:bodyPr>
          <a:lstStyle/>
          <a:p>
            <a:r>
              <a:rPr lang="en-AU" sz="3200" dirty="0" smtClean="0"/>
              <a:t>All have been converted to </a:t>
            </a:r>
            <a:r>
              <a:rPr lang="en-AU" sz="3200" dirty="0" err="1" smtClean="0"/>
              <a:t>Aus</a:t>
            </a:r>
            <a:r>
              <a:rPr lang="en-AU" sz="3200" dirty="0" smtClean="0"/>
              <a:t> Dollars </a:t>
            </a:r>
          </a:p>
          <a:p>
            <a:endParaRPr lang="en-AU" sz="3200" dirty="0"/>
          </a:p>
          <a:p>
            <a:r>
              <a:rPr lang="en-AU" sz="3200" dirty="0" smtClean="0"/>
              <a:t>America: </a:t>
            </a:r>
            <a:r>
              <a:rPr lang="en-AU" sz="3200" dirty="0"/>
              <a:t>$1,800 to $4,500 each </a:t>
            </a:r>
            <a:r>
              <a:rPr lang="en-AU" sz="3200" dirty="0" smtClean="0"/>
              <a:t>month </a:t>
            </a:r>
            <a:r>
              <a:rPr lang="en-AU" sz="2000" dirty="0" smtClean="0"/>
              <a:t>(depending on health insurance)</a:t>
            </a:r>
            <a:r>
              <a:rPr lang="en-AU" sz="3200" dirty="0" smtClean="0"/>
              <a:t> </a:t>
            </a:r>
          </a:p>
          <a:p>
            <a:r>
              <a:rPr lang="en-AU" sz="3200" dirty="0" smtClean="0"/>
              <a:t>Australia: $890 a month </a:t>
            </a:r>
          </a:p>
          <a:p>
            <a:r>
              <a:rPr lang="en-AU" sz="3200" dirty="0" smtClean="0"/>
              <a:t>England: $581 a month </a:t>
            </a:r>
          </a:p>
          <a:p>
            <a:r>
              <a:rPr lang="en-AU" sz="3200" dirty="0" smtClean="0"/>
              <a:t>Thailand: $504 a month </a:t>
            </a:r>
          </a:p>
          <a:p>
            <a:r>
              <a:rPr lang="en-AU" sz="3200" dirty="0" smtClean="0"/>
              <a:t>Africa: $1250 a month </a:t>
            </a:r>
            <a:endParaRPr lang="en-AU" sz="3200" dirty="0"/>
          </a:p>
        </p:txBody>
      </p:sp>
    </p:spTree>
    <p:extLst>
      <p:ext uri="{BB962C8B-B14F-4D97-AF65-F5344CB8AC3E}">
        <p14:creationId xmlns:p14="http://schemas.microsoft.com/office/powerpoint/2010/main" val="151200620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HIV/AIDS- Spread</a:t>
            </a:r>
            <a:endParaRPr lang="en-AU" sz="6000" b="1" dirty="0"/>
          </a:p>
        </p:txBody>
      </p:sp>
      <p:sp>
        <p:nvSpPr>
          <p:cNvPr id="3" name="Content Placeholder 2"/>
          <p:cNvSpPr>
            <a:spLocks noGrp="1"/>
          </p:cNvSpPr>
          <p:nvPr>
            <p:ph idx="1"/>
          </p:nvPr>
        </p:nvSpPr>
        <p:spPr/>
        <p:txBody>
          <a:bodyPr/>
          <a:lstStyle/>
          <a:p>
            <a:r>
              <a:rPr lang="en-AU" dirty="0" smtClean="0"/>
              <a:t>The HIV virus can be transmitted by sex, blood products, or from an infected pregnant woman to her infant. </a:t>
            </a:r>
            <a:endParaRPr lang="en-AU" dirty="0"/>
          </a:p>
        </p:txBody>
      </p:sp>
    </p:spTree>
    <p:extLst>
      <p:ext uri="{BB962C8B-B14F-4D97-AF65-F5344CB8AC3E}">
        <p14:creationId xmlns:p14="http://schemas.microsoft.com/office/powerpoint/2010/main" val="426122018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HIV/AIDS- Risk Factors </a:t>
            </a:r>
            <a:endParaRPr lang="en-AU" sz="6000" b="1" dirty="0"/>
          </a:p>
        </p:txBody>
      </p:sp>
      <p:sp>
        <p:nvSpPr>
          <p:cNvPr id="3" name="Content Placeholder 2"/>
          <p:cNvSpPr>
            <a:spLocks noGrp="1"/>
          </p:cNvSpPr>
          <p:nvPr>
            <p:ph idx="1"/>
          </p:nvPr>
        </p:nvSpPr>
        <p:spPr>
          <a:xfrm>
            <a:off x="353007" y="1545706"/>
            <a:ext cx="11422225" cy="5097689"/>
          </a:xfrm>
        </p:spPr>
        <p:txBody>
          <a:bodyPr>
            <a:normAutofit/>
          </a:bodyPr>
          <a:lstStyle/>
          <a:p>
            <a:r>
              <a:rPr lang="en-AU" sz="3200" dirty="0" smtClean="0"/>
              <a:t>Having unprotected anal or vaginal sex;</a:t>
            </a:r>
          </a:p>
          <a:p>
            <a:r>
              <a:rPr lang="en-AU" sz="3200" dirty="0" smtClean="0"/>
              <a:t>Having another sexually transmitted infection (STI) such as syphilis, herpes, chlamydia, gonorrhoea and bacterial vaginosis;</a:t>
            </a:r>
          </a:p>
          <a:p>
            <a:r>
              <a:rPr lang="en-AU" sz="3200" dirty="0" smtClean="0"/>
              <a:t>Sharing contaminated needles, syringes and other injecting equipment and drug solutions when injecting drugs;</a:t>
            </a:r>
          </a:p>
          <a:p>
            <a:r>
              <a:rPr lang="en-AU" sz="3200" dirty="0" smtClean="0"/>
              <a:t>Receiving unsafe injections, blood transfusions and tissue transplantation, and medical procedures that involve unsterile cutting or piercing; and</a:t>
            </a:r>
          </a:p>
          <a:p>
            <a:r>
              <a:rPr lang="en-AU" sz="3200" dirty="0" smtClean="0"/>
              <a:t>Experiencing accidental needle stick injuries, including among health workers</a:t>
            </a:r>
          </a:p>
          <a:p>
            <a:endParaRPr lang="en-AU" dirty="0"/>
          </a:p>
        </p:txBody>
      </p:sp>
    </p:spTree>
    <p:extLst>
      <p:ext uri="{BB962C8B-B14F-4D97-AF65-F5344CB8AC3E}">
        <p14:creationId xmlns:p14="http://schemas.microsoft.com/office/powerpoint/2010/main" val="325112146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HIV/AIDS- </a:t>
            </a:r>
            <a:r>
              <a:rPr lang="en-AU" sz="6000" b="1" dirty="0" smtClean="0"/>
              <a:t>Diagnosis </a:t>
            </a:r>
            <a:endParaRPr lang="en-AU" sz="6000" dirty="0"/>
          </a:p>
        </p:txBody>
      </p:sp>
      <p:sp>
        <p:nvSpPr>
          <p:cNvPr id="3" name="Content Placeholder 2"/>
          <p:cNvSpPr>
            <a:spLocks noGrp="1"/>
          </p:cNvSpPr>
          <p:nvPr>
            <p:ph idx="1"/>
          </p:nvPr>
        </p:nvSpPr>
        <p:spPr>
          <a:xfrm>
            <a:off x="259702" y="1664543"/>
            <a:ext cx="11720804" cy="4997514"/>
          </a:xfrm>
        </p:spPr>
        <p:txBody>
          <a:bodyPr>
            <a:normAutofit/>
          </a:bodyPr>
          <a:lstStyle/>
          <a:p>
            <a:r>
              <a:rPr lang="en-AU" sz="3200" dirty="0"/>
              <a:t>HIV can be diagnosed through rapid diagnostic tests that provide same-day results. </a:t>
            </a:r>
            <a:r>
              <a:rPr lang="en-AU" sz="3200" dirty="0" smtClean="0"/>
              <a:t>People </a:t>
            </a:r>
            <a:r>
              <a:rPr lang="en-AU" sz="3200" dirty="0"/>
              <a:t>can also use HIV self-tests to test themselves. However, no single test can provide a full HIV diagnosis; confirmatory testing is required, conducted by a qualified and trained health or community worker at a community centre or clinic</a:t>
            </a:r>
            <a:r>
              <a:rPr lang="en-AU" sz="3200" dirty="0" smtClean="0"/>
              <a:t>.</a:t>
            </a:r>
          </a:p>
          <a:p>
            <a:pPr marL="0" indent="0">
              <a:buNone/>
            </a:pPr>
            <a:endParaRPr lang="en-AU" sz="3200" dirty="0" smtClean="0"/>
          </a:p>
          <a:p>
            <a:r>
              <a:rPr lang="en-AU" sz="3200" dirty="0" smtClean="0"/>
              <a:t>Most </a:t>
            </a:r>
            <a:r>
              <a:rPr lang="en-AU" sz="3200" dirty="0"/>
              <a:t>widely-used HIV diagnostic tests detect antibodies produced by the person as part of their immune response to fight HIV. </a:t>
            </a:r>
            <a:r>
              <a:rPr lang="en-AU" sz="3200" dirty="0" smtClean="0"/>
              <a:t>In </a:t>
            </a:r>
            <a:r>
              <a:rPr lang="en-AU" sz="3200" dirty="0"/>
              <a:t>most cases, people develop antibodies to HIV within 28 days of infection.</a:t>
            </a:r>
            <a:r>
              <a:rPr lang="en-AU" dirty="0"/>
              <a:t> </a:t>
            </a:r>
          </a:p>
          <a:p>
            <a:endParaRPr lang="en-AU" dirty="0"/>
          </a:p>
        </p:txBody>
      </p:sp>
    </p:spTree>
    <p:extLst>
      <p:ext uri="{BB962C8B-B14F-4D97-AF65-F5344CB8AC3E}">
        <p14:creationId xmlns:p14="http://schemas.microsoft.com/office/powerpoint/2010/main" val="40668921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HIV/AIDS- Treatment</a:t>
            </a:r>
            <a:endParaRPr lang="en-AU" sz="6000" b="1" dirty="0"/>
          </a:p>
        </p:txBody>
      </p:sp>
      <p:sp>
        <p:nvSpPr>
          <p:cNvPr id="3" name="Content Placeholder 2"/>
          <p:cNvSpPr>
            <a:spLocks noGrp="1"/>
          </p:cNvSpPr>
          <p:nvPr>
            <p:ph idx="1"/>
          </p:nvPr>
        </p:nvSpPr>
        <p:spPr>
          <a:xfrm>
            <a:off x="222379" y="1996751"/>
            <a:ext cx="11795449" cy="4721289"/>
          </a:xfrm>
        </p:spPr>
        <p:txBody>
          <a:bodyPr>
            <a:normAutofit/>
          </a:bodyPr>
          <a:lstStyle/>
          <a:p>
            <a:r>
              <a:rPr lang="en-AU" sz="3200" dirty="0"/>
              <a:t>HIV disease can be managed by treatment regimens composed of a combination of three or more antiretroviral (ARV) drugs. </a:t>
            </a:r>
            <a:endParaRPr lang="en-AU" sz="3200" dirty="0" smtClean="0"/>
          </a:p>
          <a:p>
            <a:endParaRPr lang="en-AU" sz="3200" dirty="0"/>
          </a:p>
          <a:p>
            <a:r>
              <a:rPr lang="en-AU" sz="3200" dirty="0" smtClean="0"/>
              <a:t>Current </a:t>
            </a:r>
            <a:r>
              <a:rPr lang="en-AU" sz="3200" dirty="0"/>
              <a:t>antiretroviral therapy (ART) does not cure HIV infection but highly suppresses viral replication within a person's body and allows an individual's immune system recovery to strengthen and regain the capacity to fight off opportunistic infections and some cancers.</a:t>
            </a:r>
          </a:p>
          <a:p>
            <a:endParaRPr lang="en-AU" dirty="0"/>
          </a:p>
        </p:txBody>
      </p:sp>
    </p:spTree>
    <p:extLst>
      <p:ext uri="{BB962C8B-B14F-4D97-AF65-F5344CB8AC3E}">
        <p14:creationId xmlns:p14="http://schemas.microsoft.com/office/powerpoint/2010/main" val="32185165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Celebrities and representation </a:t>
            </a:r>
            <a:endParaRPr lang="en-AU" sz="6000" b="1" dirty="0"/>
          </a:p>
        </p:txBody>
      </p:sp>
      <p:sp>
        <p:nvSpPr>
          <p:cNvPr id="3" name="Content Placeholder 2"/>
          <p:cNvSpPr>
            <a:spLocks noGrp="1"/>
          </p:cNvSpPr>
          <p:nvPr>
            <p:ph idx="1"/>
          </p:nvPr>
        </p:nvSpPr>
        <p:spPr>
          <a:xfrm>
            <a:off x="408992" y="1471061"/>
            <a:ext cx="11440886" cy="5135011"/>
          </a:xfrm>
        </p:spPr>
        <p:txBody>
          <a:bodyPr>
            <a:normAutofit lnSpcReduction="10000"/>
          </a:bodyPr>
          <a:lstStyle/>
          <a:p>
            <a:r>
              <a:rPr lang="en-AU" dirty="0">
                <a:hlinkClick r:id="rId2"/>
              </a:rPr>
              <a:t>https://</a:t>
            </a:r>
            <a:r>
              <a:rPr lang="en-AU" dirty="0" smtClean="0">
                <a:hlinkClick r:id="rId2"/>
              </a:rPr>
              <a:t>www.youtube.com/watch?v=R5eEQJZm7ZM</a:t>
            </a:r>
            <a:endParaRPr lang="en-AU" dirty="0" smtClean="0"/>
          </a:p>
          <a:p>
            <a:r>
              <a:rPr lang="en-AU" dirty="0" smtClean="0"/>
              <a:t>The Last Song, by Elton John </a:t>
            </a:r>
          </a:p>
          <a:p>
            <a:endParaRPr lang="en-AU" dirty="0"/>
          </a:p>
          <a:p>
            <a:r>
              <a:rPr lang="en-AU" dirty="0"/>
              <a:t>The song tells of an estranged father coming to terms with the sexuality of his gay son, who is dying of an AIDS-related illness and was the first of Elton's American singles to benefit his AIDs foundation. It was composed by Elton with lyrics provided by Bernie </a:t>
            </a:r>
            <a:r>
              <a:rPr lang="en-AU" dirty="0" err="1"/>
              <a:t>Taupin</a:t>
            </a:r>
            <a:r>
              <a:rPr lang="en-AU" dirty="0"/>
              <a:t> who faxed the lyrics to him in Paris, shortly after Queen lead singer Freddie Mercury had died. 'I was crying all the time as I wrote the music', John told The Advocate, 'and it was very hard for me to sing it</a:t>
            </a:r>
            <a:r>
              <a:rPr lang="en-AU" dirty="0" smtClean="0"/>
              <a:t>.‘</a:t>
            </a:r>
          </a:p>
          <a:p>
            <a:endParaRPr lang="en-AU" dirty="0"/>
          </a:p>
          <a:p>
            <a:r>
              <a:rPr lang="en-AU" dirty="0" smtClean="0"/>
              <a:t>The Elton John AIDS Foundation has raised over $515 million since 1992. </a:t>
            </a:r>
            <a:endParaRPr lang="en-AU" dirty="0"/>
          </a:p>
        </p:txBody>
      </p:sp>
    </p:spTree>
    <p:extLst>
      <p:ext uri="{BB962C8B-B14F-4D97-AF65-F5344CB8AC3E}">
        <p14:creationId xmlns:p14="http://schemas.microsoft.com/office/powerpoint/2010/main" val="13997699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Celebrities and representation </a:t>
            </a:r>
            <a:endParaRPr lang="en-AU" sz="6000" dirty="0"/>
          </a:p>
        </p:txBody>
      </p:sp>
      <p:sp>
        <p:nvSpPr>
          <p:cNvPr id="3" name="Content Placeholder 2"/>
          <p:cNvSpPr>
            <a:spLocks noGrp="1"/>
          </p:cNvSpPr>
          <p:nvPr>
            <p:ph idx="1"/>
          </p:nvPr>
        </p:nvSpPr>
        <p:spPr>
          <a:xfrm>
            <a:off x="838200" y="1825625"/>
            <a:ext cx="10515600" cy="4780448"/>
          </a:xfrm>
        </p:spPr>
        <p:txBody>
          <a:bodyPr>
            <a:normAutofit/>
          </a:bodyPr>
          <a:lstStyle/>
          <a:p>
            <a:r>
              <a:rPr lang="en-AU" dirty="0" smtClean="0"/>
              <a:t>Freddie Mercury Tribute Concert </a:t>
            </a:r>
          </a:p>
          <a:p>
            <a:r>
              <a:rPr lang="en-AU" dirty="0">
                <a:hlinkClick r:id="rId2"/>
              </a:rPr>
              <a:t>https://</a:t>
            </a:r>
            <a:r>
              <a:rPr lang="en-AU" dirty="0" smtClean="0">
                <a:hlinkClick r:id="rId2"/>
              </a:rPr>
              <a:t>www.youtube.com/watch?v=ANQspcmfhJU</a:t>
            </a:r>
            <a:endParaRPr lang="en-AU" dirty="0" smtClean="0"/>
          </a:p>
          <a:p>
            <a:endParaRPr lang="en-AU" dirty="0"/>
          </a:p>
          <a:p>
            <a:r>
              <a:rPr lang="en-AU" dirty="0" smtClean="0"/>
              <a:t>In the 21 years since it started, the Mercury Phoenix Trust </a:t>
            </a:r>
            <a:r>
              <a:rPr lang="en-AU" dirty="0"/>
              <a:t>has </a:t>
            </a:r>
            <a:r>
              <a:rPr lang="en-AU" dirty="0" smtClean="0"/>
              <a:t>raised $</a:t>
            </a:r>
            <a:r>
              <a:rPr lang="en-AU" dirty="0"/>
              <a:t>15 million </a:t>
            </a:r>
            <a:r>
              <a:rPr lang="en-AU" dirty="0" smtClean="0"/>
              <a:t>for HIV/AIDS medication, treatment and research </a:t>
            </a:r>
          </a:p>
          <a:p>
            <a:endParaRPr lang="en-AU" dirty="0"/>
          </a:p>
          <a:p>
            <a:r>
              <a:rPr lang="en-AU" dirty="0" smtClean="0"/>
              <a:t>Whilst Freddie kept his diagnosis a secret until the day before his death, Freddie spent the years previous volunteering to trial different treatments and donating large sums to ensure treatment for as many people as possible. </a:t>
            </a:r>
            <a:endParaRPr lang="en-AU" dirty="0"/>
          </a:p>
        </p:txBody>
      </p:sp>
    </p:spTree>
    <p:extLst>
      <p:ext uri="{BB962C8B-B14F-4D97-AF65-F5344CB8AC3E}">
        <p14:creationId xmlns:p14="http://schemas.microsoft.com/office/powerpoint/2010/main" val="21477731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949234"/>
            <a:ext cx="7615111" cy="4890096"/>
          </a:xfrm>
          <a:prstGeom prst="rect">
            <a:avLst/>
          </a:prstGeom>
        </p:spPr>
      </p:pic>
      <p:pic>
        <p:nvPicPr>
          <p:cNvPr id="5" name="Picture 4"/>
          <p:cNvPicPr>
            <a:picLocks noChangeAspect="1"/>
          </p:cNvPicPr>
          <p:nvPr/>
        </p:nvPicPr>
        <p:blipFill rotWithShape="1">
          <a:blip r:embed="rId3"/>
          <a:srcRect l="10090" t="5910" r="9792" b="6553"/>
          <a:stretch/>
        </p:blipFill>
        <p:spPr>
          <a:xfrm>
            <a:off x="7615111" y="865997"/>
            <a:ext cx="4628047" cy="5056569"/>
          </a:xfrm>
          <a:prstGeom prst="rect">
            <a:avLst/>
          </a:prstGeom>
        </p:spPr>
      </p:pic>
    </p:spTree>
    <p:extLst>
      <p:ext uri="{BB962C8B-B14F-4D97-AF65-F5344CB8AC3E}">
        <p14:creationId xmlns:p14="http://schemas.microsoft.com/office/powerpoint/2010/main" val="20181334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Celebrities and representation </a:t>
            </a:r>
            <a:endParaRPr lang="en-AU" sz="6000" dirty="0"/>
          </a:p>
        </p:txBody>
      </p:sp>
      <p:sp>
        <p:nvSpPr>
          <p:cNvPr id="3" name="Content Placeholder 2"/>
          <p:cNvSpPr>
            <a:spLocks noGrp="1"/>
          </p:cNvSpPr>
          <p:nvPr>
            <p:ph idx="1"/>
          </p:nvPr>
        </p:nvSpPr>
        <p:spPr>
          <a:xfrm>
            <a:off x="0" y="1825624"/>
            <a:ext cx="12192000" cy="5032375"/>
          </a:xfrm>
        </p:spPr>
        <p:txBody>
          <a:bodyPr>
            <a:normAutofit fontScale="92500" lnSpcReduction="10000"/>
          </a:bodyPr>
          <a:lstStyle/>
          <a:p>
            <a:r>
              <a:rPr lang="en-AU" dirty="0" smtClean="0"/>
              <a:t>Annie Lennox </a:t>
            </a:r>
          </a:p>
          <a:p>
            <a:r>
              <a:rPr lang="en-AU" dirty="0">
                <a:hlinkClick r:id="rId2"/>
              </a:rPr>
              <a:t>https://</a:t>
            </a:r>
            <a:r>
              <a:rPr lang="en-AU" dirty="0" smtClean="0">
                <a:hlinkClick r:id="rId2"/>
              </a:rPr>
              <a:t>www.youtube.com/watch?v=LRIm5ufzMd4</a:t>
            </a:r>
            <a:r>
              <a:rPr lang="en-AU" dirty="0" smtClean="0"/>
              <a:t> </a:t>
            </a:r>
          </a:p>
          <a:p>
            <a:endParaRPr lang="en-AU" dirty="0"/>
          </a:p>
          <a:p>
            <a:r>
              <a:rPr lang="en-AU" dirty="0"/>
              <a:t>D</a:t>
            </a:r>
            <a:r>
              <a:rPr lang="en-AU" dirty="0" smtClean="0"/>
              <a:t>edicates </a:t>
            </a:r>
            <a:r>
              <a:rPr lang="en-AU" dirty="0"/>
              <a:t>much of her time to raising awareness of the HIV/AIDS pandemic in Africa.</a:t>
            </a:r>
          </a:p>
          <a:p>
            <a:r>
              <a:rPr lang="en-AU" dirty="0"/>
              <a:t>Lennox released a special fundraising single called Sing, which featured a 23-member choir of female celebrities, including Madonna, Faith Hill, Pink, and many more. Proceeds from the single went to the Treatment Action Campaign (TAC), an organization that that provides much needed support in the continent’s struggle against the deadly virus.</a:t>
            </a:r>
          </a:p>
          <a:p>
            <a:r>
              <a:rPr lang="en-AU" dirty="0" smtClean="0"/>
              <a:t>“</a:t>
            </a:r>
            <a:r>
              <a:rPr lang="en-AU" dirty="0"/>
              <a:t>One third of pregnant women in South Africa are HIV positive,” Lennox told CNN. “We can prevent their children being born with the virus if we let the women have access to treatment. If you do not allow that to happen, you’re going to have future generations simply being wiped out.”</a:t>
            </a:r>
          </a:p>
          <a:p>
            <a:endParaRPr lang="en-AU" dirty="0"/>
          </a:p>
        </p:txBody>
      </p:sp>
    </p:spTree>
    <p:extLst>
      <p:ext uri="{BB962C8B-B14F-4D97-AF65-F5344CB8AC3E}">
        <p14:creationId xmlns:p14="http://schemas.microsoft.com/office/powerpoint/2010/main" val="2824844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6280" y="-270600"/>
            <a:ext cx="10515600" cy="1325563"/>
          </a:xfrm>
        </p:spPr>
        <p:txBody>
          <a:bodyPr>
            <a:normAutofit/>
          </a:bodyPr>
          <a:lstStyle/>
          <a:p>
            <a:r>
              <a:rPr lang="en-AU" sz="6000" b="1" dirty="0" smtClean="0"/>
              <a:t>HIV/AIDS going forward</a:t>
            </a:r>
            <a:endParaRPr lang="en-AU" sz="6000" b="1" dirty="0"/>
          </a:p>
        </p:txBody>
      </p:sp>
      <p:sp>
        <p:nvSpPr>
          <p:cNvPr id="3" name="Content Placeholder 2"/>
          <p:cNvSpPr>
            <a:spLocks noGrp="1"/>
          </p:cNvSpPr>
          <p:nvPr>
            <p:ph idx="1"/>
          </p:nvPr>
        </p:nvSpPr>
        <p:spPr>
          <a:xfrm>
            <a:off x="83820" y="841556"/>
            <a:ext cx="12012386" cy="5951130"/>
          </a:xfrm>
        </p:spPr>
        <p:txBody>
          <a:bodyPr>
            <a:normAutofit fontScale="70000" lnSpcReduction="20000"/>
          </a:bodyPr>
          <a:lstStyle/>
          <a:p>
            <a:r>
              <a:rPr lang="en-AU" dirty="0" smtClean="0"/>
              <a:t>February 2022 </a:t>
            </a:r>
          </a:p>
          <a:p>
            <a:endParaRPr lang="en-AU" dirty="0"/>
          </a:p>
          <a:p>
            <a:r>
              <a:rPr lang="en-AU" dirty="0"/>
              <a:t>An American research team reported that it has possibly cured HIV in a woman for the first time. Building on past successes, as well as failures, in the HIV-cure research field, these scientists used a cutting-edge stem cell transplant method that they expect will expand the pool of people who could receive similar treatment to several dozen </a:t>
            </a:r>
            <a:r>
              <a:rPr lang="en-AU" dirty="0" smtClean="0"/>
              <a:t>annually. Researchers </a:t>
            </a:r>
            <a:r>
              <a:rPr lang="en-AU" dirty="0"/>
              <a:t>also know of two women whose own immune systems have, quite extraordinarily, apparently vanquished the virus.</a:t>
            </a:r>
          </a:p>
          <a:p>
            <a:pPr marL="0" indent="0">
              <a:buNone/>
            </a:pPr>
            <a:endParaRPr lang="en-AU" dirty="0"/>
          </a:p>
          <a:p>
            <a:r>
              <a:rPr lang="en-AU" dirty="0"/>
              <a:t>In the first case of what was ultimately deemed a successful HIV cure, investigators treated the American Timothy Ray Brown for acute myeloid </a:t>
            </a:r>
            <a:r>
              <a:rPr lang="en-AU" dirty="0" smtClean="0"/>
              <a:t>leukaemia, </a:t>
            </a:r>
            <a:r>
              <a:rPr lang="en-AU" dirty="0"/>
              <a:t>or AML. He received a stem cell transplant from a donor who had a rare genetic abnormality that grants the immune cells that HIV targets natural resistance to the virus. The strategy in Brown’s case, which was first made public in 2008, has since apparently cured HIV in two other people. But it has also failed in a string of others. </a:t>
            </a:r>
            <a:r>
              <a:rPr lang="en-AU" dirty="0" smtClean="0"/>
              <a:t>This </a:t>
            </a:r>
            <a:r>
              <a:rPr lang="en-AU" dirty="0"/>
              <a:t>therapeutic process is meant to replace an individual’s immune system with another person’s, treating their cancer while also curing their HIV. First, physicians must destroy the original immune system with chemotherapy and sometimes irradiation. The hope is that this also destroys as many immune cells as possible that still quietly harbor HIV despite effective antiretroviral treatment. Then, provided the transplanted HIV-resistant stem cells engraft properly, new viral copies that might emerge from any remaining infected cells will be unable to infect any other immune cells. </a:t>
            </a:r>
          </a:p>
          <a:p>
            <a:endParaRPr lang="en-AU" dirty="0"/>
          </a:p>
          <a:p>
            <a:r>
              <a:rPr lang="en-AU" dirty="0"/>
              <a:t>It is unethical, experts stress, to attempt an HIV cure through a stem cell transplant — a toxic, sometimes fatal procedure — in anyone who does not have a potentially fatal cancer or other condition that already makes them a candidate for such risky treatment. </a:t>
            </a:r>
          </a:p>
        </p:txBody>
      </p:sp>
    </p:spTree>
    <p:extLst>
      <p:ext uri="{BB962C8B-B14F-4D97-AF65-F5344CB8AC3E}">
        <p14:creationId xmlns:p14="http://schemas.microsoft.com/office/powerpoint/2010/main" val="165137027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197</TotalTime>
  <Words>1734</Words>
  <Application>Microsoft Office PowerPoint</Application>
  <PresentationFormat>Widescreen</PresentationFormat>
  <Paragraphs>126</Paragraphs>
  <Slides>37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37</vt:i4>
      </vt:variant>
    </vt:vector>
  </HeadingPairs>
  <TitlesOfParts>
    <vt:vector size="42" baseType="lpstr">
      <vt:lpstr>Arial</vt:lpstr>
      <vt:lpstr>Calibri</vt:lpstr>
      <vt:lpstr>Calibri Light</vt:lpstr>
      <vt:lpstr>Castellar</vt:lpstr>
      <vt:lpstr>Office Theme</vt:lpstr>
      <vt:lpstr>INFECTIOUS DISEASES </vt:lpstr>
      <vt:lpstr>HIV/AIDS</vt:lpstr>
      <vt:lpstr>PowerPoint Presentation</vt:lpstr>
      <vt:lpstr>HIV/AIDS- Origins </vt:lpstr>
      <vt:lpstr>Zoonotic Spillover </vt:lpstr>
      <vt:lpstr>HIV/AIDS- America </vt:lpstr>
      <vt:lpstr>HIV/AIDS- America </vt:lpstr>
      <vt:lpstr>PowerPoint Presentation</vt:lpstr>
      <vt:lpstr>PowerPoint Presentation</vt:lpstr>
      <vt:lpstr>HIV/AIDS- America </vt:lpstr>
      <vt:lpstr>PowerPoint Presentation</vt:lpstr>
      <vt:lpstr>The Gay Plague </vt:lpstr>
      <vt:lpstr>PowerPoint Presentation</vt:lpstr>
      <vt:lpstr>HIV/AIDS- America </vt:lpstr>
      <vt:lpstr>PowerPoint Presentation</vt:lpstr>
      <vt:lpstr>HIV/AIDS- Locations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HIV/AIDS- Signs and Symptoms </vt:lpstr>
      <vt:lpstr>HIV/AIDS- Signs and Symptoms </vt:lpstr>
      <vt:lpstr>HIV/AIDS- Fatality Rate </vt:lpstr>
      <vt:lpstr>The cost of treatment </vt:lpstr>
      <vt:lpstr>HIV/AIDS- Spread</vt:lpstr>
      <vt:lpstr>HIV/AIDS- Risk Factors </vt:lpstr>
      <vt:lpstr>HIV/AIDS- Diagnosis </vt:lpstr>
      <vt:lpstr>HIV/AIDS- Treatment</vt:lpstr>
      <vt:lpstr>Celebrities and representation </vt:lpstr>
      <vt:lpstr>Celebrities and representation </vt:lpstr>
      <vt:lpstr>PowerPoint Presentation</vt:lpstr>
      <vt:lpstr>Celebrities and representation </vt:lpstr>
      <vt:lpstr>HIV/AIDS going forward</vt:lpstr>
    </vt:vector>
  </TitlesOfParts>
  <Company>Department of Education Western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INFECTIOUS DISEASES </dc:title>
  <dc:creator>DOOMEN Lisa [Gilmore College]</dc:creator>
  <cp:lastModifiedBy>DOOMEN Lisa [Gilmore College]</cp:lastModifiedBy>
  <cp:revision>17</cp:revision>
  <dcterms:created xsi:type="dcterms:W3CDTF">2022-05-27T02:25:15Z</dcterms:created>
  <dcterms:modified xsi:type="dcterms:W3CDTF">2022-06-08T23:54:57Z</dcterms:modified>
</cp:coreProperties>
</file>
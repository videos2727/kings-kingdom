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7" r:id="rId7"/>
    <p:sldId id="268" r:id="rId8"/>
    <p:sldId id="260" r:id="rId9"/>
    <p:sldId id="261" r:id="rId10"/>
    <p:sldId id="270" r:id="rId11"/>
    <p:sldId id="269" r:id="rId12"/>
    <p:sldId id="271" r:id="rId13"/>
    <p:sldId id="262" r:id="rId14"/>
    <p:sldId id="273" r:id="rId15"/>
    <p:sldId id="272" r:id="rId16"/>
    <p:sldId id="274" r:id="rId17"/>
    <p:sldId id="275" r:id="rId18"/>
    <p:sldId id="276" r:id="rId19"/>
    <p:sldId id="277" r:id="rId20"/>
    <p:sldId id="278" r:id="rId21"/>
    <p:sldId id="263" r:id="rId22"/>
    <p:sldId id="264" r:id="rId23"/>
    <p:sldId id="265" r:id="rId24"/>
    <p:sldId id="2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8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4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93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28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15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78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99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0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187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638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3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39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35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456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532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883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108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605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100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69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9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b="1" dirty="0" smtClean="0"/>
              <a:t>Transport</a:t>
            </a:r>
            <a:r>
              <a:rPr lang="en-AU" sz="8000" dirty="0" smtClean="0"/>
              <a:t> </a:t>
            </a:r>
            <a:endParaRPr lang="en-AU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11 Human Biology </a:t>
            </a:r>
          </a:p>
          <a:p>
            <a:r>
              <a:rPr lang="en-AU" dirty="0" smtClean="0"/>
              <a:t>ATAR </a:t>
            </a:r>
          </a:p>
          <a:p>
            <a:r>
              <a:rPr lang="en-AU" smtClean="0"/>
              <a:t>PowerPoint </a:t>
            </a:r>
            <a:r>
              <a:rPr lang="en-AU" smtClean="0"/>
              <a:t>#4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9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cell membrane separates the cell from its surroundings with a structure, described by the fluid mosaic model, which allows for the movement of materials into and out of the cell by diffusion, facilitated diffusion, osmosis, active transport and vesicular transport (endocytosis/exocytosis)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3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Lesson Intention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describe how transport occurs across the cell membrane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02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18" y="69669"/>
            <a:ext cx="5830613" cy="655545"/>
          </a:xfrm>
        </p:spPr>
        <p:txBody>
          <a:bodyPr>
            <a:normAutofit fontScale="90000"/>
          </a:bodyPr>
          <a:lstStyle/>
          <a:p>
            <a:r>
              <a:rPr lang="en-AU" sz="6000" b="1" dirty="0" smtClean="0"/>
              <a:t>Success Criteria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300" y="725214"/>
            <a:ext cx="11707962" cy="6067472"/>
          </a:xfrm>
        </p:spPr>
        <p:txBody>
          <a:bodyPr>
            <a:normAutofit fontScale="92500" lnSpcReduction="10000"/>
          </a:bodyPr>
          <a:lstStyle/>
          <a:p>
            <a:r>
              <a:rPr lang="en-AU" dirty="0" smtClean="0"/>
              <a:t>define </a:t>
            </a:r>
            <a:r>
              <a:rPr lang="en-AU" dirty="0"/>
              <a:t>protein channels </a:t>
            </a:r>
          </a:p>
          <a:p>
            <a:r>
              <a:rPr lang="en-AU" dirty="0" smtClean="0"/>
              <a:t>recognise </a:t>
            </a:r>
            <a:r>
              <a:rPr lang="en-AU" dirty="0"/>
              <a:t>carrier proteins are specific</a:t>
            </a:r>
          </a:p>
          <a:p>
            <a:r>
              <a:rPr lang="en-AU" dirty="0" smtClean="0"/>
              <a:t>distinguish </a:t>
            </a:r>
            <a:r>
              <a:rPr lang="en-AU" dirty="0"/>
              <a:t>between facilitated and carrier-mediated transport. </a:t>
            </a:r>
          </a:p>
          <a:p>
            <a:r>
              <a:rPr lang="en-AU" dirty="0" smtClean="0"/>
              <a:t>draw </a:t>
            </a:r>
            <a:r>
              <a:rPr lang="en-AU" dirty="0"/>
              <a:t>an annotated diagram showing the diffusion of different molecules across a cell membrane (figure 2.18 </a:t>
            </a:r>
            <a:r>
              <a:rPr lang="en-AU" dirty="0" err="1"/>
              <a:t>pg</a:t>
            </a:r>
            <a:r>
              <a:rPr lang="en-AU" dirty="0"/>
              <a:t> 38) </a:t>
            </a:r>
          </a:p>
          <a:p>
            <a:r>
              <a:rPr lang="en-AU" dirty="0" smtClean="0"/>
              <a:t>explain </a:t>
            </a:r>
            <a:r>
              <a:rPr lang="en-AU" dirty="0"/>
              <a:t>how protein channels allow the movement of substances across the cell membrane </a:t>
            </a:r>
            <a:endParaRPr lang="en-AU" dirty="0" smtClean="0"/>
          </a:p>
          <a:p>
            <a:r>
              <a:rPr lang="en-AU" dirty="0" smtClean="0"/>
              <a:t>describe </a:t>
            </a:r>
            <a:r>
              <a:rPr lang="en-AU" dirty="0"/>
              <a:t>the process of vesicular transport </a:t>
            </a:r>
          </a:p>
          <a:p>
            <a:r>
              <a:rPr lang="en-AU" dirty="0" smtClean="0"/>
              <a:t>distinguish </a:t>
            </a:r>
            <a:r>
              <a:rPr lang="en-AU" dirty="0"/>
              <a:t>between endocytosis and exocytosis </a:t>
            </a:r>
          </a:p>
          <a:p>
            <a:r>
              <a:rPr lang="en-AU" dirty="0" smtClean="0"/>
              <a:t>define </a:t>
            </a:r>
            <a:r>
              <a:rPr lang="en-AU" dirty="0"/>
              <a:t>and distinguish between pinocytosis and phagocytosis</a:t>
            </a:r>
          </a:p>
          <a:p>
            <a:r>
              <a:rPr lang="en-AU" dirty="0" smtClean="0"/>
              <a:t>summarise </a:t>
            </a:r>
            <a:r>
              <a:rPr lang="en-AU" dirty="0"/>
              <a:t>the different types of transport across the cell membrane (simple diffusion, facilitated diffusion, osmosis, active transport and vesicular transport) </a:t>
            </a:r>
          </a:p>
          <a:p>
            <a:r>
              <a:rPr lang="en-AU" dirty="0" smtClean="0"/>
              <a:t>describe </a:t>
            </a:r>
            <a:r>
              <a:rPr lang="en-AU" dirty="0"/>
              <a:t>the role of microtubules in maintaining the shape of the cell and holding the organelles in place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48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02" y="1447252"/>
            <a:ext cx="11427373" cy="50954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b="1" dirty="0"/>
              <a:t>Facilitated transport</a:t>
            </a:r>
            <a:r>
              <a:rPr lang="en-AU" dirty="0"/>
              <a:t>: the process whereby proteins allow the movement of substances through the cell membrane along the concentration gradient.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Protein channels</a:t>
            </a:r>
            <a:r>
              <a:rPr lang="en-AU" dirty="0"/>
              <a:t>: a pathway through a protein in the cell membrane that allows the passage of substances across the membrane.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Carrier-mediated transport</a:t>
            </a:r>
            <a:r>
              <a:rPr lang="en-AU" dirty="0"/>
              <a:t>: transport of ions or molecules across a cell membrane by special carrier proteins.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12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b="1" dirty="0"/>
              <a:t>Vesicular transport</a:t>
            </a:r>
            <a:r>
              <a:rPr lang="en-AU" dirty="0"/>
              <a:t>: the transport of materials into or out of a cell in membrane-bound sacs.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Endocytosis</a:t>
            </a:r>
            <a:r>
              <a:rPr lang="en-AU" dirty="0"/>
              <a:t>: the process by which a cell takes in materials by enfolding and enclosing them.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Pinocytosis</a:t>
            </a:r>
            <a:r>
              <a:rPr lang="en-AU" dirty="0"/>
              <a:t>: the process by which cells enfold, and take in, drops of liquids.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86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b="1" dirty="0"/>
              <a:t>Phagocytosis</a:t>
            </a:r>
            <a:r>
              <a:rPr lang="en-AU" dirty="0"/>
              <a:t>: the process by which a cell surrounds, and takes in, solid particles.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Exocytosis</a:t>
            </a:r>
            <a:r>
              <a:rPr lang="en-AU" dirty="0"/>
              <a:t>: the process whereby the contents of the vesicles of cells are pushed out through the cell membrane.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Microtubules</a:t>
            </a:r>
            <a:r>
              <a:rPr lang="en-AU" dirty="0"/>
              <a:t>: fine tubes that help to maintain the shape of the cell and hold the organelles in place.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Facilitated transport 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Proteins in the cell membrane allow molecules to be transported across the membrane </a:t>
            </a:r>
          </a:p>
          <a:p>
            <a:endParaRPr lang="en-AU" dirty="0" smtClean="0"/>
          </a:p>
          <a:p>
            <a:r>
              <a:rPr lang="en-AU" dirty="0" smtClean="0"/>
              <a:t>These proteins are channel proteins, which form protein channels and carrier proteins, which allow carrier-mediated transport.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0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Facilitated Diffusion | BioNinj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67" y="234812"/>
            <a:ext cx="9850164" cy="631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94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Protein Channels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To diffuse across a cell membrane, water-soluble molecules must pass through protein channels in the membrane, allowing facilitated diffusion. </a:t>
            </a:r>
          </a:p>
          <a:p>
            <a:endParaRPr lang="en-AU" dirty="0" smtClean="0"/>
          </a:p>
          <a:p>
            <a:r>
              <a:rPr lang="en-AU" dirty="0" smtClean="0"/>
              <a:t>Allows for hydrophilic particles to travel through to cross the cell membrane without touching hydrophobic portion of the membrane.</a:t>
            </a:r>
          </a:p>
          <a:p>
            <a:r>
              <a:rPr lang="en-AU" dirty="0" smtClean="0"/>
              <a:t> </a:t>
            </a:r>
          </a:p>
          <a:p>
            <a:r>
              <a:rPr lang="en-AU" dirty="0" smtClean="0"/>
              <a:t>Protein channels are small (e.g. water and ions) but larger molecules cannot fit.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4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Carrier-mediated </a:t>
            </a:r>
            <a:r>
              <a:rPr lang="en-AU" sz="6000" b="1" dirty="0"/>
              <a:t>t</a:t>
            </a:r>
            <a:r>
              <a:rPr lang="en-AU" sz="6000" b="1" dirty="0" smtClean="0"/>
              <a:t>ransport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Carrier proteins are only open on one side of the membrane at a time</a:t>
            </a:r>
          </a:p>
          <a:p>
            <a:endParaRPr lang="en-AU" dirty="0" smtClean="0"/>
          </a:p>
          <a:p>
            <a:r>
              <a:rPr lang="en-AU" dirty="0" smtClean="0"/>
              <a:t>When the specific substance binds to the binding site within the protein, the protein changes shape and opens to the other side. </a:t>
            </a:r>
          </a:p>
          <a:p>
            <a:endParaRPr lang="en-AU" dirty="0" smtClean="0"/>
          </a:p>
          <a:p>
            <a:r>
              <a:rPr lang="en-AU" dirty="0" smtClean="0"/>
              <a:t>The substance can then be released on the side opposite to where it entered. 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24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Carrier-mediated </a:t>
            </a:r>
            <a:r>
              <a:rPr lang="en-AU" sz="6000" b="1" dirty="0"/>
              <a:t>t</a:t>
            </a:r>
            <a:r>
              <a:rPr lang="en-AU" sz="6000" b="1" dirty="0" smtClean="0"/>
              <a:t>ransport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Carrier proteins are specific. They will only bind to a particular molecule </a:t>
            </a:r>
          </a:p>
          <a:p>
            <a:endParaRPr lang="en-AU" dirty="0" smtClean="0"/>
          </a:p>
          <a:p>
            <a:r>
              <a:rPr lang="en-AU" dirty="0" smtClean="0"/>
              <a:t>Carrier activity is regulated by substances such as hormones.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3926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Carrier-mediated transport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 smtClean="0"/>
              <a:t>There are two main types of carrier-mediated transport </a:t>
            </a:r>
          </a:p>
          <a:p>
            <a:pPr lvl="1">
              <a:lnSpc>
                <a:spcPct val="150000"/>
              </a:lnSpc>
            </a:pPr>
            <a:r>
              <a:rPr lang="en-AU" b="1" dirty="0" smtClean="0"/>
              <a:t>Facilitated diffusion</a:t>
            </a:r>
            <a:r>
              <a:rPr lang="en-AU" dirty="0" smtClean="0"/>
              <a:t>: occurs when substances are transported through a protein along the concentration gradient. During carrier-mediated facilitated diffusion the molecule to be transported e.g. glucose), attaches to the binding site on the specific carrier protein. </a:t>
            </a:r>
          </a:p>
          <a:p>
            <a:pPr lvl="1">
              <a:lnSpc>
                <a:spcPct val="150000"/>
              </a:lnSpc>
            </a:pPr>
            <a:r>
              <a:rPr lang="en-AU" b="1" dirty="0" smtClean="0"/>
              <a:t>Active transport</a:t>
            </a:r>
            <a:r>
              <a:rPr lang="en-AU" dirty="0" smtClean="0"/>
              <a:t>: requires energy (ATP) because substances are transported against the concentration gradient.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61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48" y="311504"/>
            <a:ext cx="1258614" cy="1325563"/>
          </a:xfrm>
        </p:spPr>
        <p:txBody>
          <a:bodyPr>
            <a:normAutofit fontScale="90000"/>
          </a:bodyPr>
          <a:lstStyle/>
          <a:p>
            <a:r>
              <a:rPr lang="en-AU" sz="4000" dirty="0" smtClean="0"/>
              <a:t>Copy this </a:t>
            </a:r>
            <a:r>
              <a:rPr lang="en-AU" sz="4000" dirty="0" smtClean="0">
                <a:sym typeface="Wingdings" panose="05000000000000000000" pitchFamily="2" charset="2"/>
              </a:rPr>
              <a:t> </a:t>
            </a:r>
            <a:endParaRPr lang="en-AU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772" y="268358"/>
            <a:ext cx="10663189" cy="63687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110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Vesicular transport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movement of substances across the cell membrane in membranous sacs called vesicles. </a:t>
            </a:r>
          </a:p>
          <a:p>
            <a:endParaRPr lang="en-AU" dirty="0" smtClean="0"/>
          </a:p>
          <a:p>
            <a:r>
              <a:rPr lang="en-AU" dirty="0" smtClean="0"/>
              <a:t>This is an active process. Energy is needed to form the vesicle.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7913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421" y="69669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 smtClean="0"/>
              <a:t>Endocytosis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640" y="1255507"/>
            <a:ext cx="11679621" cy="5381775"/>
          </a:xfrm>
        </p:spPr>
        <p:txBody>
          <a:bodyPr/>
          <a:lstStyle/>
          <a:p>
            <a:r>
              <a:rPr lang="en-AU" dirty="0" smtClean="0"/>
              <a:t>Is taking liquid or solids into the cell by vesicular transport. </a:t>
            </a:r>
          </a:p>
          <a:p>
            <a:endParaRPr lang="en-AU" dirty="0" smtClean="0"/>
          </a:p>
          <a:p>
            <a:r>
              <a:rPr lang="en-AU" dirty="0" smtClean="0"/>
              <a:t>Cell membrane folds around a droplet of liquid or solid particle until the droplet is completely enclosed. </a:t>
            </a:r>
          </a:p>
          <a:p>
            <a:endParaRPr lang="en-AU" dirty="0" smtClean="0"/>
          </a:p>
          <a:p>
            <a:r>
              <a:rPr lang="en-AU" dirty="0" smtClean="0"/>
              <a:t>The vesicle then pinches off and is suspended in the cytoplasm. </a:t>
            </a:r>
          </a:p>
          <a:p>
            <a:endParaRPr lang="en-AU" dirty="0" smtClean="0"/>
          </a:p>
          <a:p>
            <a:r>
              <a:rPr lang="en-AU" dirty="0" smtClean="0"/>
              <a:t>Taking liquids into the cell this way is called PINOCYTOSIS. </a:t>
            </a:r>
          </a:p>
          <a:p>
            <a:endParaRPr lang="en-AU" dirty="0" smtClean="0"/>
          </a:p>
          <a:p>
            <a:r>
              <a:rPr lang="en-AU" dirty="0" smtClean="0"/>
              <a:t>Taking solids into the cell this way is called PHAGOCYTOSIS.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488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Exocytosis</a:t>
            </a:r>
            <a:r>
              <a:rPr lang="en-AU" sz="6000" dirty="0" smtClean="0"/>
              <a:t>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When the contents of a vesicle inside the cell are passed to the outside. </a:t>
            </a:r>
          </a:p>
          <a:p>
            <a:r>
              <a:rPr lang="en-AU" dirty="0" smtClean="0"/>
              <a:t>A vesicle that is formed inside the cell migrates to the cell membrane and fuses with it. </a:t>
            </a:r>
          </a:p>
          <a:p>
            <a:r>
              <a:rPr lang="en-AU" dirty="0" smtClean="0"/>
              <a:t>The contents of the vesicle are then pushed out into the extracellular fluid.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081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705285"/>
              </p:ext>
            </p:extLst>
          </p:nvPr>
        </p:nvGraphicFramePr>
        <p:xfrm>
          <a:off x="176049" y="186013"/>
          <a:ext cx="11742681" cy="64004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18489">
                  <a:extLst>
                    <a:ext uri="{9D8B030D-6E8A-4147-A177-3AD203B41FA5}">
                      <a16:colId xmlns:a16="http://schemas.microsoft.com/office/drawing/2014/main" val="4152919516"/>
                    </a:ext>
                  </a:extLst>
                </a:gridCol>
                <a:gridCol w="3326524">
                  <a:extLst>
                    <a:ext uri="{9D8B030D-6E8A-4147-A177-3AD203B41FA5}">
                      <a16:colId xmlns:a16="http://schemas.microsoft.com/office/drawing/2014/main" val="211885914"/>
                    </a:ext>
                  </a:extLst>
                </a:gridCol>
                <a:gridCol w="4997668">
                  <a:extLst>
                    <a:ext uri="{9D8B030D-6E8A-4147-A177-3AD203B41FA5}">
                      <a16:colId xmlns:a16="http://schemas.microsoft.com/office/drawing/2014/main" val="2510570322"/>
                    </a:ext>
                  </a:extLst>
                </a:gridCol>
              </a:tblGrid>
              <a:tr h="460373"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 smtClean="0"/>
                        <a:t>Type</a:t>
                      </a:r>
                      <a:r>
                        <a:rPr lang="en-AU" sz="2000" b="1" baseline="0" dirty="0" smtClean="0"/>
                        <a:t> of Transport </a:t>
                      </a:r>
                      <a:endParaRPr lang="en-AU" sz="2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 smtClean="0"/>
                        <a:t>Passive or Active </a:t>
                      </a:r>
                      <a:endParaRPr lang="en-AU" sz="2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 smtClean="0"/>
                        <a:t>Substances Transported </a:t>
                      </a:r>
                      <a:endParaRPr lang="en-AU" sz="20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3175"/>
                  </a:ext>
                </a:extLst>
              </a:tr>
              <a:tr h="648280">
                <a:tc gridSpan="3">
                  <a:txBody>
                    <a:bodyPr/>
                    <a:lstStyle/>
                    <a:p>
                      <a:r>
                        <a:rPr lang="en-AU" sz="3200" b="1" dirty="0" smtClean="0"/>
                        <a:t>SIMPLE DIFFUSION </a:t>
                      </a:r>
                      <a:endParaRPr lang="en-AU" sz="32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357978"/>
                  </a:ext>
                </a:extLst>
              </a:tr>
              <a:tr h="64828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Simple diffusion of solute </a:t>
                      </a:r>
                      <a:endParaRPr lang="en-AU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Passive</a:t>
                      </a:r>
                      <a:endParaRPr lang="en-AU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Water, oxygen, carbon dioxide, alcohol, fatty acids, steroids, ions, lipids, soluble drugs </a:t>
                      </a:r>
                      <a:endParaRPr lang="en-AU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831084"/>
                  </a:ext>
                </a:extLst>
              </a:tr>
              <a:tr h="64828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Osmosis </a:t>
                      </a:r>
                      <a:endParaRPr lang="en-AU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Passive </a:t>
                      </a:r>
                      <a:endParaRPr lang="en-AU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Water </a:t>
                      </a:r>
                      <a:endParaRPr lang="en-AU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345624"/>
                  </a:ext>
                </a:extLst>
              </a:tr>
              <a:tr h="648280">
                <a:tc gridSpan="3">
                  <a:txBody>
                    <a:bodyPr/>
                    <a:lstStyle/>
                    <a:p>
                      <a:r>
                        <a:rPr lang="en-AU" sz="3200" b="1" dirty="0" smtClean="0"/>
                        <a:t>FACILITATED TRANSPORT</a:t>
                      </a:r>
                      <a:r>
                        <a:rPr lang="en-AU" sz="3200" b="1" baseline="0" dirty="0" smtClean="0"/>
                        <a:t> </a:t>
                      </a:r>
                      <a:endParaRPr lang="en-AU" sz="32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705169"/>
                  </a:ext>
                </a:extLst>
              </a:tr>
              <a:tr h="64828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Facilitated diffusion </a:t>
                      </a:r>
                      <a:endParaRPr lang="en-AU" sz="2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Passive </a:t>
                      </a:r>
                      <a:endParaRPr lang="en-AU" sz="2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Glucose, amino acids </a:t>
                      </a:r>
                      <a:endParaRPr lang="en-AU" sz="2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201517"/>
                  </a:ext>
                </a:extLst>
              </a:tr>
              <a:tr h="64828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Active transport </a:t>
                      </a:r>
                      <a:endParaRPr lang="en-AU" sz="2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Active </a:t>
                      </a:r>
                      <a:endParaRPr lang="en-AU" sz="2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Certain ions, glucose, amino acids </a:t>
                      </a:r>
                      <a:endParaRPr lang="en-AU" sz="20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14874"/>
                  </a:ext>
                </a:extLst>
              </a:tr>
              <a:tr h="648280">
                <a:tc gridSpan="3">
                  <a:txBody>
                    <a:bodyPr/>
                    <a:lstStyle/>
                    <a:p>
                      <a:r>
                        <a:rPr lang="en-AU" sz="3200" b="1" dirty="0" smtClean="0"/>
                        <a:t>VESICULAR TRANSPORT</a:t>
                      </a:r>
                      <a:r>
                        <a:rPr lang="en-AU" sz="3200" b="1" baseline="0" dirty="0" smtClean="0"/>
                        <a:t> </a:t>
                      </a:r>
                      <a:endParaRPr lang="en-AU" sz="3200" b="1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613811"/>
                  </a:ext>
                </a:extLst>
              </a:tr>
              <a:tr h="64828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Endocytosis </a:t>
                      </a:r>
                      <a:endParaRPr lang="en-AU" sz="2000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Active </a:t>
                      </a:r>
                      <a:endParaRPr lang="en-AU" sz="2000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Cholesterol, iron</a:t>
                      </a:r>
                      <a:r>
                        <a:rPr lang="en-AU" sz="2000" baseline="0" dirty="0" smtClean="0"/>
                        <a:t> ions, micro-organisms, cell debris </a:t>
                      </a:r>
                      <a:endParaRPr lang="en-AU" sz="2000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1554"/>
                  </a:ext>
                </a:extLst>
              </a:tr>
              <a:tr h="64828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Exocytosis </a:t>
                      </a:r>
                      <a:endParaRPr lang="en-AU" sz="2000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 smtClean="0"/>
                        <a:t>Active</a:t>
                      </a:r>
                      <a:r>
                        <a:rPr lang="en-AU" sz="2000" baseline="0" dirty="0" smtClean="0"/>
                        <a:t> </a:t>
                      </a:r>
                      <a:endParaRPr lang="en-AU" sz="2000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 smtClean="0"/>
                        <a:t>Secretions</a:t>
                      </a:r>
                      <a:r>
                        <a:rPr lang="en-AU" sz="2000" baseline="0" dirty="0" smtClean="0"/>
                        <a:t> such as mucus or digestive juices </a:t>
                      </a:r>
                      <a:endParaRPr lang="en-AU" sz="2000" dirty="0"/>
                    </a:p>
                  </a:txBody>
                  <a:tcPr>
                    <a:solidFill>
                      <a:srgbClr val="FF66FF">
                        <a:alpha val="4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901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870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Microtubules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Very fine tubes that help to maintain the shape of the cell and hold the organelles in place. </a:t>
            </a:r>
          </a:p>
          <a:p>
            <a:r>
              <a:rPr lang="en-AU" dirty="0" smtClean="0"/>
              <a:t>They also act like railway tracks, guiding organelles or molecules, to particular places within the cell. </a:t>
            </a:r>
          </a:p>
          <a:p>
            <a:r>
              <a:rPr lang="en-AU" dirty="0" smtClean="0"/>
              <a:t>They are not permanent structures but are able to be broken down or built up as needed.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21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Recall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Draw a labelled diagram of the fluid mosaic model of the cell membrane. </a:t>
            </a:r>
          </a:p>
          <a:p>
            <a:pPr marL="514350" indent="-514350">
              <a:buFont typeface="+mj-lt"/>
              <a:buAutoNum type="arabicPeriod"/>
            </a:pPr>
            <a:endParaRPr lang="en-AU" dirty="0" smtClean="0"/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List three substances that a cell transports in.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510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Apply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Compare and contrast the two types of carrier-mediated transport.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579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Homewor</a:t>
            </a:r>
            <a:r>
              <a:rPr lang="en-AU" sz="6000" b="1" dirty="0"/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Explain wh</a:t>
            </a:r>
            <a:r>
              <a:rPr lang="en-AU" dirty="0" smtClean="0"/>
              <a:t>y steroids are able to diffuse directly through the membrane, but glucose requires a carrier protein.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552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 smtClean="0"/>
              <a:t>Reading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Pages 37 (bottom half) - 41 (top half of the page):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 smtClean="0"/>
              <a:t>		Facilitated Transport to Movement within the cell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01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962</Words>
  <Application>Microsoft Office PowerPoint</Application>
  <PresentationFormat>Widescreen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1_Office Theme</vt:lpstr>
      <vt:lpstr>Transport </vt:lpstr>
      <vt:lpstr>SCSA Syllabus Reference </vt:lpstr>
      <vt:lpstr>Lesson Intention </vt:lpstr>
      <vt:lpstr>Success Criteria </vt:lpstr>
      <vt:lpstr>Vocabulary </vt:lpstr>
      <vt:lpstr>Vocabulary </vt:lpstr>
      <vt:lpstr>Vocabulary </vt:lpstr>
      <vt:lpstr>Facilitated transport  </vt:lpstr>
      <vt:lpstr>PowerPoint Presentation</vt:lpstr>
      <vt:lpstr>Protein Channels </vt:lpstr>
      <vt:lpstr>Carrier-mediated transport </vt:lpstr>
      <vt:lpstr>Carrier-mediated transport </vt:lpstr>
      <vt:lpstr>Carrier-mediated transport </vt:lpstr>
      <vt:lpstr>Copy this  </vt:lpstr>
      <vt:lpstr>Vesicular transport </vt:lpstr>
      <vt:lpstr>Endocytosis </vt:lpstr>
      <vt:lpstr>Exocytosis </vt:lpstr>
      <vt:lpstr>PowerPoint Presentation</vt:lpstr>
      <vt:lpstr>Microtubules </vt:lpstr>
      <vt:lpstr>Recall Knowledge </vt:lpstr>
      <vt:lpstr>Apply Knowledge </vt:lpstr>
      <vt:lpstr>Homework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DOOMEN Lisa [Gilmore College]</dc:creator>
  <cp:lastModifiedBy>DOOMEN Lisa [Gilmore College]</cp:lastModifiedBy>
  <cp:revision>13</cp:revision>
  <dcterms:created xsi:type="dcterms:W3CDTF">2021-12-16T00:48:44Z</dcterms:created>
  <dcterms:modified xsi:type="dcterms:W3CDTF">2022-01-10T03:57:40Z</dcterms:modified>
</cp:coreProperties>
</file>
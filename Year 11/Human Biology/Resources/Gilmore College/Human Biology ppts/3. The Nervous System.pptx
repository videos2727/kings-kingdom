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60" r:id="rId6"/>
    <p:sldId id="261" r:id="rId7"/>
    <p:sldId id="262" r:id="rId8"/>
    <p:sldId id="263" r:id="rId9"/>
    <p:sldId id="264" r:id="rId10"/>
    <p:sldId id="266" r:id="rId11"/>
    <p:sldId id="267" r:id="rId12"/>
    <p:sldId id="268" r:id="rId13"/>
    <p:sldId id="270" r:id="rId14"/>
    <p:sldId id="273" r:id="rId15"/>
    <p:sldId id="304" r:id="rId16"/>
    <p:sldId id="305" r:id="rId17"/>
    <p:sldId id="320" r:id="rId18"/>
    <p:sldId id="302" r:id="rId19"/>
    <p:sldId id="306" r:id="rId20"/>
    <p:sldId id="307" r:id="rId21"/>
    <p:sldId id="308" r:id="rId22"/>
    <p:sldId id="309" r:id="rId23"/>
    <p:sldId id="310" r:id="rId24"/>
    <p:sldId id="313" r:id="rId25"/>
    <p:sldId id="312" r:id="rId26"/>
    <p:sldId id="311" r:id="rId27"/>
    <p:sldId id="314" r:id="rId28"/>
    <p:sldId id="271" r:id="rId29"/>
    <p:sldId id="272" r:id="rId30"/>
    <p:sldId id="274" r:id="rId31"/>
    <p:sldId id="275" r:id="rId32"/>
    <p:sldId id="279" r:id="rId33"/>
    <p:sldId id="276" r:id="rId34"/>
    <p:sldId id="277" r:id="rId35"/>
    <p:sldId id="278" r:id="rId36"/>
    <p:sldId id="281" r:id="rId37"/>
    <p:sldId id="284" r:id="rId38"/>
    <p:sldId id="280" r:id="rId39"/>
    <p:sldId id="282" r:id="rId40"/>
    <p:sldId id="285" r:id="rId41"/>
    <p:sldId id="283" r:id="rId42"/>
    <p:sldId id="286" r:id="rId43"/>
    <p:sldId id="317" r:id="rId44"/>
    <p:sldId id="316" r:id="rId45"/>
    <p:sldId id="303" r:id="rId46"/>
    <p:sldId id="318" r:id="rId47"/>
    <p:sldId id="319" r:id="rId48"/>
    <p:sldId id="297" r:id="rId49"/>
    <p:sldId id="322" r:id="rId50"/>
    <p:sldId id="323" r:id="rId51"/>
    <p:sldId id="324" r:id="rId52"/>
    <p:sldId id="325" r:id="rId53"/>
    <p:sldId id="326" r:id="rId54"/>
    <p:sldId id="327" r:id="rId55"/>
    <p:sldId id="328" r:id="rId56"/>
    <p:sldId id="329" r:id="rId57"/>
    <p:sldId id="330" r:id="rId58"/>
    <p:sldId id="331" r:id="rId59"/>
    <p:sldId id="332" r:id="rId60"/>
    <p:sldId id="298" r:id="rId61"/>
    <p:sldId id="333" r:id="rId62"/>
    <p:sldId id="334" r:id="rId63"/>
    <p:sldId id="335" r:id="rId64"/>
    <p:sldId id="339" r:id="rId65"/>
    <p:sldId id="337" r:id="rId66"/>
    <p:sldId id="336" r:id="rId67"/>
    <p:sldId id="340" r:id="rId68"/>
    <p:sldId id="341" r:id="rId69"/>
    <p:sldId id="342" r:id="rId70"/>
    <p:sldId id="299" r:id="rId71"/>
    <p:sldId id="343" r:id="rId72"/>
    <p:sldId id="300" r:id="rId73"/>
    <p:sldId id="301" r:id="rId74"/>
    <p:sldId id="344" r:id="rId75"/>
    <p:sldId id="345" r:id="rId76"/>
    <p:sldId id="346" r:id="rId77"/>
    <p:sldId id="347" r:id="rId78"/>
    <p:sldId id="348" r:id="rId79"/>
    <p:sldId id="353" r:id="rId80"/>
    <p:sldId id="349" r:id="rId81"/>
    <p:sldId id="351" r:id="rId82"/>
    <p:sldId id="354" r:id="rId83"/>
    <p:sldId id="352" r:id="rId84"/>
    <p:sldId id="355" r:id="rId85"/>
    <p:sldId id="356" r:id="rId86"/>
    <p:sldId id="357" r:id="rId87"/>
    <p:sldId id="358" r:id="rId88"/>
    <p:sldId id="350" r:id="rId89"/>
    <p:sldId id="359" r:id="rId90"/>
    <p:sldId id="360" r:id="rId91"/>
    <p:sldId id="361" r:id="rId92"/>
    <p:sldId id="362" r:id="rId9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B944F9-18D8-2E4E-9F28-0E2CDCEC6F04}" v="478" dt="2021-03-21T06:23:26.6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4" autoAdjust="0"/>
    <p:restoredTop sz="96327"/>
  </p:normalViewPr>
  <p:slideViewPr>
    <p:cSldViewPr snapToGrid="0">
      <p:cViewPr varScale="1">
        <p:scale>
          <a:sx n="83" d="100"/>
          <a:sy n="83" d="100"/>
        </p:scale>
        <p:origin x="686"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openxmlformats.org/officeDocument/2006/relationships/slide" Target="slides/slide72.xml"/><Relationship Id="rId84" Type="http://schemas.openxmlformats.org/officeDocument/2006/relationships/slide" Target="slides/slide80.xml"/><Relationship Id="rId89" Type="http://schemas.openxmlformats.org/officeDocument/2006/relationships/slide" Target="slides/slide85.xml"/><Relationship Id="rId97"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slide" Target="slides/slide75.xml"/><Relationship Id="rId87" Type="http://schemas.openxmlformats.org/officeDocument/2006/relationships/slide" Target="slides/slide83.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slide" Target="slides/slide78.xml"/><Relationship Id="rId90" Type="http://schemas.openxmlformats.org/officeDocument/2006/relationships/slide" Target="slides/slide86.xml"/><Relationship Id="rId95"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100"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slide" Target="slides/slide89.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presProps" Target="presProps.xml"/><Relationship Id="rId10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OMEN Lisa [Gilmore College]" userId="7d00e29c-3c16-449b-9ecd-079e602a1701" providerId="ADAL" clId="{17B944F9-18D8-2E4E-9F28-0E2CDCEC6F04}"/>
    <pc:docChg chg="custSel addSld delSld modSld">
      <pc:chgData name="DOOMEN Lisa [Gilmore College]" userId="7d00e29c-3c16-449b-9ecd-079e602a1701" providerId="ADAL" clId="{17B944F9-18D8-2E4E-9F28-0E2CDCEC6F04}" dt="2021-03-21T06:25:25.098" v="4804" actId="1076"/>
      <pc:docMkLst>
        <pc:docMk/>
      </pc:docMkLst>
      <pc:sldChg chg="modSp mod">
        <pc:chgData name="DOOMEN Lisa [Gilmore College]" userId="7d00e29c-3c16-449b-9ecd-079e602a1701" providerId="ADAL" clId="{17B944F9-18D8-2E4E-9F28-0E2CDCEC6F04}" dt="2021-03-21T06:24:09.619" v="4791" actId="13926"/>
        <pc:sldMkLst>
          <pc:docMk/>
          <pc:sldMk cId="2888296751" sldId="257"/>
        </pc:sldMkLst>
        <pc:graphicFrameChg chg="modGraphic">
          <ac:chgData name="DOOMEN Lisa [Gilmore College]" userId="7d00e29c-3c16-449b-9ecd-079e602a1701" providerId="ADAL" clId="{17B944F9-18D8-2E4E-9F28-0E2CDCEC6F04}" dt="2021-03-21T06:24:09.619" v="4791" actId="13926"/>
          <ac:graphicFrameMkLst>
            <pc:docMk/>
            <pc:sldMk cId="2888296751" sldId="257"/>
            <ac:graphicFrameMk id="4" creationId="{00000000-0000-0000-0000-000000000000}"/>
          </ac:graphicFrameMkLst>
        </pc:graphicFrameChg>
      </pc:sldChg>
      <pc:sldChg chg="del">
        <pc:chgData name="DOOMEN Lisa [Gilmore College]" userId="7d00e29c-3c16-449b-9ecd-079e602a1701" providerId="ADAL" clId="{17B944F9-18D8-2E4E-9F28-0E2CDCEC6F04}" dt="2021-03-21T04:41:07.867" v="1168" actId="2696"/>
        <pc:sldMkLst>
          <pc:docMk/>
          <pc:sldMk cId="1332964595" sldId="265"/>
        </pc:sldMkLst>
      </pc:sldChg>
      <pc:sldChg chg="del">
        <pc:chgData name="DOOMEN Lisa [Gilmore College]" userId="7d00e29c-3c16-449b-9ecd-079e602a1701" providerId="ADAL" clId="{17B944F9-18D8-2E4E-9F28-0E2CDCEC6F04}" dt="2021-03-21T04:41:07.867" v="1168" actId="2696"/>
        <pc:sldMkLst>
          <pc:docMk/>
          <pc:sldMk cId="2094523116" sldId="287"/>
        </pc:sldMkLst>
      </pc:sldChg>
      <pc:sldChg chg="del">
        <pc:chgData name="DOOMEN Lisa [Gilmore College]" userId="7d00e29c-3c16-449b-9ecd-079e602a1701" providerId="ADAL" clId="{17B944F9-18D8-2E4E-9F28-0E2CDCEC6F04}" dt="2021-03-21T04:41:07.867" v="1168" actId="2696"/>
        <pc:sldMkLst>
          <pc:docMk/>
          <pc:sldMk cId="1978102734" sldId="288"/>
        </pc:sldMkLst>
      </pc:sldChg>
      <pc:sldChg chg="del">
        <pc:chgData name="DOOMEN Lisa [Gilmore College]" userId="7d00e29c-3c16-449b-9ecd-079e602a1701" providerId="ADAL" clId="{17B944F9-18D8-2E4E-9F28-0E2CDCEC6F04}" dt="2021-03-21T04:41:07.867" v="1168" actId="2696"/>
        <pc:sldMkLst>
          <pc:docMk/>
          <pc:sldMk cId="1848035261" sldId="289"/>
        </pc:sldMkLst>
      </pc:sldChg>
      <pc:sldChg chg="del">
        <pc:chgData name="DOOMEN Lisa [Gilmore College]" userId="7d00e29c-3c16-449b-9ecd-079e602a1701" providerId="ADAL" clId="{17B944F9-18D8-2E4E-9F28-0E2CDCEC6F04}" dt="2021-03-21T04:41:07.867" v="1168" actId="2696"/>
        <pc:sldMkLst>
          <pc:docMk/>
          <pc:sldMk cId="745639487" sldId="290"/>
        </pc:sldMkLst>
      </pc:sldChg>
      <pc:sldChg chg="del">
        <pc:chgData name="DOOMEN Lisa [Gilmore College]" userId="7d00e29c-3c16-449b-9ecd-079e602a1701" providerId="ADAL" clId="{17B944F9-18D8-2E4E-9F28-0E2CDCEC6F04}" dt="2021-03-21T04:41:07.867" v="1168" actId="2696"/>
        <pc:sldMkLst>
          <pc:docMk/>
          <pc:sldMk cId="1160551772" sldId="291"/>
        </pc:sldMkLst>
      </pc:sldChg>
      <pc:sldChg chg="modSp del mod">
        <pc:chgData name="DOOMEN Lisa [Gilmore College]" userId="7d00e29c-3c16-449b-9ecd-079e602a1701" providerId="ADAL" clId="{17B944F9-18D8-2E4E-9F28-0E2CDCEC6F04}" dt="2021-03-21T04:41:07.867" v="1168" actId="2696"/>
        <pc:sldMkLst>
          <pc:docMk/>
          <pc:sldMk cId="1978645913" sldId="292"/>
        </pc:sldMkLst>
        <pc:spChg chg="mod">
          <ac:chgData name="DOOMEN Lisa [Gilmore College]" userId="7d00e29c-3c16-449b-9ecd-079e602a1701" providerId="ADAL" clId="{17B944F9-18D8-2E4E-9F28-0E2CDCEC6F04}" dt="2021-03-21T04:24:57.257" v="282" actId="115"/>
          <ac:spMkLst>
            <pc:docMk/>
            <pc:sldMk cId="1978645913" sldId="292"/>
            <ac:spMk id="3" creationId="{00000000-0000-0000-0000-000000000000}"/>
          </ac:spMkLst>
        </pc:spChg>
      </pc:sldChg>
      <pc:sldChg chg="modSp del mod">
        <pc:chgData name="DOOMEN Lisa [Gilmore College]" userId="7d00e29c-3c16-449b-9ecd-079e602a1701" providerId="ADAL" clId="{17B944F9-18D8-2E4E-9F28-0E2CDCEC6F04}" dt="2021-03-21T04:41:07.867" v="1168" actId="2696"/>
        <pc:sldMkLst>
          <pc:docMk/>
          <pc:sldMk cId="1078079376" sldId="293"/>
        </pc:sldMkLst>
        <pc:spChg chg="mod">
          <ac:chgData name="DOOMEN Lisa [Gilmore College]" userId="7d00e29c-3c16-449b-9ecd-079e602a1701" providerId="ADAL" clId="{17B944F9-18D8-2E4E-9F28-0E2CDCEC6F04}" dt="2021-03-21T04:27:31.483" v="606" actId="1076"/>
          <ac:spMkLst>
            <pc:docMk/>
            <pc:sldMk cId="1078079376" sldId="293"/>
            <ac:spMk id="2" creationId="{00000000-0000-0000-0000-000000000000}"/>
          </ac:spMkLst>
        </pc:spChg>
        <pc:spChg chg="mod">
          <ac:chgData name="DOOMEN Lisa [Gilmore College]" userId="7d00e29c-3c16-449b-9ecd-079e602a1701" providerId="ADAL" clId="{17B944F9-18D8-2E4E-9F28-0E2CDCEC6F04}" dt="2021-03-21T04:27:44.551" v="611" actId="115"/>
          <ac:spMkLst>
            <pc:docMk/>
            <pc:sldMk cId="1078079376" sldId="293"/>
            <ac:spMk id="3" creationId="{00000000-0000-0000-0000-000000000000}"/>
          </ac:spMkLst>
        </pc:spChg>
      </pc:sldChg>
      <pc:sldChg chg="modSp del mod">
        <pc:chgData name="DOOMEN Lisa [Gilmore College]" userId="7d00e29c-3c16-449b-9ecd-079e602a1701" providerId="ADAL" clId="{17B944F9-18D8-2E4E-9F28-0E2CDCEC6F04}" dt="2021-03-21T04:41:07.867" v="1168" actId="2696"/>
        <pc:sldMkLst>
          <pc:docMk/>
          <pc:sldMk cId="1543620817" sldId="294"/>
        </pc:sldMkLst>
        <pc:spChg chg="mod">
          <ac:chgData name="DOOMEN Lisa [Gilmore College]" userId="7d00e29c-3c16-449b-9ecd-079e602a1701" providerId="ADAL" clId="{17B944F9-18D8-2E4E-9F28-0E2CDCEC6F04}" dt="2021-03-21T04:31:32.158" v="1143" actId="20577"/>
          <ac:spMkLst>
            <pc:docMk/>
            <pc:sldMk cId="1543620817" sldId="294"/>
            <ac:spMk id="2" creationId="{00000000-0000-0000-0000-000000000000}"/>
          </ac:spMkLst>
        </pc:spChg>
        <pc:spChg chg="mod">
          <ac:chgData name="DOOMEN Lisa [Gilmore College]" userId="7d00e29c-3c16-449b-9ecd-079e602a1701" providerId="ADAL" clId="{17B944F9-18D8-2E4E-9F28-0E2CDCEC6F04}" dt="2021-03-21T04:31:47.387" v="1147" actId="115"/>
          <ac:spMkLst>
            <pc:docMk/>
            <pc:sldMk cId="1543620817" sldId="294"/>
            <ac:spMk id="3" creationId="{00000000-0000-0000-0000-000000000000}"/>
          </ac:spMkLst>
        </pc:spChg>
      </pc:sldChg>
      <pc:sldChg chg="del">
        <pc:chgData name="DOOMEN Lisa [Gilmore College]" userId="7d00e29c-3c16-449b-9ecd-079e602a1701" providerId="ADAL" clId="{17B944F9-18D8-2E4E-9F28-0E2CDCEC6F04}" dt="2021-03-21T04:41:07.867" v="1168" actId="2696"/>
        <pc:sldMkLst>
          <pc:docMk/>
          <pc:sldMk cId="3367383875" sldId="295"/>
        </pc:sldMkLst>
      </pc:sldChg>
      <pc:sldChg chg="modSp add del mod">
        <pc:chgData name="DOOMEN Lisa [Gilmore College]" userId="7d00e29c-3c16-449b-9ecd-079e602a1701" providerId="ADAL" clId="{17B944F9-18D8-2E4E-9F28-0E2CDCEC6F04}" dt="2021-03-21T04:41:07.867" v="1168" actId="2696"/>
        <pc:sldMkLst>
          <pc:docMk/>
          <pc:sldMk cId="2078937964" sldId="296"/>
        </pc:sldMkLst>
        <pc:spChg chg="mod">
          <ac:chgData name="DOOMEN Lisa [Gilmore College]" userId="7d00e29c-3c16-449b-9ecd-079e602a1701" providerId="ADAL" clId="{17B944F9-18D8-2E4E-9F28-0E2CDCEC6F04}" dt="2021-03-21T04:36:47.923" v="1167" actId="20577"/>
          <ac:spMkLst>
            <pc:docMk/>
            <pc:sldMk cId="2078937964" sldId="296"/>
            <ac:spMk id="2" creationId="{00000000-0000-0000-0000-000000000000}"/>
          </ac:spMkLst>
        </pc:spChg>
        <pc:spChg chg="mod">
          <ac:chgData name="DOOMEN Lisa [Gilmore College]" userId="7d00e29c-3c16-449b-9ecd-079e602a1701" providerId="ADAL" clId="{17B944F9-18D8-2E4E-9F28-0E2CDCEC6F04}" dt="2021-03-21T04:36:15.959" v="1149" actId="113"/>
          <ac:spMkLst>
            <pc:docMk/>
            <pc:sldMk cId="2078937964" sldId="296"/>
            <ac:spMk id="3" creationId="{00000000-0000-0000-0000-000000000000}"/>
          </ac:spMkLst>
        </pc:spChg>
      </pc:sldChg>
      <pc:sldChg chg="modSp add mod">
        <pc:chgData name="DOOMEN Lisa [Gilmore College]" userId="7d00e29c-3c16-449b-9ecd-079e602a1701" providerId="ADAL" clId="{17B944F9-18D8-2E4E-9F28-0E2CDCEC6F04}" dt="2021-03-21T06:25:25.098" v="4804" actId="1076"/>
        <pc:sldMkLst>
          <pc:docMk/>
          <pc:sldMk cId="716641799" sldId="297"/>
        </pc:sldMkLst>
        <pc:spChg chg="mod">
          <ac:chgData name="DOOMEN Lisa [Gilmore College]" userId="7d00e29c-3c16-449b-9ecd-079e602a1701" providerId="ADAL" clId="{17B944F9-18D8-2E4E-9F28-0E2CDCEC6F04}" dt="2021-03-21T06:25:25.098" v="4804" actId="1076"/>
          <ac:spMkLst>
            <pc:docMk/>
            <pc:sldMk cId="716641799" sldId="297"/>
            <ac:spMk id="2" creationId="{00000000-0000-0000-0000-000000000000}"/>
          </ac:spMkLst>
        </pc:spChg>
      </pc:sldChg>
      <pc:sldChg chg="add">
        <pc:chgData name="DOOMEN Lisa [Gilmore College]" userId="7d00e29c-3c16-449b-9ecd-079e602a1701" providerId="ADAL" clId="{17B944F9-18D8-2E4E-9F28-0E2CDCEC6F04}" dt="2021-03-21T04:27:49.751" v="614"/>
        <pc:sldMkLst>
          <pc:docMk/>
          <pc:sldMk cId="3218759897" sldId="298"/>
        </pc:sldMkLst>
      </pc:sldChg>
      <pc:sldChg chg="add">
        <pc:chgData name="DOOMEN Lisa [Gilmore College]" userId="7d00e29c-3c16-449b-9ecd-079e602a1701" providerId="ADAL" clId="{17B944F9-18D8-2E4E-9F28-0E2CDCEC6F04}" dt="2021-03-21T04:27:49.958" v="615"/>
        <pc:sldMkLst>
          <pc:docMk/>
          <pc:sldMk cId="3408639233" sldId="299"/>
        </pc:sldMkLst>
      </pc:sldChg>
      <pc:sldChg chg="add">
        <pc:chgData name="DOOMEN Lisa [Gilmore College]" userId="7d00e29c-3c16-449b-9ecd-079e602a1701" providerId="ADAL" clId="{17B944F9-18D8-2E4E-9F28-0E2CDCEC6F04}" dt="2021-03-21T04:27:50.167" v="616"/>
        <pc:sldMkLst>
          <pc:docMk/>
          <pc:sldMk cId="1012218822" sldId="300"/>
        </pc:sldMkLst>
      </pc:sldChg>
      <pc:sldChg chg="add">
        <pc:chgData name="DOOMEN Lisa [Gilmore College]" userId="7d00e29c-3c16-449b-9ecd-079e602a1701" providerId="ADAL" clId="{17B944F9-18D8-2E4E-9F28-0E2CDCEC6F04}" dt="2021-03-21T04:27:50.412" v="617"/>
        <pc:sldMkLst>
          <pc:docMk/>
          <pc:sldMk cId="3753857139" sldId="301"/>
        </pc:sldMkLst>
      </pc:sldChg>
      <pc:sldChg chg="modSp new mod">
        <pc:chgData name="DOOMEN Lisa [Gilmore College]" userId="7d00e29c-3c16-449b-9ecd-079e602a1701" providerId="ADAL" clId="{17B944F9-18D8-2E4E-9F28-0E2CDCEC6F04}" dt="2021-03-21T04:51:05.235" v="1568" actId="20577"/>
        <pc:sldMkLst>
          <pc:docMk/>
          <pc:sldMk cId="2910219172" sldId="302"/>
        </pc:sldMkLst>
        <pc:spChg chg="mod">
          <ac:chgData name="DOOMEN Lisa [Gilmore College]" userId="7d00e29c-3c16-449b-9ecd-079e602a1701" providerId="ADAL" clId="{17B944F9-18D8-2E4E-9F28-0E2CDCEC6F04}" dt="2021-03-21T04:44:10.020" v="1186" actId="403"/>
          <ac:spMkLst>
            <pc:docMk/>
            <pc:sldMk cId="2910219172" sldId="302"/>
            <ac:spMk id="2" creationId="{4A943BE2-2D82-3F4C-AF74-69A779B1C569}"/>
          </ac:spMkLst>
        </pc:spChg>
        <pc:spChg chg="mod">
          <ac:chgData name="DOOMEN Lisa [Gilmore College]" userId="7d00e29c-3c16-449b-9ecd-079e602a1701" providerId="ADAL" clId="{17B944F9-18D8-2E4E-9F28-0E2CDCEC6F04}" dt="2021-03-21T04:51:05.235" v="1568" actId="20577"/>
          <ac:spMkLst>
            <pc:docMk/>
            <pc:sldMk cId="2910219172" sldId="302"/>
            <ac:spMk id="3" creationId="{24635277-5CF5-5342-82BF-039B56FF5853}"/>
          </ac:spMkLst>
        </pc:spChg>
      </pc:sldChg>
      <pc:sldChg chg="modSp new mod">
        <pc:chgData name="DOOMEN Lisa [Gilmore College]" userId="7d00e29c-3c16-449b-9ecd-079e602a1701" providerId="ADAL" clId="{17B944F9-18D8-2E4E-9F28-0E2CDCEC6F04}" dt="2021-03-21T06:15:21.072" v="4617" actId="115"/>
        <pc:sldMkLst>
          <pc:docMk/>
          <pc:sldMk cId="2451497695" sldId="303"/>
        </pc:sldMkLst>
        <pc:spChg chg="mod">
          <ac:chgData name="DOOMEN Lisa [Gilmore College]" userId="7d00e29c-3c16-449b-9ecd-079e602a1701" providerId="ADAL" clId="{17B944F9-18D8-2E4E-9F28-0E2CDCEC6F04}" dt="2021-03-21T04:44:45.181" v="1215" actId="403"/>
          <ac:spMkLst>
            <pc:docMk/>
            <pc:sldMk cId="2451497695" sldId="303"/>
            <ac:spMk id="2" creationId="{933548BC-C079-F84D-AC49-7C2D4401DDA1}"/>
          </ac:spMkLst>
        </pc:spChg>
        <pc:spChg chg="mod">
          <ac:chgData name="DOOMEN Lisa [Gilmore College]" userId="7d00e29c-3c16-449b-9ecd-079e602a1701" providerId="ADAL" clId="{17B944F9-18D8-2E4E-9F28-0E2CDCEC6F04}" dt="2021-03-21T06:15:21.072" v="4617" actId="115"/>
          <ac:spMkLst>
            <pc:docMk/>
            <pc:sldMk cId="2451497695" sldId="303"/>
            <ac:spMk id="3" creationId="{DDACC46E-C25F-0D40-BDFA-3300643F5895}"/>
          </ac:spMkLst>
        </pc:spChg>
      </pc:sldChg>
      <pc:sldChg chg="modSp new mod">
        <pc:chgData name="DOOMEN Lisa [Gilmore College]" userId="7d00e29c-3c16-449b-9ecd-079e602a1701" providerId="ADAL" clId="{17B944F9-18D8-2E4E-9F28-0E2CDCEC6F04}" dt="2021-03-21T04:47:23.879" v="1434" actId="20577"/>
        <pc:sldMkLst>
          <pc:docMk/>
          <pc:sldMk cId="652404261" sldId="304"/>
        </pc:sldMkLst>
        <pc:spChg chg="mod">
          <ac:chgData name="DOOMEN Lisa [Gilmore College]" userId="7d00e29c-3c16-449b-9ecd-079e602a1701" providerId="ADAL" clId="{17B944F9-18D8-2E4E-9F28-0E2CDCEC6F04}" dt="2021-03-21T04:46:01.899" v="1243" actId="113"/>
          <ac:spMkLst>
            <pc:docMk/>
            <pc:sldMk cId="652404261" sldId="304"/>
            <ac:spMk id="2" creationId="{3DE9E529-B4E4-7A43-A770-B914CD24A495}"/>
          </ac:spMkLst>
        </pc:spChg>
        <pc:spChg chg="mod">
          <ac:chgData name="DOOMEN Lisa [Gilmore College]" userId="7d00e29c-3c16-449b-9ecd-079e602a1701" providerId="ADAL" clId="{17B944F9-18D8-2E4E-9F28-0E2CDCEC6F04}" dt="2021-03-21T04:47:23.879" v="1434" actId="20577"/>
          <ac:spMkLst>
            <pc:docMk/>
            <pc:sldMk cId="652404261" sldId="304"/>
            <ac:spMk id="3" creationId="{3FE67921-A840-0946-A646-4ADC4F49C848}"/>
          </ac:spMkLst>
        </pc:spChg>
      </pc:sldChg>
      <pc:sldChg chg="modSp new mod">
        <pc:chgData name="DOOMEN Lisa [Gilmore College]" userId="7d00e29c-3c16-449b-9ecd-079e602a1701" providerId="ADAL" clId="{17B944F9-18D8-2E4E-9F28-0E2CDCEC6F04}" dt="2021-03-21T04:48:24.596" v="1474" actId="113"/>
        <pc:sldMkLst>
          <pc:docMk/>
          <pc:sldMk cId="1318632151" sldId="305"/>
        </pc:sldMkLst>
        <pc:spChg chg="mod">
          <ac:chgData name="DOOMEN Lisa [Gilmore College]" userId="7d00e29c-3c16-449b-9ecd-079e602a1701" providerId="ADAL" clId="{17B944F9-18D8-2E4E-9F28-0E2CDCEC6F04}" dt="2021-03-21T04:48:24.596" v="1474" actId="113"/>
          <ac:spMkLst>
            <pc:docMk/>
            <pc:sldMk cId="1318632151" sldId="305"/>
            <ac:spMk id="2" creationId="{53F97DFE-DD88-2947-AAC1-844AD9CBCD98}"/>
          </ac:spMkLst>
        </pc:spChg>
      </pc:sldChg>
      <pc:sldChg chg="modSp new del">
        <pc:chgData name="DOOMEN Lisa [Gilmore College]" userId="7d00e29c-3c16-449b-9ecd-079e602a1701" providerId="ADAL" clId="{17B944F9-18D8-2E4E-9F28-0E2CDCEC6F04}" dt="2021-03-21T04:51:07.590" v="1569" actId="2696"/>
        <pc:sldMkLst>
          <pc:docMk/>
          <pc:sldMk cId="474769478" sldId="306"/>
        </pc:sldMkLst>
        <pc:spChg chg="mod">
          <ac:chgData name="DOOMEN Lisa [Gilmore College]" userId="7d00e29c-3c16-449b-9ecd-079e602a1701" providerId="ADAL" clId="{17B944F9-18D8-2E4E-9F28-0E2CDCEC6F04}" dt="2021-03-21T04:49:17.714" v="1477"/>
          <ac:spMkLst>
            <pc:docMk/>
            <pc:sldMk cId="474769478" sldId="306"/>
            <ac:spMk id="2" creationId="{7D5D69AB-7A69-DE4D-A8CA-A20109F0C321}"/>
          </ac:spMkLst>
        </pc:spChg>
      </pc:sldChg>
      <pc:sldChg chg="modSp new mod">
        <pc:chgData name="DOOMEN Lisa [Gilmore College]" userId="7d00e29c-3c16-449b-9ecd-079e602a1701" providerId="ADAL" clId="{17B944F9-18D8-2E4E-9F28-0E2CDCEC6F04}" dt="2021-03-21T04:52:57.705" v="1597" actId="115"/>
        <pc:sldMkLst>
          <pc:docMk/>
          <pc:sldMk cId="518332689" sldId="306"/>
        </pc:sldMkLst>
        <pc:spChg chg="mod">
          <ac:chgData name="DOOMEN Lisa [Gilmore College]" userId="7d00e29c-3c16-449b-9ecd-079e602a1701" providerId="ADAL" clId="{17B944F9-18D8-2E4E-9F28-0E2CDCEC6F04}" dt="2021-03-21T04:51:27.623" v="1585" actId="20577"/>
          <ac:spMkLst>
            <pc:docMk/>
            <pc:sldMk cId="518332689" sldId="306"/>
            <ac:spMk id="2" creationId="{CAF75713-AB05-C641-BE34-3DC9C05F3F10}"/>
          </ac:spMkLst>
        </pc:spChg>
        <pc:spChg chg="mod">
          <ac:chgData name="DOOMEN Lisa [Gilmore College]" userId="7d00e29c-3c16-449b-9ecd-079e602a1701" providerId="ADAL" clId="{17B944F9-18D8-2E4E-9F28-0E2CDCEC6F04}" dt="2021-03-21T04:52:57.705" v="1597" actId="115"/>
          <ac:spMkLst>
            <pc:docMk/>
            <pc:sldMk cId="518332689" sldId="306"/>
            <ac:spMk id="3" creationId="{1C9A567E-A530-1342-9575-33A6B516ECAA}"/>
          </ac:spMkLst>
        </pc:spChg>
      </pc:sldChg>
      <pc:sldChg chg="modSp new mod">
        <pc:chgData name="DOOMEN Lisa [Gilmore College]" userId="7d00e29c-3c16-449b-9ecd-079e602a1701" providerId="ADAL" clId="{17B944F9-18D8-2E4E-9F28-0E2CDCEC6F04}" dt="2021-03-21T05:11:52.570" v="1891" actId="115"/>
        <pc:sldMkLst>
          <pc:docMk/>
          <pc:sldMk cId="4192798635" sldId="307"/>
        </pc:sldMkLst>
        <pc:spChg chg="mod">
          <ac:chgData name="DOOMEN Lisa [Gilmore College]" userId="7d00e29c-3c16-449b-9ecd-079e602a1701" providerId="ADAL" clId="{17B944F9-18D8-2E4E-9F28-0E2CDCEC6F04}" dt="2021-03-21T04:53:15.455" v="1613" actId="404"/>
          <ac:spMkLst>
            <pc:docMk/>
            <pc:sldMk cId="4192798635" sldId="307"/>
            <ac:spMk id="2" creationId="{B3104613-323F-2849-9302-B1F404B878DB}"/>
          </ac:spMkLst>
        </pc:spChg>
        <pc:spChg chg="mod">
          <ac:chgData name="DOOMEN Lisa [Gilmore College]" userId="7d00e29c-3c16-449b-9ecd-079e602a1701" providerId="ADAL" clId="{17B944F9-18D8-2E4E-9F28-0E2CDCEC6F04}" dt="2021-03-21T05:11:52.570" v="1891" actId="115"/>
          <ac:spMkLst>
            <pc:docMk/>
            <pc:sldMk cId="4192798635" sldId="307"/>
            <ac:spMk id="3" creationId="{C964A710-B72C-E541-A948-EC99C76EC323}"/>
          </ac:spMkLst>
        </pc:spChg>
      </pc:sldChg>
      <pc:sldChg chg="modSp new mod">
        <pc:chgData name="DOOMEN Lisa [Gilmore College]" userId="7d00e29c-3c16-449b-9ecd-079e602a1701" providerId="ADAL" clId="{17B944F9-18D8-2E4E-9F28-0E2CDCEC6F04}" dt="2021-03-21T05:15:02.948" v="2279" actId="115"/>
        <pc:sldMkLst>
          <pc:docMk/>
          <pc:sldMk cId="179656880" sldId="308"/>
        </pc:sldMkLst>
        <pc:spChg chg="mod">
          <ac:chgData name="DOOMEN Lisa [Gilmore College]" userId="7d00e29c-3c16-449b-9ecd-079e602a1701" providerId="ADAL" clId="{17B944F9-18D8-2E4E-9F28-0E2CDCEC6F04}" dt="2021-03-21T05:12:11.152" v="1915" actId="113"/>
          <ac:spMkLst>
            <pc:docMk/>
            <pc:sldMk cId="179656880" sldId="308"/>
            <ac:spMk id="2" creationId="{AE721214-E23B-BA41-B4FB-62665508C73C}"/>
          </ac:spMkLst>
        </pc:spChg>
        <pc:spChg chg="mod">
          <ac:chgData name="DOOMEN Lisa [Gilmore College]" userId="7d00e29c-3c16-449b-9ecd-079e602a1701" providerId="ADAL" clId="{17B944F9-18D8-2E4E-9F28-0E2CDCEC6F04}" dt="2021-03-21T05:15:02.948" v="2279" actId="115"/>
          <ac:spMkLst>
            <pc:docMk/>
            <pc:sldMk cId="179656880" sldId="308"/>
            <ac:spMk id="3" creationId="{95310235-D6DB-D64A-B1FB-87407395ECE7}"/>
          </ac:spMkLst>
        </pc:spChg>
      </pc:sldChg>
      <pc:sldChg chg="modSp new mod">
        <pc:chgData name="DOOMEN Lisa [Gilmore College]" userId="7d00e29c-3c16-449b-9ecd-079e602a1701" providerId="ADAL" clId="{17B944F9-18D8-2E4E-9F28-0E2CDCEC6F04}" dt="2021-03-21T05:42:02.599" v="2571" actId="115"/>
        <pc:sldMkLst>
          <pc:docMk/>
          <pc:sldMk cId="2678527227" sldId="309"/>
        </pc:sldMkLst>
        <pc:spChg chg="mod">
          <ac:chgData name="DOOMEN Lisa [Gilmore College]" userId="7d00e29c-3c16-449b-9ecd-079e602a1701" providerId="ADAL" clId="{17B944F9-18D8-2E4E-9F28-0E2CDCEC6F04}" dt="2021-03-21T05:15:16.379" v="2297" actId="404"/>
          <ac:spMkLst>
            <pc:docMk/>
            <pc:sldMk cId="2678527227" sldId="309"/>
            <ac:spMk id="2" creationId="{31C2A9B5-B847-3445-A6B0-F0E72B37DA98}"/>
          </ac:spMkLst>
        </pc:spChg>
        <pc:spChg chg="mod">
          <ac:chgData name="DOOMEN Lisa [Gilmore College]" userId="7d00e29c-3c16-449b-9ecd-079e602a1701" providerId="ADAL" clId="{17B944F9-18D8-2E4E-9F28-0E2CDCEC6F04}" dt="2021-03-21T05:42:02.599" v="2571" actId="115"/>
          <ac:spMkLst>
            <pc:docMk/>
            <pc:sldMk cId="2678527227" sldId="309"/>
            <ac:spMk id="3" creationId="{545E2386-FB65-BF4E-A420-EB92F891654D}"/>
          </ac:spMkLst>
        </pc:spChg>
      </pc:sldChg>
      <pc:sldChg chg="modSp new mod">
        <pc:chgData name="DOOMEN Lisa [Gilmore College]" userId="7d00e29c-3c16-449b-9ecd-079e602a1701" providerId="ADAL" clId="{17B944F9-18D8-2E4E-9F28-0E2CDCEC6F04}" dt="2021-03-21T05:46:33.574" v="2776" actId="20577"/>
        <pc:sldMkLst>
          <pc:docMk/>
          <pc:sldMk cId="112564136" sldId="310"/>
        </pc:sldMkLst>
        <pc:spChg chg="mod">
          <ac:chgData name="DOOMEN Lisa [Gilmore College]" userId="7d00e29c-3c16-449b-9ecd-079e602a1701" providerId="ADAL" clId="{17B944F9-18D8-2E4E-9F28-0E2CDCEC6F04}" dt="2021-03-21T05:42:43.391" v="2575" actId="403"/>
          <ac:spMkLst>
            <pc:docMk/>
            <pc:sldMk cId="112564136" sldId="310"/>
            <ac:spMk id="2" creationId="{98AF72B5-1399-254D-9393-D6DCBBBBE757}"/>
          </ac:spMkLst>
        </pc:spChg>
        <pc:spChg chg="mod">
          <ac:chgData name="DOOMEN Lisa [Gilmore College]" userId="7d00e29c-3c16-449b-9ecd-079e602a1701" providerId="ADAL" clId="{17B944F9-18D8-2E4E-9F28-0E2CDCEC6F04}" dt="2021-03-21T05:46:33.574" v="2776" actId="20577"/>
          <ac:spMkLst>
            <pc:docMk/>
            <pc:sldMk cId="112564136" sldId="310"/>
            <ac:spMk id="3" creationId="{DEB9C9E5-8FC0-CB46-AFDA-C76C6C7580D2}"/>
          </ac:spMkLst>
        </pc:spChg>
      </pc:sldChg>
      <pc:sldChg chg="modSp new mod">
        <pc:chgData name="DOOMEN Lisa [Gilmore College]" userId="7d00e29c-3c16-449b-9ecd-079e602a1701" providerId="ADAL" clId="{17B944F9-18D8-2E4E-9F28-0E2CDCEC6F04}" dt="2021-03-21T05:58:05.073" v="3744" actId="115"/>
        <pc:sldMkLst>
          <pc:docMk/>
          <pc:sldMk cId="1525198959" sldId="311"/>
        </pc:sldMkLst>
        <pc:spChg chg="mod">
          <ac:chgData name="DOOMEN Lisa [Gilmore College]" userId="7d00e29c-3c16-449b-9ecd-079e602a1701" providerId="ADAL" clId="{17B944F9-18D8-2E4E-9F28-0E2CDCEC6F04}" dt="2021-03-21T05:54:30.770" v="3258" actId="115"/>
          <ac:spMkLst>
            <pc:docMk/>
            <pc:sldMk cId="1525198959" sldId="311"/>
            <ac:spMk id="2" creationId="{35BDBE4C-FB55-904D-906C-6C2BDB58E094}"/>
          </ac:spMkLst>
        </pc:spChg>
        <pc:spChg chg="mod">
          <ac:chgData name="DOOMEN Lisa [Gilmore College]" userId="7d00e29c-3c16-449b-9ecd-079e602a1701" providerId="ADAL" clId="{17B944F9-18D8-2E4E-9F28-0E2CDCEC6F04}" dt="2021-03-21T05:58:05.073" v="3744" actId="115"/>
          <ac:spMkLst>
            <pc:docMk/>
            <pc:sldMk cId="1525198959" sldId="311"/>
            <ac:spMk id="3" creationId="{DE4FDD97-94AA-3A4E-9DC3-E91C1D6157CB}"/>
          </ac:spMkLst>
        </pc:spChg>
      </pc:sldChg>
      <pc:sldChg chg="modSp new mod">
        <pc:chgData name="DOOMEN Lisa [Gilmore College]" userId="7d00e29c-3c16-449b-9ecd-079e602a1701" providerId="ADAL" clId="{17B944F9-18D8-2E4E-9F28-0E2CDCEC6F04}" dt="2021-03-21T05:46:55.957" v="2835" actId="20577"/>
        <pc:sldMkLst>
          <pc:docMk/>
          <pc:sldMk cId="4049236692" sldId="312"/>
        </pc:sldMkLst>
        <pc:spChg chg="mod">
          <ac:chgData name="DOOMEN Lisa [Gilmore College]" userId="7d00e29c-3c16-449b-9ecd-079e602a1701" providerId="ADAL" clId="{17B944F9-18D8-2E4E-9F28-0E2CDCEC6F04}" dt="2021-03-21T05:46:55.957" v="2835" actId="20577"/>
          <ac:spMkLst>
            <pc:docMk/>
            <pc:sldMk cId="4049236692" sldId="312"/>
            <ac:spMk id="2" creationId="{8198DCB8-9BD5-424D-9BF8-4DDC517F792F}"/>
          </ac:spMkLst>
        </pc:spChg>
      </pc:sldChg>
      <pc:sldChg chg="modSp new mod">
        <pc:chgData name="DOOMEN Lisa [Gilmore College]" userId="7d00e29c-3c16-449b-9ecd-079e602a1701" providerId="ADAL" clId="{17B944F9-18D8-2E4E-9F28-0E2CDCEC6F04}" dt="2021-03-21T05:54:02.628" v="3249" actId="115"/>
        <pc:sldMkLst>
          <pc:docMk/>
          <pc:sldMk cId="340910099" sldId="313"/>
        </pc:sldMkLst>
        <pc:spChg chg="mod">
          <ac:chgData name="DOOMEN Lisa [Gilmore College]" userId="7d00e29c-3c16-449b-9ecd-079e602a1701" providerId="ADAL" clId="{17B944F9-18D8-2E4E-9F28-0E2CDCEC6F04}" dt="2021-03-21T05:53:32.156" v="3243" actId="1076"/>
          <ac:spMkLst>
            <pc:docMk/>
            <pc:sldMk cId="340910099" sldId="313"/>
            <ac:spMk id="2" creationId="{4530B644-9728-914A-8AA0-8BDC5AA3DB11}"/>
          </ac:spMkLst>
        </pc:spChg>
        <pc:spChg chg="mod">
          <ac:chgData name="DOOMEN Lisa [Gilmore College]" userId="7d00e29c-3c16-449b-9ecd-079e602a1701" providerId="ADAL" clId="{17B944F9-18D8-2E4E-9F28-0E2CDCEC6F04}" dt="2021-03-21T05:54:02.628" v="3249" actId="115"/>
          <ac:spMkLst>
            <pc:docMk/>
            <pc:sldMk cId="340910099" sldId="313"/>
            <ac:spMk id="3" creationId="{21CB1DAD-F2AA-2244-B2EB-F68C80693E7E}"/>
          </ac:spMkLst>
        </pc:spChg>
      </pc:sldChg>
      <pc:sldChg chg="modSp new del">
        <pc:chgData name="DOOMEN Lisa [Gilmore College]" userId="7d00e29c-3c16-449b-9ecd-079e602a1701" providerId="ADAL" clId="{17B944F9-18D8-2E4E-9F28-0E2CDCEC6F04}" dt="2021-03-21T05:54:23.232" v="3252" actId="2696"/>
        <pc:sldMkLst>
          <pc:docMk/>
          <pc:sldMk cId="1006561211" sldId="314"/>
        </pc:sldMkLst>
        <pc:spChg chg="mod">
          <ac:chgData name="DOOMEN Lisa [Gilmore College]" userId="7d00e29c-3c16-449b-9ecd-079e602a1701" providerId="ADAL" clId="{17B944F9-18D8-2E4E-9F28-0E2CDCEC6F04}" dt="2021-03-21T05:54:20.820" v="3251" actId="20577"/>
          <ac:spMkLst>
            <pc:docMk/>
            <pc:sldMk cId="1006561211" sldId="314"/>
            <ac:spMk id="2" creationId="{D6550781-4330-3449-926B-10325B2DA008}"/>
          </ac:spMkLst>
        </pc:spChg>
      </pc:sldChg>
      <pc:sldChg chg="modSp new mod">
        <pc:chgData name="DOOMEN Lisa [Gilmore College]" userId="7d00e29c-3c16-449b-9ecd-079e602a1701" providerId="ADAL" clId="{17B944F9-18D8-2E4E-9F28-0E2CDCEC6F04}" dt="2021-03-21T05:57:55.228" v="3742" actId="115"/>
        <pc:sldMkLst>
          <pc:docMk/>
          <pc:sldMk cId="2739918279" sldId="314"/>
        </pc:sldMkLst>
        <pc:spChg chg="mod">
          <ac:chgData name="DOOMEN Lisa [Gilmore College]" userId="7d00e29c-3c16-449b-9ecd-079e602a1701" providerId="ADAL" clId="{17B944F9-18D8-2E4E-9F28-0E2CDCEC6F04}" dt="2021-03-21T05:56:18.581" v="3519" actId="403"/>
          <ac:spMkLst>
            <pc:docMk/>
            <pc:sldMk cId="2739918279" sldId="314"/>
            <ac:spMk id="2" creationId="{C7C1902A-BF59-6749-868E-44E27FEABC55}"/>
          </ac:spMkLst>
        </pc:spChg>
        <pc:spChg chg="mod">
          <ac:chgData name="DOOMEN Lisa [Gilmore College]" userId="7d00e29c-3c16-449b-9ecd-079e602a1701" providerId="ADAL" clId="{17B944F9-18D8-2E4E-9F28-0E2CDCEC6F04}" dt="2021-03-21T05:57:55.228" v="3742" actId="115"/>
          <ac:spMkLst>
            <pc:docMk/>
            <pc:sldMk cId="2739918279" sldId="314"/>
            <ac:spMk id="3" creationId="{CB3157A5-FCA0-8D49-875B-78C0DD756078}"/>
          </ac:spMkLst>
        </pc:spChg>
      </pc:sldChg>
      <pc:sldChg chg="new del">
        <pc:chgData name="DOOMEN Lisa [Gilmore College]" userId="7d00e29c-3c16-449b-9ecd-079e602a1701" providerId="ADAL" clId="{17B944F9-18D8-2E4E-9F28-0E2CDCEC6F04}" dt="2021-03-21T06:15:34.813" v="4618" actId="2696"/>
        <pc:sldMkLst>
          <pc:docMk/>
          <pc:sldMk cId="2461833904" sldId="315"/>
        </pc:sldMkLst>
      </pc:sldChg>
      <pc:sldChg chg="addSp delSp modSp new mod">
        <pc:chgData name="DOOMEN Lisa [Gilmore College]" userId="7d00e29c-3c16-449b-9ecd-079e602a1701" providerId="ADAL" clId="{17B944F9-18D8-2E4E-9F28-0E2CDCEC6F04}" dt="2021-03-21T06:07:13.706" v="4272" actId="14100"/>
        <pc:sldMkLst>
          <pc:docMk/>
          <pc:sldMk cId="1509856408" sldId="316"/>
        </pc:sldMkLst>
        <pc:spChg chg="del mod">
          <ac:chgData name="DOOMEN Lisa [Gilmore College]" userId="7d00e29c-3c16-449b-9ecd-079e602a1701" providerId="ADAL" clId="{17B944F9-18D8-2E4E-9F28-0E2CDCEC6F04}" dt="2021-03-21T06:06:52.079" v="4268" actId="478"/>
          <ac:spMkLst>
            <pc:docMk/>
            <pc:sldMk cId="1509856408" sldId="316"/>
            <ac:spMk id="2" creationId="{533D0BD6-67A5-C649-83B4-CD79950138A2}"/>
          </ac:spMkLst>
        </pc:spChg>
        <pc:spChg chg="del mod">
          <ac:chgData name="DOOMEN Lisa [Gilmore College]" userId="7d00e29c-3c16-449b-9ecd-079e602a1701" providerId="ADAL" clId="{17B944F9-18D8-2E4E-9F28-0E2CDCEC6F04}" dt="2021-03-21T06:00:13.784" v="3788" actId="1032"/>
          <ac:spMkLst>
            <pc:docMk/>
            <pc:sldMk cId="1509856408" sldId="316"/>
            <ac:spMk id="3" creationId="{4A71FFF7-48BC-204A-B3F1-7289EE8F0C24}"/>
          </ac:spMkLst>
        </pc:spChg>
        <pc:spChg chg="add del mod">
          <ac:chgData name="DOOMEN Lisa [Gilmore College]" userId="7d00e29c-3c16-449b-9ecd-079e602a1701" providerId="ADAL" clId="{17B944F9-18D8-2E4E-9F28-0E2CDCEC6F04}" dt="2021-03-21T06:06:58.122" v="4269" actId="478"/>
          <ac:spMkLst>
            <pc:docMk/>
            <pc:sldMk cId="1509856408" sldId="316"/>
            <ac:spMk id="6" creationId="{537122CA-B690-9A47-83CB-22D612B9DBDF}"/>
          </ac:spMkLst>
        </pc:spChg>
        <pc:graphicFrameChg chg="add mod modGraphic">
          <ac:chgData name="DOOMEN Lisa [Gilmore College]" userId="7d00e29c-3c16-449b-9ecd-079e602a1701" providerId="ADAL" clId="{17B944F9-18D8-2E4E-9F28-0E2CDCEC6F04}" dt="2021-03-21T06:07:13.706" v="4272" actId="14100"/>
          <ac:graphicFrameMkLst>
            <pc:docMk/>
            <pc:sldMk cId="1509856408" sldId="316"/>
            <ac:graphicFrameMk id="4" creationId="{DB6FEE20-F381-E747-8097-345EBC102A08}"/>
          </ac:graphicFrameMkLst>
        </pc:graphicFrameChg>
      </pc:sldChg>
      <pc:sldChg chg="addSp modSp new mod">
        <pc:chgData name="DOOMEN Lisa [Gilmore College]" userId="7d00e29c-3c16-449b-9ecd-079e602a1701" providerId="ADAL" clId="{17B944F9-18D8-2E4E-9F28-0E2CDCEC6F04}" dt="2021-03-21T06:06:46.258" v="4267" actId="1076"/>
        <pc:sldMkLst>
          <pc:docMk/>
          <pc:sldMk cId="2187852667" sldId="317"/>
        </pc:sldMkLst>
        <pc:spChg chg="add mod">
          <ac:chgData name="DOOMEN Lisa [Gilmore College]" userId="7d00e29c-3c16-449b-9ecd-079e602a1701" providerId="ADAL" clId="{17B944F9-18D8-2E4E-9F28-0E2CDCEC6F04}" dt="2021-03-21T06:06:46.258" v="4267" actId="1076"/>
          <ac:spMkLst>
            <pc:docMk/>
            <pc:sldMk cId="2187852667" sldId="317"/>
            <ac:spMk id="2" creationId="{8C97AC66-E77D-E64E-8317-BE6316B6E9F8}"/>
          </ac:spMkLst>
        </pc:spChg>
      </pc:sldChg>
      <pc:sldChg chg="addSp modSp new mod setBg setClrOvrMap">
        <pc:chgData name="DOOMEN Lisa [Gilmore College]" userId="7d00e29c-3c16-449b-9ecd-079e602a1701" providerId="ADAL" clId="{17B944F9-18D8-2E4E-9F28-0E2CDCEC6F04}" dt="2021-03-21T06:19:51.672" v="4621" actId="26606"/>
        <pc:sldMkLst>
          <pc:docMk/>
          <pc:sldMk cId="1089856755" sldId="318"/>
        </pc:sldMkLst>
        <pc:picChg chg="add mod">
          <ac:chgData name="DOOMEN Lisa [Gilmore College]" userId="7d00e29c-3c16-449b-9ecd-079e602a1701" providerId="ADAL" clId="{17B944F9-18D8-2E4E-9F28-0E2CDCEC6F04}" dt="2021-03-21T06:19:51.672" v="4621" actId="26606"/>
          <ac:picMkLst>
            <pc:docMk/>
            <pc:sldMk cId="1089856755" sldId="318"/>
            <ac:picMk id="1026" creationId="{091248FB-69F4-5A44-894C-AF2B389ED1EC}"/>
          </ac:picMkLst>
        </pc:picChg>
      </pc:sldChg>
      <pc:sldChg chg="addSp modSp new mod setBg">
        <pc:chgData name="DOOMEN Lisa [Gilmore College]" userId="7d00e29c-3c16-449b-9ecd-079e602a1701" providerId="ADAL" clId="{17B944F9-18D8-2E4E-9F28-0E2CDCEC6F04}" dt="2021-03-21T06:20:48.145" v="4624" actId="26606"/>
        <pc:sldMkLst>
          <pc:docMk/>
          <pc:sldMk cId="18563255" sldId="319"/>
        </pc:sldMkLst>
        <pc:spChg chg="add">
          <ac:chgData name="DOOMEN Lisa [Gilmore College]" userId="7d00e29c-3c16-449b-9ecd-079e602a1701" providerId="ADAL" clId="{17B944F9-18D8-2E4E-9F28-0E2CDCEC6F04}" dt="2021-03-21T06:20:48.145" v="4624" actId="26606"/>
          <ac:spMkLst>
            <pc:docMk/>
            <pc:sldMk cId="18563255" sldId="319"/>
            <ac:spMk id="71" creationId="{AB8C311F-7253-4AED-9701-7FC0708C41C7}"/>
          </ac:spMkLst>
        </pc:spChg>
        <pc:spChg chg="add">
          <ac:chgData name="DOOMEN Lisa [Gilmore College]" userId="7d00e29c-3c16-449b-9ecd-079e602a1701" providerId="ADAL" clId="{17B944F9-18D8-2E4E-9F28-0E2CDCEC6F04}" dt="2021-03-21T06:20:48.145" v="4624" actId="26606"/>
          <ac:spMkLst>
            <pc:docMk/>
            <pc:sldMk cId="18563255" sldId="319"/>
            <ac:spMk id="73" creationId="{E2384209-CB15-4CDF-9D31-C44FD9A3F20D}"/>
          </ac:spMkLst>
        </pc:spChg>
        <pc:spChg chg="add">
          <ac:chgData name="DOOMEN Lisa [Gilmore College]" userId="7d00e29c-3c16-449b-9ecd-079e602a1701" providerId="ADAL" clId="{17B944F9-18D8-2E4E-9F28-0E2CDCEC6F04}" dt="2021-03-21T06:20:48.145" v="4624" actId="26606"/>
          <ac:spMkLst>
            <pc:docMk/>
            <pc:sldMk cId="18563255" sldId="319"/>
            <ac:spMk id="75" creationId="{2633B3B5-CC90-43F0-8714-D31D1F3F0209}"/>
          </ac:spMkLst>
        </pc:spChg>
        <pc:spChg chg="add">
          <ac:chgData name="DOOMEN Lisa [Gilmore College]" userId="7d00e29c-3c16-449b-9ecd-079e602a1701" providerId="ADAL" clId="{17B944F9-18D8-2E4E-9F28-0E2CDCEC6F04}" dt="2021-03-21T06:20:48.145" v="4624" actId="26606"/>
          <ac:spMkLst>
            <pc:docMk/>
            <pc:sldMk cId="18563255" sldId="319"/>
            <ac:spMk id="77" creationId="{A8D57A06-A426-446D-B02C-A2DC6B62E45E}"/>
          </ac:spMkLst>
        </pc:spChg>
        <pc:picChg chg="add mod">
          <ac:chgData name="DOOMEN Lisa [Gilmore College]" userId="7d00e29c-3c16-449b-9ecd-079e602a1701" providerId="ADAL" clId="{17B944F9-18D8-2E4E-9F28-0E2CDCEC6F04}" dt="2021-03-21T06:20:48.145" v="4624" actId="26606"/>
          <ac:picMkLst>
            <pc:docMk/>
            <pc:sldMk cId="18563255" sldId="319"/>
            <ac:picMk id="2050" creationId="{C2669BA7-A69A-CD46-81B1-E8D9FCC0C32F}"/>
          </ac:picMkLst>
        </pc:picChg>
      </pc:sldChg>
      <pc:sldChg chg="addSp delSp modSp new mod">
        <pc:chgData name="DOOMEN Lisa [Gilmore College]" userId="7d00e29c-3c16-449b-9ecd-079e602a1701" providerId="ADAL" clId="{17B944F9-18D8-2E4E-9F28-0E2CDCEC6F04}" dt="2021-03-21T06:24:00.093" v="4790" actId="207"/>
        <pc:sldMkLst>
          <pc:docMk/>
          <pc:sldMk cId="2485751579" sldId="320"/>
        </pc:sldMkLst>
        <pc:spChg chg="mod">
          <ac:chgData name="DOOMEN Lisa [Gilmore College]" userId="7d00e29c-3c16-449b-9ecd-079e602a1701" providerId="ADAL" clId="{17B944F9-18D8-2E4E-9F28-0E2CDCEC6F04}" dt="2021-03-21T06:22:21.332" v="4706" actId="113"/>
          <ac:spMkLst>
            <pc:docMk/>
            <pc:sldMk cId="2485751579" sldId="320"/>
            <ac:spMk id="2" creationId="{311F58EE-BEBF-4B43-AE48-DA69569D0CF7}"/>
          </ac:spMkLst>
        </pc:spChg>
        <pc:spChg chg="del">
          <ac:chgData name="DOOMEN Lisa [Gilmore College]" userId="7d00e29c-3c16-449b-9ecd-079e602a1701" providerId="ADAL" clId="{17B944F9-18D8-2E4E-9F28-0E2CDCEC6F04}" dt="2021-03-21T06:22:32.720" v="4707" actId="3680"/>
          <ac:spMkLst>
            <pc:docMk/>
            <pc:sldMk cId="2485751579" sldId="320"/>
            <ac:spMk id="3" creationId="{1C0CE9C6-A0A7-0345-947B-0278021A10AD}"/>
          </ac:spMkLst>
        </pc:spChg>
        <pc:graphicFrameChg chg="add mod ord modGraphic">
          <ac:chgData name="DOOMEN Lisa [Gilmore College]" userId="7d00e29c-3c16-449b-9ecd-079e602a1701" providerId="ADAL" clId="{17B944F9-18D8-2E4E-9F28-0E2CDCEC6F04}" dt="2021-03-21T06:24:00.093" v="4790" actId="207"/>
          <ac:graphicFrameMkLst>
            <pc:docMk/>
            <pc:sldMk cId="2485751579" sldId="320"/>
            <ac:graphicFrameMk id="4" creationId="{2D962055-9452-E546-9AA8-F75F72330059}"/>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DBDFF7E-BFAA-E940-A842-2C5B394ECE29}" type="doc">
      <dgm:prSet loTypeId="urn:microsoft.com/office/officeart/2005/8/layout/cycle5" loCatId="" qsTypeId="urn:microsoft.com/office/officeart/2005/8/quickstyle/simple1" qsCatId="simple" csTypeId="urn:microsoft.com/office/officeart/2005/8/colors/accent1_2" csCatId="accent1" phldr="1"/>
      <dgm:spPr/>
      <dgm:t>
        <a:bodyPr/>
        <a:lstStyle/>
        <a:p>
          <a:endParaRPr lang="en-GB"/>
        </a:p>
      </dgm:t>
    </dgm:pt>
    <dgm:pt modelId="{E9A7D38C-716C-414A-8245-2F436740F575}">
      <dgm:prSet phldrT="[Text]"/>
      <dgm:spPr>
        <a:solidFill>
          <a:schemeClr val="bg1"/>
        </a:solidFill>
        <a:ln w="38100">
          <a:solidFill>
            <a:schemeClr val="tx1"/>
          </a:solidFill>
        </a:ln>
      </dgm:spPr>
      <dgm:t>
        <a:bodyPr/>
        <a:lstStyle/>
        <a:p>
          <a:r>
            <a:rPr lang="en-GB" dirty="0">
              <a:solidFill>
                <a:schemeClr val="tx1"/>
              </a:solidFill>
            </a:rPr>
            <a:t>Stimulus: A change in environment occurs </a:t>
          </a:r>
        </a:p>
      </dgm:t>
    </dgm:pt>
    <dgm:pt modelId="{63AB9C2A-E591-5A43-9BFD-2F38263DE986}" type="parTrans" cxnId="{00D06B10-9536-024B-A3D0-3BDE2F1AAB0D}">
      <dgm:prSet/>
      <dgm:spPr/>
      <dgm:t>
        <a:bodyPr/>
        <a:lstStyle/>
        <a:p>
          <a:endParaRPr lang="en-GB">
            <a:solidFill>
              <a:schemeClr val="tx1"/>
            </a:solidFill>
          </a:endParaRPr>
        </a:p>
      </dgm:t>
    </dgm:pt>
    <dgm:pt modelId="{8CA755A9-0684-2244-B28B-6545B10BC59B}" type="sibTrans" cxnId="{00D06B10-9536-024B-A3D0-3BDE2F1AAB0D}">
      <dgm:prSet/>
      <dgm:spPr/>
      <dgm:t>
        <a:bodyPr/>
        <a:lstStyle/>
        <a:p>
          <a:endParaRPr lang="en-GB">
            <a:solidFill>
              <a:schemeClr val="tx1"/>
            </a:solidFill>
          </a:endParaRPr>
        </a:p>
      </dgm:t>
    </dgm:pt>
    <dgm:pt modelId="{8044CF68-779E-FA41-8962-CF93DA6657F9}">
      <dgm:prSet phldrT="[Text]"/>
      <dgm:spPr>
        <a:solidFill>
          <a:schemeClr val="bg1"/>
        </a:solidFill>
        <a:ln w="38100">
          <a:solidFill>
            <a:schemeClr val="tx1"/>
          </a:solidFill>
        </a:ln>
      </dgm:spPr>
      <dgm:t>
        <a:bodyPr/>
        <a:lstStyle/>
        <a:p>
          <a:r>
            <a:rPr lang="en-GB" dirty="0">
              <a:solidFill>
                <a:schemeClr val="tx1"/>
              </a:solidFill>
            </a:rPr>
            <a:t>Receptor: stimulus is detected by sensory cells </a:t>
          </a:r>
        </a:p>
      </dgm:t>
    </dgm:pt>
    <dgm:pt modelId="{9157C699-DAA8-FA49-8DC0-440C15CAE5A5}" type="parTrans" cxnId="{95F80421-87DA-0E48-90F0-94D4D614DB69}">
      <dgm:prSet/>
      <dgm:spPr/>
      <dgm:t>
        <a:bodyPr/>
        <a:lstStyle/>
        <a:p>
          <a:endParaRPr lang="en-GB">
            <a:solidFill>
              <a:schemeClr val="tx1"/>
            </a:solidFill>
          </a:endParaRPr>
        </a:p>
      </dgm:t>
    </dgm:pt>
    <dgm:pt modelId="{6438684F-D269-164E-A8CE-7CB06B547B82}" type="sibTrans" cxnId="{95F80421-87DA-0E48-90F0-94D4D614DB69}">
      <dgm:prSet/>
      <dgm:spPr/>
      <dgm:t>
        <a:bodyPr/>
        <a:lstStyle/>
        <a:p>
          <a:endParaRPr lang="en-GB">
            <a:solidFill>
              <a:schemeClr val="tx1"/>
            </a:solidFill>
          </a:endParaRPr>
        </a:p>
      </dgm:t>
    </dgm:pt>
    <dgm:pt modelId="{867C8066-D3F0-2449-ADAF-38AE2F4F8E27}">
      <dgm:prSet phldrT="[Text]"/>
      <dgm:spPr>
        <a:solidFill>
          <a:schemeClr val="bg1"/>
        </a:solidFill>
        <a:ln w="38100">
          <a:solidFill>
            <a:schemeClr val="tx1"/>
          </a:solidFill>
        </a:ln>
      </dgm:spPr>
      <dgm:t>
        <a:bodyPr/>
        <a:lstStyle/>
        <a:p>
          <a:r>
            <a:rPr lang="en-GB" dirty="0">
              <a:solidFill>
                <a:schemeClr val="tx1"/>
              </a:solidFill>
            </a:rPr>
            <a:t>Message: sensory cells generate a message in the form of a nerve impulse or hormone</a:t>
          </a:r>
        </a:p>
      </dgm:t>
    </dgm:pt>
    <dgm:pt modelId="{BE212387-8313-0240-89B0-36F04139177B}" type="parTrans" cxnId="{2220A41D-7737-0745-9B9C-20BD589824EE}">
      <dgm:prSet/>
      <dgm:spPr/>
      <dgm:t>
        <a:bodyPr/>
        <a:lstStyle/>
        <a:p>
          <a:endParaRPr lang="en-GB">
            <a:solidFill>
              <a:schemeClr val="tx1"/>
            </a:solidFill>
          </a:endParaRPr>
        </a:p>
      </dgm:t>
    </dgm:pt>
    <dgm:pt modelId="{74C4866E-90AF-E24F-9C52-1F881618CB3C}" type="sibTrans" cxnId="{2220A41D-7737-0745-9B9C-20BD589824EE}">
      <dgm:prSet/>
      <dgm:spPr/>
      <dgm:t>
        <a:bodyPr/>
        <a:lstStyle/>
        <a:p>
          <a:endParaRPr lang="en-GB">
            <a:solidFill>
              <a:schemeClr val="tx1"/>
            </a:solidFill>
          </a:endParaRPr>
        </a:p>
      </dgm:t>
    </dgm:pt>
    <dgm:pt modelId="{45B51EE4-DAA5-5046-A3D7-419A05DA8BD7}">
      <dgm:prSet phldrT="[Text]"/>
      <dgm:spPr>
        <a:solidFill>
          <a:schemeClr val="bg1"/>
        </a:solidFill>
        <a:ln w="38100">
          <a:solidFill>
            <a:schemeClr val="tx1"/>
          </a:solidFill>
        </a:ln>
      </dgm:spPr>
      <dgm:t>
        <a:bodyPr/>
        <a:lstStyle/>
        <a:p>
          <a:r>
            <a:rPr lang="en-GB" dirty="0">
              <a:solidFill>
                <a:schemeClr val="tx1"/>
              </a:solidFill>
            </a:rPr>
            <a:t>Modulator: a new message is sent out by the modulator</a:t>
          </a:r>
        </a:p>
      </dgm:t>
    </dgm:pt>
    <dgm:pt modelId="{87463C71-4E1A-794E-A507-6F4D7307B6C7}" type="parTrans" cxnId="{DCC341FB-AF1D-634B-BF2B-AC579014BC36}">
      <dgm:prSet/>
      <dgm:spPr/>
      <dgm:t>
        <a:bodyPr/>
        <a:lstStyle/>
        <a:p>
          <a:endParaRPr lang="en-GB">
            <a:solidFill>
              <a:schemeClr val="tx1"/>
            </a:solidFill>
          </a:endParaRPr>
        </a:p>
      </dgm:t>
    </dgm:pt>
    <dgm:pt modelId="{9C46C7C6-EBDF-4D4D-9CE3-78F213BF27DE}" type="sibTrans" cxnId="{DCC341FB-AF1D-634B-BF2B-AC579014BC36}">
      <dgm:prSet/>
      <dgm:spPr/>
      <dgm:t>
        <a:bodyPr/>
        <a:lstStyle/>
        <a:p>
          <a:endParaRPr lang="en-GB">
            <a:solidFill>
              <a:schemeClr val="tx1"/>
            </a:solidFill>
          </a:endParaRPr>
        </a:p>
      </dgm:t>
    </dgm:pt>
    <dgm:pt modelId="{A1147F82-3B0D-E645-B585-ED66108666B7}">
      <dgm:prSet phldrT="[Text]"/>
      <dgm:spPr>
        <a:solidFill>
          <a:schemeClr val="bg1"/>
        </a:solidFill>
        <a:ln w="38100">
          <a:solidFill>
            <a:schemeClr val="tx1"/>
          </a:solidFill>
        </a:ln>
      </dgm:spPr>
      <dgm:t>
        <a:bodyPr/>
        <a:lstStyle/>
        <a:p>
          <a:r>
            <a:rPr lang="en-GB" dirty="0">
              <a:solidFill>
                <a:schemeClr val="tx1"/>
              </a:solidFill>
            </a:rPr>
            <a:t>Effector: muscles or glands receive the message from the modulator </a:t>
          </a:r>
        </a:p>
      </dgm:t>
    </dgm:pt>
    <dgm:pt modelId="{29204394-AC9C-2F4F-9C32-DE6AE82AB801}" type="parTrans" cxnId="{B2C3D020-083A-F04D-903F-EFF139467389}">
      <dgm:prSet/>
      <dgm:spPr/>
      <dgm:t>
        <a:bodyPr/>
        <a:lstStyle/>
        <a:p>
          <a:endParaRPr lang="en-GB">
            <a:solidFill>
              <a:schemeClr val="tx1"/>
            </a:solidFill>
          </a:endParaRPr>
        </a:p>
      </dgm:t>
    </dgm:pt>
    <dgm:pt modelId="{36ECD0DA-9072-664E-9E90-AD3F199E2E3D}" type="sibTrans" cxnId="{B2C3D020-083A-F04D-903F-EFF139467389}">
      <dgm:prSet/>
      <dgm:spPr/>
      <dgm:t>
        <a:bodyPr/>
        <a:lstStyle/>
        <a:p>
          <a:endParaRPr lang="en-GB">
            <a:solidFill>
              <a:schemeClr val="tx1"/>
            </a:solidFill>
          </a:endParaRPr>
        </a:p>
      </dgm:t>
    </dgm:pt>
    <dgm:pt modelId="{3DB46C90-9FE1-8744-881B-B8CEF77F0EFC}">
      <dgm:prSet/>
      <dgm:spPr>
        <a:solidFill>
          <a:schemeClr val="bg1"/>
        </a:solidFill>
        <a:ln w="38100">
          <a:solidFill>
            <a:schemeClr val="tx1"/>
          </a:solidFill>
        </a:ln>
      </dgm:spPr>
      <dgm:t>
        <a:bodyPr/>
        <a:lstStyle/>
        <a:p>
          <a:r>
            <a:rPr lang="en-GB" dirty="0">
              <a:solidFill>
                <a:schemeClr val="tx1"/>
              </a:solidFill>
            </a:rPr>
            <a:t>Response: effector organs bring about an appropriate reaction </a:t>
          </a:r>
        </a:p>
      </dgm:t>
    </dgm:pt>
    <dgm:pt modelId="{A3AD1A8E-8EE7-DC45-BDD9-3D2E7DDC1AF7}" type="parTrans" cxnId="{66873D4A-EB89-064B-9DFC-A59CB67DB32A}">
      <dgm:prSet/>
      <dgm:spPr/>
      <dgm:t>
        <a:bodyPr/>
        <a:lstStyle/>
        <a:p>
          <a:endParaRPr lang="en-GB"/>
        </a:p>
      </dgm:t>
    </dgm:pt>
    <dgm:pt modelId="{E0E46E64-3BD4-EA48-BC9C-968D8E4915C9}" type="sibTrans" cxnId="{66873D4A-EB89-064B-9DFC-A59CB67DB32A}">
      <dgm:prSet/>
      <dgm:spPr/>
      <dgm:t>
        <a:bodyPr/>
        <a:lstStyle/>
        <a:p>
          <a:endParaRPr lang="en-GB"/>
        </a:p>
      </dgm:t>
    </dgm:pt>
    <dgm:pt modelId="{BF430CB1-8544-3A4C-9F8F-2730B5C52B18}">
      <dgm:prSet/>
      <dgm:spPr>
        <a:solidFill>
          <a:schemeClr val="bg1"/>
        </a:solidFill>
        <a:ln w="38100">
          <a:solidFill>
            <a:schemeClr val="tx1"/>
          </a:solidFill>
        </a:ln>
      </dgm:spPr>
      <dgm:t>
        <a:bodyPr/>
        <a:lstStyle/>
        <a:p>
          <a:r>
            <a:rPr lang="en-GB" dirty="0">
              <a:solidFill>
                <a:schemeClr val="tx1"/>
              </a:solidFill>
            </a:rPr>
            <a:t>Feedback: response changes the original stimulus </a:t>
          </a:r>
        </a:p>
      </dgm:t>
    </dgm:pt>
    <dgm:pt modelId="{A7F0FA38-931D-0246-A8BE-519B1D1C3E2B}" type="parTrans" cxnId="{9512ACC1-54B5-5E49-8BBF-20D64698E8E8}">
      <dgm:prSet/>
      <dgm:spPr/>
      <dgm:t>
        <a:bodyPr/>
        <a:lstStyle/>
        <a:p>
          <a:endParaRPr lang="en-GB"/>
        </a:p>
      </dgm:t>
    </dgm:pt>
    <dgm:pt modelId="{0784E49E-4AA5-4243-A10D-6E5A6F80BA1A}" type="sibTrans" cxnId="{9512ACC1-54B5-5E49-8BBF-20D64698E8E8}">
      <dgm:prSet/>
      <dgm:spPr/>
      <dgm:t>
        <a:bodyPr/>
        <a:lstStyle/>
        <a:p>
          <a:endParaRPr lang="en-GB"/>
        </a:p>
      </dgm:t>
    </dgm:pt>
    <dgm:pt modelId="{C3B01ACE-211D-B348-AC3F-4444B3C72689}" type="pres">
      <dgm:prSet presAssocID="{6DBDFF7E-BFAA-E940-A842-2C5B394ECE29}" presName="cycle" presStyleCnt="0">
        <dgm:presLayoutVars>
          <dgm:dir/>
          <dgm:resizeHandles val="exact"/>
        </dgm:presLayoutVars>
      </dgm:prSet>
      <dgm:spPr/>
      <dgm:t>
        <a:bodyPr/>
        <a:lstStyle/>
        <a:p>
          <a:endParaRPr lang="en-US"/>
        </a:p>
      </dgm:t>
    </dgm:pt>
    <dgm:pt modelId="{4E41D3A8-A6AA-064C-9EDD-972AF291F4B7}" type="pres">
      <dgm:prSet presAssocID="{E9A7D38C-716C-414A-8245-2F436740F575}" presName="node" presStyleLbl="node1" presStyleIdx="0" presStyleCnt="7">
        <dgm:presLayoutVars>
          <dgm:bulletEnabled val="1"/>
        </dgm:presLayoutVars>
      </dgm:prSet>
      <dgm:spPr/>
      <dgm:t>
        <a:bodyPr/>
        <a:lstStyle/>
        <a:p>
          <a:endParaRPr lang="en-US"/>
        </a:p>
      </dgm:t>
    </dgm:pt>
    <dgm:pt modelId="{48BB39F0-AFF0-C440-B568-DC98CA669788}" type="pres">
      <dgm:prSet presAssocID="{E9A7D38C-716C-414A-8245-2F436740F575}" presName="spNode" presStyleCnt="0"/>
      <dgm:spPr/>
    </dgm:pt>
    <dgm:pt modelId="{D6B9A658-F6CD-514E-A643-60E22220914F}" type="pres">
      <dgm:prSet presAssocID="{8CA755A9-0684-2244-B28B-6545B10BC59B}" presName="sibTrans" presStyleLbl="sibTrans1D1" presStyleIdx="0" presStyleCnt="7"/>
      <dgm:spPr/>
      <dgm:t>
        <a:bodyPr/>
        <a:lstStyle/>
        <a:p>
          <a:endParaRPr lang="en-US"/>
        </a:p>
      </dgm:t>
    </dgm:pt>
    <dgm:pt modelId="{1A41E46C-9FD1-FA4F-B7C5-6E159F3B9647}" type="pres">
      <dgm:prSet presAssocID="{8044CF68-779E-FA41-8962-CF93DA6657F9}" presName="node" presStyleLbl="node1" presStyleIdx="1" presStyleCnt="7">
        <dgm:presLayoutVars>
          <dgm:bulletEnabled val="1"/>
        </dgm:presLayoutVars>
      </dgm:prSet>
      <dgm:spPr/>
      <dgm:t>
        <a:bodyPr/>
        <a:lstStyle/>
        <a:p>
          <a:endParaRPr lang="en-US"/>
        </a:p>
      </dgm:t>
    </dgm:pt>
    <dgm:pt modelId="{73FB60C0-D855-8E47-A53D-93A9E7606A81}" type="pres">
      <dgm:prSet presAssocID="{8044CF68-779E-FA41-8962-CF93DA6657F9}" presName="spNode" presStyleCnt="0"/>
      <dgm:spPr/>
    </dgm:pt>
    <dgm:pt modelId="{1128C699-A407-7C44-B675-8D982E8DCDF5}" type="pres">
      <dgm:prSet presAssocID="{6438684F-D269-164E-A8CE-7CB06B547B82}" presName="sibTrans" presStyleLbl="sibTrans1D1" presStyleIdx="1" presStyleCnt="7"/>
      <dgm:spPr/>
      <dgm:t>
        <a:bodyPr/>
        <a:lstStyle/>
        <a:p>
          <a:endParaRPr lang="en-US"/>
        </a:p>
      </dgm:t>
    </dgm:pt>
    <dgm:pt modelId="{CC01C53E-FF45-194D-B5E2-1BC12A31FF23}" type="pres">
      <dgm:prSet presAssocID="{867C8066-D3F0-2449-ADAF-38AE2F4F8E27}" presName="node" presStyleLbl="node1" presStyleIdx="2" presStyleCnt="7">
        <dgm:presLayoutVars>
          <dgm:bulletEnabled val="1"/>
        </dgm:presLayoutVars>
      </dgm:prSet>
      <dgm:spPr/>
      <dgm:t>
        <a:bodyPr/>
        <a:lstStyle/>
        <a:p>
          <a:endParaRPr lang="en-US"/>
        </a:p>
      </dgm:t>
    </dgm:pt>
    <dgm:pt modelId="{6B808622-5418-CF40-878D-1E49D1C32215}" type="pres">
      <dgm:prSet presAssocID="{867C8066-D3F0-2449-ADAF-38AE2F4F8E27}" presName="spNode" presStyleCnt="0"/>
      <dgm:spPr/>
    </dgm:pt>
    <dgm:pt modelId="{2D3A4D59-6A1C-694C-9079-3E6F12744273}" type="pres">
      <dgm:prSet presAssocID="{74C4866E-90AF-E24F-9C52-1F881618CB3C}" presName="sibTrans" presStyleLbl="sibTrans1D1" presStyleIdx="2" presStyleCnt="7"/>
      <dgm:spPr/>
      <dgm:t>
        <a:bodyPr/>
        <a:lstStyle/>
        <a:p>
          <a:endParaRPr lang="en-US"/>
        </a:p>
      </dgm:t>
    </dgm:pt>
    <dgm:pt modelId="{79367AF0-929E-FD4A-841D-6BC6C2F97DF9}" type="pres">
      <dgm:prSet presAssocID="{45B51EE4-DAA5-5046-A3D7-419A05DA8BD7}" presName="node" presStyleLbl="node1" presStyleIdx="3" presStyleCnt="7">
        <dgm:presLayoutVars>
          <dgm:bulletEnabled val="1"/>
        </dgm:presLayoutVars>
      </dgm:prSet>
      <dgm:spPr/>
      <dgm:t>
        <a:bodyPr/>
        <a:lstStyle/>
        <a:p>
          <a:endParaRPr lang="en-US"/>
        </a:p>
      </dgm:t>
    </dgm:pt>
    <dgm:pt modelId="{8585C418-C51D-1943-8F0F-0333CC45CD84}" type="pres">
      <dgm:prSet presAssocID="{45B51EE4-DAA5-5046-A3D7-419A05DA8BD7}" presName="spNode" presStyleCnt="0"/>
      <dgm:spPr/>
    </dgm:pt>
    <dgm:pt modelId="{CE1E2EE2-1ED3-3942-8C15-B6EA90226803}" type="pres">
      <dgm:prSet presAssocID="{9C46C7C6-EBDF-4D4D-9CE3-78F213BF27DE}" presName="sibTrans" presStyleLbl="sibTrans1D1" presStyleIdx="3" presStyleCnt="7"/>
      <dgm:spPr/>
      <dgm:t>
        <a:bodyPr/>
        <a:lstStyle/>
        <a:p>
          <a:endParaRPr lang="en-US"/>
        </a:p>
      </dgm:t>
    </dgm:pt>
    <dgm:pt modelId="{F8F9EE41-A0C3-E040-B56A-4991913C580F}" type="pres">
      <dgm:prSet presAssocID="{A1147F82-3B0D-E645-B585-ED66108666B7}" presName="node" presStyleLbl="node1" presStyleIdx="4" presStyleCnt="7">
        <dgm:presLayoutVars>
          <dgm:bulletEnabled val="1"/>
        </dgm:presLayoutVars>
      </dgm:prSet>
      <dgm:spPr/>
      <dgm:t>
        <a:bodyPr/>
        <a:lstStyle/>
        <a:p>
          <a:endParaRPr lang="en-US"/>
        </a:p>
      </dgm:t>
    </dgm:pt>
    <dgm:pt modelId="{7995B3B5-D828-5E4E-935E-53393A4F563E}" type="pres">
      <dgm:prSet presAssocID="{A1147F82-3B0D-E645-B585-ED66108666B7}" presName="spNode" presStyleCnt="0"/>
      <dgm:spPr/>
    </dgm:pt>
    <dgm:pt modelId="{44865C01-0C58-6D48-A754-5F0C789BAFC5}" type="pres">
      <dgm:prSet presAssocID="{36ECD0DA-9072-664E-9E90-AD3F199E2E3D}" presName="sibTrans" presStyleLbl="sibTrans1D1" presStyleIdx="4" presStyleCnt="7"/>
      <dgm:spPr/>
      <dgm:t>
        <a:bodyPr/>
        <a:lstStyle/>
        <a:p>
          <a:endParaRPr lang="en-US"/>
        </a:p>
      </dgm:t>
    </dgm:pt>
    <dgm:pt modelId="{AC4260AC-7BF1-E54C-8725-98C5C3DB487E}" type="pres">
      <dgm:prSet presAssocID="{3DB46C90-9FE1-8744-881B-B8CEF77F0EFC}" presName="node" presStyleLbl="node1" presStyleIdx="5" presStyleCnt="7">
        <dgm:presLayoutVars>
          <dgm:bulletEnabled val="1"/>
        </dgm:presLayoutVars>
      </dgm:prSet>
      <dgm:spPr/>
      <dgm:t>
        <a:bodyPr/>
        <a:lstStyle/>
        <a:p>
          <a:endParaRPr lang="en-US"/>
        </a:p>
      </dgm:t>
    </dgm:pt>
    <dgm:pt modelId="{B371E1FD-0276-5C4F-B4C3-26CA90D8B987}" type="pres">
      <dgm:prSet presAssocID="{3DB46C90-9FE1-8744-881B-B8CEF77F0EFC}" presName="spNode" presStyleCnt="0"/>
      <dgm:spPr/>
    </dgm:pt>
    <dgm:pt modelId="{05BB08A8-7F3A-3144-845F-8AAEFA0A46AB}" type="pres">
      <dgm:prSet presAssocID="{E0E46E64-3BD4-EA48-BC9C-968D8E4915C9}" presName="sibTrans" presStyleLbl="sibTrans1D1" presStyleIdx="5" presStyleCnt="7"/>
      <dgm:spPr/>
      <dgm:t>
        <a:bodyPr/>
        <a:lstStyle/>
        <a:p>
          <a:endParaRPr lang="en-US"/>
        </a:p>
      </dgm:t>
    </dgm:pt>
    <dgm:pt modelId="{CD2964A6-0B02-424A-A48A-4229307F71A3}" type="pres">
      <dgm:prSet presAssocID="{BF430CB1-8544-3A4C-9F8F-2730B5C52B18}" presName="node" presStyleLbl="node1" presStyleIdx="6" presStyleCnt="7">
        <dgm:presLayoutVars>
          <dgm:bulletEnabled val="1"/>
        </dgm:presLayoutVars>
      </dgm:prSet>
      <dgm:spPr/>
      <dgm:t>
        <a:bodyPr/>
        <a:lstStyle/>
        <a:p>
          <a:endParaRPr lang="en-US"/>
        </a:p>
      </dgm:t>
    </dgm:pt>
    <dgm:pt modelId="{3602BCFE-6621-FA4F-9BB3-071271BC2C67}" type="pres">
      <dgm:prSet presAssocID="{BF430CB1-8544-3A4C-9F8F-2730B5C52B18}" presName="spNode" presStyleCnt="0"/>
      <dgm:spPr/>
    </dgm:pt>
    <dgm:pt modelId="{15C6F4A2-8FBD-294C-AF26-1F4659091397}" type="pres">
      <dgm:prSet presAssocID="{0784E49E-4AA5-4243-A10D-6E5A6F80BA1A}" presName="sibTrans" presStyleLbl="sibTrans1D1" presStyleIdx="6" presStyleCnt="7"/>
      <dgm:spPr/>
      <dgm:t>
        <a:bodyPr/>
        <a:lstStyle/>
        <a:p>
          <a:endParaRPr lang="en-US"/>
        </a:p>
      </dgm:t>
    </dgm:pt>
  </dgm:ptLst>
  <dgm:cxnLst>
    <dgm:cxn modelId="{A822DF13-8A29-F647-893D-1F398A00BCF2}" type="presOf" srcId="{0784E49E-4AA5-4243-A10D-6E5A6F80BA1A}" destId="{15C6F4A2-8FBD-294C-AF26-1F4659091397}" srcOrd="0" destOrd="0" presId="urn:microsoft.com/office/officeart/2005/8/layout/cycle5"/>
    <dgm:cxn modelId="{66873D4A-EB89-064B-9DFC-A59CB67DB32A}" srcId="{6DBDFF7E-BFAA-E940-A842-2C5B394ECE29}" destId="{3DB46C90-9FE1-8744-881B-B8CEF77F0EFC}" srcOrd="5" destOrd="0" parTransId="{A3AD1A8E-8EE7-DC45-BDD9-3D2E7DDC1AF7}" sibTransId="{E0E46E64-3BD4-EA48-BC9C-968D8E4915C9}"/>
    <dgm:cxn modelId="{B0D35087-B9EB-224D-91BB-FC3BC43B43FA}" type="presOf" srcId="{45B51EE4-DAA5-5046-A3D7-419A05DA8BD7}" destId="{79367AF0-929E-FD4A-841D-6BC6C2F97DF9}" srcOrd="0" destOrd="0" presId="urn:microsoft.com/office/officeart/2005/8/layout/cycle5"/>
    <dgm:cxn modelId="{CAB57996-4B4D-774F-9578-58B6D4D4DAB5}" type="presOf" srcId="{3DB46C90-9FE1-8744-881B-B8CEF77F0EFC}" destId="{AC4260AC-7BF1-E54C-8725-98C5C3DB487E}" srcOrd="0" destOrd="0" presId="urn:microsoft.com/office/officeart/2005/8/layout/cycle5"/>
    <dgm:cxn modelId="{B2C3D020-083A-F04D-903F-EFF139467389}" srcId="{6DBDFF7E-BFAA-E940-A842-2C5B394ECE29}" destId="{A1147F82-3B0D-E645-B585-ED66108666B7}" srcOrd="4" destOrd="0" parTransId="{29204394-AC9C-2F4F-9C32-DE6AE82AB801}" sibTransId="{36ECD0DA-9072-664E-9E90-AD3F199E2E3D}"/>
    <dgm:cxn modelId="{95F80421-87DA-0E48-90F0-94D4D614DB69}" srcId="{6DBDFF7E-BFAA-E940-A842-2C5B394ECE29}" destId="{8044CF68-779E-FA41-8962-CF93DA6657F9}" srcOrd="1" destOrd="0" parTransId="{9157C699-DAA8-FA49-8DC0-440C15CAE5A5}" sibTransId="{6438684F-D269-164E-A8CE-7CB06B547B82}"/>
    <dgm:cxn modelId="{93E28EB7-E38C-8A42-BD12-917269898D4F}" type="presOf" srcId="{BF430CB1-8544-3A4C-9F8F-2730B5C52B18}" destId="{CD2964A6-0B02-424A-A48A-4229307F71A3}" srcOrd="0" destOrd="0" presId="urn:microsoft.com/office/officeart/2005/8/layout/cycle5"/>
    <dgm:cxn modelId="{9512ACC1-54B5-5E49-8BBF-20D64698E8E8}" srcId="{6DBDFF7E-BFAA-E940-A842-2C5B394ECE29}" destId="{BF430CB1-8544-3A4C-9F8F-2730B5C52B18}" srcOrd="6" destOrd="0" parTransId="{A7F0FA38-931D-0246-A8BE-519B1D1C3E2B}" sibTransId="{0784E49E-4AA5-4243-A10D-6E5A6F80BA1A}"/>
    <dgm:cxn modelId="{5F965F88-D516-3041-A59F-8435BCF13227}" type="presOf" srcId="{9C46C7C6-EBDF-4D4D-9CE3-78F213BF27DE}" destId="{CE1E2EE2-1ED3-3942-8C15-B6EA90226803}" srcOrd="0" destOrd="0" presId="urn:microsoft.com/office/officeart/2005/8/layout/cycle5"/>
    <dgm:cxn modelId="{46010935-1204-354D-86A2-7F719F59026D}" type="presOf" srcId="{6438684F-D269-164E-A8CE-7CB06B547B82}" destId="{1128C699-A407-7C44-B675-8D982E8DCDF5}" srcOrd="0" destOrd="0" presId="urn:microsoft.com/office/officeart/2005/8/layout/cycle5"/>
    <dgm:cxn modelId="{21AC89EE-F3C9-9B4B-9693-237F72515EC1}" type="presOf" srcId="{A1147F82-3B0D-E645-B585-ED66108666B7}" destId="{F8F9EE41-A0C3-E040-B56A-4991913C580F}" srcOrd="0" destOrd="0" presId="urn:microsoft.com/office/officeart/2005/8/layout/cycle5"/>
    <dgm:cxn modelId="{C5324037-16C7-B84E-9F9C-7844E36C6919}" type="presOf" srcId="{867C8066-D3F0-2449-ADAF-38AE2F4F8E27}" destId="{CC01C53E-FF45-194D-B5E2-1BC12A31FF23}" srcOrd="0" destOrd="0" presId="urn:microsoft.com/office/officeart/2005/8/layout/cycle5"/>
    <dgm:cxn modelId="{EF9AD043-B232-2148-95C7-F5D32B408ED9}" type="presOf" srcId="{74C4866E-90AF-E24F-9C52-1F881618CB3C}" destId="{2D3A4D59-6A1C-694C-9079-3E6F12744273}" srcOrd="0" destOrd="0" presId="urn:microsoft.com/office/officeart/2005/8/layout/cycle5"/>
    <dgm:cxn modelId="{BF6F4247-258E-4640-87C9-D3116918E805}" type="presOf" srcId="{E9A7D38C-716C-414A-8245-2F436740F575}" destId="{4E41D3A8-A6AA-064C-9EDD-972AF291F4B7}" srcOrd="0" destOrd="0" presId="urn:microsoft.com/office/officeart/2005/8/layout/cycle5"/>
    <dgm:cxn modelId="{AE77C202-29B2-5749-AB0B-514467F5AA5F}" type="presOf" srcId="{E0E46E64-3BD4-EA48-BC9C-968D8E4915C9}" destId="{05BB08A8-7F3A-3144-845F-8AAEFA0A46AB}" srcOrd="0" destOrd="0" presId="urn:microsoft.com/office/officeart/2005/8/layout/cycle5"/>
    <dgm:cxn modelId="{869CFE3B-8940-E449-A08D-5346369AD740}" type="presOf" srcId="{6DBDFF7E-BFAA-E940-A842-2C5B394ECE29}" destId="{C3B01ACE-211D-B348-AC3F-4444B3C72689}" srcOrd="0" destOrd="0" presId="urn:microsoft.com/office/officeart/2005/8/layout/cycle5"/>
    <dgm:cxn modelId="{92D4141E-C0E7-8E43-B3DE-4C9D0720EC59}" type="presOf" srcId="{8044CF68-779E-FA41-8962-CF93DA6657F9}" destId="{1A41E46C-9FD1-FA4F-B7C5-6E159F3B9647}" srcOrd="0" destOrd="0" presId="urn:microsoft.com/office/officeart/2005/8/layout/cycle5"/>
    <dgm:cxn modelId="{851735D8-9169-E64A-ACC8-D193932351B4}" type="presOf" srcId="{8CA755A9-0684-2244-B28B-6545B10BC59B}" destId="{D6B9A658-F6CD-514E-A643-60E22220914F}" srcOrd="0" destOrd="0" presId="urn:microsoft.com/office/officeart/2005/8/layout/cycle5"/>
    <dgm:cxn modelId="{340C1593-E103-8849-8173-9144D62F687A}" type="presOf" srcId="{36ECD0DA-9072-664E-9E90-AD3F199E2E3D}" destId="{44865C01-0C58-6D48-A754-5F0C789BAFC5}" srcOrd="0" destOrd="0" presId="urn:microsoft.com/office/officeart/2005/8/layout/cycle5"/>
    <dgm:cxn modelId="{00D06B10-9536-024B-A3D0-3BDE2F1AAB0D}" srcId="{6DBDFF7E-BFAA-E940-A842-2C5B394ECE29}" destId="{E9A7D38C-716C-414A-8245-2F436740F575}" srcOrd="0" destOrd="0" parTransId="{63AB9C2A-E591-5A43-9BFD-2F38263DE986}" sibTransId="{8CA755A9-0684-2244-B28B-6545B10BC59B}"/>
    <dgm:cxn modelId="{DCC341FB-AF1D-634B-BF2B-AC579014BC36}" srcId="{6DBDFF7E-BFAA-E940-A842-2C5B394ECE29}" destId="{45B51EE4-DAA5-5046-A3D7-419A05DA8BD7}" srcOrd="3" destOrd="0" parTransId="{87463C71-4E1A-794E-A507-6F4D7307B6C7}" sibTransId="{9C46C7C6-EBDF-4D4D-9CE3-78F213BF27DE}"/>
    <dgm:cxn modelId="{2220A41D-7737-0745-9B9C-20BD589824EE}" srcId="{6DBDFF7E-BFAA-E940-A842-2C5B394ECE29}" destId="{867C8066-D3F0-2449-ADAF-38AE2F4F8E27}" srcOrd="2" destOrd="0" parTransId="{BE212387-8313-0240-89B0-36F04139177B}" sibTransId="{74C4866E-90AF-E24F-9C52-1F881618CB3C}"/>
    <dgm:cxn modelId="{3AF044F8-CAA8-524E-A0C5-B70CF6507937}" type="presParOf" srcId="{C3B01ACE-211D-B348-AC3F-4444B3C72689}" destId="{4E41D3A8-A6AA-064C-9EDD-972AF291F4B7}" srcOrd="0" destOrd="0" presId="urn:microsoft.com/office/officeart/2005/8/layout/cycle5"/>
    <dgm:cxn modelId="{CBBE7111-E320-884E-B3F7-5E2318D5DFFC}" type="presParOf" srcId="{C3B01ACE-211D-B348-AC3F-4444B3C72689}" destId="{48BB39F0-AFF0-C440-B568-DC98CA669788}" srcOrd="1" destOrd="0" presId="urn:microsoft.com/office/officeart/2005/8/layout/cycle5"/>
    <dgm:cxn modelId="{C1AC0684-9E12-E046-A1C7-8AEE7F349489}" type="presParOf" srcId="{C3B01ACE-211D-B348-AC3F-4444B3C72689}" destId="{D6B9A658-F6CD-514E-A643-60E22220914F}" srcOrd="2" destOrd="0" presId="urn:microsoft.com/office/officeart/2005/8/layout/cycle5"/>
    <dgm:cxn modelId="{25D1D4A6-B35A-C546-9F2C-F09201EC9EAD}" type="presParOf" srcId="{C3B01ACE-211D-B348-AC3F-4444B3C72689}" destId="{1A41E46C-9FD1-FA4F-B7C5-6E159F3B9647}" srcOrd="3" destOrd="0" presId="urn:microsoft.com/office/officeart/2005/8/layout/cycle5"/>
    <dgm:cxn modelId="{FF8C6BB2-136B-0943-B390-C924F6B1A556}" type="presParOf" srcId="{C3B01ACE-211D-B348-AC3F-4444B3C72689}" destId="{73FB60C0-D855-8E47-A53D-93A9E7606A81}" srcOrd="4" destOrd="0" presId="urn:microsoft.com/office/officeart/2005/8/layout/cycle5"/>
    <dgm:cxn modelId="{A5A44CA4-46AA-564E-A80F-CFF46B539BA6}" type="presParOf" srcId="{C3B01ACE-211D-B348-AC3F-4444B3C72689}" destId="{1128C699-A407-7C44-B675-8D982E8DCDF5}" srcOrd="5" destOrd="0" presId="urn:microsoft.com/office/officeart/2005/8/layout/cycle5"/>
    <dgm:cxn modelId="{48E74659-2361-EF49-9253-A14CA166B42E}" type="presParOf" srcId="{C3B01ACE-211D-B348-AC3F-4444B3C72689}" destId="{CC01C53E-FF45-194D-B5E2-1BC12A31FF23}" srcOrd="6" destOrd="0" presId="urn:microsoft.com/office/officeart/2005/8/layout/cycle5"/>
    <dgm:cxn modelId="{D96BA984-0EF7-8D44-A51E-C6AAB3C08F32}" type="presParOf" srcId="{C3B01ACE-211D-B348-AC3F-4444B3C72689}" destId="{6B808622-5418-CF40-878D-1E49D1C32215}" srcOrd="7" destOrd="0" presId="urn:microsoft.com/office/officeart/2005/8/layout/cycle5"/>
    <dgm:cxn modelId="{DE04BA7C-657A-CF47-8A2F-D49A8EA6F1BA}" type="presParOf" srcId="{C3B01ACE-211D-B348-AC3F-4444B3C72689}" destId="{2D3A4D59-6A1C-694C-9079-3E6F12744273}" srcOrd="8" destOrd="0" presId="urn:microsoft.com/office/officeart/2005/8/layout/cycle5"/>
    <dgm:cxn modelId="{89D75EE3-E5E1-6445-AB41-B25CBE6717E0}" type="presParOf" srcId="{C3B01ACE-211D-B348-AC3F-4444B3C72689}" destId="{79367AF0-929E-FD4A-841D-6BC6C2F97DF9}" srcOrd="9" destOrd="0" presId="urn:microsoft.com/office/officeart/2005/8/layout/cycle5"/>
    <dgm:cxn modelId="{DF905A2D-A061-9140-A919-DCD5EFD2AD46}" type="presParOf" srcId="{C3B01ACE-211D-B348-AC3F-4444B3C72689}" destId="{8585C418-C51D-1943-8F0F-0333CC45CD84}" srcOrd="10" destOrd="0" presId="urn:microsoft.com/office/officeart/2005/8/layout/cycle5"/>
    <dgm:cxn modelId="{AF202F2C-2802-394A-A4A1-AADF1D5D6D67}" type="presParOf" srcId="{C3B01ACE-211D-B348-AC3F-4444B3C72689}" destId="{CE1E2EE2-1ED3-3942-8C15-B6EA90226803}" srcOrd="11" destOrd="0" presId="urn:microsoft.com/office/officeart/2005/8/layout/cycle5"/>
    <dgm:cxn modelId="{44EB205D-41BA-CD4E-9AAF-B34864765555}" type="presParOf" srcId="{C3B01ACE-211D-B348-AC3F-4444B3C72689}" destId="{F8F9EE41-A0C3-E040-B56A-4991913C580F}" srcOrd="12" destOrd="0" presId="urn:microsoft.com/office/officeart/2005/8/layout/cycle5"/>
    <dgm:cxn modelId="{70D81AE2-0A1D-394A-B47C-496A8DA1DB31}" type="presParOf" srcId="{C3B01ACE-211D-B348-AC3F-4444B3C72689}" destId="{7995B3B5-D828-5E4E-935E-53393A4F563E}" srcOrd="13" destOrd="0" presId="urn:microsoft.com/office/officeart/2005/8/layout/cycle5"/>
    <dgm:cxn modelId="{749ED685-8549-6F4E-9838-76831AF1ECF6}" type="presParOf" srcId="{C3B01ACE-211D-B348-AC3F-4444B3C72689}" destId="{44865C01-0C58-6D48-A754-5F0C789BAFC5}" srcOrd="14" destOrd="0" presId="urn:microsoft.com/office/officeart/2005/8/layout/cycle5"/>
    <dgm:cxn modelId="{93BAB652-FC51-A945-A888-515DD2C995F2}" type="presParOf" srcId="{C3B01ACE-211D-B348-AC3F-4444B3C72689}" destId="{AC4260AC-7BF1-E54C-8725-98C5C3DB487E}" srcOrd="15" destOrd="0" presId="urn:microsoft.com/office/officeart/2005/8/layout/cycle5"/>
    <dgm:cxn modelId="{D371B110-2AF9-1749-ADAA-99B629D9F45D}" type="presParOf" srcId="{C3B01ACE-211D-B348-AC3F-4444B3C72689}" destId="{B371E1FD-0276-5C4F-B4C3-26CA90D8B987}" srcOrd="16" destOrd="0" presId="urn:microsoft.com/office/officeart/2005/8/layout/cycle5"/>
    <dgm:cxn modelId="{B7248ED1-55F3-5E4F-9DE4-A6B29E40E840}" type="presParOf" srcId="{C3B01ACE-211D-B348-AC3F-4444B3C72689}" destId="{05BB08A8-7F3A-3144-845F-8AAEFA0A46AB}" srcOrd="17" destOrd="0" presId="urn:microsoft.com/office/officeart/2005/8/layout/cycle5"/>
    <dgm:cxn modelId="{511E6AAB-B590-ED46-82A1-EA24705996B3}" type="presParOf" srcId="{C3B01ACE-211D-B348-AC3F-4444B3C72689}" destId="{CD2964A6-0B02-424A-A48A-4229307F71A3}" srcOrd="18" destOrd="0" presId="urn:microsoft.com/office/officeart/2005/8/layout/cycle5"/>
    <dgm:cxn modelId="{5A899A11-C773-EC4A-AEB7-05A031617738}" type="presParOf" srcId="{C3B01ACE-211D-B348-AC3F-4444B3C72689}" destId="{3602BCFE-6621-FA4F-9BB3-071271BC2C67}" srcOrd="19" destOrd="0" presId="urn:microsoft.com/office/officeart/2005/8/layout/cycle5"/>
    <dgm:cxn modelId="{605329D6-451A-DD48-92BC-05834F4E825D}" type="presParOf" srcId="{C3B01ACE-211D-B348-AC3F-4444B3C72689}" destId="{15C6F4A2-8FBD-294C-AF26-1F4659091397}" srcOrd="20" destOrd="0" presId="urn:microsoft.com/office/officeart/2005/8/layout/cycle5"/>
  </dgm:cxnLst>
  <dgm:bg>
    <a:solidFill>
      <a:schemeClr val="bg1"/>
    </a:solidFill>
  </dgm:bg>
  <dgm:whole>
    <a:ln>
      <a:solidFill>
        <a:schemeClr val="tx1"/>
      </a:solidFill>
    </a:ln>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41D3A8-A6AA-064C-9EDD-972AF291F4B7}">
      <dsp:nvSpPr>
        <dsp:cNvPr id="0" name=""/>
        <dsp:cNvSpPr/>
      </dsp:nvSpPr>
      <dsp:spPr>
        <a:xfrm>
          <a:off x="5292328" y="2678"/>
          <a:ext cx="1607343" cy="1044773"/>
        </a:xfrm>
        <a:prstGeom prst="roundRect">
          <a:avLst/>
        </a:prstGeom>
        <a:solidFill>
          <a:schemeClr val="bg1"/>
        </a:solidFill>
        <a:ln w="381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GB" sz="1200" kern="1200" dirty="0">
              <a:solidFill>
                <a:schemeClr val="tx1"/>
              </a:solidFill>
            </a:rPr>
            <a:t>Stimulus: A change in environment occurs </a:t>
          </a:r>
        </a:p>
      </dsp:txBody>
      <dsp:txXfrm>
        <a:off x="5343330" y="53680"/>
        <a:ext cx="1505339" cy="942769"/>
      </dsp:txXfrm>
    </dsp:sp>
    <dsp:sp modelId="{D6B9A658-F6CD-514E-A643-60E22220914F}">
      <dsp:nvSpPr>
        <dsp:cNvPr id="0" name=""/>
        <dsp:cNvSpPr/>
      </dsp:nvSpPr>
      <dsp:spPr>
        <a:xfrm>
          <a:off x="3111844" y="525065"/>
          <a:ext cx="5968311" cy="5968311"/>
        </a:xfrm>
        <a:custGeom>
          <a:avLst/>
          <a:gdLst/>
          <a:ahLst/>
          <a:cxnLst/>
          <a:rect l="0" t="0" r="0" b="0"/>
          <a:pathLst>
            <a:path>
              <a:moveTo>
                <a:pt x="3998710" y="177758"/>
              </a:moveTo>
              <a:arcTo wR="2984155" hR="2984155" stAng="17392541" swAng="772848"/>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1A41E46C-9FD1-FA4F-B7C5-6E159F3B9647}">
      <dsp:nvSpPr>
        <dsp:cNvPr id="0" name=""/>
        <dsp:cNvSpPr/>
      </dsp:nvSpPr>
      <dsp:spPr>
        <a:xfrm>
          <a:off x="7625435" y="1126243"/>
          <a:ext cx="1607343" cy="1044773"/>
        </a:xfrm>
        <a:prstGeom prst="roundRect">
          <a:avLst/>
        </a:prstGeom>
        <a:solidFill>
          <a:schemeClr val="bg1"/>
        </a:solidFill>
        <a:ln w="381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GB" sz="1200" kern="1200" dirty="0">
              <a:solidFill>
                <a:schemeClr val="tx1"/>
              </a:solidFill>
            </a:rPr>
            <a:t>Receptor: stimulus is detected by sensory cells </a:t>
          </a:r>
        </a:p>
      </dsp:txBody>
      <dsp:txXfrm>
        <a:off x="7676437" y="1177245"/>
        <a:ext cx="1505339" cy="942769"/>
      </dsp:txXfrm>
    </dsp:sp>
    <dsp:sp modelId="{1128C699-A407-7C44-B675-8D982E8DCDF5}">
      <dsp:nvSpPr>
        <dsp:cNvPr id="0" name=""/>
        <dsp:cNvSpPr/>
      </dsp:nvSpPr>
      <dsp:spPr>
        <a:xfrm>
          <a:off x="3111844" y="525065"/>
          <a:ext cx="5968311" cy="5968311"/>
        </a:xfrm>
        <a:custGeom>
          <a:avLst/>
          <a:gdLst/>
          <a:ahLst/>
          <a:cxnLst/>
          <a:rect l="0" t="0" r="0" b="0"/>
          <a:pathLst>
            <a:path>
              <a:moveTo>
                <a:pt x="5773180" y="1922774"/>
              </a:moveTo>
              <a:arcTo wR="2984155" hR="2984155" stAng="20349921" swAng="1064796"/>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CC01C53E-FF45-194D-B5E2-1BC12A31FF23}">
      <dsp:nvSpPr>
        <dsp:cNvPr id="0" name=""/>
        <dsp:cNvSpPr/>
      </dsp:nvSpPr>
      <dsp:spPr>
        <a:xfrm>
          <a:off x="8201664" y="3650871"/>
          <a:ext cx="1607343" cy="1044773"/>
        </a:xfrm>
        <a:prstGeom prst="roundRect">
          <a:avLst/>
        </a:prstGeom>
        <a:solidFill>
          <a:schemeClr val="bg1"/>
        </a:solidFill>
        <a:ln w="381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GB" sz="1200" kern="1200" dirty="0">
              <a:solidFill>
                <a:schemeClr val="tx1"/>
              </a:solidFill>
            </a:rPr>
            <a:t>Message: sensory cells generate a message in the form of a nerve impulse or hormone</a:t>
          </a:r>
        </a:p>
      </dsp:txBody>
      <dsp:txXfrm>
        <a:off x="8252666" y="3701873"/>
        <a:ext cx="1505339" cy="942769"/>
      </dsp:txXfrm>
    </dsp:sp>
    <dsp:sp modelId="{2D3A4D59-6A1C-694C-9079-3E6F12744273}">
      <dsp:nvSpPr>
        <dsp:cNvPr id="0" name=""/>
        <dsp:cNvSpPr/>
      </dsp:nvSpPr>
      <dsp:spPr>
        <a:xfrm>
          <a:off x="3111844" y="525065"/>
          <a:ext cx="5968311" cy="5968311"/>
        </a:xfrm>
        <a:custGeom>
          <a:avLst/>
          <a:gdLst/>
          <a:ahLst/>
          <a:cxnLst/>
          <a:rect l="0" t="0" r="0" b="0"/>
          <a:pathLst>
            <a:path>
              <a:moveTo>
                <a:pt x="5618543" y="4386006"/>
              </a:moveTo>
              <a:arcTo wR="2984155" hR="2984155" stAng="1681141" swAng="836020"/>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79367AF0-929E-FD4A-841D-6BC6C2F97DF9}">
      <dsp:nvSpPr>
        <dsp:cNvPr id="0" name=""/>
        <dsp:cNvSpPr/>
      </dsp:nvSpPr>
      <dsp:spPr>
        <a:xfrm>
          <a:off x="6587104" y="5675465"/>
          <a:ext cx="1607343" cy="1044773"/>
        </a:xfrm>
        <a:prstGeom prst="roundRect">
          <a:avLst/>
        </a:prstGeom>
        <a:solidFill>
          <a:schemeClr val="bg1"/>
        </a:solidFill>
        <a:ln w="381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GB" sz="1200" kern="1200" dirty="0">
              <a:solidFill>
                <a:schemeClr val="tx1"/>
              </a:solidFill>
            </a:rPr>
            <a:t>Modulator: a new message is sent out by the modulator</a:t>
          </a:r>
        </a:p>
      </dsp:txBody>
      <dsp:txXfrm>
        <a:off x="6638106" y="5726467"/>
        <a:ext cx="1505339" cy="942769"/>
      </dsp:txXfrm>
    </dsp:sp>
    <dsp:sp modelId="{CE1E2EE2-1ED3-3942-8C15-B6EA90226803}">
      <dsp:nvSpPr>
        <dsp:cNvPr id="0" name=""/>
        <dsp:cNvSpPr/>
      </dsp:nvSpPr>
      <dsp:spPr>
        <a:xfrm>
          <a:off x="3111844" y="525065"/>
          <a:ext cx="5968311" cy="5968311"/>
        </a:xfrm>
        <a:custGeom>
          <a:avLst/>
          <a:gdLst/>
          <a:ahLst/>
          <a:cxnLst/>
          <a:rect l="0" t="0" r="0" b="0"/>
          <a:pathLst>
            <a:path>
              <a:moveTo>
                <a:pt x="3280573" y="5953553"/>
              </a:moveTo>
              <a:arcTo wR="2984155" hR="2984155" stAng="5057963" swAng="684074"/>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F8F9EE41-A0C3-E040-B56A-4991913C580F}">
      <dsp:nvSpPr>
        <dsp:cNvPr id="0" name=""/>
        <dsp:cNvSpPr/>
      </dsp:nvSpPr>
      <dsp:spPr>
        <a:xfrm>
          <a:off x="3997551" y="5675465"/>
          <a:ext cx="1607343" cy="1044773"/>
        </a:xfrm>
        <a:prstGeom prst="roundRect">
          <a:avLst/>
        </a:prstGeom>
        <a:solidFill>
          <a:schemeClr val="bg1"/>
        </a:solidFill>
        <a:ln w="381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GB" sz="1200" kern="1200" dirty="0">
              <a:solidFill>
                <a:schemeClr val="tx1"/>
              </a:solidFill>
            </a:rPr>
            <a:t>Effector: muscles or glands receive the message from the modulator </a:t>
          </a:r>
        </a:p>
      </dsp:txBody>
      <dsp:txXfrm>
        <a:off x="4048553" y="5726467"/>
        <a:ext cx="1505339" cy="942769"/>
      </dsp:txXfrm>
    </dsp:sp>
    <dsp:sp modelId="{44865C01-0C58-6D48-A754-5F0C789BAFC5}">
      <dsp:nvSpPr>
        <dsp:cNvPr id="0" name=""/>
        <dsp:cNvSpPr/>
      </dsp:nvSpPr>
      <dsp:spPr>
        <a:xfrm>
          <a:off x="3111844" y="525065"/>
          <a:ext cx="5968311" cy="5968311"/>
        </a:xfrm>
        <a:custGeom>
          <a:avLst/>
          <a:gdLst/>
          <a:ahLst/>
          <a:cxnLst/>
          <a:rect l="0" t="0" r="0" b="0"/>
          <a:pathLst>
            <a:path>
              <a:moveTo>
                <a:pt x="764847" y="4979113"/>
              </a:moveTo>
              <a:arcTo wR="2984155" hR="2984155" stAng="8282840" swAng="836020"/>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AC4260AC-7BF1-E54C-8725-98C5C3DB487E}">
      <dsp:nvSpPr>
        <dsp:cNvPr id="0" name=""/>
        <dsp:cNvSpPr/>
      </dsp:nvSpPr>
      <dsp:spPr>
        <a:xfrm>
          <a:off x="2382991" y="3650871"/>
          <a:ext cx="1607343" cy="1044773"/>
        </a:xfrm>
        <a:prstGeom prst="roundRect">
          <a:avLst/>
        </a:prstGeom>
        <a:solidFill>
          <a:schemeClr val="bg1"/>
        </a:solidFill>
        <a:ln w="381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GB" sz="1200" kern="1200" dirty="0">
              <a:solidFill>
                <a:schemeClr val="tx1"/>
              </a:solidFill>
            </a:rPr>
            <a:t>Response: effector organs bring about an appropriate reaction </a:t>
          </a:r>
        </a:p>
      </dsp:txBody>
      <dsp:txXfrm>
        <a:off x="2433993" y="3701873"/>
        <a:ext cx="1505339" cy="942769"/>
      </dsp:txXfrm>
    </dsp:sp>
    <dsp:sp modelId="{05BB08A8-7F3A-3144-845F-8AAEFA0A46AB}">
      <dsp:nvSpPr>
        <dsp:cNvPr id="0" name=""/>
        <dsp:cNvSpPr/>
      </dsp:nvSpPr>
      <dsp:spPr>
        <a:xfrm>
          <a:off x="3111844" y="525065"/>
          <a:ext cx="5968311" cy="5968311"/>
        </a:xfrm>
        <a:custGeom>
          <a:avLst/>
          <a:gdLst/>
          <a:ahLst/>
          <a:cxnLst/>
          <a:rect l="0" t="0" r="0" b="0"/>
          <a:pathLst>
            <a:path>
              <a:moveTo>
                <a:pt x="4333" y="2823397"/>
              </a:moveTo>
              <a:arcTo wR="2984155" hR="2984155" stAng="10985283" swAng="1064796"/>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CD2964A6-0B02-424A-A48A-4229307F71A3}">
      <dsp:nvSpPr>
        <dsp:cNvPr id="0" name=""/>
        <dsp:cNvSpPr/>
      </dsp:nvSpPr>
      <dsp:spPr>
        <a:xfrm>
          <a:off x="2959221" y="1126243"/>
          <a:ext cx="1607343" cy="1044773"/>
        </a:xfrm>
        <a:prstGeom prst="roundRect">
          <a:avLst/>
        </a:prstGeom>
        <a:solidFill>
          <a:schemeClr val="bg1"/>
        </a:solidFill>
        <a:ln w="381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GB" sz="1200" kern="1200" dirty="0">
              <a:solidFill>
                <a:schemeClr val="tx1"/>
              </a:solidFill>
            </a:rPr>
            <a:t>Feedback: response changes the original stimulus </a:t>
          </a:r>
        </a:p>
      </dsp:txBody>
      <dsp:txXfrm>
        <a:off x="3010223" y="1177245"/>
        <a:ext cx="1505339" cy="942769"/>
      </dsp:txXfrm>
    </dsp:sp>
    <dsp:sp modelId="{15C6F4A2-8FBD-294C-AF26-1F4659091397}">
      <dsp:nvSpPr>
        <dsp:cNvPr id="0" name=""/>
        <dsp:cNvSpPr/>
      </dsp:nvSpPr>
      <dsp:spPr>
        <a:xfrm>
          <a:off x="3111844" y="525065"/>
          <a:ext cx="5968311" cy="5968311"/>
        </a:xfrm>
        <a:custGeom>
          <a:avLst/>
          <a:gdLst/>
          <a:ahLst/>
          <a:cxnLst/>
          <a:rect l="0" t="0" r="0" b="0"/>
          <a:pathLst>
            <a:path>
              <a:moveTo>
                <a:pt x="1369519" y="474547"/>
              </a:moveTo>
              <a:arcTo wR="2984155" hR="2984155" stAng="14234611" swAng="772848"/>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AB4CC3F0-BC96-4CD8-A506-00B6D1C0691C}" type="datetimeFigureOut">
              <a:rPr lang="en-AU" smtClean="0"/>
              <a:t>17/02/2022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E54CB34-3E19-4BA9-88EB-FD70A413EB61}" type="slidenum">
              <a:rPr lang="en-AU" smtClean="0"/>
              <a:t>‹#›</a:t>
            </a:fld>
            <a:endParaRPr lang="en-AU"/>
          </a:p>
        </p:txBody>
      </p:sp>
    </p:spTree>
    <p:extLst>
      <p:ext uri="{BB962C8B-B14F-4D97-AF65-F5344CB8AC3E}">
        <p14:creationId xmlns:p14="http://schemas.microsoft.com/office/powerpoint/2010/main" val="7780146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AB4CC3F0-BC96-4CD8-A506-00B6D1C0691C}" type="datetimeFigureOut">
              <a:rPr lang="en-AU" smtClean="0"/>
              <a:t>17/02/2022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E54CB34-3E19-4BA9-88EB-FD70A413EB61}" type="slidenum">
              <a:rPr lang="en-AU" smtClean="0"/>
              <a:t>‹#›</a:t>
            </a:fld>
            <a:endParaRPr lang="en-AU"/>
          </a:p>
        </p:txBody>
      </p:sp>
    </p:spTree>
    <p:extLst>
      <p:ext uri="{BB962C8B-B14F-4D97-AF65-F5344CB8AC3E}">
        <p14:creationId xmlns:p14="http://schemas.microsoft.com/office/powerpoint/2010/main" val="3330039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B4CC3F0-BC96-4CD8-A506-00B6D1C0691C}" type="datetimeFigureOut">
              <a:rPr lang="en-AU" smtClean="0"/>
              <a:t>17/02/2022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E54CB34-3E19-4BA9-88EB-FD70A413EB61}" type="slidenum">
              <a:rPr lang="en-AU" smtClean="0"/>
              <a:t>‹#›</a:t>
            </a:fld>
            <a:endParaRPr lang="en-AU"/>
          </a:p>
        </p:txBody>
      </p:sp>
    </p:spTree>
    <p:extLst>
      <p:ext uri="{BB962C8B-B14F-4D97-AF65-F5344CB8AC3E}">
        <p14:creationId xmlns:p14="http://schemas.microsoft.com/office/powerpoint/2010/main" val="23856830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AB4CC3F0-BC96-4CD8-A506-00B6D1C0691C}" type="datetimeFigureOut">
              <a:rPr lang="en-AU" smtClean="0"/>
              <a:t>17/02/2022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E54CB34-3E19-4BA9-88EB-FD70A413EB61}" type="slidenum">
              <a:rPr lang="en-AU" smtClean="0"/>
              <a:t>‹#›</a:t>
            </a:fld>
            <a:endParaRPr lang="en-AU"/>
          </a:p>
        </p:txBody>
      </p:sp>
    </p:spTree>
    <p:extLst>
      <p:ext uri="{BB962C8B-B14F-4D97-AF65-F5344CB8AC3E}">
        <p14:creationId xmlns:p14="http://schemas.microsoft.com/office/powerpoint/2010/main" val="26690833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AB4CC3F0-BC96-4CD8-A506-00B6D1C0691C}" type="datetimeFigureOut">
              <a:rPr lang="en-AU" smtClean="0"/>
              <a:t>17/02/2022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CE54CB34-3E19-4BA9-88EB-FD70A413EB61}" type="slidenum">
              <a:rPr lang="en-AU" smtClean="0"/>
              <a:t>‹#›</a:t>
            </a:fld>
            <a:endParaRPr lang="en-AU"/>
          </a:p>
        </p:txBody>
      </p:sp>
    </p:spTree>
    <p:extLst>
      <p:ext uri="{BB962C8B-B14F-4D97-AF65-F5344CB8AC3E}">
        <p14:creationId xmlns:p14="http://schemas.microsoft.com/office/powerpoint/2010/main" val="2475443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AB4CC3F0-BC96-4CD8-A506-00B6D1C0691C}" type="datetimeFigureOut">
              <a:rPr lang="en-AU" smtClean="0"/>
              <a:t>17/02/2022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CE54CB34-3E19-4BA9-88EB-FD70A413EB61}" type="slidenum">
              <a:rPr lang="en-AU" smtClean="0"/>
              <a:t>‹#›</a:t>
            </a:fld>
            <a:endParaRPr lang="en-AU"/>
          </a:p>
        </p:txBody>
      </p:sp>
    </p:spTree>
    <p:extLst>
      <p:ext uri="{BB962C8B-B14F-4D97-AF65-F5344CB8AC3E}">
        <p14:creationId xmlns:p14="http://schemas.microsoft.com/office/powerpoint/2010/main" val="4121665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B4CC3F0-BC96-4CD8-A506-00B6D1C0691C}" type="datetimeFigureOut">
              <a:rPr lang="en-AU" smtClean="0"/>
              <a:t>17/02/2022</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CE54CB34-3E19-4BA9-88EB-FD70A413EB61}" type="slidenum">
              <a:rPr lang="en-AU" smtClean="0"/>
              <a:t>‹#›</a:t>
            </a:fld>
            <a:endParaRPr lang="en-AU"/>
          </a:p>
        </p:txBody>
      </p:sp>
    </p:spTree>
    <p:extLst>
      <p:ext uri="{BB962C8B-B14F-4D97-AF65-F5344CB8AC3E}">
        <p14:creationId xmlns:p14="http://schemas.microsoft.com/office/powerpoint/2010/main" val="3527079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B4CC3F0-BC96-4CD8-A506-00B6D1C0691C}" type="datetimeFigureOut">
              <a:rPr lang="en-AU" smtClean="0"/>
              <a:t>17/02/2022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E54CB34-3E19-4BA9-88EB-FD70A413EB61}" type="slidenum">
              <a:rPr lang="en-AU" smtClean="0"/>
              <a:t>‹#›</a:t>
            </a:fld>
            <a:endParaRPr lang="en-AU"/>
          </a:p>
        </p:txBody>
      </p:sp>
    </p:spTree>
    <p:extLst>
      <p:ext uri="{BB962C8B-B14F-4D97-AF65-F5344CB8AC3E}">
        <p14:creationId xmlns:p14="http://schemas.microsoft.com/office/powerpoint/2010/main" val="28554839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B4CC3F0-BC96-4CD8-A506-00B6D1C0691C}" type="datetimeFigureOut">
              <a:rPr lang="en-AU" smtClean="0"/>
              <a:t>17/02/2022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E54CB34-3E19-4BA9-88EB-FD70A413EB61}" type="slidenum">
              <a:rPr lang="en-AU" smtClean="0"/>
              <a:t>‹#›</a:t>
            </a:fld>
            <a:endParaRPr lang="en-AU"/>
          </a:p>
        </p:txBody>
      </p:sp>
    </p:spTree>
    <p:extLst>
      <p:ext uri="{BB962C8B-B14F-4D97-AF65-F5344CB8AC3E}">
        <p14:creationId xmlns:p14="http://schemas.microsoft.com/office/powerpoint/2010/main" val="3150949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AB4CC3F0-BC96-4CD8-A506-00B6D1C0691C}" type="datetimeFigureOut">
              <a:rPr lang="en-AU" smtClean="0"/>
              <a:t>17/02/2022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E54CB34-3E19-4BA9-88EB-FD70A413EB61}" type="slidenum">
              <a:rPr lang="en-AU" smtClean="0"/>
              <a:t>‹#›</a:t>
            </a:fld>
            <a:endParaRPr lang="en-AU"/>
          </a:p>
        </p:txBody>
      </p:sp>
    </p:spTree>
    <p:extLst>
      <p:ext uri="{BB962C8B-B14F-4D97-AF65-F5344CB8AC3E}">
        <p14:creationId xmlns:p14="http://schemas.microsoft.com/office/powerpoint/2010/main" val="22739200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AB4CC3F0-BC96-4CD8-A506-00B6D1C0691C}" type="datetimeFigureOut">
              <a:rPr lang="en-AU" smtClean="0"/>
              <a:t>17/02/2022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E54CB34-3E19-4BA9-88EB-FD70A413EB61}" type="slidenum">
              <a:rPr lang="en-AU" smtClean="0"/>
              <a:t>‹#›</a:t>
            </a:fld>
            <a:endParaRPr lang="en-AU"/>
          </a:p>
        </p:txBody>
      </p:sp>
    </p:spTree>
    <p:extLst>
      <p:ext uri="{BB962C8B-B14F-4D97-AF65-F5344CB8AC3E}">
        <p14:creationId xmlns:p14="http://schemas.microsoft.com/office/powerpoint/2010/main" val="30578580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4CC3F0-BC96-4CD8-A506-00B6D1C0691C}" type="datetimeFigureOut">
              <a:rPr lang="en-AU" smtClean="0"/>
              <a:t>17/02/2022</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54CB34-3E19-4BA9-88EB-FD70A413EB61}" type="slidenum">
              <a:rPr lang="en-AU" smtClean="0"/>
              <a:t>‹#›</a:t>
            </a:fld>
            <a:endParaRPr lang="en-AU"/>
          </a:p>
        </p:txBody>
      </p:sp>
    </p:spTree>
    <p:extLst>
      <p:ext uri="{BB962C8B-B14F-4D97-AF65-F5344CB8AC3E}">
        <p14:creationId xmlns:p14="http://schemas.microsoft.com/office/powerpoint/2010/main" val="40818150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3840" y="0"/>
            <a:ext cx="9144000" cy="2387600"/>
          </a:xfrm>
        </p:spPr>
        <p:txBody>
          <a:bodyPr>
            <a:noAutofit/>
          </a:bodyPr>
          <a:lstStyle/>
          <a:p>
            <a:r>
              <a:rPr lang="en-AU" sz="11500" b="1" dirty="0">
                <a:effectLst>
                  <a:outerShdw blurRad="38100" dist="38100" dir="2700000" algn="tl">
                    <a:srgbClr val="000000">
                      <a:alpha val="43137"/>
                    </a:srgbClr>
                  </a:outerShdw>
                </a:effectLst>
                <a:latin typeface="Freestyle Script" panose="030804020302050B0404" pitchFamily="66" charset="0"/>
              </a:rPr>
              <a:t>The Nervous System </a:t>
            </a:r>
          </a:p>
        </p:txBody>
      </p:sp>
      <p:pic>
        <p:nvPicPr>
          <p:cNvPr id="1026" name="Picture 2" descr="Chapter 15 Overview: SP16C16 HIT2423NA30 Pathophysiology I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04115" y="2450199"/>
            <a:ext cx="6384110" cy="4338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02981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effectLst>
                  <a:outerShdw blurRad="38100" dist="38100" dir="2700000" algn="tl">
                    <a:srgbClr val="000000">
                      <a:alpha val="43137"/>
                    </a:srgbClr>
                  </a:outerShdw>
                </a:effectLst>
              </a:rPr>
              <a:t>Homeostasis </a:t>
            </a:r>
          </a:p>
        </p:txBody>
      </p:sp>
      <p:sp>
        <p:nvSpPr>
          <p:cNvPr id="3" name="Content Placeholder 2"/>
          <p:cNvSpPr>
            <a:spLocks noGrp="1"/>
          </p:cNvSpPr>
          <p:nvPr>
            <p:ph idx="1"/>
          </p:nvPr>
        </p:nvSpPr>
        <p:spPr/>
        <p:txBody>
          <a:bodyPr>
            <a:normAutofit/>
          </a:bodyPr>
          <a:lstStyle/>
          <a:p>
            <a:r>
              <a:rPr lang="en-AU" sz="3200" b="1" u="sng" dirty="0"/>
              <a:t>Homeostasis is the maintenance of a constant internal environment. </a:t>
            </a:r>
          </a:p>
          <a:p>
            <a:pPr marL="0" indent="0">
              <a:buNone/>
            </a:pPr>
            <a:endParaRPr lang="en-AU" sz="3200" b="1" dirty="0"/>
          </a:p>
          <a:p>
            <a:r>
              <a:rPr lang="en-AU" sz="3200" b="1" dirty="0"/>
              <a:t>We require such an environment inside our bodies to enable </a:t>
            </a:r>
            <a:r>
              <a:rPr lang="en-AU" sz="3200" b="1" u="sng" dirty="0"/>
              <a:t>cells to function at an optimum level</a:t>
            </a:r>
            <a:r>
              <a:rPr lang="en-AU" sz="3200" b="1" dirty="0"/>
              <a:t>. </a:t>
            </a:r>
          </a:p>
          <a:p>
            <a:endParaRPr lang="en-AU" sz="3200" b="1" dirty="0"/>
          </a:p>
        </p:txBody>
      </p:sp>
    </p:spTree>
    <p:extLst>
      <p:ext uri="{BB962C8B-B14F-4D97-AF65-F5344CB8AC3E}">
        <p14:creationId xmlns:p14="http://schemas.microsoft.com/office/powerpoint/2010/main" val="34269157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a:bodyPr>
          <a:lstStyle/>
          <a:p>
            <a:r>
              <a:rPr lang="en-AU" sz="6000" b="1" dirty="0">
                <a:effectLst>
                  <a:outerShdw blurRad="38100" dist="38100" dir="2700000" algn="tl">
                    <a:srgbClr val="000000">
                      <a:alpha val="43137"/>
                    </a:srgbClr>
                  </a:outerShdw>
                </a:effectLst>
              </a:rPr>
              <a:t>Continued. </a:t>
            </a:r>
          </a:p>
        </p:txBody>
      </p:sp>
      <p:sp>
        <p:nvSpPr>
          <p:cNvPr id="3" name="Content Placeholder 2"/>
          <p:cNvSpPr>
            <a:spLocks noGrp="1"/>
          </p:cNvSpPr>
          <p:nvPr>
            <p:ph idx="1"/>
          </p:nvPr>
        </p:nvSpPr>
        <p:spPr>
          <a:xfrm>
            <a:off x="646611" y="1076688"/>
            <a:ext cx="10515600" cy="5533118"/>
          </a:xfrm>
        </p:spPr>
        <p:txBody>
          <a:bodyPr>
            <a:normAutofit/>
          </a:bodyPr>
          <a:lstStyle/>
          <a:p>
            <a:r>
              <a:rPr lang="en-AU" sz="3200" b="1" dirty="0"/>
              <a:t>Cells are surrounded by fluid, and it is the composition and temperature of this fluid that must be maintained within very fine limits. </a:t>
            </a:r>
          </a:p>
          <a:p>
            <a:endParaRPr lang="en-AU" sz="3200" b="1" dirty="0"/>
          </a:p>
          <a:p>
            <a:r>
              <a:rPr lang="en-AU" sz="3200" b="1" u="sng" dirty="0"/>
              <a:t>Homeostasis ensures that the fluid environment of the cells: </a:t>
            </a:r>
          </a:p>
          <a:p>
            <a:pPr lvl="1"/>
            <a:r>
              <a:rPr lang="en-AU" sz="2800" b="1" u="sng" dirty="0"/>
              <a:t>Contains the optimum concentration of nutrients, ions, gases and water </a:t>
            </a:r>
          </a:p>
          <a:p>
            <a:pPr lvl="1"/>
            <a:r>
              <a:rPr lang="en-AU" sz="2800" b="1" u="sng" dirty="0"/>
              <a:t>Stays at a constant temperature- the optimum temperature for normal cell functioning </a:t>
            </a:r>
          </a:p>
          <a:p>
            <a:pPr lvl="1"/>
            <a:r>
              <a:rPr lang="en-AU" sz="2800" b="1" u="sng" dirty="0"/>
              <a:t>Is maintained at the optimum pressure</a:t>
            </a:r>
          </a:p>
        </p:txBody>
      </p:sp>
    </p:spTree>
    <p:extLst>
      <p:ext uri="{BB962C8B-B14F-4D97-AF65-F5344CB8AC3E}">
        <p14:creationId xmlns:p14="http://schemas.microsoft.com/office/powerpoint/2010/main" val="27848936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effectLst>
                  <a:outerShdw blurRad="38100" dist="38100" dir="2700000" algn="tl">
                    <a:srgbClr val="000000">
                      <a:alpha val="43137"/>
                    </a:srgbClr>
                  </a:outerShdw>
                </a:effectLst>
              </a:rPr>
              <a:t>Continued. </a:t>
            </a:r>
          </a:p>
        </p:txBody>
      </p:sp>
      <p:sp>
        <p:nvSpPr>
          <p:cNvPr id="3" name="Content Placeholder 2"/>
          <p:cNvSpPr>
            <a:spLocks noGrp="1"/>
          </p:cNvSpPr>
          <p:nvPr>
            <p:ph idx="1"/>
          </p:nvPr>
        </p:nvSpPr>
        <p:spPr/>
        <p:txBody>
          <a:bodyPr>
            <a:normAutofit/>
          </a:bodyPr>
          <a:lstStyle/>
          <a:p>
            <a:r>
              <a:rPr lang="en-AU" sz="3200" b="1" dirty="0"/>
              <a:t>The maintenance of this balance doesn’t mean nothing changes </a:t>
            </a:r>
          </a:p>
          <a:p>
            <a:pPr marL="0" indent="0">
              <a:buNone/>
            </a:pPr>
            <a:endParaRPr lang="en-AU" sz="3200" b="1" dirty="0"/>
          </a:p>
          <a:p>
            <a:r>
              <a:rPr lang="en-AU" sz="3200" b="1" u="sng" dirty="0"/>
              <a:t>To maintain homeostasis the body must be able to sense changes in the internal and external environment and must be able to compensate for those changes. </a:t>
            </a:r>
          </a:p>
          <a:p>
            <a:endParaRPr lang="en-AU" sz="3200" b="1" dirty="0"/>
          </a:p>
        </p:txBody>
      </p:sp>
    </p:spTree>
    <p:extLst>
      <p:ext uri="{BB962C8B-B14F-4D97-AF65-F5344CB8AC3E}">
        <p14:creationId xmlns:p14="http://schemas.microsoft.com/office/powerpoint/2010/main" val="23738078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effectLst>
                  <a:outerShdw blurRad="38100" dist="38100" dir="2700000" algn="tl">
                    <a:srgbClr val="000000">
                      <a:alpha val="43137"/>
                    </a:srgbClr>
                  </a:outerShdw>
                </a:effectLst>
              </a:rPr>
              <a:t>Continued. </a:t>
            </a:r>
          </a:p>
        </p:txBody>
      </p:sp>
      <p:sp>
        <p:nvSpPr>
          <p:cNvPr id="3" name="Content Placeholder 2"/>
          <p:cNvSpPr>
            <a:spLocks noGrp="1"/>
          </p:cNvSpPr>
          <p:nvPr>
            <p:ph idx="1"/>
          </p:nvPr>
        </p:nvSpPr>
        <p:spPr/>
        <p:txBody>
          <a:bodyPr>
            <a:normAutofit/>
          </a:bodyPr>
          <a:lstStyle/>
          <a:p>
            <a:r>
              <a:rPr lang="en-AU" sz="3200" b="1" u="sng" dirty="0"/>
              <a:t>The nervous and endocrine systems are the main sensory and controlling body systems and, in the case of homeostasis, they operate through feedback systems, many of which involve negative feedback. </a:t>
            </a:r>
          </a:p>
        </p:txBody>
      </p:sp>
    </p:spTree>
    <p:extLst>
      <p:ext uri="{BB962C8B-B14F-4D97-AF65-F5344CB8AC3E}">
        <p14:creationId xmlns:p14="http://schemas.microsoft.com/office/powerpoint/2010/main" val="2558215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effectLst>
                  <a:outerShdw blurRad="38100" dist="38100" dir="2700000" algn="tl">
                    <a:srgbClr val="000000">
                      <a:alpha val="43137"/>
                    </a:srgbClr>
                  </a:outerShdw>
                </a:effectLst>
              </a:rPr>
              <a:t>Nervous Systems</a:t>
            </a:r>
          </a:p>
        </p:txBody>
      </p:sp>
      <p:sp>
        <p:nvSpPr>
          <p:cNvPr id="3" name="Content Placeholder 2"/>
          <p:cNvSpPr>
            <a:spLocks noGrp="1"/>
          </p:cNvSpPr>
          <p:nvPr>
            <p:ph idx="1"/>
          </p:nvPr>
        </p:nvSpPr>
        <p:spPr/>
        <p:txBody>
          <a:bodyPr>
            <a:normAutofit/>
          </a:bodyPr>
          <a:lstStyle/>
          <a:p>
            <a:r>
              <a:rPr lang="en-AU" sz="3200" b="1" dirty="0"/>
              <a:t>One of the body’s two communication systems </a:t>
            </a:r>
          </a:p>
          <a:p>
            <a:endParaRPr lang="en-AU" sz="3200" b="1" dirty="0"/>
          </a:p>
          <a:p>
            <a:r>
              <a:rPr lang="en-AU" sz="3200" b="1" u="sng" dirty="0"/>
              <a:t>Coordinates all our voluntary and involuntary actions with the endocrine system </a:t>
            </a:r>
          </a:p>
          <a:p>
            <a:endParaRPr lang="en-AU" sz="3200" b="1" dirty="0"/>
          </a:p>
          <a:p>
            <a:r>
              <a:rPr lang="en-AU" sz="3200" b="1" u="sng" dirty="0"/>
              <a:t>The essential purpose of the nervous system is to receive and process information from sense organs </a:t>
            </a:r>
          </a:p>
        </p:txBody>
      </p:sp>
    </p:spTree>
    <p:extLst>
      <p:ext uri="{BB962C8B-B14F-4D97-AF65-F5344CB8AC3E}">
        <p14:creationId xmlns:p14="http://schemas.microsoft.com/office/powerpoint/2010/main" val="981316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effectLst>
                  <a:outerShdw blurRad="38100" dist="38100" dir="2700000" algn="tl">
                    <a:srgbClr val="000000">
                      <a:alpha val="43137"/>
                    </a:srgbClr>
                  </a:outerShdw>
                </a:effectLst>
              </a:rPr>
              <a:t>Continued. </a:t>
            </a:r>
          </a:p>
        </p:txBody>
      </p:sp>
      <p:sp>
        <p:nvSpPr>
          <p:cNvPr id="3" name="Content Placeholder 2"/>
          <p:cNvSpPr>
            <a:spLocks noGrp="1"/>
          </p:cNvSpPr>
          <p:nvPr>
            <p:ph idx="1"/>
          </p:nvPr>
        </p:nvSpPr>
        <p:spPr/>
        <p:txBody>
          <a:bodyPr>
            <a:normAutofit/>
          </a:bodyPr>
          <a:lstStyle/>
          <a:p>
            <a:r>
              <a:rPr lang="en-AU" sz="3200" b="1" u="sng" dirty="0"/>
              <a:t>The nervous system consists of the brain, spinal cord and all the nerves. </a:t>
            </a:r>
          </a:p>
          <a:p>
            <a:endParaRPr lang="en-AU" sz="3200" b="1" u="sng" dirty="0"/>
          </a:p>
          <a:p>
            <a:r>
              <a:rPr lang="en-AU" sz="3200" b="1" u="sng" dirty="0"/>
              <a:t>The two main parts of the nervous system are called the Central Nervous System (CNS) and the Peripheral Nervous System (PNS).  </a:t>
            </a:r>
          </a:p>
        </p:txBody>
      </p:sp>
    </p:spTree>
    <p:extLst>
      <p:ext uri="{BB962C8B-B14F-4D97-AF65-F5344CB8AC3E}">
        <p14:creationId xmlns:p14="http://schemas.microsoft.com/office/powerpoint/2010/main" val="3760313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effectLst>
                  <a:outerShdw blurRad="38100" dist="38100" dir="2700000" algn="tl">
                    <a:srgbClr val="000000">
                      <a:alpha val="43137"/>
                    </a:srgbClr>
                  </a:outerShdw>
                </a:effectLst>
              </a:rPr>
              <a:t>Continued. </a:t>
            </a:r>
            <a:endParaRPr lang="en-AU" sz="6000" dirty="0"/>
          </a:p>
        </p:txBody>
      </p:sp>
      <p:sp>
        <p:nvSpPr>
          <p:cNvPr id="3" name="Content Placeholder 2"/>
          <p:cNvSpPr>
            <a:spLocks noGrp="1"/>
          </p:cNvSpPr>
          <p:nvPr>
            <p:ph idx="1"/>
          </p:nvPr>
        </p:nvSpPr>
        <p:spPr/>
        <p:txBody>
          <a:bodyPr>
            <a:normAutofit/>
          </a:bodyPr>
          <a:lstStyle/>
          <a:p>
            <a:r>
              <a:rPr lang="en-AU" sz="3200" b="1" u="sng" dirty="0"/>
              <a:t>The CNS (aka Control Centre) consists of the brain and spinal cord, while the nerves that connects the CNS with the receptors, muscles and glands make up the PNS. </a:t>
            </a:r>
          </a:p>
          <a:p>
            <a:endParaRPr lang="en-AU" sz="3200" b="1" u="sng" dirty="0"/>
          </a:p>
          <a:p>
            <a:r>
              <a:rPr lang="en-AU" sz="3200" b="1" u="sng" dirty="0"/>
              <a:t>The PNS consists of nerve fibres, which carry information to and from the CNS, and groups of nerve cell bodies, called GANGLIA, which lie outside the brain and spinal cord. </a:t>
            </a:r>
          </a:p>
        </p:txBody>
      </p:sp>
    </p:spTree>
    <p:extLst>
      <p:ext uri="{BB962C8B-B14F-4D97-AF65-F5344CB8AC3E}">
        <p14:creationId xmlns:p14="http://schemas.microsoft.com/office/powerpoint/2010/main" val="28303297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effectLst>
                  <a:outerShdw blurRad="38100" dist="38100" dir="2700000" algn="tl">
                    <a:srgbClr val="000000">
                      <a:alpha val="43137"/>
                    </a:srgbClr>
                  </a:outerShdw>
                </a:effectLst>
              </a:rPr>
              <a:t>Continued. </a:t>
            </a:r>
            <a:endParaRPr lang="en-AU" sz="6000" dirty="0"/>
          </a:p>
        </p:txBody>
      </p:sp>
      <p:sp>
        <p:nvSpPr>
          <p:cNvPr id="3" name="Content Placeholder 2"/>
          <p:cNvSpPr>
            <a:spLocks noGrp="1"/>
          </p:cNvSpPr>
          <p:nvPr>
            <p:ph idx="1"/>
          </p:nvPr>
        </p:nvSpPr>
        <p:spPr/>
        <p:txBody>
          <a:bodyPr>
            <a:normAutofit/>
          </a:bodyPr>
          <a:lstStyle/>
          <a:p>
            <a:r>
              <a:rPr lang="en-AU" sz="3200" b="1" u="sng" dirty="0"/>
              <a:t>The nerve fibres </a:t>
            </a:r>
            <a:r>
              <a:rPr lang="en-AU" sz="3200" b="1" dirty="0"/>
              <a:t>are arranged into nerves, which </a:t>
            </a:r>
            <a:r>
              <a:rPr lang="en-AU" sz="3200" b="1" u="sng" dirty="0"/>
              <a:t>arise from the brain and the spinal cord</a:t>
            </a:r>
            <a:r>
              <a:rPr lang="en-AU" sz="3200" b="1" dirty="0"/>
              <a:t>. </a:t>
            </a:r>
          </a:p>
          <a:p>
            <a:r>
              <a:rPr lang="en-AU" sz="3200" b="1" u="sng" dirty="0"/>
              <a:t>Most cranial nerves are mixed nerves, that is, they contain fibres that carry impulses into the brain as well as fibres that carry impulses away from the brain</a:t>
            </a:r>
            <a:r>
              <a:rPr lang="en-AU" sz="3200" b="1" dirty="0"/>
              <a:t>. </a:t>
            </a:r>
          </a:p>
          <a:p>
            <a:r>
              <a:rPr lang="en-AU" sz="3200" b="1" u="sng" dirty="0"/>
              <a:t>Fibres that carry impulses into the CNS are called sensory fibres</a:t>
            </a:r>
            <a:r>
              <a:rPr lang="en-AU" sz="3200" b="1" dirty="0"/>
              <a:t>; those that </a:t>
            </a:r>
            <a:r>
              <a:rPr lang="en-AU" sz="3200" b="1" u="sng" dirty="0"/>
              <a:t>carry impulses away from the CNS are motor fibres</a:t>
            </a:r>
            <a:r>
              <a:rPr lang="en-AU" sz="3200" b="1" dirty="0"/>
              <a:t>. </a:t>
            </a:r>
          </a:p>
        </p:txBody>
      </p:sp>
    </p:spTree>
    <p:extLst>
      <p:ext uri="{BB962C8B-B14F-4D97-AF65-F5344CB8AC3E}">
        <p14:creationId xmlns:p14="http://schemas.microsoft.com/office/powerpoint/2010/main" val="37626420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a:bodyPr>
          <a:lstStyle/>
          <a:p>
            <a:r>
              <a:rPr lang="en-AU" sz="6000" b="1" dirty="0">
                <a:effectLst>
                  <a:outerShdw blurRad="38100" dist="38100" dir="2700000" algn="tl">
                    <a:srgbClr val="000000">
                      <a:alpha val="43137"/>
                    </a:srgbClr>
                  </a:outerShdw>
                </a:effectLst>
              </a:rPr>
              <a:t>Continued. </a:t>
            </a:r>
            <a:endParaRPr lang="en-AU" sz="6000" dirty="0"/>
          </a:p>
        </p:txBody>
      </p:sp>
      <p:sp>
        <p:nvSpPr>
          <p:cNvPr id="3" name="Content Placeholder 2"/>
          <p:cNvSpPr>
            <a:spLocks noGrp="1"/>
          </p:cNvSpPr>
          <p:nvPr>
            <p:ph idx="1"/>
          </p:nvPr>
        </p:nvSpPr>
        <p:spPr>
          <a:xfrm>
            <a:off x="838200" y="1111521"/>
            <a:ext cx="10515600" cy="5611495"/>
          </a:xfrm>
        </p:spPr>
        <p:txBody>
          <a:bodyPr>
            <a:normAutofit/>
          </a:bodyPr>
          <a:lstStyle/>
          <a:p>
            <a:r>
              <a:rPr lang="en-AU" sz="3200" b="1" u="sng" dirty="0"/>
              <a:t>Spinal nerves arise from the spinal cord </a:t>
            </a:r>
          </a:p>
          <a:p>
            <a:endParaRPr lang="en-AU" sz="3200" b="1" dirty="0"/>
          </a:p>
          <a:p>
            <a:r>
              <a:rPr lang="en-AU" sz="3200" b="1" dirty="0"/>
              <a:t>They are joined to the spinal cord by two roots </a:t>
            </a:r>
          </a:p>
          <a:p>
            <a:endParaRPr lang="en-AU" sz="3200" b="1" dirty="0"/>
          </a:p>
          <a:p>
            <a:r>
              <a:rPr lang="en-AU" sz="3200" b="1" u="sng" dirty="0"/>
              <a:t>The ventral root contains the axons of motor neurons that have their cell bodies in the grey matter of the spinal cord.</a:t>
            </a:r>
          </a:p>
          <a:p>
            <a:endParaRPr lang="en-AU" sz="3200" b="1" u="sng" dirty="0"/>
          </a:p>
          <a:p>
            <a:r>
              <a:rPr lang="en-AU" sz="3200" b="1" u="sng" dirty="0"/>
              <a:t>The dorsal root contains the axons of sensory neurons that have their cells bodies in the dorsal root ganglion.  </a:t>
            </a:r>
          </a:p>
          <a:p>
            <a:endParaRPr lang="en-AU" sz="3200" b="1" dirty="0"/>
          </a:p>
        </p:txBody>
      </p:sp>
    </p:spTree>
    <p:extLst>
      <p:ext uri="{BB962C8B-B14F-4D97-AF65-F5344CB8AC3E}">
        <p14:creationId xmlns:p14="http://schemas.microsoft.com/office/powerpoint/2010/main" val="4042914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27069" y="0"/>
            <a:ext cx="10515600" cy="854075"/>
          </a:xfrm>
        </p:spPr>
        <p:txBody>
          <a:bodyPr>
            <a:normAutofit fontScale="90000"/>
          </a:bodyPr>
          <a:lstStyle/>
          <a:p>
            <a:r>
              <a:rPr lang="en-AU" sz="6000" b="1" dirty="0">
                <a:effectLst>
                  <a:outerShdw blurRad="38100" dist="38100" dir="2700000" algn="tl">
                    <a:srgbClr val="000000">
                      <a:alpha val="43137"/>
                    </a:srgbClr>
                  </a:outerShdw>
                </a:effectLst>
              </a:rPr>
              <a:t>Part of the Spinal Cord </a:t>
            </a:r>
          </a:p>
        </p:txBody>
      </p:sp>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923107" y="729506"/>
            <a:ext cx="9319623" cy="6010927"/>
          </a:xfrm>
          <a:prstGeom prst="rect">
            <a:avLst/>
          </a:prstGeom>
        </p:spPr>
      </p:pic>
    </p:spTree>
    <p:extLst>
      <p:ext uri="{BB962C8B-B14F-4D97-AF65-F5344CB8AC3E}">
        <p14:creationId xmlns:p14="http://schemas.microsoft.com/office/powerpoint/2010/main" val="18712073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9E529-B4E4-7A43-A770-B914CD24A495}"/>
              </a:ext>
            </a:extLst>
          </p:cNvPr>
          <p:cNvSpPr>
            <a:spLocks noGrp="1"/>
          </p:cNvSpPr>
          <p:nvPr>
            <p:ph type="title"/>
          </p:nvPr>
        </p:nvSpPr>
        <p:spPr/>
        <p:txBody>
          <a:bodyPr>
            <a:normAutofit/>
          </a:bodyPr>
          <a:lstStyle/>
          <a:p>
            <a:r>
              <a:rPr lang="en-US" sz="6000" b="1" dirty="0"/>
              <a:t>Protection of the CNS</a:t>
            </a:r>
          </a:p>
        </p:txBody>
      </p:sp>
      <p:sp>
        <p:nvSpPr>
          <p:cNvPr id="3" name="Content Placeholder 2">
            <a:extLst>
              <a:ext uri="{FF2B5EF4-FFF2-40B4-BE49-F238E27FC236}">
                <a16:creationId xmlns:a16="http://schemas.microsoft.com/office/drawing/2014/main" id="{3FE67921-A840-0946-A646-4ADC4F49C848}"/>
              </a:ext>
            </a:extLst>
          </p:cNvPr>
          <p:cNvSpPr>
            <a:spLocks noGrp="1"/>
          </p:cNvSpPr>
          <p:nvPr>
            <p:ph idx="1"/>
          </p:nvPr>
        </p:nvSpPr>
        <p:spPr/>
        <p:txBody>
          <a:bodyPr>
            <a:normAutofit/>
          </a:bodyPr>
          <a:lstStyle/>
          <a:p>
            <a:r>
              <a:rPr lang="en-US" sz="3200" b="1" dirty="0"/>
              <a:t>The brain and spinal cord are very delicate and vital parts of the body and are heavily protected. </a:t>
            </a:r>
          </a:p>
          <a:p>
            <a:r>
              <a:rPr lang="en-US" sz="3200" b="1" dirty="0"/>
              <a:t>The CNS is protected by </a:t>
            </a:r>
          </a:p>
          <a:p>
            <a:pPr lvl="1"/>
            <a:r>
              <a:rPr lang="en-US" sz="2800" b="1" dirty="0"/>
              <a:t>Bone </a:t>
            </a:r>
          </a:p>
          <a:p>
            <a:pPr lvl="1"/>
            <a:r>
              <a:rPr lang="en-US" sz="2800" b="1" dirty="0"/>
              <a:t>Membranes called meninges </a:t>
            </a:r>
          </a:p>
          <a:p>
            <a:pPr lvl="1"/>
            <a:r>
              <a:rPr lang="en-US" sz="2800" b="1" dirty="0"/>
              <a:t>Cerebrospinal fluid (CSF) </a:t>
            </a:r>
          </a:p>
        </p:txBody>
      </p:sp>
    </p:spTree>
    <p:extLst>
      <p:ext uri="{BB962C8B-B14F-4D97-AF65-F5344CB8AC3E}">
        <p14:creationId xmlns:p14="http://schemas.microsoft.com/office/powerpoint/2010/main" val="6524042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97DFE-DD88-2947-AAC1-844AD9CBCD98}"/>
              </a:ext>
            </a:extLst>
          </p:cNvPr>
          <p:cNvSpPr>
            <a:spLocks noGrp="1"/>
          </p:cNvSpPr>
          <p:nvPr>
            <p:ph type="title"/>
          </p:nvPr>
        </p:nvSpPr>
        <p:spPr/>
        <p:txBody>
          <a:bodyPr>
            <a:normAutofit/>
          </a:bodyPr>
          <a:lstStyle/>
          <a:p>
            <a:r>
              <a:rPr lang="en-US" sz="6000" b="1" dirty="0"/>
              <a:t>Structures that protect the brain </a:t>
            </a:r>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395971" y="1336962"/>
            <a:ext cx="6323156" cy="5412413"/>
          </a:xfrm>
          <a:prstGeom prst="rect">
            <a:avLst/>
          </a:prstGeom>
        </p:spPr>
      </p:pic>
    </p:spTree>
    <p:extLst>
      <p:ext uri="{BB962C8B-B14F-4D97-AF65-F5344CB8AC3E}">
        <p14:creationId xmlns:p14="http://schemas.microsoft.com/office/powerpoint/2010/main" val="13186321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F58EE-BEBF-4B43-AE48-DA69569D0CF7}"/>
              </a:ext>
            </a:extLst>
          </p:cNvPr>
          <p:cNvSpPr>
            <a:spLocks noGrp="1"/>
          </p:cNvSpPr>
          <p:nvPr>
            <p:ph type="title"/>
          </p:nvPr>
        </p:nvSpPr>
        <p:spPr>
          <a:xfrm>
            <a:off x="838200" y="614507"/>
            <a:ext cx="10515600" cy="1038802"/>
          </a:xfrm>
        </p:spPr>
        <p:txBody>
          <a:bodyPr>
            <a:normAutofit fontScale="90000"/>
          </a:bodyPr>
          <a:lstStyle/>
          <a:p>
            <a:r>
              <a:rPr lang="en-US" sz="4800" b="1" dirty="0"/>
              <a:t>Complete the following table </a:t>
            </a:r>
            <a:br>
              <a:rPr lang="en-US" sz="4800" b="1" dirty="0"/>
            </a:br>
            <a:endParaRPr lang="en-US" sz="4800" b="1" dirty="0"/>
          </a:p>
        </p:txBody>
      </p:sp>
      <p:graphicFrame>
        <p:nvGraphicFramePr>
          <p:cNvPr id="4" name="Table 4">
            <a:extLst>
              <a:ext uri="{FF2B5EF4-FFF2-40B4-BE49-F238E27FC236}">
                <a16:creationId xmlns:a16="http://schemas.microsoft.com/office/drawing/2014/main" id="{2D962055-9452-E546-9AA8-F75F72330059}"/>
              </a:ext>
            </a:extLst>
          </p:cNvPr>
          <p:cNvGraphicFramePr>
            <a:graphicFrameLocks noGrp="1"/>
          </p:cNvGraphicFramePr>
          <p:nvPr>
            <p:ph idx="1"/>
            <p:extLst>
              <p:ext uri="{D42A27DB-BD31-4B8C-83A1-F6EECF244321}">
                <p14:modId xmlns:p14="http://schemas.microsoft.com/office/powerpoint/2010/main" val="2577877793"/>
              </p:ext>
            </p:extLst>
          </p:nvPr>
        </p:nvGraphicFramePr>
        <p:xfrm>
          <a:off x="838200" y="1825625"/>
          <a:ext cx="10515600" cy="4486656"/>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824303964"/>
                    </a:ext>
                  </a:extLst>
                </a:gridCol>
                <a:gridCol w="5257800">
                  <a:extLst>
                    <a:ext uri="{9D8B030D-6E8A-4147-A177-3AD203B41FA5}">
                      <a16:colId xmlns:a16="http://schemas.microsoft.com/office/drawing/2014/main" val="3789291720"/>
                    </a:ext>
                  </a:extLst>
                </a:gridCol>
              </a:tblGrid>
              <a:tr h="370840">
                <a:tc>
                  <a:txBody>
                    <a:bodyPr/>
                    <a:lstStyle/>
                    <a:p>
                      <a:r>
                        <a:rPr lang="en-US" sz="2800" b="1" dirty="0">
                          <a:solidFill>
                            <a:schemeClr val="tx1"/>
                          </a:solidFill>
                        </a:rPr>
                        <a:t>Structure </a:t>
                      </a:r>
                    </a:p>
                  </a:txBody>
                  <a:tcPr/>
                </a:tc>
                <a:tc>
                  <a:txBody>
                    <a:bodyPr/>
                    <a:lstStyle/>
                    <a:p>
                      <a:r>
                        <a:rPr lang="en-US" sz="2800" b="1" dirty="0">
                          <a:solidFill>
                            <a:schemeClr val="tx1"/>
                          </a:solidFill>
                        </a:rPr>
                        <a:t>How does it protect the brain?</a:t>
                      </a:r>
                    </a:p>
                  </a:txBody>
                  <a:tcPr/>
                </a:tc>
                <a:extLst>
                  <a:ext uri="{0D108BD9-81ED-4DB2-BD59-A6C34878D82A}">
                    <a16:rowId xmlns:a16="http://schemas.microsoft.com/office/drawing/2014/main" val="3892273765"/>
                  </a:ext>
                </a:extLst>
              </a:tr>
              <a:tr h="370840">
                <a:tc>
                  <a:txBody>
                    <a:bodyPr/>
                    <a:lstStyle/>
                    <a:p>
                      <a:r>
                        <a:rPr lang="en-US" sz="2800" b="1" dirty="0">
                          <a:solidFill>
                            <a:schemeClr val="tx1"/>
                          </a:solidFill>
                        </a:rPr>
                        <a:t>Bone</a:t>
                      </a:r>
                    </a:p>
                    <a:p>
                      <a:endParaRPr lang="en-US" sz="2800" b="1" dirty="0">
                        <a:solidFill>
                          <a:schemeClr val="tx1"/>
                        </a:solidFill>
                      </a:endParaRPr>
                    </a:p>
                    <a:p>
                      <a:endParaRPr lang="en-US" sz="2800" b="1" dirty="0">
                        <a:solidFill>
                          <a:schemeClr val="tx1"/>
                        </a:solidFill>
                      </a:endParaRPr>
                    </a:p>
                  </a:txBody>
                  <a:tcPr/>
                </a:tc>
                <a:tc>
                  <a:txBody>
                    <a:bodyPr/>
                    <a:lstStyle/>
                    <a:p>
                      <a:endParaRPr lang="en-US" b="1" dirty="0">
                        <a:solidFill>
                          <a:schemeClr val="tx1"/>
                        </a:solidFill>
                      </a:endParaRPr>
                    </a:p>
                  </a:txBody>
                  <a:tcPr/>
                </a:tc>
                <a:extLst>
                  <a:ext uri="{0D108BD9-81ED-4DB2-BD59-A6C34878D82A}">
                    <a16:rowId xmlns:a16="http://schemas.microsoft.com/office/drawing/2014/main" val="290472705"/>
                  </a:ext>
                </a:extLst>
              </a:tr>
              <a:tr h="370840">
                <a:tc>
                  <a:txBody>
                    <a:bodyPr/>
                    <a:lstStyle/>
                    <a:p>
                      <a:pPr marL="0" lvl="0" indent="0">
                        <a:lnSpc>
                          <a:spcPct val="115000"/>
                        </a:lnSpc>
                        <a:spcBef>
                          <a:spcPts val="600"/>
                        </a:spcBef>
                        <a:spcAft>
                          <a:spcPts val="600"/>
                        </a:spcAft>
                        <a:buFont typeface="Calibri" panose="020F0502020204030204" pitchFamily="34" charset="0"/>
                        <a:buNone/>
                      </a:pPr>
                      <a:r>
                        <a:rPr lang="en-AU" sz="2800" b="1" dirty="0">
                          <a:solidFill>
                            <a:schemeClr val="tx1"/>
                          </a:solidFill>
                          <a:effectLst/>
                        </a:rPr>
                        <a:t>Meninges </a:t>
                      </a:r>
                    </a:p>
                    <a:p>
                      <a:pPr marL="0" lvl="0" indent="0">
                        <a:lnSpc>
                          <a:spcPct val="115000"/>
                        </a:lnSpc>
                        <a:spcBef>
                          <a:spcPts val="600"/>
                        </a:spcBef>
                        <a:spcAft>
                          <a:spcPts val="600"/>
                        </a:spcAft>
                        <a:buFont typeface="Calibri" panose="020F0502020204030204" pitchFamily="34" charset="0"/>
                        <a:buNone/>
                      </a:pPr>
                      <a:endParaRPr lang="en-AU" sz="2800" b="1" dirty="0">
                        <a:solidFill>
                          <a:schemeClr val="tx1"/>
                        </a:solidFill>
                        <a:effectLst/>
                      </a:endParaRPr>
                    </a:p>
                  </a:txBody>
                  <a:tcPr/>
                </a:tc>
                <a:tc>
                  <a:txBody>
                    <a:bodyPr/>
                    <a:lstStyle/>
                    <a:p>
                      <a:endParaRPr lang="en-US" b="1">
                        <a:solidFill>
                          <a:schemeClr val="tx1"/>
                        </a:solidFill>
                      </a:endParaRPr>
                    </a:p>
                  </a:txBody>
                  <a:tcPr/>
                </a:tc>
                <a:extLst>
                  <a:ext uri="{0D108BD9-81ED-4DB2-BD59-A6C34878D82A}">
                    <a16:rowId xmlns:a16="http://schemas.microsoft.com/office/drawing/2014/main" val="396309271"/>
                  </a:ext>
                </a:extLst>
              </a:tr>
              <a:tr h="370840">
                <a:tc>
                  <a:txBody>
                    <a:bodyPr/>
                    <a:lstStyle/>
                    <a:p>
                      <a:r>
                        <a:rPr lang="en-AU" sz="2800" b="1" dirty="0">
                          <a:solidFill>
                            <a:schemeClr val="tx1"/>
                          </a:solidFill>
                          <a:effectLst/>
                        </a:rPr>
                        <a:t>Cerebrospinal fluid</a:t>
                      </a:r>
                    </a:p>
                    <a:p>
                      <a:endParaRPr lang="en-AU" sz="2800" b="1" dirty="0">
                        <a:solidFill>
                          <a:schemeClr val="tx1"/>
                        </a:solidFill>
                        <a:effectLst/>
                      </a:endParaRPr>
                    </a:p>
                    <a:p>
                      <a:endParaRPr lang="en-US" sz="2800" b="1" dirty="0">
                        <a:solidFill>
                          <a:schemeClr val="tx1"/>
                        </a:solidFill>
                      </a:endParaRPr>
                    </a:p>
                  </a:txBody>
                  <a:tcPr/>
                </a:tc>
                <a:tc>
                  <a:txBody>
                    <a:bodyPr/>
                    <a:lstStyle/>
                    <a:p>
                      <a:endParaRPr lang="en-US" b="1" dirty="0">
                        <a:solidFill>
                          <a:schemeClr val="tx1"/>
                        </a:solidFill>
                      </a:endParaRPr>
                    </a:p>
                  </a:txBody>
                  <a:tcPr/>
                </a:tc>
                <a:extLst>
                  <a:ext uri="{0D108BD9-81ED-4DB2-BD59-A6C34878D82A}">
                    <a16:rowId xmlns:a16="http://schemas.microsoft.com/office/drawing/2014/main" val="1280943866"/>
                  </a:ext>
                </a:extLst>
              </a:tr>
            </a:tbl>
          </a:graphicData>
        </a:graphic>
      </p:graphicFrame>
    </p:spTree>
    <p:extLst>
      <p:ext uri="{BB962C8B-B14F-4D97-AF65-F5344CB8AC3E}">
        <p14:creationId xmlns:p14="http://schemas.microsoft.com/office/powerpoint/2010/main" val="24857515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3BE2-2D82-3F4C-AF74-69A779B1C569}"/>
              </a:ext>
            </a:extLst>
          </p:cNvPr>
          <p:cNvSpPr>
            <a:spLocks noGrp="1"/>
          </p:cNvSpPr>
          <p:nvPr>
            <p:ph type="title"/>
          </p:nvPr>
        </p:nvSpPr>
        <p:spPr/>
        <p:txBody>
          <a:bodyPr>
            <a:normAutofit/>
          </a:bodyPr>
          <a:lstStyle/>
          <a:p>
            <a:r>
              <a:rPr lang="en-US" sz="6000" b="1" dirty="0"/>
              <a:t>The Brain </a:t>
            </a:r>
          </a:p>
        </p:txBody>
      </p:sp>
      <p:sp>
        <p:nvSpPr>
          <p:cNvPr id="3" name="Content Placeholder 2">
            <a:extLst>
              <a:ext uri="{FF2B5EF4-FFF2-40B4-BE49-F238E27FC236}">
                <a16:creationId xmlns:a16="http://schemas.microsoft.com/office/drawing/2014/main" id="{24635277-5CF5-5342-82BF-039B56FF5853}"/>
              </a:ext>
            </a:extLst>
          </p:cNvPr>
          <p:cNvSpPr>
            <a:spLocks noGrp="1"/>
          </p:cNvSpPr>
          <p:nvPr>
            <p:ph idx="1"/>
          </p:nvPr>
        </p:nvSpPr>
        <p:spPr/>
        <p:txBody>
          <a:bodyPr>
            <a:normAutofit/>
          </a:bodyPr>
          <a:lstStyle/>
          <a:p>
            <a:r>
              <a:rPr lang="en-US" sz="3200" b="1" dirty="0"/>
              <a:t>We will have a look at the </a:t>
            </a:r>
          </a:p>
          <a:p>
            <a:pPr lvl="1"/>
            <a:r>
              <a:rPr lang="en-US" sz="2800" b="1" dirty="0"/>
              <a:t>Brain stem </a:t>
            </a:r>
          </a:p>
          <a:p>
            <a:pPr lvl="1"/>
            <a:r>
              <a:rPr lang="en-US" sz="2800" b="1" dirty="0"/>
              <a:t>Cerebrum </a:t>
            </a:r>
          </a:p>
          <a:p>
            <a:pPr lvl="1"/>
            <a:r>
              <a:rPr lang="en-US" sz="2800" b="1" dirty="0"/>
              <a:t>Cerebellum </a:t>
            </a:r>
          </a:p>
          <a:p>
            <a:pPr lvl="1"/>
            <a:r>
              <a:rPr lang="en-US" sz="2800" b="1" dirty="0"/>
              <a:t>Hypothalamus </a:t>
            </a:r>
          </a:p>
        </p:txBody>
      </p:sp>
    </p:spTree>
    <p:extLst>
      <p:ext uri="{BB962C8B-B14F-4D97-AF65-F5344CB8AC3E}">
        <p14:creationId xmlns:p14="http://schemas.microsoft.com/office/powerpoint/2010/main" val="29102191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75713-AB05-C641-BE34-3DC9C05F3F10}"/>
              </a:ext>
            </a:extLst>
          </p:cNvPr>
          <p:cNvSpPr>
            <a:spLocks noGrp="1"/>
          </p:cNvSpPr>
          <p:nvPr>
            <p:ph type="title"/>
          </p:nvPr>
        </p:nvSpPr>
        <p:spPr/>
        <p:txBody>
          <a:bodyPr>
            <a:normAutofit/>
          </a:bodyPr>
          <a:lstStyle/>
          <a:p>
            <a:r>
              <a:rPr lang="en-US" sz="6000" b="1" dirty="0"/>
              <a:t>Brain stem </a:t>
            </a:r>
          </a:p>
        </p:txBody>
      </p:sp>
      <p:sp>
        <p:nvSpPr>
          <p:cNvPr id="3" name="Content Placeholder 2">
            <a:extLst>
              <a:ext uri="{FF2B5EF4-FFF2-40B4-BE49-F238E27FC236}">
                <a16:creationId xmlns:a16="http://schemas.microsoft.com/office/drawing/2014/main" id="{1C9A567E-A530-1342-9575-33A6B516ECAA}"/>
              </a:ext>
            </a:extLst>
          </p:cNvPr>
          <p:cNvSpPr>
            <a:spLocks noGrp="1"/>
          </p:cNvSpPr>
          <p:nvPr>
            <p:ph idx="1"/>
          </p:nvPr>
        </p:nvSpPr>
        <p:spPr/>
        <p:txBody>
          <a:bodyPr>
            <a:normAutofit/>
          </a:bodyPr>
          <a:lstStyle/>
          <a:p>
            <a:r>
              <a:rPr lang="en-AU" sz="3200" b="1" u="sng" dirty="0"/>
              <a:t>The brainstem (or brain stem) is the posterior stalk-like part of the brain that connects the cerebrum with the spinal cord. </a:t>
            </a:r>
          </a:p>
          <a:p>
            <a:r>
              <a:rPr lang="en-AU" sz="3200" b="1" u="sng" dirty="0"/>
              <a:t>In the human brain the brainstem is composed of the midbrain, the pons, and the medulla oblongata. </a:t>
            </a:r>
          </a:p>
          <a:p>
            <a:r>
              <a:rPr lang="en-AU" sz="3200" b="1" dirty="0"/>
              <a:t>The brainstem is very small, making up around only 2.6 percent of the brain's total weight.</a:t>
            </a:r>
            <a:endParaRPr lang="en-US" sz="3200" b="1" dirty="0"/>
          </a:p>
        </p:txBody>
      </p:sp>
    </p:spTree>
    <p:extLst>
      <p:ext uri="{BB962C8B-B14F-4D97-AF65-F5344CB8AC3E}">
        <p14:creationId xmlns:p14="http://schemas.microsoft.com/office/powerpoint/2010/main" val="5183326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04613-323F-2849-9302-B1F404B878DB}"/>
              </a:ext>
            </a:extLst>
          </p:cNvPr>
          <p:cNvSpPr>
            <a:spLocks noGrp="1"/>
          </p:cNvSpPr>
          <p:nvPr>
            <p:ph type="title"/>
          </p:nvPr>
        </p:nvSpPr>
        <p:spPr/>
        <p:txBody>
          <a:bodyPr/>
          <a:lstStyle/>
          <a:p>
            <a:r>
              <a:rPr lang="en-US" sz="6000" b="1" dirty="0"/>
              <a:t>Cerebrum</a:t>
            </a:r>
            <a:r>
              <a:rPr lang="en-US" dirty="0"/>
              <a:t> </a:t>
            </a:r>
          </a:p>
        </p:txBody>
      </p:sp>
      <p:sp>
        <p:nvSpPr>
          <p:cNvPr id="3" name="Content Placeholder 2">
            <a:extLst>
              <a:ext uri="{FF2B5EF4-FFF2-40B4-BE49-F238E27FC236}">
                <a16:creationId xmlns:a16="http://schemas.microsoft.com/office/drawing/2014/main" id="{C964A710-B72C-E541-A948-EC99C76EC323}"/>
              </a:ext>
            </a:extLst>
          </p:cNvPr>
          <p:cNvSpPr>
            <a:spLocks noGrp="1"/>
          </p:cNvSpPr>
          <p:nvPr>
            <p:ph idx="1"/>
          </p:nvPr>
        </p:nvSpPr>
        <p:spPr/>
        <p:txBody>
          <a:bodyPr>
            <a:normAutofit/>
          </a:bodyPr>
          <a:lstStyle/>
          <a:p>
            <a:r>
              <a:rPr lang="en-US" sz="3200" b="1" dirty="0"/>
              <a:t>Biggest part of the brain </a:t>
            </a:r>
          </a:p>
          <a:p>
            <a:endParaRPr lang="en-US" sz="3200" b="1" dirty="0"/>
          </a:p>
          <a:p>
            <a:r>
              <a:rPr lang="en-US" sz="3200" b="1" u="sng" dirty="0"/>
              <a:t>Consists of an outer surface of grey matter </a:t>
            </a:r>
            <a:r>
              <a:rPr lang="en-US" sz="3200" b="1" dirty="0"/>
              <a:t>(about 2-4mm thick) </a:t>
            </a:r>
            <a:r>
              <a:rPr lang="en-US" sz="3200" b="1" u="sng" dirty="0"/>
              <a:t>known as the cerebral cortex. </a:t>
            </a:r>
          </a:p>
          <a:p>
            <a:endParaRPr lang="en-US" sz="3200" b="1" dirty="0"/>
          </a:p>
          <a:p>
            <a:r>
              <a:rPr lang="en-US" sz="3200" b="1" u="sng" dirty="0"/>
              <a:t>Below the cortex is white matter</a:t>
            </a:r>
            <a:r>
              <a:rPr lang="en-US" sz="3200" b="1" dirty="0"/>
              <a:t>, and </a:t>
            </a:r>
            <a:r>
              <a:rPr lang="en-US" sz="3200" b="1" u="sng" dirty="0"/>
              <a:t>deep inside the cerebrum is additional grey matter called the basal ganglia</a:t>
            </a:r>
            <a:r>
              <a:rPr lang="en-US" sz="3200" b="1" dirty="0"/>
              <a:t>. </a:t>
            </a:r>
          </a:p>
        </p:txBody>
      </p:sp>
    </p:spTree>
    <p:extLst>
      <p:ext uri="{BB962C8B-B14F-4D97-AF65-F5344CB8AC3E}">
        <p14:creationId xmlns:p14="http://schemas.microsoft.com/office/powerpoint/2010/main" val="41927986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21214-E23B-BA41-B4FB-62665508C73C}"/>
              </a:ext>
            </a:extLst>
          </p:cNvPr>
          <p:cNvSpPr>
            <a:spLocks noGrp="1"/>
          </p:cNvSpPr>
          <p:nvPr>
            <p:ph type="title"/>
          </p:nvPr>
        </p:nvSpPr>
        <p:spPr/>
        <p:txBody>
          <a:bodyPr>
            <a:normAutofit/>
          </a:bodyPr>
          <a:lstStyle/>
          <a:p>
            <a:r>
              <a:rPr lang="en-US" sz="6000" b="1" dirty="0"/>
              <a:t>Continued. </a:t>
            </a:r>
          </a:p>
        </p:txBody>
      </p:sp>
      <p:sp>
        <p:nvSpPr>
          <p:cNvPr id="3" name="Content Placeholder 2">
            <a:extLst>
              <a:ext uri="{FF2B5EF4-FFF2-40B4-BE49-F238E27FC236}">
                <a16:creationId xmlns:a16="http://schemas.microsoft.com/office/drawing/2014/main" id="{95310235-D6DB-D64A-B1FB-87407395ECE7}"/>
              </a:ext>
            </a:extLst>
          </p:cNvPr>
          <p:cNvSpPr>
            <a:spLocks noGrp="1"/>
          </p:cNvSpPr>
          <p:nvPr>
            <p:ph idx="1"/>
          </p:nvPr>
        </p:nvSpPr>
        <p:spPr/>
        <p:txBody>
          <a:bodyPr>
            <a:normAutofit/>
          </a:bodyPr>
          <a:lstStyle/>
          <a:p>
            <a:r>
              <a:rPr lang="en-US" sz="3200" b="1" u="sng" dirty="0"/>
              <a:t>The cerebral cortex is folded in patterns that greatly increase its surface area. </a:t>
            </a:r>
          </a:p>
          <a:p>
            <a:endParaRPr lang="en-US" sz="3200" b="1" u="sng" dirty="0"/>
          </a:p>
          <a:p>
            <a:r>
              <a:rPr lang="en-US" sz="3200" b="1" u="sng" dirty="0"/>
              <a:t>The cerebral cortex is involved in activities such as thinking, reasoning, learning, memory, intelligence, and sense of responsibility. It is also concerned with perception of the sense and initiation and control of voluntary muscle contraction. </a:t>
            </a:r>
          </a:p>
        </p:txBody>
      </p:sp>
    </p:spTree>
    <p:extLst>
      <p:ext uri="{BB962C8B-B14F-4D97-AF65-F5344CB8AC3E}">
        <p14:creationId xmlns:p14="http://schemas.microsoft.com/office/powerpoint/2010/main" val="1796568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2A9B5-B847-3445-A6B0-F0E72B37DA98}"/>
              </a:ext>
            </a:extLst>
          </p:cNvPr>
          <p:cNvSpPr>
            <a:spLocks noGrp="1"/>
          </p:cNvSpPr>
          <p:nvPr>
            <p:ph type="title"/>
          </p:nvPr>
        </p:nvSpPr>
        <p:spPr/>
        <p:txBody>
          <a:bodyPr>
            <a:normAutofit/>
          </a:bodyPr>
          <a:lstStyle/>
          <a:p>
            <a:r>
              <a:rPr lang="en-US" sz="6000" b="1" dirty="0"/>
              <a:t>Continued. </a:t>
            </a:r>
          </a:p>
        </p:txBody>
      </p:sp>
      <p:sp>
        <p:nvSpPr>
          <p:cNvPr id="3" name="Content Placeholder 2">
            <a:extLst>
              <a:ext uri="{FF2B5EF4-FFF2-40B4-BE49-F238E27FC236}">
                <a16:creationId xmlns:a16="http://schemas.microsoft.com/office/drawing/2014/main" id="{545E2386-FB65-BF4E-A420-EB92F891654D}"/>
              </a:ext>
            </a:extLst>
          </p:cNvPr>
          <p:cNvSpPr>
            <a:spLocks noGrp="1"/>
          </p:cNvSpPr>
          <p:nvPr>
            <p:ph idx="1"/>
          </p:nvPr>
        </p:nvSpPr>
        <p:spPr/>
        <p:txBody>
          <a:bodyPr>
            <a:normAutofit/>
          </a:bodyPr>
          <a:lstStyle/>
          <a:p>
            <a:r>
              <a:rPr lang="en-US" sz="3200" b="1" u="sng" dirty="0"/>
              <a:t>There are three types of functional areas in the cortex: </a:t>
            </a:r>
          </a:p>
          <a:p>
            <a:pPr lvl="1"/>
            <a:r>
              <a:rPr lang="en-US" sz="3200" b="1" u="sng" dirty="0"/>
              <a:t>Sensory areas: interpret impulses from receptors </a:t>
            </a:r>
          </a:p>
          <a:p>
            <a:pPr lvl="1"/>
            <a:r>
              <a:rPr lang="en-US" sz="3200" b="1" u="sng" dirty="0"/>
              <a:t>Motor areas: control muscular movements </a:t>
            </a:r>
          </a:p>
          <a:p>
            <a:pPr lvl="1"/>
            <a:r>
              <a:rPr lang="en-US" sz="3200" b="1" u="sng" dirty="0"/>
              <a:t>Association areas: concerned with intellectual and emotional processes </a:t>
            </a:r>
          </a:p>
        </p:txBody>
      </p:sp>
    </p:spTree>
    <p:extLst>
      <p:ext uri="{BB962C8B-B14F-4D97-AF65-F5344CB8AC3E}">
        <p14:creationId xmlns:p14="http://schemas.microsoft.com/office/powerpoint/2010/main" val="26785272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F72B5-1399-254D-9393-D6DCBBBBE757}"/>
              </a:ext>
            </a:extLst>
          </p:cNvPr>
          <p:cNvSpPr>
            <a:spLocks noGrp="1"/>
          </p:cNvSpPr>
          <p:nvPr>
            <p:ph type="title"/>
          </p:nvPr>
        </p:nvSpPr>
        <p:spPr/>
        <p:txBody>
          <a:bodyPr/>
          <a:lstStyle/>
          <a:p>
            <a:r>
              <a:rPr lang="en-US" sz="6000" b="1" dirty="0"/>
              <a:t>Cerebellum</a:t>
            </a:r>
            <a:r>
              <a:rPr lang="en-US" dirty="0"/>
              <a:t> </a:t>
            </a:r>
          </a:p>
        </p:txBody>
      </p:sp>
      <p:sp>
        <p:nvSpPr>
          <p:cNvPr id="3" name="Content Placeholder 2">
            <a:extLst>
              <a:ext uri="{FF2B5EF4-FFF2-40B4-BE49-F238E27FC236}">
                <a16:creationId xmlns:a16="http://schemas.microsoft.com/office/drawing/2014/main" id="{DEB9C9E5-8FC0-CB46-AFDA-C76C6C7580D2}"/>
              </a:ext>
            </a:extLst>
          </p:cNvPr>
          <p:cNvSpPr>
            <a:spLocks noGrp="1"/>
          </p:cNvSpPr>
          <p:nvPr>
            <p:ph idx="1"/>
          </p:nvPr>
        </p:nvSpPr>
        <p:spPr/>
        <p:txBody>
          <a:bodyPr>
            <a:normAutofit/>
          </a:bodyPr>
          <a:lstStyle/>
          <a:p>
            <a:r>
              <a:rPr lang="en-US" sz="3200" b="1" dirty="0"/>
              <a:t>Lies under the rear part of the cerebrum </a:t>
            </a:r>
          </a:p>
          <a:p>
            <a:r>
              <a:rPr lang="en-US" sz="3200" b="1" dirty="0"/>
              <a:t>Second largest part of the brain and its surface is folded into a series of parallel ridges </a:t>
            </a:r>
          </a:p>
          <a:p>
            <a:r>
              <a:rPr lang="en-US" sz="3200" b="1" dirty="0"/>
              <a:t>Outer= grey matter </a:t>
            </a:r>
          </a:p>
          <a:p>
            <a:r>
              <a:rPr lang="en-US" sz="3200" b="1" dirty="0"/>
              <a:t>Inner= white matter </a:t>
            </a:r>
          </a:p>
        </p:txBody>
      </p:sp>
    </p:spTree>
    <p:extLst>
      <p:ext uri="{BB962C8B-B14F-4D97-AF65-F5344CB8AC3E}">
        <p14:creationId xmlns:p14="http://schemas.microsoft.com/office/powerpoint/2010/main" val="1125641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0B644-9728-914A-8AA0-8BDC5AA3DB11}"/>
              </a:ext>
            </a:extLst>
          </p:cNvPr>
          <p:cNvSpPr>
            <a:spLocks noGrp="1"/>
          </p:cNvSpPr>
          <p:nvPr>
            <p:ph type="title"/>
          </p:nvPr>
        </p:nvSpPr>
        <p:spPr>
          <a:xfrm>
            <a:off x="838200" y="18255"/>
            <a:ext cx="10515600" cy="1325563"/>
          </a:xfrm>
        </p:spPr>
        <p:txBody>
          <a:bodyPr>
            <a:normAutofit/>
          </a:bodyPr>
          <a:lstStyle/>
          <a:p>
            <a:r>
              <a:rPr lang="en-US" sz="6000" b="1" dirty="0"/>
              <a:t>Continued. </a:t>
            </a:r>
          </a:p>
        </p:txBody>
      </p:sp>
      <p:sp>
        <p:nvSpPr>
          <p:cNvPr id="3" name="Content Placeholder 2">
            <a:extLst>
              <a:ext uri="{FF2B5EF4-FFF2-40B4-BE49-F238E27FC236}">
                <a16:creationId xmlns:a16="http://schemas.microsoft.com/office/drawing/2014/main" id="{21CB1DAD-F2AA-2244-B2EB-F68C80693E7E}"/>
              </a:ext>
            </a:extLst>
          </p:cNvPr>
          <p:cNvSpPr>
            <a:spLocks noGrp="1"/>
          </p:cNvSpPr>
          <p:nvPr>
            <p:ph idx="1"/>
          </p:nvPr>
        </p:nvSpPr>
        <p:spPr>
          <a:xfrm>
            <a:off x="568036" y="1139824"/>
            <a:ext cx="10785764" cy="5874039"/>
          </a:xfrm>
        </p:spPr>
        <p:txBody>
          <a:bodyPr>
            <a:normAutofit/>
          </a:bodyPr>
          <a:lstStyle/>
          <a:p>
            <a:r>
              <a:rPr lang="en-US" sz="3200" b="1" u="sng" dirty="0"/>
              <a:t>Exercises control over posture, balance and the fine coordination of voluntary muscle movement </a:t>
            </a:r>
          </a:p>
          <a:p>
            <a:r>
              <a:rPr lang="en-US" sz="3200" b="1" u="sng" dirty="0"/>
              <a:t>Receives info from the ear and from receptors in the skeletal muscles </a:t>
            </a:r>
          </a:p>
          <a:p>
            <a:r>
              <a:rPr lang="en-US" sz="3200" b="1" u="sng" dirty="0"/>
              <a:t>All the functions of the cerebellum and so without it we could still move, but our movements would be spasmodic, jerky and uncontrolled. </a:t>
            </a:r>
          </a:p>
          <a:p>
            <a:r>
              <a:rPr lang="en-US" sz="3200" b="1" dirty="0"/>
              <a:t>Smooth, coordinated movements such as writing would be impossible. </a:t>
            </a:r>
          </a:p>
        </p:txBody>
      </p:sp>
    </p:spTree>
    <p:extLst>
      <p:ext uri="{BB962C8B-B14F-4D97-AF65-F5344CB8AC3E}">
        <p14:creationId xmlns:p14="http://schemas.microsoft.com/office/powerpoint/2010/main" val="3409100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8DCB8-9BD5-424D-9BF8-4DDC517F792F}"/>
              </a:ext>
            </a:extLst>
          </p:cNvPr>
          <p:cNvSpPr>
            <a:spLocks noGrp="1"/>
          </p:cNvSpPr>
          <p:nvPr>
            <p:ph type="title"/>
          </p:nvPr>
        </p:nvSpPr>
        <p:spPr/>
        <p:txBody>
          <a:bodyPr/>
          <a:lstStyle/>
          <a:p>
            <a:r>
              <a:rPr lang="en-US" b="1" dirty="0"/>
              <a:t>The location and interior structure of the cerebellum </a:t>
            </a:r>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flipH="1" flipV="1">
            <a:off x="1887536" y="1690688"/>
            <a:ext cx="7625778" cy="4922548"/>
          </a:xfrm>
          <a:prstGeom prst="rect">
            <a:avLst/>
          </a:prstGeom>
        </p:spPr>
      </p:pic>
    </p:spTree>
    <p:extLst>
      <p:ext uri="{BB962C8B-B14F-4D97-AF65-F5344CB8AC3E}">
        <p14:creationId xmlns:p14="http://schemas.microsoft.com/office/powerpoint/2010/main" val="40492366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DBE4C-FB55-904D-906C-6C2BDB58E094}"/>
              </a:ext>
            </a:extLst>
          </p:cNvPr>
          <p:cNvSpPr>
            <a:spLocks noGrp="1"/>
          </p:cNvSpPr>
          <p:nvPr>
            <p:ph type="title"/>
          </p:nvPr>
        </p:nvSpPr>
        <p:spPr/>
        <p:txBody>
          <a:bodyPr/>
          <a:lstStyle/>
          <a:p>
            <a:r>
              <a:rPr lang="en-US" sz="6000" b="1" dirty="0"/>
              <a:t>Hypothalamus</a:t>
            </a:r>
            <a:r>
              <a:rPr lang="en-US" dirty="0"/>
              <a:t> </a:t>
            </a:r>
          </a:p>
        </p:txBody>
      </p:sp>
      <p:sp>
        <p:nvSpPr>
          <p:cNvPr id="3" name="Content Placeholder 2">
            <a:extLst>
              <a:ext uri="{FF2B5EF4-FFF2-40B4-BE49-F238E27FC236}">
                <a16:creationId xmlns:a16="http://schemas.microsoft.com/office/drawing/2014/main" id="{DE4FDD97-94AA-3A4E-9DC3-E91C1D6157CB}"/>
              </a:ext>
            </a:extLst>
          </p:cNvPr>
          <p:cNvSpPr>
            <a:spLocks noGrp="1"/>
          </p:cNvSpPr>
          <p:nvPr>
            <p:ph idx="1"/>
          </p:nvPr>
        </p:nvSpPr>
        <p:spPr/>
        <p:txBody>
          <a:bodyPr>
            <a:normAutofit/>
          </a:bodyPr>
          <a:lstStyle/>
          <a:p>
            <a:r>
              <a:rPr lang="en-US" sz="3200" b="1" dirty="0"/>
              <a:t>Lies in the </a:t>
            </a:r>
            <a:r>
              <a:rPr lang="en-US" sz="3200" b="1" u="sng" dirty="0"/>
              <a:t>middle of the brain </a:t>
            </a:r>
            <a:r>
              <a:rPr lang="en-US" sz="3200" b="1" dirty="0"/>
              <a:t>and cannot be seen from the outside. </a:t>
            </a:r>
          </a:p>
          <a:p>
            <a:r>
              <a:rPr lang="en-US" sz="3200" b="1" u="sng" dirty="0"/>
              <a:t>Although small, the hypothalamus controls many body activities, it is mostly concerned with homeostasis </a:t>
            </a:r>
          </a:p>
        </p:txBody>
      </p:sp>
    </p:spTree>
    <p:extLst>
      <p:ext uri="{BB962C8B-B14F-4D97-AF65-F5344CB8AC3E}">
        <p14:creationId xmlns:p14="http://schemas.microsoft.com/office/powerpoint/2010/main" val="15251989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1902A-BF59-6749-868E-44E27FEABC55}"/>
              </a:ext>
            </a:extLst>
          </p:cNvPr>
          <p:cNvSpPr>
            <a:spLocks noGrp="1"/>
          </p:cNvSpPr>
          <p:nvPr>
            <p:ph type="title"/>
          </p:nvPr>
        </p:nvSpPr>
        <p:spPr/>
        <p:txBody>
          <a:bodyPr>
            <a:normAutofit/>
          </a:bodyPr>
          <a:lstStyle/>
          <a:p>
            <a:r>
              <a:rPr lang="en-US" sz="6000" b="1" dirty="0"/>
              <a:t>Functions of the Hypothalamus </a:t>
            </a:r>
          </a:p>
        </p:txBody>
      </p:sp>
      <p:sp>
        <p:nvSpPr>
          <p:cNvPr id="3" name="Content Placeholder 2">
            <a:extLst>
              <a:ext uri="{FF2B5EF4-FFF2-40B4-BE49-F238E27FC236}">
                <a16:creationId xmlns:a16="http://schemas.microsoft.com/office/drawing/2014/main" id="{CB3157A5-FCA0-8D49-875B-78C0DD756078}"/>
              </a:ext>
            </a:extLst>
          </p:cNvPr>
          <p:cNvSpPr>
            <a:spLocks noGrp="1"/>
          </p:cNvSpPr>
          <p:nvPr>
            <p:ph idx="1"/>
          </p:nvPr>
        </p:nvSpPr>
        <p:spPr/>
        <p:txBody>
          <a:bodyPr>
            <a:normAutofit/>
          </a:bodyPr>
          <a:lstStyle/>
          <a:p>
            <a:r>
              <a:rPr lang="en-US" sz="3200" b="1" u="sng" dirty="0"/>
              <a:t>Regulating the </a:t>
            </a:r>
          </a:p>
          <a:p>
            <a:pPr lvl="1"/>
            <a:r>
              <a:rPr lang="en-US" sz="2800" b="1" u="sng" dirty="0"/>
              <a:t>Autonomic Nervous System </a:t>
            </a:r>
          </a:p>
          <a:p>
            <a:pPr lvl="1"/>
            <a:r>
              <a:rPr lang="en-US" sz="2800" b="1" u="sng" dirty="0"/>
              <a:t>Body temperature </a:t>
            </a:r>
          </a:p>
          <a:p>
            <a:pPr lvl="1"/>
            <a:r>
              <a:rPr lang="en-US" sz="2800" b="1" u="sng" dirty="0"/>
              <a:t>Food and water intake </a:t>
            </a:r>
          </a:p>
          <a:p>
            <a:pPr lvl="1"/>
            <a:r>
              <a:rPr lang="en-US" sz="2800" b="1" u="sng" dirty="0"/>
              <a:t>Patterns of sleeping and waking </a:t>
            </a:r>
          </a:p>
          <a:p>
            <a:pPr lvl="1"/>
            <a:r>
              <a:rPr lang="en-US" sz="2800" b="1" u="sng" dirty="0"/>
              <a:t>Emotional responses </a:t>
            </a:r>
          </a:p>
          <a:p>
            <a:pPr lvl="1"/>
            <a:r>
              <a:rPr lang="en-US" sz="2800" b="1" u="sng" dirty="0"/>
              <a:t>Secretion of hormones and coordination of parts of the endocrine system </a:t>
            </a:r>
          </a:p>
        </p:txBody>
      </p:sp>
    </p:spTree>
    <p:extLst>
      <p:ext uri="{BB962C8B-B14F-4D97-AF65-F5344CB8AC3E}">
        <p14:creationId xmlns:p14="http://schemas.microsoft.com/office/powerpoint/2010/main" val="27399182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effectLst>
                  <a:outerShdw blurRad="38100" dist="38100" dir="2700000" algn="tl">
                    <a:srgbClr val="000000">
                      <a:alpha val="43137"/>
                    </a:srgbClr>
                  </a:outerShdw>
                </a:effectLst>
              </a:rPr>
              <a:t>Continued. </a:t>
            </a:r>
            <a:endParaRPr lang="en-AU" sz="6000" dirty="0"/>
          </a:p>
        </p:txBody>
      </p:sp>
      <p:sp>
        <p:nvSpPr>
          <p:cNvPr id="3" name="Content Placeholder 2"/>
          <p:cNvSpPr>
            <a:spLocks noGrp="1"/>
          </p:cNvSpPr>
          <p:nvPr>
            <p:ph idx="1"/>
          </p:nvPr>
        </p:nvSpPr>
        <p:spPr/>
        <p:txBody>
          <a:bodyPr>
            <a:normAutofit/>
          </a:bodyPr>
          <a:lstStyle/>
          <a:p>
            <a:r>
              <a:rPr lang="en-AU" sz="3600" b="1" u="sng" dirty="0"/>
              <a:t>Cranial and spinal nerves make up the PNS contain fibres that carry nerve impulses to and from all parts of the body. </a:t>
            </a:r>
          </a:p>
          <a:p>
            <a:r>
              <a:rPr lang="en-AU" sz="3600" b="1" dirty="0"/>
              <a:t>The PNS is divided into parts</a:t>
            </a:r>
          </a:p>
        </p:txBody>
      </p:sp>
    </p:spTree>
    <p:extLst>
      <p:ext uri="{BB962C8B-B14F-4D97-AF65-F5344CB8AC3E}">
        <p14:creationId xmlns:p14="http://schemas.microsoft.com/office/powerpoint/2010/main" val="34011637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a:bodyPr>
          <a:lstStyle/>
          <a:p>
            <a:r>
              <a:rPr lang="en-AU" sz="6000" b="1" dirty="0">
                <a:effectLst>
                  <a:outerShdw blurRad="38100" dist="38100" dir="2700000" algn="tl">
                    <a:srgbClr val="000000">
                      <a:alpha val="43137"/>
                    </a:srgbClr>
                  </a:outerShdw>
                </a:effectLst>
              </a:rPr>
              <a:t>Continued. </a:t>
            </a:r>
            <a:endParaRPr lang="en-AU" sz="6000" dirty="0"/>
          </a:p>
        </p:txBody>
      </p:sp>
      <p:sp>
        <p:nvSpPr>
          <p:cNvPr id="3" name="Content Placeholder 2"/>
          <p:cNvSpPr>
            <a:spLocks noGrp="1"/>
          </p:cNvSpPr>
          <p:nvPr>
            <p:ph idx="1"/>
          </p:nvPr>
        </p:nvSpPr>
        <p:spPr>
          <a:xfrm>
            <a:off x="594360" y="1120231"/>
            <a:ext cx="10515600" cy="5332820"/>
          </a:xfrm>
        </p:spPr>
        <p:txBody>
          <a:bodyPr>
            <a:normAutofit/>
          </a:bodyPr>
          <a:lstStyle/>
          <a:p>
            <a:r>
              <a:rPr lang="en-AU" sz="3200" b="1" u="sng" dirty="0"/>
              <a:t>The Afferent (or sensory) division: </a:t>
            </a:r>
          </a:p>
          <a:p>
            <a:pPr lvl="1"/>
            <a:r>
              <a:rPr lang="en-AU" sz="3200" b="1" u="sng" dirty="0"/>
              <a:t>Fibres that carry impulses into the PNS. These impulses are carried into the CNS by sensory nerve cells from receptors in the skin and around the muscles and joints. These nerve cells from the body are called </a:t>
            </a:r>
            <a:r>
              <a:rPr lang="en-AU" sz="3200" b="1" i="1" u="sng" dirty="0"/>
              <a:t>somatic sensory neurons</a:t>
            </a:r>
            <a:r>
              <a:rPr lang="en-AU" sz="3200" b="1" u="sng" dirty="0"/>
              <a:t>.  </a:t>
            </a:r>
          </a:p>
          <a:p>
            <a:pPr lvl="1"/>
            <a:endParaRPr lang="en-AU" sz="3200" b="1" u="sng" dirty="0"/>
          </a:p>
          <a:p>
            <a:pPr lvl="1"/>
            <a:r>
              <a:rPr lang="en-AU" sz="3200" b="1" u="sng" dirty="0"/>
              <a:t>Afferent division of the PNS also has sensory nerve cells that take impulses from the internal organs into the CNS. These are called </a:t>
            </a:r>
            <a:r>
              <a:rPr lang="en-AU" sz="3200" b="1" i="1" u="sng" dirty="0"/>
              <a:t>visceral sensory neurons </a:t>
            </a:r>
          </a:p>
          <a:p>
            <a:endParaRPr lang="en-AU" sz="3200" dirty="0"/>
          </a:p>
        </p:txBody>
      </p:sp>
    </p:spTree>
    <p:extLst>
      <p:ext uri="{BB962C8B-B14F-4D97-AF65-F5344CB8AC3E}">
        <p14:creationId xmlns:p14="http://schemas.microsoft.com/office/powerpoint/2010/main" val="14343371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531" y="0"/>
            <a:ext cx="10515600" cy="1325563"/>
          </a:xfrm>
        </p:spPr>
        <p:txBody>
          <a:bodyPr>
            <a:normAutofit/>
          </a:bodyPr>
          <a:lstStyle/>
          <a:p>
            <a:r>
              <a:rPr lang="en-AU" sz="6000" b="1" dirty="0">
                <a:effectLst>
                  <a:outerShdw blurRad="38100" dist="38100" dir="2700000" algn="tl">
                    <a:srgbClr val="000000">
                      <a:alpha val="43137"/>
                    </a:srgbClr>
                  </a:outerShdw>
                </a:effectLst>
              </a:rPr>
              <a:t>Continued. </a:t>
            </a:r>
          </a:p>
        </p:txBody>
      </p:sp>
      <p:sp>
        <p:nvSpPr>
          <p:cNvPr id="3" name="Content Placeholder 2"/>
          <p:cNvSpPr>
            <a:spLocks noGrp="1"/>
          </p:cNvSpPr>
          <p:nvPr>
            <p:ph idx="1"/>
          </p:nvPr>
        </p:nvSpPr>
        <p:spPr>
          <a:xfrm>
            <a:off x="576943" y="1189900"/>
            <a:ext cx="10515600" cy="5602786"/>
          </a:xfrm>
        </p:spPr>
        <p:txBody>
          <a:bodyPr>
            <a:normAutofit/>
          </a:bodyPr>
          <a:lstStyle/>
          <a:p>
            <a:r>
              <a:rPr lang="en-AU" sz="3200" b="1" u="sng" dirty="0"/>
              <a:t>The efferent (or motor) division has fibres that carry impulses away from the CNS. </a:t>
            </a:r>
          </a:p>
          <a:p>
            <a:endParaRPr lang="en-AU" sz="3200" b="1" u="sng" dirty="0"/>
          </a:p>
          <a:p>
            <a:r>
              <a:rPr lang="en-AU" sz="3200" b="1" u="sng" dirty="0"/>
              <a:t>It is subdivided into: </a:t>
            </a:r>
          </a:p>
          <a:p>
            <a:pPr lvl="1"/>
            <a:r>
              <a:rPr lang="en-AU" sz="3200" b="1" u="sng" dirty="0"/>
              <a:t>the somatic division (sometimes called the somatic nervous system), which takes impulses from the CNS to the skeletal muscles </a:t>
            </a:r>
          </a:p>
          <a:p>
            <a:pPr lvl="1"/>
            <a:r>
              <a:rPr lang="en-AU" sz="3200" b="1" u="sng" dirty="0"/>
              <a:t>the autonomic division (autonomic nervous system), which carries impulses from the CNS to heart muscle, involuntary muscle and glands. </a:t>
            </a:r>
          </a:p>
        </p:txBody>
      </p:sp>
    </p:spTree>
    <p:extLst>
      <p:ext uri="{BB962C8B-B14F-4D97-AF65-F5344CB8AC3E}">
        <p14:creationId xmlns:p14="http://schemas.microsoft.com/office/powerpoint/2010/main" val="37181090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effectLst>
                  <a:outerShdw blurRad="38100" dist="38100" dir="2700000" algn="tl">
                    <a:srgbClr val="000000">
                      <a:alpha val="43137"/>
                    </a:srgbClr>
                  </a:outerShdw>
                </a:effectLst>
              </a:rPr>
              <a:t>Continued. </a:t>
            </a:r>
          </a:p>
        </p:txBody>
      </p:sp>
      <p:sp>
        <p:nvSpPr>
          <p:cNvPr id="3" name="Content Placeholder 2"/>
          <p:cNvSpPr>
            <a:spLocks noGrp="1"/>
          </p:cNvSpPr>
          <p:nvPr>
            <p:ph idx="1"/>
          </p:nvPr>
        </p:nvSpPr>
        <p:spPr/>
        <p:txBody>
          <a:bodyPr>
            <a:normAutofit/>
          </a:bodyPr>
          <a:lstStyle/>
          <a:p>
            <a:r>
              <a:rPr lang="en-AU" sz="3200" b="1" u="sng" dirty="0"/>
              <a:t>The autonomic division is further divided into:</a:t>
            </a:r>
          </a:p>
          <a:p>
            <a:pPr lvl="1"/>
            <a:r>
              <a:rPr lang="en-AU" sz="3200" b="1" u="sng" dirty="0"/>
              <a:t>The sympathetic division (sympathetic nervous system)  </a:t>
            </a:r>
          </a:p>
          <a:p>
            <a:pPr lvl="1"/>
            <a:r>
              <a:rPr lang="en-AU" sz="3200" b="1" u="sng" dirty="0"/>
              <a:t>The parasympathetic division (parasympathetic nervous system). </a:t>
            </a:r>
          </a:p>
          <a:p>
            <a:endParaRPr lang="en-AU" sz="3200" b="1" dirty="0"/>
          </a:p>
        </p:txBody>
      </p:sp>
    </p:spTree>
    <p:extLst>
      <p:ext uri="{BB962C8B-B14F-4D97-AF65-F5344CB8AC3E}">
        <p14:creationId xmlns:p14="http://schemas.microsoft.com/office/powerpoint/2010/main" val="600439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38844" y="91405"/>
            <a:ext cx="6183085" cy="677108"/>
          </a:xfrm>
          <a:prstGeom prst="rect">
            <a:avLst/>
          </a:prstGeom>
          <a:ln w="38100"/>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AU" sz="2000" b="1" dirty="0"/>
              <a:t>Central Nervous System </a:t>
            </a:r>
          </a:p>
          <a:p>
            <a:pPr algn="ctr"/>
            <a:endParaRPr lang="en-AU" sz="400" b="1" dirty="0"/>
          </a:p>
          <a:p>
            <a:pPr algn="ctr"/>
            <a:r>
              <a:rPr lang="en-AU" sz="1400" b="1" dirty="0"/>
              <a:t>Brain and Spinal Cord </a:t>
            </a:r>
          </a:p>
        </p:txBody>
      </p:sp>
      <p:sp>
        <p:nvSpPr>
          <p:cNvPr id="5" name="TextBox 4"/>
          <p:cNvSpPr txBox="1"/>
          <p:nvPr/>
        </p:nvSpPr>
        <p:spPr>
          <a:xfrm>
            <a:off x="2834639" y="984904"/>
            <a:ext cx="6183085" cy="830997"/>
          </a:xfrm>
          <a:prstGeom prst="rect">
            <a:avLst/>
          </a:prstGeom>
          <a:ln w="38100"/>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AU" sz="2000" b="1" dirty="0"/>
              <a:t>Peripheral Nervous System </a:t>
            </a:r>
          </a:p>
          <a:p>
            <a:pPr algn="ctr"/>
            <a:r>
              <a:rPr lang="en-AU" sz="1400" b="1" dirty="0"/>
              <a:t>12 pairs of cranial nerves and 31 pairs of spinal nerves, each of which may contain fibres of the various divisions </a:t>
            </a:r>
          </a:p>
        </p:txBody>
      </p:sp>
      <p:sp>
        <p:nvSpPr>
          <p:cNvPr id="6" name="TextBox 5"/>
          <p:cNvSpPr txBox="1"/>
          <p:nvPr/>
        </p:nvSpPr>
        <p:spPr>
          <a:xfrm>
            <a:off x="7933509" y="2045399"/>
            <a:ext cx="2825931" cy="1015663"/>
          </a:xfrm>
          <a:prstGeom prst="rect">
            <a:avLst/>
          </a:prstGeom>
          <a:ln w="38100"/>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AU" sz="2000" b="1" dirty="0"/>
              <a:t>Efferent division- </a:t>
            </a:r>
          </a:p>
          <a:p>
            <a:pPr algn="ctr"/>
            <a:r>
              <a:rPr lang="en-AU" sz="2000" b="1" dirty="0"/>
              <a:t>Carrying information AWAY from the CNS </a:t>
            </a:r>
          </a:p>
        </p:txBody>
      </p:sp>
      <p:sp>
        <p:nvSpPr>
          <p:cNvPr id="7" name="TextBox 6"/>
          <p:cNvSpPr txBox="1"/>
          <p:nvPr/>
        </p:nvSpPr>
        <p:spPr>
          <a:xfrm>
            <a:off x="1325880" y="2045400"/>
            <a:ext cx="2825931" cy="1015663"/>
          </a:xfrm>
          <a:prstGeom prst="rect">
            <a:avLst/>
          </a:prstGeom>
          <a:ln w="38100"/>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AU" sz="2000" b="1" dirty="0"/>
              <a:t>Afferent division- </a:t>
            </a:r>
          </a:p>
          <a:p>
            <a:pPr algn="ctr"/>
            <a:r>
              <a:rPr lang="en-AU" sz="2000" b="1" dirty="0"/>
              <a:t>Carrying information INTO the CNS </a:t>
            </a:r>
          </a:p>
        </p:txBody>
      </p:sp>
      <p:sp>
        <p:nvSpPr>
          <p:cNvPr id="8" name="TextBox 7"/>
          <p:cNvSpPr txBox="1"/>
          <p:nvPr/>
        </p:nvSpPr>
        <p:spPr>
          <a:xfrm>
            <a:off x="409303" y="3803417"/>
            <a:ext cx="2177143" cy="1015663"/>
          </a:xfrm>
          <a:prstGeom prst="rect">
            <a:avLst/>
          </a:prstGeom>
          <a:ln w="38100"/>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AU" sz="2000" b="1" dirty="0"/>
              <a:t>Somatic sensory neurons from skin and muscle </a:t>
            </a:r>
          </a:p>
        </p:txBody>
      </p:sp>
      <p:sp>
        <p:nvSpPr>
          <p:cNvPr id="9" name="TextBox 8"/>
          <p:cNvSpPr txBox="1"/>
          <p:nvPr/>
        </p:nvSpPr>
        <p:spPr>
          <a:xfrm>
            <a:off x="3043646" y="3803417"/>
            <a:ext cx="2177142" cy="1015663"/>
          </a:xfrm>
          <a:prstGeom prst="rect">
            <a:avLst/>
          </a:prstGeom>
          <a:ln w="38100"/>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AU" sz="2000" b="1" dirty="0"/>
              <a:t>Visceral sensory neurons from internal organs </a:t>
            </a:r>
          </a:p>
        </p:txBody>
      </p:sp>
      <p:sp>
        <p:nvSpPr>
          <p:cNvPr id="10" name="TextBox 9"/>
          <p:cNvSpPr txBox="1"/>
          <p:nvPr/>
        </p:nvSpPr>
        <p:spPr>
          <a:xfrm>
            <a:off x="6527075" y="3518019"/>
            <a:ext cx="2137954" cy="1323439"/>
          </a:xfrm>
          <a:prstGeom prst="rect">
            <a:avLst/>
          </a:prstGeom>
          <a:ln w="38100"/>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AU" sz="2000" b="1" dirty="0"/>
              <a:t>Somatic division- </a:t>
            </a:r>
          </a:p>
          <a:p>
            <a:pPr algn="ctr"/>
            <a:r>
              <a:rPr lang="en-AU" sz="2000" b="1" dirty="0"/>
              <a:t>Carrying messages to the skeletal muscles </a:t>
            </a:r>
          </a:p>
        </p:txBody>
      </p:sp>
      <p:sp>
        <p:nvSpPr>
          <p:cNvPr id="11" name="TextBox 10"/>
          <p:cNvSpPr txBox="1"/>
          <p:nvPr/>
        </p:nvSpPr>
        <p:spPr>
          <a:xfrm>
            <a:off x="9470572" y="3522373"/>
            <a:ext cx="2137954" cy="2246769"/>
          </a:xfrm>
          <a:prstGeom prst="rect">
            <a:avLst/>
          </a:prstGeom>
          <a:ln w="38100"/>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AU" sz="2000" b="1" dirty="0"/>
              <a:t>Autonomic division- </a:t>
            </a:r>
          </a:p>
          <a:p>
            <a:pPr algn="ctr"/>
            <a:r>
              <a:rPr lang="en-AU" sz="2000" b="1" dirty="0"/>
              <a:t>Carrying messages to heart and involuntary muscles and glands </a:t>
            </a:r>
          </a:p>
        </p:txBody>
      </p:sp>
      <p:sp>
        <p:nvSpPr>
          <p:cNvPr id="12" name="TextBox 11"/>
          <p:cNvSpPr txBox="1"/>
          <p:nvPr/>
        </p:nvSpPr>
        <p:spPr>
          <a:xfrm>
            <a:off x="8064136" y="6291943"/>
            <a:ext cx="3544390" cy="400110"/>
          </a:xfrm>
          <a:prstGeom prst="rect">
            <a:avLst/>
          </a:prstGeom>
          <a:ln w="38100"/>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AU" sz="2000" b="1" dirty="0"/>
              <a:t>Parasympathetic division</a:t>
            </a:r>
          </a:p>
        </p:txBody>
      </p:sp>
      <p:sp>
        <p:nvSpPr>
          <p:cNvPr id="13" name="TextBox 12"/>
          <p:cNvSpPr txBox="1"/>
          <p:nvPr/>
        </p:nvSpPr>
        <p:spPr>
          <a:xfrm>
            <a:off x="3805646" y="6291943"/>
            <a:ext cx="3391989" cy="400110"/>
          </a:xfrm>
          <a:prstGeom prst="rect">
            <a:avLst/>
          </a:prstGeom>
          <a:ln w="38100"/>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AU" sz="2000" b="1" dirty="0"/>
              <a:t>Sympathetic division </a:t>
            </a:r>
          </a:p>
        </p:txBody>
      </p:sp>
      <p:cxnSp>
        <p:nvCxnSpPr>
          <p:cNvPr id="15" name="Straight Connector 14"/>
          <p:cNvCxnSpPr/>
          <p:nvPr/>
        </p:nvCxnSpPr>
        <p:spPr>
          <a:xfrm>
            <a:off x="217714" y="864307"/>
            <a:ext cx="11791406"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H="1">
            <a:off x="9901646" y="450175"/>
            <a:ext cx="1" cy="156447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flipV="1">
            <a:off x="2281646" y="522514"/>
            <a:ext cx="4355" cy="150003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a:off x="6527075" y="5761104"/>
            <a:ext cx="3300548" cy="46934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H="1">
            <a:off x="10067109" y="5769142"/>
            <a:ext cx="91441" cy="52280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9675223" y="3069935"/>
            <a:ext cx="452846" cy="44808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a:off x="7781109" y="3069935"/>
            <a:ext cx="1463040" cy="44808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1595846" y="3069935"/>
            <a:ext cx="359228" cy="71856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H="1" flipV="1">
            <a:off x="3570514" y="3069935"/>
            <a:ext cx="635727" cy="71856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25665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effectLst>
                  <a:outerShdw blurRad="38100" dist="38100" dir="2700000" algn="tl">
                    <a:srgbClr val="000000">
                      <a:alpha val="43137"/>
                    </a:srgbClr>
                  </a:outerShdw>
                </a:effectLst>
              </a:rPr>
              <a:t>The Autonomic Nervous System </a:t>
            </a:r>
          </a:p>
        </p:txBody>
      </p:sp>
      <p:sp>
        <p:nvSpPr>
          <p:cNvPr id="3" name="Content Placeholder 2"/>
          <p:cNvSpPr>
            <a:spLocks noGrp="1"/>
          </p:cNvSpPr>
          <p:nvPr>
            <p:ph idx="1"/>
          </p:nvPr>
        </p:nvSpPr>
        <p:spPr/>
        <p:txBody>
          <a:bodyPr>
            <a:normAutofit/>
          </a:bodyPr>
          <a:lstStyle/>
          <a:p>
            <a:r>
              <a:rPr lang="en-AU" sz="3200" b="1" u="sng" dirty="0"/>
              <a:t>The ANS is a part of the PNS </a:t>
            </a:r>
          </a:p>
          <a:p>
            <a:r>
              <a:rPr lang="en-AU" sz="3200" b="1" u="sng" dirty="0"/>
              <a:t>The ANS is responsible for the control of the body’s internal environment </a:t>
            </a:r>
            <a:r>
              <a:rPr lang="en-AU" sz="3200" b="1" dirty="0"/>
              <a:t>and is involved in many of the mechanisms that keep the internal environment constant. </a:t>
            </a:r>
          </a:p>
          <a:p>
            <a:r>
              <a:rPr lang="en-AU" sz="3200" b="1" u="sng" dirty="0"/>
              <a:t>It usually operates without conscious control and is regulated by groups of nerve cells in the brain (</a:t>
            </a:r>
            <a:r>
              <a:rPr lang="en-AU" sz="3200" b="1" dirty="0"/>
              <a:t>medulla oblongata, hypothalamic and cerebral cortex). </a:t>
            </a:r>
          </a:p>
        </p:txBody>
      </p:sp>
    </p:spTree>
    <p:extLst>
      <p:ext uri="{BB962C8B-B14F-4D97-AF65-F5344CB8AC3E}">
        <p14:creationId xmlns:p14="http://schemas.microsoft.com/office/powerpoint/2010/main" val="18423093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effectLst>
                  <a:outerShdw blurRad="38100" dist="38100" dir="2700000" algn="tl">
                    <a:srgbClr val="000000">
                      <a:alpha val="43137"/>
                    </a:srgbClr>
                  </a:outerShdw>
                </a:effectLst>
              </a:rPr>
              <a:t>Continued. </a:t>
            </a:r>
          </a:p>
        </p:txBody>
      </p:sp>
      <p:sp>
        <p:nvSpPr>
          <p:cNvPr id="3" name="Content Placeholder 2"/>
          <p:cNvSpPr>
            <a:spLocks noGrp="1"/>
          </p:cNvSpPr>
          <p:nvPr>
            <p:ph idx="1"/>
          </p:nvPr>
        </p:nvSpPr>
        <p:spPr/>
        <p:txBody>
          <a:bodyPr>
            <a:normAutofit/>
          </a:bodyPr>
          <a:lstStyle/>
          <a:p>
            <a:r>
              <a:rPr lang="en-AU" sz="3200" b="1" u="sng" dirty="0"/>
              <a:t>Some of the body functions regulated by the autonomic division include heart rate, blood pressure, body temperature, digestion, release of energy, pupil diameter, air flow to the lungs, defecation and urination. </a:t>
            </a:r>
          </a:p>
          <a:p>
            <a:endParaRPr lang="en-AU" sz="3200" b="1" u="sng" dirty="0"/>
          </a:p>
          <a:p>
            <a:endParaRPr lang="en-AU" sz="3200" b="1" u="sng" dirty="0"/>
          </a:p>
        </p:txBody>
      </p:sp>
    </p:spTree>
    <p:extLst>
      <p:ext uri="{BB962C8B-B14F-4D97-AF65-F5344CB8AC3E}">
        <p14:creationId xmlns:p14="http://schemas.microsoft.com/office/powerpoint/2010/main" val="11539451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effectLst>
                  <a:outerShdw blurRad="38100" dist="38100" dir="2700000" algn="tl">
                    <a:srgbClr val="000000">
                      <a:alpha val="43137"/>
                    </a:srgbClr>
                  </a:outerShdw>
                </a:effectLst>
              </a:rPr>
              <a:t>Continued. </a:t>
            </a:r>
          </a:p>
        </p:txBody>
      </p:sp>
      <p:sp>
        <p:nvSpPr>
          <p:cNvPr id="3" name="Content Placeholder 2"/>
          <p:cNvSpPr>
            <a:spLocks noGrp="1"/>
          </p:cNvSpPr>
          <p:nvPr>
            <p:ph idx="1"/>
          </p:nvPr>
        </p:nvSpPr>
        <p:spPr/>
        <p:txBody>
          <a:bodyPr>
            <a:normAutofit/>
          </a:bodyPr>
          <a:lstStyle/>
          <a:p>
            <a:r>
              <a:rPr lang="en-AU" sz="3200" b="1" u="sng" dirty="0"/>
              <a:t>The nerve fibres of the ANS make up part of the spinal nerves and part of some of the cranial nerves. </a:t>
            </a:r>
          </a:p>
          <a:p>
            <a:r>
              <a:rPr lang="en-AU" sz="3200" b="1" u="sng" dirty="0"/>
              <a:t>They carry impulses to the heart muscle, other muscles of the internal organs and the glands. </a:t>
            </a:r>
          </a:p>
          <a:p>
            <a:r>
              <a:rPr lang="en-AU" sz="3200" b="1" u="sng" dirty="0"/>
              <a:t>The pathway travelled by an impulse from the CNS to an organ controlled by the ANS consists of two neurons. </a:t>
            </a:r>
          </a:p>
        </p:txBody>
      </p:sp>
    </p:spTree>
    <p:extLst>
      <p:ext uri="{BB962C8B-B14F-4D97-AF65-F5344CB8AC3E}">
        <p14:creationId xmlns:p14="http://schemas.microsoft.com/office/powerpoint/2010/main" val="42842818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effectLst>
                  <a:outerShdw blurRad="38100" dist="38100" dir="2700000" algn="tl">
                    <a:srgbClr val="000000">
                      <a:alpha val="43137"/>
                    </a:srgbClr>
                  </a:outerShdw>
                </a:effectLst>
              </a:rPr>
              <a:t>Continued. </a:t>
            </a:r>
          </a:p>
        </p:txBody>
      </p:sp>
      <p:sp>
        <p:nvSpPr>
          <p:cNvPr id="3" name="Content Placeholder 2"/>
          <p:cNvSpPr>
            <a:spLocks noGrp="1"/>
          </p:cNvSpPr>
          <p:nvPr>
            <p:ph idx="1"/>
          </p:nvPr>
        </p:nvSpPr>
        <p:spPr/>
        <p:txBody>
          <a:bodyPr>
            <a:normAutofit/>
          </a:bodyPr>
          <a:lstStyle/>
          <a:p>
            <a:r>
              <a:rPr lang="en-AU" sz="3200" b="1" u="sng" dirty="0"/>
              <a:t>One of these has its cell body in the CNS, but the cell body of the other is in a ganglion. A ganglion (plural, ‘ganglia’) is a group of nerve cell bodies outside the CNS.  </a:t>
            </a:r>
          </a:p>
          <a:p>
            <a:endParaRPr lang="en-AU" sz="3200" b="1" u="sng" dirty="0"/>
          </a:p>
          <a:p>
            <a:r>
              <a:rPr lang="en-AU" sz="3200" b="1" u="sng" dirty="0"/>
              <a:t>Most nerve cell bodies are in the grey matter of the brain or spinal cord, but when they occur outside the CNS they are grouped in ganglia. </a:t>
            </a:r>
          </a:p>
        </p:txBody>
      </p:sp>
    </p:spTree>
    <p:extLst>
      <p:ext uri="{BB962C8B-B14F-4D97-AF65-F5344CB8AC3E}">
        <p14:creationId xmlns:p14="http://schemas.microsoft.com/office/powerpoint/2010/main" val="12356853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30629" y="180190"/>
            <a:ext cx="11934582" cy="6481868"/>
          </a:xfrm>
          <a:prstGeom prst="rect">
            <a:avLst/>
          </a:prstGeom>
        </p:spPr>
      </p:pic>
    </p:spTree>
    <p:extLst>
      <p:ext uri="{BB962C8B-B14F-4D97-AF65-F5344CB8AC3E}">
        <p14:creationId xmlns:p14="http://schemas.microsoft.com/office/powerpoint/2010/main" val="19070450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756006246"/>
              </p:ext>
            </p:extLst>
          </p:nvPr>
        </p:nvGraphicFramePr>
        <p:xfrm>
          <a:off x="240935" y="583988"/>
          <a:ext cx="11457579" cy="6274012"/>
        </p:xfrm>
        <a:graphic>
          <a:graphicData uri="http://schemas.openxmlformats.org/drawingml/2006/table">
            <a:tbl>
              <a:tblPr firstRow="1" bandRow="1">
                <a:tableStyleId>{5C22544A-7EE6-4342-B048-85BDC9FD1C3A}</a:tableStyleId>
              </a:tblPr>
              <a:tblGrid>
                <a:gridCol w="3819193">
                  <a:extLst>
                    <a:ext uri="{9D8B030D-6E8A-4147-A177-3AD203B41FA5}">
                      <a16:colId xmlns:a16="http://schemas.microsoft.com/office/drawing/2014/main" val="4199852038"/>
                    </a:ext>
                  </a:extLst>
                </a:gridCol>
                <a:gridCol w="3819193">
                  <a:extLst>
                    <a:ext uri="{9D8B030D-6E8A-4147-A177-3AD203B41FA5}">
                      <a16:colId xmlns:a16="http://schemas.microsoft.com/office/drawing/2014/main" val="4094824858"/>
                    </a:ext>
                  </a:extLst>
                </a:gridCol>
                <a:gridCol w="3819193">
                  <a:extLst>
                    <a:ext uri="{9D8B030D-6E8A-4147-A177-3AD203B41FA5}">
                      <a16:colId xmlns:a16="http://schemas.microsoft.com/office/drawing/2014/main" val="4013279856"/>
                    </a:ext>
                  </a:extLst>
                </a:gridCol>
              </a:tblGrid>
              <a:tr h="752596">
                <a:tc>
                  <a:txBody>
                    <a:bodyPr/>
                    <a:lstStyle/>
                    <a:p>
                      <a:pPr algn="ctr"/>
                      <a:r>
                        <a:rPr lang="en-AU" sz="2800" b="1" dirty="0">
                          <a:solidFill>
                            <a:schemeClr val="tx1"/>
                          </a:solidFill>
                        </a:rPr>
                        <a:t>Characteristic </a:t>
                      </a:r>
                    </a:p>
                  </a:txBody>
                  <a:tcPr/>
                </a:tc>
                <a:tc>
                  <a:txBody>
                    <a:bodyPr/>
                    <a:lstStyle/>
                    <a:p>
                      <a:pPr algn="ctr"/>
                      <a:r>
                        <a:rPr lang="en-AU" sz="2800" b="1" dirty="0">
                          <a:solidFill>
                            <a:schemeClr val="tx1"/>
                          </a:solidFill>
                        </a:rPr>
                        <a:t>Autonomic Division</a:t>
                      </a:r>
                    </a:p>
                  </a:txBody>
                  <a:tcPr/>
                </a:tc>
                <a:tc>
                  <a:txBody>
                    <a:bodyPr/>
                    <a:lstStyle/>
                    <a:p>
                      <a:pPr algn="ctr"/>
                      <a:r>
                        <a:rPr lang="en-AU" sz="2800" b="1" dirty="0">
                          <a:solidFill>
                            <a:schemeClr val="tx1"/>
                          </a:solidFill>
                        </a:rPr>
                        <a:t>Somatic Division </a:t>
                      </a:r>
                    </a:p>
                  </a:txBody>
                  <a:tcPr/>
                </a:tc>
                <a:extLst>
                  <a:ext uri="{0D108BD9-81ED-4DB2-BD59-A6C34878D82A}">
                    <a16:rowId xmlns:a16="http://schemas.microsoft.com/office/drawing/2014/main" val="1589253191"/>
                  </a:ext>
                </a:extLst>
              </a:tr>
              <a:tr h="752596">
                <a:tc>
                  <a:txBody>
                    <a:bodyPr/>
                    <a:lstStyle/>
                    <a:p>
                      <a:pPr algn="ctr"/>
                      <a:r>
                        <a:rPr lang="en-AU" sz="2000" b="1" dirty="0">
                          <a:solidFill>
                            <a:schemeClr val="tx1"/>
                          </a:solidFill>
                        </a:rPr>
                        <a:t>Effectors </a:t>
                      </a:r>
                    </a:p>
                  </a:txBody>
                  <a:tcPr/>
                </a:tc>
                <a:tc>
                  <a:txBody>
                    <a:bodyPr/>
                    <a:lstStyle/>
                    <a:p>
                      <a:pPr algn="ctr"/>
                      <a:r>
                        <a:rPr lang="en-AU" sz="2000" b="1" dirty="0">
                          <a:solidFill>
                            <a:schemeClr val="tx1"/>
                          </a:solidFill>
                        </a:rPr>
                        <a:t>Heart muscles, involuntary</a:t>
                      </a:r>
                      <a:r>
                        <a:rPr lang="en-AU" sz="2000" b="1" baseline="0" dirty="0">
                          <a:solidFill>
                            <a:schemeClr val="tx1"/>
                          </a:solidFill>
                        </a:rPr>
                        <a:t> muscle, glands </a:t>
                      </a:r>
                      <a:endParaRPr lang="en-AU" sz="2000" b="1" dirty="0">
                        <a:solidFill>
                          <a:schemeClr val="tx1"/>
                        </a:solidFill>
                      </a:endParaRPr>
                    </a:p>
                  </a:txBody>
                  <a:tcPr/>
                </a:tc>
                <a:tc>
                  <a:txBody>
                    <a:bodyPr/>
                    <a:lstStyle/>
                    <a:p>
                      <a:pPr algn="ctr"/>
                      <a:r>
                        <a:rPr lang="en-AU" sz="2000" b="1" dirty="0">
                          <a:solidFill>
                            <a:schemeClr val="tx1"/>
                          </a:solidFill>
                        </a:rPr>
                        <a:t>Skeletal (voluntary)</a:t>
                      </a:r>
                      <a:r>
                        <a:rPr lang="en-AU" sz="2000" b="1" baseline="0" dirty="0">
                          <a:solidFill>
                            <a:schemeClr val="tx1"/>
                          </a:solidFill>
                        </a:rPr>
                        <a:t> muscles </a:t>
                      </a:r>
                      <a:endParaRPr lang="en-AU" sz="2000" b="1" dirty="0">
                        <a:solidFill>
                          <a:schemeClr val="tx1"/>
                        </a:solidFill>
                      </a:endParaRPr>
                    </a:p>
                  </a:txBody>
                  <a:tcPr/>
                </a:tc>
                <a:extLst>
                  <a:ext uri="{0D108BD9-81ED-4DB2-BD59-A6C34878D82A}">
                    <a16:rowId xmlns:a16="http://schemas.microsoft.com/office/drawing/2014/main" val="4289335755"/>
                  </a:ext>
                </a:extLst>
              </a:tr>
              <a:tr h="752596">
                <a:tc>
                  <a:txBody>
                    <a:bodyPr/>
                    <a:lstStyle/>
                    <a:p>
                      <a:pPr algn="ctr"/>
                      <a:r>
                        <a:rPr lang="en-AU" sz="2000" b="1" dirty="0">
                          <a:solidFill>
                            <a:schemeClr val="tx1"/>
                          </a:solidFill>
                        </a:rPr>
                        <a:t>General function </a:t>
                      </a:r>
                    </a:p>
                  </a:txBody>
                  <a:tcPr/>
                </a:tc>
                <a:tc>
                  <a:txBody>
                    <a:bodyPr/>
                    <a:lstStyle/>
                    <a:p>
                      <a:pPr algn="ctr"/>
                      <a:r>
                        <a:rPr lang="en-AU" sz="2000" b="1" dirty="0">
                          <a:solidFill>
                            <a:schemeClr val="tx1"/>
                          </a:solidFill>
                        </a:rPr>
                        <a:t>Adjustment</a:t>
                      </a:r>
                      <a:r>
                        <a:rPr lang="en-AU" sz="2000" b="1" baseline="0" dirty="0">
                          <a:solidFill>
                            <a:schemeClr val="tx1"/>
                          </a:solidFill>
                        </a:rPr>
                        <a:t> of the internal environment (homeostasis) </a:t>
                      </a:r>
                      <a:endParaRPr lang="en-AU" sz="2000" b="1" dirty="0">
                        <a:solidFill>
                          <a:schemeClr val="tx1"/>
                        </a:solidFill>
                      </a:endParaRPr>
                    </a:p>
                  </a:txBody>
                  <a:tcPr/>
                </a:tc>
                <a:tc>
                  <a:txBody>
                    <a:bodyPr/>
                    <a:lstStyle/>
                    <a:p>
                      <a:pPr algn="ctr"/>
                      <a:r>
                        <a:rPr lang="en-AU" sz="2000" b="1" dirty="0">
                          <a:solidFill>
                            <a:schemeClr val="tx1"/>
                          </a:solidFill>
                        </a:rPr>
                        <a:t>Response to the external</a:t>
                      </a:r>
                      <a:r>
                        <a:rPr lang="en-AU" sz="2000" b="1" baseline="0" dirty="0">
                          <a:solidFill>
                            <a:schemeClr val="tx1"/>
                          </a:solidFill>
                        </a:rPr>
                        <a:t> environment </a:t>
                      </a:r>
                      <a:endParaRPr lang="en-AU" sz="2000" b="1" dirty="0">
                        <a:solidFill>
                          <a:schemeClr val="tx1"/>
                        </a:solidFill>
                      </a:endParaRPr>
                    </a:p>
                  </a:txBody>
                  <a:tcPr/>
                </a:tc>
                <a:extLst>
                  <a:ext uri="{0D108BD9-81ED-4DB2-BD59-A6C34878D82A}">
                    <a16:rowId xmlns:a16="http://schemas.microsoft.com/office/drawing/2014/main" val="2698305757"/>
                  </a:ext>
                </a:extLst>
              </a:tr>
              <a:tr h="752596">
                <a:tc>
                  <a:txBody>
                    <a:bodyPr/>
                    <a:lstStyle/>
                    <a:p>
                      <a:pPr algn="ctr"/>
                      <a:r>
                        <a:rPr lang="en-AU" sz="2000" b="1" dirty="0">
                          <a:solidFill>
                            <a:schemeClr val="tx1"/>
                          </a:solidFill>
                        </a:rPr>
                        <a:t>Efferent (outward) pathways </a:t>
                      </a:r>
                    </a:p>
                  </a:txBody>
                  <a:tcPr/>
                </a:tc>
                <a:tc>
                  <a:txBody>
                    <a:bodyPr/>
                    <a:lstStyle/>
                    <a:p>
                      <a:pPr algn="ctr"/>
                      <a:r>
                        <a:rPr lang="en-AU" sz="2000" b="1" dirty="0">
                          <a:solidFill>
                            <a:schemeClr val="tx1"/>
                          </a:solidFill>
                        </a:rPr>
                        <a:t>Two nerve fibres from the CNS to</a:t>
                      </a:r>
                      <a:r>
                        <a:rPr lang="en-AU" sz="2000" b="1" baseline="0" dirty="0">
                          <a:solidFill>
                            <a:schemeClr val="tx1"/>
                          </a:solidFill>
                        </a:rPr>
                        <a:t> the effector with a synapse in a ganglion </a:t>
                      </a:r>
                      <a:endParaRPr lang="en-AU" sz="2000" b="1" dirty="0">
                        <a:solidFill>
                          <a:schemeClr val="tx1"/>
                        </a:solidFill>
                      </a:endParaRPr>
                    </a:p>
                  </a:txBody>
                  <a:tcPr/>
                </a:tc>
                <a:tc>
                  <a:txBody>
                    <a:bodyPr/>
                    <a:lstStyle/>
                    <a:p>
                      <a:pPr algn="ctr"/>
                      <a:r>
                        <a:rPr lang="en-AU" sz="2000" b="1" dirty="0">
                          <a:solidFill>
                            <a:schemeClr val="tx1"/>
                          </a:solidFill>
                        </a:rPr>
                        <a:t>One nerve fibre from the CNS to the effector; no synapse and no ganglion</a:t>
                      </a:r>
                    </a:p>
                  </a:txBody>
                  <a:tcPr/>
                </a:tc>
                <a:extLst>
                  <a:ext uri="{0D108BD9-81ED-4DB2-BD59-A6C34878D82A}">
                    <a16:rowId xmlns:a16="http://schemas.microsoft.com/office/drawing/2014/main" val="2088645114"/>
                  </a:ext>
                </a:extLst>
              </a:tr>
              <a:tr h="752596">
                <a:tc>
                  <a:txBody>
                    <a:bodyPr/>
                    <a:lstStyle/>
                    <a:p>
                      <a:pPr algn="ctr"/>
                      <a:r>
                        <a:rPr lang="en-AU" sz="2000" b="1" dirty="0">
                          <a:solidFill>
                            <a:schemeClr val="tx1"/>
                          </a:solidFill>
                        </a:rPr>
                        <a:t>Neurotransmitter at effector </a:t>
                      </a:r>
                    </a:p>
                  </a:txBody>
                  <a:tcPr/>
                </a:tc>
                <a:tc>
                  <a:txBody>
                    <a:bodyPr/>
                    <a:lstStyle/>
                    <a:p>
                      <a:pPr algn="ctr"/>
                      <a:r>
                        <a:rPr lang="en-AU" sz="2000" b="1" dirty="0">
                          <a:solidFill>
                            <a:schemeClr val="tx1"/>
                          </a:solidFill>
                        </a:rPr>
                        <a:t>Acetylcholine or noradrenaline</a:t>
                      </a:r>
                    </a:p>
                  </a:txBody>
                  <a:tcPr/>
                </a:tc>
                <a:tc>
                  <a:txBody>
                    <a:bodyPr/>
                    <a:lstStyle/>
                    <a:p>
                      <a:pPr algn="ctr"/>
                      <a:r>
                        <a:rPr lang="en-AU" sz="2000" b="1" dirty="0">
                          <a:solidFill>
                            <a:schemeClr val="tx1"/>
                          </a:solidFill>
                        </a:rPr>
                        <a:t>Acetylcholine</a:t>
                      </a:r>
                    </a:p>
                  </a:txBody>
                  <a:tcPr/>
                </a:tc>
                <a:extLst>
                  <a:ext uri="{0D108BD9-81ED-4DB2-BD59-A6C34878D82A}">
                    <a16:rowId xmlns:a16="http://schemas.microsoft.com/office/drawing/2014/main" val="17212956"/>
                  </a:ext>
                </a:extLst>
              </a:tr>
              <a:tr h="752596">
                <a:tc>
                  <a:txBody>
                    <a:bodyPr/>
                    <a:lstStyle/>
                    <a:p>
                      <a:pPr algn="ctr"/>
                      <a:r>
                        <a:rPr lang="en-AU" sz="2000" b="1" dirty="0">
                          <a:solidFill>
                            <a:schemeClr val="tx1"/>
                          </a:solidFill>
                        </a:rPr>
                        <a:t>Control</a:t>
                      </a:r>
                    </a:p>
                  </a:txBody>
                  <a:tcPr/>
                </a:tc>
                <a:tc>
                  <a:txBody>
                    <a:bodyPr/>
                    <a:lstStyle/>
                    <a:p>
                      <a:pPr algn="ctr"/>
                      <a:r>
                        <a:rPr lang="en-AU" sz="2000" b="1" dirty="0">
                          <a:solidFill>
                            <a:schemeClr val="tx1"/>
                          </a:solidFill>
                        </a:rPr>
                        <a:t>Usually involuntary </a:t>
                      </a:r>
                    </a:p>
                  </a:txBody>
                  <a:tcPr/>
                </a:tc>
                <a:tc>
                  <a:txBody>
                    <a:bodyPr/>
                    <a:lstStyle/>
                    <a:p>
                      <a:pPr algn="ctr"/>
                      <a:r>
                        <a:rPr lang="en-AU" sz="2000" b="1" dirty="0">
                          <a:solidFill>
                            <a:schemeClr val="tx1"/>
                          </a:solidFill>
                        </a:rPr>
                        <a:t>Usually voluntary </a:t>
                      </a:r>
                    </a:p>
                  </a:txBody>
                  <a:tcPr/>
                </a:tc>
                <a:extLst>
                  <a:ext uri="{0D108BD9-81ED-4DB2-BD59-A6C34878D82A}">
                    <a16:rowId xmlns:a16="http://schemas.microsoft.com/office/drawing/2014/main" val="682351021"/>
                  </a:ext>
                </a:extLst>
              </a:tr>
              <a:tr h="752596">
                <a:tc>
                  <a:txBody>
                    <a:bodyPr/>
                    <a:lstStyle/>
                    <a:p>
                      <a:pPr algn="ctr"/>
                      <a:r>
                        <a:rPr lang="en-AU" sz="2000" b="1" dirty="0">
                          <a:solidFill>
                            <a:schemeClr val="tx1"/>
                          </a:solidFill>
                        </a:rPr>
                        <a:t>Nerves to target organ </a:t>
                      </a:r>
                    </a:p>
                  </a:txBody>
                  <a:tcPr/>
                </a:tc>
                <a:tc>
                  <a:txBody>
                    <a:bodyPr/>
                    <a:lstStyle/>
                    <a:p>
                      <a:pPr algn="ctr"/>
                      <a:r>
                        <a:rPr lang="en-AU" sz="2000" b="1" dirty="0">
                          <a:solidFill>
                            <a:schemeClr val="tx1"/>
                          </a:solidFill>
                        </a:rPr>
                        <a:t>Two sets- sympathetic and parasympathetic</a:t>
                      </a:r>
                      <a:r>
                        <a:rPr lang="en-AU" sz="2000" b="1" baseline="0" dirty="0">
                          <a:solidFill>
                            <a:schemeClr val="tx1"/>
                          </a:solidFill>
                        </a:rPr>
                        <a:t> </a:t>
                      </a:r>
                      <a:endParaRPr lang="en-AU" sz="2000" b="1" dirty="0">
                        <a:solidFill>
                          <a:schemeClr val="tx1"/>
                        </a:solidFill>
                      </a:endParaRPr>
                    </a:p>
                  </a:txBody>
                  <a:tcPr/>
                </a:tc>
                <a:tc>
                  <a:txBody>
                    <a:bodyPr/>
                    <a:lstStyle/>
                    <a:p>
                      <a:pPr algn="ctr"/>
                      <a:r>
                        <a:rPr lang="en-AU" sz="2000" b="1" dirty="0">
                          <a:solidFill>
                            <a:schemeClr val="tx1"/>
                          </a:solidFill>
                        </a:rPr>
                        <a:t>One set</a:t>
                      </a:r>
                    </a:p>
                  </a:txBody>
                  <a:tcPr/>
                </a:tc>
                <a:extLst>
                  <a:ext uri="{0D108BD9-81ED-4DB2-BD59-A6C34878D82A}">
                    <a16:rowId xmlns:a16="http://schemas.microsoft.com/office/drawing/2014/main" val="1940952220"/>
                  </a:ext>
                </a:extLst>
              </a:tr>
              <a:tr h="752596">
                <a:tc>
                  <a:txBody>
                    <a:bodyPr/>
                    <a:lstStyle/>
                    <a:p>
                      <a:pPr algn="ctr"/>
                      <a:r>
                        <a:rPr lang="en-AU" sz="2000" b="1" dirty="0">
                          <a:solidFill>
                            <a:schemeClr val="tx1"/>
                          </a:solidFill>
                        </a:rPr>
                        <a:t>Effect on target organ </a:t>
                      </a:r>
                    </a:p>
                  </a:txBody>
                  <a:tcPr/>
                </a:tc>
                <a:tc>
                  <a:txBody>
                    <a:bodyPr/>
                    <a:lstStyle/>
                    <a:p>
                      <a:pPr algn="ctr"/>
                      <a:r>
                        <a:rPr lang="en-AU" sz="2000" b="1" dirty="0">
                          <a:solidFill>
                            <a:schemeClr val="tx1"/>
                          </a:solidFill>
                        </a:rPr>
                        <a:t>Excitation or inhibition </a:t>
                      </a:r>
                    </a:p>
                  </a:txBody>
                  <a:tcPr/>
                </a:tc>
                <a:tc>
                  <a:txBody>
                    <a:bodyPr/>
                    <a:lstStyle/>
                    <a:p>
                      <a:pPr algn="ctr"/>
                      <a:r>
                        <a:rPr lang="en-AU" sz="2000" b="1" dirty="0">
                          <a:solidFill>
                            <a:schemeClr val="tx1"/>
                          </a:solidFill>
                        </a:rPr>
                        <a:t>Always excitation </a:t>
                      </a:r>
                    </a:p>
                  </a:txBody>
                  <a:tcPr/>
                </a:tc>
                <a:extLst>
                  <a:ext uri="{0D108BD9-81ED-4DB2-BD59-A6C34878D82A}">
                    <a16:rowId xmlns:a16="http://schemas.microsoft.com/office/drawing/2014/main" val="2299238030"/>
                  </a:ext>
                </a:extLst>
              </a:tr>
            </a:tbl>
          </a:graphicData>
        </a:graphic>
      </p:graphicFrame>
      <p:sp>
        <p:nvSpPr>
          <p:cNvPr id="3" name="TextBox 2"/>
          <p:cNvSpPr txBox="1"/>
          <p:nvPr/>
        </p:nvSpPr>
        <p:spPr>
          <a:xfrm>
            <a:off x="139337" y="156754"/>
            <a:ext cx="11660777" cy="400110"/>
          </a:xfrm>
          <a:prstGeom prst="rect">
            <a:avLst/>
          </a:prstGeom>
          <a:noFill/>
        </p:spPr>
        <p:txBody>
          <a:bodyPr wrap="square" rtlCol="0">
            <a:spAutoFit/>
          </a:bodyPr>
          <a:lstStyle/>
          <a:p>
            <a:pPr algn="ctr"/>
            <a:r>
              <a:rPr lang="en-AU" sz="2000" b="1" dirty="0"/>
              <a:t>A COMPARISON BETWEEN THE AUTONOMIC AND SOMATIC DIVISIONS OF THE PNS </a:t>
            </a:r>
          </a:p>
        </p:txBody>
      </p:sp>
    </p:spTree>
    <p:extLst>
      <p:ext uri="{BB962C8B-B14F-4D97-AF65-F5344CB8AC3E}">
        <p14:creationId xmlns:p14="http://schemas.microsoft.com/office/powerpoint/2010/main" val="10387892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effectLst>
                  <a:outerShdw blurRad="38100" dist="38100" dir="2700000" algn="tl">
                    <a:srgbClr val="000000">
                      <a:alpha val="43137"/>
                    </a:srgbClr>
                  </a:outerShdw>
                </a:effectLst>
              </a:rPr>
              <a:t>The differences in divisions </a:t>
            </a:r>
          </a:p>
        </p:txBody>
      </p:sp>
      <p:sp>
        <p:nvSpPr>
          <p:cNvPr id="3" name="Content Placeholder 2"/>
          <p:cNvSpPr>
            <a:spLocks noGrp="1"/>
          </p:cNvSpPr>
          <p:nvPr>
            <p:ph idx="1"/>
          </p:nvPr>
        </p:nvSpPr>
        <p:spPr/>
        <p:txBody>
          <a:bodyPr>
            <a:normAutofit/>
          </a:bodyPr>
          <a:lstStyle/>
          <a:p>
            <a:r>
              <a:rPr lang="en-AU" sz="3200" b="1" u="sng" dirty="0"/>
              <a:t>The parasympathetic division generally produces responses that maintain the body during relatively quiet conditions. </a:t>
            </a:r>
          </a:p>
          <a:p>
            <a:endParaRPr lang="en-AU" sz="3200" b="1" u="sng" dirty="0"/>
          </a:p>
          <a:p>
            <a:r>
              <a:rPr lang="en-AU" sz="3200" b="1" u="sng" dirty="0"/>
              <a:t>The sympathetic division, on the other hand, tends to produce responses that prepare the body for strenuous physical activity (fight-or-flight responses). </a:t>
            </a:r>
          </a:p>
        </p:txBody>
      </p:sp>
    </p:spTree>
    <p:extLst>
      <p:ext uri="{BB962C8B-B14F-4D97-AF65-F5344CB8AC3E}">
        <p14:creationId xmlns:p14="http://schemas.microsoft.com/office/powerpoint/2010/main" val="35716941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76668941"/>
              </p:ext>
            </p:extLst>
          </p:nvPr>
        </p:nvGraphicFramePr>
        <p:xfrm>
          <a:off x="89989" y="487197"/>
          <a:ext cx="11927842" cy="6118214"/>
        </p:xfrm>
        <a:graphic>
          <a:graphicData uri="http://schemas.openxmlformats.org/drawingml/2006/table">
            <a:tbl>
              <a:tblPr firstRow="1" bandRow="1">
                <a:tableStyleId>{5C22544A-7EE6-4342-B048-85BDC9FD1C3A}</a:tableStyleId>
              </a:tblPr>
              <a:tblGrid>
                <a:gridCol w="2418080">
                  <a:extLst>
                    <a:ext uri="{9D8B030D-6E8A-4147-A177-3AD203B41FA5}">
                      <a16:colId xmlns:a16="http://schemas.microsoft.com/office/drawing/2014/main" val="1099370135"/>
                    </a:ext>
                  </a:extLst>
                </a:gridCol>
                <a:gridCol w="4754881">
                  <a:extLst>
                    <a:ext uri="{9D8B030D-6E8A-4147-A177-3AD203B41FA5}">
                      <a16:colId xmlns:a16="http://schemas.microsoft.com/office/drawing/2014/main" val="2749599160"/>
                    </a:ext>
                  </a:extLst>
                </a:gridCol>
                <a:gridCol w="4754881">
                  <a:extLst>
                    <a:ext uri="{9D8B030D-6E8A-4147-A177-3AD203B41FA5}">
                      <a16:colId xmlns:a16="http://schemas.microsoft.com/office/drawing/2014/main" val="2099602176"/>
                    </a:ext>
                  </a:extLst>
                </a:gridCol>
              </a:tblGrid>
              <a:tr h="654674">
                <a:tc>
                  <a:txBody>
                    <a:bodyPr/>
                    <a:lstStyle/>
                    <a:p>
                      <a:r>
                        <a:rPr lang="en-AU" sz="2150" b="1" dirty="0"/>
                        <a:t>Structure</a:t>
                      </a:r>
                    </a:p>
                  </a:txBody>
                  <a:tcPr/>
                </a:tc>
                <a:tc>
                  <a:txBody>
                    <a:bodyPr/>
                    <a:lstStyle/>
                    <a:p>
                      <a:r>
                        <a:rPr lang="en-AU" sz="2150" b="1" dirty="0"/>
                        <a:t>Effect of sympathetic stimulation </a:t>
                      </a:r>
                    </a:p>
                  </a:txBody>
                  <a:tcPr/>
                </a:tc>
                <a:tc>
                  <a:txBody>
                    <a:bodyPr/>
                    <a:lstStyle/>
                    <a:p>
                      <a:r>
                        <a:rPr lang="en-AU" sz="2150" b="1" dirty="0"/>
                        <a:t>Effect of parasympathetic</a:t>
                      </a:r>
                      <a:r>
                        <a:rPr lang="en-AU" sz="2150" b="1" baseline="0" dirty="0"/>
                        <a:t> stimulation </a:t>
                      </a:r>
                      <a:endParaRPr lang="en-AU" sz="2150" b="1" dirty="0"/>
                    </a:p>
                  </a:txBody>
                  <a:tcPr/>
                </a:tc>
                <a:extLst>
                  <a:ext uri="{0D108BD9-81ED-4DB2-BD59-A6C34878D82A}">
                    <a16:rowId xmlns:a16="http://schemas.microsoft.com/office/drawing/2014/main" val="1209565165"/>
                  </a:ext>
                </a:extLst>
              </a:tr>
              <a:tr h="379295">
                <a:tc>
                  <a:txBody>
                    <a:bodyPr/>
                    <a:lstStyle/>
                    <a:p>
                      <a:r>
                        <a:rPr lang="en-AU" sz="2150" b="1" dirty="0"/>
                        <a:t>Heart</a:t>
                      </a:r>
                    </a:p>
                  </a:txBody>
                  <a:tcPr/>
                </a:tc>
                <a:tc>
                  <a:txBody>
                    <a:bodyPr/>
                    <a:lstStyle/>
                    <a:p>
                      <a:r>
                        <a:rPr lang="en-AU" sz="2150" b="1" dirty="0"/>
                        <a:t>Increases rate</a:t>
                      </a:r>
                      <a:r>
                        <a:rPr lang="en-AU" sz="2150" b="1" baseline="0" dirty="0"/>
                        <a:t> and strength of contraction</a:t>
                      </a:r>
                      <a:endParaRPr lang="en-AU" sz="2150" b="1" dirty="0"/>
                    </a:p>
                  </a:txBody>
                  <a:tcPr/>
                </a:tc>
                <a:tc>
                  <a:txBody>
                    <a:bodyPr/>
                    <a:lstStyle/>
                    <a:p>
                      <a:r>
                        <a:rPr lang="en-AU" sz="2150" b="1" dirty="0"/>
                        <a:t>Decreases rate and strength of contraction</a:t>
                      </a:r>
                    </a:p>
                  </a:txBody>
                  <a:tcPr/>
                </a:tc>
                <a:extLst>
                  <a:ext uri="{0D108BD9-81ED-4DB2-BD59-A6C34878D82A}">
                    <a16:rowId xmlns:a16="http://schemas.microsoft.com/office/drawing/2014/main" val="3091780481"/>
                  </a:ext>
                </a:extLst>
              </a:tr>
              <a:tr h="379295">
                <a:tc>
                  <a:txBody>
                    <a:bodyPr/>
                    <a:lstStyle/>
                    <a:p>
                      <a:r>
                        <a:rPr lang="en-AU" sz="2150" b="1" dirty="0"/>
                        <a:t>Lungs</a:t>
                      </a:r>
                    </a:p>
                  </a:txBody>
                  <a:tcPr/>
                </a:tc>
                <a:tc>
                  <a:txBody>
                    <a:bodyPr/>
                    <a:lstStyle/>
                    <a:p>
                      <a:r>
                        <a:rPr lang="en-AU" sz="2150" b="1" dirty="0"/>
                        <a:t>Dilates bronchioles (fine</a:t>
                      </a:r>
                      <a:r>
                        <a:rPr lang="en-AU" sz="2150" b="1" baseline="0" dirty="0"/>
                        <a:t> air passages in the lungs) </a:t>
                      </a:r>
                      <a:endParaRPr lang="en-AU" sz="2150" b="1" dirty="0"/>
                    </a:p>
                  </a:txBody>
                  <a:tcPr/>
                </a:tc>
                <a:tc>
                  <a:txBody>
                    <a:bodyPr/>
                    <a:lstStyle/>
                    <a:p>
                      <a:r>
                        <a:rPr lang="en-AU" sz="2150" b="1" dirty="0"/>
                        <a:t>Constricts bronchioles</a:t>
                      </a:r>
                      <a:r>
                        <a:rPr lang="en-AU" sz="2150" b="1" baseline="0" dirty="0"/>
                        <a:t> </a:t>
                      </a:r>
                      <a:endParaRPr lang="en-AU" sz="2150" b="1" dirty="0"/>
                    </a:p>
                  </a:txBody>
                  <a:tcPr/>
                </a:tc>
                <a:extLst>
                  <a:ext uri="{0D108BD9-81ED-4DB2-BD59-A6C34878D82A}">
                    <a16:rowId xmlns:a16="http://schemas.microsoft.com/office/drawing/2014/main" val="2987003505"/>
                  </a:ext>
                </a:extLst>
              </a:tr>
              <a:tr h="379295">
                <a:tc>
                  <a:txBody>
                    <a:bodyPr/>
                    <a:lstStyle/>
                    <a:p>
                      <a:r>
                        <a:rPr lang="en-AU" sz="2150" b="1" dirty="0"/>
                        <a:t>Stomach, intestines</a:t>
                      </a:r>
                    </a:p>
                  </a:txBody>
                  <a:tcPr/>
                </a:tc>
                <a:tc>
                  <a:txBody>
                    <a:bodyPr/>
                    <a:lstStyle/>
                    <a:p>
                      <a:r>
                        <a:rPr lang="en-AU" sz="2150" b="1" dirty="0"/>
                        <a:t>Decreases movement</a:t>
                      </a:r>
                    </a:p>
                  </a:txBody>
                  <a:tcPr/>
                </a:tc>
                <a:tc>
                  <a:txBody>
                    <a:bodyPr/>
                    <a:lstStyle/>
                    <a:p>
                      <a:r>
                        <a:rPr lang="en-AU" sz="2150" b="1" dirty="0"/>
                        <a:t>Increases movement </a:t>
                      </a:r>
                    </a:p>
                  </a:txBody>
                  <a:tcPr/>
                </a:tc>
                <a:extLst>
                  <a:ext uri="{0D108BD9-81ED-4DB2-BD59-A6C34878D82A}">
                    <a16:rowId xmlns:a16="http://schemas.microsoft.com/office/drawing/2014/main" val="518676717"/>
                  </a:ext>
                </a:extLst>
              </a:tr>
              <a:tr h="379295">
                <a:tc>
                  <a:txBody>
                    <a:bodyPr/>
                    <a:lstStyle/>
                    <a:p>
                      <a:r>
                        <a:rPr lang="en-AU" sz="2150" b="1" dirty="0"/>
                        <a:t>Liver </a:t>
                      </a:r>
                    </a:p>
                  </a:txBody>
                  <a:tcPr/>
                </a:tc>
                <a:tc>
                  <a:txBody>
                    <a:bodyPr/>
                    <a:lstStyle/>
                    <a:p>
                      <a:r>
                        <a:rPr lang="en-AU" sz="2150" b="1" dirty="0"/>
                        <a:t>Increases breakdown of glycogen and release of glucose </a:t>
                      </a:r>
                    </a:p>
                  </a:txBody>
                  <a:tcPr/>
                </a:tc>
                <a:tc>
                  <a:txBody>
                    <a:bodyPr/>
                    <a:lstStyle/>
                    <a:p>
                      <a:r>
                        <a:rPr lang="en-AU" sz="2150" b="1" dirty="0"/>
                        <a:t>Increases uptake of glucose and synthesis of glycogen </a:t>
                      </a:r>
                    </a:p>
                  </a:txBody>
                  <a:tcPr/>
                </a:tc>
                <a:extLst>
                  <a:ext uri="{0D108BD9-81ED-4DB2-BD59-A6C34878D82A}">
                    <a16:rowId xmlns:a16="http://schemas.microsoft.com/office/drawing/2014/main" val="322195226"/>
                  </a:ext>
                </a:extLst>
              </a:tr>
              <a:tr h="379295">
                <a:tc>
                  <a:txBody>
                    <a:bodyPr/>
                    <a:lstStyle/>
                    <a:p>
                      <a:r>
                        <a:rPr lang="en-AU" sz="2150" b="1" dirty="0"/>
                        <a:t>Iris of the eye </a:t>
                      </a:r>
                    </a:p>
                  </a:txBody>
                  <a:tcPr/>
                </a:tc>
                <a:tc>
                  <a:txBody>
                    <a:bodyPr/>
                    <a:lstStyle/>
                    <a:p>
                      <a:r>
                        <a:rPr lang="en-AU" sz="2150" b="1" dirty="0"/>
                        <a:t>Dilates pupil </a:t>
                      </a:r>
                    </a:p>
                  </a:txBody>
                  <a:tcPr/>
                </a:tc>
                <a:tc>
                  <a:txBody>
                    <a:bodyPr/>
                    <a:lstStyle/>
                    <a:p>
                      <a:r>
                        <a:rPr lang="en-AU" sz="2150" b="1" dirty="0"/>
                        <a:t>Constricts pupil </a:t>
                      </a:r>
                    </a:p>
                  </a:txBody>
                  <a:tcPr/>
                </a:tc>
                <a:extLst>
                  <a:ext uri="{0D108BD9-81ED-4DB2-BD59-A6C34878D82A}">
                    <a16:rowId xmlns:a16="http://schemas.microsoft.com/office/drawing/2014/main" val="2091835261"/>
                  </a:ext>
                </a:extLst>
              </a:tr>
              <a:tr h="379295">
                <a:tc>
                  <a:txBody>
                    <a:bodyPr/>
                    <a:lstStyle/>
                    <a:p>
                      <a:r>
                        <a:rPr lang="en-AU" sz="2150" b="1" dirty="0"/>
                        <a:t>Blood</a:t>
                      </a:r>
                      <a:r>
                        <a:rPr lang="en-AU" sz="2150" b="1" baseline="0" dirty="0"/>
                        <a:t> vessels of: </a:t>
                      </a:r>
                    </a:p>
                    <a:p>
                      <a:r>
                        <a:rPr lang="en-AU" sz="2150" b="1" dirty="0"/>
                        <a:t>      skin </a:t>
                      </a:r>
                    </a:p>
                    <a:p>
                      <a:endParaRPr lang="en-AU" sz="2150" b="1" dirty="0"/>
                    </a:p>
                    <a:p>
                      <a:r>
                        <a:rPr lang="en-AU" sz="2150" b="1" dirty="0"/>
                        <a:t>      skeletal muscles</a:t>
                      </a:r>
                    </a:p>
                    <a:p>
                      <a:r>
                        <a:rPr lang="en-AU" sz="2150" b="1" dirty="0"/>
                        <a:t> </a:t>
                      </a:r>
                    </a:p>
                    <a:p>
                      <a:r>
                        <a:rPr lang="en-AU" sz="2150" b="1" dirty="0"/>
                        <a:t>      internal organs </a:t>
                      </a:r>
                    </a:p>
                  </a:txBody>
                  <a:tcPr/>
                </a:tc>
                <a:tc>
                  <a:txBody>
                    <a:bodyPr/>
                    <a:lstStyle/>
                    <a:p>
                      <a:endParaRPr lang="en-AU" sz="2150" b="1" dirty="0"/>
                    </a:p>
                    <a:p>
                      <a:r>
                        <a:rPr lang="en-AU" sz="2150" b="1" dirty="0"/>
                        <a:t>Constricts vessels </a:t>
                      </a:r>
                    </a:p>
                    <a:p>
                      <a:endParaRPr lang="en-AU" sz="2150" b="1" dirty="0"/>
                    </a:p>
                    <a:p>
                      <a:r>
                        <a:rPr lang="en-AU" sz="2150" b="1" dirty="0"/>
                        <a:t>Dilates vessels</a:t>
                      </a:r>
                      <a:r>
                        <a:rPr lang="en-AU" sz="2150" b="1" baseline="0" dirty="0"/>
                        <a:t> </a:t>
                      </a:r>
                    </a:p>
                    <a:p>
                      <a:endParaRPr lang="en-AU" sz="2150" b="1" baseline="0" dirty="0"/>
                    </a:p>
                    <a:p>
                      <a:r>
                        <a:rPr lang="en-AU" sz="2150" b="1" baseline="0" dirty="0"/>
                        <a:t>Constricts vessels (except in heart and lung) </a:t>
                      </a:r>
                      <a:endParaRPr lang="en-AU" sz="2150" b="1" dirty="0"/>
                    </a:p>
                  </a:txBody>
                  <a:tcPr/>
                </a:tc>
                <a:tc>
                  <a:txBody>
                    <a:bodyPr/>
                    <a:lstStyle/>
                    <a:p>
                      <a:endParaRPr lang="en-AU" sz="2150" b="1" dirty="0"/>
                    </a:p>
                    <a:p>
                      <a:r>
                        <a:rPr lang="en-AU" sz="2150" b="1" dirty="0"/>
                        <a:t>Little effect </a:t>
                      </a:r>
                    </a:p>
                    <a:p>
                      <a:endParaRPr lang="en-AU" sz="2150" b="1" dirty="0"/>
                    </a:p>
                    <a:p>
                      <a:r>
                        <a:rPr lang="en-AU" sz="2150" b="1" dirty="0"/>
                        <a:t>No effect </a:t>
                      </a:r>
                    </a:p>
                    <a:p>
                      <a:endParaRPr lang="en-AU" sz="2150" b="1" dirty="0"/>
                    </a:p>
                    <a:p>
                      <a:r>
                        <a:rPr lang="en-AU" sz="2150" b="1" dirty="0"/>
                        <a:t>Little effect </a:t>
                      </a:r>
                    </a:p>
                  </a:txBody>
                  <a:tcPr/>
                </a:tc>
                <a:extLst>
                  <a:ext uri="{0D108BD9-81ED-4DB2-BD59-A6C34878D82A}">
                    <a16:rowId xmlns:a16="http://schemas.microsoft.com/office/drawing/2014/main" val="188687521"/>
                  </a:ext>
                </a:extLst>
              </a:tr>
            </a:tbl>
          </a:graphicData>
        </a:graphic>
      </p:graphicFrame>
      <p:sp>
        <p:nvSpPr>
          <p:cNvPr id="3" name="TextBox 2"/>
          <p:cNvSpPr txBox="1"/>
          <p:nvPr/>
        </p:nvSpPr>
        <p:spPr>
          <a:xfrm>
            <a:off x="296091" y="87086"/>
            <a:ext cx="11608526" cy="400110"/>
          </a:xfrm>
          <a:prstGeom prst="rect">
            <a:avLst/>
          </a:prstGeom>
          <a:noFill/>
        </p:spPr>
        <p:txBody>
          <a:bodyPr wrap="square" rtlCol="0">
            <a:spAutoFit/>
          </a:bodyPr>
          <a:lstStyle/>
          <a:p>
            <a:pPr algn="ctr"/>
            <a:r>
              <a:rPr lang="en-AU" sz="2000" b="1" dirty="0"/>
              <a:t>A summary of the effects of the autonomic nervous system </a:t>
            </a:r>
          </a:p>
        </p:txBody>
      </p:sp>
    </p:spTree>
    <p:extLst>
      <p:ext uri="{BB962C8B-B14F-4D97-AF65-F5344CB8AC3E}">
        <p14:creationId xmlns:p14="http://schemas.microsoft.com/office/powerpoint/2010/main" val="39585362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5651" y="0"/>
            <a:ext cx="10515600" cy="1325563"/>
          </a:xfrm>
        </p:spPr>
        <p:txBody>
          <a:bodyPr>
            <a:normAutofit/>
          </a:bodyPr>
          <a:lstStyle/>
          <a:p>
            <a:r>
              <a:rPr lang="en-AU" sz="6000" b="1" dirty="0">
                <a:effectLst>
                  <a:outerShdw blurRad="38100" dist="38100" dir="2700000" algn="tl">
                    <a:srgbClr val="000000">
                      <a:alpha val="43137"/>
                    </a:srgbClr>
                  </a:outerShdw>
                </a:effectLst>
              </a:rPr>
              <a:t>Flight or Fight </a:t>
            </a:r>
          </a:p>
        </p:txBody>
      </p:sp>
      <p:sp>
        <p:nvSpPr>
          <p:cNvPr id="3" name="Content Placeholder 2"/>
          <p:cNvSpPr>
            <a:spLocks noGrp="1"/>
          </p:cNvSpPr>
          <p:nvPr>
            <p:ph idx="1"/>
          </p:nvPr>
        </p:nvSpPr>
        <p:spPr>
          <a:xfrm>
            <a:off x="481149" y="1325563"/>
            <a:ext cx="10515600" cy="4351338"/>
          </a:xfrm>
        </p:spPr>
        <p:txBody>
          <a:bodyPr>
            <a:normAutofit/>
          </a:bodyPr>
          <a:lstStyle/>
          <a:p>
            <a:r>
              <a:rPr lang="en-AU" sz="3200" b="1" u="sng" dirty="0"/>
              <a:t>In threatening situations the </a:t>
            </a:r>
            <a:r>
              <a:rPr lang="en-AU" sz="3200" b="1" dirty="0"/>
              <a:t>balance between the sympathetic and parasympathetic stimulation is upset and the </a:t>
            </a:r>
            <a:r>
              <a:rPr lang="en-AU" sz="3200" b="1" u="sng" dirty="0"/>
              <a:t>sympathetic becomes dominant</a:t>
            </a:r>
            <a:r>
              <a:rPr lang="en-AU" sz="3200" b="1" dirty="0"/>
              <a:t>. E.g. danger situations. </a:t>
            </a:r>
          </a:p>
          <a:p>
            <a:r>
              <a:rPr lang="en-AU" sz="3200" b="1" u="sng" dirty="0"/>
              <a:t>These responses prepare the body for increased activity and include </a:t>
            </a:r>
          </a:p>
          <a:p>
            <a:pPr lvl="1"/>
            <a:r>
              <a:rPr lang="en-AU" sz="2800" b="1" u="sng" dirty="0"/>
              <a:t>Increased heart rate </a:t>
            </a:r>
          </a:p>
          <a:p>
            <a:pPr lvl="1"/>
            <a:r>
              <a:rPr lang="en-AU" sz="2800" b="1" u="sng" dirty="0"/>
              <a:t>Blood vessels dilate or constrict</a:t>
            </a:r>
          </a:p>
          <a:p>
            <a:pPr lvl="1"/>
            <a:r>
              <a:rPr lang="en-AU" sz="2800" b="1" u="sng" dirty="0"/>
              <a:t>Rate of breathing increases </a:t>
            </a:r>
          </a:p>
          <a:p>
            <a:pPr lvl="1"/>
            <a:r>
              <a:rPr lang="en-AU" sz="2800" b="1" u="sng" dirty="0"/>
              <a:t>Adrenaline is released </a:t>
            </a:r>
          </a:p>
        </p:txBody>
      </p:sp>
      <p:pic>
        <p:nvPicPr>
          <p:cNvPr id="1026" name="Picture 2" descr="Boxing Glove, PNG, 594x504px, Boxing, Boxing Equipment, Boxing Glove, Glove,  Kickboxing Download Free"/>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2778" b="95238" l="10000" r="90000"/>
                    </a14:imgEffect>
                  </a14:imgLayer>
                </a14:imgProps>
              </a:ext>
              <a:ext uri="{28A0092B-C50C-407E-A947-70E740481C1C}">
                <a14:useLocalDpi xmlns:a14="http://schemas.microsoft.com/office/drawing/2010/main" val="0"/>
              </a:ext>
            </a:extLst>
          </a:blip>
          <a:srcRect l="17409" t="3654" r="14800" b="2377"/>
          <a:stretch/>
        </p:blipFill>
        <p:spPr bwMode="auto">
          <a:xfrm>
            <a:off x="8900160" y="4118437"/>
            <a:ext cx="3215549" cy="2739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53721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866603233"/>
              </p:ext>
            </p:extLst>
          </p:nvPr>
        </p:nvGraphicFramePr>
        <p:xfrm>
          <a:off x="246743" y="539447"/>
          <a:ext cx="11535954" cy="6200986"/>
        </p:xfrm>
        <a:graphic>
          <a:graphicData uri="http://schemas.openxmlformats.org/drawingml/2006/table">
            <a:tbl>
              <a:tblPr firstRow="1" bandRow="1">
                <a:tableStyleId>{5C22544A-7EE6-4342-B048-85BDC9FD1C3A}</a:tableStyleId>
              </a:tblPr>
              <a:tblGrid>
                <a:gridCol w="3845318">
                  <a:extLst>
                    <a:ext uri="{9D8B030D-6E8A-4147-A177-3AD203B41FA5}">
                      <a16:colId xmlns:a16="http://schemas.microsoft.com/office/drawing/2014/main" val="2947640537"/>
                    </a:ext>
                  </a:extLst>
                </a:gridCol>
                <a:gridCol w="3845318">
                  <a:extLst>
                    <a:ext uri="{9D8B030D-6E8A-4147-A177-3AD203B41FA5}">
                      <a16:colId xmlns:a16="http://schemas.microsoft.com/office/drawing/2014/main" val="849581024"/>
                    </a:ext>
                  </a:extLst>
                </a:gridCol>
                <a:gridCol w="3845318">
                  <a:extLst>
                    <a:ext uri="{9D8B030D-6E8A-4147-A177-3AD203B41FA5}">
                      <a16:colId xmlns:a16="http://schemas.microsoft.com/office/drawing/2014/main" val="1889907356"/>
                    </a:ext>
                  </a:extLst>
                </a:gridCol>
              </a:tblGrid>
              <a:tr h="512652">
                <a:tc>
                  <a:txBody>
                    <a:bodyPr/>
                    <a:lstStyle/>
                    <a:p>
                      <a:r>
                        <a:rPr lang="en-AU" sz="2400" b="1" dirty="0"/>
                        <a:t>Characteristic </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tc>
                  <a:txBody>
                    <a:bodyPr/>
                    <a:lstStyle/>
                    <a:p>
                      <a:r>
                        <a:rPr lang="en-AU" sz="2400" b="1" dirty="0"/>
                        <a:t>Nervous System</a:t>
                      </a:r>
                      <a:r>
                        <a:rPr lang="en-AU" sz="2400" b="1" baseline="0" dirty="0"/>
                        <a:t> </a:t>
                      </a:r>
                      <a:endParaRPr lang="en-AU" sz="2400" b="1"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tc>
                  <a:txBody>
                    <a:bodyPr/>
                    <a:lstStyle/>
                    <a:p>
                      <a:r>
                        <a:rPr lang="en-AU" sz="2400" b="1" dirty="0"/>
                        <a:t>Endocrine System</a:t>
                      </a:r>
                      <a:r>
                        <a:rPr lang="en-AU" sz="2400" b="1" baseline="0" dirty="0"/>
                        <a:t> </a:t>
                      </a:r>
                      <a:endParaRPr lang="en-AU" sz="2400" b="1"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extLst>
                  <a:ext uri="{0D108BD9-81ED-4DB2-BD59-A6C34878D82A}">
                    <a16:rowId xmlns:a16="http://schemas.microsoft.com/office/drawing/2014/main" val="3424517173"/>
                  </a:ext>
                </a:extLst>
              </a:tr>
              <a:tr h="884852">
                <a:tc>
                  <a:txBody>
                    <a:bodyPr/>
                    <a:lstStyle/>
                    <a:p>
                      <a:r>
                        <a:rPr lang="en-AU" sz="2400" b="1" dirty="0"/>
                        <a:t>Nature of message </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AU" sz="2400" b="1" dirty="0"/>
                        <a:t>Electrical impulses and neurotransmitters</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AU" sz="2400" b="1" dirty="0"/>
                        <a:t>Hormones</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58720924"/>
                  </a:ext>
                </a:extLst>
              </a:tr>
              <a:tr h="884852">
                <a:tc>
                  <a:txBody>
                    <a:bodyPr/>
                    <a:lstStyle/>
                    <a:p>
                      <a:r>
                        <a:rPr lang="en-AU" sz="2400" b="1" dirty="0"/>
                        <a:t>Transport of message </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AU" sz="2400" b="1" dirty="0"/>
                        <a:t>Along</a:t>
                      </a:r>
                      <a:r>
                        <a:rPr lang="en-AU" sz="2400" b="1" baseline="0" dirty="0"/>
                        <a:t> the membrane of neurons </a:t>
                      </a:r>
                      <a:endParaRPr lang="en-AU" sz="2400" b="1"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AU" sz="2400" b="1" dirty="0"/>
                        <a:t>By the bloodstream</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80806480"/>
                  </a:ext>
                </a:extLst>
              </a:tr>
              <a:tr h="884852">
                <a:tc>
                  <a:txBody>
                    <a:bodyPr/>
                    <a:lstStyle/>
                    <a:p>
                      <a:r>
                        <a:rPr lang="en-AU" sz="2400" b="1" dirty="0"/>
                        <a:t>Cells affected </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AU" sz="2400" b="1" dirty="0"/>
                        <a:t>Muscle and gland cells; other neurons</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AU" sz="2400" b="1" dirty="0"/>
                        <a:t>All body cells</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42587415"/>
                  </a:ext>
                </a:extLst>
              </a:tr>
              <a:tr h="884852">
                <a:tc>
                  <a:txBody>
                    <a:bodyPr/>
                    <a:lstStyle/>
                    <a:p>
                      <a:r>
                        <a:rPr lang="en-AU" sz="2400" b="1" dirty="0"/>
                        <a:t>Type of response</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AU" sz="2400" b="1" dirty="0"/>
                        <a:t>Usually local and specific </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AU" sz="2400" b="1" dirty="0"/>
                        <a:t>May be very general and widespread</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0722602"/>
                  </a:ext>
                </a:extLst>
              </a:tr>
              <a:tr h="884852">
                <a:tc>
                  <a:txBody>
                    <a:bodyPr/>
                    <a:lstStyle/>
                    <a:p>
                      <a:r>
                        <a:rPr lang="en-AU" sz="2400" b="1" dirty="0"/>
                        <a:t>Time taken to respond</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AU" sz="2400" b="1" dirty="0"/>
                        <a:t>Rapid- within milliseconds </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AU" sz="2400" b="1" dirty="0"/>
                        <a:t>Slower- from seconds to days </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9099250"/>
                  </a:ext>
                </a:extLst>
              </a:tr>
              <a:tr h="1264074">
                <a:tc>
                  <a:txBody>
                    <a:bodyPr/>
                    <a:lstStyle/>
                    <a:p>
                      <a:r>
                        <a:rPr lang="en-AU" sz="2400" b="1" dirty="0"/>
                        <a:t>Duration of response</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AU" sz="2400" b="1" dirty="0"/>
                        <a:t>Brief- stops quickly when the stimulus stops </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AU" sz="2400" b="1" dirty="0"/>
                        <a:t>Longer lasting- may continue long after the</a:t>
                      </a:r>
                      <a:r>
                        <a:rPr lang="en-AU" sz="2400" b="1" baseline="0" dirty="0"/>
                        <a:t> stimulus has stopped </a:t>
                      </a:r>
                      <a:endParaRPr lang="en-AU" sz="2400" b="1"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317858"/>
                  </a:ext>
                </a:extLst>
              </a:tr>
            </a:tbl>
          </a:graphicData>
        </a:graphic>
      </p:graphicFrame>
      <p:sp>
        <p:nvSpPr>
          <p:cNvPr id="3" name="TextBox 2"/>
          <p:cNvSpPr txBox="1"/>
          <p:nvPr/>
        </p:nvSpPr>
        <p:spPr>
          <a:xfrm>
            <a:off x="383177" y="139337"/>
            <a:ext cx="11599817" cy="400110"/>
          </a:xfrm>
          <a:prstGeom prst="rect">
            <a:avLst/>
          </a:prstGeom>
          <a:noFill/>
        </p:spPr>
        <p:txBody>
          <a:bodyPr wrap="square" rtlCol="0">
            <a:spAutoFit/>
          </a:bodyPr>
          <a:lstStyle/>
          <a:p>
            <a:pPr algn="ctr"/>
            <a:r>
              <a:rPr lang="en-AU" sz="2000" b="1" dirty="0"/>
              <a:t>A comparison of the nervous and endocrine systems </a:t>
            </a:r>
          </a:p>
        </p:txBody>
      </p:sp>
    </p:spTree>
    <p:extLst>
      <p:ext uri="{BB962C8B-B14F-4D97-AF65-F5344CB8AC3E}">
        <p14:creationId xmlns:p14="http://schemas.microsoft.com/office/powerpoint/2010/main" val="13685269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C97AC66-E77D-E64E-8317-BE6316B6E9F8}"/>
              </a:ext>
            </a:extLst>
          </p:cNvPr>
          <p:cNvSpPr/>
          <p:nvPr/>
        </p:nvSpPr>
        <p:spPr>
          <a:xfrm>
            <a:off x="1066800" y="2243665"/>
            <a:ext cx="10058400" cy="2370669"/>
          </a:xfrm>
          <a:prstGeom prst="rect">
            <a:avLst/>
          </a:prstGeom>
        </p:spPr>
        <p:txBody>
          <a:bodyPr wrap="square">
            <a:spAutoFit/>
          </a:bodyPr>
          <a:lstStyle/>
          <a:p>
            <a:pPr algn="ctr"/>
            <a:r>
              <a:rPr lang="en-US" sz="7200" b="1" dirty="0"/>
              <a:t>Stimulus-response models </a:t>
            </a:r>
            <a:endParaRPr lang="en-US" sz="7200" dirty="0"/>
          </a:p>
        </p:txBody>
      </p:sp>
    </p:spTree>
    <p:extLst>
      <p:ext uri="{BB962C8B-B14F-4D97-AF65-F5344CB8AC3E}">
        <p14:creationId xmlns:p14="http://schemas.microsoft.com/office/powerpoint/2010/main" val="21878526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B6FEE20-F381-E747-8097-345EBC102A08}"/>
              </a:ext>
            </a:extLst>
          </p:cNvPr>
          <p:cNvGraphicFramePr>
            <a:graphicFrameLocks noGrp="1"/>
          </p:cNvGraphicFramePr>
          <p:nvPr>
            <p:ph idx="1"/>
            <p:extLst>
              <p:ext uri="{D42A27DB-BD31-4B8C-83A1-F6EECF244321}">
                <p14:modId xmlns:p14="http://schemas.microsoft.com/office/powerpoint/2010/main" val="2777890421"/>
              </p:ext>
            </p:extLst>
          </p:nvPr>
        </p:nvGraphicFramePr>
        <p:xfrm>
          <a:off x="0" y="135082"/>
          <a:ext cx="12192000" cy="67229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098564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548BC-C079-F84D-AC49-7C2D4401DDA1}"/>
              </a:ext>
            </a:extLst>
          </p:cNvPr>
          <p:cNvSpPr>
            <a:spLocks noGrp="1"/>
          </p:cNvSpPr>
          <p:nvPr>
            <p:ph type="title"/>
          </p:nvPr>
        </p:nvSpPr>
        <p:spPr/>
        <p:txBody>
          <a:bodyPr>
            <a:normAutofit/>
          </a:bodyPr>
          <a:lstStyle/>
          <a:p>
            <a:r>
              <a:rPr lang="en-US" sz="6000" b="1" dirty="0"/>
              <a:t>Negative Feedback Loops </a:t>
            </a:r>
          </a:p>
        </p:txBody>
      </p:sp>
      <p:sp>
        <p:nvSpPr>
          <p:cNvPr id="3" name="Content Placeholder 2">
            <a:extLst>
              <a:ext uri="{FF2B5EF4-FFF2-40B4-BE49-F238E27FC236}">
                <a16:creationId xmlns:a16="http://schemas.microsoft.com/office/drawing/2014/main" id="{DDACC46E-C25F-0D40-BDFA-3300643F5895}"/>
              </a:ext>
            </a:extLst>
          </p:cNvPr>
          <p:cNvSpPr>
            <a:spLocks noGrp="1"/>
          </p:cNvSpPr>
          <p:nvPr>
            <p:ph idx="1"/>
          </p:nvPr>
        </p:nvSpPr>
        <p:spPr/>
        <p:txBody>
          <a:bodyPr>
            <a:normAutofit/>
          </a:bodyPr>
          <a:lstStyle/>
          <a:p>
            <a:r>
              <a:rPr lang="en-US" sz="3200" b="1" u="sng" dirty="0"/>
              <a:t>In homeostatic mechanisms the response has the effect of reducing or eliminating the stimulus that caused it </a:t>
            </a:r>
          </a:p>
          <a:p>
            <a:endParaRPr lang="en-US" sz="3200" b="1" dirty="0"/>
          </a:p>
          <a:p>
            <a:r>
              <a:rPr lang="en-US" sz="3200" b="1" dirty="0"/>
              <a:t>E.g. Let’s suppose you feel cold. In response to the stimulus of feeling cold you put on a jumper and no longer feel cold. Your response has reduced or eliminated the original stimulus of feeling cold. </a:t>
            </a:r>
          </a:p>
        </p:txBody>
      </p:sp>
    </p:spTree>
    <p:extLst>
      <p:ext uri="{BB962C8B-B14F-4D97-AF65-F5344CB8AC3E}">
        <p14:creationId xmlns:p14="http://schemas.microsoft.com/office/powerpoint/2010/main" val="24514976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pic>
        <p:nvPicPr>
          <p:cNvPr id="1026" name="Picture 2" descr="Homeostasis Pictures - koibana.info | Biology notes, Human body unit,  Nursing school studying">
            <a:extLst>
              <a:ext uri="{FF2B5EF4-FFF2-40B4-BE49-F238E27FC236}">
                <a16:creationId xmlns:a16="http://schemas.microsoft.com/office/drawing/2014/main" id="{091248FB-69F4-5A44-894C-AF2B389ED1E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334" r="-1" b="-1"/>
          <a:stretch/>
        </p:blipFill>
        <p:spPr bwMode="auto">
          <a:xfrm>
            <a:off x="321733" y="321733"/>
            <a:ext cx="11548534" cy="62145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9856755"/>
      </p:ext>
    </p:extLst>
  </p:cSld>
  <p:clrMapOvr>
    <a:overrideClrMapping bg1="dk1" tx1="lt1" bg2="dk2" tx2="lt2" accent1="accent1" accent2="accent2" accent3="accent3" accent4="accent4" accent5="accent5" accent6="accent6" hlink="hlink" folHlink="folHlink"/>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E2384209-CB15-4CDF-9D31-C44FD9A3F20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2633B3B5-CC90-43F0-8714-D31D1F3F020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A8D57A06-A426-446D-B02C-A2DC6B62E45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Homeostasis - SJC Year 12 Biology">
            <a:extLst>
              <a:ext uri="{FF2B5EF4-FFF2-40B4-BE49-F238E27FC236}">
                <a16:creationId xmlns:a16="http://schemas.microsoft.com/office/drawing/2014/main" id="{C2669BA7-A69A-CD46-81B1-E8D9FCC0C32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57200" y="933831"/>
            <a:ext cx="11277600" cy="4990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632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8255"/>
            <a:ext cx="10515600" cy="1325563"/>
          </a:xfrm>
        </p:spPr>
        <p:txBody>
          <a:bodyPr>
            <a:normAutofit/>
          </a:bodyPr>
          <a:lstStyle/>
          <a:p>
            <a:r>
              <a:rPr lang="en-AU" b="1" dirty="0">
                <a:effectLst>
                  <a:outerShdw blurRad="38100" dist="38100" dir="2700000" algn="tl">
                    <a:srgbClr val="000000">
                      <a:alpha val="43137"/>
                    </a:srgbClr>
                  </a:outerShdw>
                </a:effectLst>
              </a:rPr>
              <a:t>Copy this. </a:t>
            </a:r>
          </a:p>
        </p:txBody>
      </p:sp>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3766127" y="0"/>
            <a:ext cx="5534891" cy="6825119"/>
          </a:xfrm>
          <a:prstGeom prst="rect">
            <a:avLst/>
          </a:prstGeom>
        </p:spPr>
      </p:pic>
    </p:spTree>
    <p:extLst>
      <p:ext uri="{BB962C8B-B14F-4D97-AF65-F5344CB8AC3E}">
        <p14:creationId xmlns:p14="http://schemas.microsoft.com/office/powerpoint/2010/main" val="7166417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Receptors </a:t>
            </a:r>
            <a:endParaRPr lang="en-AU" sz="6000" b="1" dirty="0"/>
          </a:p>
        </p:txBody>
      </p:sp>
      <p:sp>
        <p:nvSpPr>
          <p:cNvPr id="3" name="Content Placeholder 2"/>
          <p:cNvSpPr>
            <a:spLocks noGrp="1"/>
          </p:cNvSpPr>
          <p:nvPr>
            <p:ph idx="1"/>
          </p:nvPr>
        </p:nvSpPr>
        <p:spPr/>
        <p:txBody>
          <a:bodyPr>
            <a:normAutofit/>
          </a:bodyPr>
          <a:lstStyle/>
          <a:p>
            <a:r>
              <a:rPr lang="en-AU" sz="3200" b="1" u="sng" dirty="0" smtClean="0"/>
              <a:t>A receptor is a structure that is able to detect a change in the body’s internal or external environment. </a:t>
            </a:r>
          </a:p>
          <a:p>
            <a:endParaRPr lang="en-AU" sz="3200" b="1" u="sng" dirty="0" smtClean="0"/>
          </a:p>
          <a:p>
            <a:r>
              <a:rPr lang="en-AU" sz="3200" b="1" u="sng" dirty="0" smtClean="0"/>
              <a:t>Sometimes receptor cells of a particular type are grouped together in a sense organ, such as the light receptors in the eye, or the sound receptors sensitive to sound vibrations in the ear. </a:t>
            </a:r>
            <a:endParaRPr lang="en-AU" sz="3200" b="1" u="sng" dirty="0"/>
          </a:p>
        </p:txBody>
      </p:sp>
    </p:spTree>
    <p:extLst>
      <p:ext uri="{BB962C8B-B14F-4D97-AF65-F5344CB8AC3E}">
        <p14:creationId xmlns:p14="http://schemas.microsoft.com/office/powerpoint/2010/main" val="33440947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457"/>
            <a:ext cx="10515600" cy="1325563"/>
          </a:xfrm>
        </p:spPr>
        <p:txBody>
          <a:bodyPr>
            <a:normAutofit/>
          </a:bodyPr>
          <a:lstStyle/>
          <a:p>
            <a:r>
              <a:rPr lang="en-AU" sz="6000" b="1" dirty="0" smtClean="0"/>
              <a:t>Thermoreceptors </a:t>
            </a:r>
            <a:endParaRPr lang="en-AU" sz="6000" b="1" dirty="0"/>
          </a:p>
        </p:txBody>
      </p:sp>
      <p:sp>
        <p:nvSpPr>
          <p:cNvPr id="3" name="Content Placeholder 2"/>
          <p:cNvSpPr>
            <a:spLocks noGrp="1"/>
          </p:cNvSpPr>
          <p:nvPr>
            <p:ph idx="1"/>
          </p:nvPr>
        </p:nvSpPr>
        <p:spPr>
          <a:xfrm>
            <a:off x="718126" y="948170"/>
            <a:ext cx="11261437" cy="5766665"/>
          </a:xfrm>
        </p:spPr>
        <p:txBody>
          <a:bodyPr>
            <a:normAutofit/>
          </a:bodyPr>
          <a:lstStyle/>
          <a:p>
            <a:r>
              <a:rPr lang="en-AU" sz="3200" b="1" u="sng" dirty="0" smtClean="0"/>
              <a:t>Thermoreceptors are able to respond to heat and cold </a:t>
            </a:r>
          </a:p>
          <a:p>
            <a:endParaRPr lang="en-AU" sz="3200" b="1" u="sng" dirty="0" smtClean="0"/>
          </a:p>
          <a:p>
            <a:r>
              <a:rPr lang="en-AU" sz="3200" b="1" u="sng" dirty="0" smtClean="0"/>
              <a:t>In the skin are thermoreceptors that inform the brain of changes in the temperature outside the body. </a:t>
            </a:r>
          </a:p>
          <a:p>
            <a:endParaRPr lang="en-AU" sz="3200" b="1" u="sng" dirty="0" smtClean="0"/>
          </a:p>
          <a:p>
            <a:r>
              <a:rPr lang="en-AU" sz="3200" b="1" u="sng" dirty="0" smtClean="0"/>
              <a:t>The information is received by the hypothalamus and also by the cerebrum so we are consciously aware of the temperature of our surroundings. </a:t>
            </a:r>
            <a:endParaRPr lang="en-AU" sz="3200" b="1" u="sng" dirty="0"/>
          </a:p>
        </p:txBody>
      </p:sp>
    </p:spTree>
    <p:extLst>
      <p:ext uri="{BB962C8B-B14F-4D97-AF65-F5344CB8AC3E}">
        <p14:creationId xmlns:p14="http://schemas.microsoft.com/office/powerpoint/2010/main" val="25581288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Continued. </a:t>
            </a:r>
            <a:endParaRPr lang="en-AU" sz="6000" b="1" dirty="0"/>
          </a:p>
        </p:txBody>
      </p:sp>
      <p:sp>
        <p:nvSpPr>
          <p:cNvPr id="3" name="Content Placeholder 2"/>
          <p:cNvSpPr>
            <a:spLocks noGrp="1"/>
          </p:cNvSpPr>
          <p:nvPr>
            <p:ph idx="1"/>
          </p:nvPr>
        </p:nvSpPr>
        <p:spPr/>
        <p:txBody>
          <a:bodyPr/>
          <a:lstStyle/>
          <a:p>
            <a:r>
              <a:rPr lang="en-AU" sz="3200" b="1" u="sng" dirty="0" smtClean="0"/>
              <a:t>Skin thermoreceptors are nerve endings that are sensitive to either heat or cold but not both. </a:t>
            </a:r>
          </a:p>
          <a:p>
            <a:endParaRPr lang="en-AU" sz="3200" b="1" dirty="0" smtClean="0"/>
          </a:p>
          <a:p>
            <a:r>
              <a:rPr lang="en-AU" sz="3200" b="1" dirty="0" smtClean="0"/>
              <a:t>If the skin is tested with hot and cold probes it is found that there are definite hot spots and cold spots, depending on the thermoreceptors present </a:t>
            </a:r>
          </a:p>
          <a:p>
            <a:endParaRPr lang="en-AU" dirty="0"/>
          </a:p>
        </p:txBody>
      </p:sp>
    </p:spTree>
    <p:extLst>
      <p:ext uri="{BB962C8B-B14F-4D97-AF65-F5344CB8AC3E}">
        <p14:creationId xmlns:p14="http://schemas.microsoft.com/office/powerpoint/2010/main" val="17362559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z="6000" b="1" dirty="0" smtClean="0"/>
              <a:t>Continued. 	</a:t>
            </a:r>
            <a:r>
              <a:rPr lang="en-AU" dirty="0" smtClean="0"/>
              <a:t>	</a:t>
            </a:r>
            <a:endParaRPr lang="en-AU" dirty="0"/>
          </a:p>
        </p:txBody>
      </p:sp>
      <p:sp>
        <p:nvSpPr>
          <p:cNvPr id="3" name="Content Placeholder 2"/>
          <p:cNvSpPr>
            <a:spLocks noGrp="1"/>
          </p:cNvSpPr>
          <p:nvPr>
            <p:ph idx="1"/>
          </p:nvPr>
        </p:nvSpPr>
        <p:spPr>
          <a:xfrm>
            <a:off x="367146" y="1363807"/>
            <a:ext cx="11473872" cy="5203248"/>
          </a:xfrm>
        </p:spPr>
        <p:txBody>
          <a:bodyPr>
            <a:normAutofit/>
          </a:bodyPr>
          <a:lstStyle/>
          <a:p>
            <a:r>
              <a:rPr lang="en-AU" sz="3200" b="1" u="sng" dirty="0" smtClean="0"/>
              <a:t>The temperature inside the body (the core temperature), is monitored by thermoreceptors in the hypothalamus</a:t>
            </a:r>
          </a:p>
          <a:p>
            <a:endParaRPr lang="en-AU" sz="3200" b="1" u="sng" dirty="0" smtClean="0"/>
          </a:p>
          <a:p>
            <a:r>
              <a:rPr lang="en-AU" sz="3200" b="1" u="sng" dirty="0" smtClean="0"/>
              <a:t>These detect the temperature of the blood that is flowing through the brain.</a:t>
            </a:r>
          </a:p>
          <a:p>
            <a:endParaRPr lang="en-AU" sz="3200" b="1" u="sng" dirty="0" smtClean="0"/>
          </a:p>
          <a:p>
            <a:r>
              <a:rPr lang="en-AU" sz="3200" b="1" u="sng" dirty="0" smtClean="0"/>
              <a:t>Using information from the skin and internal thermoreceptors, the hypothalamus is able to regulate body temperature. </a:t>
            </a:r>
            <a:endParaRPr lang="en-AU" sz="3200" b="1" u="sng" dirty="0"/>
          </a:p>
        </p:txBody>
      </p:sp>
    </p:spTree>
    <p:extLst>
      <p:ext uri="{BB962C8B-B14F-4D97-AF65-F5344CB8AC3E}">
        <p14:creationId xmlns:p14="http://schemas.microsoft.com/office/powerpoint/2010/main" val="39397324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Osmoreceptors 	</a:t>
            </a:r>
            <a:endParaRPr lang="en-AU" sz="6000" b="1" dirty="0"/>
          </a:p>
        </p:txBody>
      </p:sp>
      <p:sp>
        <p:nvSpPr>
          <p:cNvPr id="3" name="Content Placeholder 2"/>
          <p:cNvSpPr>
            <a:spLocks noGrp="1"/>
          </p:cNvSpPr>
          <p:nvPr>
            <p:ph idx="1"/>
          </p:nvPr>
        </p:nvSpPr>
        <p:spPr>
          <a:xfrm>
            <a:off x="616527" y="1474643"/>
            <a:ext cx="10515600" cy="4351338"/>
          </a:xfrm>
        </p:spPr>
        <p:txBody>
          <a:bodyPr>
            <a:noAutofit/>
          </a:bodyPr>
          <a:lstStyle/>
          <a:p>
            <a:r>
              <a:rPr lang="en-AU" sz="3200" b="1" u="sng" dirty="0" smtClean="0"/>
              <a:t>Osmotic pressure is determined by the concentration of substances dissolved in the water of the blood plasma. </a:t>
            </a:r>
          </a:p>
          <a:p>
            <a:endParaRPr lang="en-AU" sz="3200" b="1" u="sng" dirty="0" smtClean="0"/>
          </a:p>
          <a:p>
            <a:r>
              <a:rPr lang="en-AU" sz="3200" b="1" u="sng" dirty="0" smtClean="0"/>
              <a:t>Osmoreceptors are located in the hypothalamus and are sensitive to osmotic pressure. </a:t>
            </a:r>
          </a:p>
          <a:p>
            <a:endParaRPr lang="en-AU" sz="3200" b="1" u="sng" dirty="0" smtClean="0"/>
          </a:p>
          <a:p>
            <a:r>
              <a:rPr lang="en-AU" sz="3200" b="1" u="sng" dirty="0" smtClean="0"/>
              <a:t>They respond to very small changes in osmotic pressure and are able to stimulate the hypothalamus so that the body’s water content is maintained within very narrow limits. </a:t>
            </a:r>
            <a:endParaRPr lang="en-AU" sz="3200" b="1" u="sng" dirty="0"/>
          </a:p>
        </p:txBody>
      </p:sp>
    </p:spTree>
    <p:extLst>
      <p:ext uri="{BB962C8B-B14F-4D97-AF65-F5344CB8AC3E}">
        <p14:creationId xmlns:p14="http://schemas.microsoft.com/office/powerpoint/2010/main" val="369416782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z="6000" b="1" dirty="0" smtClean="0"/>
              <a:t>Chemoreceptors </a:t>
            </a:r>
            <a:r>
              <a:rPr lang="en-AU" dirty="0" smtClean="0"/>
              <a:t>	</a:t>
            </a:r>
            <a:endParaRPr lang="en-AU" dirty="0"/>
          </a:p>
        </p:txBody>
      </p:sp>
      <p:sp>
        <p:nvSpPr>
          <p:cNvPr id="3" name="Content Placeholder 2"/>
          <p:cNvSpPr>
            <a:spLocks noGrp="1"/>
          </p:cNvSpPr>
          <p:nvPr>
            <p:ph idx="1"/>
          </p:nvPr>
        </p:nvSpPr>
        <p:spPr/>
        <p:txBody>
          <a:bodyPr/>
          <a:lstStyle/>
          <a:p>
            <a:r>
              <a:rPr lang="en-AU" sz="3200" b="1" u="sng" dirty="0" smtClean="0"/>
              <a:t>Chemoreceptors are stimulated by particular chemicals </a:t>
            </a:r>
          </a:p>
          <a:p>
            <a:endParaRPr lang="en-AU" sz="3200" b="1" u="sng" dirty="0" smtClean="0"/>
          </a:p>
          <a:p>
            <a:r>
              <a:rPr lang="en-AU" sz="3200" b="1" u="sng" dirty="0" smtClean="0"/>
              <a:t>They are present in the nose, making us sensitive to odours, and in the mouth, giving us sensitivity to tastes. </a:t>
            </a:r>
          </a:p>
          <a:p>
            <a:endParaRPr lang="en-AU" sz="3200" b="1" u="sng" dirty="0" smtClean="0"/>
          </a:p>
          <a:p>
            <a:r>
              <a:rPr lang="en-AU" sz="3200" b="1" u="sng" dirty="0" smtClean="0"/>
              <a:t>There are also internal chemoreceptors that are sensitive to the composition of the body fluids. </a:t>
            </a:r>
          </a:p>
          <a:p>
            <a:endParaRPr lang="en-AU" u="sng" dirty="0"/>
          </a:p>
        </p:txBody>
      </p:sp>
    </p:spTree>
    <p:extLst>
      <p:ext uri="{BB962C8B-B14F-4D97-AF65-F5344CB8AC3E}">
        <p14:creationId xmlns:p14="http://schemas.microsoft.com/office/powerpoint/2010/main" val="13481673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z="6000" b="1" dirty="0" smtClean="0"/>
              <a:t>Continued. </a:t>
            </a:r>
            <a:r>
              <a:rPr lang="en-AU" dirty="0" smtClean="0"/>
              <a:t>	</a:t>
            </a:r>
            <a:endParaRPr lang="en-AU" dirty="0"/>
          </a:p>
        </p:txBody>
      </p:sp>
      <p:sp>
        <p:nvSpPr>
          <p:cNvPr id="3" name="Content Placeholder 2"/>
          <p:cNvSpPr>
            <a:spLocks noGrp="1"/>
          </p:cNvSpPr>
          <p:nvPr>
            <p:ph idx="1"/>
          </p:nvPr>
        </p:nvSpPr>
        <p:spPr>
          <a:xfrm>
            <a:off x="330200" y="1419224"/>
            <a:ext cx="11667836" cy="5438775"/>
          </a:xfrm>
        </p:spPr>
        <p:txBody>
          <a:bodyPr>
            <a:normAutofit/>
          </a:bodyPr>
          <a:lstStyle/>
          <a:p>
            <a:r>
              <a:rPr lang="en-AU" sz="3200" b="1" u="sng" dirty="0" smtClean="0"/>
              <a:t>There are chemoreceptors that are sensitive to the composition of the body fluids. </a:t>
            </a:r>
          </a:p>
          <a:p>
            <a:endParaRPr lang="en-AU" sz="3200" b="1" u="sng" dirty="0" smtClean="0"/>
          </a:p>
          <a:p>
            <a:r>
              <a:rPr lang="en-AU" sz="3200" b="1" u="sng" dirty="0" smtClean="0"/>
              <a:t>Of particular importance are chemoreceptors in certain blood vessels that are sensitive to the pH of the blood and to the concentrations of oxygen and carbon dioxide. </a:t>
            </a:r>
          </a:p>
          <a:p>
            <a:endParaRPr lang="en-AU" sz="3200" b="1" u="sng" dirty="0" smtClean="0"/>
          </a:p>
          <a:p>
            <a:r>
              <a:rPr lang="en-AU" sz="3200" b="1" u="sng" dirty="0" smtClean="0"/>
              <a:t>These are involved in the regulation of the heartbeat and of breathing. </a:t>
            </a:r>
            <a:endParaRPr lang="en-AU" sz="3200" b="1" u="sng" dirty="0"/>
          </a:p>
        </p:txBody>
      </p:sp>
    </p:spTree>
    <p:extLst>
      <p:ext uri="{BB962C8B-B14F-4D97-AF65-F5344CB8AC3E}">
        <p14:creationId xmlns:p14="http://schemas.microsoft.com/office/powerpoint/2010/main" val="6605541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z="6000" b="1" dirty="0" smtClean="0"/>
              <a:t>Touch receptors </a:t>
            </a:r>
            <a:r>
              <a:rPr lang="en-AU" dirty="0" smtClean="0"/>
              <a:t>	</a:t>
            </a:r>
            <a:endParaRPr lang="en-AU" dirty="0"/>
          </a:p>
        </p:txBody>
      </p:sp>
      <p:sp>
        <p:nvSpPr>
          <p:cNvPr id="3" name="Content Placeholder 2"/>
          <p:cNvSpPr>
            <a:spLocks noGrp="1"/>
          </p:cNvSpPr>
          <p:nvPr>
            <p:ph idx="1"/>
          </p:nvPr>
        </p:nvSpPr>
        <p:spPr>
          <a:xfrm>
            <a:off x="256309" y="1363806"/>
            <a:ext cx="11501582" cy="5397211"/>
          </a:xfrm>
        </p:spPr>
        <p:txBody>
          <a:bodyPr>
            <a:normAutofit/>
          </a:bodyPr>
          <a:lstStyle/>
          <a:p>
            <a:r>
              <a:rPr lang="en-AU" sz="3200" b="1" u="sng" dirty="0" smtClean="0"/>
              <a:t>Are mainly found in the skin and there are a number of different types. </a:t>
            </a:r>
          </a:p>
          <a:p>
            <a:endParaRPr lang="en-AU" sz="3200" b="1" u="sng" dirty="0" smtClean="0"/>
          </a:p>
          <a:p>
            <a:r>
              <a:rPr lang="en-AU" sz="3200" b="1" u="sng" dirty="0" smtClean="0"/>
              <a:t>Some are close to the surface of the skin and are sensitive to very light touches </a:t>
            </a:r>
          </a:p>
          <a:p>
            <a:endParaRPr lang="en-AU" sz="3200" b="1" u="sng" dirty="0" smtClean="0"/>
          </a:p>
          <a:p>
            <a:r>
              <a:rPr lang="en-AU" sz="3200" b="1" u="sng" dirty="0" smtClean="0"/>
              <a:t>These occur in greater concentrations in areas of skin that are more sensitive, such as the lips, fingertips, eyelids, and external genital organs. </a:t>
            </a:r>
            <a:endParaRPr lang="en-AU" sz="3200" b="1" u="sng" dirty="0"/>
          </a:p>
        </p:txBody>
      </p:sp>
    </p:spTree>
    <p:extLst>
      <p:ext uri="{BB962C8B-B14F-4D97-AF65-F5344CB8AC3E}">
        <p14:creationId xmlns:p14="http://schemas.microsoft.com/office/powerpoint/2010/main" val="36111121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Continued. 	</a:t>
            </a:r>
            <a:endParaRPr lang="en-AU" sz="6000" b="1" dirty="0"/>
          </a:p>
        </p:txBody>
      </p:sp>
      <p:sp>
        <p:nvSpPr>
          <p:cNvPr id="3" name="Content Placeholder 2"/>
          <p:cNvSpPr>
            <a:spLocks noGrp="1"/>
          </p:cNvSpPr>
          <p:nvPr>
            <p:ph idx="1"/>
          </p:nvPr>
        </p:nvSpPr>
        <p:spPr>
          <a:xfrm>
            <a:off x="468744" y="1493116"/>
            <a:ext cx="11372273" cy="5157066"/>
          </a:xfrm>
        </p:spPr>
        <p:txBody>
          <a:bodyPr>
            <a:noAutofit/>
          </a:bodyPr>
          <a:lstStyle/>
          <a:p>
            <a:r>
              <a:rPr lang="en-AU" sz="3200" b="1" dirty="0" smtClean="0"/>
              <a:t>Nerve endings are also associated with the base of each hair follicle</a:t>
            </a:r>
          </a:p>
          <a:p>
            <a:r>
              <a:rPr lang="en-AU" sz="3200" b="1" dirty="0" smtClean="0"/>
              <a:t>These respond to any light touch that bends the hair</a:t>
            </a:r>
          </a:p>
        </p:txBody>
      </p:sp>
    </p:spTree>
    <p:extLst>
      <p:ext uri="{BB962C8B-B14F-4D97-AF65-F5344CB8AC3E}">
        <p14:creationId xmlns:p14="http://schemas.microsoft.com/office/powerpoint/2010/main" val="1297620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a:bodyPr>
          <a:lstStyle/>
          <a:p>
            <a:r>
              <a:rPr lang="en-AU" sz="6000" b="1" dirty="0" smtClean="0"/>
              <a:t>Continued. </a:t>
            </a:r>
            <a:endParaRPr lang="en-AU" sz="6000" b="1" dirty="0"/>
          </a:p>
        </p:txBody>
      </p:sp>
      <p:sp>
        <p:nvSpPr>
          <p:cNvPr id="3" name="Content Placeholder 2"/>
          <p:cNvSpPr>
            <a:spLocks noGrp="1"/>
          </p:cNvSpPr>
          <p:nvPr>
            <p:ph idx="1"/>
          </p:nvPr>
        </p:nvSpPr>
        <p:spPr>
          <a:xfrm>
            <a:off x="634999" y="1086715"/>
            <a:ext cx="11215255" cy="5600411"/>
          </a:xfrm>
        </p:spPr>
        <p:txBody>
          <a:bodyPr>
            <a:normAutofit/>
          </a:bodyPr>
          <a:lstStyle/>
          <a:p>
            <a:r>
              <a:rPr lang="en-AU" sz="3200" b="1" u="sng" dirty="0"/>
              <a:t>Touch receptors close to the skin surface and those attached to the hairs adapt rapidly, and so after a short time we are no longer aware of the touch. </a:t>
            </a:r>
            <a:endParaRPr lang="en-AU" sz="3200" b="1" u="sng" dirty="0" smtClean="0"/>
          </a:p>
          <a:p>
            <a:endParaRPr lang="en-AU" sz="3200" b="1" dirty="0"/>
          </a:p>
          <a:p>
            <a:r>
              <a:rPr lang="en-AU" sz="3200" b="1" dirty="0"/>
              <a:t>For example, when first putting on clothing we are aware of it touching our skin, but that sensation disappears very </a:t>
            </a:r>
            <a:r>
              <a:rPr lang="en-AU" sz="3200" b="1" dirty="0" smtClean="0"/>
              <a:t>quickly</a:t>
            </a:r>
          </a:p>
          <a:p>
            <a:endParaRPr lang="en-AU" sz="3200" b="1" dirty="0" smtClean="0"/>
          </a:p>
          <a:p>
            <a:r>
              <a:rPr lang="en-AU" sz="3200" b="1" u="sng" dirty="0" smtClean="0"/>
              <a:t>Other touch receptors are located deeper in the skin and are sensitive to pressure or vibration</a:t>
            </a:r>
            <a:endParaRPr lang="en-AU" sz="3200" b="1" u="sng" dirty="0"/>
          </a:p>
        </p:txBody>
      </p:sp>
    </p:spTree>
    <p:extLst>
      <p:ext uri="{BB962C8B-B14F-4D97-AF65-F5344CB8AC3E}">
        <p14:creationId xmlns:p14="http://schemas.microsoft.com/office/powerpoint/2010/main" val="5722493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Pain receptors </a:t>
            </a:r>
            <a:endParaRPr lang="en-AU" sz="6000" b="1" dirty="0"/>
          </a:p>
        </p:txBody>
      </p:sp>
      <p:sp>
        <p:nvSpPr>
          <p:cNvPr id="3" name="Content Placeholder 2"/>
          <p:cNvSpPr>
            <a:spLocks noGrp="1"/>
          </p:cNvSpPr>
          <p:nvPr>
            <p:ph idx="1"/>
          </p:nvPr>
        </p:nvSpPr>
        <p:spPr/>
        <p:txBody>
          <a:bodyPr>
            <a:normAutofit/>
          </a:bodyPr>
          <a:lstStyle/>
          <a:p>
            <a:r>
              <a:rPr lang="en-AU" sz="3200" b="1" dirty="0" smtClean="0"/>
              <a:t>Also called nociceptors </a:t>
            </a:r>
          </a:p>
          <a:p>
            <a:endParaRPr lang="en-AU" sz="3200" b="1" dirty="0" smtClean="0"/>
          </a:p>
          <a:p>
            <a:r>
              <a:rPr lang="en-AU" sz="3200" b="1" u="sng" dirty="0" smtClean="0"/>
              <a:t>Stimulated by damage to the tissues, such as from a cut or a heavy bump, by poor blood flow to a tissue, or by excessive stimulation from stimuli such as heat or chemicals. </a:t>
            </a:r>
          </a:p>
          <a:p>
            <a:endParaRPr lang="en-AU" sz="3200" b="1" u="sng" dirty="0" smtClean="0"/>
          </a:p>
          <a:p>
            <a:r>
              <a:rPr lang="en-AU" sz="3200" b="1" u="sng" dirty="0" smtClean="0"/>
              <a:t>The receptors for pain are especially concentrated in the skin and the mucous membranes </a:t>
            </a:r>
            <a:endParaRPr lang="en-AU" sz="3200" b="1" u="sng" dirty="0"/>
          </a:p>
        </p:txBody>
      </p:sp>
    </p:spTree>
    <p:extLst>
      <p:ext uri="{BB962C8B-B14F-4D97-AF65-F5344CB8AC3E}">
        <p14:creationId xmlns:p14="http://schemas.microsoft.com/office/powerpoint/2010/main" val="208958681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AU" sz="6000" b="1" dirty="0" smtClean="0">
                <a:effectLst>
                  <a:outerShdw blurRad="38100" dist="38100" dir="2700000" algn="tl">
                    <a:srgbClr val="000000">
                      <a:alpha val="43137"/>
                    </a:srgbClr>
                  </a:outerShdw>
                </a:effectLst>
              </a:rPr>
              <a:t>Structure of the eye. </a:t>
            </a:r>
            <a:endParaRPr lang="en-AU" sz="6000" b="1" dirty="0">
              <a:effectLst>
                <a:outerShdw blurRad="38100" dist="38100" dir="2700000" algn="tl">
                  <a:srgbClr val="000000">
                    <a:alpha val="43137"/>
                  </a:srgbClr>
                </a:outerShdw>
              </a:effectLst>
            </a:endParaRPr>
          </a:p>
        </p:txBody>
      </p:sp>
      <p:sp>
        <p:nvSpPr>
          <p:cNvPr id="5" name="Content Placeholder 4"/>
          <p:cNvSpPr>
            <a:spLocks noGrp="1"/>
          </p:cNvSpPr>
          <p:nvPr>
            <p:ph idx="1"/>
          </p:nvPr>
        </p:nvSpPr>
        <p:spPr>
          <a:xfrm>
            <a:off x="117763" y="2506662"/>
            <a:ext cx="10515600" cy="4351338"/>
          </a:xfrm>
        </p:spPr>
        <p:txBody>
          <a:bodyPr>
            <a:normAutofit/>
          </a:bodyPr>
          <a:lstStyle/>
          <a:p>
            <a:r>
              <a:rPr lang="en-AU" sz="3200" b="1" u="sng" dirty="0" smtClean="0"/>
              <a:t>Light that enters the eye is refracted by the cornea and focused by the lens, which is convex. </a:t>
            </a:r>
          </a:p>
          <a:p>
            <a:r>
              <a:rPr lang="en-AU" sz="3200" b="1" u="sng" dirty="0" smtClean="0"/>
              <a:t>Incoming light is focused to form a clear, upside-down image on the retina, at the back of the eye. </a:t>
            </a:r>
          </a:p>
          <a:p>
            <a:r>
              <a:rPr lang="en-AU" sz="3200" b="1" u="sng" dirty="0" smtClean="0"/>
              <a:t>This image is converted into a series of electrical signals, which then travel along the optic nerve to the brain. The brain interprets this as an image.  </a:t>
            </a:r>
          </a:p>
          <a:p>
            <a:endParaRPr lang="en-AU" sz="3200" b="1" dirty="0"/>
          </a:p>
        </p:txBody>
      </p:sp>
      <p:pic>
        <p:nvPicPr>
          <p:cNvPr id="1026" name="Picture 2" descr="Concave vs. Convex | Grammarl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52342" y="138546"/>
            <a:ext cx="4201086" cy="22110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875989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572653" y="0"/>
            <a:ext cx="10945173" cy="6858000"/>
          </a:xfrm>
          <a:prstGeom prst="rect">
            <a:avLst/>
          </a:prstGeom>
        </p:spPr>
      </p:pic>
    </p:spTree>
    <p:extLst>
      <p:ext uri="{BB962C8B-B14F-4D97-AF65-F5344CB8AC3E}">
        <p14:creationId xmlns:p14="http://schemas.microsoft.com/office/powerpoint/2010/main" val="187946407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23536" y="1497589"/>
            <a:ext cx="11963400" cy="3419475"/>
          </a:xfrm>
          <a:prstGeom prst="rect">
            <a:avLst/>
          </a:prstGeom>
        </p:spPr>
      </p:pic>
    </p:spTree>
    <p:extLst>
      <p:ext uri="{BB962C8B-B14F-4D97-AF65-F5344CB8AC3E}">
        <p14:creationId xmlns:p14="http://schemas.microsoft.com/office/powerpoint/2010/main" val="28785160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8297" y="436779"/>
            <a:ext cx="6864927" cy="1325563"/>
          </a:xfrm>
        </p:spPr>
        <p:txBody>
          <a:bodyPr>
            <a:normAutofit/>
          </a:bodyPr>
          <a:lstStyle/>
          <a:p>
            <a:r>
              <a:rPr lang="en-AU" sz="6000" b="1" dirty="0" smtClean="0">
                <a:effectLst>
                  <a:outerShdw blurRad="38100" dist="38100" dir="2700000" algn="tl">
                    <a:srgbClr val="000000">
                      <a:alpha val="43137"/>
                    </a:srgbClr>
                  </a:outerShdw>
                </a:effectLst>
              </a:rPr>
              <a:t>Structure of the ear </a:t>
            </a:r>
            <a:endParaRPr lang="en-AU"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2336800" y="2075007"/>
            <a:ext cx="7712364" cy="4351338"/>
          </a:xfrm>
        </p:spPr>
        <p:txBody>
          <a:bodyPr>
            <a:normAutofit/>
          </a:bodyPr>
          <a:lstStyle/>
          <a:p>
            <a:r>
              <a:rPr lang="en-AU" sz="3200" b="1" u="sng" dirty="0" smtClean="0"/>
              <a:t>Your ear collects sound waves, amplify their vibrations and convert these into electrical impulses. </a:t>
            </a:r>
          </a:p>
          <a:p>
            <a:r>
              <a:rPr lang="en-AU" sz="3200" b="1" u="sng" dirty="0" smtClean="0"/>
              <a:t>Your brain then interprets these impulses as sound. </a:t>
            </a:r>
            <a:endParaRPr lang="en-AU" sz="3200" b="1" u="sng" dirty="0"/>
          </a:p>
        </p:txBody>
      </p:sp>
      <p:pic>
        <p:nvPicPr>
          <p:cNvPr id="3074" name="Picture 2" descr="Ear 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89" y="501506"/>
            <a:ext cx="2492086" cy="238125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Ear 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9293224" y="436779"/>
            <a:ext cx="2593976" cy="238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498819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Continued. </a:t>
            </a:r>
            <a:endParaRPr lang="en-AU" sz="6000" b="1" dirty="0"/>
          </a:p>
        </p:txBody>
      </p:sp>
      <p:sp>
        <p:nvSpPr>
          <p:cNvPr id="3" name="Content Placeholder 2"/>
          <p:cNvSpPr>
            <a:spLocks noGrp="1"/>
          </p:cNvSpPr>
          <p:nvPr>
            <p:ph idx="1"/>
          </p:nvPr>
        </p:nvSpPr>
        <p:spPr/>
        <p:txBody>
          <a:bodyPr/>
          <a:lstStyle/>
          <a:p>
            <a:r>
              <a:rPr lang="en-AU" sz="3600" dirty="0"/>
              <a:t>The human ear consists of three parts:</a:t>
            </a:r>
          </a:p>
          <a:p>
            <a:pPr lvl="1"/>
            <a:r>
              <a:rPr lang="en-AU" sz="3200" dirty="0"/>
              <a:t>External ear</a:t>
            </a:r>
          </a:p>
          <a:p>
            <a:pPr lvl="1"/>
            <a:r>
              <a:rPr lang="en-AU" sz="3200" dirty="0"/>
              <a:t>Middle ear</a:t>
            </a:r>
          </a:p>
          <a:p>
            <a:pPr lvl="1"/>
            <a:r>
              <a:rPr lang="en-AU" sz="3200" dirty="0"/>
              <a:t>Internal ear</a:t>
            </a:r>
          </a:p>
          <a:p>
            <a:endParaRPr lang="en-AU" dirty="0"/>
          </a:p>
        </p:txBody>
      </p:sp>
    </p:spTree>
    <p:extLst>
      <p:ext uri="{BB962C8B-B14F-4D97-AF65-F5344CB8AC3E}">
        <p14:creationId xmlns:p14="http://schemas.microsoft.com/office/powerpoint/2010/main" val="226478482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1: Diagram showing the structure of the human ear, detailing the parts... |  Download Scientific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1502" y="31588"/>
            <a:ext cx="9450244" cy="68264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051173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083974" y="0"/>
            <a:ext cx="10020246" cy="6858000"/>
          </a:xfrm>
          <a:prstGeom prst="rect">
            <a:avLst/>
          </a:prstGeom>
        </p:spPr>
      </p:pic>
    </p:spTree>
    <p:extLst>
      <p:ext uri="{BB962C8B-B14F-4D97-AF65-F5344CB8AC3E}">
        <p14:creationId xmlns:p14="http://schemas.microsoft.com/office/powerpoint/2010/main" val="77531374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External Ear</a:t>
            </a:r>
          </a:p>
        </p:txBody>
      </p:sp>
      <p:sp>
        <p:nvSpPr>
          <p:cNvPr id="3" name="Content Placeholder 2"/>
          <p:cNvSpPr>
            <a:spLocks noGrp="1"/>
          </p:cNvSpPr>
          <p:nvPr>
            <p:ph idx="1"/>
          </p:nvPr>
        </p:nvSpPr>
        <p:spPr>
          <a:xfrm>
            <a:off x="376382" y="1345334"/>
            <a:ext cx="11557000" cy="5369502"/>
          </a:xfrm>
        </p:spPr>
        <p:txBody>
          <a:bodyPr>
            <a:normAutofit/>
          </a:bodyPr>
          <a:lstStyle/>
          <a:p>
            <a:pPr marL="0" indent="0">
              <a:buNone/>
            </a:pPr>
            <a:r>
              <a:rPr lang="en-AU" dirty="0" smtClean="0"/>
              <a:t>The </a:t>
            </a:r>
            <a:r>
              <a:rPr lang="en-AU" dirty="0"/>
              <a:t>external ear is further divided into the following parts:</a:t>
            </a:r>
          </a:p>
          <a:p>
            <a:r>
              <a:rPr lang="en-AU" b="1" u="sng" dirty="0"/>
              <a:t>Auricle (</a:t>
            </a:r>
            <a:r>
              <a:rPr lang="en-AU" b="1" u="sng" dirty="0" smtClean="0"/>
              <a:t>Pinna)</a:t>
            </a:r>
            <a:r>
              <a:rPr lang="en-AU" u="sng" dirty="0" smtClean="0"/>
              <a:t>: The </a:t>
            </a:r>
            <a:r>
              <a:rPr lang="en-AU" u="sng" dirty="0"/>
              <a:t>auricle comprises a thin plate of elastic cartilage covered by a layer of skin. It consists of funnel-like curves that collect sound waves and transmits them to the middle ear. </a:t>
            </a:r>
            <a:r>
              <a:rPr lang="en-AU" dirty="0"/>
              <a:t>The lobule consists of adipose and fibrous tissues supplied with blood capillaries.</a:t>
            </a:r>
          </a:p>
          <a:p>
            <a:r>
              <a:rPr lang="en-AU" b="1" dirty="0"/>
              <a:t>External Auditory </a:t>
            </a:r>
            <a:r>
              <a:rPr lang="en-AU" b="1" dirty="0" smtClean="0"/>
              <a:t>Meatus</a:t>
            </a:r>
            <a:r>
              <a:rPr lang="en-AU" dirty="0" smtClean="0"/>
              <a:t>: It </a:t>
            </a:r>
            <a:r>
              <a:rPr lang="en-AU" dirty="0"/>
              <a:t>is a slightly curved canal supported by bone in its interior part and cartilage in the exterior part. The meatus or the canal is lined with stratified epithelium and wax glands.</a:t>
            </a:r>
          </a:p>
          <a:p>
            <a:r>
              <a:rPr lang="en-AU" b="1" dirty="0"/>
              <a:t>Tympanic </a:t>
            </a:r>
            <a:r>
              <a:rPr lang="en-AU" b="1" dirty="0" smtClean="0"/>
              <a:t>Membrane</a:t>
            </a:r>
            <a:r>
              <a:rPr lang="en-AU" dirty="0" smtClean="0"/>
              <a:t>: This </a:t>
            </a:r>
            <a:r>
              <a:rPr lang="en-AU" dirty="0"/>
              <a:t>membrane separates the middle ear and the external ear. This part receives and amplifies the sound waves. Its central part is known as the umbo</a:t>
            </a:r>
          </a:p>
        </p:txBody>
      </p:sp>
    </p:spTree>
    <p:extLst>
      <p:ext uri="{BB962C8B-B14F-4D97-AF65-F5344CB8AC3E}">
        <p14:creationId xmlns:p14="http://schemas.microsoft.com/office/powerpoint/2010/main" val="121529407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a:bodyPr>
          <a:lstStyle/>
          <a:p>
            <a:r>
              <a:rPr lang="en-AU" sz="6000" b="1" dirty="0" smtClean="0">
                <a:effectLst>
                  <a:outerShdw blurRad="38100" dist="38100" dir="2700000" algn="tl">
                    <a:srgbClr val="000000">
                      <a:alpha val="43137"/>
                    </a:srgbClr>
                  </a:outerShdw>
                </a:effectLst>
              </a:rPr>
              <a:t>Middle Ear. </a:t>
            </a:r>
            <a:endParaRPr lang="en-AU"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413327" y="1068243"/>
            <a:ext cx="11695546" cy="5665066"/>
          </a:xfrm>
        </p:spPr>
        <p:txBody>
          <a:bodyPr>
            <a:normAutofit lnSpcReduction="10000"/>
          </a:bodyPr>
          <a:lstStyle/>
          <a:p>
            <a:pPr marL="0" indent="0">
              <a:buNone/>
            </a:pPr>
            <a:r>
              <a:rPr lang="en-AU" dirty="0"/>
              <a:t>The middle ear comprises the following parts:</a:t>
            </a:r>
          </a:p>
          <a:p>
            <a:r>
              <a:rPr lang="en-AU" b="1" dirty="0"/>
              <a:t>Tympanic </a:t>
            </a:r>
            <a:r>
              <a:rPr lang="en-AU" b="1" dirty="0" smtClean="0"/>
              <a:t>Cavity</a:t>
            </a:r>
            <a:r>
              <a:rPr lang="en-AU" dirty="0" smtClean="0"/>
              <a:t>: It </a:t>
            </a:r>
            <a:r>
              <a:rPr lang="en-AU" dirty="0"/>
              <a:t>is a narrow air-filled cavity separated from the external ear by tympanic membrane and from inner ear by the bony wall. The tympanic cavity has an auditory tube known as the </a:t>
            </a:r>
            <a:r>
              <a:rPr lang="en-AU" dirty="0" err="1"/>
              <a:t>eustachian</a:t>
            </a:r>
            <a:r>
              <a:rPr lang="en-AU" dirty="0"/>
              <a:t> tube in its anterior wall.</a:t>
            </a:r>
          </a:p>
          <a:p>
            <a:r>
              <a:rPr lang="en-AU" b="1" u="sng" dirty="0"/>
              <a:t>Eustachian </a:t>
            </a:r>
            <a:r>
              <a:rPr lang="en-AU" b="1" u="sng" dirty="0" smtClean="0"/>
              <a:t>Tube</a:t>
            </a:r>
            <a:r>
              <a:rPr lang="en-AU" u="sng" dirty="0" smtClean="0"/>
              <a:t>: The </a:t>
            </a:r>
            <a:r>
              <a:rPr lang="en-AU" u="sng" dirty="0" err="1"/>
              <a:t>eustachian</a:t>
            </a:r>
            <a:r>
              <a:rPr lang="en-AU" u="sng" dirty="0"/>
              <a:t> tube is a 4cm long tube that equalizes air pressure on either side of the tympanic membrane. It connects the tympanic cavity with the nasopharynx.</a:t>
            </a:r>
          </a:p>
          <a:p>
            <a:r>
              <a:rPr lang="en-AU" b="1" u="sng" dirty="0"/>
              <a:t>Ear </a:t>
            </a:r>
            <a:r>
              <a:rPr lang="en-AU" b="1" u="sng" dirty="0" smtClean="0"/>
              <a:t>Ossicles</a:t>
            </a:r>
            <a:r>
              <a:rPr lang="en-AU" u="sng" dirty="0" smtClean="0"/>
              <a:t>: These </a:t>
            </a:r>
            <a:r>
              <a:rPr lang="en-AU" u="sng" dirty="0"/>
              <a:t>are responsible for transmitting sound waves from the eardrum to the middle ear. There are three ear ossicles in the human ear:</a:t>
            </a:r>
          </a:p>
          <a:p>
            <a:pPr lvl="1"/>
            <a:r>
              <a:rPr lang="en-AU" b="1" u="sng" dirty="0"/>
              <a:t>Malleus: </a:t>
            </a:r>
            <a:r>
              <a:rPr lang="en-AU" u="sng" dirty="0"/>
              <a:t>A hammer-shaped part that is attached to the tympanic membrane through the handle and incus through the head. It is the largest ear ossicle.</a:t>
            </a:r>
          </a:p>
          <a:p>
            <a:pPr lvl="1"/>
            <a:r>
              <a:rPr lang="en-AU" b="1" u="sng" dirty="0"/>
              <a:t>Incus: </a:t>
            </a:r>
            <a:r>
              <a:rPr lang="en-AU" u="sng" dirty="0"/>
              <a:t>An anvil-shaped ear ossicle connected with the stapes.</a:t>
            </a:r>
          </a:p>
          <a:p>
            <a:pPr lvl="1"/>
            <a:r>
              <a:rPr lang="en-AU" b="1" u="sng" dirty="0"/>
              <a:t>Stapes: </a:t>
            </a:r>
            <a:r>
              <a:rPr lang="en-AU" u="sng" dirty="0"/>
              <a:t>It is the smallest ossicle and also the smallest bone in the human body.</a:t>
            </a:r>
          </a:p>
          <a:p>
            <a:endParaRPr lang="en-AU" dirty="0"/>
          </a:p>
        </p:txBody>
      </p:sp>
    </p:spTree>
    <p:extLst>
      <p:ext uri="{BB962C8B-B14F-4D97-AF65-F5344CB8AC3E}">
        <p14:creationId xmlns:p14="http://schemas.microsoft.com/office/powerpoint/2010/main" val="156721663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effectLst>
                  <a:outerShdw blurRad="38100" dist="38100" dir="2700000" algn="tl">
                    <a:srgbClr val="000000">
                      <a:alpha val="43137"/>
                    </a:srgbClr>
                  </a:outerShdw>
                </a:effectLst>
              </a:rPr>
              <a:t>Inner Ear. </a:t>
            </a:r>
            <a:endParaRPr lang="en-AU"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pPr marL="0" indent="0">
              <a:buNone/>
            </a:pPr>
            <a:r>
              <a:rPr lang="en-AU" u="sng" dirty="0"/>
              <a:t>It comprises two parts</a:t>
            </a:r>
            <a:r>
              <a:rPr lang="en-AU" dirty="0"/>
              <a:t>:</a:t>
            </a:r>
          </a:p>
          <a:p>
            <a:r>
              <a:rPr lang="en-AU" b="1" u="sng" dirty="0" smtClean="0"/>
              <a:t>Bony Labyrinth</a:t>
            </a:r>
            <a:r>
              <a:rPr lang="en-AU" dirty="0" smtClean="0"/>
              <a:t>: The </a:t>
            </a:r>
            <a:r>
              <a:rPr lang="en-AU" dirty="0"/>
              <a:t>bony labyrinth </a:t>
            </a:r>
            <a:r>
              <a:rPr lang="en-AU" u="sng" dirty="0"/>
              <a:t>comprises a vestibule, three semi-circular canals, and spirally coiled cochlea</a:t>
            </a:r>
            <a:r>
              <a:rPr lang="en-AU" dirty="0"/>
              <a:t>. It is filled with perilymph.</a:t>
            </a:r>
          </a:p>
          <a:p>
            <a:r>
              <a:rPr lang="en-AU" b="1" u="sng" dirty="0"/>
              <a:t>Membranous </a:t>
            </a:r>
            <a:r>
              <a:rPr lang="en-AU" b="1" u="sng" dirty="0" smtClean="0"/>
              <a:t>labyrinth</a:t>
            </a:r>
            <a:r>
              <a:rPr lang="en-AU" dirty="0" smtClean="0"/>
              <a:t>: The </a:t>
            </a:r>
            <a:r>
              <a:rPr lang="en-AU" dirty="0"/>
              <a:t>bony labyrinth surrounds the membranous labyrinth. </a:t>
            </a:r>
            <a:r>
              <a:rPr lang="en-AU" u="sng" dirty="0"/>
              <a:t>It comprises sensory receptors responsible for balance and hearing. The membranous labyrinth is filled with endolymph and comprises three semi-circular ducts, cochlear duct, saccule and utricle</a:t>
            </a:r>
            <a:r>
              <a:rPr lang="en-AU" dirty="0"/>
              <a:t>. The sensory receptors include cristae, an organ of </a:t>
            </a:r>
            <a:r>
              <a:rPr lang="en-AU" dirty="0" err="1"/>
              <a:t>corti</a:t>
            </a:r>
            <a:r>
              <a:rPr lang="en-AU" dirty="0"/>
              <a:t>, and </a:t>
            </a:r>
            <a:r>
              <a:rPr lang="en-AU" dirty="0" err="1"/>
              <a:t>ampullaris</a:t>
            </a:r>
            <a:r>
              <a:rPr lang="en-AU" dirty="0"/>
              <a:t> maculae.</a:t>
            </a:r>
          </a:p>
          <a:p>
            <a:endParaRPr lang="en-AU" dirty="0"/>
          </a:p>
        </p:txBody>
      </p:sp>
    </p:spTree>
    <p:extLst>
      <p:ext uri="{BB962C8B-B14F-4D97-AF65-F5344CB8AC3E}">
        <p14:creationId xmlns:p14="http://schemas.microsoft.com/office/powerpoint/2010/main" val="379421056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effectLst>
                  <a:outerShdw blurRad="38100" dist="38100" dir="2700000" algn="tl">
                    <a:srgbClr val="000000">
                      <a:alpha val="43137"/>
                    </a:srgbClr>
                  </a:outerShdw>
                </a:effectLst>
              </a:rPr>
              <a:t>How it all connects. </a:t>
            </a:r>
            <a:endParaRPr lang="en-AU"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AU" sz="3200" b="1" u="sng" dirty="0"/>
              <a:t>The </a:t>
            </a:r>
            <a:r>
              <a:rPr lang="en-AU" sz="3200" b="1" u="sng" dirty="0" smtClean="0"/>
              <a:t>sensory </a:t>
            </a:r>
            <a:r>
              <a:rPr lang="en-AU" sz="3200" b="1" u="sng" dirty="0"/>
              <a:t>system </a:t>
            </a:r>
            <a:r>
              <a:rPr lang="en-AU" sz="3200" b="1" u="sng" dirty="0" smtClean="0"/>
              <a:t>(including our eyes and ears) use specialised </a:t>
            </a:r>
            <a:r>
              <a:rPr lang="en-AU" sz="3200" b="1" u="sng" dirty="0"/>
              <a:t>receptor cells in the skin and body to detect changes in the environment. </a:t>
            </a:r>
            <a:endParaRPr lang="en-AU" sz="3200" b="1" u="sng" dirty="0" smtClean="0"/>
          </a:p>
          <a:p>
            <a:r>
              <a:rPr lang="en-AU" sz="3200" b="1" u="sng" dirty="0" smtClean="0"/>
              <a:t>The</a:t>
            </a:r>
            <a:r>
              <a:rPr lang="en-AU" sz="3200" b="1" u="sng" dirty="0"/>
              <a:t> receptors collect and convert physical stimuli into electrical and chemical signals through the transduction process and send these impulses to the nervous system for processing</a:t>
            </a:r>
          </a:p>
        </p:txBody>
      </p:sp>
    </p:spTree>
    <p:extLst>
      <p:ext uri="{BB962C8B-B14F-4D97-AF65-F5344CB8AC3E}">
        <p14:creationId xmlns:p14="http://schemas.microsoft.com/office/powerpoint/2010/main" val="340863923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3545" y="134216"/>
            <a:ext cx="10515600" cy="1325563"/>
          </a:xfrm>
        </p:spPr>
        <p:txBody>
          <a:bodyPr>
            <a:normAutofit/>
          </a:bodyPr>
          <a:lstStyle/>
          <a:p>
            <a:r>
              <a:rPr lang="en-AU" sz="6000" b="1" dirty="0" smtClean="0"/>
              <a:t>Reflexes </a:t>
            </a:r>
            <a:endParaRPr lang="en-AU" sz="6000" b="1" dirty="0"/>
          </a:p>
        </p:txBody>
      </p:sp>
      <p:sp>
        <p:nvSpPr>
          <p:cNvPr id="3" name="Content Placeholder 2"/>
          <p:cNvSpPr>
            <a:spLocks noGrp="1"/>
          </p:cNvSpPr>
          <p:nvPr>
            <p:ph idx="1"/>
          </p:nvPr>
        </p:nvSpPr>
        <p:spPr>
          <a:xfrm>
            <a:off x="551873" y="1252970"/>
            <a:ext cx="11206018" cy="5295612"/>
          </a:xfrm>
        </p:spPr>
        <p:txBody>
          <a:bodyPr>
            <a:noAutofit/>
          </a:bodyPr>
          <a:lstStyle/>
          <a:p>
            <a:r>
              <a:rPr lang="en-AU" sz="3600" b="1" u="sng" dirty="0" smtClean="0"/>
              <a:t>A reflex is a rapid, automatic response to a change in the external or internal environment. </a:t>
            </a:r>
          </a:p>
          <a:p>
            <a:r>
              <a:rPr lang="en-AU" sz="3600" b="1" u="sng" dirty="0" smtClean="0"/>
              <a:t>All reflexes have four important properties </a:t>
            </a:r>
          </a:p>
          <a:p>
            <a:pPr lvl="1"/>
            <a:r>
              <a:rPr lang="en-AU" sz="3200" b="1" u="sng" dirty="0" smtClean="0"/>
              <a:t>A stimulus is required to trigger a reflex- the reflex is not spontaneous </a:t>
            </a:r>
          </a:p>
          <a:p>
            <a:pPr lvl="1"/>
            <a:r>
              <a:rPr lang="en-AU" sz="3200" b="1" u="sng" dirty="0" smtClean="0"/>
              <a:t>A reflex is involuntary- it occurs without any conscious thought </a:t>
            </a:r>
          </a:p>
          <a:p>
            <a:pPr lvl="1"/>
            <a:r>
              <a:rPr lang="en-AU" sz="3200" b="1" u="sng" dirty="0" smtClean="0"/>
              <a:t>A reflex response is rapid- only a small number of neurons are involved </a:t>
            </a:r>
          </a:p>
          <a:p>
            <a:pPr lvl="1"/>
            <a:r>
              <a:rPr lang="en-AU" sz="3200" b="1" u="sng" dirty="0" smtClean="0"/>
              <a:t>A reflex response is stereotyped- it occurs in the same way each time it happens. </a:t>
            </a:r>
            <a:endParaRPr lang="en-AU" sz="3200" b="1" u="sng" dirty="0"/>
          </a:p>
        </p:txBody>
      </p:sp>
    </p:spTree>
    <p:extLst>
      <p:ext uri="{BB962C8B-B14F-4D97-AF65-F5344CB8AC3E}">
        <p14:creationId xmlns:p14="http://schemas.microsoft.com/office/powerpoint/2010/main" val="321940593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effectLst>
                  <a:outerShdw blurRad="38100" dist="38100" dir="2700000" algn="tl">
                    <a:srgbClr val="000000">
                      <a:alpha val="43137"/>
                    </a:srgbClr>
                  </a:outerShdw>
                </a:effectLst>
              </a:rPr>
              <a:t>Continued. </a:t>
            </a:r>
          </a:p>
        </p:txBody>
      </p:sp>
      <p:sp>
        <p:nvSpPr>
          <p:cNvPr id="3" name="Content Placeholder 2"/>
          <p:cNvSpPr>
            <a:spLocks noGrp="1"/>
          </p:cNvSpPr>
          <p:nvPr>
            <p:ph idx="1"/>
          </p:nvPr>
        </p:nvSpPr>
        <p:spPr>
          <a:xfrm>
            <a:off x="662708" y="1419225"/>
            <a:ext cx="11132127" cy="5110884"/>
          </a:xfrm>
        </p:spPr>
        <p:txBody>
          <a:bodyPr>
            <a:normAutofit/>
          </a:bodyPr>
          <a:lstStyle/>
          <a:p>
            <a:r>
              <a:rPr lang="en-AU" sz="3200" b="1" u="sng" dirty="0" smtClean="0"/>
              <a:t>Some reflexes involve the unconscious parts of the brain, but most are coordinated by the spinal cord. </a:t>
            </a:r>
          </a:p>
          <a:p>
            <a:endParaRPr lang="en-AU" sz="3200" b="1" dirty="0" smtClean="0"/>
          </a:p>
          <a:p>
            <a:r>
              <a:rPr lang="en-AU" sz="3200" b="1" u="sng" dirty="0" smtClean="0"/>
              <a:t>When a nerve impulse comes into the spinal cord from a receptor, the message is not necessarily carried up to the brain. </a:t>
            </a:r>
          </a:p>
          <a:p>
            <a:endParaRPr lang="en-AU" sz="3200" b="1" dirty="0" smtClean="0"/>
          </a:p>
          <a:p>
            <a:r>
              <a:rPr lang="en-AU" sz="3200" b="1" u="sng" dirty="0" smtClean="0"/>
              <a:t>The impulse may be passed to motor neurons at the same level in the cord, or may travel </a:t>
            </a:r>
            <a:r>
              <a:rPr lang="en-AU" sz="3200" b="1" dirty="0" smtClean="0"/>
              <a:t>slightly up and down the cord </a:t>
            </a:r>
            <a:r>
              <a:rPr lang="en-AU" sz="3200" b="1" u="sng" dirty="0" smtClean="0"/>
              <a:t>before travelling out through a motor neuron</a:t>
            </a:r>
            <a:r>
              <a:rPr lang="en-AU" sz="3200" b="1" dirty="0" smtClean="0"/>
              <a:t>. </a:t>
            </a:r>
            <a:endParaRPr lang="en-AU" sz="3200" b="1" dirty="0"/>
          </a:p>
        </p:txBody>
      </p:sp>
    </p:spTree>
    <p:extLst>
      <p:ext uri="{BB962C8B-B14F-4D97-AF65-F5344CB8AC3E}">
        <p14:creationId xmlns:p14="http://schemas.microsoft.com/office/powerpoint/2010/main" val="101221882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effectLst>
                  <a:outerShdw blurRad="38100" dist="38100" dir="2700000" algn="tl">
                    <a:srgbClr val="000000">
                      <a:alpha val="43137"/>
                    </a:srgbClr>
                  </a:outerShdw>
                </a:effectLst>
              </a:rPr>
              <a:t>Continued. </a:t>
            </a:r>
          </a:p>
        </p:txBody>
      </p:sp>
      <p:sp>
        <p:nvSpPr>
          <p:cNvPr id="3" name="Content Placeholder 2"/>
          <p:cNvSpPr>
            <a:spLocks noGrp="1"/>
          </p:cNvSpPr>
          <p:nvPr>
            <p:ph idx="1"/>
          </p:nvPr>
        </p:nvSpPr>
        <p:spPr/>
        <p:txBody>
          <a:bodyPr>
            <a:normAutofit/>
          </a:bodyPr>
          <a:lstStyle/>
          <a:p>
            <a:r>
              <a:rPr lang="en-AU" sz="3200" b="1" u="sng" dirty="0" smtClean="0"/>
              <a:t>In these cases the reflex is carried out by the spinal cord alone and is known as a spinal reflex. </a:t>
            </a:r>
          </a:p>
          <a:p>
            <a:endParaRPr lang="en-AU" sz="3200" b="1" u="sng" dirty="0" smtClean="0"/>
          </a:p>
          <a:p>
            <a:r>
              <a:rPr lang="en-AU" sz="3200" b="1" u="sng" dirty="0" smtClean="0"/>
              <a:t>The pathway a nerve impulse follows in travelling from a receptor to an effector is known as a reflex arc or, in the case of a spinal reflex, a spinal reflex arc. </a:t>
            </a:r>
            <a:endParaRPr lang="en-AU" sz="3200" b="1" u="sng" dirty="0"/>
          </a:p>
        </p:txBody>
      </p:sp>
    </p:spTree>
    <p:extLst>
      <p:ext uri="{BB962C8B-B14F-4D97-AF65-F5344CB8AC3E}">
        <p14:creationId xmlns:p14="http://schemas.microsoft.com/office/powerpoint/2010/main" val="375385713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A reflex arc </a:t>
            </a:r>
            <a:endParaRPr lang="en-AU" sz="6000" b="1" dirty="0"/>
          </a:p>
        </p:txBody>
      </p:sp>
      <p:sp>
        <p:nvSpPr>
          <p:cNvPr id="3" name="Content Placeholder 2"/>
          <p:cNvSpPr>
            <a:spLocks noGrp="1"/>
          </p:cNvSpPr>
          <p:nvPr>
            <p:ph idx="1"/>
          </p:nvPr>
        </p:nvSpPr>
        <p:spPr/>
        <p:txBody>
          <a:bodyPr>
            <a:normAutofit/>
          </a:bodyPr>
          <a:lstStyle/>
          <a:p>
            <a:r>
              <a:rPr lang="en-AU" sz="3200" b="1" dirty="0" smtClean="0"/>
              <a:t>A reflex arc has the following basic components: </a:t>
            </a:r>
          </a:p>
          <a:p>
            <a:r>
              <a:rPr lang="en-AU" sz="3200" b="1" dirty="0" smtClean="0"/>
              <a:t>1) A receptor is either the ending of a sensory neuron or a specialised cell associated with the end of a sensory neuron. The receptor reacts to a change in the internal or external environment by initiating a nerve impulse in the sensory neuron. </a:t>
            </a:r>
            <a:endParaRPr lang="en-AU" sz="3200" b="1" dirty="0"/>
          </a:p>
        </p:txBody>
      </p:sp>
    </p:spTree>
    <p:extLst>
      <p:ext uri="{BB962C8B-B14F-4D97-AF65-F5344CB8AC3E}">
        <p14:creationId xmlns:p14="http://schemas.microsoft.com/office/powerpoint/2010/main" val="147116740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Continued. </a:t>
            </a:r>
            <a:endParaRPr lang="en-AU" sz="6000" b="1" dirty="0"/>
          </a:p>
        </p:txBody>
      </p:sp>
      <p:sp>
        <p:nvSpPr>
          <p:cNvPr id="3" name="Content Placeholder 2"/>
          <p:cNvSpPr>
            <a:spLocks noGrp="1"/>
          </p:cNvSpPr>
          <p:nvPr>
            <p:ph idx="1"/>
          </p:nvPr>
        </p:nvSpPr>
        <p:spPr/>
        <p:txBody>
          <a:bodyPr>
            <a:normAutofit/>
          </a:bodyPr>
          <a:lstStyle/>
          <a:p>
            <a:r>
              <a:rPr lang="en-AU" sz="3200" b="1" u="sng" dirty="0" smtClean="0"/>
              <a:t>2) A sensory neuron carries impulses from the receptor to the CNS. </a:t>
            </a:r>
          </a:p>
          <a:p>
            <a:endParaRPr lang="en-AU" sz="3200" b="1" u="sng" dirty="0" smtClean="0"/>
          </a:p>
          <a:p>
            <a:r>
              <a:rPr lang="en-AU" sz="3200" b="1" u="sng" dirty="0" smtClean="0"/>
              <a:t>3) There is a least one synapse. The nerve impulse may be passed directly to a motor neuron or there may be one or more interneurons, which direct the impulse to the correct moto neuron. </a:t>
            </a:r>
            <a:endParaRPr lang="en-AU" sz="3200" b="1" u="sng" dirty="0"/>
          </a:p>
        </p:txBody>
      </p:sp>
    </p:spTree>
    <p:extLst>
      <p:ext uri="{BB962C8B-B14F-4D97-AF65-F5344CB8AC3E}">
        <p14:creationId xmlns:p14="http://schemas.microsoft.com/office/powerpoint/2010/main" val="404038998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Continued. </a:t>
            </a:r>
            <a:endParaRPr lang="en-AU" sz="6000" b="1" dirty="0"/>
          </a:p>
        </p:txBody>
      </p:sp>
      <p:sp>
        <p:nvSpPr>
          <p:cNvPr id="3" name="Content Placeholder 2"/>
          <p:cNvSpPr>
            <a:spLocks noGrp="1"/>
          </p:cNvSpPr>
          <p:nvPr>
            <p:ph idx="1"/>
          </p:nvPr>
        </p:nvSpPr>
        <p:spPr/>
        <p:txBody>
          <a:bodyPr>
            <a:normAutofit/>
          </a:bodyPr>
          <a:lstStyle/>
          <a:p>
            <a:r>
              <a:rPr lang="en-AU" sz="3200" b="1" u="sng" dirty="0" smtClean="0"/>
              <a:t>4) A motor neuron carries the nerve impulse to an effector. </a:t>
            </a:r>
          </a:p>
          <a:p>
            <a:endParaRPr lang="en-AU" sz="3200" b="1" u="sng" dirty="0" smtClean="0"/>
          </a:p>
          <a:p>
            <a:r>
              <a:rPr lang="en-AU" sz="3200" b="1" u="sng" dirty="0" smtClean="0"/>
              <a:t>5) An effector receives the nerve impulse and carries out the appropriate response. Effectors are muscle cells or secretory cells. </a:t>
            </a:r>
            <a:endParaRPr lang="en-AU" sz="3200" b="1" u="sng" dirty="0"/>
          </a:p>
        </p:txBody>
      </p:sp>
    </p:spTree>
    <p:extLst>
      <p:ext uri="{BB962C8B-B14F-4D97-AF65-F5344CB8AC3E}">
        <p14:creationId xmlns:p14="http://schemas.microsoft.com/office/powerpoint/2010/main" val="41948126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Tree>
    <p:extLst>
      <p:ext uri="{BB962C8B-B14F-4D97-AF65-F5344CB8AC3E}">
        <p14:creationId xmlns:p14="http://schemas.microsoft.com/office/powerpoint/2010/main" val="280748447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Neurons </a:t>
            </a:r>
            <a:endParaRPr lang="en-AU" sz="6000" b="1" dirty="0"/>
          </a:p>
        </p:txBody>
      </p:sp>
      <p:sp>
        <p:nvSpPr>
          <p:cNvPr id="3" name="Content Placeholder 2"/>
          <p:cNvSpPr>
            <a:spLocks noGrp="1"/>
          </p:cNvSpPr>
          <p:nvPr>
            <p:ph idx="1"/>
          </p:nvPr>
        </p:nvSpPr>
        <p:spPr/>
        <p:txBody>
          <a:bodyPr>
            <a:normAutofit/>
          </a:bodyPr>
          <a:lstStyle/>
          <a:p>
            <a:r>
              <a:rPr lang="en-AU" sz="3200" b="1" u="sng" dirty="0" smtClean="0"/>
              <a:t>Nerve cells or neurons, are the basic structural and functional units of the whole nervous system. </a:t>
            </a:r>
          </a:p>
          <a:p>
            <a:endParaRPr lang="en-AU" sz="3200" b="1" u="sng" dirty="0"/>
          </a:p>
          <a:p>
            <a:r>
              <a:rPr lang="en-AU" sz="3200" b="1" u="sng" dirty="0" smtClean="0"/>
              <a:t>All consist of a cell body and two different types of extension from the cell- the dendrites and the axon. </a:t>
            </a:r>
            <a:endParaRPr lang="en-AU" sz="3200" b="1" u="sng" dirty="0"/>
          </a:p>
        </p:txBody>
      </p:sp>
    </p:spTree>
    <p:extLst>
      <p:ext uri="{BB962C8B-B14F-4D97-AF65-F5344CB8AC3E}">
        <p14:creationId xmlns:p14="http://schemas.microsoft.com/office/powerpoint/2010/main" val="291263486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What Is a Neuron? - Definition, Structure, Parts and Func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957" y="144318"/>
            <a:ext cx="11454534" cy="64909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807284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Continued. </a:t>
            </a:r>
            <a:endParaRPr lang="en-AU" sz="6000" b="1" dirty="0"/>
          </a:p>
        </p:txBody>
      </p:sp>
      <p:sp>
        <p:nvSpPr>
          <p:cNvPr id="3" name="Content Placeholder 2"/>
          <p:cNvSpPr>
            <a:spLocks noGrp="1"/>
          </p:cNvSpPr>
          <p:nvPr>
            <p:ph idx="1"/>
          </p:nvPr>
        </p:nvSpPr>
        <p:spPr/>
        <p:txBody>
          <a:bodyPr>
            <a:normAutofit/>
          </a:bodyPr>
          <a:lstStyle/>
          <a:p>
            <a:r>
              <a:rPr lang="en-AU" sz="3200" b="1" u="sng" dirty="0" smtClean="0"/>
              <a:t>Most of the neurons in the brain and many in the spinal cord are interneurons. They have many branches that are able to send or receive messages to or from adjacent neurons. </a:t>
            </a:r>
            <a:endParaRPr lang="en-AU" sz="3200" b="1" u="sng" dirty="0"/>
          </a:p>
        </p:txBody>
      </p:sp>
    </p:spTree>
    <p:extLst>
      <p:ext uri="{BB962C8B-B14F-4D97-AF65-F5344CB8AC3E}">
        <p14:creationId xmlns:p14="http://schemas.microsoft.com/office/powerpoint/2010/main" val="142746355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Cell body. </a:t>
            </a:r>
            <a:endParaRPr lang="en-AU" sz="6000" b="1" dirty="0"/>
          </a:p>
        </p:txBody>
      </p:sp>
      <p:sp>
        <p:nvSpPr>
          <p:cNvPr id="3" name="Content Placeholder 2"/>
          <p:cNvSpPr>
            <a:spLocks noGrp="1"/>
          </p:cNvSpPr>
          <p:nvPr>
            <p:ph idx="1"/>
          </p:nvPr>
        </p:nvSpPr>
        <p:spPr/>
        <p:txBody>
          <a:bodyPr>
            <a:normAutofit/>
          </a:bodyPr>
          <a:lstStyle/>
          <a:p>
            <a:r>
              <a:rPr lang="en-AU" sz="3200" b="1" u="sng" dirty="0" smtClean="0"/>
              <a:t>The cell body is a part of the neuron that contains the nucleus. </a:t>
            </a:r>
          </a:p>
          <a:p>
            <a:r>
              <a:rPr lang="en-AU" sz="3200" b="1" u="sng" dirty="0" smtClean="0"/>
              <a:t>Around the nucleus is cytoplasm containing the organelles that are found in most cells- mitochondria, endoplasmic reticulum, ribosomes, and the Golgi apparatus. </a:t>
            </a:r>
            <a:endParaRPr lang="en-AU" sz="3200" b="1" u="sng" dirty="0"/>
          </a:p>
        </p:txBody>
      </p:sp>
    </p:spTree>
    <p:extLst>
      <p:ext uri="{BB962C8B-B14F-4D97-AF65-F5344CB8AC3E}">
        <p14:creationId xmlns:p14="http://schemas.microsoft.com/office/powerpoint/2010/main" val="357096753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Get an Overview of Neuron Cells- CUSABI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1975" y="548120"/>
            <a:ext cx="11090612" cy="58064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308045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Dendrites. </a:t>
            </a:r>
            <a:endParaRPr lang="en-AU" sz="6000" b="1" dirty="0"/>
          </a:p>
        </p:txBody>
      </p:sp>
      <p:sp>
        <p:nvSpPr>
          <p:cNvPr id="3" name="Content Placeholder 2"/>
          <p:cNvSpPr>
            <a:spLocks noGrp="1"/>
          </p:cNvSpPr>
          <p:nvPr>
            <p:ph idx="1"/>
          </p:nvPr>
        </p:nvSpPr>
        <p:spPr/>
        <p:txBody>
          <a:bodyPr>
            <a:normAutofit/>
          </a:bodyPr>
          <a:lstStyle/>
          <a:p>
            <a:r>
              <a:rPr lang="en-AU" sz="3200" b="1" u="sng" dirty="0" smtClean="0"/>
              <a:t>Dendrites are usually fairly short extensions of the cytoplasm of the cell body. </a:t>
            </a:r>
          </a:p>
          <a:p>
            <a:r>
              <a:rPr lang="en-AU" sz="3200" b="1" u="sng" dirty="0" smtClean="0"/>
              <a:t>They are often highly branched and they carry messages, or nerve impulses, into the cell body. </a:t>
            </a:r>
            <a:endParaRPr lang="en-AU" sz="3200" b="1" u="sng" dirty="0"/>
          </a:p>
        </p:txBody>
      </p:sp>
    </p:spTree>
    <p:extLst>
      <p:ext uri="{BB962C8B-B14F-4D97-AF65-F5344CB8AC3E}">
        <p14:creationId xmlns:p14="http://schemas.microsoft.com/office/powerpoint/2010/main" val="224317708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Get an Overview of Neuron Cells- CUSABI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1975" y="548120"/>
            <a:ext cx="11090612" cy="58064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472846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Axon</a:t>
            </a:r>
            <a:endParaRPr lang="en-AU" sz="6000" b="1" dirty="0"/>
          </a:p>
        </p:txBody>
      </p:sp>
      <p:sp>
        <p:nvSpPr>
          <p:cNvPr id="3" name="Content Placeholder 2"/>
          <p:cNvSpPr>
            <a:spLocks noGrp="1"/>
          </p:cNvSpPr>
          <p:nvPr>
            <p:ph idx="1"/>
          </p:nvPr>
        </p:nvSpPr>
        <p:spPr/>
        <p:txBody>
          <a:bodyPr/>
          <a:lstStyle/>
          <a:p>
            <a:r>
              <a:rPr lang="en-AU" b="1" u="sng" dirty="0" smtClean="0"/>
              <a:t>The axon is often a single, long extension of the cytoplasm. </a:t>
            </a:r>
          </a:p>
          <a:p>
            <a:r>
              <a:rPr lang="en-AU" b="1" u="sng" dirty="0" smtClean="0"/>
              <a:t>It usually carries nerve impulses away from the cell body. </a:t>
            </a:r>
          </a:p>
          <a:p>
            <a:r>
              <a:rPr lang="en-AU" b="1" u="sng" dirty="0" smtClean="0"/>
              <a:t>Most axons are covered with a layer of fatty material called the myelin sheath. </a:t>
            </a:r>
          </a:p>
          <a:p>
            <a:endParaRPr lang="en-AU" dirty="0"/>
          </a:p>
        </p:txBody>
      </p:sp>
    </p:spTree>
    <p:extLst>
      <p:ext uri="{BB962C8B-B14F-4D97-AF65-F5344CB8AC3E}">
        <p14:creationId xmlns:p14="http://schemas.microsoft.com/office/powerpoint/2010/main" val="297270217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Get an Overview of Neuron Cells- CUSABI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1975" y="548120"/>
            <a:ext cx="11090612" cy="58064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732639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5981" y="124980"/>
            <a:ext cx="10515600" cy="1325563"/>
          </a:xfrm>
        </p:spPr>
        <p:txBody>
          <a:bodyPr>
            <a:normAutofit/>
          </a:bodyPr>
          <a:lstStyle/>
          <a:p>
            <a:r>
              <a:rPr lang="en-AU" sz="6000" b="1" dirty="0" smtClean="0"/>
              <a:t>Types of Neurons </a:t>
            </a:r>
            <a:endParaRPr lang="en-AU" sz="6000" b="1" dirty="0"/>
          </a:p>
        </p:txBody>
      </p:sp>
      <p:sp>
        <p:nvSpPr>
          <p:cNvPr id="3" name="Content Placeholder 2"/>
          <p:cNvSpPr>
            <a:spLocks noGrp="1"/>
          </p:cNvSpPr>
          <p:nvPr>
            <p:ph idx="1"/>
          </p:nvPr>
        </p:nvSpPr>
        <p:spPr>
          <a:xfrm>
            <a:off x="320964" y="1289916"/>
            <a:ext cx="11363036" cy="5304848"/>
          </a:xfrm>
        </p:spPr>
        <p:txBody>
          <a:bodyPr>
            <a:normAutofit/>
          </a:bodyPr>
          <a:lstStyle/>
          <a:p>
            <a:r>
              <a:rPr lang="en-AU" sz="3200" b="1" u="sng" dirty="0" smtClean="0"/>
              <a:t>Sensory (or receptor) neurons: carry messages from receptors in the sense organs, or in the skin, to the CNS (brain and spinal cord) </a:t>
            </a:r>
          </a:p>
          <a:p>
            <a:endParaRPr lang="en-AU" sz="3200" b="1" u="sng" dirty="0" smtClean="0"/>
          </a:p>
          <a:p>
            <a:r>
              <a:rPr lang="en-AU" sz="3200" b="1" u="sng" dirty="0" smtClean="0"/>
              <a:t>Motor (or effector) neurons: carry messages from the CNS to the muscles and glands- the effectors. </a:t>
            </a:r>
          </a:p>
          <a:p>
            <a:endParaRPr lang="en-AU" sz="3200" b="1" u="sng" dirty="0" smtClean="0"/>
          </a:p>
          <a:p>
            <a:r>
              <a:rPr lang="en-AU" sz="3200" b="1" u="sng" dirty="0" smtClean="0"/>
              <a:t>Interneurons are located in the CNS and are the link between sensory and motor neurons. </a:t>
            </a:r>
            <a:endParaRPr lang="en-AU" sz="3200" b="1" u="sng" dirty="0"/>
          </a:p>
        </p:txBody>
      </p:sp>
    </p:spTree>
    <p:extLst>
      <p:ext uri="{BB962C8B-B14F-4D97-AF65-F5344CB8AC3E}">
        <p14:creationId xmlns:p14="http://schemas.microsoft.com/office/powerpoint/2010/main" val="389845226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nterneurons High Res Stock Images | Shutterstock"/>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b="20042"/>
          <a:stretch/>
        </p:blipFill>
        <p:spPr bwMode="auto">
          <a:xfrm>
            <a:off x="2104447" y="0"/>
            <a:ext cx="6393008" cy="550487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2373745" y="5661891"/>
            <a:ext cx="2290618" cy="400110"/>
          </a:xfrm>
          <a:prstGeom prst="rect">
            <a:avLst/>
          </a:prstGeom>
          <a:noFill/>
        </p:spPr>
        <p:txBody>
          <a:bodyPr wrap="square" rtlCol="0">
            <a:spAutoFit/>
          </a:bodyPr>
          <a:lstStyle/>
          <a:p>
            <a:r>
              <a:rPr lang="en-AU" sz="2000" b="1" dirty="0" smtClean="0"/>
              <a:t>Motor Neurons </a:t>
            </a:r>
            <a:endParaRPr lang="en-AU" sz="2000" b="1" dirty="0"/>
          </a:p>
        </p:txBody>
      </p:sp>
      <p:sp>
        <p:nvSpPr>
          <p:cNvPr id="4" name="TextBox 3"/>
          <p:cNvSpPr txBox="1"/>
          <p:nvPr/>
        </p:nvSpPr>
        <p:spPr>
          <a:xfrm>
            <a:off x="6987308" y="5661891"/>
            <a:ext cx="2290618" cy="400110"/>
          </a:xfrm>
          <a:prstGeom prst="rect">
            <a:avLst/>
          </a:prstGeom>
          <a:noFill/>
        </p:spPr>
        <p:txBody>
          <a:bodyPr wrap="square" rtlCol="0">
            <a:spAutoFit/>
          </a:bodyPr>
          <a:lstStyle/>
          <a:p>
            <a:r>
              <a:rPr lang="en-AU" sz="2000" b="1" dirty="0" smtClean="0"/>
              <a:t>Interneuron</a:t>
            </a:r>
            <a:r>
              <a:rPr lang="en-AU" dirty="0" smtClean="0"/>
              <a:t> </a:t>
            </a:r>
            <a:endParaRPr lang="en-AU" dirty="0"/>
          </a:p>
        </p:txBody>
      </p:sp>
      <p:sp>
        <p:nvSpPr>
          <p:cNvPr id="5" name="TextBox 4"/>
          <p:cNvSpPr txBox="1"/>
          <p:nvPr/>
        </p:nvSpPr>
        <p:spPr>
          <a:xfrm>
            <a:off x="4590473" y="5661891"/>
            <a:ext cx="2290618" cy="400110"/>
          </a:xfrm>
          <a:prstGeom prst="rect">
            <a:avLst/>
          </a:prstGeom>
          <a:noFill/>
        </p:spPr>
        <p:txBody>
          <a:bodyPr wrap="square" rtlCol="0">
            <a:spAutoFit/>
          </a:bodyPr>
          <a:lstStyle/>
          <a:p>
            <a:r>
              <a:rPr lang="en-AU" sz="2000" b="1" dirty="0" smtClean="0"/>
              <a:t>Sensory Neurons </a:t>
            </a:r>
            <a:endParaRPr lang="en-AU" sz="2000" b="1" dirty="0"/>
          </a:p>
        </p:txBody>
      </p:sp>
    </p:spTree>
    <p:extLst>
      <p:ext uri="{BB962C8B-B14F-4D97-AF65-F5344CB8AC3E}">
        <p14:creationId xmlns:p14="http://schemas.microsoft.com/office/powerpoint/2010/main" val="295621244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Synapses </a:t>
            </a:r>
            <a:endParaRPr lang="en-AU" sz="6000" b="1" dirty="0"/>
          </a:p>
        </p:txBody>
      </p:sp>
      <p:sp>
        <p:nvSpPr>
          <p:cNvPr id="3" name="Content Placeholder 2"/>
          <p:cNvSpPr>
            <a:spLocks noGrp="1"/>
          </p:cNvSpPr>
          <p:nvPr>
            <p:ph idx="1"/>
          </p:nvPr>
        </p:nvSpPr>
        <p:spPr/>
        <p:txBody>
          <a:bodyPr/>
          <a:lstStyle/>
          <a:p>
            <a:r>
              <a:rPr lang="en-AU" dirty="0" smtClean="0"/>
              <a:t>Nerve impulses have to be passed from neuron to neuron. </a:t>
            </a:r>
          </a:p>
          <a:p>
            <a:r>
              <a:rPr lang="en-AU" dirty="0" smtClean="0"/>
              <a:t>The junction between the branches of adjacent neurons is called the synapse. </a:t>
            </a:r>
          </a:p>
          <a:p>
            <a:r>
              <a:rPr lang="en-AU" dirty="0" smtClean="0"/>
              <a:t>The synapse is the tiny space between neurons. </a:t>
            </a:r>
            <a:endParaRPr lang="en-AU" dirty="0"/>
          </a:p>
        </p:txBody>
      </p:sp>
    </p:spTree>
    <p:extLst>
      <p:ext uri="{BB962C8B-B14F-4D97-AF65-F5344CB8AC3E}">
        <p14:creationId xmlns:p14="http://schemas.microsoft.com/office/powerpoint/2010/main" val="44844184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877270" y="0"/>
            <a:ext cx="5500112" cy="6821288"/>
          </a:xfrm>
          <a:prstGeom prst="rect">
            <a:avLst/>
          </a:prstGeom>
        </p:spPr>
      </p:pic>
    </p:spTree>
    <p:extLst>
      <p:ext uri="{BB962C8B-B14F-4D97-AF65-F5344CB8AC3E}">
        <p14:creationId xmlns:p14="http://schemas.microsoft.com/office/powerpoint/2010/main" val="58911321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ctr"/>
            <a:r>
              <a:rPr lang="en-AU" sz="3600" dirty="0" smtClean="0"/>
              <a:t>How do the </a:t>
            </a:r>
            <a:r>
              <a:rPr lang="en-AU" sz="3600" dirty="0"/>
              <a:t>nervous system and the musculoskeletal system interact to provide coordinated actions of the body for walking and </a:t>
            </a:r>
            <a:r>
              <a:rPr lang="en-AU" sz="3600" dirty="0" smtClean="0"/>
              <a:t>balance?</a:t>
            </a:r>
          </a:p>
          <a:p>
            <a:pPr algn="ctr"/>
            <a:endParaRPr lang="en-AU" sz="3600" dirty="0">
              <a:latin typeface="Calibri" panose="020F0502020204030204" pitchFamily="34" charset="0"/>
              <a:ea typeface="Calibri" panose="020F0502020204030204" pitchFamily="34" charset="0"/>
              <a:cs typeface="Times New Roman" panose="02020603050405020304" pitchFamily="18" charset="0"/>
            </a:endParaRPr>
          </a:p>
          <a:p>
            <a:pPr marL="0" indent="0" algn="ctr">
              <a:buNone/>
            </a:pPr>
            <a:r>
              <a:rPr lang="en-AU" sz="3600" dirty="0" smtClean="0">
                <a:latin typeface="Calibri" panose="020F0502020204030204" pitchFamily="34" charset="0"/>
                <a:ea typeface="Calibri" panose="020F0502020204030204" pitchFamily="34" charset="0"/>
                <a:cs typeface="Times New Roman" panose="02020603050405020304" pitchFamily="18" charset="0"/>
              </a:rPr>
              <a:t>10 marks </a:t>
            </a:r>
            <a:endParaRPr lang="en-AU" sz="3600" dirty="0">
              <a:latin typeface="Calibri" panose="020F0502020204030204" pitchFamily="34" charset="0"/>
              <a:ea typeface="Calibri" panose="020F0502020204030204" pitchFamily="34" charset="0"/>
              <a:cs typeface="Times New Roman" panose="02020603050405020304" pitchFamily="18" charset="0"/>
            </a:endParaRPr>
          </a:p>
          <a:p>
            <a:endParaRPr lang="en-AU" dirty="0"/>
          </a:p>
        </p:txBody>
      </p:sp>
    </p:spTree>
    <p:extLst>
      <p:ext uri="{BB962C8B-B14F-4D97-AF65-F5344CB8AC3E}">
        <p14:creationId xmlns:p14="http://schemas.microsoft.com/office/powerpoint/2010/main" val="300823259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Your answer should include…..</a:t>
            </a:r>
            <a:endParaRPr lang="en-AU" dirty="0"/>
          </a:p>
        </p:txBody>
      </p:sp>
      <p:sp>
        <p:nvSpPr>
          <p:cNvPr id="3" name="Content Placeholder 2"/>
          <p:cNvSpPr>
            <a:spLocks noGrp="1"/>
          </p:cNvSpPr>
          <p:nvPr>
            <p:ph idx="1"/>
          </p:nvPr>
        </p:nvSpPr>
        <p:spPr/>
        <p:txBody>
          <a:bodyPr>
            <a:normAutofit fontScale="92500"/>
          </a:bodyPr>
          <a:lstStyle/>
          <a:p>
            <a:r>
              <a:rPr lang="en-AU" dirty="0" smtClean="0">
                <a:solidFill>
                  <a:srgbClr val="C00000"/>
                </a:solidFill>
              </a:rPr>
              <a:t>Nervous system is a communication system that coordinates all our voluntary and involuntary actions</a:t>
            </a:r>
            <a:r>
              <a:rPr lang="en-AU" dirty="0" smtClean="0"/>
              <a:t> </a:t>
            </a:r>
            <a:r>
              <a:rPr lang="en-AU" dirty="0" smtClean="0">
                <a:solidFill>
                  <a:srgbClr val="002060"/>
                </a:solidFill>
              </a:rPr>
              <a:t>through receiving and processing information from sense organs.</a:t>
            </a:r>
            <a:r>
              <a:rPr lang="en-AU" dirty="0" smtClean="0"/>
              <a:t> </a:t>
            </a:r>
          </a:p>
          <a:p>
            <a:r>
              <a:rPr lang="en-AU" dirty="0" smtClean="0">
                <a:solidFill>
                  <a:srgbClr val="C00000"/>
                </a:solidFill>
              </a:rPr>
              <a:t>Musculoskeletal system provides our body with movement, support and stability. </a:t>
            </a:r>
          </a:p>
          <a:p>
            <a:r>
              <a:rPr lang="en-AU" dirty="0" smtClean="0">
                <a:solidFill>
                  <a:srgbClr val="002060"/>
                </a:solidFill>
              </a:rPr>
              <a:t>They work together to provide coordinated actions due to the nervous system monitoring the external environment via sense organs and </a:t>
            </a:r>
            <a:r>
              <a:rPr lang="en-AU" dirty="0" smtClean="0">
                <a:solidFill>
                  <a:srgbClr val="C00000"/>
                </a:solidFill>
              </a:rPr>
              <a:t>sending that information to the CNS (brain)</a:t>
            </a:r>
            <a:r>
              <a:rPr lang="en-AU" dirty="0" smtClean="0"/>
              <a:t> </a:t>
            </a:r>
            <a:r>
              <a:rPr lang="en-AU" dirty="0" smtClean="0">
                <a:solidFill>
                  <a:srgbClr val="002060"/>
                </a:solidFill>
              </a:rPr>
              <a:t>where decisions are made concerning the movement/action that is to be taken and that </a:t>
            </a:r>
            <a:r>
              <a:rPr lang="en-AU" dirty="0" smtClean="0">
                <a:solidFill>
                  <a:srgbClr val="C00000"/>
                </a:solidFill>
              </a:rPr>
              <a:t>instruction is sent via the PNS</a:t>
            </a:r>
            <a:r>
              <a:rPr lang="en-AU" dirty="0" smtClean="0"/>
              <a:t> </a:t>
            </a:r>
            <a:r>
              <a:rPr lang="en-AU" dirty="0" smtClean="0">
                <a:solidFill>
                  <a:srgbClr val="002060"/>
                </a:solidFill>
              </a:rPr>
              <a:t>to the necessary parts of the musculoskeletal system </a:t>
            </a:r>
            <a:r>
              <a:rPr lang="en-AU" dirty="0" smtClean="0"/>
              <a:t>(</a:t>
            </a:r>
            <a:r>
              <a:rPr lang="en-AU" dirty="0" smtClean="0">
                <a:solidFill>
                  <a:srgbClr val="C00000"/>
                </a:solidFill>
              </a:rPr>
              <a:t>e.g. muscle and bones)</a:t>
            </a:r>
            <a:r>
              <a:rPr lang="en-AU" dirty="0" smtClean="0"/>
              <a:t> </a:t>
            </a:r>
            <a:r>
              <a:rPr lang="en-AU" dirty="0" smtClean="0">
                <a:solidFill>
                  <a:srgbClr val="002060"/>
                </a:solidFill>
              </a:rPr>
              <a:t>to carry out the action (e.g. walking, movement). </a:t>
            </a:r>
          </a:p>
          <a:p>
            <a:endParaRPr lang="en-AU" dirty="0"/>
          </a:p>
          <a:p>
            <a:endParaRPr lang="en-AU" dirty="0" smtClean="0"/>
          </a:p>
          <a:p>
            <a:pPr marL="0" indent="0">
              <a:buNone/>
            </a:pPr>
            <a:endParaRPr lang="en-AU" dirty="0" smtClean="0"/>
          </a:p>
        </p:txBody>
      </p:sp>
    </p:spTree>
    <p:extLst>
      <p:ext uri="{BB962C8B-B14F-4D97-AF65-F5344CB8AC3E}">
        <p14:creationId xmlns:p14="http://schemas.microsoft.com/office/powerpoint/2010/main" val="5384733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1AA474BFF29A94297DF10C94F3FD36F" ma:contentTypeVersion="27" ma:contentTypeDescription="Create a new document." ma:contentTypeScope="" ma:versionID="f7ddf1dff5d74736c8a0c1b56b384eca">
  <xsd:schema xmlns:xsd="http://www.w3.org/2001/XMLSchema" xmlns:xs="http://www.w3.org/2001/XMLSchema" xmlns:p="http://schemas.microsoft.com/office/2006/metadata/properties" xmlns:ns3="1f8b7790-4a7d-499a-b1c0-881596eee243" xmlns:ns4="670a0da3-10e0-41f3-8c5e-192926d40739" targetNamespace="http://schemas.microsoft.com/office/2006/metadata/properties" ma:root="true" ma:fieldsID="8d34e43113f8090552ac15a0c74544ef" ns3:_="" ns4:_="">
    <xsd:import namespace="1f8b7790-4a7d-499a-b1c0-881596eee243"/>
    <xsd:import namespace="670a0da3-10e0-41f3-8c5e-192926d40739"/>
    <xsd:element name="properties">
      <xsd:complexType>
        <xsd:sequence>
          <xsd:element name="documentManagement">
            <xsd:complexType>
              <xsd:all>
                <xsd:element ref="ns3:MediaServiceMetadata" minOccurs="0"/>
                <xsd:element ref="ns3:MediaServiceFastMetadata" minOccurs="0"/>
                <xsd:element ref="ns3:NotebookType" minOccurs="0"/>
                <xsd:element ref="ns3:FolderType" minOccurs="0"/>
                <xsd:element ref="ns3:CultureName" minOccurs="0"/>
                <xsd:element ref="ns3:AppVersion" minOccurs="0"/>
                <xsd:element ref="ns3:TeamsChannelId" minOccurs="0"/>
                <xsd:element ref="ns3:Owner" minOccurs="0"/>
                <xsd:element ref="ns3:Math_Settings" minOccurs="0"/>
                <xsd:element ref="ns3:DefaultSectionNames" minOccurs="0"/>
                <xsd:element ref="ns3:Templates" minOccurs="0"/>
                <xsd:element ref="ns3:Teachers" minOccurs="0"/>
                <xsd:element ref="ns3:Students" minOccurs="0"/>
                <xsd:element ref="ns3:Student_Groups" minOccurs="0"/>
                <xsd:element ref="ns3:Distribution_Groups" minOccurs="0"/>
                <xsd:element ref="ns3:LMS_Mappings" minOccurs="0"/>
                <xsd:element ref="ns3:Invited_Teachers" minOccurs="0"/>
                <xsd:element ref="ns3:Invited_Students" minOccurs="0"/>
                <xsd:element ref="ns3:Self_Registration_Enabled" minOccurs="0"/>
                <xsd:element ref="ns3:Has_Teacher_Only_SectionGroup" minOccurs="0"/>
                <xsd:element ref="ns3:Is_Collaboration_Space_Locked" minOccurs="0"/>
                <xsd:element ref="ns3:IsNotebookLocked"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8b7790-4a7d-499a-b1c0-881596eee2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NotebookType" ma:index="10" nillable="true" ma:displayName="Notebook Type" ma:internalName="NotebookType">
      <xsd:simpleType>
        <xsd:restriction base="dms:Text"/>
      </xsd:simpleType>
    </xsd:element>
    <xsd:element name="FolderType" ma:index="11" nillable="true" ma:displayName="Folder Type" ma:internalName="FolderType">
      <xsd:simpleType>
        <xsd:restriction base="dms:Text"/>
      </xsd:simpleType>
    </xsd:element>
    <xsd:element name="CultureName" ma:index="12" nillable="true" ma:displayName="Culture Name" ma:internalName="CultureName">
      <xsd:simpleType>
        <xsd:restriction base="dms:Text"/>
      </xsd:simpleType>
    </xsd:element>
    <xsd:element name="AppVersion" ma:index="13" nillable="true" ma:displayName="App Version" ma:internalName="AppVersion">
      <xsd:simpleType>
        <xsd:restriction base="dms:Text"/>
      </xsd:simpleType>
    </xsd:element>
    <xsd:element name="TeamsChannelId" ma:index="14" nillable="true" ma:displayName="Teams Channel Id" ma:internalName="TeamsChannelId">
      <xsd:simpleType>
        <xsd:restriction base="dms:Text"/>
      </xsd:simpleType>
    </xsd:element>
    <xsd:element name="Owner" ma:index="15"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6" nillable="true" ma:displayName="Math Settings" ma:internalName="Math_Settings">
      <xsd:simpleType>
        <xsd:restriction base="dms:Text"/>
      </xsd:simpleType>
    </xsd:element>
    <xsd:element name="DefaultSectionNames" ma:index="17" nillable="true" ma:displayName="Default Section Names" ma:internalName="DefaultSectionNames">
      <xsd:simpleType>
        <xsd:restriction base="dms:Note">
          <xsd:maxLength value="255"/>
        </xsd:restriction>
      </xsd:simpleType>
    </xsd:element>
    <xsd:element name="Templates" ma:index="18" nillable="true" ma:displayName="Templates" ma:internalName="Templates">
      <xsd:simpleType>
        <xsd:restriction base="dms:Note">
          <xsd:maxLength value="255"/>
        </xsd:restriction>
      </xsd:simpleType>
    </xsd:element>
    <xsd:element name="Teachers" ma:index="19"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0"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21"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2" nillable="true" ma:displayName="Distribution Groups" ma:internalName="Distribution_Groups">
      <xsd:simpleType>
        <xsd:restriction base="dms:Note">
          <xsd:maxLength value="255"/>
        </xsd:restriction>
      </xsd:simpleType>
    </xsd:element>
    <xsd:element name="LMS_Mappings" ma:index="23" nillable="true" ma:displayName="LMS Mappings" ma:internalName="LMS_Mappings">
      <xsd:simpleType>
        <xsd:restriction base="dms:Note">
          <xsd:maxLength value="255"/>
        </xsd:restriction>
      </xsd:simpleType>
    </xsd:element>
    <xsd:element name="Invited_Teachers" ma:index="24" nillable="true" ma:displayName="Invited Teachers" ma:internalName="Invited_Teachers">
      <xsd:simpleType>
        <xsd:restriction base="dms:Note">
          <xsd:maxLength value="255"/>
        </xsd:restriction>
      </xsd:simpleType>
    </xsd:element>
    <xsd:element name="Invited_Students" ma:index="25" nillable="true" ma:displayName="Invited Students" ma:internalName="Invited_Students">
      <xsd:simpleType>
        <xsd:restriction base="dms:Note">
          <xsd:maxLength value="255"/>
        </xsd:restriction>
      </xsd:simpleType>
    </xsd:element>
    <xsd:element name="Self_Registration_Enabled" ma:index="26" nillable="true" ma:displayName="Self Registration Enabled" ma:internalName="Self_Registration_Enabled">
      <xsd:simpleType>
        <xsd:restriction base="dms:Boolean"/>
      </xsd:simpleType>
    </xsd:element>
    <xsd:element name="Has_Teacher_Only_SectionGroup" ma:index="27" nillable="true" ma:displayName="Has Teacher Only SectionGroup" ma:internalName="Has_Teacher_Only_SectionGroup">
      <xsd:simpleType>
        <xsd:restriction base="dms:Boolean"/>
      </xsd:simpleType>
    </xsd:element>
    <xsd:element name="Is_Collaboration_Space_Locked" ma:index="28" nillable="true" ma:displayName="Is Collaboration Space Locked" ma:internalName="Is_Collaboration_Space_Locked">
      <xsd:simpleType>
        <xsd:restriction base="dms:Boolean"/>
      </xsd:simpleType>
    </xsd:element>
    <xsd:element name="IsNotebookLocked" ma:index="29" nillable="true" ma:displayName="Is Notebook Locked" ma:internalName="IsNotebookLocked">
      <xsd:simpleType>
        <xsd:restriction base="dms:Boolean"/>
      </xsd:simpleType>
    </xsd:element>
    <xsd:element name="MediaServiceAutoKeyPoints" ma:index="33" nillable="true" ma:displayName="MediaServiceAutoKeyPoints" ma:hidden="true" ma:internalName="MediaServiceAutoKeyPoints" ma:readOnly="true">
      <xsd:simpleType>
        <xsd:restriction base="dms:Note"/>
      </xsd:simpleType>
    </xsd:element>
    <xsd:element name="MediaServiceKeyPoints" ma:index="34"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70a0da3-10e0-41f3-8c5e-192926d40739" elementFormDefault="qualified">
    <xsd:import namespace="http://schemas.microsoft.com/office/2006/documentManagement/types"/>
    <xsd:import namespace="http://schemas.microsoft.com/office/infopath/2007/PartnerControls"/>
    <xsd:element name="SharedWithUsers" ma:index="3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31" nillable="true" ma:displayName="Shared With Details" ma:internalName="SharedWithDetails" ma:readOnly="true">
      <xsd:simpleType>
        <xsd:restriction base="dms:Note">
          <xsd:maxLength value="255"/>
        </xsd:restriction>
      </xsd:simpleType>
    </xsd:element>
    <xsd:element name="SharingHintHash" ma:index="3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udent_Groups xmlns="1f8b7790-4a7d-499a-b1c0-881596eee243">
      <UserInfo>
        <DisplayName/>
        <AccountId xsi:nil="true"/>
        <AccountType/>
      </UserInfo>
    </Student_Groups>
    <AppVersion xmlns="1f8b7790-4a7d-499a-b1c0-881596eee243" xsi:nil="true"/>
    <DefaultSectionNames xmlns="1f8b7790-4a7d-499a-b1c0-881596eee243" xsi:nil="true"/>
    <Math_Settings xmlns="1f8b7790-4a7d-499a-b1c0-881596eee243" xsi:nil="true"/>
    <NotebookType xmlns="1f8b7790-4a7d-499a-b1c0-881596eee243" xsi:nil="true"/>
    <Students xmlns="1f8b7790-4a7d-499a-b1c0-881596eee243">
      <UserInfo>
        <DisplayName/>
        <AccountId xsi:nil="true"/>
        <AccountType/>
      </UserInfo>
    </Students>
    <Is_Collaboration_Space_Locked xmlns="1f8b7790-4a7d-499a-b1c0-881596eee243" xsi:nil="true"/>
    <Has_Teacher_Only_SectionGroup xmlns="1f8b7790-4a7d-499a-b1c0-881596eee243" xsi:nil="true"/>
    <FolderType xmlns="1f8b7790-4a7d-499a-b1c0-881596eee243" xsi:nil="true"/>
    <Owner xmlns="1f8b7790-4a7d-499a-b1c0-881596eee243">
      <UserInfo>
        <DisplayName/>
        <AccountId xsi:nil="true"/>
        <AccountType/>
      </UserInfo>
    </Owner>
    <TeamsChannelId xmlns="1f8b7790-4a7d-499a-b1c0-881596eee243" xsi:nil="true"/>
    <Invited_Teachers xmlns="1f8b7790-4a7d-499a-b1c0-881596eee243" xsi:nil="true"/>
    <Invited_Students xmlns="1f8b7790-4a7d-499a-b1c0-881596eee243" xsi:nil="true"/>
    <IsNotebookLocked xmlns="1f8b7790-4a7d-499a-b1c0-881596eee243" xsi:nil="true"/>
    <Templates xmlns="1f8b7790-4a7d-499a-b1c0-881596eee243" xsi:nil="true"/>
    <Teachers xmlns="1f8b7790-4a7d-499a-b1c0-881596eee243">
      <UserInfo>
        <DisplayName/>
        <AccountId xsi:nil="true"/>
        <AccountType/>
      </UserInfo>
    </Teachers>
    <Self_Registration_Enabled xmlns="1f8b7790-4a7d-499a-b1c0-881596eee243" xsi:nil="true"/>
    <CultureName xmlns="1f8b7790-4a7d-499a-b1c0-881596eee243" xsi:nil="true"/>
    <Distribution_Groups xmlns="1f8b7790-4a7d-499a-b1c0-881596eee243" xsi:nil="true"/>
    <LMS_Mappings xmlns="1f8b7790-4a7d-499a-b1c0-881596eee243" xsi:nil="true"/>
  </documentManagement>
</p:properties>
</file>

<file path=customXml/itemProps1.xml><?xml version="1.0" encoding="utf-8"?>
<ds:datastoreItem xmlns:ds="http://schemas.openxmlformats.org/officeDocument/2006/customXml" ds:itemID="{8593EE24-8A54-43B8-AD87-F71C1CFFE2F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f8b7790-4a7d-499a-b1c0-881596eee243"/>
    <ds:schemaRef ds:uri="670a0da3-10e0-41f3-8c5e-192926d4073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9E610EC-D52B-471D-A3AE-F8EF1A2FCB5F}">
  <ds:schemaRefs>
    <ds:schemaRef ds:uri="http://schemas.microsoft.com/sharepoint/v3/contenttype/forms"/>
  </ds:schemaRefs>
</ds:datastoreItem>
</file>

<file path=customXml/itemProps3.xml><?xml version="1.0" encoding="utf-8"?>
<ds:datastoreItem xmlns:ds="http://schemas.openxmlformats.org/officeDocument/2006/customXml" ds:itemID="{49F027C9-ADE0-4823-863F-78D344A9EFA0}">
  <ds:schemaRefs>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purl.org/dc/dcmitype/"/>
    <ds:schemaRef ds:uri="http://schemas.microsoft.com/office/infopath/2007/PartnerControls"/>
    <ds:schemaRef ds:uri="1f8b7790-4a7d-499a-b1c0-881596eee243"/>
    <ds:schemaRef ds:uri="http://purl.org/dc/elements/1.1/"/>
    <ds:schemaRef ds:uri="670a0da3-10e0-41f3-8c5e-192926d40739"/>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725</TotalTime>
  <Words>3974</Words>
  <Application>Microsoft Office PowerPoint</Application>
  <PresentationFormat>Widescreen</PresentationFormat>
  <Paragraphs>418</Paragraphs>
  <Slides>89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89</vt:i4>
      </vt:variant>
    </vt:vector>
  </HeadingPairs>
  <TitlesOfParts>
    <vt:vector size="95" baseType="lpstr">
      <vt:lpstr>Arial</vt:lpstr>
      <vt:lpstr>Calibri</vt:lpstr>
      <vt:lpstr>Calibri Light</vt:lpstr>
      <vt:lpstr>Freestyle Script</vt:lpstr>
      <vt:lpstr>Times New Roman</vt:lpstr>
      <vt:lpstr>Office Theme</vt:lpstr>
      <vt:lpstr>The Nervous System </vt:lpstr>
      <vt:lpstr>Homeostasis </vt:lpstr>
      <vt:lpstr>Continued. </vt:lpstr>
      <vt:lpstr>Continued. </vt:lpstr>
      <vt:lpstr>Continued. </vt:lpstr>
      <vt:lpstr>Nervous Systems</vt:lpstr>
      <vt:lpstr>Continued. </vt:lpstr>
      <vt:lpstr>Continued. </vt:lpstr>
      <vt:lpstr>Continued. </vt:lpstr>
      <vt:lpstr>Continued. </vt:lpstr>
      <vt:lpstr>Part of the Spinal Cord </vt:lpstr>
      <vt:lpstr>Protection of the CNS</vt:lpstr>
      <vt:lpstr>Structures that protect the brain </vt:lpstr>
      <vt:lpstr>Complete the following table  </vt:lpstr>
      <vt:lpstr>The Brain </vt:lpstr>
      <vt:lpstr>Brain stem </vt:lpstr>
      <vt:lpstr>Cerebrum </vt:lpstr>
      <vt:lpstr>Continued. </vt:lpstr>
      <vt:lpstr>Continued. </vt:lpstr>
      <vt:lpstr>Cerebellum </vt:lpstr>
      <vt:lpstr>Continued. </vt:lpstr>
      <vt:lpstr>The location and interior structure of the cerebellum </vt:lpstr>
      <vt:lpstr>Hypothalamus </vt:lpstr>
      <vt:lpstr>Functions of the Hypothalamus </vt:lpstr>
      <vt:lpstr>Continued. </vt:lpstr>
      <vt:lpstr>Continued. </vt:lpstr>
      <vt:lpstr>Continued. </vt:lpstr>
      <vt:lpstr>Continued. </vt:lpstr>
      <vt:lpstr>PowerPoint Presentation</vt:lpstr>
      <vt:lpstr>The Autonomic Nervous System </vt:lpstr>
      <vt:lpstr>Continued. </vt:lpstr>
      <vt:lpstr>Continued. </vt:lpstr>
      <vt:lpstr>Continued. </vt:lpstr>
      <vt:lpstr>PowerPoint Presentation</vt:lpstr>
      <vt:lpstr>PowerPoint Presentation</vt:lpstr>
      <vt:lpstr>The differences in divisions </vt:lpstr>
      <vt:lpstr>PowerPoint Presentation</vt:lpstr>
      <vt:lpstr>Flight or Fight </vt:lpstr>
      <vt:lpstr>PowerPoint Presentation</vt:lpstr>
      <vt:lpstr>PowerPoint Presentation</vt:lpstr>
      <vt:lpstr>PowerPoint Presentation</vt:lpstr>
      <vt:lpstr>Negative Feedback Loops </vt:lpstr>
      <vt:lpstr>PowerPoint Presentation</vt:lpstr>
      <vt:lpstr>PowerPoint Presentation</vt:lpstr>
      <vt:lpstr>Copy this. </vt:lpstr>
      <vt:lpstr>Receptors </vt:lpstr>
      <vt:lpstr>Thermoreceptors </vt:lpstr>
      <vt:lpstr>Continued. </vt:lpstr>
      <vt:lpstr>Continued.   </vt:lpstr>
      <vt:lpstr>Osmoreceptors  </vt:lpstr>
      <vt:lpstr>Chemoreceptors  </vt:lpstr>
      <vt:lpstr>Continued.  </vt:lpstr>
      <vt:lpstr>Touch receptors  </vt:lpstr>
      <vt:lpstr>Continued.  </vt:lpstr>
      <vt:lpstr>Continued. </vt:lpstr>
      <vt:lpstr>Pain receptors </vt:lpstr>
      <vt:lpstr>Structure of the eye. </vt:lpstr>
      <vt:lpstr>PowerPoint Presentation</vt:lpstr>
      <vt:lpstr>PowerPoint Presentation</vt:lpstr>
      <vt:lpstr>Structure of the ear </vt:lpstr>
      <vt:lpstr>Continued. </vt:lpstr>
      <vt:lpstr>PowerPoint Presentation</vt:lpstr>
      <vt:lpstr>PowerPoint Presentation</vt:lpstr>
      <vt:lpstr>External Ear</vt:lpstr>
      <vt:lpstr>Middle Ear. </vt:lpstr>
      <vt:lpstr>Inner Ear. </vt:lpstr>
      <vt:lpstr>How it all connects. </vt:lpstr>
      <vt:lpstr>Reflexes </vt:lpstr>
      <vt:lpstr>Continued. </vt:lpstr>
      <vt:lpstr>Continued. </vt:lpstr>
      <vt:lpstr>A reflex arc </vt:lpstr>
      <vt:lpstr>Continued. </vt:lpstr>
      <vt:lpstr>Continued. </vt:lpstr>
      <vt:lpstr>PowerPoint Presentation</vt:lpstr>
      <vt:lpstr>Neurons </vt:lpstr>
      <vt:lpstr>PowerPoint Presentation</vt:lpstr>
      <vt:lpstr>Continued. </vt:lpstr>
      <vt:lpstr>Cell body. </vt:lpstr>
      <vt:lpstr>PowerPoint Presentation</vt:lpstr>
      <vt:lpstr>Dendrites. </vt:lpstr>
      <vt:lpstr>PowerPoint Presentation</vt:lpstr>
      <vt:lpstr>Axon</vt:lpstr>
      <vt:lpstr>PowerPoint Presentation</vt:lpstr>
      <vt:lpstr>Types of Neurons </vt:lpstr>
      <vt:lpstr>PowerPoint Presentation</vt:lpstr>
      <vt:lpstr>Synapses </vt:lpstr>
      <vt:lpstr>PowerPoint Presentation</vt:lpstr>
      <vt:lpstr>PowerPoint Presentation</vt:lpstr>
      <vt:lpstr>Your answer should include…..</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Nervous System</dc:title>
  <dc:creator>DOOMEN Lisa [Gilmore College]</dc:creator>
  <cp:lastModifiedBy>DOOMEN Lisa [Gilmore College]</cp:lastModifiedBy>
  <cp:revision>58</cp:revision>
  <dcterms:created xsi:type="dcterms:W3CDTF">2021-03-03T03:17:57Z</dcterms:created>
  <dcterms:modified xsi:type="dcterms:W3CDTF">2022-02-16T23:54:09Z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0x01010011AA474BFF29A94297DF10C94F3FD36F</vt:lpwstr>
  </property>
</Properties>
</file>
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0" r:id="rId7"/>
    <p:sldId id="267" r:id="rId8"/>
    <p:sldId id="268" r:id="rId9"/>
    <p:sldId id="269" r:id="rId10"/>
    <p:sldId id="270" r:id="rId11"/>
    <p:sldId id="261" r:id="rId12"/>
    <p:sldId id="262" r:id="rId13"/>
    <p:sldId id="271" r:id="rId14"/>
    <p:sldId id="272" r:id="rId15"/>
    <p:sldId id="277" r:id="rId16"/>
    <p:sldId id="273" r:id="rId17"/>
    <p:sldId id="274" r:id="rId18"/>
    <p:sldId id="275" r:id="rId19"/>
    <p:sldId id="276" r:id="rId20"/>
    <p:sldId id="278" r:id="rId21"/>
    <p:sldId id="279" r:id="rId22"/>
    <p:sldId id="280" r:id="rId23"/>
    <p:sldId id="281" r:id="rId24"/>
    <p:sldId id="282" r:id="rId25"/>
    <p:sldId id="283" r:id="rId26"/>
    <p:sldId id="286" r:id="rId27"/>
    <p:sldId id="287" r:id="rId28"/>
    <p:sldId id="288" r:id="rId29"/>
    <p:sldId id="284" r:id="rId30"/>
    <p:sldId id="285" r:id="rId31"/>
    <p:sldId id="290" r:id="rId32"/>
    <p:sldId id="289" r:id="rId33"/>
    <p:sldId id="291" r:id="rId34"/>
    <p:sldId id="292" r:id="rId35"/>
    <p:sldId id="293" r:id="rId36"/>
    <p:sldId id="294" r:id="rId37"/>
    <p:sldId id="295" r:id="rId38"/>
    <p:sldId id="263" r:id="rId39"/>
    <p:sldId id="264" r:id="rId40"/>
    <p:sldId id="265" r:id="rId41"/>
    <p:sldId id="266"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10/03/2022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2766983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10/03/2022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802497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7DF4103-AC13-4E81-8F4A-7126A09DB8C9}" type="datetimeFigureOut">
              <a:rPr lang="en-AU" smtClean="0"/>
              <a:t>10/03/2022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970930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7DF4103-AC13-4E81-8F4A-7126A09DB8C9}" type="datetimeFigureOut">
              <a:rPr lang="en-AU" smtClean="0"/>
              <a:t>10/03/2022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507289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7DF4103-AC13-4E81-8F4A-7126A09DB8C9}" type="datetimeFigureOut">
              <a:rPr lang="en-AU" smtClean="0"/>
              <a:t>10/03/2022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962155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7DF4103-AC13-4E81-8F4A-7126A09DB8C9}" type="datetimeFigureOut">
              <a:rPr lang="en-AU" smtClean="0"/>
              <a:t>10/03/2022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4160661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DF4103-AC13-4E81-8F4A-7126A09DB8C9}" type="datetimeFigureOut">
              <a:rPr lang="en-AU" smtClean="0"/>
              <a:t>10/03/2022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377650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10/03/2022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145789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10/03/2022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053992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10/03/2022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93806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10/03/2022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515187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10/03/2022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90638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10/03/2022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430230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4EBC541-E1E4-46F0-B6E0-A9FD71F2F171}" type="datetimeFigureOut">
              <a:rPr lang="en-AU" smtClean="0"/>
              <a:t>10/03/2022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77392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04EBC541-E1E4-46F0-B6E0-A9FD71F2F171}" type="datetimeFigureOut">
              <a:rPr lang="en-AU" smtClean="0"/>
              <a:t>10/03/2022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589351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04EBC541-E1E4-46F0-B6E0-A9FD71F2F171}" type="datetimeFigureOut">
              <a:rPr lang="en-AU" smtClean="0"/>
              <a:t>10/03/2022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318456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04EBC541-E1E4-46F0-B6E0-A9FD71F2F171}" type="datetimeFigureOut">
              <a:rPr lang="en-AU" smtClean="0"/>
              <a:t>10/03/2022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4197532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EBC541-E1E4-46F0-B6E0-A9FD71F2F171}" type="datetimeFigureOut">
              <a:rPr lang="en-AU" smtClean="0"/>
              <a:t>10/03/2022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114883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10/03/2022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146108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10/03/2022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21566055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10/03/2022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141002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10/03/2022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52913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F4103-AC13-4E81-8F4A-7126A09DB8C9}" type="datetimeFigureOut">
              <a:rPr lang="en-AU" smtClean="0"/>
              <a:t>10/03/2022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F673CC-80CF-4E11-86F4-AB5A15E3C01E}" type="slidenum">
              <a:rPr lang="en-AU" smtClean="0"/>
              <a:t>‹#›</a:t>
            </a:fld>
            <a:endParaRPr lang="en-AU"/>
          </a:p>
        </p:txBody>
      </p:sp>
    </p:spTree>
    <p:extLst>
      <p:ext uri="{BB962C8B-B14F-4D97-AF65-F5344CB8AC3E}">
        <p14:creationId xmlns:p14="http://schemas.microsoft.com/office/powerpoint/2010/main" val="36186949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EBC541-E1E4-46F0-B6E0-A9FD71F2F171}" type="datetimeFigureOut">
              <a:rPr lang="en-AU" smtClean="0"/>
              <a:t>10/03/2022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24464C-AF91-46F0-8BFB-6ED76731428E}" type="slidenum">
              <a:rPr lang="en-AU" smtClean="0"/>
              <a:t>‹#›</a:t>
            </a:fld>
            <a:endParaRPr lang="en-AU"/>
          </a:p>
        </p:txBody>
      </p:sp>
    </p:spTree>
    <p:extLst>
      <p:ext uri="{BB962C8B-B14F-4D97-AF65-F5344CB8AC3E}">
        <p14:creationId xmlns:p14="http://schemas.microsoft.com/office/powerpoint/2010/main" val="1359971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AU" sz="8000" b="1" dirty="0" smtClean="0"/>
              <a:t>Respiratory System </a:t>
            </a:r>
            <a:endParaRPr lang="en-AU" sz="8000" b="1" dirty="0"/>
          </a:p>
        </p:txBody>
      </p:sp>
      <p:sp>
        <p:nvSpPr>
          <p:cNvPr id="3" name="Subtitle 2"/>
          <p:cNvSpPr>
            <a:spLocks noGrp="1"/>
          </p:cNvSpPr>
          <p:nvPr>
            <p:ph type="subTitle" idx="1"/>
          </p:nvPr>
        </p:nvSpPr>
        <p:spPr/>
        <p:txBody>
          <a:bodyPr/>
          <a:lstStyle/>
          <a:p>
            <a:r>
              <a:rPr lang="en-AU" dirty="0" smtClean="0"/>
              <a:t>Year 11 Human Biology </a:t>
            </a:r>
          </a:p>
          <a:p>
            <a:r>
              <a:rPr lang="en-AU" dirty="0" smtClean="0"/>
              <a:t>ATAR </a:t>
            </a:r>
          </a:p>
          <a:p>
            <a:r>
              <a:rPr lang="en-AU" dirty="0" smtClean="0"/>
              <a:t>PowerPoint </a:t>
            </a:r>
            <a:r>
              <a:rPr lang="en-AU" dirty="0"/>
              <a:t>9</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492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SCSA Syllabus Reference </a:t>
            </a:r>
            <a:endParaRPr lang="en-AU" sz="6000" dirty="0"/>
          </a:p>
        </p:txBody>
      </p:sp>
      <p:sp>
        <p:nvSpPr>
          <p:cNvPr id="3" name="Content Placeholder 2"/>
          <p:cNvSpPr>
            <a:spLocks noGrp="1"/>
          </p:cNvSpPr>
          <p:nvPr>
            <p:ph idx="1"/>
          </p:nvPr>
        </p:nvSpPr>
        <p:spPr/>
        <p:txBody>
          <a:bodyPr/>
          <a:lstStyle/>
          <a:p>
            <a:pPr lvl="0"/>
            <a:r>
              <a:rPr lang="en-AU" dirty="0"/>
              <a:t>the exchange of gases between the internal and external environments of the body is facilitated by the structure and function of the respiratory system at the cell, tissue and organ </a:t>
            </a:r>
            <a:r>
              <a:rPr lang="en-AU" dirty="0" smtClean="0"/>
              <a:t>levels</a:t>
            </a:r>
          </a:p>
          <a:p>
            <a:pPr lvl="0"/>
            <a:endParaRPr lang="en-AU" dirty="0"/>
          </a:p>
          <a:p>
            <a:pPr lvl="0"/>
            <a:r>
              <a:rPr lang="en-AU" dirty="0"/>
              <a:t>the efficient exchange of gases in the lungs is maintained by the actions of breathing, blood flow and the structure of the alveoli</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9133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Lesson Intention </a:t>
            </a:r>
            <a:endParaRPr lang="en-AU" sz="6000" b="1" dirty="0"/>
          </a:p>
        </p:txBody>
      </p:sp>
      <p:sp>
        <p:nvSpPr>
          <p:cNvPr id="3" name="Content Placeholder 2"/>
          <p:cNvSpPr>
            <a:spLocks noGrp="1"/>
          </p:cNvSpPr>
          <p:nvPr>
            <p:ph idx="1"/>
          </p:nvPr>
        </p:nvSpPr>
        <p:spPr/>
        <p:txBody>
          <a:bodyPr/>
          <a:lstStyle/>
          <a:p>
            <a:r>
              <a:rPr lang="en-AU" dirty="0"/>
              <a:t>To explore the structure and function of the respiratory system </a:t>
            </a:r>
          </a:p>
          <a:p>
            <a:endParaRPr lang="en-AU" dirty="0"/>
          </a:p>
          <a:p>
            <a:r>
              <a:rPr lang="en-AU" dirty="0"/>
              <a:t>To explore the mechanics of breathing and how the lungs are suited for gas exchange </a:t>
            </a:r>
            <a:endParaRPr lang="en-AU" dirty="0" smtClean="0"/>
          </a:p>
          <a:p>
            <a:endParaRPr lang="en-AU" dirty="0"/>
          </a:p>
          <a:p>
            <a:r>
              <a:rPr lang="en-AU" dirty="0"/>
              <a:t>To explore the process of gas exchange </a:t>
            </a:r>
            <a:endParaRPr lang="en-AU" dirty="0" smtClean="0"/>
          </a:p>
          <a:p>
            <a:endParaRPr lang="en-AU" dirty="0"/>
          </a:p>
          <a:p>
            <a:r>
              <a:rPr lang="en-AU" dirty="0"/>
              <a:t>To discuss the effects of lifestyle and environment on gas exchange </a:t>
            </a:r>
          </a:p>
          <a:p>
            <a:endParaRPr lang="en-AU" dirty="0"/>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3027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6428" y="69669"/>
            <a:ext cx="10515600" cy="1325563"/>
          </a:xfrm>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a:xfrm>
            <a:off x="350520" y="1172481"/>
            <a:ext cx="11632474" cy="5541827"/>
          </a:xfrm>
        </p:spPr>
        <p:txBody>
          <a:bodyPr>
            <a:normAutofit lnSpcReduction="10000"/>
          </a:bodyPr>
          <a:lstStyle/>
          <a:p>
            <a:r>
              <a:rPr lang="en-AU" dirty="0" smtClean="0"/>
              <a:t>describe </a:t>
            </a:r>
            <a:r>
              <a:rPr lang="en-AU" dirty="0"/>
              <a:t>the structure of the respiratory system components </a:t>
            </a:r>
          </a:p>
          <a:p>
            <a:r>
              <a:rPr lang="en-AU" dirty="0" smtClean="0"/>
              <a:t>describe </a:t>
            </a:r>
            <a:r>
              <a:rPr lang="en-AU" dirty="0"/>
              <a:t>the function of the respiratory system components </a:t>
            </a:r>
          </a:p>
          <a:p>
            <a:r>
              <a:rPr lang="en-AU" dirty="0" smtClean="0"/>
              <a:t>distinguish </a:t>
            </a:r>
            <a:r>
              <a:rPr lang="en-AU" dirty="0"/>
              <a:t>between inspiration and expiration </a:t>
            </a:r>
          </a:p>
          <a:p>
            <a:r>
              <a:rPr lang="en-AU" dirty="0" smtClean="0"/>
              <a:t>draw </a:t>
            </a:r>
            <a:r>
              <a:rPr lang="en-AU" dirty="0"/>
              <a:t>a labelled, annotated diagram of the sequence of events during inspiration and expiration (</a:t>
            </a:r>
            <a:r>
              <a:rPr lang="en-AU" dirty="0" err="1"/>
              <a:t>Pg</a:t>
            </a:r>
            <a:r>
              <a:rPr lang="en-AU" dirty="0"/>
              <a:t> 90, Fig 4.5) </a:t>
            </a:r>
          </a:p>
          <a:p>
            <a:r>
              <a:rPr lang="en-AU" dirty="0" smtClean="0"/>
              <a:t>explain </a:t>
            </a:r>
            <a:r>
              <a:rPr lang="en-AU" dirty="0"/>
              <a:t>how the structure of the lungs is suited to gas exchange </a:t>
            </a:r>
          </a:p>
          <a:p>
            <a:r>
              <a:rPr lang="en-AU" dirty="0" smtClean="0"/>
              <a:t>explain </a:t>
            </a:r>
            <a:r>
              <a:rPr lang="en-AU" dirty="0"/>
              <a:t>the process of gas exchange </a:t>
            </a:r>
          </a:p>
          <a:p>
            <a:r>
              <a:rPr lang="en-AU" dirty="0" smtClean="0"/>
              <a:t>draw </a:t>
            </a:r>
            <a:r>
              <a:rPr lang="en-AU" dirty="0"/>
              <a:t>a labelled annotated diagram showing the process of gas exchange in an alveoli (</a:t>
            </a:r>
            <a:r>
              <a:rPr lang="en-AU" dirty="0" err="1"/>
              <a:t>Pg</a:t>
            </a:r>
            <a:r>
              <a:rPr lang="en-AU" dirty="0"/>
              <a:t> 92, Fig 4.7) </a:t>
            </a:r>
          </a:p>
          <a:p>
            <a:r>
              <a:rPr lang="en-AU" dirty="0" smtClean="0"/>
              <a:t>identify </a:t>
            </a:r>
            <a:r>
              <a:rPr lang="en-AU" dirty="0"/>
              <a:t>short and long term consequences from lifestyle choices and environmental exposure </a:t>
            </a:r>
          </a:p>
          <a:p>
            <a:r>
              <a:rPr lang="en-AU" dirty="0" smtClean="0"/>
              <a:t>describe </a:t>
            </a:r>
            <a:r>
              <a:rPr lang="en-AU" dirty="0"/>
              <a:t>the effect these examples have on the respiratory system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3481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816428" y="1607911"/>
            <a:ext cx="10515600" cy="4351338"/>
          </a:xfrm>
        </p:spPr>
        <p:txBody>
          <a:bodyPr/>
          <a:lstStyle/>
          <a:p>
            <a:r>
              <a:rPr lang="en-AU" b="1" dirty="0"/>
              <a:t>Epiglottis</a:t>
            </a:r>
            <a:r>
              <a:rPr lang="en-AU" dirty="0"/>
              <a:t>: a cartilage flap at the base of the pharynx that covers the trachea during swallowing. </a:t>
            </a:r>
            <a:endParaRPr lang="en-AU" dirty="0" smtClean="0"/>
          </a:p>
          <a:p>
            <a:endParaRPr lang="en-AU" dirty="0"/>
          </a:p>
          <a:p>
            <a:r>
              <a:rPr lang="en-AU" b="1" dirty="0"/>
              <a:t>Pharynx</a:t>
            </a:r>
            <a:r>
              <a:rPr lang="en-AU" dirty="0"/>
              <a:t>: the throat; the pharynx joins the mouth cavity to the oesophagus and larynx. </a:t>
            </a:r>
            <a:endParaRPr lang="en-AU" dirty="0" smtClean="0"/>
          </a:p>
          <a:p>
            <a:endParaRPr lang="en-AU" dirty="0"/>
          </a:p>
          <a:p>
            <a:r>
              <a:rPr lang="en-AU" b="1" dirty="0"/>
              <a:t>Larynx</a:t>
            </a:r>
            <a:r>
              <a:rPr lang="en-AU" dirty="0"/>
              <a:t>: the structure at the top of the trachea that contains the vocal cords.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196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Trachea</a:t>
            </a:r>
            <a:r>
              <a:rPr lang="en-AU" dirty="0"/>
              <a:t>: the tube that takes air from the throat to the lungs. </a:t>
            </a:r>
            <a:endParaRPr lang="en-AU" dirty="0" smtClean="0"/>
          </a:p>
          <a:p>
            <a:endParaRPr lang="en-AU" dirty="0"/>
          </a:p>
          <a:p>
            <a:r>
              <a:rPr lang="en-AU" b="1" dirty="0"/>
              <a:t>Bronchi</a:t>
            </a:r>
            <a:r>
              <a:rPr lang="en-AU" dirty="0"/>
              <a:t>: two main airways. </a:t>
            </a:r>
            <a:endParaRPr lang="en-AU" dirty="0" smtClean="0"/>
          </a:p>
          <a:p>
            <a:endParaRPr lang="en-AU" dirty="0"/>
          </a:p>
          <a:p>
            <a:r>
              <a:rPr lang="en-AU" b="1" dirty="0"/>
              <a:t>Bronchiole</a:t>
            </a:r>
            <a:r>
              <a:rPr lang="en-AU" dirty="0"/>
              <a:t>: a very small air tube in the lung </a:t>
            </a:r>
            <a:endParaRPr lang="en-AU" dirty="0" smtClean="0"/>
          </a:p>
          <a:p>
            <a:endParaRPr lang="en-AU" dirty="0"/>
          </a:p>
          <a:p>
            <a:r>
              <a:rPr lang="en-AU" b="1" dirty="0"/>
              <a:t>Alveoli</a:t>
            </a:r>
            <a:r>
              <a:rPr lang="en-AU" dirty="0"/>
              <a:t>: air sacs in the lungs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6287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smtClean="0"/>
              <a:t>Diaphragm</a:t>
            </a:r>
            <a:r>
              <a:rPr lang="en-AU" dirty="0"/>
              <a:t>: a muscle that separates the chest from the abdomen</a:t>
            </a:r>
            <a:r>
              <a:rPr lang="en-AU" dirty="0" smtClean="0"/>
              <a:t>.</a:t>
            </a:r>
          </a:p>
          <a:p>
            <a:endParaRPr lang="en-AU" dirty="0"/>
          </a:p>
          <a:p>
            <a:r>
              <a:rPr lang="en-AU" b="1" dirty="0" smtClean="0"/>
              <a:t>Inspiration</a:t>
            </a:r>
            <a:r>
              <a:rPr lang="en-AU" dirty="0"/>
              <a:t>: breathing in </a:t>
            </a:r>
            <a:endParaRPr lang="en-AU" dirty="0" smtClean="0"/>
          </a:p>
          <a:p>
            <a:endParaRPr lang="en-AU" dirty="0"/>
          </a:p>
          <a:p>
            <a:r>
              <a:rPr lang="en-AU" b="1" dirty="0"/>
              <a:t>Expiration</a:t>
            </a:r>
            <a:r>
              <a:rPr lang="en-AU" dirty="0"/>
              <a:t>: breathing out </a:t>
            </a:r>
            <a:endParaRPr lang="en-AU" dirty="0" smtClean="0"/>
          </a:p>
          <a:p>
            <a:endParaRPr lang="en-AU" dirty="0"/>
          </a:p>
          <a:p>
            <a:r>
              <a:rPr lang="en-AU" b="1" dirty="0"/>
              <a:t>Pleural fluid</a:t>
            </a:r>
            <a:r>
              <a:rPr lang="en-AU" dirty="0"/>
              <a:t>: a thin layer of fluid within the pleura that allow the lungs to move during breathing.</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5695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6428" y="160426"/>
            <a:ext cx="10515600" cy="1325563"/>
          </a:xfrm>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611777" y="1372777"/>
            <a:ext cx="11170920" cy="5167359"/>
          </a:xfrm>
        </p:spPr>
        <p:txBody>
          <a:bodyPr>
            <a:normAutofit/>
          </a:bodyPr>
          <a:lstStyle/>
          <a:p>
            <a:r>
              <a:rPr lang="en-AU" b="1" dirty="0"/>
              <a:t>Pulmonary arteries</a:t>
            </a:r>
            <a:r>
              <a:rPr lang="en-AU" dirty="0"/>
              <a:t>: the artery that takes blood from the heart to the lungs </a:t>
            </a:r>
            <a:endParaRPr lang="en-AU" dirty="0" smtClean="0"/>
          </a:p>
          <a:p>
            <a:endParaRPr lang="en-AU" dirty="0"/>
          </a:p>
          <a:p>
            <a:r>
              <a:rPr lang="en-AU" b="1" dirty="0" smtClean="0"/>
              <a:t>Concentration gradient</a:t>
            </a:r>
            <a:r>
              <a:rPr lang="en-AU" dirty="0" smtClean="0"/>
              <a:t>: </a:t>
            </a:r>
            <a:r>
              <a:rPr lang="en-AU" dirty="0"/>
              <a:t>a difference in concentration of a solution, often between the inside and outside of a cell. </a:t>
            </a:r>
            <a:endParaRPr lang="en-AU" dirty="0" smtClean="0"/>
          </a:p>
          <a:p>
            <a:endParaRPr lang="en-AU" dirty="0"/>
          </a:p>
          <a:p>
            <a:r>
              <a:rPr lang="en-AU" b="1" dirty="0"/>
              <a:t>Emphysema</a:t>
            </a:r>
            <a:r>
              <a:rPr lang="en-AU" dirty="0"/>
              <a:t>: a disease of the lungs that damages the alveoli; caused by long-term exposure to irritants. </a:t>
            </a:r>
            <a:endParaRPr lang="en-AU" dirty="0" smtClean="0"/>
          </a:p>
          <a:p>
            <a:endParaRPr lang="en-AU" dirty="0"/>
          </a:p>
          <a:p>
            <a:r>
              <a:rPr lang="en-AU" b="1" dirty="0"/>
              <a:t>Pneumonia</a:t>
            </a:r>
            <a:r>
              <a:rPr lang="en-AU" dirty="0"/>
              <a:t>: a lung infection that causes fluid and mucus to build up in the alveoli, causing difficulty breathing.</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8817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Tuberculosis</a:t>
            </a:r>
            <a:r>
              <a:rPr lang="en-AU" dirty="0"/>
              <a:t>: a lung infection caused by the bacterium, </a:t>
            </a:r>
            <a:r>
              <a:rPr lang="en-AU" i="1" dirty="0"/>
              <a:t>Mycobacterium tuberculosis </a:t>
            </a:r>
            <a:endParaRPr lang="en-AU" i="1" dirty="0" smtClean="0"/>
          </a:p>
          <a:p>
            <a:endParaRPr lang="en-AU" dirty="0"/>
          </a:p>
          <a:p>
            <a:endParaRPr lang="en-AU" dirty="0"/>
          </a:p>
          <a:p>
            <a:r>
              <a:rPr lang="en-AU" b="1" dirty="0"/>
              <a:t>Asthma</a:t>
            </a:r>
            <a:r>
              <a:rPr lang="en-AU" dirty="0"/>
              <a:t>: an allergic condition that causes narrowing of the airways and difficulty breathing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8558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Nose </a:t>
            </a:r>
            <a:endParaRPr lang="en-AU" sz="6000" b="1" dirty="0"/>
          </a:p>
        </p:txBody>
      </p:sp>
      <p:sp>
        <p:nvSpPr>
          <p:cNvPr id="3" name="Content Placeholder 2"/>
          <p:cNvSpPr>
            <a:spLocks noGrp="1"/>
          </p:cNvSpPr>
          <p:nvPr>
            <p:ph idx="1"/>
          </p:nvPr>
        </p:nvSpPr>
        <p:spPr/>
        <p:txBody>
          <a:bodyPr/>
          <a:lstStyle/>
          <a:p>
            <a:r>
              <a:rPr lang="en-AU" dirty="0" smtClean="0"/>
              <a:t>Air enters through the nose </a:t>
            </a:r>
          </a:p>
          <a:p>
            <a:endParaRPr lang="en-AU" dirty="0"/>
          </a:p>
          <a:p>
            <a:r>
              <a:rPr lang="en-AU" dirty="0" smtClean="0"/>
              <a:t>The lining of the nose and nasal cavity is convoluted and lined by mucous membranes. As air passes over the membranes, it is warmed and humidified.</a:t>
            </a:r>
          </a:p>
          <a:p>
            <a:endParaRPr lang="en-AU" dirty="0"/>
          </a:p>
          <a:p>
            <a:r>
              <a:rPr lang="en-AU" dirty="0" smtClean="0"/>
              <a:t>There are also hairs and mucous lining the nose. These trap debris and foreign particles, preventing it from reaching the lungs.  </a:t>
            </a:r>
          </a:p>
          <a:p>
            <a:pPr marL="0" indent="0">
              <a:buNone/>
            </a:pP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5031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Pharynx</a:t>
            </a:r>
            <a:r>
              <a:rPr lang="en-AU" sz="6000" dirty="0" smtClean="0"/>
              <a:t> </a:t>
            </a:r>
            <a:endParaRPr lang="en-AU" sz="6000" dirty="0"/>
          </a:p>
        </p:txBody>
      </p:sp>
      <p:sp>
        <p:nvSpPr>
          <p:cNvPr id="3" name="Content Placeholder 2"/>
          <p:cNvSpPr>
            <a:spLocks noGrp="1"/>
          </p:cNvSpPr>
          <p:nvPr>
            <p:ph idx="1"/>
          </p:nvPr>
        </p:nvSpPr>
        <p:spPr/>
        <p:txBody>
          <a:bodyPr/>
          <a:lstStyle/>
          <a:p>
            <a:r>
              <a:rPr lang="en-AU" dirty="0" smtClean="0"/>
              <a:t>Pharynx aka the throat extends from the nasal cavity to the top of the trachea and oesophagus. </a:t>
            </a:r>
          </a:p>
          <a:p>
            <a:endParaRPr lang="en-AU" dirty="0"/>
          </a:p>
          <a:p>
            <a:r>
              <a:rPr lang="en-AU" dirty="0" smtClean="0"/>
              <a:t>Air travels through it </a:t>
            </a:r>
          </a:p>
          <a:p>
            <a:endParaRPr lang="en-AU" dirty="0"/>
          </a:p>
          <a:p>
            <a:endParaRPr lang="en-AU" dirty="0" smtClean="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rotWithShape="1">
          <a:blip r:embed="rId2"/>
          <a:srcRect l="3429" t="509" r="6189" b="48334"/>
          <a:stretch/>
        </p:blipFill>
        <p:spPr>
          <a:xfrm>
            <a:off x="4458787" y="3675017"/>
            <a:ext cx="7445829" cy="2950086"/>
          </a:xfrm>
          <a:prstGeom prst="rect">
            <a:avLst/>
          </a:prstGeom>
        </p:spPr>
      </p:pic>
    </p:spTree>
    <p:extLst>
      <p:ext uri="{BB962C8B-B14F-4D97-AF65-F5344CB8AC3E}">
        <p14:creationId xmlns:p14="http://schemas.microsoft.com/office/powerpoint/2010/main" val="2503926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Trachea</a:t>
            </a:r>
            <a:r>
              <a:rPr lang="en-AU" sz="6000" dirty="0" smtClean="0"/>
              <a:t> </a:t>
            </a:r>
            <a:endParaRPr lang="en-AU" sz="6000" dirty="0"/>
          </a:p>
        </p:txBody>
      </p:sp>
      <p:sp>
        <p:nvSpPr>
          <p:cNvPr id="3" name="Content Placeholder 2"/>
          <p:cNvSpPr>
            <a:spLocks noGrp="1"/>
          </p:cNvSpPr>
          <p:nvPr>
            <p:ph idx="1"/>
          </p:nvPr>
        </p:nvSpPr>
        <p:spPr/>
        <p:txBody>
          <a:bodyPr/>
          <a:lstStyle/>
          <a:p>
            <a:r>
              <a:rPr lang="en-AU" dirty="0" smtClean="0"/>
              <a:t>Aka the windpipe because it carries the air into and out of the lungs</a:t>
            </a:r>
          </a:p>
          <a:p>
            <a:endParaRPr lang="en-AU" dirty="0"/>
          </a:p>
          <a:p>
            <a:r>
              <a:rPr lang="en-AU" dirty="0" smtClean="0"/>
              <a:t>Made up of C-shaped cartilage rings that hold the structure open. This ensures air can always pass through</a:t>
            </a:r>
          </a:p>
          <a:p>
            <a:endParaRPr lang="en-AU" dirty="0"/>
          </a:p>
          <a:p>
            <a:r>
              <a:rPr lang="en-AU" dirty="0" smtClean="0"/>
              <a:t>The epithelial lining of the trachea produces mucus, which is able to trap dust and debris, preventing entry into the lungs.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4147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Bronchi </a:t>
            </a:r>
            <a:endParaRPr lang="en-AU" sz="6000" b="1" dirty="0"/>
          </a:p>
        </p:txBody>
      </p:sp>
      <p:sp>
        <p:nvSpPr>
          <p:cNvPr id="3" name="Content Placeholder 2"/>
          <p:cNvSpPr>
            <a:spLocks noGrp="1"/>
          </p:cNvSpPr>
          <p:nvPr>
            <p:ph idx="1"/>
          </p:nvPr>
        </p:nvSpPr>
        <p:spPr>
          <a:xfrm>
            <a:off x="838200" y="1445623"/>
            <a:ext cx="10515600" cy="4731340"/>
          </a:xfrm>
        </p:spPr>
        <p:txBody>
          <a:bodyPr/>
          <a:lstStyle/>
          <a:p>
            <a:r>
              <a:rPr lang="en-AU" dirty="0" smtClean="0"/>
              <a:t>At the end of the trachea, the structure splits into two primary bronchi, one for each lung. These then split further into secondary bronchi which take the air into each lobe of the lung. The secondary bronchi continue to divide, forming tertiary bronchi. </a:t>
            </a:r>
          </a:p>
          <a:p>
            <a:endParaRPr lang="en-AU" dirty="0"/>
          </a:p>
          <a:p>
            <a:r>
              <a:rPr lang="en-AU" dirty="0" smtClean="0"/>
              <a:t>The structure is very similar to the trachea. As the bronchi get smaller, the cartilage is spread out, with smooth muscle and elastin forming more of the structure. </a:t>
            </a:r>
          </a:p>
          <a:p>
            <a:endParaRPr lang="en-AU" dirty="0" smtClean="0"/>
          </a:p>
          <a:p>
            <a:r>
              <a:rPr lang="en-AU" dirty="0" smtClean="0"/>
              <a:t>Cilia and mucus work together to trap and remove particles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1530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902949" y="204526"/>
            <a:ext cx="8342557" cy="6453301"/>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3162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146" name="Picture 2" descr="Bronchus High Resolution Stock Photography and Images - Alamy"/>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8963"/>
          <a:stretch/>
        </p:blipFill>
        <p:spPr bwMode="auto">
          <a:xfrm>
            <a:off x="2019341" y="435428"/>
            <a:ext cx="8109774" cy="5991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7645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Bronchioles </a:t>
            </a:r>
            <a:endParaRPr lang="en-AU" sz="6000" b="1" dirty="0"/>
          </a:p>
        </p:txBody>
      </p:sp>
      <p:sp>
        <p:nvSpPr>
          <p:cNvPr id="3" name="Content Placeholder 2"/>
          <p:cNvSpPr>
            <a:spLocks noGrp="1"/>
          </p:cNvSpPr>
          <p:nvPr>
            <p:ph idx="1"/>
          </p:nvPr>
        </p:nvSpPr>
        <p:spPr>
          <a:xfrm>
            <a:off x="838200" y="1416323"/>
            <a:ext cx="10515600" cy="5097688"/>
          </a:xfrm>
        </p:spPr>
        <p:txBody>
          <a:bodyPr/>
          <a:lstStyle/>
          <a:p>
            <a:r>
              <a:rPr lang="en-AU" dirty="0" smtClean="0"/>
              <a:t>When the tertiary bronchi divide, they form smaller airways called bronchioles, which continue to split until they end in millions of terminal bronchioles. </a:t>
            </a:r>
          </a:p>
          <a:p>
            <a:endParaRPr lang="en-AU" dirty="0"/>
          </a:p>
          <a:p>
            <a:r>
              <a:rPr lang="en-AU" dirty="0" smtClean="0"/>
              <a:t>Unlike bronchi, bronchioles do not contain cartilage; instead, they are made of smooth muscle and elastin. This allows the bronchioles to control the flow of air into the lungs, expanding when the body needs more oxygen. </a:t>
            </a:r>
          </a:p>
          <a:p>
            <a:endParaRPr lang="en-AU" dirty="0" smtClean="0"/>
          </a:p>
          <a:p>
            <a:r>
              <a:rPr lang="en-AU" dirty="0" smtClean="0"/>
              <a:t>Cilia and mucus are also present in the bronchioles, protecting the lungs from contaminants. </a:t>
            </a:r>
            <a:endParaRPr lang="en-AU" dirty="0"/>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3299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Lungs </a:t>
            </a:r>
            <a:endParaRPr lang="en-AU" sz="6000" b="1" dirty="0"/>
          </a:p>
        </p:txBody>
      </p:sp>
      <p:sp>
        <p:nvSpPr>
          <p:cNvPr id="3" name="Content Placeholder 2"/>
          <p:cNvSpPr>
            <a:spLocks noGrp="1"/>
          </p:cNvSpPr>
          <p:nvPr>
            <p:ph idx="1"/>
          </p:nvPr>
        </p:nvSpPr>
        <p:spPr/>
        <p:txBody>
          <a:bodyPr/>
          <a:lstStyle/>
          <a:p>
            <a:r>
              <a:rPr lang="en-AU" dirty="0" smtClean="0"/>
              <a:t>The two lungs take up most of the chest cavity, except for the space between them occupied by the heart and blood vessels. </a:t>
            </a:r>
          </a:p>
          <a:p>
            <a:endParaRPr lang="en-AU" dirty="0"/>
          </a:p>
          <a:p>
            <a:r>
              <a:rPr lang="en-AU" dirty="0" smtClean="0"/>
              <a:t>Each lung is divided into lobes. The left lung has 2 lobes, the right has 3 lobes. </a:t>
            </a:r>
          </a:p>
          <a:p>
            <a:endParaRPr lang="en-AU" dirty="0"/>
          </a:p>
          <a:p>
            <a:r>
              <a:rPr lang="en-AU" dirty="0" smtClean="0"/>
              <a:t>A membrane called the pleura covers the surface of the lungs and lines the inside of the chest. Between these two layers of membrane is a thin layer of pleural fluid.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5354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Alveoli  </a:t>
            </a:r>
            <a:endParaRPr lang="en-AU" sz="6000" b="1" dirty="0"/>
          </a:p>
        </p:txBody>
      </p:sp>
      <p:sp>
        <p:nvSpPr>
          <p:cNvPr id="3" name="Content Placeholder 2"/>
          <p:cNvSpPr>
            <a:spLocks noGrp="1"/>
          </p:cNvSpPr>
          <p:nvPr>
            <p:ph idx="1"/>
          </p:nvPr>
        </p:nvSpPr>
        <p:spPr/>
        <p:txBody>
          <a:bodyPr/>
          <a:lstStyle/>
          <a:p>
            <a:r>
              <a:rPr lang="en-AU" dirty="0" smtClean="0"/>
              <a:t>Alveoli are tiny air sacs, each with a wall only one cell thick and surrounded by a network of blood capillaries. </a:t>
            </a:r>
          </a:p>
          <a:p>
            <a:endParaRPr lang="en-AU" dirty="0"/>
          </a:p>
          <a:p>
            <a:r>
              <a:rPr lang="en-AU" dirty="0" smtClean="0"/>
              <a:t>This is where gases move between the blood in the capillaries and the air in the alveoli. It is the location of gas exchange, allowing oxygen to pass from the airways into the blood, and carbon dioxide to pass from the blood into the airways.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6711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199433" y="214539"/>
            <a:ext cx="7388704" cy="6444362"/>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42135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Diaphragm </a:t>
            </a:r>
            <a:endParaRPr lang="en-AU" sz="6000" b="1" dirty="0"/>
          </a:p>
        </p:txBody>
      </p:sp>
      <p:sp>
        <p:nvSpPr>
          <p:cNvPr id="3" name="Content Placeholder 2"/>
          <p:cNvSpPr>
            <a:spLocks noGrp="1"/>
          </p:cNvSpPr>
          <p:nvPr>
            <p:ph idx="1"/>
          </p:nvPr>
        </p:nvSpPr>
        <p:spPr>
          <a:xfrm>
            <a:off x="838200" y="1825625"/>
            <a:ext cx="5310051" cy="4351338"/>
          </a:xfrm>
        </p:spPr>
        <p:txBody>
          <a:bodyPr/>
          <a:lstStyle/>
          <a:p>
            <a:r>
              <a:rPr lang="en-AU" dirty="0" smtClean="0"/>
              <a:t>A muscle that separates the chest from the abdomen. It contracts and flattens downwards, thereby increasing the volume of the chest cavity, and lungs during breathing in.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diaphragm | Definition, Function, &amp;amp; Location | Britannic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69652" y="1803400"/>
            <a:ext cx="4696443" cy="4373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21063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Ribs </a:t>
            </a:r>
            <a:endParaRPr lang="en-AU" sz="6000" b="1" dirty="0"/>
          </a:p>
        </p:txBody>
      </p:sp>
      <p:sp>
        <p:nvSpPr>
          <p:cNvPr id="3" name="Content Placeholder 2"/>
          <p:cNvSpPr>
            <a:spLocks noGrp="1"/>
          </p:cNvSpPr>
          <p:nvPr>
            <p:ph idx="1"/>
          </p:nvPr>
        </p:nvSpPr>
        <p:spPr/>
        <p:txBody>
          <a:bodyPr/>
          <a:lstStyle/>
          <a:p>
            <a:r>
              <a:rPr lang="en-AU" dirty="0" smtClean="0"/>
              <a:t>The framework that encompasses the chest. </a:t>
            </a:r>
          </a:p>
          <a:p>
            <a:endParaRPr lang="en-AU" dirty="0"/>
          </a:p>
          <a:p>
            <a:r>
              <a:rPr lang="en-AU" dirty="0" smtClean="0"/>
              <a:t>Protects the lungs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14195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Intercostal muscles </a:t>
            </a:r>
            <a:endParaRPr lang="en-AU" sz="6000" b="1" dirty="0"/>
          </a:p>
        </p:txBody>
      </p:sp>
      <p:sp>
        <p:nvSpPr>
          <p:cNvPr id="3" name="Content Placeholder 2"/>
          <p:cNvSpPr>
            <a:spLocks noGrp="1"/>
          </p:cNvSpPr>
          <p:nvPr>
            <p:ph idx="1"/>
          </p:nvPr>
        </p:nvSpPr>
        <p:spPr/>
        <p:txBody>
          <a:bodyPr/>
          <a:lstStyle/>
          <a:p>
            <a:r>
              <a:rPr lang="en-AU" dirty="0" smtClean="0"/>
              <a:t>Muscles between the ribs </a:t>
            </a:r>
          </a:p>
          <a:p>
            <a:endParaRPr lang="en-AU" dirty="0"/>
          </a:p>
          <a:p>
            <a:r>
              <a:rPr lang="en-AU" dirty="0" smtClean="0"/>
              <a:t>They move the rib cage upwards and outwards to increase the volume of the chest cavity and thus the lungs when breathing in.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8191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4954" y="164827"/>
            <a:ext cx="10515600" cy="1325563"/>
          </a:xfrm>
        </p:spPr>
        <p:txBody>
          <a:bodyPr>
            <a:normAutofit/>
          </a:bodyPr>
          <a:lstStyle/>
          <a:p>
            <a:r>
              <a:rPr lang="en-AU" sz="6000" b="1" dirty="0" smtClean="0"/>
              <a:t>Mechanics of breathing </a:t>
            </a:r>
            <a:endParaRPr lang="en-AU" sz="6000" b="1" dirty="0"/>
          </a:p>
        </p:txBody>
      </p:sp>
      <p:sp>
        <p:nvSpPr>
          <p:cNvPr id="3" name="Content Placeholder 2"/>
          <p:cNvSpPr>
            <a:spLocks noGrp="1"/>
          </p:cNvSpPr>
          <p:nvPr>
            <p:ph idx="1"/>
          </p:nvPr>
        </p:nvSpPr>
        <p:spPr>
          <a:xfrm>
            <a:off x="816428" y="1255507"/>
            <a:ext cx="10515600" cy="5458801"/>
          </a:xfrm>
        </p:spPr>
        <p:txBody>
          <a:bodyPr/>
          <a:lstStyle/>
          <a:p>
            <a:r>
              <a:rPr lang="en-AU" sz="3200" b="1" u="sng" dirty="0" smtClean="0"/>
              <a:t>INSPIRATION: </a:t>
            </a:r>
          </a:p>
          <a:p>
            <a:r>
              <a:rPr lang="en-AU" dirty="0" smtClean="0"/>
              <a:t>The process of taking air into the lungs </a:t>
            </a:r>
          </a:p>
          <a:p>
            <a:r>
              <a:rPr lang="en-AU" dirty="0" smtClean="0"/>
              <a:t>For air to flow into the lungs, the pressure of air in the lungs must be less than the atmospheric pressure outside the body. </a:t>
            </a:r>
          </a:p>
          <a:p>
            <a:r>
              <a:rPr lang="en-AU" dirty="0" smtClean="0"/>
              <a:t>Decreasing the pressure of airs in the lungs is achieved by increasing the volume of lungs </a:t>
            </a:r>
          </a:p>
          <a:p>
            <a:r>
              <a:rPr lang="en-AU" dirty="0" smtClean="0"/>
              <a:t>To increase the volume of the lungs, the diaphragm and external intercostal muscles contract. </a:t>
            </a:r>
          </a:p>
          <a:p>
            <a:r>
              <a:rPr lang="en-AU" dirty="0" smtClean="0"/>
              <a:t>The diaphragm becomes flatter and the rib cage moves upwards and outwards, lungs expand.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8279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Inspiration                            </a:t>
            </a:r>
            <a:r>
              <a:rPr lang="en-AU" b="1" dirty="0" smtClean="0"/>
              <a:t>Draw it </a:t>
            </a:r>
            <a:r>
              <a:rPr lang="en-AU" b="1" dirty="0" smtClean="0">
                <a:sym typeface="Wingdings" panose="05000000000000000000" pitchFamily="2" charset="2"/>
              </a:rPr>
              <a:t></a:t>
            </a:r>
            <a:r>
              <a:rPr lang="en-AU" sz="6000" b="1" dirty="0" smtClean="0">
                <a:sym typeface="Wingdings" panose="05000000000000000000" pitchFamily="2" charset="2"/>
              </a:rPr>
              <a:t> </a:t>
            </a:r>
            <a:endParaRPr lang="en-AU" sz="6000" b="1" dirty="0"/>
          </a:p>
        </p:txBody>
      </p:sp>
      <p:pic>
        <p:nvPicPr>
          <p:cNvPr id="5" name="Content Placeholder 4"/>
          <p:cNvPicPr>
            <a:picLocks noGrp="1" noChangeAspect="1"/>
          </p:cNvPicPr>
          <p:nvPr>
            <p:ph idx="1"/>
          </p:nvPr>
        </p:nvPicPr>
        <p:blipFill>
          <a:blip r:embed="rId2"/>
          <a:stretch>
            <a:fillRect/>
          </a:stretch>
        </p:blipFill>
        <p:spPr>
          <a:xfrm>
            <a:off x="2122991" y="1285693"/>
            <a:ext cx="8161832" cy="5463499"/>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13562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Mechanics of breathing </a:t>
            </a:r>
            <a:endParaRPr lang="en-AU" sz="6000" b="1" dirty="0"/>
          </a:p>
        </p:txBody>
      </p:sp>
      <p:sp>
        <p:nvSpPr>
          <p:cNvPr id="3" name="Content Placeholder 2"/>
          <p:cNvSpPr>
            <a:spLocks noGrp="1"/>
          </p:cNvSpPr>
          <p:nvPr>
            <p:ph idx="1"/>
          </p:nvPr>
        </p:nvSpPr>
        <p:spPr/>
        <p:txBody>
          <a:bodyPr/>
          <a:lstStyle/>
          <a:p>
            <a:r>
              <a:rPr lang="en-AU" sz="3200" b="1" u="sng" dirty="0" smtClean="0"/>
              <a:t>EXPIRATION: </a:t>
            </a:r>
          </a:p>
          <a:p>
            <a:r>
              <a:rPr lang="en-AU" dirty="0" smtClean="0"/>
              <a:t>The process of removing air from the lungs </a:t>
            </a:r>
          </a:p>
          <a:p>
            <a:r>
              <a:rPr lang="en-AU" dirty="0" smtClean="0"/>
              <a:t>The diaphragm and external  intercostal muscles relax. The diaphragm bulges and the rib cage moves downwards. </a:t>
            </a:r>
          </a:p>
          <a:p>
            <a:r>
              <a:rPr lang="en-AU" dirty="0" smtClean="0"/>
              <a:t>This reduces the volume of the chest cavity and lungs </a:t>
            </a:r>
          </a:p>
          <a:p>
            <a:r>
              <a:rPr lang="en-AU" dirty="0" smtClean="0"/>
              <a:t>Air pressure in the lungs is now greater than pressure outside the body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52701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Expiration                       </a:t>
            </a:r>
            <a:r>
              <a:rPr lang="en-AU" sz="4800" b="1" dirty="0" smtClean="0"/>
              <a:t>Draw it </a:t>
            </a:r>
            <a:r>
              <a:rPr lang="en-AU" sz="4800" b="1" dirty="0" smtClean="0">
                <a:sym typeface="Wingdings" panose="05000000000000000000" pitchFamily="2" charset="2"/>
              </a:rPr>
              <a:t> </a:t>
            </a:r>
            <a:endParaRPr lang="en-AU" sz="4800" b="1" dirty="0"/>
          </a:p>
        </p:txBody>
      </p:sp>
      <p:pic>
        <p:nvPicPr>
          <p:cNvPr id="5" name="Content Placeholder 4"/>
          <p:cNvPicPr>
            <a:picLocks noGrp="1" noChangeAspect="1"/>
          </p:cNvPicPr>
          <p:nvPr>
            <p:ph idx="1"/>
          </p:nvPr>
        </p:nvPicPr>
        <p:blipFill>
          <a:blip r:embed="rId2"/>
          <a:stretch>
            <a:fillRect/>
          </a:stretch>
        </p:blipFill>
        <p:spPr>
          <a:xfrm>
            <a:off x="1845146" y="1368720"/>
            <a:ext cx="8458164" cy="5423966"/>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68119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Key concepts so far </a:t>
            </a:r>
            <a:endParaRPr lang="en-AU" sz="6000" b="1" dirty="0"/>
          </a:p>
        </p:txBody>
      </p:sp>
      <p:sp>
        <p:nvSpPr>
          <p:cNvPr id="3" name="Content Placeholder 2"/>
          <p:cNvSpPr>
            <a:spLocks noGrp="1"/>
          </p:cNvSpPr>
          <p:nvPr>
            <p:ph idx="1"/>
          </p:nvPr>
        </p:nvSpPr>
        <p:spPr/>
        <p:txBody>
          <a:bodyPr/>
          <a:lstStyle/>
          <a:p>
            <a:r>
              <a:rPr lang="en-AU" dirty="0" smtClean="0"/>
              <a:t>The structure of the respiratory system allows the efficient flow of air into and out of the lungs so that gas exchange can occur between the air and the blood </a:t>
            </a:r>
          </a:p>
          <a:p>
            <a:endParaRPr lang="en-AU" dirty="0"/>
          </a:p>
          <a:p>
            <a:r>
              <a:rPr lang="en-AU" dirty="0" smtClean="0"/>
              <a:t>The diaphragm and intercostal muscles work together to change the volume- and therefore pressure- of the lungs, resulting in airflow into or out of the lungs.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69510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9669"/>
            <a:ext cx="10515600" cy="1325563"/>
          </a:xfrm>
        </p:spPr>
        <p:txBody>
          <a:bodyPr>
            <a:normAutofit/>
          </a:bodyPr>
          <a:lstStyle/>
          <a:p>
            <a:r>
              <a:rPr lang="en-AU" sz="6000" b="1" dirty="0" smtClean="0"/>
              <a:t>Gas Exchange </a:t>
            </a:r>
            <a:endParaRPr lang="en-AU" sz="6000" b="1" dirty="0"/>
          </a:p>
        </p:txBody>
      </p:sp>
      <p:sp>
        <p:nvSpPr>
          <p:cNvPr id="3" name="Content Placeholder 2"/>
          <p:cNvSpPr>
            <a:spLocks noGrp="1"/>
          </p:cNvSpPr>
          <p:nvPr>
            <p:ph idx="1"/>
          </p:nvPr>
        </p:nvSpPr>
        <p:spPr>
          <a:xfrm>
            <a:off x="437606" y="1255507"/>
            <a:ext cx="11510554" cy="5406549"/>
          </a:xfrm>
        </p:spPr>
        <p:txBody>
          <a:bodyPr/>
          <a:lstStyle/>
          <a:p>
            <a:pPr marL="0" indent="0">
              <a:buNone/>
            </a:pPr>
            <a:r>
              <a:rPr lang="en-AU" dirty="0"/>
              <a:t>The lungs are well suited to gas exchange for the following reasons </a:t>
            </a:r>
          </a:p>
          <a:p>
            <a:r>
              <a:rPr lang="en-AU" dirty="0" smtClean="0"/>
              <a:t>huge </a:t>
            </a:r>
            <a:r>
              <a:rPr lang="en-AU" dirty="0"/>
              <a:t>internal surface area (millions of alveoli) </a:t>
            </a:r>
          </a:p>
          <a:p>
            <a:r>
              <a:rPr lang="en-AU" dirty="0" smtClean="0"/>
              <a:t>impressive </a:t>
            </a:r>
            <a:r>
              <a:rPr lang="en-AU" dirty="0"/>
              <a:t>supply of blood vessels. Continuous flow of blood helps to maintain a difference in concentration gradients of oxygen and carbon dioxide </a:t>
            </a:r>
          </a:p>
          <a:p>
            <a:r>
              <a:rPr lang="en-AU" dirty="0" smtClean="0"/>
              <a:t>membrane </a:t>
            </a:r>
            <a:r>
              <a:rPr lang="en-AU" dirty="0"/>
              <a:t>is very thin (1 micrometre thick) </a:t>
            </a:r>
          </a:p>
          <a:p>
            <a:r>
              <a:rPr lang="en-AU" dirty="0" smtClean="0"/>
              <a:t>position </a:t>
            </a:r>
            <a:r>
              <a:rPr lang="en-AU" dirty="0"/>
              <a:t>of lungs is deep inside the body to prevent excessive evaporation </a:t>
            </a:r>
          </a:p>
          <a:p>
            <a:r>
              <a:rPr lang="en-AU" dirty="0" smtClean="0"/>
              <a:t>lung </a:t>
            </a:r>
            <a:r>
              <a:rPr lang="en-AU" dirty="0"/>
              <a:t>volume can be changed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64229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process of gas exchange </a:t>
            </a:r>
            <a:endParaRPr lang="en-AU" sz="6000" b="1" dirty="0"/>
          </a:p>
        </p:txBody>
      </p:sp>
      <p:sp>
        <p:nvSpPr>
          <p:cNvPr id="3" name="Content Placeholder 2"/>
          <p:cNvSpPr>
            <a:spLocks noGrp="1"/>
          </p:cNvSpPr>
          <p:nvPr>
            <p:ph idx="1"/>
          </p:nvPr>
        </p:nvSpPr>
        <p:spPr>
          <a:xfrm>
            <a:off x="838200" y="1825625"/>
            <a:ext cx="10515600" cy="4653552"/>
          </a:xfrm>
        </p:spPr>
        <p:txBody>
          <a:bodyPr>
            <a:normAutofit/>
          </a:bodyPr>
          <a:lstStyle/>
          <a:p>
            <a:r>
              <a:rPr lang="en-AU" dirty="0" smtClean="0"/>
              <a:t>The blood in the capillaries surrounding the alveoli is brought to the lungs by the pulmonary arteries </a:t>
            </a:r>
          </a:p>
          <a:p>
            <a:endParaRPr lang="en-AU" dirty="0"/>
          </a:p>
          <a:p>
            <a:r>
              <a:rPr lang="en-AU" dirty="0" smtClean="0"/>
              <a:t>This blood has been through the capillaries of the body, where much of the oxygen has been taken up the body cells and has a low concentration of oxygen. </a:t>
            </a:r>
          </a:p>
          <a:p>
            <a:endParaRPr lang="en-AU" dirty="0"/>
          </a:p>
          <a:p>
            <a:r>
              <a:rPr lang="en-AU" dirty="0" smtClean="0"/>
              <a:t>Oxygen dissolves in the moisture on the inside of the alveolus and diffuses through the membrane, the walls of the capillaries and into the blood.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34251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process of gas exchange </a:t>
            </a:r>
            <a:endParaRPr lang="en-AU" sz="6000" b="1" dirty="0"/>
          </a:p>
        </p:txBody>
      </p:sp>
      <p:sp>
        <p:nvSpPr>
          <p:cNvPr id="3" name="Content Placeholder 2"/>
          <p:cNvSpPr>
            <a:spLocks noGrp="1"/>
          </p:cNvSpPr>
          <p:nvPr>
            <p:ph idx="1"/>
          </p:nvPr>
        </p:nvSpPr>
        <p:spPr>
          <a:xfrm>
            <a:off x="350519" y="1503408"/>
            <a:ext cx="11500821" cy="3194098"/>
          </a:xfrm>
        </p:spPr>
        <p:txBody>
          <a:bodyPr/>
          <a:lstStyle/>
          <a:p>
            <a:r>
              <a:rPr lang="en-AU" dirty="0" smtClean="0"/>
              <a:t>The blood arriving at the capillaries of the alveoli has come from the body circulation where it has picked up carbon dioxide produced by respiration in the cells. </a:t>
            </a:r>
          </a:p>
          <a:p>
            <a:endParaRPr lang="en-AU" dirty="0"/>
          </a:p>
          <a:p>
            <a:r>
              <a:rPr lang="en-AU" dirty="0" smtClean="0"/>
              <a:t>The concentration of carbon dioxide in the alveolar capillaries is higher than the concentration in the air in the alveolus. Therefore, carbon dioxide diffused out of the blood and into the air in the alveolus.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Table 4"/>
          <p:cNvGraphicFramePr>
            <a:graphicFrameLocks noGrp="1"/>
          </p:cNvGraphicFramePr>
          <p:nvPr>
            <p:extLst>
              <p:ext uri="{D42A27DB-BD31-4B8C-83A1-F6EECF244321}">
                <p14:modId xmlns:p14="http://schemas.microsoft.com/office/powerpoint/2010/main" val="2884582992"/>
              </p:ext>
            </p:extLst>
          </p:nvPr>
        </p:nvGraphicFramePr>
        <p:xfrm>
          <a:off x="3723980" y="4925884"/>
          <a:ext cx="5436000" cy="1112520"/>
        </p:xfrm>
        <a:graphic>
          <a:graphicData uri="http://schemas.openxmlformats.org/drawingml/2006/table">
            <a:tbl>
              <a:tblPr firstRow="1" bandRow="1">
                <a:tableStyleId>{5C22544A-7EE6-4342-B048-85BDC9FD1C3A}</a:tableStyleId>
              </a:tblPr>
              <a:tblGrid>
                <a:gridCol w="1886431">
                  <a:extLst>
                    <a:ext uri="{9D8B030D-6E8A-4147-A177-3AD203B41FA5}">
                      <a16:colId xmlns:a16="http://schemas.microsoft.com/office/drawing/2014/main" val="3741767335"/>
                    </a:ext>
                  </a:extLst>
                </a:gridCol>
                <a:gridCol w="1801906">
                  <a:extLst>
                    <a:ext uri="{9D8B030D-6E8A-4147-A177-3AD203B41FA5}">
                      <a16:colId xmlns:a16="http://schemas.microsoft.com/office/drawing/2014/main" val="877136129"/>
                    </a:ext>
                  </a:extLst>
                </a:gridCol>
                <a:gridCol w="1747663">
                  <a:extLst>
                    <a:ext uri="{9D8B030D-6E8A-4147-A177-3AD203B41FA5}">
                      <a16:colId xmlns:a16="http://schemas.microsoft.com/office/drawing/2014/main" val="1286569271"/>
                    </a:ext>
                  </a:extLst>
                </a:gridCol>
              </a:tblGrid>
              <a:tr h="370840">
                <a:tc>
                  <a:txBody>
                    <a:bodyPr/>
                    <a:lstStyle/>
                    <a:p>
                      <a:endParaRPr lang="en-AU" dirty="0"/>
                    </a:p>
                  </a:txBody>
                  <a:tcPr/>
                </a:tc>
                <a:tc>
                  <a:txBody>
                    <a:bodyPr/>
                    <a:lstStyle/>
                    <a:p>
                      <a:r>
                        <a:rPr lang="en-AU" dirty="0" smtClean="0"/>
                        <a:t>Inspired Air (%)</a:t>
                      </a:r>
                      <a:r>
                        <a:rPr lang="en-AU" baseline="0" dirty="0" smtClean="0"/>
                        <a:t> </a:t>
                      </a:r>
                      <a:endParaRPr lang="en-AU" dirty="0"/>
                    </a:p>
                  </a:txBody>
                  <a:tcPr/>
                </a:tc>
                <a:tc>
                  <a:txBody>
                    <a:bodyPr/>
                    <a:lstStyle/>
                    <a:p>
                      <a:r>
                        <a:rPr lang="en-AU" dirty="0" smtClean="0"/>
                        <a:t>Expired Air (%) </a:t>
                      </a:r>
                      <a:endParaRPr lang="en-AU" dirty="0"/>
                    </a:p>
                  </a:txBody>
                  <a:tcPr/>
                </a:tc>
                <a:extLst>
                  <a:ext uri="{0D108BD9-81ED-4DB2-BD59-A6C34878D82A}">
                    <a16:rowId xmlns:a16="http://schemas.microsoft.com/office/drawing/2014/main" val="3017263833"/>
                  </a:ext>
                </a:extLst>
              </a:tr>
              <a:tr h="370840">
                <a:tc>
                  <a:txBody>
                    <a:bodyPr/>
                    <a:lstStyle/>
                    <a:p>
                      <a:r>
                        <a:rPr lang="en-AU" dirty="0" smtClean="0"/>
                        <a:t>Oxygen </a:t>
                      </a:r>
                      <a:endParaRPr lang="en-AU" dirty="0"/>
                    </a:p>
                  </a:txBody>
                  <a:tcPr/>
                </a:tc>
                <a:tc>
                  <a:txBody>
                    <a:bodyPr/>
                    <a:lstStyle/>
                    <a:p>
                      <a:r>
                        <a:rPr lang="en-AU" dirty="0" smtClean="0"/>
                        <a:t>20.95</a:t>
                      </a:r>
                      <a:endParaRPr lang="en-AU" dirty="0"/>
                    </a:p>
                  </a:txBody>
                  <a:tcPr/>
                </a:tc>
                <a:tc>
                  <a:txBody>
                    <a:bodyPr/>
                    <a:lstStyle/>
                    <a:p>
                      <a:r>
                        <a:rPr lang="en-AU" dirty="0" smtClean="0"/>
                        <a:t>15.80</a:t>
                      </a:r>
                      <a:endParaRPr lang="en-AU" dirty="0"/>
                    </a:p>
                  </a:txBody>
                  <a:tcPr/>
                </a:tc>
                <a:extLst>
                  <a:ext uri="{0D108BD9-81ED-4DB2-BD59-A6C34878D82A}">
                    <a16:rowId xmlns:a16="http://schemas.microsoft.com/office/drawing/2014/main" val="1587241300"/>
                  </a:ext>
                </a:extLst>
              </a:tr>
              <a:tr h="370840">
                <a:tc>
                  <a:txBody>
                    <a:bodyPr/>
                    <a:lstStyle/>
                    <a:p>
                      <a:r>
                        <a:rPr lang="en-AU" dirty="0" smtClean="0"/>
                        <a:t>Carbon Dioxide</a:t>
                      </a:r>
                      <a:r>
                        <a:rPr lang="en-AU" baseline="0" dirty="0" smtClean="0"/>
                        <a:t> </a:t>
                      </a:r>
                      <a:endParaRPr lang="en-AU" dirty="0"/>
                    </a:p>
                  </a:txBody>
                  <a:tcPr/>
                </a:tc>
                <a:tc>
                  <a:txBody>
                    <a:bodyPr/>
                    <a:lstStyle/>
                    <a:p>
                      <a:r>
                        <a:rPr lang="en-AU" dirty="0" smtClean="0"/>
                        <a:t>0.04</a:t>
                      </a:r>
                      <a:endParaRPr lang="en-AU" dirty="0"/>
                    </a:p>
                  </a:txBody>
                  <a:tcPr/>
                </a:tc>
                <a:tc>
                  <a:txBody>
                    <a:bodyPr/>
                    <a:lstStyle/>
                    <a:p>
                      <a:r>
                        <a:rPr lang="en-AU" dirty="0" smtClean="0"/>
                        <a:t>4.30</a:t>
                      </a:r>
                      <a:endParaRPr lang="en-AU" dirty="0"/>
                    </a:p>
                  </a:txBody>
                  <a:tcPr/>
                </a:tc>
                <a:extLst>
                  <a:ext uri="{0D108BD9-81ED-4DB2-BD59-A6C34878D82A}">
                    <a16:rowId xmlns:a16="http://schemas.microsoft.com/office/drawing/2014/main" val="186960434"/>
                  </a:ext>
                </a:extLst>
              </a:tr>
            </a:tbl>
          </a:graphicData>
        </a:graphic>
      </p:graphicFrame>
    </p:spTree>
    <p:extLst>
      <p:ext uri="{BB962C8B-B14F-4D97-AF65-F5344CB8AC3E}">
        <p14:creationId xmlns:p14="http://schemas.microsoft.com/office/powerpoint/2010/main" val="2246847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4291" y="82050"/>
            <a:ext cx="10515600" cy="1325563"/>
          </a:xfrm>
        </p:spPr>
        <p:txBody>
          <a:bodyPr>
            <a:normAutofit/>
          </a:bodyPr>
          <a:lstStyle/>
          <a:p>
            <a:r>
              <a:rPr lang="en-AU" sz="6000" b="1" dirty="0" smtClean="0"/>
              <a:t>The process of gas exchange </a:t>
            </a:r>
            <a:endParaRPr lang="en-AU" sz="6000" b="1" dirty="0"/>
          </a:p>
        </p:txBody>
      </p:sp>
      <p:pic>
        <p:nvPicPr>
          <p:cNvPr id="5" name="Content Placeholder 4"/>
          <p:cNvPicPr>
            <a:picLocks noGrp="1" noChangeAspect="1"/>
          </p:cNvPicPr>
          <p:nvPr>
            <p:ph idx="1"/>
          </p:nvPr>
        </p:nvPicPr>
        <p:blipFill>
          <a:blip r:embed="rId2"/>
          <a:stretch>
            <a:fillRect/>
          </a:stretch>
        </p:blipFill>
        <p:spPr>
          <a:xfrm>
            <a:off x="1134291" y="1172482"/>
            <a:ext cx="8958264" cy="5620204"/>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p:cNvSpPr txBox="1"/>
          <p:nvPr/>
        </p:nvSpPr>
        <p:spPr>
          <a:xfrm>
            <a:off x="10408024" y="2877671"/>
            <a:ext cx="1425388" cy="1384995"/>
          </a:xfrm>
          <a:prstGeom prst="rect">
            <a:avLst/>
          </a:prstGeom>
          <a:noFill/>
        </p:spPr>
        <p:txBody>
          <a:bodyPr wrap="square" rtlCol="0">
            <a:spAutoFit/>
          </a:bodyPr>
          <a:lstStyle/>
          <a:p>
            <a:pPr algn="ctr"/>
            <a:r>
              <a:rPr lang="en-AU" sz="2800" dirty="0" smtClean="0"/>
              <a:t>Copy this </a:t>
            </a:r>
          </a:p>
          <a:p>
            <a:pPr algn="ctr"/>
            <a:r>
              <a:rPr lang="en-AU" sz="2800" dirty="0" smtClean="0">
                <a:sym typeface="Wingdings" panose="05000000000000000000" pitchFamily="2" charset="2"/>
              </a:rPr>
              <a:t> </a:t>
            </a:r>
            <a:endParaRPr lang="en-AU" sz="2800" dirty="0"/>
          </a:p>
        </p:txBody>
      </p:sp>
    </p:spTree>
    <p:extLst>
      <p:ext uri="{BB962C8B-B14F-4D97-AF65-F5344CB8AC3E}">
        <p14:creationId xmlns:p14="http://schemas.microsoft.com/office/powerpoint/2010/main" val="25742817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process of gas exchange </a:t>
            </a:r>
            <a:endParaRPr lang="en-AU" sz="6000" b="1" dirty="0"/>
          </a:p>
        </p:txBody>
      </p:sp>
      <p:sp>
        <p:nvSpPr>
          <p:cNvPr id="3" name="Content Placeholder 2"/>
          <p:cNvSpPr>
            <a:spLocks noGrp="1"/>
          </p:cNvSpPr>
          <p:nvPr>
            <p:ph idx="1"/>
          </p:nvPr>
        </p:nvSpPr>
        <p:spPr>
          <a:xfrm>
            <a:off x="838200" y="1825624"/>
            <a:ext cx="10515600" cy="4530351"/>
          </a:xfrm>
        </p:spPr>
        <p:txBody>
          <a:bodyPr/>
          <a:lstStyle/>
          <a:p>
            <a:r>
              <a:rPr lang="en-AU" dirty="0" smtClean="0"/>
              <a:t>For diffusion of gases into and out of the blood, there must be a concentration gradient. </a:t>
            </a:r>
          </a:p>
          <a:p>
            <a:endParaRPr lang="en-AU" dirty="0" smtClean="0"/>
          </a:p>
          <a:p>
            <a:r>
              <a:rPr lang="en-AU" dirty="0" smtClean="0"/>
              <a:t>The concentration gradient is maintained by </a:t>
            </a:r>
          </a:p>
          <a:p>
            <a:pPr lvl="1"/>
            <a:r>
              <a:rPr lang="en-AU" dirty="0" smtClean="0"/>
              <a:t>The constant flow of blood through the capillaries</a:t>
            </a:r>
          </a:p>
          <a:p>
            <a:pPr lvl="1"/>
            <a:r>
              <a:rPr lang="en-AU" dirty="0" smtClean="0"/>
              <a:t>The movement of air into and out of the alveoli as we breathe in and out.  </a:t>
            </a:r>
          </a:p>
          <a:p>
            <a:pPr lvl="1"/>
            <a:endParaRPr lang="en-AU" dirty="0"/>
          </a:p>
          <a:p>
            <a:r>
              <a:rPr lang="en-AU" dirty="0" smtClean="0"/>
              <a:t>There is a net diffusion of oxygen into the blood and carbon dioxide out of the blood due to the concentration gradients between the air and blood.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73636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Emphysema </a:t>
            </a:r>
            <a:endParaRPr lang="en-AU" sz="6000" b="1" dirty="0"/>
          </a:p>
        </p:txBody>
      </p:sp>
      <p:sp>
        <p:nvSpPr>
          <p:cNvPr id="3" name="Content Placeholder 2"/>
          <p:cNvSpPr>
            <a:spLocks noGrp="1"/>
          </p:cNvSpPr>
          <p:nvPr>
            <p:ph idx="1"/>
          </p:nvPr>
        </p:nvSpPr>
        <p:spPr/>
        <p:txBody>
          <a:bodyPr/>
          <a:lstStyle/>
          <a:p>
            <a:r>
              <a:rPr lang="en-AU" dirty="0" smtClean="0"/>
              <a:t>Disease usually caused by long-term exposure to irritating particles in the air taken into the lungs </a:t>
            </a:r>
          </a:p>
          <a:p>
            <a:endParaRPr lang="en-AU" dirty="0" smtClean="0"/>
          </a:p>
          <a:p>
            <a:r>
              <a:rPr lang="en-AU" dirty="0" smtClean="0"/>
              <a:t>Some people are at higher risk of emphysema than others e.g. smokers, construction workers </a:t>
            </a:r>
          </a:p>
          <a:p>
            <a:endParaRPr lang="en-AU" dirty="0"/>
          </a:p>
          <a:p>
            <a:r>
              <a:rPr lang="en-AU" dirty="0" smtClean="0"/>
              <a:t>The irritating particles cause damage to alveoli. They lose their elasticity, are often replaced with fibrous tissue, and may break down, reducing the internal surface area of the lung.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60435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Emphysema </a:t>
            </a:r>
            <a:endParaRPr lang="en-AU" sz="6000" b="1" dirty="0"/>
          </a:p>
        </p:txBody>
      </p:sp>
      <p:sp>
        <p:nvSpPr>
          <p:cNvPr id="3" name="Content Placeholder 2"/>
          <p:cNvSpPr>
            <a:spLocks noGrp="1"/>
          </p:cNvSpPr>
          <p:nvPr>
            <p:ph idx="1"/>
          </p:nvPr>
        </p:nvSpPr>
        <p:spPr>
          <a:xfrm>
            <a:off x="550817" y="1690688"/>
            <a:ext cx="6346371" cy="4351338"/>
          </a:xfrm>
        </p:spPr>
        <p:txBody>
          <a:bodyPr/>
          <a:lstStyle/>
          <a:p>
            <a:r>
              <a:rPr lang="en-AU" dirty="0" smtClean="0"/>
              <a:t>Because of the loss of elasticity of the lung tissue, the lungs are constantly inflated, and breathing out no longer occurs passively but requires voluntary effort</a:t>
            </a:r>
          </a:p>
          <a:p>
            <a:endParaRPr lang="en-AU" dirty="0"/>
          </a:p>
          <a:p>
            <a:r>
              <a:rPr lang="en-AU" dirty="0" smtClean="0"/>
              <a:t>Emphysema cannot be cured, and once lung damage begins, the progression of the disease cannot be stopped.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8082371" y="229961"/>
            <a:ext cx="2914650" cy="6562725"/>
          </a:xfrm>
          <a:prstGeom prst="rect">
            <a:avLst/>
          </a:prstGeom>
        </p:spPr>
      </p:pic>
    </p:spTree>
    <p:extLst>
      <p:ext uri="{BB962C8B-B14F-4D97-AF65-F5344CB8AC3E}">
        <p14:creationId xmlns:p14="http://schemas.microsoft.com/office/powerpoint/2010/main" val="22536749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Lung cancer </a:t>
            </a:r>
            <a:endParaRPr lang="en-AU" sz="6000" b="1" dirty="0"/>
          </a:p>
        </p:txBody>
      </p:sp>
      <p:sp>
        <p:nvSpPr>
          <p:cNvPr id="3" name="Content Placeholder 2"/>
          <p:cNvSpPr>
            <a:spLocks noGrp="1"/>
          </p:cNvSpPr>
          <p:nvPr>
            <p:ph idx="1"/>
          </p:nvPr>
        </p:nvSpPr>
        <p:spPr/>
        <p:txBody>
          <a:bodyPr/>
          <a:lstStyle/>
          <a:p>
            <a:r>
              <a:rPr lang="en-AU" dirty="0" smtClean="0"/>
              <a:t>Uncontrollable cell growth </a:t>
            </a:r>
          </a:p>
          <a:p>
            <a:endParaRPr lang="en-AU" dirty="0" smtClean="0"/>
          </a:p>
          <a:p>
            <a:r>
              <a:rPr lang="en-AU" dirty="0" smtClean="0"/>
              <a:t>Evidence shows clear link between cancer and exposure to asbestos fibres and other pollutants </a:t>
            </a:r>
          </a:p>
          <a:p>
            <a:endParaRPr lang="en-AU" dirty="0" smtClean="0"/>
          </a:p>
          <a:p>
            <a:r>
              <a:rPr lang="en-AU" dirty="0" smtClean="0"/>
              <a:t>The bronchi are constantly irritated and the cells lining the mucus membrane start to rapidly divide, becoming a mass.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161043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Lung infections</a:t>
            </a:r>
            <a:endParaRPr lang="en-AU" sz="6000" b="1" dirty="0"/>
          </a:p>
        </p:txBody>
      </p:sp>
      <p:sp>
        <p:nvSpPr>
          <p:cNvPr id="3" name="Content Placeholder 2"/>
          <p:cNvSpPr>
            <a:spLocks noGrp="1"/>
          </p:cNvSpPr>
          <p:nvPr>
            <p:ph idx="1"/>
          </p:nvPr>
        </p:nvSpPr>
        <p:spPr/>
        <p:txBody>
          <a:bodyPr/>
          <a:lstStyle/>
          <a:p>
            <a:r>
              <a:rPr lang="en-AU" dirty="0" smtClean="0"/>
              <a:t>Pneumonia is an infection caused by bacteria, fungi or other organisms. </a:t>
            </a:r>
          </a:p>
          <a:p>
            <a:endParaRPr lang="en-AU" dirty="0"/>
          </a:p>
          <a:p>
            <a:r>
              <a:rPr lang="en-AU" dirty="0" smtClean="0"/>
              <a:t>The surface area available for exchange of gases is reduced, and breathing difficulty is a symptom of many types of pneumonia.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46513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Recall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List the structure that air will travel down, starting from outside the body. </a:t>
            </a:r>
            <a:endParaRPr lang="en-AU" dirty="0" smtClean="0"/>
          </a:p>
          <a:p>
            <a:pPr marL="514350" indent="-514350">
              <a:buFont typeface="+mj-lt"/>
              <a:buAutoNum type="arabicPeriod"/>
            </a:pPr>
            <a:r>
              <a:rPr lang="en-AU" dirty="0" smtClean="0"/>
              <a:t>List the characteristics of the lungs that make them well suited for gas exchange </a:t>
            </a:r>
          </a:p>
          <a:p>
            <a:pPr marL="514350" indent="-514350">
              <a:buFont typeface="+mj-lt"/>
              <a:buAutoNum type="arabicPeriod"/>
            </a:pPr>
            <a:r>
              <a:rPr lang="en-AU" dirty="0" smtClean="0"/>
              <a:t>Explain why the pressure in the lungs decreases during inspiration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35105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Apply Knowledge </a:t>
            </a:r>
            <a:endParaRPr lang="en-AU" sz="6000" b="1" dirty="0"/>
          </a:p>
        </p:txBody>
      </p:sp>
      <p:sp>
        <p:nvSpPr>
          <p:cNvPr id="3" name="Content Placeholder 2"/>
          <p:cNvSpPr>
            <a:spLocks noGrp="1"/>
          </p:cNvSpPr>
          <p:nvPr>
            <p:ph idx="1"/>
          </p:nvPr>
        </p:nvSpPr>
        <p:spPr/>
        <p:txBody>
          <a:bodyPr/>
          <a:lstStyle/>
          <a:p>
            <a:r>
              <a:rPr lang="en-AU" dirty="0" smtClean="0"/>
              <a:t>Why is a concentration gradient importan</a:t>
            </a:r>
            <a:r>
              <a:rPr lang="en-AU" dirty="0" smtClean="0"/>
              <a:t>t for the exchange of gases?</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35796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Homewor</a:t>
            </a:r>
            <a:r>
              <a:rPr lang="en-AU" sz="6000" b="1" dirty="0"/>
              <a:t>k</a:t>
            </a:r>
          </a:p>
        </p:txBody>
      </p:sp>
      <p:sp>
        <p:nvSpPr>
          <p:cNvPr id="3" name="Content Placeholder 2"/>
          <p:cNvSpPr>
            <a:spLocks noGrp="1"/>
          </p:cNvSpPr>
          <p:nvPr>
            <p:ph idx="1"/>
          </p:nvPr>
        </p:nvSpPr>
        <p:spPr/>
        <p:txBody>
          <a:bodyPr/>
          <a:lstStyle/>
          <a:p>
            <a:r>
              <a:rPr lang="en-AU" dirty="0" smtClean="0"/>
              <a:t>Write a summary about how asthma and tuberculosis affects the lungs.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45526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6000" b="1" dirty="0" smtClean="0"/>
              <a:t>Reading</a:t>
            </a:r>
            <a:r>
              <a:rPr lang="en-AU" dirty="0" smtClean="0"/>
              <a:t> </a:t>
            </a:r>
            <a:endParaRPr lang="en-AU" dirty="0"/>
          </a:p>
        </p:txBody>
      </p:sp>
      <p:sp>
        <p:nvSpPr>
          <p:cNvPr id="3" name="Content Placeholder 2"/>
          <p:cNvSpPr>
            <a:spLocks noGrp="1"/>
          </p:cNvSpPr>
          <p:nvPr>
            <p:ph idx="1"/>
          </p:nvPr>
        </p:nvSpPr>
        <p:spPr/>
        <p:txBody>
          <a:bodyPr/>
          <a:lstStyle/>
          <a:p>
            <a:r>
              <a:rPr lang="en-AU" dirty="0" smtClean="0"/>
              <a:t>Pages 86-95 :Chapter 4 - The Respiratory System allows gas exchange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5014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TotalTime>
  <Words>1808</Words>
  <Application>Microsoft Office PowerPoint</Application>
  <PresentationFormat>Widescreen</PresentationFormat>
  <Paragraphs>194</Paragraphs>
  <Slides>40</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40</vt:i4>
      </vt:variant>
    </vt:vector>
  </HeadingPairs>
  <TitlesOfParts>
    <vt:vector size="46" baseType="lpstr">
      <vt:lpstr>Arial</vt:lpstr>
      <vt:lpstr>Calibri</vt:lpstr>
      <vt:lpstr>Calibri Light</vt:lpstr>
      <vt:lpstr>Wingdings</vt:lpstr>
      <vt:lpstr>Office Theme</vt:lpstr>
      <vt:lpstr>1_Office Theme</vt:lpstr>
      <vt:lpstr>Respiratory System </vt:lpstr>
      <vt:lpstr>SCSA Syllabus Reference </vt:lpstr>
      <vt:lpstr>Lesson Intention </vt:lpstr>
      <vt:lpstr>Success Criteria </vt:lpstr>
      <vt:lpstr>Vocabulary </vt:lpstr>
      <vt:lpstr>Vocabulary </vt:lpstr>
      <vt:lpstr>Vocabulary </vt:lpstr>
      <vt:lpstr>Vocabulary </vt:lpstr>
      <vt:lpstr>Vocabulary </vt:lpstr>
      <vt:lpstr>Nose </vt:lpstr>
      <vt:lpstr>Pharynx </vt:lpstr>
      <vt:lpstr>Trachea </vt:lpstr>
      <vt:lpstr>Bronchi </vt:lpstr>
      <vt:lpstr>PowerPoint Presentation</vt:lpstr>
      <vt:lpstr>PowerPoint Presentation</vt:lpstr>
      <vt:lpstr>Bronchioles </vt:lpstr>
      <vt:lpstr>Lungs </vt:lpstr>
      <vt:lpstr>Alveoli  </vt:lpstr>
      <vt:lpstr>PowerPoint Presentation</vt:lpstr>
      <vt:lpstr>Diaphragm </vt:lpstr>
      <vt:lpstr>Ribs </vt:lpstr>
      <vt:lpstr>Intercostal muscles </vt:lpstr>
      <vt:lpstr>Mechanics of breathing </vt:lpstr>
      <vt:lpstr>Inspiration                            Draw it  </vt:lpstr>
      <vt:lpstr>Mechanics of breathing </vt:lpstr>
      <vt:lpstr>Expiration                       Draw it  </vt:lpstr>
      <vt:lpstr>Key concepts so far </vt:lpstr>
      <vt:lpstr>Gas Exchange </vt:lpstr>
      <vt:lpstr>The process of gas exchange </vt:lpstr>
      <vt:lpstr>The process of gas exchange </vt:lpstr>
      <vt:lpstr>The process of gas exchange </vt:lpstr>
      <vt:lpstr>The process of gas exchange </vt:lpstr>
      <vt:lpstr>Emphysema </vt:lpstr>
      <vt:lpstr>Emphysema </vt:lpstr>
      <vt:lpstr>Lung cancer </vt:lpstr>
      <vt:lpstr>Lung infections</vt:lpstr>
      <vt:lpstr>Recall Knowledge </vt:lpstr>
      <vt:lpstr>Apply Knowledge </vt:lpstr>
      <vt:lpstr>Homework</vt:lpstr>
      <vt:lpstr>Reading </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DOOMEN Lisa [Gilmore College]</dc:creator>
  <cp:lastModifiedBy>DOOMEN Lisa [Gilmore College]</cp:lastModifiedBy>
  <cp:revision>25</cp:revision>
  <dcterms:created xsi:type="dcterms:W3CDTF">2021-12-16T00:48:44Z</dcterms:created>
  <dcterms:modified xsi:type="dcterms:W3CDTF">2022-03-10T04:15:25Z</dcterms:modified>
</cp:coreProperties>
</file>
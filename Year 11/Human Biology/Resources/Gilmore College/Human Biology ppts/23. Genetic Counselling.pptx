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0" r:id="rId7"/>
    <p:sldId id="261" r:id="rId8"/>
    <p:sldId id="267" r:id="rId9"/>
    <p:sldId id="268" r:id="rId10"/>
    <p:sldId id="269" r:id="rId11"/>
    <p:sldId id="270" r:id="rId12"/>
    <p:sldId id="271" r:id="rId13"/>
    <p:sldId id="272" r:id="rId14"/>
    <p:sldId id="263" r:id="rId15"/>
    <p:sldId id="264" r:id="rId16"/>
    <p:sldId id="265" r:id="rId17"/>
    <p:sldId id="2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13/10/2022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2766983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13/10/2022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802497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7DF4103-AC13-4E81-8F4A-7126A09DB8C9}" type="datetimeFigureOut">
              <a:rPr lang="en-AU" smtClean="0"/>
              <a:t>13/10/2022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970930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7DF4103-AC13-4E81-8F4A-7126A09DB8C9}" type="datetimeFigureOut">
              <a:rPr lang="en-AU" smtClean="0"/>
              <a:t>13/10/2022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50728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7DF4103-AC13-4E81-8F4A-7126A09DB8C9}" type="datetimeFigureOut">
              <a:rPr lang="en-AU" smtClean="0"/>
              <a:t>13/10/2022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962155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7DF4103-AC13-4E81-8F4A-7126A09DB8C9}" type="datetimeFigureOut">
              <a:rPr lang="en-AU" smtClean="0"/>
              <a:t>13/10/2022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416066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DF4103-AC13-4E81-8F4A-7126A09DB8C9}" type="datetimeFigureOut">
              <a:rPr lang="en-AU" smtClean="0"/>
              <a:t>13/10/2022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377650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13/10/2022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145789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13/10/2022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05399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13/10/2022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93806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13/10/2022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515187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13/10/2022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9063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13/10/2022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43023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4EBC541-E1E4-46F0-B6E0-A9FD71F2F171}" type="datetimeFigureOut">
              <a:rPr lang="en-AU" smtClean="0"/>
              <a:t>13/10/2022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77392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4EBC541-E1E4-46F0-B6E0-A9FD71F2F171}" type="datetimeFigureOut">
              <a:rPr lang="en-AU" smtClean="0"/>
              <a:t>13/10/2022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589351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4EBC541-E1E4-46F0-B6E0-A9FD71F2F171}" type="datetimeFigureOut">
              <a:rPr lang="en-AU" smtClean="0"/>
              <a:t>13/10/2022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318456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4EBC541-E1E4-46F0-B6E0-A9FD71F2F171}" type="datetimeFigureOut">
              <a:rPr lang="en-AU" smtClean="0"/>
              <a:t>13/10/2022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4197532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EBC541-E1E4-46F0-B6E0-A9FD71F2F171}" type="datetimeFigureOut">
              <a:rPr lang="en-AU" smtClean="0"/>
              <a:t>13/10/2022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114883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13/10/2022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146108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13/10/2022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2156605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13/10/2022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14100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13/10/2022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5291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F4103-AC13-4E81-8F4A-7126A09DB8C9}" type="datetimeFigureOut">
              <a:rPr lang="en-AU" smtClean="0"/>
              <a:t>13/10/2022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F673CC-80CF-4E11-86F4-AB5A15E3C01E}" type="slidenum">
              <a:rPr lang="en-AU" smtClean="0"/>
              <a:t>‹#›</a:t>
            </a:fld>
            <a:endParaRPr lang="en-AU"/>
          </a:p>
        </p:txBody>
      </p:sp>
    </p:spTree>
    <p:extLst>
      <p:ext uri="{BB962C8B-B14F-4D97-AF65-F5344CB8AC3E}">
        <p14:creationId xmlns:p14="http://schemas.microsoft.com/office/powerpoint/2010/main" val="3618694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BC541-E1E4-46F0-B6E0-A9FD71F2F171}" type="datetimeFigureOut">
              <a:rPr lang="en-AU" smtClean="0"/>
              <a:t>13/10/2022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4464C-AF91-46F0-8BFB-6ED76731428E}" type="slidenum">
              <a:rPr lang="en-AU" smtClean="0"/>
              <a:t>‹#›</a:t>
            </a:fld>
            <a:endParaRPr lang="en-AU"/>
          </a:p>
        </p:txBody>
      </p:sp>
    </p:spTree>
    <p:extLst>
      <p:ext uri="{BB962C8B-B14F-4D97-AF65-F5344CB8AC3E}">
        <p14:creationId xmlns:p14="http://schemas.microsoft.com/office/powerpoint/2010/main" val="1359971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8000" b="1" dirty="0" smtClean="0"/>
              <a:t>Genetic Counselling </a:t>
            </a:r>
            <a:endParaRPr lang="en-AU" sz="8000" b="1" dirty="0"/>
          </a:p>
        </p:txBody>
      </p:sp>
      <p:sp>
        <p:nvSpPr>
          <p:cNvPr id="3" name="Subtitle 2"/>
          <p:cNvSpPr>
            <a:spLocks noGrp="1"/>
          </p:cNvSpPr>
          <p:nvPr>
            <p:ph type="subTitle" idx="1"/>
          </p:nvPr>
        </p:nvSpPr>
        <p:spPr/>
        <p:txBody>
          <a:bodyPr/>
          <a:lstStyle/>
          <a:p>
            <a:r>
              <a:rPr lang="en-AU" dirty="0" smtClean="0"/>
              <a:t>Year 11 Human Biology </a:t>
            </a:r>
          </a:p>
          <a:p>
            <a:r>
              <a:rPr lang="en-AU" dirty="0" smtClean="0"/>
              <a:t>ATAR </a:t>
            </a:r>
          </a:p>
          <a:p>
            <a:r>
              <a:rPr lang="en-AU" dirty="0" smtClean="0"/>
              <a:t>PowerPoint #23</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49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SCSA Syllabus Reference </a:t>
            </a:r>
            <a:endParaRPr lang="en-AU" sz="6000" dirty="0"/>
          </a:p>
        </p:txBody>
      </p:sp>
      <p:sp>
        <p:nvSpPr>
          <p:cNvPr id="3" name="Content Placeholder 2"/>
          <p:cNvSpPr>
            <a:spLocks noGrp="1"/>
          </p:cNvSpPr>
          <p:nvPr>
            <p:ph idx="1"/>
          </p:nvPr>
        </p:nvSpPr>
        <p:spPr>
          <a:xfrm>
            <a:off x="373224" y="1825624"/>
            <a:ext cx="11476654" cy="4724465"/>
          </a:xfrm>
        </p:spPr>
        <p:txBody>
          <a:bodyPr>
            <a:normAutofit fontScale="92500" lnSpcReduction="10000"/>
          </a:bodyPr>
          <a:lstStyle/>
          <a:p>
            <a:r>
              <a:rPr lang="en-AU" dirty="0"/>
              <a:t>probable frequencies of genotype and phenotype of offspring can be predicted using Punnett squares and by taking into consideration patterns of inheritance, including the effects of dominance, co-dominance, autosomal or sex-linked alleles, and multiple alleles: Huntington's disease, phenylketonuria (PKU), ABO blood groups, red–green colour blindness/haemophilia show different inheritance patterns</a:t>
            </a:r>
          </a:p>
          <a:p>
            <a:endParaRPr lang="en-AU" dirty="0"/>
          </a:p>
          <a:p>
            <a:r>
              <a:rPr lang="en-AU" dirty="0"/>
              <a:t>pedigree charts can be constructed for families with a particular genetic disorder and can be used to reveal patterns of inheritance and assist in determining the probability of inheriting the condition in future generations</a:t>
            </a:r>
          </a:p>
          <a:p>
            <a:endParaRPr lang="en-AU" dirty="0"/>
          </a:p>
          <a:p>
            <a:r>
              <a:rPr lang="en-AU" dirty="0"/>
              <a:t>DNA profiling identifies the unique genetic make-up of individuals and can be used in determining parentage</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913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Lesson Intention </a:t>
            </a:r>
            <a:endParaRPr lang="en-AU" sz="6000" b="1" dirty="0"/>
          </a:p>
        </p:txBody>
      </p:sp>
      <p:sp>
        <p:nvSpPr>
          <p:cNvPr id="3" name="Content Placeholder 2"/>
          <p:cNvSpPr>
            <a:spLocks noGrp="1"/>
          </p:cNvSpPr>
          <p:nvPr>
            <p:ph idx="1"/>
          </p:nvPr>
        </p:nvSpPr>
        <p:spPr/>
        <p:txBody>
          <a:bodyPr/>
          <a:lstStyle/>
          <a:p>
            <a:r>
              <a:rPr lang="en-AU" dirty="0" smtClean="0"/>
              <a:t>To explore the purpose of genetic counselling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3027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p:txBody>
          <a:bodyPr/>
          <a:lstStyle/>
          <a:p>
            <a:r>
              <a:rPr lang="en-AU" dirty="0" smtClean="0"/>
              <a:t>describe </a:t>
            </a:r>
            <a:r>
              <a:rPr lang="en-AU" dirty="0"/>
              <a:t>different profiling techniques </a:t>
            </a:r>
          </a:p>
          <a:p>
            <a:r>
              <a:rPr lang="en-AU" dirty="0" smtClean="0"/>
              <a:t>discuss </a:t>
            </a:r>
            <a:r>
              <a:rPr lang="en-AU" dirty="0"/>
              <a:t>ethical and social issues surrounding genetic counselling and genetic profiling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3481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normAutofit/>
          </a:bodyPr>
          <a:lstStyle/>
          <a:p>
            <a:r>
              <a:rPr lang="en-AU" sz="3200" b="1" dirty="0"/>
              <a:t>Genetic counselling</a:t>
            </a:r>
            <a:r>
              <a:rPr lang="en-AU" sz="3200" dirty="0"/>
              <a:t>: advice regarding the risks of genetic disorders in future children </a:t>
            </a:r>
            <a:endParaRPr lang="en-AU" sz="3200" dirty="0" smtClean="0"/>
          </a:p>
          <a:p>
            <a:endParaRPr lang="en-AU" sz="3200" dirty="0"/>
          </a:p>
          <a:p>
            <a:endParaRPr lang="en-AU" sz="3200" dirty="0"/>
          </a:p>
          <a:p>
            <a:r>
              <a:rPr lang="en-AU" sz="3200" b="1" dirty="0"/>
              <a:t>Electrophoresis</a:t>
            </a:r>
            <a:r>
              <a:rPr lang="en-AU" sz="3200" dirty="0"/>
              <a:t>: a technique used to reveal DNA profiles in a banded pattern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96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Awareness </a:t>
            </a:r>
            <a:endParaRPr lang="en-AU" sz="6000" b="1" dirty="0"/>
          </a:p>
        </p:txBody>
      </p:sp>
      <p:sp>
        <p:nvSpPr>
          <p:cNvPr id="3" name="Content Placeholder 2"/>
          <p:cNvSpPr>
            <a:spLocks noGrp="1"/>
          </p:cNvSpPr>
          <p:nvPr>
            <p:ph idx="1"/>
          </p:nvPr>
        </p:nvSpPr>
        <p:spPr/>
        <p:txBody>
          <a:bodyPr>
            <a:normAutofit/>
          </a:bodyPr>
          <a:lstStyle/>
          <a:p>
            <a:r>
              <a:rPr lang="en-AU" sz="3200" dirty="0" smtClean="0"/>
              <a:t>During pregnancy, most women take special care of their health and avoid alcohol, cigarettes and other drugs. </a:t>
            </a:r>
          </a:p>
          <a:p>
            <a:endParaRPr lang="en-AU" sz="3200" dirty="0"/>
          </a:p>
          <a:p>
            <a:r>
              <a:rPr lang="en-AU" sz="3200" dirty="0" smtClean="0"/>
              <a:t>This is done to produce a baby without any defects.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503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Defects </a:t>
            </a:r>
            <a:endParaRPr lang="en-AU" sz="6000" b="1" dirty="0"/>
          </a:p>
        </p:txBody>
      </p:sp>
      <p:sp>
        <p:nvSpPr>
          <p:cNvPr id="3" name="Content Placeholder 2"/>
          <p:cNvSpPr>
            <a:spLocks noGrp="1"/>
          </p:cNvSpPr>
          <p:nvPr>
            <p:ph idx="1"/>
          </p:nvPr>
        </p:nvSpPr>
        <p:spPr/>
        <p:txBody>
          <a:bodyPr>
            <a:normAutofit/>
          </a:bodyPr>
          <a:lstStyle/>
          <a:p>
            <a:r>
              <a:rPr lang="en-AU" sz="3200" dirty="0" smtClean="0"/>
              <a:t>One partner or both, may have or carry genetic defects that can be passed to the baby. </a:t>
            </a:r>
          </a:p>
          <a:p>
            <a:endParaRPr lang="en-AU" sz="3200" dirty="0"/>
          </a:p>
          <a:p>
            <a:r>
              <a:rPr lang="en-AU" sz="3200" dirty="0" smtClean="0"/>
              <a:t>Genetic counselling is a form of advice given from examining a disorder in the family tree. This gives the family information on the likelihood </a:t>
            </a:r>
            <a:r>
              <a:rPr lang="en-AU" sz="3200" dirty="0" smtClean="0"/>
              <a:t>of inheriting a disease.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4798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Profiling Techniques </a:t>
            </a:r>
            <a:endParaRPr lang="en-AU" sz="6000" b="1" dirty="0"/>
          </a:p>
        </p:txBody>
      </p:sp>
      <p:sp>
        <p:nvSpPr>
          <p:cNvPr id="3" name="Content Placeholder 2"/>
          <p:cNvSpPr>
            <a:spLocks noGrp="1"/>
          </p:cNvSpPr>
          <p:nvPr>
            <p:ph idx="1"/>
          </p:nvPr>
        </p:nvSpPr>
        <p:spPr/>
        <p:txBody>
          <a:bodyPr>
            <a:normAutofit/>
          </a:bodyPr>
          <a:lstStyle/>
          <a:p>
            <a:r>
              <a:rPr lang="en-AU" sz="3200" dirty="0" smtClean="0"/>
              <a:t>Advances in biotechnology have resulted in the development of techniques to identify the genetic make-up of individuals. </a:t>
            </a:r>
          </a:p>
          <a:p>
            <a:endParaRPr lang="en-AU" sz="3200" dirty="0"/>
          </a:p>
          <a:p>
            <a:r>
              <a:rPr lang="en-AU" sz="3200" dirty="0" smtClean="0"/>
              <a:t>This enables people to have a better understanding of the chances of having an affected baby.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9172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Electrophoresis</a:t>
            </a:r>
            <a:endParaRPr lang="en-AU" sz="6000" b="1" dirty="0"/>
          </a:p>
        </p:txBody>
      </p:sp>
      <p:sp>
        <p:nvSpPr>
          <p:cNvPr id="3" name="Content Placeholder 2"/>
          <p:cNvSpPr>
            <a:spLocks noGrp="1"/>
          </p:cNvSpPr>
          <p:nvPr>
            <p:ph idx="1"/>
          </p:nvPr>
        </p:nvSpPr>
        <p:spPr>
          <a:xfrm>
            <a:off x="297025" y="1396417"/>
            <a:ext cx="8287138" cy="5116350"/>
          </a:xfrm>
        </p:spPr>
        <p:txBody>
          <a:bodyPr>
            <a:normAutofit/>
          </a:bodyPr>
          <a:lstStyle/>
          <a:p>
            <a:r>
              <a:rPr lang="en-AU" sz="3200" dirty="0" smtClean="0"/>
              <a:t>DNA pieces are placed on a bed semi-solid gel and an electric current is passed through the gel via electrodes located at each end. </a:t>
            </a:r>
          </a:p>
          <a:p>
            <a:endParaRPr lang="en-AU" sz="3200" dirty="0"/>
          </a:p>
          <a:p>
            <a:r>
              <a:rPr lang="en-AU" sz="3200" dirty="0" smtClean="0"/>
              <a:t>The DNA, which is negatively charged, moves through the gel towards the positive electrode. The smaller DNA pieces move faster than the larger ones, resulting in band of patterns. This is a DNA profile.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Gel Electrophoresis and DNA Fingerprinting – MHCC Biology 112: Biology for  Health Profess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1577" y="103871"/>
            <a:ext cx="3571725" cy="405758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garose Images – Browse 481 Stock Photos, Vectors, and Video | Adobe Stock"/>
          <p:cNvPicPr>
            <a:picLocks noChangeAspect="1" noChangeArrowheads="1"/>
          </p:cNvPicPr>
          <p:nvPr/>
        </p:nvPicPr>
        <p:blipFill rotWithShape="1">
          <a:blip r:embed="rId3">
            <a:extLst>
              <a:ext uri="{28A0092B-C50C-407E-A947-70E740481C1C}">
                <a14:useLocalDpi xmlns:a14="http://schemas.microsoft.com/office/drawing/2010/main" val="0"/>
              </a:ext>
            </a:extLst>
          </a:blip>
          <a:srcRect l="18547" t="15900" r="10483" b="12807"/>
          <a:stretch/>
        </p:blipFill>
        <p:spPr bwMode="auto">
          <a:xfrm>
            <a:off x="8285584" y="4451725"/>
            <a:ext cx="3857896" cy="23726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4252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DNA profiles </a:t>
            </a:r>
            <a:endParaRPr lang="en-AU" sz="6000" b="1" dirty="0"/>
          </a:p>
        </p:txBody>
      </p:sp>
      <p:sp>
        <p:nvSpPr>
          <p:cNvPr id="3" name="Content Placeholder 2"/>
          <p:cNvSpPr>
            <a:spLocks noGrp="1"/>
          </p:cNvSpPr>
          <p:nvPr>
            <p:ph idx="1"/>
          </p:nvPr>
        </p:nvSpPr>
        <p:spPr/>
        <p:txBody>
          <a:bodyPr>
            <a:normAutofit/>
          </a:bodyPr>
          <a:lstStyle/>
          <a:p>
            <a:r>
              <a:rPr lang="en-AU" sz="3200" dirty="0" smtClean="0"/>
              <a:t>DNA profiles or fingerprints are frequently used in tracing ancestry (tracing/identifying parents and grandparents) and forensic science. They are also helpful for genetic counselling, in the identification of carriers for hereditary diseases such as cystic fibrosis or Huntington’s disease.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2214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Markers </a:t>
            </a:r>
            <a:endParaRPr lang="en-AU" sz="6000" b="1" dirty="0"/>
          </a:p>
        </p:txBody>
      </p:sp>
      <p:sp>
        <p:nvSpPr>
          <p:cNvPr id="3" name="Content Placeholder 2"/>
          <p:cNvSpPr>
            <a:spLocks noGrp="1"/>
          </p:cNvSpPr>
          <p:nvPr>
            <p:ph idx="1"/>
          </p:nvPr>
        </p:nvSpPr>
        <p:spPr/>
        <p:txBody>
          <a:bodyPr>
            <a:normAutofit/>
          </a:bodyPr>
          <a:lstStyle/>
          <a:p>
            <a:r>
              <a:rPr lang="en-AU" sz="3200" dirty="0" smtClean="0"/>
              <a:t>When comparing DNA profiles, scientists use markers. </a:t>
            </a:r>
          </a:p>
          <a:p>
            <a:endParaRPr lang="en-AU" sz="3200" dirty="0"/>
          </a:p>
          <a:p>
            <a:r>
              <a:rPr lang="en-AU" sz="3200" dirty="0" smtClean="0"/>
              <a:t>A marker is a segment of DNA with known characteristics. </a:t>
            </a:r>
          </a:p>
          <a:p>
            <a:endParaRPr lang="en-AU" sz="3200" dirty="0"/>
          </a:p>
          <a:p>
            <a:r>
              <a:rPr lang="en-AU" sz="3200" dirty="0" smtClean="0"/>
              <a:t>The more markers that match, the more likely is that the two individuals are related.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4154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Ethical and Social Issues </a:t>
            </a:r>
            <a:endParaRPr lang="en-AU" sz="6000" b="1" dirty="0"/>
          </a:p>
        </p:txBody>
      </p:sp>
      <p:sp>
        <p:nvSpPr>
          <p:cNvPr id="3" name="Content Placeholder 2"/>
          <p:cNvSpPr>
            <a:spLocks noGrp="1"/>
          </p:cNvSpPr>
          <p:nvPr>
            <p:ph idx="1"/>
          </p:nvPr>
        </p:nvSpPr>
        <p:spPr/>
        <p:txBody>
          <a:bodyPr>
            <a:normAutofit/>
          </a:bodyPr>
          <a:lstStyle/>
          <a:p>
            <a:r>
              <a:rPr lang="en-AU" sz="3200" dirty="0" smtClean="0"/>
              <a:t>Genetic profiling and its applications raise many ethical and social issues. </a:t>
            </a:r>
          </a:p>
          <a:p>
            <a:pPr lvl="1"/>
            <a:r>
              <a:rPr lang="en-AU" sz="2800" dirty="0" smtClean="0"/>
              <a:t>If genomic data is saved for individuals, who is responsible for holding this data? Who is allowed access? What happens if the data is stolen </a:t>
            </a:r>
            <a:r>
              <a:rPr lang="en-AU" sz="2800" dirty="0" smtClean="0"/>
              <a:t>or misused?</a:t>
            </a:r>
          </a:p>
          <a:p>
            <a:pPr lvl="1"/>
            <a:r>
              <a:rPr lang="en-AU" sz="2800" dirty="0" smtClean="0"/>
              <a:t>The use of DNA profiling in determining parentage and ancestry requires voluntary DNA samples, but there are cases of samples being obtained without consent. </a:t>
            </a:r>
          </a:p>
          <a:p>
            <a:pPr lvl="1"/>
            <a:r>
              <a:rPr lang="en-AU" sz="2800" dirty="0" smtClean="0"/>
              <a:t>Government ordered samples (police/court cases) have led to samples being ordered through the law. </a:t>
            </a:r>
            <a:endParaRPr lang="en-AU" sz="28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4396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Recall Knowledge </a:t>
            </a:r>
            <a:endParaRPr lang="en-AU" sz="6000" b="1"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AU" sz="3200" dirty="0" smtClean="0"/>
              <a:t>How are DNA profiles determined?</a:t>
            </a:r>
          </a:p>
          <a:p>
            <a:pPr marL="514350" indent="-514350">
              <a:buFont typeface="+mj-lt"/>
              <a:buAutoNum type="arabicPeriod"/>
            </a:pPr>
            <a:r>
              <a:rPr lang="en-AU" sz="3200" dirty="0" smtClean="0"/>
              <a:t>Explain why some couples choose to seek genetic counselling. </a:t>
            </a:r>
            <a:endParaRPr lang="en-AU" sz="3200" dirty="0" smtClean="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3510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9854"/>
            <a:ext cx="10515600" cy="1325563"/>
          </a:xfrm>
        </p:spPr>
        <p:txBody>
          <a:bodyPr>
            <a:normAutofit/>
          </a:bodyPr>
          <a:lstStyle/>
          <a:p>
            <a:r>
              <a:rPr lang="en-AU" sz="6000" b="1" dirty="0" smtClean="0"/>
              <a:t>Apply Knowledge </a:t>
            </a:r>
            <a:endParaRPr lang="en-AU" sz="6000" b="1" dirty="0"/>
          </a:p>
        </p:txBody>
      </p:sp>
      <p:pic>
        <p:nvPicPr>
          <p:cNvPr id="5" name="Content Placeholder 4"/>
          <p:cNvPicPr>
            <a:picLocks noGrp="1" noChangeAspect="1"/>
          </p:cNvPicPr>
          <p:nvPr>
            <p:ph idx="1"/>
          </p:nvPr>
        </p:nvPicPr>
        <p:blipFill>
          <a:blip r:embed="rId2"/>
          <a:stretch>
            <a:fillRect/>
          </a:stretch>
        </p:blipFill>
        <p:spPr>
          <a:xfrm>
            <a:off x="838200" y="1255508"/>
            <a:ext cx="7466045" cy="5432134"/>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579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Homewor</a:t>
            </a:r>
            <a:r>
              <a:rPr lang="en-AU" sz="6000" b="1" dirty="0"/>
              <a:t>k</a:t>
            </a:r>
          </a:p>
        </p:txBody>
      </p:sp>
      <p:sp>
        <p:nvSpPr>
          <p:cNvPr id="3" name="Content Placeholder 2"/>
          <p:cNvSpPr>
            <a:spLocks noGrp="1"/>
          </p:cNvSpPr>
          <p:nvPr>
            <p:ph idx="1"/>
          </p:nvPr>
        </p:nvSpPr>
        <p:spPr/>
        <p:txBody>
          <a:bodyPr/>
          <a:lstStyle/>
          <a:p>
            <a:r>
              <a:rPr lang="en-AU" dirty="0" smtClean="0"/>
              <a:t>None </a:t>
            </a:r>
            <a:r>
              <a:rPr lang="en-AU" dirty="0" smtClean="0">
                <a:sym typeface="Wingdings" panose="05000000000000000000" pitchFamily="2" charset="2"/>
              </a:rPr>
              <a:t>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4552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smtClean="0"/>
              <a:t>Reading</a:t>
            </a:r>
            <a:r>
              <a:rPr lang="en-AU" dirty="0" smtClean="0"/>
              <a:t> </a:t>
            </a:r>
            <a:endParaRPr lang="en-AU" dirty="0"/>
          </a:p>
        </p:txBody>
      </p:sp>
      <p:sp>
        <p:nvSpPr>
          <p:cNvPr id="3" name="Content Placeholder 2"/>
          <p:cNvSpPr>
            <a:spLocks noGrp="1"/>
          </p:cNvSpPr>
          <p:nvPr>
            <p:ph idx="1"/>
          </p:nvPr>
        </p:nvSpPr>
        <p:spPr/>
        <p:txBody>
          <a:bodyPr>
            <a:normAutofit/>
          </a:bodyPr>
          <a:lstStyle/>
          <a:p>
            <a:r>
              <a:rPr lang="en-AU" sz="3200" dirty="0" smtClean="0"/>
              <a:t>Pages </a:t>
            </a:r>
            <a:r>
              <a:rPr lang="en-AU" sz="3200" dirty="0" smtClean="0"/>
              <a:t>406 - 409: Genetic Counselling </a:t>
            </a:r>
            <a:endParaRPr lang="en-AU" sz="3200" dirty="0" smtClean="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5014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TotalTime>
  <Words>564</Words>
  <Application>Microsoft Office PowerPoint</Application>
  <PresentationFormat>Widescreen</PresentationFormat>
  <Paragraphs>57</Paragraphs>
  <Slides>16</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Arial</vt:lpstr>
      <vt:lpstr>Calibri</vt:lpstr>
      <vt:lpstr>Calibri Light</vt:lpstr>
      <vt:lpstr>Wingdings</vt:lpstr>
      <vt:lpstr>Office Theme</vt:lpstr>
      <vt:lpstr>1_Office Theme</vt:lpstr>
      <vt:lpstr>Genetic Counselling </vt:lpstr>
      <vt:lpstr>SCSA Syllabus Reference </vt:lpstr>
      <vt:lpstr>Lesson Intention </vt:lpstr>
      <vt:lpstr>Success Criteria </vt:lpstr>
      <vt:lpstr>Vocabulary </vt:lpstr>
      <vt:lpstr>Awareness </vt:lpstr>
      <vt:lpstr>Defects </vt:lpstr>
      <vt:lpstr>Profiling Techniques </vt:lpstr>
      <vt:lpstr>Electrophoresis</vt:lpstr>
      <vt:lpstr>DNA profiles </vt:lpstr>
      <vt:lpstr>Markers </vt:lpstr>
      <vt:lpstr>Ethical and Social Issues </vt:lpstr>
      <vt:lpstr>Recall Knowledge </vt:lpstr>
      <vt:lpstr>Apply Knowledge </vt:lpstr>
      <vt:lpstr>Homework</vt:lpstr>
      <vt:lpstr>Reading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DOOMEN Lisa [Gilmore College]</dc:creator>
  <cp:lastModifiedBy>DOOMEN Lisa [Gilmore College]</cp:lastModifiedBy>
  <cp:revision>12</cp:revision>
  <dcterms:created xsi:type="dcterms:W3CDTF">2021-12-16T00:48:44Z</dcterms:created>
  <dcterms:modified xsi:type="dcterms:W3CDTF">2022-10-13T04:29:05Z</dcterms:modified>
</cp:coreProperties>
</file>
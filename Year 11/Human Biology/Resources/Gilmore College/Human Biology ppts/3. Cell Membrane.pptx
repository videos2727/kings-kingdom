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63" r:id="rId21"/>
    <p:sldId id="264" r:id="rId22"/>
    <p:sldId id="265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6983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2497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0930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7289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2155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0661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7650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5789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3992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806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5187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0638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02305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7392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9351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8456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75329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48839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61088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66055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41002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913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F4103-AC13-4E81-8F4A-7126A09DB8C9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8694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BC541-E1E4-46F0-B6E0-A9FD71F2F171}" type="datetimeFigureOut">
              <a:rPr lang="en-AU" smtClean="0"/>
              <a:t>10/01/2022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97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sz="8000" b="1" dirty="0" smtClean="0"/>
              <a:t>Cell Membrane </a:t>
            </a:r>
            <a:endParaRPr lang="en-AU" sz="8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Year 11 Human Biology </a:t>
            </a:r>
          </a:p>
          <a:p>
            <a:r>
              <a:rPr lang="en-AU" dirty="0" smtClean="0"/>
              <a:t>ATAR </a:t>
            </a:r>
          </a:p>
          <a:p>
            <a:r>
              <a:rPr lang="en-AU" smtClean="0"/>
              <a:t>PowerPoint </a:t>
            </a:r>
            <a:r>
              <a:rPr lang="en-AU" smtClean="0"/>
              <a:t>#3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492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SCSA Syllabus Reference </a:t>
            </a:r>
            <a:endParaRPr lang="en-AU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The cell membrane separates the cell from its surroundings with a structure, described by the fluid mosaic model, which allows for the movement of materials into and out of the cell by diffusion, facilitated diffusion, osmosis, active transport and vesicular transport (endocytosis/exocytosis)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9133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Lesson Intention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 explore the structure and function of the cell membrane </a:t>
            </a:r>
            <a:endParaRPr lang="en-AU" dirty="0" smtClean="0"/>
          </a:p>
          <a:p>
            <a:r>
              <a:rPr lang="en-AU" dirty="0"/>
              <a:t>To describe how transport occurs across the cell membrane 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3027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669"/>
            <a:ext cx="10515600" cy="1325563"/>
          </a:xfrm>
        </p:spPr>
        <p:txBody>
          <a:bodyPr>
            <a:normAutofit/>
          </a:bodyPr>
          <a:lstStyle/>
          <a:p>
            <a:r>
              <a:rPr lang="en-AU" sz="6000" b="1" dirty="0" smtClean="0"/>
              <a:t>Success Criteria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702" y="1395231"/>
            <a:ext cx="11569263" cy="5242051"/>
          </a:xfrm>
        </p:spPr>
        <p:txBody>
          <a:bodyPr/>
          <a:lstStyle/>
          <a:p>
            <a:r>
              <a:rPr lang="en-AU" dirty="0" smtClean="0"/>
              <a:t>describe </a:t>
            </a:r>
            <a:r>
              <a:rPr lang="en-AU" dirty="0"/>
              <a:t>the structure of the cell membrane </a:t>
            </a:r>
          </a:p>
          <a:p>
            <a:r>
              <a:rPr lang="en-AU" dirty="0" smtClean="0"/>
              <a:t>describe </a:t>
            </a:r>
            <a:r>
              <a:rPr lang="en-AU" dirty="0"/>
              <a:t>the functions of the cell membrane </a:t>
            </a:r>
          </a:p>
          <a:p>
            <a:r>
              <a:rPr lang="en-AU" dirty="0" smtClean="0"/>
              <a:t>distinguish </a:t>
            </a:r>
            <a:r>
              <a:rPr lang="en-AU" dirty="0"/>
              <a:t>between hydrophilic (head) and hydrophobic (tail) parts in a phospholipid molecule </a:t>
            </a:r>
          </a:p>
          <a:p>
            <a:r>
              <a:rPr lang="en-AU" dirty="0" smtClean="0"/>
              <a:t>draw </a:t>
            </a:r>
            <a:r>
              <a:rPr lang="en-AU" dirty="0"/>
              <a:t>a labelled diagram of the cell membrane showing the phospholipid bilayer, channel proteins, carrier proteins and cell- identity markers. </a:t>
            </a:r>
            <a:endParaRPr lang="en-AU" dirty="0" smtClean="0"/>
          </a:p>
          <a:p>
            <a:r>
              <a:rPr lang="en-AU" dirty="0" smtClean="0"/>
              <a:t>describe </a:t>
            </a:r>
            <a:r>
              <a:rPr lang="en-AU" dirty="0"/>
              <a:t>the process of passive transport </a:t>
            </a:r>
          </a:p>
          <a:p>
            <a:r>
              <a:rPr lang="en-AU" dirty="0" smtClean="0"/>
              <a:t>describe </a:t>
            </a:r>
            <a:r>
              <a:rPr lang="en-AU" dirty="0"/>
              <a:t>the process of active transport </a:t>
            </a:r>
          </a:p>
          <a:p>
            <a:r>
              <a:rPr lang="en-AU" dirty="0" smtClean="0"/>
              <a:t>describe </a:t>
            </a:r>
            <a:r>
              <a:rPr lang="en-AU" dirty="0"/>
              <a:t>the process of diffusion </a:t>
            </a:r>
          </a:p>
          <a:p>
            <a:r>
              <a:rPr lang="en-AU" dirty="0" smtClean="0"/>
              <a:t>describe </a:t>
            </a:r>
            <a:r>
              <a:rPr lang="en-AU" dirty="0"/>
              <a:t>the process of osmosis 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3481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Vocabulary </a:t>
            </a:r>
            <a:endParaRPr lang="en-AU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421" y="1557611"/>
            <a:ext cx="11238186" cy="500084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Homeostasis</a:t>
            </a:r>
            <a:r>
              <a:rPr lang="en-AU" dirty="0"/>
              <a:t>: the maintenance of a relatively constant internal environment despite fluctuations in the external environment.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Fluid mosaic model</a:t>
            </a:r>
            <a:r>
              <a:rPr lang="en-AU" dirty="0"/>
              <a:t>: the currently accepted model of cell membrane structure</a:t>
            </a:r>
            <a:r>
              <a:rPr lang="en-AU" dirty="0" smtClean="0"/>
              <a:t>.</a:t>
            </a:r>
            <a:endParaRPr lang="en-AU" sz="2000" dirty="0"/>
          </a:p>
          <a:p>
            <a:pPr>
              <a:lnSpc>
                <a:spcPct val="150000"/>
              </a:lnSpc>
            </a:pPr>
            <a:r>
              <a:rPr lang="en-AU" b="1" dirty="0"/>
              <a:t>Phospholipid</a:t>
            </a:r>
            <a:r>
              <a:rPr lang="en-AU" dirty="0"/>
              <a:t>: a lipid molecule that contains a phosphate group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Hydrophilic</a:t>
            </a:r>
            <a:r>
              <a:rPr lang="en-AU" dirty="0"/>
              <a:t>: water loving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Hydrophobic</a:t>
            </a:r>
            <a:r>
              <a:rPr lang="en-AU" dirty="0"/>
              <a:t>: water hating 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196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" y="825916"/>
            <a:ext cx="11905068" cy="5966769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Channel proteins</a:t>
            </a:r>
            <a:r>
              <a:rPr lang="en-AU" dirty="0"/>
              <a:t>: a protein that allows ions, water and small molecules to pass through the cell membrane.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Carrier proteins</a:t>
            </a:r>
            <a:r>
              <a:rPr lang="en-AU" dirty="0"/>
              <a:t>: a protein that carries substances from one side of the cell membrane to the other.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Cell-identity markers</a:t>
            </a:r>
            <a:r>
              <a:rPr lang="en-AU" dirty="0"/>
              <a:t>: help identify and classify cells. </a:t>
            </a:r>
            <a:endParaRPr lang="en-AU" dirty="0" smtClean="0"/>
          </a:p>
          <a:p>
            <a:pPr>
              <a:lnSpc>
                <a:spcPct val="150000"/>
              </a:lnSpc>
            </a:pPr>
            <a:r>
              <a:rPr lang="en-AU" b="1" dirty="0"/>
              <a:t>Differentially permeable membrane</a:t>
            </a:r>
            <a:r>
              <a:rPr lang="en-AU" dirty="0"/>
              <a:t>: membrane that permits the passage of certain substances (usually small molecules) but restricts the passage of others (large molecules); also called a semipermeable, partially permeable or selectively permeable membrane. 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16428" y="69669"/>
            <a:ext cx="10515600" cy="970855"/>
          </a:xfrm>
        </p:spPr>
        <p:txBody>
          <a:bodyPr>
            <a:normAutofit/>
          </a:bodyPr>
          <a:lstStyle/>
          <a:p>
            <a:r>
              <a:rPr lang="en-AU" sz="6000" b="1" dirty="0"/>
              <a:t>Vocabulary </a:t>
            </a:r>
            <a:endParaRPr lang="en-AU" sz="6000" dirty="0"/>
          </a:p>
        </p:txBody>
      </p:sp>
    </p:spTree>
    <p:extLst>
      <p:ext uri="{BB962C8B-B14F-4D97-AF65-F5344CB8AC3E}">
        <p14:creationId xmlns:p14="http://schemas.microsoft.com/office/powerpoint/2010/main" val="307503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109" y="1255507"/>
            <a:ext cx="11695387" cy="5366009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AU" b="1" dirty="0"/>
              <a:t>Passive transport</a:t>
            </a:r>
            <a:r>
              <a:rPr lang="en-AU" dirty="0"/>
              <a:t>: the transport of substances across a cell membrane without the input of energy </a:t>
            </a:r>
          </a:p>
          <a:p>
            <a:pPr>
              <a:lnSpc>
                <a:spcPct val="120000"/>
              </a:lnSpc>
            </a:pPr>
            <a:r>
              <a:rPr lang="en-AU" b="1" dirty="0"/>
              <a:t>Active transport</a:t>
            </a:r>
            <a:r>
              <a:rPr lang="en-AU" dirty="0"/>
              <a:t>: the use of energy to move substances, usually ions, across a cell membrane against the concentration gradient. </a:t>
            </a:r>
          </a:p>
          <a:p>
            <a:pPr>
              <a:lnSpc>
                <a:spcPct val="120000"/>
              </a:lnSpc>
            </a:pPr>
            <a:r>
              <a:rPr lang="en-AU" b="1" dirty="0"/>
              <a:t>Diffusion</a:t>
            </a:r>
            <a:r>
              <a:rPr lang="en-AU" dirty="0"/>
              <a:t>: the movement of particles of a fluid so that they are distributed evenly over the available pace; usually taken to mean the net movement of ions or molecules from a higher to a lower concentration until they are evenly distributed. </a:t>
            </a:r>
          </a:p>
          <a:p>
            <a:pPr>
              <a:lnSpc>
                <a:spcPct val="120000"/>
              </a:lnSpc>
            </a:pPr>
            <a:r>
              <a:rPr lang="en-AU" b="1" dirty="0"/>
              <a:t>Osmosis</a:t>
            </a:r>
            <a:r>
              <a:rPr lang="en-AU" dirty="0"/>
              <a:t>: the movement of water molecules from high to low concentrated areas.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9110" y="69669"/>
            <a:ext cx="10515600" cy="1325563"/>
          </a:xfrm>
        </p:spPr>
        <p:txBody>
          <a:bodyPr>
            <a:normAutofit/>
          </a:bodyPr>
          <a:lstStyle/>
          <a:p>
            <a:r>
              <a:rPr lang="en-AU" sz="6000" b="1" dirty="0"/>
              <a:t>Vocabulary </a:t>
            </a:r>
            <a:endParaRPr lang="en-AU" sz="6000" dirty="0"/>
          </a:p>
        </p:txBody>
      </p:sp>
    </p:spTree>
    <p:extLst>
      <p:ext uri="{BB962C8B-B14F-4D97-AF65-F5344CB8AC3E}">
        <p14:creationId xmlns:p14="http://schemas.microsoft.com/office/powerpoint/2010/main" val="2503926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Homeostasis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Body systems work together to ensure that the cellular environment remains stable/kept constant. </a:t>
            </a:r>
          </a:p>
          <a:p>
            <a:r>
              <a:rPr lang="en-AU" dirty="0" smtClean="0"/>
              <a:t>This is called homeostasis. </a:t>
            </a:r>
          </a:p>
          <a:p>
            <a:r>
              <a:rPr lang="en-AU" dirty="0" smtClean="0"/>
              <a:t>The cells are maintained at a constant temperature, surrounded by fluids with a constant concentration. </a:t>
            </a:r>
          </a:p>
          <a:p>
            <a:r>
              <a:rPr lang="en-AU" dirty="0" smtClean="0"/>
              <a:t>To carry out their function cell need to take in and remove certain substances.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0701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Structure of the Cell Membrane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 details of the cell membrane are too small to be seen, even with an electron microscope. </a:t>
            </a:r>
          </a:p>
          <a:p>
            <a:endParaRPr lang="en-AU" dirty="0" smtClean="0"/>
          </a:p>
          <a:p>
            <a:r>
              <a:rPr lang="en-AU" dirty="0" smtClean="0"/>
              <a:t>Models have been proposed to account for the behaviour and composition of the cell membrane. </a:t>
            </a:r>
          </a:p>
          <a:p>
            <a:endParaRPr lang="en-AU" dirty="0" smtClean="0"/>
          </a:p>
          <a:p>
            <a:r>
              <a:rPr lang="en-AU" dirty="0" smtClean="0"/>
              <a:t>The currently accepted model for cell membrane structure is called the fluid mosaic model.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3970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Structure of the Cell </a:t>
            </a:r>
            <a:r>
              <a:rPr lang="en-AU" sz="6000" b="1" dirty="0" smtClean="0"/>
              <a:t>Membrane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 main structure of the membrane is composed of phospholipid molecules, which are lipid molecules containing a phosphate group. </a:t>
            </a:r>
          </a:p>
          <a:p>
            <a:endParaRPr lang="en-AU" dirty="0" smtClean="0"/>
          </a:p>
          <a:p>
            <a:r>
              <a:rPr lang="en-AU" dirty="0" smtClean="0"/>
              <a:t>The phospholipids are arranged in two layers (bilayer) </a:t>
            </a:r>
          </a:p>
          <a:p>
            <a:endParaRPr lang="en-AU" dirty="0" smtClean="0"/>
          </a:p>
          <a:p>
            <a:r>
              <a:rPr lang="en-AU" dirty="0" smtClean="0"/>
              <a:t>Each phospholipid molecule has a head that is hydrophilic (water-loving) and a tail that is hydrophobic (water-hating).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1963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20" y="201658"/>
            <a:ext cx="9246298" cy="6459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96660" y="3061845"/>
            <a:ext cx="2029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Draw this </a:t>
            </a:r>
            <a:r>
              <a:rPr lang="en-AU" dirty="0" smtClean="0">
                <a:sym typeface="Wingdings" panose="05000000000000000000" pitchFamily="2" charset="2"/>
              </a:rPr>
              <a:t>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72832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Structure of the Cell </a:t>
            </a:r>
            <a:r>
              <a:rPr lang="en-AU" sz="6000" b="1" dirty="0" smtClean="0"/>
              <a:t>Membrane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4662"/>
            <a:ext cx="10515600" cy="4742301"/>
          </a:xfrm>
        </p:spPr>
        <p:txBody>
          <a:bodyPr/>
          <a:lstStyle/>
          <a:p>
            <a:r>
              <a:rPr lang="en-AU" dirty="0" smtClean="0"/>
              <a:t>The phospholipids are arranged in two layers with their heads on the outside and tails on the inside. </a:t>
            </a:r>
          </a:p>
          <a:p>
            <a:endParaRPr lang="en-AU" dirty="0" smtClean="0"/>
          </a:p>
          <a:p>
            <a:r>
              <a:rPr lang="en-AU" dirty="0" smtClean="0"/>
              <a:t>Embedded in the phospholipid bilayer are cholesterol and protein molecules. These molecules are important for the function integrity and stability of the membrane. </a:t>
            </a:r>
          </a:p>
          <a:p>
            <a:endParaRPr lang="en-AU" dirty="0" smtClean="0"/>
          </a:p>
          <a:p>
            <a:r>
              <a:rPr lang="en-AU" dirty="0" smtClean="0"/>
              <a:t>Cell membranes have a variety of protein molecules, including receptor proteins, channel proteins, carrier proteins and cell identity markers.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1939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Function of the Cell Membrane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 cell membrane has 4 main functions </a:t>
            </a:r>
          </a:p>
          <a:p>
            <a:endParaRPr lang="en-AU" dirty="0"/>
          </a:p>
          <a:p>
            <a:pPr marL="514350" indent="-514350">
              <a:buFont typeface="+mj-lt"/>
              <a:buAutoNum type="arabicPeriod"/>
            </a:pPr>
            <a:r>
              <a:rPr lang="en-AU" dirty="0" smtClean="0"/>
              <a:t>It acts as a physical barrier between the inside and outside of the cell 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 smtClean="0"/>
              <a:t>It regulates the passage of materials 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 smtClean="0"/>
              <a:t>It is sensitive to changes e.g. receptors detect environmental changes 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 smtClean="0"/>
              <a:t>It helps support the cell e.g. the internal part of the cell membrane is attached to the cytoskeleton.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0849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Passive vs Active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Passive processes DO NOT use energy </a:t>
            </a:r>
          </a:p>
          <a:p>
            <a:r>
              <a:rPr lang="en-AU" dirty="0" smtClean="0"/>
              <a:t>Active processes USE the cell’s energy in the form of adenosine triphosphate (ATP). 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6710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Simple Diffusion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 smtClean="0"/>
              <a:t>Diffusion results in the movement of particles until they are evenly distributed over the space available. </a:t>
            </a:r>
          </a:p>
          <a:p>
            <a:endParaRPr lang="en-AU" dirty="0" smtClean="0"/>
          </a:p>
          <a:p>
            <a:r>
              <a:rPr lang="en-AU" dirty="0" smtClean="0"/>
              <a:t>It occurs in fluids. </a:t>
            </a:r>
          </a:p>
          <a:p>
            <a:endParaRPr lang="en-AU" dirty="0" smtClean="0"/>
          </a:p>
          <a:p>
            <a:r>
              <a:rPr lang="en-AU" dirty="0" smtClean="0"/>
              <a:t>Particles move from a higher concentration to a lower concentration until they are evenly distributed. </a:t>
            </a:r>
          </a:p>
          <a:p>
            <a:endParaRPr lang="en-AU" dirty="0"/>
          </a:p>
          <a:p>
            <a:r>
              <a:rPr lang="en-AU" dirty="0" smtClean="0"/>
              <a:t>E.g. oxygen, carbon dioxide, alcohol, steroids and other fat soluble substances move via diffusion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1772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239" y="863928"/>
            <a:ext cx="11531899" cy="51815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828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Osmosis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It is the diffusion of a solvent through a differentially permeable membrane in order to balance the concentration of another substance. </a:t>
            </a:r>
          </a:p>
          <a:p>
            <a:r>
              <a:rPr lang="en-AU" dirty="0" smtClean="0"/>
              <a:t>E.g. water</a:t>
            </a:r>
          </a:p>
          <a:p>
            <a:r>
              <a:rPr lang="en-AU" dirty="0" smtClean="0"/>
              <a:t>The higher level on one side of the membrane results from a pressure, known as osmotic pressure. The higher the concentration of the solute, the higher the osmotic pressure.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5091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1849" y="205031"/>
            <a:ext cx="8356813" cy="645229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8956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Recall Knowledge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 smtClean="0"/>
              <a:t>Using a labelled diagram, describe the process of diffusion </a:t>
            </a:r>
          </a:p>
          <a:p>
            <a:pPr marL="514350" indent="-514350">
              <a:buFont typeface="+mj-lt"/>
              <a:buAutoNum type="arabicPeriod"/>
            </a:pPr>
            <a:endParaRPr lang="en-AU" dirty="0" smtClean="0"/>
          </a:p>
          <a:p>
            <a:pPr marL="514350" indent="-514350">
              <a:buFont typeface="+mj-lt"/>
              <a:buAutoNum type="arabicPeriod"/>
            </a:pPr>
            <a:r>
              <a:rPr lang="en-AU" dirty="0" smtClean="0"/>
              <a:t>Explain the relevance of a concentration gradient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3510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Apply Knowledge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 smtClean="0"/>
              <a:t>Explain why a cell will expand when placed in a solution of a low concentration of a solute.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35796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Homewor</a:t>
            </a:r>
            <a:r>
              <a:rPr lang="en-AU" sz="6000" b="1" dirty="0"/>
              <a:t>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 smtClean="0"/>
              <a:t>Cells need to take in many substances to function correctly.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AU" dirty="0" smtClean="0"/>
              <a:t>List five substances that a cell needs to take in. 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AU" dirty="0" smtClean="0"/>
              <a:t>Briefly state why each of those substances are important for the cell.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4552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Reading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Pages 34- 37 (top half) : Transport across the Cell Membrane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9006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928</Words>
  <Application>Microsoft Office PowerPoint</Application>
  <PresentationFormat>Widescreen</PresentationFormat>
  <Paragraphs>92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Wingdings</vt:lpstr>
      <vt:lpstr>Office Theme</vt:lpstr>
      <vt:lpstr>1_Office Theme</vt:lpstr>
      <vt:lpstr>Cell Membrane </vt:lpstr>
      <vt:lpstr>SCSA Syllabus Reference </vt:lpstr>
      <vt:lpstr>Lesson Intention </vt:lpstr>
      <vt:lpstr>Success Criteria </vt:lpstr>
      <vt:lpstr>Vocabulary </vt:lpstr>
      <vt:lpstr>Vocabulary </vt:lpstr>
      <vt:lpstr>Vocabulary </vt:lpstr>
      <vt:lpstr>Homeostasis </vt:lpstr>
      <vt:lpstr>Structure of the Cell Membrane </vt:lpstr>
      <vt:lpstr>Structure of the Cell Membrane </vt:lpstr>
      <vt:lpstr>PowerPoint Presentation</vt:lpstr>
      <vt:lpstr>Structure of the Cell Membrane </vt:lpstr>
      <vt:lpstr>Function of the Cell Membrane </vt:lpstr>
      <vt:lpstr>Passive vs Active </vt:lpstr>
      <vt:lpstr>Simple Diffusion </vt:lpstr>
      <vt:lpstr>PowerPoint Presentation</vt:lpstr>
      <vt:lpstr>Osmosis </vt:lpstr>
      <vt:lpstr>PowerPoint Presentation</vt:lpstr>
      <vt:lpstr>Recall Knowledge </vt:lpstr>
      <vt:lpstr>Apply Knowledge </vt:lpstr>
      <vt:lpstr>Homework</vt:lpstr>
      <vt:lpstr>Reading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DOOMEN Lisa [Gilmore College]</dc:creator>
  <cp:lastModifiedBy>DOOMEN Lisa [Gilmore College]</cp:lastModifiedBy>
  <cp:revision>13</cp:revision>
  <dcterms:created xsi:type="dcterms:W3CDTF">2021-12-16T00:48:44Z</dcterms:created>
  <dcterms:modified xsi:type="dcterms:W3CDTF">2022-01-10T03:57:47Z</dcterms:modified>
</cp:coreProperties>
</file>
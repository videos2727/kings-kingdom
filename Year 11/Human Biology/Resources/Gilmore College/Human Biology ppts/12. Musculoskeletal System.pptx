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7" r:id="rId7"/>
    <p:sldId id="268" r:id="rId8"/>
    <p:sldId id="260" r:id="rId9"/>
    <p:sldId id="269" r:id="rId10"/>
    <p:sldId id="270" r:id="rId11"/>
    <p:sldId id="271" r:id="rId12"/>
    <p:sldId id="272" r:id="rId13"/>
    <p:sldId id="274" r:id="rId14"/>
    <p:sldId id="276" r:id="rId15"/>
    <p:sldId id="277" r:id="rId16"/>
    <p:sldId id="278" r:id="rId17"/>
    <p:sldId id="275" r:id="rId18"/>
    <p:sldId id="273" r:id="rId19"/>
    <p:sldId id="261" r:id="rId20"/>
    <p:sldId id="262" r:id="rId21"/>
    <p:sldId id="279" r:id="rId22"/>
    <p:sldId id="280" r:id="rId23"/>
    <p:sldId id="281" r:id="rId24"/>
    <p:sldId id="282" r:id="rId25"/>
    <p:sldId id="283" r:id="rId26"/>
    <p:sldId id="284" r:id="rId27"/>
    <p:sldId id="294" r:id="rId28"/>
    <p:sldId id="285" r:id="rId29"/>
    <p:sldId id="291" r:id="rId30"/>
    <p:sldId id="290" r:id="rId31"/>
    <p:sldId id="295" r:id="rId32"/>
    <p:sldId id="292" r:id="rId33"/>
    <p:sldId id="296" r:id="rId34"/>
    <p:sldId id="297" r:id="rId35"/>
    <p:sldId id="293" r:id="rId36"/>
    <p:sldId id="286" r:id="rId37"/>
    <p:sldId id="287" r:id="rId38"/>
    <p:sldId id="288" r:id="rId39"/>
    <p:sldId id="299" r:id="rId40"/>
    <p:sldId id="298"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9" r:id="rId57"/>
    <p:sldId id="289" r:id="rId58"/>
    <p:sldId id="315" r:id="rId59"/>
    <p:sldId id="316" r:id="rId60"/>
    <p:sldId id="317" r:id="rId61"/>
    <p:sldId id="318" r:id="rId62"/>
    <p:sldId id="320" r:id="rId63"/>
    <p:sldId id="321" r:id="rId64"/>
    <p:sldId id="322" r:id="rId65"/>
    <p:sldId id="323" r:id="rId66"/>
    <p:sldId id="325" r:id="rId67"/>
    <p:sldId id="326" r:id="rId68"/>
    <p:sldId id="327" r:id="rId69"/>
    <p:sldId id="329" r:id="rId70"/>
    <p:sldId id="330" r:id="rId71"/>
    <p:sldId id="331" r:id="rId72"/>
    <p:sldId id="328" r:id="rId73"/>
    <p:sldId id="324" r:id="rId74"/>
    <p:sldId id="332" r:id="rId75"/>
    <p:sldId id="263" r:id="rId76"/>
    <p:sldId id="264" r:id="rId77"/>
    <p:sldId id="265" r:id="rId78"/>
    <p:sldId id="266"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1/05/2023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1/05/2023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1/05/2023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1/05/2023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1/05/2023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1/05/2023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1/05/2023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1/05/2023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1/05/2023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1/05/2023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1/05/2023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1/05/2023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1/05/2023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1/05/2023</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1/05/2023</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Ktv-CaOt6UQ" TargetMode="External"/><Relationship Id="rId2" Type="http://schemas.openxmlformats.org/officeDocument/2006/relationships/hyperlink" Target="https://www.youtube.com/watch?v=U-yQywkad8E" TargetMode="Externa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24297" y="399550"/>
            <a:ext cx="9144000" cy="3202487"/>
          </a:xfrm>
        </p:spPr>
        <p:txBody>
          <a:bodyPr>
            <a:normAutofit/>
          </a:bodyPr>
          <a:lstStyle/>
          <a:p>
            <a:r>
              <a:rPr lang="en-AU" sz="9600" b="1" dirty="0"/>
              <a:t>Musculoskeletal System</a:t>
            </a:r>
          </a:p>
        </p:txBody>
      </p:sp>
      <p:sp>
        <p:nvSpPr>
          <p:cNvPr id="3" name="Subtitle 2"/>
          <p:cNvSpPr>
            <a:spLocks noGrp="1"/>
          </p:cNvSpPr>
          <p:nvPr>
            <p:ph type="subTitle" idx="1"/>
          </p:nvPr>
        </p:nvSpPr>
        <p:spPr/>
        <p:txBody>
          <a:bodyPr/>
          <a:lstStyle/>
          <a:p>
            <a:r>
              <a:rPr lang="en-AU" dirty="0"/>
              <a:t>Year 11 Human Biology </a:t>
            </a:r>
          </a:p>
          <a:p>
            <a:r>
              <a:rPr lang="en-AU" dirty="0"/>
              <a:t>ATAR </a:t>
            </a:r>
          </a:p>
          <a:p>
            <a:r>
              <a:rPr lang="en-AU" dirty="0"/>
              <a:t>PowerPoint #12</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a:xfrm>
            <a:off x="246529" y="1846728"/>
            <a:ext cx="11604812" cy="4679577"/>
          </a:xfrm>
        </p:spPr>
        <p:txBody>
          <a:bodyPr>
            <a:normAutofit/>
          </a:bodyPr>
          <a:lstStyle/>
          <a:p>
            <a:r>
              <a:rPr lang="en-AU" dirty="0"/>
              <a:t>the muscular system is organised to maintain posture and produce movement; muscle fibre contraction can be explained using the sliding filament theory</a:t>
            </a:r>
          </a:p>
          <a:p>
            <a:pPr lvl="0"/>
            <a:r>
              <a:rPr lang="en-AU" dirty="0"/>
              <a:t>movement results from the actions of paired muscles, with others acting as stabilisers, to produce the required movement</a:t>
            </a:r>
          </a:p>
          <a:p>
            <a:pPr lvl="0"/>
            <a:r>
              <a:rPr lang="en-AU" dirty="0"/>
              <a:t>the skeletal framework of the body consists of bone and cartilage which function to provide body support, protection and movement, and is facilitated by the structure and function at cell and tissue levels</a:t>
            </a:r>
          </a:p>
          <a:p>
            <a:pPr lvl="0"/>
            <a:r>
              <a:rPr lang="en-AU" dirty="0"/>
              <a:t>articulations of joints of the skeleton are classified according to their structure or the range of movements permitted</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Lesson Intention </a:t>
            </a:r>
          </a:p>
        </p:txBody>
      </p:sp>
      <p:sp>
        <p:nvSpPr>
          <p:cNvPr id="3" name="Content Placeholder 2"/>
          <p:cNvSpPr>
            <a:spLocks noGrp="1"/>
          </p:cNvSpPr>
          <p:nvPr>
            <p:ph idx="1"/>
          </p:nvPr>
        </p:nvSpPr>
        <p:spPr/>
        <p:txBody>
          <a:bodyPr/>
          <a:lstStyle/>
          <a:p>
            <a:r>
              <a:rPr lang="en-AU" dirty="0"/>
              <a:t>To explore the structure of skeletal muscle </a:t>
            </a:r>
          </a:p>
          <a:p>
            <a:r>
              <a:rPr lang="en-AU" dirty="0"/>
              <a:t>To explore the sliding filament theory </a:t>
            </a:r>
          </a:p>
          <a:p>
            <a:r>
              <a:rPr lang="en-AU" dirty="0"/>
              <a:t>To explore how skeletal muscles work together </a:t>
            </a:r>
          </a:p>
          <a:p>
            <a:r>
              <a:rPr lang="en-AU" dirty="0"/>
              <a:t>To explore the skeletal system </a:t>
            </a:r>
          </a:p>
          <a:p>
            <a:r>
              <a:rPr lang="en-AU" dirty="0"/>
              <a:t>To explore the structure of bone and cartilage </a:t>
            </a:r>
          </a:p>
          <a:p>
            <a:r>
              <a:rPr lang="en-AU" dirty="0"/>
              <a:t>To explore the movement of bones </a:t>
            </a:r>
          </a:p>
          <a:p>
            <a:r>
              <a:rPr lang="en-AU" dirty="0"/>
              <a:t>To explore the effects of ageing on the musculoskeletal system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Success Criteria </a:t>
            </a:r>
          </a:p>
        </p:txBody>
      </p:sp>
      <p:sp>
        <p:nvSpPr>
          <p:cNvPr id="3" name="Content Placeholder 2"/>
          <p:cNvSpPr>
            <a:spLocks noGrp="1"/>
          </p:cNvSpPr>
          <p:nvPr>
            <p:ph idx="1"/>
          </p:nvPr>
        </p:nvSpPr>
        <p:spPr/>
        <p:txBody>
          <a:bodyPr>
            <a:normAutofit lnSpcReduction="10000"/>
          </a:bodyPr>
          <a:lstStyle/>
          <a:p>
            <a:r>
              <a:rPr lang="en-AU" dirty="0"/>
              <a:t>recall the different types of muscles </a:t>
            </a:r>
          </a:p>
          <a:p>
            <a:r>
              <a:rPr lang="en-AU" dirty="0"/>
              <a:t>describe the structure of skeletal muscle </a:t>
            </a:r>
          </a:p>
          <a:p>
            <a:r>
              <a:rPr lang="en-AU" dirty="0"/>
              <a:t>describe the structure of skeletal muscle fibres </a:t>
            </a:r>
          </a:p>
          <a:p>
            <a:r>
              <a:rPr lang="en-AU" dirty="0"/>
              <a:t>describe the structure of myofibrils </a:t>
            </a:r>
          </a:p>
          <a:p>
            <a:r>
              <a:rPr lang="en-AU" dirty="0"/>
              <a:t>describe how muscles work </a:t>
            </a:r>
          </a:p>
          <a:p>
            <a:r>
              <a:rPr lang="en-AU" dirty="0"/>
              <a:t>explain the sliding filament theory </a:t>
            </a:r>
          </a:p>
          <a:p>
            <a:r>
              <a:rPr lang="en-AU" dirty="0"/>
              <a:t>construct a diagram of the sliding filament theory (fig 8.9 </a:t>
            </a:r>
            <a:r>
              <a:rPr lang="en-AU" dirty="0" err="1"/>
              <a:t>pg</a:t>
            </a:r>
            <a:r>
              <a:rPr lang="en-AU" dirty="0"/>
              <a:t> 199) </a:t>
            </a:r>
          </a:p>
          <a:p>
            <a:r>
              <a:rPr lang="en-AU" dirty="0"/>
              <a:t>describe how skeletal muscles work together to achieve movement </a:t>
            </a:r>
          </a:p>
          <a:p>
            <a:r>
              <a:rPr lang="en-AU" dirty="0"/>
              <a:t>distinguish between antagonists, synergists and agonists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Success Criteria </a:t>
            </a:r>
          </a:p>
        </p:txBody>
      </p:sp>
      <p:sp>
        <p:nvSpPr>
          <p:cNvPr id="3" name="Content Placeholder 2"/>
          <p:cNvSpPr>
            <a:spLocks noGrp="1"/>
          </p:cNvSpPr>
          <p:nvPr>
            <p:ph idx="1"/>
          </p:nvPr>
        </p:nvSpPr>
        <p:spPr/>
        <p:txBody>
          <a:bodyPr/>
          <a:lstStyle/>
          <a:p>
            <a:r>
              <a:rPr lang="en-AU" dirty="0"/>
              <a:t>explain the relationship between muscle tone and posture </a:t>
            </a:r>
          </a:p>
          <a:p>
            <a:r>
              <a:rPr lang="en-AU" dirty="0"/>
              <a:t>describe the function of the skeleton </a:t>
            </a:r>
          </a:p>
          <a:p>
            <a:r>
              <a:rPr lang="en-AU" dirty="0"/>
              <a:t>recognise different types of bones and their functions </a:t>
            </a:r>
          </a:p>
          <a:p>
            <a:r>
              <a:rPr lang="en-AU" dirty="0"/>
              <a:t>distinguish between the axial and appendicular skeleton </a:t>
            </a:r>
          </a:p>
          <a:p>
            <a:r>
              <a:rPr lang="en-AU" dirty="0"/>
              <a:t>describe the macroscopic structure of long bones </a:t>
            </a:r>
          </a:p>
          <a:p>
            <a:r>
              <a:rPr lang="en-AU" dirty="0"/>
              <a:t>describe the microscopic structure of bones </a:t>
            </a:r>
          </a:p>
          <a:p>
            <a:r>
              <a:rPr lang="en-AU" dirty="0"/>
              <a:t>distinguish between compact and spongy bone </a:t>
            </a:r>
          </a:p>
          <a:p>
            <a:r>
              <a:rPr lang="en-AU" dirty="0"/>
              <a:t>distinguish between the three types of cartilage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3452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Success Criteria </a:t>
            </a:r>
          </a:p>
        </p:txBody>
      </p:sp>
      <p:sp>
        <p:nvSpPr>
          <p:cNvPr id="3" name="Content Placeholder 2"/>
          <p:cNvSpPr>
            <a:spLocks noGrp="1"/>
          </p:cNvSpPr>
          <p:nvPr>
            <p:ph idx="1"/>
          </p:nvPr>
        </p:nvSpPr>
        <p:spPr/>
        <p:txBody>
          <a:bodyPr>
            <a:normAutofit lnSpcReduction="10000"/>
          </a:bodyPr>
          <a:lstStyle/>
          <a:p>
            <a:r>
              <a:rPr lang="en-AU" dirty="0"/>
              <a:t>describe how joints are classified </a:t>
            </a:r>
          </a:p>
          <a:p>
            <a:r>
              <a:rPr lang="en-AU" dirty="0"/>
              <a:t>distinguish between the different types of joints </a:t>
            </a:r>
          </a:p>
          <a:p>
            <a:r>
              <a:rPr lang="en-AU" dirty="0"/>
              <a:t>give examples of the different types of joints and their locations in the human body </a:t>
            </a:r>
          </a:p>
          <a:p>
            <a:r>
              <a:rPr lang="en-AU" dirty="0"/>
              <a:t>describe different movements that can occur at a joint </a:t>
            </a:r>
          </a:p>
          <a:p>
            <a:r>
              <a:rPr lang="en-AU" dirty="0"/>
              <a:t>describe the effects of osteoarthritis </a:t>
            </a:r>
          </a:p>
          <a:p>
            <a:r>
              <a:rPr lang="en-AU" dirty="0"/>
              <a:t>describe the effects of osteoporosis </a:t>
            </a:r>
          </a:p>
          <a:p>
            <a:r>
              <a:rPr lang="en-AU" dirty="0"/>
              <a:t>explain the causes of these conditions </a:t>
            </a:r>
          </a:p>
          <a:p>
            <a:r>
              <a:rPr lang="en-AU" dirty="0"/>
              <a:t>describe management and prevention techniques</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4450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Muscle fibre</a:t>
            </a:r>
            <a:r>
              <a:rPr lang="en-AU" dirty="0"/>
              <a:t>: the long cylindrical cells that make up skeletal muscle </a:t>
            </a:r>
          </a:p>
          <a:p>
            <a:endParaRPr lang="en-AU" dirty="0"/>
          </a:p>
          <a:p>
            <a:r>
              <a:rPr lang="en-AU" b="1" dirty="0"/>
              <a:t>Sarcolemma</a:t>
            </a:r>
            <a:r>
              <a:rPr lang="en-AU" dirty="0"/>
              <a:t>: a thin, transparent membrane surrounding a muscle cell</a:t>
            </a:r>
          </a:p>
          <a:p>
            <a:endParaRPr lang="en-AU" dirty="0"/>
          </a:p>
          <a:p>
            <a:r>
              <a:rPr lang="en-AU" b="1" dirty="0"/>
              <a:t>Sarcoplasm</a:t>
            </a:r>
            <a:r>
              <a:rPr lang="en-AU" dirty="0"/>
              <a:t>: the cytoplasm of striated muscle fibres  </a:t>
            </a:r>
          </a:p>
          <a:p>
            <a:endParaRPr lang="en-AU" dirty="0"/>
          </a:p>
          <a:p>
            <a:r>
              <a:rPr lang="en-AU" b="1" dirty="0"/>
              <a:t>Myofibril</a:t>
            </a:r>
            <a:r>
              <a:rPr lang="en-AU" dirty="0"/>
              <a:t>: a thread-like structure found in the cytoplasm of muscle fibres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86871" y="1452282"/>
            <a:ext cx="11564469" cy="5163671"/>
          </a:xfrm>
        </p:spPr>
        <p:txBody>
          <a:bodyPr/>
          <a:lstStyle/>
          <a:p>
            <a:r>
              <a:rPr lang="en-AU" b="1" dirty="0"/>
              <a:t>Myofilaments</a:t>
            </a:r>
            <a:r>
              <a:rPr lang="en-AU" dirty="0"/>
              <a:t>: one of the structures that make up the myofibrils of skeletal muscle fibres </a:t>
            </a:r>
          </a:p>
          <a:p>
            <a:endParaRPr lang="en-AU" dirty="0"/>
          </a:p>
          <a:p>
            <a:r>
              <a:rPr lang="en-AU" b="1" dirty="0"/>
              <a:t>Myosin</a:t>
            </a:r>
            <a:r>
              <a:rPr lang="en-AU" dirty="0"/>
              <a:t>: one of the contractile proteins of skeletal muscle; makes up the thick myofilament of a myofibril </a:t>
            </a:r>
          </a:p>
          <a:p>
            <a:endParaRPr lang="en-AU" dirty="0"/>
          </a:p>
          <a:p>
            <a:r>
              <a:rPr lang="en-AU" b="1" dirty="0"/>
              <a:t>Actin</a:t>
            </a:r>
            <a:r>
              <a:rPr lang="en-AU" dirty="0"/>
              <a:t>: one of the contractile proteins of skeletal muscle; makes up the thin myofilaments of a myofibril </a:t>
            </a:r>
          </a:p>
          <a:p>
            <a:endParaRPr lang="en-AU" dirty="0"/>
          </a:p>
          <a:p>
            <a:r>
              <a:rPr lang="en-AU" b="1" dirty="0"/>
              <a:t>Sarcomeres</a:t>
            </a:r>
            <a:r>
              <a:rPr lang="en-AU" dirty="0"/>
              <a:t>: the contractile unit of skeletal muscle; consists of actin and myosin filaments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9534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Sliding filament theory</a:t>
            </a:r>
            <a:r>
              <a:rPr lang="en-AU" dirty="0"/>
              <a:t>:  the theory used to explain muscle contractions. </a:t>
            </a:r>
          </a:p>
          <a:p>
            <a:endParaRPr lang="en-AU" dirty="0"/>
          </a:p>
          <a:p>
            <a:r>
              <a:rPr lang="en-AU" b="1" dirty="0"/>
              <a:t>Tendon: </a:t>
            </a:r>
            <a:r>
              <a:rPr lang="en-AU" dirty="0"/>
              <a:t>fibrous tissue that attaches muscle to bone </a:t>
            </a:r>
          </a:p>
          <a:p>
            <a:endParaRPr lang="en-AU" dirty="0"/>
          </a:p>
          <a:p>
            <a:r>
              <a:rPr lang="en-AU" b="1" dirty="0"/>
              <a:t>Antagonist: </a:t>
            </a:r>
            <a:r>
              <a:rPr lang="en-AU" dirty="0"/>
              <a:t>muscle that has an action opposite to that of the agonist </a:t>
            </a:r>
          </a:p>
          <a:p>
            <a:endParaRPr lang="en-AU" dirty="0"/>
          </a:p>
          <a:p>
            <a:r>
              <a:rPr lang="en-AU" b="1" dirty="0"/>
              <a:t>Origin: </a:t>
            </a:r>
            <a:r>
              <a:rPr lang="en-AU" dirty="0"/>
              <a:t>the end of a muscle that is fixed to the stationary bone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7555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Insertion</a:t>
            </a:r>
            <a:r>
              <a:rPr lang="en-AU" dirty="0"/>
              <a:t>: the end of a muscle fixed to the movable bone </a:t>
            </a:r>
          </a:p>
          <a:p>
            <a:endParaRPr lang="en-AU" dirty="0"/>
          </a:p>
          <a:p>
            <a:r>
              <a:rPr lang="en-AU" b="1" dirty="0"/>
              <a:t>Agonist</a:t>
            </a:r>
            <a:r>
              <a:rPr lang="en-AU" dirty="0"/>
              <a:t>: muscle that causes the desired action; often referred to as the prime mover </a:t>
            </a:r>
          </a:p>
          <a:p>
            <a:endParaRPr lang="en-AU" dirty="0"/>
          </a:p>
          <a:p>
            <a:r>
              <a:rPr lang="en-AU" b="1" dirty="0"/>
              <a:t>Synergist</a:t>
            </a:r>
            <a:r>
              <a:rPr lang="en-AU" dirty="0"/>
              <a:t>: a muscle that acts indirectly in steadying a joint during a particular movement </a:t>
            </a:r>
          </a:p>
          <a:p>
            <a:endParaRPr lang="en-AU" dirty="0"/>
          </a:p>
          <a:p>
            <a:r>
              <a:rPr lang="en-AU" b="1" dirty="0"/>
              <a:t>Fixator</a:t>
            </a:r>
            <a:r>
              <a:rPr lang="en-AU" dirty="0"/>
              <a:t>: a muscle that contracts to immobilise a joint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4158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488140"/>
            <a:ext cx="10515600" cy="5038165"/>
          </a:xfrm>
        </p:spPr>
        <p:txBody>
          <a:bodyPr/>
          <a:lstStyle/>
          <a:p>
            <a:r>
              <a:rPr lang="en-AU" b="1" dirty="0"/>
              <a:t>Muscle tone: </a:t>
            </a:r>
            <a:r>
              <a:rPr lang="en-AU" dirty="0"/>
              <a:t>partial contraction of skeletal muscle </a:t>
            </a:r>
          </a:p>
          <a:p>
            <a:endParaRPr lang="en-AU" dirty="0"/>
          </a:p>
          <a:p>
            <a:r>
              <a:rPr lang="en-AU" b="1" dirty="0"/>
              <a:t>Articulation</a:t>
            </a:r>
            <a:r>
              <a:rPr lang="en-AU" dirty="0"/>
              <a:t>: the connection between two bones </a:t>
            </a:r>
          </a:p>
          <a:p>
            <a:endParaRPr lang="en-AU" dirty="0"/>
          </a:p>
          <a:p>
            <a:r>
              <a:rPr lang="en-AU" b="1" dirty="0"/>
              <a:t>Axial skeleton: </a:t>
            </a:r>
            <a:r>
              <a:rPr lang="en-AU" dirty="0"/>
              <a:t>the part of the skeleton that forms the central axis of the body. It consists of the skull, vertebral column, ribs and sternum </a:t>
            </a:r>
          </a:p>
          <a:p>
            <a:endParaRPr lang="en-AU" dirty="0"/>
          </a:p>
          <a:p>
            <a:r>
              <a:rPr lang="en-AU" b="1" dirty="0"/>
              <a:t>Appendicular skeleton: </a:t>
            </a:r>
            <a:r>
              <a:rPr lang="en-AU" dirty="0"/>
              <a:t>the part of the skeleton made up of the bones of the upper and lower limbs, and the bones of the shoulder and pelvis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4956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Diaphysis</a:t>
            </a:r>
            <a:r>
              <a:rPr lang="en-AU" dirty="0"/>
              <a:t>: the shaft of a long bone </a:t>
            </a:r>
          </a:p>
          <a:p>
            <a:endParaRPr lang="en-AU" dirty="0"/>
          </a:p>
          <a:p>
            <a:r>
              <a:rPr lang="en-AU" b="1" dirty="0"/>
              <a:t>Epiphysis</a:t>
            </a:r>
            <a:r>
              <a:rPr lang="en-AU" dirty="0"/>
              <a:t>: the end of a long bone </a:t>
            </a:r>
          </a:p>
          <a:p>
            <a:endParaRPr lang="en-AU" dirty="0"/>
          </a:p>
          <a:p>
            <a:r>
              <a:rPr lang="en-AU" b="1" dirty="0"/>
              <a:t>Cancellous bone</a:t>
            </a:r>
            <a:r>
              <a:rPr lang="en-AU" dirty="0"/>
              <a:t>: bone that contains many large spaces; appear spongy </a:t>
            </a:r>
          </a:p>
          <a:p>
            <a:endParaRPr lang="en-AU" dirty="0"/>
          </a:p>
          <a:p>
            <a:r>
              <a:rPr lang="en-AU" b="1" dirty="0"/>
              <a:t>Periosteum</a:t>
            </a:r>
            <a:r>
              <a:rPr lang="en-AU" dirty="0"/>
              <a:t>: the dense, fibrous outer covering of a bone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5825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Osteons</a:t>
            </a:r>
            <a:r>
              <a:rPr lang="en-AU" dirty="0"/>
              <a:t>: the basic unit of structure of compact bone; consists of a central canal surrounded by concentric layers of hard matrix and bone cells </a:t>
            </a:r>
          </a:p>
          <a:p>
            <a:endParaRPr lang="en-AU" dirty="0"/>
          </a:p>
          <a:p>
            <a:r>
              <a:rPr lang="en-AU" b="1" dirty="0"/>
              <a:t>Lamellae</a:t>
            </a:r>
            <a:r>
              <a:rPr lang="en-AU" dirty="0"/>
              <a:t>: concentric rings that make up compact bone </a:t>
            </a:r>
          </a:p>
          <a:p>
            <a:endParaRPr lang="en-AU" dirty="0"/>
          </a:p>
          <a:p>
            <a:r>
              <a:rPr lang="en-AU" b="1" dirty="0"/>
              <a:t>Lacunae</a:t>
            </a:r>
            <a:r>
              <a:rPr lang="en-AU" dirty="0"/>
              <a:t>: space in the matrix of bone or cartilage occupied by a cell </a:t>
            </a:r>
          </a:p>
          <a:p>
            <a:endParaRPr lang="en-AU" dirty="0"/>
          </a:p>
          <a:p>
            <a:r>
              <a:rPr lang="en-AU" b="1" dirty="0"/>
              <a:t>Osteocyte</a:t>
            </a:r>
            <a:r>
              <a:rPr lang="en-AU" dirty="0"/>
              <a:t>: a mature bone cell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7745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Canaliculi</a:t>
            </a:r>
            <a:r>
              <a:rPr lang="en-AU" dirty="0"/>
              <a:t>: small canals in the matrix of bone; joins the spaces that contain bone cells </a:t>
            </a:r>
          </a:p>
          <a:p>
            <a:endParaRPr lang="en-AU" dirty="0"/>
          </a:p>
          <a:p>
            <a:r>
              <a:rPr lang="en-AU" b="1" dirty="0"/>
              <a:t>Trabeculae</a:t>
            </a:r>
            <a:r>
              <a:rPr lang="en-AU" dirty="0"/>
              <a:t>: bony plates that criss-cross with many others to make up spongy bone</a:t>
            </a:r>
          </a:p>
          <a:p>
            <a:endParaRPr lang="en-AU" dirty="0"/>
          </a:p>
          <a:p>
            <a:r>
              <a:rPr lang="en-AU" b="1" dirty="0"/>
              <a:t>Hyaline cartilage</a:t>
            </a:r>
            <a:r>
              <a:rPr lang="en-AU" dirty="0"/>
              <a:t>: flexible supporting cartilage </a:t>
            </a:r>
          </a:p>
          <a:p>
            <a:endParaRPr lang="en-AU" dirty="0"/>
          </a:p>
          <a:p>
            <a:r>
              <a:rPr lang="en-AU" b="1" dirty="0"/>
              <a:t>Elastic cartilage</a:t>
            </a:r>
            <a:r>
              <a:rPr lang="en-AU" dirty="0"/>
              <a:t>: cartilage that contains elastic fibres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1010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Fibrocartilage</a:t>
            </a:r>
            <a:r>
              <a:rPr lang="en-AU" dirty="0"/>
              <a:t>: a type of cartilage that contains bundles of fibres </a:t>
            </a:r>
          </a:p>
          <a:p>
            <a:endParaRPr lang="en-AU" dirty="0"/>
          </a:p>
          <a:p>
            <a:r>
              <a:rPr lang="en-AU" b="1" dirty="0"/>
              <a:t>Joint</a:t>
            </a:r>
            <a:r>
              <a:rPr lang="en-AU" dirty="0"/>
              <a:t>: the connection between two bones </a:t>
            </a:r>
          </a:p>
          <a:p>
            <a:endParaRPr lang="en-AU" dirty="0"/>
          </a:p>
          <a:p>
            <a:r>
              <a:rPr lang="en-AU" b="1" dirty="0"/>
              <a:t>Fibrous joint</a:t>
            </a:r>
            <a:r>
              <a:rPr lang="en-AU" dirty="0"/>
              <a:t>: a joint at which no movement occurs between the bones; the bones are held in place by fibrous tissue. </a:t>
            </a:r>
          </a:p>
          <a:p>
            <a:endParaRPr lang="en-AU" dirty="0"/>
          </a:p>
          <a:p>
            <a:r>
              <a:rPr lang="en-AU" b="1" dirty="0"/>
              <a:t>Cartilaginous joint</a:t>
            </a:r>
            <a:r>
              <a:rPr lang="en-AU" dirty="0"/>
              <a:t>: a joint at which only limited movement occurs between the bones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5538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825625"/>
            <a:ext cx="10923494" cy="4351338"/>
          </a:xfrm>
        </p:spPr>
        <p:txBody>
          <a:bodyPr/>
          <a:lstStyle/>
          <a:p>
            <a:r>
              <a:rPr lang="en-AU" b="1" dirty="0"/>
              <a:t>Synovial joint</a:t>
            </a:r>
            <a:r>
              <a:rPr lang="en-AU" dirty="0"/>
              <a:t>: a freely movable joint</a:t>
            </a:r>
          </a:p>
          <a:p>
            <a:endParaRPr lang="en-AU" dirty="0"/>
          </a:p>
          <a:p>
            <a:r>
              <a:rPr lang="en-AU" b="1" dirty="0"/>
              <a:t>Articular capsule</a:t>
            </a:r>
            <a:r>
              <a:rPr lang="en-AU" dirty="0"/>
              <a:t>: the sac-like envelope in the cavity of a synovial joint</a:t>
            </a:r>
          </a:p>
          <a:p>
            <a:endParaRPr lang="en-AU" dirty="0"/>
          </a:p>
          <a:p>
            <a:r>
              <a:rPr lang="en-AU" b="1" dirty="0"/>
              <a:t>Bursae</a:t>
            </a:r>
            <a:r>
              <a:rPr lang="en-AU" dirty="0"/>
              <a:t>: a small sac or cavity filled with fluid; found at friction points of a movable joint </a:t>
            </a:r>
          </a:p>
          <a:p>
            <a:endParaRPr lang="en-AU" dirty="0"/>
          </a:p>
          <a:p>
            <a:r>
              <a:rPr lang="en-AU" b="1" dirty="0"/>
              <a:t>Ligaments</a:t>
            </a:r>
            <a:r>
              <a:rPr lang="en-AU" dirty="0"/>
              <a:t>: fibrous tissue that attaches one bone to another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8646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452282"/>
            <a:ext cx="10515600" cy="5340404"/>
          </a:xfrm>
        </p:spPr>
        <p:txBody>
          <a:bodyPr/>
          <a:lstStyle/>
          <a:p>
            <a:r>
              <a:rPr lang="en-AU" b="1" dirty="0"/>
              <a:t>Flexion</a:t>
            </a:r>
            <a:r>
              <a:rPr lang="en-AU" dirty="0"/>
              <a:t>: to bend </a:t>
            </a:r>
          </a:p>
          <a:p>
            <a:endParaRPr lang="en-AU" dirty="0"/>
          </a:p>
          <a:p>
            <a:r>
              <a:rPr lang="en-AU" b="1" dirty="0"/>
              <a:t>Extension</a:t>
            </a:r>
            <a:r>
              <a:rPr lang="en-AU" dirty="0"/>
              <a:t>: lengthening of a muscle </a:t>
            </a:r>
          </a:p>
          <a:p>
            <a:endParaRPr lang="en-AU" dirty="0"/>
          </a:p>
          <a:p>
            <a:r>
              <a:rPr lang="en-AU" b="1" dirty="0"/>
              <a:t>Abduction</a:t>
            </a:r>
            <a:r>
              <a:rPr lang="en-AU" dirty="0"/>
              <a:t>: movement of a limb away from the midline of the body </a:t>
            </a:r>
          </a:p>
          <a:p>
            <a:endParaRPr lang="en-AU" dirty="0"/>
          </a:p>
          <a:p>
            <a:r>
              <a:rPr lang="en-AU" b="1" dirty="0"/>
              <a:t>Adduction</a:t>
            </a:r>
            <a:r>
              <a:rPr lang="en-AU" dirty="0"/>
              <a:t>: movement of a limb towards the midline of the body </a:t>
            </a:r>
          </a:p>
          <a:p>
            <a:endParaRPr lang="en-AU" dirty="0"/>
          </a:p>
          <a:p>
            <a:r>
              <a:rPr lang="en-AU" b="1" dirty="0"/>
              <a:t>Rotation</a:t>
            </a:r>
            <a:r>
              <a:rPr lang="en-AU" dirty="0"/>
              <a:t>: movement of a bone around its long axis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1901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p>
        </p:txBody>
      </p:sp>
      <p:sp>
        <p:nvSpPr>
          <p:cNvPr id="3" name="Content Placeholder 2"/>
          <p:cNvSpPr>
            <a:spLocks noGrp="1"/>
          </p:cNvSpPr>
          <p:nvPr>
            <p:ph idx="1"/>
          </p:nvPr>
        </p:nvSpPr>
        <p:spPr/>
        <p:txBody>
          <a:bodyPr/>
          <a:lstStyle/>
          <a:p>
            <a:r>
              <a:rPr lang="en-AU" b="1" dirty="0"/>
              <a:t>Osteoarthritis</a:t>
            </a:r>
            <a:r>
              <a:rPr lang="en-AU" dirty="0"/>
              <a:t>: deterioration of joint cartilage due to age or injury, to the point where the bone surfaces are not protected </a:t>
            </a:r>
          </a:p>
          <a:p>
            <a:endParaRPr lang="en-AU" dirty="0"/>
          </a:p>
          <a:p>
            <a:r>
              <a:rPr lang="en-AU" b="1" dirty="0"/>
              <a:t>Osteoporosis</a:t>
            </a:r>
            <a:r>
              <a:rPr lang="en-AU" dirty="0"/>
              <a:t>: reduced bone density due to ageing, resulting in increased risk of fractures.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Types of Muscles </a:t>
            </a:r>
          </a:p>
        </p:txBody>
      </p:sp>
      <p:sp>
        <p:nvSpPr>
          <p:cNvPr id="3" name="Content Placeholder 2"/>
          <p:cNvSpPr>
            <a:spLocks noGrp="1"/>
          </p:cNvSpPr>
          <p:nvPr>
            <p:ph idx="1"/>
          </p:nvPr>
        </p:nvSpPr>
        <p:spPr/>
        <p:txBody>
          <a:bodyPr/>
          <a:lstStyle/>
          <a:p>
            <a:r>
              <a:rPr lang="en-AU" dirty="0"/>
              <a:t>Three different types </a:t>
            </a:r>
          </a:p>
          <a:p>
            <a:endParaRPr lang="en-AU" dirty="0"/>
          </a:p>
          <a:p>
            <a:r>
              <a:rPr lang="en-AU" dirty="0"/>
              <a:t>Skeletal: muscles that move bones and enable us to walk, run and carry out a range of activities. </a:t>
            </a:r>
          </a:p>
          <a:p>
            <a:r>
              <a:rPr lang="en-AU" dirty="0"/>
              <a:t>Smooth: muscles for movement not under conscious control and found in the digestive system track </a:t>
            </a:r>
          </a:p>
          <a:p>
            <a:r>
              <a:rPr lang="en-AU" dirty="0"/>
              <a:t>Cardiac: heart muscle, unconscious control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Skeletal Muscle- Structure </a:t>
            </a:r>
          </a:p>
        </p:txBody>
      </p:sp>
      <p:sp>
        <p:nvSpPr>
          <p:cNvPr id="3" name="Content Placeholder 2"/>
          <p:cNvSpPr>
            <a:spLocks noGrp="1"/>
          </p:cNvSpPr>
          <p:nvPr>
            <p:ph idx="1"/>
          </p:nvPr>
        </p:nvSpPr>
        <p:spPr>
          <a:xfrm>
            <a:off x="838200" y="1690688"/>
            <a:ext cx="10515600" cy="4486275"/>
          </a:xfrm>
        </p:spPr>
        <p:txBody>
          <a:bodyPr/>
          <a:lstStyle/>
          <a:p>
            <a:r>
              <a:rPr lang="en-AU" dirty="0"/>
              <a:t>Muscles are held together in bundles. </a:t>
            </a:r>
          </a:p>
          <a:p>
            <a:endParaRPr lang="en-AU" dirty="0"/>
          </a:p>
          <a:p>
            <a:r>
              <a:rPr lang="en-AU" dirty="0"/>
              <a:t>A sheath of connective tissue called the perimysium surrounds each bundle so that it can function as an individual unit. The connective tissue allows adjacent bundles to slide easily over one another as they contract. </a:t>
            </a:r>
          </a:p>
          <a:p>
            <a:endParaRPr lang="en-AU" dirty="0"/>
          </a:p>
          <a:p>
            <a:r>
              <a:rPr lang="en-AU" dirty="0"/>
              <a:t>Sheaths of connective tissue called epimysium hold the bundles together and towards the end of the muscle, they taper and blend to form the tendon.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3975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Skeletal muscle fibres- Structure </a:t>
            </a:r>
          </a:p>
        </p:txBody>
      </p:sp>
      <p:sp>
        <p:nvSpPr>
          <p:cNvPr id="3" name="Content Placeholder 2"/>
          <p:cNvSpPr>
            <a:spLocks noGrp="1"/>
          </p:cNvSpPr>
          <p:nvPr>
            <p:ph idx="1"/>
          </p:nvPr>
        </p:nvSpPr>
        <p:spPr>
          <a:xfrm>
            <a:off x="838200" y="1825625"/>
            <a:ext cx="5658394" cy="4351338"/>
          </a:xfrm>
        </p:spPr>
        <p:txBody>
          <a:bodyPr/>
          <a:lstStyle/>
          <a:p>
            <a:r>
              <a:rPr lang="en-AU" dirty="0"/>
              <a:t>Each muscle cell, called a muscle fibre, is an elongated cylinder with many nuclei. </a:t>
            </a:r>
          </a:p>
          <a:p>
            <a:endParaRPr lang="en-AU" dirty="0"/>
          </a:p>
          <a:p>
            <a:r>
              <a:rPr lang="en-AU" dirty="0"/>
              <a:t>Around the cell is a thin, transparent plasma membrane, the </a:t>
            </a:r>
            <a:r>
              <a:rPr lang="en-AU" b="1" dirty="0"/>
              <a:t>sarcolemma</a:t>
            </a:r>
            <a:r>
              <a:rPr lang="en-AU" dirty="0"/>
              <a:t>, containing cytoplasm, called the </a:t>
            </a:r>
            <a:r>
              <a:rPr lang="en-AU" b="1" dirty="0"/>
              <a:t>sarcoplasm</a:t>
            </a:r>
            <a:r>
              <a:rPr lang="en-AU" dirty="0"/>
              <a: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Muscle Fiber Structure and Inner Parts Anatomical Description Outline  Diagram Stock Vector - Illustration of graphic, tissue: 232744533"/>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3204" t="19930" r="2809" b="12011"/>
          <a:stretch/>
        </p:blipFill>
        <p:spPr bwMode="auto">
          <a:xfrm>
            <a:off x="6602485" y="2185853"/>
            <a:ext cx="5149734" cy="3006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226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Myofibrils- Structure </a:t>
            </a:r>
          </a:p>
        </p:txBody>
      </p:sp>
      <p:sp>
        <p:nvSpPr>
          <p:cNvPr id="3" name="Content Placeholder 2"/>
          <p:cNvSpPr>
            <a:spLocks noGrp="1"/>
          </p:cNvSpPr>
          <p:nvPr>
            <p:ph idx="1"/>
          </p:nvPr>
        </p:nvSpPr>
        <p:spPr/>
        <p:txBody>
          <a:bodyPr/>
          <a:lstStyle/>
          <a:p>
            <a:r>
              <a:rPr lang="en-AU" dirty="0"/>
              <a:t>Myofibrils are found within the sarcoplasm of each fibre. </a:t>
            </a:r>
          </a:p>
          <a:p>
            <a:endParaRPr lang="en-AU" dirty="0"/>
          </a:p>
          <a:p>
            <a:r>
              <a:rPr lang="en-AU" dirty="0"/>
              <a:t>A tubular network called the sarcoplasmic reticulum surrounds the myofibrils. This is a storage site for calcium ions, which are released during muscle contractions. </a:t>
            </a:r>
          </a:p>
          <a:p>
            <a:endParaRPr lang="en-AU" dirty="0"/>
          </a:p>
          <a:p>
            <a:r>
              <a:rPr lang="en-AU" dirty="0"/>
              <a:t>Each myofibril is composed of many smaller myofilaments (protein), which are responsible for the contraction of the muscle.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9462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Myofibrils- Structure continued. </a:t>
            </a:r>
            <a:endParaRPr lang="en-AU" sz="6000" dirty="0"/>
          </a:p>
        </p:txBody>
      </p:sp>
      <p:sp>
        <p:nvSpPr>
          <p:cNvPr id="3" name="Content Placeholder 2"/>
          <p:cNvSpPr>
            <a:spLocks noGrp="1"/>
          </p:cNvSpPr>
          <p:nvPr>
            <p:ph idx="1"/>
          </p:nvPr>
        </p:nvSpPr>
        <p:spPr/>
        <p:txBody>
          <a:bodyPr>
            <a:normAutofit lnSpcReduction="10000"/>
          </a:bodyPr>
          <a:lstStyle/>
          <a:p>
            <a:r>
              <a:rPr lang="en-AU" dirty="0"/>
              <a:t>There are 2 types of myofilaments: </a:t>
            </a:r>
          </a:p>
          <a:p>
            <a:pPr lvl="1"/>
            <a:r>
              <a:rPr lang="en-AU" dirty="0"/>
              <a:t>Thick myofilaments, composed mainly of the protein myosin </a:t>
            </a:r>
          </a:p>
          <a:p>
            <a:pPr lvl="1"/>
            <a:r>
              <a:rPr lang="en-AU" dirty="0"/>
              <a:t>Thin myofilaments, composed mainly of the protein actin </a:t>
            </a:r>
          </a:p>
          <a:p>
            <a:endParaRPr lang="en-AU" dirty="0"/>
          </a:p>
          <a:p>
            <a:r>
              <a:rPr lang="en-AU" dirty="0"/>
              <a:t>When muscles are supplied/given enough energy (ATP) and has been activated by a nerve impulse, myosin and actin slide past each other, shortening the myofibril. </a:t>
            </a:r>
          </a:p>
          <a:p>
            <a:endParaRPr lang="en-AU" dirty="0"/>
          </a:p>
          <a:p>
            <a:r>
              <a:rPr lang="en-AU" dirty="0"/>
              <a:t>The arrangement of myosin and actin give the muscle a banded effect.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1341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75131" y="1099299"/>
            <a:ext cx="11598194" cy="450031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p:cNvSpPr/>
          <p:nvPr/>
        </p:nvSpPr>
        <p:spPr>
          <a:xfrm>
            <a:off x="8386354" y="1097280"/>
            <a:ext cx="1114697" cy="1524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284980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Key Point </a:t>
            </a:r>
          </a:p>
        </p:txBody>
      </p:sp>
      <p:sp>
        <p:nvSpPr>
          <p:cNvPr id="3" name="Content Placeholder 2"/>
          <p:cNvSpPr>
            <a:spLocks noGrp="1"/>
          </p:cNvSpPr>
          <p:nvPr>
            <p:ph idx="1"/>
          </p:nvPr>
        </p:nvSpPr>
        <p:spPr>
          <a:xfrm>
            <a:off x="838200" y="1451156"/>
            <a:ext cx="10515600" cy="4351338"/>
          </a:xfrm>
        </p:spPr>
        <p:txBody>
          <a:bodyPr/>
          <a:lstStyle/>
          <a:p>
            <a:pPr marL="0" indent="0" algn="ctr">
              <a:buNone/>
            </a:pPr>
            <a:endParaRPr lang="en-AU" dirty="0"/>
          </a:p>
          <a:p>
            <a:pPr marL="0" indent="0" algn="ctr">
              <a:lnSpc>
                <a:spcPct val="150000"/>
              </a:lnSpc>
              <a:buNone/>
            </a:pPr>
            <a:r>
              <a:rPr lang="en-AU" sz="3200" dirty="0"/>
              <a:t>Skeletal muscle is made of bundles of muscle fibres </a:t>
            </a:r>
          </a:p>
          <a:p>
            <a:pPr marL="0" indent="0" algn="ctr">
              <a:lnSpc>
                <a:spcPct val="150000"/>
              </a:lnSpc>
              <a:buNone/>
            </a:pPr>
            <a:r>
              <a:rPr lang="en-AU" sz="3200" dirty="0"/>
              <a:t>that contain myofibrils</a:t>
            </a:r>
          </a:p>
          <a:p>
            <a:pPr marL="0" indent="0" algn="ctr">
              <a:lnSpc>
                <a:spcPct val="150000"/>
              </a:lnSpc>
              <a:buNone/>
            </a:pPr>
            <a:r>
              <a:rPr lang="en-AU" sz="3200" dirty="0"/>
              <a:t>which contain myofilaments </a:t>
            </a:r>
          </a:p>
          <a:p>
            <a:pPr marL="0" indent="0" algn="ctr">
              <a:lnSpc>
                <a:spcPct val="150000"/>
              </a:lnSpc>
              <a:buNone/>
            </a:pPr>
            <a:r>
              <a:rPr lang="en-AU" sz="3200" dirty="0"/>
              <a:t>made of the proteins actin and myosin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0081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Sliding Filament Theory </a:t>
            </a:r>
          </a:p>
        </p:txBody>
      </p:sp>
      <p:sp>
        <p:nvSpPr>
          <p:cNvPr id="3" name="Content Placeholder 2"/>
          <p:cNvSpPr>
            <a:spLocks noGrp="1"/>
          </p:cNvSpPr>
          <p:nvPr>
            <p:ph idx="1"/>
          </p:nvPr>
        </p:nvSpPr>
        <p:spPr/>
        <p:txBody>
          <a:bodyPr/>
          <a:lstStyle/>
          <a:p>
            <a:r>
              <a:rPr lang="en-AU" dirty="0"/>
              <a:t>Explains the process of muscle contraction. </a:t>
            </a:r>
          </a:p>
          <a:p>
            <a:endParaRPr lang="en-AU" dirty="0"/>
          </a:p>
          <a:p>
            <a:r>
              <a:rPr lang="en-AU" dirty="0"/>
              <a:t>When muscles contract, the sarcomere shortens because the actin and myosin filaments slide over one another.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675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736081" y="205134"/>
            <a:ext cx="11026428" cy="645208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1239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AU" sz="6000" dirty="0"/>
          </a:p>
        </p:txBody>
      </p:sp>
      <p:sp>
        <p:nvSpPr>
          <p:cNvPr id="3" name="Content Placeholder 2"/>
          <p:cNvSpPr>
            <a:spLocks noGrp="1"/>
          </p:cNvSpPr>
          <p:nvPr>
            <p:ph idx="1"/>
          </p:nvPr>
        </p:nvSpPr>
        <p:spPr/>
        <p:txBody>
          <a:bodyPr/>
          <a:lstStyle/>
          <a:p>
            <a:r>
              <a:rPr lang="en-AU" dirty="0">
                <a:hlinkClick r:id="rId2"/>
              </a:rPr>
              <a:t>https://www.youtube.com/watch?v=U-yQywkad8E</a:t>
            </a:r>
            <a:endParaRPr lang="en-AU" dirty="0"/>
          </a:p>
          <a:p>
            <a:endParaRPr lang="en-AU" dirty="0"/>
          </a:p>
          <a:p>
            <a:r>
              <a:rPr lang="en-AU" dirty="0">
                <a:hlinkClick r:id="rId3"/>
              </a:rPr>
              <a:t>https://www.youtube.com/watch?v=Ktv-CaOt6UQ</a:t>
            </a:r>
            <a:endParaRPr lang="en-AU" dirty="0"/>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105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545" y="365125"/>
            <a:ext cx="11201400" cy="1325563"/>
          </a:xfrm>
        </p:spPr>
        <p:txBody>
          <a:bodyPr>
            <a:normAutofit/>
          </a:bodyPr>
          <a:lstStyle/>
          <a:p>
            <a:r>
              <a:rPr lang="en-AU" sz="6000" b="1" dirty="0"/>
              <a:t>Sliding Filament Theory continued </a:t>
            </a:r>
          </a:p>
        </p:txBody>
      </p:sp>
      <p:sp>
        <p:nvSpPr>
          <p:cNvPr id="3" name="Content Placeholder 2"/>
          <p:cNvSpPr>
            <a:spLocks noGrp="1"/>
          </p:cNvSpPr>
          <p:nvPr>
            <p:ph idx="1"/>
          </p:nvPr>
        </p:nvSpPr>
        <p:spPr/>
        <p:txBody>
          <a:bodyPr/>
          <a:lstStyle/>
          <a:p>
            <a:r>
              <a:rPr lang="en-AU" dirty="0"/>
              <a:t>Energy is required for the shortening of the muscle fibres. The energy comes from the breakdown of ATP in the muscle cells. </a:t>
            </a:r>
          </a:p>
          <a:p>
            <a:endParaRPr lang="en-AU" dirty="0"/>
          </a:p>
          <a:p>
            <a:r>
              <a:rPr lang="en-AU" dirty="0"/>
              <a:t>Muscles are attached to the bones of the skeleton by fibrous, inelastic connective tissue called tendons. They are attached to the bones in such a way that they bridge the joints, so muscle contraction causes bone movement. </a:t>
            </a:r>
          </a:p>
          <a:p>
            <a:endParaRPr lang="en-AU" dirty="0"/>
          </a:p>
          <a:p>
            <a:r>
              <a:rPr lang="en-AU" dirty="0"/>
              <a:t>Muscles can ONLY contract. Muscles are ALWAYS grouped in pairs.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9834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Muscle Movement </a:t>
            </a:r>
          </a:p>
        </p:txBody>
      </p:sp>
      <p:sp>
        <p:nvSpPr>
          <p:cNvPr id="3" name="Content Placeholder 2"/>
          <p:cNvSpPr>
            <a:spLocks noGrp="1"/>
          </p:cNvSpPr>
          <p:nvPr>
            <p:ph idx="1"/>
          </p:nvPr>
        </p:nvSpPr>
        <p:spPr/>
        <p:txBody>
          <a:bodyPr/>
          <a:lstStyle/>
          <a:p>
            <a:r>
              <a:rPr lang="en-AU" dirty="0"/>
              <a:t>Coordination of the grouped/paired muscles provides body movement, with one of the pair producing movement of the bones in ONE direction and the other producing movement in the OPPOSITE direction. </a:t>
            </a:r>
          </a:p>
          <a:p>
            <a:endParaRPr lang="en-AU" dirty="0"/>
          </a:p>
          <a:p>
            <a:r>
              <a:rPr lang="en-AU" dirty="0"/>
              <a:t>Such pairs of muscles are referred to as antagonists, as they have opposite actions.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0021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276908" y="219436"/>
            <a:ext cx="7656801" cy="646542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0383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22211" y="1309457"/>
            <a:ext cx="11704034" cy="4243439"/>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0114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Muscle movement </a:t>
            </a:r>
          </a:p>
        </p:txBody>
      </p:sp>
      <p:sp>
        <p:nvSpPr>
          <p:cNvPr id="3" name="Content Placeholder 2"/>
          <p:cNvSpPr>
            <a:spLocks noGrp="1"/>
          </p:cNvSpPr>
          <p:nvPr>
            <p:ph idx="1"/>
          </p:nvPr>
        </p:nvSpPr>
        <p:spPr>
          <a:xfrm>
            <a:off x="838199" y="1825625"/>
            <a:ext cx="10735491" cy="4351338"/>
          </a:xfrm>
        </p:spPr>
        <p:txBody>
          <a:bodyPr>
            <a:normAutofit/>
          </a:bodyPr>
          <a:lstStyle/>
          <a:p>
            <a:r>
              <a:rPr lang="en-AU" dirty="0"/>
              <a:t>The end of the muscle fixed to the stationary bone is called the </a:t>
            </a:r>
            <a:r>
              <a:rPr lang="en-AU" b="1" dirty="0"/>
              <a:t>origin</a:t>
            </a:r>
            <a:r>
              <a:rPr lang="en-AU" dirty="0"/>
              <a:t>. </a:t>
            </a:r>
          </a:p>
          <a:p>
            <a:endParaRPr lang="en-AU" dirty="0"/>
          </a:p>
          <a:p>
            <a:r>
              <a:rPr lang="en-AU" dirty="0"/>
              <a:t>The attachment to the movable bone of the other end of the muscle is called the </a:t>
            </a:r>
            <a:r>
              <a:rPr lang="en-AU" b="1" dirty="0"/>
              <a:t>insertion</a:t>
            </a:r>
            <a:r>
              <a:rPr lang="en-AU" dirty="0"/>
              <a:t>. </a:t>
            </a:r>
          </a:p>
          <a:p>
            <a:endParaRPr lang="en-AU" dirty="0"/>
          </a:p>
          <a:p>
            <a:r>
              <a:rPr lang="en-AU" dirty="0"/>
              <a:t>The fleshy portion of the muscle between the tendons of the origin and the insertion is called the </a:t>
            </a:r>
            <a:r>
              <a:rPr lang="en-AU" b="1" dirty="0"/>
              <a:t>belly</a:t>
            </a:r>
            <a:r>
              <a:rPr lang="en-AU" dirty="0"/>
              <a:t>. </a:t>
            </a:r>
          </a:p>
          <a:p>
            <a:endParaRPr lang="en-AU" dirty="0"/>
          </a:p>
          <a:p>
            <a:r>
              <a:rPr lang="en-AU" dirty="0"/>
              <a:t>A muscle that causes a desire action is called the </a:t>
            </a:r>
            <a:r>
              <a:rPr lang="en-AU" b="1" dirty="0"/>
              <a:t>agonist</a:t>
            </a:r>
            <a:r>
              <a:rPr lang="en-AU" dirty="0"/>
              <a:t> (prime mover)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01572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908016" y="209006"/>
            <a:ext cx="7586998" cy="658368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0762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Synergists </a:t>
            </a:r>
          </a:p>
        </p:txBody>
      </p:sp>
      <p:sp>
        <p:nvSpPr>
          <p:cNvPr id="3" name="Content Placeholder 2"/>
          <p:cNvSpPr>
            <a:spLocks noGrp="1"/>
          </p:cNvSpPr>
          <p:nvPr>
            <p:ph idx="1"/>
          </p:nvPr>
        </p:nvSpPr>
        <p:spPr/>
        <p:txBody>
          <a:bodyPr/>
          <a:lstStyle/>
          <a:p>
            <a:r>
              <a:rPr lang="en-AU" dirty="0"/>
              <a:t>Remember, muscles work in pairs, with each fulfilling opposite roles. </a:t>
            </a:r>
          </a:p>
          <a:p>
            <a:endParaRPr lang="en-AU" dirty="0"/>
          </a:p>
          <a:p>
            <a:r>
              <a:rPr lang="en-AU" dirty="0"/>
              <a:t>Synergists are muscles that help the prime mover/agonist. They either produce the same movement as the prime mover or they may steady a joint during movement. E.g. wrist/fingers/arm scenario. </a:t>
            </a:r>
          </a:p>
          <a:p>
            <a:endParaRPr lang="en-AU" dirty="0"/>
          </a:p>
          <a:p>
            <a:r>
              <a:rPr lang="en-AU" dirty="0"/>
              <a:t>When a synergist immobilises a joint, it is called a </a:t>
            </a:r>
            <a:r>
              <a:rPr lang="en-AU" b="1" dirty="0"/>
              <a:t>fixator</a:t>
            </a:r>
            <a:r>
              <a:rPr lang="en-AU" dirty="0"/>
              <a:t>. E.g. scapula held firm/ribs and muscle movement.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2727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Muscle Tone </a:t>
            </a:r>
          </a:p>
        </p:txBody>
      </p:sp>
      <p:sp>
        <p:nvSpPr>
          <p:cNvPr id="3" name="Content Placeholder 2"/>
          <p:cNvSpPr>
            <a:spLocks noGrp="1"/>
          </p:cNvSpPr>
          <p:nvPr>
            <p:ph idx="1"/>
          </p:nvPr>
        </p:nvSpPr>
        <p:spPr/>
        <p:txBody>
          <a:bodyPr/>
          <a:lstStyle/>
          <a:p>
            <a:r>
              <a:rPr lang="en-AU" dirty="0"/>
              <a:t>All about maintaining partial contraction of skeletal muscles. </a:t>
            </a:r>
          </a:p>
          <a:p>
            <a:endParaRPr lang="en-AU" dirty="0"/>
          </a:p>
          <a:p>
            <a:r>
              <a:rPr lang="en-AU" dirty="0"/>
              <a:t>Muscle tone hold many of our body parts in position e.g. head vertically held by neck muscles. </a:t>
            </a:r>
          </a:p>
          <a:p>
            <a:endParaRPr lang="en-AU" dirty="0"/>
          </a:p>
          <a:p>
            <a:r>
              <a:rPr lang="en-AU" dirty="0"/>
              <a:t>A person’s posture is the characteristic way they hold their body while sitting, standing and moving.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8467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Skeletal System- Function </a:t>
            </a:r>
          </a:p>
        </p:txBody>
      </p:sp>
      <p:sp>
        <p:nvSpPr>
          <p:cNvPr id="3" name="Content Placeholder 2"/>
          <p:cNvSpPr>
            <a:spLocks noGrp="1"/>
          </p:cNvSpPr>
          <p:nvPr>
            <p:ph idx="1"/>
          </p:nvPr>
        </p:nvSpPr>
        <p:spPr/>
        <p:txBody>
          <a:bodyPr/>
          <a:lstStyle/>
          <a:p>
            <a:r>
              <a:rPr lang="en-AU" dirty="0"/>
              <a:t>Supports the weight of the rest of the body </a:t>
            </a:r>
          </a:p>
          <a:p>
            <a:r>
              <a:rPr lang="en-AU" dirty="0"/>
              <a:t>Facilitates movement by being points of attachment for muscles. </a:t>
            </a:r>
          </a:p>
          <a:p>
            <a:r>
              <a:rPr lang="en-AU" dirty="0"/>
              <a:t>Protects vital internal organs </a:t>
            </a:r>
          </a:p>
          <a:p>
            <a:r>
              <a:rPr lang="en-AU" dirty="0"/>
              <a:t>Produces red blood cells </a:t>
            </a:r>
          </a:p>
          <a:p>
            <a:r>
              <a:rPr lang="en-AU" dirty="0"/>
              <a:t>Stores and releases minerals and fat</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1927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116937" y="152044"/>
            <a:ext cx="5173624" cy="655826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8847909" y="1036320"/>
            <a:ext cx="2960914" cy="1754326"/>
          </a:xfrm>
          <a:prstGeom prst="rect">
            <a:avLst/>
          </a:prstGeom>
          <a:noFill/>
        </p:spPr>
        <p:txBody>
          <a:bodyPr wrap="square" rtlCol="0">
            <a:spAutoFit/>
          </a:bodyPr>
          <a:lstStyle/>
          <a:p>
            <a:pPr algn="ctr"/>
            <a:r>
              <a:rPr lang="en-AU" sz="3600" b="1" dirty="0"/>
              <a:t>The 5 different types of bone </a:t>
            </a:r>
          </a:p>
        </p:txBody>
      </p:sp>
    </p:spTree>
    <p:extLst>
      <p:ext uri="{BB962C8B-B14F-4D97-AF65-F5344CB8AC3E}">
        <p14:creationId xmlns:p14="http://schemas.microsoft.com/office/powerpoint/2010/main" val="2588504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Bones of the skeleton </a:t>
            </a:r>
          </a:p>
        </p:txBody>
      </p:sp>
      <p:sp>
        <p:nvSpPr>
          <p:cNvPr id="3" name="Content Placeholder 2"/>
          <p:cNvSpPr>
            <a:spLocks noGrp="1"/>
          </p:cNvSpPr>
          <p:nvPr>
            <p:ph idx="1"/>
          </p:nvPr>
        </p:nvSpPr>
        <p:spPr/>
        <p:txBody>
          <a:bodyPr/>
          <a:lstStyle/>
          <a:p>
            <a:r>
              <a:rPr lang="en-AU" dirty="0"/>
              <a:t>206 bones in total. Some are fused to each other, but most have joints between them to allow for movement </a:t>
            </a:r>
          </a:p>
          <a:p>
            <a:endParaRPr lang="en-AU" dirty="0"/>
          </a:p>
          <a:p>
            <a:r>
              <a:rPr lang="en-AU" dirty="0"/>
              <a:t>Bones are divided into 2 sections </a:t>
            </a:r>
          </a:p>
          <a:p>
            <a:r>
              <a:rPr lang="en-AU" b="1" dirty="0"/>
              <a:t>Axial</a:t>
            </a:r>
            <a:r>
              <a:rPr lang="en-AU" dirty="0"/>
              <a:t>- bones around the central axis of the body. Provide main support for posture and protect the CNS </a:t>
            </a:r>
          </a:p>
          <a:p>
            <a:r>
              <a:rPr lang="en-AU" b="1" dirty="0"/>
              <a:t>Appendicular</a:t>
            </a:r>
            <a:r>
              <a:rPr lang="en-AU" dirty="0"/>
              <a:t>- bones of the upper and lower limbs.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3432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546235" y="162287"/>
            <a:ext cx="8494747" cy="656135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4898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091" y="365125"/>
            <a:ext cx="11625943" cy="1325563"/>
          </a:xfrm>
        </p:spPr>
        <p:txBody>
          <a:bodyPr>
            <a:normAutofit/>
          </a:bodyPr>
          <a:lstStyle/>
          <a:p>
            <a:r>
              <a:rPr lang="en-AU" sz="6000" b="1" dirty="0"/>
              <a:t>Macroscopic structure of long bones </a:t>
            </a:r>
          </a:p>
        </p:txBody>
      </p:sp>
      <p:sp>
        <p:nvSpPr>
          <p:cNvPr id="3" name="Content Placeholder 2"/>
          <p:cNvSpPr>
            <a:spLocks noGrp="1"/>
          </p:cNvSpPr>
          <p:nvPr>
            <p:ph idx="1"/>
          </p:nvPr>
        </p:nvSpPr>
        <p:spPr/>
        <p:txBody>
          <a:bodyPr/>
          <a:lstStyle/>
          <a:p>
            <a:r>
              <a:rPr lang="en-AU" dirty="0"/>
              <a:t>A long bone consists of the following: </a:t>
            </a:r>
          </a:p>
          <a:p>
            <a:pPr lvl="1"/>
            <a:r>
              <a:rPr lang="en-AU" dirty="0"/>
              <a:t>Diaphysis: shaft making up the main portion of the bone. When the bone is cut lengthwise, the diaphysis is seen to be a hollow cylinder of compact bone surrounding a cavity (used to store fat). </a:t>
            </a:r>
          </a:p>
          <a:p>
            <a:pPr lvl="1"/>
            <a:r>
              <a:rPr lang="en-AU" dirty="0"/>
              <a:t>Epiphyses (single-epiphysis): enlarged end of the bone, covered by a thin layer of cartilage. Have compact bone of the outside by central regions have spongy/cancellous bone (more porous and filled with marrow). </a:t>
            </a:r>
          </a:p>
          <a:p>
            <a:pPr lvl="1"/>
            <a:r>
              <a:rPr lang="en-AU" dirty="0"/>
              <a:t>Periosteum: the dense, white, fibrous outer covering of the bone.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92713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543469" y="772862"/>
            <a:ext cx="11239228" cy="514616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306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Microscopic structure of bone </a:t>
            </a:r>
          </a:p>
        </p:txBody>
      </p:sp>
      <p:sp>
        <p:nvSpPr>
          <p:cNvPr id="3" name="Content Placeholder 2"/>
          <p:cNvSpPr>
            <a:spLocks noGrp="1"/>
          </p:cNvSpPr>
          <p:nvPr>
            <p:ph idx="1"/>
          </p:nvPr>
        </p:nvSpPr>
        <p:spPr/>
        <p:txBody>
          <a:bodyPr/>
          <a:lstStyle/>
          <a:p>
            <a:r>
              <a:rPr lang="en-AU" dirty="0"/>
              <a:t>Remember- bone is classified as connective tissue </a:t>
            </a:r>
          </a:p>
          <a:p>
            <a:endParaRPr lang="en-AU" dirty="0"/>
          </a:p>
          <a:p>
            <a:r>
              <a:rPr lang="en-AU" dirty="0"/>
              <a:t>Connective tissue consists of cells separated from each other by large amounts of non-cellular material called matrix. In bone, inorganic salts of calcium and phosphate are deposited in the matrix. These increase its rigidity and strength, making it the hardest of connective tissue.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9431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Compact bone- structure </a:t>
            </a:r>
          </a:p>
        </p:txBody>
      </p:sp>
      <p:sp>
        <p:nvSpPr>
          <p:cNvPr id="3" name="Content Placeholder 2"/>
          <p:cNvSpPr>
            <a:spLocks noGrp="1"/>
          </p:cNvSpPr>
          <p:nvPr>
            <p:ph idx="1"/>
          </p:nvPr>
        </p:nvSpPr>
        <p:spPr/>
        <p:txBody>
          <a:bodyPr/>
          <a:lstStyle/>
          <a:p>
            <a:r>
              <a:rPr lang="en-AU" dirty="0"/>
              <a:t>Compact bone consists of many similar structures called osteons (also called Haversian systems) that run parallel to the long axis of the bone. They are responsible for giving the bone its maximum strength.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03427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Osteon </a:t>
            </a:r>
          </a:p>
        </p:txBody>
      </p:sp>
      <p:sp>
        <p:nvSpPr>
          <p:cNvPr id="3" name="Content Placeholder 2"/>
          <p:cNvSpPr>
            <a:spLocks noGrp="1"/>
          </p:cNvSpPr>
          <p:nvPr>
            <p:ph idx="1"/>
          </p:nvPr>
        </p:nvSpPr>
        <p:spPr/>
        <p:txBody>
          <a:bodyPr/>
          <a:lstStyle/>
          <a:p>
            <a:r>
              <a:rPr lang="en-AU" dirty="0"/>
              <a:t>Each osteon has </a:t>
            </a:r>
          </a:p>
          <a:p>
            <a:pPr lvl="1"/>
            <a:r>
              <a:rPr lang="en-AU" dirty="0"/>
              <a:t>A </a:t>
            </a:r>
            <a:r>
              <a:rPr lang="en-AU" b="1" dirty="0"/>
              <a:t>central canal </a:t>
            </a:r>
            <a:r>
              <a:rPr lang="en-AU" dirty="0"/>
              <a:t>at its centre </a:t>
            </a:r>
          </a:p>
          <a:p>
            <a:pPr lvl="1"/>
            <a:r>
              <a:rPr lang="en-AU" dirty="0"/>
              <a:t>Concentric layers of bony matrix called </a:t>
            </a:r>
            <a:r>
              <a:rPr lang="en-AU" b="1" dirty="0"/>
              <a:t>lamellae </a:t>
            </a:r>
            <a:r>
              <a:rPr lang="en-AU" dirty="0"/>
              <a:t>surrounding the central canal </a:t>
            </a:r>
          </a:p>
          <a:p>
            <a:pPr lvl="1"/>
            <a:r>
              <a:rPr lang="en-AU" b="1" dirty="0"/>
              <a:t>Lacunae</a:t>
            </a:r>
            <a:r>
              <a:rPr lang="en-AU" dirty="0"/>
              <a:t>, which are small spaces in the matrix </a:t>
            </a:r>
          </a:p>
          <a:p>
            <a:pPr lvl="1"/>
            <a:r>
              <a:rPr lang="en-AU" dirty="0"/>
              <a:t>A bone cell (</a:t>
            </a:r>
            <a:r>
              <a:rPr lang="en-AU" b="1" dirty="0"/>
              <a:t>osteocyte</a:t>
            </a:r>
            <a:r>
              <a:rPr lang="en-AU" dirty="0"/>
              <a:t>) occupying each lacunae (space) </a:t>
            </a:r>
          </a:p>
          <a:p>
            <a:pPr lvl="1"/>
            <a:r>
              <a:rPr lang="en-AU" dirty="0"/>
              <a:t>Tiny canals (</a:t>
            </a:r>
            <a:r>
              <a:rPr lang="en-AU" b="1" dirty="0"/>
              <a:t>canaliculi</a:t>
            </a:r>
            <a:r>
              <a:rPr lang="en-AU" dirty="0"/>
              <a:t>), running between the lacunae (small spaces) </a:t>
            </a:r>
          </a:p>
          <a:p>
            <a:pPr lvl="1"/>
            <a:r>
              <a:rPr lang="en-AU" dirty="0"/>
              <a:t>Projections from the bone cells entering the canaliculi and making contact with adjacent bone cells (allowing transport between cells) </a:t>
            </a:r>
          </a:p>
          <a:p>
            <a:pPr lvl="1"/>
            <a:r>
              <a:rPr lang="en-AU" dirty="0"/>
              <a:t>At least one </a:t>
            </a:r>
            <a:r>
              <a:rPr lang="en-AU" b="1" dirty="0"/>
              <a:t>blood capillary, and possibly nerves and lymph capillaries</a:t>
            </a:r>
            <a:r>
              <a:rPr lang="en-AU" dirty="0"/>
              <a:t>, in the central canal of each osteon.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9093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58576" y="509744"/>
            <a:ext cx="11725011" cy="584286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63421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Spongy Bone- structure </a:t>
            </a:r>
          </a:p>
        </p:txBody>
      </p:sp>
      <p:sp>
        <p:nvSpPr>
          <p:cNvPr id="3" name="Content Placeholder 2"/>
          <p:cNvSpPr>
            <a:spLocks noGrp="1"/>
          </p:cNvSpPr>
          <p:nvPr>
            <p:ph idx="1"/>
          </p:nvPr>
        </p:nvSpPr>
        <p:spPr>
          <a:xfrm>
            <a:off x="838200" y="1889596"/>
            <a:ext cx="10515600" cy="4351338"/>
          </a:xfrm>
        </p:spPr>
        <p:txBody>
          <a:bodyPr/>
          <a:lstStyle/>
          <a:p>
            <a:r>
              <a:rPr lang="en-AU" dirty="0"/>
              <a:t>Also called cancellous bone. </a:t>
            </a:r>
          </a:p>
          <a:p>
            <a:endParaRPr lang="en-AU" dirty="0"/>
          </a:p>
          <a:p>
            <a:r>
              <a:rPr lang="en-AU" dirty="0"/>
              <a:t>Not organised into osteons with concentric layers of lamellae. Instead, it consists of an irregular arrangement of thin, bony plates called trabeculae. </a:t>
            </a:r>
          </a:p>
          <a:p>
            <a:endParaRPr lang="en-AU" dirty="0"/>
          </a:p>
          <a:p>
            <a:r>
              <a:rPr lang="en-AU" dirty="0"/>
              <a:t>The bone cells occupy spaces in the trabeculae, and nerves and blood vessels pass through irregular spaces in the matrix.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90100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144896" y="163078"/>
            <a:ext cx="4419686" cy="656516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3693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Cartilage- Structure </a:t>
            </a:r>
          </a:p>
        </p:txBody>
      </p:sp>
      <p:sp>
        <p:nvSpPr>
          <p:cNvPr id="3" name="Content Placeholder 2"/>
          <p:cNvSpPr>
            <a:spLocks noGrp="1"/>
          </p:cNvSpPr>
          <p:nvPr>
            <p:ph idx="1"/>
          </p:nvPr>
        </p:nvSpPr>
        <p:spPr/>
        <p:txBody>
          <a:bodyPr/>
          <a:lstStyle/>
          <a:p>
            <a:r>
              <a:rPr lang="en-AU" dirty="0"/>
              <a:t>Is a connective tissue. </a:t>
            </a:r>
          </a:p>
          <a:p>
            <a:endParaRPr lang="en-AU" dirty="0"/>
          </a:p>
          <a:p>
            <a:r>
              <a:rPr lang="en-AU" dirty="0"/>
              <a:t>Contains numerous fibres made of a protein called collagen. These protein fibres are embedded in a firm matrix of a protein- carbohydrate complex called </a:t>
            </a:r>
            <a:r>
              <a:rPr lang="en-AU" b="1" dirty="0"/>
              <a:t>chondrin</a:t>
            </a:r>
            <a:r>
              <a:rPr lang="en-AU" dirty="0"/>
              <a:t>. </a:t>
            </a:r>
          </a:p>
          <a:p>
            <a:endParaRPr lang="en-AU" dirty="0"/>
          </a:p>
          <a:p>
            <a:r>
              <a:rPr lang="en-AU" dirty="0"/>
              <a:t>Chondrin is what allows cartilage to function as a structural support, whilst the fibres give it a certain amount of flexibility. E.g. ear, nose.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3311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Cartilage- Structure continued. </a:t>
            </a:r>
          </a:p>
        </p:txBody>
      </p:sp>
      <p:sp>
        <p:nvSpPr>
          <p:cNvPr id="3" name="Content Placeholder 2"/>
          <p:cNvSpPr>
            <a:spLocks noGrp="1"/>
          </p:cNvSpPr>
          <p:nvPr>
            <p:ph idx="1"/>
          </p:nvPr>
        </p:nvSpPr>
        <p:spPr/>
        <p:txBody>
          <a:bodyPr/>
          <a:lstStyle/>
          <a:p>
            <a:r>
              <a:rPr lang="en-AU" dirty="0"/>
              <a:t>In cartilages firm matrix, collagen fibres are embedded. The spaces within the matrix contain cartilage cells called chondroblasts. </a:t>
            </a:r>
          </a:p>
          <a:p>
            <a:endParaRPr lang="en-AU" dirty="0"/>
          </a:p>
          <a:p>
            <a:r>
              <a:rPr lang="en-AU" dirty="0"/>
              <a:t>Chondroblasts produce matrix and gradually become surrounded by it until they are trapped in small spaces called lacunae. Once this has occurred, the cells are considered to be mature and are referred to as chondrocytes.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80972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Types of cartilage- Hyaline </a:t>
            </a:r>
          </a:p>
        </p:txBody>
      </p:sp>
      <p:sp>
        <p:nvSpPr>
          <p:cNvPr id="3" name="Content Placeholder 2"/>
          <p:cNvSpPr>
            <a:spLocks noGrp="1"/>
          </p:cNvSpPr>
          <p:nvPr>
            <p:ph idx="1"/>
          </p:nvPr>
        </p:nvSpPr>
        <p:spPr/>
        <p:txBody>
          <a:bodyPr/>
          <a:lstStyle/>
          <a:p>
            <a:r>
              <a:rPr lang="en-AU" dirty="0"/>
              <a:t>Contains many closely packed collagenous fibres throughout the matrix. These fibres are so fine, they are not distinguishable under a light microscope. </a:t>
            </a:r>
          </a:p>
          <a:p>
            <a:endParaRPr lang="en-AU" dirty="0"/>
          </a:p>
          <a:p>
            <a:r>
              <a:rPr lang="en-AU" dirty="0"/>
              <a:t>They give the cartilage strength along with the flexibility. It makes up rings of the trachea and bronchi, and is also found in articular cartilage at the ends of bones.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74011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Types of Cartilage- Elastic </a:t>
            </a:r>
          </a:p>
        </p:txBody>
      </p:sp>
      <p:sp>
        <p:nvSpPr>
          <p:cNvPr id="3" name="Content Placeholder 2"/>
          <p:cNvSpPr>
            <a:spLocks noGrp="1"/>
          </p:cNvSpPr>
          <p:nvPr>
            <p:ph idx="1"/>
          </p:nvPr>
        </p:nvSpPr>
        <p:spPr/>
        <p:txBody>
          <a:bodyPr/>
          <a:lstStyle/>
          <a:p>
            <a:r>
              <a:rPr lang="en-AU" dirty="0"/>
              <a:t>Has elastic fibres. It also contains collagenous fibres similar to hyaline cartilage (but not as closely packed together). </a:t>
            </a:r>
          </a:p>
          <a:p>
            <a:endParaRPr lang="en-AU" dirty="0"/>
          </a:p>
          <a:p>
            <a:r>
              <a:rPr lang="en-AU" dirty="0"/>
              <a:t>Provides flexible elastic support in places such as the external ear.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98228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Types of Cartilage- Fibrocartilage</a:t>
            </a:r>
          </a:p>
        </p:txBody>
      </p:sp>
      <p:sp>
        <p:nvSpPr>
          <p:cNvPr id="3" name="Content Placeholder 2"/>
          <p:cNvSpPr>
            <a:spLocks noGrp="1"/>
          </p:cNvSpPr>
          <p:nvPr>
            <p:ph idx="1"/>
          </p:nvPr>
        </p:nvSpPr>
        <p:spPr/>
        <p:txBody>
          <a:bodyPr/>
          <a:lstStyle/>
          <a:p>
            <a:r>
              <a:rPr lang="en-AU"/>
              <a:t>Has </a:t>
            </a:r>
            <a:r>
              <a:rPr lang="en-AU" dirty="0"/>
              <a:t>a coarse appearance from the parallel bundles of thick collagenous fibres </a:t>
            </a:r>
          </a:p>
          <a:p>
            <a:endParaRPr lang="en-AU" dirty="0"/>
          </a:p>
          <a:p>
            <a:r>
              <a:rPr lang="en-AU" dirty="0"/>
              <a:t>Fibres are not compacted as much as in hyaline and therefore are slightly compressible. </a:t>
            </a:r>
          </a:p>
          <a:p>
            <a:endParaRPr lang="en-AU" dirty="0"/>
          </a:p>
          <a:p>
            <a:r>
              <a:rPr lang="en-AU" dirty="0"/>
              <a:t>Found where the weight of the body is being supported or is under heavy pressure. E.g. intervertebral discs of the spinal column.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022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529317" y="1421749"/>
            <a:ext cx="11089822" cy="4752781"/>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02597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Cartilage- again </a:t>
            </a:r>
          </a:p>
        </p:txBody>
      </p:sp>
      <p:sp>
        <p:nvSpPr>
          <p:cNvPr id="3" name="Content Placeholder 2"/>
          <p:cNvSpPr>
            <a:spLocks noGrp="1"/>
          </p:cNvSpPr>
          <p:nvPr>
            <p:ph idx="1"/>
          </p:nvPr>
        </p:nvSpPr>
        <p:spPr/>
        <p:txBody>
          <a:bodyPr/>
          <a:lstStyle/>
          <a:p>
            <a:r>
              <a:rPr lang="en-AU" dirty="0"/>
              <a:t>Does not contain blood vessels, so all nutrition and waste removal for cells depends on diffusion through the matrix. </a:t>
            </a:r>
          </a:p>
          <a:p>
            <a:endParaRPr lang="en-AU" dirty="0"/>
          </a:p>
          <a:p>
            <a:r>
              <a:rPr lang="en-AU" dirty="0"/>
              <a:t>This is a slow process and results in the chondrocytes having a slow rate of metabolism and cell division. Injured cartilage takes a long time to heal as the blood supply comes from the perichondrium (fibrous connective tissue membrane that covers cartilage).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01737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Movement of bones </a:t>
            </a:r>
          </a:p>
        </p:txBody>
      </p:sp>
      <p:sp>
        <p:nvSpPr>
          <p:cNvPr id="3" name="Content Placeholder 2"/>
          <p:cNvSpPr>
            <a:spLocks noGrp="1"/>
          </p:cNvSpPr>
          <p:nvPr>
            <p:ph idx="1"/>
          </p:nvPr>
        </p:nvSpPr>
        <p:spPr/>
        <p:txBody>
          <a:bodyPr/>
          <a:lstStyle/>
          <a:p>
            <a:r>
              <a:rPr lang="en-AU" dirty="0"/>
              <a:t>The site at which two or more bones come together is called a joint. </a:t>
            </a:r>
          </a:p>
          <a:p>
            <a:endParaRPr lang="en-AU" dirty="0"/>
          </a:p>
          <a:p>
            <a:r>
              <a:rPr lang="en-AU" dirty="0"/>
              <a:t>Joints are classified according to: </a:t>
            </a:r>
          </a:p>
          <a:p>
            <a:pPr lvl="1"/>
            <a:r>
              <a:rPr lang="en-AU" dirty="0"/>
              <a:t>Their range of movement </a:t>
            </a:r>
          </a:p>
          <a:p>
            <a:pPr lvl="1"/>
            <a:r>
              <a:rPr lang="en-AU" dirty="0"/>
              <a:t>The type of connective tissue that binds the bones together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4536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Fibrous or fixed joints </a:t>
            </a:r>
          </a:p>
        </p:txBody>
      </p:sp>
      <p:sp>
        <p:nvSpPr>
          <p:cNvPr id="3" name="Content Placeholder 2"/>
          <p:cNvSpPr>
            <a:spLocks noGrp="1"/>
          </p:cNvSpPr>
          <p:nvPr>
            <p:ph idx="1"/>
          </p:nvPr>
        </p:nvSpPr>
        <p:spPr/>
        <p:txBody>
          <a:bodyPr/>
          <a:lstStyle/>
          <a:p>
            <a:r>
              <a:rPr lang="en-AU" dirty="0"/>
              <a:t>When no movement occurs between the bones </a:t>
            </a:r>
          </a:p>
          <a:p>
            <a:endParaRPr lang="en-AU" dirty="0"/>
          </a:p>
          <a:p>
            <a:r>
              <a:rPr lang="en-AU" dirty="0"/>
              <a:t>Held in place by fibrous connective tissue </a:t>
            </a:r>
          </a:p>
          <a:p>
            <a:endParaRPr lang="en-AU" dirty="0"/>
          </a:p>
          <a:p>
            <a:r>
              <a:rPr lang="en-AU" dirty="0"/>
              <a:t>E.g. sutures of the skull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48876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164" y="365125"/>
            <a:ext cx="11617036" cy="1325563"/>
          </a:xfrm>
        </p:spPr>
        <p:txBody>
          <a:bodyPr>
            <a:normAutofit fontScale="90000"/>
          </a:bodyPr>
          <a:lstStyle/>
          <a:p>
            <a:pPr algn="ctr"/>
            <a:r>
              <a:rPr lang="en-AU" sz="6000" b="1" dirty="0"/>
              <a:t>Cartilaginous or slightly movable joints </a:t>
            </a:r>
          </a:p>
        </p:txBody>
      </p:sp>
      <p:sp>
        <p:nvSpPr>
          <p:cNvPr id="3" name="Content Placeholder 2"/>
          <p:cNvSpPr>
            <a:spLocks noGrp="1"/>
          </p:cNvSpPr>
          <p:nvPr>
            <p:ph idx="1"/>
          </p:nvPr>
        </p:nvSpPr>
        <p:spPr/>
        <p:txBody>
          <a:bodyPr/>
          <a:lstStyle/>
          <a:p>
            <a:r>
              <a:rPr lang="en-AU" dirty="0"/>
              <a:t>Are held in place by cartilage, which allows slight movement to occur. </a:t>
            </a:r>
          </a:p>
          <a:p>
            <a:endParaRPr lang="en-AU" dirty="0"/>
          </a:p>
          <a:p>
            <a:r>
              <a:rPr lang="en-AU" dirty="0"/>
              <a:t>E.g. the junction of the two pelvic bones</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86133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Synovial or freely movable joints </a:t>
            </a:r>
          </a:p>
        </p:txBody>
      </p:sp>
      <p:sp>
        <p:nvSpPr>
          <p:cNvPr id="3" name="Content Placeholder 2"/>
          <p:cNvSpPr>
            <a:spLocks noGrp="1"/>
          </p:cNvSpPr>
          <p:nvPr>
            <p:ph idx="1"/>
          </p:nvPr>
        </p:nvSpPr>
        <p:spPr>
          <a:xfrm>
            <a:off x="838200" y="1825624"/>
            <a:ext cx="10515600" cy="4782993"/>
          </a:xfrm>
        </p:spPr>
        <p:txBody>
          <a:bodyPr/>
          <a:lstStyle/>
          <a:p>
            <a:r>
              <a:rPr lang="en-AU" dirty="0"/>
              <a:t>Most joints of the body are freely movable, with the amount of movement limited by ligaments, muscles, tendons and adjoining bones. </a:t>
            </a:r>
          </a:p>
          <a:p>
            <a:endParaRPr lang="en-AU" dirty="0"/>
          </a:p>
          <a:p>
            <a:r>
              <a:rPr lang="en-AU" dirty="0"/>
              <a:t>Occur at the shoulder, elbow, wrist, finger, hip, knee, ankle and toes.</a:t>
            </a:r>
          </a:p>
          <a:p>
            <a:endParaRPr lang="en-AU" dirty="0"/>
          </a:p>
          <a:p>
            <a:r>
              <a:rPr lang="en-AU" dirty="0"/>
              <a:t>They are also the most commonly injured joints in sporting and other accidents. </a:t>
            </a:r>
          </a:p>
          <a:p>
            <a:endParaRPr lang="en-AU" dirty="0"/>
          </a:p>
          <a:p>
            <a:r>
              <a:rPr lang="en-AU" dirty="0"/>
              <a:t>There are many different categories of synovial joints.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84025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Synovial- Ball and socket joints </a:t>
            </a:r>
          </a:p>
        </p:txBody>
      </p:sp>
      <p:sp>
        <p:nvSpPr>
          <p:cNvPr id="3" name="Content Placeholder 2"/>
          <p:cNvSpPr>
            <a:spLocks noGrp="1"/>
          </p:cNvSpPr>
          <p:nvPr>
            <p:ph idx="1"/>
          </p:nvPr>
        </p:nvSpPr>
        <p:spPr>
          <a:xfrm>
            <a:off x="838200" y="1825625"/>
            <a:ext cx="5230091" cy="4351338"/>
          </a:xfrm>
        </p:spPr>
        <p:txBody>
          <a:bodyPr/>
          <a:lstStyle/>
          <a:p>
            <a:r>
              <a:rPr lang="en-AU" dirty="0"/>
              <a:t>Form when the spherical head of one bones fits into a cup like cavity of another. There are two such joints in the human body: the head of the humerus (upper arm bone) fits into a depression in the scapula (shoulder blade); and the head of the femur (thigh bone) articulates with the pelvis.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r="17547" b="5483"/>
          <a:stretch/>
        </p:blipFill>
        <p:spPr>
          <a:xfrm>
            <a:off x="6603991" y="2276465"/>
            <a:ext cx="4947805" cy="2835863"/>
          </a:xfrm>
          <a:prstGeom prst="rect">
            <a:avLst/>
          </a:prstGeom>
        </p:spPr>
      </p:pic>
    </p:spTree>
    <p:extLst>
      <p:ext uri="{BB962C8B-B14F-4D97-AF65-F5344CB8AC3E}">
        <p14:creationId xmlns:p14="http://schemas.microsoft.com/office/powerpoint/2010/main" val="888210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Synovial- Hinge joints </a:t>
            </a:r>
          </a:p>
        </p:txBody>
      </p:sp>
      <p:sp>
        <p:nvSpPr>
          <p:cNvPr id="3" name="Content Placeholder 2"/>
          <p:cNvSpPr>
            <a:spLocks noGrp="1"/>
          </p:cNvSpPr>
          <p:nvPr>
            <p:ph idx="1"/>
          </p:nvPr>
        </p:nvSpPr>
        <p:spPr>
          <a:xfrm>
            <a:off x="838200" y="1825625"/>
            <a:ext cx="5645727" cy="4351338"/>
          </a:xfrm>
        </p:spPr>
        <p:txBody>
          <a:bodyPr/>
          <a:lstStyle/>
          <a:p>
            <a:r>
              <a:rPr lang="en-AU" dirty="0"/>
              <a:t>Allows movement in one plane only, much like that of a hinged door. They form when the convex surface of one bone fits into the concave surface of another. The best examples of this type of joint are the elbow and the knee, but it also occurs at the ankle, and between the ones of the fingers and toes.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r="23578"/>
          <a:stretch/>
        </p:blipFill>
        <p:spPr>
          <a:xfrm>
            <a:off x="6721474" y="2182092"/>
            <a:ext cx="4857178" cy="3177876"/>
          </a:xfrm>
          <a:prstGeom prst="rect">
            <a:avLst/>
          </a:prstGeom>
        </p:spPr>
      </p:pic>
    </p:spTree>
    <p:extLst>
      <p:ext uri="{BB962C8B-B14F-4D97-AF65-F5344CB8AC3E}">
        <p14:creationId xmlns:p14="http://schemas.microsoft.com/office/powerpoint/2010/main" val="11301200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Synovial- Pivot joints </a:t>
            </a:r>
          </a:p>
        </p:txBody>
      </p:sp>
      <p:sp>
        <p:nvSpPr>
          <p:cNvPr id="3" name="Content Placeholder 2"/>
          <p:cNvSpPr>
            <a:spLocks noGrp="1"/>
          </p:cNvSpPr>
          <p:nvPr>
            <p:ph idx="1"/>
          </p:nvPr>
        </p:nvSpPr>
        <p:spPr>
          <a:xfrm>
            <a:off x="838200" y="1825625"/>
            <a:ext cx="5250873" cy="4351338"/>
          </a:xfrm>
        </p:spPr>
        <p:txBody>
          <a:bodyPr/>
          <a:lstStyle/>
          <a:p>
            <a:r>
              <a:rPr lang="en-AU" dirty="0"/>
              <a:t>Are formed when the rounded, pointed or conical end of one bone articulates with a ring, formed partly by bone and partly by ligament. The best example is the joint between the first vertebra, on which the head is balanced (the atlas) and the second vertebra (the axis). This allows the head to rotate.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Schematic of three synovial joints a Ball and socket joint b Hinge... |  Download Scientific Diagram"/>
          <p:cNvPicPr>
            <a:picLocks noChangeAspect="1" noChangeArrowheads="1"/>
          </p:cNvPicPr>
          <p:nvPr/>
        </p:nvPicPr>
        <p:blipFill rotWithShape="1">
          <a:blip r:embed="rId2">
            <a:extLst>
              <a:ext uri="{28A0092B-C50C-407E-A947-70E740481C1C}">
                <a14:useLocalDpi xmlns:a14="http://schemas.microsoft.com/office/drawing/2010/main" val="0"/>
              </a:ext>
            </a:extLst>
          </a:blip>
          <a:srcRect b="13384"/>
          <a:stretch/>
        </p:blipFill>
        <p:spPr bwMode="auto">
          <a:xfrm>
            <a:off x="6089073" y="2535382"/>
            <a:ext cx="5713660" cy="2414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522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Synovial- gliding joints </a:t>
            </a:r>
          </a:p>
        </p:txBody>
      </p:sp>
      <p:sp>
        <p:nvSpPr>
          <p:cNvPr id="3" name="Content Placeholder 2"/>
          <p:cNvSpPr>
            <a:spLocks noGrp="1"/>
          </p:cNvSpPr>
          <p:nvPr>
            <p:ph idx="1"/>
          </p:nvPr>
        </p:nvSpPr>
        <p:spPr>
          <a:xfrm>
            <a:off x="838200" y="1825625"/>
            <a:ext cx="5126182" cy="4351338"/>
          </a:xfrm>
        </p:spPr>
        <p:txBody>
          <a:bodyPr/>
          <a:lstStyle/>
          <a:p>
            <a:r>
              <a:rPr lang="en-AU" dirty="0"/>
              <a:t>Allows movement in any direction in a side-to-side or back-and-forth motion, restricted only by the ligaments or bony process surrounding the joints. Gliding joints are found between carpal bones, tarsal bones, the sternum and clavicle, and the scapula and clavicle.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b="13753"/>
          <a:stretch/>
        </p:blipFill>
        <p:spPr>
          <a:xfrm>
            <a:off x="5686169" y="2140527"/>
            <a:ext cx="6505831" cy="2805547"/>
          </a:xfrm>
          <a:prstGeom prst="rect">
            <a:avLst/>
          </a:prstGeom>
        </p:spPr>
      </p:pic>
    </p:spTree>
    <p:extLst>
      <p:ext uri="{BB962C8B-B14F-4D97-AF65-F5344CB8AC3E}">
        <p14:creationId xmlns:p14="http://schemas.microsoft.com/office/powerpoint/2010/main" val="1938383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Synovial- Saddle joint </a:t>
            </a:r>
          </a:p>
        </p:txBody>
      </p:sp>
      <p:sp>
        <p:nvSpPr>
          <p:cNvPr id="3" name="Content Placeholder 2"/>
          <p:cNvSpPr>
            <a:spLocks noGrp="1"/>
          </p:cNvSpPr>
          <p:nvPr>
            <p:ph idx="1"/>
          </p:nvPr>
        </p:nvSpPr>
        <p:spPr>
          <a:xfrm>
            <a:off x="838200" y="1825625"/>
            <a:ext cx="5541818" cy="4351338"/>
          </a:xfrm>
        </p:spPr>
        <p:txBody>
          <a:bodyPr/>
          <a:lstStyle/>
          <a:p>
            <a:r>
              <a:rPr lang="en-AU" dirty="0"/>
              <a:t>In the body where the thumb joins the palm of the hand. The two bones forming the joint are both saddle-shaped- that is, concave in one direction and convex in the other. They fit together in such a way they allow for side to side and back and forth movements.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t="16749"/>
          <a:stretch/>
        </p:blipFill>
        <p:spPr>
          <a:xfrm>
            <a:off x="6963843" y="2286000"/>
            <a:ext cx="4841529" cy="3103449"/>
          </a:xfrm>
          <a:prstGeom prst="rect">
            <a:avLst/>
          </a:prstGeom>
        </p:spPr>
      </p:pic>
    </p:spTree>
    <p:extLst>
      <p:ext uri="{BB962C8B-B14F-4D97-AF65-F5344CB8AC3E}">
        <p14:creationId xmlns:p14="http://schemas.microsoft.com/office/powerpoint/2010/main" val="23081858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Synovial- Condyloid joints  </a:t>
            </a:r>
          </a:p>
        </p:txBody>
      </p:sp>
      <p:sp>
        <p:nvSpPr>
          <p:cNvPr id="3" name="Content Placeholder 2"/>
          <p:cNvSpPr>
            <a:spLocks noGrp="1"/>
          </p:cNvSpPr>
          <p:nvPr>
            <p:ph idx="1"/>
          </p:nvPr>
        </p:nvSpPr>
        <p:spPr>
          <a:xfrm>
            <a:off x="270164" y="1825625"/>
            <a:ext cx="5673436" cy="4351338"/>
          </a:xfrm>
        </p:spPr>
        <p:txBody>
          <a:bodyPr>
            <a:normAutofit lnSpcReduction="10000"/>
          </a:bodyPr>
          <a:lstStyle/>
          <a:p>
            <a:r>
              <a:rPr lang="en-AU" dirty="0"/>
              <a:t>Have one surface of bone slightly convex that fits into a slightly concave depression in another bone. Such joints occur between the radius and the carpal bones, the metacarpal bones and the phalanges of the fingers, and between the metatarsal bones and the phalanges of the toes. They allow movement in two directions, such as up and down and side to side.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l="42431"/>
          <a:stretch/>
        </p:blipFill>
        <p:spPr>
          <a:xfrm>
            <a:off x="7803707" y="1690687"/>
            <a:ext cx="2836583" cy="4927283"/>
          </a:xfrm>
          <a:prstGeom prst="rect">
            <a:avLst/>
          </a:prstGeom>
        </p:spPr>
      </p:pic>
    </p:spTree>
    <p:extLst>
      <p:ext uri="{BB962C8B-B14F-4D97-AF65-F5344CB8AC3E}">
        <p14:creationId xmlns:p14="http://schemas.microsoft.com/office/powerpoint/2010/main" val="32741298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Structure of a synovial joint </a:t>
            </a:r>
          </a:p>
        </p:txBody>
      </p:sp>
      <p:sp>
        <p:nvSpPr>
          <p:cNvPr id="3" name="Content Placeholder 2"/>
          <p:cNvSpPr>
            <a:spLocks noGrp="1"/>
          </p:cNvSpPr>
          <p:nvPr>
            <p:ph idx="1"/>
          </p:nvPr>
        </p:nvSpPr>
        <p:spPr/>
        <p:txBody>
          <a:bodyPr/>
          <a:lstStyle/>
          <a:p>
            <a:r>
              <a:rPr lang="en-AU" dirty="0"/>
              <a:t>Freely movable joints are also called synovial joints because there is a space, or synovial cavity between the articulating surfaces of the bones. A synovial membrane surrounds the synovial cavity, and there is articular cartilage on the bone surfaces. </a:t>
            </a:r>
          </a:p>
          <a:p>
            <a:endParaRPr lang="en-AU" dirty="0"/>
          </a:p>
          <a:p>
            <a:r>
              <a:rPr lang="en-AU" dirty="0"/>
              <a:t>There are many following parts of this joint.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7286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Structure continued. </a:t>
            </a:r>
          </a:p>
        </p:txBody>
      </p:sp>
      <p:sp>
        <p:nvSpPr>
          <p:cNvPr id="3" name="Content Placeholder 2"/>
          <p:cNvSpPr>
            <a:spLocks noGrp="1"/>
          </p:cNvSpPr>
          <p:nvPr>
            <p:ph idx="1"/>
          </p:nvPr>
        </p:nvSpPr>
        <p:spPr/>
        <p:txBody>
          <a:bodyPr/>
          <a:lstStyle/>
          <a:p>
            <a:r>
              <a:rPr lang="en-AU" b="1" dirty="0"/>
              <a:t>Articular capsule </a:t>
            </a:r>
            <a:r>
              <a:rPr lang="en-AU" dirty="0"/>
              <a:t>surrounds and encloses the joint. </a:t>
            </a:r>
          </a:p>
          <a:p>
            <a:r>
              <a:rPr lang="en-AU" dirty="0"/>
              <a:t>The </a:t>
            </a:r>
            <a:r>
              <a:rPr lang="en-AU" b="1" dirty="0"/>
              <a:t>fibrous capsule </a:t>
            </a:r>
            <a:r>
              <a:rPr lang="en-AU" dirty="0"/>
              <a:t>is the outer layer, consisting of dense, fibrous connective tissue </a:t>
            </a:r>
          </a:p>
          <a:p>
            <a:r>
              <a:rPr lang="en-AU" dirty="0"/>
              <a:t>The </a:t>
            </a:r>
            <a:r>
              <a:rPr lang="en-AU" b="1" dirty="0"/>
              <a:t>synovial membrane </a:t>
            </a:r>
            <a:r>
              <a:rPr lang="en-AU" dirty="0"/>
              <a:t>is the inner layer consisting of loose connective tissue well supplied with blood capillaries. </a:t>
            </a:r>
          </a:p>
          <a:p>
            <a:r>
              <a:rPr lang="en-AU" b="1" dirty="0"/>
              <a:t>Synovial fluid</a:t>
            </a:r>
            <a:r>
              <a:rPr lang="en-AU" dirty="0"/>
              <a:t>, lubricates the joint </a:t>
            </a:r>
          </a:p>
          <a:p>
            <a:r>
              <a:rPr lang="en-AU" b="1" dirty="0"/>
              <a:t>Articular cartilage </a:t>
            </a:r>
            <a:r>
              <a:rPr lang="en-AU" dirty="0"/>
              <a:t>covers the articulating surfaces of the bones forming the joint.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87168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Structure continued. </a:t>
            </a:r>
          </a:p>
        </p:txBody>
      </p:sp>
      <p:sp>
        <p:nvSpPr>
          <p:cNvPr id="3" name="Content Placeholder 2"/>
          <p:cNvSpPr>
            <a:spLocks noGrp="1"/>
          </p:cNvSpPr>
          <p:nvPr>
            <p:ph idx="1"/>
          </p:nvPr>
        </p:nvSpPr>
        <p:spPr/>
        <p:txBody>
          <a:bodyPr/>
          <a:lstStyle/>
          <a:p>
            <a:r>
              <a:rPr lang="en-AU" b="1" dirty="0"/>
              <a:t>Articular discs </a:t>
            </a:r>
            <a:r>
              <a:rPr lang="en-AU" dirty="0"/>
              <a:t>occur in some synovial joints (knees) consisting of fibrocartilage that divides the synovial cavity into two, directing the fluid to where friction is greatest. </a:t>
            </a:r>
          </a:p>
          <a:p>
            <a:r>
              <a:rPr lang="en-AU" b="1" dirty="0"/>
              <a:t>Bursae</a:t>
            </a:r>
            <a:r>
              <a:rPr lang="en-AU" dirty="0"/>
              <a:t> (little sacs of synovial fluid) are found in some joints, they prevent friction. </a:t>
            </a:r>
          </a:p>
          <a:p>
            <a:r>
              <a:rPr lang="en-AU" b="1" dirty="0"/>
              <a:t>Ligaments</a:t>
            </a:r>
            <a:r>
              <a:rPr lang="en-AU" dirty="0"/>
              <a:t> hold the bones together in may joints e.g. ligaments in the knee.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9961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871654" y="287770"/>
            <a:ext cx="7708764" cy="639130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71412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419375" y="83128"/>
            <a:ext cx="8283261" cy="6674978"/>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55567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Movement at a joint</a:t>
            </a:r>
          </a:p>
        </p:txBody>
      </p:sp>
      <p:sp>
        <p:nvSpPr>
          <p:cNvPr id="3" name="Content Placeholder 2"/>
          <p:cNvSpPr>
            <a:spLocks noGrp="1"/>
          </p:cNvSpPr>
          <p:nvPr>
            <p:ph idx="1"/>
          </p:nvPr>
        </p:nvSpPr>
        <p:spPr/>
        <p:txBody>
          <a:bodyPr/>
          <a:lstStyle/>
          <a:p>
            <a:r>
              <a:rPr lang="en-AU" dirty="0"/>
              <a:t>Flexion and extension: </a:t>
            </a:r>
          </a:p>
          <a:p>
            <a:pPr lvl="1"/>
            <a:r>
              <a:rPr lang="en-AU" dirty="0"/>
              <a:t>Flexion (bending) decreases the angle between the articulating bones (come closer together). </a:t>
            </a:r>
          </a:p>
          <a:p>
            <a:pPr lvl="1"/>
            <a:r>
              <a:rPr lang="en-AU" dirty="0"/>
              <a:t>Extension (straightening) increases the angle between the articulating bones (move further apart). </a:t>
            </a:r>
          </a:p>
          <a:p>
            <a:r>
              <a:rPr lang="en-AU" dirty="0"/>
              <a:t>Abduction and adduction: </a:t>
            </a:r>
          </a:p>
          <a:p>
            <a:pPr lvl="1"/>
            <a:r>
              <a:rPr lang="en-AU" dirty="0"/>
              <a:t>Abduction is movement away from the midline of the body </a:t>
            </a:r>
          </a:p>
          <a:p>
            <a:pPr lvl="1"/>
            <a:r>
              <a:rPr lang="en-AU" dirty="0"/>
              <a:t>Adduction is movement towards the midline of the body</a:t>
            </a:r>
          </a:p>
          <a:p>
            <a:r>
              <a:rPr lang="en-AU" dirty="0"/>
              <a:t>Rotation is the movement of a bone around its long axis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85681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Osteoporosis </a:t>
            </a:r>
          </a:p>
        </p:txBody>
      </p:sp>
      <p:sp>
        <p:nvSpPr>
          <p:cNvPr id="3" name="Content Placeholder 2"/>
          <p:cNvSpPr>
            <a:spLocks noGrp="1"/>
          </p:cNvSpPr>
          <p:nvPr>
            <p:ph idx="1"/>
          </p:nvPr>
        </p:nvSpPr>
        <p:spPr/>
        <p:txBody>
          <a:bodyPr/>
          <a:lstStyle/>
          <a:p>
            <a:r>
              <a:rPr lang="en-AU" dirty="0"/>
              <a:t>The loss of bone mass becomes sufficient to impair normal function</a:t>
            </a:r>
          </a:p>
          <a:p>
            <a:endParaRPr lang="en-AU" dirty="0"/>
          </a:p>
          <a:p>
            <a:r>
              <a:rPr lang="en-AU" dirty="0"/>
              <a:t>As bone density decreases, the risk of fractures/damage increases. Bones most likely to be affected are vertebrae, ribs, pelvis, wrist and arms. </a:t>
            </a:r>
          </a:p>
          <a:p>
            <a:endParaRPr lang="en-AU" dirty="0"/>
          </a:p>
          <a:p>
            <a:r>
              <a:rPr lang="en-AU" dirty="0"/>
              <a:t>To prevent this, you need adequate calcium, vitamin D, exercise, to stop smoking and possibly medication.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73346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Osteoarthritis </a:t>
            </a:r>
          </a:p>
        </p:txBody>
      </p:sp>
      <p:sp>
        <p:nvSpPr>
          <p:cNvPr id="3" name="Content Placeholder 2"/>
          <p:cNvSpPr>
            <a:spLocks noGrp="1"/>
          </p:cNvSpPr>
          <p:nvPr>
            <p:ph idx="1"/>
          </p:nvPr>
        </p:nvSpPr>
        <p:spPr/>
        <p:txBody>
          <a:bodyPr/>
          <a:lstStyle/>
          <a:p>
            <a:r>
              <a:rPr lang="en-AU" dirty="0"/>
              <a:t>Gradual change in the joints that occurs over time and is frequently associated with ageing. Other factors (irritation, wear, abrasion) also contribute. </a:t>
            </a:r>
          </a:p>
          <a:p>
            <a:endParaRPr lang="en-AU" dirty="0"/>
          </a:p>
          <a:p>
            <a:r>
              <a:rPr lang="en-AU" dirty="0"/>
              <a:t>Joint cartilage deteriorates and so the bone is exposed and begins to wear away. This usually occurs when you are middle aged. </a:t>
            </a:r>
          </a:p>
          <a:p>
            <a:endParaRPr lang="en-AU" dirty="0"/>
          </a:p>
          <a:p>
            <a:r>
              <a:rPr lang="en-AU" dirty="0"/>
              <a:t>No cure, treatment includes medication, physiotherapy and surgery.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15448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Recall Knowledge </a:t>
            </a:r>
          </a:p>
        </p:txBody>
      </p:sp>
      <p:sp>
        <p:nvSpPr>
          <p:cNvPr id="3" name="Content Placeholder 2"/>
          <p:cNvSpPr>
            <a:spLocks noGrp="1"/>
          </p:cNvSpPr>
          <p:nvPr>
            <p:ph idx="1"/>
          </p:nvPr>
        </p:nvSpPr>
        <p:spPr/>
        <p:txBody>
          <a:bodyPr/>
          <a:lstStyle/>
          <a:p>
            <a:pPr marL="514350" indent="-514350">
              <a:buFont typeface="+mj-lt"/>
              <a:buAutoNum type="arabicPeriod"/>
            </a:pPr>
            <a:r>
              <a:rPr lang="en-AU" dirty="0"/>
              <a:t>What holds bundles of muscle cells together?</a:t>
            </a:r>
          </a:p>
          <a:p>
            <a:pPr marL="514350" indent="-514350">
              <a:buFont typeface="+mj-lt"/>
              <a:buAutoNum type="arabicPeriod"/>
            </a:pPr>
            <a:r>
              <a:rPr lang="en-AU" dirty="0"/>
              <a:t>What is a sarcolemma?</a:t>
            </a:r>
          </a:p>
          <a:p>
            <a:pPr marL="514350" indent="-514350">
              <a:buFont typeface="+mj-lt"/>
              <a:buAutoNum type="arabicPeriod"/>
            </a:pPr>
            <a:r>
              <a:rPr lang="en-AU" dirty="0"/>
              <a:t>Describe the importance of synergists. </a:t>
            </a:r>
          </a:p>
          <a:p>
            <a:pPr marL="514350" indent="-514350">
              <a:buFont typeface="+mj-lt"/>
              <a:buAutoNum type="arabicPeriod"/>
            </a:pPr>
            <a:r>
              <a:rPr lang="en-AU" dirty="0"/>
              <a:t>Describe the structure of an osteon. </a:t>
            </a:r>
          </a:p>
          <a:p>
            <a:pPr marL="514350" indent="-514350">
              <a:buFont typeface="+mj-lt"/>
              <a:buAutoNum type="arabicPeriod"/>
            </a:pPr>
            <a:r>
              <a:rPr lang="en-AU" dirty="0"/>
              <a:t>Describe the function of synovial fluid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Apply Knowledge </a:t>
            </a:r>
          </a:p>
        </p:txBody>
      </p:sp>
      <p:sp>
        <p:nvSpPr>
          <p:cNvPr id="3" name="Content Placeholder 2"/>
          <p:cNvSpPr>
            <a:spLocks noGrp="1"/>
          </p:cNvSpPr>
          <p:nvPr>
            <p:ph idx="1"/>
          </p:nvPr>
        </p:nvSpPr>
        <p:spPr/>
        <p:txBody>
          <a:bodyPr/>
          <a:lstStyle/>
          <a:p>
            <a:pPr marL="514350" indent="-514350">
              <a:buFont typeface="+mj-lt"/>
              <a:buAutoNum type="arabicPeriod"/>
            </a:pPr>
            <a:r>
              <a:rPr lang="en-AU" dirty="0"/>
              <a:t>Explain what happens to each of the following when a muscle contracts </a:t>
            </a:r>
          </a:p>
          <a:p>
            <a:pPr marL="971550" lvl="1" indent="-514350">
              <a:buFont typeface="+mj-lt"/>
              <a:buAutoNum type="alphaLcPeriod"/>
            </a:pPr>
            <a:r>
              <a:rPr lang="en-AU" dirty="0"/>
              <a:t>The A band </a:t>
            </a:r>
          </a:p>
          <a:p>
            <a:pPr marL="971550" lvl="1" indent="-514350">
              <a:buFont typeface="+mj-lt"/>
              <a:buAutoNum type="alphaLcPeriod"/>
            </a:pPr>
            <a:r>
              <a:rPr lang="en-AU" dirty="0"/>
              <a:t>The I band </a:t>
            </a:r>
          </a:p>
          <a:p>
            <a:pPr marL="971550" lvl="1" indent="-514350">
              <a:buFont typeface="+mj-lt"/>
              <a:buAutoNum type="alphaLcPeriod"/>
            </a:pPr>
            <a:r>
              <a:rPr lang="en-AU" dirty="0"/>
              <a:t>The sarcomere </a:t>
            </a:r>
          </a:p>
          <a:p>
            <a:pPr marL="514350" indent="-514350">
              <a:buFont typeface="+mj-lt"/>
              <a:buAutoNum type="arabicPeriod"/>
            </a:pPr>
            <a:r>
              <a:rPr lang="en-AU" dirty="0"/>
              <a:t>Explain the difference between a chondroblasts and a chondrocyte.</a:t>
            </a:r>
          </a:p>
          <a:p>
            <a:pPr marL="514350" indent="-514350">
              <a:buFont typeface="+mj-lt"/>
              <a:buAutoNum type="arabicPeriod"/>
            </a:pPr>
            <a:r>
              <a:rPr lang="en-AU" dirty="0"/>
              <a:t>Describe the difference between a tendon and a ligament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Homework</a:t>
            </a:r>
          </a:p>
        </p:txBody>
      </p:sp>
      <p:sp>
        <p:nvSpPr>
          <p:cNvPr id="3" name="Content Placeholder 2"/>
          <p:cNvSpPr>
            <a:spLocks noGrp="1"/>
          </p:cNvSpPr>
          <p:nvPr>
            <p:ph idx="1"/>
          </p:nvPr>
        </p:nvSpPr>
        <p:spPr/>
        <p:txBody>
          <a:bodyPr/>
          <a:lstStyle/>
          <a:p>
            <a:pPr marL="514350" indent="-514350">
              <a:buFont typeface="+mj-lt"/>
              <a:buAutoNum type="arabicPeriod"/>
            </a:pPr>
            <a:r>
              <a:rPr lang="en-AU" dirty="0"/>
              <a:t>Explain why osteoporosis often leads to bone fractures and pain.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a:t>Reading</a:t>
            </a:r>
            <a:r>
              <a:rPr lang="en-AU" dirty="0"/>
              <a:t> </a:t>
            </a:r>
          </a:p>
        </p:txBody>
      </p:sp>
      <p:sp>
        <p:nvSpPr>
          <p:cNvPr id="3" name="Content Placeholder 2"/>
          <p:cNvSpPr>
            <a:spLocks noGrp="1"/>
          </p:cNvSpPr>
          <p:nvPr>
            <p:ph idx="1"/>
          </p:nvPr>
        </p:nvSpPr>
        <p:spPr/>
        <p:txBody>
          <a:bodyPr/>
          <a:lstStyle/>
          <a:p>
            <a:r>
              <a:rPr lang="en-AU" dirty="0"/>
              <a:t>Pages 193- 218: The musculoskeletal system allows movement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3521</Words>
  <Application>Microsoft Office PowerPoint</Application>
  <PresentationFormat>Widescreen</PresentationFormat>
  <Paragraphs>366</Paragraphs>
  <Slides>77</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77</vt:i4>
      </vt:variant>
    </vt:vector>
  </HeadingPairs>
  <TitlesOfParts>
    <vt:vector size="82" baseType="lpstr">
      <vt:lpstr>Arial</vt:lpstr>
      <vt:lpstr>Calibri</vt:lpstr>
      <vt:lpstr>Calibri Light</vt:lpstr>
      <vt:lpstr>Office Theme</vt:lpstr>
      <vt:lpstr>1_Office Theme</vt:lpstr>
      <vt:lpstr>Musculoskeletal System</vt:lpstr>
      <vt:lpstr>SCSA Syllabus Reference </vt:lpstr>
      <vt:lpstr>Lesson Intention </vt:lpstr>
      <vt:lpstr>Success Criteria </vt:lpstr>
      <vt:lpstr>Success Criteria </vt:lpstr>
      <vt:lpstr>Success Criteria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Types of Muscles </vt:lpstr>
      <vt:lpstr>Skeletal Muscle- Structure </vt:lpstr>
      <vt:lpstr>Skeletal muscle fibres- Structure </vt:lpstr>
      <vt:lpstr>Myofibrils- Structure </vt:lpstr>
      <vt:lpstr>Myofibrils- Structure continued. </vt:lpstr>
      <vt:lpstr>PowerPoint Presentation</vt:lpstr>
      <vt:lpstr>Key Point </vt:lpstr>
      <vt:lpstr>Sliding Filament Theory </vt:lpstr>
      <vt:lpstr>PowerPoint Presentation</vt:lpstr>
      <vt:lpstr>PowerPoint Presentation</vt:lpstr>
      <vt:lpstr>Sliding Filament Theory continued </vt:lpstr>
      <vt:lpstr>Muscle Movement </vt:lpstr>
      <vt:lpstr>PowerPoint Presentation</vt:lpstr>
      <vt:lpstr>PowerPoint Presentation</vt:lpstr>
      <vt:lpstr>Muscle movement </vt:lpstr>
      <vt:lpstr>PowerPoint Presentation</vt:lpstr>
      <vt:lpstr>Synergists </vt:lpstr>
      <vt:lpstr>Muscle Tone </vt:lpstr>
      <vt:lpstr>Skeletal System- Function </vt:lpstr>
      <vt:lpstr>PowerPoint Presentation</vt:lpstr>
      <vt:lpstr>Bones of the skeleton </vt:lpstr>
      <vt:lpstr>PowerPoint Presentation</vt:lpstr>
      <vt:lpstr>Macroscopic structure of long bones </vt:lpstr>
      <vt:lpstr>PowerPoint Presentation</vt:lpstr>
      <vt:lpstr>Microscopic structure of bone </vt:lpstr>
      <vt:lpstr>Compact bone- structure </vt:lpstr>
      <vt:lpstr>Osteon </vt:lpstr>
      <vt:lpstr>PowerPoint Presentation</vt:lpstr>
      <vt:lpstr>Spongy Bone- structure </vt:lpstr>
      <vt:lpstr>PowerPoint Presentation</vt:lpstr>
      <vt:lpstr>Cartilage- Structure </vt:lpstr>
      <vt:lpstr>Cartilage- Structure continued. </vt:lpstr>
      <vt:lpstr>Types of cartilage- Hyaline </vt:lpstr>
      <vt:lpstr>Types of Cartilage- Elastic </vt:lpstr>
      <vt:lpstr>Types of Cartilage- Fibrocartilage</vt:lpstr>
      <vt:lpstr>PowerPoint Presentation</vt:lpstr>
      <vt:lpstr>Cartilage- again </vt:lpstr>
      <vt:lpstr>Movement of bones </vt:lpstr>
      <vt:lpstr>Fibrous or fixed joints </vt:lpstr>
      <vt:lpstr>Cartilaginous or slightly movable joints </vt:lpstr>
      <vt:lpstr>Synovial or freely movable joints </vt:lpstr>
      <vt:lpstr>Synovial- Ball and socket joints </vt:lpstr>
      <vt:lpstr>Synovial- Hinge joints </vt:lpstr>
      <vt:lpstr>Synovial- Pivot joints </vt:lpstr>
      <vt:lpstr>Synovial- gliding joints </vt:lpstr>
      <vt:lpstr>Synovial- Saddle joint </vt:lpstr>
      <vt:lpstr>Synovial- Condyloid joints  </vt:lpstr>
      <vt:lpstr>Structure of a synovial joint </vt:lpstr>
      <vt:lpstr>Structure continued. </vt:lpstr>
      <vt:lpstr>Structure continued. </vt:lpstr>
      <vt:lpstr>PowerPoint Presentation</vt:lpstr>
      <vt:lpstr>PowerPoint Presentation</vt:lpstr>
      <vt:lpstr>Movement at a joint</vt:lpstr>
      <vt:lpstr>Osteoporosis </vt:lpstr>
      <vt:lpstr>Osteoarthritis </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33</cp:revision>
  <dcterms:created xsi:type="dcterms:W3CDTF">2021-12-16T00:48:44Z</dcterms:created>
  <dcterms:modified xsi:type="dcterms:W3CDTF">2023-04-30T22:47:02Z</dcterms:modified>
</cp:coreProperties>
</file>
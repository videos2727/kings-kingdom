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7" r:id="rId7"/>
    <p:sldId id="268" r:id="rId8"/>
    <p:sldId id="260" r:id="rId9"/>
    <p:sldId id="269" r:id="rId10"/>
    <p:sldId id="270" r:id="rId11"/>
    <p:sldId id="271" r:id="rId12"/>
    <p:sldId id="272" r:id="rId13"/>
    <p:sldId id="273" r:id="rId14"/>
    <p:sldId id="274" r:id="rId15"/>
    <p:sldId id="275" r:id="rId16"/>
    <p:sldId id="276" r:id="rId17"/>
    <p:sldId id="261" r:id="rId18"/>
    <p:sldId id="277" r:id="rId19"/>
    <p:sldId id="279" r:id="rId20"/>
    <p:sldId id="283" r:id="rId21"/>
    <p:sldId id="284" r:id="rId22"/>
    <p:sldId id="285" r:id="rId23"/>
    <p:sldId id="280" r:id="rId24"/>
    <p:sldId id="281" r:id="rId25"/>
    <p:sldId id="282" r:id="rId26"/>
    <p:sldId id="286" r:id="rId27"/>
    <p:sldId id="287" r:id="rId28"/>
    <p:sldId id="288" r:id="rId29"/>
    <p:sldId id="290" r:id="rId30"/>
    <p:sldId id="291" r:id="rId31"/>
    <p:sldId id="293" r:id="rId32"/>
    <p:sldId id="292" r:id="rId33"/>
    <p:sldId id="301" r:id="rId34"/>
    <p:sldId id="262" r:id="rId35"/>
    <p:sldId id="302" r:id="rId36"/>
    <p:sldId id="294" r:id="rId37"/>
    <p:sldId id="289" r:id="rId38"/>
    <p:sldId id="303" r:id="rId39"/>
    <p:sldId id="295" r:id="rId40"/>
    <p:sldId id="300" r:id="rId41"/>
    <p:sldId id="296" r:id="rId42"/>
    <p:sldId id="297" r:id="rId43"/>
    <p:sldId id="299" r:id="rId44"/>
    <p:sldId id="304" r:id="rId45"/>
    <p:sldId id="305" r:id="rId46"/>
    <p:sldId id="308" r:id="rId47"/>
    <p:sldId id="309" r:id="rId48"/>
    <p:sldId id="298" r:id="rId49"/>
    <p:sldId id="306" r:id="rId50"/>
    <p:sldId id="263" r:id="rId51"/>
    <p:sldId id="264" r:id="rId52"/>
    <p:sldId id="265" r:id="rId53"/>
    <p:sldId id="266"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16/06/2022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16/06/2022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16/06/2022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16/06/2022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16/06/2022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16/06/2022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16/06/2022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16/06/2022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16/06/2022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16/06/2022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16/06/2022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16/06/2022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16/06/2022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16/06/2022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16/06/2022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DNA</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#14</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a:xfrm>
            <a:off x="348343" y="1480456"/>
            <a:ext cx="11582400" cy="5181601"/>
          </a:xfrm>
        </p:spPr>
        <p:txBody>
          <a:bodyPr>
            <a:normAutofit fontScale="77500" lnSpcReduction="20000"/>
          </a:bodyPr>
          <a:lstStyle/>
          <a:p>
            <a:r>
              <a:rPr lang="en-AU" dirty="0" smtClean="0"/>
              <a:t>DNA occurs bound to proteins in chromosomes in the nucleus and as unbound DNA in the mitochondria. </a:t>
            </a:r>
          </a:p>
          <a:p>
            <a:endParaRPr lang="en-AU" dirty="0"/>
          </a:p>
          <a:p>
            <a:r>
              <a:rPr lang="en-AU" dirty="0" smtClean="0"/>
              <a:t>DNA stores the information for the production of proteins that determines the structure and function of cells </a:t>
            </a:r>
          </a:p>
          <a:p>
            <a:endParaRPr lang="en-AU" dirty="0" smtClean="0"/>
          </a:p>
          <a:p>
            <a:r>
              <a:rPr lang="en-AU" dirty="0"/>
              <a:t>the structural properties of the helical DNA molecule, including double-stranded, nucleotide composition and weak bonds involved in base pairing between the complementary strands, allow for its replication</a:t>
            </a:r>
          </a:p>
          <a:p>
            <a:endParaRPr lang="en-AU" dirty="0"/>
          </a:p>
          <a:p>
            <a:r>
              <a:rPr lang="en-AU" dirty="0"/>
              <a:t>protein synthesis involves the transcription of a gene on DNA into messenger ribonucleic acid (RNA) in the nucleus, and translation into an amino acid sequence at the ribosome with the aid of transfer </a:t>
            </a:r>
            <a:r>
              <a:rPr lang="en-AU" dirty="0" smtClean="0"/>
              <a:t>RNA</a:t>
            </a:r>
          </a:p>
          <a:p>
            <a:endParaRPr lang="en-AU" dirty="0"/>
          </a:p>
          <a:p>
            <a:r>
              <a:rPr lang="en-AU" dirty="0"/>
              <a:t>Epigenetics is the study of phenotypic expression of genes, which depends on the factors controlling transcription and translation during protein synthesis, the products of other genes, and the environment</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normAutofit/>
          </a:bodyPr>
          <a:lstStyle/>
          <a:p>
            <a:r>
              <a:rPr lang="en-AU" dirty="0"/>
              <a:t>To explore the structure of DNA </a:t>
            </a:r>
          </a:p>
          <a:p>
            <a:r>
              <a:rPr lang="en-AU" dirty="0" smtClean="0"/>
              <a:t>To </a:t>
            </a:r>
            <a:r>
              <a:rPr lang="en-AU" dirty="0"/>
              <a:t>explore the structure of chromosomes </a:t>
            </a:r>
          </a:p>
          <a:p>
            <a:r>
              <a:rPr lang="en-AU" dirty="0"/>
              <a:t>To explore the structure of mitochondrial DNA </a:t>
            </a:r>
            <a:endParaRPr lang="en-AU" dirty="0" smtClean="0"/>
          </a:p>
          <a:p>
            <a:r>
              <a:rPr lang="en-AU" dirty="0" smtClean="0"/>
              <a:t>To </a:t>
            </a:r>
            <a:r>
              <a:rPr lang="en-AU" dirty="0"/>
              <a:t>explore the processes of DNA replication and protein synthesis </a:t>
            </a:r>
            <a:endParaRPr lang="en-AU" dirty="0" smtClean="0"/>
          </a:p>
          <a:p>
            <a:r>
              <a:rPr lang="en-AU" dirty="0" smtClean="0"/>
              <a:t>To </a:t>
            </a:r>
            <a:r>
              <a:rPr lang="en-AU" dirty="0"/>
              <a:t>explore the process of protein synthesis </a:t>
            </a:r>
            <a:endParaRPr lang="en-AU" dirty="0" smtClean="0"/>
          </a:p>
          <a:p>
            <a:r>
              <a:rPr lang="en-AU" dirty="0" smtClean="0"/>
              <a:t>To </a:t>
            </a:r>
            <a:r>
              <a:rPr lang="en-AU" dirty="0"/>
              <a:t>explore the process of gene expression, lipid and carbohydrate synthesis </a:t>
            </a:r>
          </a:p>
          <a:p>
            <a:r>
              <a:rPr lang="en-AU" dirty="0"/>
              <a:t>To explore the concept of epigenetics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a:xfrm>
            <a:off x="252549" y="1690687"/>
            <a:ext cx="11834948" cy="4910409"/>
          </a:xfrm>
        </p:spPr>
        <p:txBody>
          <a:bodyPr/>
          <a:lstStyle/>
          <a:p>
            <a:r>
              <a:rPr lang="en-AU" dirty="0" smtClean="0"/>
              <a:t>identify </a:t>
            </a:r>
            <a:r>
              <a:rPr lang="en-AU" dirty="0"/>
              <a:t>the components in the structure of DNA </a:t>
            </a:r>
          </a:p>
          <a:p>
            <a:r>
              <a:rPr lang="en-AU" dirty="0" smtClean="0"/>
              <a:t>describe </a:t>
            </a:r>
            <a:r>
              <a:rPr lang="en-AU" dirty="0"/>
              <a:t>the structure of DNA </a:t>
            </a:r>
          </a:p>
          <a:p>
            <a:r>
              <a:rPr lang="en-AU" dirty="0" smtClean="0"/>
              <a:t>construct </a:t>
            </a:r>
            <a:r>
              <a:rPr lang="en-AU" dirty="0"/>
              <a:t>DNA molecules following base pairing rules </a:t>
            </a:r>
            <a:endParaRPr lang="en-AU" dirty="0" smtClean="0"/>
          </a:p>
          <a:p>
            <a:r>
              <a:rPr lang="en-AU" dirty="0" smtClean="0"/>
              <a:t>describe </a:t>
            </a:r>
            <a:r>
              <a:rPr lang="en-AU" dirty="0"/>
              <a:t>the structure of chromosomes </a:t>
            </a:r>
          </a:p>
          <a:p>
            <a:r>
              <a:rPr lang="en-AU" dirty="0" smtClean="0"/>
              <a:t>describe </a:t>
            </a:r>
            <a:r>
              <a:rPr lang="en-AU" dirty="0"/>
              <a:t>the structure of mitochondrial DNA </a:t>
            </a:r>
          </a:p>
          <a:p>
            <a:r>
              <a:rPr lang="en-AU" dirty="0" smtClean="0"/>
              <a:t>describe </a:t>
            </a:r>
            <a:r>
              <a:rPr lang="en-AU" dirty="0"/>
              <a:t>the role of mitochondrial </a:t>
            </a:r>
            <a:r>
              <a:rPr lang="en-AU" dirty="0" smtClean="0"/>
              <a:t>DNA</a:t>
            </a:r>
          </a:p>
          <a:p>
            <a:r>
              <a:rPr lang="en-AU" dirty="0"/>
              <a:t> </a:t>
            </a:r>
            <a:r>
              <a:rPr lang="en-AU" dirty="0" smtClean="0"/>
              <a:t>explain </a:t>
            </a:r>
            <a:r>
              <a:rPr lang="en-AU" dirty="0"/>
              <a:t>the stages of DNA replication </a:t>
            </a:r>
          </a:p>
          <a:p>
            <a:r>
              <a:rPr lang="en-AU" dirty="0" smtClean="0"/>
              <a:t>describe </a:t>
            </a:r>
            <a:r>
              <a:rPr lang="en-AU" dirty="0"/>
              <a:t>the structure of RNA </a:t>
            </a:r>
          </a:p>
          <a:p>
            <a:r>
              <a:rPr lang="en-AU" dirty="0" smtClean="0"/>
              <a:t>identify </a:t>
            </a:r>
            <a:r>
              <a:rPr lang="en-AU" dirty="0"/>
              <a:t>the different types of RNA and state their role in protein synthesis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a:xfrm>
            <a:off x="707571" y="2055222"/>
            <a:ext cx="10515600" cy="3895317"/>
          </a:xfrm>
        </p:spPr>
        <p:txBody>
          <a:bodyPr>
            <a:normAutofit/>
          </a:bodyPr>
          <a:lstStyle/>
          <a:p>
            <a:r>
              <a:rPr lang="en-AU" dirty="0" smtClean="0"/>
              <a:t>explain </a:t>
            </a:r>
            <a:r>
              <a:rPr lang="en-AU" dirty="0"/>
              <a:t>the process of DNA becoming proteins </a:t>
            </a:r>
          </a:p>
          <a:p>
            <a:r>
              <a:rPr lang="en-AU" dirty="0" smtClean="0"/>
              <a:t>explain </a:t>
            </a:r>
            <a:r>
              <a:rPr lang="en-AU" dirty="0"/>
              <a:t>the process of transcription </a:t>
            </a:r>
          </a:p>
          <a:p>
            <a:r>
              <a:rPr lang="en-AU" dirty="0" smtClean="0"/>
              <a:t>explain </a:t>
            </a:r>
            <a:r>
              <a:rPr lang="en-AU" dirty="0"/>
              <a:t>the process of </a:t>
            </a:r>
            <a:r>
              <a:rPr lang="en-AU" dirty="0" smtClean="0"/>
              <a:t>translation</a:t>
            </a:r>
          </a:p>
          <a:p>
            <a:r>
              <a:rPr lang="en-AU" dirty="0"/>
              <a:t> </a:t>
            </a:r>
            <a:r>
              <a:rPr lang="en-AU" dirty="0" smtClean="0"/>
              <a:t>describe </a:t>
            </a:r>
            <a:r>
              <a:rPr lang="en-AU" dirty="0"/>
              <a:t>the process of gene expression </a:t>
            </a:r>
          </a:p>
          <a:p>
            <a:r>
              <a:rPr lang="en-AU" dirty="0" smtClean="0"/>
              <a:t>describe </a:t>
            </a:r>
            <a:r>
              <a:rPr lang="en-AU" dirty="0"/>
              <a:t>the process of lipid synthesis </a:t>
            </a:r>
          </a:p>
          <a:p>
            <a:r>
              <a:rPr lang="en-AU" dirty="0" smtClean="0"/>
              <a:t>describe </a:t>
            </a:r>
            <a:r>
              <a:rPr lang="en-AU" dirty="0"/>
              <a:t>the process of carbohydrate synthesis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1978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recall </a:t>
            </a:r>
            <a:r>
              <a:rPr lang="en-AU" dirty="0"/>
              <a:t>the different types of nucleic acids </a:t>
            </a:r>
          </a:p>
          <a:p>
            <a:r>
              <a:rPr lang="en-AU" dirty="0" smtClean="0"/>
              <a:t>describe </a:t>
            </a:r>
            <a:r>
              <a:rPr lang="en-AU" dirty="0"/>
              <a:t>the concept of epigenetics </a:t>
            </a:r>
          </a:p>
          <a:p>
            <a:r>
              <a:rPr lang="en-AU" dirty="0" smtClean="0"/>
              <a:t>explain </a:t>
            </a:r>
            <a:r>
              <a:rPr lang="en-AU" dirty="0"/>
              <a:t>the relationship between the environment and the epigenome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4105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DNA</a:t>
            </a:r>
            <a:r>
              <a:rPr lang="en-AU" dirty="0"/>
              <a:t>: a molecule in the nucleus of a cell that determines the types of proteins a cell can make. </a:t>
            </a:r>
            <a:endParaRPr lang="en-AU" dirty="0" smtClean="0"/>
          </a:p>
          <a:p>
            <a:endParaRPr lang="en-AU" dirty="0"/>
          </a:p>
          <a:p>
            <a:r>
              <a:rPr lang="en-AU" b="1" dirty="0"/>
              <a:t>Nuclear DNA</a:t>
            </a:r>
            <a:r>
              <a:rPr lang="en-AU" dirty="0"/>
              <a:t>: DNA found in the nucleus. </a:t>
            </a:r>
            <a:endParaRPr lang="en-AU" dirty="0" smtClean="0"/>
          </a:p>
          <a:p>
            <a:endParaRPr lang="en-AU" dirty="0"/>
          </a:p>
          <a:p>
            <a:r>
              <a:rPr lang="en-AU" b="1" dirty="0"/>
              <a:t>Nucleotide</a:t>
            </a:r>
            <a:r>
              <a:rPr lang="en-AU" dirty="0"/>
              <a:t>: units of phosphate, sugar and nitrogen base that make up the DNA molecule.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Mitochondrial DNA</a:t>
            </a:r>
            <a:r>
              <a:rPr lang="en-AU" dirty="0"/>
              <a:t>: DNA found in the mitochondria </a:t>
            </a:r>
            <a:endParaRPr lang="en-AU" dirty="0" smtClean="0"/>
          </a:p>
          <a:p>
            <a:endParaRPr lang="en-AU" dirty="0" smtClean="0"/>
          </a:p>
          <a:p>
            <a:r>
              <a:rPr lang="en-AU" b="1" dirty="0"/>
              <a:t>Chromosome</a:t>
            </a:r>
            <a:r>
              <a:rPr lang="en-AU" dirty="0"/>
              <a:t>: One of the 46 rod-like structures that appear in the nucleus of a human cell at the commencement of cell division </a:t>
            </a:r>
            <a:endParaRPr lang="en-AU" dirty="0" smtClean="0"/>
          </a:p>
          <a:p>
            <a:endParaRPr lang="en-AU" dirty="0"/>
          </a:p>
          <a:p>
            <a:r>
              <a:rPr lang="en-AU" b="1" dirty="0"/>
              <a:t>Histone</a:t>
            </a:r>
            <a:r>
              <a:rPr lang="en-AU" dirty="0"/>
              <a:t>: a special protein around which DNA is coiled to form chromatin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2514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Nucleosome</a:t>
            </a:r>
            <a:r>
              <a:rPr lang="en-AU" dirty="0"/>
              <a:t>: a length of DNA wound around eight histone proteins </a:t>
            </a:r>
            <a:endParaRPr lang="en-AU" dirty="0" smtClean="0"/>
          </a:p>
          <a:p>
            <a:endParaRPr lang="en-AU" dirty="0"/>
          </a:p>
          <a:p>
            <a:r>
              <a:rPr lang="en-AU" b="1" dirty="0"/>
              <a:t>Chromatin</a:t>
            </a:r>
            <a:r>
              <a:rPr lang="en-AU" dirty="0"/>
              <a:t>: a tangled network of DNA in the nucleus of a cell that is not dividing  </a:t>
            </a:r>
            <a:endParaRPr lang="en-AU" dirty="0" smtClean="0"/>
          </a:p>
          <a:p>
            <a:endParaRPr lang="en-AU" dirty="0"/>
          </a:p>
          <a:p>
            <a:r>
              <a:rPr lang="en-AU" b="1" dirty="0"/>
              <a:t>Gene</a:t>
            </a:r>
            <a:r>
              <a:rPr lang="en-AU" dirty="0"/>
              <a:t>: section of a chromosome that contains the nucleotide sequence coding for a particular trait.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1406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DNA Replication: </a:t>
            </a:r>
            <a:r>
              <a:rPr lang="en-AU" dirty="0"/>
              <a:t>the production of an identical copy of DNA. </a:t>
            </a:r>
            <a:endParaRPr lang="en-AU" dirty="0" smtClean="0"/>
          </a:p>
          <a:p>
            <a:endParaRPr lang="en-AU" dirty="0"/>
          </a:p>
          <a:p>
            <a:r>
              <a:rPr lang="en-AU" b="1" dirty="0"/>
              <a:t>Helicase</a:t>
            </a:r>
            <a:r>
              <a:rPr lang="en-AU" dirty="0"/>
              <a:t>: the enzyme responsible for the separation of DNA strands during replication </a:t>
            </a:r>
            <a:endParaRPr lang="en-AU" dirty="0" smtClean="0"/>
          </a:p>
          <a:p>
            <a:endParaRPr lang="en-AU" dirty="0"/>
          </a:p>
          <a:p>
            <a:r>
              <a:rPr lang="en-AU" b="1" dirty="0"/>
              <a:t>DNA polymerase</a:t>
            </a:r>
            <a:r>
              <a:rPr lang="en-AU" dirty="0"/>
              <a:t>: </a:t>
            </a:r>
            <a:r>
              <a:rPr lang="en-AU" dirty="0" smtClean="0"/>
              <a:t>Enzyme </a:t>
            </a:r>
            <a:r>
              <a:rPr lang="en-AU" dirty="0"/>
              <a:t>that joins nucleotides together </a:t>
            </a:r>
            <a:endParaRPr lang="en-AU" dirty="0" smtClean="0"/>
          </a:p>
          <a:p>
            <a:endParaRPr lang="en-AU" dirty="0"/>
          </a:p>
          <a:p>
            <a:r>
              <a:rPr lang="en-AU" b="1" dirty="0"/>
              <a:t>DNA ligase</a:t>
            </a:r>
            <a:r>
              <a:rPr lang="en-AU" dirty="0"/>
              <a:t>: Enzyme that joins short sections of DNA together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512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26719" y="1550126"/>
            <a:ext cx="11469189" cy="5068388"/>
          </a:xfrm>
        </p:spPr>
        <p:txBody>
          <a:bodyPr/>
          <a:lstStyle/>
          <a:p>
            <a:r>
              <a:rPr lang="en-AU" b="1" dirty="0"/>
              <a:t>Ribonucleic Acids</a:t>
            </a:r>
            <a:r>
              <a:rPr lang="en-AU" dirty="0"/>
              <a:t>: A special molecule that takes the code for amino acids from DNA to the ribosomes  </a:t>
            </a:r>
            <a:endParaRPr lang="en-AU" dirty="0" smtClean="0"/>
          </a:p>
          <a:p>
            <a:endParaRPr lang="en-AU" dirty="0"/>
          </a:p>
          <a:p>
            <a:r>
              <a:rPr lang="en-AU" b="1" dirty="0"/>
              <a:t>Messenger RNA</a:t>
            </a:r>
            <a:r>
              <a:rPr lang="en-AU" dirty="0"/>
              <a:t>: An RNA molecule that transfers coded information from the nucleus to the ribosomes. </a:t>
            </a:r>
            <a:endParaRPr lang="en-AU" dirty="0" smtClean="0"/>
          </a:p>
          <a:p>
            <a:endParaRPr lang="en-AU" dirty="0"/>
          </a:p>
          <a:p>
            <a:r>
              <a:rPr lang="en-AU" b="1" dirty="0"/>
              <a:t>Ribosomal RNA</a:t>
            </a:r>
            <a:r>
              <a:rPr lang="en-AU" dirty="0"/>
              <a:t>: Nucleic acids that form part of the ribosomes. </a:t>
            </a:r>
            <a:endParaRPr lang="en-AU" dirty="0" smtClean="0"/>
          </a:p>
          <a:p>
            <a:endParaRPr lang="en-AU" dirty="0"/>
          </a:p>
          <a:p>
            <a:r>
              <a:rPr lang="en-AU" b="1" dirty="0"/>
              <a:t>Transfer RNA</a:t>
            </a:r>
            <a:r>
              <a:rPr lang="en-AU" dirty="0"/>
              <a:t>: An RNA molecule that brings amino acids from the cytoplasm to the ribosomes.</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2148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Triplet</a:t>
            </a:r>
            <a:r>
              <a:rPr lang="en-AU" dirty="0"/>
              <a:t>: a sequence of three bases that is the code for a particular amino acid; also called a base triplet </a:t>
            </a:r>
            <a:endParaRPr lang="en-AU" dirty="0" smtClean="0"/>
          </a:p>
          <a:p>
            <a:endParaRPr lang="en-AU" dirty="0"/>
          </a:p>
          <a:p>
            <a:r>
              <a:rPr lang="en-AU" b="1" dirty="0" smtClean="0"/>
              <a:t>Transcription</a:t>
            </a:r>
            <a:r>
              <a:rPr lang="en-AU" dirty="0" smtClean="0"/>
              <a:t>: </a:t>
            </a:r>
            <a:r>
              <a:rPr lang="en-AU" dirty="0"/>
              <a:t>the process by which messenger RNA is formed, using the code in a DNA molecule by matching the sequence of nucleotides </a:t>
            </a:r>
            <a:endParaRPr lang="en-AU" dirty="0" smtClean="0"/>
          </a:p>
          <a:p>
            <a:endParaRPr lang="en-AU" dirty="0"/>
          </a:p>
          <a:p>
            <a:r>
              <a:rPr lang="en-AU" b="1" dirty="0"/>
              <a:t>RNA polymerase</a:t>
            </a:r>
            <a:r>
              <a:rPr lang="en-AU" dirty="0"/>
              <a:t>: an enzyme that is active during transcription of RNA from DNA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9739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Template strand</a:t>
            </a:r>
            <a:r>
              <a:rPr lang="en-AU" dirty="0"/>
              <a:t>: the strand of a DNA molecule that is used to form the sequence of bases in mRNA and is copied during transcription  </a:t>
            </a:r>
            <a:endParaRPr lang="en-AU" dirty="0" smtClean="0"/>
          </a:p>
          <a:p>
            <a:endParaRPr lang="en-AU" dirty="0"/>
          </a:p>
          <a:p>
            <a:r>
              <a:rPr lang="en-AU" b="1" dirty="0"/>
              <a:t>Coding strand</a:t>
            </a:r>
            <a:r>
              <a:rPr lang="en-AU" dirty="0"/>
              <a:t>: the strand of a DNA molecule that is not used to form mRNA </a:t>
            </a:r>
            <a:endParaRPr lang="en-AU" dirty="0" smtClean="0"/>
          </a:p>
          <a:p>
            <a:endParaRPr lang="en-AU" dirty="0"/>
          </a:p>
          <a:p>
            <a:r>
              <a:rPr lang="en-AU" b="1" dirty="0" smtClean="0"/>
              <a:t>Translation</a:t>
            </a:r>
            <a:r>
              <a:rPr lang="en-AU" dirty="0" smtClean="0"/>
              <a:t>: </a:t>
            </a:r>
            <a:r>
              <a:rPr lang="en-AU" dirty="0"/>
              <a:t>the production of a protein using the information coded in the mRNA molecule; another name for protein synthesis.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548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b="1" dirty="0"/>
              <a:t>Codon</a:t>
            </a:r>
            <a:r>
              <a:rPr lang="en-AU" dirty="0"/>
              <a:t>: the strand of a DNA molecule that is not used to form mRNA </a:t>
            </a:r>
            <a:endParaRPr lang="en-AU" dirty="0" smtClean="0"/>
          </a:p>
          <a:p>
            <a:endParaRPr lang="en-AU" dirty="0"/>
          </a:p>
          <a:p>
            <a:r>
              <a:rPr lang="en-AU" b="1" dirty="0"/>
              <a:t>Anticodon</a:t>
            </a:r>
            <a:r>
              <a:rPr lang="en-AU" dirty="0"/>
              <a:t>: a sequence of three bases in a tRNA molecule that binds to a complementary sequence of three bases (the codon) in an mRNA molecule, to specify a particular amino acid during protein </a:t>
            </a:r>
            <a:r>
              <a:rPr lang="en-AU" dirty="0" smtClean="0"/>
              <a:t>synthesis</a:t>
            </a:r>
          </a:p>
          <a:p>
            <a:endParaRPr lang="en-AU" dirty="0"/>
          </a:p>
          <a:p>
            <a:r>
              <a:rPr lang="en-AU" b="1" dirty="0"/>
              <a:t>Gene expression</a:t>
            </a:r>
            <a:r>
              <a:rPr lang="en-AU" dirty="0"/>
              <a:t>: the process where information in a gene is used to make a product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2291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237308" y="1538241"/>
            <a:ext cx="11736977" cy="5184775"/>
          </a:xfrm>
        </p:spPr>
        <p:txBody>
          <a:bodyPr/>
          <a:lstStyle/>
          <a:p>
            <a:r>
              <a:rPr lang="en-AU" b="1" dirty="0"/>
              <a:t>Epigenetic</a:t>
            </a:r>
            <a:r>
              <a:rPr lang="en-AU" dirty="0"/>
              <a:t>: altering expression of a gene without changing the gene structure </a:t>
            </a:r>
            <a:endParaRPr lang="en-AU" dirty="0" smtClean="0"/>
          </a:p>
          <a:p>
            <a:endParaRPr lang="en-AU" dirty="0"/>
          </a:p>
          <a:p>
            <a:r>
              <a:rPr lang="en-AU" b="1" dirty="0"/>
              <a:t>Acetylation</a:t>
            </a:r>
            <a:r>
              <a:rPr lang="en-AU" dirty="0"/>
              <a:t>: addition an acetyl group to a histone protein so that gene expression is enhanced </a:t>
            </a:r>
            <a:endParaRPr lang="en-AU" dirty="0" smtClean="0"/>
          </a:p>
          <a:p>
            <a:endParaRPr lang="en-AU" dirty="0"/>
          </a:p>
          <a:p>
            <a:r>
              <a:rPr lang="en-AU" b="1" dirty="0"/>
              <a:t>Methylation</a:t>
            </a:r>
            <a:r>
              <a:rPr lang="en-AU" dirty="0"/>
              <a:t>: the addition of a methyl group to a DNA molecule that results in inhibition of gene expression </a:t>
            </a:r>
            <a:endParaRPr lang="en-AU" dirty="0" smtClean="0"/>
          </a:p>
          <a:p>
            <a:endParaRPr lang="en-AU" dirty="0"/>
          </a:p>
          <a:p>
            <a:r>
              <a:rPr lang="en-AU" b="1" dirty="0" err="1"/>
              <a:t>CpG</a:t>
            </a:r>
            <a:r>
              <a:rPr lang="en-AU" b="1" dirty="0"/>
              <a:t> sites</a:t>
            </a:r>
            <a:r>
              <a:rPr lang="en-AU" dirty="0"/>
              <a:t>: a site on a DNA molecule where a cytosine nucleotide is next to a guanine nucleotide; DNA methylation usually occurs at these sites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0775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Structure of DNA </a:t>
            </a:r>
            <a:endParaRPr lang="en-AU" sz="6000" b="1" dirty="0"/>
          </a:p>
        </p:txBody>
      </p:sp>
      <p:sp>
        <p:nvSpPr>
          <p:cNvPr id="3" name="Content Placeholder 2"/>
          <p:cNvSpPr>
            <a:spLocks noGrp="1"/>
          </p:cNvSpPr>
          <p:nvPr>
            <p:ph idx="1"/>
          </p:nvPr>
        </p:nvSpPr>
        <p:spPr/>
        <p:txBody>
          <a:bodyPr/>
          <a:lstStyle/>
          <a:p>
            <a:r>
              <a:rPr lang="en-AU" dirty="0" smtClean="0"/>
              <a:t>DNA (Deoxyribonucleic Acid) is one of the two main types of nucleic acids found in the body. The other is RNA, or ribonucleic acid. </a:t>
            </a:r>
          </a:p>
          <a:p>
            <a:endParaRPr lang="en-AU" dirty="0"/>
          </a:p>
          <a:p>
            <a:r>
              <a:rPr lang="en-AU" dirty="0" smtClean="0"/>
              <a:t>In DNA, there are repeating units of nucleotides, each composed of a sugar molecule, a phosphate group and a nitrogenous base. </a:t>
            </a:r>
          </a:p>
          <a:p>
            <a:endParaRPr lang="en-AU" dirty="0"/>
          </a:p>
          <a:p>
            <a:r>
              <a:rPr lang="en-AU" dirty="0" smtClean="0"/>
              <a:t>The four nitrogenous bases are adenine (A), thymine (T), guanine (G), and cytosine (C).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5152"/>
            <a:ext cx="10515600" cy="1325563"/>
          </a:xfrm>
        </p:spPr>
        <p:txBody>
          <a:bodyPr>
            <a:normAutofit/>
          </a:bodyPr>
          <a:lstStyle/>
          <a:p>
            <a:r>
              <a:rPr lang="en-AU" sz="6000" b="1" dirty="0" smtClean="0"/>
              <a:t>Structure of DNA continued</a:t>
            </a:r>
            <a:endParaRPr lang="en-AU" sz="6000" b="1" dirty="0"/>
          </a:p>
        </p:txBody>
      </p:sp>
      <p:sp>
        <p:nvSpPr>
          <p:cNvPr id="3" name="Content Placeholder 2"/>
          <p:cNvSpPr>
            <a:spLocks noGrp="1"/>
          </p:cNvSpPr>
          <p:nvPr>
            <p:ph idx="1"/>
          </p:nvPr>
        </p:nvSpPr>
        <p:spPr>
          <a:xfrm>
            <a:off x="219891" y="1489591"/>
            <a:ext cx="3886879" cy="5184775"/>
          </a:xfrm>
        </p:spPr>
        <p:txBody>
          <a:bodyPr/>
          <a:lstStyle/>
          <a:p>
            <a:r>
              <a:rPr lang="en-AU" dirty="0" smtClean="0"/>
              <a:t>The sugar molecule of one nucleotide bonds to the phosphate group of another. Two strands join by weak hydrogen bonds in a double helix shape</a:t>
            </a:r>
            <a:r>
              <a:rPr lang="en-AU" dirty="0"/>
              <a:t>. The order in which the nitrogenous bases occur in the DNA molecule determines the genetic code.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4106770" y="1510715"/>
            <a:ext cx="7816623" cy="4246263"/>
          </a:xfrm>
          <a:prstGeom prst="rect">
            <a:avLst/>
          </a:prstGeom>
        </p:spPr>
      </p:pic>
    </p:spTree>
    <p:extLst>
      <p:ext uri="{BB962C8B-B14F-4D97-AF65-F5344CB8AC3E}">
        <p14:creationId xmlns:p14="http://schemas.microsoft.com/office/powerpoint/2010/main" val="3278667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Structure of chromosomes </a:t>
            </a:r>
            <a:endParaRPr lang="en-AU" sz="6000" b="1" dirty="0"/>
          </a:p>
        </p:txBody>
      </p:sp>
      <p:sp>
        <p:nvSpPr>
          <p:cNvPr id="3" name="Content Placeholder 2"/>
          <p:cNvSpPr>
            <a:spLocks noGrp="1"/>
          </p:cNvSpPr>
          <p:nvPr>
            <p:ph idx="1"/>
          </p:nvPr>
        </p:nvSpPr>
        <p:spPr/>
        <p:txBody>
          <a:bodyPr/>
          <a:lstStyle/>
          <a:p>
            <a:r>
              <a:rPr lang="en-AU" dirty="0" smtClean="0"/>
              <a:t>The DNA strands are actually wrapped around a group of eight special proteins called histones to form a nucleosome. There are many nucleosomes along the length of a DNA molecule. </a:t>
            </a:r>
          </a:p>
          <a:p>
            <a:endParaRPr lang="en-AU" dirty="0"/>
          </a:p>
          <a:p>
            <a:r>
              <a:rPr lang="en-AU" dirty="0" smtClean="0"/>
              <a:t>In a cell that is not dividing, the coiled DNA forms a tangled network called chromatin. However, when a cell divides the coiled chromatin becomes even more tightly coiled.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9937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Structure of chromosomes </a:t>
            </a:r>
            <a:endParaRPr lang="en-AU" sz="6000" b="1" dirty="0"/>
          </a:p>
        </p:txBody>
      </p:sp>
      <p:sp>
        <p:nvSpPr>
          <p:cNvPr id="3" name="Content Placeholder 2"/>
          <p:cNvSpPr>
            <a:spLocks noGrp="1"/>
          </p:cNvSpPr>
          <p:nvPr>
            <p:ph idx="1"/>
          </p:nvPr>
        </p:nvSpPr>
        <p:spPr/>
        <p:txBody>
          <a:bodyPr/>
          <a:lstStyle/>
          <a:p>
            <a:r>
              <a:rPr lang="en-AU" dirty="0" smtClean="0"/>
              <a:t>These super coiled structures are able to be seen under a microscope and are called chromosomes. </a:t>
            </a:r>
          </a:p>
          <a:p>
            <a:endParaRPr lang="en-AU" dirty="0"/>
          </a:p>
          <a:p>
            <a:r>
              <a:rPr lang="en-AU" dirty="0" smtClean="0"/>
              <a:t>There are 46 chromosomes in a normal human cell. Each chromosome is made up of sections of DNA that code for a particular protein. Each of these sections is called a gene.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508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Mitochondrial DNA</a:t>
            </a:r>
            <a:endParaRPr lang="en-AU" sz="6000" b="1" dirty="0"/>
          </a:p>
        </p:txBody>
      </p:sp>
      <p:sp>
        <p:nvSpPr>
          <p:cNvPr id="3" name="Content Placeholder 2"/>
          <p:cNvSpPr>
            <a:spLocks noGrp="1"/>
          </p:cNvSpPr>
          <p:nvPr>
            <p:ph idx="1"/>
          </p:nvPr>
        </p:nvSpPr>
        <p:spPr/>
        <p:txBody>
          <a:bodyPr/>
          <a:lstStyle/>
          <a:p>
            <a:r>
              <a:rPr lang="en-AU" dirty="0" smtClean="0"/>
              <a:t>Most of the cell’s DNA is located in the nucleus, but a small amount I in the mitochondria (mtDNA). It plays an important role in coding for transfer RNA and enzymes needed for cellular respiration. </a:t>
            </a:r>
          </a:p>
          <a:p>
            <a:endParaRPr lang="en-AU" dirty="0"/>
          </a:p>
          <a:p>
            <a:r>
              <a:rPr lang="en-AU" dirty="0" smtClean="0"/>
              <a:t>There are 2 important differences between DNA in the nucleus and mtDNA.</a:t>
            </a:r>
          </a:p>
          <a:p>
            <a:pPr lvl="1"/>
            <a:r>
              <a:rPr lang="en-AU" dirty="0" smtClean="0"/>
              <a:t>Nuclear DNA is in the form of very long strands that are bound to proteins, the histones. </a:t>
            </a:r>
          </a:p>
          <a:p>
            <a:pPr lvl="1"/>
            <a:r>
              <a:rPr lang="en-AU" dirty="0" smtClean="0"/>
              <a:t>Mitochondrial DNA is in the form of small circular molecules that are not bound to proteins.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2909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Replication of DNA </a:t>
            </a:r>
            <a:endParaRPr lang="en-AU" sz="6000" b="1" dirty="0"/>
          </a:p>
        </p:txBody>
      </p:sp>
      <p:sp>
        <p:nvSpPr>
          <p:cNvPr id="3" name="Content Placeholder 2"/>
          <p:cNvSpPr>
            <a:spLocks noGrp="1"/>
          </p:cNvSpPr>
          <p:nvPr>
            <p:ph idx="1"/>
          </p:nvPr>
        </p:nvSpPr>
        <p:spPr/>
        <p:txBody>
          <a:bodyPr/>
          <a:lstStyle/>
          <a:p>
            <a:r>
              <a:rPr lang="en-AU" dirty="0" smtClean="0"/>
              <a:t>Cells divide by mitosis and meiosis. </a:t>
            </a:r>
          </a:p>
          <a:p>
            <a:endParaRPr lang="en-AU" dirty="0"/>
          </a:p>
          <a:p>
            <a:r>
              <a:rPr lang="en-AU" dirty="0" smtClean="0"/>
              <a:t>In all cell divisions, the DNA must produce an exact copy of itself. This is known as DNA replication.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834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DNA Replication Stage One </a:t>
            </a:r>
            <a:endParaRPr lang="en-AU" sz="6000" b="1" dirty="0"/>
          </a:p>
        </p:txBody>
      </p:sp>
      <p:sp>
        <p:nvSpPr>
          <p:cNvPr id="3" name="Content Placeholder 2"/>
          <p:cNvSpPr>
            <a:spLocks noGrp="1"/>
          </p:cNvSpPr>
          <p:nvPr>
            <p:ph idx="1"/>
          </p:nvPr>
        </p:nvSpPr>
        <p:spPr>
          <a:xfrm>
            <a:off x="391885" y="1825625"/>
            <a:ext cx="11564983" cy="4801598"/>
          </a:xfrm>
        </p:spPr>
        <p:txBody>
          <a:bodyPr/>
          <a:lstStyle/>
          <a:p>
            <a:r>
              <a:rPr lang="en-AU" dirty="0" smtClean="0"/>
              <a:t>The first stage of DNA replication is when the two stands of the DNA molecule are separated by the enzyme helicase. This separation is possible because the hydrogen bond between the base pairs is weak. </a:t>
            </a:r>
          </a:p>
          <a:p>
            <a:endParaRPr lang="en-AU" dirty="0"/>
          </a:p>
          <a:p>
            <a:r>
              <a:rPr lang="en-AU" dirty="0" smtClean="0"/>
              <a:t>Each strand serves as a template for the nucleotides that will form the new strand. The new strand formed are identical to the original. </a:t>
            </a:r>
          </a:p>
          <a:p>
            <a:endParaRPr lang="en-AU" dirty="0"/>
          </a:p>
          <a:p>
            <a:r>
              <a:rPr lang="en-AU" dirty="0" smtClean="0"/>
              <a:t>Two enzymes play important roles in the synthesis of the new strands. DNA polymerase adds the new nucleotides to the new strand, and DNA ligase joins short sections of DNA together.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6359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212613" y="508086"/>
            <a:ext cx="9723229" cy="5846181"/>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0845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Protein Synthesis </a:t>
            </a:r>
            <a:endParaRPr lang="en-AU" sz="6000" b="1" dirty="0"/>
          </a:p>
        </p:txBody>
      </p:sp>
      <p:sp>
        <p:nvSpPr>
          <p:cNvPr id="3" name="Content Placeholder 2"/>
          <p:cNvSpPr>
            <a:spLocks noGrp="1"/>
          </p:cNvSpPr>
          <p:nvPr>
            <p:ph idx="1"/>
          </p:nvPr>
        </p:nvSpPr>
        <p:spPr/>
        <p:txBody>
          <a:bodyPr/>
          <a:lstStyle/>
          <a:p>
            <a:r>
              <a:rPr lang="en-AU" dirty="0" smtClean="0"/>
              <a:t>The genetic code in DNA provides the instructions for protein synthesis- making proteins in the cell. Remember proteins are produced from amino acids being joined together by peptide bonds. </a:t>
            </a:r>
          </a:p>
          <a:p>
            <a:endParaRPr lang="en-AU" dirty="0"/>
          </a:p>
          <a:p>
            <a:r>
              <a:rPr lang="en-AU" dirty="0" smtClean="0"/>
              <a:t>The sequence of bases in DNA controls the order of amino acids, and therefore the type of protein that is produced.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9195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79" y="365125"/>
            <a:ext cx="11773989" cy="1325563"/>
          </a:xfrm>
        </p:spPr>
        <p:txBody>
          <a:bodyPr>
            <a:normAutofit/>
          </a:bodyPr>
          <a:lstStyle/>
          <a:p>
            <a:pPr algn="ctr"/>
            <a:r>
              <a:rPr lang="en-AU" sz="6000" b="1" dirty="0" smtClean="0"/>
              <a:t>Revision- different types of proteins </a:t>
            </a:r>
            <a:endParaRPr lang="en-AU" sz="6000" b="1" dirty="0"/>
          </a:p>
        </p:txBody>
      </p:sp>
      <p:sp>
        <p:nvSpPr>
          <p:cNvPr id="3" name="Content Placeholder 2"/>
          <p:cNvSpPr>
            <a:spLocks noGrp="1"/>
          </p:cNvSpPr>
          <p:nvPr>
            <p:ph idx="1"/>
          </p:nvPr>
        </p:nvSpPr>
        <p:spPr/>
        <p:txBody>
          <a:bodyPr/>
          <a:lstStyle/>
          <a:p>
            <a:r>
              <a:rPr lang="en-AU" dirty="0" smtClean="0"/>
              <a:t>Haemoglobin </a:t>
            </a:r>
          </a:p>
          <a:p>
            <a:r>
              <a:rPr lang="en-AU" dirty="0" smtClean="0"/>
              <a:t>Actin and Myosin </a:t>
            </a:r>
          </a:p>
          <a:p>
            <a:r>
              <a:rPr lang="en-AU" dirty="0" smtClean="0"/>
              <a:t>Fibrin </a:t>
            </a:r>
          </a:p>
          <a:p>
            <a:r>
              <a:rPr lang="en-AU" dirty="0" smtClean="0"/>
              <a:t>Collagen </a:t>
            </a:r>
          </a:p>
          <a:p>
            <a:r>
              <a:rPr lang="en-AU" dirty="0" smtClean="0"/>
              <a:t>Insulin </a:t>
            </a:r>
          </a:p>
          <a:p>
            <a:r>
              <a:rPr lang="en-AU" dirty="0" smtClean="0"/>
              <a:t>Amylase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8556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RNA- Ribonucleic Acids 	</a:t>
            </a:r>
            <a:endParaRPr lang="en-AU" sz="6000" b="1" dirty="0"/>
          </a:p>
        </p:txBody>
      </p:sp>
      <p:sp>
        <p:nvSpPr>
          <p:cNvPr id="3" name="Content Placeholder 2"/>
          <p:cNvSpPr>
            <a:spLocks noGrp="1"/>
          </p:cNvSpPr>
          <p:nvPr>
            <p:ph idx="1"/>
          </p:nvPr>
        </p:nvSpPr>
        <p:spPr/>
        <p:txBody>
          <a:bodyPr/>
          <a:lstStyle/>
          <a:p>
            <a:r>
              <a:rPr lang="en-AU" dirty="0" smtClean="0"/>
              <a:t>Another type of nucleic acid. Composed of a chain of nucleotides. While there are many similarities, there are key differences </a:t>
            </a:r>
          </a:p>
          <a:p>
            <a:pPr lvl="1"/>
            <a:r>
              <a:rPr lang="en-AU" dirty="0" smtClean="0"/>
              <a:t>The sugar molecule is ribose, not deoxyribose. Ribose has one more oxygen atom. </a:t>
            </a:r>
          </a:p>
          <a:p>
            <a:pPr lvl="1"/>
            <a:r>
              <a:rPr lang="en-AU" dirty="0"/>
              <a:t>R</a:t>
            </a:r>
            <a:r>
              <a:rPr lang="en-AU" dirty="0" smtClean="0"/>
              <a:t>NA is single stranded, while DNA is double stranded </a:t>
            </a:r>
          </a:p>
          <a:p>
            <a:pPr lvl="1"/>
            <a:r>
              <a:rPr lang="en-AU" dirty="0" smtClean="0"/>
              <a:t>RNA has the bases cytosine, guanine, adenine, uracil, while DNA has cytosine, guanine, adenine, thymine. </a:t>
            </a:r>
          </a:p>
          <a:p>
            <a:pPr lvl="1"/>
            <a:r>
              <a:rPr lang="en-AU" dirty="0" smtClean="0"/>
              <a:t>RNA is able to fold on to itself, forming hydrogen bonds between complimentary bases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8691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Types of RNA</a:t>
            </a:r>
            <a:endParaRPr lang="en-AU" sz="6000" b="1" dirty="0"/>
          </a:p>
        </p:txBody>
      </p:sp>
      <p:sp>
        <p:nvSpPr>
          <p:cNvPr id="3" name="Content Placeholder 2"/>
          <p:cNvSpPr>
            <a:spLocks noGrp="1"/>
          </p:cNvSpPr>
          <p:nvPr>
            <p:ph idx="1"/>
          </p:nvPr>
        </p:nvSpPr>
        <p:spPr>
          <a:xfrm>
            <a:off x="374469" y="1489166"/>
            <a:ext cx="11364685" cy="5120640"/>
          </a:xfrm>
        </p:spPr>
        <p:txBody>
          <a:bodyPr/>
          <a:lstStyle/>
          <a:p>
            <a:r>
              <a:rPr lang="en-AU" dirty="0" smtClean="0"/>
              <a:t>Messenger RNA (mRNA): is made in the nucleus and takes the genetic code into the cytoplasm allowing the genetic code to be ‘read’ by ribosomes </a:t>
            </a:r>
          </a:p>
          <a:p>
            <a:endParaRPr lang="en-AU" dirty="0" smtClean="0"/>
          </a:p>
          <a:p>
            <a:r>
              <a:rPr lang="en-AU" dirty="0" smtClean="0"/>
              <a:t>Ribosomal RNA (rRNA): makes up approximately 60% of the mass of ribosomes, with the other 40% being protein. The rRNA ensures the correct alignment of mRNA, tRNA and ribosome. It also has an enzymatic role in the formation of peptide bonds between amino acids. </a:t>
            </a:r>
          </a:p>
          <a:p>
            <a:endParaRPr lang="en-AU" dirty="0" smtClean="0"/>
          </a:p>
          <a:p>
            <a:r>
              <a:rPr lang="en-AU" dirty="0" smtClean="0"/>
              <a:t>Transfer RNA (tRNA): is a small molecule of RNA, containing only 70-90 nucleotides. Each tRNA molecule is able to carry a specific amino acid and therefore plays a vital role in protein synthesis.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2862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From DNA to Proteins </a:t>
            </a:r>
            <a:endParaRPr lang="en-AU" sz="6000" b="1" dirty="0"/>
          </a:p>
        </p:txBody>
      </p:sp>
      <p:sp>
        <p:nvSpPr>
          <p:cNvPr id="3" name="Content Placeholder 2"/>
          <p:cNvSpPr>
            <a:spLocks noGrp="1"/>
          </p:cNvSpPr>
          <p:nvPr>
            <p:ph idx="1"/>
          </p:nvPr>
        </p:nvSpPr>
        <p:spPr/>
        <p:txBody>
          <a:bodyPr/>
          <a:lstStyle/>
          <a:p>
            <a:r>
              <a:rPr lang="en-AU" dirty="0" smtClean="0"/>
              <a:t>DNA contains the genetic code, the sequences of bases determining the proteins that are produced. </a:t>
            </a:r>
          </a:p>
          <a:p>
            <a:endParaRPr lang="en-AU" dirty="0"/>
          </a:p>
          <a:p>
            <a:r>
              <a:rPr lang="en-AU" dirty="0" smtClean="0"/>
              <a:t>A sequence of three bases is code for a particular amino acid and is called a triplet. E.g. the sequence CAG (cytosine-adenine-guanine) is a DNA code for the amino acid Valine. </a:t>
            </a:r>
          </a:p>
          <a:p>
            <a:endParaRPr lang="en-AU" dirty="0"/>
          </a:p>
          <a:p>
            <a:r>
              <a:rPr lang="en-AU" dirty="0" smtClean="0"/>
              <a:t>With most DNA found in the nucleus being too large to leave, proteins are produced by ribosomes in the cytosol.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4871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Transcription</a:t>
            </a:r>
            <a:endParaRPr lang="en-AU" sz="6000" b="1" dirty="0"/>
          </a:p>
        </p:txBody>
      </p:sp>
      <p:sp>
        <p:nvSpPr>
          <p:cNvPr id="3" name="Content Placeholder 2"/>
          <p:cNvSpPr>
            <a:spLocks noGrp="1"/>
          </p:cNvSpPr>
          <p:nvPr>
            <p:ph idx="1"/>
          </p:nvPr>
        </p:nvSpPr>
        <p:spPr/>
        <p:txBody>
          <a:bodyPr/>
          <a:lstStyle/>
          <a:p>
            <a:r>
              <a:rPr lang="en-AU" dirty="0" smtClean="0"/>
              <a:t>Process by which the genetic instructions are copied from the DNA to the mRNA molecule. </a:t>
            </a:r>
          </a:p>
          <a:p>
            <a:endParaRPr lang="en-AU" dirty="0"/>
          </a:p>
          <a:p>
            <a:r>
              <a:rPr lang="en-AU" dirty="0" smtClean="0"/>
              <a:t>Triggered by chemical messengers that enter the nucleus from the cytosol and bind to the DNA at the relevant gene. This causes an enzyme called RNA polymerase to begin the process of making mRNA.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5544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05198" y="244460"/>
            <a:ext cx="10538059" cy="637343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6648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Translation </a:t>
            </a:r>
            <a:endParaRPr lang="en-AU" sz="6000" b="1" dirty="0"/>
          </a:p>
        </p:txBody>
      </p:sp>
      <p:sp>
        <p:nvSpPr>
          <p:cNvPr id="3" name="Content Placeholder 2"/>
          <p:cNvSpPr>
            <a:spLocks noGrp="1"/>
          </p:cNvSpPr>
          <p:nvPr>
            <p:ph idx="1"/>
          </p:nvPr>
        </p:nvSpPr>
        <p:spPr/>
        <p:txBody>
          <a:bodyPr/>
          <a:lstStyle/>
          <a:p>
            <a:r>
              <a:rPr lang="en-AU" dirty="0" smtClean="0"/>
              <a:t>The production of a protein using the information that is coded in the mRNA molecule. In the cytosol, a ribosome attaches to one end of the mRNA molecule at a particular sequence of bases (adenine, uracil, guanine) called the start codon. </a:t>
            </a:r>
          </a:p>
          <a:p>
            <a:endParaRPr lang="en-AU" dirty="0"/>
          </a:p>
          <a:p>
            <a:r>
              <a:rPr lang="en-AU" dirty="0" smtClean="0"/>
              <a:t>This ensures that the ribosome attaches to the correct end of the mRNA molecule. The ribosome then moves along the mRNA three bases at a time.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7259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Translation </a:t>
            </a:r>
            <a:endParaRPr lang="en-AU" sz="6000" b="1" dirty="0"/>
          </a:p>
        </p:txBody>
      </p:sp>
      <p:sp>
        <p:nvSpPr>
          <p:cNvPr id="3" name="Content Placeholder 2"/>
          <p:cNvSpPr>
            <a:spLocks noGrp="1"/>
          </p:cNvSpPr>
          <p:nvPr>
            <p:ph idx="1"/>
          </p:nvPr>
        </p:nvSpPr>
        <p:spPr/>
        <p:txBody>
          <a:bodyPr/>
          <a:lstStyle/>
          <a:p>
            <a:r>
              <a:rPr lang="en-AU" dirty="0" smtClean="0"/>
              <a:t>Each group of three bases is called a codon and corresponds to a specific amino acid. The start codon, AUG, also codes for the amino acid methionine. This means that every protein begins with methionine when it is first made. However, it may be removed later. </a:t>
            </a:r>
          </a:p>
          <a:p>
            <a:endParaRPr lang="en-AU" dirty="0"/>
          </a:p>
          <a:p>
            <a:r>
              <a:rPr lang="en-AU" dirty="0" smtClean="0"/>
              <a:t>As the ribosome reads the codons on the mRNA, the tRNA molecules with the complementary bases join to the mRNA. The sequence of three bases matching the codon is called the anticodon.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1473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612367" y="214538"/>
            <a:ext cx="8872092" cy="646493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Translation</a:t>
            </a:r>
            <a:endParaRPr lang="en-AU" sz="6000" b="1" dirty="0"/>
          </a:p>
        </p:txBody>
      </p:sp>
      <p:sp>
        <p:nvSpPr>
          <p:cNvPr id="3" name="Content Placeholder 2"/>
          <p:cNvSpPr>
            <a:spLocks noGrp="1"/>
          </p:cNvSpPr>
          <p:nvPr>
            <p:ph idx="1"/>
          </p:nvPr>
        </p:nvSpPr>
        <p:spPr/>
        <p:txBody>
          <a:bodyPr/>
          <a:lstStyle/>
          <a:p>
            <a:r>
              <a:rPr lang="en-AU" dirty="0" smtClean="0"/>
              <a:t>The amino acids carried by the tRNA are joined so that the protein is assembled with the amino acids in the correct sequence. </a:t>
            </a:r>
          </a:p>
          <a:p>
            <a:endParaRPr lang="en-AU" dirty="0"/>
          </a:p>
          <a:p>
            <a:r>
              <a:rPr lang="en-AU" dirty="0" smtClean="0"/>
              <a:t>For each bond formed between the amino acids, the energy from the breakdown of one ATP molecule is required. </a:t>
            </a:r>
          </a:p>
          <a:p>
            <a:endParaRPr lang="en-AU" dirty="0"/>
          </a:p>
          <a:p>
            <a:r>
              <a:rPr lang="en-AU" dirty="0" smtClean="0"/>
              <a:t>Once the tRNA has delivered its amino acid, it detaches from the ribosome and can then pick up another amino acid from the cytosol.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3292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175758" y="144870"/>
            <a:ext cx="8995853" cy="6439873"/>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3645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p:cNvPicPr>
            <a:picLocks noGrp="1" noChangeAspect="1"/>
          </p:cNvPicPr>
          <p:nvPr>
            <p:ph idx="1"/>
          </p:nvPr>
        </p:nvPicPr>
        <p:blipFill>
          <a:blip r:embed="rId2"/>
          <a:stretch>
            <a:fillRect/>
          </a:stretch>
        </p:blipFill>
        <p:spPr>
          <a:xfrm>
            <a:off x="652462" y="402217"/>
            <a:ext cx="10843532" cy="6057920"/>
          </a:xfrm>
          <a:prstGeom prst="rect">
            <a:avLst/>
          </a:prstGeom>
        </p:spPr>
      </p:pic>
    </p:spTree>
    <p:extLst>
      <p:ext uri="{BB962C8B-B14F-4D97-AF65-F5344CB8AC3E}">
        <p14:creationId xmlns:p14="http://schemas.microsoft.com/office/powerpoint/2010/main" val="448472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Key Concept </a:t>
            </a:r>
            <a:endParaRPr lang="en-AU" sz="6000" b="1" dirty="0"/>
          </a:p>
        </p:txBody>
      </p:sp>
      <p:sp>
        <p:nvSpPr>
          <p:cNvPr id="3" name="Content Placeholder 2"/>
          <p:cNvSpPr>
            <a:spLocks noGrp="1"/>
          </p:cNvSpPr>
          <p:nvPr>
            <p:ph idx="1"/>
          </p:nvPr>
        </p:nvSpPr>
        <p:spPr/>
        <p:txBody>
          <a:bodyPr/>
          <a:lstStyle/>
          <a:p>
            <a:r>
              <a:rPr lang="en-AU" dirty="0" smtClean="0"/>
              <a:t>The bases sequence on the DNA is transcribed to a molecule of messenger RNA that is able to leave the nucleus. </a:t>
            </a:r>
          </a:p>
          <a:p>
            <a:endParaRPr lang="en-AU" dirty="0"/>
          </a:p>
          <a:p>
            <a:r>
              <a:rPr lang="en-AU" dirty="0" smtClean="0"/>
              <a:t>The mRNA binds to a ribosome, where it is translated by molecules of transfer RNA adding the appropriate amino acids to form the protein.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8145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337031" y="215615"/>
            <a:ext cx="7172729" cy="6431123"/>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63554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Gene Expression </a:t>
            </a:r>
            <a:endParaRPr lang="en-AU" sz="6000" b="1" dirty="0"/>
          </a:p>
        </p:txBody>
      </p:sp>
      <p:sp>
        <p:nvSpPr>
          <p:cNvPr id="3" name="Content Placeholder 2"/>
          <p:cNvSpPr>
            <a:spLocks noGrp="1"/>
          </p:cNvSpPr>
          <p:nvPr>
            <p:ph idx="1"/>
          </p:nvPr>
        </p:nvSpPr>
        <p:spPr/>
        <p:txBody>
          <a:bodyPr/>
          <a:lstStyle/>
          <a:p>
            <a:r>
              <a:rPr lang="en-AU" dirty="0" smtClean="0"/>
              <a:t>The process of copying information from DNA on to mRNA and then translating the message into a series of amino acids to form a protein is called gene expression. </a:t>
            </a:r>
          </a:p>
          <a:p>
            <a:endParaRPr lang="en-AU" dirty="0"/>
          </a:p>
          <a:p>
            <a:r>
              <a:rPr lang="en-AU" dirty="0" smtClean="0"/>
              <a:t>The genes contain the instructions from making mRNA, but at any given time a cell is making mRNA from only a fraction of its genes. </a:t>
            </a:r>
          </a:p>
          <a:p>
            <a:endParaRPr lang="en-AU" dirty="0"/>
          </a:p>
          <a:p>
            <a:r>
              <a:rPr lang="en-AU" dirty="0" smtClean="0"/>
              <a:t>Genes that are being used to make mRNA are said to be ‘switched on’; a gene not being used to make mRNA is ‘switched off’.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18725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99121" y="1619907"/>
            <a:ext cx="11178417" cy="2969510"/>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87344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328291" y="214539"/>
            <a:ext cx="7442726" cy="6441927"/>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3802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Lipid and Carbohydrate Synthesis </a:t>
            </a:r>
            <a:endParaRPr lang="en-AU" sz="6000" b="1" dirty="0"/>
          </a:p>
        </p:txBody>
      </p:sp>
      <p:sp>
        <p:nvSpPr>
          <p:cNvPr id="3" name="Content Placeholder 2"/>
          <p:cNvSpPr>
            <a:spLocks noGrp="1"/>
          </p:cNvSpPr>
          <p:nvPr>
            <p:ph idx="1"/>
          </p:nvPr>
        </p:nvSpPr>
        <p:spPr/>
        <p:txBody>
          <a:bodyPr/>
          <a:lstStyle/>
          <a:p>
            <a:r>
              <a:rPr lang="en-AU" dirty="0" smtClean="0"/>
              <a:t>There are no genes that carry instructions for the manufacture of lipids or carbohydrates. However, the synthesis of these substances requires enzymes, and enzymes are proteins. </a:t>
            </a:r>
          </a:p>
          <a:p>
            <a:endParaRPr lang="en-AU" dirty="0"/>
          </a:p>
          <a:p>
            <a:r>
              <a:rPr lang="en-AU" dirty="0" smtClean="0"/>
              <a:t>Genes control the synthesis of lipids and carbohydrates.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42373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5286" y="69669"/>
            <a:ext cx="10515600" cy="1028246"/>
          </a:xfrm>
        </p:spPr>
        <p:txBody>
          <a:bodyPr>
            <a:normAutofit/>
          </a:bodyPr>
          <a:lstStyle/>
          <a:p>
            <a:r>
              <a:rPr lang="en-AU" sz="6000" b="1" dirty="0" smtClean="0"/>
              <a:t>Types of Nucleic Acids- review</a:t>
            </a:r>
            <a:endParaRPr lang="en-AU" sz="6000" b="1"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867943024"/>
              </p:ext>
            </p:extLst>
          </p:nvPr>
        </p:nvGraphicFramePr>
        <p:xfrm>
          <a:off x="263434" y="1206133"/>
          <a:ext cx="11710852" cy="5471888"/>
        </p:xfrm>
        <a:graphic>
          <a:graphicData uri="http://schemas.openxmlformats.org/drawingml/2006/table">
            <a:tbl>
              <a:tblPr firstRow="1" bandRow="1">
                <a:tableStyleId>{5940675A-B579-460E-94D1-54222C63F5DA}</a:tableStyleId>
              </a:tblPr>
              <a:tblGrid>
                <a:gridCol w="1939835">
                  <a:extLst>
                    <a:ext uri="{9D8B030D-6E8A-4147-A177-3AD203B41FA5}">
                      <a16:colId xmlns:a16="http://schemas.microsoft.com/office/drawing/2014/main" val="212624578"/>
                    </a:ext>
                  </a:extLst>
                </a:gridCol>
                <a:gridCol w="9771017">
                  <a:extLst>
                    <a:ext uri="{9D8B030D-6E8A-4147-A177-3AD203B41FA5}">
                      <a16:colId xmlns:a16="http://schemas.microsoft.com/office/drawing/2014/main" val="1046126875"/>
                    </a:ext>
                  </a:extLst>
                </a:gridCol>
              </a:tblGrid>
              <a:tr h="910772">
                <a:tc>
                  <a:txBody>
                    <a:bodyPr/>
                    <a:lstStyle/>
                    <a:p>
                      <a:r>
                        <a:rPr lang="en-AU" dirty="0" smtClean="0"/>
                        <a:t>DNA</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AU" dirty="0" smtClean="0"/>
                        <a:t>Very large molecule made of two strands of nucleotides that are joined by bonds between the nucleotide bases. The two strands are twisted into</a:t>
                      </a:r>
                      <a:r>
                        <a:rPr lang="en-AU" baseline="0" dirty="0" smtClean="0"/>
                        <a:t> a double helix. Found in the nucleus and mitochondria of cells.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3416379"/>
                  </a:ext>
                </a:extLst>
              </a:tr>
              <a:tr h="910772">
                <a:tc>
                  <a:txBody>
                    <a:bodyPr/>
                    <a:lstStyle/>
                    <a:p>
                      <a:r>
                        <a:rPr lang="en-AU" dirty="0" err="1" smtClean="0"/>
                        <a:t>nDNA</a:t>
                      </a:r>
                      <a:r>
                        <a:rPr lang="en-AU" dirty="0" smtClean="0"/>
                        <a:t> </a:t>
                      </a:r>
                    </a:p>
                    <a:p>
                      <a:r>
                        <a:rPr lang="en-AU" dirty="0" smtClean="0"/>
                        <a:t>(nuclear DNA)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AU" dirty="0" smtClean="0"/>
                        <a:t>DNA found in the nucleus of cells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3283643"/>
                  </a:ext>
                </a:extLst>
              </a:tr>
              <a:tr h="910772">
                <a:tc>
                  <a:txBody>
                    <a:bodyPr/>
                    <a:lstStyle/>
                    <a:p>
                      <a:r>
                        <a:rPr lang="en-AU" dirty="0" smtClean="0"/>
                        <a:t>mtDNA </a:t>
                      </a:r>
                    </a:p>
                    <a:p>
                      <a:r>
                        <a:rPr lang="en-AU" dirty="0" smtClean="0"/>
                        <a:t>(mitochondrial</a:t>
                      </a:r>
                      <a:r>
                        <a:rPr lang="en-AU" baseline="0" dirty="0" smtClean="0"/>
                        <a:t> DNA)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AU" dirty="0" smtClean="0"/>
                        <a:t>DNA</a:t>
                      </a:r>
                      <a:r>
                        <a:rPr lang="en-AU" baseline="0" dirty="0" smtClean="0"/>
                        <a:t> found in the mitochondria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1388350"/>
                  </a:ext>
                </a:extLst>
              </a:tr>
              <a:tr h="910772">
                <a:tc>
                  <a:txBody>
                    <a:bodyPr/>
                    <a:lstStyle/>
                    <a:p>
                      <a:r>
                        <a:rPr lang="en-AU" dirty="0" smtClean="0"/>
                        <a:t>RNA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AU" dirty="0" smtClean="0"/>
                        <a:t>Large molecules composed</a:t>
                      </a:r>
                      <a:r>
                        <a:rPr lang="en-AU" baseline="0" dirty="0" smtClean="0"/>
                        <a:t> of a single strand of nucleotides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7323691"/>
                  </a:ext>
                </a:extLst>
              </a:tr>
              <a:tr h="910772">
                <a:tc>
                  <a:txBody>
                    <a:bodyPr/>
                    <a:lstStyle/>
                    <a:p>
                      <a:r>
                        <a:rPr lang="en-AU" dirty="0" smtClean="0"/>
                        <a:t>mRNA </a:t>
                      </a:r>
                    </a:p>
                    <a:p>
                      <a:r>
                        <a:rPr lang="en-AU" dirty="0" smtClean="0"/>
                        <a:t>(messenger</a:t>
                      </a:r>
                      <a:r>
                        <a:rPr lang="en-AU" baseline="0" dirty="0" smtClean="0"/>
                        <a:t> RNA)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AU" dirty="0" smtClean="0"/>
                        <a:t>RNA molecule that carries the code for protein synthesis from the DNA in the nucleus to the ribosome where</a:t>
                      </a:r>
                      <a:r>
                        <a:rPr lang="en-AU" baseline="0" dirty="0" smtClean="0"/>
                        <a:t> the protein is made.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1411987"/>
                  </a:ext>
                </a:extLst>
              </a:tr>
              <a:tr h="910772">
                <a:tc>
                  <a:txBody>
                    <a:bodyPr/>
                    <a:lstStyle/>
                    <a:p>
                      <a:r>
                        <a:rPr lang="en-AU" dirty="0" smtClean="0"/>
                        <a:t>tRNA </a:t>
                      </a:r>
                    </a:p>
                    <a:p>
                      <a:r>
                        <a:rPr lang="en-AU" dirty="0" smtClean="0"/>
                        <a:t>(transfer</a:t>
                      </a:r>
                      <a:r>
                        <a:rPr lang="en-AU" baseline="0" dirty="0" smtClean="0"/>
                        <a:t> RNA)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r>
                        <a:rPr lang="en-AU" dirty="0" smtClean="0"/>
                        <a:t>A small RNA molecule that transfers the correct</a:t>
                      </a:r>
                      <a:r>
                        <a:rPr lang="en-AU" baseline="0" dirty="0" smtClean="0"/>
                        <a:t> amino acid to the ribosome for inclusion in the protein molecule being made. </a:t>
                      </a:r>
                      <a:endParaRPr lang="en-AU"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676244"/>
                  </a:ext>
                </a:extLst>
              </a:tr>
            </a:tbl>
          </a:graphicData>
        </a:graphic>
      </p:graphicFrame>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81043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Epigenetics </a:t>
            </a:r>
            <a:endParaRPr lang="en-AU" sz="6000" b="1" dirty="0"/>
          </a:p>
        </p:txBody>
      </p:sp>
      <p:sp>
        <p:nvSpPr>
          <p:cNvPr id="3" name="Content Placeholder 2"/>
          <p:cNvSpPr>
            <a:spLocks noGrp="1"/>
          </p:cNvSpPr>
          <p:nvPr>
            <p:ph idx="1"/>
          </p:nvPr>
        </p:nvSpPr>
        <p:spPr>
          <a:xfrm>
            <a:off x="418011" y="1541417"/>
            <a:ext cx="11364686" cy="5033554"/>
          </a:xfrm>
        </p:spPr>
        <p:txBody>
          <a:bodyPr>
            <a:normAutofit/>
          </a:bodyPr>
          <a:lstStyle/>
          <a:p>
            <a:r>
              <a:rPr lang="en-AU" dirty="0" smtClean="0"/>
              <a:t>The factors that make genes more or less likely to be expressed may be inherited. Scientists who work in the field of epigenetics are trying to find out the factors that help make us who we are and influence what diseases we might acquire. </a:t>
            </a:r>
          </a:p>
          <a:p>
            <a:endParaRPr lang="en-AU" dirty="0"/>
          </a:p>
          <a:p>
            <a:r>
              <a:rPr lang="en-AU" dirty="0" smtClean="0"/>
              <a:t>There is a growing list of environmental factors that can cause epigenetic changes that are inherited by offspring, not just genetic factors. </a:t>
            </a:r>
          </a:p>
          <a:p>
            <a:endParaRPr lang="en-AU" dirty="0"/>
          </a:p>
          <a:p>
            <a:r>
              <a:rPr lang="en-AU" dirty="0" smtClean="0"/>
              <a:t>Your epigenome is the sum of all the factors that determine when, where and which genes are ‘switched on’ or expressed. One way in which genes are regulated epigenetically is through changes in chromatin.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73663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Chromatin </a:t>
            </a:r>
            <a:endParaRPr lang="en-AU" sz="6000" b="1" dirty="0"/>
          </a:p>
        </p:txBody>
      </p:sp>
      <p:sp>
        <p:nvSpPr>
          <p:cNvPr id="3" name="Content Placeholder 2"/>
          <p:cNvSpPr>
            <a:spLocks noGrp="1"/>
          </p:cNvSpPr>
          <p:nvPr>
            <p:ph idx="1"/>
          </p:nvPr>
        </p:nvSpPr>
        <p:spPr/>
        <p:txBody>
          <a:bodyPr/>
          <a:lstStyle/>
          <a:p>
            <a:r>
              <a:rPr lang="en-AU" dirty="0" smtClean="0"/>
              <a:t>DNA molecules are in the form of long strands. Their length in a human cell is estimated to be between 2 and 3 metres. </a:t>
            </a:r>
            <a:r>
              <a:rPr lang="en-AU" dirty="0" smtClean="0"/>
              <a:t>For 2-3 metres to fit inside the nucleus off a cell the DNA has to be TIGHTLY coiled. </a:t>
            </a:r>
          </a:p>
          <a:p>
            <a:endParaRPr lang="en-AU" dirty="0"/>
          </a:p>
          <a:p>
            <a:r>
              <a:rPr lang="en-AU" dirty="0" smtClean="0"/>
              <a:t>The DNA molecules are coiled around special proteins called histones. The DNA and the histone proteins associated with it are called chromatin.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31673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Chromatin </a:t>
            </a:r>
            <a:endParaRPr lang="en-AU" sz="6000" b="1" dirty="0"/>
          </a:p>
        </p:txBody>
      </p:sp>
      <p:sp>
        <p:nvSpPr>
          <p:cNvPr id="3" name="Content Placeholder 2"/>
          <p:cNvSpPr>
            <a:spLocks noGrp="1"/>
          </p:cNvSpPr>
          <p:nvPr>
            <p:ph idx="1"/>
          </p:nvPr>
        </p:nvSpPr>
        <p:spPr>
          <a:xfrm>
            <a:off x="298269" y="1442448"/>
            <a:ext cx="11606348" cy="5176066"/>
          </a:xfrm>
        </p:spPr>
        <p:txBody>
          <a:bodyPr/>
          <a:lstStyle/>
          <a:p>
            <a:r>
              <a:rPr lang="en-AU" dirty="0" smtClean="0"/>
              <a:t>Gene expression may change if the way in which the DNA is wrapped around the histone changes. There are a number of ways in which a change can occur </a:t>
            </a:r>
          </a:p>
          <a:p>
            <a:pPr lvl="1"/>
            <a:r>
              <a:rPr lang="en-AU" dirty="0" smtClean="0"/>
              <a:t>If some of the amino acids that are in the histone proteins are changed, this will change the shape of the histone (which will in turn be copied each time a new DNA molecule is formed) </a:t>
            </a:r>
          </a:p>
          <a:p>
            <a:pPr lvl="1"/>
            <a:r>
              <a:rPr lang="en-AU" dirty="0" smtClean="0"/>
              <a:t>Acetylation: the addition of a acetyl group to the histone protein. This reduced the attraction between histones and DNA, relaxing the structure of the chromatin. </a:t>
            </a:r>
          </a:p>
          <a:p>
            <a:pPr lvl="1"/>
            <a:r>
              <a:rPr lang="en-AU" dirty="0" smtClean="0"/>
              <a:t>DNA methylation: adding methyl groups to the DNA molecule or histone proteins. This occurs at sites known as </a:t>
            </a:r>
            <a:r>
              <a:rPr lang="en-AU" dirty="0" err="1" smtClean="0"/>
              <a:t>CpG</a:t>
            </a:r>
            <a:r>
              <a:rPr lang="en-AU" dirty="0" smtClean="0"/>
              <a:t> sites inhibiting gene expression by restricting access to RNA polymerase.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77537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54602" y="1579359"/>
            <a:ext cx="7748426" cy="4177007"/>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p:cNvSpPr txBox="1"/>
          <p:nvPr/>
        </p:nvSpPr>
        <p:spPr>
          <a:xfrm>
            <a:off x="8240337" y="799687"/>
            <a:ext cx="3709851" cy="5262979"/>
          </a:xfrm>
          <a:prstGeom prst="rect">
            <a:avLst/>
          </a:prstGeom>
          <a:noFill/>
        </p:spPr>
        <p:txBody>
          <a:bodyPr wrap="square" rtlCol="0">
            <a:spAutoFit/>
          </a:bodyPr>
          <a:lstStyle/>
          <a:p>
            <a:r>
              <a:rPr lang="en-AU" sz="2800" dirty="0" smtClean="0"/>
              <a:t>Histone methylation may increase or decrease the transcription of genes, depending on where the methyl groups attach and how man become attached. If the methylation causes the chromatin structure to relax, it will increase transcription. </a:t>
            </a:r>
            <a:endParaRPr lang="en-AU" sz="2800" dirty="0"/>
          </a:p>
        </p:txBody>
      </p:sp>
    </p:spTree>
    <p:extLst>
      <p:ext uri="{BB962C8B-B14F-4D97-AF65-F5344CB8AC3E}">
        <p14:creationId xmlns:p14="http://schemas.microsoft.com/office/powerpoint/2010/main" val="1394374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Environment and Epigenome </a:t>
            </a:r>
            <a:endParaRPr lang="en-AU" sz="6000" b="1" dirty="0"/>
          </a:p>
        </p:txBody>
      </p:sp>
      <p:sp>
        <p:nvSpPr>
          <p:cNvPr id="3" name="Content Placeholder 2"/>
          <p:cNvSpPr>
            <a:spLocks noGrp="1"/>
          </p:cNvSpPr>
          <p:nvPr>
            <p:ph idx="1"/>
          </p:nvPr>
        </p:nvSpPr>
        <p:spPr/>
        <p:txBody>
          <a:bodyPr/>
          <a:lstStyle/>
          <a:p>
            <a:r>
              <a:rPr lang="en-AU" dirty="0" smtClean="0"/>
              <a:t>A person’s epigenome can be changed by exposure to certain environmental stimuli. </a:t>
            </a:r>
          </a:p>
          <a:p>
            <a:r>
              <a:rPr lang="en-AU" dirty="0" smtClean="0"/>
              <a:t>Examples of environmental agents that can cause epigenetic changes are severe stress, nutritional factors, and toxins or drugs that may enter cells. </a:t>
            </a:r>
          </a:p>
          <a:p>
            <a:endParaRPr lang="en-AU" dirty="0"/>
          </a:p>
          <a:p>
            <a:r>
              <a:rPr lang="en-AU" dirty="0" smtClean="0"/>
              <a:t>Such agents do not change the DNA, but interfere with the transcription and translation processes involved in protein production.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20788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Draw a labelled diagram of a nucleotide </a:t>
            </a:r>
          </a:p>
          <a:p>
            <a:pPr marL="514350" indent="-514350">
              <a:buFont typeface="+mj-lt"/>
              <a:buAutoNum type="arabicPeriod"/>
            </a:pPr>
            <a:r>
              <a:rPr lang="en-AU" dirty="0" smtClean="0"/>
              <a:t>Describe the structure of chromatin and chromosomes </a:t>
            </a:r>
            <a:endParaRPr lang="en-AU" dirty="0" smtClean="0"/>
          </a:p>
          <a:p>
            <a:pPr marL="514350" indent="-514350">
              <a:buFont typeface="+mj-lt"/>
              <a:buAutoNum type="arabicPeriod"/>
            </a:pPr>
            <a:r>
              <a:rPr lang="en-AU" dirty="0" smtClean="0"/>
              <a:t>Name the enzyme that: </a:t>
            </a:r>
          </a:p>
          <a:p>
            <a:pPr marL="971550" lvl="1" indent="-514350">
              <a:buFont typeface="+mj-lt"/>
              <a:buAutoNum type="arabicPeriod"/>
            </a:pPr>
            <a:r>
              <a:rPr lang="en-AU" dirty="0" smtClean="0"/>
              <a:t>Separates the strands of DNA </a:t>
            </a:r>
          </a:p>
          <a:p>
            <a:pPr marL="971550" lvl="1" indent="-514350">
              <a:buFont typeface="+mj-lt"/>
              <a:buAutoNum type="arabicPeriod"/>
            </a:pPr>
            <a:r>
              <a:rPr lang="en-AU" dirty="0" smtClean="0"/>
              <a:t>Transcribes the bases on the DNA molecule to produce mRNA </a:t>
            </a:r>
          </a:p>
          <a:p>
            <a:pPr marL="514350" indent="-514350">
              <a:buFont typeface="+mj-lt"/>
              <a:buAutoNum type="arabicPeriod"/>
            </a:pPr>
            <a:r>
              <a:rPr lang="en-AU" dirty="0" smtClean="0"/>
              <a:t>Describe the role of anticodons in the process of protein synthesis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State two similarities and two differences between nuclear DNA and </a:t>
            </a:r>
            <a:r>
              <a:rPr lang="en-AU" dirty="0" smtClean="0"/>
              <a:t>mtDNA</a:t>
            </a:r>
          </a:p>
          <a:p>
            <a:pPr marL="514350" indent="-514350">
              <a:buFont typeface="+mj-lt"/>
              <a:buAutoNum type="arabicPeriod"/>
            </a:pPr>
            <a:r>
              <a:rPr lang="en-AU" dirty="0" smtClean="0"/>
              <a:t>Explain why messenger RNA is needed for protein synthesis </a:t>
            </a:r>
          </a:p>
          <a:p>
            <a:pPr marL="514350" indent="-514350">
              <a:buFont typeface="+mj-lt"/>
              <a:buAutoNum type="arabicPeriod"/>
            </a:pPr>
            <a:r>
              <a:rPr lang="en-AU" dirty="0" smtClean="0"/>
              <a:t>Explain why identical twins are used when studying epigenetics. </a:t>
            </a:r>
          </a:p>
          <a:p>
            <a:pPr marL="514350" indent="-514350">
              <a:buFont typeface="+mj-lt"/>
              <a:buAutoNum type="arabicPeriod"/>
            </a:pPr>
            <a:r>
              <a:rPr lang="en-AU" dirty="0" smtClean="0"/>
              <a:t>Compare and contrast acetylation and methylation </a:t>
            </a:r>
            <a:r>
              <a:rPr lang="en-AU" dirty="0" smtClean="0"/>
              <a: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r>
              <a:rPr lang="en-AU" dirty="0" smtClean="0"/>
              <a:t>Explain how a person’s genome is different from their epigenome.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a:t>
            </a:r>
            <a:r>
              <a:rPr lang="en-AU" dirty="0" smtClean="0"/>
              <a:t>230 - 241: DNA determines the structure and function of cells. </a:t>
            </a:r>
            <a:endParaRPr lang="en-AU" dirty="0" smtClean="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2809</Words>
  <Application>Microsoft Office PowerPoint</Application>
  <PresentationFormat>Widescreen</PresentationFormat>
  <Paragraphs>250</Paragraphs>
  <Slides>52</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52</vt:i4>
      </vt:variant>
    </vt:vector>
  </HeadingPairs>
  <TitlesOfParts>
    <vt:vector size="57" baseType="lpstr">
      <vt:lpstr>Arial</vt:lpstr>
      <vt:lpstr>Calibri</vt:lpstr>
      <vt:lpstr>Calibri Light</vt:lpstr>
      <vt:lpstr>Office Theme</vt:lpstr>
      <vt:lpstr>1_Office Theme</vt:lpstr>
      <vt:lpstr>DNA</vt:lpstr>
      <vt:lpstr>SCSA Syllabus Reference </vt:lpstr>
      <vt:lpstr>Lesson Intention </vt:lpstr>
      <vt:lpstr>Success Criteria </vt:lpstr>
      <vt:lpstr>Success Criteria </vt:lpstr>
      <vt:lpstr>Success Criteria </vt:lpstr>
      <vt:lpstr>Vocabulary </vt:lpstr>
      <vt:lpstr>Vocabulary </vt:lpstr>
      <vt:lpstr>Vocabulary </vt:lpstr>
      <vt:lpstr>Vocabulary </vt:lpstr>
      <vt:lpstr>Vocabulary </vt:lpstr>
      <vt:lpstr>Vocabulary </vt:lpstr>
      <vt:lpstr>Vocabulary </vt:lpstr>
      <vt:lpstr>Vocabulary </vt:lpstr>
      <vt:lpstr>Vocabulary </vt:lpstr>
      <vt:lpstr>Structure of DNA </vt:lpstr>
      <vt:lpstr>Structure of DNA continued</vt:lpstr>
      <vt:lpstr>Structure of chromosomes </vt:lpstr>
      <vt:lpstr>Structure of chromosomes </vt:lpstr>
      <vt:lpstr>Mitochondrial DNA</vt:lpstr>
      <vt:lpstr>Replication of DNA </vt:lpstr>
      <vt:lpstr>DNA Replication Stage One </vt:lpstr>
      <vt:lpstr>PowerPoint Presentation</vt:lpstr>
      <vt:lpstr>Protein Synthesis </vt:lpstr>
      <vt:lpstr>Revision- different types of proteins </vt:lpstr>
      <vt:lpstr>RNA- Ribonucleic Acids  </vt:lpstr>
      <vt:lpstr>Types of RNA</vt:lpstr>
      <vt:lpstr>From DNA to Proteins </vt:lpstr>
      <vt:lpstr>Transcription</vt:lpstr>
      <vt:lpstr>PowerPoint Presentation</vt:lpstr>
      <vt:lpstr>Translation </vt:lpstr>
      <vt:lpstr>Translation </vt:lpstr>
      <vt:lpstr>PowerPoint Presentation</vt:lpstr>
      <vt:lpstr>Translation</vt:lpstr>
      <vt:lpstr>PowerPoint Presentation</vt:lpstr>
      <vt:lpstr>PowerPoint Presentation</vt:lpstr>
      <vt:lpstr>Key Concept </vt:lpstr>
      <vt:lpstr>PowerPoint Presentation</vt:lpstr>
      <vt:lpstr>Gene Expression </vt:lpstr>
      <vt:lpstr>PowerPoint Presentation</vt:lpstr>
      <vt:lpstr>PowerPoint Presentation</vt:lpstr>
      <vt:lpstr>Lipid and Carbohydrate Synthesis </vt:lpstr>
      <vt:lpstr>Types of Nucleic Acids- review</vt:lpstr>
      <vt:lpstr>Epigenetics </vt:lpstr>
      <vt:lpstr>Chromatin </vt:lpstr>
      <vt:lpstr>Chromatin </vt:lpstr>
      <vt:lpstr>PowerPoint Presentation</vt:lpstr>
      <vt:lpstr>Environment and Epigenome </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29</cp:revision>
  <dcterms:created xsi:type="dcterms:W3CDTF">2021-12-16T00:48:44Z</dcterms:created>
  <dcterms:modified xsi:type="dcterms:W3CDTF">2022-06-16T03:57:00Z</dcterms:modified>
</cp:coreProperties>
</file>
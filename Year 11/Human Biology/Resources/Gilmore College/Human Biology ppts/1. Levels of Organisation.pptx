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F9386-39F3-4C7E-9690-1B6B07F9D1AB}" type="datetimeFigureOut">
              <a:rPr lang="en-AU" smtClean="0"/>
              <a:t>5/02/2024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8A362-AB7D-4C70-B898-D46DC28FA9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0598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F9386-39F3-4C7E-9690-1B6B07F9D1AB}" type="datetimeFigureOut">
              <a:rPr lang="en-AU" smtClean="0"/>
              <a:t>5/02/2024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8A362-AB7D-4C70-B898-D46DC28FA9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1589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F9386-39F3-4C7E-9690-1B6B07F9D1AB}" type="datetimeFigureOut">
              <a:rPr lang="en-AU" smtClean="0"/>
              <a:t>5/02/2024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8A362-AB7D-4C70-B898-D46DC28FA9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58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F9386-39F3-4C7E-9690-1B6B07F9D1AB}" type="datetimeFigureOut">
              <a:rPr lang="en-AU" smtClean="0"/>
              <a:t>5/02/2024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8A362-AB7D-4C70-B898-D46DC28FA9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6400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F9386-39F3-4C7E-9690-1B6B07F9D1AB}" type="datetimeFigureOut">
              <a:rPr lang="en-AU" smtClean="0"/>
              <a:t>5/02/2024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8A362-AB7D-4C70-B898-D46DC28FA9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0235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F9386-39F3-4C7E-9690-1B6B07F9D1AB}" type="datetimeFigureOut">
              <a:rPr lang="en-AU" smtClean="0"/>
              <a:t>5/02/2024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8A362-AB7D-4C70-B898-D46DC28FA9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8669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F9386-39F3-4C7E-9690-1B6B07F9D1AB}" type="datetimeFigureOut">
              <a:rPr lang="en-AU" smtClean="0"/>
              <a:t>5/02/2024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8A362-AB7D-4C70-B898-D46DC28FA9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6066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F9386-39F3-4C7E-9690-1B6B07F9D1AB}" type="datetimeFigureOut">
              <a:rPr lang="en-AU" smtClean="0"/>
              <a:t>5/02/2024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8A362-AB7D-4C70-B898-D46DC28FA9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1442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F9386-39F3-4C7E-9690-1B6B07F9D1AB}" type="datetimeFigureOut">
              <a:rPr lang="en-AU" smtClean="0"/>
              <a:t>5/02/2024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8A362-AB7D-4C70-B898-D46DC28FA9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1288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F9386-39F3-4C7E-9690-1B6B07F9D1AB}" type="datetimeFigureOut">
              <a:rPr lang="en-AU" smtClean="0"/>
              <a:t>5/02/2024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8A362-AB7D-4C70-B898-D46DC28FA9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4840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F9386-39F3-4C7E-9690-1B6B07F9D1AB}" type="datetimeFigureOut">
              <a:rPr lang="en-AU" smtClean="0"/>
              <a:t>5/02/2024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B8A362-AB7D-4C70-B898-D46DC28FA9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8038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CF9386-39F3-4C7E-9690-1B6B07F9D1AB}" type="datetimeFigureOut">
              <a:rPr lang="en-AU" smtClean="0"/>
              <a:t>5/02/2024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B8A362-AB7D-4C70-B898-D46DC28FA96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316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AU" sz="8000" b="1" dirty="0"/>
              <a:t>Levels of Organisation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Human Biology </a:t>
            </a:r>
          </a:p>
          <a:p>
            <a:r>
              <a:rPr lang="en-AU" dirty="0"/>
              <a:t>ATAR </a:t>
            </a:r>
          </a:p>
          <a:p>
            <a:r>
              <a:rPr lang="en-AU" dirty="0"/>
              <a:t>PowerPoint #1 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8748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SCSA Syllabus Reference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3600" dirty="0"/>
              <a:t>The human body is comprised of cells, tissues and organs within complex systems that work together to maintain life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7170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Lesson Intention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To review the levels of organisation in an organism 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0062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Success Criteria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Students can …. </a:t>
            </a:r>
          </a:p>
          <a:p>
            <a:pPr marL="0" indent="0">
              <a:buNone/>
            </a:pPr>
            <a:endParaRPr lang="en-AU" dirty="0"/>
          </a:p>
          <a:p>
            <a:r>
              <a:rPr lang="en-AU" dirty="0"/>
              <a:t>identify the levels of organisation from smallest to largest </a:t>
            </a:r>
          </a:p>
          <a:p>
            <a:r>
              <a:rPr lang="en-AU" dirty="0"/>
              <a:t>state examples for each structural level e.g. muscle cells </a:t>
            </a:r>
          </a:p>
          <a:p>
            <a:r>
              <a:rPr lang="en-AU" dirty="0"/>
              <a:t>define each level of organisation (cell, tissue, organ, organ system) </a:t>
            </a:r>
          </a:p>
          <a:p>
            <a:r>
              <a:rPr lang="en-AU" dirty="0"/>
              <a:t>recognise the Cell Theory states that all organisms are made of cells, which are the basic unit of life and arise from pre-existing cells. </a:t>
            </a:r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158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16428" y="217397"/>
            <a:ext cx="10515600" cy="1325563"/>
          </a:xfrm>
        </p:spPr>
        <p:txBody>
          <a:bodyPr>
            <a:normAutofit/>
          </a:bodyPr>
          <a:lstStyle/>
          <a:p>
            <a:r>
              <a:rPr lang="en-AU" sz="6000" b="1" dirty="0"/>
              <a:t>Vocabulary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88619" y="1542960"/>
            <a:ext cx="11371217" cy="481461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AU" b="1" dirty="0"/>
              <a:t>Cell</a:t>
            </a:r>
            <a:r>
              <a:rPr lang="en-AU" dirty="0"/>
              <a:t>: the smallest structural and functional unit of an organism </a:t>
            </a:r>
          </a:p>
          <a:p>
            <a:pPr>
              <a:lnSpc>
                <a:spcPct val="150000"/>
              </a:lnSpc>
            </a:pPr>
            <a:r>
              <a:rPr lang="en-AU" b="1" dirty="0"/>
              <a:t>Cell Theory</a:t>
            </a:r>
            <a:r>
              <a:rPr lang="en-AU" dirty="0"/>
              <a:t>: the principle that all living organisms are made up of cells and the material produced by cells. </a:t>
            </a:r>
          </a:p>
          <a:p>
            <a:pPr>
              <a:lnSpc>
                <a:spcPct val="150000"/>
              </a:lnSpc>
            </a:pPr>
            <a:r>
              <a:rPr lang="en-AU" b="1" dirty="0"/>
              <a:t>Tissue</a:t>
            </a:r>
            <a:r>
              <a:rPr lang="en-AU" dirty="0"/>
              <a:t>: a group of cells that are similar in structure and function </a:t>
            </a:r>
          </a:p>
          <a:p>
            <a:pPr>
              <a:lnSpc>
                <a:spcPct val="150000"/>
              </a:lnSpc>
            </a:pPr>
            <a:r>
              <a:rPr lang="en-AU" b="1" dirty="0"/>
              <a:t>Organ</a:t>
            </a:r>
            <a:r>
              <a:rPr lang="en-AU" dirty="0"/>
              <a:t>: a structure made up of different types of tissue working together </a:t>
            </a:r>
          </a:p>
          <a:p>
            <a:pPr>
              <a:lnSpc>
                <a:spcPct val="150000"/>
              </a:lnSpc>
            </a:pPr>
            <a:r>
              <a:rPr lang="en-AU" b="1" dirty="0"/>
              <a:t>Organ system</a:t>
            </a:r>
            <a:r>
              <a:rPr lang="en-AU" dirty="0"/>
              <a:t>: a group of organs that work together to perform a certain function in an organism.</a:t>
            </a:r>
          </a:p>
          <a:p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1975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Cells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AU" dirty="0"/>
              <a:t>The lowest structural level </a:t>
            </a:r>
          </a:p>
          <a:p>
            <a:pPr>
              <a:lnSpc>
                <a:spcPct val="150000"/>
              </a:lnSpc>
            </a:pPr>
            <a:r>
              <a:rPr lang="en-AU" dirty="0"/>
              <a:t>Are specialised to carry out different functions </a:t>
            </a:r>
          </a:p>
          <a:p>
            <a:pPr>
              <a:lnSpc>
                <a:spcPct val="150000"/>
              </a:lnSpc>
            </a:pPr>
            <a:r>
              <a:rPr lang="en-AU" dirty="0"/>
              <a:t>E.g. muscle cells are able to shorten in length </a:t>
            </a:r>
          </a:p>
          <a:p>
            <a:pPr>
              <a:lnSpc>
                <a:spcPct val="150000"/>
              </a:lnSpc>
            </a:pPr>
            <a:r>
              <a:rPr lang="en-AU" dirty="0"/>
              <a:t>E.g. red blood cells are able to transport oxygen 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5122" name="Picture 2" descr="File:Red blood cell.png - Wikiped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97863">
            <a:off x="8665029" y="129993"/>
            <a:ext cx="3333327" cy="2499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9959340" y="2568181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Red blood cell </a:t>
            </a:r>
          </a:p>
        </p:txBody>
      </p:sp>
    </p:spTree>
    <p:extLst>
      <p:ext uri="{BB962C8B-B14F-4D97-AF65-F5344CB8AC3E}">
        <p14:creationId xmlns:p14="http://schemas.microsoft.com/office/powerpoint/2010/main" val="3901133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6000" b="1" dirty="0"/>
              <a:t>Tissues</a:t>
            </a:r>
            <a:r>
              <a:rPr lang="en-AU" dirty="0"/>
              <a:t>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AU" dirty="0"/>
              <a:t>Cells with similar specialisations that carry out a common function are grouped together into tissues. </a:t>
            </a:r>
          </a:p>
          <a:p>
            <a:pPr>
              <a:lnSpc>
                <a:spcPct val="150000"/>
              </a:lnSpc>
            </a:pPr>
            <a:r>
              <a:rPr lang="en-AU" dirty="0"/>
              <a:t>E.g. groups of muscle cells make up muscle tissue </a:t>
            </a:r>
          </a:p>
          <a:p>
            <a:pPr>
              <a:lnSpc>
                <a:spcPct val="150000"/>
              </a:lnSpc>
            </a:pPr>
            <a:r>
              <a:rPr lang="en-AU" dirty="0"/>
              <a:t>E.g. groups of nerve cells make up nervous tissue 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6148" name="Picture 4" descr="Skeletal Muscle Tissue Illustration - Twinkl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12"/>
          <a:stretch/>
        </p:blipFill>
        <p:spPr bwMode="auto">
          <a:xfrm>
            <a:off x="7541725" y="4595949"/>
            <a:ext cx="3411481" cy="1581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9980023" y="5921829"/>
            <a:ext cx="1854926" cy="64633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Skeletal muscle tissue </a:t>
            </a:r>
          </a:p>
        </p:txBody>
      </p:sp>
    </p:spTree>
    <p:extLst>
      <p:ext uri="{BB962C8B-B14F-4D97-AF65-F5344CB8AC3E}">
        <p14:creationId xmlns:p14="http://schemas.microsoft.com/office/powerpoint/2010/main" val="2441328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Organ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AU" dirty="0"/>
              <a:t>Different types of tissues work together as organs </a:t>
            </a:r>
          </a:p>
          <a:p>
            <a:pPr>
              <a:lnSpc>
                <a:spcPct val="150000"/>
              </a:lnSpc>
            </a:pPr>
            <a:r>
              <a:rPr lang="en-AU" dirty="0"/>
              <a:t>Normally made up of two or more tissues working together</a:t>
            </a:r>
          </a:p>
          <a:p>
            <a:pPr>
              <a:lnSpc>
                <a:spcPct val="150000"/>
              </a:lnSpc>
            </a:pPr>
            <a:r>
              <a:rPr lang="en-AU" dirty="0"/>
              <a:t>E.g. the stomach is an organ with epithelial tissue on the inside and muscle tissue in the wall. 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7172" name="Picture 4" descr="Stomach clipart 1 » Clipart Station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7059" l="0" r="9955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422094">
            <a:off x="8590905" y="-157526"/>
            <a:ext cx="2410923" cy="3257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0955098" y="2186849"/>
            <a:ext cx="1066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Stomach </a:t>
            </a:r>
          </a:p>
        </p:txBody>
      </p:sp>
    </p:spTree>
    <p:extLst>
      <p:ext uri="{BB962C8B-B14F-4D97-AF65-F5344CB8AC3E}">
        <p14:creationId xmlns:p14="http://schemas.microsoft.com/office/powerpoint/2010/main" val="3719243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Organ System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AU" dirty="0"/>
              <a:t>The highest level of organisation </a:t>
            </a:r>
          </a:p>
          <a:p>
            <a:pPr>
              <a:lnSpc>
                <a:spcPct val="150000"/>
              </a:lnSpc>
            </a:pPr>
            <a:r>
              <a:rPr lang="en-AU" dirty="0"/>
              <a:t>A group of organs that work together for a common purpose </a:t>
            </a:r>
          </a:p>
          <a:p>
            <a:pPr>
              <a:lnSpc>
                <a:spcPct val="150000"/>
              </a:lnSpc>
            </a:pPr>
            <a:r>
              <a:rPr lang="en-AU" dirty="0"/>
              <a:t>E.g. the respiratory system supplies oxygen and removes carbon dioxide from the blood. The organs include the lungs, diaphragm, intercostal muscles, ribs, trachea, larynx and nose. 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8832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Cell Theory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AU" dirty="0"/>
              <a:t>The Cell Theory is a basic principle of biology </a:t>
            </a:r>
          </a:p>
          <a:p>
            <a:pPr>
              <a:lnSpc>
                <a:spcPct val="150000"/>
              </a:lnSpc>
            </a:pPr>
            <a:r>
              <a:rPr lang="en-AU" dirty="0"/>
              <a:t>It has three principles </a:t>
            </a:r>
          </a:p>
          <a:p>
            <a:pPr lvl="1"/>
            <a:r>
              <a:rPr lang="en-AU" sz="2600" dirty="0"/>
              <a:t>All living organisms are composed of one or more cells. </a:t>
            </a:r>
          </a:p>
          <a:p>
            <a:pPr lvl="1"/>
            <a:r>
              <a:rPr lang="en-AU" sz="2600" dirty="0"/>
              <a:t>The cell is the basic unit of structure and organisation in organisms. </a:t>
            </a:r>
          </a:p>
          <a:p>
            <a:pPr lvl="1"/>
            <a:r>
              <a:rPr lang="en-AU" sz="2600" dirty="0"/>
              <a:t>Cells arise from pre-existing cells.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2296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Recall Knowledge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AU" dirty="0"/>
              <a:t>State the Cell Theory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AU" dirty="0"/>
              <a:t>Why do we use a microscope to view cells?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AU" dirty="0"/>
              <a:t>List the Levels of Organisation from smallest to largest  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0215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Apply Knowledge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AU" dirty="0"/>
              <a:t>Explain the difference between tissues and organs. 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7363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6000" b="1" dirty="0"/>
              <a:t>Homework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AU" dirty="0"/>
              <a:t>Choose two body systems and list the organs that are part of each of those systems 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0592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6000" b="1" dirty="0"/>
              <a:t>Reading</a:t>
            </a:r>
            <a:r>
              <a:rPr lang="en-AU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Page 63: How Cells Make a Body (top half of the page) </a:t>
            </a:r>
          </a:p>
          <a:p>
            <a:endParaRPr lang="en-AU" dirty="0"/>
          </a:p>
          <a:p>
            <a:r>
              <a:rPr lang="en-AU" dirty="0"/>
              <a:t>Page 26: Cells (top half of the page) 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" y="69669"/>
            <a:ext cx="12026537" cy="6723017"/>
          </a:xfrm>
          <a:prstGeom prst="rect">
            <a:avLst/>
          </a:prstGeom>
          <a:noFill/>
          <a:ln w="28575">
            <a:solidFill>
              <a:schemeClr val="tx1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1493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493</Words>
  <Application>Microsoft Office PowerPoint</Application>
  <PresentationFormat>Widescreen</PresentationFormat>
  <Paragraphs>59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Levels of Organisation </vt:lpstr>
      <vt:lpstr>SCSA Syllabus Reference </vt:lpstr>
      <vt:lpstr>Lesson Intention </vt:lpstr>
      <vt:lpstr>Success Criteria </vt:lpstr>
      <vt:lpstr>Vocabulary </vt:lpstr>
      <vt:lpstr>Cells </vt:lpstr>
      <vt:lpstr>Tissues </vt:lpstr>
      <vt:lpstr>Organ </vt:lpstr>
      <vt:lpstr>Organ System </vt:lpstr>
      <vt:lpstr>Cell Theory </vt:lpstr>
      <vt:lpstr>Recall Knowledge </vt:lpstr>
      <vt:lpstr>Apply Knowledge </vt:lpstr>
      <vt:lpstr>Homework </vt:lpstr>
      <vt:lpstr>Reading 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Levels of Organisation</dc:title>
  <dc:creator>DOOMEN Lisa [Gilmore College]</dc:creator>
  <cp:lastModifiedBy>DOOMEN Lisa [Gilmore College]</cp:lastModifiedBy>
  <cp:revision>10</cp:revision>
  <cp:lastPrinted>2024-02-05T03:17:42Z</cp:lastPrinted>
  <dcterms:created xsi:type="dcterms:W3CDTF">2021-12-15T23:33:34Z</dcterms:created>
  <dcterms:modified xsi:type="dcterms:W3CDTF">2024-02-05T03:17:51Z</dcterms:modified>
</cp:coreProperties>
</file>
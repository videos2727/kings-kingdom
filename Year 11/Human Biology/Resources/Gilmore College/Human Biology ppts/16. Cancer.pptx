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7" r:id="rId10"/>
    <p:sldId id="269" r:id="rId11"/>
    <p:sldId id="270" r:id="rId12"/>
    <p:sldId id="271" r:id="rId13"/>
    <p:sldId id="274" r:id="rId14"/>
    <p:sldId id="263" r:id="rId15"/>
    <p:sldId id="264" r:id="rId16"/>
    <p:sldId id="265" r:id="rId17"/>
    <p:sldId id="268"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17/06/2022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17/06/2022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17/06/2022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17/06/2022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17/06/2022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17/06/2022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17/06/2022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17/06/2022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Cancer</a:t>
            </a:r>
            <a:r>
              <a:rPr lang="en-AU" sz="8000" dirty="0" smtClean="0"/>
              <a:t> </a:t>
            </a:r>
            <a:endParaRPr lang="en-AU" sz="8000"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a:t>
            </a:r>
            <a:r>
              <a:rPr lang="en-AU" dirty="0" smtClean="0"/>
              <a:t>#16</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r>
              <a:rPr lang="en-AU" dirty="0"/>
              <a:t>uncontrolled division of cells can result in the development of tumours/cancers</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ontent Placeholder 6"/>
          <p:cNvSpPr>
            <a:spLocks noGrp="1"/>
          </p:cNvSpPr>
          <p:nvPr>
            <p:ph idx="1"/>
          </p:nvPr>
        </p:nvSpPr>
        <p:spPr/>
        <p:txBody>
          <a:bodyPr/>
          <a:lstStyle/>
          <a:p>
            <a:r>
              <a:rPr lang="en-AU" dirty="0"/>
              <a:t>To introduce the concept of cancer </a:t>
            </a: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define </a:t>
            </a:r>
            <a:r>
              <a:rPr lang="en-AU" dirty="0"/>
              <a:t>cancer </a:t>
            </a:r>
          </a:p>
          <a:p>
            <a:r>
              <a:rPr lang="en-AU" dirty="0" smtClean="0"/>
              <a:t>describe </a:t>
            </a:r>
            <a:r>
              <a:rPr lang="en-AU" dirty="0"/>
              <a:t>the process of uncontrolled cell division </a:t>
            </a:r>
          </a:p>
          <a:p>
            <a:r>
              <a:rPr lang="en-AU" dirty="0" smtClean="0"/>
              <a:t>describe </a:t>
            </a:r>
            <a:r>
              <a:rPr lang="en-AU" dirty="0"/>
              <a:t>how tumours form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370"/>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20187" y="1416322"/>
            <a:ext cx="11397343" cy="5080272"/>
          </a:xfrm>
        </p:spPr>
        <p:txBody>
          <a:bodyPr/>
          <a:lstStyle/>
          <a:p>
            <a:r>
              <a:rPr lang="en-AU" b="1" dirty="0"/>
              <a:t>Cancer</a:t>
            </a:r>
            <a:r>
              <a:rPr lang="en-AU" dirty="0"/>
              <a:t>: a malignant growth; one that has the capability of spreading to other body parts.  </a:t>
            </a:r>
            <a:endParaRPr lang="en-AU" dirty="0" smtClean="0"/>
          </a:p>
          <a:p>
            <a:endParaRPr lang="en-AU" dirty="0"/>
          </a:p>
          <a:p>
            <a:r>
              <a:rPr lang="en-AU" b="1" dirty="0"/>
              <a:t>Tumour</a:t>
            </a:r>
            <a:r>
              <a:rPr lang="en-AU" dirty="0"/>
              <a:t>: an abnormal mass of tissue resulting from uncontrolled division of cells  </a:t>
            </a:r>
            <a:endParaRPr lang="en-AU" dirty="0" smtClean="0"/>
          </a:p>
          <a:p>
            <a:endParaRPr lang="en-AU" dirty="0"/>
          </a:p>
          <a:p>
            <a:r>
              <a:rPr lang="en-AU" b="1" dirty="0"/>
              <a:t>Malignant</a:t>
            </a:r>
            <a:r>
              <a:rPr lang="en-AU" dirty="0"/>
              <a:t>: able to spread to other parts of the body  </a:t>
            </a:r>
            <a:endParaRPr lang="en-AU" dirty="0" smtClean="0"/>
          </a:p>
          <a:p>
            <a:endParaRPr lang="en-AU" dirty="0"/>
          </a:p>
          <a:p>
            <a:r>
              <a:rPr lang="en-AU" b="1" dirty="0"/>
              <a:t>Metastasis</a:t>
            </a:r>
            <a:r>
              <a:rPr lang="en-AU" dirty="0"/>
              <a:t>: the spreading of tumour cells to form secondary tumours in different parts of the body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Cancer </a:t>
            </a:r>
            <a:endParaRPr lang="en-AU" sz="6000" b="1" dirty="0"/>
          </a:p>
        </p:txBody>
      </p:sp>
      <p:sp>
        <p:nvSpPr>
          <p:cNvPr id="3" name="Content Placeholder 2"/>
          <p:cNvSpPr>
            <a:spLocks noGrp="1"/>
          </p:cNvSpPr>
          <p:nvPr>
            <p:ph idx="1"/>
          </p:nvPr>
        </p:nvSpPr>
        <p:spPr/>
        <p:txBody>
          <a:bodyPr/>
          <a:lstStyle/>
          <a:p>
            <a:r>
              <a:rPr lang="en-AU" dirty="0" smtClean="0"/>
              <a:t>Normally, cell division is controlled. When it is not, cells divide uncontrollably and this is known as cancer. </a:t>
            </a:r>
          </a:p>
          <a:p>
            <a:endParaRPr lang="en-AU" dirty="0"/>
          </a:p>
          <a:p>
            <a:r>
              <a:rPr lang="en-AU" dirty="0" smtClean="0"/>
              <a:t>This uncontrolled growth of abnormal cells produces a mass, or tumour. </a:t>
            </a:r>
          </a:p>
          <a:p>
            <a:endParaRPr lang="en-AU" dirty="0"/>
          </a:p>
          <a:p>
            <a:r>
              <a:rPr lang="en-AU" dirty="0" smtClean="0"/>
              <a:t>There are many different types of cancer e.g. breast, brain, leukaemia, lung and skin.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Cancer </a:t>
            </a:r>
            <a:endParaRPr lang="en-AU" sz="6000" b="1" dirty="0"/>
          </a:p>
        </p:txBody>
      </p:sp>
      <p:sp>
        <p:nvSpPr>
          <p:cNvPr id="3" name="Content Placeholder 2"/>
          <p:cNvSpPr>
            <a:spLocks noGrp="1"/>
          </p:cNvSpPr>
          <p:nvPr>
            <p:ph idx="1"/>
          </p:nvPr>
        </p:nvSpPr>
        <p:spPr/>
        <p:txBody>
          <a:bodyPr/>
          <a:lstStyle/>
          <a:p>
            <a:r>
              <a:rPr lang="en-AU" dirty="0" smtClean="0"/>
              <a:t>Cancer cells do not </a:t>
            </a:r>
            <a:r>
              <a:rPr lang="en-AU" dirty="0" smtClean="0"/>
              <a:t>differentiate into the normal tissue cells that surround the tumour. They can therefore easily be identified. </a:t>
            </a:r>
          </a:p>
          <a:p>
            <a:endParaRPr lang="en-AU" dirty="0"/>
          </a:p>
          <a:p>
            <a:r>
              <a:rPr lang="en-AU" dirty="0" smtClean="0"/>
              <a:t>Some tumours are malignant, which means they spread to other parts of the body. This is known as metastasis. In this way, secondary tumours can develop in parts of the body well away from the original tumour.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79981" y="647201"/>
            <a:ext cx="10788493" cy="5567952"/>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9599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p:cNvSpPr>
            <a:spLocks noGrp="1"/>
          </p:cNvSpPr>
          <p:nvPr>
            <p:ph type="title"/>
          </p:nvPr>
        </p:nvSpPr>
        <p:spPr/>
        <p:txBody>
          <a:bodyPr>
            <a:normAutofit/>
          </a:bodyPr>
          <a:lstStyle/>
          <a:p>
            <a:r>
              <a:rPr lang="en-AU" sz="6000" b="1" dirty="0" smtClean="0"/>
              <a:t>Cancer continued </a:t>
            </a:r>
            <a:endParaRPr lang="en-AU" sz="6000" b="1" dirty="0"/>
          </a:p>
        </p:txBody>
      </p:sp>
      <p:sp>
        <p:nvSpPr>
          <p:cNvPr id="6" name="Content Placeholder 5"/>
          <p:cNvSpPr>
            <a:spLocks noGrp="1"/>
          </p:cNvSpPr>
          <p:nvPr>
            <p:ph idx="1"/>
          </p:nvPr>
        </p:nvSpPr>
        <p:spPr/>
        <p:txBody>
          <a:bodyPr/>
          <a:lstStyle/>
          <a:p>
            <a:r>
              <a:rPr lang="en-AU" dirty="0" smtClean="0"/>
              <a:t>Some tumours are not malignant as they are not able to invade normal tissues, blood or lymph vessels, and so do not spread throughout the body. </a:t>
            </a:r>
          </a:p>
          <a:p>
            <a:endParaRPr lang="en-AU" dirty="0"/>
          </a:p>
          <a:p>
            <a:r>
              <a:rPr lang="en-AU" dirty="0" smtClean="0"/>
              <a:t>These tumours are called benign. Benign tumours grow and press on surrounding tissues. These tumours can be dangerous if they exert pressure on vital organs such as the brain or if they are found within the lungs. </a:t>
            </a:r>
            <a:endParaRPr lang="en-AU" dirty="0"/>
          </a:p>
        </p:txBody>
      </p:sp>
    </p:spTree>
    <p:extLst>
      <p:ext uri="{BB962C8B-B14F-4D97-AF65-F5344CB8AC3E}">
        <p14:creationId xmlns:p14="http://schemas.microsoft.com/office/powerpoint/2010/main" val="3485956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p:cNvSpPr>
            <a:spLocks noGrp="1"/>
          </p:cNvSpPr>
          <p:nvPr>
            <p:ph type="title"/>
          </p:nvPr>
        </p:nvSpPr>
        <p:spPr/>
        <p:txBody>
          <a:bodyPr>
            <a:normAutofit/>
          </a:bodyPr>
          <a:lstStyle/>
          <a:p>
            <a:r>
              <a:rPr lang="en-AU" sz="6000" b="1" dirty="0" smtClean="0"/>
              <a:t>Causes of Cancer </a:t>
            </a:r>
            <a:endParaRPr lang="en-AU" sz="6000" b="1" dirty="0"/>
          </a:p>
        </p:txBody>
      </p:sp>
      <p:sp>
        <p:nvSpPr>
          <p:cNvPr id="6" name="Content Placeholder 5"/>
          <p:cNvSpPr>
            <a:spLocks noGrp="1"/>
          </p:cNvSpPr>
          <p:nvPr>
            <p:ph idx="1"/>
          </p:nvPr>
        </p:nvSpPr>
        <p:spPr/>
        <p:txBody>
          <a:bodyPr/>
          <a:lstStyle/>
          <a:p>
            <a:r>
              <a:rPr lang="en-AU" dirty="0" smtClean="0"/>
              <a:t>Some are still unknown. </a:t>
            </a:r>
          </a:p>
          <a:p>
            <a:endParaRPr lang="en-AU" dirty="0"/>
          </a:p>
          <a:p>
            <a:r>
              <a:rPr lang="en-AU" dirty="0" smtClean="0"/>
              <a:t>Certain environmental factors called carcinogens can trigger malignant tumours. Cancer usually only occurs after long exposure to a carcinogen, with some not developing until years later. </a:t>
            </a:r>
          </a:p>
          <a:p>
            <a:endParaRPr lang="en-AU" dirty="0"/>
          </a:p>
          <a:p>
            <a:r>
              <a:rPr lang="en-AU" dirty="0" smtClean="0"/>
              <a:t>Other factors like genetics can also affect the likelihood of developing cancer. </a:t>
            </a:r>
            <a:endParaRPr lang="en-AU" dirty="0"/>
          </a:p>
        </p:txBody>
      </p:sp>
    </p:spTree>
    <p:extLst>
      <p:ext uri="{BB962C8B-B14F-4D97-AF65-F5344CB8AC3E}">
        <p14:creationId xmlns:p14="http://schemas.microsoft.com/office/powerpoint/2010/main" val="2573367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p:cNvSpPr>
            <a:spLocks noGrp="1"/>
          </p:cNvSpPr>
          <p:nvPr>
            <p:ph type="title"/>
          </p:nvPr>
        </p:nvSpPr>
        <p:spPr/>
        <p:txBody>
          <a:bodyPr>
            <a:normAutofit/>
          </a:bodyPr>
          <a:lstStyle/>
          <a:p>
            <a:r>
              <a:rPr lang="en-AU" sz="6000" b="1" dirty="0" smtClean="0"/>
              <a:t>Carcinogens </a:t>
            </a:r>
            <a:endParaRPr lang="en-AU" sz="6000" b="1" dirty="0"/>
          </a:p>
        </p:txBody>
      </p:sp>
      <p:sp>
        <p:nvSpPr>
          <p:cNvPr id="6" name="Content Placeholder 5"/>
          <p:cNvSpPr>
            <a:spLocks noGrp="1"/>
          </p:cNvSpPr>
          <p:nvPr>
            <p:ph idx="1"/>
          </p:nvPr>
        </p:nvSpPr>
        <p:spPr/>
        <p:txBody>
          <a:bodyPr/>
          <a:lstStyle/>
          <a:p>
            <a:r>
              <a:rPr lang="en-AU" dirty="0" smtClean="0"/>
              <a:t>A great many substances have been found to be associated with cancer </a:t>
            </a:r>
          </a:p>
          <a:p>
            <a:pPr lvl="1"/>
            <a:r>
              <a:rPr lang="en-AU" dirty="0" smtClean="0"/>
              <a:t>UV radiation </a:t>
            </a:r>
          </a:p>
          <a:p>
            <a:pPr lvl="1"/>
            <a:r>
              <a:rPr lang="en-AU" dirty="0" smtClean="0"/>
              <a:t>X-rays </a:t>
            </a:r>
          </a:p>
          <a:p>
            <a:pPr lvl="1"/>
            <a:r>
              <a:rPr lang="en-AU" dirty="0" smtClean="0"/>
              <a:t>Ionising radiation </a:t>
            </a:r>
          </a:p>
          <a:p>
            <a:pPr lvl="1"/>
            <a:r>
              <a:rPr lang="en-AU" dirty="0" smtClean="0"/>
              <a:t>Viruses such as HPV </a:t>
            </a:r>
          </a:p>
          <a:p>
            <a:pPr lvl="1"/>
            <a:r>
              <a:rPr lang="en-AU" dirty="0" smtClean="0"/>
              <a:t>Chemical carcinogens e.g. alcohol, asbestos, tar, paints </a:t>
            </a:r>
            <a:endParaRPr lang="en-AU" dirty="0"/>
          </a:p>
        </p:txBody>
      </p:sp>
    </p:spTree>
    <p:extLst>
      <p:ext uri="{BB962C8B-B14F-4D97-AF65-F5344CB8AC3E}">
        <p14:creationId xmlns:p14="http://schemas.microsoft.com/office/powerpoint/2010/main" val="3994779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p:cNvSpPr>
            <a:spLocks noGrp="1"/>
          </p:cNvSpPr>
          <p:nvPr>
            <p:ph type="title"/>
          </p:nvPr>
        </p:nvSpPr>
        <p:spPr/>
        <p:txBody>
          <a:bodyPr>
            <a:normAutofit/>
          </a:bodyPr>
          <a:lstStyle/>
          <a:p>
            <a:r>
              <a:rPr lang="en-AU" sz="6000" b="1" dirty="0" smtClean="0"/>
              <a:t>Prevention of cancer </a:t>
            </a:r>
            <a:endParaRPr lang="en-AU" sz="6000" b="1" dirty="0"/>
          </a:p>
        </p:txBody>
      </p:sp>
      <p:sp>
        <p:nvSpPr>
          <p:cNvPr id="6" name="Content Placeholder 5"/>
          <p:cNvSpPr>
            <a:spLocks noGrp="1"/>
          </p:cNvSpPr>
          <p:nvPr>
            <p:ph idx="1"/>
          </p:nvPr>
        </p:nvSpPr>
        <p:spPr/>
        <p:txBody>
          <a:bodyPr/>
          <a:lstStyle/>
          <a:p>
            <a:r>
              <a:rPr lang="en-AU" dirty="0" smtClean="0"/>
              <a:t>Many cancers are associated with lifestyle factors </a:t>
            </a:r>
          </a:p>
          <a:p>
            <a:endParaRPr lang="en-AU" dirty="0"/>
          </a:p>
          <a:p>
            <a:r>
              <a:rPr lang="en-AU" dirty="0" smtClean="0"/>
              <a:t>Education and legislation are two ways to help prevent cancer </a:t>
            </a:r>
            <a:endParaRPr lang="en-AU" dirty="0"/>
          </a:p>
        </p:txBody>
      </p:sp>
    </p:spTree>
    <p:extLst>
      <p:ext uri="{BB962C8B-B14F-4D97-AF65-F5344CB8AC3E}">
        <p14:creationId xmlns:p14="http://schemas.microsoft.com/office/powerpoint/2010/main" val="1912671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the difference between a benign and malignant tumour.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Using an example, explain how education can help to prevent cancer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None this time </a:t>
            </a:r>
            <a:r>
              <a:rPr lang="en-AU" dirty="0" smtClean="0">
                <a:sym typeface="Wingdings" panose="05000000000000000000" pitchFamily="2" charset="2"/>
              </a:rPr>
              <a: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Your research task</a:t>
            </a:r>
            <a:endParaRPr lang="en-AU" sz="6000" b="1" dirty="0"/>
          </a:p>
        </p:txBody>
      </p:sp>
      <p:sp>
        <p:nvSpPr>
          <p:cNvPr id="3" name="Content Placeholder 2"/>
          <p:cNvSpPr>
            <a:spLocks noGrp="1"/>
          </p:cNvSpPr>
          <p:nvPr>
            <p:ph idx="1"/>
          </p:nvPr>
        </p:nvSpPr>
        <p:spPr/>
        <p:txBody>
          <a:bodyPr/>
          <a:lstStyle/>
          <a:p>
            <a:r>
              <a:rPr lang="en-AU" dirty="0" smtClean="0"/>
              <a:t>Use </a:t>
            </a:r>
            <a:r>
              <a:rPr lang="en-AU" dirty="0"/>
              <a:t>ICT to explore different types of cancers and the treatments currently available </a:t>
            </a:r>
            <a:endParaRPr lang="en-AU" dirty="0" smtClean="0"/>
          </a:p>
          <a:p>
            <a:endParaRPr lang="en-AU" dirty="0"/>
          </a:p>
          <a:p>
            <a:r>
              <a:rPr lang="en-AU" dirty="0" smtClean="0"/>
              <a:t>You will need to research three different types of cancers and how they are currently treated. </a:t>
            </a:r>
          </a:p>
          <a:p>
            <a:endParaRPr lang="en-AU" dirty="0"/>
          </a:p>
          <a:p>
            <a:r>
              <a:rPr lang="en-AU" dirty="0" smtClean="0"/>
              <a:t>You have 2 periods in class.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3092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a:t>
            </a:r>
            <a:r>
              <a:rPr lang="en-AU" dirty="0" smtClean="0"/>
              <a:t>261 - 266: Cancer </a:t>
            </a:r>
            <a:endParaRPr lang="en-AU"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478</Words>
  <Application>Microsoft Office PowerPoint</Application>
  <PresentationFormat>Widescreen</PresentationFormat>
  <Paragraphs>65</Paragraphs>
  <Slides>17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Wingdings</vt:lpstr>
      <vt:lpstr>Office Theme</vt:lpstr>
      <vt:lpstr>1_Office Theme</vt:lpstr>
      <vt:lpstr>Cancer </vt:lpstr>
      <vt:lpstr>SCSA Syllabus Reference </vt:lpstr>
      <vt:lpstr>Lesson Intention </vt:lpstr>
      <vt:lpstr>Success Criteria </vt:lpstr>
      <vt:lpstr>Vocabulary </vt:lpstr>
      <vt:lpstr>Cancer </vt:lpstr>
      <vt:lpstr>Cancer </vt:lpstr>
      <vt:lpstr>PowerPoint Presentation</vt:lpstr>
      <vt:lpstr>Cancer continued </vt:lpstr>
      <vt:lpstr>Causes of Cancer </vt:lpstr>
      <vt:lpstr>Carcinogens </vt:lpstr>
      <vt:lpstr>Prevention of cancer </vt:lpstr>
      <vt:lpstr>Recall Knowledge </vt:lpstr>
      <vt:lpstr>Apply Knowledge </vt:lpstr>
      <vt:lpstr>Homework</vt:lpstr>
      <vt:lpstr>Your research task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6</cp:revision>
  <dcterms:created xsi:type="dcterms:W3CDTF">2021-12-16T00:48:44Z</dcterms:created>
  <dcterms:modified xsi:type="dcterms:W3CDTF">2022-06-17T04:47:29Z</dcterms:modified>
</cp:coreProperties>
</file>
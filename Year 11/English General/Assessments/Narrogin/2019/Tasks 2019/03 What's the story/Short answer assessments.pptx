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62" r:id="rId6"/>
    <p:sldId id="263" r:id="rId7"/>
    <p:sldId id="261" r:id="rId8"/>
    <p:sldId id="264" r:id="rId9"/>
    <p:sldId id="266" r:id="rId10"/>
    <p:sldId id="267" r:id="rId11"/>
    <p:sldId id="270"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564A0BD-0ED0-4DDD-8146-E5FFEB7445D7}" type="datetimeFigureOut">
              <a:rPr lang="en-AU" smtClean="0"/>
              <a:pPr/>
              <a:t>1/04/2019</a:t>
            </a:fld>
            <a:endParaRPr lang="en-AU"/>
          </a:p>
        </p:txBody>
      </p:sp>
      <p:sp>
        <p:nvSpPr>
          <p:cNvPr id="5" name="Footer Placeholder 4"/>
          <p:cNvSpPr>
            <a:spLocks noGrp="1"/>
          </p:cNvSpPr>
          <p:nvPr>
            <p:ph type="ftr" sz="quarter" idx="11"/>
          </p:nvPr>
        </p:nvSpPr>
        <p:spPr/>
        <p:txBody>
          <a:bodyPr/>
          <a:lstStyle/>
          <a:p>
            <a:endParaRPr lang="en-AU"/>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E89C5F7D-E0E4-4352-824F-6147D7E6141F}" type="slidenum">
              <a:rPr lang="en-AU" smtClean="0"/>
              <a:pPr/>
              <a:t>‹#›</a:t>
            </a:fld>
            <a:endParaRPr lang="en-AU"/>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4A0BD-0ED0-4DDD-8146-E5FFEB7445D7}" type="datetimeFigureOut">
              <a:rPr lang="en-AU" smtClean="0"/>
              <a:pPr/>
              <a:t>1/04/2019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564A0BD-0ED0-4DDD-8146-E5FFEB7445D7}" type="datetimeFigureOut">
              <a:rPr lang="en-AU" smtClean="0"/>
              <a:pPr/>
              <a:t>1/04/2019</a:t>
            </a:fld>
            <a:endParaRPr lang="en-AU"/>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89C5F7D-E0E4-4352-824F-6147D7E6141F}" type="slidenum">
              <a:rPr lang="en-AU" smtClean="0"/>
              <a:pPr/>
              <a:t>‹#›</a:t>
            </a:fld>
            <a:endParaRPr lang="en-AU"/>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564A0BD-0ED0-4DDD-8146-E5FFEB7445D7}" type="datetimeFigureOut">
              <a:rPr lang="en-AU" smtClean="0"/>
              <a:pPr/>
              <a:t>1/04/2019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564A0BD-0ED0-4DDD-8146-E5FFEB7445D7}" type="datetimeFigureOut">
              <a:rPr lang="en-AU" smtClean="0"/>
              <a:pPr/>
              <a:t>1/04/2019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64A0BD-0ED0-4DDD-8146-E5FFEB7445D7}" type="datetimeFigureOut">
              <a:rPr lang="en-AU" smtClean="0"/>
              <a:pPr/>
              <a:t>1/04/2019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B564A0BD-0ED0-4DDD-8146-E5FFEB7445D7}" type="datetimeFigureOut">
              <a:rPr lang="en-AU" smtClean="0"/>
              <a:pPr/>
              <a:t>1/04/2019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564A0BD-0ED0-4DDD-8146-E5FFEB7445D7}" type="datetimeFigureOut">
              <a:rPr lang="en-AU" smtClean="0"/>
              <a:pPr/>
              <a:t>1/04/2019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89C5F7D-E0E4-4352-824F-6147D7E6141F}" type="slidenum">
              <a:rPr lang="en-AU" smtClean="0"/>
              <a:pPr/>
              <a:t>‹#›</a:t>
            </a:fld>
            <a:endParaRPr lang="en-AU"/>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5" name="Date Placeholder 4"/>
          <p:cNvSpPr>
            <a:spLocks noGrp="1"/>
          </p:cNvSpPr>
          <p:nvPr>
            <p:ph type="dt" sz="half" idx="10"/>
          </p:nvPr>
        </p:nvSpPr>
        <p:spPr/>
        <p:txBody>
          <a:bodyPr/>
          <a:lstStyle/>
          <a:p>
            <a:fld id="{B564A0BD-0ED0-4DDD-8146-E5FFEB7445D7}" type="datetimeFigureOut">
              <a:rPr lang="en-AU" smtClean="0"/>
              <a:pPr/>
              <a:t>1/04/2019</a:t>
            </a:fld>
            <a:endParaRPr lang="en-AU"/>
          </a:p>
        </p:txBody>
      </p:sp>
      <p:sp>
        <p:nvSpPr>
          <p:cNvPr id="7" name="Slide Number Placeholder 6"/>
          <p:cNvSpPr>
            <a:spLocks noGrp="1"/>
          </p:cNvSpPr>
          <p:nvPr>
            <p:ph type="sldNum" sz="quarter" idx="12"/>
          </p:nvPr>
        </p:nvSpPr>
        <p:spPr/>
        <p:txBody>
          <a:bodyPr/>
          <a:lstStyle/>
          <a:p>
            <a:fld id="{E89C5F7D-E0E4-4352-824F-6147D7E6141F}" type="slidenum">
              <a:rPr lang="en-AU" smtClean="0"/>
              <a:pPr/>
              <a:t>‹#›</a:t>
            </a:fld>
            <a:endParaRPr lang="en-AU"/>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en-AU"/>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64A0BD-0ED0-4DDD-8146-E5FFEB7445D7}" type="datetimeFigureOut">
              <a:rPr lang="en-AU" smtClean="0"/>
              <a:pPr/>
              <a:t>1/04/2019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564A0BD-0ED0-4DDD-8146-E5FFEB7445D7}" type="datetimeFigureOut">
              <a:rPr lang="en-AU" smtClean="0"/>
              <a:pPr/>
              <a:t>1/04/2019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89C5F7D-E0E4-4352-824F-6147D7E6141F}"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B564A0BD-0ED0-4DDD-8146-E5FFEB7445D7}" type="datetimeFigureOut">
              <a:rPr lang="en-AU" smtClean="0"/>
              <a:pPr/>
              <a:t>1/04/2019</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E89C5F7D-E0E4-4352-824F-6147D7E6141F}" type="slidenum">
              <a:rPr lang="en-AU" smtClean="0"/>
              <a:pPr/>
              <a:t>‹#›</a:t>
            </a:fld>
            <a:endParaRPr lang="en-AU"/>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70000" lnSpcReduction="20000"/>
          </a:bodyPr>
          <a:lstStyle/>
          <a:p>
            <a:r>
              <a:rPr lang="en-AU" dirty="0" smtClean="0"/>
              <a:t>11 ENGLISH</a:t>
            </a:r>
          </a:p>
          <a:p>
            <a:r>
              <a:rPr lang="en-AU" dirty="0" smtClean="0"/>
              <a:t>Hayden Payne</a:t>
            </a:r>
            <a:endParaRPr lang="en-AU" dirty="0"/>
          </a:p>
        </p:txBody>
      </p:sp>
      <p:sp>
        <p:nvSpPr>
          <p:cNvPr id="2" name="Title 1"/>
          <p:cNvSpPr>
            <a:spLocks noGrp="1"/>
          </p:cNvSpPr>
          <p:nvPr>
            <p:ph type="ctrTitle"/>
          </p:nvPr>
        </p:nvSpPr>
        <p:spPr/>
        <p:txBody>
          <a:bodyPr/>
          <a:lstStyle/>
          <a:p>
            <a:r>
              <a:rPr lang="en-AU" b="1" dirty="0" smtClean="0"/>
              <a:t>Short answer assessments</a:t>
            </a:r>
            <a:endParaRPr lang="en-AU" b="1" dirty="0"/>
          </a:p>
        </p:txBody>
      </p:sp>
    </p:spTree>
    <p:extLst>
      <p:ext uri="{BB962C8B-B14F-4D97-AF65-F5344CB8AC3E}">
        <p14:creationId xmlns:p14="http://schemas.microsoft.com/office/powerpoint/2010/main" val="37917471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What is an </a:t>
            </a:r>
            <a:r>
              <a:rPr lang="en-AU" i="1" dirty="0" err="1" smtClean="0"/>
              <a:t>english</a:t>
            </a:r>
            <a:r>
              <a:rPr lang="en-AU" dirty="0" smtClean="0"/>
              <a:t> short answer?</a:t>
            </a:r>
            <a:endParaRPr lang="en-AU" dirty="0"/>
          </a:p>
        </p:txBody>
      </p:sp>
      <p:sp>
        <p:nvSpPr>
          <p:cNvPr id="3" name="Content Placeholder 2"/>
          <p:cNvSpPr>
            <a:spLocks noGrp="1"/>
          </p:cNvSpPr>
          <p:nvPr>
            <p:ph idx="1"/>
          </p:nvPr>
        </p:nvSpPr>
        <p:spPr/>
        <p:txBody>
          <a:bodyPr>
            <a:normAutofit lnSpcReduction="10000"/>
          </a:bodyPr>
          <a:lstStyle/>
          <a:p>
            <a:r>
              <a:rPr lang="en-AU" dirty="0" smtClean="0"/>
              <a:t>300 – 600 words (1 page)</a:t>
            </a:r>
          </a:p>
          <a:p>
            <a:endParaRPr lang="en-AU" dirty="0" smtClean="0"/>
          </a:p>
          <a:p>
            <a:r>
              <a:rPr lang="en-AU" dirty="0" smtClean="0"/>
              <a:t>Concise</a:t>
            </a:r>
          </a:p>
          <a:p>
            <a:endParaRPr lang="en-AU" dirty="0" smtClean="0"/>
          </a:p>
          <a:p>
            <a:r>
              <a:rPr lang="en-AU" dirty="0" smtClean="0"/>
              <a:t>Precise</a:t>
            </a:r>
          </a:p>
          <a:p>
            <a:endParaRPr lang="en-AU" dirty="0" smtClean="0"/>
          </a:p>
          <a:p>
            <a:r>
              <a:rPr lang="en-AU" dirty="0" smtClean="0"/>
              <a:t>Answers a question </a:t>
            </a:r>
          </a:p>
          <a:p>
            <a:pPr marL="114300" indent="0">
              <a:buNone/>
            </a:pPr>
            <a:r>
              <a:rPr lang="en-AU" dirty="0" smtClean="0"/>
              <a:t>(usually about a text read or viewed)</a:t>
            </a:r>
          </a:p>
          <a:p>
            <a:endParaRPr lang="en-AU" dirty="0" smtClean="0"/>
          </a:p>
          <a:p>
            <a:r>
              <a:rPr lang="en-AU" dirty="0" smtClean="0"/>
              <a:t>(Comprehending)</a:t>
            </a:r>
            <a:endParaRPr lang="en-AU" dirty="0"/>
          </a:p>
        </p:txBody>
      </p:sp>
    </p:spTree>
    <p:extLst>
      <p:ext uri="{BB962C8B-B14F-4D97-AF65-F5344CB8AC3E}">
        <p14:creationId xmlns:p14="http://schemas.microsoft.com/office/powerpoint/2010/main" val="5040372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questions</a:t>
            </a:r>
            <a:endParaRPr lang="en-AU" dirty="0"/>
          </a:p>
        </p:txBody>
      </p:sp>
      <p:sp>
        <p:nvSpPr>
          <p:cNvPr id="3" name="Content Placeholder 2"/>
          <p:cNvSpPr>
            <a:spLocks noGrp="1"/>
          </p:cNvSpPr>
          <p:nvPr>
            <p:ph idx="1"/>
          </p:nvPr>
        </p:nvSpPr>
        <p:spPr/>
        <p:txBody>
          <a:bodyPr/>
          <a:lstStyle/>
          <a:p>
            <a:pPr marL="114300" indent="0">
              <a:buNone/>
            </a:pPr>
            <a:endParaRPr lang="en-AU" dirty="0" smtClean="0"/>
          </a:p>
          <a:p>
            <a:pPr marL="114300" indent="0">
              <a:buNone/>
            </a:pPr>
            <a:endParaRPr lang="en-AU" dirty="0"/>
          </a:p>
          <a:p>
            <a:pPr marL="114300" indent="0">
              <a:buNone/>
            </a:pPr>
            <a:r>
              <a:rPr lang="en-AU" dirty="0" smtClean="0">
                <a:solidFill>
                  <a:srgbClr val="FF0000"/>
                </a:solidFill>
              </a:rPr>
              <a:t>Example:</a:t>
            </a:r>
            <a:endParaRPr lang="en-AU" dirty="0" smtClean="0"/>
          </a:p>
          <a:p>
            <a:pPr marL="114300" indent="0">
              <a:buNone/>
            </a:pPr>
            <a:r>
              <a:rPr lang="en-AU" b="1" dirty="0">
                <a:solidFill>
                  <a:schemeClr val="tx1"/>
                </a:solidFill>
                <a:latin typeface="Arial" pitchFamily="34" charset="0"/>
                <a:cs typeface="Arial" pitchFamily="34" charset="0"/>
              </a:rPr>
              <a:t>Explain how the writer’s use of at least two writing techniques influences </a:t>
            </a:r>
            <a:r>
              <a:rPr lang="en-AU" b="1" dirty="0" smtClean="0">
                <a:solidFill>
                  <a:schemeClr val="tx1"/>
                </a:solidFill>
                <a:latin typeface="Arial" pitchFamily="34" charset="0"/>
                <a:cs typeface="Arial" pitchFamily="34" charset="0"/>
              </a:rPr>
              <a:t>the reader’s </a:t>
            </a:r>
            <a:r>
              <a:rPr lang="en-AU" b="1" dirty="0">
                <a:solidFill>
                  <a:schemeClr val="tx1"/>
                </a:solidFill>
                <a:latin typeface="Arial" pitchFamily="34" charset="0"/>
                <a:cs typeface="Arial" pitchFamily="34" charset="0"/>
              </a:rPr>
              <a:t>response to the subject of the </a:t>
            </a:r>
            <a:r>
              <a:rPr lang="en-AU" b="1" dirty="0" smtClean="0">
                <a:solidFill>
                  <a:schemeClr val="tx1"/>
                </a:solidFill>
                <a:latin typeface="Arial" pitchFamily="34" charset="0"/>
                <a:cs typeface="Arial" pitchFamily="34" charset="0"/>
              </a:rPr>
              <a:t>text.</a:t>
            </a:r>
            <a:endParaRPr lang="en-AU" b="1" dirty="0">
              <a:solidFill>
                <a:schemeClr val="tx1"/>
              </a:solidFill>
              <a:latin typeface="Arial" pitchFamily="34" charset="0"/>
              <a:cs typeface="Arial" pitchFamily="34" charset="0"/>
            </a:endParaRPr>
          </a:p>
          <a:p>
            <a:pPr marL="114300" indent="0">
              <a:buNone/>
            </a:pPr>
            <a:endParaRPr lang="en-AU" dirty="0"/>
          </a:p>
        </p:txBody>
      </p:sp>
    </p:spTree>
    <p:extLst>
      <p:ext uri="{BB962C8B-B14F-4D97-AF65-F5344CB8AC3E}">
        <p14:creationId xmlns:p14="http://schemas.microsoft.com/office/powerpoint/2010/main" val="21611708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Answers</a:t>
            </a:r>
            <a:endParaRPr lang="en-AU" dirty="0"/>
          </a:p>
        </p:txBody>
      </p:sp>
      <p:sp>
        <p:nvSpPr>
          <p:cNvPr id="3" name="Content Placeholder 2"/>
          <p:cNvSpPr>
            <a:spLocks noGrp="1"/>
          </p:cNvSpPr>
          <p:nvPr>
            <p:ph idx="1"/>
          </p:nvPr>
        </p:nvSpPr>
        <p:spPr/>
        <p:txBody>
          <a:bodyPr/>
          <a:lstStyle/>
          <a:p>
            <a:r>
              <a:rPr lang="en-AU" dirty="0" smtClean="0"/>
              <a:t>Concise – succinct and well structured</a:t>
            </a:r>
          </a:p>
          <a:p>
            <a:pPr marL="114300" indent="0">
              <a:buNone/>
            </a:pPr>
            <a:endParaRPr lang="en-AU" dirty="0" smtClean="0"/>
          </a:p>
          <a:p>
            <a:r>
              <a:rPr lang="en-AU" dirty="0" smtClean="0"/>
              <a:t>Precise – use vocabulary /phrasing that is controlled and exact</a:t>
            </a:r>
          </a:p>
          <a:p>
            <a:pPr marL="114300" indent="0">
              <a:buNone/>
            </a:pPr>
            <a:endParaRPr lang="en-AU" dirty="0" smtClean="0"/>
          </a:p>
          <a:p>
            <a:r>
              <a:rPr lang="en-AU" dirty="0" smtClean="0"/>
              <a:t>Answers the Question – addresses the question and provides a response with appropriate textual evidence as support</a:t>
            </a:r>
          </a:p>
          <a:p>
            <a:pPr lvl="1"/>
            <a:r>
              <a:rPr lang="en-AU" dirty="0" smtClean="0"/>
              <a:t>N.B. quotes are to be embedded within your explanations (approx. 3 words max.) will read better and score you more marks.</a:t>
            </a:r>
            <a:endParaRPr lang="en-AU" dirty="0"/>
          </a:p>
        </p:txBody>
      </p:sp>
    </p:spTree>
    <p:extLst>
      <p:ext uri="{BB962C8B-B14F-4D97-AF65-F5344CB8AC3E}">
        <p14:creationId xmlns:p14="http://schemas.microsoft.com/office/powerpoint/2010/main" val="13421013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Short answer format</a:t>
            </a:r>
            <a:endParaRPr lang="en-AU" dirty="0"/>
          </a:p>
        </p:txBody>
      </p:sp>
      <p:sp>
        <p:nvSpPr>
          <p:cNvPr id="4" name="Text Placeholder 3"/>
          <p:cNvSpPr>
            <a:spLocks noGrp="1"/>
          </p:cNvSpPr>
          <p:nvPr>
            <p:ph type="body" idx="1"/>
          </p:nvPr>
        </p:nvSpPr>
        <p:spPr/>
        <p:txBody>
          <a:bodyPr/>
          <a:lstStyle/>
          <a:p>
            <a:r>
              <a:rPr lang="en-AU" dirty="0" smtClean="0"/>
              <a:t>Option 1	</a:t>
            </a:r>
            <a:endParaRPr lang="en-AU" dirty="0"/>
          </a:p>
        </p:txBody>
      </p:sp>
      <p:sp>
        <p:nvSpPr>
          <p:cNvPr id="5" name="Content Placeholder 4"/>
          <p:cNvSpPr>
            <a:spLocks noGrp="1"/>
          </p:cNvSpPr>
          <p:nvPr>
            <p:ph sz="half" idx="2"/>
          </p:nvPr>
        </p:nvSpPr>
        <p:spPr/>
        <p:txBody>
          <a:bodyPr/>
          <a:lstStyle/>
          <a:p>
            <a:pPr marL="114300" indent="0">
              <a:buNone/>
            </a:pPr>
            <a:endParaRPr lang="en-AU" dirty="0"/>
          </a:p>
        </p:txBody>
      </p:sp>
      <p:sp>
        <p:nvSpPr>
          <p:cNvPr id="6" name="Text Placeholder 5"/>
          <p:cNvSpPr>
            <a:spLocks noGrp="1"/>
          </p:cNvSpPr>
          <p:nvPr>
            <p:ph type="body" sz="quarter" idx="3"/>
          </p:nvPr>
        </p:nvSpPr>
        <p:spPr/>
        <p:txBody>
          <a:bodyPr/>
          <a:lstStyle/>
          <a:p>
            <a:r>
              <a:rPr lang="en-AU" dirty="0" smtClean="0"/>
              <a:t>Option 2</a:t>
            </a:r>
            <a:endParaRPr lang="en-AU" dirty="0"/>
          </a:p>
        </p:txBody>
      </p:sp>
      <p:sp>
        <p:nvSpPr>
          <p:cNvPr id="8" name="Rectangle 7"/>
          <p:cNvSpPr/>
          <p:nvPr/>
        </p:nvSpPr>
        <p:spPr>
          <a:xfrm>
            <a:off x="683568" y="2636912"/>
            <a:ext cx="3600400" cy="3312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Content Placeholder 8"/>
          <p:cNvSpPr>
            <a:spLocks noGrp="1"/>
          </p:cNvSpPr>
          <p:nvPr>
            <p:ph sz="quarter" idx="4"/>
          </p:nvPr>
        </p:nvSpPr>
        <p:spPr>
          <a:xfrm>
            <a:off x="4645025" y="2438400"/>
            <a:ext cx="3599383" cy="5585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0">
              <a:buNone/>
            </a:pPr>
            <a:endParaRPr lang="en-AU" dirty="0"/>
          </a:p>
        </p:txBody>
      </p:sp>
      <p:sp>
        <p:nvSpPr>
          <p:cNvPr id="10" name="Rectangle 9"/>
          <p:cNvSpPr/>
          <p:nvPr/>
        </p:nvSpPr>
        <p:spPr>
          <a:xfrm>
            <a:off x="4644008" y="3163205"/>
            <a:ext cx="3600400" cy="948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p:cNvSpPr/>
          <p:nvPr/>
        </p:nvSpPr>
        <p:spPr>
          <a:xfrm>
            <a:off x="4644008" y="4263846"/>
            <a:ext cx="3600400" cy="884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p:cNvPicPr>
            <a:picLocks noChangeAspect="1"/>
          </p:cNvPicPr>
          <p:nvPr/>
        </p:nvPicPr>
        <p:blipFill>
          <a:blip r:embed="rId2"/>
          <a:stretch>
            <a:fillRect/>
          </a:stretch>
        </p:blipFill>
        <p:spPr>
          <a:xfrm>
            <a:off x="4644008" y="5393666"/>
            <a:ext cx="3621338" cy="464914"/>
          </a:xfrm>
          <a:prstGeom prst="rect">
            <a:avLst/>
          </a:prstGeom>
        </p:spPr>
      </p:pic>
    </p:spTree>
    <p:extLst>
      <p:ext uri="{BB962C8B-B14F-4D97-AF65-F5344CB8AC3E}">
        <p14:creationId xmlns:p14="http://schemas.microsoft.com/office/powerpoint/2010/main" val="2184221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404664"/>
            <a:ext cx="8568952" cy="646331"/>
          </a:xfrm>
          <a:prstGeom prst="rect">
            <a:avLst/>
          </a:prstGeom>
          <a:noFill/>
        </p:spPr>
        <p:txBody>
          <a:bodyPr wrap="square" rtlCol="0">
            <a:spAutoFit/>
          </a:bodyPr>
          <a:lstStyle/>
          <a:p>
            <a:r>
              <a:rPr lang="en-AU" b="1" dirty="0" smtClean="0"/>
              <a:t>Question: How does the author use character and setting to present an idea about racial prejudice?</a:t>
            </a:r>
            <a:endParaRPr lang="en-AU" b="1" dirty="0"/>
          </a:p>
        </p:txBody>
      </p:sp>
      <p:sp>
        <p:nvSpPr>
          <p:cNvPr id="3" name="TextBox 2"/>
          <p:cNvSpPr txBox="1"/>
          <p:nvPr/>
        </p:nvSpPr>
        <p:spPr>
          <a:xfrm>
            <a:off x="545472" y="1196752"/>
            <a:ext cx="8064896" cy="5693866"/>
          </a:xfrm>
          <a:prstGeom prst="rect">
            <a:avLst/>
          </a:prstGeom>
          <a:noFill/>
        </p:spPr>
        <p:txBody>
          <a:bodyPr wrap="square" rtlCol="0">
            <a:spAutoFit/>
          </a:bodyPr>
          <a:lstStyle/>
          <a:p>
            <a:r>
              <a:rPr lang="en-AU" sz="1200" dirty="0" smtClean="0">
                <a:latin typeface="Arial" pitchFamily="34" charset="0"/>
                <a:cs typeface="Arial" pitchFamily="34" charset="0"/>
              </a:rPr>
              <a:t>In “The Test”, Angelica Gibbs uses character and setting to present the idea that racial prejudice in 1940’s America was a part of everyday life.</a:t>
            </a:r>
          </a:p>
          <a:p>
            <a:endParaRPr lang="en-AU" sz="1200" dirty="0">
              <a:latin typeface="Arial" pitchFamily="34" charset="0"/>
              <a:cs typeface="Arial" pitchFamily="34" charset="0"/>
            </a:endParaRPr>
          </a:p>
          <a:p>
            <a:r>
              <a:rPr lang="en-AU" sz="1200" dirty="0" smtClean="0">
                <a:latin typeface="Arial" pitchFamily="34" charset="0"/>
                <a:cs typeface="Arial" pitchFamily="34" charset="0"/>
              </a:rPr>
              <a:t>Gibbs’ uses the character Marian to represent African American people who were subjected to unfair treatment in 1940’s America due to societal attitudes and systemic racism. Marian is constructed as an intelligent, “competent” woman who fails a driving test after enduring verbal harassment from a racist Instructor who, after Marian fights back, marks four black crosses “at random” on her paper. Marian was born in Pennsylvania, has a college degree and is a polite and honest woman. Early in the story, she agrees a white person with her may assist her getting her driver’s license but quickly rejects the suggestion of a bribe: “No, not that way!” Although Marian can drive the car competently, her patience is tested after the instructor adopts a mocking accent and uses derogatory language such as “Mandy Lou” and “flock of </a:t>
            </a:r>
            <a:r>
              <a:rPr lang="en-AU" sz="1200" dirty="0" err="1" smtClean="0">
                <a:latin typeface="Arial" pitchFamily="34" charset="0"/>
                <a:cs typeface="Arial" pitchFamily="34" charset="0"/>
              </a:rPr>
              <a:t>pickininines</a:t>
            </a:r>
            <a:r>
              <a:rPr lang="en-AU" sz="1200" dirty="0" smtClean="0">
                <a:latin typeface="Arial" pitchFamily="34" charset="0"/>
                <a:cs typeface="Arial" pitchFamily="34" charset="0"/>
              </a:rPr>
              <a:t>” which make strong connections to the history of slavery in America. The reader sympathises with Marian and feels anger towards the Instructor as the text shows us a victim of racial prejudice who is judged on race not merit.</a:t>
            </a:r>
          </a:p>
          <a:p>
            <a:endParaRPr lang="en-AU" sz="1200" dirty="0" smtClean="0">
              <a:latin typeface="Arial" pitchFamily="34" charset="0"/>
              <a:cs typeface="Arial" pitchFamily="34" charset="0"/>
            </a:endParaRPr>
          </a:p>
          <a:p>
            <a:r>
              <a:rPr lang="en-AU" sz="1200" dirty="0" smtClean="0">
                <a:latin typeface="Arial" pitchFamily="34" charset="0"/>
                <a:cs typeface="Arial" pitchFamily="34" charset="0"/>
              </a:rPr>
              <a:t>The symbolic setting encourages readers to experience and witness the humiliation and frustration Marian must endure due to racial prejudice. On a bright summer’s day, with beach-goers driving happily by, the reader finds Marian nervously anticipating the arrival of the Instructor. Her immediate setting, Mrs Ericson’s car, and the crowded boulevard are starkly different, as are the characters that fill them. The beach goers have cars filled with people free to move and travel and go where they wish. The ease with which they do so is obviously reliant on their having a licence, a licence that symbolises the link between fun, freedom and friends. Contrastingly, Marian’s quiet and nervous demeanour is, like the one dimensional car she drives, more reflective of the isolation and loneliness she is forced to feel by a system that denies her the same freedoms. Importantly though, this </a:t>
            </a:r>
            <a:r>
              <a:rPr lang="en-AU" sz="1200" dirty="0" err="1" smtClean="0">
                <a:latin typeface="Arial" pitchFamily="34" charset="0"/>
                <a:cs typeface="Arial" pitchFamily="34" charset="0"/>
              </a:rPr>
              <a:t>juxtapositioning</a:t>
            </a:r>
            <a:r>
              <a:rPr lang="en-AU" sz="1200" dirty="0" smtClean="0">
                <a:latin typeface="Arial" pitchFamily="34" charset="0"/>
                <a:cs typeface="Arial" pitchFamily="34" charset="0"/>
              </a:rPr>
              <a:t> of images and atmospheres acts symbolically, the reader seeing that Marian’s frustration and humiliation are fuelled by obvious differences in social standards and expectations around her. That is, readers are compelled to understand her problem is a product of wider societal attitudes.</a:t>
            </a:r>
            <a:endParaRPr lang="en-AU" sz="1200" dirty="0">
              <a:latin typeface="Arial" pitchFamily="34" charset="0"/>
              <a:cs typeface="Arial" pitchFamily="34" charset="0"/>
            </a:endParaRPr>
          </a:p>
          <a:p>
            <a:endParaRPr lang="en-AU" sz="1600" dirty="0" smtClean="0"/>
          </a:p>
          <a:p>
            <a:endParaRPr lang="en-AU" sz="1600" dirty="0" smtClean="0"/>
          </a:p>
          <a:p>
            <a:r>
              <a:rPr lang="en-AU" sz="1600" dirty="0" smtClean="0"/>
              <a:t>387 words</a:t>
            </a:r>
            <a:endParaRPr lang="en-AU" sz="1600" dirty="0"/>
          </a:p>
          <a:p>
            <a:endParaRPr lang="en-AU" sz="1600" dirty="0"/>
          </a:p>
        </p:txBody>
      </p:sp>
    </p:spTree>
    <p:extLst>
      <p:ext uri="{BB962C8B-B14F-4D97-AF65-F5344CB8AC3E}">
        <p14:creationId xmlns:p14="http://schemas.microsoft.com/office/powerpoint/2010/main" val="32472467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Paragraph structure</a:t>
            </a:r>
            <a:endParaRPr lang="en-AU" dirty="0"/>
          </a:p>
        </p:txBody>
      </p:sp>
      <p:sp>
        <p:nvSpPr>
          <p:cNvPr id="4" name="Text Placeholder 8"/>
          <p:cNvSpPr>
            <a:spLocks noGrp="1"/>
          </p:cNvSpPr>
          <p:nvPr>
            <p:ph idx="1"/>
          </p:nvPr>
        </p:nvSpPr>
        <p:spPr>
          <a:xfrm>
            <a:off x="457200" y="1916832"/>
            <a:ext cx="2026568" cy="4464496"/>
          </a:xfrm>
        </p:spPr>
        <p:txBody>
          <a:bodyPr>
            <a:normAutofit lnSpcReduction="10000"/>
          </a:bodyPr>
          <a:lstStyle/>
          <a:p>
            <a:pPr marL="114300" indent="0">
              <a:buNone/>
            </a:pPr>
            <a:r>
              <a:rPr lang="en-AU" sz="1800" dirty="0" smtClean="0">
                <a:solidFill>
                  <a:srgbClr val="FF0000"/>
                </a:solidFill>
                <a:latin typeface="Arial" pitchFamily="34" charset="0"/>
                <a:cs typeface="Arial" pitchFamily="34" charset="0"/>
              </a:rPr>
              <a:t>Topic Sentence</a:t>
            </a:r>
          </a:p>
          <a:p>
            <a:endParaRPr lang="en-AU" sz="1800" dirty="0" smtClean="0">
              <a:latin typeface="Arial" pitchFamily="34" charset="0"/>
              <a:cs typeface="Arial" pitchFamily="34" charset="0"/>
            </a:endParaRPr>
          </a:p>
          <a:p>
            <a:endParaRPr lang="en-AU" sz="1800" dirty="0" smtClean="0">
              <a:latin typeface="Arial" pitchFamily="34" charset="0"/>
              <a:cs typeface="Arial" pitchFamily="34" charset="0"/>
            </a:endParaRPr>
          </a:p>
          <a:p>
            <a:pPr marL="114300" indent="0">
              <a:buNone/>
            </a:pPr>
            <a:r>
              <a:rPr lang="en-AU" sz="1800" dirty="0" smtClean="0">
                <a:solidFill>
                  <a:srgbClr val="0070C0"/>
                </a:solidFill>
                <a:latin typeface="Arial" pitchFamily="34" charset="0"/>
                <a:cs typeface="Arial" pitchFamily="34" charset="0"/>
              </a:rPr>
              <a:t>Explanations &amp; </a:t>
            </a:r>
            <a:r>
              <a:rPr lang="en-AU" sz="1800" b="1" dirty="0" smtClean="0">
                <a:solidFill>
                  <a:srgbClr val="0070C0"/>
                </a:solidFill>
                <a:latin typeface="Arial" pitchFamily="34" charset="0"/>
                <a:cs typeface="Arial" pitchFamily="34" charset="0"/>
              </a:rPr>
              <a:t>Evidence</a:t>
            </a:r>
            <a:r>
              <a:rPr lang="en-AU" sz="1800" dirty="0" smtClean="0">
                <a:solidFill>
                  <a:srgbClr val="0070C0"/>
                </a:solidFill>
                <a:latin typeface="Arial" pitchFamily="34" charset="0"/>
                <a:cs typeface="Arial" pitchFamily="34" charset="0"/>
              </a:rPr>
              <a:t> </a:t>
            </a:r>
          </a:p>
          <a:p>
            <a:pPr marL="114300" indent="0">
              <a:buNone/>
            </a:pPr>
            <a:r>
              <a:rPr lang="en-AU" sz="1800" dirty="0" smtClean="0">
                <a:latin typeface="Arial" pitchFamily="34" charset="0"/>
                <a:cs typeface="Arial" pitchFamily="34" charset="0"/>
              </a:rPr>
              <a:t>(interrelated)</a:t>
            </a:r>
          </a:p>
          <a:p>
            <a:endParaRPr lang="en-AU" sz="1800" dirty="0" smtClean="0">
              <a:latin typeface="Arial" pitchFamily="34" charset="0"/>
              <a:cs typeface="Arial" pitchFamily="34" charset="0"/>
            </a:endParaRPr>
          </a:p>
          <a:p>
            <a:endParaRPr lang="en-AU" sz="1800" dirty="0" smtClean="0">
              <a:latin typeface="Arial" pitchFamily="34" charset="0"/>
              <a:cs typeface="Arial" pitchFamily="34" charset="0"/>
            </a:endParaRPr>
          </a:p>
          <a:p>
            <a:endParaRPr lang="en-AU" sz="1800" dirty="0">
              <a:latin typeface="Arial" pitchFamily="34" charset="0"/>
              <a:cs typeface="Arial" pitchFamily="34" charset="0"/>
            </a:endParaRPr>
          </a:p>
          <a:p>
            <a:endParaRPr lang="en-AU" sz="1800" dirty="0" smtClean="0">
              <a:latin typeface="Arial" pitchFamily="34" charset="0"/>
              <a:cs typeface="Arial" pitchFamily="34" charset="0"/>
            </a:endParaRPr>
          </a:p>
          <a:p>
            <a:endParaRPr lang="en-AU" sz="1800" dirty="0" smtClean="0">
              <a:latin typeface="Arial" pitchFamily="34" charset="0"/>
              <a:cs typeface="Arial" pitchFamily="34" charset="0"/>
            </a:endParaRPr>
          </a:p>
          <a:p>
            <a:endParaRPr lang="en-AU" sz="1800" dirty="0">
              <a:latin typeface="Arial" pitchFamily="34" charset="0"/>
              <a:cs typeface="Arial" pitchFamily="34" charset="0"/>
            </a:endParaRPr>
          </a:p>
          <a:p>
            <a:pPr marL="114300" indent="0">
              <a:buNone/>
            </a:pPr>
            <a:endParaRPr lang="en-AU" sz="1800" dirty="0" smtClean="0">
              <a:latin typeface="Arial" pitchFamily="34" charset="0"/>
              <a:cs typeface="Arial" pitchFamily="34" charset="0"/>
            </a:endParaRPr>
          </a:p>
          <a:p>
            <a:pPr marL="114300" indent="0">
              <a:buNone/>
            </a:pPr>
            <a:r>
              <a:rPr lang="en-AU" sz="1800" dirty="0" smtClean="0">
                <a:solidFill>
                  <a:srgbClr val="00B050"/>
                </a:solidFill>
                <a:latin typeface="Arial" pitchFamily="34" charset="0"/>
                <a:cs typeface="Arial" pitchFamily="34" charset="0"/>
              </a:rPr>
              <a:t>Summarising sentence.</a:t>
            </a:r>
            <a:endParaRPr lang="en-AU" sz="1800" dirty="0">
              <a:solidFill>
                <a:srgbClr val="00B050"/>
              </a:solidFill>
              <a:latin typeface="Arial" pitchFamily="34" charset="0"/>
              <a:cs typeface="Arial" pitchFamily="34" charset="0"/>
            </a:endParaRPr>
          </a:p>
        </p:txBody>
      </p:sp>
      <p:sp>
        <p:nvSpPr>
          <p:cNvPr id="3" name="TextBox 2"/>
          <p:cNvSpPr txBox="1"/>
          <p:nvPr/>
        </p:nvSpPr>
        <p:spPr>
          <a:xfrm>
            <a:off x="2915816" y="1916832"/>
            <a:ext cx="5760640" cy="5324535"/>
          </a:xfrm>
          <a:prstGeom prst="rect">
            <a:avLst/>
          </a:prstGeom>
          <a:noFill/>
        </p:spPr>
        <p:txBody>
          <a:bodyPr wrap="square" rtlCol="0">
            <a:spAutoFit/>
          </a:bodyPr>
          <a:lstStyle/>
          <a:p>
            <a:r>
              <a:rPr lang="en-AU" sz="1600" dirty="0" smtClean="0">
                <a:solidFill>
                  <a:srgbClr val="FF0000"/>
                </a:solidFill>
                <a:latin typeface="Arial" pitchFamily="34" charset="0"/>
                <a:cs typeface="Arial" pitchFamily="34" charset="0"/>
              </a:rPr>
              <a:t>Gibbs</a:t>
            </a:r>
            <a:r>
              <a:rPr lang="en-AU" sz="1600" dirty="0">
                <a:solidFill>
                  <a:srgbClr val="FF0000"/>
                </a:solidFill>
                <a:latin typeface="Arial" pitchFamily="34" charset="0"/>
                <a:cs typeface="Arial" pitchFamily="34" charset="0"/>
              </a:rPr>
              <a:t>’ uses the character Marian to represent African American people who were subjected to unfair treatment in 1940’s America due to societal attitudes and systemic racism. </a:t>
            </a:r>
            <a:r>
              <a:rPr lang="en-AU" sz="1600" dirty="0">
                <a:solidFill>
                  <a:srgbClr val="0070C0"/>
                </a:solidFill>
                <a:latin typeface="Arial" pitchFamily="34" charset="0"/>
                <a:cs typeface="Arial" pitchFamily="34" charset="0"/>
              </a:rPr>
              <a:t>Marian is constructed as an intelligent, </a:t>
            </a:r>
            <a:r>
              <a:rPr lang="en-AU" sz="1600" b="1" dirty="0">
                <a:solidFill>
                  <a:srgbClr val="0070C0"/>
                </a:solidFill>
                <a:latin typeface="Arial" pitchFamily="34" charset="0"/>
                <a:cs typeface="Arial" pitchFamily="34" charset="0"/>
              </a:rPr>
              <a:t>“competent” </a:t>
            </a:r>
            <a:r>
              <a:rPr lang="en-AU" sz="1600" dirty="0">
                <a:solidFill>
                  <a:srgbClr val="0070C0"/>
                </a:solidFill>
                <a:latin typeface="Arial" pitchFamily="34" charset="0"/>
                <a:cs typeface="Arial" pitchFamily="34" charset="0"/>
              </a:rPr>
              <a:t>woman who fails a driving test after enduring verbal harassment from a racist Instructor who, after Marian fights back, </a:t>
            </a:r>
            <a:r>
              <a:rPr lang="en-AU" sz="1600" b="1" dirty="0">
                <a:solidFill>
                  <a:srgbClr val="0070C0"/>
                </a:solidFill>
                <a:latin typeface="Arial" pitchFamily="34" charset="0"/>
                <a:cs typeface="Arial" pitchFamily="34" charset="0"/>
              </a:rPr>
              <a:t>marks four black crosses “at random”</a:t>
            </a:r>
            <a:r>
              <a:rPr lang="en-AU" sz="1600" dirty="0">
                <a:solidFill>
                  <a:srgbClr val="0070C0"/>
                </a:solidFill>
                <a:latin typeface="Arial" pitchFamily="34" charset="0"/>
                <a:cs typeface="Arial" pitchFamily="34" charset="0"/>
              </a:rPr>
              <a:t> on her paper. Marian was born in Pennsylvania, has a college degree and is a polite and honest woman. </a:t>
            </a:r>
            <a:r>
              <a:rPr lang="en-AU" sz="1600" b="1" dirty="0">
                <a:solidFill>
                  <a:srgbClr val="0070C0"/>
                </a:solidFill>
                <a:latin typeface="Arial" pitchFamily="34" charset="0"/>
                <a:cs typeface="Arial" pitchFamily="34" charset="0"/>
              </a:rPr>
              <a:t>Early in the story, </a:t>
            </a:r>
            <a:r>
              <a:rPr lang="en-AU" sz="1600" dirty="0">
                <a:solidFill>
                  <a:srgbClr val="0070C0"/>
                </a:solidFill>
                <a:latin typeface="Arial" pitchFamily="34" charset="0"/>
                <a:cs typeface="Arial" pitchFamily="34" charset="0"/>
              </a:rPr>
              <a:t>she agrees a white person with her may assist her getting her driver’s license but quickly rejects the suggestion of a bribe: </a:t>
            </a:r>
            <a:r>
              <a:rPr lang="en-AU" sz="1600" b="1" dirty="0">
                <a:solidFill>
                  <a:srgbClr val="0070C0"/>
                </a:solidFill>
                <a:latin typeface="Arial" pitchFamily="34" charset="0"/>
                <a:cs typeface="Arial" pitchFamily="34" charset="0"/>
              </a:rPr>
              <a:t>“No, not that way!” </a:t>
            </a:r>
            <a:r>
              <a:rPr lang="en-AU" sz="1600" dirty="0">
                <a:solidFill>
                  <a:srgbClr val="0070C0"/>
                </a:solidFill>
                <a:latin typeface="Arial" pitchFamily="34" charset="0"/>
                <a:cs typeface="Arial" pitchFamily="34" charset="0"/>
              </a:rPr>
              <a:t>Although Marian can drive the car competently, her patience is tested after the instructor adopts a mocking accent and uses derogatory language such as </a:t>
            </a:r>
            <a:r>
              <a:rPr lang="en-AU" sz="1600" b="1" dirty="0">
                <a:solidFill>
                  <a:srgbClr val="0070C0"/>
                </a:solidFill>
                <a:latin typeface="Arial" pitchFamily="34" charset="0"/>
                <a:cs typeface="Arial" pitchFamily="34" charset="0"/>
              </a:rPr>
              <a:t>“Mandy Lou” </a:t>
            </a:r>
            <a:r>
              <a:rPr lang="en-AU" sz="1600" dirty="0">
                <a:solidFill>
                  <a:srgbClr val="0070C0"/>
                </a:solidFill>
                <a:latin typeface="Arial" pitchFamily="34" charset="0"/>
                <a:cs typeface="Arial" pitchFamily="34" charset="0"/>
              </a:rPr>
              <a:t>and </a:t>
            </a:r>
            <a:r>
              <a:rPr lang="en-AU" sz="1600" b="1" dirty="0">
                <a:solidFill>
                  <a:srgbClr val="0070C0"/>
                </a:solidFill>
                <a:latin typeface="Arial" pitchFamily="34" charset="0"/>
                <a:cs typeface="Arial" pitchFamily="34" charset="0"/>
              </a:rPr>
              <a:t>“flock of </a:t>
            </a:r>
            <a:r>
              <a:rPr lang="en-AU" sz="1600" b="1" dirty="0" err="1">
                <a:solidFill>
                  <a:srgbClr val="0070C0"/>
                </a:solidFill>
                <a:latin typeface="Arial" pitchFamily="34" charset="0"/>
                <a:cs typeface="Arial" pitchFamily="34" charset="0"/>
              </a:rPr>
              <a:t>pickininines</a:t>
            </a:r>
            <a:r>
              <a:rPr lang="en-AU" sz="1600" b="1" dirty="0">
                <a:solidFill>
                  <a:srgbClr val="0070C0"/>
                </a:solidFill>
                <a:latin typeface="Arial" pitchFamily="34" charset="0"/>
                <a:cs typeface="Arial" pitchFamily="34" charset="0"/>
              </a:rPr>
              <a:t>” </a:t>
            </a:r>
            <a:r>
              <a:rPr lang="en-AU" sz="1600" dirty="0">
                <a:solidFill>
                  <a:srgbClr val="0070C0"/>
                </a:solidFill>
                <a:latin typeface="Arial" pitchFamily="34" charset="0"/>
                <a:cs typeface="Arial" pitchFamily="34" charset="0"/>
              </a:rPr>
              <a:t>which make strong connections to the history of slavery in America.</a:t>
            </a:r>
            <a:r>
              <a:rPr lang="en-AU" sz="1600" dirty="0">
                <a:latin typeface="Arial" pitchFamily="34" charset="0"/>
                <a:cs typeface="Arial" pitchFamily="34" charset="0"/>
              </a:rPr>
              <a:t> </a:t>
            </a:r>
            <a:r>
              <a:rPr lang="en-AU" sz="1600" dirty="0">
                <a:solidFill>
                  <a:srgbClr val="00B050"/>
                </a:solidFill>
                <a:latin typeface="Arial" pitchFamily="34" charset="0"/>
                <a:cs typeface="Arial" pitchFamily="34" charset="0"/>
              </a:rPr>
              <a:t>The reader sympathises with Marian and feels anger towards the Instructor as the text shows us a victim of racial prejudice who is judged on race not merit.</a:t>
            </a:r>
          </a:p>
          <a:p>
            <a:endParaRPr lang="en-AU" dirty="0">
              <a:latin typeface="Arial" pitchFamily="34" charset="0"/>
              <a:cs typeface="Arial" pitchFamily="34" charset="0"/>
            </a:endParaRPr>
          </a:p>
          <a:p>
            <a:endParaRPr lang="en-AU" dirty="0"/>
          </a:p>
        </p:txBody>
      </p:sp>
    </p:spTree>
    <p:extLst>
      <p:ext uri="{BB962C8B-B14F-4D97-AF65-F5344CB8AC3E}">
        <p14:creationId xmlns:p14="http://schemas.microsoft.com/office/powerpoint/2010/main" val="16227020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404664"/>
            <a:ext cx="8568952" cy="646331"/>
          </a:xfrm>
          <a:prstGeom prst="rect">
            <a:avLst/>
          </a:prstGeom>
          <a:noFill/>
        </p:spPr>
        <p:txBody>
          <a:bodyPr wrap="square" rtlCol="0">
            <a:spAutoFit/>
          </a:bodyPr>
          <a:lstStyle/>
          <a:p>
            <a:r>
              <a:rPr lang="en-AU" b="1" dirty="0" smtClean="0"/>
              <a:t>Question: How does the author use character and setting to present an idea about racial prejudice?</a:t>
            </a:r>
            <a:endParaRPr lang="en-AU" b="1" dirty="0"/>
          </a:p>
        </p:txBody>
      </p:sp>
      <p:sp>
        <p:nvSpPr>
          <p:cNvPr id="3" name="TextBox 2"/>
          <p:cNvSpPr txBox="1"/>
          <p:nvPr/>
        </p:nvSpPr>
        <p:spPr>
          <a:xfrm>
            <a:off x="545472" y="1196752"/>
            <a:ext cx="8064896" cy="5693866"/>
          </a:xfrm>
          <a:prstGeom prst="rect">
            <a:avLst/>
          </a:prstGeom>
          <a:noFill/>
        </p:spPr>
        <p:txBody>
          <a:bodyPr wrap="square" rtlCol="0">
            <a:spAutoFit/>
          </a:bodyPr>
          <a:lstStyle/>
          <a:p>
            <a:r>
              <a:rPr lang="en-AU" sz="1200" dirty="0" smtClean="0">
                <a:solidFill>
                  <a:srgbClr val="7030A0"/>
                </a:solidFill>
                <a:latin typeface="Arial" pitchFamily="34" charset="0"/>
                <a:cs typeface="Arial" pitchFamily="34" charset="0"/>
              </a:rPr>
              <a:t>In “The Test”, Angelica Gibbs uses character and setting to present the idea that racial prejudice in 1940’s America was a part of everyday life.</a:t>
            </a:r>
          </a:p>
          <a:p>
            <a:endParaRPr lang="en-AU" sz="1200" dirty="0">
              <a:latin typeface="Arial" pitchFamily="34" charset="0"/>
              <a:cs typeface="Arial" pitchFamily="34" charset="0"/>
            </a:endParaRPr>
          </a:p>
          <a:p>
            <a:r>
              <a:rPr lang="en-AU" sz="1200" dirty="0" smtClean="0">
                <a:solidFill>
                  <a:srgbClr val="FF0000"/>
                </a:solidFill>
                <a:latin typeface="Arial" pitchFamily="34" charset="0"/>
                <a:cs typeface="Arial" pitchFamily="34" charset="0"/>
              </a:rPr>
              <a:t>Gibbs’ uses the character Marian to represent African American people who were subjected to unfair treatment in 1940’s America due to societal attitudes and systemic racism. </a:t>
            </a:r>
            <a:r>
              <a:rPr lang="en-AU" sz="1200" dirty="0" smtClean="0">
                <a:solidFill>
                  <a:srgbClr val="0070C0"/>
                </a:solidFill>
                <a:latin typeface="Arial" pitchFamily="34" charset="0"/>
                <a:cs typeface="Arial" pitchFamily="34" charset="0"/>
              </a:rPr>
              <a:t>Marian is constructed as an intelligent, </a:t>
            </a:r>
            <a:r>
              <a:rPr lang="en-AU" sz="1200" b="1" dirty="0" smtClean="0">
                <a:solidFill>
                  <a:srgbClr val="0070C0"/>
                </a:solidFill>
                <a:latin typeface="Arial" pitchFamily="34" charset="0"/>
                <a:cs typeface="Arial" pitchFamily="34" charset="0"/>
              </a:rPr>
              <a:t>“competent”</a:t>
            </a:r>
            <a:r>
              <a:rPr lang="en-AU" sz="1200" dirty="0" smtClean="0">
                <a:solidFill>
                  <a:srgbClr val="0070C0"/>
                </a:solidFill>
                <a:latin typeface="Arial" pitchFamily="34" charset="0"/>
                <a:cs typeface="Arial" pitchFamily="34" charset="0"/>
              </a:rPr>
              <a:t> woman who fails a driving test after enduring verbal harassment from a racist Instructor who, after Marian fights back, marks four black crosses </a:t>
            </a:r>
            <a:r>
              <a:rPr lang="en-AU" sz="1200" b="1" dirty="0" smtClean="0">
                <a:solidFill>
                  <a:srgbClr val="0070C0"/>
                </a:solidFill>
                <a:latin typeface="Arial" pitchFamily="34" charset="0"/>
                <a:cs typeface="Arial" pitchFamily="34" charset="0"/>
              </a:rPr>
              <a:t>“at random”</a:t>
            </a:r>
            <a:r>
              <a:rPr lang="en-AU" sz="1200" dirty="0" smtClean="0">
                <a:solidFill>
                  <a:srgbClr val="0070C0"/>
                </a:solidFill>
                <a:latin typeface="Arial" pitchFamily="34" charset="0"/>
                <a:cs typeface="Arial" pitchFamily="34" charset="0"/>
              </a:rPr>
              <a:t> on her paper. Marian was born in Pennsylvania, has a college degree and is a polite and honest woman. Early in the story, she agrees a white person with her may assist her getting her driver’s license but quickly rejects the suggestion of a bribe: </a:t>
            </a:r>
            <a:r>
              <a:rPr lang="en-AU" sz="1200" b="1" dirty="0" smtClean="0">
                <a:solidFill>
                  <a:srgbClr val="0070C0"/>
                </a:solidFill>
                <a:latin typeface="Arial" pitchFamily="34" charset="0"/>
                <a:cs typeface="Arial" pitchFamily="34" charset="0"/>
              </a:rPr>
              <a:t>“No, not that way!”</a:t>
            </a:r>
            <a:r>
              <a:rPr lang="en-AU" sz="1200" dirty="0" smtClean="0">
                <a:solidFill>
                  <a:srgbClr val="0070C0"/>
                </a:solidFill>
                <a:latin typeface="Arial" pitchFamily="34" charset="0"/>
                <a:cs typeface="Arial" pitchFamily="34" charset="0"/>
              </a:rPr>
              <a:t> Although Marian can drive the car competently, her patience is tested after the instructor adopts a mocking accent and uses derogatory language such as </a:t>
            </a:r>
            <a:r>
              <a:rPr lang="en-AU" sz="1200" b="1" dirty="0" smtClean="0">
                <a:solidFill>
                  <a:srgbClr val="0070C0"/>
                </a:solidFill>
                <a:latin typeface="Arial" pitchFamily="34" charset="0"/>
                <a:cs typeface="Arial" pitchFamily="34" charset="0"/>
              </a:rPr>
              <a:t>“Mandy Lou”</a:t>
            </a:r>
            <a:r>
              <a:rPr lang="en-AU" sz="1200" dirty="0" smtClean="0">
                <a:solidFill>
                  <a:srgbClr val="0070C0"/>
                </a:solidFill>
                <a:latin typeface="Arial" pitchFamily="34" charset="0"/>
                <a:cs typeface="Arial" pitchFamily="34" charset="0"/>
              </a:rPr>
              <a:t> and </a:t>
            </a:r>
            <a:r>
              <a:rPr lang="en-AU" sz="1200" b="1" dirty="0" smtClean="0">
                <a:solidFill>
                  <a:srgbClr val="0070C0"/>
                </a:solidFill>
                <a:latin typeface="Arial" pitchFamily="34" charset="0"/>
                <a:cs typeface="Arial" pitchFamily="34" charset="0"/>
              </a:rPr>
              <a:t>“flock of </a:t>
            </a:r>
            <a:r>
              <a:rPr lang="en-AU" sz="1200" b="1" dirty="0" err="1" smtClean="0">
                <a:solidFill>
                  <a:srgbClr val="0070C0"/>
                </a:solidFill>
                <a:latin typeface="Arial" pitchFamily="34" charset="0"/>
                <a:cs typeface="Arial" pitchFamily="34" charset="0"/>
              </a:rPr>
              <a:t>pickininines</a:t>
            </a:r>
            <a:r>
              <a:rPr lang="en-AU" sz="1200" b="1" dirty="0" smtClean="0">
                <a:solidFill>
                  <a:srgbClr val="0070C0"/>
                </a:solidFill>
                <a:latin typeface="Arial" pitchFamily="34" charset="0"/>
                <a:cs typeface="Arial" pitchFamily="34" charset="0"/>
              </a:rPr>
              <a:t>”</a:t>
            </a:r>
            <a:r>
              <a:rPr lang="en-AU" sz="1200" dirty="0" smtClean="0">
                <a:solidFill>
                  <a:srgbClr val="0070C0"/>
                </a:solidFill>
                <a:latin typeface="Arial" pitchFamily="34" charset="0"/>
                <a:cs typeface="Arial" pitchFamily="34" charset="0"/>
              </a:rPr>
              <a:t> which make strong connections to the history of slavery in America.</a:t>
            </a:r>
            <a:r>
              <a:rPr lang="en-AU" sz="1200" dirty="0" smtClean="0">
                <a:latin typeface="Arial" pitchFamily="34" charset="0"/>
                <a:cs typeface="Arial" pitchFamily="34" charset="0"/>
              </a:rPr>
              <a:t> </a:t>
            </a:r>
            <a:r>
              <a:rPr lang="en-AU" sz="1200" dirty="0" smtClean="0">
                <a:solidFill>
                  <a:srgbClr val="00B050"/>
                </a:solidFill>
                <a:latin typeface="Arial" pitchFamily="34" charset="0"/>
                <a:cs typeface="Arial" pitchFamily="34" charset="0"/>
              </a:rPr>
              <a:t>The reader sympathises with Marian and feels anger towards the Instructor as the text shows us a victim of racial prejudice who is judged on race not merit.</a:t>
            </a:r>
          </a:p>
          <a:p>
            <a:endParaRPr lang="en-AU" sz="1200" dirty="0" smtClean="0">
              <a:latin typeface="Arial" pitchFamily="34" charset="0"/>
              <a:cs typeface="Arial" pitchFamily="34" charset="0"/>
            </a:endParaRPr>
          </a:p>
          <a:p>
            <a:r>
              <a:rPr lang="en-AU" sz="1200" dirty="0" smtClean="0">
                <a:solidFill>
                  <a:srgbClr val="FF0000"/>
                </a:solidFill>
                <a:latin typeface="Arial" pitchFamily="34" charset="0"/>
                <a:cs typeface="Arial" pitchFamily="34" charset="0"/>
              </a:rPr>
              <a:t>The symbolic setting encourages readers to experience and witness the humiliation and frustration Marian must endure due to racial prejudice. </a:t>
            </a:r>
            <a:r>
              <a:rPr lang="en-AU" sz="1200" dirty="0" smtClean="0">
                <a:solidFill>
                  <a:srgbClr val="0070C0"/>
                </a:solidFill>
                <a:latin typeface="Arial" pitchFamily="34" charset="0"/>
                <a:cs typeface="Arial" pitchFamily="34" charset="0"/>
              </a:rPr>
              <a:t>On a bright summer’s day, with </a:t>
            </a:r>
            <a:r>
              <a:rPr lang="en-AU" sz="1200" b="1" dirty="0" smtClean="0">
                <a:solidFill>
                  <a:srgbClr val="0070C0"/>
                </a:solidFill>
                <a:latin typeface="Arial" pitchFamily="34" charset="0"/>
                <a:cs typeface="Arial" pitchFamily="34" charset="0"/>
              </a:rPr>
              <a:t>beach-goers driving happily by</a:t>
            </a:r>
            <a:r>
              <a:rPr lang="en-AU" sz="1200" dirty="0" smtClean="0">
                <a:solidFill>
                  <a:srgbClr val="0070C0"/>
                </a:solidFill>
                <a:latin typeface="Arial" pitchFamily="34" charset="0"/>
                <a:cs typeface="Arial" pitchFamily="34" charset="0"/>
              </a:rPr>
              <a:t>, the reader finds Marian nervously anticipating the arrival of the Instructor. Her immediate setting, Mrs Ericson’s car, and the crowded boulevard are starkly different, as are the characters that fill them. The beach goers have cars filled with people free to move and travel and go where they wish. The ease with which they do so is obviously reliant on their having a licence, a licence that symbolises the link between fun, freedom and friends. Contrastingly, Marian’s quiet and nervous demeanour is, like the one dimensional car she drives, more reflective of the isolation and loneliness she is forced to feel by a system that denies her the same freedoms. </a:t>
            </a:r>
            <a:r>
              <a:rPr lang="en-AU" sz="1200" dirty="0" smtClean="0">
                <a:solidFill>
                  <a:srgbClr val="00B050"/>
                </a:solidFill>
                <a:latin typeface="Arial" pitchFamily="34" charset="0"/>
                <a:cs typeface="Arial" pitchFamily="34" charset="0"/>
              </a:rPr>
              <a:t>Importantly though, this </a:t>
            </a:r>
            <a:r>
              <a:rPr lang="en-AU" sz="1200" dirty="0" err="1" smtClean="0">
                <a:solidFill>
                  <a:srgbClr val="00B050"/>
                </a:solidFill>
                <a:latin typeface="Arial" pitchFamily="34" charset="0"/>
                <a:cs typeface="Arial" pitchFamily="34" charset="0"/>
              </a:rPr>
              <a:t>juxtapositioning</a:t>
            </a:r>
            <a:r>
              <a:rPr lang="en-AU" sz="1200" dirty="0" smtClean="0">
                <a:solidFill>
                  <a:srgbClr val="00B050"/>
                </a:solidFill>
                <a:latin typeface="Arial" pitchFamily="34" charset="0"/>
                <a:cs typeface="Arial" pitchFamily="34" charset="0"/>
              </a:rPr>
              <a:t> of images and atmospheres acts symbolically, the reader seeing that Marian’s frustration and humiliation are fuelled by obvious differences in social standards and expectations around her. That is, readers are compelled to understand her problem is a product of wider societal attitudes.</a:t>
            </a:r>
            <a:endParaRPr lang="en-AU" sz="1200" dirty="0">
              <a:solidFill>
                <a:srgbClr val="00B050"/>
              </a:solidFill>
              <a:latin typeface="Arial" pitchFamily="34" charset="0"/>
              <a:cs typeface="Arial" pitchFamily="34" charset="0"/>
            </a:endParaRPr>
          </a:p>
          <a:p>
            <a:endParaRPr lang="en-AU" sz="1600" dirty="0" smtClean="0"/>
          </a:p>
          <a:p>
            <a:endParaRPr lang="en-AU" sz="1600" dirty="0" smtClean="0"/>
          </a:p>
          <a:p>
            <a:endParaRPr lang="en-AU" sz="1600" dirty="0"/>
          </a:p>
          <a:p>
            <a:endParaRPr lang="en-AU" sz="1600" dirty="0"/>
          </a:p>
        </p:txBody>
      </p:sp>
    </p:spTree>
    <p:extLst>
      <p:ext uri="{BB962C8B-B14F-4D97-AF65-F5344CB8AC3E}">
        <p14:creationId xmlns:p14="http://schemas.microsoft.com/office/powerpoint/2010/main" val="4256204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404664"/>
            <a:ext cx="8568952" cy="646331"/>
          </a:xfrm>
          <a:prstGeom prst="rect">
            <a:avLst/>
          </a:prstGeom>
          <a:noFill/>
        </p:spPr>
        <p:txBody>
          <a:bodyPr wrap="square" rtlCol="0">
            <a:spAutoFit/>
          </a:bodyPr>
          <a:lstStyle/>
          <a:p>
            <a:r>
              <a:rPr lang="en-AU" b="1" dirty="0" smtClean="0"/>
              <a:t>Question: How does the author use character and setting to present an idea about racial prejudice?</a:t>
            </a:r>
            <a:endParaRPr lang="en-AU" b="1" dirty="0"/>
          </a:p>
        </p:txBody>
      </p:sp>
      <p:sp>
        <p:nvSpPr>
          <p:cNvPr id="3" name="TextBox 2"/>
          <p:cNvSpPr txBox="1"/>
          <p:nvPr/>
        </p:nvSpPr>
        <p:spPr>
          <a:xfrm>
            <a:off x="545472" y="1196752"/>
            <a:ext cx="8064896" cy="4893647"/>
          </a:xfrm>
          <a:prstGeom prst="rect">
            <a:avLst/>
          </a:prstGeom>
          <a:noFill/>
        </p:spPr>
        <p:txBody>
          <a:bodyPr wrap="square" rtlCol="0">
            <a:spAutoFit/>
          </a:bodyPr>
          <a:lstStyle/>
          <a:p>
            <a:r>
              <a:rPr lang="en-AU" sz="1200" dirty="0" smtClean="0">
                <a:solidFill>
                  <a:srgbClr val="FF0000"/>
                </a:solidFill>
                <a:latin typeface="Arial" pitchFamily="34" charset="0"/>
                <a:cs typeface="Arial" pitchFamily="34" charset="0"/>
              </a:rPr>
              <a:t>In “The Test”, Angelica Gibbs uses character and setting to present the idea that racial prejudice in 1940’s America was a part of everyday life.</a:t>
            </a:r>
            <a:r>
              <a:rPr lang="en-AU" sz="1200" dirty="0" smtClean="0">
                <a:latin typeface="Arial" pitchFamily="34" charset="0"/>
                <a:cs typeface="Arial" pitchFamily="34" charset="0"/>
              </a:rPr>
              <a:t> </a:t>
            </a:r>
            <a:r>
              <a:rPr lang="en-AU" sz="1200" dirty="0" smtClean="0">
                <a:solidFill>
                  <a:srgbClr val="0070C0"/>
                </a:solidFill>
                <a:latin typeface="Arial" pitchFamily="34" charset="0"/>
                <a:cs typeface="Arial" pitchFamily="34" charset="0"/>
              </a:rPr>
              <a:t>Gibbs’ uses the character Marian to represent African American people who were subjected to unfair treatment in 1940’s America due to societal attitudes and systemic racism. Marian is constructed as an intelligent, </a:t>
            </a:r>
            <a:r>
              <a:rPr lang="en-AU" sz="1200" b="1" dirty="0" smtClean="0">
                <a:solidFill>
                  <a:srgbClr val="0070C0"/>
                </a:solidFill>
                <a:latin typeface="Arial" pitchFamily="34" charset="0"/>
                <a:cs typeface="Arial" pitchFamily="34" charset="0"/>
              </a:rPr>
              <a:t>“competent” </a:t>
            </a:r>
            <a:r>
              <a:rPr lang="en-AU" sz="1200" dirty="0" smtClean="0">
                <a:solidFill>
                  <a:srgbClr val="0070C0"/>
                </a:solidFill>
                <a:latin typeface="Arial" pitchFamily="34" charset="0"/>
                <a:cs typeface="Arial" pitchFamily="34" charset="0"/>
              </a:rPr>
              <a:t>woman who fails a driving test after enduring verbal harassment from a racist Instructor who, after Marian fights back, marks four black crosses </a:t>
            </a:r>
            <a:r>
              <a:rPr lang="en-AU" sz="1200" b="1" dirty="0" smtClean="0">
                <a:solidFill>
                  <a:srgbClr val="0070C0"/>
                </a:solidFill>
                <a:latin typeface="Arial" pitchFamily="34" charset="0"/>
                <a:cs typeface="Arial" pitchFamily="34" charset="0"/>
              </a:rPr>
              <a:t>“at random” </a:t>
            </a:r>
            <a:r>
              <a:rPr lang="en-AU" sz="1200" dirty="0" smtClean="0">
                <a:solidFill>
                  <a:srgbClr val="0070C0"/>
                </a:solidFill>
                <a:latin typeface="Arial" pitchFamily="34" charset="0"/>
                <a:cs typeface="Arial" pitchFamily="34" charset="0"/>
              </a:rPr>
              <a:t>on her paper. Marian was born in Pennsylvania, has a college degree and is a polite and honest woman. Early in the story, she agrees a white person with her may assist her getting her driver’s license but quickly rejects the suggestion of a bribe: </a:t>
            </a:r>
            <a:r>
              <a:rPr lang="en-AU" sz="1200" b="1" dirty="0" smtClean="0">
                <a:solidFill>
                  <a:srgbClr val="0070C0"/>
                </a:solidFill>
                <a:latin typeface="Arial" pitchFamily="34" charset="0"/>
                <a:cs typeface="Arial" pitchFamily="34" charset="0"/>
              </a:rPr>
              <a:t>“No, not that way!”</a:t>
            </a:r>
            <a:r>
              <a:rPr lang="en-AU" sz="1200" dirty="0" smtClean="0">
                <a:solidFill>
                  <a:srgbClr val="0070C0"/>
                </a:solidFill>
                <a:latin typeface="Arial" pitchFamily="34" charset="0"/>
                <a:cs typeface="Arial" pitchFamily="34" charset="0"/>
              </a:rPr>
              <a:t> Although Marian can drive the car competently, her patience is tested after the instructor adopts a mocking accent and uses derogatory language such as </a:t>
            </a:r>
            <a:r>
              <a:rPr lang="en-AU" sz="1200" b="1" dirty="0" smtClean="0">
                <a:solidFill>
                  <a:srgbClr val="0070C0"/>
                </a:solidFill>
                <a:latin typeface="Arial" pitchFamily="34" charset="0"/>
                <a:cs typeface="Arial" pitchFamily="34" charset="0"/>
              </a:rPr>
              <a:t>“Mandy Lou”</a:t>
            </a:r>
            <a:r>
              <a:rPr lang="en-AU" sz="1200" dirty="0" smtClean="0">
                <a:solidFill>
                  <a:srgbClr val="0070C0"/>
                </a:solidFill>
                <a:latin typeface="Arial" pitchFamily="34" charset="0"/>
                <a:cs typeface="Arial" pitchFamily="34" charset="0"/>
              </a:rPr>
              <a:t> and </a:t>
            </a:r>
            <a:r>
              <a:rPr lang="en-AU" sz="1200" b="1" dirty="0" smtClean="0">
                <a:solidFill>
                  <a:srgbClr val="0070C0"/>
                </a:solidFill>
                <a:latin typeface="Arial" pitchFamily="34" charset="0"/>
                <a:cs typeface="Arial" pitchFamily="34" charset="0"/>
              </a:rPr>
              <a:t>“flock of </a:t>
            </a:r>
            <a:r>
              <a:rPr lang="en-AU" sz="1200" b="1" dirty="0" err="1" smtClean="0">
                <a:solidFill>
                  <a:srgbClr val="0070C0"/>
                </a:solidFill>
                <a:latin typeface="Arial" pitchFamily="34" charset="0"/>
                <a:cs typeface="Arial" pitchFamily="34" charset="0"/>
              </a:rPr>
              <a:t>pickininines</a:t>
            </a:r>
            <a:r>
              <a:rPr lang="en-AU" sz="1200" b="1" dirty="0" smtClean="0">
                <a:solidFill>
                  <a:srgbClr val="0070C0"/>
                </a:solidFill>
                <a:latin typeface="Arial" pitchFamily="34" charset="0"/>
                <a:cs typeface="Arial" pitchFamily="34" charset="0"/>
              </a:rPr>
              <a:t>”</a:t>
            </a:r>
            <a:r>
              <a:rPr lang="en-AU" sz="1200" dirty="0" smtClean="0">
                <a:solidFill>
                  <a:srgbClr val="0070C0"/>
                </a:solidFill>
                <a:latin typeface="Arial" pitchFamily="34" charset="0"/>
                <a:cs typeface="Arial" pitchFamily="34" charset="0"/>
              </a:rPr>
              <a:t> which make strong connections to the history of slavery in America. The reader sympathises with Marian and feels anger towards the Instructor as the text shows us a victim of racial prejudice who is judged on race not merit. The symbolic setting encourages readers to experience and witness the humiliation and frustration Marian must endure due to racial prejudice. On a bright summer’s day, with beach-goers driving happily by, the reader finds Marian nervously anticipating the arrival of the Instructor. Her immediate setting, Mrs Ericson’s car, and the crowded boulevard are starkly different, as are the characters that fill them. The beach goers have cars filled with people free to move and travel and go where they wish. The ease with which they do so is obviously reliant on their having a licence, a licence that symbolises the link between fun, freedom and friends. Contrastingly, Marian’s quiet and nervous demeanour is, like the one dimensional car she drives, more reflective of the isolation and loneliness she is forced to feel by a system that denies her the same freedoms.</a:t>
            </a:r>
            <a:r>
              <a:rPr lang="en-AU" sz="1200" dirty="0" smtClean="0">
                <a:latin typeface="Arial" pitchFamily="34" charset="0"/>
                <a:cs typeface="Arial" pitchFamily="34" charset="0"/>
              </a:rPr>
              <a:t> </a:t>
            </a:r>
            <a:r>
              <a:rPr lang="en-AU" sz="1200" dirty="0" smtClean="0">
                <a:solidFill>
                  <a:srgbClr val="00B050"/>
                </a:solidFill>
                <a:latin typeface="Arial" pitchFamily="34" charset="0"/>
                <a:cs typeface="Arial" pitchFamily="34" charset="0"/>
              </a:rPr>
              <a:t>Importantly though, this </a:t>
            </a:r>
            <a:r>
              <a:rPr lang="en-AU" sz="1200" dirty="0" err="1" smtClean="0">
                <a:solidFill>
                  <a:srgbClr val="00B050"/>
                </a:solidFill>
                <a:latin typeface="Arial" pitchFamily="34" charset="0"/>
                <a:cs typeface="Arial" pitchFamily="34" charset="0"/>
              </a:rPr>
              <a:t>juxtapositioning</a:t>
            </a:r>
            <a:r>
              <a:rPr lang="en-AU" sz="1200" dirty="0" smtClean="0">
                <a:solidFill>
                  <a:srgbClr val="00B050"/>
                </a:solidFill>
                <a:latin typeface="Arial" pitchFamily="34" charset="0"/>
                <a:cs typeface="Arial" pitchFamily="34" charset="0"/>
              </a:rPr>
              <a:t> of images and atmospheres acts symbolically, the reader seeing that Marian’s frustration and humiliation are fuelled by obvious differences in social standards and expectations around her. That is, readers are compelled to understand her problem is a product of wider societal attitudes.</a:t>
            </a:r>
            <a:endParaRPr lang="en-AU" sz="1200" dirty="0">
              <a:solidFill>
                <a:srgbClr val="00B050"/>
              </a:solidFill>
              <a:latin typeface="Arial" pitchFamily="34" charset="0"/>
              <a:cs typeface="Arial" pitchFamily="34" charset="0"/>
            </a:endParaRPr>
          </a:p>
          <a:p>
            <a:endParaRPr lang="en-AU" sz="1600" dirty="0" smtClean="0"/>
          </a:p>
          <a:p>
            <a:endParaRPr lang="en-AU" sz="1600" dirty="0"/>
          </a:p>
          <a:p>
            <a:endParaRPr lang="en-AU" sz="1600" dirty="0"/>
          </a:p>
        </p:txBody>
      </p:sp>
    </p:spTree>
    <p:extLst>
      <p:ext uri="{BB962C8B-B14F-4D97-AF65-F5344CB8AC3E}">
        <p14:creationId xmlns:p14="http://schemas.microsoft.com/office/powerpoint/2010/main" val="42562040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404664"/>
            <a:ext cx="8568952" cy="646331"/>
          </a:xfrm>
          <a:prstGeom prst="rect">
            <a:avLst/>
          </a:prstGeom>
          <a:noFill/>
        </p:spPr>
        <p:txBody>
          <a:bodyPr wrap="square" rtlCol="0">
            <a:spAutoFit/>
          </a:bodyPr>
          <a:lstStyle/>
          <a:p>
            <a:r>
              <a:rPr lang="en-AU" b="1" dirty="0" smtClean="0"/>
              <a:t>Question: Identify </a:t>
            </a:r>
            <a:r>
              <a:rPr lang="en-AU" b="1" u="sng" dirty="0" smtClean="0"/>
              <a:t>one main idea </a:t>
            </a:r>
            <a:r>
              <a:rPr lang="en-AU" b="1" dirty="0" smtClean="0"/>
              <a:t>developed in this text and explain how </a:t>
            </a:r>
            <a:r>
              <a:rPr lang="en-AU" b="1" u="sng" dirty="0" smtClean="0"/>
              <a:t>one language technique </a:t>
            </a:r>
            <a:r>
              <a:rPr lang="en-AU" b="1" dirty="0" smtClean="0"/>
              <a:t>and </a:t>
            </a:r>
            <a:r>
              <a:rPr lang="en-AU" b="1" u="sng" dirty="0" smtClean="0"/>
              <a:t>one narrative convention </a:t>
            </a:r>
            <a:r>
              <a:rPr lang="en-AU" b="1" dirty="0" smtClean="0"/>
              <a:t>created this idea.</a:t>
            </a:r>
            <a:endParaRPr lang="en-AU" b="1" dirty="0"/>
          </a:p>
        </p:txBody>
      </p:sp>
      <p:sp>
        <p:nvSpPr>
          <p:cNvPr id="3" name="TextBox 2"/>
          <p:cNvSpPr txBox="1"/>
          <p:nvPr/>
        </p:nvSpPr>
        <p:spPr>
          <a:xfrm>
            <a:off x="545472" y="1196752"/>
            <a:ext cx="8064896" cy="4216539"/>
          </a:xfrm>
          <a:prstGeom prst="rect">
            <a:avLst/>
          </a:prstGeom>
          <a:noFill/>
        </p:spPr>
        <p:txBody>
          <a:bodyPr wrap="square" rtlCol="0">
            <a:spAutoFit/>
          </a:bodyPr>
          <a:lstStyle/>
          <a:p>
            <a:r>
              <a:rPr lang="en-AU" sz="4000" b="1" dirty="0" smtClean="0">
                <a:solidFill>
                  <a:srgbClr val="7030A0"/>
                </a:solidFill>
              </a:rPr>
              <a:t>HAVE A GO!</a:t>
            </a:r>
          </a:p>
          <a:p>
            <a:endParaRPr lang="en-AU" sz="1600" dirty="0"/>
          </a:p>
          <a:p>
            <a:r>
              <a:rPr lang="en-AU" sz="2000" i="1" dirty="0" smtClean="0">
                <a:solidFill>
                  <a:srgbClr val="7030A0"/>
                </a:solidFill>
              </a:rPr>
              <a:t>Use the text “Neighbours”, by Tim Winton, to write a short answer to this question.</a:t>
            </a:r>
            <a:endParaRPr lang="en-AU" sz="2000" i="1" dirty="0">
              <a:solidFill>
                <a:srgbClr val="7030A0"/>
              </a:solidFill>
            </a:endParaRPr>
          </a:p>
          <a:p>
            <a:endParaRPr lang="en-AU" sz="1600" dirty="0" smtClean="0"/>
          </a:p>
          <a:p>
            <a:endParaRPr lang="en-AU" sz="1600" dirty="0"/>
          </a:p>
          <a:p>
            <a:endParaRPr lang="en-AU" sz="1600" dirty="0" smtClean="0"/>
          </a:p>
          <a:p>
            <a:endParaRPr lang="en-AU" sz="1600" dirty="0" smtClean="0"/>
          </a:p>
          <a:p>
            <a:r>
              <a:rPr lang="en-AU" sz="3200" b="1" dirty="0" smtClean="0">
                <a:solidFill>
                  <a:srgbClr val="7030A0"/>
                </a:solidFill>
              </a:rPr>
              <a:t>HOW DO I STUDY FOR THE IN-CLASS?</a:t>
            </a:r>
          </a:p>
          <a:p>
            <a:pPr marL="342900" indent="-342900">
              <a:buFont typeface="Arial" pitchFamily="34" charset="0"/>
              <a:buChar char="•"/>
            </a:pPr>
            <a:r>
              <a:rPr lang="en-AU" sz="2000" i="1" dirty="0" smtClean="0">
                <a:solidFill>
                  <a:srgbClr val="7030A0"/>
                </a:solidFill>
              </a:rPr>
              <a:t>Annotate the story.</a:t>
            </a:r>
          </a:p>
          <a:p>
            <a:pPr marL="342900" indent="-342900">
              <a:buFont typeface="Arial" pitchFamily="34" charset="0"/>
              <a:buChar char="•"/>
            </a:pPr>
            <a:r>
              <a:rPr lang="en-AU" sz="2000" i="1" dirty="0" smtClean="0">
                <a:solidFill>
                  <a:srgbClr val="7030A0"/>
                </a:solidFill>
              </a:rPr>
              <a:t>Create a short answer response plan.</a:t>
            </a:r>
          </a:p>
          <a:p>
            <a:pPr marL="342900" indent="-342900">
              <a:buFont typeface="Arial" pitchFamily="34" charset="0"/>
              <a:buChar char="•"/>
            </a:pPr>
            <a:r>
              <a:rPr lang="en-AU" sz="2000" i="1" dirty="0" smtClean="0">
                <a:solidFill>
                  <a:srgbClr val="7030A0"/>
                </a:solidFill>
              </a:rPr>
              <a:t>Practise writing!</a:t>
            </a:r>
            <a:endParaRPr lang="en-AU" sz="2000" i="1" dirty="0">
              <a:solidFill>
                <a:srgbClr val="7030A0"/>
              </a:solidFill>
            </a:endParaRPr>
          </a:p>
          <a:p>
            <a:endParaRPr lang="en-AU"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4168" y="4797152"/>
            <a:ext cx="1905000" cy="1524000"/>
          </a:xfrm>
          <a:prstGeom prst="rect">
            <a:avLst/>
          </a:prstGeom>
        </p:spPr>
      </p:pic>
    </p:spTree>
    <p:extLst>
      <p:ext uri="{BB962C8B-B14F-4D97-AF65-F5344CB8AC3E}">
        <p14:creationId xmlns:p14="http://schemas.microsoft.com/office/powerpoint/2010/main" val="42562040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Short Answer planning</a:t>
            </a:r>
            <a:endParaRPr lang="en-AU" dirty="0"/>
          </a:p>
        </p:txBody>
      </p:sp>
      <p:sp>
        <p:nvSpPr>
          <p:cNvPr id="3" name="Content Placeholder 2"/>
          <p:cNvSpPr>
            <a:spLocks noGrp="1"/>
          </p:cNvSpPr>
          <p:nvPr>
            <p:ph sz="half" idx="1"/>
          </p:nvPr>
        </p:nvSpPr>
        <p:spPr/>
        <p:txBody>
          <a:bodyPr>
            <a:normAutofit fontScale="92500" lnSpcReduction="10000"/>
          </a:bodyPr>
          <a:lstStyle/>
          <a:p>
            <a:r>
              <a:rPr lang="en-AU" dirty="0" smtClean="0"/>
              <a:t>Thesis Statement: </a:t>
            </a:r>
            <a:r>
              <a:rPr lang="en-AU" sz="2000" dirty="0" smtClean="0"/>
              <a:t>state the main idea of the story</a:t>
            </a:r>
          </a:p>
          <a:p>
            <a:endParaRPr lang="en-AU" dirty="0"/>
          </a:p>
          <a:p>
            <a:r>
              <a:rPr lang="en-AU" dirty="0" smtClean="0"/>
              <a:t>Body 1: </a:t>
            </a:r>
            <a:r>
              <a:rPr lang="en-AU" sz="2000" dirty="0" smtClean="0"/>
              <a:t>identify a language technique</a:t>
            </a:r>
          </a:p>
          <a:p>
            <a:endParaRPr lang="en-AU" dirty="0"/>
          </a:p>
          <a:p>
            <a:r>
              <a:rPr lang="en-AU" dirty="0" smtClean="0"/>
              <a:t>Body 2: </a:t>
            </a:r>
            <a:r>
              <a:rPr lang="en-AU" sz="2200" dirty="0" smtClean="0"/>
              <a:t>identify a narrative convention</a:t>
            </a:r>
            <a:endParaRPr lang="en-AU" dirty="0" smtClean="0"/>
          </a:p>
          <a:p>
            <a:endParaRPr lang="en-AU" dirty="0"/>
          </a:p>
          <a:p>
            <a:r>
              <a:rPr lang="en-AU" dirty="0" smtClean="0"/>
              <a:t>Conclusion: </a:t>
            </a:r>
            <a:r>
              <a:rPr lang="en-AU" sz="2200" dirty="0" smtClean="0"/>
              <a:t>summarise your ideas</a:t>
            </a:r>
            <a:endParaRPr lang="en-AU" sz="2200" dirty="0"/>
          </a:p>
        </p:txBody>
      </p:sp>
      <p:sp>
        <p:nvSpPr>
          <p:cNvPr id="4" name="Content Placeholder 3"/>
          <p:cNvSpPr>
            <a:spLocks noGrp="1"/>
          </p:cNvSpPr>
          <p:nvPr>
            <p:ph sz="half" idx="2"/>
          </p:nvPr>
        </p:nvSpPr>
        <p:spPr/>
        <p:txBody>
          <a:bodyPr>
            <a:normAutofit fontScale="92500" lnSpcReduction="10000"/>
          </a:bodyPr>
          <a:lstStyle/>
          <a:p>
            <a:endParaRPr lang="en-AU"/>
          </a:p>
        </p:txBody>
      </p:sp>
    </p:spTree>
    <p:extLst>
      <p:ext uri="{BB962C8B-B14F-4D97-AF65-F5344CB8AC3E}">
        <p14:creationId xmlns:p14="http://schemas.microsoft.com/office/powerpoint/2010/main" val="365008591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213</TotalTime>
  <Words>1807</Words>
  <Application>Microsoft Office PowerPoint</Application>
  <PresentationFormat>On-screen Show (4:3)</PresentationFormat>
  <Paragraphs>84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Book Antiqua</vt:lpstr>
      <vt:lpstr>Century Gothic</vt:lpstr>
      <vt:lpstr>Apothecary</vt:lpstr>
      <vt:lpstr>Short answer assessments</vt:lpstr>
      <vt:lpstr>What is an english short answer?</vt:lpstr>
      <vt:lpstr>questions</vt:lpstr>
      <vt:lpstr>Answers</vt:lpstr>
      <vt:lpstr>Short answer format</vt:lpstr>
      <vt:lpstr>PowerPoint Presentation</vt:lpstr>
      <vt:lpstr>Paragraph structure</vt:lpstr>
      <vt:lpstr>PowerPoint Presentation</vt:lpstr>
      <vt:lpstr>PowerPoint Presentation</vt:lpstr>
      <vt:lpstr>PowerPoint Presentation</vt:lpstr>
      <vt:lpstr>Short Answer planning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answer assessments</dc:title>
  <dc:creator>MARKICH Corrina</dc:creator>
  <cp:lastModifiedBy>PAYNE Hayden [Narrogin Senior High School]</cp:lastModifiedBy>
  <cp:revision>24</cp:revision>
  <dcterms:created xsi:type="dcterms:W3CDTF">2016-02-11T03:23:39Z</dcterms:created>
  <dcterms:modified xsi:type="dcterms:W3CDTF">2019-04-01T06:04:30Z</dcterms:modified>
</cp:coreProperties>
</file>
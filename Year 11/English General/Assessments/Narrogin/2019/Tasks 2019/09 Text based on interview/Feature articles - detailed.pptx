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2" r:id="rId1"/>
  </p:sldMasterIdLst>
  <p:sldIdLst>
    <p:sldId id="256" r:id="rId2"/>
    <p:sldId id="257" r:id="rId3"/>
    <p:sldId id="258" r:id="rId4"/>
    <p:sldId id="274" r:id="rId5"/>
    <p:sldId id="275" r:id="rId6"/>
    <p:sldId id="276" r:id="rId7"/>
    <p:sldId id="277" r:id="rId8"/>
    <p:sldId id="278" r:id="rId9"/>
    <p:sldId id="279" r:id="rId10"/>
    <p:sldId id="280" r:id="rId11"/>
    <p:sldId id="281" r:id="rId12"/>
    <p:sldId id="282" r:id="rId13"/>
    <p:sldId id="283" r:id="rId14"/>
    <p:sldId id="284" r:id="rId15"/>
    <p:sldId id="259" r:id="rId16"/>
    <p:sldId id="260" r:id="rId17"/>
    <p:sldId id="261" r:id="rId18"/>
    <p:sldId id="273" r:id="rId19"/>
    <p:sldId id="272" r:id="rId20"/>
    <p:sldId id="262" r:id="rId21"/>
    <p:sldId id="270" r:id="rId22"/>
    <p:sldId id="263" r:id="rId23"/>
    <p:sldId id="264" r:id="rId24"/>
    <p:sldId id="265" r:id="rId25"/>
    <p:sldId id="266" r:id="rId26"/>
    <p:sldId id="267" r:id="rId27"/>
    <p:sldId id="268" r:id="rId28"/>
    <p:sldId id="271"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3" autoAdjust="0"/>
    <p:restoredTop sz="94584" autoAdjust="0"/>
  </p:normalViewPr>
  <p:slideViewPr>
    <p:cSldViewPr snapToGrid="0" snapToObjects="1">
      <p:cViewPr varScale="1">
        <p:scale>
          <a:sx n="86" d="100"/>
          <a:sy n="86" d="100"/>
        </p:scale>
        <p:origin x="152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1197E3C-7B19-5849-8E96-654513C66DDA}" type="datetimeFigureOut">
              <a:rPr lang="en-US" smtClean="0"/>
              <a:t>9/4/2019</a:t>
            </a:fld>
            <a:endParaRPr lang="en-AU"/>
          </a:p>
        </p:txBody>
      </p:sp>
      <p:sp>
        <p:nvSpPr>
          <p:cNvPr id="5" name="Footer Placeholder 4"/>
          <p:cNvSpPr>
            <a:spLocks noGrp="1"/>
          </p:cNvSpPr>
          <p:nvPr>
            <p:ph type="ftr" sz="quarter" idx="11"/>
          </p:nvPr>
        </p:nvSpPr>
        <p:spPr>
          <a:xfrm>
            <a:off x="812805" y="6272785"/>
            <a:ext cx="4745736" cy="365125"/>
          </a:xfrm>
        </p:spPr>
        <p:txBody>
          <a:bodyPr/>
          <a:lstStyle/>
          <a:p>
            <a:endParaRPr lang="en-AU"/>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56442830-1E8F-A946-ADBD-9405DD587808}" type="slidenum">
              <a:rPr lang="en-AU" smtClean="0"/>
              <a:t>‹#›</a:t>
            </a:fld>
            <a:endParaRPr lang="en-AU"/>
          </a:p>
        </p:txBody>
      </p:sp>
    </p:spTree>
    <p:extLst>
      <p:ext uri="{BB962C8B-B14F-4D97-AF65-F5344CB8AC3E}">
        <p14:creationId xmlns:p14="http://schemas.microsoft.com/office/powerpoint/2010/main" val="382284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197E3C-7B19-5849-8E96-654513C66DDA}" type="datetimeFigureOut">
              <a:rPr lang="en-US" smtClean="0"/>
              <a:t>9/4/2019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56442830-1E8F-A946-ADBD-9405DD587808}" type="slidenum">
              <a:rPr lang="en-AU" smtClean="0"/>
              <a:t>‹#›</a:t>
            </a:fld>
            <a:endParaRPr lang="en-AU"/>
          </a:p>
        </p:txBody>
      </p:sp>
    </p:spTree>
    <p:extLst>
      <p:ext uri="{BB962C8B-B14F-4D97-AF65-F5344CB8AC3E}">
        <p14:creationId xmlns:p14="http://schemas.microsoft.com/office/powerpoint/2010/main" val="1444871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B1197E3C-7B19-5849-8E96-654513C66DDA}" type="datetimeFigureOut">
              <a:rPr lang="en-US" smtClean="0"/>
              <a:t>9/4/2019</a:t>
            </a:fld>
            <a:endParaRPr lang="en-AU"/>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AU"/>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56442830-1E8F-A946-ADBD-9405DD587808}" type="slidenum">
              <a:rPr lang="en-AU" smtClean="0"/>
              <a:t>‹#›</a:t>
            </a:fld>
            <a:endParaRPr lang="en-AU"/>
          </a:p>
        </p:txBody>
      </p:sp>
    </p:spTree>
    <p:extLst>
      <p:ext uri="{BB962C8B-B14F-4D97-AF65-F5344CB8AC3E}">
        <p14:creationId xmlns:p14="http://schemas.microsoft.com/office/powerpoint/2010/main" val="1995547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1197E3C-7B19-5849-8E96-654513C66DDA}" type="datetimeFigureOut">
              <a:rPr lang="en-US" smtClean="0"/>
              <a:t>9/4/2019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6442830-1E8F-A946-ADBD-9405DD587808}" type="slidenum">
              <a:rPr lang="en-AU" smtClean="0"/>
              <a:t>‹#›</a:t>
            </a:fld>
            <a:endParaRPr lang="en-AU"/>
          </a:p>
        </p:txBody>
      </p:sp>
    </p:spTree>
    <p:extLst>
      <p:ext uri="{BB962C8B-B14F-4D97-AF65-F5344CB8AC3E}">
        <p14:creationId xmlns:p14="http://schemas.microsoft.com/office/powerpoint/2010/main" val="1884249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197E3C-7B19-5849-8E96-654513C66DDA}" type="datetimeFigureOut">
              <a:rPr lang="en-US" smtClean="0"/>
              <a:t>9/4/2019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56442830-1E8F-A946-ADBD-9405DD587808}" type="slidenum">
              <a:rPr lang="en-AU" smtClean="0"/>
              <a:t>‹#›</a:t>
            </a:fld>
            <a:endParaRPr lang="en-AU"/>
          </a:p>
        </p:txBody>
      </p:sp>
    </p:spTree>
    <p:extLst>
      <p:ext uri="{BB962C8B-B14F-4D97-AF65-F5344CB8AC3E}">
        <p14:creationId xmlns:p14="http://schemas.microsoft.com/office/powerpoint/2010/main" val="446123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B1197E3C-7B19-5849-8E96-654513C66DDA}" type="datetimeFigureOut">
              <a:rPr lang="en-US" smtClean="0"/>
              <a:t>9/4/2019</a:t>
            </a:fld>
            <a:endParaRPr lang="en-AU"/>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AU"/>
          </a:p>
        </p:txBody>
      </p:sp>
      <p:sp>
        <p:nvSpPr>
          <p:cNvPr id="5" name="Slide Number Placeholder 4"/>
          <p:cNvSpPr>
            <a:spLocks noGrp="1"/>
          </p:cNvSpPr>
          <p:nvPr>
            <p:ph type="sldNum" sz="quarter" idx="12"/>
          </p:nvPr>
        </p:nvSpPr>
        <p:spPr/>
        <p:txBody>
          <a:bodyPr/>
          <a:lstStyle/>
          <a:p>
            <a:fld id="{56442830-1E8F-A946-ADBD-9405DD587808}" type="slidenum">
              <a:rPr lang="en-AU" smtClean="0"/>
              <a:t>‹#›</a:t>
            </a:fld>
            <a:endParaRPr lang="en-AU"/>
          </a:p>
        </p:txBody>
      </p:sp>
    </p:spTree>
    <p:extLst>
      <p:ext uri="{BB962C8B-B14F-4D97-AF65-F5344CB8AC3E}">
        <p14:creationId xmlns:p14="http://schemas.microsoft.com/office/powerpoint/2010/main" val="55628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197E3C-7B19-5849-8E96-654513C66DDA}" type="datetimeFigureOut">
              <a:rPr lang="en-US" smtClean="0"/>
              <a:t>9/4/2019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56442830-1E8F-A946-ADBD-9405DD587808}" type="slidenum">
              <a:rPr lang="en-AU" smtClean="0"/>
              <a:t>‹#›</a:t>
            </a:fld>
            <a:endParaRPr lang="en-AU"/>
          </a:p>
        </p:txBody>
      </p:sp>
    </p:spTree>
    <p:extLst>
      <p:ext uri="{BB962C8B-B14F-4D97-AF65-F5344CB8AC3E}">
        <p14:creationId xmlns:p14="http://schemas.microsoft.com/office/powerpoint/2010/main" val="2124330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B1197E3C-7B19-5849-8E96-654513C66DDA}" type="datetimeFigureOut">
              <a:rPr lang="en-US" smtClean="0"/>
              <a:t>9/4/2019</a:t>
            </a:fld>
            <a:endParaRPr lang="en-AU"/>
          </a:p>
        </p:txBody>
      </p:sp>
      <p:sp>
        <p:nvSpPr>
          <p:cNvPr id="10" name="Footer Placeholder 9"/>
          <p:cNvSpPr>
            <a:spLocks noGrp="1"/>
          </p:cNvSpPr>
          <p:nvPr>
            <p:ph type="ftr" sz="quarter" idx="11"/>
          </p:nvPr>
        </p:nvSpPr>
        <p:spPr/>
        <p:txBody>
          <a:bodyPr/>
          <a:lstStyle/>
          <a:p>
            <a:endParaRPr lang="en-AU"/>
          </a:p>
        </p:txBody>
      </p:sp>
      <p:sp>
        <p:nvSpPr>
          <p:cNvPr id="11" name="Slide Number Placeholder 10"/>
          <p:cNvSpPr>
            <a:spLocks noGrp="1"/>
          </p:cNvSpPr>
          <p:nvPr>
            <p:ph type="sldNum" sz="quarter" idx="12"/>
          </p:nvPr>
        </p:nvSpPr>
        <p:spPr/>
        <p:txBody>
          <a:bodyPr/>
          <a:lstStyle/>
          <a:p>
            <a:fld id="{56442830-1E8F-A946-ADBD-9405DD587808}" type="slidenum">
              <a:rPr lang="en-AU" smtClean="0"/>
              <a:t>‹#›</a:t>
            </a:fld>
            <a:endParaRPr lang="en-AU"/>
          </a:p>
        </p:txBody>
      </p:sp>
    </p:spTree>
    <p:extLst>
      <p:ext uri="{BB962C8B-B14F-4D97-AF65-F5344CB8AC3E}">
        <p14:creationId xmlns:p14="http://schemas.microsoft.com/office/powerpoint/2010/main" val="641659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B1197E3C-7B19-5849-8E96-654513C66DDA}" type="datetimeFigureOut">
              <a:rPr lang="en-US" smtClean="0"/>
              <a:t>9/4/2019</a:t>
            </a:fld>
            <a:endParaRPr lang="en-AU"/>
          </a:p>
        </p:txBody>
      </p:sp>
      <p:sp>
        <p:nvSpPr>
          <p:cNvPr id="10" name="Slide Number Placeholder 9"/>
          <p:cNvSpPr>
            <a:spLocks noGrp="1"/>
          </p:cNvSpPr>
          <p:nvPr>
            <p:ph type="sldNum" sz="quarter" idx="12"/>
          </p:nvPr>
        </p:nvSpPr>
        <p:spPr/>
        <p:txBody>
          <a:bodyPr/>
          <a:lstStyle/>
          <a:p>
            <a:fld id="{56442830-1E8F-A946-ADBD-9405DD587808}" type="slidenum">
              <a:rPr lang="en-AU" smtClean="0"/>
              <a:t>‹#›</a:t>
            </a:fld>
            <a:endParaRPr lang="en-AU"/>
          </a:p>
        </p:txBody>
      </p:sp>
    </p:spTree>
    <p:extLst>
      <p:ext uri="{BB962C8B-B14F-4D97-AF65-F5344CB8AC3E}">
        <p14:creationId xmlns:p14="http://schemas.microsoft.com/office/powerpoint/2010/main" val="2781552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197E3C-7B19-5849-8E96-654513C66DDA}" type="datetimeFigureOut">
              <a:rPr lang="en-US" smtClean="0"/>
              <a:t>9/4/2019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56442830-1E8F-A946-ADBD-9405DD587808}" type="slidenum">
              <a:rPr lang="en-AU" smtClean="0"/>
              <a:t>‹#›</a:t>
            </a:fld>
            <a:endParaRPr lang="en-AU"/>
          </a:p>
        </p:txBody>
      </p:sp>
    </p:spTree>
    <p:extLst>
      <p:ext uri="{BB962C8B-B14F-4D97-AF65-F5344CB8AC3E}">
        <p14:creationId xmlns:p14="http://schemas.microsoft.com/office/powerpoint/2010/main" val="1290308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197E3C-7B19-5849-8E96-654513C66DDA}" type="datetimeFigureOut">
              <a:rPr lang="en-US" smtClean="0"/>
              <a:t>9/4/2019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56442830-1E8F-A946-ADBD-9405DD587808}" type="slidenum">
              <a:rPr lang="en-AU" smtClean="0"/>
              <a:t>‹#›</a:t>
            </a:fld>
            <a:endParaRPr lang="en-AU"/>
          </a:p>
        </p:txBody>
      </p:sp>
    </p:spTree>
    <p:extLst>
      <p:ext uri="{BB962C8B-B14F-4D97-AF65-F5344CB8AC3E}">
        <p14:creationId xmlns:p14="http://schemas.microsoft.com/office/powerpoint/2010/main" val="388906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B1197E3C-7B19-5849-8E96-654513C66DDA}" type="datetimeFigureOut">
              <a:rPr lang="en-US" smtClean="0"/>
              <a:t>9/4/2019</a:t>
            </a:fld>
            <a:endParaRPr lang="en-AU"/>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AU"/>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56442830-1E8F-A946-ADBD-9405DD587808}" type="slidenum">
              <a:rPr lang="en-AU" smtClean="0"/>
              <a:t>‹#›</a:t>
            </a:fld>
            <a:endParaRPr lang="en-AU"/>
          </a:p>
        </p:txBody>
      </p:sp>
    </p:spTree>
    <p:extLst>
      <p:ext uri="{BB962C8B-B14F-4D97-AF65-F5344CB8AC3E}">
        <p14:creationId xmlns:p14="http://schemas.microsoft.com/office/powerpoint/2010/main" val="3121477237"/>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AU" sz="6000" i="1" dirty="0">
                <a:latin typeface="Cambria" panose="02040503050406030204" pitchFamily="18" charset="0"/>
                <a:cs typeface="American Typewriter"/>
              </a:rPr>
              <a:t>Feature Articles</a:t>
            </a:r>
          </a:p>
        </p:txBody>
      </p:sp>
      <p:sp>
        <p:nvSpPr>
          <p:cNvPr id="3" name="Subtitle 2"/>
          <p:cNvSpPr>
            <a:spLocks noGrp="1"/>
          </p:cNvSpPr>
          <p:nvPr>
            <p:ph type="subTitle" idx="1"/>
          </p:nvPr>
        </p:nvSpPr>
        <p:spPr/>
        <p:txBody>
          <a:bodyPr/>
          <a:lstStyle/>
          <a:p>
            <a:r>
              <a:rPr lang="en-AU" dirty="0"/>
              <a:t>English</a:t>
            </a:r>
          </a:p>
          <a:p>
            <a:r>
              <a:rPr lang="en-AU" dirty="0"/>
              <a:t>Mr Payne</a:t>
            </a:r>
          </a:p>
        </p:txBody>
      </p:sp>
    </p:spTree>
    <p:extLst>
      <p:ext uri="{BB962C8B-B14F-4D97-AF65-F5344CB8AC3E}">
        <p14:creationId xmlns:p14="http://schemas.microsoft.com/office/powerpoint/2010/main" val="35383648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4400" dirty="0">
                <a:cs typeface="American Typewriter"/>
              </a:rPr>
              <a:t>What is a feature article?</a:t>
            </a:r>
          </a:p>
        </p:txBody>
      </p:sp>
      <p:sp>
        <p:nvSpPr>
          <p:cNvPr id="3" name="Content Placeholder 2"/>
          <p:cNvSpPr>
            <a:spLocks noGrp="1"/>
          </p:cNvSpPr>
          <p:nvPr>
            <p:ph idx="1"/>
          </p:nvPr>
        </p:nvSpPr>
        <p:spPr/>
        <p:txBody>
          <a:bodyPr/>
          <a:lstStyle/>
          <a:p>
            <a:pPr marL="0" indent="0">
              <a:buNone/>
            </a:pPr>
            <a:r>
              <a:rPr lang="en-AU" dirty="0"/>
              <a:t>A feature article is similar to a news story as it:</a:t>
            </a:r>
          </a:p>
          <a:p>
            <a:r>
              <a:rPr lang="en-AU" dirty="0"/>
              <a:t>Aims to capture the audience’s attention</a:t>
            </a:r>
          </a:p>
          <a:p>
            <a:r>
              <a:rPr lang="en-AU" dirty="0"/>
              <a:t>Uses the inverted pyramid structure</a:t>
            </a:r>
          </a:p>
          <a:p>
            <a:r>
              <a:rPr lang="en-AU" dirty="0"/>
              <a:t>Communicates a story about something that is newsworthy</a:t>
            </a:r>
          </a:p>
          <a:p>
            <a:r>
              <a:rPr lang="en-AU" dirty="0"/>
              <a:t>Is often found in newspapers and magazines</a:t>
            </a:r>
          </a:p>
          <a:p>
            <a:pPr marL="0" indent="0">
              <a:buNone/>
            </a:pPr>
            <a:endParaRPr lang="en-AU" dirty="0">
              <a:latin typeface="Cambria" panose="02040503050406030204" pitchFamily="18" charset="0"/>
            </a:endParaRPr>
          </a:p>
        </p:txBody>
      </p:sp>
    </p:spTree>
    <p:extLst>
      <p:ext uri="{BB962C8B-B14F-4D97-AF65-F5344CB8AC3E}">
        <p14:creationId xmlns:p14="http://schemas.microsoft.com/office/powerpoint/2010/main" val="7937040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5725" y="1127464"/>
            <a:ext cx="7275250" cy="4705736"/>
          </a:xfrm>
        </p:spPr>
        <p:txBody>
          <a:bodyPr>
            <a:normAutofit/>
          </a:bodyPr>
          <a:lstStyle/>
          <a:p>
            <a:pPr marL="0" indent="0">
              <a:buNone/>
            </a:pPr>
            <a:r>
              <a:rPr lang="en-AU" dirty="0"/>
              <a:t>There are some significant differences between feature articles and news stories. </a:t>
            </a:r>
          </a:p>
          <a:p>
            <a:pPr marL="0" indent="0">
              <a:buNone/>
            </a:pPr>
            <a:endParaRPr lang="en-AU" dirty="0"/>
          </a:p>
          <a:p>
            <a:pPr marL="0" indent="0">
              <a:buNone/>
            </a:pPr>
            <a:r>
              <a:rPr lang="en-AU" dirty="0"/>
              <a:t>Features articles:</a:t>
            </a:r>
          </a:p>
          <a:p>
            <a:r>
              <a:rPr lang="en-AU" dirty="0"/>
              <a:t>Are more in-depth and descriptive</a:t>
            </a:r>
          </a:p>
          <a:p>
            <a:r>
              <a:rPr lang="en-AU" dirty="0"/>
              <a:t>Display a </a:t>
            </a:r>
            <a:r>
              <a:rPr lang="en-AU" dirty="0">
                <a:solidFill>
                  <a:srgbClr val="FF0000"/>
                </a:solidFill>
              </a:rPr>
              <a:t>bias</a:t>
            </a:r>
            <a:r>
              <a:rPr lang="en-AU" dirty="0"/>
              <a:t> or </a:t>
            </a:r>
            <a:r>
              <a:rPr lang="en-AU" dirty="0">
                <a:solidFill>
                  <a:srgbClr val="FF0000"/>
                </a:solidFill>
              </a:rPr>
              <a:t>opinion</a:t>
            </a:r>
            <a:r>
              <a:rPr lang="en-AU" dirty="0"/>
              <a:t> on the issue being discussed</a:t>
            </a:r>
          </a:p>
          <a:p>
            <a:r>
              <a:rPr lang="en-AU" dirty="0"/>
              <a:t>Are more creative and can be told from a first person point of view</a:t>
            </a:r>
          </a:p>
        </p:txBody>
      </p:sp>
    </p:spTree>
    <p:extLst>
      <p:ext uri="{BB962C8B-B14F-4D97-AF65-F5344CB8AC3E}">
        <p14:creationId xmlns:p14="http://schemas.microsoft.com/office/powerpoint/2010/main" val="22222616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4BB0C-DE0B-4C24-A61F-F70F2DA24C33}"/>
              </a:ext>
            </a:extLst>
          </p:cNvPr>
          <p:cNvSpPr>
            <a:spLocks noGrp="1"/>
          </p:cNvSpPr>
          <p:nvPr>
            <p:ph type="title"/>
          </p:nvPr>
        </p:nvSpPr>
        <p:spPr/>
        <p:txBody>
          <a:bodyPr>
            <a:normAutofit/>
          </a:bodyPr>
          <a:lstStyle/>
          <a:p>
            <a:r>
              <a:rPr lang="en-AU" b="1" u="sng" dirty="0"/>
              <a:t>Characteristics of a Feature Article</a:t>
            </a:r>
            <a:endParaRPr lang="en-AU" dirty="0"/>
          </a:p>
        </p:txBody>
      </p:sp>
      <p:sp>
        <p:nvSpPr>
          <p:cNvPr id="3" name="Content Placeholder 2">
            <a:extLst>
              <a:ext uri="{FF2B5EF4-FFF2-40B4-BE49-F238E27FC236}">
                <a16:creationId xmlns:a16="http://schemas.microsoft.com/office/drawing/2014/main" id="{3B4143F5-8A2C-4150-8A16-40B75182FD3F}"/>
              </a:ext>
            </a:extLst>
          </p:cNvPr>
          <p:cNvSpPr>
            <a:spLocks noGrp="1"/>
          </p:cNvSpPr>
          <p:nvPr>
            <p:ph idx="1"/>
          </p:nvPr>
        </p:nvSpPr>
        <p:spPr/>
        <p:txBody>
          <a:bodyPr/>
          <a:lstStyle/>
          <a:p>
            <a:pPr lvl="0"/>
            <a:r>
              <a:rPr lang="en-AU" dirty="0"/>
              <a:t>Contain depth of characters and/or issues, offering background information about the subject. </a:t>
            </a:r>
          </a:p>
          <a:p>
            <a:pPr lvl="0"/>
            <a:r>
              <a:rPr lang="en-AU" dirty="0"/>
              <a:t>Are usually timeless- they are just as acceptable for publication this week or next month. </a:t>
            </a:r>
          </a:p>
          <a:p>
            <a:pPr lvl="0"/>
            <a:r>
              <a:rPr lang="en-AU" dirty="0"/>
              <a:t>Provide more detail often including more research. </a:t>
            </a:r>
          </a:p>
          <a:p>
            <a:pPr lvl="0"/>
            <a:r>
              <a:rPr lang="en-AU" dirty="0"/>
              <a:t>Provide the reader with an understanding of the writer’s attitude towards his/her subject matter with the careful use of tone. </a:t>
            </a:r>
          </a:p>
          <a:p>
            <a:pPr lvl="0"/>
            <a:r>
              <a:rPr lang="en-AU" dirty="0"/>
              <a:t>Provide a forum for ideas, attitudes, reasons, feelings and background. </a:t>
            </a:r>
          </a:p>
        </p:txBody>
      </p:sp>
    </p:spTree>
    <p:extLst>
      <p:ext uri="{BB962C8B-B14F-4D97-AF65-F5344CB8AC3E}">
        <p14:creationId xmlns:p14="http://schemas.microsoft.com/office/powerpoint/2010/main" val="16808000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791BD-5AB4-4972-B041-B4B1DB2E009F}"/>
              </a:ext>
            </a:extLst>
          </p:cNvPr>
          <p:cNvSpPr>
            <a:spLocks noGrp="1"/>
          </p:cNvSpPr>
          <p:nvPr>
            <p:ph type="title"/>
          </p:nvPr>
        </p:nvSpPr>
        <p:spPr/>
        <p:txBody>
          <a:bodyPr/>
          <a:lstStyle/>
          <a:p>
            <a:r>
              <a:rPr lang="en-AU" b="1" u="sng" dirty="0"/>
              <a:t>PURPOSE:</a:t>
            </a:r>
            <a:endParaRPr lang="en-AU" dirty="0"/>
          </a:p>
        </p:txBody>
      </p:sp>
      <p:sp>
        <p:nvSpPr>
          <p:cNvPr id="3" name="Content Placeholder 2">
            <a:extLst>
              <a:ext uri="{FF2B5EF4-FFF2-40B4-BE49-F238E27FC236}">
                <a16:creationId xmlns:a16="http://schemas.microsoft.com/office/drawing/2014/main" id="{2D629522-7C75-4DB2-9CAE-7C4AC1B30D4F}"/>
              </a:ext>
            </a:extLst>
          </p:cNvPr>
          <p:cNvSpPr>
            <a:spLocks noGrp="1"/>
          </p:cNvSpPr>
          <p:nvPr>
            <p:ph idx="1"/>
          </p:nvPr>
        </p:nvSpPr>
        <p:spPr/>
        <p:txBody>
          <a:bodyPr/>
          <a:lstStyle/>
          <a:p>
            <a:r>
              <a:rPr lang="en-AU" b="1" dirty="0"/>
              <a:t>To Inform</a:t>
            </a:r>
            <a:endParaRPr lang="en-AU" dirty="0"/>
          </a:p>
          <a:p>
            <a:r>
              <a:rPr lang="en-AU" b="1" dirty="0"/>
              <a:t>To Explain</a:t>
            </a:r>
            <a:endParaRPr lang="en-AU" dirty="0"/>
          </a:p>
          <a:p>
            <a:r>
              <a:rPr lang="en-AU" b="1" dirty="0"/>
              <a:t>To Analyse</a:t>
            </a:r>
            <a:endParaRPr lang="en-AU" dirty="0"/>
          </a:p>
          <a:p>
            <a:r>
              <a:rPr lang="en-AU" b="1" dirty="0"/>
              <a:t>To Advise</a:t>
            </a:r>
            <a:endParaRPr lang="en-AU" dirty="0"/>
          </a:p>
          <a:p>
            <a:r>
              <a:rPr lang="en-AU" b="1" dirty="0"/>
              <a:t>To Persuade </a:t>
            </a:r>
            <a:endParaRPr lang="en-AU" dirty="0"/>
          </a:p>
          <a:p>
            <a:endParaRPr lang="en-AU" dirty="0"/>
          </a:p>
        </p:txBody>
      </p:sp>
    </p:spTree>
    <p:extLst>
      <p:ext uri="{BB962C8B-B14F-4D97-AF65-F5344CB8AC3E}">
        <p14:creationId xmlns:p14="http://schemas.microsoft.com/office/powerpoint/2010/main" val="2095035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89177-A40B-4C08-B5F0-A5FA80BC8518}"/>
              </a:ext>
            </a:extLst>
          </p:cNvPr>
          <p:cNvSpPr>
            <a:spLocks noGrp="1"/>
          </p:cNvSpPr>
          <p:nvPr>
            <p:ph type="title"/>
          </p:nvPr>
        </p:nvSpPr>
        <p:spPr/>
        <p:txBody>
          <a:bodyPr>
            <a:normAutofit/>
          </a:bodyPr>
          <a:lstStyle/>
          <a:p>
            <a:r>
              <a:rPr lang="en-AU" b="1" dirty="0"/>
              <a:t>Structure of Feature Articles</a:t>
            </a:r>
            <a:endParaRPr lang="en-AU" dirty="0"/>
          </a:p>
        </p:txBody>
      </p:sp>
      <p:sp>
        <p:nvSpPr>
          <p:cNvPr id="3" name="Content Placeholder 2">
            <a:extLst>
              <a:ext uri="{FF2B5EF4-FFF2-40B4-BE49-F238E27FC236}">
                <a16:creationId xmlns:a16="http://schemas.microsoft.com/office/drawing/2014/main" id="{BF911D52-8947-458A-B38E-A564E24B147C}"/>
              </a:ext>
            </a:extLst>
          </p:cNvPr>
          <p:cNvSpPr>
            <a:spLocks noGrp="1"/>
          </p:cNvSpPr>
          <p:nvPr>
            <p:ph idx="1"/>
          </p:nvPr>
        </p:nvSpPr>
        <p:spPr/>
        <p:txBody>
          <a:bodyPr/>
          <a:lstStyle/>
          <a:p>
            <a:r>
              <a:rPr lang="en-AU" sz="2400" dirty="0"/>
              <a:t>The ‘headline’ in a feature article needs to capture the reader’s attention immediately and then the lead or introduction must maintain it. The elements required to produce a successful Feature article are a lead, a body and a conclusion. </a:t>
            </a:r>
          </a:p>
          <a:p>
            <a:endParaRPr lang="en-AU" dirty="0"/>
          </a:p>
        </p:txBody>
      </p:sp>
    </p:spTree>
    <p:extLst>
      <p:ext uri="{BB962C8B-B14F-4D97-AF65-F5344CB8AC3E}">
        <p14:creationId xmlns:p14="http://schemas.microsoft.com/office/powerpoint/2010/main" val="39429371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22F0B-6104-4AD5-BB47-0091B6AF937E}"/>
              </a:ext>
            </a:extLst>
          </p:cNvPr>
          <p:cNvSpPr>
            <a:spLocks noGrp="1"/>
          </p:cNvSpPr>
          <p:nvPr>
            <p:ph type="title"/>
          </p:nvPr>
        </p:nvSpPr>
        <p:spPr/>
        <p:txBody>
          <a:bodyPr/>
          <a:lstStyle/>
          <a:p>
            <a:r>
              <a:rPr lang="en-AU" b="1" u="sng" dirty="0"/>
              <a:t>LEADS</a:t>
            </a:r>
            <a:endParaRPr lang="en-AU" dirty="0"/>
          </a:p>
        </p:txBody>
      </p:sp>
      <p:sp>
        <p:nvSpPr>
          <p:cNvPr id="3" name="Content Placeholder 2">
            <a:extLst>
              <a:ext uri="{FF2B5EF4-FFF2-40B4-BE49-F238E27FC236}">
                <a16:creationId xmlns:a16="http://schemas.microsoft.com/office/drawing/2014/main" id="{AF9E04B8-7FB6-49D0-B11E-33BE5103FF3E}"/>
              </a:ext>
            </a:extLst>
          </p:cNvPr>
          <p:cNvSpPr>
            <a:spLocks noGrp="1"/>
          </p:cNvSpPr>
          <p:nvPr>
            <p:ph idx="1"/>
          </p:nvPr>
        </p:nvSpPr>
        <p:spPr/>
        <p:txBody>
          <a:bodyPr/>
          <a:lstStyle/>
          <a:p>
            <a:pPr marL="0" indent="0">
              <a:buNone/>
            </a:pPr>
            <a:r>
              <a:rPr lang="en-AU" sz="2400" dirty="0"/>
              <a:t>A successful lead will accomplish three objectives:</a:t>
            </a:r>
          </a:p>
          <a:p>
            <a:pPr marL="0" indent="0">
              <a:buNone/>
            </a:pPr>
            <a:endParaRPr lang="en-AU" sz="2400" dirty="0"/>
          </a:p>
          <a:p>
            <a:r>
              <a:rPr lang="en-AU" sz="2400" dirty="0"/>
              <a:t>1. Attract the reader.</a:t>
            </a:r>
          </a:p>
          <a:p>
            <a:r>
              <a:rPr lang="en-AU" sz="2400" dirty="0"/>
              <a:t>2. Give the reader the central idea.</a:t>
            </a:r>
          </a:p>
          <a:p>
            <a:r>
              <a:rPr lang="en-AU" sz="2400" dirty="0"/>
              <a:t>3. Lead the reader into the story.</a:t>
            </a:r>
          </a:p>
          <a:p>
            <a:endParaRPr lang="en-AU" dirty="0"/>
          </a:p>
        </p:txBody>
      </p:sp>
    </p:spTree>
    <p:extLst>
      <p:ext uri="{BB962C8B-B14F-4D97-AF65-F5344CB8AC3E}">
        <p14:creationId xmlns:p14="http://schemas.microsoft.com/office/powerpoint/2010/main" val="25010393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FC80E-C129-4B8E-9D7D-2A2951B2294B}"/>
              </a:ext>
            </a:extLst>
          </p:cNvPr>
          <p:cNvSpPr>
            <a:spLocks noGrp="1"/>
          </p:cNvSpPr>
          <p:nvPr>
            <p:ph type="title"/>
          </p:nvPr>
        </p:nvSpPr>
        <p:spPr/>
        <p:txBody>
          <a:bodyPr/>
          <a:lstStyle/>
          <a:p>
            <a:r>
              <a:rPr lang="en-AU" b="1" u="sng" dirty="0"/>
              <a:t>TRANSITIONS</a:t>
            </a:r>
            <a:endParaRPr lang="en-AU" dirty="0"/>
          </a:p>
        </p:txBody>
      </p:sp>
      <p:sp>
        <p:nvSpPr>
          <p:cNvPr id="3" name="Content Placeholder 2">
            <a:extLst>
              <a:ext uri="{FF2B5EF4-FFF2-40B4-BE49-F238E27FC236}">
                <a16:creationId xmlns:a16="http://schemas.microsoft.com/office/drawing/2014/main" id="{DC3ED654-7661-4918-91C6-0E5722BC9814}"/>
              </a:ext>
            </a:extLst>
          </p:cNvPr>
          <p:cNvSpPr>
            <a:spLocks noGrp="1"/>
          </p:cNvSpPr>
          <p:nvPr>
            <p:ph idx="1"/>
          </p:nvPr>
        </p:nvSpPr>
        <p:spPr/>
        <p:txBody>
          <a:bodyPr/>
          <a:lstStyle/>
          <a:p>
            <a:pPr lvl="0"/>
            <a:r>
              <a:rPr lang="en-AU" dirty="0"/>
              <a:t>Good transitions in feature writing mean that one paragraph moves smoothly to the next one. </a:t>
            </a:r>
          </a:p>
          <a:p>
            <a:pPr lvl="0"/>
            <a:r>
              <a:rPr lang="en-AU" dirty="0"/>
              <a:t>Good transitions work by repeating a word, phrase or idea that has been used in the paragraph immediately before. </a:t>
            </a:r>
          </a:p>
          <a:p>
            <a:endParaRPr lang="en-AU" dirty="0"/>
          </a:p>
        </p:txBody>
      </p:sp>
    </p:spTree>
    <p:extLst>
      <p:ext uri="{BB962C8B-B14F-4D97-AF65-F5344CB8AC3E}">
        <p14:creationId xmlns:p14="http://schemas.microsoft.com/office/powerpoint/2010/main" val="21548772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02FEF-E5BB-40D6-8F56-826D9A933CC3}"/>
              </a:ext>
            </a:extLst>
          </p:cNvPr>
          <p:cNvSpPr>
            <a:spLocks noGrp="1"/>
          </p:cNvSpPr>
          <p:nvPr>
            <p:ph type="title"/>
          </p:nvPr>
        </p:nvSpPr>
        <p:spPr/>
        <p:txBody>
          <a:bodyPr/>
          <a:lstStyle/>
          <a:p>
            <a:r>
              <a:rPr lang="en-AU" b="1" u="sng" dirty="0"/>
              <a:t>ENDINGS</a:t>
            </a:r>
            <a:endParaRPr lang="en-AU" dirty="0"/>
          </a:p>
        </p:txBody>
      </p:sp>
      <p:sp>
        <p:nvSpPr>
          <p:cNvPr id="3" name="Content Placeholder 2">
            <a:extLst>
              <a:ext uri="{FF2B5EF4-FFF2-40B4-BE49-F238E27FC236}">
                <a16:creationId xmlns:a16="http://schemas.microsoft.com/office/drawing/2014/main" id="{860BA35E-CC6D-4F9D-8BB4-1C0589A85C7D}"/>
              </a:ext>
            </a:extLst>
          </p:cNvPr>
          <p:cNvSpPr>
            <a:spLocks noGrp="1"/>
          </p:cNvSpPr>
          <p:nvPr>
            <p:ph idx="1"/>
          </p:nvPr>
        </p:nvSpPr>
        <p:spPr/>
        <p:txBody>
          <a:bodyPr/>
          <a:lstStyle/>
          <a:p>
            <a:pPr lvl="0"/>
            <a:r>
              <a:rPr lang="en-AU" dirty="0"/>
              <a:t>The conclusion often connects with an idea that has been developed in the lead, or it can in some way summarise the main points of the article. </a:t>
            </a:r>
          </a:p>
          <a:p>
            <a:pPr lvl="0"/>
            <a:r>
              <a:rPr lang="en-AU" dirty="0"/>
              <a:t>The conclusion is often structured in the same way as the lead as it refers to the angle presented in the introduction. This technique is referred to as the ‘lead replay’. </a:t>
            </a:r>
          </a:p>
          <a:p>
            <a:pPr lvl="0"/>
            <a:r>
              <a:rPr lang="en-AU" dirty="0"/>
              <a:t>Often at the end of a Feature article the writer will provide relevant information about that subject of the Feature, giving interested readers links to contact groups ‘…opens on Thursday’. </a:t>
            </a:r>
          </a:p>
          <a:p>
            <a:endParaRPr lang="en-AU" dirty="0"/>
          </a:p>
        </p:txBody>
      </p:sp>
    </p:spTree>
    <p:extLst>
      <p:ext uri="{BB962C8B-B14F-4D97-AF65-F5344CB8AC3E}">
        <p14:creationId xmlns:p14="http://schemas.microsoft.com/office/powerpoint/2010/main" val="7128575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CD402-3232-46A2-B6ED-619C2CFF3002}"/>
              </a:ext>
            </a:extLst>
          </p:cNvPr>
          <p:cNvSpPr>
            <a:spLocks noGrp="1"/>
          </p:cNvSpPr>
          <p:nvPr>
            <p:ph type="title"/>
          </p:nvPr>
        </p:nvSpPr>
        <p:spPr/>
        <p:txBody>
          <a:bodyPr/>
          <a:lstStyle/>
          <a:p>
            <a:r>
              <a:rPr lang="en-AU" b="1" i="1" u="sng" dirty="0"/>
              <a:t>Types of Leads</a:t>
            </a:r>
            <a:endParaRPr lang="en-AU" dirty="0"/>
          </a:p>
        </p:txBody>
      </p:sp>
      <p:sp>
        <p:nvSpPr>
          <p:cNvPr id="3" name="Content Placeholder 2">
            <a:extLst>
              <a:ext uri="{FF2B5EF4-FFF2-40B4-BE49-F238E27FC236}">
                <a16:creationId xmlns:a16="http://schemas.microsoft.com/office/drawing/2014/main" id="{9E9C3138-5416-40ED-8071-D7EA1DFE6FBF}"/>
              </a:ext>
            </a:extLst>
          </p:cNvPr>
          <p:cNvSpPr>
            <a:spLocks noGrp="1"/>
          </p:cNvSpPr>
          <p:nvPr>
            <p:ph idx="1"/>
          </p:nvPr>
        </p:nvSpPr>
        <p:spPr/>
        <p:txBody>
          <a:bodyPr>
            <a:normAutofit/>
          </a:bodyPr>
          <a:lstStyle/>
          <a:p>
            <a:r>
              <a:rPr lang="en-AU" b="1" dirty="0"/>
              <a:t>DESCRIPTION</a:t>
            </a:r>
            <a:endParaRPr lang="en-AU" dirty="0"/>
          </a:p>
          <a:p>
            <a:r>
              <a:rPr lang="en-AU" b="1" dirty="0"/>
              <a:t>DIRECT ADDRESS</a:t>
            </a:r>
            <a:r>
              <a:rPr lang="en-AU" dirty="0"/>
              <a:t> </a:t>
            </a:r>
          </a:p>
          <a:p>
            <a:r>
              <a:rPr lang="en-AU" b="1" dirty="0"/>
              <a:t>SHOCKING STATEMENT</a:t>
            </a:r>
            <a:endParaRPr lang="en-AU" dirty="0"/>
          </a:p>
          <a:p>
            <a:r>
              <a:rPr lang="en-AU" b="1" dirty="0"/>
              <a:t>NARRATIVE</a:t>
            </a:r>
            <a:r>
              <a:rPr lang="en-AU" dirty="0"/>
              <a:t> </a:t>
            </a:r>
          </a:p>
          <a:p>
            <a:r>
              <a:rPr lang="en-AU" b="1" dirty="0"/>
              <a:t>QUOTATION</a:t>
            </a:r>
            <a:r>
              <a:rPr lang="en-AU" dirty="0"/>
              <a:t> </a:t>
            </a:r>
          </a:p>
          <a:p>
            <a:r>
              <a:rPr lang="en-AU" b="1" dirty="0"/>
              <a:t>QUESTION</a:t>
            </a:r>
            <a:endParaRPr lang="en-AU" dirty="0"/>
          </a:p>
        </p:txBody>
      </p:sp>
    </p:spTree>
    <p:extLst>
      <p:ext uri="{BB962C8B-B14F-4D97-AF65-F5344CB8AC3E}">
        <p14:creationId xmlns:p14="http://schemas.microsoft.com/office/powerpoint/2010/main" val="2988487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72C28E9-1830-4994-AE9B-9C40E01246B4}"/>
              </a:ext>
            </a:extLst>
          </p:cNvPr>
          <p:cNvSpPr>
            <a:spLocks noGrp="1"/>
          </p:cNvSpPr>
          <p:nvPr>
            <p:ph idx="1"/>
          </p:nvPr>
        </p:nvSpPr>
        <p:spPr>
          <a:xfrm>
            <a:off x="685800" y="172278"/>
            <a:ext cx="7772400" cy="6573079"/>
          </a:xfrm>
        </p:spPr>
        <p:txBody>
          <a:bodyPr>
            <a:normAutofit fontScale="70000" lnSpcReduction="20000"/>
          </a:bodyPr>
          <a:lstStyle/>
          <a:p>
            <a:r>
              <a:rPr lang="en-AU" b="1" dirty="0"/>
              <a:t>DESCRIPTION</a:t>
            </a:r>
            <a:endParaRPr lang="en-AU" dirty="0"/>
          </a:p>
          <a:p>
            <a:r>
              <a:rPr lang="en-AU" dirty="0"/>
              <a:t>Descriptive leads often focus on what it feels like to be at an event by highlighting the sights, sounds, textures, tastes and smells that evoke clear images in the mind of the reader.</a:t>
            </a:r>
          </a:p>
          <a:p>
            <a:r>
              <a:rPr lang="en-AU" b="1" dirty="0"/>
              <a:t>DIRECT ADDRESS</a:t>
            </a:r>
            <a:endParaRPr lang="en-AU" dirty="0"/>
          </a:p>
          <a:p>
            <a:r>
              <a:rPr lang="en-AU" dirty="0"/>
              <a:t>This is when the writer tries to engage the reader immediately. This can be done by asking questions or asking the reader to imagine something in particular. It is as though the writer is expecting some direct responses from the reader. </a:t>
            </a:r>
          </a:p>
          <a:p>
            <a:r>
              <a:rPr lang="en-AU" b="1" dirty="0"/>
              <a:t>SHOCKING STATEMENT</a:t>
            </a:r>
            <a:endParaRPr lang="en-AU" dirty="0"/>
          </a:p>
          <a:p>
            <a:pPr lvl="0"/>
            <a:r>
              <a:rPr lang="en-AU" dirty="0"/>
              <a:t>This type of lead is also known as “the teaser”. </a:t>
            </a:r>
          </a:p>
          <a:p>
            <a:pPr lvl="0"/>
            <a:r>
              <a:rPr lang="en-AU" dirty="0"/>
              <a:t>A shocking or striking statement is one that will produce a strong response in the reader. Often it will challenge some accepted belief, or simply be provocative. Statistics are often effective. </a:t>
            </a:r>
          </a:p>
          <a:p>
            <a:pPr lvl="0"/>
            <a:r>
              <a:rPr lang="en-AU" dirty="0"/>
              <a:t>It involves the reader by building suspense before revealing the focus of the story. </a:t>
            </a:r>
          </a:p>
          <a:p>
            <a:r>
              <a:rPr lang="en-AU" b="1" dirty="0"/>
              <a:t>NARRATIVE</a:t>
            </a:r>
            <a:r>
              <a:rPr lang="en-AU" dirty="0"/>
              <a:t> </a:t>
            </a:r>
          </a:p>
          <a:p>
            <a:pPr lvl="0"/>
            <a:r>
              <a:rPr lang="en-AU" dirty="0"/>
              <a:t>The narrative lead tells a story. </a:t>
            </a:r>
          </a:p>
          <a:p>
            <a:pPr lvl="0"/>
            <a:r>
              <a:rPr lang="en-AU" dirty="0"/>
              <a:t>Sometimes a short piece, often from the writer’s own experience, will lead the reader into the article. </a:t>
            </a:r>
          </a:p>
          <a:p>
            <a:pPr lvl="0"/>
            <a:r>
              <a:rPr lang="en-AU" dirty="0"/>
              <a:t>Though it is also descriptive, the narrative lead is more like a play with a scene characters and dialogue. </a:t>
            </a:r>
          </a:p>
          <a:p>
            <a:r>
              <a:rPr lang="en-AU" b="1" dirty="0"/>
              <a:t>QUOTATION</a:t>
            </a:r>
            <a:endParaRPr lang="en-AU" dirty="0"/>
          </a:p>
          <a:p>
            <a:r>
              <a:rPr lang="en-AU" dirty="0"/>
              <a:t>A relevant and effective quotation can introduce the reader to the theme of the article. The quote should compel the reader to go further into the story. </a:t>
            </a:r>
          </a:p>
          <a:p>
            <a:r>
              <a:rPr lang="en-AU" b="1" dirty="0"/>
              <a:t>QUESTION</a:t>
            </a:r>
            <a:endParaRPr lang="en-AU" dirty="0"/>
          </a:p>
          <a:p>
            <a:r>
              <a:rPr lang="en-AU" dirty="0"/>
              <a:t>Should be used only when the question relates directly to the Feature angle and compels the reader to seek the answers further in the story. Unfortunately, most question leads can be answered with another question. </a:t>
            </a:r>
          </a:p>
        </p:txBody>
      </p:sp>
    </p:spTree>
    <p:extLst>
      <p:ext uri="{BB962C8B-B14F-4D97-AF65-F5344CB8AC3E}">
        <p14:creationId xmlns:p14="http://schemas.microsoft.com/office/powerpoint/2010/main" val="21413434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EA5B1-1833-4668-A562-E771D00A23CF}"/>
              </a:ext>
            </a:extLst>
          </p:cNvPr>
          <p:cNvSpPr>
            <a:spLocks noGrp="1"/>
          </p:cNvSpPr>
          <p:nvPr>
            <p:ph type="title"/>
          </p:nvPr>
        </p:nvSpPr>
        <p:spPr>
          <a:xfrm>
            <a:off x="685800" y="484632"/>
            <a:ext cx="7772400" cy="840585"/>
          </a:xfrm>
        </p:spPr>
        <p:txBody>
          <a:bodyPr>
            <a:noAutofit/>
          </a:bodyPr>
          <a:lstStyle/>
          <a:p>
            <a:r>
              <a:rPr lang="en-AU" sz="3200" b="1" dirty="0"/>
              <a:t>LANGUAGE AND GRAMMATICAL CHARACTERISTICS OF FEATURE ARTICLES</a:t>
            </a:r>
            <a:endParaRPr lang="en-AU" sz="3200" dirty="0"/>
          </a:p>
        </p:txBody>
      </p:sp>
      <p:sp>
        <p:nvSpPr>
          <p:cNvPr id="3" name="Content Placeholder 2">
            <a:extLst>
              <a:ext uri="{FF2B5EF4-FFF2-40B4-BE49-F238E27FC236}">
                <a16:creationId xmlns:a16="http://schemas.microsoft.com/office/drawing/2014/main" id="{C2836B16-22DB-4EB9-A25A-C6CB68855AAA}"/>
              </a:ext>
            </a:extLst>
          </p:cNvPr>
          <p:cNvSpPr>
            <a:spLocks noGrp="1"/>
          </p:cNvSpPr>
          <p:nvPr>
            <p:ph idx="1"/>
          </p:nvPr>
        </p:nvSpPr>
        <p:spPr>
          <a:xfrm>
            <a:off x="685800" y="1325217"/>
            <a:ext cx="7772400" cy="5300869"/>
          </a:xfrm>
        </p:spPr>
        <p:txBody>
          <a:bodyPr>
            <a:normAutofit fontScale="85000" lnSpcReduction="20000"/>
          </a:bodyPr>
          <a:lstStyle/>
          <a:p>
            <a:r>
              <a:rPr lang="en-AU" b="1" dirty="0"/>
              <a:t>PARAGRAPHING</a:t>
            </a:r>
            <a:endParaRPr lang="en-AU" dirty="0"/>
          </a:p>
          <a:p>
            <a:r>
              <a:rPr lang="en-AU" dirty="0"/>
              <a:t>Paragraphs of one to four sentences are used in newspaper feature articles.</a:t>
            </a:r>
          </a:p>
          <a:p>
            <a:r>
              <a:rPr lang="en-AU" b="1" dirty="0"/>
              <a:t>QUOTATIONS</a:t>
            </a:r>
            <a:endParaRPr lang="en-AU" dirty="0"/>
          </a:p>
          <a:p>
            <a:pPr lvl="0"/>
            <a:r>
              <a:rPr lang="en-AU" dirty="0"/>
              <a:t>Inverted commas indicate direct quotations. </a:t>
            </a:r>
          </a:p>
          <a:p>
            <a:pPr lvl="0"/>
            <a:r>
              <a:rPr lang="en-AU" dirty="0"/>
              <a:t>Quotes from eyewitnesses, sources or experts are included in the text. </a:t>
            </a:r>
          </a:p>
          <a:p>
            <a:r>
              <a:rPr lang="en-AU" b="1" dirty="0"/>
              <a:t>REGISTER</a:t>
            </a:r>
            <a:endParaRPr lang="en-AU" dirty="0"/>
          </a:p>
          <a:p>
            <a:pPr lvl="0"/>
            <a:r>
              <a:rPr lang="en-AU" dirty="0"/>
              <a:t>Individual speakers who are quoted in a Feature article often use emotive language. </a:t>
            </a:r>
          </a:p>
          <a:p>
            <a:pPr lvl="0"/>
            <a:r>
              <a:rPr lang="en-AU" dirty="0"/>
              <a:t>Feature articles are more creative in the use of language than a news report, often using emotive language. </a:t>
            </a:r>
          </a:p>
          <a:p>
            <a:pPr lvl="0"/>
            <a:r>
              <a:rPr lang="en-AU" dirty="0"/>
              <a:t>Feature articles contain objective material but often appeal to emotions. </a:t>
            </a:r>
          </a:p>
          <a:p>
            <a:r>
              <a:rPr lang="en-AU" b="1" dirty="0"/>
              <a:t>KEY WORDS</a:t>
            </a:r>
            <a:endParaRPr lang="en-AU" dirty="0"/>
          </a:p>
          <a:p>
            <a:pPr lvl="0"/>
            <a:r>
              <a:rPr lang="en-AU" dirty="0"/>
              <a:t>The vocabulary includes many words that relate to the specific subject discussed. </a:t>
            </a:r>
          </a:p>
          <a:p>
            <a:pPr lvl="0"/>
            <a:r>
              <a:rPr lang="en-AU" dirty="0"/>
              <a:t>An extensive written vocabulary is used. </a:t>
            </a:r>
          </a:p>
          <a:p>
            <a:pPr lvl="0"/>
            <a:r>
              <a:rPr lang="en-AU" dirty="0"/>
              <a:t>Contractions are often used to create a “chatty/informal” person-to-person tone. </a:t>
            </a:r>
          </a:p>
          <a:p>
            <a:endParaRPr lang="en-AU" dirty="0"/>
          </a:p>
        </p:txBody>
      </p:sp>
    </p:spTree>
    <p:extLst>
      <p:ext uri="{BB962C8B-B14F-4D97-AF65-F5344CB8AC3E}">
        <p14:creationId xmlns:p14="http://schemas.microsoft.com/office/powerpoint/2010/main" val="2621702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047F2-E0CB-4DC3-9EDF-0E74B35048C6}"/>
              </a:ext>
            </a:extLst>
          </p:cNvPr>
          <p:cNvSpPr>
            <a:spLocks noGrp="1"/>
          </p:cNvSpPr>
          <p:nvPr>
            <p:ph type="title"/>
          </p:nvPr>
        </p:nvSpPr>
        <p:spPr/>
        <p:txBody>
          <a:bodyPr>
            <a:normAutofit/>
          </a:bodyPr>
          <a:lstStyle/>
          <a:p>
            <a:r>
              <a:rPr lang="en-AU" b="1" dirty="0"/>
              <a:t>SUBJECT MATTER OF FEATURE ARTICLES</a:t>
            </a:r>
            <a:endParaRPr lang="en-AU" dirty="0"/>
          </a:p>
        </p:txBody>
      </p:sp>
      <p:sp>
        <p:nvSpPr>
          <p:cNvPr id="3" name="Content Placeholder 2">
            <a:extLst>
              <a:ext uri="{FF2B5EF4-FFF2-40B4-BE49-F238E27FC236}">
                <a16:creationId xmlns:a16="http://schemas.microsoft.com/office/drawing/2014/main" id="{122DA46A-1F30-4545-92F2-E7E2875BA780}"/>
              </a:ext>
            </a:extLst>
          </p:cNvPr>
          <p:cNvSpPr>
            <a:spLocks noGrp="1"/>
          </p:cNvSpPr>
          <p:nvPr>
            <p:ph idx="1"/>
          </p:nvPr>
        </p:nvSpPr>
        <p:spPr>
          <a:xfrm>
            <a:off x="685800" y="1908313"/>
            <a:ext cx="7772400" cy="4638261"/>
          </a:xfrm>
        </p:spPr>
        <p:txBody>
          <a:bodyPr>
            <a:normAutofit fontScale="92500" lnSpcReduction="10000"/>
          </a:bodyPr>
          <a:lstStyle/>
          <a:p>
            <a:pPr marL="0" indent="0">
              <a:buNone/>
            </a:pPr>
            <a:r>
              <a:rPr lang="en-AU" dirty="0"/>
              <a:t>Feature Articles are usually longer than News Reports and Columns and are written about a range of topics including:</a:t>
            </a:r>
          </a:p>
          <a:p>
            <a:pPr lvl="0"/>
            <a:r>
              <a:rPr lang="en-AU" dirty="0"/>
              <a:t>Society </a:t>
            </a:r>
          </a:p>
          <a:p>
            <a:pPr lvl="0"/>
            <a:r>
              <a:rPr lang="en-AU" dirty="0"/>
              <a:t>Health </a:t>
            </a:r>
          </a:p>
          <a:p>
            <a:pPr lvl="0"/>
            <a:r>
              <a:rPr lang="en-AU" dirty="0"/>
              <a:t>Food </a:t>
            </a:r>
          </a:p>
          <a:p>
            <a:pPr lvl="0"/>
            <a:r>
              <a:rPr lang="en-AU" dirty="0"/>
              <a:t>Politics </a:t>
            </a:r>
          </a:p>
          <a:p>
            <a:pPr lvl="0"/>
            <a:r>
              <a:rPr lang="en-AU" dirty="0"/>
              <a:t>Entertainment </a:t>
            </a:r>
          </a:p>
          <a:p>
            <a:pPr lvl="0"/>
            <a:r>
              <a:rPr lang="en-AU" dirty="0"/>
              <a:t>Individuals </a:t>
            </a:r>
          </a:p>
          <a:p>
            <a:pPr lvl="0"/>
            <a:r>
              <a:rPr lang="en-AU" dirty="0"/>
              <a:t>The Environment </a:t>
            </a:r>
          </a:p>
          <a:p>
            <a:pPr lvl="0"/>
            <a:r>
              <a:rPr lang="en-AU" dirty="0"/>
              <a:t>Sport </a:t>
            </a:r>
          </a:p>
          <a:p>
            <a:pPr lvl="0"/>
            <a:r>
              <a:rPr lang="en-AU" dirty="0"/>
              <a:t>Economics </a:t>
            </a:r>
          </a:p>
          <a:p>
            <a:pPr lvl="0"/>
            <a:r>
              <a:rPr lang="en-AU" dirty="0"/>
              <a:t>Current Issues </a:t>
            </a:r>
          </a:p>
          <a:p>
            <a:pPr marL="0" indent="0">
              <a:buNone/>
            </a:pPr>
            <a:endParaRPr lang="en-AU" dirty="0"/>
          </a:p>
        </p:txBody>
      </p:sp>
    </p:spTree>
    <p:extLst>
      <p:ext uri="{BB962C8B-B14F-4D97-AF65-F5344CB8AC3E}">
        <p14:creationId xmlns:p14="http://schemas.microsoft.com/office/powerpoint/2010/main" val="15831212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7B5A7-703D-4A8F-9E2E-88ADC046A8E0}"/>
              </a:ext>
            </a:extLst>
          </p:cNvPr>
          <p:cNvSpPr>
            <a:spLocks noGrp="1"/>
          </p:cNvSpPr>
          <p:nvPr>
            <p:ph type="title"/>
          </p:nvPr>
        </p:nvSpPr>
        <p:spPr>
          <a:xfrm>
            <a:off x="685800" y="484632"/>
            <a:ext cx="7772400" cy="867090"/>
          </a:xfrm>
        </p:spPr>
        <p:txBody>
          <a:bodyPr/>
          <a:lstStyle/>
          <a:p>
            <a:r>
              <a:rPr lang="en-AU" b="1" dirty="0"/>
              <a:t>LAYOUT OF FEATURE ARTICLES </a:t>
            </a:r>
            <a:endParaRPr lang="en-AU" dirty="0"/>
          </a:p>
        </p:txBody>
      </p:sp>
      <p:sp>
        <p:nvSpPr>
          <p:cNvPr id="3" name="Content Placeholder 2">
            <a:extLst>
              <a:ext uri="{FF2B5EF4-FFF2-40B4-BE49-F238E27FC236}">
                <a16:creationId xmlns:a16="http://schemas.microsoft.com/office/drawing/2014/main" id="{6D1727B8-1ED7-4D54-B474-ECC914C6B0D8}"/>
              </a:ext>
            </a:extLst>
          </p:cNvPr>
          <p:cNvSpPr>
            <a:spLocks noGrp="1"/>
          </p:cNvSpPr>
          <p:nvPr>
            <p:ph idx="1"/>
          </p:nvPr>
        </p:nvSpPr>
        <p:spPr>
          <a:xfrm>
            <a:off x="685800" y="1603513"/>
            <a:ext cx="7772400" cy="5022573"/>
          </a:xfrm>
        </p:spPr>
        <p:txBody>
          <a:bodyPr>
            <a:normAutofit fontScale="92500" lnSpcReduction="20000"/>
          </a:bodyPr>
          <a:lstStyle/>
          <a:p>
            <a:pPr lvl="0"/>
            <a:r>
              <a:rPr lang="en-AU" dirty="0"/>
              <a:t>Each Feature article has a headline. </a:t>
            </a:r>
          </a:p>
          <a:p>
            <a:pPr lvl="0"/>
            <a:r>
              <a:rPr lang="en-AU" dirty="0"/>
              <a:t>Feature articles generally include a synopsis as part of the </a:t>
            </a:r>
            <a:r>
              <a:rPr lang="en-AU" dirty="0" err="1"/>
              <a:t>byline</a:t>
            </a:r>
            <a:r>
              <a:rPr lang="en-AU" dirty="0"/>
              <a:t>. The synopsis provides the reader with information about the content of the text. It is known as a ‘Write of’ of ‘Stand first’. </a:t>
            </a:r>
          </a:p>
          <a:p>
            <a:pPr lvl="0"/>
            <a:r>
              <a:rPr lang="en-AU" dirty="0"/>
              <a:t>Feature articles include a </a:t>
            </a:r>
            <a:r>
              <a:rPr lang="en-AU" dirty="0" err="1"/>
              <a:t>byline</a:t>
            </a:r>
            <a:r>
              <a:rPr lang="en-AU" dirty="0"/>
              <a:t>. The </a:t>
            </a:r>
            <a:r>
              <a:rPr lang="en-AU" dirty="0" err="1"/>
              <a:t>byline</a:t>
            </a:r>
            <a:r>
              <a:rPr lang="en-AU" dirty="0"/>
              <a:t> states the name of the writer. This is often part of the ‘Write off/ Stand first’ </a:t>
            </a:r>
          </a:p>
          <a:p>
            <a:pPr lvl="0"/>
            <a:r>
              <a:rPr lang="en-AU" dirty="0"/>
              <a:t>A photograph, graphics, illustration or cartoon usually accompanies feature articles. </a:t>
            </a:r>
          </a:p>
          <a:p>
            <a:pPr lvl="0"/>
            <a:r>
              <a:rPr lang="en-AU" dirty="0"/>
              <a:t>The text is written in column format. </a:t>
            </a:r>
          </a:p>
          <a:p>
            <a:pPr lvl="0"/>
            <a:r>
              <a:rPr lang="en-AU" dirty="0"/>
              <a:t>A </a:t>
            </a:r>
            <a:r>
              <a:rPr lang="en-AU" dirty="0" err="1"/>
              <a:t>BreakOut</a:t>
            </a:r>
            <a:r>
              <a:rPr lang="en-AU" dirty="0"/>
              <a:t> Box may support feature articles. A </a:t>
            </a:r>
            <a:r>
              <a:rPr lang="en-AU" dirty="0" err="1"/>
              <a:t>BreakOut</a:t>
            </a:r>
            <a:r>
              <a:rPr lang="en-AU" dirty="0"/>
              <a:t> Box appears next to the news report and provides readers with related factual information about the topic. Information in the </a:t>
            </a:r>
            <a:r>
              <a:rPr lang="en-AU" dirty="0" err="1"/>
              <a:t>BreakOut</a:t>
            </a:r>
            <a:r>
              <a:rPr lang="en-AU" dirty="0"/>
              <a:t> Box includes the use of technical terms, explanations, graphics and statistics. </a:t>
            </a:r>
          </a:p>
          <a:p>
            <a:pPr lvl="0"/>
            <a:r>
              <a:rPr lang="en-AU" dirty="0"/>
              <a:t>Several types and sizes of fonts are used. </a:t>
            </a:r>
          </a:p>
          <a:p>
            <a:pPr lvl="0"/>
            <a:r>
              <a:rPr lang="en-AU" dirty="0"/>
              <a:t>Colour is often used in either the headline and/or photograph(s). </a:t>
            </a:r>
          </a:p>
          <a:p>
            <a:pPr lvl="0"/>
            <a:r>
              <a:rPr lang="en-AU" dirty="0"/>
              <a:t>Feature articles are usually much longer than news reports and may or may not be linked to a current “hard news” event. </a:t>
            </a:r>
          </a:p>
        </p:txBody>
      </p:sp>
    </p:spTree>
    <p:extLst>
      <p:ext uri="{BB962C8B-B14F-4D97-AF65-F5344CB8AC3E}">
        <p14:creationId xmlns:p14="http://schemas.microsoft.com/office/powerpoint/2010/main" val="19807302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4400" dirty="0"/>
              <a:t>Persuasive Techniques</a:t>
            </a:r>
          </a:p>
        </p:txBody>
      </p:sp>
      <p:sp>
        <p:nvSpPr>
          <p:cNvPr id="3" name="Content Placeholder 2"/>
          <p:cNvSpPr>
            <a:spLocks noGrp="1"/>
          </p:cNvSpPr>
          <p:nvPr>
            <p:ph idx="1"/>
          </p:nvPr>
        </p:nvSpPr>
        <p:spPr/>
        <p:txBody>
          <a:bodyPr>
            <a:normAutofit/>
          </a:bodyPr>
          <a:lstStyle/>
          <a:p>
            <a:pPr marL="0" indent="0">
              <a:lnSpc>
                <a:spcPct val="150000"/>
              </a:lnSpc>
              <a:buNone/>
            </a:pPr>
            <a:r>
              <a:rPr lang="en-AU" sz="2400" dirty="0"/>
              <a:t>Feature articles frequently use persuasive techniques to persuade the reader to believe in the writer’s opinion.</a:t>
            </a:r>
          </a:p>
        </p:txBody>
      </p:sp>
    </p:spTree>
    <p:extLst>
      <p:ext uri="{BB962C8B-B14F-4D97-AF65-F5344CB8AC3E}">
        <p14:creationId xmlns:p14="http://schemas.microsoft.com/office/powerpoint/2010/main" val="25572952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783528"/>
            <a:ext cx="7024744" cy="1143000"/>
          </a:xfrm>
        </p:spPr>
        <p:txBody>
          <a:bodyPr>
            <a:normAutofit/>
          </a:bodyPr>
          <a:lstStyle/>
          <a:p>
            <a:pPr algn="ctr"/>
            <a:r>
              <a:rPr lang="en-AU" dirty="0"/>
              <a:t>Persuasive Techniques – AFOREST</a:t>
            </a:r>
          </a:p>
        </p:txBody>
      </p:sp>
      <p:sp>
        <p:nvSpPr>
          <p:cNvPr id="3" name="Content Placeholder 2"/>
          <p:cNvSpPr>
            <a:spLocks noGrp="1"/>
          </p:cNvSpPr>
          <p:nvPr>
            <p:ph idx="1"/>
          </p:nvPr>
        </p:nvSpPr>
        <p:spPr>
          <a:xfrm>
            <a:off x="532661" y="1919796"/>
            <a:ext cx="8096433" cy="4525963"/>
          </a:xfrm>
        </p:spPr>
        <p:txBody>
          <a:bodyPr>
            <a:normAutofit fontScale="85000" lnSpcReduction="20000"/>
          </a:bodyPr>
          <a:lstStyle/>
          <a:p>
            <a:pPr marL="0" indent="0">
              <a:buNone/>
            </a:pPr>
            <a:r>
              <a:rPr lang="en-AU" b="1" dirty="0">
                <a:solidFill>
                  <a:srgbClr val="FF0000"/>
                </a:solidFill>
              </a:rPr>
              <a:t>A few have been added:</a:t>
            </a:r>
          </a:p>
          <a:p>
            <a:pPr marL="0" indent="0">
              <a:buNone/>
            </a:pPr>
            <a:r>
              <a:rPr lang="en-AU" b="1" dirty="0">
                <a:solidFill>
                  <a:srgbClr val="FF0000"/>
                </a:solidFill>
              </a:rPr>
              <a:t>				A</a:t>
            </a:r>
            <a:r>
              <a:rPr lang="en-AU" dirty="0"/>
              <a:t>lliteration</a:t>
            </a:r>
          </a:p>
          <a:p>
            <a:pPr marL="0" indent="0">
              <a:buNone/>
            </a:pPr>
            <a:r>
              <a:rPr lang="en-AU" dirty="0"/>
              <a:t>			                </a:t>
            </a:r>
            <a:r>
              <a:rPr lang="en-AU" b="1" dirty="0">
                <a:solidFill>
                  <a:srgbClr val="FF0000"/>
                </a:solidFill>
              </a:rPr>
              <a:t> A</a:t>
            </a:r>
            <a:r>
              <a:rPr lang="en-AU" dirty="0"/>
              <a:t>ppeal</a:t>
            </a:r>
          </a:p>
          <a:p>
            <a:pPr marL="0" indent="0">
              <a:buNone/>
            </a:pPr>
            <a:r>
              <a:rPr lang="en-AU" dirty="0"/>
              <a:t>				</a:t>
            </a:r>
            <a:r>
              <a:rPr lang="en-AU" b="1" dirty="0">
                <a:solidFill>
                  <a:srgbClr val="FF0000"/>
                </a:solidFill>
              </a:rPr>
              <a:t>A</a:t>
            </a:r>
            <a:r>
              <a:rPr lang="en-AU" dirty="0"/>
              <a:t>djectives</a:t>
            </a:r>
          </a:p>
          <a:p>
            <a:pPr marL="0" indent="0">
              <a:buNone/>
            </a:pPr>
            <a:r>
              <a:rPr lang="en-AU" b="1" dirty="0">
                <a:solidFill>
                  <a:srgbClr val="FF0000"/>
                </a:solidFill>
              </a:rPr>
              <a:t>				F</a:t>
            </a:r>
            <a:r>
              <a:rPr lang="en-AU" dirty="0"/>
              <a:t>acts</a:t>
            </a:r>
          </a:p>
          <a:p>
            <a:pPr marL="0" indent="0">
              <a:buNone/>
            </a:pPr>
            <a:r>
              <a:rPr lang="en-AU" b="1" dirty="0">
                <a:solidFill>
                  <a:srgbClr val="FF0000"/>
                </a:solidFill>
              </a:rPr>
              <a:t>				F</a:t>
            </a:r>
            <a:r>
              <a:rPr lang="en-AU" dirty="0"/>
              <a:t>igurative Language</a:t>
            </a:r>
          </a:p>
          <a:p>
            <a:pPr marL="0" indent="0">
              <a:buNone/>
            </a:pPr>
            <a:r>
              <a:rPr lang="en-AU" b="1" dirty="0">
                <a:solidFill>
                  <a:srgbClr val="FF0000"/>
                </a:solidFill>
              </a:rPr>
              <a:t>				O</a:t>
            </a:r>
            <a:r>
              <a:rPr lang="en-AU" dirty="0"/>
              <a:t>pinion</a:t>
            </a:r>
          </a:p>
          <a:p>
            <a:pPr marL="0" indent="0">
              <a:buNone/>
            </a:pPr>
            <a:r>
              <a:rPr lang="en-AU" b="1" dirty="0">
                <a:solidFill>
                  <a:srgbClr val="FF0000"/>
                </a:solidFill>
              </a:rPr>
              <a:t>				R</a:t>
            </a:r>
            <a:r>
              <a:rPr lang="en-AU" dirty="0"/>
              <a:t>hetorical questions</a:t>
            </a:r>
          </a:p>
          <a:p>
            <a:pPr marL="0" indent="0">
              <a:buNone/>
            </a:pPr>
            <a:r>
              <a:rPr lang="en-AU" b="1" dirty="0">
                <a:solidFill>
                  <a:srgbClr val="FF0000"/>
                </a:solidFill>
              </a:rPr>
              <a:t>				R</a:t>
            </a:r>
            <a:r>
              <a:rPr lang="en-AU" dirty="0"/>
              <a:t>epetition</a:t>
            </a:r>
          </a:p>
          <a:p>
            <a:pPr marL="0" indent="0">
              <a:buNone/>
            </a:pPr>
            <a:r>
              <a:rPr lang="en-AU" b="1" dirty="0">
                <a:solidFill>
                  <a:srgbClr val="FF0000"/>
                </a:solidFill>
              </a:rPr>
              <a:t>				E</a:t>
            </a:r>
            <a:r>
              <a:rPr lang="en-AU" dirty="0"/>
              <a:t>xpert opinion</a:t>
            </a:r>
          </a:p>
          <a:p>
            <a:pPr marL="0" indent="0">
              <a:buNone/>
            </a:pPr>
            <a:r>
              <a:rPr lang="en-AU" b="1" dirty="0">
                <a:solidFill>
                  <a:srgbClr val="FF0000"/>
                </a:solidFill>
              </a:rPr>
              <a:t>				S</a:t>
            </a:r>
            <a:r>
              <a:rPr lang="en-AU" dirty="0"/>
              <a:t>tatistics</a:t>
            </a:r>
          </a:p>
          <a:p>
            <a:pPr marL="0" indent="0">
              <a:buNone/>
            </a:pPr>
            <a:r>
              <a:rPr lang="en-AU" b="1" dirty="0">
                <a:solidFill>
                  <a:srgbClr val="FF0000"/>
                </a:solidFill>
              </a:rPr>
              <a:t>				T</a:t>
            </a:r>
            <a:r>
              <a:rPr lang="en-AU" dirty="0"/>
              <a:t>riplets</a:t>
            </a:r>
          </a:p>
          <a:p>
            <a:pPr marL="0" indent="0">
              <a:buNone/>
            </a:pPr>
            <a:r>
              <a:rPr lang="en-AU" b="1" dirty="0">
                <a:solidFill>
                  <a:srgbClr val="FF0000"/>
                </a:solidFill>
              </a:rPr>
              <a:t>				T</a:t>
            </a:r>
            <a:r>
              <a:rPr lang="en-AU" dirty="0"/>
              <a:t>one</a:t>
            </a:r>
          </a:p>
        </p:txBody>
      </p:sp>
    </p:spTree>
    <p:extLst>
      <p:ext uri="{BB962C8B-B14F-4D97-AF65-F5344CB8AC3E}">
        <p14:creationId xmlns:p14="http://schemas.microsoft.com/office/powerpoint/2010/main" val="2066073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i="1" dirty="0"/>
              <a:t>Alliteration</a:t>
            </a:r>
          </a:p>
        </p:txBody>
      </p:sp>
      <p:sp>
        <p:nvSpPr>
          <p:cNvPr id="3" name="Content Placeholder 2"/>
          <p:cNvSpPr>
            <a:spLocks noGrp="1"/>
          </p:cNvSpPr>
          <p:nvPr>
            <p:ph idx="1"/>
          </p:nvPr>
        </p:nvSpPr>
        <p:spPr/>
        <p:txBody>
          <a:bodyPr/>
          <a:lstStyle/>
          <a:p>
            <a:pPr marL="68580" indent="0">
              <a:buNone/>
            </a:pPr>
            <a:r>
              <a:rPr lang="en-AU" dirty="0">
                <a:solidFill>
                  <a:srgbClr val="FF0000"/>
                </a:solidFill>
              </a:rPr>
              <a:t>Alliteration</a:t>
            </a:r>
            <a:r>
              <a:rPr lang="en-AU" dirty="0"/>
              <a:t> – When two or more words are used closely together starting with the same consonant sound</a:t>
            </a:r>
          </a:p>
          <a:p>
            <a:endParaRPr lang="en-AU" dirty="0"/>
          </a:p>
          <a:p>
            <a:pPr marL="68580" indent="0">
              <a:buNone/>
            </a:pPr>
            <a:r>
              <a:rPr lang="en-AU" i="1" dirty="0" err="1"/>
              <a:t>Eg</a:t>
            </a:r>
            <a:r>
              <a:rPr lang="en-AU" i="1" dirty="0"/>
              <a:t>. Sam sold seven sizzling sausages.</a:t>
            </a:r>
          </a:p>
        </p:txBody>
      </p:sp>
    </p:spTree>
    <p:extLst>
      <p:ext uri="{BB962C8B-B14F-4D97-AF65-F5344CB8AC3E}">
        <p14:creationId xmlns:p14="http://schemas.microsoft.com/office/powerpoint/2010/main" val="28495294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Appeal</a:t>
            </a:r>
          </a:p>
        </p:txBody>
      </p:sp>
      <p:sp>
        <p:nvSpPr>
          <p:cNvPr id="3" name="Content Placeholder 2"/>
          <p:cNvSpPr>
            <a:spLocks noGrp="1"/>
          </p:cNvSpPr>
          <p:nvPr>
            <p:ph idx="1"/>
          </p:nvPr>
        </p:nvSpPr>
        <p:spPr/>
        <p:txBody>
          <a:bodyPr/>
          <a:lstStyle/>
          <a:p>
            <a:pPr marL="68580" indent="0">
              <a:buNone/>
            </a:pPr>
            <a:r>
              <a:rPr lang="en-AU" dirty="0">
                <a:solidFill>
                  <a:srgbClr val="FF0000"/>
                </a:solidFill>
              </a:rPr>
              <a:t>Appeal</a:t>
            </a:r>
            <a:r>
              <a:rPr lang="en-AU" dirty="0"/>
              <a:t> – Appeal to the values of the target audience.  </a:t>
            </a:r>
          </a:p>
          <a:p>
            <a:pPr marL="68580" indent="0">
              <a:buNone/>
            </a:pPr>
            <a:endParaRPr lang="en-AU" dirty="0"/>
          </a:p>
          <a:p>
            <a:pPr marL="68580" indent="0">
              <a:buNone/>
            </a:pPr>
            <a:r>
              <a:rPr lang="en-AU" dirty="0"/>
              <a:t>E.g. appeal to family values – “How could a parent abandon their own child?”</a:t>
            </a:r>
          </a:p>
        </p:txBody>
      </p:sp>
    </p:spTree>
    <p:extLst>
      <p:ext uri="{BB962C8B-B14F-4D97-AF65-F5344CB8AC3E}">
        <p14:creationId xmlns:p14="http://schemas.microsoft.com/office/powerpoint/2010/main" val="2603877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i="1" dirty="0"/>
              <a:t>Adjectives</a:t>
            </a:r>
          </a:p>
        </p:txBody>
      </p:sp>
      <p:sp>
        <p:nvSpPr>
          <p:cNvPr id="3" name="Content Placeholder 2"/>
          <p:cNvSpPr>
            <a:spLocks noGrp="1"/>
          </p:cNvSpPr>
          <p:nvPr>
            <p:ph idx="1"/>
          </p:nvPr>
        </p:nvSpPr>
        <p:spPr/>
        <p:txBody>
          <a:bodyPr/>
          <a:lstStyle/>
          <a:p>
            <a:pPr marL="68580" indent="0">
              <a:buNone/>
            </a:pPr>
            <a:r>
              <a:rPr lang="en-AU" dirty="0">
                <a:solidFill>
                  <a:srgbClr val="FF0000"/>
                </a:solidFill>
              </a:rPr>
              <a:t>Adjectives </a:t>
            </a:r>
            <a:r>
              <a:rPr lang="en-AU" dirty="0"/>
              <a:t>– Words that describe nouns</a:t>
            </a:r>
          </a:p>
          <a:p>
            <a:endParaRPr lang="en-AU" dirty="0"/>
          </a:p>
          <a:p>
            <a:pPr marL="0" indent="0">
              <a:buNone/>
            </a:pPr>
            <a:r>
              <a:rPr lang="en-AU" i="1" dirty="0"/>
              <a:t>E.g. Incredibly, tremendous, disastrous.</a:t>
            </a:r>
          </a:p>
        </p:txBody>
      </p:sp>
    </p:spTree>
    <p:extLst>
      <p:ext uri="{BB962C8B-B14F-4D97-AF65-F5344CB8AC3E}">
        <p14:creationId xmlns:p14="http://schemas.microsoft.com/office/powerpoint/2010/main" val="203883602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i="1" dirty="0"/>
              <a:t>Facts</a:t>
            </a:r>
          </a:p>
        </p:txBody>
      </p:sp>
      <p:sp>
        <p:nvSpPr>
          <p:cNvPr id="3" name="Content Placeholder 2"/>
          <p:cNvSpPr>
            <a:spLocks noGrp="1"/>
          </p:cNvSpPr>
          <p:nvPr>
            <p:ph idx="1"/>
          </p:nvPr>
        </p:nvSpPr>
        <p:spPr/>
        <p:txBody>
          <a:bodyPr>
            <a:normAutofit/>
          </a:bodyPr>
          <a:lstStyle/>
          <a:p>
            <a:pPr marL="68580" indent="0">
              <a:buNone/>
            </a:pPr>
            <a:r>
              <a:rPr lang="en-AU" dirty="0">
                <a:solidFill>
                  <a:srgbClr val="FF0000"/>
                </a:solidFill>
              </a:rPr>
              <a:t>Facts</a:t>
            </a:r>
            <a:r>
              <a:rPr lang="en-AU" dirty="0"/>
              <a:t> – Pieces of information that have been proven to be true</a:t>
            </a:r>
          </a:p>
          <a:p>
            <a:pPr marL="68580" indent="0">
              <a:buNone/>
            </a:pPr>
            <a:endParaRPr lang="en-AU" dirty="0"/>
          </a:p>
          <a:p>
            <a:pPr marL="68580" indent="0">
              <a:buNone/>
            </a:pPr>
            <a:r>
              <a:rPr lang="en-AU" i="1" dirty="0" err="1"/>
              <a:t>Eg</a:t>
            </a:r>
            <a:r>
              <a:rPr lang="en-AU" i="1" dirty="0"/>
              <a:t>. A baby spider is called a spiderling.</a:t>
            </a:r>
          </a:p>
          <a:p>
            <a:pPr marL="0" indent="0">
              <a:buNone/>
            </a:pPr>
            <a:r>
              <a:rPr lang="en-AU" i="1" dirty="0"/>
              <a:t> </a:t>
            </a:r>
          </a:p>
        </p:txBody>
      </p:sp>
    </p:spTree>
    <p:extLst>
      <p:ext uri="{BB962C8B-B14F-4D97-AF65-F5344CB8AC3E}">
        <p14:creationId xmlns:p14="http://schemas.microsoft.com/office/powerpoint/2010/main" val="344009559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i="1" dirty="0"/>
              <a:t>Figurative Language</a:t>
            </a:r>
          </a:p>
        </p:txBody>
      </p:sp>
      <p:sp>
        <p:nvSpPr>
          <p:cNvPr id="3" name="Content Placeholder 2"/>
          <p:cNvSpPr>
            <a:spLocks noGrp="1"/>
          </p:cNvSpPr>
          <p:nvPr>
            <p:ph idx="1"/>
          </p:nvPr>
        </p:nvSpPr>
        <p:spPr/>
        <p:txBody>
          <a:bodyPr>
            <a:normAutofit/>
          </a:bodyPr>
          <a:lstStyle/>
          <a:p>
            <a:pPr marL="0" indent="0">
              <a:buNone/>
            </a:pPr>
            <a:r>
              <a:rPr lang="en-AU" dirty="0">
                <a:solidFill>
                  <a:srgbClr val="FF0000"/>
                </a:solidFill>
              </a:rPr>
              <a:t>Figurative Language</a:t>
            </a:r>
            <a:r>
              <a:rPr lang="en-AU" dirty="0"/>
              <a:t> – a way of writing or speaking that creates images in the mind and appeals to the senses.</a:t>
            </a:r>
          </a:p>
          <a:p>
            <a:pPr marL="0" indent="0">
              <a:buNone/>
            </a:pPr>
            <a:endParaRPr lang="en-AU" dirty="0"/>
          </a:p>
          <a:p>
            <a:pPr marL="68580" indent="0">
              <a:buNone/>
            </a:pPr>
            <a:r>
              <a:rPr lang="en-AU" i="1" dirty="0" err="1"/>
              <a:t>Eg</a:t>
            </a:r>
            <a:r>
              <a:rPr lang="en-AU" i="1" dirty="0"/>
              <a:t>. People ran like cheetahs to escape from the</a:t>
            </a:r>
            <a:br>
              <a:rPr lang="en-AU" i="1" dirty="0"/>
            </a:br>
            <a:r>
              <a:rPr lang="en-AU" i="1" dirty="0"/>
              <a:t>attack.</a:t>
            </a:r>
          </a:p>
          <a:p>
            <a:pPr marL="0" indent="0">
              <a:buNone/>
            </a:pPr>
            <a:r>
              <a:rPr lang="en-AU" i="1" dirty="0"/>
              <a:t> </a:t>
            </a:r>
          </a:p>
        </p:txBody>
      </p:sp>
      <p:sp>
        <p:nvSpPr>
          <p:cNvPr id="9" name="Control 3"/>
          <p:cNvSpPr>
            <a:spLocks noChangeArrowheads="1" noChangeShapeType="1"/>
          </p:cNvSpPr>
          <p:nvPr/>
        </p:nvSpPr>
        <p:spPr bwMode="auto">
          <a:xfrm>
            <a:off x="3885111" y="5421466"/>
            <a:ext cx="1774825" cy="1279525"/>
          </a:xfrm>
          <a:prstGeom prst="rect">
            <a:avLst/>
          </a:prstGeom>
          <a:noFill/>
          <a:ln>
            <a:noFill/>
          </a:ln>
          <a:effectLst/>
          <a:extLst>
            <a:ext uri="{91240B29-F687-4F45-9708-019B960494DF}">
              <a14:hiddenLine xmlns:a14="http://schemas.microsoft.com/office/drawing/2010/main" w="25400">
                <a:no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0" tIns="0" rIns="0" bIns="0" numCol="1" anchor="t" anchorCtr="0" compatLnSpc="1">
            <a:prstTxWarp prst="textNoShape">
              <a:avLst/>
            </a:prstTxWarp>
          </a:bodyPr>
          <a:lstStyle/>
          <a:p>
            <a:endParaRPr lang="en-AU"/>
          </a:p>
        </p:txBody>
      </p:sp>
    </p:spTree>
    <p:extLst>
      <p:ext uri="{BB962C8B-B14F-4D97-AF65-F5344CB8AC3E}">
        <p14:creationId xmlns:p14="http://schemas.microsoft.com/office/powerpoint/2010/main" val="91382520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i="1" dirty="0"/>
              <a:t>Opinion</a:t>
            </a:r>
          </a:p>
        </p:txBody>
      </p:sp>
      <p:sp>
        <p:nvSpPr>
          <p:cNvPr id="3" name="Content Placeholder 2"/>
          <p:cNvSpPr>
            <a:spLocks noGrp="1"/>
          </p:cNvSpPr>
          <p:nvPr>
            <p:ph idx="1"/>
          </p:nvPr>
        </p:nvSpPr>
        <p:spPr/>
        <p:txBody>
          <a:bodyPr/>
          <a:lstStyle/>
          <a:p>
            <a:pPr marL="0" indent="0">
              <a:buNone/>
            </a:pPr>
            <a:r>
              <a:rPr lang="en-AU" dirty="0">
                <a:solidFill>
                  <a:srgbClr val="FF0000"/>
                </a:solidFill>
              </a:rPr>
              <a:t>Opinion</a:t>
            </a:r>
            <a:r>
              <a:rPr lang="en-AU" dirty="0"/>
              <a:t> – Thoughts, feelings and pieces of information that have not proven to be true.</a:t>
            </a:r>
          </a:p>
          <a:p>
            <a:pPr marL="0" indent="0">
              <a:buNone/>
            </a:pPr>
            <a:endParaRPr lang="en-AU" i="1" dirty="0"/>
          </a:p>
          <a:p>
            <a:pPr marL="68580" indent="0">
              <a:buNone/>
            </a:pPr>
            <a:r>
              <a:rPr lang="en-AU" i="1" dirty="0" err="1"/>
              <a:t>Eg</a:t>
            </a:r>
            <a:r>
              <a:rPr lang="en-AU" i="1" dirty="0"/>
              <a:t>. Johnny said “We could save lots of money by getting rid of plastic bags”.</a:t>
            </a:r>
          </a:p>
        </p:txBody>
      </p:sp>
    </p:spTree>
    <p:extLst>
      <p:ext uri="{BB962C8B-B14F-4D97-AF65-F5344CB8AC3E}">
        <p14:creationId xmlns:p14="http://schemas.microsoft.com/office/powerpoint/2010/main" val="88817078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i="1" dirty="0"/>
              <a:t>Rhetorical Questions</a:t>
            </a:r>
          </a:p>
        </p:txBody>
      </p:sp>
      <p:sp>
        <p:nvSpPr>
          <p:cNvPr id="3" name="Content Placeholder 2"/>
          <p:cNvSpPr>
            <a:spLocks noGrp="1"/>
          </p:cNvSpPr>
          <p:nvPr>
            <p:ph idx="1"/>
          </p:nvPr>
        </p:nvSpPr>
        <p:spPr/>
        <p:txBody>
          <a:bodyPr>
            <a:normAutofit/>
          </a:bodyPr>
          <a:lstStyle/>
          <a:p>
            <a:pPr marL="68580" indent="0">
              <a:buNone/>
            </a:pPr>
            <a:r>
              <a:rPr lang="en-AU" dirty="0">
                <a:solidFill>
                  <a:srgbClr val="FF0000"/>
                </a:solidFill>
              </a:rPr>
              <a:t>Rhetorical question </a:t>
            </a:r>
            <a:r>
              <a:rPr lang="en-AU" dirty="0"/>
              <a:t>– Questions asked that do not require an answer; used to leave the person thinking</a:t>
            </a:r>
          </a:p>
          <a:p>
            <a:pPr marL="0" indent="0">
              <a:buNone/>
            </a:pPr>
            <a:endParaRPr lang="en-AU" dirty="0"/>
          </a:p>
          <a:p>
            <a:pPr marL="68580" indent="0">
              <a:buNone/>
            </a:pPr>
            <a:r>
              <a:rPr lang="en-AU" i="1" dirty="0" err="1"/>
              <a:t>Eg</a:t>
            </a:r>
            <a:r>
              <a:rPr lang="en-AU" i="1" dirty="0"/>
              <a:t>. How would you feel if you had to sleep in a kennel outside?</a:t>
            </a:r>
          </a:p>
        </p:txBody>
      </p:sp>
    </p:spTree>
    <p:extLst>
      <p:ext uri="{BB962C8B-B14F-4D97-AF65-F5344CB8AC3E}">
        <p14:creationId xmlns:p14="http://schemas.microsoft.com/office/powerpoint/2010/main" val="138809756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i="1" dirty="0"/>
              <a:t>Repetition</a:t>
            </a:r>
          </a:p>
        </p:txBody>
      </p:sp>
      <p:sp>
        <p:nvSpPr>
          <p:cNvPr id="3" name="Content Placeholder 2"/>
          <p:cNvSpPr>
            <a:spLocks noGrp="1"/>
          </p:cNvSpPr>
          <p:nvPr>
            <p:ph idx="1"/>
          </p:nvPr>
        </p:nvSpPr>
        <p:spPr/>
        <p:txBody>
          <a:bodyPr>
            <a:normAutofit/>
          </a:bodyPr>
          <a:lstStyle/>
          <a:p>
            <a:pPr marL="68580" indent="0">
              <a:buNone/>
            </a:pPr>
            <a:r>
              <a:rPr lang="en-AU" dirty="0">
                <a:solidFill>
                  <a:srgbClr val="FF0000"/>
                </a:solidFill>
              </a:rPr>
              <a:t>Repetition</a:t>
            </a:r>
            <a:r>
              <a:rPr lang="en-AU" dirty="0"/>
              <a:t> – When a fact or opinion is said more than once for effect</a:t>
            </a:r>
          </a:p>
          <a:p>
            <a:pPr marL="0" indent="0">
              <a:buNone/>
            </a:pPr>
            <a:endParaRPr lang="en-AU" dirty="0"/>
          </a:p>
          <a:p>
            <a:pPr marL="68580" indent="0">
              <a:buNone/>
            </a:pPr>
            <a:r>
              <a:rPr lang="en-AU" i="1" dirty="0" err="1"/>
              <a:t>Eg</a:t>
            </a:r>
            <a:r>
              <a:rPr lang="en-AU" i="1" dirty="0"/>
              <a:t>. School starts at 8:35am. At 8:35am, a siren will signal the start of school.</a:t>
            </a:r>
          </a:p>
          <a:p>
            <a:pPr marL="68580" indent="0">
              <a:buNone/>
            </a:pPr>
            <a:endParaRPr lang="en-AU" dirty="0"/>
          </a:p>
        </p:txBody>
      </p:sp>
    </p:spTree>
    <p:extLst>
      <p:ext uri="{BB962C8B-B14F-4D97-AF65-F5344CB8AC3E}">
        <p14:creationId xmlns:p14="http://schemas.microsoft.com/office/powerpoint/2010/main" val="358433700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i="1" dirty="0"/>
              <a:t>Expert Opinion</a:t>
            </a:r>
          </a:p>
        </p:txBody>
      </p:sp>
      <p:sp>
        <p:nvSpPr>
          <p:cNvPr id="3" name="Content Placeholder 2"/>
          <p:cNvSpPr>
            <a:spLocks noGrp="1"/>
          </p:cNvSpPr>
          <p:nvPr>
            <p:ph idx="1"/>
          </p:nvPr>
        </p:nvSpPr>
        <p:spPr/>
        <p:txBody>
          <a:bodyPr/>
          <a:lstStyle/>
          <a:p>
            <a:pPr marL="68580" indent="0">
              <a:buNone/>
            </a:pPr>
            <a:r>
              <a:rPr lang="en-AU" dirty="0">
                <a:solidFill>
                  <a:srgbClr val="FF0000"/>
                </a:solidFill>
              </a:rPr>
              <a:t>Expert opinion </a:t>
            </a:r>
            <a:r>
              <a:rPr lang="en-AU" dirty="0"/>
              <a:t>– Thoughts, feelings and judgements made by a professional in the field of study</a:t>
            </a:r>
          </a:p>
          <a:p>
            <a:pPr marL="68580" indent="0">
              <a:buNone/>
            </a:pPr>
            <a:endParaRPr lang="en-AU" dirty="0"/>
          </a:p>
          <a:p>
            <a:pPr marL="68580" indent="0">
              <a:buNone/>
            </a:pPr>
            <a:r>
              <a:rPr lang="en-AU" i="1" dirty="0" err="1"/>
              <a:t>Eg</a:t>
            </a:r>
            <a:r>
              <a:rPr lang="en-AU" i="1" dirty="0"/>
              <a:t>. Dentists from DB Dental suggest brushing your teeth regularly will help in avoiding cavities.</a:t>
            </a:r>
          </a:p>
        </p:txBody>
      </p:sp>
    </p:spTree>
    <p:extLst>
      <p:ext uri="{BB962C8B-B14F-4D97-AF65-F5344CB8AC3E}">
        <p14:creationId xmlns:p14="http://schemas.microsoft.com/office/powerpoint/2010/main" val="136600198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i="1" dirty="0"/>
              <a:t>Statistics</a:t>
            </a:r>
          </a:p>
        </p:txBody>
      </p:sp>
      <p:sp>
        <p:nvSpPr>
          <p:cNvPr id="3" name="Content Placeholder 2"/>
          <p:cNvSpPr>
            <a:spLocks noGrp="1"/>
          </p:cNvSpPr>
          <p:nvPr>
            <p:ph idx="1"/>
          </p:nvPr>
        </p:nvSpPr>
        <p:spPr/>
        <p:txBody>
          <a:bodyPr/>
          <a:lstStyle/>
          <a:p>
            <a:pPr marL="68580" indent="0">
              <a:buNone/>
            </a:pPr>
            <a:r>
              <a:rPr lang="en-AU" dirty="0">
                <a:solidFill>
                  <a:srgbClr val="FF0000"/>
                </a:solidFill>
              </a:rPr>
              <a:t>Statistics</a:t>
            </a:r>
            <a:r>
              <a:rPr lang="en-AU" dirty="0"/>
              <a:t> – Numerical data proving a point or supporting a piece of information</a:t>
            </a:r>
          </a:p>
          <a:p>
            <a:pPr marL="68580" indent="0">
              <a:buNone/>
            </a:pPr>
            <a:endParaRPr lang="en-AU" dirty="0"/>
          </a:p>
          <a:p>
            <a:pPr marL="68580" indent="0">
              <a:buNone/>
            </a:pPr>
            <a:r>
              <a:rPr lang="en-AU" i="1" dirty="0" err="1"/>
              <a:t>Eg</a:t>
            </a:r>
            <a:r>
              <a:rPr lang="en-AU" i="1" dirty="0"/>
              <a:t>. Around 70% of the human body is made up of water.</a:t>
            </a:r>
          </a:p>
        </p:txBody>
      </p:sp>
    </p:spTree>
    <p:extLst>
      <p:ext uri="{BB962C8B-B14F-4D97-AF65-F5344CB8AC3E}">
        <p14:creationId xmlns:p14="http://schemas.microsoft.com/office/powerpoint/2010/main" val="35407176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i="1" dirty="0"/>
              <a:t>Triplets	</a:t>
            </a:r>
          </a:p>
        </p:txBody>
      </p:sp>
      <p:sp>
        <p:nvSpPr>
          <p:cNvPr id="3" name="Content Placeholder 2"/>
          <p:cNvSpPr>
            <a:spLocks noGrp="1"/>
          </p:cNvSpPr>
          <p:nvPr>
            <p:ph idx="1"/>
          </p:nvPr>
        </p:nvSpPr>
        <p:spPr/>
        <p:txBody>
          <a:bodyPr/>
          <a:lstStyle/>
          <a:p>
            <a:pPr marL="68580" indent="0">
              <a:buNone/>
            </a:pPr>
            <a:r>
              <a:rPr lang="en-AU" dirty="0">
                <a:solidFill>
                  <a:srgbClr val="FF0000"/>
                </a:solidFill>
              </a:rPr>
              <a:t>Triplets</a:t>
            </a:r>
            <a:r>
              <a:rPr lang="en-AU" dirty="0"/>
              <a:t> – When one word is used three times to emphasise a point</a:t>
            </a:r>
          </a:p>
          <a:p>
            <a:pPr marL="0" indent="0">
              <a:buNone/>
            </a:pPr>
            <a:endParaRPr lang="en-AU" dirty="0"/>
          </a:p>
          <a:p>
            <a:pPr marL="68580" indent="0">
              <a:buNone/>
            </a:pPr>
            <a:r>
              <a:rPr lang="en-AU" i="1" dirty="0" err="1"/>
              <a:t>Eg</a:t>
            </a:r>
            <a:r>
              <a:rPr lang="en-AU" i="1" dirty="0"/>
              <a:t>. It is terrible for the teachers, terrible for the students and terrible for the parents!</a:t>
            </a:r>
          </a:p>
        </p:txBody>
      </p:sp>
    </p:spTree>
    <p:extLst>
      <p:ext uri="{BB962C8B-B14F-4D97-AF65-F5344CB8AC3E}">
        <p14:creationId xmlns:p14="http://schemas.microsoft.com/office/powerpoint/2010/main" val="186142776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i="1" dirty="0"/>
              <a:t>Tone</a:t>
            </a:r>
          </a:p>
        </p:txBody>
      </p:sp>
      <p:sp>
        <p:nvSpPr>
          <p:cNvPr id="3" name="Content Placeholder 2"/>
          <p:cNvSpPr>
            <a:spLocks noGrp="1"/>
          </p:cNvSpPr>
          <p:nvPr>
            <p:ph idx="1"/>
          </p:nvPr>
        </p:nvSpPr>
        <p:spPr/>
        <p:txBody>
          <a:bodyPr/>
          <a:lstStyle/>
          <a:p>
            <a:pPr marL="68580" indent="0">
              <a:buNone/>
            </a:pPr>
            <a:r>
              <a:rPr lang="en-AU" dirty="0">
                <a:solidFill>
                  <a:srgbClr val="FF0000"/>
                </a:solidFill>
              </a:rPr>
              <a:t>Tone</a:t>
            </a:r>
            <a:r>
              <a:rPr lang="en-AU" dirty="0"/>
              <a:t> – The emotion behind the way the text is written</a:t>
            </a:r>
          </a:p>
          <a:p>
            <a:pPr marL="68580" indent="0">
              <a:buNone/>
            </a:pPr>
            <a:endParaRPr lang="en-AU" dirty="0"/>
          </a:p>
          <a:p>
            <a:pPr marL="0" indent="0">
              <a:buNone/>
            </a:pPr>
            <a:r>
              <a:rPr lang="en-AU" i="1" dirty="0" err="1"/>
              <a:t>Eg</a:t>
            </a:r>
            <a:r>
              <a:rPr lang="en-AU" i="1" dirty="0"/>
              <a:t>. Formal, Informal, Emotive.</a:t>
            </a:r>
          </a:p>
          <a:p>
            <a:pPr marL="0" indent="0">
              <a:buNone/>
            </a:pPr>
            <a:endParaRPr lang="en-AU" dirty="0"/>
          </a:p>
          <a:p>
            <a:pPr marL="0" indent="0">
              <a:buNone/>
            </a:pPr>
            <a:endParaRPr lang="en-AU" dirty="0"/>
          </a:p>
        </p:txBody>
      </p:sp>
    </p:spTree>
    <p:extLst>
      <p:ext uri="{BB962C8B-B14F-4D97-AF65-F5344CB8AC3E}">
        <p14:creationId xmlns:p14="http://schemas.microsoft.com/office/powerpoint/2010/main" val="298412004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619</TotalTime>
  <Words>1284</Words>
  <Application>Microsoft Office PowerPoint</Application>
  <PresentationFormat>On-screen Show (4:3)</PresentationFormat>
  <Paragraphs>167</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American Typewriter</vt:lpstr>
      <vt:lpstr>Cambria</vt:lpstr>
      <vt:lpstr>Rockwell</vt:lpstr>
      <vt:lpstr>Rockwell Condensed</vt:lpstr>
      <vt:lpstr>Wingdings</vt:lpstr>
      <vt:lpstr>Wood Type</vt:lpstr>
      <vt:lpstr>Feature Articles</vt:lpstr>
      <vt:lpstr>What is a feature article?</vt:lpstr>
      <vt:lpstr>PowerPoint Presentation</vt:lpstr>
      <vt:lpstr>Characteristics of a Feature Article</vt:lpstr>
      <vt:lpstr>PURPOSE:</vt:lpstr>
      <vt:lpstr>Structure of Feature Articles</vt:lpstr>
      <vt:lpstr>LEADS</vt:lpstr>
      <vt:lpstr>TRANSITIONS</vt:lpstr>
      <vt:lpstr>ENDINGS</vt:lpstr>
      <vt:lpstr>Types of Leads</vt:lpstr>
      <vt:lpstr>PowerPoint Presentation</vt:lpstr>
      <vt:lpstr>LANGUAGE AND GRAMMATICAL CHARACTERISTICS OF FEATURE ARTICLES</vt:lpstr>
      <vt:lpstr>SUBJECT MATTER OF FEATURE ARTICLES</vt:lpstr>
      <vt:lpstr>LAYOUT OF FEATURE ARTICLES </vt:lpstr>
      <vt:lpstr>Persuasive Techniques</vt:lpstr>
      <vt:lpstr>Persuasive Techniques – AFOREST</vt:lpstr>
      <vt:lpstr>Alliteration</vt:lpstr>
      <vt:lpstr>Appeal</vt:lpstr>
      <vt:lpstr>Adjectives</vt:lpstr>
      <vt:lpstr>Facts</vt:lpstr>
      <vt:lpstr>Figurative Language</vt:lpstr>
      <vt:lpstr>Opinion</vt:lpstr>
      <vt:lpstr>Rhetorical Questions</vt:lpstr>
      <vt:lpstr>Repetition</vt:lpstr>
      <vt:lpstr>Expert Opinion</vt:lpstr>
      <vt:lpstr>Statistics</vt:lpstr>
      <vt:lpstr>Triplets </vt:lpstr>
      <vt:lpstr>Tone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Feature Articles</dc:title>
  <dc:creator>Bradley Chester</dc:creator>
  <cp:lastModifiedBy>PAYNE Hayden [Narrogin Senior High School]</cp:lastModifiedBy>
  <cp:revision>27</cp:revision>
  <dcterms:created xsi:type="dcterms:W3CDTF">2014-08-06T03:41:02Z</dcterms:created>
  <dcterms:modified xsi:type="dcterms:W3CDTF">2019-09-04T03:00:59Z</dcterms:modified>
</cp:coreProperties>
</file>
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71" r:id="rId9"/>
    <p:sldId id="266" r:id="rId10"/>
    <p:sldId id="270" r:id="rId11"/>
    <p:sldId id="268" r:id="rId12"/>
    <p:sldId id="269" r:id="rId13"/>
    <p:sldId id="272" r:id="rId14"/>
    <p:sldId id="273" r:id="rId15"/>
    <p:sldId id="274" r:id="rId16"/>
    <p:sldId id="275" r:id="rId17"/>
    <p:sldId id="276" r:id="rId18"/>
    <p:sldId id="277" r:id="rId19"/>
    <p:sldId id="278" r:id="rId20"/>
    <p:sldId id="279" r:id="rId21"/>
    <p:sldId id="28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9" d="100"/>
          <a:sy n="109" d="100"/>
        </p:scale>
        <p:origin x="167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B35839ED-5F7D-4502-B395-02EBD599BF7B}" type="datetimeFigureOut">
              <a:rPr lang="en-AU" smtClean="0"/>
              <a:pPr/>
              <a:t>5/02/2019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35839ED-5F7D-4502-B395-02EBD599BF7B}" type="datetimeFigureOut">
              <a:rPr lang="en-AU" smtClean="0"/>
              <a:pPr/>
              <a:t>5/02/2019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35839ED-5F7D-4502-B395-02EBD599BF7B}" type="datetimeFigureOut">
              <a:rPr lang="en-AU" smtClean="0"/>
              <a:pPr/>
              <a:t>5/02/2019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B35839ED-5F7D-4502-B395-02EBD599BF7B}" type="datetimeFigureOut">
              <a:rPr lang="en-AU" smtClean="0"/>
              <a:pPr/>
              <a:t>5/02/2019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B35839ED-5F7D-4502-B395-02EBD599BF7B}" type="datetimeFigureOut">
              <a:rPr lang="en-AU" smtClean="0"/>
              <a:pPr/>
              <a:t>5/02/2019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B35839ED-5F7D-4502-B395-02EBD599BF7B}" type="datetimeFigureOut">
              <a:rPr lang="en-AU" smtClean="0"/>
              <a:pPr/>
              <a:t>5/02/2019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5839ED-5F7D-4502-B395-02EBD599BF7B}" type="datetimeFigureOut">
              <a:rPr lang="en-AU" smtClean="0"/>
              <a:pPr/>
              <a:t>5/02/2019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5839ED-5F7D-4502-B395-02EBD599BF7B}" type="datetimeFigureOut">
              <a:rPr lang="en-AU" smtClean="0"/>
              <a:pPr/>
              <a:t>5/02/2019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35839ED-5F7D-4502-B395-02EBD599BF7B}" type="datetimeFigureOut">
              <a:rPr lang="en-AU" smtClean="0"/>
              <a:pPr/>
              <a:t>5/02/2019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35839ED-5F7D-4502-B395-02EBD599BF7B}" type="datetimeFigureOut">
              <a:rPr lang="en-AU" smtClean="0"/>
              <a:pPr/>
              <a:t>5/02/2019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B35839ED-5F7D-4502-B395-02EBD599BF7B}" type="datetimeFigureOut">
              <a:rPr lang="en-AU" smtClean="0"/>
              <a:pPr/>
              <a:t>5/02/2019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8713A21-C602-42BF-8478-FF6A20F8A16B}" type="slidenum">
              <a:rPr lang="en-AU" smtClean="0"/>
              <a:pPr/>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5839ED-5F7D-4502-B395-02EBD599BF7B}" type="datetimeFigureOut">
              <a:rPr lang="en-AU" smtClean="0"/>
              <a:pPr/>
              <a:t>5/02/2019</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8713A21-C602-42BF-8478-FF6A20F8A16B}" type="slidenum">
              <a:rPr lang="en-AU" smtClean="0"/>
              <a:pPr/>
              <a:t>‹#›</a:t>
            </a:fld>
            <a:endParaRPr lang="en-A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cs typeface="Aharoni" pitchFamily="2" charset="-79"/>
              </a:rPr>
              <a:t>Audience, purpose, context</a:t>
            </a:r>
            <a:endParaRPr lang="en-AU" dirty="0">
              <a:cs typeface="Aharoni" pitchFamily="2" charset="-79"/>
            </a:endParaRPr>
          </a:p>
        </p:txBody>
      </p:sp>
      <p:sp>
        <p:nvSpPr>
          <p:cNvPr id="3" name="Subtitle 2"/>
          <p:cNvSpPr>
            <a:spLocks noGrp="1"/>
          </p:cNvSpPr>
          <p:nvPr>
            <p:ph type="subTitle" idx="1"/>
          </p:nvPr>
        </p:nvSpPr>
        <p:spPr/>
        <p:txBody>
          <a:bodyPr/>
          <a:lstStyle/>
          <a:p>
            <a:endParaRPr lang="en-AU"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Audience, purpose, context</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latin typeface="Arial" pitchFamily="34" charset="0"/>
                <a:cs typeface="Arial" pitchFamily="34" charset="0"/>
              </a:rPr>
              <a:t>Every text (film, article, short story, novel, advertisement, newspaper, website, </a:t>
            </a:r>
            <a:r>
              <a:rPr lang="en-AU" dirty="0" err="1" smtClean="0">
                <a:latin typeface="Arial" pitchFamily="34" charset="0"/>
                <a:cs typeface="Arial" pitchFamily="34" charset="0"/>
              </a:rPr>
              <a:t>Snapchat</a:t>
            </a:r>
            <a:r>
              <a:rPr lang="en-AU" dirty="0" smtClean="0">
                <a:latin typeface="Arial" pitchFamily="34" charset="0"/>
                <a:cs typeface="Arial" pitchFamily="34" charset="0"/>
              </a:rPr>
              <a:t>, YouTube video, etc.) is created with a specific audience in mind. A text can be created and received in different contexts.</a:t>
            </a:r>
          </a:p>
          <a:p>
            <a:r>
              <a:rPr lang="en-AU" dirty="0" smtClean="0">
                <a:latin typeface="Arial" pitchFamily="34" charset="0"/>
                <a:cs typeface="Arial" pitchFamily="34" charset="0"/>
              </a:rPr>
              <a:t>In the Year 11 General English course, we will be analysing and evaluating texts in regards to their intended function (by looking at the intended audience, purpose and context and how effective the text is).  </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Audience</a:t>
            </a:r>
            <a:endParaRPr lang="en-AU" dirty="0"/>
          </a:p>
        </p:txBody>
      </p:sp>
      <p:sp>
        <p:nvSpPr>
          <p:cNvPr id="3" name="Content Placeholder 2"/>
          <p:cNvSpPr>
            <a:spLocks noGrp="1"/>
          </p:cNvSpPr>
          <p:nvPr>
            <p:ph idx="1"/>
          </p:nvPr>
        </p:nvSpPr>
        <p:spPr/>
        <p:txBody>
          <a:bodyPr>
            <a:normAutofit lnSpcReduction="10000"/>
          </a:bodyPr>
          <a:lstStyle/>
          <a:p>
            <a:pPr>
              <a:buNone/>
            </a:pPr>
            <a:r>
              <a:rPr lang="en-AU" dirty="0" smtClean="0">
                <a:latin typeface="Arial" pitchFamily="34" charset="0"/>
                <a:cs typeface="Arial" pitchFamily="34" charset="0"/>
              </a:rPr>
              <a:t>Texts are created to appeal to a particular audience. </a:t>
            </a:r>
            <a:endParaRPr lang="en-AU" dirty="0">
              <a:latin typeface="Arial" pitchFamily="34" charset="0"/>
              <a:cs typeface="Arial" pitchFamily="34" charset="0"/>
            </a:endParaRPr>
          </a:p>
          <a:p>
            <a:pPr>
              <a:buNone/>
            </a:pPr>
            <a:r>
              <a:rPr lang="en-US" dirty="0" smtClean="0">
                <a:latin typeface="Arial" pitchFamily="34" charset="0"/>
                <a:cs typeface="Arial" pitchFamily="34" charset="0"/>
              </a:rPr>
              <a:t>An audience is the </a:t>
            </a:r>
            <a:r>
              <a:rPr lang="en-US" dirty="0">
                <a:latin typeface="Arial" pitchFamily="34" charset="0"/>
                <a:cs typeface="Arial" pitchFamily="34" charset="0"/>
              </a:rPr>
              <a:t>group of readers, listeners or viewers that the writer, designer, filmmaker or speaker is addressing. Audience includes students in the classroom, an individual, the wider community, review writers, critics and the implied audience.</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Who is the target audience?</a:t>
            </a:r>
            <a:endParaRPr lang="en-AU" dirty="0"/>
          </a:p>
        </p:txBody>
      </p:sp>
      <p:sp>
        <p:nvSpPr>
          <p:cNvPr id="3" name="Content Placeholder 2"/>
          <p:cNvSpPr>
            <a:spLocks noGrp="1"/>
          </p:cNvSpPr>
          <p:nvPr>
            <p:ph idx="1"/>
          </p:nvPr>
        </p:nvSpPr>
        <p:spPr/>
        <p:txBody>
          <a:bodyPr/>
          <a:lstStyle/>
          <a:p>
            <a:pPr>
              <a:buNone/>
            </a:pPr>
            <a:endParaRPr lang="en-AU" dirty="0" smtClean="0"/>
          </a:p>
          <a:p>
            <a:pPr>
              <a:buNone/>
            </a:pPr>
            <a:endParaRPr lang="en-AU" dirty="0"/>
          </a:p>
        </p:txBody>
      </p:sp>
      <p:pic>
        <p:nvPicPr>
          <p:cNvPr id="5" name="Picture 4" descr="triplejlogo.png"/>
          <p:cNvPicPr>
            <a:picLocks noChangeAspect="1"/>
          </p:cNvPicPr>
          <p:nvPr/>
        </p:nvPicPr>
        <p:blipFill>
          <a:blip r:embed="rId2" cstate="print"/>
          <a:stretch>
            <a:fillRect/>
          </a:stretch>
        </p:blipFill>
        <p:spPr>
          <a:xfrm>
            <a:off x="395536" y="1340768"/>
            <a:ext cx="2804160" cy="1165860"/>
          </a:xfrm>
          <a:prstGeom prst="rect">
            <a:avLst/>
          </a:prstGeom>
        </p:spPr>
      </p:pic>
      <p:pic>
        <p:nvPicPr>
          <p:cNvPr id="6" name="Picture 5" descr="dot.png"/>
          <p:cNvPicPr>
            <a:picLocks noChangeAspect="1"/>
          </p:cNvPicPr>
          <p:nvPr/>
        </p:nvPicPr>
        <p:blipFill>
          <a:blip r:embed="rId3" cstate="print"/>
          <a:stretch>
            <a:fillRect/>
          </a:stretch>
        </p:blipFill>
        <p:spPr>
          <a:xfrm>
            <a:off x="3563888" y="1412776"/>
            <a:ext cx="2651760" cy="1104900"/>
          </a:xfrm>
          <a:prstGeom prst="rect">
            <a:avLst/>
          </a:prstGeom>
        </p:spPr>
      </p:pic>
      <p:pic>
        <p:nvPicPr>
          <p:cNvPr id="7" name="Picture 6" descr="centrelink_logo.png"/>
          <p:cNvPicPr>
            <a:picLocks noChangeAspect="1"/>
          </p:cNvPicPr>
          <p:nvPr/>
        </p:nvPicPr>
        <p:blipFill>
          <a:blip r:embed="rId4" cstate="print"/>
          <a:stretch>
            <a:fillRect/>
          </a:stretch>
        </p:blipFill>
        <p:spPr>
          <a:xfrm>
            <a:off x="6732240" y="1484784"/>
            <a:ext cx="914402" cy="914402"/>
          </a:xfrm>
          <a:prstGeom prst="rect">
            <a:avLst/>
          </a:prstGeom>
        </p:spPr>
      </p:pic>
      <p:pic>
        <p:nvPicPr>
          <p:cNvPr id="8" name="Picture 7" descr="Wacelogo.jpg"/>
          <p:cNvPicPr>
            <a:picLocks noChangeAspect="1"/>
          </p:cNvPicPr>
          <p:nvPr/>
        </p:nvPicPr>
        <p:blipFill>
          <a:blip r:embed="rId5" cstate="print"/>
          <a:stretch>
            <a:fillRect/>
          </a:stretch>
        </p:blipFill>
        <p:spPr>
          <a:xfrm>
            <a:off x="539551" y="2780928"/>
            <a:ext cx="1947489" cy="1008112"/>
          </a:xfrm>
          <a:prstGeom prst="rect">
            <a:avLst/>
          </a:prstGeom>
        </p:spPr>
      </p:pic>
      <p:pic>
        <p:nvPicPr>
          <p:cNvPr id="9" name="Picture 8" descr="Charity-AIME.jpg"/>
          <p:cNvPicPr>
            <a:picLocks noChangeAspect="1"/>
          </p:cNvPicPr>
          <p:nvPr/>
        </p:nvPicPr>
        <p:blipFill>
          <a:blip r:embed="rId6" cstate="print"/>
          <a:stretch>
            <a:fillRect/>
          </a:stretch>
        </p:blipFill>
        <p:spPr>
          <a:xfrm>
            <a:off x="467544" y="3861048"/>
            <a:ext cx="2841104" cy="2841104"/>
          </a:xfrm>
          <a:prstGeom prst="rect">
            <a:avLst/>
          </a:prstGeom>
        </p:spPr>
      </p:pic>
      <p:pic>
        <p:nvPicPr>
          <p:cNvPr id="10" name="Picture 9" descr="connect-logo.jpg"/>
          <p:cNvPicPr>
            <a:picLocks noChangeAspect="1"/>
          </p:cNvPicPr>
          <p:nvPr/>
        </p:nvPicPr>
        <p:blipFill>
          <a:blip r:embed="rId7" cstate="print"/>
          <a:stretch>
            <a:fillRect/>
          </a:stretch>
        </p:blipFill>
        <p:spPr>
          <a:xfrm>
            <a:off x="3409950" y="3009900"/>
            <a:ext cx="2324100" cy="838200"/>
          </a:xfrm>
          <a:prstGeom prst="rect">
            <a:avLst/>
          </a:prstGeom>
        </p:spPr>
      </p:pic>
      <p:pic>
        <p:nvPicPr>
          <p:cNvPr id="11" name="Picture 10" descr="shirt-1529504231-646120128c43be44c85c7307eba41062.png.jpg"/>
          <p:cNvPicPr>
            <a:picLocks noChangeAspect="1"/>
          </p:cNvPicPr>
          <p:nvPr/>
        </p:nvPicPr>
        <p:blipFill>
          <a:blip r:embed="rId8" cstate="print"/>
          <a:stretch>
            <a:fillRect/>
          </a:stretch>
        </p:blipFill>
        <p:spPr>
          <a:xfrm>
            <a:off x="3491880" y="4365104"/>
            <a:ext cx="2039888" cy="2039888"/>
          </a:xfrm>
          <a:prstGeom prst="rect">
            <a:avLst/>
          </a:prstGeom>
        </p:spPr>
      </p:pic>
      <p:pic>
        <p:nvPicPr>
          <p:cNvPr id="12" name="Picture 11" descr="image.jpg"/>
          <p:cNvPicPr>
            <a:picLocks noChangeAspect="1"/>
          </p:cNvPicPr>
          <p:nvPr/>
        </p:nvPicPr>
        <p:blipFill>
          <a:blip r:embed="rId9" cstate="print"/>
          <a:stretch>
            <a:fillRect/>
          </a:stretch>
        </p:blipFill>
        <p:spPr>
          <a:xfrm>
            <a:off x="6300192" y="2636912"/>
            <a:ext cx="1728192" cy="1728192"/>
          </a:xfrm>
          <a:prstGeom prst="rect">
            <a:avLst/>
          </a:prstGeom>
        </p:spPr>
      </p:pic>
      <p:pic>
        <p:nvPicPr>
          <p:cNvPr id="13" name="Picture 12" descr="countryman.jpg"/>
          <p:cNvPicPr>
            <a:picLocks noChangeAspect="1"/>
          </p:cNvPicPr>
          <p:nvPr/>
        </p:nvPicPr>
        <p:blipFill>
          <a:blip r:embed="rId10" cstate="print"/>
          <a:stretch>
            <a:fillRect/>
          </a:stretch>
        </p:blipFill>
        <p:spPr>
          <a:xfrm>
            <a:off x="6444208" y="4581128"/>
            <a:ext cx="1424940" cy="204978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cs typeface="Aharoni" pitchFamily="2" charset="-79"/>
              </a:rPr>
              <a:t>P</a:t>
            </a:r>
            <a:r>
              <a:rPr lang="en-AU" dirty="0" smtClean="0">
                <a:cs typeface="Aharoni" pitchFamily="2" charset="-79"/>
              </a:rPr>
              <a:t>urpose</a:t>
            </a:r>
            <a:endParaRPr lang="en-AU" dirty="0"/>
          </a:p>
        </p:txBody>
      </p:sp>
      <p:sp>
        <p:nvSpPr>
          <p:cNvPr id="3" name="Content Placeholder 2"/>
          <p:cNvSpPr>
            <a:spLocks noGrp="1"/>
          </p:cNvSpPr>
          <p:nvPr>
            <p:ph idx="1"/>
          </p:nvPr>
        </p:nvSpPr>
        <p:spPr/>
        <p:txBody>
          <a:bodyPr>
            <a:normAutofit fontScale="92500" lnSpcReduction="10000"/>
          </a:bodyPr>
          <a:lstStyle/>
          <a:p>
            <a:pPr>
              <a:buNone/>
            </a:pPr>
            <a:r>
              <a:rPr lang="en-AU" dirty="0" smtClean="0">
                <a:latin typeface="Arial" pitchFamily="34" charset="0"/>
                <a:cs typeface="Arial" pitchFamily="34" charset="0"/>
              </a:rPr>
              <a:t>The </a:t>
            </a:r>
            <a:r>
              <a:rPr lang="en-AU" b="1" dirty="0" smtClean="0">
                <a:latin typeface="Arial" pitchFamily="34" charset="0"/>
                <a:cs typeface="Arial" pitchFamily="34" charset="0"/>
              </a:rPr>
              <a:t>purpose</a:t>
            </a:r>
            <a:r>
              <a:rPr lang="en-AU" dirty="0" smtClean="0">
                <a:latin typeface="Arial" pitchFamily="34" charset="0"/>
                <a:cs typeface="Arial" pitchFamily="34" charset="0"/>
              </a:rPr>
              <a:t> of a text is simply the writer's reason for writing. Many texts have more than one purpose, but usually one will stand out as primary. Readers have the job of determining the purpose or purposes of a text and understanding why the writer is writing and what the writer wants the reader to do with the text.</a:t>
            </a:r>
          </a:p>
          <a:p>
            <a:pPr>
              <a:buNone/>
            </a:pPr>
            <a:r>
              <a:rPr lang="en-AU" dirty="0" smtClean="0">
                <a:latin typeface="Arial" pitchFamily="34" charset="0"/>
                <a:cs typeface="Arial" pitchFamily="34" charset="0"/>
              </a:rPr>
              <a:t>Texts may be written to entertain, instruct, persuade or inform their readers. </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cs typeface="Aharoni" pitchFamily="2" charset="-79"/>
              </a:rPr>
              <a:t>What is the purpose of these texts?</a:t>
            </a:r>
            <a:endParaRPr lang="en-AU" dirty="0"/>
          </a:p>
        </p:txBody>
      </p:sp>
      <p:sp>
        <p:nvSpPr>
          <p:cNvPr id="3" name="Content Placeholder 2"/>
          <p:cNvSpPr>
            <a:spLocks noGrp="1"/>
          </p:cNvSpPr>
          <p:nvPr>
            <p:ph idx="1"/>
          </p:nvPr>
        </p:nvSpPr>
        <p:spPr/>
        <p:txBody>
          <a:bodyPr/>
          <a:lstStyle/>
          <a:p>
            <a:r>
              <a:rPr lang="en-AU" dirty="0" smtClean="0"/>
              <a:t>Recipe</a:t>
            </a:r>
          </a:p>
          <a:p>
            <a:r>
              <a:rPr lang="en-AU" dirty="0" smtClean="0"/>
              <a:t>Workplace contract</a:t>
            </a:r>
          </a:p>
          <a:p>
            <a:r>
              <a:rPr lang="en-AU" dirty="0" smtClean="0"/>
              <a:t>Film</a:t>
            </a:r>
          </a:p>
          <a:p>
            <a:r>
              <a:rPr lang="en-AU" dirty="0" smtClean="0"/>
              <a:t>TV manual</a:t>
            </a:r>
          </a:p>
          <a:p>
            <a:r>
              <a:rPr lang="en-AU" dirty="0" smtClean="0"/>
              <a:t>IKEA assembly instructions</a:t>
            </a:r>
          </a:p>
          <a:p>
            <a:r>
              <a:rPr lang="en-AU" dirty="0" smtClean="0"/>
              <a:t>TV news report</a:t>
            </a:r>
          </a:p>
          <a:p>
            <a:r>
              <a:rPr lang="en-AU" dirty="0" smtClean="0"/>
              <a:t>Political debate</a:t>
            </a:r>
            <a:endParaRPr lang="en-AU"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Context</a:t>
            </a:r>
            <a:endParaRPr lang="en-AU" dirty="0"/>
          </a:p>
        </p:txBody>
      </p:sp>
      <p:sp>
        <p:nvSpPr>
          <p:cNvPr id="3" name="Content Placeholder 2"/>
          <p:cNvSpPr>
            <a:spLocks noGrp="1"/>
          </p:cNvSpPr>
          <p:nvPr>
            <p:ph idx="1"/>
          </p:nvPr>
        </p:nvSpPr>
        <p:spPr/>
        <p:txBody>
          <a:bodyPr/>
          <a:lstStyle/>
          <a:p>
            <a:pPr>
              <a:buNone/>
            </a:pPr>
            <a:r>
              <a:rPr lang="en-US" dirty="0">
                <a:latin typeface="Arial" pitchFamily="34" charset="0"/>
                <a:cs typeface="Arial" pitchFamily="34" charset="0"/>
              </a:rPr>
              <a:t>The environment in which a text is responded to or created. Context can include the general social, historical and cultural conditions in which a text is responded to and created (the context of culture) or the specific features of its immediate environment (context of situation). </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Context example:</a:t>
            </a:r>
            <a:endParaRPr lang="en-AU" dirty="0"/>
          </a:p>
        </p:txBody>
      </p:sp>
      <p:sp>
        <p:nvSpPr>
          <p:cNvPr id="3" name="Content Placeholder 2"/>
          <p:cNvSpPr>
            <a:spLocks noGrp="1"/>
          </p:cNvSpPr>
          <p:nvPr>
            <p:ph idx="1"/>
          </p:nvPr>
        </p:nvSpPr>
        <p:spPr>
          <a:xfrm>
            <a:off x="457200" y="1600200"/>
            <a:ext cx="8229600" cy="4925144"/>
          </a:xfrm>
        </p:spPr>
        <p:txBody>
          <a:bodyPr>
            <a:normAutofit/>
          </a:bodyPr>
          <a:lstStyle/>
          <a:p>
            <a:pPr marL="0" indent="0">
              <a:buNone/>
            </a:pPr>
            <a:r>
              <a:rPr lang="en-AU" sz="2800" dirty="0" smtClean="0"/>
              <a:t>During the gold rushes in the US and Australia, the Chinese were seen as a threat – due to their hard work ethic, it was believed they would become the ‘master race.’ The Australian government implemented the White Australia policy, and </a:t>
            </a:r>
          </a:p>
          <a:p>
            <a:pPr marL="0" indent="0">
              <a:buNone/>
            </a:pPr>
            <a:r>
              <a:rPr lang="en-AU" sz="2800" dirty="0" smtClean="0"/>
              <a:t>the Chinese were depicted </a:t>
            </a:r>
          </a:p>
          <a:p>
            <a:pPr marL="0" indent="0">
              <a:buNone/>
            </a:pPr>
            <a:r>
              <a:rPr lang="en-AU" sz="2800" dirty="0" smtClean="0"/>
              <a:t>in the media as inferior </a:t>
            </a:r>
          </a:p>
          <a:p>
            <a:pPr>
              <a:buNone/>
            </a:pPr>
            <a:r>
              <a:rPr lang="en-AU" sz="2800" dirty="0" smtClean="0"/>
              <a:t>(rather than superior) to </a:t>
            </a:r>
          </a:p>
          <a:p>
            <a:pPr>
              <a:buNone/>
            </a:pPr>
            <a:r>
              <a:rPr lang="en-AU" sz="2800" dirty="0" smtClean="0"/>
              <a:t>white Australians in an </a:t>
            </a:r>
          </a:p>
          <a:p>
            <a:pPr>
              <a:buNone/>
            </a:pPr>
            <a:r>
              <a:rPr lang="en-AU" sz="2800" dirty="0" smtClean="0"/>
              <a:t>effort to discredit them.</a:t>
            </a:r>
          </a:p>
          <a:p>
            <a:pPr>
              <a:buNone/>
            </a:pPr>
            <a:endParaRPr lang="en-AU" dirty="0"/>
          </a:p>
        </p:txBody>
      </p:sp>
      <p:pic>
        <p:nvPicPr>
          <p:cNvPr id="4" name="Picture 3" descr="chineserelaxing.gif"/>
          <p:cNvPicPr>
            <a:picLocks noChangeAspect="1"/>
          </p:cNvPicPr>
          <p:nvPr/>
        </p:nvPicPr>
        <p:blipFill>
          <a:blip r:embed="rId2" cstate="print"/>
          <a:stretch>
            <a:fillRect/>
          </a:stretch>
        </p:blipFill>
        <p:spPr>
          <a:xfrm>
            <a:off x="4644008" y="3501008"/>
            <a:ext cx="4107938" cy="3202683"/>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Chinese stereotypes 1890:</a:t>
            </a:r>
            <a:endParaRPr lang="en-AU" dirty="0"/>
          </a:p>
        </p:txBody>
      </p:sp>
      <p:pic>
        <p:nvPicPr>
          <p:cNvPr id="4" name="Content Placeholder 3" descr="YellowTerror.jpg"/>
          <p:cNvPicPr>
            <a:picLocks noGrp="1" noChangeAspect="1"/>
          </p:cNvPicPr>
          <p:nvPr>
            <p:ph idx="1"/>
          </p:nvPr>
        </p:nvPicPr>
        <p:blipFill>
          <a:blip r:embed="rId2" cstate="print"/>
          <a:stretch>
            <a:fillRect/>
          </a:stretch>
        </p:blipFill>
        <p:spPr>
          <a:xfrm>
            <a:off x="0" y="1124744"/>
            <a:ext cx="4064827" cy="4525963"/>
          </a:xfrm>
        </p:spPr>
      </p:pic>
      <p:pic>
        <p:nvPicPr>
          <p:cNvPr id="5" name="Picture 4" descr="martyrdom-of-st-crispin-7-16-70.jpg"/>
          <p:cNvPicPr>
            <a:picLocks noChangeAspect="1"/>
          </p:cNvPicPr>
          <p:nvPr/>
        </p:nvPicPr>
        <p:blipFill>
          <a:blip r:embed="rId3" cstate="print"/>
          <a:stretch>
            <a:fillRect/>
          </a:stretch>
        </p:blipFill>
        <p:spPr>
          <a:xfrm>
            <a:off x="4355976" y="1340768"/>
            <a:ext cx="4628058" cy="4752528"/>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Context</a:t>
            </a:r>
            <a:endParaRPr lang="en-AU" dirty="0"/>
          </a:p>
        </p:txBody>
      </p:sp>
      <p:sp>
        <p:nvSpPr>
          <p:cNvPr id="3" name="Content Placeholder 2"/>
          <p:cNvSpPr>
            <a:spLocks noGrp="1"/>
          </p:cNvSpPr>
          <p:nvPr>
            <p:ph idx="1"/>
          </p:nvPr>
        </p:nvSpPr>
        <p:spPr/>
        <p:txBody>
          <a:bodyPr>
            <a:normAutofit lnSpcReduction="10000"/>
          </a:bodyPr>
          <a:lstStyle/>
          <a:p>
            <a:pPr>
              <a:buNone/>
            </a:pPr>
            <a:r>
              <a:rPr lang="en-AU" dirty="0" smtClean="0">
                <a:latin typeface="Arial" pitchFamily="34" charset="0"/>
                <a:cs typeface="Arial" pitchFamily="34" charset="0"/>
              </a:rPr>
              <a:t>As Australians living in a multicultural society, we value equality and egalitarianism. Due to our context, we would see these images as inherently racist and offensive. </a:t>
            </a:r>
          </a:p>
          <a:p>
            <a:pPr>
              <a:buNone/>
            </a:pPr>
            <a:r>
              <a:rPr lang="en-AU" dirty="0" smtClean="0">
                <a:latin typeface="Arial" pitchFamily="34" charset="0"/>
                <a:cs typeface="Arial" pitchFamily="34" charset="0"/>
              </a:rPr>
              <a:t>However, this might not have been the case when the images were produced. Imagine the government publishing the following images today… </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Japanese stereotypes WW2</a:t>
            </a:r>
            <a:endParaRPr lang="en-AU" dirty="0"/>
          </a:p>
        </p:txBody>
      </p:sp>
      <p:pic>
        <p:nvPicPr>
          <p:cNvPr id="4" name="Content Placeholder 3" descr="supermagician15a.jpg"/>
          <p:cNvPicPr>
            <a:picLocks noGrp="1" noChangeAspect="1"/>
          </p:cNvPicPr>
          <p:nvPr>
            <p:ph idx="1"/>
          </p:nvPr>
        </p:nvPicPr>
        <p:blipFill>
          <a:blip r:embed="rId2" cstate="print"/>
          <a:stretch>
            <a:fillRect/>
          </a:stretch>
        </p:blipFill>
        <p:spPr>
          <a:xfrm>
            <a:off x="539552" y="1412776"/>
            <a:ext cx="2438400" cy="3435096"/>
          </a:xfrm>
        </p:spPr>
      </p:pic>
      <p:pic>
        <p:nvPicPr>
          <p:cNvPr id="5" name="Picture 4" descr="racial.png"/>
          <p:cNvPicPr>
            <a:picLocks noChangeAspect="1"/>
          </p:cNvPicPr>
          <p:nvPr/>
        </p:nvPicPr>
        <p:blipFill>
          <a:blip r:embed="rId3" cstate="print"/>
          <a:stretch>
            <a:fillRect/>
          </a:stretch>
        </p:blipFill>
        <p:spPr>
          <a:xfrm>
            <a:off x="3333577" y="1757129"/>
            <a:ext cx="2476846" cy="3343742"/>
          </a:xfrm>
          <a:prstGeom prst="rect">
            <a:avLst/>
          </a:prstGeom>
        </p:spPr>
      </p:pic>
      <p:pic>
        <p:nvPicPr>
          <p:cNvPr id="6" name="Picture 5" descr="Anti-Japanese_World_War_II_propaganda_poster_war_bonds.jpg"/>
          <p:cNvPicPr>
            <a:picLocks noChangeAspect="1"/>
          </p:cNvPicPr>
          <p:nvPr/>
        </p:nvPicPr>
        <p:blipFill>
          <a:blip r:embed="rId4" cstate="print"/>
          <a:stretch>
            <a:fillRect/>
          </a:stretch>
        </p:blipFill>
        <p:spPr>
          <a:xfrm>
            <a:off x="6300192" y="1484784"/>
            <a:ext cx="2324100" cy="372110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Japanese stereotypes WW2</a:t>
            </a:r>
            <a:endParaRPr lang="en-AU" dirty="0"/>
          </a:p>
        </p:txBody>
      </p:sp>
      <p:pic>
        <p:nvPicPr>
          <p:cNvPr id="4" name="Content Placeholder 3" descr="Anti-Japan2.png"/>
          <p:cNvPicPr>
            <a:picLocks noGrp="1" noChangeAspect="1"/>
          </p:cNvPicPr>
          <p:nvPr>
            <p:ph idx="1"/>
          </p:nvPr>
        </p:nvPicPr>
        <p:blipFill>
          <a:blip r:embed="rId2" cstate="print"/>
          <a:stretch>
            <a:fillRect/>
          </a:stretch>
        </p:blipFill>
        <p:spPr>
          <a:xfrm>
            <a:off x="539551" y="1340768"/>
            <a:ext cx="4164505" cy="5184576"/>
          </a:xfrm>
        </p:spPr>
      </p:pic>
      <p:pic>
        <p:nvPicPr>
          <p:cNvPr id="5" name="Picture 4" descr="Save_A_Tap._Slap_A_Jap^_-_NARA_-_533908.jpg"/>
          <p:cNvPicPr>
            <a:picLocks noChangeAspect="1"/>
          </p:cNvPicPr>
          <p:nvPr/>
        </p:nvPicPr>
        <p:blipFill>
          <a:blip r:embed="rId3" cstate="print"/>
          <a:stretch>
            <a:fillRect/>
          </a:stretch>
        </p:blipFill>
        <p:spPr>
          <a:xfrm>
            <a:off x="4860032" y="1268759"/>
            <a:ext cx="3600400" cy="5343203"/>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26170"/>
          </a:xfrm>
        </p:spPr>
        <p:txBody>
          <a:bodyPr>
            <a:normAutofit fontScale="90000"/>
          </a:bodyPr>
          <a:lstStyle/>
          <a:p>
            <a:r>
              <a:rPr lang="en-AU" dirty="0" smtClean="0">
                <a:cs typeface="Aharoni" pitchFamily="2" charset="-79"/>
              </a:rPr>
              <a:t>Reading audience, purpose and context through different perspectives.</a:t>
            </a:r>
            <a:endParaRPr lang="en-AU" dirty="0"/>
          </a:p>
        </p:txBody>
      </p:sp>
      <p:sp>
        <p:nvSpPr>
          <p:cNvPr id="3" name="Content Placeholder 2"/>
          <p:cNvSpPr>
            <a:spLocks noGrp="1"/>
          </p:cNvSpPr>
          <p:nvPr>
            <p:ph idx="1"/>
          </p:nvPr>
        </p:nvSpPr>
        <p:spPr/>
        <p:txBody>
          <a:bodyPr/>
          <a:lstStyle/>
          <a:p>
            <a:pPr>
              <a:buNone/>
            </a:pPr>
            <a:endParaRPr lang="en-AU" dirty="0" smtClean="0">
              <a:latin typeface="Arial" pitchFamily="34" charset="0"/>
              <a:cs typeface="Arial" pitchFamily="34" charset="0"/>
            </a:endParaRPr>
          </a:p>
          <a:p>
            <a:pPr>
              <a:buNone/>
            </a:pPr>
            <a:r>
              <a:rPr lang="en-AU" dirty="0" smtClean="0">
                <a:latin typeface="Arial" pitchFamily="34" charset="0"/>
                <a:cs typeface="Arial" pitchFamily="34" charset="0"/>
              </a:rPr>
              <a:t>At first glance, we might think that a text has been successful in relation to its ability to reach its intended audience with a certain purpose in mind. One way to challenge a text’s effectiveness is by looking at it through a different perspective.  </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Perspective</a:t>
            </a:r>
            <a:endParaRPr lang="en-AU" dirty="0"/>
          </a:p>
        </p:txBody>
      </p:sp>
      <p:sp>
        <p:nvSpPr>
          <p:cNvPr id="3" name="Content Placeholder 2"/>
          <p:cNvSpPr>
            <a:spLocks noGrp="1"/>
          </p:cNvSpPr>
          <p:nvPr>
            <p:ph idx="1"/>
          </p:nvPr>
        </p:nvSpPr>
        <p:spPr/>
        <p:txBody>
          <a:bodyPr>
            <a:normAutofit fontScale="85000" lnSpcReduction="20000"/>
          </a:bodyPr>
          <a:lstStyle/>
          <a:p>
            <a:pPr>
              <a:buNone/>
            </a:pPr>
            <a:r>
              <a:rPr lang="en-AU" dirty="0">
                <a:latin typeface="Arial" pitchFamily="34" charset="0"/>
                <a:cs typeface="Arial" pitchFamily="34" charset="0"/>
              </a:rPr>
              <a:t>A position from which things may be viewed or considered. People may have different perspectives on events or issues due to (for example) their age, gender, social position and beliefs and values. </a:t>
            </a:r>
            <a:endParaRPr lang="en-AU" dirty="0" smtClean="0">
              <a:latin typeface="Arial" pitchFamily="34" charset="0"/>
              <a:cs typeface="Arial" pitchFamily="34" charset="0"/>
            </a:endParaRPr>
          </a:p>
          <a:p>
            <a:pPr>
              <a:buNone/>
            </a:pPr>
            <a:r>
              <a:rPr lang="en-AU" dirty="0" smtClean="0">
                <a:latin typeface="Arial" pitchFamily="34" charset="0"/>
                <a:cs typeface="Arial" pitchFamily="34" charset="0"/>
              </a:rPr>
              <a:t>A </a:t>
            </a:r>
            <a:r>
              <a:rPr lang="en-AU" dirty="0">
                <a:latin typeface="Arial" pitchFamily="34" charset="0"/>
                <a:cs typeface="Arial" pitchFamily="34" charset="0"/>
              </a:rPr>
              <a:t>perspective is more than an opinion; it is a viewpoint informed by one or more contexts. While a pregnant woman, a homeless man and a police officer, for example, view the world from different perspectives, they may still share the same opinion about something. Texts through an embedded ideology can also present a particular perspective.</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cs typeface="Aharoni" pitchFamily="2" charset="-79"/>
              </a:rPr>
              <a:t>Perspectives in action</a:t>
            </a:r>
            <a:endParaRPr lang="en-AU" dirty="0"/>
          </a:p>
        </p:txBody>
      </p:sp>
      <p:pic>
        <p:nvPicPr>
          <p:cNvPr id="6" name="Content Placeholder 5" descr="4150492-3x2-940x627.jpg"/>
          <p:cNvPicPr>
            <a:picLocks noGrp="1" noChangeAspect="1"/>
          </p:cNvPicPr>
          <p:nvPr>
            <p:ph idx="1"/>
          </p:nvPr>
        </p:nvPicPr>
        <p:blipFill>
          <a:blip r:embed="rId2" cstate="print"/>
          <a:stretch>
            <a:fillRect/>
          </a:stretch>
        </p:blipFill>
        <p:spPr>
          <a:xfrm>
            <a:off x="1179332" y="1600200"/>
            <a:ext cx="6785335" cy="4525963"/>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457200" y="332656"/>
            <a:ext cx="8229600" cy="5793507"/>
          </a:xfrm>
        </p:spPr>
        <p:txBody>
          <a:bodyPr>
            <a:normAutofit fontScale="92500" lnSpcReduction="10000"/>
          </a:bodyPr>
          <a:lstStyle/>
          <a:p>
            <a:endParaRPr lang="en-AU" dirty="0" smtClean="0"/>
          </a:p>
          <a:p>
            <a:endParaRPr lang="en-AU" dirty="0"/>
          </a:p>
          <a:p>
            <a:endParaRPr lang="en-AU" dirty="0" smtClean="0"/>
          </a:p>
          <a:p>
            <a:endParaRPr lang="en-AU" dirty="0"/>
          </a:p>
          <a:p>
            <a:r>
              <a:rPr lang="en-AU" dirty="0" smtClean="0"/>
              <a:t>A </a:t>
            </a:r>
            <a:r>
              <a:rPr lang="en-AU" b="1" dirty="0"/>
              <a:t>doctor </a:t>
            </a:r>
            <a:r>
              <a:rPr lang="en-AU" dirty="0"/>
              <a:t>might have the perspective that this is a great advertisement and a healthy one. He/she values a healthy lifestyle.</a:t>
            </a:r>
          </a:p>
          <a:p>
            <a:r>
              <a:rPr lang="en-AU" dirty="0"/>
              <a:t>An </a:t>
            </a:r>
            <a:r>
              <a:rPr lang="en-AU" b="1" dirty="0"/>
              <a:t>obese person</a:t>
            </a:r>
            <a:r>
              <a:rPr lang="en-AU" dirty="0"/>
              <a:t> viewing the advertisement might have the perspective of feeling victimised or humiliated. They may value privacy and hold the attitude that their weight is no one’s business but theirs</a:t>
            </a:r>
            <a:r>
              <a:rPr lang="en-AU" dirty="0" smtClean="0"/>
              <a:t>.</a:t>
            </a:r>
            <a:endParaRPr lang="en-AU" dirty="0"/>
          </a:p>
        </p:txBody>
      </p:sp>
      <p:pic>
        <p:nvPicPr>
          <p:cNvPr id="4" name="Content Placeholder 5" descr="4150492-3x2-940x627.jpg"/>
          <p:cNvPicPr>
            <a:picLocks noChangeAspect="1"/>
          </p:cNvPicPr>
          <p:nvPr/>
        </p:nvPicPr>
        <p:blipFill>
          <a:blip r:embed="rId2" cstate="print"/>
          <a:stretch>
            <a:fillRect/>
          </a:stretch>
        </p:blipFill>
        <p:spPr>
          <a:xfrm>
            <a:off x="2915816" y="260648"/>
            <a:ext cx="3168352" cy="211335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457200" y="1916832"/>
            <a:ext cx="8229600" cy="4536504"/>
          </a:xfrm>
        </p:spPr>
        <p:txBody>
          <a:bodyPr>
            <a:normAutofit fontScale="85000" lnSpcReduction="20000"/>
          </a:bodyPr>
          <a:lstStyle/>
          <a:p>
            <a:r>
              <a:rPr lang="en-AU" dirty="0"/>
              <a:t>Another </a:t>
            </a:r>
            <a:r>
              <a:rPr lang="en-AU" b="1" dirty="0"/>
              <a:t>obese person</a:t>
            </a:r>
            <a:r>
              <a:rPr lang="en-AU" dirty="0"/>
              <a:t> may hold the viewpoint that this is another stereotypical advertisement that simplifies the issue by blaming fat people for their unhealthy state. As such they value honesty and scientific truth and believe that the obesity issue is a complex one with many factors, not just people being weak-willed, leading people to become overweight or morbidly obese.</a:t>
            </a:r>
          </a:p>
          <a:p>
            <a:r>
              <a:rPr lang="en-AU" dirty="0"/>
              <a:t>A </a:t>
            </a:r>
            <a:r>
              <a:rPr lang="en-AU" b="1" dirty="0"/>
              <a:t>fit thin person</a:t>
            </a:r>
            <a:r>
              <a:rPr lang="en-AU" dirty="0"/>
              <a:t> might have the perspective that fat people are lazy, so this person values an active lifestyle. The attitude they hold is that if overweight and obese people simply exercised, then they would lose weight, feel better and become healthier.</a:t>
            </a:r>
          </a:p>
          <a:p>
            <a:endParaRPr lang="en-AU" dirty="0"/>
          </a:p>
        </p:txBody>
      </p:sp>
      <p:pic>
        <p:nvPicPr>
          <p:cNvPr id="4" name="Content Placeholder 5" descr="4150492-3x2-940x627.jpg"/>
          <p:cNvPicPr>
            <a:picLocks noChangeAspect="1"/>
          </p:cNvPicPr>
          <p:nvPr/>
        </p:nvPicPr>
        <p:blipFill>
          <a:blip r:embed="rId2" cstate="print"/>
          <a:stretch>
            <a:fillRect/>
          </a:stretch>
        </p:blipFill>
        <p:spPr>
          <a:xfrm>
            <a:off x="3059832" y="188640"/>
            <a:ext cx="2590910" cy="1728192"/>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a:xfrm>
            <a:off x="457200" y="1600200"/>
            <a:ext cx="8229600" cy="4925144"/>
          </a:xfrm>
        </p:spPr>
        <p:txBody>
          <a:bodyPr>
            <a:normAutofit fontScale="70000" lnSpcReduction="20000"/>
          </a:bodyPr>
          <a:lstStyle/>
          <a:p>
            <a:endParaRPr lang="en-AU" dirty="0" smtClean="0"/>
          </a:p>
          <a:p>
            <a:endParaRPr lang="en-AU" dirty="0"/>
          </a:p>
          <a:p>
            <a:endParaRPr lang="en-AU" dirty="0" smtClean="0"/>
          </a:p>
          <a:p>
            <a:endParaRPr lang="en-AU" dirty="0" smtClean="0"/>
          </a:p>
          <a:p>
            <a:r>
              <a:rPr lang="en-AU" dirty="0" smtClean="0"/>
              <a:t>A </a:t>
            </a:r>
            <a:r>
              <a:rPr lang="en-AU" b="1" dirty="0"/>
              <a:t>nurse</a:t>
            </a:r>
            <a:r>
              <a:rPr lang="en-AU" dirty="0"/>
              <a:t> who views this advertisement might applaud it because, from their perspective, too many people who contract diabetes and end up in hospital, clog up the health system; they take beds that other people, who are ill from unpreventable or sudden causes, need. They value efficiency and healthy choices. They hold the attitude that truly sick people should be admitted to hospital; not those who could prevent their illness.</a:t>
            </a:r>
          </a:p>
          <a:p>
            <a:r>
              <a:rPr lang="en-AU" dirty="0"/>
              <a:t>A </a:t>
            </a:r>
            <a:r>
              <a:rPr lang="en-AU" b="1" dirty="0"/>
              <a:t>man</a:t>
            </a:r>
            <a:r>
              <a:rPr lang="en-AU" dirty="0"/>
              <a:t> watching this advertisement may feel that it is unfair because it targets only men. He values equity and holds the attitude that there should also be a female version of this advert</a:t>
            </a:r>
            <a:r>
              <a:rPr lang="en-AU" dirty="0" smtClean="0"/>
              <a:t>.</a:t>
            </a:r>
            <a:endParaRPr lang="en-AU" dirty="0"/>
          </a:p>
        </p:txBody>
      </p:sp>
      <p:pic>
        <p:nvPicPr>
          <p:cNvPr id="4" name="Content Placeholder 5" descr="4150492-3x2-940x627.jpg"/>
          <p:cNvPicPr>
            <a:picLocks noChangeAspect="1"/>
          </p:cNvPicPr>
          <p:nvPr/>
        </p:nvPicPr>
        <p:blipFill>
          <a:blip r:embed="rId2" cstate="print"/>
          <a:stretch>
            <a:fillRect/>
          </a:stretch>
        </p:blipFill>
        <p:spPr>
          <a:xfrm>
            <a:off x="2771800" y="260648"/>
            <a:ext cx="3670456" cy="2448272"/>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Questions to ask when viewing a website:</a:t>
            </a:r>
            <a:endParaRPr lang="en-AU" dirty="0"/>
          </a:p>
        </p:txBody>
      </p:sp>
      <p:sp>
        <p:nvSpPr>
          <p:cNvPr id="3" name="Content Placeholder 2"/>
          <p:cNvSpPr>
            <a:spLocks noGrp="1"/>
          </p:cNvSpPr>
          <p:nvPr>
            <p:ph idx="1"/>
          </p:nvPr>
        </p:nvSpPr>
        <p:spPr/>
        <p:txBody>
          <a:bodyPr>
            <a:normAutofit fontScale="92500" lnSpcReduction="10000"/>
          </a:bodyPr>
          <a:lstStyle/>
          <a:p>
            <a:r>
              <a:rPr lang="en-AU" dirty="0" smtClean="0">
                <a:latin typeface="Arial" pitchFamily="34" charset="0"/>
                <a:cs typeface="Arial" pitchFamily="34" charset="0"/>
              </a:rPr>
              <a:t>Who is the intended audience for this website in regards to age, gender, interests, and social demographic?</a:t>
            </a:r>
          </a:p>
          <a:p>
            <a:r>
              <a:rPr lang="en-AU" dirty="0" smtClean="0">
                <a:latin typeface="Arial" pitchFamily="34" charset="0"/>
                <a:cs typeface="Arial" pitchFamily="34" charset="0"/>
              </a:rPr>
              <a:t>What is the intended purpose of this website – to inform, entertain, instruct, persuade?</a:t>
            </a:r>
          </a:p>
          <a:p>
            <a:r>
              <a:rPr lang="en-AU" dirty="0" smtClean="0">
                <a:latin typeface="Arial" pitchFamily="34" charset="0"/>
                <a:cs typeface="Arial" pitchFamily="34" charset="0"/>
              </a:rPr>
              <a:t>What is the context this website was written in and how could it be received by people from different contexts?</a:t>
            </a:r>
          </a:p>
          <a:p>
            <a:r>
              <a:rPr lang="en-AU" dirty="0" smtClean="0">
                <a:latin typeface="Arial" pitchFamily="34" charset="0"/>
                <a:cs typeface="Arial" pitchFamily="34" charset="0"/>
              </a:rPr>
              <a:t>From which perspectives could this website be seen to be effective and/or ineffective?</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latin typeface="Arial" pitchFamily="34" charset="0"/>
                <a:cs typeface="Arial" pitchFamily="34" charset="0"/>
              </a:rPr>
              <a:t>Questions to ask when viewing a website:</a:t>
            </a:r>
            <a:endParaRPr lang="en-AU" dirty="0">
              <a:latin typeface="Arial" pitchFamily="34" charset="0"/>
              <a:cs typeface="Arial" pitchFamily="34" charset="0"/>
            </a:endParaRPr>
          </a:p>
        </p:txBody>
      </p:sp>
      <p:sp>
        <p:nvSpPr>
          <p:cNvPr id="3" name="Content Placeholder 2"/>
          <p:cNvSpPr>
            <a:spLocks noGrp="1"/>
          </p:cNvSpPr>
          <p:nvPr>
            <p:ph idx="1"/>
          </p:nvPr>
        </p:nvSpPr>
        <p:spPr/>
        <p:txBody>
          <a:bodyPr>
            <a:normAutofit lnSpcReduction="10000"/>
          </a:bodyPr>
          <a:lstStyle/>
          <a:p>
            <a:pPr>
              <a:buNone/>
            </a:pPr>
            <a:r>
              <a:rPr lang="en-AU" dirty="0" smtClean="0">
                <a:latin typeface="Arial" pitchFamily="34" charset="0"/>
                <a:cs typeface="Arial" pitchFamily="34" charset="0"/>
              </a:rPr>
              <a:t>Reading: </a:t>
            </a:r>
            <a:r>
              <a:rPr lang="en-AU" u="sng" dirty="0" smtClean="0">
                <a:latin typeface="Arial" pitchFamily="34" charset="0"/>
                <a:cs typeface="Arial" pitchFamily="34" charset="0"/>
              </a:rPr>
              <a:t>accessibility</a:t>
            </a:r>
            <a:r>
              <a:rPr lang="en-AU" dirty="0" smtClean="0">
                <a:latin typeface="Arial" pitchFamily="34" charset="0"/>
                <a:cs typeface="Arial" pitchFamily="34" charset="0"/>
              </a:rPr>
              <a:t> – would this website be accessible for migrants? </a:t>
            </a:r>
          </a:p>
          <a:p>
            <a:pPr>
              <a:buNone/>
            </a:pPr>
            <a:r>
              <a:rPr lang="en-AU" u="sng" dirty="0" smtClean="0">
                <a:latin typeface="Arial" pitchFamily="34" charset="0"/>
                <a:cs typeface="Arial" pitchFamily="34" charset="0"/>
              </a:rPr>
              <a:t>Language</a:t>
            </a:r>
            <a:r>
              <a:rPr lang="en-AU" dirty="0" smtClean="0">
                <a:latin typeface="Arial" pitchFamily="34" charset="0"/>
                <a:cs typeface="Arial" pitchFamily="34" charset="0"/>
              </a:rPr>
              <a:t> – does the website use Standard Australian English, persuasive, descriptive, emotive language, text speak? </a:t>
            </a:r>
          </a:p>
          <a:p>
            <a:pPr>
              <a:buNone/>
            </a:pPr>
            <a:r>
              <a:rPr lang="en-AU" dirty="0" smtClean="0">
                <a:latin typeface="Arial" pitchFamily="34" charset="0"/>
                <a:cs typeface="Arial" pitchFamily="34" charset="0"/>
              </a:rPr>
              <a:t>What </a:t>
            </a:r>
            <a:r>
              <a:rPr lang="en-AU" u="sng" dirty="0" smtClean="0">
                <a:latin typeface="Arial" pitchFamily="34" charset="0"/>
                <a:cs typeface="Arial" pitchFamily="34" charset="0"/>
              </a:rPr>
              <a:t>information</a:t>
            </a:r>
            <a:r>
              <a:rPr lang="en-AU" dirty="0" smtClean="0">
                <a:latin typeface="Arial" pitchFamily="34" charset="0"/>
                <a:cs typeface="Arial" pitchFamily="34" charset="0"/>
              </a:rPr>
              <a:t> does the website give the reader? </a:t>
            </a:r>
          </a:p>
          <a:p>
            <a:pPr>
              <a:buNone/>
            </a:pPr>
            <a:r>
              <a:rPr lang="en-AU" dirty="0" smtClean="0">
                <a:latin typeface="Arial" pitchFamily="34" charset="0"/>
                <a:cs typeface="Arial" pitchFamily="34" charset="0"/>
              </a:rPr>
              <a:t>Is it informative, entertaining, persuasive, or instructional/educational?</a:t>
            </a:r>
            <a:endParaRPr lang="en-AU"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latin typeface="Arial" pitchFamily="34" charset="0"/>
                <a:cs typeface="Arial" pitchFamily="34" charset="0"/>
              </a:rPr>
              <a:t>Questions to ask when viewing a website:</a:t>
            </a:r>
            <a:endParaRPr lang="en-AU" dirty="0"/>
          </a:p>
        </p:txBody>
      </p:sp>
      <p:sp>
        <p:nvSpPr>
          <p:cNvPr id="3" name="Content Placeholder 2"/>
          <p:cNvSpPr>
            <a:spLocks noGrp="1"/>
          </p:cNvSpPr>
          <p:nvPr>
            <p:ph idx="1"/>
          </p:nvPr>
        </p:nvSpPr>
        <p:spPr/>
        <p:txBody>
          <a:bodyPr>
            <a:normAutofit fontScale="92500" lnSpcReduction="10000"/>
          </a:bodyPr>
          <a:lstStyle/>
          <a:p>
            <a:pPr>
              <a:buNone/>
            </a:pPr>
            <a:r>
              <a:rPr lang="en-AU" dirty="0" smtClean="0">
                <a:latin typeface="Arial" pitchFamily="34" charset="0"/>
                <a:cs typeface="Arial" pitchFamily="34" charset="0"/>
              </a:rPr>
              <a:t>Viewing: </a:t>
            </a:r>
            <a:r>
              <a:rPr lang="en-AU" u="sng" dirty="0" smtClean="0">
                <a:latin typeface="Arial" pitchFamily="34" charset="0"/>
                <a:cs typeface="Arial" pitchFamily="34" charset="0"/>
              </a:rPr>
              <a:t>design</a:t>
            </a:r>
            <a:r>
              <a:rPr lang="en-AU" dirty="0" smtClean="0">
                <a:latin typeface="Arial" pitchFamily="34" charset="0"/>
                <a:cs typeface="Arial" pitchFamily="34" charset="0"/>
              </a:rPr>
              <a:t> – is the website bare, stylish, high/low visual complexity, is the website easy to access for all ages, or not? </a:t>
            </a:r>
          </a:p>
          <a:p>
            <a:pPr>
              <a:buNone/>
            </a:pPr>
            <a:r>
              <a:rPr lang="en-AU" u="sng" dirty="0" smtClean="0">
                <a:latin typeface="Arial" pitchFamily="34" charset="0"/>
                <a:cs typeface="Arial" pitchFamily="34" charset="0"/>
              </a:rPr>
              <a:t>Images</a:t>
            </a:r>
            <a:r>
              <a:rPr lang="en-AU" i="1" dirty="0" smtClean="0">
                <a:latin typeface="Arial" pitchFamily="34" charset="0"/>
                <a:cs typeface="Arial" pitchFamily="34" charset="0"/>
              </a:rPr>
              <a:t> – </a:t>
            </a:r>
            <a:r>
              <a:rPr lang="en-AU" dirty="0" smtClean="0">
                <a:latin typeface="Arial" pitchFamily="34" charset="0"/>
                <a:cs typeface="Arial" pitchFamily="34" charset="0"/>
              </a:rPr>
              <a:t>what do the images depict and who are they of? What is the intended effect on the viewer? Which groups are represented, which groups are marginalised? </a:t>
            </a:r>
          </a:p>
          <a:p>
            <a:pPr>
              <a:buNone/>
            </a:pPr>
            <a:r>
              <a:rPr lang="en-AU" u="sng" dirty="0" smtClean="0">
                <a:latin typeface="Arial" pitchFamily="34" charset="0"/>
                <a:cs typeface="Arial" pitchFamily="34" charset="0"/>
              </a:rPr>
              <a:t>Appeal</a:t>
            </a:r>
            <a:r>
              <a:rPr lang="en-AU" dirty="0" smtClean="0">
                <a:latin typeface="Arial" pitchFamily="34" charset="0"/>
                <a:cs typeface="Arial" pitchFamily="34" charset="0"/>
              </a:rPr>
              <a:t> – is the website visually appealing? To whom? Does the website illicit emotion or interest?</a:t>
            </a:r>
          </a:p>
          <a:p>
            <a:pPr>
              <a:buNone/>
            </a:pPr>
            <a:endParaRPr lang="en-AU"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TotalTime>
  <Words>1124</Words>
  <Application>Microsoft Office PowerPoint</Application>
  <PresentationFormat>On-screen Show (4:3)</PresentationFormat>
  <Paragraphs>69</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Aharoni</vt:lpstr>
      <vt:lpstr>Arial</vt:lpstr>
      <vt:lpstr>Calibri</vt:lpstr>
      <vt:lpstr>Office Theme</vt:lpstr>
      <vt:lpstr>Audience, purpose, context</vt:lpstr>
      <vt:lpstr>Audience, purpose, context</vt:lpstr>
      <vt:lpstr>Audience</vt:lpstr>
      <vt:lpstr>Who is the target audience?</vt:lpstr>
      <vt:lpstr>Purpose</vt:lpstr>
      <vt:lpstr>What is the purpose of these texts?</vt:lpstr>
      <vt:lpstr>Context</vt:lpstr>
      <vt:lpstr>Context example:</vt:lpstr>
      <vt:lpstr>Chinese stereotypes 1890:</vt:lpstr>
      <vt:lpstr>Context</vt:lpstr>
      <vt:lpstr>Japanese stereotypes WW2</vt:lpstr>
      <vt:lpstr>Japanese stereotypes WW2</vt:lpstr>
      <vt:lpstr>Reading audience, purpose and context through different perspectives.</vt:lpstr>
      <vt:lpstr>Perspective</vt:lpstr>
      <vt:lpstr>Perspectives in action</vt:lpstr>
      <vt:lpstr>PowerPoint Presentation</vt:lpstr>
      <vt:lpstr>PowerPoint Presentation</vt:lpstr>
      <vt:lpstr>PowerPoint Presentation</vt:lpstr>
      <vt:lpstr>Questions to ask when viewing a website:</vt:lpstr>
      <vt:lpstr>Questions to ask when viewing a website:</vt:lpstr>
      <vt:lpstr>Questions to ask when viewing a website: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Audience, purpose, context</dc:title>
  <dc:creator>Kelli Hobson</dc:creator>
  <cp:lastModifiedBy>HOBSON Kelli [Narrogin Senior High School]</cp:lastModifiedBy>
  <cp:revision>20</cp:revision>
  <dcterms:created xsi:type="dcterms:W3CDTF">2019-01-29T04:38:54Z</dcterms:created>
  <dcterms:modified xsi:type="dcterms:W3CDTF">2019-02-05T04:44:52Z</dcterms:modified>
</cp:coreProperties>
</file>
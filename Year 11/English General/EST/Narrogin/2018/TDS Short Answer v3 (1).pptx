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95" r:id="rId4"/>
    <p:sldId id="268" r:id="rId5"/>
    <p:sldId id="291" r:id="rId6"/>
    <p:sldId id="270" r:id="rId7"/>
    <p:sldId id="286" r:id="rId8"/>
    <p:sldId id="287" r:id="rId9"/>
    <p:sldId id="288" r:id="rId10"/>
    <p:sldId id="289" r:id="rId11"/>
    <p:sldId id="290" r:id="rId12"/>
    <p:sldId id="262" r:id="rId13"/>
    <p:sldId id="269" r:id="rId14"/>
    <p:sldId id="280" r:id="rId15"/>
    <p:sldId id="281" r:id="rId16"/>
    <p:sldId id="282" r:id="rId17"/>
    <p:sldId id="283" r:id="rId18"/>
    <p:sldId id="284" r:id="rId19"/>
    <p:sldId id="285" r:id="rId20"/>
    <p:sldId id="263" r:id="rId21"/>
    <p:sldId id="292" r:id="rId22"/>
    <p:sldId id="293" r:id="rId23"/>
    <p:sldId id="294" r:id="rId24"/>
    <p:sldId id="264" r:id="rId25"/>
    <p:sldId id="26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12" d="100"/>
          <a:sy n="112" d="100"/>
        </p:scale>
        <p:origin x="-7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6B48B8-A014-1A48-B9C4-A703779382AF}" type="datetimeFigureOut">
              <a:rPr lang="en-US" smtClean="0"/>
              <a:t>3/30/2017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8EF190-DFF8-1448-BA95-60EB2E05AB6A}" type="slidenum">
              <a:rPr lang="en-US" smtClean="0"/>
              <a:t>‹#›</a:t>
            </a:fld>
            <a:endParaRPr lang="en-US"/>
          </a:p>
        </p:txBody>
      </p:sp>
    </p:spTree>
    <p:extLst>
      <p:ext uri="{BB962C8B-B14F-4D97-AF65-F5344CB8AC3E}">
        <p14:creationId xmlns:p14="http://schemas.microsoft.com/office/powerpoint/2010/main" val="240061031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8EF190-DFF8-1448-BA95-60EB2E05AB6A}" type="slidenum">
              <a:rPr lang="en-US" smtClean="0"/>
              <a:t>6</a:t>
            </a:fld>
            <a:endParaRPr lang="en-US"/>
          </a:p>
        </p:txBody>
      </p:sp>
    </p:spTree>
    <p:extLst>
      <p:ext uri="{BB962C8B-B14F-4D97-AF65-F5344CB8AC3E}">
        <p14:creationId xmlns:p14="http://schemas.microsoft.com/office/powerpoint/2010/main" val="1866709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86953" y="268288"/>
            <a:ext cx="566928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400" y="4208929"/>
            <a:ext cx="5458968"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AU" smtClean="0"/>
              <a:t>Click to edit Master title style</a:t>
            </a:r>
            <a:endParaRPr/>
          </a:p>
        </p:txBody>
      </p:sp>
      <p:sp>
        <p:nvSpPr>
          <p:cNvPr id="3" name="Subtitle 2"/>
          <p:cNvSpPr>
            <a:spLocks noGrp="1"/>
          </p:cNvSpPr>
          <p:nvPr>
            <p:ph type="subTitle" idx="1"/>
          </p:nvPr>
        </p:nvSpPr>
        <p:spPr>
          <a:xfrm>
            <a:off x="3200400" y="5257800"/>
            <a:ext cx="5458968"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dirty="0"/>
          </a:p>
        </p:txBody>
      </p:sp>
      <p:sp>
        <p:nvSpPr>
          <p:cNvPr id="4" name="Date Placeholder 3"/>
          <p:cNvSpPr>
            <a:spLocks noGrp="1"/>
          </p:cNvSpPr>
          <p:nvPr>
            <p:ph type="dt" sz="half" idx="10"/>
          </p:nvPr>
        </p:nvSpPr>
        <p:spPr>
          <a:xfrm>
            <a:off x="3276600" y="390525"/>
            <a:ext cx="5504688"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a:xfrm>
            <a:off x="3218688" y="6356350"/>
            <a:ext cx="4736592"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8256494"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AU"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3186953" y="268288"/>
            <a:ext cx="566928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3200399" y="4171950"/>
            <a:ext cx="5457919" cy="1085850"/>
          </a:xfrm>
        </p:spPr>
        <p:txBody>
          <a:bodyPr>
            <a:normAutofit/>
          </a:bodyPr>
          <a:lstStyle>
            <a:lvl1pPr>
              <a:defRPr sz="4600"/>
            </a:lvl1pPr>
          </a:lstStyle>
          <a:p>
            <a:r>
              <a:rPr lang="en-AU" smtClean="0"/>
              <a:t>Click to edit Master title style</a:t>
            </a:r>
            <a:endParaRPr/>
          </a:p>
        </p:txBody>
      </p:sp>
      <p:sp>
        <p:nvSpPr>
          <p:cNvPr id="3" name="Subtitle 2"/>
          <p:cNvSpPr>
            <a:spLocks noGrp="1"/>
          </p:cNvSpPr>
          <p:nvPr>
            <p:ph type="subTitle" idx="1"/>
          </p:nvPr>
        </p:nvSpPr>
        <p:spPr>
          <a:xfrm>
            <a:off x="3200401" y="5257799"/>
            <a:ext cx="5457918"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dirty="0"/>
          </a:p>
        </p:txBody>
      </p:sp>
      <p:sp>
        <p:nvSpPr>
          <p:cNvPr id="4" name="Date Placeholder 3"/>
          <p:cNvSpPr>
            <a:spLocks noGrp="1"/>
          </p:cNvSpPr>
          <p:nvPr>
            <p:ph type="dt" sz="half" idx="10"/>
          </p:nvPr>
        </p:nvSpPr>
        <p:spPr>
          <a:xfrm>
            <a:off x="3276600" y="389965"/>
            <a:ext cx="5499847" cy="365125"/>
          </a:xfrm>
        </p:spPr>
        <p:txBody>
          <a:bodyPr/>
          <a:lstStyle>
            <a:lvl1pPr>
              <a:defRPr sz="2200" b="0" baseline="0">
                <a:solidFill>
                  <a:schemeClr val="bg1"/>
                </a:solidFill>
              </a:defRPr>
            </a:lvl1p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a:xfrm>
            <a:off x="3213847" y="6356350"/>
            <a:ext cx="4734112" cy="365125"/>
          </a:xfrm>
        </p:spPr>
        <p:txBody>
          <a:bodyPr/>
          <a:lstStyle/>
          <a:p>
            <a:endParaRPr lang="en-US"/>
          </a:p>
        </p:txBody>
      </p:sp>
      <p:sp>
        <p:nvSpPr>
          <p:cNvPr id="6" name="Slide Number Placeholder 5"/>
          <p:cNvSpPr>
            <a:spLocks noGrp="1"/>
          </p:cNvSpPr>
          <p:nvPr>
            <p:ph type="sldNum" sz="quarter" idx="12"/>
          </p:nvPr>
        </p:nvSpPr>
        <p:spPr>
          <a:xfrm>
            <a:off x="8265459" y="6356350"/>
            <a:ext cx="6858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3200400" y="2877671"/>
            <a:ext cx="5646867" cy="1280160"/>
          </a:xfrm>
        </p:spPr>
        <p:txBody>
          <a:bodyPr/>
          <a:lstStyle>
            <a:lvl1pPr>
              <a:buNone/>
              <a:defRPr/>
            </a:lvl1pPr>
          </a:lstStyle>
          <a:p>
            <a:r>
              <a:rPr lang="en-AU" smtClean="0"/>
              <a:t>Drag picture to placeholder or click icon to add</a:t>
            </a:r>
            <a:endParaRPr/>
          </a:p>
        </p:txBody>
      </p:sp>
      <p:sp>
        <p:nvSpPr>
          <p:cNvPr id="10" name="Rectangle 9"/>
          <p:cNvSpPr/>
          <p:nvPr/>
        </p:nvSpPr>
        <p:spPr>
          <a:xfrm>
            <a:off x="268940" y="268288"/>
            <a:ext cx="18288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269875"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178423" y="914400"/>
            <a:ext cx="6508377" cy="1143000"/>
          </a:xfrm>
        </p:spPr>
        <p:txBody>
          <a:bodyPr/>
          <a:lstStyle/>
          <a:p>
            <a:r>
              <a:rPr lang="en-AU" smtClean="0"/>
              <a:t>Click to edit Master title style</a:t>
            </a:r>
            <a:endParaRPr/>
          </a:p>
        </p:txBody>
      </p:sp>
      <p:sp>
        <p:nvSpPr>
          <p:cNvPr id="3" name="Content Placeholder 2"/>
          <p:cNvSpPr>
            <a:spLocks noGrp="1"/>
          </p:cNvSpPr>
          <p:nvPr>
            <p:ph idx="1"/>
          </p:nvPr>
        </p:nvSpPr>
        <p:spPr>
          <a:xfrm>
            <a:off x="2178423" y="2209800"/>
            <a:ext cx="6508377" cy="3916363"/>
          </a:xfrm>
        </p:spPr>
        <p:txBody>
          <a:bodyPr/>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10"/>
          </p:nvPr>
        </p:nvSpPr>
        <p:spPr>
          <a:xfrm>
            <a:off x="7212106" y="6356350"/>
            <a:ext cx="1752600" cy="365125"/>
          </a:xfrm>
        </p:spPr>
        <p:txBody>
          <a:body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a:xfrm>
            <a:off x="2178423" y="6356350"/>
            <a:ext cx="4926852" cy="365125"/>
          </a:xfrm>
        </p:spPr>
        <p:txBody>
          <a:bodyPr/>
          <a:lstStyle/>
          <a:p>
            <a:endParaRPr lang="en-US"/>
          </a:p>
        </p:txBody>
      </p:sp>
      <p:sp>
        <p:nvSpPr>
          <p:cNvPr id="6" name="Slide Number Placeholder 5"/>
          <p:cNvSpPr>
            <a:spLocks noGrp="1"/>
          </p:cNvSpPr>
          <p:nvPr>
            <p:ph type="sldNum" sz="quarter" idx="12"/>
          </p:nvPr>
        </p:nvSpPr>
        <p:spPr>
          <a:xfrm>
            <a:off x="331694" y="361016"/>
            <a:ext cx="506506" cy="365125"/>
          </a:xfrm>
        </p:spPr>
        <p:txBody>
          <a:body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269875" y="1976718"/>
            <a:ext cx="1645920" cy="4625788"/>
          </a:xfrm>
        </p:spPr>
        <p:txBody>
          <a:bodyPr/>
          <a:lstStyle>
            <a:lvl1pPr>
              <a:buNone/>
              <a:defRPr/>
            </a:lvl1pPr>
          </a:lstStyle>
          <a:p>
            <a:r>
              <a:rPr lang="en-AU" smtClean="0"/>
              <a:t>Drag picture to placeholder or click icon to add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7758952" y="268288"/>
            <a:ext cx="109907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09801" y="3429000"/>
            <a:ext cx="4966446" cy="1398494"/>
          </a:xfrm>
        </p:spPr>
        <p:txBody>
          <a:bodyPr anchor="b" anchorCtr="0"/>
          <a:lstStyle>
            <a:lvl1pPr algn="r">
              <a:defRPr sz="4600" b="0" cap="none" baseline="0"/>
            </a:lvl1pPr>
          </a:lstStyle>
          <a:p>
            <a:r>
              <a:rPr lang="en-AU" smtClean="0"/>
              <a:t>Click to edit Master title style</a:t>
            </a:r>
            <a:endParaRPr/>
          </a:p>
        </p:txBody>
      </p:sp>
      <p:sp>
        <p:nvSpPr>
          <p:cNvPr id="3" name="Text Placeholder 2"/>
          <p:cNvSpPr>
            <a:spLocks noGrp="1"/>
          </p:cNvSpPr>
          <p:nvPr>
            <p:ph type="body" idx="1"/>
          </p:nvPr>
        </p:nvSpPr>
        <p:spPr>
          <a:xfrm>
            <a:off x="2209801"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a:xfrm>
            <a:off x="5562600" y="6356350"/>
            <a:ext cx="1622612" cy="365125"/>
          </a:xfrm>
        </p:spPr>
        <p:txBody>
          <a:body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a:xfrm>
            <a:off x="174812" y="6356350"/>
            <a:ext cx="5311588" cy="365125"/>
          </a:xfrm>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269875" y="4773706"/>
            <a:ext cx="29718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720354" y="3429001"/>
            <a:ext cx="4966446" cy="1398494"/>
          </a:xfrm>
        </p:spPr>
        <p:txBody>
          <a:bodyPr anchor="b" anchorCtr="0"/>
          <a:lstStyle>
            <a:lvl1pPr algn="r">
              <a:defRPr sz="4600" b="0" cap="none" baseline="0"/>
            </a:lvl1pPr>
          </a:lstStyle>
          <a:p>
            <a:r>
              <a:rPr lang="en-AU" smtClean="0"/>
              <a:t>Click to edit Master title style</a:t>
            </a:r>
            <a:endParaRPr/>
          </a:p>
        </p:txBody>
      </p:sp>
      <p:sp>
        <p:nvSpPr>
          <p:cNvPr id="3" name="Text Placeholder 2"/>
          <p:cNvSpPr>
            <a:spLocks noGrp="1"/>
          </p:cNvSpPr>
          <p:nvPr>
            <p:ph type="body" idx="1"/>
          </p:nvPr>
        </p:nvSpPr>
        <p:spPr>
          <a:xfrm>
            <a:off x="3720354" y="4824414"/>
            <a:ext cx="4966446"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6" name="Slide Number Placeholder 5"/>
          <p:cNvSpPr>
            <a:spLocks noGrp="1"/>
          </p:cNvSpPr>
          <p:nvPr>
            <p:ph type="sldNum" sz="quarter" idx="12"/>
          </p:nvPr>
        </p:nvSpPr>
        <p:spPr>
          <a:xfrm>
            <a:off x="351212" y="6104965"/>
            <a:ext cx="506506" cy="365125"/>
          </a:xfrm>
        </p:spPr>
        <p:txBody>
          <a:bodyPr/>
          <a:lstStyle/>
          <a:p>
            <a:fld id="{57AF16DE-A0D5-4438-950F-5B1E159C2C28}" type="slidenum">
              <a:rPr lang="en-US" smtClean="0"/>
              <a:t>‹#›</a:t>
            </a:fld>
            <a:endParaRPr lang="en-US"/>
          </a:p>
        </p:txBody>
      </p:sp>
      <p:sp>
        <p:nvSpPr>
          <p:cNvPr id="9" name="Picture Placeholder 8"/>
          <p:cNvSpPr>
            <a:spLocks noGrp="1"/>
          </p:cNvSpPr>
          <p:nvPr>
            <p:ph type="pic" sz="quarter" idx="13"/>
          </p:nvPr>
        </p:nvSpPr>
        <p:spPr>
          <a:xfrm>
            <a:off x="269874" y="268288"/>
            <a:ext cx="2971800" cy="4438650"/>
          </a:xfrm>
        </p:spPr>
        <p:txBody>
          <a:bodyPr/>
          <a:lstStyle>
            <a:lvl1pPr>
              <a:buNone/>
              <a:defRPr/>
            </a:lvl1pPr>
          </a:lstStyle>
          <a:p>
            <a:r>
              <a:rPr lang="en-AU" smtClean="0"/>
              <a:t>Drag picture to placeholder or click icon to add</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AU" smtClean="0"/>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88352" cy="1143000"/>
          </a:xfrm>
        </p:spPr>
        <p:txBody>
          <a:bodyPr/>
          <a:lstStyle>
            <a:lvl1pPr>
              <a:defRPr/>
            </a:lvl1pPr>
          </a:lstStyle>
          <a:p>
            <a:r>
              <a:rPr lang="en-AU" smtClean="0"/>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7" name="Date Placeholder 6"/>
          <p:cNvSpPr>
            <a:spLocks noGrp="1"/>
          </p:cNvSpPr>
          <p:nvPr>
            <p:ph type="dt" sz="half" idx="10"/>
          </p:nvPr>
        </p:nvSpPr>
        <p:spPr/>
        <p:txBody>
          <a:bodyPr/>
          <a:lstStyle/>
          <a:p>
            <a:fld id="{B1A24CD3-204F-4468-8EE4-28A6668D006A}" type="datetimeFigureOut">
              <a:rPr lang="en-US" smtClean="0"/>
              <a:t>3/30/2017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AU" smtClean="0"/>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AU"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14400"/>
            <a:ext cx="7391401" cy="1143000"/>
          </a:xfrm>
        </p:spPr>
        <p:txBody>
          <a:bodyPr/>
          <a:lstStyle/>
          <a:p>
            <a:r>
              <a:rPr lang="en-AU" smtClean="0"/>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8148918" y="268288"/>
            <a:ext cx="718073"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AU" smtClean="0"/>
              <a:t>Click to edit Master title style</a:t>
            </a:r>
            <a:endParaRPr/>
          </a:p>
        </p:txBody>
      </p:sp>
      <p:sp>
        <p:nvSpPr>
          <p:cNvPr id="3" name="Date Placeholder 2"/>
          <p:cNvSpPr>
            <a:spLocks noGrp="1"/>
          </p:cNvSpPr>
          <p:nvPr>
            <p:ph type="dt" sz="half" idx="10"/>
          </p:nvPr>
        </p:nvSpPr>
        <p:spPr/>
        <p:txBody>
          <a:bodyPr/>
          <a:lstStyle/>
          <a:p>
            <a:fld id="{B1A24CD3-204F-4468-8EE4-28A6668D006A}" type="datetimeFigureOut">
              <a:rPr lang="en-US" smtClean="0"/>
              <a:t>3/30/2017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B1A24CD3-204F-4468-8EE4-28A6668D006A}" type="datetimeFigureOut">
              <a:rPr lang="en-US" smtClean="0"/>
              <a:t>3/30/2017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en-AU" smtClean="0"/>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4746811" y="268288"/>
            <a:ext cx="41148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199" y="995082"/>
            <a:ext cx="3566160" cy="1035424"/>
          </a:xfrm>
        </p:spPr>
        <p:txBody>
          <a:bodyPr anchor="b"/>
          <a:lstStyle>
            <a:lvl1pPr algn="l">
              <a:defRPr sz="2800" b="0"/>
            </a:lvl1pPr>
          </a:lstStyle>
          <a:p>
            <a:r>
              <a:rPr lang="en-AU" smtClean="0"/>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a:xfrm>
            <a:off x="161365" y="6124014"/>
            <a:ext cx="1752600" cy="365125"/>
          </a:xfrm>
        </p:spPr>
        <p:txBody>
          <a:bodyPr/>
          <a:lstStyle>
            <a:lvl1pPr algn="l">
              <a:defRPr/>
            </a:lvl1p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a:xfrm>
            <a:off x="174812" y="6356350"/>
            <a:ext cx="3863788" cy="365125"/>
          </a:xfrm>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10" name="Picture Placeholder 9"/>
          <p:cNvSpPr>
            <a:spLocks noGrp="1"/>
          </p:cNvSpPr>
          <p:nvPr>
            <p:ph type="pic" sz="quarter" idx="13"/>
          </p:nvPr>
        </p:nvSpPr>
        <p:spPr>
          <a:xfrm>
            <a:off x="4760258" y="990600"/>
            <a:ext cx="4096512" cy="5611813"/>
          </a:xfrm>
        </p:spPr>
        <p:txBody>
          <a:bodyPr/>
          <a:lstStyle>
            <a:lvl1pPr>
              <a:buNone/>
              <a:defRPr/>
            </a:lvl1pPr>
          </a:lstStyle>
          <a:p>
            <a:r>
              <a:rPr lang="en-AU" smtClean="0"/>
              <a:t>Drag picture to placeholder or click icon to add</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7216775" y="268288"/>
            <a:ext cx="1639457"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en-AU" smtClean="0"/>
              <a:t>Click to edit Master title style</a:t>
            </a:r>
            <a:endParaRPr/>
          </a:p>
        </p:txBody>
      </p:sp>
      <p:sp>
        <p:nvSpPr>
          <p:cNvPr id="3" name="Picture Placeholder 2"/>
          <p:cNvSpPr>
            <a:spLocks noGrp="1"/>
          </p:cNvSpPr>
          <p:nvPr>
            <p:ph type="pic" idx="1"/>
          </p:nvPr>
        </p:nvSpPr>
        <p:spPr>
          <a:xfrm>
            <a:off x="269874" y="268288"/>
            <a:ext cx="6858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8135471" y="268288"/>
            <a:ext cx="720761"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8788" y="4267200"/>
            <a:ext cx="6477000" cy="566738"/>
          </a:xfrm>
        </p:spPr>
        <p:txBody>
          <a:bodyPr anchor="b"/>
          <a:lstStyle>
            <a:lvl1pPr algn="l">
              <a:defRPr sz="2800" b="0"/>
            </a:lvl1pPr>
          </a:lstStyle>
          <a:p>
            <a:r>
              <a:rPr lang="en-AU" smtClean="0"/>
              <a:t>Click to edit Master title style</a:t>
            </a:r>
            <a:endParaRPr/>
          </a:p>
        </p:txBody>
      </p:sp>
      <p:sp>
        <p:nvSpPr>
          <p:cNvPr id="3" name="Picture Placeholder 2"/>
          <p:cNvSpPr>
            <a:spLocks noGrp="1"/>
          </p:cNvSpPr>
          <p:nvPr>
            <p:ph type="pic" idx="1"/>
          </p:nvPr>
        </p:nvSpPr>
        <p:spPr>
          <a:xfrm>
            <a:off x="269874" y="268288"/>
            <a:ext cx="3006726"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smtClean="0"/>
              <a:t>Drag picture to placeholder or click icon to add</a:t>
            </a:r>
            <a:endParaRPr/>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B1A24CD3-204F-4468-8EE4-28A6668D006A}" type="datetimeFigureOut">
              <a:rPr lang="en-US" smtClean="0"/>
              <a:t>3/30/2017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F16DE-A0D5-4438-950F-5B1E159C2C28}" type="slidenum">
              <a:rPr lang="en-US" smtClean="0"/>
              <a:t>‹#›</a:t>
            </a:fld>
            <a:endParaRPr lang="en-US"/>
          </a:p>
        </p:txBody>
      </p:sp>
      <p:sp>
        <p:nvSpPr>
          <p:cNvPr id="10" name="Picture Placeholder 2"/>
          <p:cNvSpPr>
            <a:spLocks noGrp="1"/>
          </p:cNvSpPr>
          <p:nvPr>
            <p:ph type="pic" idx="13"/>
          </p:nvPr>
        </p:nvSpPr>
        <p:spPr>
          <a:xfrm>
            <a:off x="3352800" y="268288"/>
            <a:ext cx="47019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smtClean="0"/>
              <a:t>Drag picture to placeholder or click icon to add</a:t>
            </a:r>
            <a:endParaRPr/>
          </a:p>
        </p:txBody>
      </p:sp>
      <p:sp>
        <p:nvSpPr>
          <p:cNvPr id="11" name="Picture Placeholder 2"/>
          <p:cNvSpPr>
            <a:spLocks noGrp="1"/>
          </p:cNvSpPr>
          <p:nvPr>
            <p:ph type="pic" idx="14"/>
          </p:nvPr>
        </p:nvSpPr>
        <p:spPr>
          <a:xfrm>
            <a:off x="33528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smtClean="0"/>
              <a:t>Drag picture to placeholder or click icon to add</a:t>
            </a:r>
            <a:endParaRPr/>
          </a:p>
        </p:txBody>
      </p:sp>
      <p:sp>
        <p:nvSpPr>
          <p:cNvPr id="12" name="Picture Placeholder 2"/>
          <p:cNvSpPr>
            <a:spLocks noGrp="1"/>
          </p:cNvSpPr>
          <p:nvPr>
            <p:ph type="pic" idx="15"/>
          </p:nvPr>
        </p:nvSpPr>
        <p:spPr>
          <a:xfrm>
            <a:off x="5750500" y="2131935"/>
            <a:ext cx="2304288"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smtClean="0"/>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7212106" y="268288"/>
            <a:ext cx="164592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AU"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8148918" y="268288"/>
            <a:ext cx="718073"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543799" y="1035424"/>
            <a:ext cx="1322295" cy="5090739"/>
          </a:xfrm>
        </p:spPr>
        <p:txBody>
          <a:bodyPr vert="eaVert" anchor="t" anchorCtr="0"/>
          <a:lstStyle/>
          <a:p>
            <a:r>
              <a:rPr lang="en-AU" smtClean="0"/>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lvl5pPr>
              <a:defRPr/>
            </a:lvl5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10"/>
          </p:nvPr>
        </p:nvSpPr>
        <p:spPr/>
        <p:txBody>
          <a:bodyPr/>
          <a:lstStyle/>
          <a:p>
            <a:fld id="{B1A24CD3-204F-4468-8EE4-28A6668D006A}" type="datetimeFigureOut">
              <a:rPr lang="en-US" smtClean="0"/>
              <a:t>3/30/2017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F16DE-A0D5-4438-950F-5B1E159C2C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199" y="914400"/>
            <a:ext cx="6508377" cy="1143000"/>
          </a:xfrm>
          <a:prstGeom prst="rect">
            <a:avLst/>
          </a:prstGeom>
        </p:spPr>
        <p:txBody>
          <a:bodyPr vert="horz" lIns="91440" tIns="45720" rIns="91440" bIns="45720" rtlCol="0" anchor="b" anchorCtr="0">
            <a:noAutofit/>
          </a:bodyPr>
          <a:lstStyle/>
          <a:p>
            <a:r>
              <a:rPr lang="en-AU" smtClean="0"/>
              <a:t>Click to edit Master title style</a:t>
            </a:r>
            <a:endParaRPr/>
          </a:p>
        </p:txBody>
      </p:sp>
      <p:sp>
        <p:nvSpPr>
          <p:cNvPr id="3" name="Text Placeholder 2"/>
          <p:cNvSpPr>
            <a:spLocks noGrp="1"/>
          </p:cNvSpPr>
          <p:nvPr>
            <p:ph type="body" idx="1"/>
          </p:nvPr>
        </p:nvSpPr>
        <p:spPr>
          <a:xfrm>
            <a:off x="457199" y="2209800"/>
            <a:ext cx="6508377" cy="39163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dirty="0"/>
          </a:p>
        </p:txBody>
      </p:sp>
      <p:sp>
        <p:nvSpPr>
          <p:cNvPr id="4" name="Date Placeholder 3"/>
          <p:cNvSpPr>
            <a:spLocks noGrp="1"/>
          </p:cNvSpPr>
          <p:nvPr>
            <p:ph type="dt" sz="half" idx="2"/>
          </p:nvPr>
        </p:nvSpPr>
        <p:spPr>
          <a:xfrm>
            <a:off x="7198659" y="6356350"/>
            <a:ext cx="17526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B1A24CD3-204F-4468-8EE4-28A6668D006A}" type="datetimeFigureOut">
              <a:rPr lang="en-US" smtClean="0"/>
              <a:t>3/30/2017</a:t>
            </a:fld>
            <a:endParaRPr lang="en-US"/>
          </a:p>
        </p:txBody>
      </p:sp>
      <p:sp>
        <p:nvSpPr>
          <p:cNvPr id="5" name="Footer Placeholder 4"/>
          <p:cNvSpPr>
            <a:spLocks noGrp="1"/>
          </p:cNvSpPr>
          <p:nvPr>
            <p:ph type="ftr" sz="quarter" idx="3"/>
          </p:nvPr>
        </p:nvSpPr>
        <p:spPr>
          <a:xfrm>
            <a:off x="174812" y="6356350"/>
            <a:ext cx="6007100"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8256494" y="361016"/>
            <a:ext cx="506506" cy="365125"/>
          </a:xfrm>
          <a:prstGeom prst="rect">
            <a:avLst/>
          </a:prstGeom>
        </p:spPr>
        <p:txBody>
          <a:bodyPr vert="horz" lIns="91440" tIns="45720" rIns="91440" bIns="45720" rtlCol="0" anchor="ctr"/>
          <a:lstStyle>
            <a:lvl1pPr algn="r">
              <a:defRPr sz="2200" b="1">
                <a:solidFill>
                  <a:schemeClr val="bg1"/>
                </a:solidFill>
              </a:defRPr>
            </a:lvl1pPr>
          </a:lstStyle>
          <a:p>
            <a:fld id="{57AF16DE-A0D5-4438-950F-5B1E159C2C2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hyperlink" Target="http://hsc.csu.edu.au/pdhpe/resources/2604/scaffolds.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891" y="4208929"/>
            <a:ext cx="8587145" cy="830013"/>
          </a:xfrm>
        </p:spPr>
        <p:txBody>
          <a:bodyPr>
            <a:normAutofit fontScale="90000"/>
          </a:bodyPr>
          <a:lstStyle/>
          <a:p>
            <a:r>
              <a:rPr lang="en-US" dirty="0" smtClean="0"/>
              <a:t>Short Answer Response Workshop</a:t>
            </a:r>
            <a:endParaRPr lang="en-US" dirty="0"/>
          </a:p>
        </p:txBody>
      </p:sp>
      <p:sp>
        <p:nvSpPr>
          <p:cNvPr id="3" name="Subtitle 2"/>
          <p:cNvSpPr>
            <a:spLocks noGrp="1"/>
          </p:cNvSpPr>
          <p:nvPr>
            <p:ph type="subTitle" idx="1"/>
          </p:nvPr>
        </p:nvSpPr>
        <p:spPr>
          <a:xfrm>
            <a:off x="241891" y="5275099"/>
            <a:ext cx="8587145" cy="1392951"/>
          </a:xfrm>
        </p:spPr>
        <p:txBody>
          <a:bodyPr>
            <a:noAutofit/>
          </a:bodyPr>
          <a:lstStyle/>
          <a:p>
            <a:pPr algn="ctr"/>
            <a:r>
              <a:rPr lang="en-US" sz="2000" b="1" dirty="0" smtClean="0"/>
              <a:t>Hugh </a:t>
            </a:r>
            <a:r>
              <a:rPr lang="en-US" sz="2000" b="1" dirty="0" err="1" smtClean="0"/>
              <a:t>Rayner</a:t>
            </a:r>
            <a:r>
              <a:rPr lang="en-US" sz="2000" b="1" dirty="0"/>
              <a:t> </a:t>
            </a:r>
            <a:r>
              <a:rPr lang="en-US" sz="2000" b="1" dirty="0" smtClean="0"/>
              <a:t>and Claire Burton</a:t>
            </a:r>
          </a:p>
          <a:p>
            <a:pPr algn="ctr"/>
            <a:r>
              <a:rPr lang="en-US" sz="2000" b="1" dirty="0" smtClean="0"/>
              <a:t>Shenton College Teacher Development School</a:t>
            </a:r>
            <a:endParaRPr lang="en-US" sz="2000" b="1" dirty="0"/>
          </a:p>
        </p:txBody>
      </p:sp>
    </p:spTree>
    <p:extLst>
      <p:ext uri="{BB962C8B-B14F-4D97-AF65-F5344CB8AC3E}">
        <p14:creationId xmlns:p14="http://schemas.microsoft.com/office/powerpoint/2010/main" val="1693167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45327"/>
            <a:ext cx="6508377" cy="1143000"/>
          </a:xfrm>
        </p:spPr>
        <p:txBody>
          <a:bodyPr/>
          <a:lstStyle/>
          <a:p>
            <a:r>
              <a:rPr lang="en-US" dirty="0" smtClean="0"/>
              <a:t>Welcome</a:t>
            </a:r>
            <a:endParaRPr lang="en-US" dirty="0"/>
          </a:p>
        </p:txBody>
      </p:sp>
      <p:sp>
        <p:nvSpPr>
          <p:cNvPr id="3" name="Content Placeholder 2"/>
          <p:cNvSpPr>
            <a:spLocks noGrp="1"/>
          </p:cNvSpPr>
          <p:nvPr>
            <p:ph idx="1"/>
          </p:nvPr>
        </p:nvSpPr>
        <p:spPr>
          <a:xfrm>
            <a:off x="457199" y="2313406"/>
            <a:ext cx="8365039" cy="3719593"/>
          </a:xfrm>
        </p:spPr>
        <p:txBody>
          <a:bodyPr>
            <a:normAutofit/>
          </a:bodyPr>
          <a:lstStyle/>
          <a:p>
            <a:r>
              <a:rPr lang="en-US" sz="2400" dirty="0" smtClean="0"/>
              <a:t>Today’s Agenda</a:t>
            </a:r>
          </a:p>
          <a:p>
            <a:endParaRPr lang="en-US" sz="2400" dirty="0" smtClean="0"/>
          </a:p>
          <a:p>
            <a:pPr lvl="2">
              <a:lnSpc>
                <a:spcPct val="150000"/>
              </a:lnSpc>
              <a:buFont typeface="Arial"/>
              <a:buChar char="•"/>
            </a:pPr>
            <a:r>
              <a:rPr lang="en-US" sz="2400" dirty="0" smtClean="0"/>
              <a:t>Our approach to Comprehending Tasks</a:t>
            </a:r>
          </a:p>
          <a:p>
            <a:pPr lvl="2">
              <a:lnSpc>
                <a:spcPct val="150000"/>
              </a:lnSpc>
              <a:buFont typeface="Arial"/>
              <a:buChar char="•"/>
            </a:pPr>
            <a:r>
              <a:rPr lang="en-US" sz="2400" dirty="0" smtClean="0"/>
              <a:t>Models for Teaching Short Answer</a:t>
            </a:r>
          </a:p>
          <a:p>
            <a:pPr lvl="2">
              <a:lnSpc>
                <a:spcPct val="150000"/>
              </a:lnSpc>
              <a:buFont typeface="Arial"/>
              <a:buChar char="•"/>
            </a:pPr>
            <a:r>
              <a:rPr lang="en-US" sz="2400" dirty="0" smtClean="0"/>
              <a:t>Marking and Assessment</a:t>
            </a:r>
          </a:p>
          <a:p>
            <a:pPr lvl="2">
              <a:lnSpc>
                <a:spcPct val="150000"/>
              </a:lnSpc>
              <a:buFont typeface="Arial"/>
              <a:buChar char="•"/>
            </a:pPr>
            <a:r>
              <a:rPr lang="en-US" sz="2400" dirty="0" smtClean="0"/>
              <a:t>Discuss and Collaborate</a:t>
            </a:r>
          </a:p>
          <a:p>
            <a:endParaRPr lang="en-US" dirty="0"/>
          </a:p>
        </p:txBody>
      </p:sp>
    </p:spTree>
    <p:extLst>
      <p:ext uri="{BB962C8B-B14F-4D97-AF65-F5344CB8AC3E}">
        <p14:creationId xmlns:p14="http://schemas.microsoft.com/office/powerpoint/2010/main" val="410841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45327"/>
            <a:ext cx="6508377" cy="1143000"/>
          </a:xfrm>
        </p:spPr>
        <p:txBody>
          <a:bodyPr/>
          <a:lstStyle/>
          <a:p>
            <a:r>
              <a:rPr lang="en-US" dirty="0" smtClean="0"/>
              <a:t>Our Approach</a:t>
            </a:r>
            <a:endParaRPr lang="en-US" dirty="0"/>
          </a:p>
        </p:txBody>
      </p:sp>
      <p:sp>
        <p:nvSpPr>
          <p:cNvPr id="3" name="Content Placeholder 2"/>
          <p:cNvSpPr>
            <a:spLocks noGrp="1"/>
          </p:cNvSpPr>
          <p:nvPr>
            <p:ph idx="1"/>
          </p:nvPr>
        </p:nvSpPr>
        <p:spPr>
          <a:xfrm>
            <a:off x="457199" y="2313406"/>
            <a:ext cx="8365039" cy="3719593"/>
          </a:xfrm>
        </p:spPr>
        <p:txBody>
          <a:bodyPr>
            <a:normAutofit/>
          </a:bodyPr>
          <a:lstStyle/>
          <a:p>
            <a:r>
              <a:rPr lang="en-US" dirty="0" smtClean="0"/>
              <a:t>Development of short answer skills</a:t>
            </a:r>
          </a:p>
          <a:p>
            <a:pPr lvl="2"/>
            <a:r>
              <a:rPr lang="en-US" dirty="0"/>
              <a:t>Year 10 program and exam (2 short answers in 45 minutes</a:t>
            </a:r>
            <a:r>
              <a:rPr lang="en-US" dirty="0" smtClean="0"/>
              <a:t>)</a:t>
            </a:r>
          </a:p>
          <a:p>
            <a:r>
              <a:rPr lang="en-US" dirty="0" smtClean="0"/>
              <a:t>Year 11 Task 1</a:t>
            </a:r>
          </a:p>
          <a:p>
            <a:pPr lvl="2"/>
            <a:r>
              <a:rPr lang="en-US" dirty="0" smtClean="0"/>
              <a:t>Split across 3 lessons to enable efficient feedback and teach students skill set</a:t>
            </a:r>
          </a:p>
          <a:p>
            <a:r>
              <a:rPr lang="en-US" dirty="0" smtClean="0"/>
              <a:t>Year 11 Task 4</a:t>
            </a:r>
          </a:p>
          <a:p>
            <a:pPr lvl="2"/>
            <a:r>
              <a:rPr lang="en-US" dirty="0" smtClean="0"/>
              <a:t>3 short answers in 60 minutes</a:t>
            </a:r>
          </a:p>
          <a:p>
            <a:pPr marL="457200" lvl="2" indent="0">
              <a:buNone/>
            </a:pPr>
            <a:endParaRPr lang="en-US" dirty="0"/>
          </a:p>
        </p:txBody>
      </p:sp>
    </p:spTree>
    <p:extLst>
      <p:ext uri="{BB962C8B-B14F-4D97-AF65-F5344CB8AC3E}">
        <p14:creationId xmlns:p14="http://schemas.microsoft.com/office/powerpoint/2010/main" val="15314002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8248"/>
            <a:ext cx="1084992" cy="6101040"/>
          </a:xfrm>
        </p:spPr>
        <p:txBody>
          <a:bodyPr/>
          <a:lstStyle/>
          <a:p>
            <a:r>
              <a:rPr lang="en-US" dirty="0" smtClean="0"/>
              <a:t>1A</a:t>
            </a:r>
            <a:r>
              <a:rPr lang="en-US" dirty="0"/>
              <a:t/>
            </a:r>
            <a:br>
              <a:rPr lang="en-US" dirty="0"/>
            </a:br>
            <a:r>
              <a:rPr lang="en-US" dirty="0" smtClean="0"/>
              <a:t/>
            </a:r>
            <a:br>
              <a:rPr lang="en-US" dirty="0" smtClean="0"/>
            </a:br>
            <a:r>
              <a:rPr lang="en-US" dirty="0" smtClean="0"/>
              <a:t/>
            </a:r>
            <a:br>
              <a:rPr lang="en-US" dirty="0" smtClean="0"/>
            </a:br>
            <a:r>
              <a:rPr lang="en-US" dirty="0" smtClean="0"/>
              <a:t>1B</a:t>
            </a:r>
            <a:br>
              <a:rPr lang="en-US" dirty="0" smtClean="0"/>
            </a:br>
            <a:r>
              <a:rPr lang="en-US" dirty="0"/>
              <a:t/>
            </a:r>
            <a:br>
              <a:rPr lang="en-US" dirty="0"/>
            </a:br>
            <a:r>
              <a:rPr lang="en-US" dirty="0" smtClean="0"/>
              <a:t/>
            </a:r>
            <a:br>
              <a:rPr lang="en-US" dirty="0" smtClean="0"/>
            </a:br>
            <a:r>
              <a:rPr lang="en-US" dirty="0" smtClean="0"/>
              <a:t>1C</a:t>
            </a:r>
            <a:br>
              <a:rPr lang="en-US" dirty="0" smtClean="0"/>
            </a:br>
            <a:r>
              <a:rPr lang="en-US" dirty="0"/>
              <a:t/>
            </a:r>
            <a:br>
              <a:rPr lang="en-US" dirty="0"/>
            </a:br>
            <a:r>
              <a:rPr lang="en-US" dirty="0" smtClean="0"/>
              <a:t> </a:t>
            </a:r>
            <a:endParaRPr lang="en-US" dirty="0"/>
          </a:p>
        </p:txBody>
      </p:sp>
      <p:sp>
        <p:nvSpPr>
          <p:cNvPr id="4" name="TextBox 3"/>
          <p:cNvSpPr txBox="1"/>
          <p:nvPr/>
        </p:nvSpPr>
        <p:spPr>
          <a:xfrm>
            <a:off x="457200" y="304595"/>
            <a:ext cx="6720789" cy="615553"/>
          </a:xfrm>
          <a:prstGeom prst="rect">
            <a:avLst/>
          </a:prstGeom>
          <a:noFill/>
        </p:spPr>
        <p:txBody>
          <a:bodyPr wrap="square" rtlCol="0">
            <a:spAutoFit/>
          </a:bodyPr>
          <a:lstStyle/>
          <a:p>
            <a:pPr algn="ctr"/>
            <a:r>
              <a:rPr lang="en-US" sz="3400" dirty="0" smtClean="0">
                <a:solidFill>
                  <a:srgbClr val="800000"/>
                </a:solidFill>
              </a:rPr>
              <a:t>Task 1</a:t>
            </a:r>
            <a:endParaRPr lang="en-US" sz="3400" dirty="0">
              <a:solidFill>
                <a:srgbClr val="800000"/>
              </a:solidFill>
            </a:endParaRPr>
          </a:p>
        </p:txBody>
      </p:sp>
      <p:sp>
        <p:nvSpPr>
          <p:cNvPr id="5" name="TextBox 4"/>
          <p:cNvSpPr txBox="1"/>
          <p:nvPr/>
        </p:nvSpPr>
        <p:spPr>
          <a:xfrm>
            <a:off x="1542192" y="1281445"/>
            <a:ext cx="5423577" cy="1158779"/>
          </a:xfrm>
          <a:prstGeom prst="rect">
            <a:avLst/>
          </a:prstGeom>
          <a:noFill/>
        </p:spPr>
        <p:txBody>
          <a:bodyPr wrap="square" rtlCol="0">
            <a:spAutoFit/>
          </a:bodyPr>
          <a:lstStyle/>
          <a:p>
            <a:pPr>
              <a:lnSpc>
                <a:spcPct val="130000"/>
              </a:lnSpc>
            </a:pPr>
            <a:r>
              <a:rPr lang="en-US" dirty="0" smtClean="0"/>
              <a:t>Identify three conventions used in the extract and explain how they are used to construct the author’s persona. </a:t>
            </a:r>
            <a:endParaRPr lang="en-US" dirty="0"/>
          </a:p>
        </p:txBody>
      </p:sp>
      <p:sp>
        <p:nvSpPr>
          <p:cNvPr id="7" name="TextBox 6"/>
          <p:cNvSpPr txBox="1"/>
          <p:nvPr/>
        </p:nvSpPr>
        <p:spPr>
          <a:xfrm>
            <a:off x="1542192" y="2930755"/>
            <a:ext cx="5423577" cy="1158779"/>
          </a:xfrm>
          <a:prstGeom prst="rect">
            <a:avLst/>
          </a:prstGeom>
          <a:noFill/>
        </p:spPr>
        <p:txBody>
          <a:bodyPr wrap="square" rtlCol="0">
            <a:spAutoFit/>
          </a:bodyPr>
          <a:lstStyle/>
          <a:p>
            <a:pPr>
              <a:lnSpc>
                <a:spcPct val="130000"/>
              </a:lnSpc>
            </a:pPr>
            <a:r>
              <a:rPr lang="en-US" dirty="0" smtClean="0"/>
              <a:t>Explain your expectations of this autobiography based on the visual conventions of the cover.</a:t>
            </a:r>
            <a:endParaRPr lang="en-US" dirty="0"/>
          </a:p>
        </p:txBody>
      </p:sp>
      <p:sp>
        <p:nvSpPr>
          <p:cNvPr id="8" name="TextBox 7"/>
          <p:cNvSpPr txBox="1"/>
          <p:nvPr/>
        </p:nvSpPr>
        <p:spPr>
          <a:xfrm>
            <a:off x="1542192" y="4631788"/>
            <a:ext cx="5423577" cy="1158779"/>
          </a:xfrm>
          <a:prstGeom prst="rect">
            <a:avLst/>
          </a:prstGeom>
          <a:noFill/>
        </p:spPr>
        <p:txBody>
          <a:bodyPr wrap="square" rtlCol="0">
            <a:spAutoFit/>
          </a:bodyPr>
          <a:lstStyle/>
          <a:p>
            <a:pPr>
              <a:lnSpc>
                <a:spcPct val="130000"/>
              </a:lnSpc>
            </a:pPr>
            <a:r>
              <a:rPr lang="en-US" dirty="0" smtClean="0"/>
              <a:t>Compare the effect of emotive language in Text 1 and Text 2 on the reader’s response to the persona or events.</a:t>
            </a:r>
            <a:endParaRPr lang="en-US" dirty="0"/>
          </a:p>
        </p:txBody>
      </p:sp>
    </p:spTree>
    <p:extLst>
      <p:ext uri="{BB962C8B-B14F-4D97-AF65-F5344CB8AC3E}">
        <p14:creationId xmlns:p14="http://schemas.microsoft.com/office/powerpoint/2010/main" val="28981107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8248"/>
            <a:ext cx="1084992" cy="6101040"/>
          </a:xfrm>
        </p:spPr>
        <p:txBody>
          <a:bodyPr/>
          <a:lstStyle/>
          <a:p>
            <a:r>
              <a:rPr lang="en-US" dirty="0" smtClean="0"/>
              <a:t>1</a:t>
            </a:r>
            <a:r>
              <a:rPr lang="en-US" dirty="0"/>
              <a:t/>
            </a:r>
            <a:br>
              <a:rPr lang="en-US" dirty="0"/>
            </a:br>
            <a:r>
              <a:rPr lang="en-US" dirty="0" smtClean="0"/>
              <a:t/>
            </a:r>
            <a:br>
              <a:rPr lang="en-US" dirty="0" smtClean="0"/>
            </a:br>
            <a:r>
              <a:rPr lang="en-US" dirty="0" smtClean="0"/>
              <a:t/>
            </a:r>
            <a:br>
              <a:rPr lang="en-US" dirty="0" smtClean="0"/>
            </a:br>
            <a:r>
              <a:rPr lang="en-US" dirty="0"/>
              <a:t>2</a:t>
            </a:r>
            <a:r>
              <a:rPr lang="en-US" dirty="0" smtClean="0"/>
              <a:t/>
            </a:r>
            <a:br>
              <a:rPr lang="en-US" dirty="0" smtClean="0"/>
            </a:br>
            <a:r>
              <a:rPr lang="en-US" dirty="0"/>
              <a:t/>
            </a:r>
            <a:br>
              <a:rPr lang="en-US" dirty="0"/>
            </a:br>
            <a:r>
              <a:rPr lang="en-US" dirty="0" smtClean="0"/>
              <a:t/>
            </a:r>
            <a:br>
              <a:rPr lang="en-US" dirty="0" smtClean="0"/>
            </a:br>
            <a:r>
              <a:rPr lang="en-US" dirty="0"/>
              <a:t>3</a:t>
            </a:r>
            <a:r>
              <a:rPr lang="en-US" dirty="0" smtClean="0"/>
              <a:t/>
            </a:r>
            <a:br>
              <a:rPr lang="en-US" dirty="0" smtClean="0"/>
            </a:br>
            <a:r>
              <a:rPr lang="en-US" dirty="0"/>
              <a:t/>
            </a:r>
            <a:br>
              <a:rPr lang="en-US" dirty="0"/>
            </a:br>
            <a:r>
              <a:rPr lang="en-US" dirty="0" smtClean="0"/>
              <a:t> </a:t>
            </a:r>
            <a:endParaRPr lang="en-US" dirty="0"/>
          </a:p>
        </p:txBody>
      </p:sp>
      <p:sp>
        <p:nvSpPr>
          <p:cNvPr id="4" name="TextBox 3"/>
          <p:cNvSpPr txBox="1"/>
          <p:nvPr/>
        </p:nvSpPr>
        <p:spPr>
          <a:xfrm>
            <a:off x="457200" y="304595"/>
            <a:ext cx="6720789" cy="615553"/>
          </a:xfrm>
          <a:prstGeom prst="rect">
            <a:avLst/>
          </a:prstGeom>
          <a:noFill/>
        </p:spPr>
        <p:txBody>
          <a:bodyPr wrap="square" rtlCol="0">
            <a:spAutoFit/>
          </a:bodyPr>
          <a:lstStyle/>
          <a:p>
            <a:pPr algn="ctr"/>
            <a:r>
              <a:rPr lang="en-US" sz="3400" dirty="0" smtClean="0">
                <a:solidFill>
                  <a:srgbClr val="800000"/>
                </a:solidFill>
              </a:rPr>
              <a:t>Task 4</a:t>
            </a:r>
            <a:endParaRPr lang="en-US" sz="3400" dirty="0">
              <a:solidFill>
                <a:srgbClr val="800000"/>
              </a:solidFill>
            </a:endParaRPr>
          </a:p>
        </p:txBody>
      </p:sp>
      <p:sp>
        <p:nvSpPr>
          <p:cNvPr id="5" name="TextBox 4"/>
          <p:cNvSpPr txBox="1"/>
          <p:nvPr/>
        </p:nvSpPr>
        <p:spPr>
          <a:xfrm>
            <a:off x="1542192" y="1372166"/>
            <a:ext cx="5423577" cy="798680"/>
          </a:xfrm>
          <a:prstGeom prst="rect">
            <a:avLst/>
          </a:prstGeom>
          <a:noFill/>
        </p:spPr>
        <p:txBody>
          <a:bodyPr wrap="square" rtlCol="0">
            <a:spAutoFit/>
          </a:bodyPr>
          <a:lstStyle/>
          <a:p>
            <a:pPr>
              <a:lnSpc>
                <a:spcPct val="130000"/>
              </a:lnSpc>
            </a:pPr>
            <a:r>
              <a:rPr lang="en-US" dirty="0" smtClean="0"/>
              <a:t>Discuss how Text 1 constructs ideas about gender</a:t>
            </a:r>
            <a:endParaRPr lang="en-US" dirty="0"/>
          </a:p>
        </p:txBody>
      </p:sp>
      <p:sp>
        <p:nvSpPr>
          <p:cNvPr id="7" name="TextBox 6"/>
          <p:cNvSpPr txBox="1"/>
          <p:nvPr/>
        </p:nvSpPr>
        <p:spPr>
          <a:xfrm>
            <a:off x="1542192" y="2930755"/>
            <a:ext cx="5423577" cy="1158779"/>
          </a:xfrm>
          <a:prstGeom prst="rect">
            <a:avLst/>
          </a:prstGeom>
          <a:noFill/>
        </p:spPr>
        <p:txBody>
          <a:bodyPr wrap="square" rtlCol="0">
            <a:spAutoFit/>
          </a:bodyPr>
          <a:lstStyle/>
          <a:p>
            <a:pPr>
              <a:lnSpc>
                <a:spcPct val="130000"/>
              </a:lnSpc>
            </a:pPr>
            <a:r>
              <a:rPr lang="en-US" dirty="0" smtClean="0"/>
              <a:t>Explain how the details of setting in Text 2 contribute to the construction of the central character</a:t>
            </a:r>
            <a:endParaRPr lang="en-US" dirty="0"/>
          </a:p>
        </p:txBody>
      </p:sp>
      <p:sp>
        <p:nvSpPr>
          <p:cNvPr id="8" name="TextBox 7"/>
          <p:cNvSpPr txBox="1"/>
          <p:nvPr/>
        </p:nvSpPr>
        <p:spPr>
          <a:xfrm>
            <a:off x="1542192" y="4631788"/>
            <a:ext cx="5423577" cy="798680"/>
          </a:xfrm>
          <a:prstGeom prst="rect">
            <a:avLst/>
          </a:prstGeom>
          <a:noFill/>
        </p:spPr>
        <p:txBody>
          <a:bodyPr wrap="square" rtlCol="0">
            <a:spAutoFit/>
          </a:bodyPr>
          <a:lstStyle/>
          <a:p>
            <a:pPr>
              <a:lnSpc>
                <a:spcPct val="130000"/>
              </a:lnSpc>
            </a:pPr>
            <a:r>
              <a:rPr lang="en-US" dirty="0" smtClean="0"/>
              <a:t>Compare how Text 3 and Text 4 construct representations of a hero</a:t>
            </a:r>
            <a:endParaRPr lang="en-US" dirty="0"/>
          </a:p>
        </p:txBody>
      </p:sp>
    </p:spTree>
    <p:extLst>
      <p:ext uri="{BB962C8B-B14F-4D97-AF65-F5344CB8AC3E}">
        <p14:creationId xmlns:p14="http://schemas.microsoft.com/office/powerpoint/2010/main" val="25217647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3583"/>
            <a:ext cx="873203" cy="5986263"/>
          </a:xfrm>
        </p:spPr>
        <p:txBody>
          <a:bodyPr vert="wordArtVert"/>
          <a:lstStyle/>
          <a:p>
            <a:pPr algn="ctr"/>
            <a:r>
              <a:rPr lang="en-US" dirty="0" smtClean="0"/>
              <a:t>T  E  E  E  T</a:t>
            </a:r>
            <a:endParaRPr lang="en-US" dirty="0"/>
          </a:p>
        </p:txBody>
      </p:sp>
      <p:sp>
        <p:nvSpPr>
          <p:cNvPr id="4" name="TextBox 3"/>
          <p:cNvSpPr txBox="1"/>
          <p:nvPr/>
        </p:nvSpPr>
        <p:spPr>
          <a:xfrm>
            <a:off x="1719156" y="925621"/>
            <a:ext cx="6207249" cy="923330"/>
          </a:xfrm>
          <a:prstGeom prst="rect">
            <a:avLst/>
          </a:prstGeom>
          <a:noFill/>
        </p:spPr>
        <p:txBody>
          <a:bodyPr wrap="square" rtlCol="0">
            <a:spAutoFit/>
          </a:bodyPr>
          <a:lstStyle/>
          <a:p>
            <a:r>
              <a:rPr lang="en-US" b="1" dirty="0" smtClean="0">
                <a:solidFill>
                  <a:srgbClr val="800000"/>
                </a:solidFill>
              </a:rPr>
              <a:t>Thesis Statement </a:t>
            </a:r>
          </a:p>
          <a:p>
            <a:r>
              <a:rPr lang="en-US" dirty="0" smtClean="0"/>
              <a:t>The thesis statement contains key words from the question</a:t>
            </a:r>
            <a:endParaRPr lang="en-US" dirty="0"/>
          </a:p>
        </p:txBody>
      </p:sp>
      <p:sp>
        <p:nvSpPr>
          <p:cNvPr id="5" name="TextBox 4"/>
          <p:cNvSpPr txBox="1"/>
          <p:nvPr/>
        </p:nvSpPr>
        <p:spPr>
          <a:xfrm>
            <a:off x="1716440" y="2002698"/>
            <a:ext cx="6947043" cy="923330"/>
          </a:xfrm>
          <a:prstGeom prst="rect">
            <a:avLst/>
          </a:prstGeom>
          <a:noFill/>
        </p:spPr>
        <p:txBody>
          <a:bodyPr wrap="square" rtlCol="0">
            <a:spAutoFit/>
          </a:bodyPr>
          <a:lstStyle/>
          <a:p>
            <a:r>
              <a:rPr lang="en-US" b="1" dirty="0" smtClean="0">
                <a:solidFill>
                  <a:srgbClr val="800000"/>
                </a:solidFill>
              </a:rPr>
              <a:t>Elaborate</a:t>
            </a:r>
            <a:endParaRPr lang="en-US" b="1" dirty="0" smtClean="0">
              <a:solidFill>
                <a:schemeClr val="accent1">
                  <a:lumMod val="60000"/>
                  <a:lumOff val="40000"/>
                </a:schemeClr>
              </a:solidFill>
            </a:endParaRPr>
          </a:p>
          <a:p>
            <a:r>
              <a:rPr lang="en-US" dirty="0" smtClean="0"/>
              <a:t>Give more details – develop and explain the thesis introducing the key types of evidence that will be discussed</a:t>
            </a:r>
            <a:endParaRPr lang="en-US" dirty="0"/>
          </a:p>
        </p:txBody>
      </p:sp>
      <p:sp>
        <p:nvSpPr>
          <p:cNvPr id="7" name="TextBox 6"/>
          <p:cNvSpPr txBox="1"/>
          <p:nvPr/>
        </p:nvSpPr>
        <p:spPr>
          <a:xfrm>
            <a:off x="1716440" y="3236211"/>
            <a:ext cx="1260381" cy="369332"/>
          </a:xfrm>
          <a:prstGeom prst="rect">
            <a:avLst/>
          </a:prstGeom>
          <a:noFill/>
        </p:spPr>
        <p:txBody>
          <a:bodyPr wrap="none" rtlCol="0">
            <a:spAutoFit/>
          </a:bodyPr>
          <a:lstStyle/>
          <a:p>
            <a:r>
              <a:rPr lang="en-US" b="1" dirty="0" smtClean="0">
                <a:solidFill>
                  <a:srgbClr val="800000"/>
                </a:solidFill>
              </a:rPr>
              <a:t>Examples</a:t>
            </a:r>
            <a:endParaRPr lang="en-US" b="1" dirty="0">
              <a:solidFill>
                <a:srgbClr val="800000"/>
              </a:solidFill>
            </a:endParaRPr>
          </a:p>
        </p:txBody>
      </p:sp>
      <p:sp>
        <p:nvSpPr>
          <p:cNvPr id="8" name="TextBox 7"/>
          <p:cNvSpPr txBox="1"/>
          <p:nvPr/>
        </p:nvSpPr>
        <p:spPr>
          <a:xfrm>
            <a:off x="1716440" y="4404296"/>
            <a:ext cx="1495835" cy="369332"/>
          </a:xfrm>
          <a:prstGeom prst="rect">
            <a:avLst/>
          </a:prstGeom>
          <a:noFill/>
        </p:spPr>
        <p:txBody>
          <a:bodyPr wrap="none" rtlCol="0">
            <a:spAutoFit/>
          </a:bodyPr>
          <a:lstStyle/>
          <a:p>
            <a:r>
              <a:rPr lang="en-US" b="1" dirty="0" smtClean="0">
                <a:solidFill>
                  <a:srgbClr val="800000"/>
                </a:solidFill>
              </a:rPr>
              <a:t>Explanation</a:t>
            </a:r>
            <a:endParaRPr lang="en-US" b="1" dirty="0">
              <a:solidFill>
                <a:srgbClr val="800000"/>
              </a:solidFill>
            </a:endParaRPr>
          </a:p>
        </p:txBody>
      </p:sp>
      <p:sp>
        <p:nvSpPr>
          <p:cNvPr id="9" name="TextBox 8"/>
          <p:cNvSpPr txBox="1"/>
          <p:nvPr/>
        </p:nvSpPr>
        <p:spPr>
          <a:xfrm>
            <a:off x="1719156" y="5361034"/>
            <a:ext cx="6694855" cy="923330"/>
          </a:xfrm>
          <a:prstGeom prst="rect">
            <a:avLst/>
          </a:prstGeom>
          <a:noFill/>
        </p:spPr>
        <p:txBody>
          <a:bodyPr wrap="square" rtlCol="0">
            <a:spAutoFit/>
          </a:bodyPr>
          <a:lstStyle/>
          <a:p>
            <a:r>
              <a:rPr lang="en-US" b="1" dirty="0" smtClean="0">
                <a:solidFill>
                  <a:srgbClr val="800000"/>
                </a:solidFill>
              </a:rPr>
              <a:t>Tieback</a:t>
            </a:r>
          </a:p>
          <a:p>
            <a:r>
              <a:rPr lang="en-US" dirty="0" smtClean="0"/>
              <a:t>The final sentence that ties back to the thesis statement and the key words of the question</a:t>
            </a:r>
            <a:endParaRPr lang="en-US" dirty="0"/>
          </a:p>
        </p:txBody>
      </p:sp>
      <p:sp>
        <p:nvSpPr>
          <p:cNvPr id="10" name="TextBox 9"/>
          <p:cNvSpPr txBox="1"/>
          <p:nvPr/>
        </p:nvSpPr>
        <p:spPr>
          <a:xfrm>
            <a:off x="5163658" y="3236211"/>
            <a:ext cx="3397768" cy="1754327"/>
          </a:xfrm>
          <a:prstGeom prst="rect">
            <a:avLst/>
          </a:prstGeom>
          <a:noFill/>
        </p:spPr>
        <p:txBody>
          <a:bodyPr wrap="square" rtlCol="0">
            <a:spAutoFit/>
          </a:bodyPr>
          <a:lstStyle/>
          <a:p>
            <a:r>
              <a:rPr lang="en-US" b="1" dirty="0" smtClean="0">
                <a:solidFill>
                  <a:srgbClr val="800000"/>
                </a:solidFill>
              </a:rPr>
              <a:t>Rinse and Repeat</a:t>
            </a:r>
          </a:p>
          <a:p>
            <a:r>
              <a:rPr lang="en-US" dirty="0" smtClean="0"/>
              <a:t>Better responses will include multiple examples to show an awareness of how conventions work together for particular effects</a:t>
            </a:r>
            <a:endParaRPr lang="en-US" b="1" dirty="0">
              <a:solidFill>
                <a:srgbClr val="800000"/>
              </a:solidFill>
            </a:endParaRPr>
          </a:p>
        </p:txBody>
      </p:sp>
      <p:sp>
        <p:nvSpPr>
          <p:cNvPr id="11" name="Up-Down Arrow 10"/>
          <p:cNvSpPr/>
          <p:nvPr/>
        </p:nvSpPr>
        <p:spPr>
          <a:xfrm>
            <a:off x="3986477" y="3398713"/>
            <a:ext cx="484632" cy="1216152"/>
          </a:xfrm>
          <a:prstGeom prst="upDownArrow">
            <a:avLst/>
          </a:prstGeom>
          <a:solidFill>
            <a:srgbClr val="800000"/>
          </a:solidFill>
          <a:ln>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6759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529" y="1360743"/>
            <a:ext cx="7484160" cy="5078314"/>
          </a:xfrm>
          <a:prstGeom prst="rect">
            <a:avLst/>
          </a:prstGeom>
          <a:noFill/>
        </p:spPr>
        <p:txBody>
          <a:bodyPr wrap="square" rtlCol="0">
            <a:spAutoFit/>
          </a:bodyPr>
          <a:lstStyle/>
          <a:p>
            <a:r>
              <a:rPr lang="en-US" dirty="0" smtClean="0"/>
              <a:t>The extract from </a:t>
            </a:r>
            <a:r>
              <a:rPr lang="en-US" u="sng" dirty="0" smtClean="0"/>
              <a:t>Kingdom of Fear</a:t>
            </a:r>
            <a:r>
              <a:rPr lang="en-US" dirty="0" smtClean="0"/>
              <a:t> uses the conventions of hyperbole, repetition and descriptive language to construct the author as a smart, vengeful young boy who thinks of himself as a hero to his classmates. When confronted with the FBI, Hunter explains that he “had done it,” and “had done it” with help. The repetition of these words portrays him as having no regret, since he said it so strongly. This contributes to his vengeful, heroic persona since he thought he was doing no wrong. He uses descriptive language to convey his “fiendish skill” in the “deliberate ambush” that “smart” boys had created. This makes him seem very intelligent, or at least he thinks of himself as intelligent, constructing such a persona for himself. His actions were towards a “rude”, “stupid” “sadist” who was “probably” “brain damaged” to a nine-year-olds eyes, but in reality was simply exaggeration. This hyperbole is used to show him off as a hero who was doing a “duty” to the “whole neighbourhood”. Thus, hyperbole, descriptive language and repetition is used to construct a smart, vengeful, heroic persona. </a:t>
            </a:r>
            <a:endParaRPr lang="en-US" dirty="0"/>
          </a:p>
        </p:txBody>
      </p:sp>
      <p:sp>
        <p:nvSpPr>
          <p:cNvPr id="13" name="TextBox 12"/>
          <p:cNvSpPr txBox="1"/>
          <p:nvPr/>
        </p:nvSpPr>
        <p:spPr>
          <a:xfrm>
            <a:off x="351529" y="396907"/>
            <a:ext cx="7484160" cy="861774"/>
          </a:xfrm>
          <a:prstGeom prst="rect">
            <a:avLst/>
          </a:prstGeom>
          <a:noFill/>
        </p:spPr>
        <p:txBody>
          <a:bodyPr wrap="square" rtlCol="0">
            <a:spAutoFit/>
          </a:bodyPr>
          <a:lstStyle/>
          <a:p>
            <a:r>
              <a:rPr lang="en-US" sz="2200" b="1" dirty="0" smtClean="0">
                <a:solidFill>
                  <a:srgbClr val="800000"/>
                </a:solidFill>
              </a:rPr>
              <a:t>Example</a:t>
            </a:r>
          </a:p>
          <a:p>
            <a:r>
              <a:rPr lang="en-US" sz="1400" b="1" dirty="0" smtClean="0"/>
              <a:t>Identify three conventions used in the extract and explain how they are used to construct the author’s persona</a:t>
            </a:r>
            <a:endParaRPr lang="en-US" sz="1400" b="1" dirty="0"/>
          </a:p>
        </p:txBody>
      </p:sp>
    </p:spTree>
    <p:extLst>
      <p:ext uri="{BB962C8B-B14F-4D97-AF65-F5344CB8AC3E}">
        <p14:creationId xmlns:p14="http://schemas.microsoft.com/office/powerpoint/2010/main" val="38590239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529" y="1360743"/>
            <a:ext cx="7484160" cy="5078314"/>
          </a:xfrm>
          <a:prstGeom prst="rect">
            <a:avLst/>
          </a:prstGeom>
          <a:noFill/>
        </p:spPr>
        <p:txBody>
          <a:bodyPr wrap="square" rtlCol="0">
            <a:spAutoFit/>
          </a:bodyPr>
          <a:lstStyle/>
          <a:p>
            <a:r>
              <a:rPr lang="en-US" b="1" dirty="0" smtClean="0">
                <a:solidFill>
                  <a:srgbClr val="FF0000"/>
                </a:solidFill>
              </a:rPr>
              <a:t>The extract from </a:t>
            </a:r>
            <a:r>
              <a:rPr lang="en-US" b="1" u="sng" dirty="0" smtClean="0">
                <a:solidFill>
                  <a:srgbClr val="FF0000"/>
                </a:solidFill>
              </a:rPr>
              <a:t>Kingdom of Fear</a:t>
            </a:r>
            <a:r>
              <a:rPr lang="en-US" b="1" dirty="0" smtClean="0">
                <a:solidFill>
                  <a:srgbClr val="FF0000"/>
                </a:solidFill>
              </a:rPr>
              <a:t> uses the conventions of hyperbole, repetition and descriptive language to construct the author as a smart, vengeful young boy who thinks of himself as a hero to his classmates.</a:t>
            </a:r>
            <a:r>
              <a:rPr lang="en-US" dirty="0" smtClean="0"/>
              <a:t> When confronted with the FBI, Hunter explains that he “had done it,” and “had done it” with help. The repetition of these words portrays him as having no regret, since he said it so strongly. This contributes to his vengeful, heroic persona since he thought he was doing no wrong. He uses descriptive language to convey his “fiendish skill” in the “deliberate ambush” that “smart” boys had created. This makes him seem very intelligent, or at least he thinks of himself as intelligent, constructing such a persona for himself. His actions were towards a “rude”, “stupid” “sadist” who was “probably” “brain damaged” to a nine-year-olds eyes, but in reality was simply exaggeration. This hyperbole is used to show him off as a hero who was doing a “duty” to the “whole neighbourhood”. Thus, hyperbole, descriptive language and repetition is used to construct a smart, vengeful, heroic persona. </a:t>
            </a:r>
            <a:endParaRPr lang="en-US" dirty="0"/>
          </a:p>
        </p:txBody>
      </p:sp>
      <p:sp>
        <p:nvSpPr>
          <p:cNvPr id="13" name="TextBox 12"/>
          <p:cNvSpPr txBox="1"/>
          <p:nvPr/>
        </p:nvSpPr>
        <p:spPr>
          <a:xfrm>
            <a:off x="351529" y="396907"/>
            <a:ext cx="7484160" cy="861774"/>
          </a:xfrm>
          <a:prstGeom prst="rect">
            <a:avLst/>
          </a:prstGeom>
          <a:noFill/>
        </p:spPr>
        <p:txBody>
          <a:bodyPr wrap="square" rtlCol="0">
            <a:spAutoFit/>
          </a:bodyPr>
          <a:lstStyle/>
          <a:p>
            <a:r>
              <a:rPr lang="en-US" sz="2200" b="1" dirty="0" smtClean="0">
                <a:solidFill>
                  <a:srgbClr val="800000"/>
                </a:solidFill>
              </a:rPr>
              <a:t>Example</a:t>
            </a:r>
          </a:p>
          <a:p>
            <a:r>
              <a:rPr lang="en-US" sz="1400" b="1" dirty="0" smtClean="0"/>
              <a:t>Identify three conventions used in the extract and explain how they are used to construct the author’s persona</a:t>
            </a:r>
            <a:endParaRPr lang="en-US" sz="1400" b="1" dirty="0"/>
          </a:p>
        </p:txBody>
      </p:sp>
    </p:spTree>
    <p:extLst>
      <p:ext uri="{BB962C8B-B14F-4D97-AF65-F5344CB8AC3E}">
        <p14:creationId xmlns:p14="http://schemas.microsoft.com/office/powerpoint/2010/main" val="37883782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529" y="1360743"/>
            <a:ext cx="7484160" cy="5078314"/>
          </a:xfrm>
          <a:prstGeom prst="rect">
            <a:avLst/>
          </a:prstGeom>
          <a:noFill/>
        </p:spPr>
        <p:txBody>
          <a:bodyPr wrap="square" rtlCol="0">
            <a:spAutoFit/>
          </a:bodyPr>
          <a:lstStyle/>
          <a:p>
            <a:r>
              <a:rPr lang="en-US" dirty="0" smtClean="0"/>
              <a:t>The extract from </a:t>
            </a:r>
            <a:r>
              <a:rPr lang="en-US" u="sng" dirty="0" smtClean="0"/>
              <a:t>Kingdom of Fear</a:t>
            </a:r>
            <a:r>
              <a:rPr lang="en-US" dirty="0" smtClean="0"/>
              <a:t> uses the conventions of hyperbole, repetition and descriptive language to construct the author as a smart, vengeful young boy who thinks of himself as a hero to his classmates. </a:t>
            </a:r>
            <a:r>
              <a:rPr lang="en-US" b="1" dirty="0" smtClean="0">
                <a:solidFill>
                  <a:srgbClr val="000090"/>
                </a:solidFill>
              </a:rPr>
              <a:t>When confronted with the FBI, Hunter explains that he “had done it,” and “had done it” with help. </a:t>
            </a:r>
            <a:r>
              <a:rPr lang="en-US" dirty="0" smtClean="0"/>
              <a:t>The repetition of these words portrays him as having no regret, since he said it so strongly. This contributes to his vengeful, heroic persona since he thought he was doing no wrong. </a:t>
            </a:r>
            <a:r>
              <a:rPr lang="en-US" b="1" dirty="0" smtClean="0">
                <a:solidFill>
                  <a:srgbClr val="000090"/>
                </a:solidFill>
              </a:rPr>
              <a:t>He uses descriptive language to convey his “fiendish skill” in the “deliberate ambush” that “smart” boys had created. </a:t>
            </a:r>
            <a:r>
              <a:rPr lang="en-US" dirty="0" smtClean="0"/>
              <a:t>This makes him seem very intelligent, or at least he thinks of himself as intelligent, constructing such a persona for himself. </a:t>
            </a:r>
            <a:r>
              <a:rPr lang="en-US" b="1" dirty="0" smtClean="0">
                <a:solidFill>
                  <a:srgbClr val="000090"/>
                </a:solidFill>
              </a:rPr>
              <a:t>His actions were towards a “rude”, “stupid” “sadist” who was “probably” “brain damaged” to a nine-year-olds eyes, but in reality was simply exaggeration. </a:t>
            </a:r>
            <a:r>
              <a:rPr lang="en-US" dirty="0" smtClean="0"/>
              <a:t>This hyperbole is used to show him off as a hero who was doing a “duty” to the “whole neighbourhood”. Thus, hyperbole, descriptive language and repetition is used to construct a smart, vengeful, heroic persona. </a:t>
            </a:r>
            <a:endParaRPr lang="en-US" dirty="0"/>
          </a:p>
        </p:txBody>
      </p:sp>
      <p:sp>
        <p:nvSpPr>
          <p:cNvPr id="13" name="TextBox 12"/>
          <p:cNvSpPr txBox="1"/>
          <p:nvPr/>
        </p:nvSpPr>
        <p:spPr>
          <a:xfrm>
            <a:off x="351529" y="396907"/>
            <a:ext cx="7484160" cy="861774"/>
          </a:xfrm>
          <a:prstGeom prst="rect">
            <a:avLst/>
          </a:prstGeom>
          <a:noFill/>
        </p:spPr>
        <p:txBody>
          <a:bodyPr wrap="square" rtlCol="0">
            <a:spAutoFit/>
          </a:bodyPr>
          <a:lstStyle/>
          <a:p>
            <a:r>
              <a:rPr lang="en-US" sz="2200" b="1" dirty="0" smtClean="0">
                <a:solidFill>
                  <a:srgbClr val="800000"/>
                </a:solidFill>
              </a:rPr>
              <a:t>Example</a:t>
            </a:r>
          </a:p>
          <a:p>
            <a:r>
              <a:rPr lang="en-US" sz="1400" b="1" dirty="0" smtClean="0"/>
              <a:t>Identify three conventions used in the extract and explain how they are used to construct the author’s persona</a:t>
            </a:r>
            <a:endParaRPr lang="en-US" sz="1400" b="1" dirty="0"/>
          </a:p>
        </p:txBody>
      </p:sp>
    </p:spTree>
    <p:extLst>
      <p:ext uri="{BB962C8B-B14F-4D97-AF65-F5344CB8AC3E}">
        <p14:creationId xmlns:p14="http://schemas.microsoft.com/office/powerpoint/2010/main" val="37883782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529" y="1360743"/>
            <a:ext cx="7484160" cy="5078314"/>
          </a:xfrm>
          <a:prstGeom prst="rect">
            <a:avLst/>
          </a:prstGeom>
          <a:noFill/>
        </p:spPr>
        <p:txBody>
          <a:bodyPr wrap="square" rtlCol="0">
            <a:spAutoFit/>
          </a:bodyPr>
          <a:lstStyle/>
          <a:p>
            <a:r>
              <a:rPr lang="en-US" dirty="0" smtClean="0"/>
              <a:t>The extract from </a:t>
            </a:r>
            <a:r>
              <a:rPr lang="en-US" u="sng" dirty="0" smtClean="0"/>
              <a:t>Kingdom of Fear</a:t>
            </a:r>
            <a:r>
              <a:rPr lang="en-US" dirty="0" smtClean="0"/>
              <a:t> uses the conventions of hyperbole, repetition and descriptive language to construct the author as a smart, vengeful young boy who thinks of himself as a hero to his classmates. When confronted with the FBI, Hunter explains that he “had done it,” and “had done it” with help</a:t>
            </a:r>
            <a:r>
              <a:rPr lang="en-US" b="1" dirty="0" smtClean="0">
                <a:solidFill>
                  <a:srgbClr val="008000"/>
                </a:solidFill>
              </a:rPr>
              <a:t>. The repetition of these words portrays him as having no regret, since he said it so strongly. This contributes to his vengeful, heroic persona since he thought he was doing no wrong. </a:t>
            </a:r>
            <a:r>
              <a:rPr lang="en-US" dirty="0" smtClean="0"/>
              <a:t>He uses descriptive language to convey his “fiendish skill” in the “deliberate ambush” that “smart” boys had created. </a:t>
            </a:r>
            <a:r>
              <a:rPr lang="en-US" b="1" dirty="0" smtClean="0">
                <a:solidFill>
                  <a:srgbClr val="008000"/>
                </a:solidFill>
              </a:rPr>
              <a:t>This makes him seem very intelligent, or at least he thinks of himself as intelligent, constructing such a persona for himself. </a:t>
            </a:r>
            <a:r>
              <a:rPr lang="en-US" dirty="0" smtClean="0"/>
              <a:t>His actions were towards a “rude”, “stupid” “sadist” who was “probably” “brain damaged” to a nine-year-olds eyes, but in reality was simply exaggeration. </a:t>
            </a:r>
            <a:r>
              <a:rPr lang="en-US" b="1" dirty="0" smtClean="0">
                <a:solidFill>
                  <a:srgbClr val="008000"/>
                </a:solidFill>
              </a:rPr>
              <a:t>This hyperbole is used to show him off as a hero who was doing a “duty” to the “whole neighbourhood”. </a:t>
            </a:r>
            <a:r>
              <a:rPr lang="en-US" dirty="0" smtClean="0"/>
              <a:t>Thus, hyperbole, descriptive language and repetition is used to construct a smart, vengeful, heroic persona. </a:t>
            </a:r>
            <a:endParaRPr lang="en-US" dirty="0"/>
          </a:p>
        </p:txBody>
      </p:sp>
      <p:sp>
        <p:nvSpPr>
          <p:cNvPr id="13" name="TextBox 12"/>
          <p:cNvSpPr txBox="1"/>
          <p:nvPr/>
        </p:nvSpPr>
        <p:spPr>
          <a:xfrm>
            <a:off x="351529" y="396907"/>
            <a:ext cx="7484160" cy="861774"/>
          </a:xfrm>
          <a:prstGeom prst="rect">
            <a:avLst/>
          </a:prstGeom>
          <a:noFill/>
        </p:spPr>
        <p:txBody>
          <a:bodyPr wrap="square" rtlCol="0">
            <a:spAutoFit/>
          </a:bodyPr>
          <a:lstStyle/>
          <a:p>
            <a:r>
              <a:rPr lang="en-US" sz="2200" b="1" dirty="0" smtClean="0">
                <a:solidFill>
                  <a:srgbClr val="800000"/>
                </a:solidFill>
              </a:rPr>
              <a:t>Example</a:t>
            </a:r>
          </a:p>
          <a:p>
            <a:r>
              <a:rPr lang="en-US" sz="1400" b="1" dirty="0" smtClean="0"/>
              <a:t>Identify three conventions used in the extract and explain how they are used to construct the author’s persona</a:t>
            </a:r>
            <a:endParaRPr lang="en-US" sz="1400" b="1" dirty="0"/>
          </a:p>
        </p:txBody>
      </p:sp>
    </p:spTree>
    <p:extLst>
      <p:ext uri="{BB962C8B-B14F-4D97-AF65-F5344CB8AC3E}">
        <p14:creationId xmlns:p14="http://schemas.microsoft.com/office/powerpoint/2010/main" val="37883782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529" y="1360743"/>
            <a:ext cx="7484160" cy="5078314"/>
          </a:xfrm>
          <a:prstGeom prst="rect">
            <a:avLst/>
          </a:prstGeom>
          <a:noFill/>
        </p:spPr>
        <p:txBody>
          <a:bodyPr wrap="square" rtlCol="0">
            <a:spAutoFit/>
          </a:bodyPr>
          <a:lstStyle/>
          <a:p>
            <a:r>
              <a:rPr lang="en-US" dirty="0" smtClean="0"/>
              <a:t>The extract from </a:t>
            </a:r>
            <a:r>
              <a:rPr lang="en-US" u="sng" dirty="0" smtClean="0"/>
              <a:t>Kingdom of Fear</a:t>
            </a:r>
            <a:r>
              <a:rPr lang="en-US" dirty="0" smtClean="0"/>
              <a:t> uses the conventions of hyperbole, repetition and descriptive language to construct the author as a smart, vengeful young boy who thinks of himself as a hero to his classmates. When confronted with the FBI, Hunter explains that he “had done it,” and “had done it” with help. The repetition of these words portrays him as having no regret, since he said it so strongly. This contributes to his vengeful, heroic persona since he thought he was doing no wrong. He uses descriptive language to convey his “fiendish skill” in the “deliberate ambush” that “smart” boys had created. This makes him seem very intelligent, or at least he thinks of himself as intelligent, constructing such a persona for himself. His actions were towards a “rude”, “stupid” “sadist” who was “probably” “brain damaged” to a nine-year-olds eyes, but in reality was simply exaggeration. This hyperbole is used to show him off as a hero who was doing a “duty” to the “whole neighbourhood”. </a:t>
            </a:r>
            <a:r>
              <a:rPr lang="en-US" b="1" dirty="0" smtClean="0">
                <a:solidFill>
                  <a:srgbClr val="660066"/>
                </a:solidFill>
              </a:rPr>
              <a:t>Thus, hyperbole, descriptive language and repetition is used to construct a smart, vengeful, heroic persona. </a:t>
            </a:r>
            <a:endParaRPr lang="en-US" b="1" dirty="0">
              <a:solidFill>
                <a:srgbClr val="660066"/>
              </a:solidFill>
            </a:endParaRPr>
          </a:p>
        </p:txBody>
      </p:sp>
      <p:sp>
        <p:nvSpPr>
          <p:cNvPr id="13" name="TextBox 12"/>
          <p:cNvSpPr txBox="1"/>
          <p:nvPr/>
        </p:nvSpPr>
        <p:spPr>
          <a:xfrm>
            <a:off x="351529" y="396907"/>
            <a:ext cx="7484160" cy="861774"/>
          </a:xfrm>
          <a:prstGeom prst="rect">
            <a:avLst/>
          </a:prstGeom>
          <a:noFill/>
        </p:spPr>
        <p:txBody>
          <a:bodyPr wrap="square" rtlCol="0">
            <a:spAutoFit/>
          </a:bodyPr>
          <a:lstStyle/>
          <a:p>
            <a:r>
              <a:rPr lang="en-US" sz="2200" b="1" dirty="0" smtClean="0">
                <a:solidFill>
                  <a:srgbClr val="800000"/>
                </a:solidFill>
              </a:rPr>
              <a:t>Example</a:t>
            </a:r>
          </a:p>
          <a:p>
            <a:r>
              <a:rPr lang="en-US" sz="1400" b="1" dirty="0" smtClean="0"/>
              <a:t>Identify three conventions used in the extract and explain how they are used to construct the author’s persona</a:t>
            </a:r>
            <a:endParaRPr lang="en-US" sz="1400" b="1" dirty="0"/>
          </a:p>
        </p:txBody>
      </p:sp>
    </p:spTree>
    <p:extLst>
      <p:ext uri="{BB962C8B-B14F-4D97-AF65-F5344CB8AC3E}">
        <p14:creationId xmlns:p14="http://schemas.microsoft.com/office/powerpoint/2010/main" val="1701081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Same Same but Different</a:t>
            </a:r>
            <a:endParaRPr lang="en-US" dirty="0"/>
          </a:p>
        </p:txBody>
      </p:sp>
      <p:sp>
        <p:nvSpPr>
          <p:cNvPr id="4" name="Content Placeholder 3"/>
          <p:cNvSpPr>
            <a:spLocks noGrp="1"/>
          </p:cNvSpPr>
          <p:nvPr>
            <p:ph sz="half" idx="2"/>
          </p:nvPr>
        </p:nvSpPr>
        <p:spPr>
          <a:xfrm>
            <a:off x="457199" y="2214562"/>
            <a:ext cx="8274322" cy="3523591"/>
          </a:xfrm>
        </p:spPr>
        <p:txBody>
          <a:bodyPr>
            <a:normAutofit/>
          </a:bodyPr>
          <a:lstStyle/>
          <a:p>
            <a:endParaRPr lang="en-US" dirty="0" smtClean="0"/>
          </a:p>
          <a:p>
            <a:r>
              <a:rPr lang="en-US" sz="2400" dirty="0" smtClean="0"/>
              <a:t>Multiple acronyms for short answer structure</a:t>
            </a:r>
            <a:endParaRPr lang="en-US" sz="2400" dirty="0"/>
          </a:p>
          <a:p>
            <a:endParaRPr lang="en-US" sz="2400" dirty="0" smtClean="0"/>
          </a:p>
          <a:p>
            <a:r>
              <a:rPr lang="en-US" sz="2400" dirty="0" smtClean="0"/>
              <a:t>Key similarities between different models</a:t>
            </a:r>
          </a:p>
          <a:p>
            <a:endParaRPr lang="en-US" sz="2400" dirty="0" smtClean="0"/>
          </a:p>
          <a:p>
            <a:r>
              <a:rPr lang="en-US" sz="2400" dirty="0" smtClean="0"/>
              <a:t>One or more paragraphs??</a:t>
            </a:r>
          </a:p>
          <a:p>
            <a:endParaRPr lang="en-US" sz="2400" dirty="0"/>
          </a:p>
        </p:txBody>
      </p:sp>
    </p:spTree>
    <p:extLst>
      <p:ext uri="{BB962C8B-B14F-4D97-AF65-F5344CB8AC3E}">
        <p14:creationId xmlns:p14="http://schemas.microsoft.com/office/powerpoint/2010/main" val="33096829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529" y="199966"/>
            <a:ext cx="7391401" cy="514468"/>
          </a:xfrm>
        </p:spPr>
        <p:txBody>
          <a:bodyPr/>
          <a:lstStyle/>
          <a:p>
            <a:r>
              <a:rPr lang="en-US" dirty="0" smtClean="0"/>
              <a:t>How to get an A</a:t>
            </a:r>
            <a:endParaRPr lang="en-US" dirty="0"/>
          </a:p>
        </p:txBody>
      </p:sp>
      <p:sp>
        <p:nvSpPr>
          <p:cNvPr id="4" name="Content Placeholder 3"/>
          <p:cNvSpPr>
            <a:spLocks noGrp="1"/>
          </p:cNvSpPr>
          <p:nvPr>
            <p:ph sz="half" idx="2"/>
          </p:nvPr>
        </p:nvSpPr>
        <p:spPr>
          <a:xfrm>
            <a:off x="192774" y="714434"/>
            <a:ext cx="8833577" cy="6434065"/>
          </a:xfrm>
        </p:spPr>
        <p:txBody>
          <a:bodyPr>
            <a:normAutofit fontScale="25000" lnSpcReduction="20000"/>
          </a:bodyPr>
          <a:lstStyle/>
          <a:p>
            <a:endParaRPr lang="en-US" dirty="0" smtClean="0"/>
          </a:p>
          <a:p>
            <a:pPr marL="0" indent="0">
              <a:lnSpc>
                <a:spcPct val="130000"/>
              </a:lnSpc>
              <a:buNone/>
            </a:pPr>
            <a:r>
              <a:rPr lang="en-US" sz="8000" i="1" dirty="0" smtClean="0"/>
              <a:t>“Compare </a:t>
            </a:r>
            <a:r>
              <a:rPr lang="en-US" sz="8000" i="1" dirty="0"/>
              <a:t>the effect of emotive language in Text 1 and Text 2 </a:t>
            </a:r>
            <a:br>
              <a:rPr lang="en-US" sz="8000" i="1" dirty="0"/>
            </a:br>
            <a:r>
              <a:rPr lang="en-US" sz="8000" i="1" dirty="0" smtClean="0"/>
              <a:t>on </a:t>
            </a:r>
            <a:r>
              <a:rPr lang="en-US" sz="8000" i="1" dirty="0"/>
              <a:t>the reader’s response to the persona or events</a:t>
            </a:r>
            <a:r>
              <a:rPr lang="en-US" sz="8000" i="1" dirty="0" smtClean="0"/>
              <a:t>.”</a:t>
            </a:r>
            <a:endParaRPr lang="en-US" sz="8000" i="1" dirty="0"/>
          </a:p>
          <a:p>
            <a:pPr marL="0" indent="0">
              <a:buNone/>
            </a:pPr>
            <a:endParaRPr lang="en-US" sz="7200" b="1" dirty="0" smtClean="0"/>
          </a:p>
          <a:p>
            <a:pPr marL="0" indent="0">
              <a:buNone/>
            </a:pPr>
            <a:r>
              <a:rPr lang="en-US" sz="7200" b="1" dirty="0" smtClean="0"/>
              <a:t>What would the characteristics of a A-level response be?</a:t>
            </a:r>
          </a:p>
          <a:p>
            <a:pPr marL="0" indent="0">
              <a:buNone/>
            </a:pPr>
            <a:endParaRPr lang="en-US" sz="6400" b="1" dirty="0" smtClean="0"/>
          </a:p>
          <a:p>
            <a:pPr lvl="0"/>
            <a:r>
              <a:rPr lang="en-US" sz="7200" dirty="0" smtClean="0"/>
              <a:t>Directly address </a:t>
            </a:r>
            <a:r>
              <a:rPr lang="en-US" sz="7200" dirty="0"/>
              <a:t>all aspects of the question </a:t>
            </a:r>
            <a:r>
              <a:rPr lang="en-US" sz="7200" dirty="0" smtClean="0"/>
              <a:t>clearly - </a:t>
            </a:r>
            <a:r>
              <a:rPr lang="en-US" sz="7200" dirty="0"/>
              <a:t>clear thesis and </a:t>
            </a:r>
            <a:r>
              <a:rPr lang="en-US" sz="7200" dirty="0" smtClean="0"/>
              <a:t>structure</a:t>
            </a:r>
            <a:endParaRPr lang="en-AU" sz="7200" dirty="0"/>
          </a:p>
          <a:p>
            <a:pPr lvl="0"/>
            <a:r>
              <a:rPr lang="en-US" sz="7200" dirty="0"/>
              <a:t>Complex sentence structure </a:t>
            </a:r>
            <a:r>
              <a:rPr lang="en-US" sz="7200" dirty="0" smtClean="0"/>
              <a:t>rather </a:t>
            </a:r>
            <a:r>
              <a:rPr lang="en-US" sz="7200" dirty="0"/>
              <a:t>than simple sentence structure</a:t>
            </a:r>
            <a:endParaRPr lang="en-AU" sz="7200" dirty="0"/>
          </a:p>
          <a:p>
            <a:pPr lvl="0"/>
            <a:r>
              <a:rPr lang="en-US" sz="7200" dirty="0"/>
              <a:t>I</a:t>
            </a:r>
            <a:r>
              <a:rPr lang="en-US" sz="7200" dirty="0" smtClean="0"/>
              <a:t>dentify multiple aspects of the key components of the question and </a:t>
            </a:r>
            <a:r>
              <a:rPr lang="en-US" sz="7200" dirty="0"/>
              <a:t>explain how they are able to shape a response </a:t>
            </a:r>
            <a:endParaRPr lang="en-US" sz="7200" dirty="0" smtClean="0"/>
          </a:p>
          <a:p>
            <a:pPr lvl="0"/>
            <a:r>
              <a:rPr lang="en-US" sz="7200" dirty="0" smtClean="0"/>
              <a:t>Use relevant </a:t>
            </a:r>
            <a:r>
              <a:rPr lang="en-US" sz="7200" dirty="0"/>
              <a:t>and sophisticated </a:t>
            </a:r>
            <a:r>
              <a:rPr lang="en-US" sz="7200" dirty="0" smtClean="0"/>
              <a:t>vocabulary. Move past </a:t>
            </a:r>
            <a:r>
              <a:rPr lang="en-US" sz="7200" dirty="0"/>
              <a:t>language such as ‘negative’ ‘positive’ and ‘sympathetic’ when describing a reader response. </a:t>
            </a:r>
            <a:endParaRPr lang="en-AU" sz="7200" dirty="0"/>
          </a:p>
          <a:p>
            <a:pPr lvl="0"/>
            <a:r>
              <a:rPr lang="en-US" sz="7200" dirty="0" smtClean="0"/>
              <a:t>Consider references </a:t>
            </a:r>
            <a:r>
              <a:rPr lang="en-US" sz="7200" dirty="0"/>
              <a:t>to social, personal or historical context to justify </a:t>
            </a:r>
            <a:r>
              <a:rPr lang="en-US" sz="7200" dirty="0" smtClean="0"/>
              <a:t>their personal response. </a:t>
            </a:r>
          </a:p>
        </p:txBody>
      </p:sp>
    </p:spTree>
    <p:extLst>
      <p:ext uri="{BB962C8B-B14F-4D97-AF65-F5344CB8AC3E}">
        <p14:creationId xmlns:p14="http://schemas.microsoft.com/office/powerpoint/2010/main" val="18142464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774" y="211864"/>
            <a:ext cx="8028463" cy="1538883"/>
          </a:xfrm>
          <a:prstGeom prst="rect">
            <a:avLst/>
          </a:prstGeom>
          <a:noFill/>
        </p:spPr>
        <p:txBody>
          <a:bodyPr wrap="square" rtlCol="0">
            <a:spAutoFit/>
          </a:bodyPr>
          <a:lstStyle/>
          <a:p>
            <a:r>
              <a:rPr lang="en-US" sz="1400" b="1" i="1" dirty="0"/>
              <a:t>Compare the effect of emotive language in Text 1 and Text 2 on the reader’s response to persona or </a:t>
            </a:r>
            <a:r>
              <a:rPr lang="en-US" sz="1400" b="1" i="1" dirty="0" smtClean="0"/>
              <a:t>events</a:t>
            </a:r>
          </a:p>
          <a:p>
            <a:endParaRPr lang="en-US" sz="1400" b="1" i="1" dirty="0"/>
          </a:p>
          <a:p>
            <a:r>
              <a:rPr lang="en-US" sz="1300" i="1" dirty="0"/>
              <a:t>The effects of the emotive language on the reader’s response to persona and events of Text 1 are similar to that of Text 2 in that they evoke a sympathetic and empathetic response. Text 1’s use of emotive language invites us to be sympathetic towards the father but then suddenly the child, whilst Text 2 lends itself to a strange sympathy for </a:t>
            </a:r>
            <a:r>
              <a:rPr lang="en-US" sz="1300" i="1" dirty="0" err="1"/>
              <a:t>Mezrich</a:t>
            </a:r>
            <a:r>
              <a:rPr lang="en-US" sz="1300" i="1" dirty="0"/>
              <a:t> and his dilemma regardless of its legality</a:t>
            </a:r>
            <a:r>
              <a:rPr lang="en-US" sz="1300" i="1" dirty="0" smtClean="0"/>
              <a:t>.</a:t>
            </a:r>
            <a:endParaRPr lang="en-US" sz="1300" i="1" dirty="0"/>
          </a:p>
        </p:txBody>
      </p:sp>
      <p:sp>
        <p:nvSpPr>
          <p:cNvPr id="4" name="Content Placeholder 2"/>
          <p:cNvSpPr txBox="1">
            <a:spLocks/>
          </p:cNvSpPr>
          <p:nvPr/>
        </p:nvSpPr>
        <p:spPr>
          <a:xfrm>
            <a:off x="192774" y="1800460"/>
            <a:ext cx="8867595" cy="5057539"/>
          </a:xfrm>
          <a:prstGeom prst="rect">
            <a:avLst/>
          </a:prstGeom>
        </p:spPr>
        <p:txBody>
          <a:bodyPr>
            <a:normAutofit fontScale="85000" lnSpcReduction="2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Font typeface="Wingdings 2" pitchFamily="18" charset="2"/>
              <a:buNone/>
            </a:pPr>
            <a:r>
              <a:rPr lang="en-US" sz="1700" i="1" dirty="0" smtClean="0"/>
              <a:t>Text 1’s first two paragraphs about Nguyen’s father’s role in the war and the trauma that this sent him home with use language that makes us distressed, such as “count the dead bodies” and “just stand there and scream” to make us feel incredibly sorry for her father. Suddenly at paragraph 3 however, the text takes a change and describes the abuse Nguyen and her siblings suffered under her father’s regime of fear. </a:t>
            </a:r>
            <a:r>
              <a:rPr lang="en-US" sz="1700" i="1" strike="sngStrike" dirty="0" smtClean="0"/>
              <a:t>These</a:t>
            </a:r>
            <a:r>
              <a:rPr lang="en-US" sz="1700" i="1" dirty="0" smtClean="0"/>
              <a:t> The second half of the text repeatedly uses this word, “fear”, alongside similar words such as “paranoid” and “dread” to evoke a response in us, the reader, of great sympathy, and empathy for those who have experienced domestic violence or know of those who have, alongside sorrow. Perhaps the most emotional aspect of this piece however is that through the use of the language in the first paragraphs, the sympathy for the father, we simply cannot blame him for his actions, as it is not his fault, but the horrifying effects of the war.</a:t>
            </a:r>
          </a:p>
          <a:p>
            <a:pPr marL="0" indent="0">
              <a:buFont typeface="Wingdings 2" pitchFamily="18" charset="2"/>
              <a:buNone/>
            </a:pPr>
            <a:r>
              <a:rPr lang="en-US" sz="1700" i="1" dirty="0" smtClean="0"/>
              <a:t>Text 2 creates a similar </a:t>
            </a:r>
            <a:r>
              <a:rPr lang="en-US" sz="1700" i="1" strike="sngStrike" dirty="0" smtClean="0"/>
              <a:t>mess</a:t>
            </a:r>
            <a:r>
              <a:rPr lang="en-US" sz="1700" i="1" dirty="0" smtClean="0"/>
              <a:t> emotional response to what is discussed at the end of the last paragraph, an emotional sympathy for someone doing the wrong thing. This emotional response is not justified by a traumatic past however, but by the use of emotive language. Text 2 uses </a:t>
            </a:r>
            <a:r>
              <a:rPr lang="en-US" sz="1700" i="1" strike="sngStrike" dirty="0" smtClean="0"/>
              <a:t>words such as</a:t>
            </a:r>
            <a:r>
              <a:rPr lang="en-US" sz="1700" i="1" dirty="0" smtClean="0"/>
              <a:t> short segments of descriptive words such as the first three sentences to send </a:t>
            </a:r>
            <a:r>
              <a:rPr lang="en-US" sz="1700" i="1" strike="sngStrike" dirty="0" smtClean="0"/>
              <a:t>home a</a:t>
            </a:r>
            <a:r>
              <a:rPr lang="en-US" sz="1700" i="1" dirty="0" smtClean="0"/>
              <a:t> us a clear, defined message of the occurring events, but then uses phrases such as “bulging and nervous”, “deep breath”, and “act casual, think casual, be casual”, to evoke a response of empathy, leading us to a desire that this man should succeed as he is so nervous, and we shut out the questionable legality of his actions, our inevitable human response to another human’s suffering or discomfort trumping our morals of law. This response is greatly encouraged by the events taking place at an airport, a known area by all of us as a place of worry, stress and discomfort.</a:t>
            </a:r>
          </a:p>
          <a:p>
            <a:pPr marL="0" indent="0">
              <a:buFont typeface="Wingdings 2" pitchFamily="18" charset="2"/>
              <a:buNone/>
            </a:pPr>
            <a:r>
              <a:rPr lang="en-US" sz="1700" i="1" dirty="0" smtClean="0"/>
              <a:t>Both Text 1 and Text 2 evoke the emotional response of sympathy and empathy yes, but we can clearly see that these responses are morally flawed. Yes, we feel sorry for </a:t>
            </a:r>
            <a:r>
              <a:rPr lang="en-US" sz="1700" i="1" dirty="0" err="1" smtClean="0"/>
              <a:t>Mr</a:t>
            </a:r>
            <a:r>
              <a:rPr lang="en-US" sz="1700" i="1" dirty="0" smtClean="0"/>
              <a:t> Nguyen, but is his abuse justifiable? We can say we </a:t>
            </a:r>
            <a:r>
              <a:rPr lang="en-US" sz="1700" i="1" dirty="0" err="1" smtClean="0"/>
              <a:t>sympathise</a:t>
            </a:r>
            <a:r>
              <a:rPr lang="en-US" sz="1700" i="1" dirty="0" smtClean="0"/>
              <a:t> with </a:t>
            </a:r>
            <a:r>
              <a:rPr lang="en-US" sz="1700" i="1" dirty="0" err="1" smtClean="0"/>
              <a:t>Mezrich’s</a:t>
            </a:r>
            <a:r>
              <a:rPr lang="en-US" sz="1700" i="1" dirty="0" smtClean="0"/>
              <a:t> angst and worry, his dilemma, but does this change the legality of his actions? These texts both evoke human responses of sympathy at another’s suffering over issues of morality and legality, use rich emotional language.</a:t>
            </a:r>
          </a:p>
          <a:p>
            <a:pPr marL="0" indent="0">
              <a:buFont typeface="Wingdings 2" pitchFamily="18" charset="2"/>
              <a:buNone/>
            </a:pPr>
            <a:endParaRPr lang="en-US" sz="1500" i="1" dirty="0" smtClean="0"/>
          </a:p>
          <a:p>
            <a:pPr marL="0" indent="0">
              <a:buFont typeface="Wingdings 2" pitchFamily="18" charset="2"/>
              <a:buNone/>
            </a:pPr>
            <a:endParaRPr lang="en-US" i="1" dirty="0"/>
          </a:p>
        </p:txBody>
      </p:sp>
    </p:spTree>
    <p:extLst>
      <p:ext uri="{BB962C8B-B14F-4D97-AF65-F5344CB8AC3E}">
        <p14:creationId xmlns:p14="http://schemas.microsoft.com/office/powerpoint/2010/main" val="21779332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774" y="211864"/>
            <a:ext cx="8028463" cy="1538883"/>
          </a:xfrm>
          <a:prstGeom prst="rect">
            <a:avLst/>
          </a:prstGeom>
          <a:noFill/>
        </p:spPr>
        <p:txBody>
          <a:bodyPr wrap="square" rtlCol="0">
            <a:spAutoFit/>
          </a:bodyPr>
          <a:lstStyle/>
          <a:p>
            <a:r>
              <a:rPr lang="en-US" sz="1400" b="1" i="1" dirty="0"/>
              <a:t>Compare the effect of emotive language in Text 1 and Text 2 on the reader’s response to persona or </a:t>
            </a:r>
            <a:r>
              <a:rPr lang="en-US" sz="1400" b="1" i="1" dirty="0" smtClean="0"/>
              <a:t>events</a:t>
            </a:r>
          </a:p>
          <a:p>
            <a:endParaRPr lang="en-US" sz="1400" b="1" i="1" dirty="0"/>
          </a:p>
          <a:p>
            <a:r>
              <a:rPr lang="en-US" sz="1300" b="1" i="1" dirty="0">
                <a:solidFill>
                  <a:srgbClr val="FF0000"/>
                </a:solidFill>
              </a:rPr>
              <a:t>The effects of the emotive language on the reader’s response to persona and events of Text 1 are similar to that of Text 2 in that they evoke a sympathetic and empathetic response. </a:t>
            </a:r>
            <a:r>
              <a:rPr lang="en-US" sz="1300" i="1" dirty="0"/>
              <a:t>Text 1’s use of emotive language invites us to be sympathetic towards the father but then suddenly the child, whilst Text 2 lends itself to a strange sympathy for </a:t>
            </a:r>
            <a:r>
              <a:rPr lang="en-US" sz="1300" i="1" dirty="0" err="1"/>
              <a:t>Mezrich</a:t>
            </a:r>
            <a:r>
              <a:rPr lang="en-US" sz="1300" i="1" dirty="0"/>
              <a:t> and his dilemma regardless of its legality</a:t>
            </a:r>
            <a:r>
              <a:rPr lang="en-US" sz="1300" i="1" dirty="0" smtClean="0"/>
              <a:t>.</a:t>
            </a:r>
            <a:endParaRPr lang="en-US" sz="1300" i="1" dirty="0"/>
          </a:p>
        </p:txBody>
      </p:sp>
      <p:sp>
        <p:nvSpPr>
          <p:cNvPr id="4" name="Content Placeholder 2"/>
          <p:cNvSpPr txBox="1">
            <a:spLocks/>
          </p:cNvSpPr>
          <p:nvPr/>
        </p:nvSpPr>
        <p:spPr>
          <a:xfrm>
            <a:off x="192774" y="1800460"/>
            <a:ext cx="8867595" cy="5057539"/>
          </a:xfrm>
          <a:prstGeom prst="rect">
            <a:avLst/>
          </a:prstGeom>
        </p:spPr>
        <p:txBody>
          <a:bodyPr>
            <a:normAutofit fontScale="85000" lnSpcReduction="2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Font typeface="Wingdings 2" pitchFamily="18" charset="2"/>
              <a:buNone/>
            </a:pPr>
            <a:r>
              <a:rPr lang="en-US" sz="1700" i="1" dirty="0" smtClean="0"/>
              <a:t>Text 1’s first two paragraphs about Nguyen’s father’s role in the war and the trauma that this sent him home with use language that makes us distressed, such as “count the dead bodies” and “just stand there and scream” to make us feel incredibly sorry for her father. Suddenly at paragraph 3 however, the text takes a change and describes the abuse Nguyen and her siblings suffered under her father’s regime of fear. </a:t>
            </a:r>
            <a:r>
              <a:rPr lang="en-US" sz="1700" i="1" strike="sngStrike" dirty="0" smtClean="0"/>
              <a:t>These</a:t>
            </a:r>
            <a:r>
              <a:rPr lang="en-US" sz="1700" i="1" dirty="0" smtClean="0"/>
              <a:t> The second half of the text repeatedly uses this word, “fear”, alongside similar words such as “paranoid” and “dread” to evoke a response in us, the reader, of great sympathy, and empathy for those who have experienced domestic violence or know of those who have, alongside sorrow. Perhaps the most emotional aspect of this piece however is that through the use of the language in the first paragraphs, the sympathy for the father, we simply cannot blame him for his actions, as it is not his fault, but the horrifying effects of the war.</a:t>
            </a:r>
          </a:p>
          <a:p>
            <a:pPr marL="0" indent="0">
              <a:buFont typeface="Wingdings 2" pitchFamily="18" charset="2"/>
              <a:buNone/>
            </a:pPr>
            <a:r>
              <a:rPr lang="en-US" sz="1700" i="1" dirty="0" smtClean="0"/>
              <a:t>Text 2 creates a similar </a:t>
            </a:r>
            <a:r>
              <a:rPr lang="en-US" sz="1700" i="1" strike="sngStrike" dirty="0" smtClean="0"/>
              <a:t>mess</a:t>
            </a:r>
            <a:r>
              <a:rPr lang="en-US" sz="1700" i="1" dirty="0" smtClean="0"/>
              <a:t> emotional response to what is discussed at the end of the last paragraph, an emotional sympathy for someone doing the wrong thing. This emotional response is not justified by a traumatic past however, but by the use of emotive language. Text 2 uses </a:t>
            </a:r>
            <a:r>
              <a:rPr lang="en-US" sz="1700" i="1" strike="sngStrike" dirty="0" smtClean="0"/>
              <a:t>words such as</a:t>
            </a:r>
            <a:r>
              <a:rPr lang="en-US" sz="1700" i="1" dirty="0" smtClean="0"/>
              <a:t> short segments of descriptive words such as the first three sentences to send </a:t>
            </a:r>
            <a:r>
              <a:rPr lang="en-US" sz="1700" i="1" strike="sngStrike" dirty="0" smtClean="0"/>
              <a:t>home a</a:t>
            </a:r>
            <a:r>
              <a:rPr lang="en-US" sz="1700" i="1" dirty="0" smtClean="0"/>
              <a:t> us a clear, defined message of the occurring events, but then uses phrases such as “bulging and nervous”, “deep breath”, and “act casual, think casual, be casual”, to evoke a response of empathy, leading us to a desire that this man should succeed as he is so nervous, and we shut out the questionable legality of his actions, our inevitable human response to another human’s suffering or discomfort trumping our morals of law. This response is greatly encouraged by the events taking place at an airport, a known area by all of us as a place of worry, stress and discomfort.</a:t>
            </a:r>
          </a:p>
          <a:p>
            <a:pPr marL="0" indent="0">
              <a:buFont typeface="Wingdings 2" pitchFamily="18" charset="2"/>
              <a:buNone/>
            </a:pPr>
            <a:r>
              <a:rPr lang="en-US" sz="1700" i="1" dirty="0" smtClean="0"/>
              <a:t>Both Text 1 and Text 2 evoke the emotional response of sympathy and empathy yes, but we can clearly see that these responses are morally flawed. Yes, we feel sorry for </a:t>
            </a:r>
            <a:r>
              <a:rPr lang="en-US" sz="1700" i="1" dirty="0" err="1" smtClean="0"/>
              <a:t>Mr</a:t>
            </a:r>
            <a:r>
              <a:rPr lang="en-US" sz="1700" i="1" dirty="0" smtClean="0"/>
              <a:t> Nguyen, but is his abuse justifiable? We can say we </a:t>
            </a:r>
            <a:r>
              <a:rPr lang="en-US" sz="1700" i="1" dirty="0" err="1" smtClean="0"/>
              <a:t>sympathise</a:t>
            </a:r>
            <a:r>
              <a:rPr lang="en-US" sz="1700" i="1" dirty="0" smtClean="0"/>
              <a:t> with </a:t>
            </a:r>
            <a:r>
              <a:rPr lang="en-US" sz="1700" i="1" dirty="0" err="1" smtClean="0"/>
              <a:t>Mezrich’s</a:t>
            </a:r>
            <a:r>
              <a:rPr lang="en-US" sz="1700" i="1" dirty="0" smtClean="0"/>
              <a:t> angst and worry, his dilemma, but does this change the legality of his actions? These texts both evoke human responses of sympathy at another’s suffering over issues of morality and legality, use rich emotional language.</a:t>
            </a:r>
          </a:p>
          <a:p>
            <a:pPr marL="0" indent="0">
              <a:buFont typeface="Wingdings 2" pitchFamily="18" charset="2"/>
              <a:buNone/>
            </a:pPr>
            <a:endParaRPr lang="en-US" sz="1500" i="1" dirty="0" smtClean="0"/>
          </a:p>
          <a:p>
            <a:pPr marL="0" indent="0">
              <a:buFont typeface="Wingdings 2" pitchFamily="18" charset="2"/>
              <a:buNone/>
            </a:pPr>
            <a:endParaRPr lang="en-US" i="1" dirty="0"/>
          </a:p>
        </p:txBody>
      </p:sp>
    </p:spTree>
    <p:extLst>
      <p:ext uri="{BB962C8B-B14F-4D97-AF65-F5344CB8AC3E}">
        <p14:creationId xmlns:p14="http://schemas.microsoft.com/office/powerpoint/2010/main" val="28522098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774" y="211864"/>
            <a:ext cx="8028463" cy="1738937"/>
          </a:xfrm>
          <a:prstGeom prst="rect">
            <a:avLst/>
          </a:prstGeom>
          <a:noFill/>
        </p:spPr>
        <p:txBody>
          <a:bodyPr wrap="square" rtlCol="0">
            <a:spAutoFit/>
          </a:bodyPr>
          <a:lstStyle/>
          <a:p>
            <a:r>
              <a:rPr lang="en-US" sz="1400" b="1" i="1" dirty="0"/>
              <a:t>Compare the effect of emotive language in Text 1 and Text 2 on the reader’s response to persona or </a:t>
            </a:r>
            <a:r>
              <a:rPr lang="en-US" sz="1400" b="1" i="1" dirty="0" smtClean="0"/>
              <a:t>events</a:t>
            </a:r>
          </a:p>
          <a:p>
            <a:endParaRPr lang="en-US" sz="1400" b="1" i="1" dirty="0"/>
          </a:p>
          <a:p>
            <a:r>
              <a:rPr lang="en-US" sz="1300" i="1" dirty="0"/>
              <a:t>The effects of the emotive language on the reader’s response to persona and events of Text 1 are similar to that of Text 2 in that they evoke a sympathetic and empathetic response. </a:t>
            </a:r>
            <a:r>
              <a:rPr lang="en-US" sz="1300" b="1" i="1" dirty="0">
                <a:solidFill>
                  <a:srgbClr val="660066"/>
                </a:solidFill>
              </a:rPr>
              <a:t>Text 1’s use of emotive language invites us to be sympathetic towards the father but then suddenly the child, whilst Text 2 lends itself to a strange sympathy for </a:t>
            </a:r>
            <a:r>
              <a:rPr lang="en-US" sz="1300" b="1" i="1" dirty="0" err="1">
                <a:solidFill>
                  <a:srgbClr val="660066"/>
                </a:solidFill>
              </a:rPr>
              <a:t>Mezrich</a:t>
            </a:r>
            <a:r>
              <a:rPr lang="en-US" sz="1300" b="1" i="1" dirty="0">
                <a:solidFill>
                  <a:srgbClr val="660066"/>
                </a:solidFill>
              </a:rPr>
              <a:t> and his dilemma regardless of its legality</a:t>
            </a:r>
            <a:r>
              <a:rPr lang="en-US" sz="1300" b="1" i="1" dirty="0" smtClean="0">
                <a:solidFill>
                  <a:srgbClr val="660066"/>
                </a:solidFill>
              </a:rPr>
              <a:t>.</a:t>
            </a:r>
            <a:endParaRPr lang="en-US" sz="1300" b="1" i="1" dirty="0">
              <a:solidFill>
                <a:srgbClr val="660066"/>
              </a:solidFill>
            </a:endParaRPr>
          </a:p>
        </p:txBody>
      </p:sp>
      <p:sp>
        <p:nvSpPr>
          <p:cNvPr id="4" name="Content Placeholder 2"/>
          <p:cNvSpPr txBox="1">
            <a:spLocks/>
          </p:cNvSpPr>
          <p:nvPr/>
        </p:nvSpPr>
        <p:spPr>
          <a:xfrm>
            <a:off x="192774" y="1950801"/>
            <a:ext cx="8867595" cy="5057539"/>
          </a:xfrm>
          <a:prstGeom prst="rect">
            <a:avLst/>
          </a:prstGeom>
        </p:spPr>
        <p:txBody>
          <a:bodyPr>
            <a:normAutofit fontScale="85000" lnSpcReduction="2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Font typeface="Wingdings 2" pitchFamily="18" charset="2"/>
              <a:buNone/>
            </a:pPr>
            <a:r>
              <a:rPr lang="en-US" sz="1700" i="1" dirty="0" smtClean="0"/>
              <a:t>Text 1’s first two paragraphs about Nguyen’s father’s role in the war and the trauma that this sent him home with use language that makes us distressed, such as “count the dead bodies” and “just stand there and scream” to make us feel incredibly sorry for her father. Suddenly at paragraph 3 however, the text takes a change and describes the abuse Nguyen and her siblings suffered under her father’s regime of fear. </a:t>
            </a:r>
            <a:r>
              <a:rPr lang="en-US" sz="1700" i="1" strike="sngStrike" dirty="0" smtClean="0"/>
              <a:t>These</a:t>
            </a:r>
            <a:r>
              <a:rPr lang="en-US" sz="1700" i="1" dirty="0" smtClean="0"/>
              <a:t> The second half of the text repeatedly uses this word, “fear”, alongside similar words such as “paranoid” and “dread” to evoke a response in us, the reader, of great sympathy, and empathy for those who have experienced domestic violence or know of those who have, alongside sorrow. Perhaps the most emotional aspect of this piece however is that through the use of the language in the first paragraphs, the sympathy for the father, we simply cannot blame him for his actions, as it is not his fault, but the horrifying effects of the war.</a:t>
            </a:r>
          </a:p>
          <a:p>
            <a:pPr marL="0" indent="0">
              <a:buFont typeface="Wingdings 2" pitchFamily="18" charset="2"/>
              <a:buNone/>
            </a:pPr>
            <a:r>
              <a:rPr lang="en-US" sz="1700" i="1" dirty="0" smtClean="0"/>
              <a:t>Text 2 creates a similar </a:t>
            </a:r>
            <a:r>
              <a:rPr lang="en-US" sz="1700" i="1" strike="sngStrike" dirty="0" smtClean="0"/>
              <a:t>mess</a:t>
            </a:r>
            <a:r>
              <a:rPr lang="en-US" sz="1700" i="1" dirty="0" smtClean="0"/>
              <a:t> emotional response to what is discussed at the end of the last paragraph, an emotional sympathy for someone doing the wrong thing. This emotional response is not justified by a traumatic past however, but by the use of emotive language. Text 2 uses </a:t>
            </a:r>
            <a:r>
              <a:rPr lang="en-US" sz="1700" i="1" strike="sngStrike" dirty="0" smtClean="0"/>
              <a:t>words such as</a:t>
            </a:r>
            <a:r>
              <a:rPr lang="en-US" sz="1700" i="1" dirty="0" smtClean="0"/>
              <a:t> short segments of descriptive words such as the first three sentences to send </a:t>
            </a:r>
            <a:r>
              <a:rPr lang="en-US" sz="1700" i="1" strike="sngStrike" dirty="0" smtClean="0"/>
              <a:t>home a</a:t>
            </a:r>
            <a:r>
              <a:rPr lang="en-US" sz="1700" i="1" dirty="0" smtClean="0"/>
              <a:t> us a clear, defined message of the occurring events, but then uses phrases such as “bulging and nervous”, “deep breath”, and “act casual, think casual, be casual”, to evoke a response of empathy, leading us to a desire that this man should succeed as he is so nervous, and we shut out the questionable legality of his actions, our inevitable human response to another human’s suffering or discomfort trumping our morals of law. This response is greatly encouraged by the events taking place at an airport, a known area by all of us as a place of worry, stress and discomfort.</a:t>
            </a:r>
          </a:p>
          <a:p>
            <a:pPr marL="0" indent="0">
              <a:buFont typeface="Wingdings 2" pitchFamily="18" charset="2"/>
              <a:buNone/>
            </a:pPr>
            <a:r>
              <a:rPr lang="en-US" sz="1700" i="1" dirty="0" smtClean="0"/>
              <a:t>Both Text 1 and Text 2 evoke the emotional response of sympathy and empathy yes, but we can clearly see that these responses are morally flawed. Yes, we feel sorry for </a:t>
            </a:r>
            <a:r>
              <a:rPr lang="en-US" sz="1700" i="1" dirty="0" err="1" smtClean="0"/>
              <a:t>Mr</a:t>
            </a:r>
            <a:r>
              <a:rPr lang="en-US" sz="1700" i="1" dirty="0" smtClean="0"/>
              <a:t> Nguyen, but is his abuse justifiable? We can say we </a:t>
            </a:r>
            <a:r>
              <a:rPr lang="en-US" sz="1700" i="1" dirty="0" err="1" smtClean="0"/>
              <a:t>sympathise</a:t>
            </a:r>
            <a:r>
              <a:rPr lang="en-US" sz="1700" i="1" dirty="0" smtClean="0"/>
              <a:t> with </a:t>
            </a:r>
            <a:r>
              <a:rPr lang="en-US" sz="1700" i="1" dirty="0" err="1" smtClean="0"/>
              <a:t>Mezrich’s</a:t>
            </a:r>
            <a:r>
              <a:rPr lang="en-US" sz="1700" i="1" dirty="0" smtClean="0"/>
              <a:t> angst and worry, his dilemma, but does this change the legality of his actions? These texts both evoke human responses of sympathy at another’s suffering over issues of morality and legality, use rich emotional language.</a:t>
            </a:r>
          </a:p>
          <a:p>
            <a:pPr marL="0" indent="0">
              <a:buFont typeface="Wingdings 2" pitchFamily="18" charset="2"/>
              <a:buNone/>
            </a:pPr>
            <a:endParaRPr lang="en-US" sz="1500" i="1" dirty="0" smtClean="0"/>
          </a:p>
          <a:p>
            <a:pPr marL="0" indent="0">
              <a:buFont typeface="Wingdings 2" pitchFamily="18" charset="2"/>
              <a:buNone/>
            </a:pPr>
            <a:endParaRPr lang="en-US" i="1" dirty="0"/>
          </a:p>
        </p:txBody>
      </p:sp>
    </p:spTree>
    <p:extLst>
      <p:ext uri="{BB962C8B-B14F-4D97-AF65-F5344CB8AC3E}">
        <p14:creationId xmlns:p14="http://schemas.microsoft.com/office/powerpoint/2010/main" val="28522098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774" y="211864"/>
            <a:ext cx="8028463" cy="1538883"/>
          </a:xfrm>
          <a:prstGeom prst="rect">
            <a:avLst/>
          </a:prstGeom>
          <a:noFill/>
        </p:spPr>
        <p:txBody>
          <a:bodyPr wrap="square" rtlCol="0">
            <a:spAutoFit/>
          </a:bodyPr>
          <a:lstStyle/>
          <a:p>
            <a:r>
              <a:rPr lang="en-US" sz="1400" b="1" i="1" dirty="0"/>
              <a:t>Compare the effect of emotive language in Text 1 and Text 2 on the reader’s response to persona or </a:t>
            </a:r>
            <a:r>
              <a:rPr lang="en-US" sz="1400" b="1" i="1" dirty="0" smtClean="0"/>
              <a:t>events</a:t>
            </a:r>
          </a:p>
          <a:p>
            <a:endParaRPr lang="en-US" sz="1400" b="1" i="1" dirty="0"/>
          </a:p>
          <a:p>
            <a:r>
              <a:rPr lang="en-US" sz="1300" i="1" dirty="0"/>
              <a:t>The effects of the emotive language on the reader’s response to persona and events of Text 1 are similar to that of Text 2 in that they evoke a sympathetic and empathetic response. Text 1’s use of emotive language invites us to be sympathetic towards the father but then suddenly the child, whilst Text 2 lends itself to a strange sympathy for </a:t>
            </a:r>
            <a:r>
              <a:rPr lang="en-US" sz="1300" i="1" dirty="0" err="1"/>
              <a:t>Mezrich</a:t>
            </a:r>
            <a:r>
              <a:rPr lang="en-US" sz="1300" i="1" dirty="0"/>
              <a:t> and his dilemma regardless of its legality</a:t>
            </a:r>
            <a:r>
              <a:rPr lang="en-US" sz="1300" i="1" dirty="0" smtClean="0"/>
              <a:t>.</a:t>
            </a:r>
            <a:endParaRPr lang="en-US" sz="1300" i="1" dirty="0"/>
          </a:p>
        </p:txBody>
      </p:sp>
      <p:sp>
        <p:nvSpPr>
          <p:cNvPr id="4" name="Content Placeholder 2"/>
          <p:cNvSpPr txBox="1">
            <a:spLocks/>
          </p:cNvSpPr>
          <p:nvPr/>
        </p:nvSpPr>
        <p:spPr>
          <a:xfrm>
            <a:off x="192774" y="1800460"/>
            <a:ext cx="8867595" cy="5057539"/>
          </a:xfrm>
          <a:prstGeom prst="rect">
            <a:avLst/>
          </a:prstGeom>
        </p:spPr>
        <p:txBody>
          <a:bodyPr>
            <a:normAutofit fontScale="85000" lnSpcReduction="2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None/>
            </a:pPr>
            <a:r>
              <a:rPr lang="en-US" sz="1700" i="1" dirty="0"/>
              <a:t>Text 1’s first two paragraphs about Nguyen’s father’s role in the war and the trauma that this sent him home with use language that </a:t>
            </a:r>
            <a:r>
              <a:rPr lang="en-US" sz="1700" b="1" i="1" dirty="0">
                <a:solidFill>
                  <a:srgbClr val="008000"/>
                </a:solidFill>
              </a:rPr>
              <a:t>makes us distressed</a:t>
            </a:r>
            <a:r>
              <a:rPr lang="en-US" sz="1700" i="1" dirty="0"/>
              <a:t>, such as </a:t>
            </a:r>
            <a:r>
              <a:rPr lang="en-US" sz="1700" b="1" i="1" dirty="0">
                <a:solidFill>
                  <a:srgbClr val="000090"/>
                </a:solidFill>
              </a:rPr>
              <a:t>“count the dead bodies” </a:t>
            </a:r>
            <a:r>
              <a:rPr lang="en-US" sz="1700" i="1" dirty="0"/>
              <a:t>and </a:t>
            </a:r>
            <a:r>
              <a:rPr lang="en-US" sz="1700" b="1" i="1" dirty="0">
                <a:solidFill>
                  <a:srgbClr val="000090"/>
                </a:solidFill>
              </a:rPr>
              <a:t>“just stand there and scream</a:t>
            </a:r>
            <a:r>
              <a:rPr lang="en-US" sz="1700" i="1" dirty="0"/>
              <a:t>” to </a:t>
            </a:r>
            <a:r>
              <a:rPr lang="en-US" sz="1700" b="1" i="1" dirty="0">
                <a:solidFill>
                  <a:srgbClr val="008000"/>
                </a:solidFill>
              </a:rPr>
              <a:t>make us feel incredibly sorry </a:t>
            </a:r>
            <a:r>
              <a:rPr lang="en-US" sz="1700" i="1" dirty="0"/>
              <a:t>for her father. Suddenly at paragraph 3 however, the text takes a change and describes the abuse Nguyen and her siblings suffered under her father’s regime of fear. </a:t>
            </a:r>
            <a:r>
              <a:rPr lang="en-US" sz="1700" i="1" strike="sngStrike" dirty="0"/>
              <a:t>These</a:t>
            </a:r>
            <a:r>
              <a:rPr lang="en-US" sz="1700" i="1" dirty="0"/>
              <a:t> The second half of the text repeatedly uses this word, </a:t>
            </a:r>
            <a:r>
              <a:rPr lang="en-US" sz="1700" b="1" i="1" dirty="0">
                <a:solidFill>
                  <a:srgbClr val="000090"/>
                </a:solidFill>
              </a:rPr>
              <a:t>“fear”</a:t>
            </a:r>
            <a:r>
              <a:rPr lang="en-US" sz="1700" i="1" dirty="0"/>
              <a:t>, alongside similar words such as </a:t>
            </a:r>
            <a:r>
              <a:rPr lang="en-US" sz="1700" b="1" i="1" dirty="0">
                <a:solidFill>
                  <a:srgbClr val="000090"/>
                </a:solidFill>
              </a:rPr>
              <a:t>“paranoid” </a:t>
            </a:r>
            <a:r>
              <a:rPr lang="en-US" sz="1700" i="1" dirty="0"/>
              <a:t>and </a:t>
            </a:r>
            <a:r>
              <a:rPr lang="en-US" sz="1700" b="1" i="1" dirty="0">
                <a:solidFill>
                  <a:srgbClr val="000090"/>
                </a:solidFill>
              </a:rPr>
              <a:t>“dread” </a:t>
            </a:r>
            <a:r>
              <a:rPr lang="en-US" sz="1700" b="1" i="1" dirty="0">
                <a:solidFill>
                  <a:srgbClr val="008000"/>
                </a:solidFill>
              </a:rPr>
              <a:t>to evoke a response in us, the reader, of great sympathy, and empathy </a:t>
            </a:r>
            <a:r>
              <a:rPr lang="en-US" sz="1700" i="1" dirty="0"/>
              <a:t>for those who have experienced domestic violence or know of those who have, alongside sorrow. Perhaps the most emotional aspect of this piece however is that through the use of the language in the first paragraphs, the sympathy for the father, we simply cannot blame him for his actions, as it is not his fault, but the horrifying effects of the war.</a:t>
            </a:r>
          </a:p>
          <a:p>
            <a:pPr marL="0" indent="0">
              <a:buNone/>
            </a:pPr>
            <a:r>
              <a:rPr lang="en-US" sz="1700" i="1" dirty="0"/>
              <a:t>Text 2 creates a similar </a:t>
            </a:r>
            <a:r>
              <a:rPr lang="en-US" sz="1700" i="1" strike="sngStrike" dirty="0"/>
              <a:t>mess</a:t>
            </a:r>
            <a:r>
              <a:rPr lang="en-US" sz="1700" i="1" dirty="0"/>
              <a:t> emotional response to what is discussed at the end of the last paragraph, </a:t>
            </a:r>
            <a:r>
              <a:rPr lang="en-US" sz="1700" b="1" i="1" dirty="0">
                <a:solidFill>
                  <a:srgbClr val="008000"/>
                </a:solidFill>
              </a:rPr>
              <a:t>an emotional sympathy for someone doing the wrong thing</a:t>
            </a:r>
            <a:r>
              <a:rPr lang="en-US" sz="1700" i="1" dirty="0"/>
              <a:t>. This emotional response is not justified by a traumatic past however, but by the use of emotive language. Text 2 uses </a:t>
            </a:r>
            <a:r>
              <a:rPr lang="en-US" sz="1700" i="1" strike="sngStrike" dirty="0"/>
              <a:t>words such as</a:t>
            </a:r>
            <a:r>
              <a:rPr lang="en-US" sz="1700" i="1" dirty="0"/>
              <a:t> short segments of descriptive words such as the first three sentences to send </a:t>
            </a:r>
            <a:r>
              <a:rPr lang="en-US" sz="1700" i="1" strike="sngStrike" dirty="0"/>
              <a:t>home a</a:t>
            </a:r>
            <a:r>
              <a:rPr lang="en-US" sz="1700" i="1" dirty="0"/>
              <a:t> us a clear, defined message of the occurring events, but then uses phrases such as </a:t>
            </a:r>
            <a:r>
              <a:rPr lang="en-US" sz="1700" b="1" i="1" dirty="0">
                <a:solidFill>
                  <a:srgbClr val="000090"/>
                </a:solidFill>
              </a:rPr>
              <a:t>“bulging and nervous”, “deep breath”</a:t>
            </a:r>
            <a:r>
              <a:rPr lang="en-US" sz="1700" i="1" dirty="0"/>
              <a:t>, and </a:t>
            </a:r>
            <a:r>
              <a:rPr lang="en-US" sz="1700" b="1" i="1" dirty="0">
                <a:solidFill>
                  <a:srgbClr val="000090"/>
                </a:solidFill>
              </a:rPr>
              <a:t>“act casual, think casual, be casual”</a:t>
            </a:r>
            <a:r>
              <a:rPr lang="en-US" sz="1700" i="1" dirty="0"/>
              <a:t>, to</a:t>
            </a:r>
            <a:r>
              <a:rPr lang="en-US" sz="1700" i="1" dirty="0">
                <a:solidFill>
                  <a:srgbClr val="008000"/>
                </a:solidFill>
              </a:rPr>
              <a:t> </a:t>
            </a:r>
            <a:r>
              <a:rPr lang="en-US" sz="1700" b="1" i="1" dirty="0">
                <a:solidFill>
                  <a:srgbClr val="008000"/>
                </a:solidFill>
              </a:rPr>
              <a:t>evoke a response of empathy, leading us to a desire that this man should succeed as he is so nervous</a:t>
            </a:r>
            <a:r>
              <a:rPr lang="en-US" sz="1700" i="1" dirty="0"/>
              <a:t>, and we shut out the questionable legality of his actions, our </a:t>
            </a:r>
            <a:r>
              <a:rPr lang="en-US" sz="1700" b="1" i="1" dirty="0">
                <a:solidFill>
                  <a:srgbClr val="008000"/>
                </a:solidFill>
              </a:rPr>
              <a:t>inevitable human response</a:t>
            </a:r>
            <a:r>
              <a:rPr lang="en-US" sz="1700" i="1" dirty="0">
                <a:solidFill>
                  <a:srgbClr val="008000"/>
                </a:solidFill>
              </a:rPr>
              <a:t> </a:t>
            </a:r>
            <a:r>
              <a:rPr lang="en-US" sz="1700" i="1" dirty="0"/>
              <a:t>to another human’s suffering or discomfort trumping our morals of law</a:t>
            </a:r>
            <a:r>
              <a:rPr lang="en-US" sz="1700" b="1" i="1" dirty="0">
                <a:solidFill>
                  <a:srgbClr val="008000"/>
                </a:solidFill>
              </a:rPr>
              <a:t>. This response is greatly encouraged </a:t>
            </a:r>
            <a:r>
              <a:rPr lang="en-US" sz="1700" i="1" dirty="0"/>
              <a:t>by the events taking place at an airport, a known area by all of us as a place of worry, stress and discomfort.</a:t>
            </a:r>
          </a:p>
          <a:p>
            <a:pPr marL="0" indent="0">
              <a:buFont typeface="Wingdings 2" pitchFamily="18" charset="2"/>
              <a:buNone/>
            </a:pPr>
            <a:r>
              <a:rPr lang="en-US" sz="1700" i="1" dirty="0" smtClean="0"/>
              <a:t>Both Text 1 and Text 2 evoke the emotional response of sympathy and empathy yes, but we can clearly see that these responses are morally flawed. Yes, we feel sorry for </a:t>
            </a:r>
            <a:r>
              <a:rPr lang="en-US" sz="1700" i="1" dirty="0" err="1" smtClean="0"/>
              <a:t>Mr</a:t>
            </a:r>
            <a:r>
              <a:rPr lang="en-US" sz="1700" i="1" dirty="0" smtClean="0"/>
              <a:t> Nguyen, but is his abuse justifiable? We can say we </a:t>
            </a:r>
            <a:r>
              <a:rPr lang="en-US" sz="1700" i="1" dirty="0" err="1" smtClean="0"/>
              <a:t>sympathise</a:t>
            </a:r>
            <a:r>
              <a:rPr lang="en-US" sz="1700" i="1" dirty="0" smtClean="0"/>
              <a:t> with </a:t>
            </a:r>
            <a:r>
              <a:rPr lang="en-US" sz="1700" i="1" dirty="0" err="1" smtClean="0"/>
              <a:t>Mezrich’s</a:t>
            </a:r>
            <a:r>
              <a:rPr lang="en-US" sz="1700" i="1" dirty="0" smtClean="0"/>
              <a:t> angst and worry, his dilemma, but does this change the legality of his actions? These texts both evoke human responses of sympathy at another’s suffering over issues of morality and legality, use rich emotional language.</a:t>
            </a:r>
          </a:p>
          <a:p>
            <a:pPr marL="0" indent="0">
              <a:buFont typeface="Wingdings 2" pitchFamily="18" charset="2"/>
              <a:buNone/>
            </a:pPr>
            <a:endParaRPr lang="en-US" sz="1500" i="1" dirty="0" smtClean="0"/>
          </a:p>
          <a:p>
            <a:pPr marL="0" indent="0">
              <a:buFont typeface="Wingdings 2" pitchFamily="18" charset="2"/>
              <a:buNone/>
            </a:pPr>
            <a:endParaRPr lang="en-US" i="1" dirty="0"/>
          </a:p>
        </p:txBody>
      </p:sp>
    </p:spTree>
    <p:extLst>
      <p:ext uri="{BB962C8B-B14F-4D97-AF65-F5344CB8AC3E}">
        <p14:creationId xmlns:p14="http://schemas.microsoft.com/office/powerpoint/2010/main" val="28522098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774" y="211864"/>
            <a:ext cx="8028463" cy="1538883"/>
          </a:xfrm>
          <a:prstGeom prst="rect">
            <a:avLst/>
          </a:prstGeom>
          <a:noFill/>
        </p:spPr>
        <p:txBody>
          <a:bodyPr wrap="square" rtlCol="0">
            <a:spAutoFit/>
          </a:bodyPr>
          <a:lstStyle/>
          <a:p>
            <a:r>
              <a:rPr lang="en-US" sz="1400" b="1" i="1" dirty="0"/>
              <a:t>Compare the effect of emotive language in Text 1 and Text 2 on the reader’s response to persona or </a:t>
            </a:r>
            <a:r>
              <a:rPr lang="en-US" sz="1400" b="1" i="1" dirty="0" smtClean="0"/>
              <a:t>events</a:t>
            </a:r>
          </a:p>
          <a:p>
            <a:endParaRPr lang="en-US" sz="1400" b="1" i="1" dirty="0"/>
          </a:p>
          <a:p>
            <a:r>
              <a:rPr lang="en-US" sz="1300" i="1" dirty="0"/>
              <a:t>The effects of the emotive language on the reader’s response to persona and events of Text 1 are similar to that of Text 2 in that they evoke a sympathetic and empathetic response. Text 1’s use of emotive language invites us to be sympathetic towards the father but then suddenly the child, whilst Text 2 lends itself to a strange sympathy for </a:t>
            </a:r>
            <a:r>
              <a:rPr lang="en-US" sz="1300" i="1" dirty="0" err="1"/>
              <a:t>Mezrich</a:t>
            </a:r>
            <a:r>
              <a:rPr lang="en-US" sz="1300" i="1" dirty="0"/>
              <a:t> and his dilemma regardless of its legality</a:t>
            </a:r>
            <a:r>
              <a:rPr lang="en-US" sz="1300" i="1" dirty="0" smtClean="0"/>
              <a:t>.</a:t>
            </a:r>
            <a:endParaRPr lang="en-US" sz="1300" i="1" dirty="0"/>
          </a:p>
        </p:txBody>
      </p:sp>
      <p:sp>
        <p:nvSpPr>
          <p:cNvPr id="4" name="Content Placeholder 2"/>
          <p:cNvSpPr txBox="1">
            <a:spLocks/>
          </p:cNvSpPr>
          <p:nvPr/>
        </p:nvSpPr>
        <p:spPr>
          <a:xfrm>
            <a:off x="192774" y="1800460"/>
            <a:ext cx="8867595" cy="5057539"/>
          </a:xfrm>
          <a:prstGeom prst="rect">
            <a:avLst/>
          </a:prstGeom>
        </p:spPr>
        <p:txBody>
          <a:bodyPr>
            <a:normAutofit fontScale="77500" lnSpcReduction="2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None/>
            </a:pPr>
            <a:r>
              <a:rPr lang="en-US" sz="1800" i="1" dirty="0"/>
              <a:t>Text 1’s first two paragraphs about Nguyen’s father’s role in the war and the trauma that this sent him home with use language that makes us distressed, such as “count the dead bodies” and “just stand there and scream” to make us feel incredibly sorry for her father. Suddenly at paragraph 3 however, the text takes a change and describes the abuse Nguyen and her siblings suffered under her father’s regime of fear. </a:t>
            </a:r>
            <a:r>
              <a:rPr lang="en-US" sz="1800" i="1" strike="sngStrike" dirty="0"/>
              <a:t>These</a:t>
            </a:r>
            <a:r>
              <a:rPr lang="en-US" sz="1800" i="1" dirty="0"/>
              <a:t> The second half of the text repeatedly uses this word, “fear”, alongside similar words such as “paranoid” and “dread” to evoke a response in us, the reader, of great sympathy, and empathy for those who have experienced domestic violence or know of those who have, alongside sorrow. Perhaps the most emotional aspect of this piece however is that through the use of the language in the first paragraphs, the sympathy for the father, </a:t>
            </a:r>
            <a:r>
              <a:rPr lang="en-US" sz="1800" b="1" i="1" dirty="0">
                <a:solidFill>
                  <a:srgbClr val="660066"/>
                </a:solidFill>
              </a:rPr>
              <a:t>we simply cannot blame him for his actions, as it is not his fault, but the horrifying effects of the war.</a:t>
            </a:r>
          </a:p>
          <a:p>
            <a:pPr marL="0" indent="0">
              <a:buNone/>
            </a:pPr>
            <a:r>
              <a:rPr lang="en-US" sz="1800" i="1" dirty="0"/>
              <a:t>Text 2 creates a similar </a:t>
            </a:r>
            <a:r>
              <a:rPr lang="en-US" sz="1800" i="1" strike="sngStrike" dirty="0"/>
              <a:t>mess</a:t>
            </a:r>
            <a:r>
              <a:rPr lang="en-US" sz="1800" i="1" dirty="0"/>
              <a:t> emotional response to what is discussed at the end of the last paragraph, an emotional sympathy for someone doing the wrong thing. This emotional response is not justified by a traumatic past however, but by the use of emotive language. Text 2 uses </a:t>
            </a:r>
            <a:r>
              <a:rPr lang="en-US" sz="1800" i="1" strike="sngStrike" dirty="0"/>
              <a:t>words such as</a:t>
            </a:r>
            <a:r>
              <a:rPr lang="en-US" sz="1800" i="1" dirty="0"/>
              <a:t> short segments of descriptive words such as the first three sentences to send </a:t>
            </a:r>
            <a:r>
              <a:rPr lang="en-US" sz="1800" i="1" strike="sngStrike" dirty="0"/>
              <a:t>home a</a:t>
            </a:r>
            <a:r>
              <a:rPr lang="en-US" sz="1800" i="1" dirty="0"/>
              <a:t> us a clear, defined message of the occurring events, but then uses phrases such as “bulging and nervous”, “deep breath”, and “act casual, think casual, be casual”, to evoke a response of empathy, leading us to a desire that this man should succeed as he is so nervous, </a:t>
            </a:r>
            <a:r>
              <a:rPr lang="en-US" sz="1800" b="1" i="1" dirty="0">
                <a:solidFill>
                  <a:srgbClr val="660066"/>
                </a:solidFill>
              </a:rPr>
              <a:t>and we shut out the questionable legality of his actions,</a:t>
            </a:r>
            <a:r>
              <a:rPr lang="en-US" sz="1800" i="1" dirty="0">
                <a:solidFill>
                  <a:srgbClr val="660066"/>
                </a:solidFill>
              </a:rPr>
              <a:t> </a:t>
            </a:r>
            <a:r>
              <a:rPr lang="en-US" sz="1800" i="1" dirty="0"/>
              <a:t>our inevitable human response to another human’s suffering or discomfort trumping our morals of law. This response is greatly encourage by the events taking place at an airport, a known area by all of us as a place of worry, stress and discomfort.</a:t>
            </a:r>
          </a:p>
          <a:p>
            <a:pPr marL="0" indent="0">
              <a:buNone/>
            </a:pPr>
            <a:r>
              <a:rPr lang="en-US" sz="1800" i="1" dirty="0"/>
              <a:t>Both Text 1 and Text 2 evoke the emotional response of sympathy and empathy yes, but we can clearly see that these responses are morally flawed. Yes, we feel sorry for </a:t>
            </a:r>
            <a:r>
              <a:rPr lang="en-US" sz="1800" i="1" dirty="0" err="1"/>
              <a:t>Mr</a:t>
            </a:r>
            <a:r>
              <a:rPr lang="en-US" sz="1800" i="1" dirty="0"/>
              <a:t> Nguyen, </a:t>
            </a:r>
            <a:r>
              <a:rPr lang="en-US" sz="1800" b="1" i="1" dirty="0">
                <a:solidFill>
                  <a:srgbClr val="660066"/>
                </a:solidFill>
              </a:rPr>
              <a:t>but is his abuse justifiable? </a:t>
            </a:r>
            <a:r>
              <a:rPr lang="en-US" sz="1800" i="1" dirty="0"/>
              <a:t>We can </a:t>
            </a:r>
            <a:r>
              <a:rPr lang="en-US" sz="1800" i="1" dirty="0" smtClean="0"/>
              <a:t>say </a:t>
            </a:r>
            <a:r>
              <a:rPr lang="en-US" sz="1800" i="1" dirty="0"/>
              <a:t>we </a:t>
            </a:r>
            <a:r>
              <a:rPr lang="en-US" sz="1800" i="1" dirty="0" err="1"/>
              <a:t>sympathise</a:t>
            </a:r>
            <a:r>
              <a:rPr lang="en-US" sz="1800" i="1" dirty="0"/>
              <a:t> with </a:t>
            </a:r>
            <a:r>
              <a:rPr lang="en-US" sz="1800" i="1" dirty="0" err="1"/>
              <a:t>Mezrich’s</a:t>
            </a:r>
            <a:r>
              <a:rPr lang="en-US" sz="1800" i="1" dirty="0"/>
              <a:t> angst and worry, his dilemma, </a:t>
            </a:r>
            <a:r>
              <a:rPr lang="en-US" sz="1800" b="1" i="1" dirty="0">
                <a:solidFill>
                  <a:srgbClr val="660066"/>
                </a:solidFill>
              </a:rPr>
              <a:t>but does this change the legality of his actions? </a:t>
            </a:r>
            <a:r>
              <a:rPr lang="en-US" sz="1800" i="1" dirty="0"/>
              <a:t>These texts both evoke human responses of sympathy at another’s suffering over issues of morality and legality, use rich emotional language.</a:t>
            </a:r>
          </a:p>
          <a:p>
            <a:pPr marL="0" indent="0">
              <a:buFont typeface="Wingdings 2" pitchFamily="18" charset="2"/>
              <a:buNone/>
            </a:pPr>
            <a:endParaRPr lang="en-US" sz="1500" i="1" dirty="0" smtClean="0"/>
          </a:p>
          <a:p>
            <a:pPr marL="0" indent="0">
              <a:buFont typeface="Wingdings 2" pitchFamily="18" charset="2"/>
              <a:buNone/>
            </a:pPr>
            <a:endParaRPr lang="en-US" i="1" dirty="0"/>
          </a:p>
        </p:txBody>
      </p:sp>
    </p:spTree>
    <p:extLst>
      <p:ext uri="{BB962C8B-B14F-4D97-AF65-F5344CB8AC3E}">
        <p14:creationId xmlns:p14="http://schemas.microsoft.com/office/powerpoint/2010/main" val="32672262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774" y="211864"/>
            <a:ext cx="8028463" cy="1538883"/>
          </a:xfrm>
          <a:prstGeom prst="rect">
            <a:avLst/>
          </a:prstGeom>
          <a:noFill/>
        </p:spPr>
        <p:txBody>
          <a:bodyPr wrap="square" rtlCol="0">
            <a:spAutoFit/>
          </a:bodyPr>
          <a:lstStyle/>
          <a:p>
            <a:r>
              <a:rPr lang="en-US" sz="1400" b="1" i="1" dirty="0"/>
              <a:t>Compare the effect of emotive language in Text 1 and Text 2 on the reader’s response to persona or </a:t>
            </a:r>
            <a:r>
              <a:rPr lang="en-US" sz="1400" b="1" i="1" dirty="0" smtClean="0"/>
              <a:t>events</a:t>
            </a:r>
          </a:p>
          <a:p>
            <a:endParaRPr lang="en-US" sz="1400" b="1" i="1" dirty="0"/>
          </a:p>
          <a:p>
            <a:r>
              <a:rPr lang="en-US" sz="1300" i="1" dirty="0"/>
              <a:t>The effects of the emotive language on the reader’s response to persona and events of Text 1 are similar to that of Text 2 in that they evoke a sympathetic and empathetic response. Text 1’s use of emotive language invites us to be sympathetic towards the father but then suddenly the child, whilst Text 2 lends itself to a strange sympathy for </a:t>
            </a:r>
            <a:r>
              <a:rPr lang="en-US" sz="1300" i="1" dirty="0" err="1"/>
              <a:t>Mezrich</a:t>
            </a:r>
            <a:r>
              <a:rPr lang="en-US" sz="1300" i="1" dirty="0"/>
              <a:t> and his dilemma regardless of its legality</a:t>
            </a:r>
            <a:r>
              <a:rPr lang="en-US" sz="1300" i="1" dirty="0" smtClean="0"/>
              <a:t>.</a:t>
            </a:r>
            <a:endParaRPr lang="en-US" sz="1300" i="1" dirty="0"/>
          </a:p>
        </p:txBody>
      </p:sp>
      <p:sp>
        <p:nvSpPr>
          <p:cNvPr id="4" name="Content Placeholder 2"/>
          <p:cNvSpPr txBox="1">
            <a:spLocks/>
          </p:cNvSpPr>
          <p:nvPr/>
        </p:nvSpPr>
        <p:spPr>
          <a:xfrm>
            <a:off x="192774" y="1800460"/>
            <a:ext cx="8867595" cy="5057539"/>
          </a:xfrm>
          <a:prstGeom prst="rect">
            <a:avLst/>
          </a:prstGeom>
        </p:spPr>
        <p:txBody>
          <a:bodyPr>
            <a:normAutofit fontScale="85000" lnSpcReduction="2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indent="0">
              <a:buFont typeface="Wingdings 2" pitchFamily="18" charset="2"/>
              <a:buNone/>
            </a:pPr>
            <a:r>
              <a:rPr lang="en-US" sz="1700" i="1" dirty="0" smtClean="0"/>
              <a:t>Text 1’s first two paragraphs about Nguyen’s father’s role in the war and the trauma that this sent him home with use language that makes us distressed, such as “count the dead bodies” and “just stand there and scream” to make us feel incredibly sorry for her father. Suddenly at paragraph 3 however, the text takes a change and describes the abuse Nguyen and her siblings suffered under her father’s regime of fear. </a:t>
            </a:r>
            <a:r>
              <a:rPr lang="en-US" sz="1700" i="1" strike="sngStrike" dirty="0" smtClean="0"/>
              <a:t>These</a:t>
            </a:r>
            <a:r>
              <a:rPr lang="en-US" sz="1700" i="1" dirty="0" smtClean="0"/>
              <a:t> The second half of the text repeatedly uses this word, “fear”, alongside similar words such as “paranoid” and “dread” to evoke a response in us, the reader, of great sympathy, and empathy for those who have experienced domestic violence or know of those who have, alongside sorrow. Perhaps the most emotional aspect of this piece however is that through the use of the language in the first paragraphs, the sympathy for the father, we simply cannot blame him for his actions, as it is not his fault, but the horrifying effects of the war.</a:t>
            </a:r>
          </a:p>
          <a:p>
            <a:pPr marL="0" indent="0">
              <a:buFont typeface="Wingdings 2" pitchFamily="18" charset="2"/>
              <a:buNone/>
            </a:pPr>
            <a:r>
              <a:rPr lang="en-US" sz="1700" i="1" dirty="0" smtClean="0"/>
              <a:t>Text 2 creates a similar </a:t>
            </a:r>
            <a:r>
              <a:rPr lang="en-US" sz="1700" i="1" strike="sngStrike" dirty="0" smtClean="0"/>
              <a:t>mess</a:t>
            </a:r>
            <a:r>
              <a:rPr lang="en-US" sz="1700" i="1" dirty="0" smtClean="0"/>
              <a:t> emotional response to what is discussed at the end of the last paragraph, an emotional sympathy for someone doing the wrong thing. This emotional response is not justified by a traumatic past however, but by the use of emotive language. Text 2 uses </a:t>
            </a:r>
            <a:r>
              <a:rPr lang="en-US" sz="1700" i="1" strike="sngStrike" dirty="0" smtClean="0"/>
              <a:t>words such as</a:t>
            </a:r>
            <a:r>
              <a:rPr lang="en-US" sz="1700" i="1" dirty="0" smtClean="0"/>
              <a:t> short segments of descriptive words such as the first three sentences to send </a:t>
            </a:r>
            <a:r>
              <a:rPr lang="en-US" sz="1700" i="1" strike="sngStrike" dirty="0" smtClean="0"/>
              <a:t>home a</a:t>
            </a:r>
            <a:r>
              <a:rPr lang="en-US" sz="1700" i="1" dirty="0" smtClean="0"/>
              <a:t> us a clear, defined message of the occurring events, but then uses phrases such as “bulging and nervous”, “deep breath”, and “act casual, think casual, be casual”, to evoke a response of empathy, leading us to a desire that this man should succeed as he is so nervous, and we shut out the questionable legality of his actions, our inevitable human response to another human’s suffering or discomfort trumping our morals of law. This response is greatly encouraged by the events taking place at an airport, a known area by all of us as a place of worry, stress and discomfort.</a:t>
            </a:r>
          </a:p>
          <a:p>
            <a:pPr marL="0" indent="0">
              <a:buFont typeface="Wingdings 2" pitchFamily="18" charset="2"/>
              <a:buNone/>
            </a:pPr>
            <a:r>
              <a:rPr lang="en-US" sz="1700" b="1" i="1" dirty="0" smtClean="0">
                <a:solidFill>
                  <a:srgbClr val="FF0000"/>
                </a:solidFill>
              </a:rPr>
              <a:t>Both Text 1 and Text 2 evoke the emotional response of sympathy and empathy yes, but we can clearly see that these responses are morally flawed. Yes, we feel sorry for </a:t>
            </a:r>
            <a:r>
              <a:rPr lang="en-US" sz="1700" b="1" i="1" dirty="0" err="1" smtClean="0">
                <a:solidFill>
                  <a:srgbClr val="FF0000"/>
                </a:solidFill>
              </a:rPr>
              <a:t>Mr</a:t>
            </a:r>
            <a:r>
              <a:rPr lang="en-US" sz="1700" b="1" i="1" dirty="0" smtClean="0">
                <a:solidFill>
                  <a:srgbClr val="FF0000"/>
                </a:solidFill>
              </a:rPr>
              <a:t> Nguyen, but is his abuse justifiable? We can say we </a:t>
            </a:r>
            <a:r>
              <a:rPr lang="en-US" sz="1700" b="1" i="1" dirty="0" err="1" smtClean="0">
                <a:solidFill>
                  <a:srgbClr val="FF0000"/>
                </a:solidFill>
              </a:rPr>
              <a:t>sympathise</a:t>
            </a:r>
            <a:r>
              <a:rPr lang="en-US" sz="1700" b="1" i="1" dirty="0" smtClean="0">
                <a:solidFill>
                  <a:srgbClr val="FF0000"/>
                </a:solidFill>
              </a:rPr>
              <a:t> with </a:t>
            </a:r>
            <a:r>
              <a:rPr lang="en-US" sz="1700" b="1" i="1" dirty="0" err="1" smtClean="0">
                <a:solidFill>
                  <a:srgbClr val="FF0000"/>
                </a:solidFill>
              </a:rPr>
              <a:t>Mezrich’s</a:t>
            </a:r>
            <a:r>
              <a:rPr lang="en-US" sz="1700" b="1" i="1" dirty="0" smtClean="0">
                <a:solidFill>
                  <a:srgbClr val="FF0000"/>
                </a:solidFill>
              </a:rPr>
              <a:t> angst and worry, his dilemma, but does this change the legality of his actions? These texts both evoke human responses of sympathy at another’s suffering over issues of morality and legality, use rich emotional language.</a:t>
            </a:r>
          </a:p>
          <a:p>
            <a:pPr marL="0" indent="0">
              <a:buFont typeface="Wingdings 2" pitchFamily="18" charset="2"/>
              <a:buNone/>
            </a:pPr>
            <a:endParaRPr lang="en-US" sz="1500" i="1" dirty="0" smtClean="0"/>
          </a:p>
          <a:p>
            <a:pPr marL="0" indent="0">
              <a:buFont typeface="Wingdings 2" pitchFamily="18" charset="2"/>
              <a:buNone/>
            </a:pPr>
            <a:endParaRPr lang="en-US" i="1" dirty="0"/>
          </a:p>
        </p:txBody>
      </p:sp>
    </p:spTree>
    <p:extLst>
      <p:ext uri="{BB962C8B-B14F-4D97-AF65-F5344CB8AC3E}">
        <p14:creationId xmlns:p14="http://schemas.microsoft.com/office/powerpoint/2010/main" val="35340769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Marking and Assessment</a:t>
            </a:r>
            <a:endParaRPr lang="en-US" dirty="0"/>
          </a:p>
        </p:txBody>
      </p:sp>
      <p:sp>
        <p:nvSpPr>
          <p:cNvPr id="3" name="Content Placeholder 2"/>
          <p:cNvSpPr>
            <a:spLocks noGrp="1"/>
          </p:cNvSpPr>
          <p:nvPr>
            <p:ph idx="1"/>
          </p:nvPr>
        </p:nvSpPr>
        <p:spPr>
          <a:xfrm>
            <a:off x="457199" y="2209801"/>
            <a:ext cx="6508377" cy="2995362"/>
          </a:xfrm>
        </p:spPr>
        <p:txBody>
          <a:bodyPr>
            <a:noAutofit/>
          </a:bodyPr>
          <a:lstStyle/>
          <a:p>
            <a:endParaRPr lang="en-US" sz="2400" dirty="0" smtClean="0"/>
          </a:p>
          <a:p>
            <a:r>
              <a:rPr lang="en-US" sz="2400" dirty="0" smtClean="0"/>
              <a:t>Marking Keys – What are we looking for?</a:t>
            </a:r>
            <a:endParaRPr lang="en-US" sz="2400" dirty="0"/>
          </a:p>
          <a:p>
            <a:r>
              <a:rPr lang="en-US" sz="2400" dirty="0" smtClean="0"/>
              <a:t>Marking Keys as Teaching Tools</a:t>
            </a:r>
            <a:endParaRPr lang="en-US" sz="2400" dirty="0"/>
          </a:p>
        </p:txBody>
      </p:sp>
    </p:spTree>
    <p:extLst>
      <p:ext uri="{BB962C8B-B14F-4D97-AF65-F5344CB8AC3E}">
        <p14:creationId xmlns:p14="http://schemas.microsoft.com/office/powerpoint/2010/main" val="3349357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9708" y="623713"/>
            <a:ext cx="8844916" cy="6432532"/>
          </a:xfrm>
          <a:prstGeom prst="rect">
            <a:avLst/>
          </a:prstGeom>
          <a:noFill/>
        </p:spPr>
        <p:txBody>
          <a:bodyPr wrap="square" rtlCol="0">
            <a:spAutoFit/>
          </a:bodyPr>
          <a:lstStyle/>
          <a:p>
            <a:endParaRPr lang="en-AU" sz="1400" dirty="0"/>
          </a:p>
          <a:p>
            <a:r>
              <a:rPr lang="en-AU" sz="1400" b="1" dirty="0" smtClean="0"/>
              <a:t>Question </a:t>
            </a:r>
            <a:r>
              <a:rPr lang="en-AU" sz="1400" b="1" dirty="0"/>
              <a:t>1</a:t>
            </a:r>
            <a:r>
              <a:rPr lang="en-AU" sz="1400" b="1" dirty="0" smtClean="0"/>
              <a:t>: Discuss how Text 1 constructs ideas about gender</a:t>
            </a:r>
          </a:p>
          <a:p>
            <a:endParaRPr lang="en-AU" sz="1400" dirty="0"/>
          </a:p>
          <a:p>
            <a:r>
              <a:rPr lang="en-AU" dirty="0"/>
              <a:t>Construction</a:t>
            </a:r>
            <a:r>
              <a:rPr lang="en-AU" dirty="0" smtClean="0"/>
              <a:t>:</a:t>
            </a:r>
          </a:p>
          <a:p>
            <a:pPr>
              <a:lnSpc>
                <a:spcPct val="120000"/>
              </a:lnSpc>
            </a:pPr>
            <a:endParaRPr lang="en-AU" dirty="0"/>
          </a:p>
          <a:p>
            <a:pPr marL="285750" lvl="0" indent="-285750">
              <a:lnSpc>
                <a:spcPct val="120000"/>
              </a:lnSpc>
              <a:buFont typeface="Arial"/>
              <a:buChar char="•"/>
            </a:pPr>
            <a:r>
              <a:rPr lang="en-AU" dirty="0"/>
              <a:t>The title foreshadows boys as living on the edge, risk-takers</a:t>
            </a:r>
          </a:p>
          <a:p>
            <a:pPr marL="285750" lvl="0" indent="-285750">
              <a:lnSpc>
                <a:spcPct val="120000"/>
              </a:lnSpc>
              <a:buFont typeface="Arial"/>
              <a:buChar char="•"/>
            </a:pPr>
            <a:r>
              <a:rPr lang="en-AU" dirty="0"/>
              <a:t>Point of view and how this perspective operates</a:t>
            </a:r>
          </a:p>
          <a:p>
            <a:pPr marL="285750" lvl="0" indent="-285750">
              <a:lnSpc>
                <a:spcPct val="120000"/>
              </a:lnSpc>
              <a:buFont typeface="Arial"/>
              <a:buChar char="•"/>
            </a:pPr>
            <a:r>
              <a:rPr lang="en-AU" dirty="0"/>
              <a:t>Short sentence structure at the start</a:t>
            </a:r>
          </a:p>
          <a:p>
            <a:pPr marL="285750" lvl="0" indent="-285750">
              <a:lnSpc>
                <a:spcPct val="120000"/>
              </a:lnSpc>
              <a:buFont typeface="Arial"/>
              <a:buChar char="•"/>
            </a:pPr>
            <a:r>
              <a:rPr lang="en-AU" dirty="0"/>
              <a:t>Repetition of the word ‘scream’</a:t>
            </a:r>
          </a:p>
          <a:p>
            <a:pPr marL="285750" lvl="0" indent="-285750">
              <a:lnSpc>
                <a:spcPct val="120000"/>
              </a:lnSpc>
              <a:buFont typeface="Arial"/>
              <a:buChar char="•"/>
            </a:pPr>
            <a:r>
              <a:rPr lang="en-AU" dirty="0"/>
              <a:t>Mum…busy; dad…work</a:t>
            </a:r>
          </a:p>
          <a:p>
            <a:pPr marL="285750" lvl="0" indent="-285750">
              <a:lnSpc>
                <a:spcPct val="120000"/>
              </a:lnSpc>
              <a:buFont typeface="Arial"/>
              <a:buChar char="•"/>
            </a:pPr>
            <a:r>
              <a:rPr lang="en-AU" dirty="0"/>
              <a:t>Thomas instant violent </a:t>
            </a:r>
            <a:r>
              <a:rPr lang="en-AU" dirty="0" smtClean="0"/>
              <a:t>response ‘Throws </a:t>
            </a:r>
            <a:r>
              <a:rPr lang="en-AU" dirty="0"/>
              <a:t>fist’; ‘plunges fist’</a:t>
            </a:r>
          </a:p>
          <a:p>
            <a:pPr marL="285750" lvl="0" indent="-285750">
              <a:lnSpc>
                <a:spcPct val="120000"/>
              </a:lnSpc>
              <a:buFont typeface="Arial"/>
              <a:buChar char="•"/>
            </a:pPr>
            <a:r>
              <a:rPr lang="en-AU" dirty="0"/>
              <a:t>Narrator’s androgyny – s/he pushes, yells, grabs, screams, is victim (do we see these as ‘female’ traits compared to Thomas ‘throws his fist’?!)  By the way, the narrator is the younger brother.</a:t>
            </a:r>
          </a:p>
          <a:p>
            <a:pPr marL="285750" lvl="0" indent="-285750">
              <a:lnSpc>
                <a:spcPct val="120000"/>
              </a:lnSpc>
              <a:buFont typeface="Arial"/>
              <a:buChar char="•"/>
            </a:pPr>
            <a:r>
              <a:rPr lang="en-AU" dirty="0"/>
              <a:t>“Boys will be boys”</a:t>
            </a:r>
          </a:p>
          <a:p>
            <a:pPr marL="285750" lvl="0" indent="-285750">
              <a:lnSpc>
                <a:spcPct val="120000"/>
              </a:lnSpc>
              <a:buFont typeface="Arial"/>
              <a:buChar char="•"/>
            </a:pPr>
            <a:r>
              <a:rPr lang="en-AU" dirty="0"/>
              <a:t>‘Wait until your father comes home’ - dialogue</a:t>
            </a:r>
          </a:p>
          <a:p>
            <a:pPr marL="285750" lvl="0" indent="-285750">
              <a:lnSpc>
                <a:spcPct val="120000"/>
              </a:lnSpc>
              <a:buFont typeface="Arial"/>
              <a:buChar char="•"/>
            </a:pPr>
            <a:r>
              <a:rPr lang="en-AU" dirty="0"/>
              <a:t>Father laughs, mother sobs</a:t>
            </a:r>
          </a:p>
          <a:p>
            <a:pPr marL="285750" lvl="0" indent="-285750">
              <a:lnSpc>
                <a:spcPct val="120000"/>
              </a:lnSpc>
              <a:buFont typeface="Arial"/>
              <a:buChar char="•"/>
            </a:pPr>
            <a:r>
              <a:rPr lang="en-AU" dirty="0"/>
              <a:t>Blood highlighted</a:t>
            </a:r>
          </a:p>
          <a:p>
            <a:pPr marL="285750" lvl="0" indent="-285750">
              <a:lnSpc>
                <a:spcPct val="120000"/>
              </a:lnSpc>
              <a:buFont typeface="Arial"/>
              <a:buChar char="•"/>
            </a:pPr>
            <a:r>
              <a:rPr lang="en-AU" dirty="0"/>
              <a:t>Sentence length very long in fight paragraph – acts like </a:t>
            </a:r>
            <a:r>
              <a:rPr lang="en-AU" dirty="0" err="1"/>
              <a:t>slo</a:t>
            </a:r>
            <a:r>
              <a:rPr lang="en-AU" dirty="0"/>
              <a:t>-mo.</a:t>
            </a:r>
          </a:p>
          <a:p>
            <a:r>
              <a:rPr lang="en-AU" sz="1400" dirty="0"/>
              <a:t> </a:t>
            </a:r>
          </a:p>
        </p:txBody>
      </p:sp>
      <p:sp>
        <p:nvSpPr>
          <p:cNvPr id="4" name="Title 1"/>
          <p:cNvSpPr txBox="1">
            <a:spLocks/>
          </p:cNvSpPr>
          <p:nvPr/>
        </p:nvSpPr>
        <p:spPr>
          <a:xfrm>
            <a:off x="219708" y="210975"/>
            <a:ext cx="6508377"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dirty="0" smtClean="0"/>
              <a:t>Task 4 Marking Guide</a:t>
            </a:r>
            <a:endParaRPr lang="en-US" dirty="0"/>
          </a:p>
        </p:txBody>
      </p:sp>
    </p:spTree>
    <p:extLst>
      <p:ext uri="{BB962C8B-B14F-4D97-AF65-F5344CB8AC3E}">
        <p14:creationId xmlns:p14="http://schemas.microsoft.com/office/powerpoint/2010/main" val="2431449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9708" y="623713"/>
            <a:ext cx="8844916" cy="5302990"/>
          </a:xfrm>
          <a:prstGeom prst="rect">
            <a:avLst/>
          </a:prstGeom>
          <a:noFill/>
        </p:spPr>
        <p:txBody>
          <a:bodyPr wrap="square" rtlCol="0">
            <a:spAutoFit/>
          </a:bodyPr>
          <a:lstStyle/>
          <a:p>
            <a:endParaRPr lang="en-AU" sz="1400" dirty="0"/>
          </a:p>
          <a:p>
            <a:r>
              <a:rPr lang="en-AU" sz="1400" b="1" dirty="0" smtClean="0"/>
              <a:t>Question </a:t>
            </a:r>
            <a:r>
              <a:rPr lang="en-AU" sz="1400" b="1" dirty="0"/>
              <a:t>1</a:t>
            </a:r>
            <a:r>
              <a:rPr lang="en-AU" sz="1400" b="1" dirty="0" smtClean="0"/>
              <a:t>: Discuss how Text 1 constructs ideas about gender</a:t>
            </a:r>
          </a:p>
          <a:p>
            <a:endParaRPr lang="en-AU" sz="1400" dirty="0"/>
          </a:p>
          <a:p>
            <a:r>
              <a:rPr lang="en-AU" dirty="0" smtClean="0"/>
              <a:t>Ideas:</a:t>
            </a:r>
          </a:p>
          <a:p>
            <a:pPr>
              <a:lnSpc>
                <a:spcPct val="120000"/>
              </a:lnSpc>
            </a:pPr>
            <a:endParaRPr lang="en-AU" dirty="0"/>
          </a:p>
          <a:p>
            <a:pPr marL="285750" lvl="0" indent="-285750">
              <a:lnSpc>
                <a:spcPct val="150000"/>
              </a:lnSpc>
              <a:buFont typeface="Arial"/>
              <a:buChar char="•"/>
            </a:pPr>
            <a:r>
              <a:rPr lang="en-AU" dirty="0" smtClean="0"/>
              <a:t>Gender </a:t>
            </a:r>
            <a:r>
              <a:rPr lang="en-AU" dirty="0"/>
              <a:t>roles of parents – dad ‘works’, is authoritative; mother at home, emotional, disempowered</a:t>
            </a:r>
            <a:endParaRPr lang="en-AU" sz="2000" dirty="0"/>
          </a:p>
          <a:p>
            <a:pPr marL="285750" lvl="0" indent="-285750">
              <a:lnSpc>
                <a:spcPct val="150000"/>
              </a:lnSpc>
              <a:buFont typeface="Arial"/>
              <a:buChar char="•"/>
            </a:pPr>
            <a:r>
              <a:rPr lang="en-AU" dirty="0"/>
              <a:t>Boys resolve problems with violence</a:t>
            </a:r>
            <a:endParaRPr lang="en-AU" sz="2000" dirty="0"/>
          </a:p>
          <a:p>
            <a:pPr marL="285750" lvl="0" indent="-285750">
              <a:lnSpc>
                <a:spcPct val="150000"/>
              </a:lnSpc>
              <a:buFont typeface="Arial"/>
              <a:buChar char="•"/>
            </a:pPr>
            <a:r>
              <a:rPr lang="en-AU" dirty="0"/>
              <a:t>Females are emotional</a:t>
            </a:r>
            <a:endParaRPr lang="en-AU" sz="2000" dirty="0"/>
          </a:p>
          <a:p>
            <a:pPr marL="285750" lvl="0" indent="-285750">
              <a:lnSpc>
                <a:spcPct val="150000"/>
              </a:lnSpc>
              <a:buFont typeface="Arial"/>
              <a:buChar char="•"/>
            </a:pPr>
            <a:r>
              <a:rPr lang="en-AU" dirty="0"/>
              <a:t>Males are indifferent – </a:t>
            </a:r>
            <a:endParaRPr lang="en-AU" sz="2000" dirty="0" smtClean="0"/>
          </a:p>
          <a:p>
            <a:pPr lvl="1">
              <a:lnSpc>
                <a:spcPct val="150000"/>
              </a:lnSpc>
            </a:pPr>
            <a:r>
              <a:rPr lang="en-AU" dirty="0" smtClean="0"/>
              <a:t>Thomas “calm…outside himself…fist in my nose’</a:t>
            </a:r>
            <a:endParaRPr lang="en-AU" sz="2000" dirty="0" smtClean="0"/>
          </a:p>
          <a:p>
            <a:pPr lvl="1">
              <a:lnSpc>
                <a:spcPct val="150000"/>
              </a:lnSpc>
            </a:pPr>
            <a:r>
              <a:rPr lang="en-AU" dirty="0" smtClean="0"/>
              <a:t>Father </a:t>
            </a:r>
            <a:r>
              <a:rPr lang="en-AU" dirty="0"/>
              <a:t>‘turns up the radio’</a:t>
            </a:r>
            <a:endParaRPr lang="en-AU" sz="2000" dirty="0"/>
          </a:p>
          <a:p>
            <a:pPr marL="285750" lvl="0" indent="-285750">
              <a:lnSpc>
                <a:spcPct val="150000"/>
              </a:lnSpc>
              <a:buFont typeface="Arial"/>
              <a:buChar char="•"/>
            </a:pPr>
            <a:r>
              <a:rPr lang="en-AU" dirty="0"/>
              <a:t>Uncertain gender of narrator highlights classic male/female stereotypes</a:t>
            </a:r>
            <a:endParaRPr lang="en-AU" sz="2000" dirty="0"/>
          </a:p>
          <a:p>
            <a:pPr marL="285750" lvl="0" indent="-285750">
              <a:lnSpc>
                <a:spcPct val="150000"/>
              </a:lnSpc>
              <a:buFont typeface="Arial"/>
              <a:buChar char="•"/>
            </a:pPr>
            <a:r>
              <a:rPr lang="en-AU" dirty="0"/>
              <a:t>Passive-aggressive response of mother</a:t>
            </a:r>
            <a:endParaRPr lang="en-AU" sz="2000" dirty="0"/>
          </a:p>
          <a:p>
            <a:r>
              <a:rPr lang="en-AU" sz="1400" dirty="0"/>
              <a:t> </a:t>
            </a:r>
          </a:p>
        </p:txBody>
      </p:sp>
      <p:sp>
        <p:nvSpPr>
          <p:cNvPr id="4" name="Title 1"/>
          <p:cNvSpPr txBox="1">
            <a:spLocks/>
          </p:cNvSpPr>
          <p:nvPr/>
        </p:nvSpPr>
        <p:spPr>
          <a:xfrm>
            <a:off x="219708" y="210975"/>
            <a:ext cx="6508377"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dirty="0" smtClean="0"/>
              <a:t>Task 4 Marking Guide</a:t>
            </a:r>
            <a:endParaRPr lang="en-US" dirty="0"/>
          </a:p>
        </p:txBody>
      </p:sp>
    </p:spTree>
    <p:extLst>
      <p:ext uri="{BB962C8B-B14F-4D97-AF65-F5344CB8AC3E}">
        <p14:creationId xmlns:p14="http://schemas.microsoft.com/office/powerpoint/2010/main" val="1875528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19708" y="210975"/>
            <a:ext cx="6508377"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dirty="0" smtClean="0"/>
              <a:t>Task 4 Marking Guide</a:t>
            </a:r>
            <a:endParaRPr lang="en-US" dirty="0"/>
          </a:p>
        </p:txBody>
      </p:sp>
      <p:pic>
        <p:nvPicPr>
          <p:cNvPr id="5" name="Picture 4" descr="Screen Shot 2015-05-01 at 9.50.38 am.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4971" y="1011708"/>
            <a:ext cx="8969653" cy="5846292"/>
          </a:xfrm>
          <a:prstGeom prst="rect">
            <a:avLst/>
          </a:prstGeom>
        </p:spPr>
      </p:pic>
    </p:spTree>
    <p:extLst>
      <p:ext uri="{BB962C8B-B14F-4D97-AF65-F5344CB8AC3E}">
        <p14:creationId xmlns:p14="http://schemas.microsoft.com/office/powerpoint/2010/main" val="16389474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 and Collaborate</a:t>
            </a:r>
            <a:endParaRPr lang="en-US" dirty="0"/>
          </a:p>
        </p:txBody>
      </p:sp>
      <p:sp>
        <p:nvSpPr>
          <p:cNvPr id="3" name="Content Placeholder 2"/>
          <p:cNvSpPr>
            <a:spLocks noGrp="1"/>
          </p:cNvSpPr>
          <p:nvPr>
            <p:ph idx="1"/>
          </p:nvPr>
        </p:nvSpPr>
        <p:spPr>
          <a:xfrm>
            <a:off x="457199" y="2209800"/>
            <a:ext cx="8353699" cy="3916363"/>
          </a:xfrm>
        </p:spPr>
        <p:txBody>
          <a:bodyPr>
            <a:normAutofit/>
          </a:bodyPr>
          <a:lstStyle/>
          <a:p>
            <a:pPr marL="0" indent="0">
              <a:buNone/>
            </a:pPr>
            <a:endParaRPr lang="en-US" sz="2400" dirty="0" smtClean="0"/>
          </a:p>
          <a:p>
            <a:r>
              <a:rPr lang="en-US" sz="2400" dirty="0" smtClean="0"/>
              <a:t>How to write suitable questions</a:t>
            </a:r>
          </a:p>
          <a:p>
            <a:pPr lvl="2">
              <a:buFont typeface="Arial"/>
              <a:buChar char="•"/>
            </a:pPr>
            <a:r>
              <a:rPr lang="en-US" u="sng" dirty="0">
                <a:hlinkClick r:id="rId2"/>
              </a:rPr>
              <a:t>http://hsc.csu.edu.au/pdhpe/resources/2604/</a:t>
            </a:r>
            <a:r>
              <a:rPr lang="en-US" u="sng" dirty="0" smtClean="0">
                <a:hlinkClick r:id="rId2"/>
              </a:rPr>
              <a:t>scaffolds.html</a:t>
            </a:r>
            <a:endParaRPr lang="en-US" dirty="0" smtClean="0"/>
          </a:p>
          <a:p>
            <a:r>
              <a:rPr lang="en-US" sz="2400" dirty="0" smtClean="0"/>
              <a:t>How important is the length of the response?</a:t>
            </a:r>
          </a:p>
          <a:p>
            <a:r>
              <a:rPr lang="en-US" sz="2400" dirty="0" smtClean="0"/>
              <a:t>How to find suitable extracts/images?</a:t>
            </a:r>
          </a:p>
          <a:p>
            <a:r>
              <a:rPr lang="en-US" sz="2400" dirty="0" smtClean="0"/>
              <a:t>Sharing resources 	– Connect Communities</a:t>
            </a:r>
          </a:p>
          <a:p>
            <a:pPr marL="0" indent="0">
              <a:buNone/>
            </a:pPr>
            <a:r>
              <a:rPr lang="en-US" sz="2400" dirty="0"/>
              <a:t>	</a:t>
            </a:r>
            <a:r>
              <a:rPr lang="en-US" sz="2400" dirty="0" smtClean="0"/>
              <a:t>			</a:t>
            </a:r>
            <a:r>
              <a:rPr lang="en-US" sz="2400" dirty="0"/>
              <a:t>–</a:t>
            </a:r>
            <a:r>
              <a:rPr lang="en-US" sz="2400" dirty="0" smtClean="0"/>
              <a:t> ETA </a:t>
            </a:r>
            <a:r>
              <a:rPr lang="en-US" sz="2400" dirty="0"/>
              <a:t>F</a:t>
            </a:r>
            <a:r>
              <a:rPr lang="en-US" sz="2400" dirty="0" smtClean="0"/>
              <a:t>acebook page</a:t>
            </a:r>
          </a:p>
          <a:p>
            <a:pPr marL="0" indent="0">
              <a:buNone/>
            </a:pPr>
            <a:endParaRPr lang="en-US" sz="2400" dirty="0" smtClean="0"/>
          </a:p>
        </p:txBody>
      </p:sp>
    </p:spTree>
    <p:extLst>
      <p:ext uri="{BB962C8B-B14F-4D97-AF65-F5344CB8AC3E}">
        <p14:creationId xmlns:p14="http://schemas.microsoft.com/office/powerpoint/2010/main" val="25205777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
        <p:nvSpPr>
          <p:cNvPr id="3" name="TextBox 2"/>
          <p:cNvSpPr txBox="1"/>
          <p:nvPr/>
        </p:nvSpPr>
        <p:spPr>
          <a:xfrm>
            <a:off x="566981" y="5363926"/>
            <a:ext cx="8357313" cy="923330"/>
          </a:xfrm>
          <a:prstGeom prst="rect">
            <a:avLst/>
          </a:prstGeom>
          <a:noFill/>
        </p:spPr>
        <p:txBody>
          <a:bodyPr wrap="square" rtlCol="0">
            <a:spAutoFit/>
          </a:bodyPr>
          <a:lstStyle/>
          <a:p>
            <a:r>
              <a:rPr lang="en-US" dirty="0" smtClean="0"/>
              <a:t>Hugh </a:t>
            </a:r>
            <a:r>
              <a:rPr lang="en-US" dirty="0" err="1" smtClean="0"/>
              <a:t>Rayner</a:t>
            </a:r>
            <a:r>
              <a:rPr lang="en-US" dirty="0" smtClean="0"/>
              <a:t>				Claire Burton</a:t>
            </a:r>
          </a:p>
          <a:p>
            <a:r>
              <a:rPr lang="en-US" dirty="0" smtClean="0"/>
              <a:t>TDS Coordinator				Senior School English Teacher</a:t>
            </a:r>
          </a:p>
          <a:p>
            <a:r>
              <a:rPr lang="en-US" dirty="0" err="1" smtClean="0"/>
              <a:t>hugh.rayner@education.wa.edu.au</a:t>
            </a:r>
            <a:endParaRPr lang="en-US" dirty="0"/>
          </a:p>
        </p:txBody>
      </p:sp>
    </p:spTree>
    <p:extLst>
      <p:ext uri="{BB962C8B-B14F-4D97-AF65-F5344CB8AC3E}">
        <p14:creationId xmlns:p14="http://schemas.microsoft.com/office/powerpoint/2010/main" val="942293238"/>
      </p:ext>
    </p:extLst>
  </p:cSld>
  <p:clrMapOvr>
    <a:masterClrMapping/>
  </p:clrMapOvr>
  <p:timing>
    <p:tnLst>
      <p:par>
        <p:cTn id="1" dur="indefinite" restart="never" nodeType="tmRoot"/>
      </p:par>
    </p:tnLst>
  </p:timing>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2227</TotalTime>
  <Words>5181</Words>
  <Application>Microsoft Office PowerPoint</Application>
  <PresentationFormat>On-screen Show (4:3)</PresentationFormat>
  <Paragraphs>159</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Plaza</vt:lpstr>
      <vt:lpstr>Short Answer Response Workshop</vt:lpstr>
      <vt:lpstr>Welcome</vt:lpstr>
      <vt:lpstr>Our Approach</vt:lpstr>
      <vt:lpstr>1A   1B   1C   </vt:lpstr>
      <vt:lpstr>1   2   3   </vt:lpstr>
      <vt:lpstr>T  E  E  E  T</vt:lpstr>
      <vt:lpstr>PowerPoint Presentation</vt:lpstr>
      <vt:lpstr>PowerPoint Presentation</vt:lpstr>
      <vt:lpstr>PowerPoint Presentation</vt:lpstr>
      <vt:lpstr>PowerPoint Presentation</vt:lpstr>
      <vt:lpstr>PowerPoint Presentation</vt:lpstr>
      <vt:lpstr>Same Same but Different</vt:lpstr>
      <vt:lpstr>How to get an A</vt:lpstr>
      <vt:lpstr>PowerPoint Presentation</vt:lpstr>
      <vt:lpstr>PowerPoint Presentation</vt:lpstr>
      <vt:lpstr>PowerPoint Presentation</vt:lpstr>
      <vt:lpstr>PowerPoint Presentation</vt:lpstr>
      <vt:lpstr>PowerPoint Presentation</vt:lpstr>
      <vt:lpstr>PowerPoint Presentation</vt:lpstr>
      <vt:lpstr>Marking and Assessment</vt:lpstr>
      <vt:lpstr>PowerPoint Presentation</vt:lpstr>
      <vt:lpstr>PowerPoint Presentation</vt:lpstr>
      <vt:lpstr>PowerPoint Presentation</vt:lpstr>
      <vt:lpstr>Discuss and Collaborate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Answer Response Workshop</dc:title>
  <dc:creator>Claire Burton</dc:creator>
  <cp:lastModifiedBy>LAVAN Denise</cp:lastModifiedBy>
  <cp:revision>46</cp:revision>
  <cp:lastPrinted>2015-03-06T02:35:31Z</cp:lastPrinted>
  <dcterms:created xsi:type="dcterms:W3CDTF">2015-03-06T00:56:24Z</dcterms:created>
  <dcterms:modified xsi:type="dcterms:W3CDTF">2017-03-30T07:15:38Z</dcterms:modified>
</cp:coreProperties>
</file>
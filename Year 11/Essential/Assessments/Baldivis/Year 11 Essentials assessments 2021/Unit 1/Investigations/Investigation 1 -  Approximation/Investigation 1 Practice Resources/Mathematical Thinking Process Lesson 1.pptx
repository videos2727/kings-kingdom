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handoutMasterIdLst>
    <p:handoutMasterId r:id="rId9"/>
  </p:handoutMasterIdLst>
  <p:sldIdLst>
    <p:sldId id="256" r:id="rId2"/>
    <p:sldId id="257" r:id="rId3"/>
    <p:sldId id="345" r:id="rId4"/>
    <p:sldId id="267" r:id="rId5"/>
    <p:sldId id="346" r:id="rId6"/>
    <p:sldId id="347" r:id="rId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1" autoAdjust="0"/>
    <p:restoredTop sz="94599" autoAdjust="0"/>
  </p:normalViewPr>
  <p:slideViewPr>
    <p:cSldViewPr>
      <p:cViewPr varScale="1">
        <p:scale>
          <a:sx n="84" d="100"/>
          <a:sy n="84" d="100"/>
        </p:scale>
        <p:origin x="48" y="366"/>
      </p:cViewPr>
      <p:guideLst>
        <p:guide pos="3839"/>
        <p:guide orient="horz" pos="2160"/>
      </p:guideLst>
    </p:cSldViewPr>
  </p:slideViewPr>
  <p:notesTextViewPr>
    <p:cViewPr>
      <p:scale>
        <a:sx n="1" d="1"/>
        <a:sy n="1" d="1"/>
      </p:scale>
      <p:origin x="0" y="0"/>
    </p:cViewPr>
  </p:notesTextViewPr>
  <p:notesViewPr>
    <p:cSldViewPr showGuides="1">
      <p:cViewPr varScale="1">
        <p:scale>
          <a:sx n="52" d="100"/>
          <a:sy n="52" d="100"/>
        </p:scale>
        <p:origin x="2664" y="3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3/1/2021</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3/1/2021</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Required: MAB Blocks of 10s and single cubes for concrete examples</a:t>
            </a:r>
          </a:p>
        </p:txBody>
      </p:sp>
      <p:sp>
        <p:nvSpPr>
          <p:cNvPr id="4" name="Slide Number Placeholder 3"/>
          <p:cNvSpPr>
            <a:spLocks noGrp="1"/>
          </p:cNvSpPr>
          <p:nvPr>
            <p:ph type="sldNum" sz="quarter" idx="10"/>
          </p:nvPr>
        </p:nvSpPr>
        <p:spPr/>
        <p:txBody>
          <a:bodyPr/>
          <a:lstStyle/>
          <a:p>
            <a:fld id="{B28BD033-8677-4794-8EA0-E5BD0D524802}" type="slidenum">
              <a:rPr lang="en-AU" smtClean="0"/>
              <a:t>3</a:t>
            </a:fld>
            <a:endParaRPr lang="en-AU"/>
          </a:p>
        </p:txBody>
      </p:sp>
    </p:spTree>
    <p:extLst>
      <p:ext uri="{BB962C8B-B14F-4D97-AF65-F5344CB8AC3E}">
        <p14:creationId xmlns:p14="http://schemas.microsoft.com/office/powerpoint/2010/main" val="1137722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9AFE8FB1-0A7A-443E-AAF7-31D4FA1AA312}" type="datetimeFigureOut">
              <a:rPr lang="en-US"/>
              <a:t>3/1/2021</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3/1/2021</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3/1/2021</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9AFE8FB1-0A7A-443E-AAF7-31D4FA1AA312}" type="datetimeFigureOut">
              <a:rPr lang="en-US"/>
              <a:t>3/1/2021</a:t>
            </a:fld>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9AFE8FB1-0A7A-443E-AAF7-31D4FA1AA312}" type="datetimeFigureOut">
              <a:rPr lang="en-US"/>
              <a:t>3/1/2021</a:t>
            </a:fld>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9AFE8FB1-0A7A-443E-AAF7-31D4FA1AA312}" type="datetimeFigureOut">
              <a:rPr lang="en-US"/>
              <a:t>3/1/2021</a:t>
            </a:fld>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3/1/2021</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3/1/2021</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3/1/2021</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3/1/2021</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9AFE8FB1-0A7A-443E-AAF7-31D4FA1AA312}" type="datetimeFigureOut">
              <a:rPr lang="en-US" smtClean="0"/>
              <a:pPr/>
              <a:t>3/1/2021</a:t>
            </a:fld>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dirty="0">
                <a:latin typeface="Calibri" panose="020F0502020204030204" pitchFamily="34" charset="0"/>
                <a:cs typeface="Calibri" panose="020F0502020204030204" pitchFamily="34" charset="0"/>
              </a:rPr>
              <a:t>Topic: Mathematical Thinking Process</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EQ: How do I use the mathematical thinking process to solve a problem?</a:t>
            </a:r>
          </a:p>
        </p:txBody>
      </p:sp>
      <p:sp>
        <p:nvSpPr>
          <p:cNvPr id="3" name="Subtitle 2"/>
          <p:cNvSpPr>
            <a:spLocks noGrp="1"/>
          </p:cNvSpPr>
          <p:nvPr>
            <p:ph type="subTitle" idx="1"/>
          </p:nvPr>
        </p:nvSpPr>
        <p:spPr/>
        <p:txBody>
          <a:bodyPr/>
          <a:lstStyle/>
          <a:p>
            <a:r>
              <a:rPr lang="en-US" dirty="0"/>
              <a:t>Year 11 Mathematics Essentials</a:t>
            </a:r>
          </a:p>
          <a:p>
            <a:r>
              <a:rPr lang="en-US" dirty="0" err="1"/>
              <a:t>Mrs</a:t>
            </a:r>
            <a:r>
              <a:rPr lang="en-US" dirty="0"/>
              <a:t> Parlevliet</a:t>
            </a:r>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Mathematical Thinking Process</a:t>
            </a:r>
          </a:p>
        </p:txBody>
      </p:sp>
      <p:sp>
        <p:nvSpPr>
          <p:cNvPr id="14" name="Content Placeholder 13"/>
          <p:cNvSpPr>
            <a:spLocks noGrp="1"/>
          </p:cNvSpPr>
          <p:nvPr>
            <p:ph idx="1"/>
          </p:nvPr>
        </p:nvSpPr>
        <p:spPr>
          <a:xfrm>
            <a:off x="1522414" y="1916832"/>
            <a:ext cx="9144000" cy="4267200"/>
          </a:xfrm>
        </p:spPr>
        <p:txBody>
          <a:bodyPr/>
          <a:lstStyle/>
          <a:p>
            <a:pPr>
              <a:lnSpc>
                <a:spcPct val="100000"/>
              </a:lnSpc>
            </a:pPr>
            <a:r>
              <a:rPr lang="en-US" dirty="0">
                <a:latin typeface="Calibri" panose="020F0502020204030204" pitchFamily="34" charset="0"/>
                <a:cs typeface="Calibri" panose="020F0502020204030204" pitchFamily="34" charset="0"/>
              </a:rPr>
              <a:t>Today you need to complete the first three steps of the Mathematical Thinking Process so that you are prepared for tomorrow’s lesson when you can use the computers to learn some skills that you may choose to use for your Practical Application task in Week 6. </a:t>
            </a:r>
          </a:p>
          <a:p>
            <a:pPr>
              <a:lnSpc>
                <a:spcPct val="100000"/>
              </a:lnSpc>
            </a:pPr>
            <a:r>
              <a:rPr lang="en-US" dirty="0">
                <a:latin typeface="Calibri" panose="020F0502020204030204" pitchFamily="34" charset="0"/>
                <a:cs typeface="Calibri" panose="020F0502020204030204" pitchFamily="34" charset="0"/>
              </a:rPr>
              <a:t>The Practical Application has a weighting of 10%.</a:t>
            </a:r>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26" y="778486"/>
            <a:ext cx="1211419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1" y="1222969"/>
            <a:ext cx="12188825" cy="2228"/>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561" y="893"/>
            <a:ext cx="575914" cy="830781"/>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1838" y="1225195"/>
            <a:ext cx="0" cy="4992781"/>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475" y="197050"/>
            <a:ext cx="5646930" cy="523092"/>
          </a:xfrm>
          <a:prstGeom prst="rect">
            <a:avLst/>
          </a:prstGeom>
          <a:noFill/>
        </p:spPr>
        <p:txBody>
          <a:bodyPr wrap="none" rtlCol="0">
            <a:spAutoFit/>
          </a:bodyPr>
          <a:lstStyle/>
          <a:p>
            <a:r>
              <a:rPr lang="en-AU" sz="2799" dirty="0">
                <a:latin typeface="Calibri" panose="020F0502020204030204" pitchFamily="34" charset="0"/>
                <a:cs typeface="Calibri" panose="020F0502020204030204" pitchFamily="34" charset="0"/>
              </a:rPr>
              <a:t>Topic: Mathematical Thinking Process</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835" y="757345"/>
            <a:ext cx="10758121" cy="461545"/>
          </a:xfrm>
          <a:prstGeom prst="rect">
            <a:avLst/>
          </a:prstGeom>
          <a:noFill/>
        </p:spPr>
        <p:txBody>
          <a:bodyPr wrap="square" rtlCol="0">
            <a:spAutoFit/>
          </a:bodyPr>
          <a:lstStyle/>
          <a:p>
            <a:r>
              <a:rPr lang="en-AU" sz="2399" dirty="0">
                <a:latin typeface="Calibri" panose="020F0502020204030204" pitchFamily="34" charset="0"/>
                <a:cs typeface="Calibri" panose="020F0502020204030204" pitchFamily="34" charset="0"/>
              </a:rPr>
              <a:t>EQ: How do I use the mathematical thinking process to solve a problem?</a:t>
            </a:r>
            <a:endParaRPr lang="en-GB" sz="2399"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5878" y="197050"/>
            <a:ext cx="2545346" cy="461545"/>
          </a:xfrm>
          <a:prstGeom prst="rect">
            <a:avLst/>
          </a:prstGeom>
          <a:noFill/>
        </p:spPr>
        <p:txBody>
          <a:bodyPr wrap="square" rtlCol="0">
            <a:spAutoFit/>
          </a:bodyPr>
          <a:lstStyle/>
          <a:p>
            <a:r>
              <a:rPr lang="en-AU" sz="2399" dirty="0">
                <a:latin typeface="Calibri" panose="020F0502020204030204" pitchFamily="34" charset="0"/>
                <a:cs typeface="Calibri" panose="020F0502020204030204" pitchFamily="34" charset="0"/>
              </a:rPr>
              <a:t>Date: 02/03/2021</a:t>
            </a:r>
          </a:p>
        </p:txBody>
      </p:sp>
      <p:cxnSp>
        <p:nvCxnSpPr>
          <p:cNvPr id="25" name="Straight Connector 24">
            <a:extLst>
              <a:ext uri="{FF2B5EF4-FFF2-40B4-BE49-F238E27FC236}">
                <a16:creationId xmlns:a16="http://schemas.microsoft.com/office/drawing/2014/main" id="{B2CDAD20-C34B-4CAB-9BA2-2A1DCC9E489F}"/>
              </a:ext>
            </a:extLst>
          </p:cNvPr>
          <p:cNvCxnSpPr>
            <a:cxnSpLocks/>
          </p:cNvCxnSpPr>
          <p:nvPr/>
        </p:nvCxnSpPr>
        <p:spPr>
          <a:xfrm flipV="1">
            <a:off x="37312" y="6217977"/>
            <a:ext cx="12188825" cy="2228"/>
          </a:xfrm>
          <a:prstGeom prst="line">
            <a:avLst/>
          </a:prstGeom>
        </p:spPr>
        <p:style>
          <a:lnRef idx="1">
            <a:schemeClr val="accent2"/>
          </a:lnRef>
          <a:fillRef idx="0">
            <a:schemeClr val="accent2"/>
          </a:fillRef>
          <a:effectRef idx="0">
            <a:schemeClr val="accent2"/>
          </a:effectRef>
          <a:fontRef idx="minor">
            <a:schemeClr val="tx1"/>
          </a:fontRef>
        </p:style>
      </p:cxnSp>
      <p:sp>
        <p:nvSpPr>
          <p:cNvPr id="29" name="TextBox 28">
            <a:extLst>
              <a:ext uri="{FF2B5EF4-FFF2-40B4-BE49-F238E27FC236}">
                <a16:creationId xmlns:a16="http://schemas.microsoft.com/office/drawing/2014/main" id="{560947EF-9B1F-4D54-B7A4-3BD7EBF79507}"/>
              </a:ext>
            </a:extLst>
          </p:cNvPr>
          <p:cNvSpPr txBox="1"/>
          <p:nvPr/>
        </p:nvSpPr>
        <p:spPr>
          <a:xfrm>
            <a:off x="74626" y="1340506"/>
            <a:ext cx="2166798" cy="1015278"/>
          </a:xfrm>
          <a:prstGeom prst="rect">
            <a:avLst/>
          </a:prstGeom>
          <a:noFill/>
        </p:spPr>
        <p:txBody>
          <a:bodyPr wrap="square" rtlCol="0">
            <a:spAutoFit/>
          </a:bodyPr>
          <a:lstStyle/>
          <a:p>
            <a:r>
              <a:rPr lang="en-AU" sz="1999" dirty="0">
                <a:latin typeface="Calibri" panose="020F0502020204030204" pitchFamily="34" charset="0"/>
                <a:cs typeface="Calibri" panose="020F0502020204030204" pitchFamily="34" charset="0"/>
              </a:rPr>
              <a:t>What is the Mathematical Thinking Process?</a:t>
            </a:r>
          </a:p>
        </p:txBody>
      </p:sp>
      <p:sp>
        <p:nvSpPr>
          <p:cNvPr id="30" name="TextBox 29">
            <a:extLst>
              <a:ext uri="{FF2B5EF4-FFF2-40B4-BE49-F238E27FC236}">
                <a16:creationId xmlns:a16="http://schemas.microsoft.com/office/drawing/2014/main" id="{262C73F1-8C8A-4E04-99E4-4A2B5B500106}"/>
              </a:ext>
            </a:extLst>
          </p:cNvPr>
          <p:cNvSpPr txBox="1"/>
          <p:nvPr/>
        </p:nvSpPr>
        <p:spPr>
          <a:xfrm>
            <a:off x="2509374" y="1256093"/>
            <a:ext cx="9044747" cy="5021055"/>
          </a:xfrm>
          <a:prstGeom prst="rect">
            <a:avLst/>
          </a:prstGeom>
          <a:noFill/>
        </p:spPr>
        <p:txBody>
          <a:bodyPr wrap="square" rtlCol="0">
            <a:spAutoFit/>
          </a:bodyPr>
          <a:lstStyle/>
          <a:p>
            <a:pPr>
              <a:lnSpc>
                <a:spcPct val="150000"/>
              </a:lnSpc>
            </a:pPr>
            <a:r>
              <a:rPr lang="en-AU" sz="2400" dirty="0">
                <a:latin typeface="Calibri" panose="020F0502020204030204" pitchFamily="34" charset="0"/>
                <a:cs typeface="Calibri" panose="020F0502020204030204" pitchFamily="34" charset="0"/>
              </a:rPr>
              <a:t>The Mathematical Thinking Process is made up of the following steps:</a:t>
            </a:r>
          </a:p>
          <a:p>
            <a:pPr marL="457200" indent="-457200">
              <a:lnSpc>
                <a:spcPct val="150000"/>
              </a:lnSpc>
              <a:buFont typeface="+mj-lt"/>
              <a:buAutoNum type="arabicPeriod"/>
            </a:pPr>
            <a:r>
              <a:rPr lang="en-AU" sz="2400" dirty="0">
                <a:latin typeface="Calibri" panose="020F0502020204030204" pitchFamily="34" charset="0"/>
                <a:cs typeface="Calibri" panose="020F0502020204030204" pitchFamily="34" charset="0"/>
              </a:rPr>
              <a:t>Interpreting the Task</a:t>
            </a:r>
          </a:p>
          <a:p>
            <a:pPr marL="457200" indent="-457200">
              <a:lnSpc>
                <a:spcPct val="150000"/>
              </a:lnSpc>
              <a:buFont typeface="+mj-lt"/>
              <a:buAutoNum type="arabicPeriod"/>
            </a:pPr>
            <a:r>
              <a:rPr lang="en-AU" sz="2400" dirty="0">
                <a:latin typeface="Calibri" panose="020F0502020204030204" pitchFamily="34" charset="0"/>
                <a:cs typeface="Calibri" panose="020F0502020204030204" pitchFamily="34" charset="0"/>
              </a:rPr>
              <a:t>Identify the mathematics involved</a:t>
            </a:r>
          </a:p>
          <a:p>
            <a:pPr marL="457200" indent="-457200">
              <a:lnSpc>
                <a:spcPct val="150000"/>
              </a:lnSpc>
              <a:buFont typeface="+mj-lt"/>
              <a:buAutoNum type="arabicPeriod"/>
            </a:pPr>
            <a:r>
              <a:rPr lang="en-AU" sz="2400" dirty="0">
                <a:latin typeface="Calibri" panose="020F0502020204030204" pitchFamily="34" charset="0"/>
                <a:cs typeface="Calibri" panose="020F0502020204030204" pitchFamily="34" charset="0"/>
              </a:rPr>
              <a:t>Analyse the information and data involved which may require you to research and find the information needed</a:t>
            </a:r>
          </a:p>
          <a:p>
            <a:pPr marL="457200" indent="-457200">
              <a:lnSpc>
                <a:spcPct val="150000"/>
              </a:lnSpc>
              <a:buFont typeface="+mj-lt"/>
              <a:buAutoNum type="arabicPeriod"/>
            </a:pPr>
            <a:r>
              <a:rPr lang="en-AU" sz="2400" dirty="0">
                <a:latin typeface="Calibri" panose="020F0502020204030204" pitchFamily="34" charset="0"/>
                <a:cs typeface="Calibri" panose="020F0502020204030204" pitchFamily="34" charset="0"/>
              </a:rPr>
              <a:t>Apply mathematical knowledge and strategies to calculate values to arrive at the answer or answers to the problem</a:t>
            </a:r>
          </a:p>
          <a:p>
            <a:pPr marL="457200" indent="-457200">
              <a:lnSpc>
                <a:spcPct val="150000"/>
              </a:lnSpc>
              <a:buFont typeface="+mj-lt"/>
              <a:buAutoNum type="arabicPeriod"/>
            </a:pPr>
            <a:r>
              <a:rPr lang="en-AU" sz="2400" dirty="0">
                <a:latin typeface="Calibri" panose="020F0502020204030204" pitchFamily="34" charset="0"/>
                <a:cs typeface="Calibri" panose="020F0502020204030204" pitchFamily="34" charset="0"/>
              </a:rPr>
              <a:t>Verify the reasonableness of your answer</a:t>
            </a:r>
          </a:p>
          <a:p>
            <a:pPr marL="457200" indent="-457200">
              <a:lnSpc>
                <a:spcPct val="150000"/>
              </a:lnSpc>
              <a:buFont typeface="+mj-lt"/>
              <a:buAutoNum type="arabicPeriod"/>
            </a:pPr>
            <a:r>
              <a:rPr lang="en-AU" sz="2400" dirty="0">
                <a:latin typeface="Calibri" panose="020F0502020204030204" pitchFamily="34" charset="0"/>
                <a:cs typeface="Calibri" panose="020F0502020204030204" pitchFamily="34" charset="0"/>
              </a:rPr>
              <a:t>Communicate these findings in a suitable format</a:t>
            </a:r>
          </a:p>
        </p:txBody>
      </p:sp>
    </p:spTree>
    <p:extLst>
      <p:ext uri="{BB962C8B-B14F-4D97-AF65-F5344CB8AC3E}">
        <p14:creationId xmlns:p14="http://schemas.microsoft.com/office/powerpoint/2010/main" val="3819495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0" end="0"/>
                                            </p:txEl>
                                          </p:spTgt>
                                        </p:tgtEl>
                                        <p:attrNameLst>
                                          <p:attrName>style.visibility</p:attrName>
                                        </p:attrNameLst>
                                      </p:cBhvr>
                                      <p:to>
                                        <p:strVal val="visible"/>
                                      </p:to>
                                    </p:set>
                                    <p:animEffect transition="in" filter="fade">
                                      <p:cBhvr>
                                        <p:cTn id="12" dur="500"/>
                                        <p:tgtEl>
                                          <p:spTgt spid="3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1" end="1"/>
                                            </p:txEl>
                                          </p:spTgt>
                                        </p:tgtEl>
                                        <p:attrNameLst>
                                          <p:attrName>style.visibility</p:attrName>
                                        </p:attrNameLst>
                                      </p:cBhvr>
                                      <p:to>
                                        <p:strVal val="visible"/>
                                      </p:to>
                                    </p:set>
                                    <p:animEffect transition="in" filter="fade">
                                      <p:cBhvr>
                                        <p:cTn id="17" dur="500"/>
                                        <p:tgtEl>
                                          <p:spTgt spid="3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2" end="2"/>
                                            </p:txEl>
                                          </p:spTgt>
                                        </p:tgtEl>
                                        <p:attrNameLst>
                                          <p:attrName>style.visibility</p:attrName>
                                        </p:attrNameLst>
                                      </p:cBhvr>
                                      <p:to>
                                        <p:strVal val="visible"/>
                                      </p:to>
                                    </p:set>
                                    <p:animEffect transition="in" filter="fade">
                                      <p:cBhvr>
                                        <p:cTn id="22" dur="500"/>
                                        <p:tgtEl>
                                          <p:spTgt spid="3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xEl>
                                              <p:pRg st="3" end="3"/>
                                            </p:txEl>
                                          </p:spTgt>
                                        </p:tgtEl>
                                        <p:attrNameLst>
                                          <p:attrName>style.visibility</p:attrName>
                                        </p:attrNameLst>
                                      </p:cBhvr>
                                      <p:to>
                                        <p:strVal val="visible"/>
                                      </p:to>
                                    </p:set>
                                    <p:animEffect transition="in" filter="fade">
                                      <p:cBhvr>
                                        <p:cTn id="27" dur="500"/>
                                        <p:tgtEl>
                                          <p:spTgt spid="3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
                                            <p:txEl>
                                              <p:pRg st="4" end="4"/>
                                            </p:txEl>
                                          </p:spTgt>
                                        </p:tgtEl>
                                        <p:attrNameLst>
                                          <p:attrName>style.visibility</p:attrName>
                                        </p:attrNameLst>
                                      </p:cBhvr>
                                      <p:to>
                                        <p:strVal val="visible"/>
                                      </p:to>
                                    </p:set>
                                    <p:animEffect transition="in" filter="fade">
                                      <p:cBhvr>
                                        <p:cTn id="32" dur="500"/>
                                        <p:tgtEl>
                                          <p:spTgt spid="30">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
                                            <p:txEl>
                                              <p:pRg st="5" end="5"/>
                                            </p:txEl>
                                          </p:spTgt>
                                        </p:tgtEl>
                                        <p:attrNameLst>
                                          <p:attrName>style.visibility</p:attrName>
                                        </p:attrNameLst>
                                      </p:cBhvr>
                                      <p:to>
                                        <p:strVal val="visible"/>
                                      </p:to>
                                    </p:set>
                                    <p:animEffect transition="in" filter="fade">
                                      <p:cBhvr>
                                        <p:cTn id="37" dur="500"/>
                                        <p:tgtEl>
                                          <p:spTgt spid="30">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xEl>
                                              <p:pRg st="6" end="6"/>
                                            </p:txEl>
                                          </p:spTgt>
                                        </p:tgtEl>
                                        <p:attrNameLst>
                                          <p:attrName>style.visibility</p:attrName>
                                        </p:attrNameLst>
                                      </p:cBhvr>
                                      <p:to>
                                        <p:strVal val="visible"/>
                                      </p:to>
                                    </p:set>
                                    <p:animEffect transition="in" filter="fade">
                                      <p:cBhvr>
                                        <p:cTn id="42" dur="500"/>
                                        <p:tgtEl>
                                          <p:spTgt spid="3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(LHS) - Meal Planning</a:t>
            </a:r>
          </a:p>
        </p:txBody>
      </p:sp>
      <p:sp>
        <p:nvSpPr>
          <p:cNvPr id="4" name="Content Placeholder 3">
            <a:extLst>
              <a:ext uri="{FF2B5EF4-FFF2-40B4-BE49-F238E27FC236}">
                <a16:creationId xmlns:a16="http://schemas.microsoft.com/office/drawing/2014/main" id="{1494AD13-15B2-45ED-B287-F8627A3DAC72}"/>
              </a:ext>
            </a:extLst>
          </p:cNvPr>
          <p:cNvSpPr>
            <a:spLocks noGrp="1"/>
          </p:cNvSpPr>
          <p:nvPr>
            <p:ph idx="1"/>
          </p:nvPr>
        </p:nvSpPr>
        <p:spPr>
          <a:xfrm>
            <a:off x="1522414" y="1916832"/>
            <a:ext cx="9144000" cy="4267200"/>
          </a:xfrm>
        </p:spPr>
        <p:txBody>
          <a:bodyPr>
            <a:normAutofit/>
          </a:bodyPr>
          <a:lstStyle/>
          <a:p>
            <a:pPr marL="0" indent="0">
              <a:buNone/>
            </a:pPr>
            <a:r>
              <a:rPr lang="en-AU" dirty="0">
                <a:effectLst/>
                <a:latin typeface="Calibri" panose="020F0502020204030204" pitchFamily="34" charset="0"/>
                <a:ea typeface="Calibri" panose="020F0502020204030204" pitchFamily="34" charset="0"/>
                <a:cs typeface="Cordia New" panose="020B0304020202020204" pitchFamily="34" charset="-34"/>
              </a:rPr>
              <a:t>You are to plan three meals, with leftovers</a:t>
            </a:r>
            <a:r>
              <a:rPr lang="en-AU" dirty="0">
                <a:latin typeface="Calibri" panose="020F0502020204030204" pitchFamily="34" charset="0"/>
                <a:ea typeface="Calibri" panose="020F0502020204030204" pitchFamily="34" charset="0"/>
                <a:cs typeface="Cordia New" panose="020B0304020202020204" pitchFamily="34" charset="-34"/>
              </a:rPr>
              <a:t>, for a total of six dinners. </a:t>
            </a:r>
            <a:r>
              <a:rPr lang="en-AU" dirty="0">
                <a:effectLst/>
                <a:latin typeface="Calibri" panose="020F0502020204030204" pitchFamily="34" charset="0"/>
                <a:ea typeface="Calibri" panose="020F0502020204030204" pitchFamily="34" charset="0"/>
                <a:cs typeface="Cordia New" panose="020B0304020202020204" pitchFamily="34" charset="-34"/>
              </a:rPr>
              <a:t>Your task is to use what you find to create a set of three recipes.</a:t>
            </a:r>
          </a:p>
          <a:p>
            <a:pPr marL="0" indent="0">
              <a:buNone/>
            </a:pPr>
            <a:r>
              <a:rPr lang="en-AU" dirty="0">
                <a:latin typeface="Calibri" panose="020F0502020204030204" pitchFamily="34" charset="0"/>
                <a:ea typeface="Calibri" panose="020F0502020204030204" pitchFamily="34" charset="0"/>
                <a:cs typeface="Cordia New" panose="020B0304020202020204" pitchFamily="34" charset="-34"/>
              </a:rPr>
              <a:t>Step 1 – Interpreting the task</a:t>
            </a:r>
          </a:p>
          <a:p>
            <a:r>
              <a:rPr lang="en-AU" dirty="0">
                <a:latin typeface="Calibri" panose="020F0502020204030204" pitchFamily="34" charset="0"/>
                <a:ea typeface="Calibri" panose="020F0502020204030204" pitchFamily="34" charset="0"/>
                <a:cs typeface="Cordia New" panose="020B0304020202020204" pitchFamily="34" charset="-34"/>
              </a:rPr>
              <a:t>Write the problem in your own words</a:t>
            </a:r>
          </a:p>
          <a:p>
            <a:r>
              <a:rPr lang="en-AU" dirty="0">
                <a:effectLst/>
                <a:latin typeface="Calibri" panose="020F0502020204030204" pitchFamily="34" charset="0"/>
                <a:ea typeface="Calibri" panose="020F0502020204030204" pitchFamily="34" charset="0"/>
                <a:cs typeface="Cordia New" panose="020B0304020202020204" pitchFamily="34" charset="-34"/>
              </a:rPr>
              <a:t>Is there anything that you need to assume about the situation to help solve the problem? This is where you need to mention them.</a:t>
            </a:r>
          </a:p>
          <a:p>
            <a:pPr lvl="1"/>
            <a:r>
              <a:rPr lang="en-AU" dirty="0">
                <a:latin typeface="Calibri" panose="020F0502020204030204" pitchFamily="34" charset="0"/>
                <a:ea typeface="Calibri" panose="020F0502020204030204" pitchFamily="34" charset="0"/>
                <a:cs typeface="Cordia New" panose="020B0304020202020204" pitchFamily="34" charset="-34"/>
              </a:rPr>
              <a:t>Think about what recipes you will use and where you will get them</a:t>
            </a:r>
          </a:p>
          <a:p>
            <a:pPr lvl="1"/>
            <a:r>
              <a:rPr lang="en-AU" dirty="0">
                <a:effectLst/>
                <a:latin typeface="Calibri" panose="020F0502020204030204" pitchFamily="34" charset="0"/>
                <a:ea typeface="Calibri" panose="020F0502020204030204" pitchFamily="34" charset="0"/>
                <a:cs typeface="Cordia New" panose="020B0304020202020204" pitchFamily="34" charset="-34"/>
              </a:rPr>
              <a:t>Where are you going to buy the food from</a:t>
            </a:r>
          </a:p>
          <a:p>
            <a:pPr lvl="1"/>
            <a:r>
              <a:rPr lang="en-AU" dirty="0">
                <a:latin typeface="Calibri" panose="020F0502020204030204" pitchFamily="34" charset="0"/>
                <a:ea typeface="Calibri" panose="020F0502020204030204" pitchFamily="34" charset="0"/>
                <a:cs typeface="Cordia New" panose="020B0304020202020204" pitchFamily="34" charset="-34"/>
              </a:rPr>
              <a:t>Nutritional value of food</a:t>
            </a:r>
            <a:endParaRPr lang="en-AU" dirty="0">
              <a:effectLst/>
              <a:latin typeface="Calibri" panose="020F0502020204030204" pitchFamily="34" charset="0"/>
              <a:ea typeface="Calibri" panose="020F0502020204030204" pitchFamily="34" charset="0"/>
              <a:cs typeface="Cordia New" panose="020B0304020202020204" pitchFamily="34" charset="-34"/>
            </a:endParaRPr>
          </a:p>
          <a:p>
            <a:pPr marL="274320" lvl="1" indent="0">
              <a:buNone/>
            </a:pPr>
            <a:endParaRPr lang="en-AU" sz="2400" dirty="0"/>
          </a:p>
        </p:txBody>
      </p:sp>
    </p:spTree>
    <p:extLst>
      <p:ext uri="{BB962C8B-B14F-4D97-AF65-F5344CB8AC3E}">
        <p14:creationId xmlns:p14="http://schemas.microsoft.com/office/powerpoint/2010/main" val="396580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(LHS) - Meal Planning</a:t>
            </a:r>
          </a:p>
        </p:txBody>
      </p:sp>
      <p:sp>
        <p:nvSpPr>
          <p:cNvPr id="4" name="Content Placeholder 3">
            <a:extLst>
              <a:ext uri="{FF2B5EF4-FFF2-40B4-BE49-F238E27FC236}">
                <a16:creationId xmlns:a16="http://schemas.microsoft.com/office/drawing/2014/main" id="{1494AD13-15B2-45ED-B287-F8627A3DAC72}"/>
              </a:ext>
            </a:extLst>
          </p:cNvPr>
          <p:cNvSpPr>
            <a:spLocks noGrp="1"/>
          </p:cNvSpPr>
          <p:nvPr>
            <p:ph idx="1"/>
          </p:nvPr>
        </p:nvSpPr>
        <p:spPr>
          <a:xfrm>
            <a:off x="1522414" y="1916832"/>
            <a:ext cx="9144000" cy="4267200"/>
          </a:xfrm>
        </p:spPr>
        <p:txBody>
          <a:bodyPr>
            <a:normAutofit/>
          </a:bodyPr>
          <a:lstStyle/>
          <a:p>
            <a:pPr marL="0" indent="0">
              <a:buNone/>
            </a:pPr>
            <a:r>
              <a:rPr lang="en-AU" dirty="0">
                <a:latin typeface="Calibri" panose="020F0502020204030204" pitchFamily="34" charset="0"/>
                <a:ea typeface="Calibri" panose="020F0502020204030204" pitchFamily="34" charset="0"/>
                <a:cs typeface="Cordia New" panose="020B0304020202020204" pitchFamily="34" charset="-34"/>
              </a:rPr>
              <a:t>Step 2 – Identify the mathematics that could be used to answer the equation</a:t>
            </a:r>
          </a:p>
          <a:p>
            <a:r>
              <a:rPr lang="en-AU" dirty="0">
                <a:latin typeface="Calibri" panose="020F0502020204030204" pitchFamily="34" charset="0"/>
                <a:ea typeface="Calibri" panose="020F0502020204030204" pitchFamily="34" charset="0"/>
                <a:cs typeface="Cordia New" panose="020B0304020202020204" pitchFamily="34" charset="-34"/>
              </a:rPr>
              <a:t>What total amounts do you need to know?</a:t>
            </a:r>
          </a:p>
          <a:p>
            <a:pPr lvl="1"/>
            <a:r>
              <a:rPr lang="en-AU" dirty="0">
                <a:latin typeface="Calibri" panose="020F0502020204030204" pitchFamily="34" charset="0"/>
                <a:ea typeface="Calibri" panose="020F0502020204030204" pitchFamily="34" charset="0"/>
                <a:cs typeface="Cordia New" panose="020B0304020202020204" pitchFamily="34" charset="-34"/>
              </a:rPr>
              <a:t>Budget</a:t>
            </a:r>
          </a:p>
          <a:p>
            <a:pPr lvl="1"/>
            <a:r>
              <a:rPr lang="en-AU" dirty="0">
                <a:latin typeface="Calibri" panose="020F0502020204030204" pitchFamily="34" charset="0"/>
                <a:ea typeface="Calibri" panose="020F0502020204030204" pitchFamily="34" charset="0"/>
                <a:cs typeface="Cordia New" panose="020B0304020202020204" pitchFamily="34" charset="-34"/>
              </a:rPr>
              <a:t>Amount of food bought</a:t>
            </a:r>
          </a:p>
          <a:p>
            <a:pPr lvl="1"/>
            <a:r>
              <a:rPr lang="en-AU" dirty="0">
                <a:latin typeface="Calibri" panose="020F0502020204030204" pitchFamily="34" charset="0"/>
                <a:ea typeface="Calibri" panose="020F0502020204030204" pitchFamily="34" charset="0"/>
                <a:cs typeface="Cordia New" panose="020B0304020202020204" pitchFamily="34" charset="-34"/>
              </a:rPr>
              <a:t>Nutritional value</a:t>
            </a:r>
          </a:p>
          <a:p>
            <a:pPr lvl="1"/>
            <a:r>
              <a:rPr lang="en-AU" dirty="0">
                <a:latin typeface="Calibri" panose="020F0502020204030204" pitchFamily="34" charset="0"/>
                <a:ea typeface="Calibri" panose="020F0502020204030204" pitchFamily="34" charset="0"/>
                <a:cs typeface="Cordia New" panose="020B0304020202020204" pitchFamily="34" charset="-34"/>
              </a:rPr>
              <a:t>Serving sizes</a:t>
            </a:r>
          </a:p>
        </p:txBody>
      </p:sp>
    </p:spTree>
    <p:extLst>
      <p:ext uri="{BB962C8B-B14F-4D97-AF65-F5344CB8AC3E}">
        <p14:creationId xmlns:p14="http://schemas.microsoft.com/office/powerpoint/2010/main" val="10758149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B4306-BC44-4BCA-998F-0849C3D8BFDF}"/>
              </a:ext>
            </a:extLst>
          </p:cNvPr>
          <p:cNvSpPr>
            <a:spLocks noGrp="1"/>
          </p:cNvSpPr>
          <p:nvPr>
            <p:ph type="title"/>
          </p:nvPr>
        </p:nvSpPr>
        <p:spPr/>
        <p:txBody>
          <a:bodyPr/>
          <a:lstStyle/>
          <a:p>
            <a:r>
              <a:rPr lang="en-AU" dirty="0"/>
              <a:t>Task (LHS) – Meal Planning</a:t>
            </a:r>
          </a:p>
        </p:txBody>
      </p:sp>
      <p:sp>
        <p:nvSpPr>
          <p:cNvPr id="3" name="Content Placeholder 2">
            <a:extLst>
              <a:ext uri="{FF2B5EF4-FFF2-40B4-BE49-F238E27FC236}">
                <a16:creationId xmlns:a16="http://schemas.microsoft.com/office/drawing/2014/main" id="{9C311068-1064-42FF-9461-4EA0C3842CF8}"/>
              </a:ext>
            </a:extLst>
          </p:cNvPr>
          <p:cNvSpPr>
            <a:spLocks noGrp="1"/>
          </p:cNvSpPr>
          <p:nvPr>
            <p:ph idx="1"/>
          </p:nvPr>
        </p:nvSpPr>
        <p:spPr/>
        <p:txBody>
          <a:bodyPr/>
          <a:lstStyle/>
          <a:p>
            <a:pPr marL="0" indent="0">
              <a:buNone/>
            </a:pPr>
            <a:r>
              <a:rPr lang="en-AU" dirty="0">
                <a:latin typeface="Calibri" panose="020F0502020204030204" pitchFamily="34" charset="0"/>
                <a:cs typeface="Calibri" panose="020F0502020204030204" pitchFamily="34" charset="0"/>
              </a:rPr>
              <a:t>Step 3 – Analyse data from a variety of sources</a:t>
            </a:r>
          </a:p>
          <a:p>
            <a:r>
              <a:rPr lang="en-AU" dirty="0">
                <a:latin typeface="Calibri" panose="020F0502020204030204" pitchFamily="34" charset="0"/>
                <a:cs typeface="Calibri" panose="020F0502020204030204" pitchFamily="34" charset="0"/>
              </a:rPr>
              <a:t>What information from reference sources will I need to gather?</a:t>
            </a:r>
          </a:p>
          <a:p>
            <a:pPr lvl="1"/>
            <a:r>
              <a:rPr lang="en-AU" dirty="0">
                <a:latin typeface="Calibri" panose="020F0502020204030204" pitchFamily="34" charset="0"/>
                <a:cs typeface="Calibri" panose="020F0502020204030204" pitchFamily="34" charset="0"/>
              </a:rPr>
              <a:t>Three recipes that include serving sizes from recipe sites like taste.com</a:t>
            </a:r>
          </a:p>
          <a:p>
            <a:pPr lvl="1"/>
            <a:r>
              <a:rPr lang="en-AU" dirty="0">
                <a:latin typeface="Calibri" panose="020F0502020204030204" pitchFamily="34" charset="0"/>
                <a:cs typeface="Calibri" panose="020F0502020204030204" pitchFamily="34" charset="0"/>
              </a:rPr>
              <a:t>Grocery catalogues for food prices or from online shopping</a:t>
            </a:r>
          </a:p>
        </p:txBody>
      </p:sp>
    </p:spTree>
    <p:extLst>
      <p:ext uri="{BB962C8B-B14F-4D97-AF65-F5344CB8AC3E}">
        <p14:creationId xmlns:p14="http://schemas.microsoft.com/office/powerpoint/2010/main" val="1831913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480</TotalTime>
  <Words>394</Words>
  <Application>Microsoft Office PowerPoint</Application>
  <PresentationFormat>Custom</PresentationFormat>
  <Paragraphs>43</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Consolas</vt:lpstr>
      <vt:lpstr>Corbel</vt:lpstr>
      <vt:lpstr>Chalkboard 16x9</vt:lpstr>
      <vt:lpstr>Topic: Mathematical Thinking Process EQ: How do I use the mathematical thinking process to solve a problem?</vt:lpstr>
      <vt:lpstr>Mathematical Thinking Process</vt:lpstr>
      <vt:lpstr>PowerPoint Presentation</vt:lpstr>
      <vt:lpstr>Task (LHS) - Meal Planning</vt:lpstr>
      <vt:lpstr>Task (LHS) - Meal Planning</vt:lpstr>
      <vt:lpstr>Task (LHS) – Meal Planning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Mathematical Thinking Process EQ: How do I use the mathematical thinking process to solve a problem?</dc:title>
  <dc:creator>Magdeline Lum</dc:creator>
  <cp:lastModifiedBy>Magdeline Lum</cp:lastModifiedBy>
  <cp:revision>5</cp:revision>
  <dcterms:created xsi:type="dcterms:W3CDTF">2021-03-01T06:50:29Z</dcterms:created>
  <dcterms:modified xsi:type="dcterms:W3CDTF">2021-03-01T14:50:40Z</dcterms:modified>
</cp:coreProperties>
</file>